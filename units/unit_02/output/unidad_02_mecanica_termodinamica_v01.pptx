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0d2b2799e24b31" /><Relationship Type="http://schemas.openxmlformats.org/officeDocument/2006/relationships/extended-properties" Target="/docProps/app.xml" Id="R8573db87cc3a46ac" /><Relationship Type="http://schemas.openxmlformats.org/officeDocument/2006/relationships/officeDocument" Target="/ppt/presentation.xml" Id="R326879180c36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00a1d4142a4507"/>
    <p:sldMasterId xmlns:r="http://schemas.openxmlformats.org/officeDocument/2006/relationships" id="2147483673" r:id="R3f98559f2e154cdd"/>
  </p:sldMasterIdLst>
  <p:notesMasterIdLst>
    <p:notesMasterId xmlns:r="http://schemas.openxmlformats.org/officeDocument/2006/relationships" r:id="Re8fca7c083134c49"/>
  </p:notesMasterIdLst>
  <p:sldIdLst>
    <p:sldId xmlns:r="http://schemas.openxmlformats.org/officeDocument/2006/relationships" id="256" r:id="R5bf6857d651b4356"/>
    <p:sldId xmlns:r="http://schemas.openxmlformats.org/officeDocument/2006/relationships" id="257" r:id="R786ff425729b4c28"/>
    <p:sldId xmlns:r="http://schemas.openxmlformats.org/officeDocument/2006/relationships" id="258" r:id="R6e5abc5ba4f941ba"/>
    <p:sldId xmlns:r="http://schemas.openxmlformats.org/officeDocument/2006/relationships" id="259" r:id="R851e92a8b024419f"/>
    <p:sldId xmlns:r="http://schemas.openxmlformats.org/officeDocument/2006/relationships" id="260" r:id="Rad7af441ac684711"/>
    <p:sldId xmlns:r="http://schemas.openxmlformats.org/officeDocument/2006/relationships" id="261" r:id="R2efc326f19b8475e"/>
    <p:sldId xmlns:r="http://schemas.openxmlformats.org/officeDocument/2006/relationships" id="262" r:id="R318f4bc9232c4533"/>
    <p:sldId xmlns:r="http://schemas.openxmlformats.org/officeDocument/2006/relationships" id="263" r:id="R4d74a110c64045f0"/>
    <p:sldId xmlns:r="http://schemas.openxmlformats.org/officeDocument/2006/relationships" id="264" r:id="Rc994ee740a9d4583"/>
    <p:sldId xmlns:r="http://schemas.openxmlformats.org/officeDocument/2006/relationships" id="265" r:id="Rfa66e88b80654d6f"/>
    <p:sldId xmlns:r="http://schemas.openxmlformats.org/officeDocument/2006/relationships" id="266" r:id="R9a7fd0ac24214d83"/>
    <p:sldId xmlns:r="http://schemas.openxmlformats.org/officeDocument/2006/relationships" id="267" r:id="R090fd7bbc28f4c35"/>
    <p:sldId xmlns:r="http://schemas.openxmlformats.org/officeDocument/2006/relationships" id="268" r:id="Rab9282aff40d4ded"/>
    <p:sldId xmlns:r="http://schemas.openxmlformats.org/officeDocument/2006/relationships" id="269" r:id="R85e2d0dbeba34e3f"/>
    <p:sldId xmlns:r="http://schemas.openxmlformats.org/officeDocument/2006/relationships" id="270" r:id="Re9062d513581423a"/>
    <p:sldId xmlns:r="http://schemas.openxmlformats.org/officeDocument/2006/relationships" id="271" r:id="R9a7ecb7ece534312"/>
    <p:sldId xmlns:r="http://schemas.openxmlformats.org/officeDocument/2006/relationships" id="272" r:id="R6bcea3d7f4804f52"/>
    <p:sldId xmlns:r="http://schemas.openxmlformats.org/officeDocument/2006/relationships" id="273" r:id="R75e86325a5ea45e2"/>
    <p:sldId xmlns:r="http://schemas.openxmlformats.org/officeDocument/2006/relationships" id="274" r:id="R04bfd58edfa74853"/>
    <p:sldId xmlns:r="http://schemas.openxmlformats.org/officeDocument/2006/relationships" id="275" r:id="R88c693e477e44bd8"/>
    <p:sldId xmlns:r="http://schemas.openxmlformats.org/officeDocument/2006/relationships" id="276" r:id="Re67864c7f9ea4879"/>
    <p:sldId xmlns:r="http://schemas.openxmlformats.org/officeDocument/2006/relationships" id="277" r:id="R1198a1d1073842d1"/>
    <p:sldId xmlns:r="http://schemas.openxmlformats.org/officeDocument/2006/relationships" id="278" r:id="R03eb820b13c04a51"/>
    <p:sldId xmlns:r="http://schemas.openxmlformats.org/officeDocument/2006/relationships" id="279" r:id="Rca18f31dae014dec"/>
    <p:sldId xmlns:r="http://schemas.openxmlformats.org/officeDocument/2006/relationships" id="280" r:id="Rfc2d0a4e9bd44eda"/>
    <p:sldId xmlns:r="http://schemas.openxmlformats.org/officeDocument/2006/relationships" id="281" r:id="Rce6c86d1fd894112"/>
    <p:sldId xmlns:r="http://schemas.openxmlformats.org/officeDocument/2006/relationships" id="282" r:id="Rbb22d6680c6244fb"/>
    <p:sldId xmlns:r="http://schemas.openxmlformats.org/officeDocument/2006/relationships" id="283" r:id="R47afbaf3f4104549"/>
    <p:sldId xmlns:r="http://schemas.openxmlformats.org/officeDocument/2006/relationships" id="284" r:id="Rcfb79f8c6815472e"/>
    <p:sldId xmlns:r="http://schemas.openxmlformats.org/officeDocument/2006/relationships" id="285" r:id="R8e11746da7a0423a"/>
    <p:sldId xmlns:r="http://schemas.openxmlformats.org/officeDocument/2006/relationships" id="286" r:id="R1421c743cf0f458a"/>
    <p:sldId xmlns:r="http://schemas.openxmlformats.org/officeDocument/2006/relationships" id="287" r:id="R261b20e4b2bf44b4"/>
    <p:sldId xmlns:r="http://schemas.openxmlformats.org/officeDocument/2006/relationships" id="288" r:id="R98bedac2656a48e6"/>
    <p:sldId xmlns:r="http://schemas.openxmlformats.org/officeDocument/2006/relationships" id="289" r:id="R06061dd0c6e54916"/>
    <p:sldId xmlns:r="http://schemas.openxmlformats.org/officeDocument/2006/relationships" id="290" r:id="Re5c0e3e48cc540f8"/>
    <p:sldId xmlns:r="http://schemas.openxmlformats.org/officeDocument/2006/relationships" id="291" r:id="R13e1c2cb1d604fc4"/>
    <p:sldId xmlns:r="http://schemas.openxmlformats.org/officeDocument/2006/relationships" id="292" r:id="R922e9552a41b4ee9"/>
    <p:sldId xmlns:r="http://schemas.openxmlformats.org/officeDocument/2006/relationships" id="293" r:id="Reb7ebd0167294f7b"/>
    <p:sldId xmlns:r="http://schemas.openxmlformats.org/officeDocument/2006/relationships" id="294" r:id="R8ec1276bf02a4ff8"/>
    <p:sldId xmlns:r="http://schemas.openxmlformats.org/officeDocument/2006/relationships" id="295" r:id="R47f9faec79bd4792"/>
    <p:sldId xmlns:r="http://schemas.openxmlformats.org/officeDocument/2006/relationships" id="296" r:id="R036e7a45538448df"/>
    <p:sldId xmlns:r="http://schemas.openxmlformats.org/officeDocument/2006/relationships" id="297" r:id="R2fd82cbeac0c48d2"/>
    <p:sldId xmlns:r="http://schemas.openxmlformats.org/officeDocument/2006/relationships" id="298" r:id="R4f124cc5c8ba4a7f"/>
    <p:sldId xmlns:r="http://schemas.openxmlformats.org/officeDocument/2006/relationships" id="299" r:id="Rdea5c30eaa7f4c28"/>
    <p:sldId xmlns:r="http://schemas.openxmlformats.org/officeDocument/2006/relationships" id="300" r:id="Rd2feb50d37a84de7"/>
    <p:sldId xmlns:r="http://schemas.openxmlformats.org/officeDocument/2006/relationships" id="301" r:id="R872383d7381a4547"/>
    <p:sldId xmlns:r="http://schemas.openxmlformats.org/officeDocument/2006/relationships" id="302" r:id="R26f02ab9cd024815"/>
    <p:sldId xmlns:r="http://schemas.openxmlformats.org/officeDocument/2006/relationships" id="303" r:id="R58caa3e50c8a449a"/>
    <p:sldId xmlns:r="http://schemas.openxmlformats.org/officeDocument/2006/relationships" id="304" r:id="R2ee6aa4a5f534a9b"/>
    <p:sldId xmlns:r="http://schemas.openxmlformats.org/officeDocument/2006/relationships" id="305" r:id="R9fc72d9ec9474272"/>
    <p:sldId xmlns:r="http://schemas.openxmlformats.org/officeDocument/2006/relationships" id="306" r:id="R64a9678b32ad4a4f"/>
    <p:sldId xmlns:r="http://schemas.openxmlformats.org/officeDocument/2006/relationships" id="307" r:id="Rbfd25b9b72f2435c"/>
    <p:sldId xmlns:r="http://schemas.openxmlformats.org/officeDocument/2006/relationships" id="308" r:id="Rccdf65ed07fb471a"/>
    <p:sldId xmlns:r="http://schemas.openxmlformats.org/officeDocument/2006/relationships" id="309" r:id="R634cff7edd6b4377"/>
    <p:sldId xmlns:r="http://schemas.openxmlformats.org/officeDocument/2006/relationships" id="310" r:id="R1fa3fb2b0dd142c8"/>
    <p:sldId xmlns:r="http://schemas.openxmlformats.org/officeDocument/2006/relationships" id="311" r:id="R4d75e4c517b94d5b"/>
    <p:sldId xmlns:r="http://schemas.openxmlformats.org/officeDocument/2006/relationships" id="312" r:id="R76afb9b84a744126"/>
    <p:sldId xmlns:r="http://schemas.openxmlformats.org/officeDocument/2006/relationships" id="313" r:id="Rff78be71827f46c8"/>
    <p:sldId xmlns:r="http://schemas.openxmlformats.org/officeDocument/2006/relationships" id="314" r:id="Rd4f55b6ade4e47ff"/>
    <p:sldId xmlns:r="http://schemas.openxmlformats.org/officeDocument/2006/relationships" id="315" r:id="R3f6650b342b4473c"/>
    <p:sldId xmlns:r="http://schemas.openxmlformats.org/officeDocument/2006/relationships" id="316" r:id="R56b6cfe7e1a54e38"/>
    <p:sldId xmlns:r="http://schemas.openxmlformats.org/officeDocument/2006/relationships" id="317" r:id="R21266cee94d34cd9"/>
    <p:sldId xmlns:r="http://schemas.openxmlformats.org/officeDocument/2006/relationships" id="318" r:id="R2dd6fb38681943fc"/>
    <p:sldId xmlns:r="http://schemas.openxmlformats.org/officeDocument/2006/relationships" id="319" r:id="R940e0d83b4fa4b04"/>
    <p:sldId xmlns:r="http://schemas.openxmlformats.org/officeDocument/2006/relationships" id="320" r:id="Rbae97d0be9634f4a"/>
    <p:sldId xmlns:r="http://schemas.openxmlformats.org/officeDocument/2006/relationships" id="321" r:id="R6c1406a852c04b39"/>
    <p:sldId xmlns:r="http://schemas.openxmlformats.org/officeDocument/2006/relationships" id="322" r:id="Rbb4fdfd912474a10"/>
    <p:sldId xmlns:r="http://schemas.openxmlformats.org/officeDocument/2006/relationships" id="323" r:id="Rdf83dcae9c0548d5"/>
    <p:sldId xmlns:r="http://schemas.openxmlformats.org/officeDocument/2006/relationships" id="324" r:id="R49d14a93e3cc49b2"/>
    <p:sldId xmlns:r="http://schemas.openxmlformats.org/officeDocument/2006/relationships" id="325" r:id="R50801e6b4f734a06"/>
    <p:sldId xmlns:r="http://schemas.openxmlformats.org/officeDocument/2006/relationships" id="326" r:id="R8b24e167e9ae4862"/>
    <p:sldId xmlns:r="http://schemas.openxmlformats.org/officeDocument/2006/relationships" id="327" r:id="R35c5093eaa394b7e"/>
    <p:sldId xmlns:r="http://schemas.openxmlformats.org/officeDocument/2006/relationships" id="328" r:id="Re5a11b9f7c8e45cd"/>
    <p:sldId xmlns:r="http://schemas.openxmlformats.org/officeDocument/2006/relationships" id="329" r:id="R7bfc2ab8af47409e"/>
    <p:sldId xmlns:r="http://schemas.openxmlformats.org/officeDocument/2006/relationships" id="330" r:id="Rf1bdbe3a77f6444f"/>
    <p:sldId xmlns:r="http://schemas.openxmlformats.org/officeDocument/2006/relationships" id="331" r:id="R2a42be28d4224dab"/>
    <p:sldId xmlns:r="http://schemas.openxmlformats.org/officeDocument/2006/relationships" id="332" r:id="R1248d054d5294eeb"/>
    <p:sldId xmlns:r="http://schemas.openxmlformats.org/officeDocument/2006/relationships" id="333" r:id="Rffc1d3e3e27f4cda"/>
    <p:sldId xmlns:r="http://schemas.openxmlformats.org/officeDocument/2006/relationships" id="334" r:id="R472cd90b39fb4273"/>
    <p:sldId xmlns:r="http://schemas.openxmlformats.org/officeDocument/2006/relationships" id="335" r:id="Rf2c9ee9de6f94386"/>
    <p:sldId xmlns:r="http://schemas.openxmlformats.org/officeDocument/2006/relationships" id="336" r:id="R8973493db9b94ded"/>
    <p:sldId xmlns:r="http://schemas.openxmlformats.org/officeDocument/2006/relationships" id="337" r:id="Rf27d4572c70d4ce8"/>
    <p:sldId xmlns:r="http://schemas.openxmlformats.org/officeDocument/2006/relationships" id="338" r:id="R8ccf16eeb9e341c1"/>
    <p:sldId xmlns:r="http://schemas.openxmlformats.org/officeDocument/2006/relationships" id="339" r:id="R3949392fa8cf4d73"/>
    <p:sldId xmlns:r="http://schemas.openxmlformats.org/officeDocument/2006/relationships" id="340" r:id="R4d00d8f6e0f24019"/>
    <p:sldId xmlns:r="http://schemas.openxmlformats.org/officeDocument/2006/relationships" id="341" r:id="R5fc446bb9d6144f4"/>
    <p:sldId xmlns:r="http://schemas.openxmlformats.org/officeDocument/2006/relationships" id="342" r:id="R0d90531dbde44c58"/>
    <p:sldId xmlns:r="http://schemas.openxmlformats.org/officeDocument/2006/relationships" id="343" r:id="R7e9399521ffc4a57"/>
    <p:sldId xmlns:r="http://schemas.openxmlformats.org/officeDocument/2006/relationships" id="344" r:id="R2a111cde686e44e2"/>
    <p:sldId xmlns:r="http://schemas.openxmlformats.org/officeDocument/2006/relationships" id="345" r:id="Rb8982158593e466a"/>
    <p:sldId xmlns:r="http://schemas.openxmlformats.org/officeDocument/2006/relationships" id="346" r:id="R1dc814fd22b74db6"/>
    <p:sldId xmlns:r="http://schemas.openxmlformats.org/officeDocument/2006/relationships" id="347" r:id="Rce114b4026b7426a"/>
    <p:sldId xmlns:r="http://schemas.openxmlformats.org/officeDocument/2006/relationships" id="348" r:id="R792fcc9bf8f64b80"/>
    <p:sldId xmlns:r="http://schemas.openxmlformats.org/officeDocument/2006/relationships" id="349" r:id="R9f1d6836df0b49f9"/>
    <p:sldId xmlns:r="http://schemas.openxmlformats.org/officeDocument/2006/relationships" id="350" r:id="Ra4b320ebce01427a"/>
    <p:sldId xmlns:r="http://schemas.openxmlformats.org/officeDocument/2006/relationships" id="351" r:id="Rb2984731ed42418d"/>
    <p:sldId xmlns:r="http://schemas.openxmlformats.org/officeDocument/2006/relationships" id="352" r:id="Raaeaa49048704847"/>
    <p:sldId xmlns:r="http://schemas.openxmlformats.org/officeDocument/2006/relationships" id="353" r:id="R6209ff587ba441c0"/>
    <p:sldId xmlns:r="http://schemas.openxmlformats.org/officeDocument/2006/relationships" id="354" r:id="Re4449305e8374dd6"/>
    <p:sldId xmlns:r="http://schemas.openxmlformats.org/officeDocument/2006/relationships" id="355" r:id="Re2215abd83c4411a"/>
    <p:sldId xmlns:r="http://schemas.openxmlformats.org/officeDocument/2006/relationships" id="356" r:id="R3218889debb04ba6"/>
    <p:sldId xmlns:r="http://schemas.openxmlformats.org/officeDocument/2006/relationships" id="357" r:id="Rfbe2c0968b884309"/>
    <p:sldId xmlns:r="http://schemas.openxmlformats.org/officeDocument/2006/relationships" id="358" r:id="R6556d1b34a7242b2"/>
    <p:sldId xmlns:r="http://schemas.openxmlformats.org/officeDocument/2006/relationships" id="359" r:id="R772488a2c17d4913"/>
    <p:sldId xmlns:r="http://schemas.openxmlformats.org/officeDocument/2006/relationships" id="360" r:id="Rf64e284eb87b403e"/>
    <p:sldId xmlns:r="http://schemas.openxmlformats.org/officeDocument/2006/relationships" id="361" r:id="R8a8a88d2080549f6"/>
    <p:sldId xmlns:r="http://schemas.openxmlformats.org/officeDocument/2006/relationships" id="362" r:id="R41646340d1a04240"/>
    <p:sldId xmlns:r="http://schemas.openxmlformats.org/officeDocument/2006/relationships" id="363" r:id="R12b0817e24e54910"/>
    <p:sldId xmlns:r="http://schemas.openxmlformats.org/officeDocument/2006/relationships" id="364" r:id="R74e8dd6317474c5d"/>
    <p:sldId xmlns:r="http://schemas.openxmlformats.org/officeDocument/2006/relationships" id="365" r:id="R6691a581af9e4a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9ca12c93cd4f7d" /><Relationship Type="http://schemas.openxmlformats.org/officeDocument/2006/relationships/slideMaster" Target="/ppt/slideMasters/slideMaster1.xml" Id="Rd900a1d4142a4507" /><Relationship Type="http://schemas.openxmlformats.org/officeDocument/2006/relationships/slideMaster" Target="/ppt/slideMasters/slideMaster2.xml" Id="R3f98559f2e154cdd" /><Relationship Type="http://schemas.openxmlformats.org/officeDocument/2006/relationships/notesMaster" Target="/ppt/notesMasters/notesMaster1.xml" Id="Re8fca7c083134c49" /><Relationship Type="http://schemas.openxmlformats.org/officeDocument/2006/relationships/presProps" Target="/ppt/presProps.xml" Id="Ra055c087b2534f11" /><Relationship Type="http://schemas.openxmlformats.org/officeDocument/2006/relationships/viewProps" Target="/ppt/viewProps.xml" Id="R07c621739a5940d3" /><Relationship Type="http://schemas.openxmlformats.org/officeDocument/2006/relationships/tableStyles" Target="/ppt/tableStyles.xml" Id="R4f94af9a146b4d4d" /><Relationship Type="http://schemas.openxmlformats.org/officeDocument/2006/relationships/slide" Target="/ppt/slides/slide1.xml" Id="R5bf6857d651b4356" /><Relationship Type="http://schemas.openxmlformats.org/officeDocument/2006/relationships/slide" Target="/ppt/slides/slide2.xml" Id="R786ff425729b4c28" /><Relationship Type="http://schemas.openxmlformats.org/officeDocument/2006/relationships/slide" Target="/ppt/slides/slide3.xml" Id="R6e5abc5ba4f941ba" /><Relationship Type="http://schemas.openxmlformats.org/officeDocument/2006/relationships/slide" Target="/ppt/slides/slide4.xml" Id="R851e92a8b024419f" /><Relationship Type="http://schemas.openxmlformats.org/officeDocument/2006/relationships/slide" Target="/ppt/slides/slide5.xml" Id="Rad7af441ac684711" /><Relationship Type="http://schemas.openxmlformats.org/officeDocument/2006/relationships/slide" Target="/ppt/slides/slide6.xml" Id="R2efc326f19b8475e" /><Relationship Type="http://schemas.openxmlformats.org/officeDocument/2006/relationships/slide" Target="/ppt/slides/slide7.xml" Id="R318f4bc9232c4533" /><Relationship Type="http://schemas.openxmlformats.org/officeDocument/2006/relationships/slide" Target="/ppt/slides/slide8.xml" Id="R4d74a110c64045f0" /><Relationship Type="http://schemas.openxmlformats.org/officeDocument/2006/relationships/slide" Target="/ppt/slides/slide9.xml" Id="Rc994ee740a9d4583" /><Relationship Type="http://schemas.openxmlformats.org/officeDocument/2006/relationships/slide" Target="/ppt/slides/slide10.xml" Id="Rfa66e88b80654d6f" /><Relationship Type="http://schemas.openxmlformats.org/officeDocument/2006/relationships/slide" Target="/ppt/slides/slide11.xml" Id="R9a7fd0ac24214d83" /><Relationship Type="http://schemas.openxmlformats.org/officeDocument/2006/relationships/slide" Target="/ppt/slides/slide12.xml" Id="R090fd7bbc28f4c35" /><Relationship Type="http://schemas.openxmlformats.org/officeDocument/2006/relationships/slide" Target="/ppt/slides/slide13.xml" Id="Rab9282aff40d4ded" /><Relationship Type="http://schemas.openxmlformats.org/officeDocument/2006/relationships/slide" Target="/ppt/slides/slide14.xml" Id="R85e2d0dbeba34e3f" /><Relationship Type="http://schemas.openxmlformats.org/officeDocument/2006/relationships/slide" Target="/ppt/slides/slide15.xml" Id="Re9062d513581423a" /><Relationship Type="http://schemas.openxmlformats.org/officeDocument/2006/relationships/slide" Target="/ppt/slides/slide16.xml" Id="R9a7ecb7ece534312" /><Relationship Type="http://schemas.openxmlformats.org/officeDocument/2006/relationships/slide" Target="/ppt/slides/slide17.xml" Id="R6bcea3d7f4804f52" /><Relationship Type="http://schemas.openxmlformats.org/officeDocument/2006/relationships/slide" Target="/ppt/slides/slide18.xml" Id="R75e86325a5ea45e2" /><Relationship Type="http://schemas.openxmlformats.org/officeDocument/2006/relationships/slide" Target="/ppt/slides/slide19.xml" Id="R04bfd58edfa74853" /><Relationship Type="http://schemas.openxmlformats.org/officeDocument/2006/relationships/slide" Target="/ppt/slides/slide20.xml" Id="R88c693e477e44bd8" /><Relationship Type="http://schemas.openxmlformats.org/officeDocument/2006/relationships/slide" Target="/ppt/slides/slide21.xml" Id="Re67864c7f9ea4879" /><Relationship Type="http://schemas.openxmlformats.org/officeDocument/2006/relationships/slide" Target="/ppt/slides/slide22.xml" Id="R1198a1d1073842d1" /><Relationship Type="http://schemas.openxmlformats.org/officeDocument/2006/relationships/slide" Target="/ppt/slides/slide23.xml" Id="R03eb820b13c04a51" /><Relationship Type="http://schemas.openxmlformats.org/officeDocument/2006/relationships/slide" Target="/ppt/slides/slide24.xml" Id="Rca18f31dae014dec" /><Relationship Type="http://schemas.openxmlformats.org/officeDocument/2006/relationships/slide" Target="/ppt/slides/slide25.xml" Id="Rfc2d0a4e9bd44eda" /><Relationship Type="http://schemas.openxmlformats.org/officeDocument/2006/relationships/slide" Target="/ppt/slides/slide26.xml" Id="Rce6c86d1fd894112" /><Relationship Type="http://schemas.openxmlformats.org/officeDocument/2006/relationships/slide" Target="/ppt/slides/slide27.xml" Id="Rbb22d6680c6244fb" /><Relationship Type="http://schemas.openxmlformats.org/officeDocument/2006/relationships/slide" Target="/ppt/slides/slide28.xml" Id="R47afbaf3f4104549" /><Relationship Type="http://schemas.openxmlformats.org/officeDocument/2006/relationships/slide" Target="/ppt/slides/slide29.xml" Id="Rcfb79f8c6815472e" /><Relationship Type="http://schemas.openxmlformats.org/officeDocument/2006/relationships/slide" Target="/ppt/slides/slide30.xml" Id="R8e11746da7a0423a" /><Relationship Type="http://schemas.openxmlformats.org/officeDocument/2006/relationships/slide" Target="/ppt/slides/slide31.xml" Id="R1421c743cf0f458a" /><Relationship Type="http://schemas.openxmlformats.org/officeDocument/2006/relationships/slide" Target="/ppt/slides/slide32.xml" Id="R261b20e4b2bf44b4" /><Relationship Type="http://schemas.openxmlformats.org/officeDocument/2006/relationships/slide" Target="/ppt/slides/slide33.xml" Id="R98bedac2656a48e6" /><Relationship Type="http://schemas.openxmlformats.org/officeDocument/2006/relationships/slide" Target="/ppt/slides/slide34.xml" Id="R06061dd0c6e54916" /><Relationship Type="http://schemas.openxmlformats.org/officeDocument/2006/relationships/slide" Target="/ppt/slides/slide35.xml" Id="Re5c0e3e48cc540f8" /><Relationship Type="http://schemas.openxmlformats.org/officeDocument/2006/relationships/slide" Target="/ppt/slides/slide36.xml" Id="R13e1c2cb1d604fc4" /><Relationship Type="http://schemas.openxmlformats.org/officeDocument/2006/relationships/slide" Target="/ppt/slides/slide37.xml" Id="R922e9552a41b4ee9" /><Relationship Type="http://schemas.openxmlformats.org/officeDocument/2006/relationships/slide" Target="/ppt/slides/slide38.xml" Id="Reb7ebd0167294f7b" /><Relationship Type="http://schemas.openxmlformats.org/officeDocument/2006/relationships/slide" Target="/ppt/slides/slide39.xml" Id="R8ec1276bf02a4ff8" /><Relationship Type="http://schemas.openxmlformats.org/officeDocument/2006/relationships/slide" Target="/ppt/slides/slide40.xml" Id="R47f9faec79bd4792" /><Relationship Type="http://schemas.openxmlformats.org/officeDocument/2006/relationships/slide" Target="/ppt/slides/slide41.xml" Id="R036e7a45538448df" /><Relationship Type="http://schemas.openxmlformats.org/officeDocument/2006/relationships/slide" Target="/ppt/slides/slide42.xml" Id="R2fd82cbeac0c48d2" /><Relationship Type="http://schemas.openxmlformats.org/officeDocument/2006/relationships/slide" Target="/ppt/slides/slide43.xml" Id="R4f124cc5c8ba4a7f" /><Relationship Type="http://schemas.openxmlformats.org/officeDocument/2006/relationships/slide" Target="/ppt/slides/slide44.xml" Id="Rdea5c30eaa7f4c28" /><Relationship Type="http://schemas.openxmlformats.org/officeDocument/2006/relationships/slide" Target="/ppt/slides/slide45.xml" Id="Rd2feb50d37a84de7" /><Relationship Type="http://schemas.openxmlformats.org/officeDocument/2006/relationships/slide" Target="/ppt/slides/slide46.xml" Id="R872383d7381a4547" /><Relationship Type="http://schemas.openxmlformats.org/officeDocument/2006/relationships/slide" Target="/ppt/slides/slide47.xml" Id="R26f02ab9cd024815" /><Relationship Type="http://schemas.openxmlformats.org/officeDocument/2006/relationships/slide" Target="/ppt/slides/slide48.xml" Id="R58caa3e50c8a449a" /><Relationship Type="http://schemas.openxmlformats.org/officeDocument/2006/relationships/slide" Target="/ppt/slides/slide49.xml" Id="R2ee6aa4a5f534a9b" /><Relationship Type="http://schemas.openxmlformats.org/officeDocument/2006/relationships/slide" Target="/ppt/slides/slide50.xml" Id="R9fc72d9ec9474272" /><Relationship Type="http://schemas.openxmlformats.org/officeDocument/2006/relationships/slide" Target="/ppt/slides/slide51.xml" Id="R64a9678b32ad4a4f" /><Relationship Type="http://schemas.openxmlformats.org/officeDocument/2006/relationships/slide" Target="/ppt/slides/slide52.xml" Id="Rbfd25b9b72f2435c" /><Relationship Type="http://schemas.openxmlformats.org/officeDocument/2006/relationships/slide" Target="/ppt/slides/slide53.xml" Id="Rccdf65ed07fb471a" /><Relationship Type="http://schemas.openxmlformats.org/officeDocument/2006/relationships/slide" Target="/ppt/slides/slide54.xml" Id="R634cff7edd6b4377" /><Relationship Type="http://schemas.openxmlformats.org/officeDocument/2006/relationships/slide" Target="/ppt/slides/slide55.xml" Id="R1fa3fb2b0dd142c8" /><Relationship Type="http://schemas.openxmlformats.org/officeDocument/2006/relationships/slide" Target="/ppt/slides/slide56.xml" Id="R4d75e4c517b94d5b" /><Relationship Type="http://schemas.openxmlformats.org/officeDocument/2006/relationships/slide" Target="/ppt/slides/slide57.xml" Id="R76afb9b84a744126" /><Relationship Type="http://schemas.openxmlformats.org/officeDocument/2006/relationships/slide" Target="/ppt/slides/slide58.xml" Id="Rff78be71827f46c8" /><Relationship Type="http://schemas.openxmlformats.org/officeDocument/2006/relationships/slide" Target="/ppt/slides/slide59.xml" Id="Rd4f55b6ade4e47ff" /><Relationship Type="http://schemas.openxmlformats.org/officeDocument/2006/relationships/slide" Target="/ppt/slides/slide60.xml" Id="R3f6650b342b4473c" /><Relationship Type="http://schemas.openxmlformats.org/officeDocument/2006/relationships/slide" Target="/ppt/slides/slide61.xml" Id="R56b6cfe7e1a54e38" /><Relationship Type="http://schemas.openxmlformats.org/officeDocument/2006/relationships/slide" Target="/ppt/slides/slide62.xml" Id="R21266cee94d34cd9" /><Relationship Type="http://schemas.openxmlformats.org/officeDocument/2006/relationships/slide" Target="/ppt/slides/slide63.xml" Id="R2dd6fb38681943fc" /><Relationship Type="http://schemas.openxmlformats.org/officeDocument/2006/relationships/slide" Target="/ppt/slides/slide64.xml" Id="R940e0d83b4fa4b04" /><Relationship Type="http://schemas.openxmlformats.org/officeDocument/2006/relationships/slide" Target="/ppt/slides/slide65.xml" Id="Rbae97d0be9634f4a" /><Relationship Type="http://schemas.openxmlformats.org/officeDocument/2006/relationships/slide" Target="/ppt/slides/slide66.xml" Id="R6c1406a852c04b39" /><Relationship Type="http://schemas.openxmlformats.org/officeDocument/2006/relationships/slide" Target="/ppt/slides/slide67.xml" Id="Rbb4fdfd912474a10" /><Relationship Type="http://schemas.openxmlformats.org/officeDocument/2006/relationships/slide" Target="/ppt/slides/slide68.xml" Id="Rdf83dcae9c0548d5" /><Relationship Type="http://schemas.openxmlformats.org/officeDocument/2006/relationships/slide" Target="/ppt/slides/slide69.xml" Id="R49d14a93e3cc49b2" /><Relationship Type="http://schemas.openxmlformats.org/officeDocument/2006/relationships/slide" Target="/ppt/slides/slide70.xml" Id="R50801e6b4f734a06" /><Relationship Type="http://schemas.openxmlformats.org/officeDocument/2006/relationships/slide" Target="/ppt/slides/slide71.xml" Id="R8b24e167e9ae4862" /><Relationship Type="http://schemas.openxmlformats.org/officeDocument/2006/relationships/slide" Target="/ppt/slides/slide72.xml" Id="R35c5093eaa394b7e" /><Relationship Type="http://schemas.openxmlformats.org/officeDocument/2006/relationships/slide" Target="/ppt/slides/slide73.xml" Id="Re5a11b9f7c8e45cd" /><Relationship Type="http://schemas.openxmlformats.org/officeDocument/2006/relationships/slide" Target="/ppt/slides/slide74.xml" Id="R7bfc2ab8af47409e" /><Relationship Type="http://schemas.openxmlformats.org/officeDocument/2006/relationships/slide" Target="/ppt/slides/slide75.xml" Id="Rf1bdbe3a77f6444f" /><Relationship Type="http://schemas.openxmlformats.org/officeDocument/2006/relationships/slide" Target="/ppt/slides/slide76.xml" Id="R2a42be28d4224dab" /><Relationship Type="http://schemas.openxmlformats.org/officeDocument/2006/relationships/slide" Target="/ppt/slides/slide77.xml" Id="R1248d054d5294eeb" /><Relationship Type="http://schemas.openxmlformats.org/officeDocument/2006/relationships/slide" Target="/ppt/slides/slide78.xml" Id="Rffc1d3e3e27f4cda" /><Relationship Type="http://schemas.openxmlformats.org/officeDocument/2006/relationships/slide" Target="/ppt/slides/slide79.xml" Id="R472cd90b39fb4273" /><Relationship Type="http://schemas.openxmlformats.org/officeDocument/2006/relationships/slide" Target="/ppt/slides/slide80.xml" Id="Rf2c9ee9de6f94386" /><Relationship Type="http://schemas.openxmlformats.org/officeDocument/2006/relationships/slide" Target="/ppt/slides/slide81.xml" Id="R8973493db9b94ded" /><Relationship Type="http://schemas.openxmlformats.org/officeDocument/2006/relationships/slide" Target="/ppt/slides/slide82.xml" Id="Rf27d4572c70d4ce8" /><Relationship Type="http://schemas.openxmlformats.org/officeDocument/2006/relationships/slide" Target="/ppt/slides/slide83.xml" Id="R8ccf16eeb9e341c1" /><Relationship Type="http://schemas.openxmlformats.org/officeDocument/2006/relationships/slide" Target="/ppt/slides/slide84.xml" Id="R3949392fa8cf4d73" /><Relationship Type="http://schemas.openxmlformats.org/officeDocument/2006/relationships/slide" Target="/ppt/slides/slide85.xml" Id="R4d00d8f6e0f24019" /><Relationship Type="http://schemas.openxmlformats.org/officeDocument/2006/relationships/slide" Target="/ppt/slides/slide86.xml" Id="R5fc446bb9d6144f4" /><Relationship Type="http://schemas.openxmlformats.org/officeDocument/2006/relationships/slide" Target="/ppt/slides/slide87.xml" Id="R0d90531dbde44c58" /><Relationship Type="http://schemas.openxmlformats.org/officeDocument/2006/relationships/slide" Target="/ppt/slides/slide88.xml" Id="R7e9399521ffc4a57" /><Relationship Type="http://schemas.openxmlformats.org/officeDocument/2006/relationships/slide" Target="/ppt/slides/slide89.xml" Id="R2a111cde686e44e2" /><Relationship Type="http://schemas.openxmlformats.org/officeDocument/2006/relationships/slide" Target="/ppt/slides/slide90.xml" Id="Rb8982158593e466a" /><Relationship Type="http://schemas.openxmlformats.org/officeDocument/2006/relationships/slide" Target="/ppt/slides/slide91.xml" Id="R1dc814fd22b74db6" /><Relationship Type="http://schemas.openxmlformats.org/officeDocument/2006/relationships/slide" Target="/ppt/slides/slide92.xml" Id="Rce114b4026b7426a" /><Relationship Type="http://schemas.openxmlformats.org/officeDocument/2006/relationships/slide" Target="/ppt/slides/slide93.xml" Id="R792fcc9bf8f64b80" /><Relationship Type="http://schemas.openxmlformats.org/officeDocument/2006/relationships/slide" Target="/ppt/slides/slide94.xml" Id="R9f1d6836df0b49f9" /><Relationship Type="http://schemas.openxmlformats.org/officeDocument/2006/relationships/slide" Target="/ppt/slides/slide95.xml" Id="Ra4b320ebce01427a" /><Relationship Type="http://schemas.openxmlformats.org/officeDocument/2006/relationships/slide" Target="/ppt/slides/slide96.xml" Id="Rb2984731ed42418d" /><Relationship Type="http://schemas.openxmlformats.org/officeDocument/2006/relationships/slide" Target="/ppt/slides/slide97.xml" Id="Raaeaa49048704847" /><Relationship Type="http://schemas.openxmlformats.org/officeDocument/2006/relationships/slide" Target="/ppt/slides/slide98.xml" Id="R6209ff587ba441c0" /><Relationship Type="http://schemas.openxmlformats.org/officeDocument/2006/relationships/slide" Target="/ppt/slides/slide99.xml" Id="Re4449305e8374dd6" /><Relationship Type="http://schemas.openxmlformats.org/officeDocument/2006/relationships/slide" Target="/ppt/slides/slide100.xml" Id="Re2215abd83c4411a" /><Relationship Type="http://schemas.openxmlformats.org/officeDocument/2006/relationships/slide" Target="/ppt/slides/slide101.xml" Id="R3218889debb04ba6" /><Relationship Type="http://schemas.openxmlformats.org/officeDocument/2006/relationships/slide" Target="/ppt/slides/slide102.xml" Id="Rfbe2c0968b884309" /><Relationship Type="http://schemas.openxmlformats.org/officeDocument/2006/relationships/slide" Target="/ppt/slides/slide103.xml" Id="R6556d1b34a7242b2" /><Relationship Type="http://schemas.openxmlformats.org/officeDocument/2006/relationships/slide" Target="/ppt/slides/slide104.xml" Id="R772488a2c17d4913" /><Relationship Type="http://schemas.openxmlformats.org/officeDocument/2006/relationships/slide" Target="/ppt/slides/slide105.xml" Id="Rf64e284eb87b403e" /><Relationship Type="http://schemas.openxmlformats.org/officeDocument/2006/relationships/slide" Target="/ppt/slides/slide106.xml" Id="R8a8a88d2080549f6" /><Relationship Type="http://schemas.openxmlformats.org/officeDocument/2006/relationships/slide" Target="/ppt/slides/slide107.xml" Id="R41646340d1a04240" /><Relationship Type="http://schemas.openxmlformats.org/officeDocument/2006/relationships/slide" Target="/ppt/slides/slide108.xml" Id="R12b0817e24e54910" /><Relationship Type="http://schemas.openxmlformats.org/officeDocument/2006/relationships/slide" Target="/ppt/slides/slide109.xml" Id="R74e8dd6317474c5d" /><Relationship Type="http://schemas.openxmlformats.org/officeDocument/2006/relationships/slide" Target="/ppt/slides/slide110.xml" Id="R6691a581af9e4a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3e70eeface542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0b3fe8ebae40e4" /><Relationship Type="http://schemas.openxmlformats.org/officeDocument/2006/relationships/notesMaster" Target="/ppt/notesMasters/notesMaster1.xml" Id="Rf9cf715cbab646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aa5fca85b9450b" /><Relationship Type="http://schemas.openxmlformats.org/officeDocument/2006/relationships/notesMaster" Target="/ppt/notesMasters/notesMaster1.xml" Id="R6f979a56986e40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0bc956433349a3" /><Relationship Type="http://schemas.openxmlformats.org/officeDocument/2006/relationships/notesMaster" Target="/ppt/notesMasters/notesMaster1.xml" Id="R923cda1b8fae4d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a5d97dd58546e0" /><Relationship Type="http://schemas.openxmlformats.org/officeDocument/2006/relationships/notesMaster" Target="/ppt/notesMasters/notesMaster1.xml" Id="R45f9568a0ca64e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f0eb28033d42f1" /><Relationship Type="http://schemas.openxmlformats.org/officeDocument/2006/relationships/notesMaster" Target="/ppt/notesMasters/notesMaster1.xml" Id="R26d2fe734d5b40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9e99a03bab4577" /><Relationship Type="http://schemas.openxmlformats.org/officeDocument/2006/relationships/notesMaster" Target="/ppt/notesMasters/notesMaster1.xml" Id="Re99ad0016f3c4c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890ae7817242da" /><Relationship Type="http://schemas.openxmlformats.org/officeDocument/2006/relationships/notesMaster" Target="/ppt/notesMasters/notesMaster1.xml" Id="R9bcd06e8536a42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065cc374ce482b" /><Relationship Type="http://schemas.openxmlformats.org/officeDocument/2006/relationships/notesMaster" Target="/ppt/notesMasters/notesMaster1.xml" Id="Rd6ab136c32e14d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2be4d77a3e49a3" /><Relationship Type="http://schemas.openxmlformats.org/officeDocument/2006/relationships/notesMaster" Target="/ppt/notesMasters/notesMaster1.xml" Id="R4a1258a7dade4c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84a3c4bfb44074" /><Relationship Type="http://schemas.openxmlformats.org/officeDocument/2006/relationships/notesMaster" Target="/ppt/notesMasters/notesMaster1.xml" Id="R477d9c232f5240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c74cce9d9140b0" /><Relationship Type="http://schemas.openxmlformats.org/officeDocument/2006/relationships/notesMaster" Target="/ppt/notesMasters/notesMaster1.xml" Id="R945b4922228b46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c055183a0d4fe0" /><Relationship Type="http://schemas.openxmlformats.org/officeDocument/2006/relationships/notesMaster" Target="/ppt/notesMasters/notesMaster1.xml" Id="R0583bc5ad39143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f49d5d9e8c4ab5" /><Relationship Type="http://schemas.openxmlformats.org/officeDocument/2006/relationships/notesMaster" Target="/ppt/notesMasters/notesMaster1.xml" Id="R5a49ac730e2849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469540ce134b82" /><Relationship Type="http://schemas.openxmlformats.org/officeDocument/2006/relationships/notesMaster" Target="/ppt/notesMasters/notesMaster1.xml" Id="Rebdd5284289048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531ac176274401" /><Relationship Type="http://schemas.openxmlformats.org/officeDocument/2006/relationships/notesMaster" Target="/ppt/notesMasters/notesMaster1.xml" Id="R7c4f0a2ab68f42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8375b9d3dc48ce" /><Relationship Type="http://schemas.openxmlformats.org/officeDocument/2006/relationships/notesMaster" Target="/ppt/notesMasters/notesMaster1.xml" Id="R5e9eb070759647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7ce2a5e7bf4496" /><Relationship Type="http://schemas.openxmlformats.org/officeDocument/2006/relationships/notesMaster" Target="/ppt/notesMasters/notesMaster1.xml" Id="R9be40efe7bab4b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2c882fb2c54da2" /><Relationship Type="http://schemas.openxmlformats.org/officeDocument/2006/relationships/notesMaster" Target="/ppt/notesMasters/notesMaster1.xml" Id="R1aeddf843d5a46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9ce802ba0f4fc7" /><Relationship Type="http://schemas.openxmlformats.org/officeDocument/2006/relationships/notesMaster" Target="/ppt/notesMasters/notesMaster1.xml" Id="Rc9c957894b314c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dd0207754694c06" /><Relationship Type="http://schemas.openxmlformats.org/officeDocument/2006/relationships/notesMaster" Target="/ppt/notesMasters/notesMaster1.xml" Id="R3f974c62f6e845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bb8a1190cd8433c" /><Relationship Type="http://schemas.openxmlformats.org/officeDocument/2006/relationships/notesMaster" Target="/ppt/notesMasters/notesMaster1.xml" Id="Rd789331d622d466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ef3e201d3847fe" /><Relationship Type="http://schemas.openxmlformats.org/officeDocument/2006/relationships/notesMaster" Target="/ppt/notesMasters/notesMaster1.xml" Id="R8abc0f554b6f4f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e4599bf59a4236" /><Relationship Type="http://schemas.openxmlformats.org/officeDocument/2006/relationships/notesMaster" Target="/ppt/notesMasters/notesMaster1.xml" Id="Rac6d221f74d64ea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b47241afae4219" /><Relationship Type="http://schemas.openxmlformats.org/officeDocument/2006/relationships/notesMaster" Target="/ppt/notesMasters/notesMaster1.xml" Id="Rd6a3200e6eee447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45beb8acc448a2" /><Relationship Type="http://schemas.openxmlformats.org/officeDocument/2006/relationships/notesMaster" Target="/ppt/notesMasters/notesMaster1.xml" Id="Re0c9fd285a794b4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dfec28b4be54740" /><Relationship Type="http://schemas.openxmlformats.org/officeDocument/2006/relationships/notesMaster" Target="/ppt/notesMasters/notesMaster1.xml" Id="R59983960caa04c3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474302befd34ce3" /><Relationship Type="http://schemas.openxmlformats.org/officeDocument/2006/relationships/notesMaster" Target="/ppt/notesMasters/notesMaster1.xml" Id="R8d251e9fc8a3463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2342b4262a441b5" /><Relationship Type="http://schemas.openxmlformats.org/officeDocument/2006/relationships/notesMaster" Target="/ppt/notesMasters/notesMaster1.xml" Id="R00a98d934b9e4e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306998ab5854a39" /><Relationship Type="http://schemas.openxmlformats.org/officeDocument/2006/relationships/notesMaster" Target="/ppt/notesMasters/notesMaster1.xml" Id="R0f065cc6f5984b8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43e4205043b49b9" /><Relationship Type="http://schemas.openxmlformats.org/officeDocument/2006/relationships/notesMaster" Target="/ppt/notesMasters/notesMaster1.xml" Id="Rc73c790a27b2476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a2b50a6615546d1" /><Relationship Type="http://schemas.openxmlformats.org/officeDocument/2006/relationships/notesMaster" Target="/ppt/notesMasters/notesMaster1.xml" Id="R64f55a0dc1ad4c0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fbca4f824184bd1" /><Relationship Type="http://schemas.openxmlformats.org/officeDocument/2006/relationships/notesMaster" Target="/ppt/notesMasters/notesMaster1.xml" Id="R99c0a887e5524e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e042711b7eb4136" /><Relationship Type="http://schemas.openxmlformats.org/officeDocument/2006/relationships/notesMaster" Target="/ppt/notesMasters/notesMaster1.xml" Id="R5923c49042eb422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e5828fdb4044d50" /><Relationship Type="http://schemas.openxmlformats.org/officeDocument/2006/relationships/notesMaster" Target="/ppt/notesMasters/notesMaster1.xml" Id="R76b1c20b9ace419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cdc9dc2feee451f" /><Relationship Type="http://schemas.openxmlformats.org/officeDocument/2006/relationships/notesMaster" Target="/ppt/notesMasters/notesMaster1.xml" Id="Rfb02ddb4a010409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2d0c5b248374b44" /><Relationship Type="http://schemas.openxmlformats.org/officeDocument/2006/relationships/notesMaster" Target="/ppt/notesMasters/notesMaster1.xml" Id="R9f1739ca387c4d7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f671b1739784207" /><Relationship Type="http://schemas.openxmlformats.org/officeDocument/2006/relationships/notesMaster" Target="/ppt/notesMasters/notesMaster1.xml" Id="Rfe84354625d24a6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58ba52e663b42ab" /><Relationship Type="http://schemas.openxmlformats.org/officeDocument/2006/relationships/notesMaster" Target="/ppt/notesMasters/notesMaster1.xml" Id="Rdc49ea2dce5c4ed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7c2ddb290034c22" /><Relationship Type="http://schemas.openxmlformats.org/officeDocument/2006/relationships/notesMaster" Target="/ppt/notesMasters/notesMaster1.xml" Id="R413e421810b6410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545ff6c166b4145" /><Relationship Type="http://schemas.openxmlformats.org/officeDocument/2006/relationships/notesMaster" Target="/ppt/notesMasters/notesMaster1.xml" Id="R3624a5c047ea418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7458a745e8c422b" /><Relationship Type="http://schemas.openxmlformats.org/officeDocument/2006/relationships/notesMaster" Target="/ppt/notesMasters/notesMaster1.xml" Id="R0c35a55996c44aa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6e7950b66b043f5" /><Relationship Type="http://schemas.openxmlformats.org/officeDocument/2006/relationships/notesMaster" Target="/ppt/notesMasters/notesMaster1.xml" Id="R7d43be04ed14444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7c37f9d000f4994" /><Relationship Type="http://schemas.openxmlformats.org/officeDocument/2006/relationships/notesMaster" Target="/ppt/notesMasters/notesMaster1.xml" Id="Rfc02b299962d4f3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be0147b0d6940aa" /><Relationship Type="http://schemas.openxmlformats.org/officeDocument/2006/relationships/notesMaster" Target="/ppt/notesMasters/notesMaster1.xml" Id="R72bc03a99f83438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ec9620dcdf34644" /><Relationship Type="http://schemas.openxmlformats.org/officeDocument/2006/relationships/notesMaster" Target="/ppt/notesMasters/notesMaster1.xml" Id="R38e5460be562406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b169ff8fe614c23" /><Relationship Type="http://schemas.openxmlformats.org/officeDocument/2006/relationships/notesMaster" Target="/ppt/notesMasters/notesMaster1.xml" Id="R7725c80d99794d1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9b45df5cf964e9a" /><Relationship Type="http://schemas.openxmlformats.org/officeDocument/2006/relationships/notesMaster" Target="/ppt/notesMasters/notesMaster1.xml" Id="Rece2b9f312cf4c2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6409ffbf8914f89" /><Relationship Type="http://schemas.openxmlformats.org/officeDocument/2006/relationships/notesMaster" Target="/ppt/notesMasters/notesMaster1.xml" Id="Re8144de54a6b489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36c4015640241ed" /><Relationship Type="http://schemas.openxmlformats.org/officeDocument/2006/relationships/notesMaster" Target="/ppt/notesMasters/notesMaster1.xml" Id="R47d21020cc7445b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6080a27241a48fa" /><Relationship Type="http://schemas.openxmlformats.org/officeDocument/2006/relationships/notesMaster" Target="/ppt/notesMasters/notesMaster1.xml" Id="Rd894885ebae9460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bf807986d864c79" /><Relationship Type="http://schemas.openxmlformats.org/officeDocument/2006/relationships/notesMaster" Target="/ppt/notesMasters/notesMaster1.xml" Id="R20bf48bc883a493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b70cd78b6a34a4f" /><Relationship Type="http://schemas.openxmlformats.org/officeDocument/2006/relationships/notesMaster" Target="/ppt/notesMasters/notesMaster1.xml" Id="Reffebcb8076f40b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988680519c64e66" /><Relationship Type="http://schemas.openxmlformats.org/officeDocument/2006/relationships/notesMaster" Target="/ppt/notesMasters/notesMaster1.xml" Id="R932342e3347c449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ceec378b7c943f6" /><Relationship Type="http://schemas.openxmlformats.org/officeDocument/2006/relationships/notesMaster" Target="/ppt/notesMasters/notesMaster1.xml" Id="R44a0a94074f64a2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670e8f9d8604b5b" /><Relationship Type="http://schemas.openxmlformats.org/officeDocument/2006/relationships/notesMaster" Target="/ppt/notesMasters/notesMaster1.xml" Id="R7645242fdcb24f1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ff260b979a247a3" /><Relationship Type="http://schemas.openxmlformats.org/officeDocument/2006/relationships/notesMaster" Target="/ppt/notesMasters/notesMaster1.xml" Id="R1a6972fa6c1644b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e584b11757d4a44" /><Relationship Type="http://schemas.openxmlformats.org/officeDocument/2006/relationships/notesMaster" Target="/ppt/notesMasters/notesMaster1.xml" Id="R1696593e46144a89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e128b6eead740fd" /><Relationship Type="http://schemas.openxmlformats.org/officeDocument/2006/relationships/notesMaster" Target="/ppt/notesMasters/notesMaster1.xml" Id="R009c65c5f7d14e9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30e55ddc0e64036" /><Relationship Type="http://schemas.openxmlformats.org/officeDocument/2006/relationships/notesMaster" Target="/ppt/notesMasters/notesMaster1.xml" Id="R92cca158488f41f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8b774f7c38d4658" /><Relationship Type="http://schemas.openxmlformats.org/officeDocument/2006/relationships/notesMaster" Target="/ppt/notesMasters/notesMaster1.xml" Id="Rbd7cfaa9296c4ba5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dccac6db1564705" /><Relationship Type="http://schemas.openxmlformats.org/officeDocument/2006/relationships/notesMaster" Target="/ppt/notesMasters/notesMaster1.xml" Id="Rfcf8bbc075da477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2e4013d252d6419f" /><Relationship Type="http://schemas.openxmlformats.org/officeDocument/2006/relationships/notesMaster" Target="/ppt/notesMasters/notesMaster1.xml" Id="Rce1d2962da8f416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72e26f064617442c" /><Relationship Type="http://schemas.openxmlformats.org/officeDocument/2006/relationships/notesMaster" Target="/ppt/notesMasters/notesMaster1.xml" Id="Ra1487d04a6ee4ec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577c8eb24524972" /><Relationship Type="http://schemas.openxmlformats.org/officeDocument/2006/relationships/notesMaster" Target="/ppt/notesMasters/notesMaster1.xml" Id="R61d2a791c3c54b8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67e6751c8ea48ec" /><Relationship Type="http://schemas.openxmlformats.org/officeDocument/2006/relationships/notesMaster" Target="/ppt/notesMasters/notesMaster1.xml" Id="Re7460055be0b477b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085079004c14cfe" /><Relationship Type="http://schemas.openxmlformats.org/officeDocument/2006/relationships/notesMaster" Target="/ppt/notesMasters/notesMaster1.xml" Id="Rb60dc27f228e465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6ce47989b69440f" /><Relationship Type="http://schemas.openxmlformats.org/officeDocument/2006/relationships/notesMaster" Target="/ppt/notesMasters/notesMaster1.xml" Id="Re50226ac2ae9403b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40f0531444548b9" /><Relationship Type="http://schemas.openxmlformats.org/officeDocument/2006/relationships/notesMaster" Target="/ppt/notesMasters/notesMaster1.xml" Id="R15f0bf25d533445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4796e3fddf34ae6" /><Relationship Type="http://schemas.openxmlformats.org/officeDocument/2006/relationships/notesMaster" Target="/ppt/notesMasters/notesMaster1.xml" Id="R97924147a5a74a93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41ade638afc4461f" /><Relationship Type="http://schemas.openxmlformats.org/officeDocument/2006/relationships/notesMaster" Target="/ppt/notesMasters/notesMaster1.xml" Id="R7f1fff93f5d140d5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43f4f3a5c234a92" /><Relationship Type="http://schemas.openxmlformats.org/officeDocument/2006/relationships/notesMaster" Target="/ppt/notesMasters/notesMaster1.xml" Id="R55fb0626461d4657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6d776065c064a0a" /><Relationship Type="http://schemas.openxmlformats.org/officeDocument/2006/relationships/notesMaster" Target="/ppt/notesMasters/notesMaster1.xml" Id="Re1e47b58a0a14d6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a612f71531634b5f" /><Relationship Type="http://schemas.openxmlformats.org/officeDocument/2006/relationships/notesMaster" Target="/ppt/notesMasters/notesMaster1.xml" Id="R3c1a50d8ed8340c3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124bbe5e9b14880" /><Relationship Type="http://schemas.openxmlformats.org/officeDocument/2006/relationships/notesMaster" Target="/ppt/notesMasters/notesMaster1.xml" Id="Rf02fc82cd474470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df90b747c0f04ed4" /><Relationship Type="http://schemas.openxmlformats.org/officeDocument/2006/relationships/notesMaster" Target="/ppt/notesMasters/notesMaster1.xml" Id="R5afcc60d38444a7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db3f1751a2c4045" /><Relationship Type="http://schemas.openxmlformats.org/officeDocument/2006/relationships/notesMaster" Target="/ppt/notesMasters/notesMaster1.xml" Id="R6c624df77bcc40f2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257ec94ebbc04c78" /><Relationship Type="http://schemas.openxmlformats.org/officeDocument/2006/relationships/notesMaster" Target="/ppt/notesMasters/notesMaster1.xml" Id="R603c6461f71d4892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676adfdf9b524e07" /><Relationship Type="http://schemas.openxmlformats.org/officeDocument/2006/relationships/notesMaster" Target="/ppt/notesMasters/notesMaster1.xml" Id="Rc5f5d4446a374e93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1939a328fdc840e4" /><Relationship Type="http://schemas.openxmlformats.org/officeDocument/2006/relationships/notesMaster" Target="/ppt/notesMasters/notesMaster1.xml" Id="R223a5a4fbd94421b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5fecfcb40f634eca" /><Relationship Type="http://schemas.openxmlformats.org/officeDocument/2006/relationships/notesMaster" Target="/ppt/notesMasters/notesMaster1.xml" Id="R165a15c0eced47a4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4f23766cf474a9f" /><Relationship Type="http://schemas.openxmlformats.org/officeDocument/2006/relationships/notesMaster" Target="/ppt/notesMasters/notesMaster1.xml" Id="R96028cb37b7a4bba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3d87c0f23a0a43f7" /><Relationship Type="http://schemas.openxmlformats.org/officeDocument/2006/relationships/notesMaster" Target="/ppt/notesMasters/notesMaster1.xml" Id="R2e3c65e229a249b3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30ca2c8810114a69" /><Relationship Type="http://schemas.openxmlformats.org/officeDocument/2006/relationships/notesMaster" Target="/ppt/notesMasters/notesMaster1.xml" Id="Ra78cc6fc9b1640d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87dc8683ed114f65" /><Relationship Type="http://schemas.openxmlformats.org/officeDocument/2006/relationships/notesMaster" Target="/ppt/notesMasters/notesMaster1.xml" Id="R179068d9cdf6472e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359a1bd49164137" /><Relationship Type="http://schemas.openxmlformats.org/officeDocument/2006/relationships/notesMaster" Target="/ppt/notesMasters/notesMaster1.xml" Id="R03600c74e10a4951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9ebd3da6526e4e8e" /><Relationship Type="http://schemas.openxmlformats.org/officeDocument/2006/relationships/notesMaster" Target="/ppt/notesMasters/notesMaster1.xml" Id="Ra2fdbe6032c5490d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76598f970d01492e" /><Relationship Type="http://schemas.openxmlformats.org/officeDocument/2006/relationships/notesMaster" Target="/ppt/notesMasters/notesMaster1.xml" Id="Rd236f6caf7e1460e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74f7309a85a04f29" /><Relationship Type="http://schemas.openxmlformats.org/officeDocument/2006/relationships/notesMaster" Target="/ppt/notesMasters/notesMaster1.xml" Id="R07259e62fee2426d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d7449698d15f422e" /><Relationship Type="http://schemas.openxmlformats.org/officeDocument/2006/relationships/notesMaster" Target="/ppt/notesMasters/notesMaster1.xml" Id="R1d69a068e7ec42fe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7234997170cf4591" /><Relationship Type="http://schemas.openxmlformats.org/officeDocument/2006/relationships/notesMaster" Target="/ppt/notesMasters/notesMaster1.xml" Id="Rf37c8026a9b747cd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f379d23aec1c4aab" /><Relationship Type="http://schemas.openxmlformats.org/officeDocument/2006/relationships/notesMaster" Target="/ppt/notesMasters/notesMaster1.xml" Id="R4890bf996b124b7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54153feb80d044a2" /><Relationship Type="http://schemas.openxmlformats.org/officeDocument/2006/relationships/notesMaster" Target="/ppt/notesMasters/notesMaster1.xml" Id="Rd855f249a20e4e11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d25b4b9ecffd4db1" /><Relationship Type="http://schemas.openxmlformats.org/officeDocument/2006/relationships/notesMaster" Target="/ppt/notesMasters/notesMaster1.xml" Id="R173b955ce55d40eb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879a72ad74ef4019" /><Relationship Type="http://schemas.openxmlformats.org/officeDocument/2006/relationships/notesMaster" Target="/ppt/notesMasters/notesMaster1.xml" Id="R922a6f6ef1b847a7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581e5e6be1094262" /><Relationship Type="http://schemas.openxmlformats.org/officeDocument/2006/relationships/notesMaster" Target="/ppt/notesMasters/notesMaster1.xml" Id="R38b3130a77904ea6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13924f6ae51a405b" /><Relationship Type="http://schemas.openxmlformats.org/officeDocument/2006/relationships/notesMaster" Target="/ppt/notesMasters/notesMaster1.xml" Id="R33c8efc130ca4c2e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5cc25c5c63c74b3b" /><Relationship Type="http://schemas.openxmlformats.org/officeDocument/2006/relationships/notesMaster" Target="/ppt/notesMasters/notesMaster1.xml" Id="R52678030768a4c76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082f899fb70e4f97" /><Relationship Type="http://schemas.openxmlformats.org/officeDocument/2006/relationships/notesMaster" Target="/ppt/notesMasters/notesMaster1.xml" Id="Rdc7c2106684f4222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4acd886d7f314a35" /><Relationship Type="http://schemas.openxmlformats.org/officeDocument/2006/relationships/notesMaster" Target="/ppt/notesMasters/notesMaster1.xml" Id="R696641b72e5243fc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b5541636ba1a4b7b" /><Relationship Type="http://schemas.openxmlformats.org/officeDocument/2006/relationships/notesMaster" Target="/ppt/notesMasters/notesMaster1.xml" Id="R4e692e406af0455b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a56d5065fc24b8b" /><Relationship Type="http://schemas.openxmlformats.org/officeDocument/2006/relationships/notesMaster" Target="/ppt/notesMasters/notesMaster1.xml" Id="Rc78fb585a28142a4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eb9640b5811c463b" /><Relationship Type="http://schemas.openxmlformats.org/officeDocument/2006/relationships/notesMaster" Target="/ppt/notesMasters/notesMaster1.xml" Id="R99504f72b0a04900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e534ee154d194891" /><Relationship Type="http://schemas.openxmlformats.org/officeDocument/2006/relationships/notesMaster" Target="/ppt/notesMasters/notesMaster1.xml" Id="R0cc903a82f2d43f9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3c3c179d6b8f44b5" /><Relationship Type="http://schemas.openxmlformats.org/officeDocument/2006/relationships/notesMaster" Target="/ppt/notesMasters/notesMaster1.xml" Id="Rcc6acd9e6b814e67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d8de9aa2a9274370" /><Relationship Type="http://schemas.openxmlformats.org/officeDocument/2006/relationships/notesMaster" Target="/ppt/notesMasters/notesMaster1.xml" Id="R11f9954bdd7741f6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da7237fb9081416c" /><Relationship Type="http://schemas.openxmlformats.org/officeDocument/2006/relationships/notesMaster" Target="/ppt/notesMasters/notesMaster1.xml" Id="Rd86b771b9a374aa5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5b369f2dec1e4a1c" /><Relationship Type="http://schemas.openxmlformats.org/officeDocument/2006/relationships/notesMaster" Target="/ppt/notesMasters/notesMaster1.xml" Id="R52c456eda11a4faf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6301e6e17a824373" /><Relationship Type="http://schemas.openxmlformats.org/officeDocument/2006/relationships/notesMaster" Target="/ppt/notesMasters/notesMaster1.xml" Id="Re2567a1e0fc14d69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e2d2bb4283b24e35" /><Relationship Type="http://schemas.openxmlformats.org/officeDocument/2006/relationships/notesMaster" Target="/ppt/notesMasters/notesMaster1.xml" Id="R7e7db8943dd24170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4a6e6f02842a4717" /><Relationship Type="http://schemas.openxmlformats.org/officeDocument/2006/relationships/notesMaster" Target="/ppt/notesMasters/notesMaster1.xml" Id="R1cbc5233da3547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Abrir con la pregunta “¿qué hace que una membrana empiece a moverse y luego se detenga?”.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hace que una membrana empiece a moverse y luego se detenga?” Respuesta esperada: Una fuerza neta inicia el cambio; elasticidad y amortiguamiento ayudan a explicar retorno y decaimiento.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“Presentar el fenómeno que organizará la unidad.”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PO; TEX 2.1; PDF p. 37;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Recoger predicciones sin corregir todavía; separar observación de explicación.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Dos estados: presiones iguales y presiones diferentes → preguntas sobre movimiento, retorno y detención. 3. Cerrar con la idea central: Una diferencia de presión puede producir una fuerza neta.</a:t>
            </a:r>
          </a:p>
          <a:p xmlns:a="http://schemas.openxmlformats.org/drawingml/2006/main">
            <a:r>
              <a:t>- **Pregunta y respuesta esperada:** “¿En qué estado espera una fuerza neta?” Respuesta esperada: Cuando las presiones son diferentes, si las demás condiciones se mantienen.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“La predicción revela qué conocimientos conviene recuperar.”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2.3; PDF p. 38; INV U02-C09–C11.</a:t>
            </a:r>
          </a:p>
          <a:p xmlns:a="http://schemas.openxmlformats.org/drawingml/2006/main">
            <a:r>
              <a:t>[Asset] units/unit_02/assets/generated/diagrams/u02_dg001_s002/u02_fig_002_001.svg (diagram; versión final validada).</a:t>
            </a:r>
          </a:p>
          <a:p xmlns:a="http://schemas.openxmlformats.org/drawingml/2006/main">
            <a:r>
              <a:t>[Multimedia] El recurso audiovisual previsto no tiene archivo local aprobado; usar la alternativa estática de la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voto y una razón; no calificar.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afirmación les genera más duda?” Respuesta esperada: No hay una única respuesta diagnóstica; se busca una justificación inicial.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revelar la respuesta antes de escuchar al menos una justificación.</a:t>
            </a:r>
          </a:p>
          <a:p xmlns:a="http://schemas.openxmlformats.org/drawingml/2006/main">
            <a:r>
              <a:t>- **Transición:** “Recuperar formalmente magnitudes y criterios de U1.”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BR, diagnóstico inicial; TEX 2.9; PDF pp. 48–49.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Comprobar que Pa y N no son intercambiables y que el signo necesita un eje.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Masa, fuerza, presión, unidades y signos son el lenguaje de entrada.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“Convertir los prerrequisitos en resultados observables.”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2.2; PDF p. 38; CDM; U1.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Parafrasear los ocho objetivos del brief sin leerlos como lista administrativa.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unidad combina interpretación, cálculo y aplicación responsable.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“Mostrar cómo se recorrerán esos resultados.”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BR, objetivos; TEX 2.1; PDF pp. 37–38.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el mapa se retomará en las recapitulaciones, no como agenda decorativa. Usar el mapa como orientación y señalar dónde se encuentra la clase.</a:t>
            </a:r>
          </a:p>
          <a:p xmlns:a="http://schemas.openxmlformats.org/drawingml/2006/main">
            <a:r>
              <a:t>- **Guía del visual/diagrama:** 1. Delimitar el sistema o la ecuación central. 2. Recorrer en el orden previsto: Cinco macroetapas: sistema y leyes → presión → respuesta mecánica → energía/termodinámica. 3. Cerrar con la idea central: La frontera del sistema conecta fuerzas, energía y termodinámica.</a:t>
            </a:r>
          </a:p>
          <a:p xmlns:a="http://schemas.openxmlformats.org/drawingml/2006/main">
            <a:r>
              <a:t>- **Pregunta y respuesta esperada:** “¿Qué conexión del mapa organiza las ideas de la unidad?” Respuesta esperada: La frontera del sistema conecta fuerzas, energía y termodinámica.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“Abrir el primer bloque: antes de aplicar una ley, se elige el sistema.”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BR; CM; CDM.</a:t>
            </a:r>
          </a:p>
          <a:p xmlns:a="http://schemas.openxmlformats.org/drawingml/2006/main">
            <a:r>
              <a:t>[Asset] units/unit_02/assets/generated/diagrams/u02_dg001_s006/u02_fig_006_001.svg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Dar un ejemplo oral con membrana y aire.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La misma interacción se describe de modo distinto según la frontera elegida.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“Definir sistema y entorno.”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2.4.1; PDF p. 38;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cómo cambia la lista de fuerzas al cambiar la frontera. Dar un ejemplo y un contraejemplo antes de fijar el término.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 → ejemplo “membrana” frente a “membrana + aire” → qué queda fuera. 3. Cerrar con la idea central: Sin sistema definido no existe un diagrama de fuerzas inequívoco.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Sin sistema definido no existe un diagrama de fuerzas inequívoco.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“Una fuerza aparece cuando el sistema interactúa con otra cosa.”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2.4.1; INV U02-C01.</a:t>
            </a:r>
          </a:p>
          <a:p xmlns:a="http://schemas.openxmlformats.org/drawingml/2006/main">
            <a:r>
              <a:t>[Asset] units/unit_02/assets/generated/diagrams/u02_dg002_s008/u02_fig_008_002.svg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Preparar la notación de tercera ley sin adelantar todavía el par completo.</a:t>
            </a:r>
          </a:p>
          <a:p xmlns:a="http://schemas.openxmlformats.org/drawingml/2006/main">
            <a:r>
              <a:t>- **Guía del visual/diagrama:** 1. Delimitar el sistema o la ecuación central. 2. Recorrer en el orden previsto: Estructura verbal “A ejerce fuerza sobre B” → dos ejemplos mecánicos. 3. Cerrar con la idea central: Toda fuerza tiene agente y receptor.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Toda fuerza tiene agente y receptor.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“Para sumar fuerzas necesitamos dirección y sentido.”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2.4.1; GLO fuerza.</a:t>
            </a:r>
          </a:p>
          <a:p xmlns:a="http://schemas.openxmlformats.org/drawingml/2006/main">
            <a:r>
              <a:t>[Asset] units/unit_02/assets/generated/diagrams/u02_dg002_s009/u02_fig_009_002.svg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presentar “negativo” como menor intensidad; cambiar el eje como contraejemplo.</a:t>
            </a:r>
          </a:p>
          <a:p xmlns:a="http://schemas.openxmlformats.org/drawingml/2006/main">
            <a:r>
              <a:t>- **Guía del visual/diagrama:** 1. Delimitar el sistema o la ecuación central. 2. Recorrer en el orden previsto: Fuerza vectorial → módulo, dirección y sentido → eje positivo → dos flechas con signo. 3. Cerrar con la idea central: Positivo y negativo describen sentido respecto de un eje elegido.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Positivo y negativo describen sentido respecto de un eje elegido.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“Sumar las componentes produce la fuerza neta.”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2.4.1; NOT.</a:t>
            </a:r>
          </a:p>
          <a:p xmlns:a="http://schemas.openxmlformats.org/drawingml/2006/main">
            <a:r>
              <a:t>[Asset] units/unit_02/assets/generated/diagrams/u02_dg002_s010/u02_fig_010_002.svg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Nombrar cada fuerza y distinguir diagrama de cálculo.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fuerzas sobre un cuerpo → suma con signos → flecha resultante. 3. Cerrar con la idea central: La aceleración depende de la suma, no de una fuerza aislada.</a:t>
            </a:r>
          </a:p>
          <a:p xmlns:a="http://schemas.openxmlformats.org/drawingml/2006/main">
            <a:r>
              <a:t>- **Pregunta y respuesta esperada:** “¿Qué etapa conecta la entrada con el resultado?” Respuesta esperada: La aceleración depende de la suma, no de una fuerza aislada.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“Comprobar qué puede ocurrir cuando la suma es cero.”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2.4.1; INV U02-C04.</a:t>
            </a:r>
          </a:p>
          <a:p xmlns:a="http://schemas.openxmlformats.org/drawingml/2006/main">
            <a:r>
              <a:t>[Asset] units/unit_02/assets/generated/diagrams/u02_dg002_s011/u02_fig_011_002.svg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Esperar “fuerza neta cero”; pedir qué información falta sobre la velocidad.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Situación de dos fuerzas equilibradas → elegir y justificar. 3. Cerrar con la idea central: Reposo no significa ausencia de fuerzas; puede haber equilibrio.</a:t>
            </a:r>
          </a:p>
          <a:p xmlns:a="http://schemas.openxmlformats.org/drawingml/2006/main">
            <a:r>
              <a:t>- **Pregunta y respuesta esperada:** “Si el cuerpo está en reposo, ¿pueden actuar fuerzas?” Respuesta esperada: Sí; pueden sumar cero.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Reposo no equivale a ausencia de fuerzas.</a:t>
            </a:r>
          </a:p>
          <a:p xmlns:a="http://schemas.openxmlformats.org/drawingml/2006/main">
            <a:r>
              <a:t>- **Transición:** “Formular la primera ley.”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2.4.2; ejercicios C1/D4; PDF pp. 38–39, 50, 53.</a:t>
            </a:r>
          </a:p>
          <a:p xmlns:a="http://schemas.openxmlformats.org/drawingml/2006/main">
            <a:r>
              <a:t>[Asset] units/unit_02/assets/generated/diagrams/u02_dg002_s012/u02_fig_012_002.svg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Señalar que la primera ley no explica por qué una membrana desplazada vuelve.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`F_neta = 0 → v constante` → reposo como caso particular → masa cuantifica inercia. 3. Cerrar con la idea central: La inercia conserva el estado de movimiento; no produce retorno al equilibrio.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inercia conserva el estado de movimiento; no produce retorno al equilibrio.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inercia no es una fuerza y no explica el retorno al equilibrio.</a:t>
            </a:r>
          </a:p>
          <a:p xmlns:a="http://schemas.openxmlformats.org/drawingml/2006/main">
            <a:r>
              <a:t>- **Transición:** “Consolidar sistema, signos e inercia antes de cambiar de ley.”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2.4.2; PDF pp. 38–39; INV U02-C05–C06.</a:t>
            </a:r>
          </a:p>
          <a:p xmlns:a="http://schemas.openxmlformats.org/drawingml/2006/main">
            <a:r>
              <a:t>[Asset] units/unit_02/assets/generated/diagrams/u02_dg002_s013/u02_fig_013_002.svg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respuestas del diagnóstico y anunciar aceleración. Reconstruir las relaciones causales; evitar una enumeración de términos aislados.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debe cambiar para que cambie la velocidad?” Respuesta esperada: Debe existir aceleración producida por una fuerza neta no nula.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Pedir conexiones entre conceptos, no una lista memorizada.</a:t>
            </a:r>
          </a:p>
          <a:p xmlns:a="http://schemas.openxmlformats.org/drawingml/2006/main">
            <a:r>
              <a:t>- **Transición:** “Abrir la segunda ley: una fuerza neta no nula cambia la velocidad.”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2.4.1–2.4.2;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Conectar la respuesta del recap con aceleración.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La segunda ley relaciona resultante, masa y aceleración.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“Distinguir aceleración de velocidad.”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2.4.3; PDF p. 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aceleración de U1 sin introducir cálculo diferencial.</a:t>
            </a:r>
          </a:p>
          <a:p xmlns:a="http://schemas.openxmlformats.org/drawingml/2006/main">
            <a:r>
              <a:t>- **Guía del visual/diagrama:** 1. Delimitar el sistema o la ecuación central. 2. Recorrer en el orden previsto: Secuencia fuerza neta → aceleración → cambio de velocidad → contraejemplo de fuerzas equilibradas. 3. Cerrar con la idea central: La aceleración es el cambio de velocidad por unidad de tiempo.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aceleración es el cambio de velocidad por unidad de tiempo.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“Presentar la relación cuantitativa.”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2.4.3; PDF p. 39; INV U02-C07.</a:t>
            </a:r>
          </a:p>
          <a:p xmlns:a="http://schemas.openxmlformats.org/drawingml/2006/main">
            <a:r>
              <a:t>[Asset] units/unit_02/assets/generated/diagrams/u02_dg003_s016/u02_fig_016_003.svg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control dimensional y evitar escribir `F = ma` sin calificador.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 → símbolos → N, kg y m·s⁻² → condiciones de masa constante y una dimensión. 3. Cerrar con la idea central: A igual masa, mayor resultante implica mayor aceleración.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A igual masa, mayor resultante implica mayor aceleración.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una fuerza aislada en lugar de `F_neta`.</a:t>
            </a:r>
          </a:p>
          <a:p xmlns:a="http://schemas.openxmlformats.org/drawingml/2006/main">
            <a:r>
              <a:t>- **Transición:** “Visualizar proporcionalidades sin ocultarlas en la ecuación.”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PO; TEX 2.4.3; PDF p. 39; NOT; INV U02-E01.</a:t>
            </a:r>
          </a:p>
          <a:p xmlns:a="http://schemas.openxmlformats.org/drawingml/2006/main">
            <a:r>
              <a:t>[Asset] units/unit_02/assets/generated/diagrams/u02_dg003_s017/u02_fig_017_003.svg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la pendiente es `1/m` sin exigir formalización avanzada.</a:t>
            </a:r>
          </a:p>
          <a:p xmlns:a="http://schemas.openxmlformats.org/drawingml/2006/main">
            <a:r>
              <a:t>- **Guía del visual/diagrama:** Nombrar primero los ejes y sus unidades; luego leer uno o dos puntos; finalmente formular la conclusión: La masa modifica cuánto cambia la aceleración frente a una fuerza neta.</a:t>
            </a:r>
          </a:p>
          <a:p xmlns:a="http://schemas.openxmlformats.org/drawingml/2006/main">
            <a:r>
              <a:t>- **Pregunta y respuesta esperada:** “¿Qué recta corresponde a la masa mayor?” Respuesta esperada: La de menor pendiente.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Nombrar ejes, unidades y escala; no presentar los puntos del modelo como mediciones.</a:t>
            </a:r>
          </a:p>
          <a:p xmlns:a="http://schemas.openxmlformats.org/drawingml/2006/main">
            <a:r>
              <a:t>- **Transición:** “Aplicar la relación en un caso de una dimensión.”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2.4.3; ejercicio C2; INV U02-C06–C07.</a:t>
            </a:r>
          </a:p>
          <a:p xmlns:a="http://schemas.openxmlformats.org/drawingml/2006/main">
            <a:r>
              <a:t>[Asset] units/unit_02/assets/generated/charts/u02_ch001_aceleracion_fuerza/u02_fig_001_aceleracion_fuerza.svg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predicción de signo antes de revelar el número.</a:t>
            </a:r>
          </a:p>
          <a:p xmlns:a="http://schemas.openxmlformats.org/drawingml/2006/main">
            <a:r>
              <a:t>- **Guía del visual/diagrama:** 1. Delimitar el sistema o la ecuación central. 2. Recorrer en el orden previsto: Datos de tres fuerzas, eje positivo, suma, `a = F_neta/m`, resultado e interpretación del signo. 3. Cerrar con la idea central: Primero se obtiene la resultante; después se divide por la masa.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Primero se obtiene la resultante; después se divide por la masa.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“Comprobar transferencia a dos masas.”</a:t>
            </a:r>
          </a:p>
          <a:p xmlns:a="http://schemas.openxmlformats.org/drawingml/2006/main">
            <a:r>
              <a:t>- **Duración:** 6 min.</a:t>
            </a:r>
          </a:p>
          <a:p xmlns:a="http://schemas.openxmlformats.org/drawingml/2006/main">
            <a:r>
              <a:t>- **[Sources]:** TEX 2.4.1–2.4.3; elaboración didáctica basada en NA2.</a:t>
            </a:r>
          </a:p>
          <a:p xmlns:a="http://schemas.openxmlformats.org/drawingml/2006/main">
            <a:r>
              <a:t>[Asset] units/unit_02/assets/generated/diagrams/u02_dg003_s019/u02_fig_019_003.svg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Recoger respuesta antes de usar `a = F_neta/m`.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Comparación cualitativa A/B → justificar sin cálculo o con razón simple. 3. Cerrar con la idea central: La masa mayor representa mayor inercia.</a:t>
            </a:r>
          </a:p>
          <a:p xmlns:a="http://schemas.openxmlformats.org/drawingml/2006/main">
            <a:r>
              <a:t>- **Pregunta y respuesta esperada:** “¿Quién acelera más con la misma fuerza?” Respuesta esperada: La masa menor.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“Introducir fuerzas de interacción entre dos cuerpos.”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ejercicio C2; PDF p. 50.</a:t>
            </a:r>
          </a:p>
          <a:p xmlns:a="http://schemas.openxmlformats.org/drawingml/2006/main">
            <a:r>
              <a:t>[Asset] units/unit_02/assets/generated/diagrams/u02_dg003_s020/u02_fig_020_003.svg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Leer la notación verbalmente antes de operar.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`F⃗_A→B = -F⃗_B→A` → lectura de subíndices y cuerpos. 3. Cerrar con la idea central: Las fuerzas son simultáneas, iguales en módulo y opuestas, pero no actúan sobre el mismo cuerpo.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Las fuerzas son simultáneas, iguales en módulo y opuestas, pero no actúan sobre el mismo cuerpo.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Acción y reacción no se cancelan dentro de un mismo DCL.</a:t>
            </a:r>
          </a:p>
          <a:p xmlns:a="http://schemas.openxmlformats.org/drawingml/2006/main">
            <a:r>
              <a:t>- **Transición:** “Representar cada fuerza en su propio diagrama.”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PO; TEX 2.4.4; PDF p. 40; INV U02-E04.</a:t>
            </a:r>
          </a:p>
          <a:p xmlns:a="http://schemas.openxmlformats.org/drawingml/2006/main">
            <a:r>
              <a:t>[Asset] units/unit_02/assets/generated/diagrams/u02_dg004_s021/u02_fig_021_004.svg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Contrastar tercera ley con equilibrio sobre un solo cuerpo. Recorrer primero lo común y después la diferencia que cambia la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Izquierda: diagrama de A → derecha: diagrama de B → síntesis inferior. 3. Cerrar con la idea central: El par pertenece a dos cuerpos; las fuerzas equilibradas pertenecen a uno.</a:t>
            </a:r>
          </a:p>
          <a:p xmlns:a="http://schemas.openxmlformats.org/drawingml/2006/main">
            <a:r>
              <a:t>- **Pregunta y respuesta esperada:** “¿Cuál es la diferencia esencial entre los casos comparados?” Respuesta esperada: El par pertenece a dos cuerpos; las fuerzas equilibradas pertenecen a uno.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“Consolidar las tres leyes como herramientas distintas.”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2.4.4; ejercicios C4/D4; PDF pp. 40, 50, 53.</a:t>
            </a:r>
          </a:p>
          <a:p xmlns:a="http://schemas.openxmlformats.org/drawingml/2006/main">
            <a:r>
              <a:t>[Asset] units/unit_02/assets/generated/diagrams/u02_dg004_s022/u02_fig_022_004.svg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Detectar si alguien aún mezcla equilibrio y tercera ley. Reconstruir las relaciones causales; evitar una enumeración de términos aislados.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ley relaciona dos cuerpos?” Respuesta esperada: La tercera ley.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Pedir conexiones entre conceptos, no una lista memorizada.</a:t>
            </a:r>
          </a:p>
          <a:p xmlns:a="http://schemas.openxmlformats.org/drawingml/2006/main">
            <a:r>
              <a:t>- **Transición:** “Aplicar fuerza neta a una superficie sometida a presión.”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2.4; PDF pp. 38–40.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Volver al estado inicial de la membrana.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La presión se convierte en fuerza solo al considerar una superficie.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“Mostrar las contribuciones de ambos lados.”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2.3 y 2.4.3; PDF pp. 38–40.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Aclarar que las flechas representan fuerzas debidas a presión, no presión “viajando”.</a:t>
            </a:r>
          </a:p>
          <a:p xmlns:a="http://schemas.openxmlformats.org/drawingml/2006/main">
            <a:r>
              <a:t>- **Guía del visual/diagrama:** 1. Delimitar el sistema o la ecuación central. 2. Recorrer en el orden previsto: Superficie, `p₁`, `p₂`, área y flechas opuestas → casos `p₁ = p₂` y `p₁ &gt; p₂`. 3. Cerrar con la idea central: La resultante apunta hacia la región de menor presión si las demás condiciones se mantienen.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resultante apunta hacia la región de menor presión si las demás condiciones se mantienen.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“Separar conceptualmente presión y fuerza.”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2.4.3; figura 2.1; PDF p. 40.</a:t>
            </a:r>
          </a:p>
          <a:p xmlns:a="http://schemas.openxmlformats.org/drawingml/2006/main">
            <a:r>
              <a:t>[Asset] units/unit_02/assets/generated/diagrams/u02_dg005_s025/u02_fig_025_005.svg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`p = F_perp/S` de U1 y preparar la forma inversa. Recorrer primero lo común y después la diferencia que cambia la interpretación.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“¿Por qué Pa y N no son intercambiables?” Respuesta esperada: Describen magnitudes distintas y se relacionan mediante un área.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Confundir Pa con N.</a:t>
            </a:r>
          </a:p>
          <a:p xmlns:a="http://schemas.openxmlformats.org/drawingml/2006/main">
            <a:r>
              <a:t>- **Transición:** “Definir la diferencia de presión con signo.”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2.4.3; U1;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que invertir etiquetas cambia el signo, no el fenómeno físico.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`Δp = p₁ - p₂` → símbolos, Pa y dos resultados de signo opuesto. 3. Cerrar con la idea central: El orden `p₁ - p₂` fija el signo respecto del eje elegido.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El orden `p₁ - p₂` fija el signo respecto del eje elegido.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“Incorporar el área para obtener fuerza.”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2.4.3; PDF p. 39; NOT.</a:t>
            </a:r>
          </a:p>
          <a:p xmlns:a="http://schemas.openxmlformats.org/drawingml/2006/main">
            <a:r>
              <a:t>[Asset] units/unit_02/assets/generated/diagrams/u02_dg005_s027/u02_fig_027_005.svg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Registrar que el libro usa `A`; no alternar notación visible.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 con `S` para continuidad con U1 → símbolos, unidades e hipótesis. 3. Cerrar con la idea central: La misma `Δp` produce mayor fuerza sobre una superficie mayor, bajo presión uniforme.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misma `Δp` produce mayor fuerza sobre una superficie mayor, bajo presión uniforme.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relación supone presión uniforme sobre el área considerada.</a:t>
            </a:r>
          </a:p>
          <a:p xmlns:a="http://schemas.openxmlformats.org/drawingml/2006/main">
            <a:r>
              <a:t>- **Transición:** “Comprobar dimensionalmente la relación.”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2.4.3; PDF p. 39; NOT; U1; INV U02-E03.</a:t>
            </a:r>
          </a:p>
          <a:p xmlns:a="http://schemas.openxmlformats.org/drawingml/2006/main">
            <a:r>
              <a:t>[Asset] units/unit_02/assets/generated/diagrams/u02_dg005_s028/u02_fig_028_005.svg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al curso que descarte opciones antes de revelar.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`Pa·m² = N` → dos opciones incorrectas `Δp/S` y `S/Δp`. 3. Cerrar con la idea central: Las unidades descartan relaciones físicamente incompatibles.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Las unidades descartan relaciones físicamente incompatibles.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“Resolver el ejemplo de superficie modelo.”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2.4.3; ejercicio D1; PDF pp. 39, 53.</a:t>
            </a:r>
          </a:p>
          <a:p xmlns:a="http://schemas.openxmlformats.org/drawingml/2006/main">
            <a:r>
              <a:t>[Asset] units/unit_02/assets/generated/diagrams/u02_dg005_s029/u02_fig_029_005.svg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Mantener notación científica y cifras significativas; preguntar el sentido.</a:t>
            </a:r>
          </a:p>
          <a:p xmlns:a="http://schemas.openxmlformats.org/drawingml/2006/main">
            <a:r>
              <a:t>- **Guía del visual/diagrama:** 1. Delimitar el sistema o la ecuación central. 2. Recorrer en el orden previsto: Datos, hipótesis, cálculo y frase de alcance. 3. Cerrar con la idea central: El resultado pertenece al sistema ideal y no es un valor universal del tímpano.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El resultado pertenece al sistema ideal y no es un valor universal del tímpano.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“Aplicar el modelo a una membrana real con límites.”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ejemplo presión–superficie; PDF p. 40.</a:t>
            </a:r>
          </a:p>
          <a:p xmlns:a="http://schemas.openxmlformats.org/drawingml/2006/main">
            <a:r>
              <a:t>[Asset] units/unit_02/assets/generated/diagrams/u02_dg005_s030/u02_fig_030_005.svg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usar los valores del ejemplo como dato anatómico o clínico. Separar explícitamente la utilidad del modelo de sus límites físicos y clínicos.</a:t>
            </a:r>
          </a:p>
          <a:p xmlns:a="http://schemas.openxmlformats.org/drawingml/2006/main">
            <a:r>
              <a:t>- **Guía del visual/diagrama:** 1. Delimitar el sistema o la ecuación central. 2. Recorrer en el orden previsto: Concepto físico, aplicación y tres límites: geometría, presión no uniforme, movimiento distribuido. 3. Cerrar con la idea central: La relación presión–área ayuda a razonar, pero la membrana real tiene propiedades distribuidas.</a:t>
            </a:r>
          </a:p>
          <a:p xmlns:a="http://schemas.openxmlformats.org/drawingml/2006/main">
            <a:r>
              <a:t>- **Pregunta y respuesta esperada:** “¿Qué permite afirmar el modelo y qué queda fuera de su alcance?” Respuesta esperada: La relación presión–área ayuda a razonar, pero la membrana real tiene propiedades distribuidas.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“Recapitular antes de añadir elasticidad y amortiguamiento.”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2.3, 2.8; PDF pp. 38, 47; REF ugarteburu2022.</a:t>
            </a:r>
          </a:p>
          <a:p xmlns:a="http://schemas.openxmlformats.org/drawingml/2006/main">
            <a:r>
              <a:t>[Asset] units/unit_02/assets/generated/diagrams/u02_dg005_s031/u02_fig_031_005.svg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Hacer que el curso narre la cadena sin leer ecuaciones. Reconstruir las relaciones causales; evitar una enumeración de términos aislados.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relaciones y pregunta de control sobre duplicar el área. 3. Cerrar con la idea central: Presión, área, fuerza neta y aceleración forman una cadena con unidades distintas.</a:t>
            </a:r>
          </a:p>
          <a:p xmlns:a="http://schemas.openxmlformats.org/drawingml/2006/main">
            <a:r>
              <a:t>- **Pregunta y respuesta esperada:** “¿Qué ocurre con la fuerza si se duplica el área?” Respuesta esperada: Se duplica bajo `Δp` uniforme y constante.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“Preguntar por qué una membrana vuelve y por qué termina de vibrar.”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2.3–2.4; U1; INV.</a:t>
            </a:r>
          </a:p>
          <a:p xmlns:a="http://schemas.openxmlformats.org/drawingml/2006/main">
            <a:r>
              <a:t>[Asset] units/unit_02/assets/generated/diagrams/u02_dg005_s032/u02_fig_032_005.svg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Anticipar construcción por etapas; no mostrar aún la ecuación completa.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Inercia, retorno y disipación no son el mismo mecanismo.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“Observar primero un sistema real o simulado.”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2.5; PDF pp. 41–43;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introducir frecuencia natural; enfocar retorno y decaimiento.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cambia al aumentar el amortiguamiento?” Respuesta esperada: La oscilación decae más rápido.</a:t>
            </a:r>
          </a:p>
          <a:p xmlns:a="http://schemas.openxmlformats.org/drawingml/2006/main">
            <a:r>
              <a:t>- **Demostración/multimedia:** Reproducir el recurso indicado: MEDIA: GIF o demostración propia masa–resorte con dos amortiguamientos; duración menor a 20 s. Mostrar una vez sin explicar y otra vez siguiendo el elemento señalado. Si falla la reproducción, usar la alternativa estática completa.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“Nombrar las tres propiedades observadas.”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Elaboración propia basada en TEX 2.5.</a:t>
            </a:r>
          </a:p>
          <a:p xmlns:a="http://schemas.openxmlformats.org/drawingml/2006/main">
            <a:r>
              <a:t>[Multimedia] El recurso audiovisual previsto no tiene archivo local aprobado; usar la alternativa estática de la slide.</a:t>
            </a:r>
          </a:p>
          <a:p xmlns:a="http://schemas.openxmlformats.org/drawingml/2006/main">
            <a:r>
              <a:t>[Link] https://phet.colorado.edu/es_PE/simulations/masses-and-springs-basics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Aclarar que son propiedades concentradas de un modelo, no piezas anatómicas. Usar el mapa como orientación y señalar dónde se encuentra la clase.</a:t>
            </a:r>
          </a:p>
          <a:p xmlns:a="http://schemas.openxmlformats.org/drawingml/2006/main">
            <a:r>
              <a:t>- **Guía del visual/diagrama:** 1. Delimitar el sistema o la ecuación central. 2. Recorrer en el orden previsto: Masa → inercia → elasticidad → retorno → amortiguamiento → disipación. 3. Cerrar con la idea central: Cada propiedad responde una pregunta distinta.</a:t>
            </a:r>
          </a:p>
          <a:p xmlns:a="http://schemas.openxmlformats.org/drawingml/2006/main">
            <a:r>
              <a:t>- **Pregunta y respuesta esperada:** “¿Qué conexión del mapa organiza las ideas de la unidad?” Respuesta esperada: Cada propiedad responde una pregunta distinta.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“Profundizar una propiedad por vez.”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2.5.1; figura 2.2; PDF p. 41.</a:t>
            </a:r>
          </a:p>
          <a:p xmlns:a="http://schemas.openxmlformats.org/drawingml/2006/main">
            <a:r>
              <a:t>[Asset] units/unit_02/assets/generated/diagrams/u02_dg006_s035/u02_fig_035_006.svg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Repetición pedagógica: ahora la masa es un término del modelo, no solo de la segunda ley.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Definición, unidad y comparación cualitativa. 3. Cerrar con la idea central: A igualdad de resultante, mayor masa implica menor aceleración.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A igualdad de resultante, mayor masa implica menor aceleración.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“Introducir la fuerza que permite volver al equilibrio.”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2.5.1; PDF p. 41.</a:t>
            </a:r>
          </a:p>
          <a:p xmlns:a="http://schemas.openxmlformats.org/drawingml/2006/main">
            <a:r>
              <a:t>[Asset] units/unit_02/assets/generated/charts/u02_ch001_aceleracion_fuerza/u02_fig_001_aceleracion_fuerza.svg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Diferenciar “volver” de primera ley e inercia.</a:t>
            </a:r>
          </a:p>
          <a:p xmlns:a="http://schemas.openxmlformats.org/drawingml/2006/main">
            <a:r>
              <a:t>- **Guía del visual/diagrama:** 1. Delimitar el sistema o la ecuación central. 2. Recorrer en el orden previsto: Posición de equilibrio, desplazamiento positivo/negativo y sentido de retorno. 3. Cerrar con la idea central: Al separarse del equilibrio aparece una fuerza que apunta hacia él.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Al separarse del equilibrio aparece una fuerza que apunta hacia él.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“Formalizar el modelo lineal.”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2.5.1–2.5.2; PDF p. 41.</a:t>
            </a:r>
          </a:p>
          <a:p xmlns:a="http://schemas.openxmlformats.org/drawingml/2006/main">
            <a:r>
              <a:t>[Asset] units/unit_02/assets/generated/diagrams/u02_dg006_s037/u02_fig_037_006.svg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límite de proporcionalidad y notación `k_s` provisional.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`k_s`, `x`, unidades, zona lineal y dos signos. 3. Cerrar con la idea central: El signo negativo expresa dirección restauradora.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El signo negativo expresa dirección restauradora.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signo negativo expresa sentido restaurador, no módulo negativo.</a:t>
            </a:r>
          </a:p>
          <a:p xmlns:a="http://schemas.openxmlformats.org/drawingml/2006/main">
            <a:r>
              <a:t>- **Transición:** “Añadir el mecanismo que se opone al movimiento.”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2.5.2; PDF pp. 41–42; NOT; INV U02-E05.</a:t>
            </a:r>
          </a:p>
          <a:p xmlns:a="http://schemas.openxmlformats.org/drawingml/2006/main">
            <a:r>
              <a:t>[Asset] units/unit_02/assets/generated/charts/u02_ch002_fuerza_elastica/u02_fig_002_fuerza_elastica.svg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Preparar la diferencia entre fuerza restauradora y fuerza disipativa.</a:t>
            </a:r>
          </a:p>
          <a:p xmlns:a="http://schemas.openxmlformats.org/drawingml/2006/main">
            <a:r>
              <a:t>- **Guía del visual/diagrama:** 1. Delimitar el sistema o la ecuación central. 2. Recorrer en el orden previsto: Comparar dos instantes con igual posición y velocidades opuestas. 3. Cerrar con la idea central: Su sentido depende de `v`, no necesariamente de `x`.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Su sentido depende de `v`, no necesariamente de `x`.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“Formalizar el modelo viscoso lineal.”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2.5.1–2.5.2; PDF pp. 41–42.</a:t>
            </a:r>
          </a:p>
          <a:p xmlns:a="http://schemas.openxmlformats.org/drawingml/2006/main">
            <a:r>
              <a:t>[Asset] units/unit_02/assets/generated/diagrams/u02_dg006_s039/u02_fig_039_006.svg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Presentar como modelo ideal, no ley universal de tejidos.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símbolos, unidades y gráfico lineal opcional. 3. Cerrar con la idea central: `b` caracteriza el modelo disipativo; no toda atenuación se debe a `b`.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`b` caracteriza el modelo disipativo; no toda atenuación se debe a `b`.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toda atenuación se explica mediante el coeficiente `b`.</a:t>
            </a:r>
          </a:p>
          <a:p xmlns:a="http://schemas.openxmlformats.org/drawingml/2006/main">
            <a:r>
              <a:t>- **Transición:** “Reunir masa, resorte y amortiguador.”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2.5.2; PDF p. 42; NOT; INV U02-E06.</a:t>
            </a:r>
          </a:p>
          <a:p xmlns:a="http://schemas.openxmlformats.org/drawingml/2006/main">
            <a:r>
              <a:t>[Asset] units/unit_02/assets/generated/charts/u02_ch003_fuerza_amortiguamiento/u02_fig_003_fuerza_amortiguamiento.svg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Señalar límites de analogía y conexiones en paralelo.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Etapa 1 masa → etapa 2 resorte → etapa 3 amortiguador y fuerza externa → rótulos y unidades. 3. Cerrar con la idea central: Los elementos ideales concentran propiedades distribuidas.</a:t>
            </a:r>
          </a:p>
          <a:p xmlns:a="http://schemas.openxmlformats.org/drawingml/2006/main">
            <a:r>
              <a:t>- **Pregunta y respuesta esperada:** “¿Qué etapa conecta la entrada con el resultado?” Respuesta esperada: Los elementos ideales concentran propiedades distribuidas.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“Escribir el balance instantáneo del modelo.”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2.5.1; figura 2.2; PDF p. 41.</a:t>
            </a:r>
          </a:p>
          <a:p xmlns:a="http://schemas.openxmlformats.org/drawingml/2006/main">
            <a:r>
              <a:t>[Asset] units/unit_02/assets/generated/diagrams/u02_dg006_s041/u02_fig_041_006.svg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Hacer control dimensional término por término y diferir la dinámica a U3.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 central → color o callout estable para entrada, retorno, disipación e inercia. 3. Cerrar con la idea central: La ecuación describe un instante; no resuelve por sí sola la evolución temporal.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ecuación describe un instante; no resuelve por sí sola la evolución temporal.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balance instantáneo no es la solución temporal de la oscilación.</a:t>
            </a:r>
          </a:p>
          <a:p xmlns:a="http://schemas.openxmlformats.org/drawingml/2006/main">
            <a:r>
              <a:t>- **Transición:** “Predecir signos antes del cálculo.”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2.5.2; PDF p. 42; INV U02-E07.</a:t>
            </a:r>
          </a:p>
          <a:p xmlns:a="http://schemas.openxmlformats.org/drawingml/2006/main">
            <a:r>
              <a:t>[Asset] units/unit_02/assets/generated/diagrams/u02_dg006_s042/u02_fig_042_006.svg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Resolver verbalmente dos casos y dejar dos para pares. Resolver en el orden datos e hipótesis → ecuación → sustitución → unidad →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combinaciones de signos → completar flechas o signos. 3. Cerrar con la idea central: `F_el` depende de `x`; `F_amort` depende de `v`.</a:t>
            </a:r>
          </a:p>
          <a:p xmlns:a="http://schemas.openxmlformats.org/drawingml/2006/main">
            <a:r>
              <a:t>- **Pregunta y respuesta esperada:** “¿De qué variable depende cada fuerza?” Respuesta esperada: `F_el` depende de `x`; `F_amort` depende de `v`.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“Usar la predicción en un ejemplo numérico.”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ejercicios R2/NG2; PDF pp. 50–51.</a:t>
            </a:r>
          </a:p>
          <a:p xmlns:a="http://schemas.openxmlformats.org/drawingml/2006/main">
            <a:r>
              <a:t>[Asset] units/unit_02/assets/generated/diagrams/u02_dg006_s043/u02_fig_043_006.svg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Revelar pasos y remarcar que no predice posición futura.</a:t>
            </a:r>
          </a:p>
          <a:p xmlns:a="http://schemas.openxmlformats.org/drawingml/2006/main">
            <a:r>
              <a:t>- **Guía del visual/diagrama:** 1. Delimitar el sistema o la ecuación central. 2. Recorrer en el orden previsto: Datos del libro → `F_el`, `F_amort`, `F_neta`, `a` → interpretación del instante. 3. Cerrar con la idea central: Predecir signos evita sumar módulos incorrectamente.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Predecir signos evita sumar módulos incorrectamente.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“Distinguir el mecanismo interno de lo observado durante propagación.”</a:t>
            </a:r>
          </a:p>
          <a:p xmlns:a="http://schemas.openxmlformats.org/drawingml/2006/main">
            <a:r>
              <a:t>- **Duración:** 6 min.</a:t>
            </a:r>
          </a:p>
          <a:p xmlns:a="http://schemas.openxmlformats.org/drawingml/2006/main">
            <a:r>
              <a:t>- **[Sources]:** TEX 2.5.3; PDF p. 42; INV U02-EX03.</a:t>
            </a:r>
          </a:p>
          <a:p xmlns:a="http://schemas.openxmlformats.org/drawingml/2006/main">
            <a:r>
              <a:t>[Asset] units/unit_02/assets/generated/diagrams/u02_dg006_s044/u02_fig_044_006.svg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Anticipar absorción y propagación de U9 sin formalizarlas. Recorrer primero lo común y después la diferencia que cambia la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Tabla conceptual de contexto, observación y mecanismo → ejemplos de transferencia y redistribución. 3. Cerrar con la idea central: Una disminución observada no identifica por sí sola el destino de la energía.</a:t>
            </a:r>
          </a:p>
          <a:p xmlns:a="http://schemas.openxmlformats.org/drawingml/2006/main">
            <a:r>
              <a:t>- **Pregunta y respuesta esperada:** “¿Cuál es la diferencia esencial entre los casos comparados?” Respuesta esperada: Una disminución observada no identifica por sí sola el destino de la energía.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Una amplitud menor no identifica por sí sola disipación.</a:t>
            </a:r>
          </a:p>
          <a:p xmlns:a="http://schemas.openxmlformats.org/drawingml/2006/main">
            <a:r>
              <a:t>- **Transición:** “Consolidar el modelo antes de pasar a energía.”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2.5.4; PDF p. 43; INV U02-C18.</a:t>
            </a:r>
          </a:p>
          <a:p xmlns:a="http://schemas.openxmlformats.org/drawingml/2006/main">
            <a:r>
              <a:t>[Asset] units/unit_02/assets/generated/diagrams/u02_dg006_s045/u02_fig_045_006.svg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Repetir la ecuación con nueva función: síntesis causal, no nueva derivación. Reconstruir las relaciones causales; evitar una enumeración de términos aislados.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afirmaciones, ecuación reducida y pregunta “¿qué término cambia si cambia `v`?”. 3. Cerrar con la idea central: Masa cambia la respuesta; resorte devuelve; amortiguador disipa.</a:t>
            </a:r>
          </a:p>
          <a:p xmlns:a="http://schemas.openxmlformats.org/drawingml/2006/main">
            <a:r>
              <a:t>- **Pregunta y respuesta esperada:** “¿Qué término cambia si cambia `v`?” Respuesta esperada: El término `bv` y, por lo tanto, `F_amort`.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“Preguntar qué ocurre con la energía mientras el sistema se mueve.”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2.5; PDF pp. 41–43.</a:t>
            </a:r>
          </a:p>
          <a:p xmlns:a="http://schemas.openxmlformats.org/drawingml/2006/main">
            <a:r>
              <a:t>[Asset] units/unit_02/assets/generated/diagrams/u02_dg006_s046/u02_fig_046_006.svg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ambos lenguajes son compatibles y responden preguntas distintas.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El mismo sistema puede describirse mediante fuerzas o mediante energía.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“Introducir trabajo como transferencia.”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2.6; PDF pp. 43–44.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Limitar el alcance a fuerza constante y paralela; no introducir producto escalar formal.</a:t>
            </a:r>
          </a:p>
          <a:p xmlns:a="http://schemas.openxmlformats.org/drawingml/2006/main">
            <a:r>
              <a:t>- **Guía del visual/diagrama:** 1. Delimitar el sistema o la ecuación central. 2. Recorrer en el orden previsto: Situaciones con y sin desplazamiento → fuerza paralela como caso estudiado. 3. Cerrar con la idea central: Fuerza sin desplazamiento no realiza trabajo mecánico en este modelo simple.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Fuerza sin desplazamiento no realiza trabajo mecánico en este modelo simple.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“Presentar la ecuación del caso simple.”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2.6.1; PDF p. 43; GLO trabajo.</a:t>
            </a:r>
          </a:p>
          <a:p xmlns:a="http://schemas.openxmlformats.org/drawingml/2006/main">
            <a:r>
              <a:t>[Asset] units/unit_02/assets/generated/diagrams/u02_dg007_s048/u02_fig_048_007.svg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Distinguir trabajo de potencia y de fuerza.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condiciones, símbolos y `1 J = 1 N·m` → un contraejemplo sin desplazamiento. 3. Cerrar con la idea central: El joule equivale a newton por metro.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El joule equivale a newton por metro.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“Identificar formas de energía mecánica.”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2.6.1; PDF p. 43; NOT; INV U02-E08, E16.</a:t>
            </a:r>
          </a:p>
          <a:p xmlns:a="http://schemas.openxmlformats.org/drawingml/2006/main">
            <a:r>
              <a:t>[Asset] units/unit_02/assets/generated/diagrams/u02_dg007_s049/u02_fig_049_007.svg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confundir rapidez en la energía con velocidad vectorial del balance.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`E_c = 1/2 mv²` → símbolos, unidades y lectura cualitativa. 3. Cerrar con la idea central: Duplicar la rapidez cuadruplica `E_c` para la misma masa.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Duplicar la rapidez cuadruplica `E_c` para la misma masa.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“Introducir energía almacenada por deformación.”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2.6.1; PDF p. 43; INV U02-E09.</a:t>
            </a:r>
          </a:p>
          <a:p xmlns:a="http://schemas.openxmlformats.org/drawingml/2006/main">
            <a:r>
              <a:t>[Asset] units/unit_02/assets/generated/diagrams/u02_dg007_s050/u02_fig_050_007.svg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Relacionar con `F_el = -k_s x` sin derivar.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`E_el = 1/2 k_s x²` → símbolos, unidades y comparación `x`/`-x`. 3. Cerrar con la idea central: La energía elástica crece con `x²` y no conserva el signo de `x`.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energía elástica crece con `x²` y no conserva el signo de `x`.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“Mostrar transformación entre formas.”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2.6.1; PDF p. 43; INV U02-E10.</a:t>
            </a:r>
          </a:p>
          <a:p xmlns:a="http://schemas.openxmlformats.org/drawingml/2006/main">
            <a:r>
              <a:t>[Asset] units/unit_02/assets/generated/diagrams/u02_dg007_s051/u02_fig_051_007.svg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Advertir que la oscilación temporal se formalizará en U3.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estados de una oscilación: equilibrio rápido, extremo detenido, retorno. 3. Cerrar con la idea central: En el modelo sin amortiguamiento cambia la forma, no la energía mecánica total.</a:t>
            </a:r>
          </a:p>
          <a:p xmlns:a="http://schemas.openxmlformats.org/drawingml/2006/main">
            <a:r>
              <a:t>- **Pregunta y respuesta esperada:** “¿Dónde es mayor la energía elástica?” Respuesta esperada: En los extremos de mayor deformación.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“Introducir conservación y sistemas reales.”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2.6.1; PDF p. 43.</a:t>
            </a:r>
          </a:p>
          <a:p xmlns:a="http://schemas.openxmlformats.org/drawingml/2006/main">
            <a:r>
              <a:t>[Asset] units/unit_02/assets/generated/diagrams/u02_dg007_s052/u02_fig_052_007.svg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Diferenciar conservación total de constancia de una forma particular. Dar un ejemplo y un contraejemplo antes de fijar el término.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 → sistema aislado → formas y transferencias → frase de precisión. 3. Cerrar con la idea central: Disminuir energía mecánica útil no significa destruir energía total.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Disminuir energía mecánica útil no significa destruir energía total.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Disminución de energía mecánica útil no significa destrucción de energía total.</a:t>
            </a:r>
          </a:p>
          <a:p xmlns:a="http://schemas.openxmlformats.org/drawingml/2006/main">
            <a:r>
              <a:t>- **Transición:** “Representar rutas posibles.”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2.6.2; PDF pp. 43–44; INV U02-C22.</a:t>
            </a:r>
          </a:p>
          <a:p xmlns:a="http://schemas.openxmlformats.org/drawingml/2006/main">
            <a:r>
              <a:t>[Asset] units/unit_02/assets/generated/diagrams/u02_dg007_s053/u02_fig_053_007.svg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Hacer que el curso clasifique ejemplos antes de mostrar la ecuación.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destinos con verbos → sin proporciones ni eficiencia. 3. Cerrar con la idea central: La frontera y el intervalo determinan qué cuenta como entrada o salida.</a:t>
            </a:r>
          </a:p>
          <a:p xmlns:a="http://schemas.openxmlformats.org/drawingml/2006/main">
            <a:r>
              <a:t>- **Pregunta y respuesta esperada:** “¿Qué etapa conecta la entrada con el resultado?” Respuesta esperada: La frontera y el intervalo determinan qué cuenta como entrada o salida.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“Traducir el diagrama a una igualdad.”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2.6.2; figura 2.4 como patrón; PDF p. 44.</a:t>
            </a:r>
          </a:p>
          <a:p xmlns:a="http://schemas.openxmlformats.org/drawingml/2006/main">
            <a:r>
              <a:t>[Asset] units/unit_02/assets/generated/diagrams/u02_dg007_s054/u02_fig_054_007.svg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Comprobar signos y aclarar que `ΔE_mec` es cambio, no energía total.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`E_entrada = ΔE_mec + E_salida + E_disipada` → unidades y condiciones. 3. Cerrar con la idea central: Si no hay otras vías, la entrada se reparte entre cambio mecánico, salida y disipación.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Si no hay otras vías, la entrada se reparte entre cambio mecánico, salida y disipación.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“Resolver un balance numérico.”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2.6.2; PDF p. 44; INV U02-E11.</a:t>
            </a:r>
          </a:p>
          <a:p xmlns:a="http://schemas.openxmlformats.org/drawingml/2006/main">
            <a:r>
              <a:t>[Asset] units/unit_02/assets/generated/diagrams/u02_dg007_s055/u02_fig_055_007.svg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Mantener todas las cantidades en mJ y redondear al final.</a:t>
            </a:r>
          </a:p>
          <a:p xmlns:a="http://schemas.openxmlformats.org/drawingml/2006/main">
            <a:r>
              <a:t>- **Guía del visual/diagrama:** 1. Delimitar el sistema o la ecuación central. 2. Recorrer en el orden previsto: Datos `2,0`, `1,3`, `0,4 mJ` → despeje → cálculo → verificación de suma. 3. Cerrar con la idea central: El valor `0,3 mJ` completa el balance y representa conversión a energía interna.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El valor `0,3 mJ` completa el balance y representa conversión a energía interna.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“Corregir explícitamente “la energía se perdió”.”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2.6.3; PDF p. 44; INV U02-EX04.</a:t>
            </a:r>
          </a:p>
          <a:p xmlns:a="http://schemas.openxmlformats.org/drawingml/2006/main">
            <a:r>
              <a:t>[Asset] units/unit_02/assets/generated/diagrams/u02_dg007_s056/u02_fig_056_007.svg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Conectar con oído medio sin desarrollar aún anatomía; anunciar energía interna. Reconstruir las relaciones causales; evitar una enumeración de términos aislados.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ideas y pregunta sobre un sistema pasivo que aumenta presión. 3. Cerrar con la idea central: Energía puede almacenarse, transferirse o disiparse sin desaparecer.</a:t>
            </a:r>
          </a:p>
          <a:p xmlns:a="http://schemas.openxmlformats.org/drawingml/2006/main">
            <a:r>
              <a:t>- **Pregunta y respuesta esperada:** “¿Aumentar presión equivale a crear energía?” Respuesta esperada: No; un sistema pasivo puede transformar variables y redistribuir energía.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“Pausa recomendada; luego distinguir estado térmico y transferencias.”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2.6.2–2.6.3; ejercicios C7/D3; PDF pp. 44, 50, 53.</a:t>
            </a:r>
          </a:p>
          <a:p xmlns:a="http://schemas.openxmlformats.org/drawingml/2006/main">
            <a:r>
              <a:t>[Asset] units/unit_02/assets/generated/diagrams/u02_dg007_s057/u02_fig_057_007.svg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la frontera usada en energía; sugerir pausa previa de 15 min.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El lenguaje cotidiano mezcla propiedades del sistema con formas de transferencia.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“Activar clasificación conceptual.”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PO; TEX 2.7.1; PDF p. 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corregir con “caliente/frío” solamente; pedir unidad y mecanismo. Dar tiempo de respuesta individual y pedir una justificación breve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términos para clasificar y justificar. 3. Cerrar con la idea central: Temperatura y energía interna describen estado; calor y trabajo describen transferencias.</a:t>
            </a:r>
          </a:p>
          <a:p xmlns:a="http://schemas.openxmlformats.org/drawingml/2006/main">
            <a:r>
              <a:t>- **Pregunta y respuesta esperada:** “¿Qué contiene el sistema?” Respuesta esperada: Temperatura y energía interna describen su estado; calor y trabajo no son contenidos.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“Definir los términos uno por vez.”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2.7.1–2.7.2; PDF pp. 44–45.</a:t>
            </a:r>
          </a:p>
          <a:p xmlns:a="http://schemas.openxmlformats.org/drawingml/2006/main">
            <a:r>
              <a:t>[Asset] units/unit_02/assets/generated/diagrams/u02_dg008_s059/u02_fig_059_008.svg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presentar temperatura como “cantidad de calor”. Dar un ejemplo y un contraejemplo antes de fijar el término.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°C es útil para ambiente; K es necesaria en ecuaciones con temperatura absoluta.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grados Celsius dentro de una ecuación que requiere temperatura absoluta.</a:t>
            </a:r>
          </a:p>
          <a:p xmlns:a="http://schemas.openxmlformats.org/drawingml/2006/main">
            <a:r>
              <a:t>- **Transición:** “Distinguir temperatura de energía interna.”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2.7.1; PDF p. 44;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reducir `U` a energía cinética macroscópica. Dar un ejemplo y un contraejemplo antes de fijar el término.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Definición, símbolo, unidad y contraejemplo conceptual con distinta cantidad de materia. 3. Cerrar con la idea central: Dos sistemas a igual temperatura pueden tener distinta energía interna.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Dos sistemas a igual temperatura pueden tener distinta energía interna.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“Definir calor como transferencia.”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2.7.1; PDF p. 44; GLO.</a:t>
            </a:r>
          </a:p>
          <a:p xmlns:a="http://schemas.openxmlformats.org/drawingml/2006/main">
            <a:r>
              <a:t>[Asset] units/unit_02/assets/generated/diagrams/u02_dg008_s061/u02_fig_061_008.svg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verbos “recibe/cede calor” con cuidado; no sustantivar como sustancia. Dar un ejemplo y un contraejemplo antes de fijar el término.</a:t>
            </a:r>
          </a:p>
          <a:p xmlns:a="http://schemas.openxmlformats.org/drawingml/2006/main">
            <a:r>
              <a:t>- **Guía del visual/diagrama:** 1. Delimitar el sistema o la ecuación central. 2. Recorrer en el orden previsto: Definición, `Q_calor`, J, condición de diferencia de temperatura. 3. Cerrar con la idea central: El sistema posee energía interna y puede recibir o ceder energía mediante calor.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El sistema posee energía interna y puede recibir o ceder energía mediante calor.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sistema no “contiene calor”; contiene energía interna.</a:t>
            </a:r>
          </a:p>
          <a:p xmlns:a="http://schemas.openxmlformats.org/drawingml/2006/main">
            <a:r>
              <a:t>- **Transición:** “Reunir los cuatro conceptos con la frontera.”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2.7.1; PDF p. 44; NOT; GLO.</a:t>
            </a:r>
          </a:p>
          <a:p xmlns:a="http://schemas.openxmlformats.org/drawingml/2006/main">
            <a:r>
              <a:t>[Asset] units/unit_02/assets/generated/diagrams/u02_dg008_s062/u02_fig_062_008.svg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Repetición pedagógica de la frontera: ahora clasifica energía, no fuerzas. Recorrer primero lo común y después la diferencia que cambia la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Dos columnas equivalentes y ejemplos de entrada/salida. 3. Cerrar con la idea central: Una magnitud de estado describe el sistema; una transferencia describe energía que cruza la frontera.</a:t>
            </a:r>
          </a:p>
          <a:p xmlns:a="http://schemas.openxmlformats.org/drawingml/2006/main">
            <a:r>
              <a:t>- **Pregunta y respuesta esperada:** “¿Cuál es la diferencia esencial entre los casos comparados?” Respuesta esperada: Una magnitud de estado describe el sistema; una transferencia describe energía que cruza la frontera.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“Formular el balance termodinámico.”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2.7.1–2.7.2; INV U02-C27–C30.</a:t>
            </a:r>
          </a:p>
          <a:p xmlns:a="http://schemas.openxmlformats.org/drawingml/2006/main">
            <a:r>
              <a:t>[Asset] units/unit_02/assets/generated/diagrams/u02_dg008_s063/u02_fig_063_008.svg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otra convención es posible, pero no se mezcla dentro de un cálculo.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signos, unidades y frase de convención. 3. Cerrar con la idea central: Con `Q_calor` y `W_sobre` positivos al entrar, `ΔU = Q_calor + W_sobre`.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Con `Q_calor` y `W_sobre` positivos al entrar, `ΔU = Q_calor + W_sobre`.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cambiar la convención de signos a mitad del ejercicio.</a:t>
            </a:r>
          </a:p>
          <a:p xmlns:a="http://schemas.openxmlformats.org/drawingml/2006/main">
            <a:r>
              <a:t>- **Transición:** “Practicar signos antes de calcular.”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2.7.2; PDF p. 45; NOT; INV U02-E12.</a:t>
            </a:r>
          </a:p>
          <a:p xmlns:a="http://schemas.openxmlformats.org/drawingml/2006/main">
            <a:r>
              <a:t>[Asset] units/unit_02/assets/generated/diagrams/u02_dg008_s064/u02_fig_064_008.svg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Hacer que los estudiantes narren la dirección antes de asignar signo.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casos: calor entra/sale → trabajo sobre/por el sistema. 3. Cerrar con la idea central: Entrar al sistema es positivo; salir es negativo, bajo la convención declarada.</a:t>
            </a:r>
          </a:p>
          <a:p xmlns:a="http://schemas.openxmlformats.org/drawingml/2006/main">
            <a:r>
              <a:t>- **Pregunta y respuesta esperada:** “¿Qué determina el signo?” Respuesta esperada: La dirección física respecto de la frontera y la convención declarada.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“Resolver un caso con dos transferencias opuestas.”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2.7.2; ejercicio NG4; PDF pp. 45, 51.</a:t>
            </a:r>
          </a:p>
          <a:p xmlns:a="http://schemas.openxmlformats.org/drawingml/2006/main">
            <a:r>
              <a:t>[Asset] units/unit_02/assets/generated/diagrams/u02_dg008_s065/u02_fig_065_008.svg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Insistir en que el signo se decide antes de la suma.</a:t>
            </a:r>
          </a:p>
          <a:p xmlns:a="http://schemas.openxmlformats.org/drawingml/2006/main">
            <a:r>
              <a:t>- **Guía del visual/diagrama:** 1. Delimitar el sistema o la ecuación central. 2. Recorrer en el orden previsto: Situación, signos, sustitución y significado del resultado negativo. 3. Cerrar con la idea central: `Q = -3,0 J` y `W_sobre = +2,0 J` producen `ΔU = -1,0 J`.</a:t>
            </a:r>
          </a:p>
          <a:p xmlns:a="http://schemas.openxmlformats.org/drawingml/2006/main">
            <a:r>
              <a:t>- **Pregunta y respuesta esperada:** “¿Qué significa `ΔU &lt; 0`?” Respuesta esperada: Que la energía interna final es menor que la inicial en el intervalo.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“Corregir el lenguaje de “calor almacenado”.”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ejercicio NG4; PDF pp. 51, 56; INV U02-EX05.</a:t>
            </a:r>
          </a:p>
          <a:p xmlns:a="http://schemas.openxmlformats.org/drawingml/2006/main">
            <a:r>
              <a:t>[Asset] units/unit_02/assets/generated/diagrams/u02_dg008_s066/u02_fig_066_008.svg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Volver a la energía disipada: ¿por qué el proceso no se invierte espontáneamente? Reconstruir las relaciones causales; evitar una enumeración de términos aislados.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se conectan las ideas principales del bloque?” Respuesta esperada: Temperatura y `U` describen; calor y trabajo transfieren; la primera ley relaciona cambios.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Pedir conexiones entre conceptos, no una lista memorizada.</a:t>
            </a:r>
          </a:p>
          <a:p xmlns:a="http://schemas.openxmlformats.org/drawingml/2006/main">
            <a:r>
              <a:t>- **Transición:** “Abrir entropía como dirección de procesos.”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2.7.1–2.7.2; PDF pp. 44–45.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Conectar con el amortiguamiento observado, sin usar “desorden”.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La conservación de energía no indica por sí sola qué procesos ocurren espontáneamente.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“Mostrar un proceso irreversible familiar al modelo.”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PO; TEX 2.7.3; PDF p. 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Separar observación macroscópica de definición de entropía.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Energía mecánica organizada se convierte en energía interna y no retorna espontáneamente en el modelo.</a:t>
            </a:r>
          </a:p>
          <a:p xmlns:a="http://schemas.openxmlformats.org/drawingml/2006/main">
            <a:r>
              <a:t>- **Demostración/multimedia:** Reproducir el recurso indicado: MEDIA opcional o secuencia estática; no presentar una solución de oscilador. Mostrar una vez sin explicar y otra vez siguiendo el elemento señalado. Si falla la reproducción, usar la alternativa estática completa.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“Definir la magnitud que caracteriza irreversibilidad.”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2.5.4 y 2.7.3; PDF pp. 43, 45.</a:t>
            </a:r>
          </a:p>
          <a:p xmlns:a="http://schemas.openxmlformats.org/drawingml/2006/main">
            <a:r>
              <a:t>[Multimedia] El recurso audiovisual previsto no tiene archivo local aprobado; usar la alternativa estática de la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Aclarar que no se calculará con microestados ni integrales. Dar un ejemplo y un contraejemplo antes de fijar el término.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distingue esta magnitud o concepto de los anteriores?” Respuesta esperada: En esta unidad se usa para reconocer irreversibilidad macroscópica.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Evitar definir entropía como desorden cotidiano.</a:t>
            </a:r>
          </a:p>
          <a:p xmlns:a="http://schemas.openxmlformats.org/drawingml/2006/main">
            <a:r>
              <a:t>- **Transición:** “Presentar la desigualdad del sistema total aislado.”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2.7.3; PDF p. 45; NOT;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extender la afirmación a una parte abierta sin considerar entorno.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sistema total, unidad y dos ramas de interpretación. 3. Cerrar con la idea central: Igualdad es el límite reversible ideal; aumento indica producción de entropía.</a:t>
            </a:r>
          </a:p>
          <a:p xmlns:a="http://schemas.openxmlformats.org/drawingml/2006/main">
            <a:r>
              <a:t>- **Pregunta y respuesta esperada:** “¿Qué diferencia hay entre `=0` y `&gt;0`?” Respuesta esperada: Igualdad: límite reversible ideal; aumento: proceso irreversible.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“Comparar ideal reversible y proceso real.”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2.7.3; PDF p. 45; INV U02-E13.</a:t>
            </a:r>
          </a:p>
          <a:p xmlns:a="http://schemas.openxmlformats.org/drawingml/2006/main">
            <a:r>
              <a:t>[Asset] units/unit_02/assets/generated/diagrams/u02_dg009_s071/u02_fig_071_009.svg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sugerir que un proceso reversible no conserva energía o que uno real la destruye. Recorrer primero lo común y después la diferencia que cambia la interpretación.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“¿Cuál es la diferencia esencial entre los casos comparados?” Respuesta esperada: Reversible es un límite ideal; disipación produce entropía.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“Conectar explícitamente mecánica y termodinámica.”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2.7.3; PDF p. 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que este puente resuelve la aparente contradicción entre conservación y disipación. Seguir una sola ruta de izquierda a derecha y detenerse en cada transformación.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Cadena causal con cuatro etapas y límites del modelo. 3. Cerrar con la idea central: Fuerza disipativa → menor energía mecánica útil → mayor energía interna → producción de entropía.</a:t>
            </a:r>
          </a:p>
          <a:p xmlns:a="http://schemas.openxmlformats.org/drawingml/2006/main">
            <a:r>
              <a:t>- **Pregunta y respuesta esperada:** “¿Qué etapa conecta la entrada con el resultado?” Respuesta esperada: Fuerza disipativa → menor energía mecánica útil → mayor energía interna → producción de entropía.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“Corregir metáforas insuficientes.”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2.5.4, 2.6.2, 2.7.3; BR.</a:t>
            </a:r>
          </a:p>
          <a:p xmlns:a="http://schemas.openxmlformats.org/drawingml/2006/main">
            <a:r>
              <a:t>[Asset] units/unit_02/assets/generated/diagrams/u02_dg009_s073/u02_fig_073_009.svg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reemplazar una metáfora mala por otra; volver a irreversibilidad y unidad. Pedir primero que identifiquen el error y luego formular la corrección precisa.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“¿La unidad de entropía podría ser la de un eco?” Respuesta esperada: No; J/K identifica una magnitud termodinámica.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Eco y reverberación no son ejemplos de entropía.</a:t>
            </a:r>
          </a:p>
          <a:p xmlns:a="http://schemas.openxmlformats.org/drawingml/2006/main">
            <a:r>
              <a:t>- **Transición:** “Comprobar comprensión antes de aplicar al aire.”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2.7.3 y 2.9; PDF pp. 45, 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una explicación oral sin usar la palabra “desorden”. Reconstruir las relaciones causales; evitar una enumeración de términos aislados.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“¿Puede conservarse energía y aumentar la entropía?” Respuesta esperada: Sí; las leyes responden preguntas distintas.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Pedir conexiones entre conceptos, no una lista memorizada.</a:t>
            </a:r>
          </a:p>
          <a:p xmlns:a="http://schemas.openxmlformats.org/drawingml/2006/main">
            <a:r>
              <a:t>- **Transición:** “Aplicar termodinámica a pequeñas compresiones del aire.”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2.6–2.7.3; PDF pp. 43–45.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Anunciar que el desarrollo completo de ondas pertenece a U3/U4.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pregunta física organiza este bloque?” Respuesta esperada: Compresibilidad, inercia y estado termodinámico determinan `c`.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“Observar compresiones y rarefacciones locales.”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2.7.4; PDF pp. 45–47;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decir que las partículas viajan con la onda o que adiabático significa temperatura constante.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Las variaciones son pequeñas y rápidas; el intercambio de calor durante cada ciclo se aproxima como despreciable.</a:t>
            </a:r>
          </a:p>
          <a:p xmlns:a="http://schemas.openxmlformats.org/drawingml/2006/main">
            <a:r>
              <a:t>- **Demostración/multimedia:** Reproducir el recurso indicado: MEDIA: GIF propio o animación técnica con alternativa estática; partículas locales y frente de propagación. Mostrar una vez sin explicar y otra vez siguiendo el elemento señalado. Si falla la reproducción, usar la alternativa estática completa.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“Distinguir rapidez de propagación y movimiento local.”</a:t>
            </a:r>
          </a:p>
          <a:p xmlns:a="http://schemas.openxmlformats.org/drawingml/2006/main">
            <a:r>
              <a:t>- **Duración:** 6 min.</a:t>
            </a:r>
          </a:p>
          <a:p xmlns:a="http://schemas.openxmlformats.org/drawingml/2006/main">
            <a:r>
              <a:t>- **[Sources]:** TEX 2.7.4; PDF p. 45; REF xiangBlauert2021.</a:t>
            </a:r>
          </a:p>
          <a:p xmlns:a="http://schemas.openxmlformats.org/drawingml/2006/main">
            <a:r>
              <a:t>[Asset] units/unit_02/assets/generated/diagrams/u02_dg010_s078/u02_fig_078_010.svg (static-fallback; versión final validada).</a:t>
            </a:r>
          </a:p>
          <a:p xmlns:a="http://schemas.openxmlformats.org/drawingml/2006/main">
            <a:r>
              <a:t>[Multimedia] El recurso audiovisual previsto no tiene archivo local aprobado; usar la alternativa estática de la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Repetición pedagógica de U1 con nuevo nivel: ahora el estado termodinámico condiciona `c`. Recorrer primero lo común y después la diferencia que cambia la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Dos descripciones coordinadas, símbolos `c` y `u`, unidades iguales y significados distintos. 3. Cerrar con la idea central: `c` no es la velocidad local de las partículas del aire.</a:t>
            </a:r>
          </a:p>
          <a:p xmlns:a="http://schemas.openxmlformats.org/drawingml/2006/main">
            <a:r>
              <a:t>- **Pregunta y respuesta esperada:** “¿La partícula marcada viaja con el frente?” Respuesta esperada: No; oscila localmente.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confundir `c` con la velocidad local `u`.</a:t>
            </a:r>
          </a:p>
          <a:p xmlns:a="http://schemas.openxmlformats.org/drawingml/2006/main">
            <a:r>
              <a:t>- **Transición:** “Introducir la aproximación ambiental.”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2.7.4; PDF p. 45; NOT; U1.</a:t>
            </a:r>
          </a:p>
          <a:p xmlns:a="http://schemas.openxmlformats.org/drawingml/2006/main">
            <a:r>
              <a:t>[Asset] units/unit_02/assets/generated/diagrams/u02_dg010_s078/u02_fig_078_010.svg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mezclar `ϑ` en °C con temperatura absoluta de la ecuación general. Definir símbolos, signos, unidades e hipótesis antes de usar la expresión.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 `c ≈ 331 m/s + ...·ϑ` → símbolos, unidades, rango y condiciones. 3. Cerrar con la idea central: La aproximación describe aire seco en un intervalo limitado; no es universal.</a:t>
            </a:r>
          </a:p>
          <a:p xmlns:a="http://schemas.openxmlformats.org/drawingml/2006/main">
            <a:r>
              <a:t>- **Pregunta y respuesta esperada:** “¿Qué relación física expresa la ecuación y qué unidades deben ser compatibles?” Respuesta esperada: La aproximación describe aire seco en un intervalo limitado; no es universal.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usar la fórmula como receta: controlar signo, unidad e hipótesis.</a:t>
            </a:r>
          </a:p>
          <a:p xmlns:a="http://schemas.openxmlformats.org/drawingml/2006/main">
            <a:r>
              <a:t>- **Transición:** “Leer la tendencia en un gráfico.”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2.7.4; PDF p. 46; REF cramer1993, xiangBlauert2021; INV U02-E15.</a:t>
            </a:r>
          </a:p>
          <a:p xmlns:a="http://schemas.openxmlformats.org/drawingml/2006/main">
            <a:r>
              <a:t>[Asset] units/unit_02/assets/generated/diagrams/u02_dg010_s079/u02_fig_079_010.svg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por qué el eje truncado hace visible una variación pequeña sin falsearla.</a:t>
            </a:r>
          </a:p>
          <a:p xmlns:a="http://schemas.openxmlformats.org/drawingml/2006/main">
            <a:r>
              <a:t>- **Guía del visual/diagrama:** Nombrar primero los ejes y sus unidades; luego leer uno o dos puntos; finalmente formular la conclusión: Entre 0 y 30 °C, el modelo aumenta de 331 a 349 m/s.</a:t>
            </a:r>
          </a:p>
          <a:p xmlns:a="http://schemas.openxmlformats.org/drawingml/2006/main">
            <a:r>
              <a:t>- **Pregunta y respuesta esperada:** “¿Los puntos son mediciones?” Respuesta esperada: No; son valores calculados con el modelo.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eje truncado hace visible el cambio, pero no debe exagerarse su interpretación.</a:t>
            </a:r>
          </a:p>
          <a:p xmlns:a="http://schemas.openxmlformats.org/drawingml/2006/main">
            <a:r>
              <a:t>- **Transición:** “Aplicar la relación a dos temperaturas.”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figura 2.3; PDF p. 47; REF.</a:t>
            </a:r>
          </a:p>
          <a:p xmlns:a="http://schemas.openxmlformats.org/drawingml/2006/main">
            <a:r>
              <a:t>[Asset] units/unit_02/assets/generated/charts/u02_ch004_velocidad_temperatura/u02_fig_004_velocidad_temperatura.svg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primero estimación visual; luego calcular.</a:t>
            </a:r>
          </a:p>
          <a:p xmlns:a="http://schemas.openxmlformats.org/drawingml/2006/main">
            <a:r>
              <a:t>- **Guía del visual/diagrama:** 1. Delimitar el sistema o la ecuación central. 2. Recorrer en el orden previsto: Cálculos para 20 y 30 °C → diferencia → hipótesis. 3. Cerrar con la idea central: El cambio de velocidad no fija por sí solo frecuencia ni percepción.</a:t>
            </a:r>
          </a:p>
          <a:p xmlns:a="http://schemas.openxmlformats.org/drawingml/2006/main">
            <a:r>
              <a:t>- **Pregunta y respuesta esperada:** “¿Cuánto cambia `c` entre 20 y 30 °C?” Respuesta esperada: Aproximadamente 6 m/s.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“Corregir la inferencia sobre altura tonal.”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ejemplo temperatura; PDF p. 46; INV U02-EX06.</a:t>
            </a:r>
          </a:p>
          <a:p xmlns:a="http://schemas.openxmlformats.org/drawingml/2006/main">
            <a:r>
              <a:t>[Asset] units/unit_02/assets/generated/charts/u02_ch004_velocidad_temperatura/u02_fig_004_velocidad_temperatura.svg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formalizar todavía longitud de onda; usarla como pregunta futura. Pedir primero que identifiquen el error y luego formular la corrección precisa.</a:t>
            </a:r>
          </a:p>
          <a:p xmlns:a="http://schemas.openxmlformats.org/drawingml/2006/main">
            <a:r>
              <a:t>- **Guía del visual/diagrama:** 1. Delimitar el sistema o la ecuación central. 2. Recorrer en el orden previsto: Error, corrección y puente `c = λf` hacia U3 → físico frente a perceptual. 3. Cerrar con la idea central: Si la frecuencia de la fuente permanece fija, el cambio de `c` modifica principalmente la longitud de onda.</a:t>
            </a:r>
          </a:p>
          <a:p xmlns:a="http://schemas.openxmlformats.org/drawingml/2006/main">
            <a:r>
              <a:t>- **Pregunta y respuesta esperada:** “Si `f` permanece fija y aumenta `c`, ¿qué cambia?” Respuesta esperada: La longitud de onda `λ`.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Velocidad de propagación y altura tonal no son sinónimos.</a:t>
            </a:r>
          </a:p>
          <a:p xmlns:a="http://schemas.openxmlformats.org/drawingml/2006/main">
            <a:r>
              <a:t>- **Transición:** “Abrir aplicaciones donde los modelos se combinan.”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TEX 2.7.4 y 2.9; PDF pp. 46, 49; CDM.</a:t>
            </a:r>
          </a:p>
          <a:p xmlns:a="http://schemas.openxmlformats.org/drawingml/2006/main">
            <a:r>
              <a:t>[Asset] units/unit_02/assets/generated/diagrams/u02_dg010_s082/u02_fig_082_010.svg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cuatro niveles de descripción usados en U1.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permite afirmar un modelo físico?” Respuesta esperada: Mecanismos y relaciones dentro de sus hipótesis, no diagnósticos ni sensaciones por sí solo.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“Mapear aplicaciones antes de elegir casos.”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>- **[Sources]:** TEX 2.8; PDF pp. 46–48; U1.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Evitar explicar todas con igual profundidad; usar el mapa para elegir. Usar el mapa como orientación y señalar dónde se encuentra la clase.</a:t>
            </a:r>
          </a:p>
          <a:p xmlns:a="http://schemas.openxmlformats.org/drawingml/2006/main">
            <a:r>
              <a:t>- **Guía del visual/diagrama:** 1. Delimitar el sistema o la ecuación central. 2. Recorrer en el orden previsto: Mapa de cinco aplicaciones conectadas con cuatro conceptos físicos. 3. Cerrar con la idea central: Presión, fuerza, respuesta mecánica y energía reaparecen en membrana, oído medio, vibrador, tejidos y aire.</a:t>
            </a:r>
          </a:p>
          <a:p xmlns:a="http://schemas.openxmlformats.org/drawingml/2006/main">
            <a:r>
              <a:t>- **Pregunta y respuesta esperada:** “¿Qué conexión del mapa organiza las ideas de la unidad?” Respuesta esperada: Presión, fuerza, respuesta mecánica y energía reaparecen en membrana, oído medio, vibrador, tejidos y aire.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“Profundizar membrana y tejidos como límites de modelo.”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2.8; PDF pp. 46–48; INV aplicaciones.</a:t>
            </a:r>
          </a:p>
          <a:p xmlns:a="http://schemas.openxmlformats.org/drawingml/2006/main">
            <a:r>
              <a:t>[Asset] units/unit_02/assets/generated/diagrams/u02_dg011_s084/u02_fig_084_011.svg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asociar parámetros del ejemplo con valores anatómicos. Separar explícitamente la utilidad del modelo de sus límites físicos y clínicos.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permite afirmar el modelo y qué queda fuera de su alcance?” Respuesta esperada: Masa, rigidez y amortiguamiento son propiedades distribuidas en estructuras reales.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El modelo concentrado no copia la anatomía.</a:t>
            </a:r>
          </a:p>
          <a:p xmlns:a="http://schemas.openxmlformats.org/drawingml/2006/main">
            <a:r>
              <a:t>- **Transición:** “Pasar a una ruta de energía pasiva.”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2.8; PDF p. 47; REF fung1981, ugarteburu2022.</a:t>
            </a:r>
          </a:p>
          <a:p xmlns:a="http://schemas.openxmlformats.org/drawingml/2006/main">
            <a:r>
              <a:t>[Asset] units/unit_02/assets/external/u02_img_001_tympanic_membrane_cross_section.svg (external;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Diferir impedancia y anatomía detallada a U6; corregir “ganancia de energía”. Separar explícitamente la utilidad del modelo de sus límites físicos y clínicos.</a:t>
            </a:r>
          </a:p>
          <a:p xmlns:a="http://schemas.openxmlformats.org/drawingml/2006/main">
            <a:r>
              <a:t>- **Guía del visual/diagrama:** 1. Delimitar el sistema o la ecuación central. 2. Recorrer en el orden previsto: Perturbación → membrana → cadena → oído interno → almacenamiento, otras transferencias y disipación. 3. Cerrar con la idea central: Aumentar presión o fuerza no equivale a crear energía.</a:t>
            </a:r>
          </a:p>
          <a:p xmlns:a="http://schemas.openxmlformats.org/drawingml/2006/main">
            <a:r>
              <a:t>- **Pregunta y respuesta esperada:** “¿Qué permite afirmar el modelo y qué queda fuera de su alcance?” Respuesta esperada: Aumentar presión o fuerza no equivale a crear energía.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Aumentar presión o fuerza no implica crear energía.</a:t>
            </a:r>
          </a:p>
          <a:p xmlns:a="http://schemas.openxmlformats.org/drawingml/2006/main">
            <a:r>
              <a:t>- **Transición:** “Aplicar tercera ley a un transductor en contacto.”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>- **[Sources]:** TEX 2.8; figura 2.4; PDF p. 48; REF ugarteburu2022.</a:t>
            </a:r>
          </a:p>
          <a:p xmlns:a="http://schemas.openxmlformats.org/drawingml/2006/main">
            <a:r>
              <a:t>[Asset] units/unit_02/assets/generated/diagrams/u02_dg011_s086/u02_fig_086_011.svg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describir conducción ósea como una única onda por el hueso. Separar explícitamente la utilidad del modelo de sus límites físicos y clínicos.</a:t>
            </a:r>
          </a:p>
          <a:p xmlns:a="http://schemas.openxmlformats.org/drawingml/2006/main">
            <a:r>
              <a:t>- **Guía del visual/diagrama:** 1. Delimitar el sistema o la ecuación central. 2. Recorrer en el orden previsto: Transductor, punto de contacto, fuerzas del par y advertencia multimecanismo. 3. Cerrar con la idea central: El par de interacción no se cancela al analizar solamente la cabeza.</a:t>
            </a:r>
          </a:p>
          <a:p xmlns:a="http://schemas.openxmlformats.org/drawingml/2006/main">
            <a:r>
              <a:t>- **Pregunta y respuesta esperada:** “¿Por qué el par no se cancela al estudiar la cabeza?” Respuesta esperada: La fuerza opuesta actúa sobre el vibrador.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conducción ósea no se reduce a una única onda que recorre el hueso.</a:t>
            </a:r>
          </a:p>
          <a:p xmlns:a="http://schemas.openxmlformats.org/drawingml/2006/main">
            <a:r>
              <a:t>- **Transición:** “Integrar fuerzas, energía y temperatura en un caso.”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>- **[Sources]:** TEX 2.8; ejercicio F2; PDF pp. 47, 53; REF stenfeltGoode2005.</a:t>
            </a:r>
          </a:p>
          <a:p xmlns:a="http://schemas.openxmlformats.org/drawingml/2006/main">
            <a:r>
              <a:t>[Asset] units/unit_02/assets/generated/diagrams/u02_dg011_s087/u02_fig_087_011.svg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Resolver en clase solo una ruta; dejar cálculo completo en respaldo. Resolver en el orden datos e hipótesis → ecuación → sustitución → unidad → interpretación.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Superficie flexible → tres tareas: fuerza/aceleración, balance de energía, velocidad del aire → límites de inferencia. 3. Cerrar con la idea central: Cada pregunta del caso exige una herramienta distinta y condiciones explícitas.</a:t>
            </a:r>
          </a:p>
          <a:p xmlns:a="http://schemas.openxmlformats.org/drawingml/2006/main">
            <a:r>
              <a:t>- **Pregunta y respuesta esperada:** “¿Qué herramienta usaría para cada tarea?” Respuesta esperada: Newton para fuerzas; balance para energía; `c(ϑ)` para propagación.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“Recapitular las relaciones que el caso obligó a elegir.”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>- **[Sources]:** TEX ejercicio I1; PDF p. 54; INV U02-EX08.</a:t>
            </a:r>
          </a:p>
          <a:p xmlns:a="http://schemas.openxmlformats.org/drawingml/2006/main">
            <a:r>
              <a:t>[Asset] units/unit_02/assets/generated/diagrams/u02_dg012_s088/u02_fig_088_012.svg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que cada flecha se explique con una frase y una unidad. Reconstruir las relaciones causales; evitar una enumeración de términos aislados.</a:t>
            </a:r>
          </a:p>
          <a:p xmlns:a="http://schemas.openxmlformats.org/drawingml/2006/main">
            <a:r>
              <a:t>- **Guía del visual/diagrama:** 1. Delimitar el sistema o la ecuación central. 2. Recorrer en el orden previsto: Mapa final: sistema → fuerzas → respuesta → energía → dirección del proceso → aplicación. 3. Cerrar con la idea central: La frontera del sistema organiza tanto la mecánica como la termodinámica.</a:t>
            </a:r>
          </a:p>
          <a:p xmlns:a="http://schemas.openxmlformats.org/drawingml/2006/main">
            <a:r>
              <a:t>- **Pregunta y respuesta esperada:** “¿Qué elemento organiza ambos balances?” Respuesta esperada: La frontera del sistema.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“Abrir la pregunta que U3 formalizará.”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>- **[Sources]:** PO; TEX 2.10; PDF p. 49; BR.</a:t>
            </a:r>
          </a:p>
          <a:p xmlns:a="http://schemas.openxmlformats.org/drawingml/2006/main">
            <a:r>
              <a:t>[Asset] units/unit_02/assets/generated/diagrams/u02_dg012_s089/u02_fig_089_012.svg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el mapa de dependencias y no adelantar ecuaciones de MAS.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falta describir?” Respuesta esperada: La evolución temporal: oscilación, frecuencia y onda.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“Fin de ruta principal.”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>- **[Sources]:** TEX conclusión p. 60; CM;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solo si persisten dificultades de signos.</a:t>
            </a:r>
          </a:p>
          <a:p xmlns:a="http://schemas.openxmlformats.org/drawingml/2006/main">
            <a:r>
              <a:t>- **Guía del visual/diagrama:** 1. Delimitar el sistema o la ecuación central. 2. Recorrer en el orden previsto: Checklist, dos ejemplos y notación. 3. Cerrar con la idea central: La elección de sistema y eje precede a la suma.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elección de sistema y eje precede a la suma.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2.4.1; NOT.</a:t>
            </a:r>
          </a:p>
          <a:p xmlns:a="http://schemas.openxmlformats.org/drawingml/2006/main">
            <a:r>
              <a:t>[Asset] units/unit_02/assets/generated/diagrams/u02_dg013_s091/u02_fig_091_013.svg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mostrar antes de discutir.</a:t>
            </a:r>
          </a:p>
          <a:p xmlns:a="http://schemas.openxmlformats.org/drawingml/2006/main">
            <a:r>
              <a:t>- **Guía del visual/diagrama:** 1. Delimitar el sistema o la ecuación central. 2. Recorrer en el orden previsto: Soluciones breves de las cuatro afirmaciones de U02-003. 3. Cerrar con la idea central: Cada respuesta se justifica con una ley, unidad o balance.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Cada respuesta se justifica con una ley, unidad o balance.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2.9; ejercicios D1–D4; BR.</a:t>
            </a:r>
          </a:p>
          <a:p xmlns:a="http://schemas.openxmlformats.org/drawingml/2006/main">
            <a:r>
              <a:t>[Asset] units/unit_02/assets/generated/diagrams/u02_dg013_s092/u02_fig_092_013.svg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Seleccionar un caso según dudas del grupo.</a:t>
            </a:r>
          </a:p>
          <a:p xmlns:a="http://schemas.openxmlformats.org/drawingml/2006/main">
            <a:r>
              <a:t>- **Guía del visual/diagrama:** 1. Delimitar el sistema o la ecuación central. 2. Recorrer en el orden previsto: Tres casos: libro sobre mesa, membrana–aire, vibrador–cabeza. 3. Cerrar con la idea central: Par de interacción y fuerzas equilibradas usan cuerpos diferentes.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Par de interacción y fuerzas equilibradas usan cuerpos diferentes.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2.4.4; ejercicios C4/F2.</a:t>
            </a:r>
          </a:p>
          <a:p xmlns:a="http://schemas.openxmlformats.org/drawingml/2006/main">
            <a:r>
              <a:t>[Asset] units/unit_02/assets/generated/diagrams/u02_dg004_s093/u02_fig_093_004.svg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diferencias de fuente, no convertirlas en contenido evaluable.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`S/A`, `k_s/k`, `F_neta/ΣF` deben leerse sin alternar dentro de una explicación.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TEX; NOT; U1; open_decisions.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como referencia durante ejercicios.</a:t>
            </a:r>
          </a:p>
          <a:p xmlns:a="http://schemas.openxmlformats.org/drawingml/2006/main">
            <a:r>
              <a:t>- **Guía del visual/diagrama:** 1. Delimitar el sistema o la ecuación central. 2. Recorrer en el orden previsto: `m`, `k_s`, `b`, `x`, `v`, `a`, fuerzas y unidades. 3. Cerrar con la idea central: Cada parámetro representa una propiedad distinta.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Cada parámetro representa una propiedad distinta.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2.5; PDF pp. 41–42.</a:t>
            </a:r>
          </a:p>
          <a:p xmlns:a="http://schemas.openxmlformats.org/drawingml/2006/main">
            <a:r>
              <a:t>[Asset] units/unit_02/assets/generated/diagrams/u02_dg014_s095/u02_fig_095_014.svg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después de recoger procedimientos.</a:t>
            </a:r>
          </a:p>
          <a:p xmlns:a="http://schemas.openxmlformats.org/drawingml/2006/main">
            <a:r>
              <a:t>- **Guía del visual/diagrama:** 1. Delimitar el sistema o la ecuación central. 2. Recorrer en el orden previsto: Ejemplo del libro con todos los pasos y control dimensional. 3. Cerrar con la idea central: Signos, resultante y aceleración deben verificarse por separado.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Signos, resultante y aceleración deben verificarse por separado.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2.5.3; PDF p. 42.</a:t>
            </a:r>
          </a:p>
          <a:p xmlns:a="http://schemas.openxmlformats.org/drawingml/2006/main">
            <a:r>
              <a:t>[Asset] units/unit_02/assets/generated/diagrams/u02_dg014_s096/u02_fig_096_014.svg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Reservar absorción para U9; usar solo para aclaración.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 observación de menor amplitud no identifica un único mecanismo.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2.5.4; GLO;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Dividir durante producción si no entra a tamaño mínimo.</a:t>
            </a:r>
          </a:p>
          <a:p xmlns:a="http://schemas.openxmlformats.org/drawingml/2006/main">
            <a:r>
              <a:t>- **Guía del visual/diagrama:** 1. Delimitar el sistema o la ecuación central. 2. Recorrer en el orden previsto: Resultados de fuerza sobre superficie y MRA guiado. 3. Cerrar con la idea central: Las unidades y los signos explican el resultado.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Las unidades y los signos explican el resultado.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ejercicios NG1/NG2; PDF pp. 51, 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como tarea o transferencia.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“¿Qué debe acompañar a cada resultado?” Respuesta esperada: Ecuación, unidad e interpretación.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ejercicios NA1/NA2; PDF p. 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qué afirmación sostiene cada referencia. Indicar para qué pregunta sirve cada grupo de fuentes; no leer la lista completa.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Las aplicaciones se apoyan en bibliografía del capítulo.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“Cierra respaldo mecánico.”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REF ugarteburu2022, stenfeltGoode2005, fung1981.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derivar; mostrar relación `c ∝ √T` a composición constante.</a:t>
            </a:r>
          </a:p>
          <a:p xmlns:a="http://schemas.openxmlformats.org/drawingml/2006/main">
            <a:r>
              <a:t>- **Guía del visual/diagrama:** 1. Delimitar el sistema o la ecuación central. 2. Recorrer en el orden previsto: Ecuación, parámetros, unidades e hipótesis de gas ideal adiabático. 3. Cerrar con la idea central: `c = √(γRT/M)` depende de propiedades térmicas y composición.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`c = √(γRT/M)` depende de propiedades térmicas y composición.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temperatura de la ecuación general debe ser absoluta.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2.7.4; PDF p. 46; REF cramer1993, xiangBlauert2021.</a:t>
            </a:r>
          </a:p>
          <a:p xmlns:a="http://schemas.openxmlformats.org/drawingml/2006/main">
            <a:r>
              <a:t>[Asset] units/unit_02/assets/generated/diagrams/u02_dg010_s101/u02_fig_101_010.svg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solo si el grupo pregunta por los parámetros o la raíz.</a:t>
            </a:r>
          </a:p>
          <a:p xmlns:a="http://schemas.openxmlformats.org/drawingml/2006/main">
            <a:r>
              <a:t>- **Guía del visual/diagrama:** 1. Delimitar el sistema o la ecuación central. 2. Recorrer en el orden previsto: Cadena de unidades `J·mol⁻¹·K⁻¹`, K y kg·mol⁻¹. 3. Cerrar con la idea central: El cociente dentro de la raíz tiene dimensión de velocidad al cuadrado.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El cociente dentro de la raíz tiene dimensión de velocidad al cuadrado.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2.7.4; NOT.</a:t>
            </a:r>
          </a:p>
          <a:p xmlns:a="http://schemas.openxmlformats.org/drawingml/2006/main">
            <a:r>
              <a:t>[Asset] units/unit_02/assets/generated/diagrams/u02_dg010_s102/u02_fig_102_010.svg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Conectar con función inversa de U1 y no con altura tonal.</a:t>
            </a:r>
          </a:p>
          <a:p xmlns:a="http://schemas.openxmlformats.org/drawingml/2006/main">
            <a:r>
              <a:t>- **Guía del visual/diagrama:** 1. Delimitar el sistema o la ecuación central. 2. Recorrer en el orden previsto: Ejercicio NA5 para 5 °C y 25 °C → resultados en notas. 3. Cerrar con la idea central: Cambiar `c` modifica el tiempo de propagación en una distancia fija.</a:t>
            </a:r>
          </a:p>
          <a:p xmlns:a="http://schemas.openxmlformats.org/drawingml/2006/main">
            <a:r>
              <a:t>- **Pregunta y respuesta esperada:** “¿Por qué cambia el tiempo si la distancia es la misma?” Respuesta esperada: Porque `t=d/c` y cambia `c`.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ejercicio NA5; PDF pp. 52, 57.</a:t>
            </a:r>
          </a:p>
          <a:p xmlns:a="http://schemas.openxmlformats.org/drawingml/2006/main">
            <a:r>
              <a:t>[Asset] units/unit_02/assets/generated/charts/u02_ch004_velocidad_temperatura/u02_fig_004_velocidad_temperatura.svg (chart;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Alternar trabajo sobre y por el sistema sin cambiar convención.</a:t>
            </a:r>
          </a:p>
          <a:p xmlns:a="http://schemas.openxmlformats.org/drawingml/2006/main">
            <a:r>
              <a:t>- **Guía del visual/diagrama:** 1. Delimitar el sistema o la ecuación central. 2. Recorrer en el orden previsto: Cuatro mini casos y resultados ocultos en notas. 3. Cerrar con la idea central: La dirección física decide el signo.</a:t>
            </a:r>
          </a:p>
          <a:p xmlns:a="http://schemas.openxmlformats.org/drawingml/2006/main">
            <a:r>
              <a:t>- **Pregunta y respuesta esperada:** “¿Se puede asignar el signo sin dibujar la dirección?” Respuesta esperada: Es más seguro dibujar primero la transferencia.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2.7.2; ejercicios NG4/NA4.</a:t>
            </a:r>
          </a:p>
          <a:p xmlns:a="http://schemas.openxmlformats.org/drawingml/2006/main">
            <a:r>
              <a:t>[Asset] units/unit_02/assets/generated/diagrams/u02_dg015_s104/u02_fig_104_015.svg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introducir cálculo de entropía.</a:t>
            </a:r>
          </a:p>
          <a:p xmlns:a="http://schemas.openxmlformats.org/drawingml/2006/main">
            <a:r>
              <a:t>- **Guía del visual/diagrama:** 1. Delimitar el sistema o la ecuación central. 2. Recorrer en el orden previsto: Dos casos, alcance de sistema total aislado y advertencia sobre subsistemas. 3. Cerrar con la idea central: `ΔS_total = 0` es un límite ideal; `&gt; 0` caracteriza irreversibilidad.</a:t>
            </a:r>
          </a:p>
          <a:p xmlns:a="http://schemas.openxmlformats.org/drawingml/2006/main">
            <a:r>
              <a:t>- **Pregunta y respuesta esperada:** “¿Puede disminuir la entropía de un subsistema?” Respuesta esperada: Sí, si el total aislado cumple `ΔS_total ≥ 0`.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La desigualdad se aplica al sistema total aislado, no automáticamente a cada subsistema.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2.7.3; PDF p. 45.</a:t>
            </a:r>
          </a:p>
          <a:p xmlns:a="http://schemas.openxmlformats.org/drawingml/2006/main">
            <a:r>
              <a:t>[Asset] units/unit_02/assets/generated/diagrams/u02_dg009_s105/u02_fig_105_009.svg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 copiar un párrafo del libro; mantener todos los datos y límites.</a:t>
            </a:r>
          </a:p>
          <a:p xmlns:a="http://schemas.openxmlformats.org/drawingml/2006/main">
            <a:r>
              <a:t>- **Guía del visual/diagrama:** 1. Delimitar el sistema o la ecuación central. 2. Recorrer en el orden previsto: Enunciado I1 repartido en tres grupos de datos y siete tareas. 3. Cerrar con la idea central: Separar datos mecánicos, energéticos y térmicos reduce la carga.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Separar datos mecánicos, energéticos y térmicos reduce la carga.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“Continuar con soluciones por partes.”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ejercicio I1; PDF p. 54.</a:t>
            </a:r>
          </a:p>
          <a:p xmlns:a="http://schemas.openxmlformats.org/drawingml/2006/main">
            <a:r>
              <a:t>[Asset] units/unit_02/assets/generated/diagrams/u02_dg015_s106/u02_fig_106_015.svg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Reforzar que los parámetros no son anatómicos.</a:t>
            </a:r>
          </a:p>
          <a:p xmlns:a="http://schemas.openxmlformats.org/drawingml/2006/main">
            <a:r>
              <a:t>- **Guía del visual/diagrama:** 1. Delimitar el sistema o la ecuación central. 2. Recorrer en el orden previsto: `F_ext`, `F_el`, `F_amort`, `F_neta` y `a` → interpretación. 3. Cerrar con la idea central: Presión, elasticidad y amortiguamiento se suman con signos.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Presión, elasticidad y amortiguamiento se suman con signos.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“Continuar con energía y temperatura.”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solución I1 a–c; PDF pp. 58–59.</a:t>
            </a:r>
          </a:p>
          <a:p xmlns:a="http://schemas.openxmlformats.org/drawingml/2006/main">
            <a:r>
              <a:t>[Asset] units/unit_02/assets/generated/diagrams/u02_dg015_s107/u02_fig_107_015.svg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Terminar con límites de inferencia, no con el número.</a:t>
            </a:r>
          </a:p>
          <a:p xmlns:a="http://schemas.openxmlformats.org/drawingml/2006/main">
            <a:r>
              <a:t>- **Guía del visual/diagrama:** 1. Delimitar el sistema o la ecuación central. 2. Recorrer en el orden previsto: `E_disipada`, `c`, conservación y dos límites del modelo. 3. Cerrar con la idea central: El balance cierra, `c` se estima y ningún resultado produce una conclusión clínica.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El balance cierra, `c` se estima y ningún resultado produce una conclusión clínica.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No interpretar el esquema como anatomía a escala; usarlo para leer relaciones y direcciones.</a:t>
            </a:r>
          </a:p>
          <a:p xmlns:a="http://schemas.openxmlformats.org/drawingml/2006/main">
            <a:r>
              <a:t>- **Transición:** “Respaldo independiente.”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solución I1 d–g; PDF p. 59.</a:t>
            </a:r>
          </a:p>
          <a:p xmlns:a="http://schemas.openxmlformats.org/drawingml/2006/main">
            <a:r>
              <a:t>[Asset] units/unit_02/assets/generated/diagrams/u02_dg015_s108/u02_fig_108_015.svg (diagram; versión final validada).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Distinguir fuentes de contenido y futuros assets. Indicar para qué pregunta sirve cada grupo de fuentes; no leer la lista completa.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Las relaciones de velocidad y adiabaticidad provienen de bibliografía explícita.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Mantener consistente el sistema elegido, el eje de signos y las unidades.</a:t>
            </a:r>
          </a:p>
          <a:p xmlns:a="http://schemas.openxmlformats.org/drawingml/2006/main">
            <a:r>
              <a:t>- **Transición:** “Preparar glosario final.”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PO; REF cramer1993, xiangBlauert2021.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Dividir en dos slides en producción si supera mínimos tipográficos.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y respuesta esperada:** “¿Cómo justificaría la idea central usando el sistema, los signos o las unidades?” Respuesta esperada: Un símbolo se interpreta con su definición, unidad y contexto.</a:t>
            </a:r>
          </a:p>
          <a:p xmlns:a="http://schemas.openxmlformats.org/drawingml/2006/main">
            <a:r>
              <a:t>- **Demostración/multimedia:** —</a:t>
            </a:r>
          </a:p>
          <a:p xmlns:a="http://schemas.openxmlformats.org/drawingml/2006/main">
            <a:r>
              <a:t>- **Énfasis/error frecuente:** Usar solo si resuelve una duda concreta; no interrumpir la ruta central sin necesidad.</a:t>
            </a:r>
          </a:p>
          <a:p xmlns:a="http://schemas.openxmlformats.org/drawingml/2006/main">
            <a:r>
              <a:t>- **Transición:** “Fin del material de respaldo.”</a:t>
            </a:r>
          </a:p>
          <a:p xmlns:a="http://schemas.openxmlformats.org/drawingml/2006/main">
            <a:r>
              <a:t>- **Duración:** A demanda.</a:t>
            </a:r>
          </a:p>
          <a:p xmlns:a="http://schemas.openxmlformats.org/drawingml/2006/main">
            <a:r>
              <a:t>- **[Sources]:** TEX 2.13; PDF pp. 59–60; NOT;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1fcec995f4f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21114cbd344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ac5a79eea48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cde5ac89749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bcc48419f44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6275facf445a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56805de4344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d8ddd6bbe4fd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42d3e0eff4a2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98cd0b93440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c990b217c4d2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1c08ab9f749a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b68b1217c4f5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85038edb14cb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a4817cc1048c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d2287e261474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0cf72f64f4e1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1f9761e3d41d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c5729fcab461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b9ba034ce481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ca052cc8748c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1db7710ed4b1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6c528d2c04fb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fbbdddaf840f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b90dc71c534fb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c096e748a34af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3b336d5778459f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dc529d14e80474f" /><Relationship Type="http://schemas.openxmlformats.org/officeDocument/2006/relationships/theme" Target="/ppt/slideMasters/theme/theme2.xml" Id="Re00c4bca5be948c4" /><Relationship Type="http://schemas.openxmlformats.org/officeDocument/2006/relationships/slideLayout" Target="/ppt/slideLayouts/slideLayout1.xml" Id="R5997139ae4064175" /><Relationship Type="http://schemas.openxmlformats.org/officeDocument/2006/relationships/slideLayout" Target="/ppt/slideLayouts/slideLayout2.xml" Id="R377df7b3ccef4d65" /><Relationship Type="http://schemas.openxmlformats.org/officeDocument/2006/relationships/slideLayout" Target="/ppt/slideLayouts/slideLayout3.xml" Id="Rd51d0ecfaf3a4383" /><Relationship Type="http://schemas.openxmlformats.org/officeDocument/2006/relationships/slideLayout" Target="/ppt/slideLayouts/slideLayout4.xml" Id="R28453abbcfc54a6a" /><Relationship Type="http://schemas.openxmlformats.org/officeDocument/2006/relationships/slideLayout" Target="/ppt/slideLayouts/slideLayout5.xml" Id="Ref029ad243ec4c25" /><Relationship Type="http://schemas.openxmlformats.org/officeDocument/2006/relationships/slideLayout" Target="/ppt/slideLayouts/slideLayout6.xml" Id="R343f01949fa34599" /><Relationship Type="http://schemas.openxmlformats.org/officeDocument/2006/relationships/slideLayout" Target="/ppt/slideLayouts/slideLayout7.xml" Id="R8032b88542524116" /><Relationship Type="http://schemas.openxmlformats.org/officeDocument/2006/relationships/slideLayout" Target="/ppt/slideLayouts/slideLayout8.xml" Id="R7aed8b663c294f79" /><Relationship Type="http://schemas.openxmlformats.org/officeDocument/2006/relationships/slideLayout" Target="/ppt/slideLayouts/slideLayout9.xml" Id="Rbe1059a4de9f4a2d" /><Relationship Type="http://schemas.openxmlformats.org/officeDocument/2006/relationships/slideLayout" Target="/ppt/slideLayouts/slideLayout10.xml" Id="R8a8de0f9a1114919" /><Relationship Type="http://schemas.openxmlformats.org/officeDocument/2006/relationships/slideLayout" Target="/ppt/slideLayouts/slideLayout11.xml" Id="R41a86e75472e446e" /><Relationship Type="http://schemas.openxmlformats.org/officeDocument/2006/relationships/slideLayout" Target="/ppt/slideLayouts/slideLayout12.xml" Id="Raa4f6db4066a4925" /><Relationship Type="http://schemas.openxmlformats.org/officeDocument/2006/relationships/slideLayout" Target="/ppt/slideLayouts/slideLayout13.xml" Id="R65a5371b5e3b45e8" /><Relationship Type="http://schemas.openxmlformats.org/officeDocument/2006/relationships/slideLayout" Target="/ppt/slideLayouts/slideLayout14.xml" Id="R8bb4de7198954856" /><Relationship Type="http://schemas.openxmlformats.org/officeDocument/2006/relationships/slideLayout" Target="/ppt/slideLayouts/slideLayout15.xml" Id="R340bb4ec94ee4b3a" /><Relationship Type="http://schemas.openxmlformats.org/officeDocument/2006/relationships/slideLayout" Target="/ppt/slideLayouts/slideLayout16.xml" Id="Rcb8f3ea470584ccb" /><Relationship Type="http://schemas.openxmlformats.org/officeDocument/2006/relationships/slideLayout" Target="/ppt/slideLayouts/slideLayout17.xml" Id="R5d5046a525a7469e" /><Relationship Type="http://schemas.openxmlformats.org/officeDocument/2006/relationships/slideLayout" Target="/ppt/slideLayouts/slideLayout18.xml" Id="Rb6e49723d5ed41e3" /><Relationship Type="http://schemas.openxmlformats.org/officeDocument/2006/relationships/slideLayout" Target="/ppt/slideLayouts/slideLayout19.xml" Id="R94f5b0e0dc6f447a" /><Relationship Type="http://schemas.openxmlformats.org/officeDocument/2006/relationships/slideLayout" Target="/ppt/slideLayouts/slideLayout20.xml" Id="R43d11ea04c1d4834" /><Relationship Type="http://schemas.openxmlformats.org/officeDocument/2006/relationships/slideLayout" Target="/ppt/slideLayouts/slideLayout21.xml" Id="R027580b07e094481" /><Relationship Type="http://schemas.openxmlformats.org/officeDocument/2006/relationships/slideLayout" Target="/ppt/slideLayouts/slideLayout22.xml" Id="R7a1fcb45cd3a408e" /><Relationship Type="http://schemas.openxmlformats.org/officeDocument/2006/relationships/slideLayout" Target="/ppt/slideLayouts/slideLayout23.xml" Id="Rf1328f8886e64c00" /><Relationship Type="http://schemas.openxmlformats.org/officeDocument/2006/relationships/slideLayout" Target="/ppt/slideLayouts/slideLayout24.xml" Id="R7e4f98ae4d8141e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d7c2acd08e774a16" /><Relationship Type="http://schemas.openxmlformats.org/officeDocument/2006/relationships/theme" Target="/ppt/slideMasters/theme/theme3.xml" Id="R83a78a11b7764ccc" /><Relationship Type="http://schemas.openxmlformats.org/officeDocument/2006/relationships/slideLayout" Target="/ppt/slideLayouts/slideLayout25.xml" Id="Rd39ecf5106ae42c0" /><Relationship Type="http://schemas.openxmlformats.org/officeDocument/2006/relationships/slideLayout" Target="/ppt/slideLayouts/slideLayout26.xml" Id="R9305282c9a3148aa" /><Relationship Type="http://schemas.openxmlformats.org/officeDocument/2006/relationships/slideLayout" Target="/ppt/slideLayouts/slideLayout27.xml" Id="Rf49cee6a0c2e4c80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529d14e8047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97139ae4064175"/>
    <p:sldLayoutId xmlns:r="http://schemas.openxmlformats.org/officeDocument/2006/relationships" id="2147483650" r:id="R377df7b3ccef4d65"/>
    <p:sldLayoutId xmlns:r="http://schemas.openxmlformats.org/officeDocument/2006/relationships" id="2147483651" r:id="Rd51d0ecfaf3a4383"/>
    <p:sldLayoutId xmlns:r="http://schemas.openxmlformats.org/officeDocument/2006/relationships" id="2147483652" r:id="R28453abbcfc54a6a"/>
    <p:sldLayoutId xmlns:r="http://schemas.openxmlformats.org/officeDocument/2006/relationships" id="2147483653" r:id="Ref029ad243ec4c25"/>
    <p:sldLayoutId xmlns:r="http://schemas.openxmlformats.org/officeDocument/2006/relationships" id="2147483654" r:id="R343f01949fa34599"/>
    <p:sldLayoutId xmlns:r="http://schemas.openxmlformats.org/officeDocument/2006/relationships" id="2147483655" r:id="R8032b88542524116"/>
    <p:sldLayoutId xmlns:r="http://schemas.openxmlformats.org/officeDocument/2006/relationships" id="2147483656" r:id="R7aed8b663c294f79"/>
    <p:sldLayoutId xmlns:r="http://schemas.openxmlformats.org/officeDocument/2006/relationships" id="2147483657" r:id="Rbe1059a4de9f4a2d"/>
    <p:sldLayoutId xmlns:r="http://schemas.openxmlformats.org/officeDocument/2006/relationships" id="2147483658" r:id="R8a8de0f9a1114919"/>
    <p:sldLayoutId xmlns:r="http://schemas.openxmlformats.org/officeDocument/2006/relationships" id="2147483659" r:id="R41a86e75472e446e"/>
    <p:sldLayoutId xmlns:r="http://schemas.openxmlformats.org/officeDocument/2006/relationships" id="2147483660" r:id="Raa4f6db4066a4925"/>
    <p:sldLayoutId xmlns:r="http://schemas.openxmlformats.org/officeDocument/2006/relationships" id="2147483661" r:id="R65a5371b5e3b45e8"/>
    <p:sldLayoutId xmlns:r="http://schemas.openxmlformats.org/officeDocument/2006/relationships" id="2147483662" r:id="R8bb4de7198954856"/>
    <p:sldLayoutId xmlns:r="http://schemas.openxmlformats.org/officeDocument/2006/relationships" id="2147483663" r:id="R340bb4ec94ee4b3a"/>
    <p:sldLayoutId xmlns:r="http://schemas.openxmlformats.org/officeDocument/2006/relationships" id="2147483664" r:id="Rcb8f3ea470584ccb"/>
    <p:sldLayoutId xmlns:r="http://schemas.openxmlformats.org/officeDocument/2006/relationships" id="2147483665" r:id="R5d5046a525a7469e"/>
    <p:sldLayoutId xmlns:r="http://schemas.openxmlformats.org/officeDocument/2006/relationships" id="2147483666" r:id="Rb6e49723d5ed41e3"/>
    <p:sldLayoutId xmlns:r="http://schemas.openxmlformats.org/officeDocument/2006/relationships" id="2147483667" r:id="R94f5b0e0dc6f447a"/>
    <p:sldLayoutId xmlns:r="http://schemas.openxmlformats.org/officeDocument/2006/relationships" id="2147483668" r:id="R43d11ea04c1d4834"/>
    <p:sldLayoutId xmlns:r="http://schemas.openxmlformats.org/officeDocument/2006/relationships" id="2147483669" r:id="R027580b07e094481"/>
    <p:sldLayoutId xmlns:r="http://schemas.openxmlformats.org/officeDocument/2006/relationships" id="2147483670" r:id="R7a1fcb45cd3a408e"/>
    <p:sldLayoutId xmlns:r="http://schemas.openxmlformats.org/officeDocument/2006/relationships" id="2147483671" r:id="Rf1328f8886e64c00"/>
    <p:sldLayoutId xmlns:r="http://schemas.openxmlformats.org/officeDocument/2006/relationships" id="2147483672" r:id="R7e4f98ae4d8141e2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2acd08e774a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d39ecf5106ae42c0"/>
    <p:sldLayoutId xmlns:r="http://schemas.openxmlformats.org/officeDocument/2006/relationships" id="2147483675" r:id="R9305282c9a3148aa"/>
    <p:sldLayoutId xmlns:r="http://schemas.openxmlformats.org/officeDocument/2006/relationships" id="2147483676" r:id="Rf49cee6a0c2e4c80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a72ab644693249b7" /><Relationship Type="http://schemas.openxmlformats.org/officeDocument/2006/relationships/notesSlide" Target="/ppt/notesSlides/notesSlide1.xml" Id="R6778593644734f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fa224c3a70476e" /><Relationship Type="http://schemas.openxmlformats.org/officeDocument/2006/relationships/image" Target="/ppt/media/image2.png" Id="R5f3fe4aa50dd4169" /><Relationship Type="http://schemas.openxmlformats.org/officeDocument/2006/relationships/image" Target="/ppt/media/image.svg" Id="R2e89b12376494093" /><Relationship Type="http://schemas.openxmlformats.org/officeDocument/2006/relationships/notesSlide" Target="/ppt/notesSlides/notesSlide2.xml" Id="Ra28ab0ab8bc143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4abf683e3834d9f" /><Relationship Type="http://schemas.openxmlformats.org/officeDocument/2006/relationships/notesSlide" Target="/ppt/notesSlides/notesSlide3.xml" Id="R58acda4493ac4e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ab4be8fa579b4861" /><Relationship Type="http://schemas.openxmlformats.org/officeDocument/2006/relationships/notesSlide" Target="/ppt/notesSlides/notesSlide4.xml" Id="R2318489d839f45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9d3b82b594209" /><Relationship Type="http://schemas.openxmlformats.org/officeDocument/2006/relationships/notesSlide" Target="/ppt/notesSlides/notesSlide5.xml" Id="R24a9f0de16fa4b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b1819521c5a04a8d" /><Relationship Type="http://schemas.openxmlformats.org/officeDocument/2006/relationships/image" Target="/ppt/media/image3.png" Id="Rff2a782e37c74409" /><Relationship Type="http://schemas.openxmlformats.org/officeDocument/2006/relationships/image" Target="/ppt/media/image2.svg" Id="R0244ab31018c4c65" /><Relationship Type="http://schemas.openxmlformats.org/officeDocument/2006/relationships/notesSlide" Target="/ppt/notesSlides/notesSlide6.xml" Id="R424e12abe16b42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ba6e0996c28546c4" /><Relationship Type="http://schemas.openxmlformats.org/officeDocument/2006/relationships/notesSlide" Target="/ppt/notesSlides/notesSlide7.xml" Id="R3c638ffac9a34e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12b75312a7149ba" /><Relationship Type="http://schemas.openxmlformats.org/officeDocument/2006/relationships/image" Target="/ppt/media/image4.png" Id="Rb317ce40c59146e7" /><Relationship Type="http://schemas.openxmlformats.org/officeDocument/2006/relationships/image" Target="/ppt/media/image3.svg" Id="R007300356a1e4ed1" /><Relationship Type="http://schemas.openxmlformats.org/officeDocument/2006/relationships/notesSlide" Target="/ppt/notesSlides/notesSlide8.xml" Id="R4e64244571f74e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42f1f023145e4f83" /><Relationship Type="http://schemas.openxmlformats.org/officeDocument/2006/relationships/image" Target="/ppt/media/image5.png" Id="R4c8c453bab1d4c31" /><Relationship Type="http://schemas.openxmlformats.org/officeDocument/2006/relationships/image" Target="/ppt/media/image4.svg" Id="R599c57c1698d4756" /><Relationship Type="http://schemas.openxmlformats.org/officeDocument/2006/relationships/notesSlide" Target="/ppt/notesSlides/notesSlide9.xml" Id="Re4c9357b8c874b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8cbf622603394ad2" /><Relationship Type="http://schemas.openxmlformats.org/officeDocument/2006/relationships/image" Target="/ppt/media/image6.png" Id="Rcd4b7dae25114359" /><Relationship Type="http://schemas.openxmlformats.org/officeDocument/2006/relationships/image" Target="/ppt/media/image5.svg" Id="R52572a46785c4305" /><Relationship Type="http://schemas.openxmlformats.org/officeDocument/2006/relationships/notesSlide" Target="/ppt/notesSlides/notesSlide10.xml" Id="R350b1c27310f45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d76c552d1ae4648" /><Relationship Type="http://schemas.openxmlformats.org/officeDocument/2006/relationships/image" Target="/ppt/media/image7.png" Id="R36acdedc73c141a2" /><Relationship Type="http://schemas.openxmlformats.org/officeDocument/2006/relationships/image" Target="/ppt/media/image6.svg" Id="R44325ee067d74ae3" /><Relationship Type="http://schemas.openxmlformats.org/officeDocument/2006/relationships/notesSlide" Target="/ppt/notesSlides/notesSlide11.xml" Id="R996e84ab87b042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dc16f60c9174df3" /><Relationship Type="http://schemas.openxmlformats.org/officeDocument/2006/relationships/image" Target="/ppt/media/image8.png" Id="R328334eeb0d64a3d" /><Relationship Type="http://schemas.openxmlformats.org/officeDocument/2006/relationships/image" Target="/ppt/media/image7.svg" Id="Rf0c9cfcd8cd645fa" /><Relationship Type="http://schemas.openxmlformats.org/officeDocument/2006/relationships/notesSlide" Target="/ppt/notesSlides/notesSlide12.xml" Id="R954632add6bf49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bbcabc7c3e94bb2" /><Relationship Type="http://schemas.openxmlformats.org/officeDocument/2006/relationships/image" Target="/ppt/media/image9.png" Id="R19d26e752ad04d7e" /><Relationship Type="http://schemas.openxmlformats.org/officeDocument/2006/relationships/image" Target="/ppt/media/image8.svg" Id="R4408892f279e4658" /><Relationship Type="http://schemas.openxmlformats.org/officeDocument/2006/relationships/notesSlide" Target="/ppt/notesSlides/notesSlide13.xml" Id="Re2025200d09d44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de29403ee8148e2" /><Relationship Type="http://schemas.openxmlformats.org/officeDocument/2006/relationships/notesSlide" Target="/ppt/notesSlides/notesSlide14.xml" Id="R514b764f032347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de2c7be155d248a4" /><Relationship Type="http://schemas.openxmlformats.org/officeDocument/2006/relationships/notesSlide" Target="/ppt/notesSlides/notesSlide15.xml" Id="R8e7ede29da4e48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c9905f368d24d8b" /><Relationship Type="http://schemas.openxmlformats.org/officeDocument/2006/relationships/image" Target="/ppt/media/image10.png" Id="Rda3294d749674292" /><Relationship Type="http://schemas.openxmlformats.org/officeDocument/2006/relationships/image" Target="/ppt/media/image9.svg" Id="R42d650542ded429b" /><Relationship Type="http://schemas.openxmlformats.org/officeDocument/2006/relationships/notesSlide" Target="/ppt/notesSlides/notesSlide16.xml" Id="R0a14a440477241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73cdd0e5b0c4c3c" /><Relationship Type="http://schemas.openxmlformats.org/officeDocument/2006/relationships/image" Target="/ppt/media/image11.png" Id="Rcb21f3d5e072485e" /><Relationship Type="http://schemas.openxmlformats.org/officeDocument/2006/relationships/image" Target="/ppt/media/image10.svg" Id="R1f3f897d5b4d420a" /><Relationship Type="http://schemas.openxmlformats.org/officeDocument/2006/relationships/notesSlide" Target="/ppt/notesSlides/notesSlide17.xml" Id="R33b2d9f03df347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29cbd26856e4c84" /><Relationship Type="http://schemas.openxmlformats.org/officeDocument/2006/relationships/image" Target="/ppt/media/image12.png" Id="Re0567c97bf2c4af3" /><Relationship Type="http://schemas.openxmlformats.org/officeDocument/2006/relationships/image" Target="/ppt/media/image11.svg" Id="Re1e62ec73eed417c" /><Relationship Type="http://schemas.openxmlformats.org/officeDocument/2006/relationships/notesSlide" Target="/ppt/notesSlides/notesSlide18.xml" Id="R3e81c0690a7146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e8d5a23ecd34fd8" /><Relationship Type="http://schemas.openxmlformats.org/officeDocument/2006/relationships/image" Target="/ppt/media/image13.png" Id="Ra61611afd4b74299" /><Relationship Type="http://schemas.openxmlformats.org/officeDocument/2006/relationships/image" Target="/ppt/media/image12.svg" Id="R2e352cab085a485c" /><Relationship Type="http://schemas.openxmlformats.org/officeDocument/2006/relationships/notesSlide" Target="/ppt/notesSlides/notesSlide19.xml" Id="Rbb8bd807d9cc46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a7833b9cbe14a90" /><Relationship Type="http://schemas.openxmlformats.org/officeDocument/2006/relationships/image" Target="/ppt/media/image14.png" Id="R206f1897b3a2482b" /><Relationship Type="http://schemas.openxmlformats.org/officeDocument/2006/relationships/image" Target="/ppt/media/image13.svg" Id="Rf259f48b5aa54a93" /><Relationship Type="http://schemas.openxmlformats.org/officeDocument/2006/relationships/notesSlide" Target="/ppt/notesSlides/notesSlide20.xml" Id="R9014fc512f9a47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66341264ef04fdd" /><Relationship Type="http://schemas.openxmlformats.org/officeDocument/2006/relationships/image" Target="/ppt/media/image15.png" Id="R7798257555934c09" /><Relationship Type="http://schemas.openxmlformats.org/officeDocument/2006/relationships/image" Target="/ppt/media/image14.svg" Id="Rf615d54db9084e01" /><Relationship Type="http://schemas.openxmlformats.org/officeDocument/2006/relationships/notesSlide" Target="/ppt/notesSlides/notesSlide21.xml" Id="Ref31174349bf4ff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4c35a045e8348c4" /><Relationship Type="http://schemas.openxmlformats.org/officeDocument/2006/relationships/image" Target="/ppt/media/image16.png" Id="Red0c18f960ab4cac" /><Relationship Type="http://schemas.openxmlformats.org/officeDocument/2006/relationships/image" Target="/ppt/media/image15.svg" Id="R5a8f23ca9626403d" /><Relationship Type="http://schemas.openxmlformats.org/officeDocument/2006/relationships/notesSlide" Target="/ppt/notesSlides/notesSlide22.xml" Id="R5c059b31d394464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9f39eee644e44f0" /><Relationship Type="http://schemas.openxmlformats.org/officeDocument/2006/relationships/notesSlide" Target="/ppt/notesSlides/notesSlide23.xml" Id="R725c0ed6bd0d44e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5126ceada4924c30" /><Relationship Type="http://schemas.openxmlformats.org/officeDocument/2006/relationships/notesSlide" Target="/ppt/notesSlides/notesSlide24.xml" Id="Ref6f501e775a441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d91047a0f14184" /><Relationship Type="http://schemas.openxmlformats.org/officeDocument/2006/relationships/image" Target="/ppt/media/image17.png" Id="R6b611f35cb9c4fdd" /><Relationship Type="http://schemas.openxmlformats.org/officeDocument/2006/relationships/image" Target="/ppt/media/image16.svg" Id="R6810a7edb38d47e8" /><Relationship Type="http://schemas.openxmlformats.org/officeDocument/2006/relationships/notesSlide" Target="/ppt/notesSlides/notesSlide25.xml" Id="R8b418e281f0747f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093d0dbcc98470d" /><Relationship Type="http://schemas.openxmlformats.org/officeDocument/2006/relationships/notesSlide" Target="/ppt/notesSlides/notesSlide26.xml" Id="R70ab5906601447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3e927697aee4aeb" /><Relationship Type="http://schemas.openxmlformats.org/officeDocument/2006/relationships/image" Target="/ppt/media/image18.png" Id="R6d3c88b0c701496d" /><Relationship Type="http://schemas.openxmlformats.org/officeDocument/2006/relationships/image" Target="/ppt/media/image17.svg" Id="Re7625efa524d4233" /><Relationship Type="http://schemas.openxmlformats.org/officeDocument/2006/relationships/notesSlide" Target="/ppt/notesSlides/notesSlide27.xml" Id="Rc898ae3b4b7b4bb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6918d5f2893491e" /><Relationship Type="http://schemas.openxmlformats.org/officeDocument/2006/relationships/image" Target="/ppt/media/image19.png" Id="R4d5ecfbdc74f477b" /><Relationship Type="http://schemas.openxmlformats.org/officeDocument/2006/relationships/image" Target="/ppt/media/image18.svg" Id="Re3b33e6e8eb349fa" /><Relationship Type="http://schemas.openxmlformats.org/officeDocument/2006/relationships/notesSlide" Target="/ppt/notesSlides/notesSlide28.xml" Id="R3e7077fec7b741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648b19df7094d74" /><Relationship Type="http://schemas.openxmlformats.org/officeDocument/2006/relationships/image" Target="/ppt/media/image20.png" Id="Rd827b378b92b4860" /><Relationship Type="http://schemas.openxmlformats.org/officeDocument/2006/relationships/image" Target="/ppt/media/image19.svg" Id="R3c5ae011ff514cd4" /><Relationship Type="http://schemas.openxmlformats.org/officeDocument/2006/relationships/notesSlide" Target="/ppt/notesSlides/notesSlide29.xml" Id="Ra3cf8183e9ec47c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5f2056b165a4840" /><Relationship Type="http://schemas.openxmlformats.org/officeDocument/2006/relationships/image" Target="/ppt/media/image21.png" Id="R04f780cd476847eb" /><Relationship Type="http://schemas.openxmlformats.org/officeDocument/2006/relationships/image" Target="/ppt/media/image20.svg" Id="R62193bdc17d34666" /><Relationship Type="http://schemas.openxmlformats.org/officeDocument/2006/relationships/notesSlide" Target="/ppt/notesSlides/notesSlide30.xml" Id="R4892172dd4bc4e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dca38567384443" /><Relationship Type="http://schemas.openxmlformats.org/officeDocument/2006/relationships/image" Target="/ppt/media/image22.png" Id="Rc6f6198459c04ef5" /><Relationship Type="http://schemas.openxmlformats.org/officeDocument/2006/relationships/image" Target="/ppt/media/image21.svg" Id="R02e11afcb9714c55" /><Relationship Type="http://schemas.openxmlformats.org/officeDocument/2006/relationships/notesSlide" Target="/ppt/notesSlides/notesSlide31.xml" Id="Rcf17dd0a2bc8430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9e884fb1e834888" /><Relationship Type="http://schemas.openxmlformats.org/officeDocument/2006/relationships/image" Target="/ppt/media/image23.png" Id="R9151bc1f11d14a9b" /><Relationship Type="http://schemas.openxmlformats.org/officeDocument/2006/relationships/image" Target="/ppt/media/image22.svg" Id="Rc9efdc37777b4c5f" /><Relationship Type="http://schemas.openxmlformats.org/officeDocument/2006/relationships/notesSlide" Target="/ppt/notesSlides/notesSlide32.xml" Id="Reb18659c8bdc456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cca4d9f4401479a" /><Relationship Type="http://schemas.openxmlformats.org/officeDocument/2006/relationships/notesSlide" Target="/ppt/notesSlides/notesSlide33.xml" Id="Rd3f69e9c125240f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17624ce60f44b6" /><Relationship Type="http://schemas.openxmlformats.org/officeDocument/2006/relationships/hyperlink" Target="https://phet.colorado.edu/es_PE/simulations/masses-and-springs-basics" TargetMode="External" Id="Rc73f7c0a81d74141" /><Relationship Type="http://schemas.openxmlformats.org/officeDocument/2006/relationships/notesSlide" Target="/ppt/notesSlides/notesSlide34.xml" Id="Rfcf116b34f244e3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e935f9c6d0b24e07" /><Relationship Type="http://schemas.openxmlformats.org/officeDocument/2006/relationships/image" Target="/ppt/media/image24.png" Id="R096483332e194492" /><Relationship Type="http://schemas.openxmlformats.org/officeDocument/2006/relationships/image" Target="/ppt/media/image23.svg" Id="Reca40fdb40dc45bb" /><Relationship Type="http://schemas.openxmlformats.org/officeDocument/2006/relationships/notesSlide" Target="/ppt/notesSlides/notesSlide35.xml" Id="Ra3098b84819d4f4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8f1b4ca53b0244a9" /><Relationship Type="http://schemas.openxmlformats.org/officeDocument/2006/relationships/image" Target="/ppt/media/image25.png" Id="R4110804184e74f02" /><Relationship Type="http://schemas.openxmlformats.org/officeDocument/2006/relationships/image" Target="/ppt/media/image24.svg" Id="Re5ecc232f6b84870" /><Relationship Type="http://schemas.openxmlformats.org/officeDocument/2006/relationships/notesSlide" Target="/ppt/notesSlides/notesSlide36.xml" Id="Rf88d1a3b459640a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1780e3e6bb5b4df9" /><Relationship Type="http://schemas.openxmlformats.org/officeDocument/2006/relationships/image" Target="/ppt/media/image26.png" Id="R86aed9533d444ed3" /><Relationship Type="http://schemas.openxmlformats.org/officeDocument/2006/relationships/image" Target="/ppt/media/image25.svg" Id="R5cfde7893fcf49bd" /><Relationship Type="http://schemas.openxmlformats.org/officeDocument/2006/relationships/notesSlide" Target="/ppt/notesSlides/notesSlide37.xml" Id="Rea9e7b6c7bb24b8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bdf416b8e694983" /><Relationship Type="http://schemas.openxmlformats.org/officeDocument/2006/relationships/image" Target="/ppt/media/image27.png" Id="R8592c53a9ad04ae5" /><Relationship Type="http://schemas.openxmlformats.org/officeDocument/2006/relationships/image" Target="/ppt/media/image26.svg" Id="R52cd48e9210c49d6" /><Relationship Type="http://schemas.openxmlformats.org/officeDocument/2006/relationships/notesSlide" Target="/ppt/notesSlides/notesSlide38.xml" Id="R90d55810743840b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b585101472f4ccc" /><Relationship Type="http://schemas.openxmlformats.org/officeDocument/2006/relationships/image" Target="/ppt/media/image28.png" Id="Rb8261a7012c2411d" /><Relationship Type="http://schemas.openxmlformats.org/officeDocument/2006/relationships/image" Target="/ppt/media/image27.svg" Id="R4077d595fb9d4fb4" /><Relationship Type="http://schemas.openxmlformats.org/officeDocument/2006/relationships/notesSlide" Target="/ppt/notesSlides/notesSlide39.xml" Id="Rf5d8d57641ef422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7f276fb98ca488f" /><Relationship Type="http://schemas.openxmlformats.org/officeDocument/2006/relationships/image" Target="/ppt/media/image29.png" Id="R9c765e99af3746b9" /><Relationship Type="http://schemas.openxmlformats.org/officeDocument/2006/relationships/image" Target="/ppt/media/image28.svg" Id="Ra531521a3ec04510" /><Relationship Type="http://schemas.openxmlformats.org/officeDocument/2006/relationships/notesSlide" Target="/ppt/notesSlides/notesSlide40.xml" Id="R20b78afbb12247a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60334aae6740d4" /><Relationship Type="http://schemas.openxmlformats.org/officeDocument/2006/relationships/image" Target="/ppt/media/image30.png" Id="R8369652c181c41bd" /><Relationship Type="http://schemas.openxmlformats.org/officeDocument/2006/relationships/image" Target="/ppt/media/image29.svg" Id="Rf1a117c95a8d4422" /><Relationship Type="http://schemas.openxmlformats.org/officeDocument/2006/relationships/notesSlide" Target="/ppt/notesSlides/notesSlide41.xml" Id="Ra349093c0067496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026ab3ac9ba4935" /><Relationship Type="http://schemas.openxmlformats.org/officeDocument/2006/relationships/image" Target="/ppt/media/image31.png" Id="Racde19eb249645ab" /><Relationship Type="http://schemas.openxmlformats.org/officeDocument/2006/relationships/image" Target="/ppt/media/image30.svg" Id="R55031d8c8d354c58" /><Relationship Type="http://schemas.openxmlformats.org/officeDocument/2006/relationships/notesSlide" Target="/ppt/notesSlides/notesSlide42.xml" Id="R2e82e75a64f9453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f7092a3cc0f4139" /><Relationship Type="http://schemas.openxmlformats.org/officeDocument/2006/relationships/image" Target="/ppt/media/image32.png" Id="R6ad5d1c6874d4553" /><Relationship Type="http://schemas.openxmlformats.org/officeDocument/2006/relationships/image" Target="/ppt/media/image31.svg" Id="R7b64c0f17da64d35" /><Relationship Type="http://schemas.openxmlformats.org/officeDocument/2006/relationships/notesSlide" Target="/ppt/notesSlides/notesSlide43.xml" Id="R0435fa5371734d1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93627d667e447c1" /><Relationship Type="http://schemas.openxmlformats.org/officeDocument/2006/relationships/image" Target="/ppt/media/image33.png" Id="Rc51f03ad584a4d75" /><Relationship Type="http://schemas.openxmlformats.org/officeDocument/2006/relationships/image" Target="/ppt/media/image32.svg" Id="Rececc0100f804b47" /><Relationship Type="http://schemas.openxmlformats.org/officeDocument/2006/relationships/notesSlide" Target="/ppt/notesSlides/notesSlide44.xml" Id="R03f5733b996e462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132dc54b34b6e" /><Relationship Type="http://schemas.openxmlformats.org/officeDocument/2006/relationships/image" Target="/ppt/media/image34.png" Id="R6a2321748c3f409f" /><Relationship Type="http://schemas.openxmlformats.org/officeDocument/2006/relationships/image" Target="/ppt/media/image33.svg" Id="Rbad5d7b154994e05" /><Relationship Type="http://schemas.openxmlformats.org/officeDocument/2006/relationships/notesSlide" Target="/ppt/notesSlides/notesSlide45.xml" Id="Rd4eb47d65cda43a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1dc71591a834a8d" /><Relationship Type="http://schemas.openxmlformats.org/officeDocument/2006/relationships/image" Target="/ppt/media/image35.png" Id="R352d88ca91ef4fed" /><Relationship Type="http://schemas.openxmlformats.org/officeDocument/2006/relationships/image" Target="/ppt/media/image34.svg" Id="R0448d968e68947c0" /><Relationship Type="http://schemas.openxmlformats.org/officeDocument/2006/relationships/notesSlide" Target="/ppt/notesSlides/notesSlide46.xml" Id="R798c04bb3d2b4a5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4765407006349c7" /><Relationship Type="http://schemas.openxmlformats.org/officeDocument/2006/relationships/notesSlide" Target="/ppt/notesSlides/notesSlide47.xml" Id="R264c16c48a8c418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0c79bc29df5a4665" /><Relationship Type="http://schemas.openxmlformats.org/officeDocument/2006/relationships/image" Target="/ppt/media/image36.png" Id="Rb65b0efe899f4d4b" /><Relationship Type="http://schemas.openxmlformats.org/officeDocument/2006/relationships/image" Target="/ppt/media/image35.svg" Id="Rc76f5ad3e9224826" /><Relationship Type="http://schemas.openxmlformats.org/officeDocument/2006/relationships/notesSlide" Target="/ppt/notesSlides/notesSlide48.xml" Id="R6a4476a47720474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e252f8dd7b74b05" /><Relationship Type="http://schemas.openxmlformats.org/officeDocument/2006/relationships/image" Target="/ppt/media/image37.png" Id="R7e2cacaecbf8470f" /><Relationship Type="http://schemas.openxmlformats.org/officeDocument/2006/relationships/image" Target="/ppt/media/image36.svg" Id="R77e57f507e5c4358" /><Relationship Type="http://schemas.openxmlformats.org/officeDocument/2006/relationships/notesSlide" Target="/ppt/notesSlides/notesSlide49.xml" Id="Rd6e1ec9a464e422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ee93ee0726a42d1" /><Relationship Type="http://schemas.openxmlformats.org/officeDocument/2006/relationships/image" Target="/ppt/media/image38.png" Id="Rcfa630077afe4a3f" /><Relationship Type="http://schemas.openxmlformats.org/officeDocument/2006/relationships/image" Target="/ppt/media/image37.svg" Id="R263fb5d7779a4bf6" /><Relationship Type="http://schemas.openxmlformats.org/officeDocument/2006/relationships/notesSlide" Target="/ppt/notesSlides/notesSlide50.xml" Id="R43ffa26c6e904e1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171456a5e3142b2" /><Relationship Type="http://schemas.openxmlformats.org/officeDocument/2006/relationships/image" Target="/ppt/media/image39.png" Id="R007408726918472d" /><Relationship Type="http://schemas.openxmlformats.org/officeDocument/2006/relationships/image" Target="/ppt/media/image38.svg" Id="Ra560fa1317e1471e" /><Relationship Type="http://schemas.openxmlformats.org/officeDocument/2006/relationships/notesSlide" Target="/ppt/notesSlides/notesSlide51.xml" Id="R16aac375db644d1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d9ec050df584856" /><Relationship Type="http://schemas.openxmlformats.org/officeDocument/2006/relationships/image" Target="/ppt/media/image40.png" Id="R517b76d162a54f46" /><Relationship Type="http://schemas.openxmlformats.org/officeDocument/2006/relationships/image" Target="/ppt/media/image39.svg" Id="R10b8e12120934c79" /><Relationship Type="http://schemas.openxmlformats.org/officeDocument/2006/relationships/notesSlide" Target="/ppt/notesSlides/notesSlide52.xml" Id="R0eb0c56838cf407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ed63853fb164cea" /><Relationship Type="http://schemas.openxmlformats.org/officeDocument/2006/relationships/image" Target="/ppt/media/image41.png" Id="R6043ef280a0642f1" /><Relationship Type="http://schemas.openxmlformats.org/officeDocument/2006/relationships/image" Target="/ppt/media/image40.svg" Id="Rf5cef478030a4325" /><Relationship Type="http://schemas.openxmlformats.org/officeDocument/2006/relationships/notesSlide" Target="/ppt/notesSlides/notesSlide53.xml" Id="Ra61cb0d25eb2410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fd9cc066da64bcd" /><Relationship Type="http://schemas.openxmlformats.org/officeDocument/2006/relationships/image" Target="/ppt/media/image42.png" Id="Rf8fb72ff6d644e59" /><Relationship Type="http://schemas.openxmlformats.org/officeDocument/2006/relationships/image" Target="/ppt/media/image41.svg" Id="R854c03d948944ce8" /><Relationship Type="http://schemas.openxmlformats.org/officeDocument/2006/relationships/notesSlide" Target="/ppt/notesSlides/notesSlide54.xml" Id="Ref9069ed81804e9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267e791c5fc4fe3" /><Relationship Type="http://schemas.openxmlformats.org/officeDocument/2006/relationships/image" Target="/ppt/media/image43.png" Id="R81bd7895267b4424" /><Relationship Type="http://schemas.openxmlformats.org/officeDocument/2006/relationships/image" Target="/ppt/media/image42.svg" Id="R1316ad3b45e34b77" /><Relationship Type="http://schemas.openxmlformats.org/officeDocument/2006/relationships/notesSlide" Target="/ppt/notesSlides/notesSlide55.xml" Id="R430c294d8c354c9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3df89a84dbe47b7" /><Relationship Type="http://schemas.openxmlformats.org/officeDocument/2006/relationships/image" Target="/ppt/media/image44.png" Id="R62ed96c577be4bef" /><Relationship Type="http://schemas.openxmlformats.org/officeDocument/2006/relationships/image" Target="/ppt/media/image43.svg" Id="Rb0e4d632495f461d" /><Relationship Type="http://schemas.openxmlformats.org/officeDocument/2006/relationships/notesSlide" Target="/ppt/notesSlides/notesSlide56.xml" Id="R940416eca519408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1c903e172ef4c0a" /><Relationship Type="http://schemas.openxmlformats.org/officeDocument/2006/relationships/image" Target="/ppt/media/image45.png" Id="Rf81bcdd25ec742a2" /><Relationship Type="http://schemas.openxmlformats.org/officeDocument/2006/relationships/image" Target="/ppt/media/image44.svg" Id="R1c67824b354a46ea" /><Relationship Type="http://schemas.openxmlformats.org/officeDocument/2006/relationships/notesSlide" Target="/ppt/notesSlides/notesSlide57.xml" Id="Re83b22f2dd1b471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63454cc65f54127" /><Relationship Type="http://schemas.openxmlformats.org/officeDocument/2006/relationships/notesSlide" Target="/ppt/notesSlides/notesSlide58.xml" Id="Re14b72cf72a9411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0e339c6b24c44db" /><Relationship Type="http://schemas.openxmlformats.org/officeDocument/2006/relationships/image" Target="/ppt/media/image46.png" Id="R0afb42fad9dd42ea" /><Relationship Type="http://schemas.openxmlformats.org/officeDocument/2006/relationships/image" Target="/ppt/media/image45.svg" Id="Ra20733e456774b29" /><Relationship Type="http://schemas.openxmlformats.org/officeDocument/2006/relationships/notesSlide" Target="/ppt/notesSlides/notesSlide59.xml" Id="Rad8373eda1de4cc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9273bfbca6e409d" /><Relationship Type="http://schemas.openxmlformats.org/officeDocument/2006/relationships/notesSlide" Target="/ppt/notesSlides/notesSlide60.xml" Id="R3826fbca6e5d403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5adcda2750248b5" /><Relationship Type="http://schemas.openxmlformats.org/officeDocument/2006/relationships/image" Target="/ppt/media/image47.png" Id="Re578b756d7c24e43" /><Relationship Type="http://schemas.openxmlformats.org/officeDocument/2006/relationships/image" Target="/ppt/media/image46.svg" Id="Reab907663aa94609" /><Relationship Type="http://schemas.openxmlformats.org/officeDocument/2006/relationships/notesSlide" Target="/ppt/notesSlides/notesSlide61.xml" Id="Ref28c3d9da3c4d6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375f0ba9d9b4166" /><Relationship Type="http://schemas.openxmlformats.org/officeDocument/2006/relationships/image" Target="/ppt/media/image48.png" Id="R083a6d7cca844b07" /><Relationship Type="http://schemas.openxmlformats.org/officeDocument/2006/relationships/image" Target="/ppt/media/image47.svg" Id="R406072fe0f9440fa" /><Relationship Type="http://schemas.openxmlformats.org/officeDocument/2006/relationships/notesSlide" Target="/ppt/notesSlides/notesSlide62.xml" Id="Rf0164222025642e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1254acf349746e6" /><Relationship Type="http://schemas.openxmlformats.org/officeDocument/2006/relationships/image" Target="/ppt/media/image49.png" Id="Ra58fd88f4d4b40e5" /><Relationship Type="http://schemas.openxmlformats.org/officeDocument/2006/relationships/image" Target="/ppt/media/image48.svg" Id="R1de1d9d9e135446d" /><Relationship Type="http://schemas.openxmlformats.org/officeDocument/2006/relationships/notesSlide" Target="/ppt/notesSlides/notesSlide63.xml" Id="R6952f84c6c194d6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6b89c32db044963" /><Relationship Type="http://schemas.openxmlformats.org/officeDocument/2006/relationships/image" Target="/ppt/media/image50.png" Id="Rbbef8fcb92d34c15" /><Relationship Type="http://schemas.openxmlformats.org/officeDocument/2006/relationships/image" Target="/ppt/media/image49.svg" Id="Rd8b1d0e1b5f24187" /><Relationship Type="http://schemas.openxmlformats.org/officeDocument/2006/relationships/notesSlide" Target="/ppt/notesSlides/notesSlide64.xml" Id="R1d0e6799abc94bad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d33ad353d0b43a9" /><Relationship Type="http://schemas.openxmlformats.org/officeDocument/2006/relationships/image" Target="/ppt/media/image51.png" Id="R536882e975da4095" /><Relationship Type="http://schemas.openxmlformats.org/officeDocument/2006/relationships/image" Target="/ppt/media/image50.svg" Id="R1c73327c9eee499e" /><Relationship Type="http://schemas.openxmlformats.org/officeDocument/2006/relationships/notesSlide" Target="/ppt/notesSlides/notesSlide65.xml" Id="Ra2b749be12c44a3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047d03b0e3f4abf" /><Relationship Type="http://schemas.openxmlformats.org/officeDocument/2006/relationships/image" Target="/ppt/media/image52.png" Id="Rcba7945483a148ee" /><Relationship Type="http://schemas.openxmlformats.org/officeDocument/2006/relationships/image" Target="/ppt/media/image51.svg" Id="Rc02c8329823c4ace" /><Relationship Type="http://schemas.openxmlformats.org/officeDocument/2006/relationships/notesSlide" Target="/ppt/notesSlides/notesSlide66.xml" Id="R7ce04fdb8f184567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87fef100c5f48ef" /><Relationship Type="http://schemas.openxmlformats.org/officeDocument/2006/relationships/notesSlide" Target="/ppt/notesSlides/notesSlide67.xml" Id="R5994c05dea094d0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2d40ceb22054ee0" /><Relationship Type="http://schemas.openxmlformats.org/officeDocument/2006/relationships/notesSlide" Target="/ppt/notesSlides/notesSlide68.xml" Id="Ra1fee7162968443b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d35b5e9e25e24490" /><Relationship Type="http://schemas.openxmlformats.org/officeDocument/2006/relationships/notesSlide" Target="/ppt/notesSlides/notesSlide69.xml" Id="R767d2b19baf34fe9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ff05a3c94dc4b06" /><Relationship Type="http://schemas.openxmlformats.org/officeDocument/2006/relationships/notesSlide" Target="/ppt/notesSlides/notesSlide70.xml" Id="Rf3cca8c0cdae499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f9cbe6a8b5d4356" /><Relationship Type="http://schemas.openxmlformats.org/officeDocument/2006/relationships/image" Target="/ppt/media/image53.png" Id="R1d2ae1bdd3da4aa1" /><Relationship Type="http://schemas.openxmlformats.org/officeDocument/2006/relationships/image" Target="/ppt/media/image52.svg" Id="R511e013dedfa4dde" /><Relationship Type="http://schemas.openxmlformats.org/officeDocument/2006/relationships/notesSlide" Target="/ppt/notesSlides/notesSlide71.xml" Id="R4ab11e68aa114e9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688be99c6dd4b36" /><Relationship Type="http://schemas.openxmlformats.org/officeDocument/2006/relationships/notesSlide" Target="/ppt/notesSlides/notesSlide72.xml" Id="R136e5b5cb6a04160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cfa8670fbab4872" /><Relationship Type="http://schemas.openxmlformats.org/officeDocument/2006/relationships/image" Target="/ppt/media/image54.png" Id="R6c1c3e3b1f03434e" /><Relationship Type="http://schemas.openxmlformats.org/officeDocument/2006/relationships/image" Target="/ppt/media/image53.svg" Id="R82538cdb85e04978" /><Relationship Type="http://schemas.openxmlformats.org/officeDocument/2006/relationships/notesSlide" Target="/ppt/notesSlides/notesSlide73.xml" Id="Rc318abbb41904b9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43e0eca9898481b" /><Relationship Type="http://schemas.openxmlformats.org/officeDocument/2006/relationships/notesSlide" Target="/ppt/notesSlides/notesSlide74.xml" Id="R8fae79c0513d45d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b615ab25ec0460d" /><Relationship Type="http://schemas.openxmlformats.org/officeDocument/2006/relationships/notesSlide" Target="/ppt/notesSlides/notesSlide75.xml" Id="Rd61f9125c6fa441a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49afafae6eee4a12" /><Relationship Type="http://schemas.openxmlformats.org/officeDocument/2006/relationships/notesSlide" Target="/ppt/notesSlides/notesSlide76.xml" Id="R417ebda8b03d416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6955294af3e418d" /><Relationship Type="http://schemas.openxmlformats.org/officeDocument/2006/relationships/image" Target="/ppt/media/image55.png" Id="Rf49ccf1994694d67" /><Relationship Type="http://schemas.openxmlformats.org/officeDocument/2006/relationships/image" Target="/ppt/media/image54.svg" Id="R8fa32e3004504786" /><Relationship Type="http://schemas.openxmlformats.org/officeDocument/2006/relationships/notesSlide" Target="/ppt/notesSlides/notesSlide77.xml" Id="R48fd615585d8435e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6efb6cbf3644372" /><Relationship Type="http://schemas.openxmlformats.org/officeDocument/2006/relationships/image" Target="/ppt/media/image56.png" Id="R112ca34930da4bf9" /><Relationship Type="http://schemas.openxmlformats.org/officeDocument/2006/relationships/image" Target="/ppt/media/image55.svg" Id="R37440539cae84b8f" /><Relationship Type="http://schemas.openxmlformats.org/officeDocument/2006/relationships/notesSlide" Target="/ppt/notesSlides/notesSlide78.xml" Id="R8023d3499b2b4b80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b4d206fa4f34fd8" /><Relationship Type="http://schemas.openxmlformats.org/officeDocument/2006/relationships/image" Target="/ppt/media/image57.png" Id="Rc412d6448f0b4019" /><Relationship Type="http://schemas.openxmlformats.org/officeDocument/2006/relationships/image" Target="/ppt/media/image56.svg" Id="R2b806abf1e7b4ee6" /><Relationship Type="http://schemas.openxmlformats.org/officeDocument/2006/relationships/notesSlide" Target="/ppt/notesSlides/notesSlide79.xml" Id="R83eb1d4aa74c40da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fe076d251944b29" /><Relationship Type="http://schemas.openxmlformats.org/officeDocument/2006/relationships/image" Target="/ppt/media/image58.png" Id="Rc6ae4671342642a7" /><Relationship Type="http://schemas.openxmlformats.org/officeDocument/2006/relationships/image" Target="/ppt/media/image57.svg" Id="Re19285ff150241f6" /><Relationship Type="http://schemas.openxmlformats.org/officeDocument/2006/relationships/notesSlide" Target="/ppt/notesSlides/notesSlide80.xml" Id="R46540df02b814e45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c514d04732a4530" /><Relationship Type="http://schemas.openxmlformats.org/officeDocument/2006/relationships/image" Target="/ppt/media/image59.png" Id="Recaa0ea47e994e09" /><Relationship Type="http://schemas.openxmlformats.org/officeDocument/2006/relationships/image" Target="/ppt/media/image58.svg" Id="R5c240754462243b3" /><Relationship Type="http://schemas.openxmlformats.org/officeDocument/2006/relationships/notesSlide" Target="/ppt/notesSlides/notesSlide81.xml" Id="R363d227cbf3c4ffe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45ccd1390c74ca6" /><Relationship Type="http://schemas.openxmlformats.org/officeDocument/2006/relationships/image" Target="/ppt/media/image60.png" Id="R09ef6add0e4c4efd" /><Relationship Type="http://schemas.openxmlformats.org/officeDocument/2006/relationships/image" Target="/ppt/media/image59.svg" Id="R283f331dde8244c4" /><Relationship Type="http://schemas.openxmlformats.org/officeDocument/2006/relationships/notesSlide" Target="/ppt/notesSlides/notesSlide82.xml" Id="R834a805051d54275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1cbb42c59ac46e6" /><Relationship Type="http://schemas.openxmlformats.org/officeDocument/2006/relationships/notesSlide" Target="/ppt/notesSlides/notesSlide83.xml" Id="R65167ec2bfd042f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ddb6fbceb60f4f93" /><Relationship Type="http://schemas.openxmlformats.org/officeDocument/2006/relationships/image" Target="/ppt/media/image61.png" Id="Rf7e8eeef42114582" /><Relationship Type="http://schemas.openxmlformats.org/officeDocument/2006/relationships/image" Target="/ppt/media/image60.svg" Id="Rd6ad22219db44f81" /><Relationship Type="http://schemas.openxmlformats.org/officeDocument/2006/relationships/notesSlide" Target="/ppt/notesSlides/notesSlide84.xml" Id="Rac3502e6da8647fc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ad2bccba75c403e" /><Relationship Type="http://schemas.openxmlformats.org/officeDocument/2006/relationships/image" Target="/ppt/media/image62.png" Id="Rbb53e6a9f4fe46d9" /><Relationship Type="http://schemas.openxmlformats.org/officeDocument/2006/relationships/image" Target="/ppt/media/image61.svg" Id="Ra643b69986f84f11" /><Relationship Type="http://schemas.openxmlformats.org/officeDocument/2006/relationships/hyperlink" Target="https://commons.wikimedia.org/wiki/File:Tympanic_membrane_cross-section.svg" TargetMode="External" Id="R87c3a4883d314c9c" /><Relationship Type="http://schemas.openxmlformats.org/officeDocument/2006/relationships/notesSlide" Target="/ppt/notesSlides/notesSlide85.xml" Id="R7dc1d7b16dba48e3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3328bb3a5247bb" /><Relationship Type="http://schemas.openxmlformats.org/officeDocument/2006/relationships/image" Target="/ppt/media/image63.png" Id="R15e2ec6cc37c4ed4" /><Relationship Type="http://schemas.openxmlformats.org/officeDocument/2006/relationships/image" Target="/ppt/media/image62.svg" Id="R8fe602af2abe40b9" /><Relationship Type="http://schemas.openxmlformats.org/officeDocument/2006/relationships/notesSlide" Target="/ppt/notesSlides/notesSlide86.xml" Id="R3652e9de5d1f4985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81c7dc2e8f3452e" /><Relationship Type="http://schemas.openxmlformats.org/officeDocument/2006/relationships/image" Target="/ppt/media/image64.png" Id="Rce1b2054f2be47f0" /><Relationship Type="http://schemas.openxmlformats.org/officeDocument/2006/relationships/image" Target="/ppt/media/image63.svg" Id="Rcb1fecd104054a7a" /><Relationship Type="http://schemas.openxmlformats.org/officeDocument/2006/relationships/notesSlide" Target="/ppt/notesSlides/notesSlide87.xml" Id="R568e5c560b3f4dad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1cad442d5384c36" /><Relationship Type="http://schemas.openxmlformats.org/officeDocument/2006/relationships/image" Target="/ppt/media/image65.png" Id="Rc5063ecefa1f4d51" /><Relationship Type="http://schemas.openxmlformats.org/officeDocument/2006/relationships/image" Target="/ppt/media/image64.svg" Id="R3ff54b34f55b4e21" /><Relationship Type="http://schemas.openxmlformats.org/officeDocument/2006/relationships/notesSlide" Target="/ppt/notesSlides/notesSlide88.xml" Id="R28f948c2e24f4b8f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a83edaa76f4381" /><Relationship Type="http://schemas.openxmlformats.org/officeDocument/2006/relationships/image" Target="/ppt/media/image66.png" Id="Rc56f3a1bd2aa4317" /><Relationship Type="http://schemas.openxmlformats.org/officeDocument/2006/relationships/image" Target="/ppt/media/image65.svg" Id="R756b193a8a4c4276" /><Relationship Type="http://schemas.openxmlformats.org/officeDocument/2006/relationships/notesSlide" Target="/ppt/notesSlides/notesSlide89.xml" Id="R4fa02db7e74145f3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9a5062e03dcc418c" /><Relationship Type="http://schemas.openxmlformats.org/officeDocument/2006/relationships/notesSlide" Target="/ppt/notesSlides/notesSlide90.xml" Id="R0eabeb13c16f4eb7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f3bf899544bd8" /><Relationship Type="http://schemas.openxmlformats.org/officeDocument/2006/relationships/image" Target="/ppt/media/image67.png" Id="R9a062ddac8fa4873" /><Relationship Type="http://schemas.openxmlformats.org/officeDocument/2006/relationships/image" Target="/ppt/media/image66.svg" Id="Rf981b261b2974dd6" /><Relationship Type="http://schemas.openxmlformats.org/officeDocument/2006/relationships/notesSlide" Target="/ppt/notesSlides/notesSlide91.xml" Id="Ra984af83545b468f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9f22db781241bf" /><Relationship Type="http://schemas.openxmlformats.org/officeDocument/2006/relationships/image" Target="/ppt/media/image68.png" Id="R057b292631de49ff" /><Relationship Type="http://schemas.openxmlformats.org/officeDocument/2006/relationships/image" Target="/ppt/media/image67.svg" Id="Rf0d12e8d473d4b34" /><Relationship Type="http://schemas.openxmlformats.org/officeDocument/2006/relationships/notesSlide" Target="/ppt/notesSlides/notesSlide92.xml" Id="R2be6433a5e63490a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0619af1e1343ef" /><Relationship Type="http://schemas.openxmlformats.org/officeDocument/2006/relationships/image" Target="/ppt/media/image69.png" Id="R94be9b6b705d45de" /><Relationship Type="http://schemas.openxmlformats.org/officeDocument/2006/relationships/image" Target="/ppt/media/image68.svg" Id="Rf7fc3f104fd64ea1" /><Relationship Type="http://schemas.openxmlformats.org/officeDocument/2006/relationships/notesSlide" Target="/ppt/notesSlides/notesSlide93.xml" Id="R50c06dd8fd8d4c1a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f6e7ba1604d5e" /><Relationship Type="http://schemas.openxmlformats.org/officeDocument/2006/relationships/notesSlide" Target="/ppt/notesSlides/notesSlide94.xml" Id="R51071285ee4d4b61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923e1f1fab4f91" /><Relationship Type="http://schemas.openxmlformats.org/officeDocument/2006/relationships/image" Target="/ppt/media/image70.png" Id="R25009c909ca34c74" /><Relationship Type="http://schemas.openxmlformats.org/officeDocument/2006/relationships/image" Target="/ppt/media/image69.svg" Id="Rc558f7d140604a19" /><Relationship Type="http://schemas.openxmlformats.org/officeDocument/2006/relationships/notesSlide" Target="/ppt/notesSlides/notesSlide95.xml" Id="Re8be0644059d487e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5874152994a64" /><Relationship Type="http://schemas.openxmlformats.org/officeDocument/2006/relationships/image" Target="/ppt/media/image71.png" Id="R8dfb853fc2c043dd" /><Relationship Type="http://schemas.openxmlformats.org/officeDocument/2006/relationships/image" Target="/ppt/media/image70.svg" Id="R076b6f6a93d14a78" /><Relationship Type="http://schemas.openxmlformats.org/officeDocument/2006/relationships/notesSlide" Target="/ppt/notesSlides/notesSlide96.xml" Id="R1488bfb7649d425d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c7721b0ff439f" /><Relationship Type="http://schemas.openxmlformats.org/officeDocument/2006/relationships/notesSlide" Target="/ppt/notesSlides/notesSlide97.xml" Id="Rb166e5373c744ea7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9aa149370b48c3" /><Relationship Type="http://schemas.openxmlformats.org/officeDocument/2006/relationships/notesSlide" Target="/ppt/notesSlides/notesSlide98.xml" Id="R9b2ba4282ca948f2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eba1977ad44ebb" /><Relationship Type="http://schemas.openxmlformats.org/officeDocument/2006/relationships/notesSlide" Target="/ppt/notesSlides/notesSlide99.xml" Id="Rf91c0162c79e453d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5b17e4683b94e4d" /><Relationship Type="http://schemas.openxmlformats.org/officeDocument/2006/relationships/notesSlide" Target="/ppt/notesSlides/notesSlide100.xml" Id="R446b98951b8b417d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2a31b59d7244d4" /><Relationship Type="http://schemas.openxmlformats.org/officeDocument/2006/relationships/image" Target="/ppt/media/image72.png" Id="Rd3f3f95fd040457b" /><Relationship Type="http://schemas.openxmlformats.org/officeDocument/2006/relationships/image" Target="/ppt/media/image71.svg" Id="Rd4e5782c81e6499e" /><Relationship Type="http://schemas.openxmlformats.org/officeDocument/2006/relationships/notesSlide" Target="/ppt/notesSlides/notesSlide101.xml" Id="Rbcc88d1d27414411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1e25cfcb7e4dc0" /><Relationship Type="http://schemas.openxmlformats.org/officeDocument/2006/relationships/image" Target="/ppt/media/image73.png" Id="Rd72293af8189416e" /><Relationship Type="http://schemas.openxmlformats.org/officeDocument/2006/relationships/image" Target="/ppt/media/image72.svg" Id="R9aa1aea939cf408c" /><Relationship Type="http://schemas.openxmlformats.org/officeDocument/2006/relationships/notesSlide" Target="/ppt/notesSlides/notesSlide102.xml" Id="R88c0bd78ce5a4a30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63625483844021" /><Relationship Type="http://schemas.openxmlformats.org/officeDocument/2006/relationships/image" Target="/ppt/media/image74.png" Id="R4637ada1f97e49fd" /><Relationship Type="http://schemas.openxmlformats.org/officeDocument/2006/relationships/image" Target="/ppt/media/image73.svg" Id="R2fc30ddf516542b0" /><Relationship Type="http://schemas.openxmlformats.org/officeDocument/2006/relationships/notesSlide" Target="/ppt/notesSlides/notesSlide103.xml" Id="R3c3f539dd4a24bbd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301d12a004bc7" /><Relationship Type="http://schemas.openxmlformats.org/officeDocument/2006/relationships/image" Target="/ppt/media/image75.png" Id="R8b0427bac93d4ab8" /><Relationship Type="http://schemas.openxmlformats.org/officeDocument/2006/relationships/image" Target="/ppt/media/image74.svg" Id="R91b612e18a714c8f" /><Relationship Type="http://schemas.openxmlformats.org/officeDocument/2006/relationships/notesSlide" Target="/ppt/notesSlides/notesSlide104.xml" Id="R05b66cf34cea4de1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599681d0d64fc6" /><Relationship Type="http://schemas.openxmlformats.org/officeDocument/2006/relationships/image" Target="/ppt/media/image76.png" Id="R1811c62d87d94205" /><Relationship Type="http://schemas.openxmlformats.org/officeDocument/2006/relationships/image" Target="/ppt/media/image75.svg" Id="Ref186234d5054299" /><Relationship Type="http://schemas.openxmlformats.org/officeDocument/2006/relationships/notesSlide" Target="/ppt/notesSlides/notesSlide105.xml" Id="Rebcd443241684b17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0d0d14658b4b3c" /><Relationship Type="http://schemas.openxmlformats.org/officeDocument/2006/relationships/image" Target="/ppt/media/image77.png" Id="R0da193ba9cdb48b1" /><Relationship Type="http://schemas.openxmlformats.org/officeDocument/2006/relationships/image" Target="/ppt/media/image76.svg" Id="R5478dbcc12eb4bf6" /><Relationship Type="http://schemas.openxmlformats.org/officeDocument/2006/relationships/notesSlide" Target="/ppt/notesSlides/notesSlide106.xml" Id="R8eef8dad569c42ef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5697910f20417a" /><Relationship Type="http://schemas.openxmlformats.org/officeDocument/2006/relationships/image" Target="/ppt/media/image78.png" Id="Rd991ace510234501" /><Relationship Type="http://schemas.openxmlformats.org/officeDocument/2006/relationships/image" Target="/ppt/media/image77.svg" Id="Rc2cc4348a6e64d0e" /><Relationship Type="http://schemas.openxmlformats.org/officeDocument/2006/relationships/notesSlide" Target="/ppt/notesSlides/notesSlide107.xml" Id="Ra8f41cb8cfdd4066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6a0adb22c04bc6" /><Relationship Type="http://schemas.openxmlformats.org/officeDocument/2006/relationships/image" Target="/ppt/media/image79.png" Id="R1263025800dd4b8e" /><Relationship Type="http://schemas.openxmlformats.org/officeDocument/2006/relationships/image" Target="/ppt/media/image78.svg" Id="R22878f84f8b34309" /><Relationship Type="http://schemas.openxmlformats.org/officeDocument/2006/relationships/notesSlide" Target="/ppt/notesSlides/notesSlide108.xml" Id="R210669b36e164d89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15449a19334f84" /><Relationship Type="http://schemas.openxmlformats.org/officeDocument/2006/relationships/notesSlide" Target="/ppt/notesSlides/notesSlide109.xml" Id="Rdc09e50b4a3f4302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8d9ef78dbd4f3f" /><Relationship Type="http://schemas.openxmlformats.org/officeDocument/2006/relationships/notesSlide" Target="/ppt/notesSlides/notesSlide110.xml" Id="Rb29654e6646a4b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_wave_line">
            <a:extLst xmlns:a="http://schemas.openxmlformats.org/drawingml/2006/main"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2476500" cy="18097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Marcador de número de diapositiva 11">
            <a:extLst xmlns:a="http://schemas.openxmlformats.org/drawingml/2006/main">
              <a:ext uri="{FF2B5EF4-FFF2-40B4-BE49-F238E27FC236}">
                <a16:creationId xmlns:a16="http://schemas.microsoft.com/office/drawing/2014/main" id="{0B44733C-D931-3240-C8D6-A74952D40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D75FED6-38D0-DE9C-92C0-6E7FA635581C}" type="slidenum">
              <a:t>1</a:t>
            </a:fld>
          </a:p>
        </p:txBody>
      </p:sp>
      <p:sp>
        <p:nvSpPr>
          <p:cNvPr id="13" name="U02-001_eyebrow">
            <a:extLst xmlns:a="http://schemas.openxmlformats.org/drawingml/2006/main">
              <a:ext uri="{FF2B5EF4-FFF2-40B4-BE49-F238E27FC236}">
                <a16:creationId xmlns:a16="http://schemas.microsoft.com/office/drawing/2014/main" id="{29A0CDE2-548C-481C-B75F-5B99614B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FÍSICA ACÚSTICA</a:t>
            </a:r>
          </a:p>
        </p:txBody>
      </p:sp>
      <p:sp>
        <p:nvSpPr>
          <p:cNvPr id="14" name="U02-001_title">
            <a:extLst xmlns:a="http://schemas.openxmlformats.org/drawingml/2006/main">
              <a:ext uri="{FF2B5EF4-FFF2-40B4-BE49-F238E27FC236}">
                <a16:creationId xmlns:a16="http://schemas.microsoft.com/office/drawing/2014/main" id="{2FA3BE2B-862E-4CDB-9A41-606C1574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2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Leyes de la mecánica clásica y de la termodinámica</a:t>
            </a:r>
          </a:p>
        </p:txBody>
      </p:sp>
      <p:sp>
        <p:nvSpPr>
          <p:cNvPr id="15" name="U02-001_subtitle">
            <a:extLst xmlns:a="http://schemas.openxmlformats.org/drawingml/2006/main">
              <a:ext uri="{FF2B5EF4-FFF2-40B4-BE49-F238E27FC236}">
                <a16:creationId xmlns:a16="http://schemas.microsoft.com/office/drawing/2014/main" id="{4921EDF1-0D55-4970-822A-C4630729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Movimiento, energía y sistemas acústicos.</a:t>
            </a:r>
          </a:p>
        </p:txBody>
      </p:sp>
      <p:sp>
        <p:nvSpPr>
          <p:cNvPr id="16" name="U02-001_scope">
            <a:extLst xmlns:a="http://schemas.openxmlformats.org/drawingml/2006/main">
              <a:ext uri="{FF2B5EF4-FFF2-40B4-BE49-F238E27FC236}">
                <a16:creationId xmlns:a16="http://schemas.microsoft.com/office/drawing/2014/main" id="{DCCBAE76-22DA-4E1F-8E42-715A89CB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2. Movimiento, fuerzas, energía y sistemas acústicos.</a:t>
            </a:r>
          </a:p>
        </p:txBody>
      </p:sp>
      <p:sp>
        <p:nvSpPr>
          <p:cNvPr id="17" name="U02-001_version">
            <a:extLst xmlns:a="http://schemas.openxmlformats.org/drawingml/2006/main">
              <a:ext uri="{FF2B5EF4-FFF2-40B4-BE49-F238E27FC236}">
                <a16:creationId xmlns:a16="http://schemas.microsoft.com/office/drawing/2014/main" id="{44A9EAED-0A7F-4A4D-B84C-05093542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Licenciatura en Fonoaudiología · UCASAL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2598689-54C9-18A7-3A19-ED76AA08988F}" type="slidenum">
              <a:t>2</a:t>
            </a:fld>
          </a:p>
        </p:txBody>
      </p:sp>
      <p:sp>
        <p:nvSpPr>
          <p:cNvPr id="27" name="U02-002_eyebrow">
            <a:extLst xmlns:a="http://schemas.openxmlformats.org/drawingml/2006/main">
              <a:ext uri="{FF2B5EF4-FFF2-40B4-BE49-F238E27FC236}">
                <a16:creationId xmlns:a16="http://schemas.microsoft.com/office/drawing/2014/main" id="{CF50328D-5B8E-4C91-8155-783DD09F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28" name="U02-002_title">
            <a:extLst xmlns:a="http://schemas.openxmlformats.org/drawingml/2006/main">
              <a:ext uri="{FF2B5EF4-FFF2-40B4-BE49-F238E27FC236}">
                <a16:creationId xmlns:a16="http://schemas.microsoft.com/office/drawing/2014/main" id="{4C8FA042-BD58-4705-8CCE-FAF6F18E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lados, una membrana: ¿qué cambia?</a:t>
            </a:r>
          </a:p>
        </p:txBody>
      </p:sp>
      <p:sp>
        <p:nvSpPr>
          <p:cNvPr id="29" name="U02-002_takeaway">
            <a:extLst xmlns:a="http://schemas.openxmlformats.org/drawingml/2006/main">
              <a:ext uri="{FF2B5EF4-FFF2-40B4-BE49-F238E27FC236}">
                <a16:creationId xmlns:a16="http://schemas.microsoft.com/office/drawing/2014/main" id="{27D83F37-BCE9-42B3-A70F-344EC87C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Compare los dos estados: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1.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p_1 =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2.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p_1 &gt;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¿En cuál espera movimiento? ¿Qué podría producir retorno? ¿Qué podría hacer que se detenga?</a:t>
            </a:r>
          </a:p>
        </p:txBody>
      </p:sp>
      <p:pic>
        <p:nvPicPr>
          <p:cNvPr id="37" name="U02-002: Diagrama de la slide «Dos lados, una membrana: ¿qué cambia?»: Dos estados: presiones iguales y presiones diferentes; preguntas sobre movimiento, retorno y deten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fe4aa50dd4169">
            <a:extLst>
              <a:ext uri="{96DAC541-7B7A-43D3-8B79-37D633B846F1}">
                <asvg:svgBlip xmlns:asvg="http://schemas.microsoft.com/office/drawing/2016/SVG/main" r:embed="R2e89b123764940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31" name="U02-002_caption">
            <a:extLst xmlns:a="http://schemas.openxmlformats.org/drawingml/2006/main">
              <a:ext uri="{FF2B5EF4-FFF2-40B4-BE49-F238E27FC236}">
                <a16:creationId xmlns:a16="http://schemas.microsoft.com/office/drawing/2014/main" id="{92883456-C922-4468-A7C6-A73705B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diferencia de presión puede producir una fuerza neta. Esquema conceptual; no está a escala.</a:t>
            </a:r>
          </a:p>
        </p:txBody>
      </p:sp>
      <p:sp>
        <p:nvSpPr>
          <p:cNvPr id="32" name="U02-002_source">
            <a:extLst xmlns:a="http://schemas.openxmlformats.org/drawingml/2006/main">
              <a:ext uri="{FF2B5EF4-FFF2-40B4-BE49-F238E27FC236}">
                <a16:creationId xmlns:a16="http://schemas.microsoft.com/office/drawing/2014/main" id="{E0839578-6855-41FC-8DC8-A1576ABF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02359C0-8A7A-196E-DD58-8E6569619F09}" type="slidenum">
              <a:t>3</a:t>
            </a:fld>
          </a:p>
        </p:txBody>
      </p:sp>
      <p:sp>
        <p:nvSpPr>
          <p:cNvPr id="15" name="U02-003_eyebrow">
            <a:extLst xmlns:a="http://schemas.openxmlformats.org/drawingml/2006/main">
              <a:ext uri="{FF2B5EF4-FFF2-40B4-BE49-F238E27FC236}">
                <a16:creationId xmlns:a16="http://schemas.microsoft.com/office/drawing/2014/main" id="{BF1BD757-08A1-4713-BD27-A8BDC540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16" name="U02-003_title">
            <a:extLst xmlns:a="http://schemas.openxmlformats.org/drawingml/2006/main">
              <a:ext uri="{FF2B5EF4-FFF2-40B4-BE49-F238E27FC236}">
                <a16:creationId xmlns:a16="http://schemas.microsoft.com/office/drawing/2014/main" id="{437E0C1A-1947-4F8E-88A2-1D0335FE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respuestas rápidas para empezar</a:t>
            </a:r>
          </a:p>
        </p:txBody>
      </p:sp>
      <p:sp>
        <p:nvSpPr>
          <p:cNvPr id="17" name="U02-003_question_panel">
            <a:extLst xmlns:a="http://schemas.openxmlformats.org/drawingml/2006/main">
              <a:ext uri="{FF2B5EF4-FFF2-40B4-BE49-F238E27FC236}">
                <a16:creationId xmlns:a16="http://schemas.microsoft.com/office/drawing/2014/main" id="{76EE380D-0718-410D-818F-80B8AAF4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8" name="U02-003_question">
            <a:extLst xmlns:a="http://schemas.openxmlformats.org/drawingml/2006/main">
              <a:ext uri="{FF2B5EF4-FFF2-40B4-BE49-F238E27FC236}">
                <a16:creationId xmlns:a16="http://schemas.microsoft.com/office/drawing/2014/main" id="{D1CDA4AC-1204-4395-B06B-4A69BB43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00250"/>
            <a:ext cx="9620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“Si está en reposo, no actúa ninguna fuerza”.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“Acción y reacción se cancelan sobre el mismo cuerpo”.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“La presión ya es una fuerza”.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“La energía disipada desaparece”.</a:t>
            </a:r>
          </a:p>
        </p:txBody>
      </p:sp>
      <p:sp>
        <p:nvSpPr>
          <p:cNvPr id="19" name="U02-003_prompt">
            <a:extLst xmlns:a="http://schemas.openxmlformats.org/drawingml/2006/main">
              <a:ext uri="{FF2B5EF4-FFF2-40B4-BE49-F238E27FC236}">
                <a16:creationId xmlns:a16="http://schemas.microsoft.com/office/drawing/2014/main" id="{0A967FB2-A448-4A2F-B53E-8ECBB905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8"/>
              </a:spcAft>
              <a:buNone/>
              <a:defRPr sz="17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Votar verdadero/falso y escribir una razón breve para cada afirmación.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arcador de número de diapositiva 16">
            <a:extLst xmlns:a="http://schemas.openxmlformats.org/drawingml/2006/main">
              <a:ext uri="{FF2B5EF4-FFF2-40B4-BE49-F238E27FC236}">
                <a16:creationId xmlns:a16="http://schemas.microsoft.com/office/drawing/2014/main" id="{D0D35EE8-11B1-606B-8714-EAD8DAF8D3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FD6AB9A-5F9E-5F59-51AB-3C8734130965}" type="slidenum">
              <a:t>4</a:t>
            </a:fld>
          </a:p>
        </p:txBody>
      </p:sp>
      <p:sp>
        <p:nvSpPr>
          <p:cNvPr id="18" name="U02-004_eyebrow">
            <a:extLst xmlns:a="http://schemas.openxmlformats.org/drawingml/2006/main">
              <a:ext uri="{FF2B5EF4-FFF2-40B4-BE49-F238E27FC236}">
                <a16:creationId xmlns:a16="http://schemas.microsoft.com/office/drawing/2014/main" id="{66A0FFB2-029F-4CE0-B853-0CA29CC2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19" name="U02-004_title">
            <a:extLst xmlns:a="http://schemas.openxmlformats.org/drawingml/2006/main">
              <a:ext uri="{FF2B5EF4-FFF2-40B4-BE49-F238E27FC236}">
                <a16:creationId xmlns:a16="http://schemas.microsoft.com/office/drawing/2014/main" id="{BB643AA8-F4C6-4DCC-B4B3-9E49926C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 que ya podemos medir; lo que ahora queremos explicar</a:t>
            </a:r>
          </a:p>
        </p:txBody>
      </p:sp>
      <p:sp>
        <p:nvSpPr>
          <p:cNvPr id="20" name="U02-004_subtitle">
            <a:extLst xmlns:a="http://schemas.openxmlformats.org/drawingml/2006/main">
              <a:ext uri="{FF2B5EF4-FFF2-40B4-BE49-F238E27FC236}">
                <a16:creationId xmlns:a16="http://schemas.microsoft.com/office/drawing/2014/main" id="{8B0FA121-E4CA-4453-896D-8CD24466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Recuperación de conocimientos previos.</a:t>
            </a:r>
          </a:p>
        </p:txBody>
      </p:sp>
      <p:sp>
        <p:nvSpPr>
          <p:cNvPr id="21" name="U02-004_block_0">
            <a:extLst xmlns:a="http://schemas.openxmlformats.org/drawingml/2006/main">
              <a:ext uri="{FF2B5EF4-FFF2-40B4-BE49-F238E27FC236}">
                <a16:creationId xmlns:a16="http://schemas.microsoft.com/office/drawing/2014/main" id="{11D54A8F-E995-47D6-8C5E-6FB9B4AB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24075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Ya usamos: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masa, fuerza, presión y unidades.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Debemos recuperar: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eje positivo, signos y análisis dimensional.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2DADB7A0-DAED-ABD0-4D66-53387251834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E5B3003-2C54-13C6-9832-7637201064DE}" type="slidenum">
              <a:t>5</a:t>
            </a:fld>
          </a:p>
        </p:txBody>
      </p:sp>
      <p:sp>
        <p:nvSpPr>
          <p:cNvPr id="19" name="U02-005_eyebrow">
            <a:extLst xmlns:a="http://schemas.openxmlformats.org/drawingml/2006/main">
              <a:ext uri="{FF2B5EF4-FFF2-40B4-BE49-F238E27FC236}">
                <a16:creationId xmlns:a16="http://schemas.microsoft.com/office/drawing/2014/main" id="{965F56A5-ADB9-491D-90BD-2CA14B4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20" name="U02-005_title">
            <a:extLst xmlns:a="http://schemas.openxmlformats.org/drawingml/2006/main">
              <a:ext uri="{FF2B5EF4-FFF2-40B4-BE49-F238E27FC236}">
                <a16:creationId xmlns:a16="http://schemas.microsoft.com/office/drawing/2014/main" id="{DB1644FC-84BB-41E5-9C1E-79D0F6D6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hacer al finalizar</a:t>
            </a:r>
          </a:p>
        </p:txBody>
      </p:sp>
      <p:sp>
        <p:nvSpPr>
          <p:cNvPr id="21" name="U02-005_subtitle">
            <a:extLst xmlns:a="http://schemas.openxmlformats.org/drawingml/2006/main">
              <a:ext uri="{FF2B5EF4-FFF2-40B4-BE49-F238E27FC236}">
                <a16:creationId xmlns:a16="http://schemas.microsoft.com/office/drawing/2014/main" id="{ABB979CE-8BFD-410C-9D37-986E526B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Resultados observables de aprendizaje.</a:t>
            </a:r>
          </a:p>
        </p:txBody>
      </p:sp>
      <p:sp>
        <p:nvSpPr>
          <p:cNvPr id="22" name="U02-005_block_0">
            <a:extLst xmlns:a="http://schemas.openxmlformats.org/drawingml/2006/main">
              <a:ext uri="{FF2B5EF4-FFF2-40B4-BE49-F238E27FC236}">
                <a16:creationId xmlns:a16="http://schemas.microsoft.com/office/drawing/2014/main" id="{D6EE2523-BF5D-4CA1-A3A4-54CB4050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 finalizar podremos: identificar sistemas y fuerzas; aplicar las leyes de Newton; relacionar presión, área y fuerza; explicar masa, elasticidad y amortiguamiento; organizar balances de energía y aplicar los modelos con límites explícitos.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AB9938E4-BE03-A7BA-4A48-E6E490724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C630A04-5A25-9E0C-9436-126091DB86B3}" type="slidenum">
              <a:t>6</a:t>
            </a:fld>
          </a:p>
        </p:txBody>
      </p:sp>
      <p:sp>
        <p:nvSpPr>
          <p:cNvPr id="27" name="U02-006_eyebrow">
            <a:extLst xmlns:a="http://schemas.openxmlformats.org/drawingml/2006/main">
              <a:ext uri="{FF2B5EF4-FFF2-40B4-BE49-F238E27FC236}">
                <a16:creationId xmlns:a16="http://schemas.microsoft.com/office/drawing/2014/main" id="{8F0E1EE3-954D-47E0-81C4-7CCD38BD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APERTURA</a:t>
            </a:r>
          </a:p>
        </p:txBody>
      </p:sp>
      <p:sp>
        <p:nvSpPr>
          <p:cNvPr id="28" name="U02-006_title">
            <a:extLst xmlns:a="http://schemas.openxmlformats.org/drawingml/2006/main">
              <a:ext uri="{FF2B5EF4-FFF2-40B4-BE49-F238E27FC236}">
                <a16:creationId xmlns:a16="http://schemas.microsoft.com/office/drawing/2014/main" id="{D5B2DD2E-9CAE-4641-BB03-981FBD8B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sistema a la aplicación auditiva</a:t>
            </a:r>
          </a:p>
        </p:txBody>
      </p:sp>
      <p:sp>
        <p:nvSpPr>
          <p:cNvPr id="29" name="U02-006_takeaway">
            <a:extLst xmlns:a="http://schemas.openxmlformats.org/drawingml/2006/main">
              <a:ext uri="{FF2B5EF4-FFF2-40B4-BE49-F238E27FC236}">
                <a16:creationId xmlns:a16="http://schemas.microsoft.com/office/drawing/2014/main" id="{B4E5D75B-F005-4AEE-A03B-194CCFFB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Sistema y leyes.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Presión sobre una superficie.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Respuesta mecánica.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Energía y termodinámica.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5. Aplicaciones auditivas.</a:t>
            </a:r>
          </a:p>
        </p:txBody>
      </p:sp>
      <p:pic>
        <p:nvPicPr>
          <p:cNvPr id="37" name="U02-006: Diagrama de la slide «Del sistema a la aplicación auditiva»: Cinco macroetapas: sistema y leyes; presión; respuesta mecánica; energía/termodinámica; aplic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a782e37c74409">
            <a:extLst>
              <a:ext uri="{96DAC541-7B7A-43D3-8B79-37D633B846F1}">
                <asvg:svgBlip xmlns:asvg="http://schemas.microsoft.com/office/drawing/2016/SVG/main" r:embed="R0244ab31018c4c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771775"/>
            <a:ext cx="10668000" cy="2943225"/>
          </a:xfrm>
          <a:prstGeom xmlns:a="http://schemas.openxmlformats.org/drawingml/2006/main" prst="rect">
            <a:avLst/>
          </a:prstGeom>
        </p:spPr>
      </p:pic>
      <p:sp>
        <p:nvSpPr>
          <p:cNvPr id="31" name="U02-006_caption">
            <a:extLst xmlns:a="http://schemas.openxmlformats.org/drawingml/2006/main">
              <a:ext uri="{FF2B5EF4-FFF2-40B4-BE49-F238E27FC236}">
                <a16:creationId xmlns:a16="http://schemas.microsoft.com/office/drawing/2014/main" id="{DBB6927A-D356-49DD-B26F-A2C8BB35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frontera del sistema conecta fuerzas, energía y termodinámica.</a:t>
            </a:r>
          </a:p>
        </p:txBody>
      </p:sp>
      <p:sp>
        <p:nvSpPr>
          <p:cNvPr id="32" name="U02-006_source">
            <a:extLst xmlns:a="http://schemas.openxmlformats.org/drawingml/2006/main">
              <a:ext uri="{FF2B5EF4-FFF2-40B4-BE49-F238E27FC236}">
                <a16:creationId xmlns:a16="http://schemas.microsoft.com/office/drawing/2014/main" id="{FDD6EFAF-DF0C-4B0A-B838-28684217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3D7D1C8-AE23-AA48-DF65-C742588DBE47}" type="slidenum">
              <a:t>7</a:t>
            </a:fld>
          </a:p>
        </p:txBody>
      </p:sp>
      <p:sp>
        <p:nvSpPr>
          <p:cNvPr id="10" name="U02-007_eyebrow">
            <a:extLst xmlns:a="http://schemas.openxmlformats.org/drawingml/2006/main">
              <a:ext uri="{FF2B5EF4-FFF2-40B4-BE49-F238E27FC236}">
                <a16:creationId xmlns:a16="http://schemas.microsoft.com/office/drawing/2014/main" id="{BB95ADBD-58C5-4A38-829B-70579152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11" name="U02-007_title">
            <a:extLst xmlns:a="http://schemas.openxmlformats.org/drawingml/2006/main">
              <a:ext uri="{FF2B5EF4-FFF2-40B4-BE49-F238E27FC236}">
                <a16:creationId xmlns:a16="http://schemas.microsoft.com/office/drawing/2014/main" id="{42B3C5BC-459F-45B3-9353-13A59181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Antes de sumar fuerzas, elegimos el sistema</a:t>
            </a:r>
          </a:p>
        </p:txBody>
      </p:sp>
      <p:sp>
        <p:nvSpPr>
          <p:cNvPr id="12" name="U02-007_guide">
            <a:extLst xmlns:a="http://schemas.openxmlformats.org/drawingml/2006/main">
              <a:ext uri="{FF2B5EF4-FFF2-40B4-BE49-F238E27FC236}">
                <a16:creationId xmlns:a16="http://schemas.microsoft.com/office/drawing/2014/main" id="{4B7C501B-0ED9-4755-ABD8-A54EFFD8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¿sobre qué cuerpo actúan las fuerzas que vamos a sumar?</a:t>
            </a:r>
          </a:p>
        </p:txBody>
      </p:sp>
      <p:sp>
        <p:nvSpPr>
          <p:cNvPr id="13" name="U02-007_subtitle">
            <a:extLst xmlns:a="http://schemas.openxmlformats.org/drawingml/2006/main">
              <a:ext uri="{FF2B5EF4-FFF2-40B4-BE49-F238E27FC236}">
                <a16:creationId xmlns:a16="http://schemas.microsoft.com/office/drawing/2014/main" id="{0DCE9099-D8A2-4AD7-92BE-ED38027E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A58DA2A-B818-18A9-29C1-B697728D5BCE}" type="slidenum">
              <a:t>8</a:t>
            </a:fld>
          </a:p>
        </p:txBody>
      </p:sp>
      <p:sp>
        <p:nvSpPr>
          <p:cNvPr id="14" name="U02-008_eyebrow">
            <a:extLst xmlns:a="http://schemas.openxmlformats.org/drawingml/2006/main">
              <a:ext uri="{FF2B5EF4-FFF2-40B4-BE49-F238E27FC236}">
                <a16:creationId xmlns:a16="http://schemas.microsoft.com/office/drawing/2014/main" id="{FF5B6BAE-6CDA-45DF-B378-9168B58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15" name="U02-008_title">
            <a:extLst xmlns:a="http://schemas.openxmlformats.org/drawingml/2006/main">
              <a:ext uri="{FF2B5EF4-FFF2-40B4-BE49-F238E27FC236}">
                <a16:creationId xmlns:a16="http://schemas.microsoft.com/office/drawing/2014/main" id="{601BECBC-452F-45CC-9E24-8F2C030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sistema es aquello cuyo movimiento queremos explicar</a:t>
            </a:r>
          </a:p>
        </p:txBody>
      </p:sp>
      <p:sp>
        <p:nvSpPr>
          <p:cNvPr id="16" name="U02-008_takeaway">
            <a:extLst xmlns:a="http://schemas.openxmlformats.org/drawingml/2006/main">
              <a:ext uri="{FF2B5EF4-FFF2-40B4-BE49-F238E27FC236}">
                <a16:creationId xmlns:a16="http://schemas.microsoft.com/office/drawing/2014/main" id="{D28DE8B4-8FCB-4E68-98EB-4AD6EEED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cuerpo o conjunto de cuerpos cuyo movimiento analizamos.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estudiar solo la membrana no equivale a estudiar “membrana + aire”.</a:t>
            </a:r>
          </a:p>
        </p:txBody>
      </p:sp>
      <p:pic>
        <p:nvPicPr>
          <p:cNvPr id="24" name="U02-008: Diagrama de la slide «El sistema es aquello cuyo movimiento queremos explicar»: Definición; ejemplo “membrana” frente a “membrana + aire”; qué queda fuer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7ce40c59146e7">
            <a:extLst>
              <a:ext uri="{96DAC541-7B7A-43D3-8B79-37D633B846F1}">
                <asvg:svgBlip xmlns:asvg="http://schemas.microsoft.com/office/drawing/2016/SVG/main" r:embed="R007300356a1e4e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U02-008_caption">
            <a:extLst xmlns:a="http://schemas.openxmlformats.org/drawingml/2006/main">
              <a:ext uri="{FF2B5EF4-FFF2-40B4-BE49-F238E27FC236}">
                <a16:creationId xmlns:a16="http://schemas.microsoft.com/office/drawing/2014/main" id="{58D99DC1-FACF-41AA-A756-38ABE45B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Sin sistema definido no existe un diagrama de fuerzas inequívoco.</a:t>
            </a:r>
          </a:p>
        </p:txBody>
      </p:sp>
      <p:sp>
        <p:nvSpPr>
          <p:cNvPr id="19" name="U02-008_source">
            <a:extLst xmlns:a="http://schemas.openxmlformats.org/drawingml/2006/main">
              <a:ext uri="{FF2B5EF4-FFF2-40B4-BE49-F238E27FC236}">
                <a16:creationId xmlns:a16="http://schemas.microsoft.com/office/drawing/2014/main" id="{8A7CC836-4AA8-462F-BBC0-1AAA2ED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2630458C-F90C-62F1-3891-6CBC98AF219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88657AE-30A1-5A7A-6A7F-315D84436430}" type="slidenum">
              <a:t>9</a:t>
            </a:fld>
          </a:p>
        </p:txBody>
      </p:sp>
      <p:sp>
        <p:nvSpPr>
          <p:cNvPr id="19" name="U02-009_eyebrow">
            <a:extLst xmlns:a="http://schemas.openxmlformats.org/drawingml/2006/main">
              <a:ext uri="{FF2B5EF4-FFF2-40B4-BE49-F238E27FC236}">
                <a16:creationId xmlns:a16="http://schemas.microsoft.com/office/drawing/2014/main" id="{28043FA1-8102-4B49-B17D-6E4CF486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20" name="U02-009_title">
            <a:extLst xmlns:a="http://schemas.openxmlformats.org/drawingml/2006/main">
              <a:ext uri="{FF2B5EF4-FFF2-40B4-BE49-F238E27FC236}">
                <a16:creationId xmlns:a16="http://schemas.microsoft.com/office/drawing/2014/main" id="{4FF1E323-F0EC-4FAA-BB8D-42025AB7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fuerza representa una interacción</a:t>
            </a:r>
          </a:p>
        </p:txBody>
      </p:sp>
      <p:sp>
        <p:nvSpPr>
          <p:cNvPr id="21" name="U02-009_takeaway">
            <a:extLst xmlns:a="http://schemas.openxmlformats.org/drawingml/2006/main">
              <a:ext uri="{FF2B5EF4-FFF2-40B4-BE49-F238E27FC236}">
                <a16:creationId xmlns:a16="http://schemas.microsoft.com/office/drawing/2014/main" id="{762773C2-20EE-45AD-9D9D-F02797B0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Nombrar siempre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agente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interacción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“el aire ejerce una fuerza sobre la membrana”.</a:t>
            </a:r>
          </a:p>
        </p:txBody>
      </p:sp>
      <p:pic>
        <p:nvPicPr>
          <p:cNvPr id="29" name="U02-009: Diagrama de la slide «Una fuerza representa una interacción»: Estructura verbal “A ejerce fuerza sobre B”; dos ejemplos mecánic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c453bab1d4c31">
            <a:extLst>
              <a:ext uri="{96DAC541-7B7A-43D3-8B79-37D633B846F1}">
                <asvg:svgBlip xmlns:asvg="http://schemas.microsoft.com/office/drawing/2016/SVG/main" r:embed="R599c57c1698d47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38350"/>
            <a:ext cx="10668000" cy="3676650"/>
          </a:xfrm>
          <a:prstGeom xmlns:a="http://schemas.openxmlformats.org/drawingml/2006/main" prst="rect">
            <a:avLst/>
          </a:prstGeom>
        </p:spPr>
      </p:pic>
      <p:sp>
        <p:nvSpPr>
          <p:cNvPr id="23" name="U02-009_caption">
            <a:extLst xmlns:a="http://schemas.openxmlformats.org/drawingml/2006/main">
              <a:ext uri="{FF2B5EF4-FFF2-40B4-BE49-F238E27FC236}">
                <a16:creationId xmlns:a16="http://schemas.microsoft.com/office/drawing/2014/main" id="{BB235B55-DDBB-424F-81F3-A7EF17D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Toda fuerza tiene agente y receptor.</a:t>
            </a:r>
          </a:p>
        </p:txBody>
      </p:sp>
      <p:sp>
        <p:nvSpPr>
          <p:cNvPr id="24" name="U02-009_source">
            <a:extLst xmlns:a="http://schemas.openxmlformats.org/drawingml/2006/main">
              <a:ext uri="{FF2B5EF4-FFF2-40B4-BE49-F238E27FC236}">
                <a16:creationId xmlns:a16="http://schemas.microsoft.com/office/drawing/2014/main" id="{755BF98D-19CF-4FAD-ABD4-38831FF5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rcador de número de diapositiva 20">
            <a:extLst xmlns:a="http://schemas.openxmlformats.org/drawingml/2006/main">
              <a:ext uri="{FF2B5EF4-FFF2-40B4-BE49-F238E27FC236}">
                <a16:creationId xmlns:a16="http://schemas.microsoft.com/office/drawing/2014/main" id="{9CA9596E-D94D-48D7-199C-CC38FBB01EF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B7BEEEC-A170-5376-2B6E-CB54687B0CB1}" type="slidenum">
              <a:t>10</a:t>
            </a:fld>
          </a:p>
        </p:txBody>
      </p:sp>
      <p:sp>
        <p:nvSpPr>
          <p:cNvPr id="22" name="U02-010_eyebrow">
            <a:extLst xmlns:a="http://schemas.openxmlformats.org/drawingml/2006/main">
              <a:ext uri="{FF2B5EF4-FFF2-40B4-BE49-F238E27FC236}">
                <a16:creationId xmlns:a16="http://schemas.microsoft.com/office/drawing/2014/main" id="{21B9CD19-7C43-4F22-A892-AEBE72A2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23" name="U02-010_title">
            <a:extLst xmlns:a="http://schemas.openxmlformats.org/drawingml/2006/main">
              <a:ext uri="{FF2B5EF4-FFF2-40B4-BE49-F238E27FC236}">
                <a16:creationId xmlns:a16="http://schemas.microsoft.com/office/drawing/2014/main" id="{F581E5DC-D9F7-4998-AB57-FC81AEB4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eje convierte direcciones en signos</a:t>
            </a:r>
          </a:p>
        </p:txBody>
      </p:sp>
      <p:sp>
        <p:nvSpPr>
          <p:cNvPr id="24" name="U02-010_takeaway">
            <a:extLst xmlns:a="http://schemas.openxmlformats.org/drawingml/2006/main">
              <a:ext uri="{FF2B5EF4-FFF2-40B4-BE49-F238E27FC236}">
                <a16:creationId xmlns:a16="http://schemas.microsoft.com/office/drawing/2014/main" id="{549CC9B3-3FF0-4FD8-BF0C-F60D5B4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Elegimos un eje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Una fuerza hacia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tiene componente positiva; una fuerza en sentido contrario tiene componente negativa.</a:t>
            </a:r>
          </a:p>
        </p:txBody>
      </p:sp>
      <p:pic>
        <p:nvPicPr>
          <p:cNvPr id="32" name="U02-010: Diagrama de la slide «Un eje convierte direcciones en signos»: Fuerza vectorial; módulo, dirección y sentido; eje positivo; dos flechas con sig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b7dae25114359">
            <a:extLst>
              <a:ext uri="{96DAC541-7B7A-43D3-8B79-37D633B846F1}">
                <asvg:svgBlip xmlns:asvg="http://schemas.microsoft.com/office/drawing/2016/SVG/main" r:embed="R52572a46785c43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6" name="U02-010_caption">
            <a:extLst xmlns:a="http://schemas.openxmlformats.org/drawingml/2006/main">
              <a:ext uri="{FF2B5EF4-FFF2-40B4-BE49-F238E27FC236}">
                <a16:creationId xmlns:a16="http://schemas.microsoft.com/office/drawing/2014/main" id="{75BCA4AE-C839-46AB-9D2E-476A376A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Positivo y negativo describen sentido respecto de un eje elegido.</a:t>
            </a:r>
          </a:p>
        </p:txBody>
      </p:sp>
      <p:sp>
        <p:nvSpPr>
          <p:cNvPr id="27" name="U02-010_source">
            <a:extLst xmlns:a="http://schemas.openxmlformats.org/drawingml/2006/main">
              <a:ext uri="{FF2B5EF4-FFF2-40B4-BE49-F238E27FC236}">
                <a16:creationId xmlns:a16="http://schemas.microsoft.com/office/drawing/2014/main" id="{3B02DAAA-F86F-4D47-897E-AE8D3556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0394428-F1DC-E5F6-DB0C-7DE31F3D8A23}" type="slidenum">
              <a:t>11</a:t>
            </a:fld>
          </a:p>
        </p:txBody>
      </p:sp>
      <p:sp>
        <p:nvSpPr>
          <p:cNvPr id="29" name="U02-011_eyebrow">
            <a:extLst xmlns:a="http://schemas.openxmlformats.org/drawingml/2006/main">
              <a:ext uri="{FF2B5EF4-FFF2-40B4-BE49-F238E27FC236}">
                <a16:creationId xmlns:a16="http://schemas.microsoft.com/office/drawing/2014/main" id="{4084D69E-A8FA-4724-A588-9D136E2A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30" name="U02-011_title">
            <a:extLst xmlns:a="http://schemas.openxmlformats.org/drawingml/2006/main">
              <a:ext uri="{FF2B5EF4-FFF2-40B4-BE49-F238E27FC236}">
                <a16:creationId xmlns:a16="http://schemas.microsoft.com/office/drawing/2014/main" id="{24DC1C46-35EF-4F02-BA09-71A239FF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neta resume todas las fuerzas sobre el sistema</a:t>
            </a:r>
          </a:p>
        </p:txBody>
      </p:sp>
      <p:sp>
        <p:nvSpPr>
          <p:cNvPr id="31" name="U02-011_takeaway">
            <a:extLst xmlns:a="http://schemas.openxmlformats.org/drawingml/2006/main">
              <a:ext uri="{FF2B5EF4-FFF2-40B4-BE49-F238E27FC236}">
                <a16:creationId xmlns:a16="http://schemas.microsoft.com/office/drawing/2014/main" id="{99A2F6EC-A0B6-43BE-B62B-67193C1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Identificar todas las fuerzas sobre el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Proyectarlas sobre el eje.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Sumarlas con signo. La resultante reemplaza ese conjunto para estudiar el movimiento.</a:t>
            </a:r>
          </a:p>
        </p:txBody>
      </p:sp>
      <p:pic>
        <p:nvPicPr>
          <p:cNvPr id="39" name="U02-011: Diagrama de la slide «La fuerza neta resume todas las fuerzas sobre el sistema»: Tres fuerzas sobre un cuerpo; suma con signos; flecha resultan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cdedc73c141a2">
            <a:extLst>
              <a:ext uri="{96DAC541-7B7A-43D3-8B79-37D633B846F1}">
                <asvg:svgBlip xmlns:asvg="http://schemas.microsoft.com/office/drawing/2016/SVG/main" r:embed="R44325ee067d74a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33" name="U02-011_caption">
            <a:extLst xmlns:a="http://schemas.openxmlformats.org/drawingml/2006/main">
              <a:ext uri="{FF2B5EF4-FFF2-40B4-BE49-F238E27FC236}">
                <a16:creationId xmlns:a16="http://schemas.microsoft.com/office/drawing/2014/main" id="{5CF1F11C-B447-4967-939A-59470F1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aceleración depende de la suma, no de una fuerza aislada.</a:t>
            </a:r>
          </a:p>
        </p:txBody>
      </p:sp>
      <p:sp>
        <p:nvSpPr>
          <p:cNvPr id="34" name="U02-011_source">
            <a:extLst xmlns:a="http://schemas.openxmlformats.org/drawingml/2006/main">
              <a:ext uri="{FF2B5EF4-FFF2-40B4-BE49-F238E27FC236}">
                <a16:creationId xmlns:a16="http://schemas.microsoft.com/office/drawing/2014/main" id="{B8F5F7DE-82F9-48C6-B8C5-67B6E2CE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DB16885-0D3F-A391-B669-3211DB3B26E8}" type="slidenum">
              <a:t>12</a:t>
            </a:fld>
          </a:p>
        </p:txBody>
      </p:sp>
      <p:sp>
        <p:nvSpPr>
          <p:cNvPr id="15" name="U02-012_eyebrow">
            <a:extLst xmlns:a="http://schemas.openxmlformats.org/drawingml/2006/main">
              <a:ext uri="{FF2B5EF4-FFF2-40B4-BE49-F238E27FC236}">
                <a16:creationId xmlns:a16="http://schemas.microsoft.com/office/drawing/2014/main" id="{FFF04EB7-206E-4871-A22F-2BF00ADA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16" name="U02-012_title">
            <a:extLst xmlns:a="http://schemas.openxmlformats.org/drawingml/2006/main">
              <a:ext uri="{FF2B5EF4-FFF2-40B4-BE49-F238E27FC236}">
                <a16:creationId xmlns:a16="http://schemas.microsoft.com/office/drawing/2014/main" id="{FCA56ED9-E159-4253-9318-BFC03884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 está en reposo, ¿no actúa ninguna fuerza?</a:t>
            </a:r>
          </a:p>
        </p:txBody>
      </p:sp>
      <p:sp>
        <p:nvSpPr>
          <p:cNvPr id="17" name="U02-012_takeaway">
            <a:extLst xmlns:a="http://schemas.openxmlformats.org/drawingml/2006/main">
              <a:ext uri="{FF2B5EF4-FFF2-40B4-BE49-F238E27FC236}">
                <a16:creationId xmlns:a16="http://schemas.microsoft.com/office/drawing/2014/main" id="{4D514519-DF48-4953-9B4A-814211EC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fuerzas de igual módulo y sentidos opuestos actúan sobre el mismo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Elegir: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A. no actúa ninguna fuerza; B.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 =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C. falta definir la masa. Justificar.</a:t>
            </a:r>
          </a:p>
        </p:txBody>
      </p:sp>
      <p:pic>
        <p:nvPicPr>
          <p:cNvPr id="25" name="U02-012: Diagrama de la slide «Si está en reposo, ¿no actúa ninguna fuerza?»: Situación de dos fuerzas equilibradas; elegir y justifica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334eeb0d64a3d">
            <a:extLst>
              <a:ext uri="{96DAC541-7B7A-43D3-8B79-37D633B846F1}">
                <asvg:svgBlip xmlns:asvg="http://schemas.microsoft.com/office/drawing/2016/SVG/main" r:embed="Rf0c9cfcd8cd645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19" name="U02-012_caption">
            <a:extLst xmlns:a="http://schemas.openxmlformats.org/drawingml/2006/main">
              <a:ext uri="{FF2B5EF4-FFF2-40B4-BE49-F238E27FC236}">
                <a16:creationId xmlns:a16="http://schemas.microsoft.com/office/drawing/2014/main" id="{CCF32935-F970-47EB-8C9C-22A11983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Reposo no significa ausencia de fuerzas; puede haber equilibrio.</a:t>
            </a:r>
          </a:p>
        </p:txBody>
      </p:sp>
      <p:sp>
        <p:nvSpPr>
          <p:cNvPr id="20" name="U02-012_source">
            <a:extLst xmlns:a="http://schemas.openxmlformats.org/drawingml/2006/main">
              <a:ext uri="{FF2B5EF4-FFF2-40B4-BE49-F238E27FC236}">
                <a16:creationId xmlns:a16="http://schemas.microsoft.com/office/drawing/2014/main" id="{87823953-7167-4B74-9A5E-01C60D0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DD23107-4986-8758-3A93-3D74F35908CC}" type="slidenum">
              <a:t>13</a:t>
            </a:fld>
          </a:p>
        </p:txBody>
      </p:sp>
      <p:sp>
        <p:nvSpPr>
          <p:cNvPr id="19" name="U02-013_eyebrow">
            <a:extLst xmlns:a="http://schemas.openxmlformats.org/drawingml/2006/main">
              <a:ext uri="{FF2B5EF4-FFF2-40B4-BE49-F238E27FC236}">
                <a16:creationId xmlns:a16="http://schemas.microsoft.com/office/drawing/2014/main" id="{7B700609-AFF0-4E73-85FC-B8D6FFCC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20" name="U02-013_title">
            <a:extLst xmlns:a="http://schemas.openxmlformats.org/drawingml/2006/main">
              <a:ext uri="{FF2B5EF4-FFF2-40B4-BE49-F238E27FC236}">
                <a16:creationId xmlns:a16="http://schemas.microsoft.com/office/drawing/2014/main" id="{DB3B5FB3-6061-4F83-BB85-3B08F1E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Fuerza neta cero significa velocidad constante</a:t>
            </a:r>
          </a:p>
        </p:txBody>
      </p:sp>
      <p:sp>
        <p:nvSpPr>
          <p:cNvPr id="21" name="U02-013_takeaway">
            <a:extLst xmlns:a="http://schemas.openxmlformats.org/drawingml/2006/main">
              <a:ext uri="{FF2B5EF4-FFF2-40B4-BE49-F238E27FC236}">
                <a16:creationId xmlns:a16="http://schemas.microsoft.com/office/drawing/2014/main" id="{F023F7D5-B37F-462F-A144-68A1B531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 =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la velocidad permanece constante. El reposo es el caso particular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 =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la inercia no genera una fuerza de retorno.</a:t>
            </a:r>
          </a:p>
        </p:txBody>
      </p:sp>
      <p:sp>
        <p:nvSpPr>
          <p:cNvPr id="22" name="U02-013_equation_panel">
            <a:extLst xmlns:a="http://schemas.openxmlformats.org/drawingml/2006/main">
              <a:ext uri="{FF2B5EF4-FFF2-40B4-BE49-F238E27FC236}">
                <a16:creationId xmlns:a16="http://schemas.microsoft.com/office/drawing/2014/main" id="{589B94AC-BA33-4CDF-BE92-85B64275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13_equation">
            <a:extLst xmlns:a="http://schemas.openxmlformats.org/drawingml/2006/main">
              <a:ext uri="{FF2B5EF4-FFF2-40B4-BE49-F238E27FC236}">
                <a16:creationId xmlns:a16="http://schemas.microsoft.com/office/drawing/2014/main" id="{577C9C5D-3B6A-4D1F-8850-538D943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F_neta = 0 → v = constante</a:t>
            </a:r>
          </a:p>
        </p:txBody>
      </p:sp>
      <p:pic>
        <p:nvPicPr>
          <p:cNvPr id="33" name="U02-013: Ecuación anotada de la slide «Fuerza neta cero significa velocidad constante»: F_neta = 0 → v constante; reposo como caso particular; masa cuantifica inerc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26e752ad04d7e">
            <a:extLst>
              <a:ext uri="{96DAC541-7B7A-43D3-8B79-37D633B846F1}">
                <asvg:svgBlip xmlns:asvg="http://schemas.microsoft.com/office/drawing/2016/SVG/main" r:embed="R4408892f279e46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13_caption">
            <a:extLst xmlns:a="http://schemas.openxmlformats.org/drawingml/2006/main">
              <a:ext uri="{FF2B5EF4-FFF2-40B4-BE49-F238E27FC236}">
                <a16:creationId xmlns:a16="http://schemas.microsoft.com/office/drawing/2014/main" id="{2A39A278-9A1C-4A51-A160-4BB819E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inercia conserva el estado de movimiento; no produce retorno al equilibrio.</a:t>
            </a:r>
          </a:p>
        </p:txBody>
      </p:sp>
      <p:sp>
        <p:nvSpPr>
          <p:cNvPr id="26" name="U02-013_source">
            <a:extLst xmlns:a="http://schemas.openxmlformats.org/drawingml/2006/main">
              <a:ext uri="{FF2B5EF4-FFF2-40B4-BE49-F238E27FC236}">
                <a16:creationId xmlns:a16="http://schemas.microsoft.com/office/drawing/2014/main" id="{A5A190FB-045A-49C7-88D4-A91A6808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27921A4-25C4-3DB4-06B1-32693CEE2241}" type="slidenum">
              <a:t>14</a:t>
            </a:fld>
          </a:p>
        </p:txBody>
      </p:sp>
      <p:sp>
        <p:nvSpPr>
          <p:cNvPr id="21" name="U02-014_eyebrow">
            <a:extLst xmlns:a="http://schemas.openxmlformats.org/drawingml/2006/main">
              <a:ext uri="{FF2B5EF4-FFF2-40B4-BE49-F238E27FC236}">
                <a16:creationId xmlns:a16="http://schemas.microsoft.com/office/drawing/2014/main" id="{79119B7F-C7CF-44A6-BAE7-59591FF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SISTEMA E INERCIA</a:t>
            </a:r>
          </a:p>
        </p:txBody>
      </p:sp>
      <p:sp>
        <p:nvSpPr>
          <p:cNvPr id="22" name="U02-014_title">
            <a:extLst xmlns:a="http://schemas.openxmlformats.org/drawingml/2006/main">
              <a:ext uri="{FF2B5EF4-FFF2-40B4-BE49-F238E27FC236}">
                <a16:creationId xmlns:a16="http://schemas.microsoft.com/office/drawing/2014/main" id="{E690A333-D420-4132-9C24-AC3F5290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sistema, fuerzas e inercia</a:t>
            </a:r>
          </a:p>
        </p:txBody>
      </p:sp>
      <p:sp>
        <p:nvSpPr>
          <p:cNvPr id="23" name="U02-014_recap_panel">
            <a:extLst xmlns:a="http://schemas.openxmlformats.org/drawingml/2006/main">
              <a:ext uri="{FF2B5EF4-FFF2-40B4-BE49-F238E27FC236}">
                <a16:creationId xmlns:a16="http://schemas.microsoft.com/office/drawing/2014/main" id="{2611F70F-F0AF-4924-BECB-0176FB1F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4" name="U02-014_recap">
            <a:extLst xmlns:a="http://schemas.openxmlformats.org/drawingml/2006/main">
              <a:ext uri="{FF2B5EF4-FFF2-40B4-BE49-F238E27FC236}">
                <a16:creationId xmlns:a16="http://schemas.microsoft.com/office/drawing/2014/main" id="{78F3319A-B5E0-4F68-AFA9-68C66432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76425"/>
            <a:ext cx="9810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Elegir el sistema.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Declarar el eje.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Identificar y sumar las fuerzas.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¿qué debe cambiar para que cambie la velocidad?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A83FA91-883A-0168-8075-96CEB9DCA3C2}" type="slidenum">
              <a:t>15</a:t>
            </a:fld>
          </a:p>
        </p:txBody>
      </p:sp>
      <p:sp>
        <p:nvSpPr>
          <p:cNvPr id="10" name="U02-015_eyebrow">
            <a:extLst xmlns:a="http://schemas.openxmlformats.org/drawingml/2006/main">
              <a:ext uri="{FF2B5EF4-FFF2-40B4-BE49-F238E27FC236}">
                <a16:creationId xmlns:a16="http://schemas.microsoft.com/office/drawing/2014/main" id="{55802B0C-0028-462D-86AE-C55AF0DB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11" name="U02-015_title">
            <a:extLst xmlns:a="http://schemas.openxmlformats.org/drawingml/2006/main">
              <a:ext uri="{FF2B5EF4-FFF2-40B4-BE49-F238E27FC236}">
                <a16:creationId xmlns:a16="http://schemas.microsoft.com/office/drawing/2014/main" id="{1882FE76-8311-4FB3-996F-9B9EE867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 la fuerza neta al cambio de movimiento</a:t>
            </a:r>
          </a:p>
        </p:txBody>
      </p:sp>
      <p:sp>
        <p:nvSpPr>
          <p:cNvPr id="12" name="U02-015_guide">
            <a:extLst xmlns:a="http://schemas.openxmlformats.org/drawingml/2006/main">
              <a:ext uri="{FF2B5EF4-FFF2-40B4-BE49-F238E27FC236}">
                <a16:creationId xmlns:a16="http://schemas.microsoft.com/office/drawing/2014/main" id="{2B6F95DB-0E73-4803-A3BE-4CEA4E60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¿cuánto cambia el movimiento y de qué depende ese cambio?</a:t>
            </a:r>
          </a:p>
        </p:txBody>
      </p:sp>
      <p:sp>
        <p:nvSpPr>
          <p:cNvPr id="13" name="U02-015_subtitle">
            <a:extLst xmlns:a="http://schemas.openxmlformats.org/drawingml/2006/main">
              <a:ext uri="{FF2B5EF4-FFF2-40B4-BE49-F238E27FC236}">
                <a16:creationId xmlns:a16="http://schemas.microsoft.com/office/drawing/2014/main" id="{A37DE1DF-DE02-41F0-A865-AC8D6AFE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C9C7607-4BA3-B4DC-A00F-2E67A9FCFF7E}" type="slidenum">
              <a:t>16</a:t>
            </a:fld>
          </a:p>
        </p:txBody>
      </p:sp>
      <p:sp>
        <p:nvSpPr>
          <p:cNvPr id="29" name="U02-016_eyebrow">
            <a:extLst xmlns:a="http://schemas.openxmlformats.org/drawingml/2006/main">
              <a:ext uri="{FF2B5EF4-FFF2-40B4-BE49-F238E27FC236}">
                <a16:creationId xmlns:a16="http://schemas.microsoft.com/office/drawing/2014/main" id="{48748078-E8FB-4A6D-95EF-8E85C52E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30" name="U02-016_title">
            <a:extLst xmlns:a="http://schemas.openxmlformats.org/drawingml/2006/main">
              <a:ext uri="{FF2B5EF4-FFF2-40B4-BE49-F238E27FC236}">
                <a16:creationId xmlns:a16="http://schemas.microsoft.com/office/drawing/2014/main" id="{A3947330-3E7F-4E65-9E6D-0F629747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fuerza neta produce aceleración, no velocidad fija</a:t>
            </a:r>
          </a:p>
        </p:txBody>
      </p:sp>
      <p:sp>
        <p:nvSpPr>
          <p:cNvPr id="31" name="U02-016_takeaway">
            <a:extLst xmlns:a="http://schemas.openxmlformats.org/drawingml/2006/main">
              <a:ext uri="{FF2B5EF4-FFF2-40B4-BE49-F238E27FC236}">
                <a16:creationId xmlns:a16="http://schemas.microsoft.com/office/drawing/2014/main" id="{9280A6BF-C7B8-4B33-9064-32BA28FA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fuerza neta cambia la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velocidad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mediante una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aceleración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Si las fuerzas se equilibran, no hay aceleración aunque el sistema pueda seguir moviéndose.</a:t>
            </a:r>
          </a:p>
        </p:txBody>
      </p:sp>
      <p:pic>
        <p:nvPicPr>
          <p:cNvPr id="39" name="U02-016: Diagrama de la slide «Una fuerza neta produce aceleración, no velocidad fija»: Secuencia fuerza neta → aceleración → cambio de velocidad; contraejemplo de fuerzas equilibrad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294d749674292">
            <a:extLst>
              <a:ext uri="{96DAC541-7B7A-43D3-8B79-37D633B846F1}">
                <asvg:svgBlip xmlns:asvg="http://schemas.microsoft.com/office/drawing/2016/SVG/main" r:embed="R42d650542ded42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33" name="U02-016_caption">
            <a:extLst xmlns:a="http://schemas.openxmlformats.org/drawingml/2006/main">
              <a:ext uri="{FF2B5EF4-FFF2-40B4-BE49-F238E27FC236}">
                <a16:creationId xmlns:a16="http://schemas.microsoft.com/office/drawing/2014/main" id="{288DE4B4-A294-41BA-AD72-4FCCBF96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aceleración es el cambio de velocidad por unidad de tiempo.</a:t>
            </a:r>
          </a:p>
        </p:txBody>
      </p:sp>
      <p:sp>
        <p:nvSpPr>
          <p:cNvPr id="34" name="U02-016_source">
            <a:extLst xmlns:a="http://schemas.openxmlformats.org/drawingml/2006/main">
              <a:ext uri="{FF2B5EF4-FFF2-40B4-BE49-F238E27FC236}">
                <a16:creationId xmlns:a16="http://schemas.microsoft.com/office/drawing/2014/main" id="{D6834266-C6CD-416A-955F-7A00ED9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90F7333B-44AC-F7E9-D49D-FE92F45E0477}" type="slidenum">
              <a:t>17</a:t>
            </a:fld>
          </a:p>
        </p:txBody>
      </p:sp>
      <p:sp>
        <p:nvSpPr>
          <p:cNvPr id="19" name="U02-017_eyebrow">
            <a:extLst xmlns:a="http://schemas.openxmlformats.org/drawingml/2006/main">
              <a:ext uri="{FF2B5EF4-FFF2-40B4-BE49-F238E27FC236}">
                <a16:creationId xmlns:a16="http://schemas.microsoft.com/office/drawing/2014/main" id="{3A63E62F-9476-4632-ACCF-A9C2ACC9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0" name="U02-017_title">
            <a:extLst xmlns:a="http://schemas.openxmlformats.org/drawingml/2006/main">
              <a:ext uri="{FF2B5EF4-FFF2-40B4-BE49-F238E27FC236}">
                <a16:creationId xmlns:a16="http://schemas.microsoft.com/office/drawing/2014/main" id="{E0EA5061-9F04-40AF-8FEC-D80C3E81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segunda ley usa la fuerza neta</a:t>
            </a:r>
          </a:p>
        </p:txBody>
      </p:sp>
      <p:sp>
        <p:nvSpPr>
          <p:cNvPr id="21" name="U02-017_takeaway">
            <a:extLst xmlns:a="http://schemas.openxmlformats.org/drawingml/2006/main">
              <a:ext uri="{FF2B5EF4-FFF2-40B4-BE49-F238E27FC236}">
                <a16:creationId xmlns:a16="http://schemas.microsoft.com/office/drawing/2014/main" id="{57AD394D-A06E-415A-A5EB-28CB7231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 = m·a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La fuerza neta se mide en newtons (N), la masa en kilogramos (kg) y la aceleración en metros por segundo cuadrado (m/s²).</a:t>
            </a:r>
          </a:p>
        </p:txBody>
      </p:sp>
      <p:sp>
        <p:nvSpPr>
          <p:cNvPr id="22" name="U02-017_equation_panel">
            <a:extLst xmlns:a="http://schemas.openxmlformats.org/drawingml/2006/main">
              <a:ext uri="{FF2B5EF4-FFF2-40B4-BE49-F238E27FC236}">
                <a16:creationId xmlns:a16="http://schemas.microsoft.com/office/drawing/2014/main" id="{A7C8F76A-17EC-4538-A506-4825C34C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17_equation">
            <a:extLst xmlns:a="http://schemas.openxmlformats.org/drawingml/2006/main">
              <a:ext uri="{FF2B5EF4-FFF2-40B4-BE49-F238E27FC236}">
                <a16:creationId xmlns:a16="http://schemas.microsoft.com/office/drawing/2014/main" id="{5D2C31D9-3BA5-4887-8E6E-2F5F00B0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F_neta = m·a</a:t>
            </a:r>
          </a:p>
        </p:txBody>
      </p:sp>
      <p:pic>
        <p:nvPicPr>
          <p:cNvPr id="33" name="U02-017: Ecuación anotada de la slide «La segunda ley usa la fuerza neta»: Ecuación; símbolos; N, kg y m·s⁻²; condiciones de masa constante y una dimens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1f3d5e072485e">
            <a:extLst>
              <a:ext uri="{96DAC541-7B7A-43D3-8B79-37D633B846F1}">
                <asvg:svgBlip xmlns:asvg="http://schemas.microsoft.com/office/drawing/2016/SVG/main" r:embed="R1f3f897d5b4d42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17_caption">
            <a:extLst xmlns:a="http://schemas.openxmlformats.org/drawingml/2006/main">
              <a:ext uri="{FF2B5EF4-FFF2-40B4-BE49-F238E27FC236}">
                <a16:creationId xmlns:a16="http://schemas.microsoft.com/office/drawing/2014/main" id="{E2A56FC9-379A-4152-B681-D3DFFF6E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 igual masa, mayor resultante implica mayor aceleración.</a:t>
            </a:r>
          </a:p>
        </p:txBody>
      </p:sp>
      <p:sp>
        <p:nvSpPr>
          <p:cNvPr id="26" name="U02-017_source">
            <a:extLst xmlns:a="http://schemas.openxmlformats.org/drawingml/2006/main">
              <a:ext uri="{FF2B5EF4-FFF2-40B4-BE49-F238E27FC236}">
                <a16:creationId xmlns:a16="http://schemas.microsoft.com/office/drawing/2014/main" id="{7C423B63-DF4E-4794-B314-0A0AD5C4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1C6C81E-38B9-7560-621D-5A151A79DF9B}" type="slidenum">
              <a:t>18</a:t>
            </a:fld>
          </a:p>
        </p:txBody>
      </p:sp>
      <p:sp>
        <p:nvSpPr>
          <p:cNvPr id="19" name="U02-018_eyebrow">
            <a:extLst xmlns:a="http://schemas.openxmlformats.org/drawingml/2006/main">
              <a:ext uri="{FF2B5EF4-FFF2-40B4-BE49-F238E27FC236}">
                <a16:creationId xmlns:a16="http://schemas.microsoft.com/office/drawing/2014/main" id="{1BA1985F-12D3-4C29-A609-4ADE4188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0" name="U02-018_title">
            <a:extLst xmlns:a="http://schemas.openxmlformats.org/drawingml/2006/main">
              <a:ext uri="{FF2B5EF4-FFF2-40B4-BE49-F238E27FC236}">
                <a16:creationId xmlns:a16="http://schemas.microsoft.com/office/drawing/2014/main" id="{297BC346-1E0F-423A-A0D3-D9F79865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fuerza acelera menos a la masa mayor</a:t>
            </a:r>
          </a:p>
        </p:txBody>
      </p:sp>
      <p:sp>
        <p:nvSpPr>
          <p:cNvPr id="21" name="U02-018_takeaway">
            <a:extLst xmlns:a="http://schemas.openxmlformats.org/drawingml/2006/main">
              <a:ext uri="{FF2B5EF4-FFF2-40B4-BE49-F238E27FC236}">
                <a16:creationId xmlns:a16="http://schemas.microsoft.com/office/drawing/2014/main" id="{C16D27BC-BFC6-4CE0-A640-3F764BE1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una misma fuerza neta, la masa menor adquiere mayor aceleración. En un gráfico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–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la pendiente es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1/m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29" name="U02-018: Gráfico de la slide «La misma fuerza acelera menos a la masa mayor»: Dos rectas a(F_neta) para masas diferentes; lectura de un mismo valor de fuerz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67c97bf2c4af3">
            <a:extLst>
              <a:ext uri="{96DAC541-7B7A-43D3-8B79-37D633B846F1}">
                <asvg:svgBlip xmlns:asvg="http://schemas.microsoft.com/office/drawing/2016/SVG/main" r:embed="Re1e62ec73eed41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3" name="U02-018_caption">
            <a:extLst xmlns:a="http://schemas.openxmlformats.org/drawingml/2006/main">
              <a:ext uri="{FF2B5EF4-FFF2-40B4-BE49-F238E27FC236}">
                <a16:creationId xmlns:a16="http://schemas.microsoft.com/office/drawing/2014/main" id="{8077A5FC-8681-4ED3-A9FC-EE40D7B7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masa modifica cuánto cambia la aceleración frente a una fuerza neta.</a:t>
            </a:r>
          </a:p>
        </p:txBody>
      </p:sp>
      <p:sp>
        <p:nvSpPr>
          <p:cNvPr id="24" name="U02-018_source">
            <a:extLst xmlns:a="http://schemas.openxmlformats.org/drawingml/2006/main">
              <a:ext uri="{FF2B5EF4-FFF2-40B4-BE49-F238E27FC236}">
                <a16:creationId xmlns:a16="http://schemas.microsoft.com/office/drawing/2014/main" id="{C65DDB68-46A7-4813-BE0A-3098C71F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CF91274-D221-1BB4-3BF9-836E3AD31EBE}" type="slidenum">
              <a:t>19</a:t>
            </a:fld>
          </a:p>
        </p:txBody>
      </p:sp>
      <p:sp>
        <p:nvSpPr>
          <p:cNvPr id="25" name="U02-019_eyebrow">
            <a:extLst xmlns:a="http://schemas.openxmlformats.org/drawingml/2006/main">
              <a:ext uri="{FF2B5EF4-FFF2-40B4-BE49-F238E27FC236}">
                <a16:creationId xmlns:a16="http://schemas.microsoft.com/office/drawing/2014/main" id="{FC2FCDFF-FAC8-43C3-95D2-EEC08BC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6" name="U02-019_title">
            <a:extLst xmlns:a="http://schemas.openxmlformats.org/drawingml/2006/main">
              <a:ext uri="{FF2B5EF4-FFF2-40B4-BE49-F238E27FC236}">
                <a16:creationId xmlns:a16="http://schemas.microsoft.com/office/drawing/2014/main" id="{3DD71E5A-C7E4-4CCD-99B8-89352866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tres fuerzas a una aceleración</a:t>
            </a:r>
          </a:p>
        </p:txBody>
      </p:sp>
      <p:sp>
        <p:nvSpPr>
          <p:cNvPr id="27" name="U02-019_takeaway">
            <a:extLst xmlns:a="http://schemas.openxmlformats.org/drawingml/2006/main">
              <a:ext uri="{FF2B5EF4-FFF2-40B4-BE49-F238E27FC236}">
                <a16:creationId xmlns:a16="http://schemas.microsoft.com/office/drawing/2014/main" id="{C0ED15E8-85EF-469D-9F4F-C399D66A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1: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dibujar el eje y asignar signos.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2: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sumar las tres fuerzas.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3: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dividir la resultante por la masa.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4: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interpretar el signo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8" name="U02-019_equation_panel">
            <a:extLst xmlns:a="http://schemas.openxmlformats.org/drawingml/2006/main">
              <a:ext uri="{FF2B5EF4-FFF2-40B4-BE49-F238E27FC236}">
                <a16:creationId xmlns:a16="http://schemas.microsoft.com/office/drawing/2014/main" id="{1DE45B64-6460-4D2B-B495-7F9D8667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2-019_equation">
            <a:extLst xmlns:a="http://schemas.openxmlformats.org/drawingml/2006/main">
              <a:ext uri="{FF2B5EF4-FFF2-40B4-BE49-F238E27FC236}">
                <a16:creationId xmlns:a16="http://schemas.microsoft.com/office/drawing/2014/main" id="{EAC7B1A7-4982-48FF-994A-584A1982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F_neta = ΣF_x; luego a = F_neta/m</a:t>
            </a:r>
          </a:p>
        </p:txBody>
      </p:sp>
      <p:pic>
        <p:nvPicPr>
          <p:cNvPr id="39" name="U02-019: Esquema mixto de la slide «De tres fuerzas a una aceleración»: Datos de tres fuerzas, eje positivo, suma, a = F_neta/m, resultado e interpretación del sig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611afd4b74299">
            <a:extLst>
              <a:ext uri="{96DAC541-7B7A-43D3-8B79-37D633B846F1}">
                <asvg:svgBlip xmlns:asvg="http://schemas.microsoft.com/office/drawing/2016/SVG/main" r:embed="R2e352cab085a48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31" name="U02-019_caption">
            <a:extLst xmlns:a="http://schemas.openxmlformats.org/drawingml/2006/main">
              <a:ext uri="{FF2B5EF4-FFF2-40B4-BE49-F238E27FC236}">
                <a16:creationId xmlns:a16="http://schemas.microsoft.com/office/drawing/2014/main" id="{61AE3055-C901-4E38-9C86-9413B7F4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Primero se obtiene la resultante; después se divide por la masa.</a:t>
            </a:r>
          </a:p>
        </p:txBody>
      </p:sp>
      <p:sp>
        <p:nvSpPr>
          <p:cNvPr id="32" name="U02-019_source">
            <a:extLst xmlns:a="http://schemas.openxmlformats.org/drawingml/2006/main">
              <a:ext uri="{FF2B5EF4-FFF2-40B4-BE49-F238E27FC236}">
                <a16:creationId xmlns:a16="http://schemas.microsoft.com/office/drawing/2014/main" id="{A92034DF-4F00-4018-90DE-98BAA5D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B71E6959-ACF4-0436-802C-200F793D53F6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44E025A-983C-6D44-79C6-4612AACD43FC}" type="slidenum">
              <a:t>20</a:t>
            </a:fld>
          </a:p>
        </p:txBody>
      </p:sp>
      <p:sp>
        <p:nvSpPr>
          <p:cNvPr id="21" name="U02-020_eyebrow">
            <a:extLst xmlns:a="http://schemas.openxmlformats.org/drawingml/2006/main">
              <a:ext uri="{FF2B5EF4-FFF2-40B4-BE49-F238E27FC236}">
                <a16:creationId xmlns:a16="http://schemas.microsoft.com/office/drawing/2014/main" id="{1A9BAEE6-5B30-4D6F-93CC-FC5DCCD4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2" name="U02-020_title">
            <a:extLst xmlns:a="http://schemas.openxmlformats.org/drawingml/2006/main">
              <a:ext uri="{FF2B5EF4-FFF2-40B4-BE49-F238E27FC236}">
                <a16:creationId xmlns:a16="http://schemas.microsoft.com/office/drawing/2014/main" id="{08C07DDC-3110-4B4A-9A29-67629505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Misma fuerza neta, masas distintas: ¿quién acelera más?</a:t>
            </a:r>
          </a:p>
        </p:txBody>
      </p:sp>
      <p:sp>
        <p:nvSpPr>
          <p:cNvPr id="23" name="U02-020_takeaway">
            <a:extLst xmlns:a="http://schemas.openxmlformats.org/drawingml/2006/main">
              <a:ext uri="{FF2B5EF4-FFF2-40B4-BE49-F238E27FC236}">
                <a16:creationId xmlns:a16="http://schemas.microsoft.com/office/drawing/2014/main" id="{47B01ACB-6750-4DB8-BE47-20ED95D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sistemas A y B reciben la misma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pero tienen masas distintas.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Predicción: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¿cuál adquiere mayor aceleración? Justificar con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= F_neta/m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1" name="U02-020: Diagrama de la slide «Misma fuerza neta, masas distintas: ¿quién acelera más?»: Comparación cualitativa A/B; justificar sin cálculo o con razón simp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f1897b3a2482b">
            <a:extLst>
              <a:ext uri="{96DAC541-7B7A-43D3-8B79-37D633B846F1}">
                <asvg:svgBlip xmlns:asvg="http://schemas.microsoft.com/office/drawing/2016/SVG/main" r:embed="Rf259f48b5aa54a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5" name="U02-020_caption">
            <a:extLst xmlns:a="http://schemas.openxmlformats.org/drawingml/2006/main">
              <a:ext uri="{FF2B5EF4-FFF2-40B4-BE49-F238E27FC236}">
                <a16:creationId xmlns:a16="http://schemas.microsoft.com/office/drawing/2014/main" id="{58AEB76C-796B-4873-83F1-E4D15B79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masa mayor representa mayor inercia.</a:t>
            </a:r>
          </a:p>
        </p:txBody>
      </p:sp>
      <p:sp>
        <p:nvSpPr>
          <p:cNvPr id="26" name="U02-020_source">
            <a:extLst xmlns:a="http://schemas.openxmlformats.org/drawingml/2006/main">
              <a:ext uri="{FF2B5EF4-FFF2-40B4-BE49-F238E27FC236}">
                <a16:creationId xmlns:a16="http://schemas.microsoft.com/office/drawing/2014/main" id="{4B7C7FF6-9276-4037-A4F9-4C2BCAD9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6DF2BE2-2DFA-1C03-677D-BDC2260D6D92}" type="slidenum">
              <a:t>21</a:t>
            </a:fld>
          </a:p>
        </p:txBody>
      </p:sp>
      <p:sp>
        <p:nvSpPr>
          <p:cNvPr id="19" name="U02-021_eyebrow">
            <a:extLst xmlns:a="http://schemas.openxmlformats.org/drawingml/2006/main">
              <a:ext uri="{FF2B5EF4-FFF2-40B4-BE49-F238E27FC236}">
                <a16:creationId xmlns:a16="http://schemas.microsoft.com/office/drawing/2014/main" id="{3B01D02B-DF1A-47B5-9605-26FDFDDC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0" name="U02-021_title">
            <a:extLst xmlns:a="http://schemas.openxmlformats.org/drawingml/2006/main">
              <a:ext uri="{FF2B5EF4-FFF2-40B4-BE49-F238E27FC236}">
                <a16:creationId xmlns:a16="http://schemas.microsoft.com/office/drawing/2014/main" id="{31407BB0-9803-40F6-AA0C-98230C6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tercera ley relaciona fuerzas sobre cuerpos distintos</a:t>
            </a:r>
          </a:p>
        </p:txBody>
      </p:sp>
      <p:sp>
        <p:nvSpPr>
          <p:cNvPr id="21" name="U02-021_takeaway">
            <a:extLst xmlns:a="http://schemas.openxmlformats.org/drawingml/2006/main">
              <a:ext uri="{FF2B5EF4-FFF2-40B4-BE49-F238E27FC236}">
                <a16:creationId xmlns:a16="http://schemas.microsoft.com/office/drawing/2014/main" id="{2FF18F82-DDEA-43E4-AD3A-EAC50146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F_{A→B} = −F_{B→A}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Las dos fuerzas aparecen al mismo tiempo y tienen igual módulo, pero actúan sobre cuerpos diferentes.</a:t>
            </a:r>
          </a:p>
        </p:txBody>
      </p:sp>
      <p:sp>
        <p:nvSpPr>
          <p:cNvPr id="22" name="U02-021_equation_panel">
            <a:extLst xmlns:a="http://schemas.openxmlformats.org/drawingml/2006/main">
              <a:ext uri="{FF2B5EF4-FFF2-40B4-BE49-F238E27FC236}">
                <a16:creationId xmlns:a16="http://schemas.microsoft.com/office/drawing/2014/main" id="{C7A0B417-FBD4-4789-9E18-0DC1BA17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21_equation">
            <a:extLst xmlns:a="http://schemas.openxmlformats.org/drawingml/2006/main">
              <a:ext uri="{FF2B5EF4-FFF2-40B4-BE49-F238E27FC236}">
                <a16:creationId xmlns:a16="http://schemas.microsoft.com/office/drawing/2014/main" id="{B08A837F-E164-4694-BFF0-2DB1A86D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F⃗_A→B = −F⃗_B→A</a:t>
            </a:r>
          </a:p>
        </p:txBody>
      </p:sp>
      <p:pic>
        <p:nvPicPr>
          <p:cNvPr id="33" name="U02-021: Ecuación anotada de la slide «La tercera ley relaciona fuerzas sobre cuerpos distintos»: F⃗_A→B = -F⃗_B→A; lectura de subíndices y cuerp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8257555934c09">
            <a:extLst>
              <a:ext uri="{96DAC541-7B7A-43D3-8B79-37D633B846F1}">
                <asvg:svgBlip xmlns:asvg="http://schemas.microsoft.com/office/drawing/2016/SVG/main" r:embed="Rf615d54db9084e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21_caption">
            <a:extLst xmlns:a="http://schemas.openxmlformats.org/drawingml/2006/main">
              <a:ext uri="{FF2B5EF4-FFF2-40B4-BE49-F238E27FC236}">
                <a16:creationId xmlns:a16="http://schemas.microsoft.com/office/drawing/2014/main" id="{F4396579-061E-4DFE-A796-C58A2CFE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fuerzas son simultáneas, iguales en módulo y opuestas, pero no actúan sobre el mismo cuerpo.</a:t>
            </a:r>
          </a:p>
        </p:txBody>
      </p:sp>
      <p:sp>
        <p:nvSpPr>
          <p:cNvPr id="26" name="U02-021_source">
            <a:extLst xmlns:a="http://schemas.openxmlformats.org/drawingml/2006/main">
              <a:ext uri="{FF2B5EF4-FFF2-40B4-BE49-F238E27FC236}">
                <a16:creationId xmlns:a16="http://schemas.microsoft.com/office/drawing/2014/main" id="{B1B0EA3A-6E89-444F-BA6C-B3D0691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0BB18BA8-60F4-C50D-CD9B-1BB87D3E8506}" type="slidenum">
              <a:t>22</a:t>
            </a:fld>
          </a:p>
        </p:txBody>
      </p:sp>
      <p:sp>
        <p:nvSpPr>
          <p:cNvPr id="20" name="U02-022_eyebrow">
            <a:extLst xmlns:a="http://schemas.openxmlformats.org/drawingml/2006/main">
              <a:ext uri="{FF2B5EF4-FFF2-40B4-BE49-F238E27FC236}">
                <a16:creationId xmlns:a16="http://schemas.microsoft.com/office/drawing/2014/main" id="{5167F008-740B-49B5-81E0-20544928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1" name="U02-022_title">
            <a:extLst xmlns:a="http://schemas.openxmlformats.org/drawingml/2006/main">
              <a:ext uri="{FF2B5EF4-FFF2-40B4-BE49-F238E27FC236}">
                <a16:creationId xmlns:a16="http://schemas.microsoft.com/office/drawing/2014/main" id="{5C9E3D70-7493-4604-8CD7-71C80DF5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Acción y reacción viven en dos diagramas diferentes</a:t>
            </a:r>
          </a:p>
        </p:txBody>
      </p:sp>
      <p:sp>
        <p:nvSpPr>
          <p:cNvPr id="22" name="U02-022_takeaway">
            <a:extLst xmlns:a="http://schemas.openxmlformats.org/drawingml/2006/main">
              <a:ext uri="{FF2B5EF4-FFF2-40B4-BE49-F238E27FC236}">
                <a16:creationId xmlns:a16="http://schemas.microsoft.com/office/drawing/2014/main" id="{EC104DFF-BF8A-47C2-88FC-1B75596E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Diagrama de 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incluye la fuerza que B ejerce sobre 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Diagrama de B: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incluye la fuerza que A ejerce sobre B. No se suman entre sí en un único DCL.</a:t>
            </a:r>
          </a:p>
        </p:txBody>
      </p:sp>
      <p:pic>
        <p:nvPicPr>
          <p:cNvPr id="30" name="U02-022: Diagrama de la slide «Acción y reacción viven en dos diagramas diferentes»: Izquierda: diagrama de A; derecha: diagrama de B; síntesis inferio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c18f960ab4cac">
            <a:extLst>
              <a:ext uri="{96DAC541-7B7A-43D3-8B79-37D633B846F1}">
                <asvg:svgBlip xmlns:asvg="http://schemas.microsoft.com/office/drawing/2016/SVG/main" r:embed="R5a8f23ca962640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4" name="U02-022_caption">
            <a:extLst xmlns:a="http://schemas.openxmlformats.org/drawingml/2006/main">
              <a:ext uri="{FF2B5EF4-FFF2-40B4-BE49-F238E27FC236}">
                <a16:creationId xmlns:a16="http://schemas.microsoft.com/office/drawing/2014/main" id="{82DBDC7C-AD6D-432E-8841-6A28609F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par pertenece a dos cuerpos; las fuerzas equilibradas pertenecen a uno.</a:t>
            </a:r>
          </a:p>
        </p:txBody>
      </p:sp>
      <p:sp>
        <p:nvSpPr>
          <p:cNvPr id="25" name="U02-022_source">
            <a:extLst xmlns:a="http://schemas.openxmlformats.org/drawingml/2006/main">
              <a:ext uri="{FF2B5EF4-FFF2-40B4-BE49-F238E27FC236}">
                <a16:creationId xmlns:a16="http://schemas.microsoft.com/office/drawing/2014/main" id="{1C8E52E9-A7C1-4A99-AFB1-82951C34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4E99CEF-AF55-BA3C-ADF8-4E52E186DD8F}" type="slidenum">
              <a:t>23</a:t>
            </a:fld>
          </a:p>
        </p:txBody>
      </p:sp>
      <p:sp>
        <p:nvSpPr>
          <p:cNvPr id="21" name="U02-023_eyebrow">
            <a:extLst xmlns:a="http://schemas.openxmlformats.org/drawingml/2006/main">
              <a:ext uri="{FF2B5EF4-FFF2-40B4-BE49-F238E27FC236}">
                <a16:creationId xmlns:a16="http://schemas.microsoft.com/office/drawing/2014/main" id="{71C03471-3F33-42E8-A4DE-A5A808D8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LEYES DE NEWTON</a:t>
            </a:r>
          </a:p>
        </p:txBody>
      </p:sp>
      <p:sp>
        <p:nvSpPr>
          <p:cNvPr id="22" name="U02-023_title">
            <a:extLst xmlns:a="http://schemas.openxmlformats.org/drawingml/2006/main">
              <a:ext uri="{FF2B5EF4-FFF2-40B4-BE49-F238E27FC236}">
                <a16:creationId xmlns:a16="http://schemas.microsoft.com/office/drawing/2014/main" id="{49EB083B-0682-42BA-AD60-D3419EBC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leyes, tres preguntas diferentes</a:t>
            </a:r>
          </a:p>
        </p:txBody>
      </p:sp>
      <p:sp>
        <p:nvSpPr>
          <p:cNvPr id="23" name="U02-023_recap_panel">
            <a:extLst xmlns:a="http://schemas.openxmlformats.org/drawingml/2006/main">
              <a:ext uri="{FF2B5EF4-FFF2-40B4-BE49-F238E27FC236}">
                <a16:creationId xmlns:a16="http://schemas.microsoft.com/office/drawing/2014/main" id="{7705F42A-7C87-4321-B6C3-65E40C89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4" name="U02-023_recap">
            <a:extLst xmlns:a="http://schemas.openxmlformats.org/drawingml/2006/main">
              <a:ext uri="{FF2B5EF4-FFF2-40B4-BE49-F238E27FC236}">
                <a16:creationId xmlns:a16="http://schemas.microsoft.com/office/drawing/2014/main" id="{F05437F0-66ED-488D-921E-D1C5089B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76425"/>
            <a:ext cx="9810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Primera ley: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¿qué ocurre si 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 = 0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?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Segunda ley: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¿cuánto acelera?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Tercera ley: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¿cómo se relacionan las fuerzas de dos cuerpos?</a:t>
            </a:r>
          </a:p>
        </p:txBody>
      </p:sp>
      <p:sp>
        <p:nvSpPr>
          <p:cNvPr id="25" name="U02-023_recap_question">
            <a:extLst xmlns:a="http://schemas.openxmlformats.org/drawingml/2006/main">
              <a:ext uri="{FF2B5EF4-FFF2-40B4-BE49-F238E27FC236}">
                <a16:creationId xmlns:a16="http://schemas.microsoft.com/office/drawing/2014/main" id="{84AD14DD-B8B9-4C66-9572-35646180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291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Ante un mini caso, elegir qué ley responde primero la pregunta planteada.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A59AF09-D197-0193-A7DE-FAAF0B691058}" type="slidenum">
              <a:t>24</a:t>
            </a:fld>
          </a:p>
        </p:txBody>
      </p:sp>
      <p:sp>
        <p:nvSpPr>
          <p:cNvPr id="10" name="U02-024_eyebrow">
            <a:extLst xmlns:a="http://schemas.openxmlformats.org/drawingml/2006/main">
              <a:ext uri="{FF2B5EF4-FFF2-40B4-BE49-F238E27FC236}">
                <a16:creationId xmlns:a16="http://schemas.microsoft.com/office/drawing/2014/main" id="{31624CD9-DC8D-478B-9F29-25825682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11" name="U02-024_title">
            <a:extLst xmlns:a="http://schemas.openxmlformats.org/drawingml/2006/main">
              <a:ext uri="{FF2B5EF4-FFF2-40B4-BE49-F238E27FC236}">
                <a16:creationId xmlns:a16="http://schemas.microsoft.com/office/drawing/2014/main" id="{19352B6E-FD91-47BC-AEEC-041D2FA7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diferencia de presión puede mover una superficie</a:t>
            </a:r>
          </a:p>
        </p:txBody>
      </p:sp>
      <p:sp>
        <p:nvSpPr>
          <p:cNvPr id="12" name="U02-024_guide">
            <a:extLst xmlns:a="http://schemas.openxmlformats.org/drawingml/2006/main">
              <a:ext uri="{FF2B5EF4-FFF2-40B4-BE49-F238E27FC236}">
                <a16:creationId xmlns:a16="http://schemas.microsoft.com/office/drawing/2014/main" id="{FE5B1DD1-C0B4-4BF7-B254-8E96BB16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¿cómo convertimos una diferencia de presión, medida en pascales, en una fuerza, medida en newtons?</a:t>
            </a:r>
          </a:p>
        </p:txBody>
      </p:sp>
      <p:sp>
        <p:nvSpPr>
          <p:cNvPr id="13" name="U02-024_subtitle">
            <a:extLst xmlns:a="http://schemas.openxmlformats.org/drawingml/2006/main">
              <a:ext uri="{FF2B5EF4-FFF2-40B4-BE49-F238E27FC236}">
                <a16:creationId xmlns:a16="http://schemas.microsoft.com/office/drawing/2014/main" id="{6DB461F9-ABD9-46A9-9C81-30A26D40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3AE1AE4-D79E-94D6-E825-3FC6C21A77D2}" type="slidenum">
              <a:t>25</a:t>
            </a:fld>
          </a:p>
        </p:txBody>
      </p:sp>
      <p:sp>
        <p:nvSpPr>
          <p:cNvPr id="27" name="U02-025_eyebrow">
            <a:extLst xmlns:a="http://schemas.openxmlformats.org/drawingml/2006/main">
              <a:ext uri="{FF2B5EF4-FFF2-40B4-BE49-F238E27FC236}">
                <a16:creationId xmlns:a16="http://schemas.microsoft.com/office/drawing/2014/main" id="{264CB676-C690-48E5-A2B9-2797E587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8" name="U02-025_title">
            <a:extLst xmlns:a="http://schemas.openxmlformats.org/drawingml/2006/main">
              <a:ext uri="{FF2B5EF4-FFF2-40B4-BE49-F238E27FC236}">
                <a16:creationId xmlns:a16="http://schemas.microsoft.com/office/drawing/2014/main" id="{5E3D6672-9137-4CE1-80B0-3CD9B09B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presiones de ambos lados ejercen fuerzas opuestas</a:t>
            </a:r>
          </a:p>
        </p:txBody>
      </p:sp>
      <p:sp>
        <p:nvSpPr>
          <p:cNvPr id="29" name="U02-025_takeaway">
            <a:extLst xmlns:a="http://schemas.openxmlformats.org/drawingml/2006/main">
              <a:ext uri="{FF2B5EF4-FFF2-40B4-BE49-F238E27FC236}">
                <a16:creationId xmlns:a16="http://schemas.microsoft.com/office/drawing/2014/main" id="{FD540B3C-5653-4CEC-A737-40F70FBE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lado ejerce una fuerza sobre la superficie. Si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p_1 =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las contribuciones se equilibran; si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p_1 &gt;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la resultante apunta hacia el lado de menor presión.</a:t>
            </a:r>
          </a:p>
        </p:txBody>
      </p:sp>
      <p:pic>
        <p:nvPicPr>
          <p:cNvPr id="37" name="U02-025: Diagrama de la slide «Las presiones de ambos lados ejercen fuerzas opuestas»: Superficie, p₁, p₂, área y flechas opuestas; casos p₁ = p₂ y p₁ &gt; p₂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11f35cb9c4fdd">
            <a:extLst>
              <a:ext uri="{96DAC541-7B7A-43D3-8B79-37D633B846F1}">
                <asvg:svgBlip xmlns:asvg="http://schemas.microsoft.com/office/drawing/2016/SVG/main" r:embed="R6810a7edb38d47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31" name="U02-025_caption">
            <a:extLst xmlns:a="http://schemas.openxmlformats.org/drawingml/2006/main">
              <a:ext uri="{FF2B5EF4-FFF2-40B4-BE49-F238E27FC236}">
                <a16:creationId xmlns:a16="http://schemas.microsoft.com/office/drawing/2014/main" id="{4B046D37-2202-40B2-BD6A-0894756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resultante apunta hacia la región de menor presión si las demás condiciones se mantienen. Esquema conceptual; no está a escala.</a:t>
            </a:r>
          </a:p>
        </p:txBody>
      </p:sp>
      <p:sp>
        <p:nvSpPr>
          <p:cNvPr id="32" name="U02-025_source">
            <a:extLst xmlns:a="http://schemas.openxmlformats.org/drawingml/2006/main">
              <a:ext uri="{FF2B5EF4-FFF2-40B4-BE49-F238E27FC236}">
                <a16:creationId xmlns:a16="http://schemas.microsoft.com/office/drawing/2014/main" id="{CCA7E6D7-B661-4507-9BE1-85935A15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AB55966-FA28-BC73-EA9E-53DF014DF033}" type="slidenum">
              <a:t>26</a:t>
            </a:fld>
          </a:p>
        </p:txBody>
      </p:sp>
      <p:sp>
        <p:nvSpPr>
          <p:cNvPr id="20" name="U02-026_eyebrow">
            <a:extLst xmlns:a="http://schemas.openxmlformats.org/drawingml/2006/main">
              <a:ext uri="{FF2B5EF4-FFF2-40B4-BE49-F238E27FC236}">
                <a16:creationId xmlns:a16="http://schemas.microsoft.com/office/drawing/2014/main" id="{B52F2E53-EA76-4060-B1B4-4AC1438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1" name="U02-026_title">
            <a:extLst xmlns:a="http://schemas.openxmlformats.org/drawingml/2006/main">
              <a:ext uri="{FF2B5EF4-FFF2-40B4-BE49-F238E27FC236}">
                <a16:creationId xmlns:a16="http://schemas.microsoft.com/office/drawing/2014/main" id="{C142CBBD-FD80-4005-8A3A-2DDB85E0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y fuerza no son la misma magnitud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714375"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Presión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Fuerza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Describe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Distribución sobre un área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Interacción resultante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Unidad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Relación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Necesita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F_pres = Δp·S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3" name="U02-026_reading">
            <a:extLst xmlns:a="http://schemas.openxmlformats.org/drawingml/2006/main">
              <a:ext uri="{FF2B5EF4-FFF2-40B4-BE49-F238E27FC236}">
                <a16:creationId xmlns:a16="http://schemas.microsoft.com/office/drawing/2014/main" id="{BFF764BD-F34F-4187-898D-09C9A2A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339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Presión: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fuerza distribuida por unidad de área; unidad Pa.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Fuerza: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interacción resultante; unidad N. Para relacionarlas hace falta conocer el área.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02F15020-66A7-620A-7B7A-C05C4312DEAE}" type="slidenum">
              <a:t>27</a:t>
            </a:fld>
          </a:p>
        </p:txBody>
      </p:sp>
      <p:sp>
        <p:nvSpPr>
          <p:cNvPr id="19" name="U02-027_eyebrow">
            <a:extLst xmlns:a="http://schemas.openxmlformats.org/drawingml/2006/main">
              <a:ext uri="{FF2B5EF4-FFF2-40B4-BE49-F238E27FC236}">
                <a16:creationId xmlns:a16="http://schemas.microsoft.com/office/drawing/2014/main" id="{0EB171E3-CE32-4027-9762-8181D7D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0" name="U02-027_title">
            <a:extLst xmlns:a="http://schemas.openxmlformats.org/drawingml/2006/main">
              <a:ext uri="{FF2B5EF4-FFF2-40B4-BE49-F238E27FC236}">
                <a16:creationId xmlns:a16="http://schemas.microsoft.com/office/drawing/2014/main" id="{F321B2FE-AEF0-455F-AC21-2336709C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diferencia de presión conserva dirección y signo</a:t>
            </a:r>
          </a:p>
        </p:txBody>
      </p:sp>
      <p:sp>
        <p:nvSpPr>
          <p:cNvPr id="21" name="U02-027_takeaway">
            <a:extLst xmlns:a="http://schemas.openxmlformats.org/drawingml/2006/main">
              <a:ext uri="{FF2B5EF4-FFF2-40B4-BE49-F238E27FC236}">
                <a16:creationId xmlns:a16="http://schemas.microsoft.com/office/drawing/2014/main" id="{48A595B7-1943-4B45-AED9-2004EE80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Definimos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 = p_1 − p_2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El orden elegido fija el signo: cambiar el orden invierte el sentido de la fuerza calculada.</a:t>
            </a:r>
          </a:p>
        </p:txBody>
      </p:sp>
      <p:sp>
        <p:nvSpPr>
          <p:cNvPr id="22" name="U02-027_equation_panel">
            <a:extLst xmlns:a="http://schemas.openxmlformats.org/drawingml/2006/main">
              <a:ext uri="{FF2B5EF4-FFF2-40B4-BE49-F238E27FC236}">
                <a16:creationId xmlns:a16="http://schemas.microsoft.com/office/drawing/2014/main" id="{07781513-7244-4E37-A429-20676E4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27_equation">
            <a:extLst xmlns:a="http://schemas.openxmlformats.org/drawingml/2006/main">
              <a:ext uri="{FF2B5EF4-FFF2-40B4-BE49-F238E27FC236}">
                <a16:creationId xmlns:a16="http://schemas.microsoft.com/office/drawing/2014/main" id="{13921A30-B024-4694-94BC-34E52A8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Δp = p_1 − p_2</a:t>
            </a:r>
          </a:p>
        </p:txBody>
      </p:sp>
      <p:pic>
        <p:nvPicPr>
          <p:cNvPr id="33" name="U02-027: Ecuación anotada de la slide «La diferencia de presión conserva dirección y signo»: Δp = p₁ - p₂; símbolos, Pa y dos resultados de signo opuest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c88b0c701496d">
            <a:extLst>
              <a:ext uri="{96DAC541-7B7A-43D3-8B79-37D633B846F1}">
                <asvg:svgBlip xmlns:asvg="http://schemas.microsoft.com/office/drawing/2016/SVG/main" r:embed="Re7625efa524d42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27_caption">
            <a:extLst xmlns:a="http://schemas.openxmlformats.org/drawingml/2006/main">
              <a:ext uri="{FF2B5EF4-FFF2-40B4-BE49-F238E27FC236}">
                <a16:creationId xmlns:a16="http://schemas.microsoft.com/office/drawing/2014/main" id="{0CA56F13-1DE7-4586-94D0-B29BD009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orden p₁ - p₂ fija el signo respecto del eje elegido.</a:t>
            </a:r>
          </a:p>
        </p:txBody>
      </p:sp>
      <p:sp>
        <p:nvSpPr>
          <p:cNvPr id="26" name="U02-027_source">
            <a:extLst xmlns:a="http://schemas.openxmlformats.org/drawingml/2006/main">
              <a:ext uri="{FF2B5EF4-FFF2-40B4-BE49-F238E27FC236}">
                <a16:creationId xmlns:a16="http://schemas.microsoft.com/office/drawing/2014/main" id="{FFEF3596-8DFB-4CA3-B7A6-FA835B6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8AD4375-9F50-F53A-6F9F-DD8473067C05}" type="slidenum">
              <a:t>28</a:t>
            </a:fld>
          </a:p>
        </p:txBody>
      </p:sp>
      <p:sp>
        <p:nvSpPr>
          <p:cNvPr id="19" name="U02-028_eyebrow">
            <a:extLst xmlns:a="http://schemas.openxmlformats.org/drawingml/2006/main">
              <a:ext uri="{FF2B5EF4-FFF2-40B4-BE49-F238E27FC236}">
                <a16:creationId xmlns:a16="http://schemas.microsoft.com/office/drawing/2014/main" id="{28053C84-E997-440D-8E20-FE4C473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0" name="U02-028_title">
            <a:extLst xmlns:a="http://schemas.openxmlformats.org/drawingml/2006/main">
              <a:ext uri="{FF2B5EF4-FFF2-40B4-BE49-F238E27FC236}">
                <a16:creationId xmlns:a16="http://schemas.microsoft.com/office/drawing/2014/main" id="{D57F3002-881D-4728-A2AC-8204D9A2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depende de la diferencia de presión y del área</a:t>
            </a:r>
          </a:p>
        </p:txBody>
      </p:sp>
      <p:sp>
        <p:nvSpPr>
          <p:cNvPr id="21" name="U02-028_takeaway">
            <a:extLst xmlns:a="http://schemas.openxmlformats.org/drawingml/2006/main">
              <a:ext uri="{FF2B5EF4-FFF2-40B4-BE49-F238E27FC236}">
                <a16:creationId xmlns:a16="http://schemas.microsoft.com/office/drawing/2014/main" id="{23BBB503-01B4-492F-8279-D82BE3E1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Bajo presión uniforme,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F_pres = Δp·S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La misma diferencia de presión produce una fuerza mayor cuando el área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es mayor.</a:t>
            </a:r>
          </a:p>
        </p:txBody>
      </p:sp>
      <p:sp>
        <p:nvSpPr>
          <p:cNvPr id="22" name="U02-028_equation_panel">
            <a:extLst xmlns:a="http://schemas.openxmlformats.org/drawingml/2006/main">
              <a:ext uri="{FF2B5EF4-FFF2-40B4-BE49-F238E27FC236}">
                <a16:creationId xmlns:a16="http://schemas.microsoft.com/office/drawing/2014/main" id="{DACB447E-85F3-47ED-88F3-4DBFC09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28_equation">
            <a:extLst xmlns:a="http://schemas.openxmlformats.org/drawingml/2006/main">
              <a:ext uri="{FF2B5EF4-FFF2-40B4-BE49-F238E27FC236}">
                <a16:creationId xmlns:a16="http://schemas.microsoft.com/office/drawing/2014/main" id="{BBF3EDE4-59A2-4EE7-BE0D-37ADBF0D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F_pres = Δp·S</a:t>
            </a:r>
          </a:p>
        </p:txBody>
      </p:sp>
      <p:pic>
        <p:nvPicPr>
          <p:cNvPr id="33" name="U02-028: Ecuación anotada de la slide «La fuerza depende de la diferencia de presión y del área»: Ecuación con S para continuidad con U1; símbolos, unidades e hipótes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ecfbdc74f477b">
            <a:extLst>
              <a:ext uri="{96DAC541-7B7A-43D3-8B79-37D633B846F1}">
                <asvg:svgBlip xmlns:asvg="http://schemas.microsoft.com/office/drawing/2016/SVG/main" r:embed="Re3b33e6e8eb349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28_caption">
            <a:extLst xmlns:a="http://schemas.openxmlformats.org/drawingml/2006/main">
              <a:ext uri="{FF2B5EF4-FFF2-40B4-BE49-F238E27FC236}">
                <a16:creationId xmlns:a16="http://schemas.microsoft.com/office/drawing/2014/main" id="{A75AE742-F8BC-4777-AD7A-FAD355BF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misma Δp produce mayor fuerza sobre una superficie mayor, bajo presión uniforme.</a:t>
            </a:r>
          </a:p>
        </p:txBody>
      </p:sp>
      <p:sp>
        <p:nvSpPr>
          <p:cNvPr id="26" name="U02-028_source">
            <a:extLst xmlns:a="http://schemas.openxmlformats.org/drawingml/2006/main">
              <a:ext uri="{FF2B5EF4-FFF2-40B4-BE49-F238E27FC236}">
                <a16:creationId xmlns:a16="http://schemas.microsoft.com/office/drawing/2014/main" id="{CFB79710-AB1F-47AA-98EF-4D4AB22B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1680313-6E64-04FF-399A-57B7CADE95A9}" type="slidenum">
              <a:t>29</a:t>
            </a:fld>
          </a:p>
        </p:txBody>
      </p:sp>
      <p:sp>
        <p:nvSpPr>
          <p:cNvPr id="19" name="U02-029_eyebrow">
            <a:extLst xmlns:a="http://schemas.openxmlformats.org/drawingml/2006/main">
              <a:ext uri="{FF2B5EF4-FFF2-40B4-BE49-F238E27FC236}">
                <a16:creationId xmlns:a16="http://schemas.microsoft.com/office/drawing/2014/main" id="{A1C05355-5DC3-4F65-8D0E-D37EB514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0" name="U02-029_title">
            <a:extLst xmlns:a="http://schemas.openxmlformats.org/drawingml/2006/main">
              <a:ext uri="{FF2B5EF4-FFF2-40B4-BE49-F238E27FC236}">
                <a16:creationId xmlns:a16="http://schemas.microsoft.com/office/drawing/2014/main" id="{DB8A40C6-88E5-4214-A113-0D308496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Pascal por metro cuadrado produce newtons</a:t>
            </a:r>
          </a:p>
        </p:txBody>
      </p:sp>
      <p:sp>
        <p:nvSpPr>
          <p:cNvPr id="21" name="U02-029_takeaway">
            <a:extLst xmlns:a="http://schemas.openxmlformats.org/drawingml/2006/main">
              <a:ext uri="{FF2B5EF4-FFF2-40B4-BE49-F238E27FC236}">
                <a16:creationId xmlns:a16="http://schemas.microsoft.com/office/drawing/2014/main" id="{5A92C89A-D061-45F6-9820-D8C861DA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Pa·m² = (N/m²)·m² = 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El análisis dimensional permite descartar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S/Δp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U02-029_equation_panel">
            <a:extLst xmlns:a="http://schemas.openxmlformats.org/drawingml/2006/main">
              <a:ext uri="{FF2B5EF4-FFF2-40B4-BE49-F238E27FC236}">
                <a16:creationId xmlns:a16="http://schemas.microsoft.com/office/drawing/2014/main" id="{89CCBFD4-A74C-4014-812D-4C1A36F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29_equation">
            <a:extLst xmlns:a="http://schemas.openxmlformats.org/drawingml/2006/main">
              <a:ext uri="{FF2B5EF4-FFF2-40B4-BE49-F238E27FC236}">
                <a16:creationId xmlns:a16="http://schemas.microsoft.com/office/drawing/2014/main" id="{2F3A2795-C4F0-4C6D-A60C-9103C2FF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Pa·m² = (N/m²)·m² = N.</a:t>
            </a:r>
          </a:p>
        </p:txBody>
      </p:sp>
      <p:pic>
        <p:nvPicPr>
          <p:cNvPr id="33" name="U02-029: Ecuación anotada de la slide «Pascal por metro cuadrado produce newtons»: Pa·m² = N; dos opciones incorrectas Δp/S y S/Δp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7b378b92b4860">
            <a:extLst>
              <a:ext uri="{96DAC541-7B7A-43D3-8B79-37D633B846F1}">
                <asvg:svgBlip xmlns:asvg="http://schemas.microsoft.com/office/drawing/2016/SVG/main" r:embed="R3c5ae011ff514c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29_caption">
            <a:extLst xmlns:a="http://schemas.openxmlformats.org/drawingml/2006/main">
              <a:ext uri="{FF2B5EF4-FFF2-40B4-BE49-F238E27FC236}">
                <a16:creationId xmlns:a16="http://schemas.microsoft.com/office/drawing/2014/main" id="{F583FEE3-501E-4961-997E-078A50A5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unidades descartan relaciones físicamente incompatibles.</a:t>
            </a:r>
          </a:p>
        </p:txBody>
      </p:sp>
      <p:sp>
        <p:nvSpPr>
          <p:cNvPr id="26" name="U02-029_source">
            <a:extLst xmlns:a="http://schemas.openxmlformats.org/drawingml/2006/main">
              <a:ext uri="{FF2B5EF4-FFF2-40B4-BE49-F238E27FC236}">
                <a16:creationId xmlns:a16="http://schemas.microsoft.com/office/drawing/2014/main" id="{C0BB184C-4313-402D-9997-0E53E9C3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FEBBBCE-9E16-527A-0EE3-E5839422D847}" type="slidenum">
              <a:t>30</a:t>
            </a:fld>
          </a:p>
        </p:txBody>
      </p:sp>
      <p:sp>
        <p:nvSpPr>
          <p:cNvPr id="25" name="U02-030_eyebrow">
            <a:extLst xmlns:a="http://schemas.openxmlformats.org/drawingml/2006/main">
              <a:ext uri="{FF2B5EF4-FFF2-40B4-BE49-F238E27FC236}">
                <a16:creationId xmlns:a16="http://schemas.microsoft.com/office/drawing/2014/main" id="{A08EAC19-C8AD-44BE-BABD-84144E1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6" name="U02-030_title">
            <a:extLst xmlns:a="http://schemas.openxmlformats.org/drawingml/2006/main">
              <a:ext uri="{FF2B5EF4-FFF2-40B4-BE49-F238E27FC236}">
                <a16:creationId xmlns:a16="http://schemas.microsoft.com/office/drawing/2014/main" id="{71D49D41-D374-4594-887F-C34B42DD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0,50 Pa a 1,0×10⁻⁴ N</a:t>
            </a:r>
          </a:p>
        </p:txBody>
      </p:sp>
      <p:sp>
        <p:nvSpPr>
          <p:cNvPr id="27" name="U02-030_takeaway">
            <a:extLst xmlns:a="http://schemas.openxmlformats.org/drawingml/2006/main">
              <a:ext uri="{FF2B5EF4-FFF2-40B4-BE49-F238E27FC236}">
                <a16:creationId xmlns:a16="http://schemas.microsoft.com/office/drawing/2014/main" id="{A037397E-8CED-40B7-BBD7-D6D58867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 e hipótesis: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diferencia de presión conocida, área conocida y presión uniforme.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Cálculo: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multiplicar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por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1,0×10⁻⁴ 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Alcance: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superficie ideal.</a:t>
            </a:r>
          </a:p>
        </p:txBody>
      </p:sp>
      <p:sp>
        <p:nvSpPr>
          <p:cNvPr id="28" name="U02-030_equation_panel">
            <a:extLst xmlns:a="http://schemas.openxmlformats.org/drawingml/2006/main">
              <a:ext uri="{FF2B5EF4-FFF2-40B4-BE49-F238E27FC236}">
                <a16:creationId xmlns:a16="http://schemas.microsoft.com/office/drawing/2014/main" id="{38148E55-15BB-4D8D-BA97-518D5632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2-030_equation">
            <a:extLst xmlns:a="http://schemas.openxmlformats.org/drawingml/2006/main">
              <a:ext uri="{FF2B5EF4-FFF2-40B4-BE49-F238E27FC236}">
                <a16:creationId xmlns:a16="http://schemas.microsoft.com/office/drawing/2014/main" id="{05F6E35A-0677-4C3E-98EC-579DECEC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F_pres = Δp·S = 1,0×10⁻⁴ N</a:t>
            </a:r>
          </a:p>
        </p:txBody>
      </p:sp>
      <p:pic>
        <p:nvPicPr>
          <p:cNvPr id="39" name="U02-030: Esquema mixto de la slide «De 0,50 Pa a 1,0×10⁻⁴ N»: Datos, hipótesis, cálculo y frase de alcanc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780cd476847eb">
            <a:extLst>
              <a:ext uri="{96DAC541-7B7A-43D3-8B79-37D633B846F1}">
                <asvg:svgBlip xmlns:asvg="http://schemas.microsoft.com/office/drawing/2016/SVG/main" r:embed="R62193bdc17d346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771775"/>
            <a:ext cx="10668000" cy="2943225"/>
          </a:xfrm>
          <a:prstGeom xmlns:a="http://schemas.openxmlformats.org/drawingml/2006/main" prst="rect">
            <a:avLst/>
          </a:prstGeom>
        </p:spPr>
      </p:pic>
      <p:sp>
        <p:nvSpPr>
          <p:cNvPr id="31" name="U02-030_caption">
            <a:extLst xmlns:a="http://schemas.openxmlformats.org/drawingml/2006/main">
              <a:ext uri="{FF2B5EF4-FFF2-40B4-BE49-F238E27FC236}">
                <a16:creationId xmlns:a16="http://schemas.microsoft.com/office/drawing/2014/main" id="{88850D00-FED3-477B-A553-714AA3E4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resultado pertenece al sistema ideal y no es un valor universal del tímpano.</a:t>
            </a:r>
          </a:p>
        </p:txBody>
      </p:sp>
      <p:sp>
        <p:nvSpPr>
          <p:cNvPr id="32" name="U02-030_source">
            <a:extLst xmlns:a="http://schemas.openxmlformats.org/drawingml/2006/main">
              <a:ext uri="{FF2B5EF4-FFF2-40B4-BE49-F238E27FC236}">
                <a16:creationId xmlns:a16="http://schemas.microsoft.com/office/drawing/2014/main" id="{CA987F77-8B66-431B-B269-3731DA2F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172A7C5-A0CC-7B36-F236-345181E6AD72}" type="slidenum">
              <a:t>31</a:t>
            </a:fld>
          </a:p>
        </p:txBody>
      </p:sp>
      <p:sp>
        <p:nvSpPr>
          <p:cNvPr id="16" name="U02-031_eyebrow">
            <a:extLst xmlns:a="http://schemas.openxmlformats.org/drawingml/2006/main">
              <a:ext uri="{FF2B5EF4-FFF2-40B4-BE49-F238E27FC236}">
                <a16:creationId xmlns:a16="http://schemas.microsoft.com/office/drawing/2014/main" id="{8795A203-4A9E-4CBC-965D-B86C8806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17" name="U02-031_title">
            <a:extLst xmlns:a="http://schemas.openxmlformats.org/drawingml/2006/main">
              <a:ext uri="{FF2B5EF4-FFF2-40B4-BE49-F238E27FC236}">
                <a16:creationId xmlns:a16="http://schemas.microsoft.com/office/drawing/2014/main" id="{CDC87EB1-E212-48E9-B07B-4126FC96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membrana timpánica recibe una fuerza distribuida</a:t>
            </a:r>
          </a:p>
        </p:txBody>
      </p:sp>
      <p:sp>
        <p:nvSpPr>
          <p:cNvPr id="18" name="U02-031_takeaway">
            <a:extLst xmlns:a="http://schemas.openxmlformats.org/drawingml/2006/main">
              <a:ext uri="{FF2B5EF4-FFF2-40B4-BE49-F238E27FC236}">
                <a16:creationId xmlns:a16="http://schemas.microsoft.com/office/drawing/2014/main" id="{B519613F-A3FC-4E9F-9808-A144FC3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Permite razonar: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una diferencia de presión ejerce fuerza distribuida.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representa: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geometría real, presión espacialmente uniforme ni movimiento rígido de toda la membrana.</a:t>
            </a:r>
          </a:p>
        </p:txBody>
      </p:sp>
      <p:pic>
        <p:nvPicPr>
          <p:cNvPr id="26" name="U02-031: Diagrama de la slide «La membrana timpánica recibe una fuerza distribuida»: Concepto físico, aplicación y tres límites: geometría, presión no uniforme, movimiento distribuid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6198459c04ef5">
            <a:extLst>
              <a:ext uri="{96DAC541-7B7A-43D3-8B79-37D633B846F1}">
                <asvg:svgBlip xmlns:asvg="http://schemas.microsoft.com/office/drawing/2016/SVG/main" r:embed="R02e11afcb9714c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0" name="U02-031_caption">
            <a:extLst xmlns:a="http://schemas.openxmlformats.org/drawingml/2006/main">
              <a:ext uri="{FF2B5EF4-FFF2-40B4-BE49-F238E27FC236}">
                <a16:creationId xmlns:a16="http://schemas.microsoft.com/office/drawing/2014/main" id="{6E2502BC-EFA4-42E7-9BBA-7158D5AE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relación presión–área ayuda a razonar, pero la membrana real tiene propiedades distribuidas. Esquema conceptual; no está a escala.</a:t>
            </a:r>
          </a:p>
        </p:txBody>
      </p:sp>
      <p:sp>
        <p:nvSpPr>
          <p:cNvPr id="21" name="U02-031_source">
            <a:extLst xmlns:a="http://schemas.openxmlformats.org/drawingml/2006/main">
              <a:ext uri="{FF2B5EF4-FFF2-40B4-BE49-F238E27FC236}">
                <a16:creationId xmlns:a16="http://schemas.microsoft.com/office/drawing/2014/main" id="{EB3F698E-115A-4278-9301-57E8EDCC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6C3428B-053E-6B4E-39FF-75B44F3F33F6}" type="slidenum">
              <a:t>32</a:t>
            </a:fld>
          </a:p>
        </p:txBody>
      </p:sp>
      <p:sp>
        <p:nvSpPr>
          <p:cNvPr id="21" name="U02-032_eyebrow">
            <a:extLst xmlns:a="http://schemas.openxmlformats.org/drawingml/2006/main">
              <a:ext uri="{FF2B5EF4-FFF2-40B4-BE49-F238E27FC236}">
                <a16:creationId xmlns:a16="http://schemas.microsoft.com/office/drawing/2014/main" id="{1107572B-362A-4400-AE06-33E3BCF8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PRESIÓN Y FUERZA</a:t>
            </a:r>
          </a:p>
        </p:txBody>
      </p:sp>
      <p:sp>
        <p:nvSpPr>
          <p:cNvPr id="22" name="U02-032_title">
            <a:extLst xmlns:a="http://schemas.openxmlformats.org/drawingml/2006/main">
              <a:ext uri="{FF2B5EF4-FFF2-40B4-BE49-F238E27FC236}">
                <a16:creationId xmlns:a16="http://schemas.microsoft.com/office/drawing/2014/main" id="{71F738F7-DC52-49AF-80AC-903D6562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de la presión al movimiento</a:t>
            </a:r>
          </a:p>
        </p:txBody>
      </p:sp>
      <p:sp>
        <p:nvSpPr>
          <p:cNvPr id="23" name="U02-032_takeaway">
            <a:extLst xmlns:a="http://schemas.openxmlformats.org/drawingml/2006/main">
              <a:ext uri="{FF2B5EF4-FFF2-40B4-BE49-F238E27FC236}">
                <a16:creationId xmlns:a16="http://schemas.microsoft.com/office/drawing/2014/main" id="{127BC8D2-7FFD-422A-A62B-B56543EF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(Pa) →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F_pres = Δp·S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(N) →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= F_neta/m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(m/s²). Cada flecha exige una relación física y unidades compatibles.</a:t>
            </a:r>
          </a:p>
        </p:txBody>
      </p:sp>
      <p:sp>
        <p:nvSpPr>
          <p:cNvPr id="24" name="U02-032_equation_panel">
            <a:extLst xmlns:a="http://schemas.openxmlformats.org/drawingml/2006/main">
              <a:ext uri="{FF2B5EF4-FFF2-40B4-BE49-F238E27FC236}">
                <a16:creationId xmlns:a16="http://schemas.microsoft.com/office/drawing/2014/main" id="{C9EDE32E-EC1B-4BCB-96FC-6BC7B640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2-032_equation">
            <a:extLst xmlns:a="http://schemas.openxmlformats.org/drawingml/2006/main">
              <a:ext uri="{FF2B5EF4-FFF2-40B4-BE49-F238E27FC236}">
                <a16:creationId xmlns:a16="http://schemas.microsoft.com/office/drawing/2014/main" id="{3BCDB1BB-7384-4B33-89E4-A74A39DE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Δp = p_1 − p_2 → F_pres = Δp·S → a = F_neta/m.</a:t>
            </a:r>
          </a:p>
        </p:txBody>
      </p:sp>
      <p:pic>
        <p:nvPicPr>
          <p:cNvPr id="35" name="U02-032: Diagrama de la slide «Hasta acá: de la presión al movimiento»: Tres relaciones y pregunta de control sobre duplicar el áre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1bc1f11d14a9b">
            <a:extLst>
              <a:ext uri="{96DAC541-7B7A-43D3-8B79-37D633B846F1}">
                <asvg:svgBlip xmlns:asvg="http://schemas.microsoft.com/office/drawing/2016/SVG/main" r:embed="Rc9efdc37777b4c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7" name="U02-032_caption">
            <a:extLst xmlns:a="http://schemas.openxmlformats.org/drawingml/2006/main">
              <a:ext uri="{FF2B5EF4-FFF2-40B4-BE49-F238E27FC236}">
                <a16:creationId xmlns:a16="http://schemas.microsoft.com/office/drawing/2014/main" id="{EF8DA622-F291-4200-AE9F-0D5364EC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Presión, área, fuerza neta y aceleración forman una cadena con unidades distintas.</a:t>
            </a:r>
          </a:p>
        </p:txBody>
      </p:sp>
      <p:sp>
        <p:nvSpPr>
          <p:cNvPr id="28" name="U02-032_source">
            <a:extLst xmlns:a="http://schemas.openxmlformats.org/drawingml/2006/main">
              <a:ext uri="{FF2B5EF4-FFF2-40B4-BE49-F238E27FC236}">
                <a16:creationId xmlns:a16="http://schemas.microsoft.com/office/drawing/2014/main" id="{21715094-720A-4EDD-B363-DE24AB67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9F9B2FD-F323-2D0A-D581-D6E61055F9A8}" type="slidenum">
              <a:t>33</a:t>
            </a:fld>
          </a:p>
        </p:txBody>
      </p:sp>
      <p:sp>
        <p:nvSpPr>
          <p:cNvPr id="10" name="U02-033_eyebrow">
            <a:extLst xmlns:a="http://schemas.openxmlformats.org/drawingml/2006/main">
              <a:ext uri="{FF2B5EF4-FFF2-40B4-BE49-F238E27FC236}">
                <a16:creationId xmlns:a16="http://schemas.microsoft.com/office/drawing/2014/main" id="{F1BD4A15-3455-4799-827A-EE8B80E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11" name="U02-033_title">
            <a:extLst xmlns:a="http://schemas.openxmlformats.org/drawingml/2006/main">
              <a:ext uri="{FF2B5EF4-FFF2-40B4-BE49-F238E27FC236}">
                <a16:creationId xmlns:a16="http://schemas.microsoft.com/office/drawing/2014/main" id="{DB9D6924-28B8-4138-A901-2BA8ABF8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Masa, elasticidad y amortiguamiento explican respuestas diferentes</a:t>
            </a:r>
          </a:p>
        </p:txBody>
      </p:sp>
      <p:sp>
        <p:nvSpPr>
          <p:cNvPr id="12" name="U02-033_guide">
            <a:extLst xmlns:a="http://schemas.openxmlformats.org/drawingml/2006/main">
              <a:ext uri="{FF2B5EF4-FFF2-40B4-BE49-F238E27FC236}">
                <a16:creationId xmlns:a16="http://schemas.microsoft.com/office/drawing/2014/main" id="{6BF3A909-08CA-42AB-A53D-A2E93D09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¿por qué un sistema puede volver al equilibrio, oscilar y finalmente detenerse?</a:t>
            </a:r>
          </a:p>
        </p:txBody>
      </p:sp>
      <p:sp>
        <p:nvSpPr>
          <p:cNvPr id="13" name="U02-033_subtitle">
            <a:extLst xmlns:a="http://schemas.openxmlformats.org/drawingml/2006/main">
              <a:ext uri="{FF2B5EF4-FFF2-40B4-BE49-F238E27FC236}">
                <a16:creationId xmlns:a16="http://schemas.microsoft.com/office/drawing/2014/main" id="{3D270BD9-6CBC-4514-85DE-C356B942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17719D9-501B-28AD-B78E-917C652F49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6C2EC43-E3B9-C9B0-67FF-5447EB7F3925}" type="slidenum">
              <a:t>34</a:t>
            </a:fld>
          </a:p>
        </p:txBody>
      </p:sp>
      <p:sp>
        <p:nvSpPr>
          <p:cNvPr id="16" name="U02-034_eyebrow">
            <a:extLst xmlns:a="http://schemas.openxmlformats.org/drawingml/2006/main">
              <a:ext uri="{FF2B5EF4-FFF2-40B4-BE49-F238E27FC236}">
                <a16:creationId xmlns:a16="http://schemas.microsoft.com/office/drawing/2014/main" id="{ECFE69A2-2035-4985-8206-E17A8011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17" name="U02-034_title">
            <a:extLst xmlns:a="http://schemas.openxmlformats.org/drawingml/2006/main">
              <a:ext uri="{FF2B5EF4-FFF2-40B4-BE49-F238E27FC236}">
                <a16:creationId xmlns:a16="http://schemas.microsoft.com/office/drawing/2014/main" id="{DC91E473-CC19-451D-87CB-EB74FBEC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Observe qué cambia cuando aumenta el amortiguamiento</a:t>
            </a:r>
          </a:p>
        </p:txBody>
      </p:sp>
      <p:sp>
        <p:nvSpPr>
          <p:cNvPr id="18" name="U02-034_static_panel">
            <a:extLst xmlns:a="http://schemas.openxmlformats.org/drawingml/2006/main">
              <a:ext uri="{FF2B5EF4-FFF2-40B4-BE49-F238E27FC236}">
                <a16:creationId xmlns:a16="http://schemas.microsoft.com/office/drawing/2014/main" id="{69EE56CE-B759-4E8D-B57B-5343E3DE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0287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</p:sp>
      <p:sp>
        <p:nvSpPr>
          <p:cNvPr id="19" name="U02-034_static_text">
            <a:extLst xmlns:a="http://schemas.openxmlformats.org/drawingml/2006/main">
              <a:ext uri="{FF2B5EF4-FFF2-40B4-BE49-F238E27FC236}">
                <a16:creationId xmlns:a16="http://schemas.microsoft.com/office/drawing/2014/main" id="{8F8CDC10-890B-432A-9270-13C12DC0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962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Prediga: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¿qué sistema mantendrá la oscilación durante más tiempo?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Observe: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igual masa y rigidez, distinto amortiguamiento.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Compare: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rapidez de decaimiento.</a:t>
            </a:r>
          </a:p>
        </p:txBody>
      </p:sp>
      <p:sp>
        <p:nvSpPr>
          <p:cNvPr id="20" name="U02-034_media_status">
            <a:extLst xmlns:a="http://schemas.openxmlformats.org/drawingml/2006/main">
              <a:ext uri="{FF2B5EF4-FFF2-40B4-BE49-F238E27FC236}">
                <a16:creationId xmlns:a16="http://schemas.microsoft.com/office/drawing/2014/main" id="{67CDFAF6-7A0A-4ED5-8D4E-4162667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339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Alternativa estática incluida. El recurso audiovisual propio continúa pendiente.</a:t>
            </a:r>
          </a:p>
        </p:txBody>
      </p:sp>
      <p:sp>
        <p:nvSpPr>
          <p:cNvPr id="21" name="U02-034_phet_link">
            <a:extLst xmlns:a="http://schemas.openxmlformats.org/drawingml/2006/main">
              <a:ext uri="{FF2B5EF4-FFF2-40B4-BE49-F238E27FC236}">
                <a16:creationId xmlns:a16="http://schemas.microsoft.com/office/drawing/2014/main" id="{7424CF30-4BF4-4B29-BEFB-3F31767C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864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023E7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73f7c0a81d74141"/>
              </a:rPr>
              <a:t>Abrir simulación PhET: Masas y Resortes — Fundamentos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AB9938E4-BE03-A7BA-4A48-E6E490724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A4FA566-8B12-6DD2-DDB5-FA6393938FB6}" type="slidenum">
              <a:t>35</a:t>
            </a:fld>
          </a:p>
        </p:txBody>
      </p:sp>
      <p:sp>
        <p:nvSpPr>
          <p:cNvPr id="27" name="U02-035_eyebrow">
            <a:extLst xmlns:a="http://schemas.openxmlformats.org/drawingml/2006/main">
              <a:ext uri="{FF2B5EF4-FFF2-40B4-BE49-F238E27FC236}">
                <a16:creationId xmlns:a16="http://schemas.microsoft.com/office/drawing/2014/main" id="{FF4526FF-2063-40C8-9086-A836DCE9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8" name="U02-035_title">
            <a:extLst xmlns:a="http://schemas.openxmlformats.org/drawingml/2006/main">
              <a:ext uri="{FF2B5EF4-FFF2-40B4-BE49-F238E27FC236}">
                <a16:creationId xmlns:a16="http://schemas.microsoft.com/office/drawing/2014/main" id="{B778B6C9-B15E-46AD-90B2-64367051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propiedades, tres efectos</a:t>
            </a:r>
          </a:p>
        </p:txBody>
      </p:sp>
      <p:sp>
        <p:nvSpPr>
          <p:cNvPr id="29" name="U02-035_takeaway">
            <a:extLst xmlns:a="http://schemas.openxmlformats.org/drawingml/2006/main">
              <a:ext uri="{FF2B5EF4-FFF2-40B4-BE49-F238E27FC236}">
                <a16:creationId xmlns:a16="http://schemas.microsoft.com/office/drawing/2014/main" id="{C7393461-C65B-4F0F-9CD9-17A5940C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Masa: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opone a cambios de velocidad.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Elasticidad: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genera retorno.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Amortiguamiento: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opone al movimiento y disipa energía.</a:t>
            </a:r>
          </a:p>
        </p:txBody>
      </p:sp>
      <p:pic>
        <p:nvPicPr>
          <p:cNvPr id="37" name="U02-035: Diagrama de la slide «Tres propiedades, tres efectos»: Masa → inercia; elasticidad → retorno; amortiguamiento → disip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483332e194492">
            <a:extLst>
              <a:ext uri="{96DAC541-7B7A-43D3-8B79-37D633B846F1}">
                <asvg:svgBlip xmlns:asvg="http://schemas.microsoft.com/office/drawing/2016/SVG/main" r:embed="Reca40fdb40dc45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31" name="U02-035_caption">
            <a:extLst xmlns:a="http://schemas.openxmlformats.org/drawingml/2006/main">
              <a:ext uri="{FF2B5EF4-FFF2-40B4-BE49-F238E27FC236}">
                <a16:creationId xmlns:a16="http://schemas.microsoft.com/office/drawing/2014/main" id="{32EC7B87-B4C7-48BF-A0C8-5DF484BF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propiedad responde una pregunta distinta.</a:t>
            </a:r>
          </a:p>
        </p:txBody>
      </p:sp>
      <p:sp>
        <p:nvSpPr>
          <p:cNvPr id="32" name="U02-035_source">
            <a:extLst xmlns:a="http://schemas.openxmlformats.org/drawingml/2006/main">
              <a:ext uri="{FF2B5EF4-FFF2-40B4-BE49-F238E27FC236}">
                <a16:creationId xmlns:a16="http://schemas.microsoft.com/office/drawing/2014/main" id="{C5540A32-AA76-4627-B4D5-8795C1E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2630458C-F90C-62F1-3891-6CBC98AF219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39A338D-B192-3127-EB9A-53A2665A0BB7}" type="slidenum">
              <a:t>36</a:t>
            </a:fld>
          </a:p>
        </p:txBody>
      </p:sp>
      <p:sp>
        <p:nvSpPr>
          <p:cNvPr id="19" name="U02-036_eyebrow">
            <a:extLst xmlns:a="http://schemas.openxmlformats.org/drawingml/2006/main">
              <a:ext uri="{FF2B5EF4-FFF2-40B4-BE49-F238E27FC236}">
                <a16:creationId xmlns:a16="http://schemas.microsoft.com/office/drawing/2014/main" id="{41742577-1FAE-4C46-A9D5-F30AC43D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0" name="U02-036_title">
            <a:extLst xmlns:a="http://schemas.openxmlformats.org/drawingml/2006/main">
              <a:ext uri="{FF2B5EF4-FFF2-40B4-BE49-F238E27FC236}">
                <a16:creationId xmlns:a16="http://schemas.microsoft.com/office/drawing/2014/main" id="{3E5CBE58-E528-4D90-B4DD-EF143C2A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masa cuantifica la inercia</a:t>
            </a:r>
          </a:p>
        </p:txBody>
      </p:sp>
      <p:sp>
        <p:nvSpPr>
          <p:cNvPr id="21" name="U02-036_takeaway">
            <a:extLst xmlns:a="http://schemas.openxmlformats.org/drawingml/2006/main">
              <a:ext uri="{FF2B5EF4-FFF2-40B4-BE49-F238E27FC236}">
                <a16:creationId xmlns:a16="http://schemas.microsoft.com/office/drawing/2014/main" id="{B7E3B3E2-AD62-4194-B02E-8491B0A6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masa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mide la inercia. Con la misma fuerza neta, una masa mayor presenta una aceleración menor.</a:t>
            </a:r>
          </a:p>
        </p:txBody>
      </p:sp>
      <p:pic>
        <p:nvPicPr>
          <p:cNvPr id="29" name="U02-036: Diagrama de la slide «La masa cuantifica la inercia»: Definición, unidad y comparación cualitativ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0804184e74f02">
            <a:extLst>
              <a:ext uri="{96DAC541-7B7A-43D3-8B79-37D633B846F1}">
                <asvg:svgBlip xmlns:asvg="http://schemas.microsoft.com/office/drawing/2016/SVG/main" r:embed="Re5ecc232f6b848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38350"/>
            <a:ext cx="10668000" cy="3676650"/>
          </a:xfrm>
          <a:prstGeom xmlns:a="http://schemas.openxmlformats.org/drawingml/2006/main" prst="rect">
            <a:avLst/>
          </a:prstGeom>
        </p:spPr>
      </p:pic>
      <p:sp>
        <p:nvSpPr>
          <p:cNvPr id="23" name="U02-036_caption">
            <a:extLst xmlns:a="http://schemas.openxmlformats.org/drawingml/2006/main">
              <a:ext uri="{FF2B5EF4-FFF2-40B4-BE49-F238E27FC236}">
                <a16:creationId xmlns:a16="http://schemas.microsoft.com/office/drawing/2014/main" id="{D997A7CB-A1C4-4CDD-A94A-357B25D0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 igualdad de resultante, mayor masa implica menor aceleración.</a:t>
            </a:r>
          </a:p>
        </p:txBody>
      </p:sp>
      <p:sp>
        <p:nvSpPr>
          <p:cNvPr id="24" name="U02-036_source">
            <a:extLst xmlns:a="http://schemas.openxmlformats.org/drawingml/2006/main">
              <a:ext uri="{FF2B5EF4-FFF2-40B4-BE49-F238E27FC236}">
                <a16:creationId xmlns:a16="http://schemas.microsoft.com/office/drawing/2014/main" id="{81830327-0AED-411C-8423-B5ADDF6A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rcador de número de diapositiva 20">
            <a:extLst xmlns:a="http://schemas.openxmlformats.org/drawingml/2006/main">
              <a:ext uri="{FF2B5EF4-FFF2-40B4-BE49-F238E27FC236}">
                <a16:creationId xmlns:a16="http://schemas.microsoft.com/office/drawing/2014/main" id="{9CA9596E-D94D-48D7-199C-CC38FBB01EF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D334276-4C85-190E-BA41-5CA1CBB04E4E}" type="slidenum">
              <a:t>37</a:t>
            </a:fld>
          </a:p>
        </p:txBody>
      </p:sp>
      <p:sp>
        <p:nvSpPr>
          <p:cNvPr id="22" name="U02-037_eyebrow">
            <a:extLst xmlns:a="http://schemas.openxmlformats.org/drawingml/2006/main">
              <a:ext uri="{FF2B5EF4-FFF2-40B4-BE49-F238E27FC236}">
                <a16:creationId xmlns:a16="http://schemas.microsoft.com/office/drawing/2014/main" id="{D2CAADAD-F4C5-42D8-93EB-FC74204C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3" name="U02-037_title">
            <a:extLst xmlns:a="http://schemas.openxmlformats.org/drawingml/2006/main">
              <a:ext uri="{FF2B5EF4-FFF2-40B4-BE49-F238E27FC236}">
                <a16:creationId xmlns:a16="http://schemas.microsoft.com/office/drawing/2014/main" id="{A1A753F3-B02E-4296-AEA5-8D6100E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elasticidad produce una fuerza restauradora</a:t>
            </a:r>
          </a:p>
        </p:txBody>
      </p:sp>
      <p:sp>
        <p:nvSpPr>
          <p:cNvPr id="24" name="U02-037_takeaway">
            <a:extLst xmlns:a="http://schemas.openxmlformats.org/drawingml/2006/main">
              <a:ext uri="{FF2B5EF4-FFF2-40B4-BE49-F238E27FC236}">
                <a16:creationId xmlns:a16="http://schemas.microsoft.com/office/drawing/2014/main" id="{A9A320FA-E7EF-487A-91CA-2A16A783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el sistema se aparta del equilibrio, la fuerza elástica apunta en sentido contrario al desplazamiento y tiende a hacerlo regresar.</a:t>
            </a:r>
          </a:p>
        </p:txBody>
      </p:sp>
      <p:pic>
        <p:nvPicPr>
          <p:cNvPr id="32" name="U02-037: Diagrama de la slide «La elasticidad produce una fuerza restauradora»: Posición de equilibrio, desplazamiento positivo/negativo y sentido de retor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ed9533d444ed3">
            <a:extLst>
              <a:ext uri="{96DAC541-7B7A-43D3-8B79-37D633B846F1}">
                <asvg:svgBlip xmlns:asvg="http://schemas.microsoft.com/office/drawing/2016/SVG/main" r:embed="R5cfde7893fcf49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6" name="U02-037_caption">
            <a:extLst xmlns:a="http://schemas.openxmlformats.org/drawingml/2006/main">
              <a:ext uri="{FF2B5EF4-FFF2-40B4-BE49-F238E27FC236}">
                <a16:creationId xmlns:a16="http://schemas.microsoft.com/office/drawing/2014/main" id="{DAA2318F-88EC-4CAD-9EE6-1BD80A3E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Al separarse del equilibrio aparece una fuerza que apunta hacia él. Esquema conceptual; no está a escala.</a:t>
            </a:r>
          </a:p>
        </p:txBody>
      </p:sp>
      <p:sp>
        <p:nvSpPr>
          <p:cNvPr id="27" name="U02-037_source">
            <a:extLst xmlns:a="http://schemas.openxmlformats.org/drawingml/2006/main">
              <a:ext uri="{FF2B5EF4-FFF2-40B4-BE49-F238E27FC236}">
                <a16:creationId xmlns:a16="http://schemas.microsoft.com/office/drawing/2014/main" id="{E49E4EF4-C492-40BF-9336-881857E6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55A7F00-3259-A23D-D734-A322A9F9DD63}" type="slidenum">
              <a:t>38</a:t>
            </a:fld>
          </a:p>
        </p:txBody>
      </p:sp>
      <p:sp>
        <p:nvSpPr>
          <p:cNvPr id="19" name="U02-038_eyebrow">
            <a:extLst xmlns:a="http://schemas.openxmlformats.org/drawingml/2006/main">
              <a:ext uri="{FF2B5EF4-FFF2-40B4-BE49-F238E27FC236}">
                <a16:creationId xmlns:a16="http://schemas.microsoft.com/office/drawing/2014/main" id="{8A9F7C38-D6CB-4D9E-9F04-9C3CEC3F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0" name="U02-038_title">
            <a:extLst xmlns:a="http://schemas.openxmlformats.org/drawingml/2006/main">
              <a:ext uri="{FF2B5EF4-FFF2-40B4-BE49-F238E27FC236}">
                <a16:creationId xmlns:a16="http://schemas.microsoft.com/office/drawing/2014/main" id="{AAD75CB3-D047-4990-8D51-2356367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elástica es opuesta al desplazamiento</a:t>
            </a:r>
          </a:p>
        </p:txBody>
      </p:sp>
      <p:sp>
        <p:nvSpPr>
          <p:cNvPr id="21" name="U02-038_takeaway">
            <a:extLst xmlns:a="http://schemas.openxmlformats.org/drawingml/2006/main">
              <a:ext uri="{FF2B5EF4-FFF2-40B4-BE49-F238E27FC236}">
                <a16:creationId xmlns:a16="http://schemas.microsoft.com/office/drawing/2014/main" id="{CA5D87AC-5967-46DB-9EE0-AEBD15C1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F_el = −k_s·x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es la rigidez (N/m)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el desplazamiento (m). El signo menos indica que la fuerza apunta hacia el equilibrio.</a:t>
            </a:r>
          </a:p>
        </p:txBody>
      </p:sp>
      <p:sp>
        <p:nvSpPr>
          <p:cNvPr id="22" name="U02-038_equation_panel">
            <a:extLst xmlns:a="http://schemas.openxmlformats.org/drawingml/2006/main">
              <a:ext uri="{FF2B5EF4-FFF2-40B4-BE49-F238E27FC236}">
                <a16:creationId xmlns:a16="http://schemas.microsoft.com/office/drawing/2014/main" id="{505DEF42-5F13-42E6-BAE1-8C1FB33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38_equation">
            <a:extLst xmlns:a="http://schemas.openxmlformats.org/drawingml/2006/main">
              <a:ext uri="{FF2B5EF4-FFF2-40B4-BE49-F238E27FC236}">
                <a16:creationId xmlns:a16="http://schemas.microsoft.com/office/drawing/2014/main" id="{51C06F4D-A1F5-44C1-BD75-2662577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F_el = −k_sx</a:t>
            </a:r>
          </a:p>
        </p:txBody>
      </p:sp>
      <p:pic>
        <p:nvPicPr>
          <p:cNvPr id="33" name="U02-038: Esquema mixto de la slide «La fuerza elástica es opuesta al desplazamiento»: Ecuación, k_s, x, unidades, zona lineal y dos sign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2c53a9ad04ae5">
            <a:extLst>
              <a:ext uri="{96DAC541-7B7A-43D3-8B79-37D633B846F1}">
                <asvg:svgBlip xmlns:asvg="http://schemas.microsoft.com/office/drawing/2016/SVG/main" r:embed="R52cd48e9210c49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38_caption">
            <a:extLst xmlns:a="http://schemas.openxmlformats.org/drawingml/2006/main">
              <a:ext uri="{FF2B5EF4-FFF2-40B4-BE49-F238E27FC236}">
                <a16:creationId xmlns:a16="http://schemas.microsoft.com/office/drawing/2014/main" id="{A37091E6-1A9A-4F57-9692-742B08B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signo negativo expresa dirección restauradora.</a:t>
            </a:r>
          </a:p>
        </p:txBody>
      </p:sp>
      <p:sp>
        <p:nvSpPr>
          <p:cNvPr id="26" name="U02-038_source">
            <a:extLst xmlns:a="http://schemas.openxmlformats.org/drawingml/2006/main">
              <a:ext uri="{FF2B5EF4-FFF2-40B4-BE49-F238E27FC236}">
                <a16:creationId xmlns:a16="http://schemas.microsoft.com/office/drawing/2014/main" id="{8E8EB0CD-E92A-4740-9EAF-EE4CC680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166C477-A387-35CF-F492-F54B4FA4FEC9}" type="slidenum">
              <a:t>39</a:t>
            </a:fld>
          </a:p>
        </p:txBody>
      </p:sp>
      <p:sp>
        <p:nvSpPr>
          <p:cNvPr id="20" name="U02-039_eyebrow">
            <a:extLst xmlns:a="http://schemas.openxmlformats.org/drawingml/2006/main">
              <a:ext uri="{FF2B5EF4-FFF2-40B4-BE49-F238E27FC236}">
                <a16:creationId xmlns:a16="http://schemas.microsoft.com/office/drawing/2014/main" id="{32DCB5B0-D2DA-4BBC-8131-A7BE5C09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1" name="U02-039_title">
            <a:extLst xmlns:a="http://schemas.openxmlformats.org/drawingml/2006/main">
              <a:ext uri="{FF2B5EF4-FFF2-40B4-BE49-F238E27FC236}">
                <a16:creationId xmlns:a16="http://schemas.microsoft.com/office/drawing/2014/main" id="{4DD316C8-579D-4844-A670-4DD6B160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amortiguamiento se opone al movimiento</a:t>
            </a:r>
          </a:p>
        </p:txBody>
      </p:sp>
      <p:sp>
        <p:nvSpPr>
          <p:cNvPr id="22" name="U02-039_takeaway">
            <a:extLst xmlns:a="http://schemas.openxmlformats.org/drawingml/2006/main">
              <a:ext uri="{FF2B5EF4-FFF2-40B4-BE49-F238E27FC236}">
                <a16:creationId xmlns:a16="http://schemas.microsoft.com/office/drawing/2014/main" id="{6DE87CD1-D613-4E01-8E27-AC41A121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amortiguamiento se opone a la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velocidad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En una misma posición, invertir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invierte la fuerza de amortiguamiento.</a:t>
            </a:r>
          </a:p>
        </p:txBody>
      </p:sp>
      <p:pic>
        <p:nvPicPr>
          <p:cNvPr id="30" name="U02-039: Diagrama de la slide «El amortiguamiento se opone al movimiento»: Comparar dos instantes con igual posición y velocidades opuest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61a7012c2411d">
            <a:extLst>
              <a:ext uri="{96DAC541-7B7A-43D3-8B79-37D633B846F1}">
                <asvg:svgBlip xmlns:asvg="http://schemas.microsoft.com/office/drawing/2016/SVG/main" r:embed="R4077d595fb9d4f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4" name="U02-039_caption">
            <a:extLst xmlns:a="http://schemas.openxmlformats.org/drawingml/2006/main">
              <a:ext uri="{FF2B5EF4-FFF2-40B4-BE49-F238E27FC236}">
                <a16:creationId xmlns:a16="http://schemas.microsoft.com/office/drawing/2014/main" id="{D1D5CE56-4C80-4727-9804-08EBD467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Su sentido depende de v, no necesariamente de x.</a:t>
            </a:r>
          </a:p>
        </p:txBody>
      </p:sp>
      <p:sp>
        <p:nvSpPr>
          <p:cNvPr id="25" name="U02-039_source">
            <a:extLst xmlns:a="http://schemas.openxmlformats.org/drawingml/2006/main">
              <a:ext uri="{FF2B5EF4-FFF2-40B4-BE49-F238E27FC236}">
                <a16:creationId xmlns:a16="http://schemas.microsoft.com/office/drawing/2014/main" id="{EBC80074-4994-42D1-A298-D8CB369E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0C89EF0-BE71-8D92-BDDF-FF7D05F0AC04}" type="slidenum">
              <a:t>40</a:t>
            </a:fld>
          </a:p>
        </p:txBody>
      </p:sp>
      <p:sp>
        <p:nvSpPr>
          <p:cNvPr id="19" name="U02-040_eyebrow">
            <a:extLst xmlns:a="http://schemas.openxmlformats.org/drawingml/2006/main">
              <a:ext uri="{FF2B5EF4-FFF2-40B4-BE49-F238E27FC236}">
                <a16:creationId xmlns:a16="http://schemas.microsoft.com/office/drawing/2014/main" id="{6732D03E-FAF6-498E-8D12-794DB1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0" name="U02-040_title">
            <a:extLst xmlns:a="http://schemas.openxmlformats.org/drawingml/2006/main">
              <a:ext uri="{FF2B5EF4-FFF2-40B4-BE49-F238E27FC236}">
                <a16:creationId xmlns:a16="http://schemas.microsoft.com/office/drawing/2014/main" id="{17F20752-6703-44BB-9E2E-98C8336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de amortiguamiento es opuesta a la velocidad</a:t>
            </a:r>
          </a:p>
        </p:txBody>
      </p:sp>
      <p:sp>
        <p:nvSpPr>
          <p:cNvPr id="21" name="U02-040_takeaway">
            <a:extLst xmlns:a="http://schemas.openxmlformats.org/drawingml/2006/main">
              <a:ext uri="{FF2B5EF4-FFF2-40B4-BE49-F238E27FC236}">
                <a16:creationId xmlns:a16="http://schemas.microsoft.com/office/drawing/2014/main" id="{1030AAF0-1EEF-4C60-9403-546CC9B0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F_amort = −b·v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mide en N·s/m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en m/s. El signo menos indica oposición al movimiento.</a:t>
            </a:r>
          </a:p>
        </p:txBody>
      </p:sp>
      <p:sp>
        <p:nvSpPr>
          <p:cNvPr id="22" name="U02-040_equation_panel">
            <a:extLst xmlns:a="http://schemas.openxmlformats.org/drawingml/2006/main">
              <a:ext uri="{FF2B5EF4-FFF2-40B4-BE49-F238E27FC236}">
                <a16:creationId xmlns:a16="http://schemas.microsoft.com/office/drawing/2014/main" id="{44BC9DE2-C876-4FB1-85D0-00FF8CBD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40_equation">
            <a:extLst xmlns:a="http://schemas.openxmlformats.org/drawingml/2006/main">
              <a:ext uri="{FF2B5EF4-FFF2-40B4-BE49-F238E27FC236}">
                <a16:creationId xmlns:a16="http://schemas.microsoft.com/office/drawing/2014/main" id="{FC35E267-7FC1-40E3-B94A-B97CC058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F_amort = −bv</a:t>
            </a:r>
          </a:p>
        </p:txBody>
      </p:sp>
      <p:pic>
        <p:nvPicPr>
          <p:cNvPr id="33" name="U02-040: Esquema mixto de la slide «La fuerza de amortiguamiento es opuesta a la velocidad»: Ecuación, símbolos, unidades y gráfico lineal opcion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65e99af3746b9">
            <a:extLst>
              <a:ext uri="{96DAC541-7B7A-43D3-8B79-37D633B846F1}">
                <asvg:svgBlip xmlns:asvg="http://schemas.microsoft.com/office/drawing/2016/SVG/main" r:embed="Ra531521a3ec045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40_caption">
            <a:extLst xmlns:a="http://schemas.openxmlformats.org/drawingml/2006/main">
              <a:ext uri="{FF2B5EF4-FFF2-40B4-BE49-F238E27FC236}">
                <a16:creationId xmlns:a16="http://schemas.microsoft.com/office/drawing/2014/main" id="{9C3F0802-C328-46B0-B67F-1248030D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b caracteriza el modelo disipativo; no toda atenuación se debe a b.</a:t>
            </a:r>
          </a:p>
        </p:txBody>
      </p:sp>
      <p:sp>
        <p:nvSpPr>
          <p:cNvPr id="26" name="U02-040_source">
            <a:extLst xmlns:a="http://schemas.openxmlformats.org/drawingml/2006/main">
              <a:ext uri="{FF2B5EF4-FFF2-40B4-BE49-F238E27FC236}">
                <a16:creationId xmlns:a16="http://schemas.microsoft.com/office/drawing/2014/main" id="{C40BA082-8711-4B68-B206-1ACB7CAD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9CAEC632-A9E6-82AB-6034-3014BC3905A0}" type="slidenum">
              <a:t>41</a:t>
            </a:fld>
          </a:p>
        </p:txBody>
      </p:sp>
      <p:sp>
        <p:nvSpPr>
          <p:cNvPr id="27" name="U02-041_eyebrow">
            <a:extLst xmlns:a="http://schemas.openxmlformats.org/drawingml/2006/main">
              <a:ext uri="{FF2B5EF4-FFF2-40B4-BE49-F238E27FC236}">
                <a16:creationId xmlns:a16="http://schemas.microsoft.com/office/drawing/2014/main" id="{A7C0A365-21CB-4EDE-B6D5-22AC7E16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8" name="U02-041_title">
            <a:extLst xmlns:a="http://schemas.openxmlformats.org/drawingml/2006/main">
              <a:ext uri="{FF2B5EF4-FFF2-40B4-BE49-F238E27FC236}">
                <a16:creationId xmlns:a16="http://schemas.microsoft.com/office/drawing/2014/main" id="{8C15A549-657B-483A-9F48-E9E2BF56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modelo reúne tres mecanismos sin copiar la anatomía</a:t>
            </a:r>
          </a:p>
        </p:txBody>
      </p:sp>
      <p:sp>
        <p:nvSpPr>
          <p:cNvPr id="29" name="U02-041_takeaway">
            <a:extLst xmlns:a="http://schemas.openxmlformats.org/drawingml/2006/main">
              <a:ext uri="{FF2B5EF4-FFF2-40B4-BE49-F238E27FC236}">
                <a16:creationId xmlns:a16="http://schemas.microsoft.com/office/drawing/2014/main" id="{F79489BE-4FF0-432A-90BF-6E2A7669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modelo ideal separa tres propiedades: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representa inercia,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representa rigidez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representa amortiguamiento. No es una copia anatómica.</a:t>
            </a:r>
          </a:p>
        </p:txBody>
      </p:sp>
      <p:pic>
        <p:nvPicPr>
          <p:cNvPr id="37" name="U02-041: Diagrama de la slide «El modelo reúne tres mecanismos sin copiar la anatomía»: Etapa 1 masa; etapa 2 resorte; etapa 3 amortiguador y fuerza externa; rótulos y unidad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9652c181c41bd">
            <a:extLst>
              <a:ext uri="{96DAC541-7B7A-43D3-8B79-37D633B846F1}">
                <asvg:svgBlip xmlns:asvg="http://schemas.microsoft.com/office/drawing/2016/SVG/main" r:embed="Rf1a117c95a8d44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31" name="U02-041_caption">
            <a:extLst xmlns:a="http://schemas.openxmlformats.org/drawingml/2006/main">
              <a:ext uri="{FF2B5EF4-FFF2-40B4-BE49-F238E27FC236}">
                <a16:creationId xmlns:a16="http://schemas.microsoft.com/office/drawing/2014/main" id="{789B4EE1-AA82-4D5D-9BA4-80D00C20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Los elementos ideales concentran propiedades distribuidas.</a:t>
            </a:r>
          </a:p>
        </p:txBody>
      </p:sp>
      <p:sp>
        <p:nvSpPr>
          <p:cNvPr id="32" name="U02-041_source">
            <a:extLst xmlns:a="http://schemas.openxmlformats.org/drawingml/2006/main">
              <a:ext uri="{FF2B5EF4-FFF2-40B4-BE49-F238E27FC236}">
                <a16:creationId xmlns:a16="http://schemas.microsoft.com/office/drawing/2014/main" id="{2B8C17EE-EC4D-49AD-A351-6BD1C0F4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75CE1F1-F8E2-E359-8FD1-A9FA98B3A676}" type="slidenum">
              <a:t>42</a:t>
            </a:fld>
          </a:p>
        </p:txBody>
      </p:sp>
      <p:sp>
        <p:nvSpPr>
          <p:cNvPr id="19" name="U02-042_eyebrow">
            <a:extLst xmlns:a="http://schemas.openxmlformats.org/drawingml/2006/main">
              <a:ext uri="{FF2B5EF4-FFF2-40B4-BE49-F238E27FC236}">
                <a16:creationId xmlns:a16="http://schemas.microsoft.com/office/drawing/2014/main" id="{9378B52A-40BE-4056-9F95-488008CD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0" name="U02-042_title">
            <a:extLst xmlns:a="http://schemas.openxmlformats.org/drawingml/2006/main">
              <a:ext uri="{FF2B5EF4-FFF2-40B4-BE49-F238E27FC236}">
                <a16:creationId xmlns:a16="http://schemas.microsoft.com/office/drawing/2014/main" id="{F981C439-9D4A-4B69-84D7-CAC7D48B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Cada término del balance representa un mecanismo</a:t>
            </a:r>
          </a:p>
        </p:txBody>
      </p:sp>
      <p:sp>
        <p:nvSpPr>
          <p:cNvPr id="21" name="U02-042_takeaway">
            <a:extLst xmlns:a="http://schemas.openxmlformats.org/drawingml/2006/main">
              <a:ext uri="{FF2B5EF4-FFF2-40B4-BE49-F238E27FC236}">
                <a16:creationId xmlns:a16="http://schemas.microsoft.com/office/drawing/2014/main" id="{9AE99E4F-535F-414A-93A2-C4E0D9EC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m·a = F_ext − k_s·x − b·v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Cada término describe un mecanismo: entrada externa, retorno elástico, disipación e inercia.</a:t>
            </a:r>
          </a:p>
        </p:txBody>
      </p:sp>
      <p:sp>
        <p:nvSpPr>
          <p:cNvPr id="22" name="U02-042_equation_panel">
            <a:extLst xmlns:a="http://schemas.openxmlformats.org/drawingml/2006/main">
              <a:ext uri="{FF2B5EF4-FFF2-40B4-BE49-F238E27FC236}">
                <a16:creationId xmlns:a16="http://schemas.microsoft.com/office/drawing/2014/main" id="{D4CBD2A2-B803-4C9E-A06B-F0F13676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42_equation">
            <a:extLst xmlns:a="http://schemas.openxmlformats.org/drawingml/2006/main">
              <a:ext uri="{FF2B5EF4-FFF2-40B4-BE49-F238E27FC236}">
                <a16:creationId xmlns:a16="http://schemas.microsoft.com/office/drawing/2014/main" id="{D6595299-3DC6-49C4-9C51-77AE8EDA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F_ext − k_sx − bv = ma</a:t>
            </a:r>
          </a:p>
        </p:txBody>
      </p:sp>
      <p:pic>
        <p:nvPicPr>
          <p:cNvPr id="33" name="U02-042: Ecuación anotada de la slide «Cada término del balance representa un mecanismo»: Ecuación central; color o callout estable para entrada, retorno, disipación e inerc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e19eb249645ab">
            <a:extLst>
              <a:ext uri="{96DAC541-7B7A-43D3-8B79-37D633B846F1}">
                <asvg:svgBlip xmlns:asvg="http://schemas.microsoft.com/office/drawing/2016/SVG/main" r:embed="R55031d8c8d354c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42_caption">
            <a:extLst xmlns:a="http://schemas.openxmlformats.org/drawingml/2006/main">
              <a:ext uri="{FF2B5EF4-FFF2-40B4-BE49-F238E27FC236}">
                <a16:creationId xmlns:a16="http://schemas.microsoft.com/office/drawing/2014/main" id="{B79C45E4-240B-41E1-B658-80C7A0E9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ecuación describe un instante; no resuelve por sí sola la evolución temporal.</a:t>
            </a:r>
          </a:p>
        </p:txBody>
      </p:sp>
      <p:sp>
        <p:nvSpPr>
          <p:cNvPr id="26" name="U02-042_source">
            <a:extLst xmlns:a="http://schemas.openxmlformats.org/drawingml/2006/main">
              <a:ext uri="{FF2B5EF4-FFF2-40B4-BE49-F238E27FC236}">
                <a16:creationId xmlns:a16="http://schemas.microsoft.com/office/drawing/2014/main" id="{95677DDE-37D3-49EE-82B4-9DD1BE2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B71E6959-ACF4-0436-802C-200F793D53F6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70EE3B2-1325-F8E9-D276-8EA80C32ED19}" type="slidenum">
              <a:t>43</a:t>
            </a:fld>
          </a:p>
        </p:txBody>
      </p:sp>
      <p:sp>
        <p:nvSpPr>
          <p:cNvPr id="21" name="U02-043_eyebrow">
            <a:extLst xmlns:a="http://schemas.openxmlformats.org/drawingml/2006/main">
              <a:ext uri="{FF2B5EF4-FFF2-40B4-BE49-F238E27FC236}">
                <a16:creationId xmlns:a16="http://schemas.microsoft.com/office/drawing/2014/main" id="{6CCDB1E7-EABD-4800-AFB3-39727EBE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2" name="U02-043_title">
            <a:extLst xmlns:a="http://schemas.openxmlformats.org/drawingml/2006/main">
              <a:ext uri="{FF2B5EF4-FFF2-40B4-BE49-F238E27FC236}">
                <a16:creationId xmlns:a16="http://schemas.microsoft.com/office/drawing/2014/main" id="{DA8A0163-9C44-47B2-8AAB-53998935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¿Hacia dónde apuntan las fuerzas si x y v cambian de signo?</a:t>
            </a:r>
          </a:p>
        </p:txBody>
      </p:sp>
      <p:sp>
        <p:nvSpPr>
          <p:cNvPr id="23" name="U02-043_takeaway">
            <a:extLst xmlns:a="http://schemas.openxmlformats.org/drawingml/2006/main">
              <a:ext uri="{FF2B5EF4-FFF2-40B4-BE49-F238E27FC236}">
                <a16:creationId xmlns:a16="http://schemas.microsoft.com/office/drawing/2014/main" id="{158CC4C4-E3D7-444A-86F0-261C86CC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cada combinación de signos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aplicar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F_el = −k_s·x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F_amort = −b·v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Ambas fuerzas pueden coincidir o apuntar en sentidos opuestos.</a:t>
            </a:r>
          </a:p>
        </p:txBody>
      </p:sp>
      <p:pic>
        <p:nvPicPr>
          <p:cNvPr id="31" name="U02-043: Diagrama de la slide «¿Hacia dónde apuntan las fuerzas si x y v cambian de signo?»: Cuatro combinaciones de signos; completar flechas o sign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5d1c6874d4553">
            <a:extLst>
              <a:ext uri="{96DAC541-7B7A-43D3-8B79-37D633B846F1}">
                <asvg:svgBlip xmlns:asvg="http://schemas.microsoft.com/office/drawing/2016/SVG/main" r:embed="R7b64c0f17da64d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5" name="U02-043_caption">
            <a:extLst xmlns:a="http://schemas.openxmlformats.org/drawingml/2006/main">
              <a:ext uri="{FF2B5EF4-FFF2-40B4-BE49-F238E27FC236}">
                <a16:creationId xmlns:a16="http://schemas.microsoft.com/office/drawing/2014/main" id="{FEEC4CC2-667A-4221-9E76-90DD1A96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F_el depende de x; F_amort depende de v.</a:t>
            </a:r>
          </a:p>
        </p:txBody>
      </p:sp>
      <p:sp>
        <p:nvSpPr>
          <p:cNvPr id="26" name="U02-043_source">
            <a:extLst xmlns:a="http://schemas.openxmlformats.org/drawingml/2006/main">
              <a:ext uri="{FF2B5EF4-FFF2-40B4-BE49-F238E27FC236}">
                <a16:creationId xmlns:a16="http://schemas.microsoft.com/office/drawing/2014/main" id="{915379BC-3A43-4B92-A17D-B67CEA6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1110800D-D5E6-B48B-B335-F070B0EAA3B9}" type="slidenum">
              <a:t>44</a:t>
            </a:fld>
          </a:p>
        </p:txBody>
      </p:sp>
      <p:sp>
        <p:nvSpPr>
          <p:cNvPr id="25" name="U02-044_eyebrow">
            <a:extLst xmlns:a="http://schemas.openxmlformats.org/drawingml/2006/main">
              <a:ext uri="{FF2B5EF4-FFF2-40B4-BE49-F238E27FC236}">
                <a16:creationId xmlns:a16="http://schemas.microsoft.com/office/drawing/2014/main" id="{E31F7323-40DC-442C-A627-14C432E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6" name="U02-044_title">
            <a:extLst xmlns:a="http://schemas.openxmlformats.org/drawingml/2006/main">
              <a:ext uri="{FF2B5EF4-FFF2-40B4-BE49-F238E27FC236}">
                <a16:creationId xmlns:a16="http://schemas.microsoft.com/office/drawing/2014/main" id="{104E70AD-428B-41FB-9E78-10F9C65C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Balance instantáneo: primero fuerzas, después aceleración</a:t>
            </a:r>
          </a:p>
        </p:txBody>
      </p:sp>
      <p:sp>
        <p:nvSpPr>
          <p:cNvPr id="27" name="U02-044_takeaway">
            <a:extLst xmlns:a="http://schemas.openxmlformats.org/drawingml/2006/main">
              <a:ext uri="{FF2B5EF4-FFF2-40B4-BE49-F238E27FC236}">
                <a16:creationId xmlns:a16="http://schemas.microsoft.com/office/drawing/2014/main" id="{1C6F90A3-62B7-4C62-8BB3-5B4EF84B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Procedimiento: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predecir signos → calcular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F_el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F_amort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→ sumar con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F_ext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→ obtener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→ dividir por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→ interpretar el instante.</a:t>
            </a:r>
          </a:p>
        </p:txBody>
      </p:sp>
      <p:pic>
        <p:nvPicPr>
          <p:cNvPr id="35" name="U02-044: Esquema mixto de la slide «Balance instantáneo: primero fuerzas, después aceleración»: Datos del libro; F_el, F_amort, F_neta, a; interpretación del instan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f03ad584a4d75">
            <a:extLst>
              <a:ext uri="{96DAC541-7B7A-43D3-8B79-37D633B846F1}">
                <asvg:svgBlip xmlns:asvg="http://schemas.microsoft.com/office/drawing/2016/SVG/main" r:embed="Rececc0100f804b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9" name="U02-044_caption">
            <a:extLst xmlns:a="http://schemas.openxmlformats.org/drawingml/2006/main">
              <a:ext uri="{FF2B5EF4-FFF2-40B4-BE49-F238E27FC236}">
                <a16:creationId xmlns:a16="http://schemas.microsoft.com/office/drawing/2014/main" id="{66043539-40E4-4EF9-B118-B26F3D7F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Predecir signos evita sumar módulos incorrectamente.</a:t>
            </a:r>
          </a:p>
        </p:txBody>
      </p:sp>
      <p:sp>
        <p:nvSpPr>
          <p:cNvPr id="30" name="U02-044_source">
            <a:extLst xmlns:a="http://schemas.openxmlformats.org/drawingml/2006/main">
              <a:ext uri="{FF2B5EF4-FFF2-40B4-BE49-F238E27FC236}">
                <a16:creationId xmlns:a16="http://schemas.microsoft.com/office/drawing/2014/main" id="{6D035A02-5EB7-4A71-904D-2827D8A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arcador de número de diapositiva 9">
            <a:extLst xmlns:a="http://schemas.openxmlformats.org/drawingml/2006/main">
              <a:ext uri="{FF2B5EF4-FFF2-40B4-BE49-F238E27FC236}">
                <a16:creationId xmlns:a16="http://schemas.microsoft.com/office/drawing/2014/main" id="{35371791-CC55-AC21-40A2-17827BAE70F8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E060EEA-E29B-CF3D-E7B7-BE01DFE3A2D2}" type="slidenum">
              <a:t>45</a:t>
            </a:fld>
          </a:p>
        </p:txBody>
      </p:sp>
      <p:sp>
        <p:nvSpPr>
          <p:cNvPr id="11" name="U02-045_eyebrow">
            <a:extLst xmlns:a="http://schemas.openxmlformats.org/drawingml/2006/main">
              <a:ext uri="{FF2B5EF4-FFF2-40B4-BE49-F238E27FC236}">
                <a16:creationId xmlns:a16="http://schemas.microsoft.com/office/drawing/2014/main" id="{2740E606-FA56-4B76-BFCF-E5D0BAF1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12" name="U02-045_title">
            <a:extLst xmlns:a="http://schemas.openxmlformats.org/drawingml/2006/main">
              <a:ext uri="{FF2B5EF4-FFF2-40B4-BE49-F238E27FC236}">
                <a16:creationId xmlns:a16="http://schemas.microsoft.com/office/drawing/2014/main" id="{429579B8-B224-4758-A914-519D3396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Amortiguamiento, atenuación y disipación responden preguntas distintas</a:t>
            </a:r>
          </a:p>
        </p:txBody>
      </p:sp>
      <p:sp>
        <p:nvSpPr>
          <p:cNvPr id="13" name="U02-045_takeaway">
            <a:extLst xmlns:a="http://schemas.openxmlformats.org/drawingml/2006/main">
              <a:ext uri="{FF2B5EF4-FFF2-40B4-BE49-F238E27FC236}">
                <a16:creationId xmlns:a16="http://schemas.microsoft.com/office/drawing/2014/main" id="{C5EF93B7-BFE7-4DDD-BAE1-B5EC60F6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Amortiguamiento: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mecanismo que reduce la oscilación.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Atenuación: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disminución de una magnitud.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Disipación: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conversión de energía mecánica en energía interna.</a:t>
            </a:r>
          </a:p>
        </p:txBody>
      </p:sp>
      <p:pic>
        <p:nvPicPr>
          <p:cNvPr id="21" name="U02-045: Esquema mixto de la slide «Amortiguamiento, atenuación y disipación responden preguntas distintas»: Tabla conceptual de contexto, observación y mecanismo; ejemplos de transferencia y redistribu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321748c3f409f">
            <a:extLst>
              <a:ext uri="{96DAC541-7B7A-43D3-8B79-37D633B846F1}">
                <asvg:svgBlip xmlns:asvg="http://schemas.microsoft.com/office/drawing/2016/SVG/main" r:embed="Rbad5d7b154994e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15" name="U02-045_caption">
            <a:extLst xmlns:a="http://schemas.openxmlformats.org/drawingml/2006/main">
              <a:ext uri="{FF2B5EF4-FFF2-40B4-BE49-F238E27FC236}">
                <a16:creationId xmlns:a16="http://schemas.microsoft.com/office/drawing/2014/main" id="{DCEA6AE3-CC1F-4BEC-805D-A560CEE1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disminución observada no identifica por sí sola el destino de la energía.</a:t>
            </a:r>
          </a:p>
        </p:txBody>
      </p:sp>
      <p:sp>
        <p:nvSpPr>
          <p:cNvPr id="16" name="U02-045_source">
            <a:extLst xmlns:a="http://schemas.openxmlformats.org/drawingml/2006/main">
              <a:ext uri="{FF2B5EF4-FFF2-40B4-BE49-F238E27FC236}">
                <a16:creationId xmlns:a16="http://schemas.microsoft.com/office/drawing/2014/main" id="{670DC8B8-FAA3-467C-84B9-257FF75E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72DB7CE-501A-BBF4-0CAD-B084CE0A592C}" type="slidenum">
              <a:t>46</a:t>
            </a:fld>
          </a:p>
        </p:txBody>
      </p:sp>
      <p:sp>
        <p:nvSpPr>
          <p:cNvPr id="21" name="U02-046_eyebrow">
            <a:extLst xmlns:a="http://schemas.openxmlformats.org/drawingml/2006/main">
              <a:ext uri="{FF2B5EF4-FFF2-40B4-BE49-F238E27FC236}">
                <a16:creationId xmlns:a16="http://schemas.microsoft.com/office/drawing/2014/main" id="{BF327E5C-C0A3-40C6-A02E-C434A7F2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RESPUESTA MECÁNICA</a:t>
            </a:r>
          </a:p>
        </p:txBody>
      </p:sp>
      <p:sp>
        <p:nvSpPr>
          <p:cNvPr id="22" name="U02-046_title">
            <a:extLst xmlns:a="http://schemas.openxmlformats.org/drawingml/2006/main">
              <a:ext uri="{FF2B5EF4-FFF2-40B4-BE49-F238E27FC236}">
                <a16:creationId xmlns:a16="http://schemas.microsoft.com/office/drawing/2014/main" id="{C6F46E7D-F3FB-4752-AAC1-1088B4B9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qué hace cada término</a:t>
            </a:r>
          </a:p>
        </p:txBody>
      </p:sp>
      <p:sp>
        <p:nvSpPr>
          <p:cNvPr id="23" name="U02-046_takeaway">
            <a:extLst xmlns:a="http://schemas.openxmlformats.org/drawingml/2006/main">
              <a:ext uri="{FF2B5EF4-FFF2-40B4-BE49-F238E27FC236}">
                <a16:creationId xmlns:a16="http://schemas.microsoft.com/office/drawing/2014/main" id="{03455B86-FFEC-48A5-A07D-79580B20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Masa: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cambia la respuesta.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Resorte: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produce retorno.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Amortiguador: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opone al movimiento y disipa.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¿qué término cambia directamente cuando cambia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24" name="U02-046_equation_panel">
            <a:extLst xmlns:a="http://schemas.openxmlformats.org/drawingml/2006/main">
              <a:ext uri="{FF2B5EF4-FFF2-40B4-BE49-F238E27FC236}">
                <a16:creationId xmlns:a16="http://schemas.microsoft.com/office/drawing/2014/main" id="{D3AA4259-D8EE-4A68-BA01-958D3519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2-046_equation">
            <a:extLst xmlns:a="http://schemas.openxmlformats.org/drawingml/2006/main">
              <a:ext uri="{FF2B5EF4-FFF2-40B4-BE49-F238E27FC236}">
                <a16:creationId xmlns:a16="http://schemas.microsoft.com/office/drawing/2014/main" id="{A6A435B2-E709-443A-99F1-0F4F77D6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F_ext − k_sx − bv = ma.</a:t>
            </a:r>
          </a:p>
        </p:txBody>
      </p:sp>
      <p:pic>
        <p:nvPicPr>
          <p:cNvPr id="35" name="U02-046: Diagrama de la slide «Hasta acá: qué hace cada término»: Tres afirmaciones, ecuación reducida y pregunta “¿qué término cambia si cambia v?”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d88ca91ef4fed">
            <a:extLst>
              <a:ext uri="{96DAC541-7B7A-43D3-8B79-37D633B846F1}">
                <asvg:svgBlip xmlns:asvg="http://schemas.microsoft.com/office/drawing/2016/SVG/main" r:embed="R0448d968e68947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27" name="U02-046_caption">
            <a:extLst xmlns:a="http://schemas.openxmlformats.org/drawingml/2006/main">
              <a:ext uri="{FF2B5EF4-FFF2-40B4-BE49-F238E27FC236}">
                <a16:creationId xmlns:a16="http://schemas.microsoft.com/office/drawing/2014/main" id="{A910D426-CBEF-48BD-BD33-CFF4FAA2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Masa cambia la respuesta; resorte devuelve; amortiguador disipa.</a:t>
            </a:r>
          </a:p>
        </p:txBody>
      </p:sp>
      <p:sp>
        <p:nvSpPr>
          <p:cNvPr id="28" name="U02-046_source">
            <a:extLst xmlns:a="http://schemas.openxmlformats.org/drawingml/2006/main">
              <a:ext uri="{FF2B5EF4-FFF2-40B4-BE49-F238E27FC236}">
                <a16:creationId xmlns:a16="http://schemas.microsoft.com/office/drawing/2014/main" id="{1674CB7D-C96D-4D2E-A4A9-01BCB2F3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766E625-45F0-7FC0-7206-B9D4780D3461}" type="slidenum">
              <a:t>47</a:t>
            </a:fld>
          </a:p>
        </p:txBody>
      </p:sp>
      <p:sp>
        <p:nvSpPr>
          <p:cNvPr id="10" name="U02-047_eyebrow">
            <a:extLst xmlns:a="http://schemas.openxmlformats.org/drawingml/2006/main">
              <a:ext uri="{FF2B5EF4-FFF2-40B4-BE49-F238E27FC236}">
                <a16:creationId xmlns:a16="http://schemas.microsoft.com/office/drawing/2014/main" id="{FE95931F-578A-4C57-8D7F-FE70B35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11" name="U02-047_title">
            <a:extLst xmlns:a="http://schemas.openxmlformats.org/drawingml/2006/main">
              <a:ext uri="{FF2B5EF4-FFF2-40B4-BE49-F238E27FC236}">
                <a16:creationId xmlns:a16="http://schemas.microsoft.com/office/drawing/2014/main" id="{AFD5CE77-F0F6-4569-8408-E776E798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Las fuerzas también transfieren y almacenan energía</a:t>
            </a:r>
          </a:p>
        </p:txBody>
      </p:sp>
      <p:sp>
        <p:nvSpPr>
          <p:cNvPr id="12" name="U02-047_guide">
            <a:extLst xmlns:a="http://schemas.openxmlformats.org/drawingml/2006/main">
              <a:ext uri="{FF2B5EF4-FFF2-40B4-BE49-F238E27FC236}">
                <a16:creationId xmlns:a16="http://schemas.microsoft.com/office/drawing/2014/main" id="{EC52F29D-DDE0-41B1-B329-9846A0F4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cuando una fuerza realiza trabajo, ¿dónde queda la energía transferida?</a:t>
            </a:r>
          </a:p>
        </p:txBody>
      </p:sp>
      <p:sp>
        <p:nvSpPr>
          <p:cNvPr id="13" name="U02-047_subtitle">
            <a:extLst xmlns:a="http://schemas.openxmlformats.org/drawingml/2006/main">
              <a:ext uri="{FF2B5EF4-FFF2-40B4-BE49-F238E27FC236}">
                <a16:creationId xmlns:a16="http://schemas.microsoft.com/office/drawing/2014/main" id="{BB4E1DB5-C461-4019-954F-A63D2F7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rcador de número de diapositiva 20">
            <a:extLst xmlns:a="http://schemas.openxmlformats.org/drawingml/2006/main">
              <a:ext uri="{FF2B5EF4-FFF2-40B4-BE49-F238E27FC236}">
                <a16:creationId xmlns:a16="http://schemas.microsoft.com/office/drawing/2014/main" id="{9CA9596E-D94D-48D7-199C-CC38FBB01EF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9CF87E8-8F71-04A5-6F3A-BEE8F630D5E2}" type="slidenum">
              <a:t>48</a:t>
            </a:fld>
          </a:p>
        </p:txBody>
      </p:sp>
      <p:sp>
        <p:nvSpPr>
          <p:cNvPr id="22" name="U02-048_eyebrow">
            <a:extLst xmlns:a="http://schemas.openxmlformats.org/drawingml/2006/main">
              <a:ext uri="{FF2B5EF4-FFF2-40B4-BE49-F238E27FC236}">
                <a16:creationId xmlns:a16="http://schemas.microsoft.com/office/drawing/2014/main" id="{EF7757CB-76A5-4FC9-ABE1-8B9944C3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3" name="U02-048_title">
            <a:extLst xmlns:a="http://schemas.openxmlformats.org/drawingml/2006/main">
              <a:ext uri="{FF2B5EF4-FFF2-40B4-BE49-F238E27FC236}">
                <a16:creationId xmlns:a16="http://schemas.microsoft.com/office/drawing/2014/main" id="{EE5E4CE1-FE13-40BC-A879-4FFB1303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fuerza transfiere energía cuando produce desplazamiento</a:t>
            </a:r>
          </a:p>
        </p:txBody>
      </p:sp>
      <p:sp>
        <p:nvSpPr>
          <p:cNvPr id="24" name="U02-048_takeaway">
            <a:extLst xmlns:a="http://schemas.openxmlformats.org/drawingml/2006/main">
              <a:ext uri="{FF2B5EF4-FFF2-40B4-BE49-F238E27FC236}">
                <a16:creationId xmlns:a16="http://schemas.microsoft.com/office/drawing/2014/main" id="{B8B55188-1419-4050-B0AD-A0BF77DC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el caso simple, una fuerza realiza trabajo mecánico si produce un desplazamiento. Puede existir fuerza sin trabajo cuando no hay desplazamiento.</a:t>
            </a:r>
          </a:p>
        </p:txBody>
      </p:sp>
      <p:pic>
        <p:nvPicPr>
          <p:cNvPr id="32" name="U02-048: Diagrama de la slide «Una fuerza transfiere energía cuando produce desplazamiento»: Situaciones con y sin desplazamiento; fuerza paralela como caso estudiad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b0efe899f4d4b">
            <a:extLst>
              <a:ext uri="{96DAC541-7B7A-43D3-8B79-37D633B846F1}">
                <asvg:svgBlip xmlns:asvg="http://schemas.microsoft.com/office/drawing/2016/SVG/main" r:embed="Rc76f5ad3e92248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6" name="U02-048_caption">
            <a:extLst xmlns:a="http://schemas.openxmlformats.org/drawingml/2006/main">
              <a:ext uri="{FF2B5EF4-FFF2-40B4-BE49-F238E27FC236}">
                <a16:creationId xmlns:a16="http://schemas.microsoft.com/office/drawing/2014/main" id="{C87AA73E-B7FB-4F7F-989C-4EFC9B9F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Fuerza sin desplazamiento no realiza trabajo mecánico en este modelo simple.</a:t>
            </a:r>
          </a:p>
        </p:txBody>
      </p:sp>
      <p:sp>
        <p:nvSpPr>
          <p:cNvPr id="27" name="U02-048_source">
            <a:extLst xmlns:a="http://schemas.openxmlformats.org/drawingml/2006/main">
              <a:ext uri="{FF2B5EF4-FFF2-40B4-BE49-F238E27FC236}">
                <a16:creationId xmlns:a16="http://schemas.microsoft.com/office/drawing/2014/main" id="{78237BF5-FB5D-401D-88E8-DEF0128C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D74175A-4E66-87FD-D56A-AAD4D4BBF877}" type="slidenum">
              <a:t>49</a:t>
            </a:fld>
          </a:p>
        </p:txBody>
      </p:sp>
      <p:sp>
        <p:nvSpPr>
          <p:cNvPr id="19" name="U02-049_eyebrow">
            <a:extLst xmlns:a="http://schemas.openxmlformats.org/drawingml/2006/main">
              <a:ext uri="{FF2B5EF4-FFF2-40B4-BE49-F238E27FC236}">
                <a16:creationId xmlns:a16="http://schemas.microsoft.com/office/drawing/2014/main" id="{E1CE51D2-0AC2-484B-846D-758F1887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0" name="U02-049_title">
            <a:extLst xmlns:a="http://schemas.openxmlformats.org/drawingml/2006/main">
              <a:ext uri="{FF2B5EF4-FFF2-40B4-BE49-F238E27FC236}">
                <a16:creationId xmlns:a16="http://schemas.microsoft.com/office/drawing/2014/main" id="{68960C43-C6D8-40A5-BF5D-87FC9A38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el caso simple, trabajo es fuerza por desplazamiento</a:t>
            </a:r>
          </a:p>
        </p:txBody>
      </p:sp>
      <p:sp>
        <p:nvSpPr>
          <p:cNvPr id="21" name="U02-049_takeaway">
            <a:extLst xmlns:a="http://schemas.openxmlformats.org/drawingml/2006/main">
              <a:ext uri="{FF2B5EF4-FFF2-40B4-BE49-F238E27FC236}">
                <a16:creationId xmlns:a16="http://schemas.microsoft.com/office/drawing/2014/main" id="{069DE7AB-763B-4233-AFA9-B4C5AFFF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la fuerza es constante y paralela al desplazamiento,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 = F·Δx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El trabajo se mide en joules: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 J = 1 N·m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U02-049_equation_panel">
            <a:extLst xmlns:a="http://schemas.openxmlformats.org/drawingml/2006/main">
              <a:ext uri="{FF2B5EF4-FFF2-40B4-BE49-F238E27FC236}">
                <a16:creationId xmlns:a16="http://schemas.microsoft.com/office/drawing/2014/main" id="{90CC20E6-C335-456A-BFDD-5EDD98A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49_equation">
            <a:extLst xmlns:a="http://schemas.openxmlformats.org/drawingml/2006/main">
              <a:ext uri="{FF2B5EF4-FFF2-40B4-BE49-F238E27FC236}">
                <a16:creationId xmlns:a16="http://schemas.microsoft.com/office/drawing/2014/main" id="{2EF11B84-1941-48EE-A8C9-7CC0691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W_trab = F·d</a:t>
            </a:r>
          </a:p>
        </p:txBody>
      </p:sp>
      <p:pic>
        <p:nvPicPr>
          <p:cNvPr id="33" name="U02-049: Ecuación anotada de la slide «En el caso simple, trabajo es fuerza por desplazamiento»: Ecuación, condiciones, símbolos y 1 J = 1 N·m; un contraejemplo sin desplazamient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cacaecbf8470f">
            <a:extLst>
              <a:ext uri="{96DAC541-7B7A-43D3-8B79-37D633B846F1}">
                <asvg:svgBlip xmlns:asvg="http://schemas.microsoft.com/office/drawing/2016/SVG/main" r:embed="R77e57f507e5c43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49_caption">
            <a:extLst xmlns:a="http://schemas.openxmlformats.org/drawingml/2006/main">
              <a:ext uri="{FF2B5EF4-FFF2-40B4-BE49-F238E27FC236}">
                <a16:creationId xmlns:a16="http://schemas.microsoft.com/office/drawing/2014/main" id="{93E15EFA-C33F-4B2F-BCF0-4ED92575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joule equivale a newton por metro.</a:t>
            </a:r>
          </a:p>
        </p:txBody>
      </p:sp>
      <p:sp>
        <p:nvSpPr>
          <p:cNvPr id="26" name="U02-049_source">
            <a:extLst xmlns:a="http://schemas.openxmlformats.org/drawingml/2006/main">
              <a:ext uri="{FF2B5EF4-FFF2-40B4-BE49-F238E27FC236}">
                <a16:creationId xmlns:a16="http://schemas.microsoft.com/office/drawing/2014/main" id="{12E59AD9-4C5A-486F-8DAB-66BE3BB6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491E0C6-B3E9-2F0E-6F4F-4638278C4AE4}" type="slidenum">
              <a:t>50</a:t>
            </a:fld>
          </a:p>
        </p:txBody>
      </p:sp>
      <p:sp>
        <p:nvSpPr>
          <p:cNvPr id="19" name="U02-050_eyebrow">
            <a:extLst xmlns:a="http://schemas.openxmlformats.org/drawingml/2006/main">
              <a:ext uri="{FF2B5EF4-FFF2-40B4-BE49-F238E27FC236}">
                <a16:creationId xmlns:a16="http://schemas.microsoft.com/office/drawing/2014/main" id="{1FDE3D2A-A1AF-48D5-8587-BD5B7056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0" name="U02-050_title">
            <a:extLst xmlns:a="http://schemas.openxmlformats.org/drawingml/2006/main">
              <a:ext uri="{FF2B5EF4-FFF2-40B4-BE49-F238E27FC236}">
                <a16:creationId xmlns:a16="http://schemas.microsoft.com/office/drawing/2014/main" id="{3193FE24-491C-440E-86D8-EE5A387B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cinética depende de la rapidez al cuadrado</a:t>
            </a:r>
          </a:p>
        </p:txBody>
      </p:sp>
      <p:sp>
        <p:nvSpPr>
          <p:cNvPr id="21" name="U02-050_takeaway">
            <a:extLst xmlns:a="http://schemas.openxmlformats.org/drawingml/2006/main">
              <a:ext uri="{FF2B5EF4-FFF2-40B4-BE49-F238E27FC236}">
                <a16:creationId xmlns:a16="http://schemas.microsoft.com/office/drawing/2014/main" id="{DE1940D5-3DC9-4643-AD1B-646F4D5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E_c = ½m·v²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Para la misma masa, duplicar la rapidez cuadruplica la energía cinética.</a:t>
            </a:r>
          </a:p>
        </p:txBody>
      </p:sp>
      <p:sp>
        <p:nvSpPr>
          <p:cNvPr id="22" name="U02-050_equation_panel">
            <a:extLst xmlns:a="http://schemas.openxmlformats.org/drawingml/2006/main">
              <a:ext uri="{FF2B5EF4-FFF2-40B4-BE49-F238E27FC236}">
                <a16:creationId xmlns:a16="http://schemas.microsoft.com/office/drawing/2014/main" id="{59420D90-7BD8-4073-BD16-A612AC21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50_equation">
            <a:extLst xmlns:a="http://schemas.openxmlformats.org/drawingml/2006/main">
              <a:ext uri="{FF2B5EF4-FFF2-40B4-BE49-F238E27FC236}">
                <a16:creationId xmlns:a16="http://schemas.microsoft.com/office/drawing/2014/main" id="{6E128671-7DA2-469D-A752-EF42E74B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E_c = ½mv²</a:t>
            </a:r>
          </a:p>
        </p:txBody>
      </p:sp>
      <p:pic>
        <p:nvPicPr>
          <p:cNvPr id="33" name="U02-050: Ecuación anotada de la slide «La energía cinética depende de la rapidez al cuadrado»: E_c = 1/2 mv²; símbolos, unidades y lectura cualitativ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630077afe4a3f">
            <a:extLst>
              <a:ext uri="{96DAC541-7B7A-43D3-8B79-37D633B846F1}">
                <asvg:svgBlip xmlns:asvg="http://schemas.microsoft.com/office/drawing/2016/SVG/main" r:embed="R263fb5d7779a4b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50_caption">
            <a:extLst xmlns:a="http://schemas.openxmlformats.org/drawingml/2006/main">
              <a:ext uri="{FF2B5EF4-FFF2-40B4-BE49-F238E27FC236}">
                <a16:creationId xmlns:a16="http://schemas.microsoft.com/office/drawing/2014/main" id="{16DAB0A9-83B7-49B5-9661-F2E13B91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Duplicar la rapidez cuadruplica E_c para la misma masa.</a:t>
            </a:r>
          </a:p>
        </p:txBody>
      </p:sp>
      <p:sp>
        <p:nvSpPr>
          <p:cNvPr id="26" name="U02-050_source">
            <a:extLst xmlns:a="http://schemas.openxmlformats.org/drawingml/2006/main">
              <a:ext uri="{FF2B5EF4-FFF2-40B4-BE49-F238E27FC236}">
                <a16:creationId xmlns:a16="http://schemas.microsoft.com/office/drawing/2014/main" id="{AB6C4E67-EF27-4E7A-BD3F-F9A4CA60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043A58D-60CA-DFB2-80EC-B65AE4CB9481}" type="slidenum">
              <a:t>51</a:t>
            </a:fld>
          </a:p>
        </p:txBody>
      </p:sp>
      <p:sp>
        <p:nvSpPr>
          <p:cNvPr id="19" name="U02-051_eyebrow">
            <a:extLst xmlns:a="http://schemas.openxmlformats.org/drawingml/2006/main">
              <a:ext uri="{FF2B5EF4-FFF2-40B4-BE49-F238E27FC236}">
                <a16:creationId xmlns:a16="http://schemas.microsoft.com/office/drawing/2014/main" id="{369129EE-0BC6-4E0C-AC8F-99B0E52B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0" name="U02-051_title">
            <a:extLst xmlns:a="http://schemas.openxmlformats.org/drawingml/2006/main">
              <a:ext uri="{FF2B5EF4-FFF2-40B4-BE49-F238E27FC236}">
                <a16:creationId xmlns:a16="http://schemas.microsoft.com/office/drawing/2014/main" id="{2871BB6B-25DE-4133-89B3-777C8DB7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resorte lineal almacena energía al deformarse</a:t>
            </a:r>
          </a:p>
        </p:txBody>
      </p:sp>
      <p:sp>
        <p:nvSpPr>
          <p:cNvPr id="21" name="U02-051_takeaway">
            <a:extLst xmlns:a="http://schemas.openxmlformats.org/drawingml/2006/main">
              <a:ext uri="{FF2B5EF4-FFF2-40B4-BE49-F238E27FC236}">
                <a16:creationId xmlns:a16="http://schemas.microsoft.com/office/drawing/2014/main" id="{73773DFF-4D25-4427-B35C-477F6102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E_el = ½k_s·x²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El resorte almacena la misma energía para desplazamientos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−x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de igual módulo.</a:t>
            </a:r>
          </a:p>
        </p:txBody>
      </p:sp>
      <p:sp>
        <p:nvSpPr>
          <p:cNvPr id="22" name="U02-051_equation_panel">
            <a:extLst xmlns:a="http://schemas.openxmlformats.org/drawingml/2006/main">
              <a:ext uri="{FF2B5EF4-FFF2-40B4-BE49-F238E27FC236}">
                <a16:creationId xmlns:a16="http://schemas.microsoft.com/office/drawing/2014/main" id="{BDD669AA-87A4-4F72-BF64-484B5A70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51_equation">
            <a:extLst xmlns:a="http://schemas.openxmlformats.org/drawingml/2006/main">
              <a:ext uri="{FF2B5EF4-FFF2-40B4-BE49-F238E27FC236}">
                <a16:creationId xmlns:a16="http://schemas.microsoft.com/office/drawing/2014/main" id="{2593C4A5-C40F-4EE6-AA91-F8D1ABF9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E_el = ½k_sx²</a:t>
            </a:r>
          </a:p>
        </p:txBody>
      </p:sp>
      <p:pic>
        <p:nvPicPr>
          <p:cNvPr id="33" name="U02-051: Ecuación anotada de la slide «Un resorte lineal almacena energía al deformarse»: E_el = 1/2 k_s x²; símbolos, unidades y comparación x/-x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408726918472d">
            <a:extLst>
              <a:ext uri="{96DAC541-7B7A-43D3-8B79-37D633B846F1}">
                <asvg:svgBlip xmlns:asvg="http://schemas.microsoft.com/office/drawing/2016/SVG/main" r:embed="Ra560fa1317e147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51_caption">
            <a:extLst xmlns:a="http://schemas.openxmlformats.org/drawingml/2006/main">
              <a:ext uri="{FF2B5EF4-FFF2-40B4-BE49-F238E27FC236}">
                <a16:creationId xmlns:a16="http://schemas.microsoft.com/office/drawing/2014/main" id="{D3B21D81-5A27-4B79-9EEC-9FE814CB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energía elástica crece con x² y no conserva el signo de x.</a:t>
            </a:r>
          </a:p>
        </p:txBody>
      </p:sp>
      <p:sp>
        <p:nvSpPr>
          <p:cNvPr id="26" name="U02-051_source">
            <a:extLst xmlns:a="http://schemas.openxmlformats.org/drawingml/2006/main">
              <a:ext uri="{FF2B5EF4-FFF2-40B4-BE49-F238E27FC236}">
                <a16:creationId xmlns:a16="http://schemas.microsoft.com/office/drawing/2014/main" id="{A458363E-991B-4AA0-857C-7FFF7C10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633A456-5465-3671-5B0B-A8DFBB753E5A}" type="slidenum">
              <a:t>52</a:t>
            </a:fld>
          </a:p>
        </p:txBody>
      </p:sp>
      <p:sp>
        <p:nvSpPr>
          <p:cNvPr id="29" name="U02-052_eyebrow">
            <a:extLst xmlns:a="http://schemas.openxmlformats.org/drawingml/2006/main">
              <a:ext uri="{FF2B5EF4-FFF2-40B4-BE49-F238E27FC236}">
                <a16:creationId xmlns:a16="http://schemas.microsoft.com/office/drawing/2014/main" id="{B468B5A8-3321-4776-A411-6A616442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30" name="U02-052_title">
            <a:extLst xmlns:a="http://schemas.openxmlformats.org/drawingml/2006/main">
              <a:ext uri="{FF2B5EF4-FFF2-40B4-BE49-F238E27FC236}">
                <a16:creationId xmlns:a16="http://schemas.microsoft.com/office/drawing/2014/main" id="{E807FD58-44D7-4C28-A6BE-BAFD6DE2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puede pasar de cinética a elástica</a:t>
            </a:r>
          </a:p>
        </p:txBody>
      </p:sp>
      <p:sp>
        <p:nvSpPr>
          <p:cNvPr id="31" name="U02-052_takeaway">
            <a:extLst xmlns:a="http://schemas.openxmlformats.org/drawingml/2006/main">
              <a:ext uri="{FF2B5EF4-FFF2-40B4-BE49-F238E27FC236}">
                <a16:creationId xmlns:a16="http://schemas.microsoft.com/office/drawing/2014/main" id="{DCD66F70-9D72-400B-807B-979F9226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En equilibrio, la rapidez puede ser máxima.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En el extremo, la rapidez es momentáneamente nula y la energía elástica es mayor.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Durante el retorno, ambas formas se intercambian.</a:t>
            </a:r>
          </a:p>
        </p:txBody>
      </p:sp>
      <p:pic>
        <p:nvPicPr>
          <p:cNvPr id="39" name="U02-052: Diagrama de la slide «La energía puede pasar de cinética a elástica»: Tres estados de una oscilación: equilibrio rápido, extremo detenido, retor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b76d162a54f46">
            <a:extLst>
              <a:ext uri="{96DAC541-7B7A-43D3-8B79-37D633B846F1}">
                <asvg:svgBlip xmlns:asvg="http://schemas.microsoft.com/office/drawing/2016/SVG/main" r:embed="R10b8e12120934c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33" name="U02-052_caption">
            <a:extLst xmlns:a="http://schemas.openxmlformats.org/drawingml/2006/main">
              <a:ext uri="{FF2B5EF4-FFF2-40B4-BE49-F238E27FC236}">
                <a16:creationId xmlns:a16="http://schemas.microsoft.com/office/drawing/2014/main" id="{4370F03A-E7A5-4336-8712-6CF004C8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 el modelo sin amortiguamiento cambia la forma, no la energía mecánica total. Esquema conceptual; no está a escala.</a:t>
            </a:r>
          </a:p>
        </p:txBody>
      </p:sp>
      <p:sp>
        <p:nvSpPr>
          <p:cNvPr id="34" name="U02-052_source">
            <a:extLst xmlns:a="http://schemas.openxmlformats.org/drawingml/2006/main">
              <a:ext uri="{FF2B5EF4-FFF2-40B4-BE49-F238E27FC236}">
                <a16:creationId xmlns:a16="http://schemas.microsoft.com/office/drawing/2014/main" id="{87B87692-A461-4FDA-97CC-8403696B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477B42F-3A06-F812-16D6-7080D8A12563}" type="slidenum">
              <a:t>53</a:t>
            </a:fld>
          </a:p>
        </p:txBody>
      </p:sp>
      <p:sp>
        <p:nvSpPr>
          <p:cNvPr id="14" name="U02-053_eyebrow">
            <a:extLst xmlns:a="http://schemas.openxmlformats.org/drawingml/2006/main">
              <a:ext uri="{FF2B5EF4-FFF2-40B4-BE49-F238E27FC236}">
                <a16:creationId xmlns:a16="http://schemas.microsoft.com/office/drawing/2014/main" id="{8DEF7D90-8356-4492-8326-FE6F6EF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15" name="U02-053_title">
            <a:extLst xmlns:a="http://schemas.openxmlformats.org/drawingml/2006/main">
              <a:ext uri="{FF2B5EF4-FFF2-40B4-BE49-F238E27FC236}">
                <a16:creationId xmlns:a16="http://schemas.microsoft.com/office/drawing/2014/main" id="{52126934-D4B7-4265-B0BB-D370D13E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total se conserva en un sistema aislado</a:t>
            </a:r>
          </a:p>
        </p:txBody>
      </p:sp>
      <p:sp>
        <p:nvSpPr>
          <p:cNvPr id="16" name="U02-053_takeaway">
            <a:extLst xmlns:a="http://schemas.openxmlformats.org/drawingml/2006/main">
              <a:ext uri="{FF2B5EF4-FFF2-40B4-BE49-F238E27FC236}">
                <a16:creationId xmlns:a16="http://schemas.microsoft.com/office/drawing/2014/main" id="{A4DE4AEB-D380-4666-AAF8-01F13DD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un sistema aislado, la energía total permanece constante aunque cambie de forma. Una disminución de energía mecánica no implica destrucción de energía.</a:t>
            </a:r>
          </a:p>
        </p:txBody>
      </p:sp>
      <p:pic>
        <p:nvPicPr>
          <p:cNvPr id="24" name="U02-053: Diagrama de la slide «La energía total se conserva en un sistema aislado»: Definición; sistema aislado; formas y transferencias; frase de precis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3ef280a0642f1">
            <a:extLst>
              <a:ext uri="{96DAC541-7B7A-43D3-8B79-37D633B846F1}">
                <asvg:svgBlip xmlns:asvg="http://schemas.microsoft.com/office/drawing/2016/SVG/main" r:embed="Rf5cef478030a43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U02-053_caption">
            <a:extLst xmlns:a="http://schemas.openxmlformats.org/drawingml/2006/main">
              <a:ext uri="{FF2B5EF4-FFF2-40B4-BE49-F238E27FC236}">
                <a16:creationId xmlns:a16="http://schemas.microsoft.com/office/drawing/2014/main" id="{CD5224B9-68AC-4559-8A70-389DC259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Disminuir energía mecánica útil no significa destruir energía total.</a:t>
            </a:r>
          </a:p>
        </p:txBody>
      </p:sp>
      <p:sp>
        <p:nvSpPr>
          <p:cNvPr id="19" name="U02-053_source">
            <a:extLst xmlns:a="http://schemas.openxmlformats.org/drawingml/2006/main">
              <a:ext uri="{FF2B5EF4-FFF2-40B4-BE49-F238E27FC236}">
                <a16:creationId xmlns:a16="http://schemas.microsoft.com/office/drawing/2014/main" id="{5FB07E79-40C3-4AC3-A04F-F0F0B18C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FFCF489-DFD6-64BD-BCB3-4D97AF36B1FB}" type="slidenum">
              <a:t>54</a:t>
            </a:fld>
          </a:p>
        </p:txBody>
      </p:sp>
      <p:sp>
        <p:nvSpPr>
          <p:cNvPr id="29" name="U02-054_eyebrow">
            <a:extLst xmlns:a="http://schemas.openxmlformats.org/drawingml/2006/main">
              <a:ext uri="{FF2B5EF4-FFF2-40B4-BE49-F238E27FC236}">
                <a16:creationId xmlns:a16="http://schemas.microsoft.com/office/drawing/2014/main" id="{3C829B19-9799-4599-B204-618FB97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30" name="U02-054_title">
            <a:extLst xmlns:a="http://schemas.openxmlformats.org/drawingml/2006/main">
              <a:ext uri="{FF2B5EF4-FFF2-40B4-BE49-F238E27FC236}">
                <a16:creationId xmlns:a16="http://schemas.microsoft.com/office/drawing/2014/main" id="{D69E8C42-2E2D-4AE8-8EF3-738F89EC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Entrada, almacenamiento, salida y disipación son destinos diferentes</a:t>
            </a:r>
          </a:p>
        </p:txBody>
      </p:sp>
      <p:sp>
        <p:nvSpPr>
          <p:cNvPr id="31" name="U02-054_takeaway">
            <a:extLst xmlns:a="http://schemas.openxmlformats.org/drawingml/2006/main">
              <a:ext uri="{FF2B5EF4-FFF2-40B4-BE49-F238E27FC236}">
                <a16:creationId xmlns:a16="http://schemas.microsoft.com/office/drawing/2014/main" id="{36B4D600-BF90-423A-BFC6-311624AE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cruza hacia el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almacena: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cambia la energía mecánica.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cruza hacia otro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disipa: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 convierte en energía interna.</a:t>
            </a:r>
          </a:p>
        </p:txBody>
      </p:sp>
      <p:pic>
        <p:nvPicPr>
          <p:cNvPr id="39" name="U02-054: Diagrama de la slide «Entrada, almacenamiento, salida y disipación son destinos diferentes»: Cuatro destinos con verbos; sin proporciones ni eficienc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b72ff6d644e59">
            <a:extLst>
              <a:ext uri="{96DAC541-7B7A-43D3-8B79-37D633B846F1}">
                <asvg:svgBlip xmlns:asvg="http://schemas.microsoft.com/office/drawing/2016/SVG/main" r:embed="R854c03d948944c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800350"/>
            <a:ext cx="10668000" cy="2914650"/>
          </a:xfrm>
          <a:prstGeom xmlns:a="http://schemas.openxmlformats.org/drawingml/2006/main" prst="rect">
            <a:avLst/>
          </a:prstGeom>
        </p:spPr>
      </p:pic>
      <p:sp>
        <p:nvSpPr>
          <p:cNvPr id="33" name="U02-054_caption">
            <a:extLst xmlns:a="http://schemas.openxmlformats.org/drawingml/2006/main">
              <a:ext uri="{FF2B5EF4-FFF2-40B4-BE49-F238E27FC236}">
                <a16:creationId xmlns:a16="http://schemas.microsoft.com/office/drawing/2014/main" id="{6E306CA5-7406-4F46-A4A9-B0C47643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frontera y el intervalo determinan qué cuenta como entrada o salida.</a:t>
            </a:r>
          </a:p>
        </p:txBody>
      </p:sp>
      <p:sp>
        <p:nvSpPr>
          <p:cNvPr id="34" name="U02-054_source">
            <a:extLst xmlns:a="http://schemas.openxmlformats.org/drawingml/2006/main">
              <a:ext uri="{FF2B5EF4-FFF2-40B4-BE49-F238E27FC236}">
                <a16:creationId xmlns:a16="http://schemas.microsoft.com/office/drawing/2014/main" id="{76B15AF5-1635-41C1-A46A-54EE9479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C0BC6D5-207B-F838-F994-CD836D38A6B0}" type="slidenum">
              <a:t>55</a:t>
            </a:fld>
          </a:p>
        </p:txBody>
      </p:sp>
      <p:sp>
        <p:nvSpPr>
          <p:cNvPr id="19" name="U02-055_eyebrow">
            <a:extLst xmlns:a="http://schemas.openxmlformats.org/drawingml/2006/main">
              <a:ext uri="{FF2B5EF4-FFF2-40B4-BE49-F238E27FC236}">
                <a16:creationId xmlns:a16="http://schemas.microsoft.com/office/drawing/2014/main" id="{1A2554DB-68BC-4FDB-AA8A-0A1D834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0" name="U02-055_title">
            <a:extLst xmlns:a="http://schemas.openxmlformats.org/drawingml/2006/main">
              <a:ext uri="{FF2B5EF4-FFF2-40B4-BE49-F238E27FC236}">
                <a16:creationId xmlns:a16="http://schemas.microsoft.com/office/drawing/2014/main" id="{6E3ECE3C-00A1-4412-BF1D-2F066AFE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balance debe cerrar</a:t>
            </a:r>
          </a:p>
        </p:txBody>
      </p:sp>
      <p:sp>
        <p:nvSpPr>
          <p:cNvPr id="21" name="U02-055_takeaway">
            <a:extLst xmlns:a="http://schemas.openxmlformats.org/drawingml/2006/main">
              <a:ext uri="{FF2B5EF4-FFF2-40B4-BE49-F238E27FC236}">
                <a16:creationId xmlns:a16="http://schemas.microsoft.com/office/drawing/2014/main" id="{63302275-925A-4D0E-964D-F6330B9B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E_entrada = ΔE_mec + E_salida + E_disipada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Si conocemos tres términos, el cuarto se obtiene por balance y debe conservar la unidad de energía.</a:t>
            </a:r>
          </a:p>
        </p:txBody>
      </p:sp>
      <p:sp>
        <p:nvSpPr>
          <p:cNvPr id="22" name="U02-055_equation_panel">
            <a:extLst xmlns:a="http://schemas.openxmlformats.org/drawingml/2006/main">
              <a:ext uri="{FF2B5EF4-FFF2-40B4-BE49-F238E27FC236}">
                <a16:creationId xmlns:a16="http://schemas.microsoft.com/office/drawing/2014/main" id="{805A330E-B4CE-4070-AC5D-D18842E9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55_equation">
            <a:extLst xmlns:a="http://schemas.openxmlformats.org/drawingml/2006/main">
              <a:ext uri="{FF2B5EF4-FFF2-40B4-BE49-F238E27FC236}">
                <a16:creationId xmlns:a16="http://schemas.microsoft.com/office/drawing/2014/main" id="{3A094CFF-819A-4023-AEAD-0D501AB8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E_entrada = ΔE_mec + E_salida + E_disipada</a:t>
            </a:r>
          </a:p>
        </p:txBody>
      </p:sp>
      <p:pic>
        <p:nvPicPr>
          <p:cNvPr id="33" name="U02-055: Ecuación anotada de la slide «El balance debe cerrar»: E_entrada = ΔE_mec + E_salida + E_disipada; unidades y condicion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d7895267b4424">
            <a:extLst>
              <a:ext uri="{96DAC541-7B7A-43D3-8B79-37D633B846F1}">
                <asvg:svgBlip xmlns:asvg="http://schemas.microsoft.com/office/drawing/2016/SVG/main" r:embed="R1316ad3b45e34b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95500"/>
            <a:ext cx="10668000" cy="3619500"/>
          </a:xfrm>
          <a:prstGeom xmlns:a="http://schemas.openxmlformats.org/drawingml/2006/main" prst="rect">
            <a:avLst/>
          </a:prstGeom>
        </p:spPr>
      </p:pic>
      <p:sp>
        <p:nvSpPr>
          <p:cNvPr id="25" name="U02-055_caption">
            <a:extLst xmlns:a="http://schemas.openxmlformats.org/drawingml/2006/main">
              <a:ext uri="{FF2B5EF4-FFF2-40B4-BE49-F238E27FC236}">
                <a16:creationId xmlns:a16="http://schemas.microsoft.com/office/drawing/2014/main" id="{A51FB895-B1FE-4516-9C60-3547AD85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 no hay otras vías, la entrada se reparte entre cambio mecánico, salida y disipación.</a:t>
            </a:r>
          </a:p>
        </p:txBody>
      </p:sp>
      <p:sp>
        <p:nvSpPr>
          <p:cNvPr id="26" name="U02-055_source">
            <a:extLst xmlns:a="http://schemas.openxmlformats.org/drawingml/2006/main">
              <a:ext uri="{FF2B5EF4-FFF2-40B4-BE49-F238E27FC236}">
                <a16:creationId xmlns:a16="http://schemas.microsoft.com/office/drawing/2014/main" id="{2918C918-F93A-4926-8CFD-FCF88616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3265AEE-4D99-0673-12C8-99EFF695690A}" type="slidenum">
              <a:t>56</a:t>
            </a:fld>
          </a:p>
        </p:txBody>
      </p:sp>
      <p:sp>
        <p:nvSpPr>
          <p:cNvPr id="25" name="U02-056_eyebrow">
            <a:extLst xmlns:a="http://schemas.openxmlformats.org/drawingml/2006/main">
              <a:ext uri="{FF2B5EF4-FFF2-40B4-BE49-F238E27FC236}">
                <a16:creationId xmlns:a16="http://schemas.microsoft.com/office/drawing/2014/main" id="{B33CAD76-42B4-4281-B458-9BC200C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6" name="U02-056_title">
            <a:extLst xmlns:a="http://schemas.openxmlformats.org/drawingml/2006/main">
              <a:ext uri="{FF2B5EF4-FFF2-40B4-BE49-F238E27FC236}">
                <a16:creationId xmlns:a16="http://schemas.microsoft.com/office/drawing/2014/main" id="{CD732077-CBCB-4E84-A117-00BA1543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disipada no es energía destruida</a:t>
            </a:r>
          </a:p>
        </p:txBody>
      </p:sp>
      <p:sp>
        <p:nvSpPr>
          <p:cNvPr id="27" name="U02-056_takeaway">
            <a:extLst xmlns:a="http://schemas.openxmlformats.org/drawingml/2006/main">
              <a:ext uri="{FF2B5EF4-FFF2-40B4-BE49-F238E27FC236}">
                <a16:creationId xmlns:a16="http://schemas.microsoft.com/office/drawing/2014/main" id="{DCEC6211-E7FE-45D8-AA38-F834D2E2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entrada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2,0 mJ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aumento mecánico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1,3 mJ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salida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0,4 mJ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Despeje: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restar cambio y salida.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0,3 mJ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convertidos en energía interna.</a:t>
            </a:r>
          </a:p>
        </p:txBody>
      </p:sp>
      <p:sp>
        <p:nvSpPr>
          <p:cNvPr id="28" name="U02-056_equation_panel">
            <a:extLst xmlns:a="http://schemas.openxmlformats.org/drawingml/2006/main">
              <a:ext uri="{FF2B5EF4-FFF2-40B4-BE49-F238E27FC236}">
                <a16:creationId xmlns:a16="http://schemas.microsoft.com/office/drawing/2014/main" id="{6403D3A9-D71C-49B4-B81F-00976B4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2-056_equation">
            <a:extLst xmlns:a="http://schemas.openxmlformats.org/drawingml/2006/main">
              <a:ext uri="{FF2B5EF4-FFF2-40B4-BE49-F238E27FC236}">
                <a16:creationId xmlns:a16="http://schemas.microsoft.com/office/drawing/2014/main" id="{6B59BC4A-C9AD-4A84-BC9A-593ACBD2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E_disipada = 2,0 mJ − 1,3 mJ − 0,4 mJ = 0,3 mJ.</a:t>
            </a:r>
          </a:p>
        </p:txBody>
      </p:sp>
      <p:pic>
        <p:nvPicPr>
          <p:cNvPr id="39" name="U02-056: Esquema mixto de la slide «La energía disipada no es energía destruida»: Datos 2,0, 1,3, 0,4 mJ; despeje; cálculo; verificación de sum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d96c577be4bef">
            <a:extLst>
              <a:ext uri="{96DAC541-7B7A-43D3-8B79-37D633B846F1}">
                <asvg:svgBlip xmlns:asvg="http://schemas.microsoft.com/office/drawing/2016/SVG/main" r:embed="Rb0e4d632495f46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31" name="U02-056_caption">
            <a:extLst xmlns:a="http://schemas.openxmlformats.org/drawingml/2006/main">
              <a:ext uri="{FF2B5EF4-FFF2-40B4-BE49-F238E27FC236}">
                <a16:creationId xmlns:a16="http://schemas.microsoft.com/office/drawing/2014/main" id="{2337F37C-9BE5-4381-869E-2C7E7EEA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valor 0,3 mJ completa el balance y representa conversión a energía interna.</a:t>
            </a:r>
          </a:p>
        </p:txBody>
      </p:sp>
      <p:sp>
        <p:nvSpPr>
          <p:cNvPr id="32" name="U02-056_source">
            <a:extLst xmlns:a="http://schemas.openxmlformats.org/drawingml/2006/main">
              <a:ext uri="{FF2B5EF4-FFF2-40B4-BE49-F238E27FC236}">
                <a16:creationId xmlns:a16="http://schemas.microsoft.com/office/drawing/2014/main" id="{7191AF35-86C5-4470-AC2D-2FA33482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F0DF58B-F0CC-EE04-B3E8-87EC24B7009F}" type="slidenum">
              <a:t>57</a:t>
            </a:fld>
          </a:p>
        </p:txBody>
      </p:sp>
      <p:sp>
        <p:nvSpPr>
          <p:cNvPr id="21" name="U02-057_eyebrow">
            <a:extLst xmlns:a="http://schemas.openxmlformats.org/drawingml/2006/main">
              <a:ext uri="{FF2B5EF4-FFF2-40B4-BE49-F238E27FC236}">
                <a16:creationId xmlns:a16="http://schemas.microsoft.com/office/drawing/2014/main" id="{9FE8DE6B-175B-4E1A-89AF-41FE6774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TRABAJO Y ENERGÍA</a:t>
            </a:r>
          </a:p>
        </p:txBody>
      </p:sp>
      <p:sp>
        <p:nvSpPr>
          <p:cNvPr id="22" name="U02-057_title">
            <a:extLst xmlns:a="http://schemas.openxmlformats.org/drawingml/2006/main">
              <a:ext uri="{FF2B5EF4-FFF2-40B4-BE49-F238E27FC236}">
                <a16:creationId xmlns:a16="http://schemas.microsoft.com/office/drawing/2014/main" id="{D7CA8FE5-B274-4416-8FBC-01B17730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conservar no significa conservar la forma</a:t>
            </a:r>
          </a:p>
        </p:txBody>
      </p:sp>
      <p:sp>
        <p:nvSpPr>
          <p:cNvPr id="23" name="U02-057_takeaway">
            <a:extLst xmlns:a="http://schemas.openxmlformats.org/drawingml/2006/main">
              <a:ext uri="{FF2B5EF4-FFF2-40B4-BE49-F238E27FC236}">
                <a16:creationId xmlns:a16="http://schemas.microsoft.com/office/drawing/2014/main" id="{601FB973-4B9C-48BD-B853-E03EF69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energía puede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almacenarse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transferirse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disiparse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Ninguna de esas rutas implica desaparición.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¿un sistema pasivo puede aumentar presión sin crear energía?</a:t>
            </a:r>
          </a:p>
        </p:txBody>
      </p:sp>
      <p:pic>
        <p:nvPicPr>
          <p:cNvPr id="31" name="U02-057: Esquema mixto de la slide «Hasta acá: conservar no significa conservar la forma»: Tres ideas y pregunta sobre un sistema pasivo que aumenta pres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bcdd25ec742a2">
            <a:extLst>
              <a:ext uri="{96DAC541-7B7A-43D3-8B79-37D633B846F1}">
                <asvg:svgBlip xmlns:asvg="http://schemas.microsoft.com/office/drawing/2016/SVG/main" r:embed="R1c67824b354a46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5" name="U02-057_caption">
            <a:extLst xmlns:a="http://schemas.openxmlformats.org/drawingml/2006/main">
              <a:ext uri="{FF2B5EF4-FFF2-40B4-BE49-F238E27FC236}">
                <a16:creationId xmlns:a16="http://schemas.microsoft.com/office/drawing/2014/main" id="{1C0169A9-F659-4D6A-BE0E-6F8B2B4F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Energía puede almacenarse, transferirse o disiparse sin desaparecer.</a:t>
            </a:r>
          </a:p>
        </p:txBody>
      </p:sp>
      <p:sp>
        <p:nvSpPr>
          <p:cNvPr id="26" name="U02-057_source">
            <a:extLst xmlns:a="http://schemas.openxmlformats.org/drawingml/2006/main">
              <a:ext uri="{FF2B5EF4-FFF2-40B4-BE49-F238E27FC236}">
                <a16:creationId xmlns:a16="http://schemas.microsoft.com/office/drawing/2014/main" id="{F34A7C21-C02E-43BA-9215-FBECA52E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C5D86DB-0D22-4F3A-B798-73C3EACC87D6}" type="slidenum">
              <a:t>58</a:t>
            </a:fld>
          </a:p>
        </p:txBody>
      </p:sp>
      <p:sp>
        <p:nvSpPr>
          <p:cNvPr id="10" name="U02-058_eyebrow">
            <a:extLst xmlns:a="http://schemas.openxmlformats.org/drawingml/2006/main">
              <a:ext uri="{FF2B5EF4-FFF2-40B4-BE49-F238E27FC236}">
                <a16:creationId xmlns:a16="http://schemas.microsoft.com/office/drawing/2014/main" id="{2A8C9AA1-9391-4740-86D9-9DBFED29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1" name="U02-058_title">
            <a:extLst xmlns:a="http://schemas.openxmlformats.org/drawingml/2006/main">
              <a:ext uri="{FF2B5EF4-FFF2-40B4-BE49-F238E27FC236}">
                <a16:creationId xmlns:a16="http://schemas.microsoft.com/office/drawing/2014/main" id="{8EB4224C-5BB3-4BA9-93FE-A1E854C3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Temperatura, calor y energía interna no son equivalentes</a:t>
            </a:r>
          </a:p>
        </p:txBody>
      </p:sp>
      <p:sp>
        <p:nvSpPr>
          <p:cNvPr id="12" name="U02-058_guide">
            <a:extLst xmlns:a="http://schemas.openxmlformats.org/drawingml/2006/main">
              <a:ext uri="{FF2B5EF4-FFF2-40B4-BE49-F238E27FC236}">
                <a16:creationId xmlns:a16="http://schemas.microsoft.com/office/drawing/2014/main" id="{5424C150-6225-4794-A95F-C83D9E7E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¿qué magnitudes describen el estado del sistema y cuáles representan energía que cruza su frontera?</a:t>
            </a:r>
          </a:p>
        </p:txBody>
      </p:sp>
      <p:sp>
        <p:nvSpPr>
          <p:cNvPr id="13" name="U02-058_subtitle">
            <a:extLst xmlns:a="http://schemas.openxmlformats.org/drawingml/2006/main">
              <a:ext uri="{FF2B5EF4-FFF2-40B4-BE49-F238E27FC236}">
                <a16:creationId xmlns:a16="http://schemas.microsoft.com/office/drawing/2014/main" id="{866BCD0D-C97D-416D-9EB7-E39AE000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9F1FA4F-5E1D-6DD7-8899-DB45C4C32C6E}" type="slidenum">
              <a:t>59</a:t>
            </a:fld>
          </a:p>
        </p:txBody>
      </p:sp>
      <p:sp>
        <p:nvSpPr>
          <p:cNvPr id="15" name="U02-059_eyebrow">
            <a:extLst xmlns:a="http://schemas.openxmlformats.org/drawingml/2006/main">
              <a:ext uri="{FF2B5EF4-FFF2-40B4-BE49-F238E27FC236}">
                <a16:creationId xmlns:a16="http://schemas.microsoft.com/office/drawing/2014/main" id="{4AF5B2A8-B753-44BB-99C8-B043EBDB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6" name="U02-059_title">
            <a:extLst xmlns:a="http://schemas.openxmlformats.org/drawingml/2006/main">
              <a:ext uri="{FF2B5EF4-FFF2-40B4-BE49-F238E27FC236}">
                <a16:creationId xmlns:a16="http://schemas.microsoft.com/office/drawing/2014/main" id="{B31929AB-43ED-4522-A2E7-2915B2DD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¿Cuál es estado y cuál es transferencia?</a:t>
            </a:r>
          </a:p>
        </p:txBody>
      </p:sp>
      <p:sp>
        <p:nvSpPr>
          <p:cNvPr id="17" name="U02-059_takeaway">
            <a:extLst xmlns:a="http://schemas.openxmlformats.org/drawingml/2006/main">
              <a:ext uri="{FF2B5EF4-FFF2-40B4-BE49-F238E27FC236}">
                <a16:creationId xmlns:a16="http://schemas.microsoft.com/office/drawing/2014/main" id="{4BBC93DF-6437-4B4D-A5D5-C22EA4CD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Clasificar y justificar: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temperatura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energía interna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calor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trabajo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¿Cuáles describen el sistema y cuáles describen energía que cruza la frontera?</a:t>
            </a:r>
          </a:p>
        </p:txBody>
      </p:sp>
      <p:pic>
        <p:nvPicPr>
          <p:cNvPr id="25" name="U02-059: Diagrama de la slide «¿Cuál es estado y cuál es transferencia?»: Cuatro términos para clasificar y justifica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b42fad9dd42ea">
            <a:extLst>
              <a:ext uri="{96DAC541-7B7A-43D3-8B79-37D633B846F1}">
                <asvg:svgBlip xmlns:asvg="http://schemas.microsoft.com/office/drawing/2016/SVG/main" r:embed="Ra20733e456774b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19" name="U02-059_caption">
            <a:extLst xmlns:a="http://schemas.openxmlformats.org/drawingml/2006/main">
              <a:ext uri="{FF2B5EF4-FFF2-40B4-BE49-F238E27FC236}">
                <a16:creationId xmlns:a16="http://schemas.microsoft.com/office/drawing/2014/main" id="{05F97112-6073-4B2F-9CE6-F8C57B9E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Temperatura y energía interna describen estado; calor y trabajo describen transferencias.</a:t>
            </a:r>
          </a:p>
        </p:txBody>
      </p:sp>
      <p:sp>
        <p:nvSpPr>
          <p:cNvPr id="20" name="U02-059_source">
            <a:extLst xmlns:a="http://schemas.openxmlformats.org/drawingml/2006/main">
              <a:ext uri="{FF2B5EF4-FFF2-40B4-BE49-F238E27FC236}">
                <a16:creationId xmlns:a16="http://schemas.microsoft.com/office/drawing/2014/main" id="{B2A67637-FBC0-452A-999E-02E88C56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8F55584-BE3A-83D9-FA7F-21221C333295}" type="slidenum">
              <a:t>60</a:t>
            </a:fld>
          </a:p>
        </p:txBody>
      </p:sp>
      <p:sp>
        <p:nvSpPr>
          <p:cNvPr id="14" name="U02-060_eyebrow">
            <a:extLst xmlns:a="http://schemas.openxmlformats.org/drawingml/2006/main">
              <a:ext uri="{FF2B5EF4-FFF2-40B4-BE49-F238E27FC236}">
                <a16:creationId xmlns:a16="http://schemas.microsoft.com/office/drawing/2014/main" id="{87C3F91A-0BC2-401A-998D-8023E20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5" name="U02-060_title">
            <a:extLst xmlns:a="http://schemas.openxmlformats.org/drawingml/2006/main">
              <a:ext uri="{FF2B5EF4-FFF2-40B4-BE49-F238E27FC236}">
                <a16:creationId xmlns:a16="http://schemas.microsoft.com/office/drawing/2014/main" id="{D40A77BE-91D9-4DF6-99C6-BB10D7D0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temperatura caracteriza el estado térmico</a:t>
            </a:r>
          </a:p>
        </p:txBody>
      </p:sp>
      <p:sp>
        <p:nvSpPr>
          <p:cNvPr id="16" name="U02-060_definition_panel">
            <a:extLst xmlns:a="http://schemas.openxmlformats.org/drawingml/2006/main">
              <a:ext uri="{FF2B5EF4-FFF2-40B4-BE49-F238E27FC236}">
                <a16:creationId xmlns:a16="http://schemas.microsoft.com/office/drawing/2014/main" id="{554DF299-91C3-4100-A317-6D1005C7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7" name="U02-060_definition">
            <a:extLst xmlns:a="http://schemas.openxmlformats.org/drawingml/2006/main">
              <a:ext uri="{FF2B5EF4-FFF2-40B4-BE49-F238E27FC236}">
                <a16:creationId xmlns:a16="http://schemas.microsoft.com/office/drawing/2014/main" id="{93B52B31-7E69-49DC-951C-53CE1967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62150"/>
            <a:ext cx="962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Temperatura:</a:t>
            </a: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magnitud de estado que caracteriza el estado térmico. Usar °C para ambiente y K cuando se requiere temperatura absoluta.</a:t>
            </a:r>
          </a:p>
        </p:txBody>
      </p:sp>
      <p:sp>
        <p:nvSpPr>
          <p:cNvPr id="18" name="U02-060_example">
            <a:extLst xmlns:a="http://schemas.openxmlformats.org/drawingml/2006/main">
              <a:ext uri="{FF2B5EF4-FFF2-40B4-BE49-F238E27FC236}">
                <a16:creationId xmlns:a16="http://schemas.microsoft.com/office/drawing/2014/main" id="{A7CDB948-006B-427E-982A-AEBDBCC8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temperatura describe el estado térmico. Usamos grados Celsius (°C) para el ambiente y kelvin (K) cuando una ecuación requiere temperatura absoluta.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1E013D6-0C4B-FE2D-855A-F1342FCB0974}" type="slidenum">
              <a:t>61</a:t>
            </a:fld>
          </a:p>
        </p:txBody>
      </p:sp>
      <p:sp>
        <p:nvSpPr>
          <p:cNvPr id="14" name="U02-061_eyebrow">
            <a:extLst xmlns:a="http://schemas.openxmlformats.org/drawingml/2006/main">
              <a:ext uri="{FF2B5EF4-FFF2-40B4-BE49-F238E27FC236}">
                <a16:creationId xmlns:a16="http://schemas.microsoft.com/office/drawing/2014/main" id="{2305BC9E-39C5-441D-BAED-D8E92DB7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5" name="U02-061_title">
            <a:extLst xmlns:a="http://schemas.openxmlformats.org/drawingml/2006/main">
              <a:ext uri="{FF2B5EF4-FFF2-40B4-BE49-F238E27FC236}">
                <a16:creationId xmlns:a16="http://schemas.microsoft.com/office/drawing/2014/main" id="{C000A97A-85D4-4ED8-8327-4145544D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energía interna pertenece al estado microscópico</a:t>
            </a:r>
          </a:p>
        </p:txBody>
      </p:sp>
      <p:sp>
        <p:nvSpPr>
          <p:cNvPr id="16" name="U02-061_takeaway">
            <a:extLst xmlns:a="http://schemas.openxmlformats.org/drawingml/2006/main">
              <a:ext uri="{FF2B5EF4-FFF2-40B4-BE49-F238E27FC236}">
                <a16:creationId xmlns:a16="http://schemas.microsoft.com/office/drawing/2014/main" id="{9B72EDB6-C936-4319-B557-FF809B57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energía interna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pertenece al estado microscópico del sistema y se mide en joules. Dos sistemas a igual temperatura pueden tener distinta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24" name="U02-061: Diagrama de la slide «La energía interna pertenece al estado microscópico»: Definición, símbolo, unidad y contraejemplo conceptual con distinta cantidad de mater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8b756d7c24e43">
            <a:extLst>
              <a:ext uri="{96DAC541-7B7A-43D3-8B79-37D633B846F1}">
                <asvg:svgBlip xmlns:asvg="http://schemas.microsoft.com/office/drawing/2016/SVG/main" r:embed="Reab907663aa946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U02-061_caption">
            <a:extLst xmlns:a="http://schemas.openxmlformats.org/drawingml/2006/main">
              <a:ext uri="{FF2B5EF4-FFF2-40B4-BE49-F238E27FC236}">
                <a16:creationId xmlns:a16="http://schemas.microsoft.com/office/drawing/2014/main" id="{551198D4-A0D0-4383-8CD5-1319CF56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Dos sistemas a igual temperatura pueden tener distinta energía interna.</a:t>
            </a:r>
          </a:p>
        </p:txBody>
      </p:sp>
      <p:sp>
        <p:nvSpPr>
          <p:cNvPr id="19" name="U02-061_source">
            <a:extLst xmlns:a="http://schemas.openxmlformats.org/drawingml/2006/main">
              <a:ext uri="{FF2B5EF4-FFF2-40B4-BE49-F238E27FC236}">
                <a16:creationId xmlns:a16="http://schemas.microsoft.com/office/drawing/2014/main" id="{1E0ACDB7-FC03-4D99-A679-21923C69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71E1DC6-F89D-8D69-6333-36D980A4F9DD}" type="slidenum">
              <a:t>62</a:t>
            </a:fld>
          </a:p>
        </p:txBody>
      </p:sp>
      <p:sp>
        <p:nvSpPr>
          <p:cNvPr id="14" name="U02-062_eyebrow">
            <a:extLst xmlns:a="http://schemas.openxmlformats.org/drawingml/2006/main">
              <a:ext uri="{FF2B5EF4-FFF2-40B4-BE49-F238E27FC236}">
                <a16:creationId xmlns:a16="http://schemas.microsoft.com/office/drawing/2014/main" id="{03A0AA49-D498-47EC-BEDC-4BE6941D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15" name="U02-062_title">
            <a:extLst xmlns:a="http://schemas.openxmlformats.org/drawingml/2006/main">
              <a:ext uri="{FF2B5EF4-FFF2-40B4-BE49-F238E27FC236}">
                <a16:creationId xmlns:a16="http://schemas.microsoft.com/office/drawing/2014/main" id="{F9412B23-A003-4C79-B067-1CF460F4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calor es energía transferida por diferencia de temperatura</a:t>
            </a:r>
          </a:p>
        </p:txBody>
      </p:sp>
      <p:sp>
        <p:nvSpPr>
          <p:cNvPr id="16" name="U02-062_takeaway">
            <a:extLst xmlns:a="http://schemas.openxmlformats.org/drawingml/2006/main">
              <a:ext uri="{FF2B5EF4-FFF2-40B4-BE49-F238E27FC236}">
                <a16:creationId xmlns:a16="http://schemas.microsoft.com/office/drawing/2014/main" id="{F201C3A6-E50F-4006-B7DC-30DDFD7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calor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Q_calor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es energía transferida por una diferencia de temperatura. Un sistema no “contiene calor”: contiene energía interna.</a:t>
            </a:r>
          </a:p>
        </p:txBody>
      </p:sp>
      <p:pic>
        <p:nvPicPr>
          <p:cNvPr id="24" name="U02-062: Diagrama de la slide «El calor es energía transferida por diferencia de temperatura»: Definición, Q_calor, J, condición de diferencia de temperatur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a6d7cca844b07">
            <a:extLst>
              <a:ext uri="{96DAC541-7B7A-43D3-8B79-37D633B846F1}">
                <asvg:svgBlip xmlns:asvg="http://schemas.microsoft.com/office/drawing/2016/SVG/main" r:embed="R406072fe0f9440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U02-062_caption">
            <a:extLst xmlns:a="http://schemas.openxmlformats.org/drawingml/2006/main">
              <a:ext uri="{FF2B5EF4-FFF2-40B4-BE49-F238E27FC236}">
                <a16:creationId xmlns:a16="http://schemas.microsoft.com/office/drawing/2014/main" id="{63444E5E-F8F0-45DD-895C-2CD0F78E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sistema posee energía interna y puede recibir o ceder energía mediante calor.</a:t>
            </a:r>
          </a:p>
        </p:txBody>
      </p:sp>
      <p:sp>
        <p:nvSpPr>
          <p:cNvPr id="19" name="U02-062_source">
            <a:extLst xmlns:a="http://schemas.openxmlformats.org/drawingml/2006/main">
              <a:ext uri="{FF2B5EF4-FFF2-40B4-BE49-F238E27FC236}">
                <a16:creationId xmlns:a16="http://schemas.microsoft.com/office/drawing/2014/main" id="{B904A679-22F4-4586-8D7E-B038FB2C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8BECC1C-8AF1-E14F-B384-26C5966C006A}" type="slidenum">
              <a:t>63</a:t>
            </a:fld>
          </a:p>
        </p:txBody>
      </p:sp>
      <p:sp>
        <p:nvSpPr>
          <p:cNvPr id="20" name="U02-063_eyebrow">
            <a:extLst xmlns:a="http://schemas.openxmlformats.org/drawingml/2006/main">
              <a:ext uri="{FF2B5EF4-FFF2-40B4-BE49-F238E27FC236}">
                <a16:creationId xmlns:a16="http://schemas.microsoft.com/office/drawing/2014/main" id="{B5478FD0-14F1-4BD8-B927-746174E6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21" name="U02-063_title">
            <a:extLst xmlns:a="http://schemas.openxmlformats.org/drawingml/2006/main">
              <a:ext uri="{FF2B5EF4-FFF2-40B4-BE49-F238E27FC236}">
                <a16:creationId xmlns:a16="http://schemas.microsoft.com/office/drawing/2014/main" id="{82FC0CE2-19B2-45ED-811A-40980F8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Estado y transferencia responden preguntas distintas</a:t>
            </a:r>
          </a:p>
        </p:txBody>
      </p:sp>
      <p:sp>
        <p:nvSpPr>
          <p:cNvPr id="22" name="U02-063_takeaway">
            <a:extLst xmlns:a="http://schemas.openxmlformats.org/drawingml/2006/main">
              <a:ext uri="{FF2B5EF4-FFF2-40B4-BE49-F238E27FC236}">
                <a16:creationId xmlns:a16="http://schemas.microsoft.com/office/drawing/2014/main" id="{D03DF262-7C1B-40E0-B47B-A1E5EEFB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Magnitudes de estado: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temperatura y energía interna; describen al sistema.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Transferencias: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calor y trabajo; describen energía que cruza la frontera durante un proceso.</a:t>
            </a:r>
          </a:p>
        </p:txBody>
      </p:sp>
      <p:pic>
        <p:nvPicPr>
          <p:cNvPr id="30" name="U02-063: Diagrama de la slide «Estado y transferencia responden preguntas distintas»: Dos columnas equivalentes y ejemplos de entrada/salid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fd88f4d4b40e5">
            <a:extLst>
              <a:ext uri="{96DAC541-7B7A-43D3-8B79-37D633B846F1}">
                <asvg:svgBlip xmlns:asvg="http://schemas.microsoft.com/office/drawing/2016/SVG/main" r:embed="R1de1d9d9e13544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4" name="U02-063_caption">
            <a:extLst xmlns:a="http://schemas.openxmlformats.org/drawingml/2006/main">
              <a:ext uri="{FF2B5EF4-FFF2-40B4-BE49-F238E27FC236}">
                <a16:creationId xmlns:a16="http://schemas.microsoft.com/office/drawing/2014/main" id="{044BE561-4B71-4693-9247-BC3CBA1F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magnitud de estado describe el sistema; una transferencia describe energía que cruza la frontera.</a:t>
            </a:r>
          </a:p>
        </p:txBody>
      </p:sp>
      <p:sp>
        <p:nvSpPr>
          <p:cNvPr id="25" name="U02-063_source">
            <a:extLst xmlns:a="http://schemas.openxmlformats.org/drawingml/2006/main">
              <a:ext uri="{FF2B5EF4-FFF2-40B4-BE49-F238E27FC236}">
                <a16:creationId xmlns:a16="http://schemas.microsoft.com/office/drawing/2014/main" id="{E3DF8E9D-718A-453F-872D-4EEE03F6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0266C08-4012-4EBF-30A1-86DAD603F97A}" type="slidenum">
              <a:t>64</a:t>
            </a:fld>
          </a:p>
        </p:txBody>
      </p:sp>
      <p:sp>
        <p:nvSpPr>
          <p:cNvPr id="19" name="U02-064_eyebrow">
            <a:extLst xmlns:a="http://schemas.openxmlformats.org/drawingml/2006/main">
              <a:ext uri="{FF2B5EF4-FFF2-40B4-BE49-F238E27FC236}">
                <a16:creationId xmlns:a16="http://schemas.microsoft.com/office/drawing/2014/main" id="{5602000D-868B-4918-8794-3F44380C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20" name="U02-064_title">
            <a:extLst xmlns:a="http://schemas.openxmlformats.org/drawingml/2006/main">
              <a:ext uri="{FF2B5EF4-FFF2-40B4-BE49-F238E27FC236}">
                <a16:creationId xmlns:a16="http://schemas.microsoft.com/office/drawing/2014/main" id="{B2DB2FAC-6230-48EA-A4DF-200D7085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primera ley contabiliza calor y trabajo sobre el sistema</a:t>
            </a:r>
          </a:p>
        </p:txBody>
      </p:sp>
      <p:sp>
        <p:nvSpPr>
          <p:cNvPr id="21" name="U02-064_takeaway">
            <a:extLst xmlns:a="http://schemas.openxmlformats.org/drawingml/2006/main">
              <a:ext uri="{FF2B5EF4-FFF2-40B4-BE49-F238E27FC236}">
                <a16:creationId xmlns:a16="http://schemas.microsoft.com/office/drawing/2014/main" id="{6D956B7D-E6D8-407D-A1DB-A4DD8DA3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 la convención “positivo al entrar”: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ΔU = Q_calor + W_sobre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Cada término se expresa en joules (J).</a:t>
            </a:r>
          </a:p>
        </p:txBody>
      </p:sp>
      <p:sp>
        <p:nvSpPr>
          <p:cNvPr id="22" name="U02-064_equation_panel">
            <a:extLst xmlns:a="http://schemas.openxmlformats.org/drawingml/2006/main">
              <a:ext uri="{FF2B5EF4-FFF2-40B4-BE49-F238E27FC236}">
                <a16:creationId xmlns:a16="http://schemas.microsoft.com/office/drawing/2014/main" id="{4D1BF5F5-DE22-4E3E-909A-A45A7541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64_equation">
            <a:extLst xmlns:a="http://schemas.openxmlformats.org/drawingml/2006/main">
              <a:ext uri="{FF2B5EF4-FFF2-40B4-BE49-F238E27FC236}">
                <a16:creationId xmlns:a16="http://schemas.microsoft.com/office/drawing/2014/main" id="{E121E51B-4B20-4F6B-9468-1B587EF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ΔU = Q_calor + W_sobre</a:t>
            </a:r>
          </a:p>
        </p:txBody>
      </p:sp>
      <p:pic>
        <p:nvPicPr>
          <p:cNvPr id="33" name="U02-064: Ecuación anotada de la slide «La primera ley contabiliza calor y trabajo sobre el sistema»: Ecuación, signos, unidades y frase de conven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f8fcb92d34c15">
            <a:extLst>
              <a:ext uri="{96DAC541-7B7A-43D3-8B79-37D633B846F1}">
                <asvg:svgBlip xmlns:asvg="http://schemas.microsoft.com/office/drawing/2016/SVG/main" r:embed="Rd8b1d0e1b5f241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64_caption">
            <a:extLst xmlns:a="http://schemas.openxmlformats.org/drawingml/2006/main">
              <a:ext uri="{FF2B5EF4-FFF2-40B4-BE49-F238E27FC236}">
                <a16:creationId xmlns:a16="http://schemas.microsoft.com/office/drawing/2014/main" id="{FEFDFB42-DCCF-4DEC-B0A8-C05D1D8D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 Q_calor y W_sobre positivos al entrar, ΔU = Q_calor + W_sobre.</a:t>
            </a:r>
          </a:p>
        </p:txBody>
      </p:sp>
      <p:sp>
        <p:nvSpPr>
          <p:cNvPr id="26" name="U02-064_source">
            <a:extLst xmlns:a="http://schemas.openxmlformats.org/drawingml/2006/main">
              <a:ext uri="{FF2B5EF4-FFF2-40B4-BE49-F238E27FC236}">
                <a16:creationId xmlns:a16="http://schemas.microsoft.com/office/drawing/2014/main" id="{F66AC7E6-E183-4842-983B-9DD7B58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2FF3517-0353-38FD-111C-6706FB0AABA9}" type="slidenum">
              <a:t>65</a:t>
            </a:fld>
          </a:p>
        </p:txBody>
      </p:sp>
      <p:sp>
        <p:nvSpPr>
          <p:cNvPr id="29" name="U02-065_eyebrow">
            <a:extLst xmlns:a="http://schemas.openxmlformats.org/drawingml/2006/main">
              <a:ext uri="{FF2B5EF4-FFF2-40B4-BE49-F238E27FC236}">
                <a16:creationId xmlns:a16="http://schemas.microsoft.com/office/drawing/2014/main" id="{4FDD5691-BADE-4233-B195-0EFD08B0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30" name="U02-065_title">
            <a:extLst xmlns:a="http://schemas.openxmlformats.org/drawingml/2006/main">
              <a:ext uri="{FF2B5EF4-FFF2-40B4-BE49-F238E27FC236}">
                <a16:creationId xmlns:a16="http://schemas.microsoft.com/office/drawing/2014/main" id="{75F38F5A-507B-475D-9B9A-827AF37F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signo depende de la dirección de la transferencia</a:t>
            </a:r>
          </a:p>
        </p:txBody>
      </p:sp>
      <p:sp>
        <p:nvSpPr>
          <p:cNvPr id="31" name="U02-065_takeaway">
            <a:extLst xmlns:a="http://schemas.openxmlformats.org/drawingml/2006/main">
              <a:ext uri="{FF2B5EF4-FFF2-40B4-BE49-F238E27FC236}">
                <a16:creationId xmlns:a16="http://schemas.microsoft.com/office/drawing/2014/main" id="{117E029A-3218-4104-8653-BF924C5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Calor entra: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Q_calor &gt;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Calor sale: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Q_calor &lt;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Trabajo sobre el sistema: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W_sobre &gt;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Trabajo realizado por el sistema: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W_sobre &lt;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9" name="U02-065: Diagrama de la slide «El signo depende de la dirección de la transferencia»: Cuatro casos: calor entra/sale; trabajo sobre/por el sistem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882e975da4095">
            <a:extLst>
              <a:ext uri="{96DAC541-7B7A-43D3-8B79-37D633B846F1}">
                <asvg:svgBlip xmlns:asvg="http://schemas.microsoft.com/office/drawing/2016/SVG/main" r:embed="R1c73327c9eee49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800350"/>
            <a:ext cx="10668000" cy="2914650"/>
          </a:xfrm>
          <a:prstGeom xmlns:a="http://schemas.openxmlformats.org/drawingml/2006/main" prst="rect">
            <a:avLst/>
          </a:prstGeom>
        </p:spPr>
      </p:pic>
      <p:sp>
        <p:nvSpPr>
          <p:cNvPr id="33" name="U02-065_caption">
            <a:extLst xmlns:a="http://schemas.openxmlformats.org/drawingml/2006/main">
              <a:ext uri="{FF2B5EF4-FFF2-40B4-BE49-F238E27FC236}">
                <a16:creationId xmlns:a16="http://schemas.microsoft.com/office/drawing/2014/main" id="{DF10247F-61F8-4E2B-BE9D-2A8E1E05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Entrar al sistema es positivo; salir es negativo, bajo la convención declarada.</a:t>
            </a:r>
          </a:p>
        </p:txBody>
      </p:sp>
      <p:sp>
        <p:nvSpPr>
          <p:cNvPr id="34" name="U02-065_source">
            <a:extLst xmlns:a="http://schemas.openxmlformats.org/drawingml/2006/main">
              <a:ext uri="{FF2B5EF4-FFF2-40B4-BE49-F238E27FC236}">
                <a16:creationId xmlns:a16="http://schemas.microsoft.com/office/drawing/2014/main" id="{E702419F-4154-43AF-9CBA-5A217191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D0572CC-9AC8-F369-D684-34788CEC1F0F}" type="slidenum">
              <a:t>66</a:t>
            </a:fld>
          </a:p>
        </p:txBody>
      </p:sp>
      <p:sp>
        <p:nvSpPr>
          <p:cNvPr id="25" name="U02-066_eyebrow">
            <a:extLst xmlns:a="http://schemas.openxmlformats.org/drawingml/2006/main">
              <a:ext uri="{FF2B5EF4-FFF2-40B4-BE49-F238E27FC236}">
                <a16:creationId xmlns:a16="http://schemas.microsoft.com/office/drawing/2014/main" id="{9947C32B-C8E5-4D4D-BDAA-73CAB3FF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26" name="U02-066_title">
            <a:extLst xmlns:a="http://schemas.openxmlformats.org/drawingml/2006/main">
              <a:ext uri="{FF2B5EF4-FFF2-40B4-BE49-F238E27FC236}">
                <a16:creationId xmlns:a16="http://schemas.microsoft.com/office/drawing/2014/main" id="{96214018-764D-4838-ABAB-A55F600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Calor sale y trabajo entra: el balance decide ΔU</a:t>
            </a:r>
          </a:p>
        </p:txBody>
      </p:sp>
      <p:sp>
        <p:nvSpPr>
          <p:cNvPr id="27" name="U02-066_takeaway">
            <a:extLst xmlns:a="http://schemas.openxmlformats.org/drawingml/2006/main">
              <a:ext uri="{FF2B5EF4-FFF2-40B4-BE49-F238E27FC236}">
                <a16:creationId xmlns:a16="http://schemas.microsoft.com/office/drawing/2014/main" id="{69A099EA-EA94-4652-8B01-0068ED22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Signos: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el calor sale, por eso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 = −3,0 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el trabajo entra, por eso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W_sobre = +2,0 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ΔU = −1,0 J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la energía interna disminuye.</a:t>
            </a:r>
          </a:p>
        </p:txBody>
      </p:sp>
      <p:sp>
        <p:nvSpPr>
          <p:cNvPr id="28" name="U02-066_equation_panel">
            <a:extLst xmlns:a="http://schemas.openxmlformats.org/drawingml/2006/main">
              <a:ext uri="{FF2B5EF4-FFF2-40B4-BE49-F238E27FC236}">
                <a16:creationId xmlns:a16="http://schemas.microsoft.com/office/drawing/2014/main" id="{23E549E3-B80D-4633-A05E-9A0FDF8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9" name="U02-066_equation">
            <a:extLst xmlns:a="http://schemas.openxmlformats.org/drawingml/2006/main">
              <a:ext uri="{FF2B5EF4-FFF2-40B4-BE49-F238E27FC236}">
                <a16:creationId xmlns:a16="http://schemas.microsoft.com/office/drawing/2014/main" id="{C17C2349-E1E2-4C3C-AFEE-3CA2595F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ΔU = (−3,0 J) + (+2,0 J) = −1,0 J.</a:t>
            </a:r>
          </a:p>
        </p:txBody>
      </p:sp>
      <p:pic>
        <p:nvPicPr>
          <p:cNvPr id="39" name="U02-066: Esquema mixto de la slide «Calor sale y trabajo entra: el balance decide ΔU»: Situación, signos, sustitución y significado del resultado negativ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7945483a148ee">
            <a:extLst>
              <a:ext uri="{96DAC541-7B7A-43D3-8B79-37D633B846F1}">
                <asvg:svgBlip xmlns:asvg="http://schemas.microsoft.com/office/drawing/2016/SVG/main" r:embed="Rc02c8329823c4a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31" name="U02-066_caption">
            <a:extLst xmlns:a="http://schemas.openxmlformats.org/drawingml/2006/main">
              <a:ext uri="{FF2B5EF4-FFF2-40B4-BE49-F238E27FC236}">
                <a16:creationId xmlns:a16="http://schemas.microsoft.com/office/drawing/2014/main" id="{0C7150DC-04ED-49F4-82E3-711DC48C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Q = -3,0 J y W_sobre = +2,0 J producen ΔU = -1,0 J.</a:t>
            </a:r>
          </a:p>
        </p:txBody>
      </p:sp>
      <p:sp>
        <p:nvSpPr>
          <p:cNvPr id="32" name="U02-066_source">
            <a:extLst xmlns:a="http://schemas.openxmlformats.org/drawingml/2006/main">
              <a:ext uri="{FF2B5EF4-FFF2-40B4-BE49-F238E27FC236}">
                <a16:creationId xmlns:a16="http://schemas.microsoft.com/office/drawing/2014/main" id="{44E5DCC3-842C-4200-870C-92C93358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9DAD1FF-0708-FB06-41A3-EFFD1902CB65}" type="slidenum">
              <a:t>67</a:t>
            </a:fld>
          </a:p>
        </p:txBody>
      </p:sp>
      <p:sp>
        <p:nvSpPr>
          <p:cNvPr id="21" name="U02-067_eyebrow">
            <a:extLst xmlns:a="http://schemas.openxmlformats.org/drawingml/2006/main">
              <a:ext uri="{FF2B5EF4-FFF2-40B4-BE49-F238E27FC236}">
                <a16:creationId xmlns:a16="http://schemas.microsoft.com/office/drawing/2014/main" id="{C92ACC64-ED81-4F9B-AADD-C7B09C93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CALOR Y PRIMERA LEY</a:t>
            </a:r>
          </a:p>
        </p:txBody>
      </p:sp>
      <p:sp>
        <p:nvSpPr>
          <p:cNvPr id="22" name="U02-067_title">
            <a:extLst xmlns:a="http://schemas.openxmlformats.org/drawingml/2006/main">
              <a:ext uri="{FF2B5EF4-FFF2-40B4-BE49-F238E27FC236}">
                <a16:creationId xmlns:a16="http://schemas.microsoft.com/office/drawing/2014/main" id="{BD277A9C-AAE0-4541-BCE8-78FC34C3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estado, transferencia y balance</a:t>
            </a:r>
          </a:p>
        </p:txBody>
      </p:sp>
      <p:sp>
        <p:nvSpPr>
          <p:cNvPr id="23" name="U02-067_recap_panel">
            <a:extLst xmlns:a="http://schemas.openxmlformats.org/drawingml/2006/main">
              <a:ext uri="{FF2B5EF4-FFF2-40B4-BE49-F238E27FC236}">
                <a16:creationId xmlns:a16="http://schemas.microsoft.com/office/drawing/2014/main" id="{847E0133-3459-4F68-87C3-48B7CDB2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4" name="U02-067_recap">
            <a:extLst xmlns:a="http://schemas.openxmlformats.org/drawingml/2006/main">
              <a:ext uri="{FF2B5EF4-FFF2-40B4-BE49-F238E27FC236}">
                <a16:creationId xmlns:a16="http://schemas.microsoft.com/office/drawing/2014/main" id="{F404A5FA-A65E-4020-A582-2DCA20C1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76425"/>
            <a:ext cx="9810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Estado: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temperatura y 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Transferencia: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calor y trabajo.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Balance: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la primera ley relaciona transferencias con 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¿El sistema “contiene calor”?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22EA31E-2FA5-E9C8-EB93-8FED021F82AB}" type="slidenum">
              <a:t>68</a:t>
            </a:fld>
          </a:p>
        </p:txBody>
      </p:sp>
      <p:sp>
        <p:nvSpPr>
          <p:cNvPr id="10" name="U02-068_eyebrow">
            <a:extLst xmlns:a="http://schemas.openxmlformats.org/drawingml/2006/main">
              <a:ext uri="{FF2B5EF4-FFF2-40B4-BE49-F238E27FC236}">
                <a16:creationId xmlns:a16="http://schemas.microsoft.com/office/drawing/2014/main" id="{91BA66A8-63CE-4CC5-B3FE-03E7DBC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11" name="U02-068_title">
            <a:extLst xmlns:a="http://schemas.openxmlformats.org/drawingml/2006/main">
              <a:ext uri="{FF2B5EF4-FFF2-40B4-BE49-F238E27FC236}">
                <a16:creationId xmlns:a16="http://schemas.microsoft.com/office/drawing/2014/main" id="{65C3D51E-FF3F-45FC-9FE3-BF9BD597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Algunos procesos tienen una dirección preferente</a:t>
            </a:r>
          </a:p>
        </p:txBody>
      </p:sp>
      <p:sp>
        <p:nvSpPr>
          <p:cNvPr id="12" name="U02-068_guide">
            <a:extLst xmlns:a="http://schemas.openxmlformats.org/drawingml/2006/main">
              <a:ext uri="{FF2B5EF4-FFF2-40B4-BE49-F238E27FC236}">
                <a16:creationId xmlns:a16="http://schemas.microsoft.com/office/drawing/2014/main" id="{A943F162-7B30-40B7-88A0-D5BCFEA2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¿por qué una oscilación amortiguada no recupera por sí sola su amplitud inicial?</a:t>
            </a:r>
          </a:p>
        </p:txBody>
      </p:sp>
      <p:sp>
        <p:nvSpPr>
          <p:cNvPr id="13" name="U02-068_subtitle">
            <a:extLst xmlns:a="http://schemas.openxmlformats.org/drawingml/2006/main">
              <a:ext uri="{FF2B5EF4-FFF2-40B4-BE49-F238E27FC236}">
                <a16:creationId xmlns:a16="http://schemas.microsoft.com/office/drawing/2014/main" id="{B8A431CE-901C-47F3-83FD-1A987DD9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rcador de número de diapositiva 20">
            <a:extLst xmlns:a="http://schemas.openxmlformats.org/drawingml/2006/main">
              <a:ext uri="{FF2B5EF4-FFF2-40B4-BE49-F238E27FC236}">
                <a16:creationId xmlns:a16="http://schemas.microsoft.com/office/drawing/2014/main" id="{9CA9596E-D94D-48D7-199C-CC38FBB01EF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F9EABC7-5C80-1540-9810-371589B4C2E2}" type="slidenum">
              <a:t>69</a:t>
            </a:fld>
          </a:p>
        </p:txBody>
      </p:sp>
      <p:sp>
        <p:nvSpPr>
          <p:cNvPr id="22" name="U02-069_eyebrow">
            <a:extLst xmlns:a="http://schemas.openxmlformats.org/drawingml/2006/main">
              <a:ext uri="{FF2B5EF4-FFF2-40B4-BE49-F238E27FC236}">
                <a16:creationId xmlns:a16="http://schemas.microsoft.com/office/drawing/2014/main" id="{F76F87C3-DF92-4EFA-AEAD-FF2B66A2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23" name="U02-069_title">
            <a:extLst xmlns:a="http://schemas.openxmlformats.org/drawingml/2006/main">
              <a:ext uri="{FF2B5EF4-FFF2-40B4-BE49-F238E27FC236}">
                <a16:creationId xmlns:a16="http://schemas.microsoft.com/office/drawing/2014/main" id="{A917DBDB-A6DB-46AA-A69C-4F36CBEF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amortiguamiento marca una dirección del proceso</a:t>
            </a:r>
          </a:p>
        </p:txBody>
      </p:sp>
      <p:sp>
        <p:nvSpPr>
          <p:cNvPr id="24" name="U02-069_static_panel">
            <a:extLst xmlns:a="http://schemas.openxmlformats.org/drawingml/2006/main">
              <a:ext uri="{FF2B5EF4-FFF2-40B4-BE49-F238E27FC236}">
                <a16:creationId xmlns:a16="http://schemas.microsoft.com/office/drawing/2014/main" id="{C4F85D0D-5202-4744-8219-C0B729A7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0287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</p:sp>
      <p:sp>
        <p:nvSpPr>
          <p:cNvPr id="25" name="U02-069_static_text">
            <a:extLst xmlns:a="http://schemas.openxmlformats.org/drawingml/2006/main">
              <a:ext uri="{FF2B5EF4-FFF2-40B4-BE49-F238E27FC236}">
                <a16:creationId xmlns:a16="http://schemas.microsoft.com/office/drawing/2014/main" id="{A2198BEB-F38F-4BB1-A1BD-245ABBE2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962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Secuencia: amplitud decreciente → menor energía mecánica organizada → mayor energía interna. El proceso inverso no ocurre espontáneamente en el modelo.</a:t>
            </a:r>
          </a:p>
        </p:txBody>
      </p:sp>
      <p:sp>
        <p:nvSpPr>
          <p:cNvPr id="26" name="U02-069_media_status">
            <a:extLst xmlns:a="http://schemas.openxmlformats.org/drawingml/2006/main">
              <a:ext uri="{FF2B5EF4-FFF2-40B4-BE49-F238E27FC236}">
                <a16:creationId xmlns:a16="http://schemas.microsoft.com/office/drawing/2014/main" id="{2C09AF0A-3EA6-4877-AD18-091187B0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339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Alternativa estática incluida. El recurso audiovisual propio continúa pendiente.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A6072AD-BB8C-D3CF-DBF4-F438AF6C7F9D}" type="slidenum">
              <a:t>70</a:t>
            </a:fld>
          </a:p>
        </p:txBody>
      </p:sp>
      <p:sp>
        <p:nvSpPr>
          <p:cNvPr id="14" name="U02-070_eyebrow">
            <a:extLst xmlns:a="http://schemas.openxmlformats.org/drawingml/2006/main">
              <a:ext uri="{FF2B5EF4-FFF2-40B4-BE49-F238E27FC236}">
                <a16:creationId xmlns:a16="http://schemas.microsoft.com/office/drawing/2014/main" id="{E874E2B7-0E8F-47F3-830A-7920568B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15" name="U02-070_title">
            <a:extLst xmlns:a="http://schemas.openxmlformats.org/drawingml/2006/main">
              <a:ext uri="{FF2B5EF4-FFF2-40B4-BE49-F238E27FC236}">
                <a16:creationId xmlns:a16="http://schemas.microsoft.com/office/drawing/2014/main" id="{F56AAC8D-9E95-4D27-98FD-9B5AB382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entropía es una magnitud de estado</a:t>
            </a:r>
          </a:p>
        </p:txBody>
      </p:sp>
      <p:sp>
        <p:nvSpPr>
          <p:cNvPr id="16" name="U02-070_definition_panel">
            <a:extLst xmlns:a="http://schemas.openxmlformats.org/drawingml/2006/main">
              <a:ext uri="{FF2B5EF4-FFF2-40B4-BE49-F238E27FC236}">
                <a16:creationId xmlns:a16="http://schemas.microsoft.com/office/drawing/2014/main" id="{DF111BD0-47ED-45CF-A283-95F67383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7" name="U02-070_definition">
            <a:extLst xmlns:a="http://schemas.openxmlformats.org/drawingml/2006/main">
              <a:ext uri="{FF2B5EF4-FFF2-40B4-BE49-F238E27FC236}">
                <a16:creationId xmlns:a16="http://schemas.microsoft.com/office/drawing/2014/main" id="{D085DA07-235D-432E-B404-5DFAECC8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62150"/>
            <a:ext cx="962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Entropía:</a:t>
            </a: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magnitud de estado usada aquí para reconocer irreversibilidad macroscópica; unidad: J/K.</a:t>
            </a:r>
          </a:p>
        </p:txBody>
      </p:sp>
      <p:sp>
        <p:nvSpPr>
          <p:cNvPr id="18" name="U02-070_example">
            <a:extLst xmlns:a="http://schemas.openxmlformats.org/drawingml/2006/main">
              <a:ext uri="{FF2B5EF4-FFF2-40B4-BE49-F238E27FC236}">
                <a16:creationId xmlns:a16="http://schemas.microsoft.com/office/drawing/2014/main" id="{F77AE73E-7B93-4609-B229-0FD3F4F0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entropía </a:t>
            </a: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S_ent</a:t>
            </a: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es una magnitud de estado. Aquí se usa cualitativamente para reconocer irreversibilidad macroscópica; su unidad es J/K.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729EB1E-22A9-C7DF-64B8-0F3C191F1744}" type="slidenum">
              <a:t>71</a:t>
            </a:fld>
          </a:p>
        </p:txBody>
      </p:sp>
      <p:sp>
        <p:nvSpPr>
          <p:cNvPr id="19" name="U02-071_eyebrow">
            <a:extLst xmlns:a="http://schemas.openxmlformats.org/drawingml/2006/main">
              <a:ext uri="{FF2B5EF4-FFF2-40B4-BE49-F238E27FC236}">
                <a16:creationId xmlns:a16="http://schemas.microsoft.com/office/drawing/2014/main" id="{3AFB4FFF-BC54-48F2-9DBC-C0537479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20" name="U02-071_title">
            <a:extLst xmlns:a="http://schemas.openxmlformats.org/drawingml/2006/main">
              <a:ext uri="{FF2B5EF4-FFF2-40B4-BE49-F238E27FC236}">
                <a16:creationId xmlns:a16="http://schemas.microsoft.com/office/drawing/2014/main" id="{85B981E5-B9EB-4EBC-8AC1-004C9E1F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sistema total aislado, la entropía no disminuye</a:t>
            </a:r>
          </a:p>
        </p:txBody>
      </p:sp>
      <p:sp>
        <p:nvSpPr>
          <p:cNvPr id="21" name="U02-071_takeaway">
            <a:extLst xmlns:a="http://schemas.openxmlformats.org/drawingml/2006/main">
              <a:ext uri="{FF2B5EF4-FFF2-40B4-BE49-F238E27FC236}">
                <a16:creationId xmlns:a16="http://schemas.microsoft.com/office/drawing/2014/main" id="{979D1B98-38B4-4C09-B5E0-1917DB73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un sistema total aislado,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≥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La igualdad representa el límite reversible ideal; un aumento indica producción de entropía.</a:t>
            </a:r>
          </a:p>
        </p:txBody>
      </p:sp>
      <p:sp>
        <p:nvSpPr>
          <p:cNvPr id="22" name="U02-071_equation_panel">
            <a:extLst xmlns:a="http://schemas.openxmlformats.org/drawingml/2006/main">
              <a:ext uri="{FF2B5EF4-FFF2-40B4-BE49-F238E27FC236}">
                <a16:creationId xmlns:a16="http://schemas.microsoft.com/office/drawing/2014/main" id="{2E456B5A-AED2-4DA9-8E64-A6C81864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71_equation">
            <a:extLst xmlns:a="http://schemas.openxmlformats.org/drawingml/2006/main">
              <a:ext uri="{FF2B5EF4-FFF2-40B4-BE49-F238E27FC236}">
                <a16:creationId xmlns:a16="http://schemas.microsoft.com/office/drawing/2014/main" id="{9D77BAB6-793B-48CA-97D2-A5495ED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ΔS_total ≥ 0</a:t>
            </a:r>
          </a:p>
        </p:txBody>
      </p:sp>
      <p:pic>
        <p:nvPicPr>
          <p:cNvPr id="33" name="U02-071: Ecuación anotada de la slide «En un sistema total aislado, la entropía no disminuye»: Ecuación, sistema total, unidad y dos ramas de interpret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ae1bdd3da4aa1">
            <a:extLst>
              <a:ext uri="{96DAC541-7B7A-43D3-8B79-37D633B846F1}">
                <asvg:svgBlip xmlns:asvg="http://schemas.microsoft.com/office/drawing/2016/SVG/main" r:embed="R511e013dedfa4d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71_caption">
            <a:extLst xmlns:a="http://schemas.openxmlformats.org/drawingml/2006/main">
              <a:ext uri="{FF2B5EF4-FFF2-40B4-BE49-F238E27FC236}">
                <a16:creationId xmlns:a16="http://schemas.microsoft.com/office/drawing/2014/main" id="{17642351-83F8-4A19-885D-237A16FF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Igualdad es el límite reversible ideal; aumento indica producción de entropía.</a:t>
            </a:r>
          </a:p>
        </p:txBody>
      </p:sp>
      <p:sp>
        <p:nvSpPr>
          <p:cNvPr id="26" name="U02-071_source">
            <a:extLst xmlns:a="http://schemas.openxmlformats.org/drawingml/2006/main">
              <a:ext uri="{FF2B5EF4-FFF2-40B4-BE49-F238E27FC236}">
                <a16:creationId xmlns:a16="http://schemas.microsoft.com/office/drawing/2014/main" id="{BDCBCC44-97DF-4F30-921A-1F536E02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776987F-56AD-7B55-62F3-0CC641828052}" type="slidenum">
              <a:t>72</a:t>
            </a:fld>
          </a:p>
        </p:txBody>
      </p:sp>
      <p:sp>
        <p:nvSpPr>
          <p:cNvPr id="20" name="U02-072_eyebrow">
            <a:extLst xmlns:a="http://schemas.openxmlformats.org/drawingml/2006/main">
              <a:ext uri="{FF2B5EF4-FFF2-40B4-BE49-F238E27FC236}">
                <a16:creationId xmlns:a16="http://schemas.microsoft.com/office/drawing/2014/main" id="{37F4BC20-BD8A-44AB-B59A-58D5DA3B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21" name="U02-072_title">
            <a:extLst xmlns:a="http://schemas.openxmlformats.org/drawingml/2006/main">
              <a:ext uri="{FF2B5EF4-FFF2-40B4-BE49-F238E27FC236}">
                <a16:creationId xmlns:a16="http://schemas.microsoft.com/office/drawing/2014/main" id="{3F8192B4-4851-4FC8-8DDB-3384C32A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Reversible ideal e irreversible real no son sinónimos de “sin pérdida” y “con pérdida”</a:t>
            </a:r>
          </a:p>
        </p:txBody>
      </p:sp>
      <p:sp>
        <p:nvSpPr>
          <p:cNvPr id="22" name="U02-072_subtitle">
            <a:extLst xmlns:a="http://schemas.openxmlformats.org/drawingml/2006/main">
              <a:ext uri="{FF2B5EF4-FFF2-40B4-BE49-F238E27FC236}">
                <a16:creationId xmlns:a16="http://schemas.microsoft.com/office/drawing/2014/main" id="{9F6921AF-3814-4DDD-A830-38E050BA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Diferencias que cambian la explicación.</a:t>
            </a:r>
          </a:p>
        </p:txBody>
      </p:sp>
      <p:sp>
        <p:nvSpPr>
          <p:cNvPr id="23" name="U02-072_block_0">
            <a:extLst xmlns:a="http://schemas.openxmlformats.org/drawingml/2006/main">
              <a:ext uri="{FF2B5EF4-FFF2-40B4-BE49-F238E27FC236}">
                <a16:creationId xmlns:a16="http://schemas.microsoft.com/office/drawing/2014/main" id="{B61796CF-5AFB-43BD-A5B3-9A5316BC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24075"/>
            <a:ext cx="10287000" cy="2062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Reversible ideal: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= 0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sin producción de entropía.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Irreversible real: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&gt; 0</a:t>
            </a: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con una dirección preferente del proceso.</a:t>
            </a:r>
          </a:p>
        </p:txBody>
      </p:sp>
      <p:sp>
        <p:nvSpPr>
          <p:cNvPr id="24" name="U02-072_label_1">
            <a:extLst xmlns:a="http://schemas.openxmlformats.org/drawingml/2006/main">
              <a:ext uri="{FF2B5EF4-FFF2-40B4-BE49-F238E27FC236}">
                <a16:creationId xmlns:a16="http://schemas.microsoft.com/office/drawing/2014/main" id="{0EB24D20-3705-49D1-8F73-E87E614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5788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ECUACIÓN</a:t>
            </a:r>
          </a:p>
        </p:txBody>
      </p:sp>
      <p:sp>
        <p:nvSpPr>
          <p:cNvPr id="25" name="U02-072_block_1">
            <a:extLst xmlns:a="http://schemas.openxmlformats.org/drawingml/2006/main">
              <a:ext uri="{FF2B5EF4-FFF2-40B4-BE49-F238E27FC236}">
                <a16:creationId xmlns:a16="http://schemas.microsoft.com/office/drawing/2014/main" id="{8034E2B5-F894-455E-AE2D-8C840032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4388"/>
            <a:ext cx="10287000" cy="1833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ΔS_total = 0</a:t>
            </a:r>
            <a:r>
              <a: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 frente a </a:t>
            </a:r>
            <a:r>
              <a: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ΔS_total &gt; 0</a:t>
            </a:r>
            <a:r>
              <a:rPr sz="21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, siempre para el sistema total considerado.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9ACACBC-23A9-0259-8853-3D40A2922B53}" type="slidenum">
              <a:t>73</a:t>
            </a:fld>
          </a:p>
        </p:txBody>
      </p:sp>
      <p:sp>
        <p:nvSpPr>
          <p:cNvPr id="29" name="U02-073_eyebrow">
            <a:extLst xmlns:a="http://schemas.openxmlformats.org/drawingml/2006/main">
              <a:ext uri="{FF2B5EF4-FFF2-40B4-BE49-F238E27FC236}">
                <a16:creationId xmlns:a16="http://schemas.microsoft.com/office/drawing/2014/main" id="{694F0F15-B4E2-4F99-B1B3-A9DD2F25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30" name="U02-073_title">
            <a:extLst xmlns:a="http://schemas.openxmlformats.org/drawingml/2006/main">
              <a:ext uri="{FF2B5EF4-FFF2-40B4-BE49-F238E27FC236}">
                <a16:creationId xmlns:a16="http://schemas.microsoft.com/office/drawing/2014/main" id="{C1824203-DBBB-43CD-8F89-16382E91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amortiguamiento conecta mecánica y termodinámica</a:t>
            </a:r>
          </a:p>
        </p:txBody>
      </p:sp>
      <p:sp>
        <p:nvSpPr>
          <p:cNvPr id="31" name="U02-073_takeaway">
            <a:extLst xmlns:a="http://schemas.openxmlformats.org/drawingml/2006/main">
              <a:ext uri="{FF2B5EF4-FFF2-40B4-BE49-F238E27FC236}">
                <a16:creationId xmlns:a16="http://schemas.microsoft.com/office/drawing/2014/main" id="{1B30C958-D418-444A-AADA-5092C559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disipativa → disminuye la energía mecánica útil → aumenta la energía interna → se produce entropía.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energía total se conserva.</a:t>
            </a:r>
          </a:p>
        </p:txBody>
      </p:sp>
      <p:pic>
        <p:nvPicPr>
          <p:cNvPr id="39" name="U02-073: Diagrama de la slide «El amortiguamiento conecta mecánica y termodinámica»: Cadena causal con cuatro etapas y límites del model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c3e3b1f03434e">
            <a:extLst>
              <a:ext uri="{96DAC541-7B7A-43D3-8B79-37D633B846F1}">
                <asvg:svgBlip xmlns:asvg="http://schemas.microsoft.com/office/drawing/2016/SVG/main" r:embed="R82538cdb85e049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33" name="U02-073_caption">
            <a:extLst xmlns:a="http://schemas.openxmlformats.org/drawingml/2006/main">
              <a:ext uri="{FF2B5EF4-FFF2-40B4-BE49-F238E27FC236}">
                <a16:creationId xmlns:a16="http://schemas.microsoft.com/office/drawing/2014/main" id="{D1E76B26-CB7E-49D2-A2E1-AFEBD700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Fuerza disipativa → menor energía mecánica útil → mayor energía interna → producción de entropía.</a:t>
            </a:r>
          </a:p>
        </p:txBody>
      </p:sp>
      <p:sp>
        <p:nvSpPr>
          <p:cNvPr id="34" name="U02-073_source">
            <a:extLst xmlns:a="http://schemas.openxmlformats.org/drawingml/2006/main">
              <a:ext uri="{FF2B5EF4-FFF2-40B4-BE49-F238E27FC236}">
                <a16:creationId xmlns:a16="http://schemas.microsoft.com/office/drawing/2014/main" id="{D697D8E6-C82A-4893-9CA7-8C7D91A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D7CAEA5-FC9E-B891-9738-7871F1F765A5}" type="slidenum">
              <a:t>74</a:t>
            </a:fld>
          </a:p>
        </p:txBody>
      </p:sp>
      <p:sp>
        <p:nvSpPr>
          <p:cNvPr id="17" name="U02-074_eyebrow">
            <a:extLst xmlns:a="http://schemas.openxmlformats.org/drawingml/2006/main">
              <a:ext uri="{FF2B5EF4-FFF2-40B4-BE49-F238E27FC236}">
                <a16:creationId xmlns:a16="http://schemas.microsoft.com/office/drawing/2014/main" id="{171C27B2-E061-4758-ABF3-062DE5E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18" name="U02-074_title">
            <a:extLst xmlns:a="http://schemas.openxmlformats.org/drawingml/2006/main">
              <a:ext uri="{FF2B5EF4-FFF2-40B4-BE49-F238E27FC236}">
                <a16:creationId xmlns:a16="http://schemas.microsoft.com/office/drawing/2014/main" id="{9BFC7960-A3F9-4982-9888-30EE4A02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Entropía no significa simplemente “desorden” ni “eco”</a:t>
            </a:r>
          </a:p>
        </p:txBody>
      </p:sp>
      <p:sp>
        <p:nvSpPr>
          <p:cNvPr id="19" name="U02-074_error_panel">
            <a:extLst xmlns:a="http://schemas.openxmlformats.org/drawingml/2006/main">
              <a:ext uri="{FF2B5EF4-FFF2-40B4-BE49-F238E27FC236}">
                <a16:creationId xmlns:a16="http://schemas.microsoft.com/office/drawing/2014/main" id="{E6420284-B2A5-454D-8366-68FBA633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E8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</p:sp>
      <p:sp>
        <p:nvSpPr>
          <p:cNvPr id="20" name="U02-074_error_text">
            <a:extLst xmlns:a="http://schemas.openxmlformats.org/drawingml/2006/main">
              <a:ext uri="{FF2B5EF4-FFF2-40B4-BE49-F238E27FC236}">
                <a16:creationId xmlns:a16="http://schemas.microsoft.com/office/drawing/2014/main" id="{FA7262E4-C9F8-4190-98B0-05107161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>“entropía es desorden” o “entropía es eco”.</a:t>
            </a:r>
          </a:p>
        </p:txBody>
      </p:sp>
      <p:sp>
        <p:nvSpPr>
          <p:cNvPr id="21" name="U02-074_correction_panel">
            <a:extLst xmlns:a="http://schemas.openxmlformats.org/drawingml/2006/main">
              <a:ext uri="{FF2B5EF4-FFF2-40B4-BE49-F238E27FC236}">
                <a16:creationId xmlns:a16="http://schemas.microsoft.com/office/drawing/2014/main" id="{CCFA349C-F858-482A-B336-8C8A5D07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047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1430">
            <a:solidFill>
              <a:srgbClr val="2F6F55"/>
            </a:solidFill>
            <a:prstDash val="solid"/>
          </a:ln>
        </p:spPr>
      </p:sp>
      <p:sp>
        <p:nvSpPr>
          <p:cNvPr id="22" name="U02-074_correction_text">
            <a:extLst xmlns:a="http://schemas.openxmlformats.org/drawingml/2006/main">
              <a:ext uri="{FF2B5EF4-FFF2-40B4-BE49-F238E27FC236}">
                <a16:creationId xmlns:a16="http://schemas.microsoft.com/office/drawing/2014/main" id="{F0ED7FE8-0487-4941-96A7-D7C241DF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2F6F5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F6F55"/>
                </a:solidFill>
                <a:latin typeface="Calibri"/>
                <a:ea typeface="Calibri"/>
                <a:cs typeface="Calibri"/>
              </a:rPr>
              <a:t>la entropía es termodinámica y se expresa en J/K; eco y reverberación corresponden a reflexión.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B457202-512A-0979-41CD-3DF3572B5B0D}" type="slidenum">
              <a:t>75</a:t>
            </a:fld>
          </a:p>
        </p:txBody>
      </p:sp>
      <p:sp>
        <p:nvSpPr>
          <p:cNvPr id="21" name="U02-075_eyebrow">
            <a:extLst xmlns:a="http://schemas.openxmlformats.org/drawingml/2006/main">
              <a:ext uri="{FF2B5EF4-FFF2-40B4-BE49-F238E27FC236}">
                <a16:creationId xmlns:a16="http://schemas.microsoft.com/office/drawing/2014/main" id="{958115BA-8B24-4AAF-AEBE-725BEADF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ENTROPÍA</a:t>
            </a:r>
          </a:p>
        </p:txBody>
      </p:sp>
      <p:sp>
        <p:nvSpPr>
          <p:cNvPr id="22" name="U02-075_title">
            <a:extLst xmlns:a="http://schemas.openxmlformats.org/drawingml/2006/main">
              <a:ext uri="{FF2B5EF4-FFF2-40B4-BE49-F238E27FC236}">
                <a16:creationId xmlns:a16="http://schemas.microsoft.com/office/drawing/2014/main" id="{C1EA996B-C80A-4F7B-A22A-FC803234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conservar energía y producir entropía son compatibles</a:t>
            </a:r>
          </a:p>
        </p:txBody>
      </p:sp>
      <p:sp>
        <p:nvSpPr>
          <p:cNvPr id="23" name="U02-075_recap_panel">
            <a:extLst xmlns:a="http://schemas.openxmlformats.org/drawingml/2006/main">
              <a:ext uri="{FF2B5EF4-FFF2-40B4-BE49-F238E27FC236}">
                <a16:creationId xmlns:a16="http://schemas.microsoft.com/office/drawing/2014/main" id="{68037A45-FE1A-4466-AD8E-876D5B31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0515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4" name="U02-075_recap">
            <a:extLst xmlns:a="http://schemas.openxmlformats.org/drawingml/2006/main">
              <a:ext uri="{FF2B5EF4-FFF2-40B4-BE49-F238E27FC236}">
                <a16:creationId xmlns:a16="http://schemas.microsoft.com/office/drawing/2014/main" id="{6BECCE8D-3A76-4643-8FE2-103ABF86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19325"/>
            <a:ext cx="9810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La primera ley contabiliza energía.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La entropía informa sobre la dirección del proceso.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Conservar energía y producir entropía son afirmaciones compatibles.</a:t>
            </a:r>
          </a:p>
        </p:txBody>
      </p:sp>
      <p:sp>
        <p:nvSpPr>
          <p:cNvPr id="25" name="U02-075_recap_question">
            <a:extLst xmlns:a="http://schemas.openxmlformats.org/drawingml/2006/main">
              <a:ext uri="{FF2B5EF4-FFF2-40B4-BE49-F238E27FC236}">
                <a16:creationId xmlns:a16="http://schemas.microsoft.com/office/drawing/2014/main" id="{6F36F272-1CB9-44E9-B231-9BCD8A90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720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Aplicar ambas leyes a un oscilador amortiguado.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4577F63-6B95-799D-E400-1CB1B221750D}" type="slidenum">
              <a:t>76</a:t>
            </a:fld>
          </a:p>
        </p:txBody>
      </p:sp>
      <p:sp>
        <p:nvSpPr>
          <p:cNvPr id="10" name="U02-076_eyebrow">
            <a:extLst xmlns:a="http://schemas.openxmlformats.org/drawingml/2006/main">
              <a:ext uri="{FF2B5EF4-FFF2-40B4-BE49-F238E27FC236}">
                <a16:creationId xmlns:a16="http://schemas.microsoft.com/office/drawing/2014/main" id="{3F53DE36-583C-42CF-9833-1E1187D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11" name="U02-076_title">
            <a:extLst xmlns:a="http://schemas.openxmlformats.org/drawingml/2006/main">
              <a:ext uri="{FF2B5EF4-FFF2-40B4-BE49-F238E27FC236}">
                <a16:creationId xmlns:a16="http://schemas.microsoft.com/office/drawing/2014/main" id="{5EEED214-7743-4317-A826-CF6586A0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estado del aire influye en la velocidad de propagación</a:t>
            </a:r>
          </a:p>
        </p:txBody>
      </p:sp>
      <p:sp>
        <p:nvSpPr>
          <p:cNvPr id="12" name="U02-076_guide">
            <a:extLst xmlns:a="http://schemas.openxmlformats.org/drawingml/2006/main">
              <a:ext uri="{FF2B5EF4-FFF2-40B4-BE49-F238E27FC236}">
                <a16:creationId xmlns:a16="http://schemas.microsoft.com/office/drawing/2014/main" id="{C73561A8-36A8-47CC-8458-551E8DC7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¿qué cambia en la propagación del sonido cuando cambia la temperatura del aire?</a:t>
            </a:r>
          </a:p>
        </p:txBody>
      </p:sp>
      <p:sp>
        <p:nvSpPr>
          <p:cNvPr id="13" name="U02-076_subtitle">
            <a:extLst xmlns:a="http://schemas.openxmlformats.org/drawingml/2006/main">
              <a:ext uri="{FF2B5EF4-FFF2-40B4-BE49-F238E27FC236}">
                <a16:creationId xmlns:a16="http://schemas.microsoft.com/office/drawing/2014/main" id="{81DC4CCA-9935-4A33-B309-8370C8C0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17719D9-501B-28AD-B78E-917C652F49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745F4A9-739A-E4F3-B534-ADC362278112}" type="slidenum">
              <a:t>77</a:t>
            </a:fld>
          </a:p>
        </p:txBody>
      </p:sp>
      <p:sp>
        <p:nvSpPr>
          <p:cNvPr id="16" name="U02-077_eyebrow">
            <a:extLst xmlns:a="http://schemas.openxmlformats.org/drawingml/2006/main">
              <a:ext uri="{FF2B5EF4-FFF2-40B4-BE49-F238E27FC236}">
                <a16:creationId xmlns:a16="http://schemas.microsoft.com/office/drawing/2014/main" id="{24CC1077-266D-4E40-858C-1A7176A1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17" name="U02-077_title">
            <a:extLst xmlns:a="http://schemas.openxmlformats.org/drawingml/2006/main">
              <a:ext uri="{FF2B5EF4-FFF2-40B4-BE49-F238E27FC236}">
                <a16:creationId xmlns:a16="http://schemas.microsoft.com/office/drawing/2014/main" id="{2E6A74A7-06B4-40B3-B453-D1D6F3E7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aire se comprime y se expande localmente</a:t>
            </a:r>
          </a:p>
        </p:txBody>
      </p:sp>
      <p:sp>
        <p:nvSpPr>
          <p:cNvPr id="18" name="U02-077_takeaway">
            <a:extLst xmlns:a="http://schemas.openxmlformats.org/drawingml/2006/main">
              <a:ext uri="{FF2B5EF4-FFF2-40B4-BE49-F238E27FC236}">
                <a16:creationId xmlns:a16="http://schemas.microsoft.com/office/drawing/2014/main" id="{0FFA4CE1-D576-4692-8683-7972D7B8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Observar tres zonas: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compresión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equilibrio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rarefacción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Seguir una partícula y luego el frente. Las variaciones son pequeñas y rápidas.</a:t>
            </a:r>
          </a:p>
        </p:txBody>
      </p:sp>
      <p:pic>
        <p:nvPicPr>
          <p:cNvPr id="26" name="U02-077: Secuencia multimedia de la slide «El aire se comprime y se expande localmente»: Compresión, rarefacción, equilibrio y consigna de observación; definición breve de adiabátic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ccf1994694d67">
            <a:extLst>
              <a:ext uri="{96DAC541-7B7A-43D3-8B79-37D633B846F1}">
                <asvg:svgBlip xmlns:asvg="http://schemas.microsoft.com/office/drawing/2016/SVG/main" r:embed="R8fa32e30045047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0" name="U02-077_caption">
            <a:extLst xmlns:a="http://schemas.openxmlformats.org/drawingml/2006/main">
              <a:ext uri="{FF2B5EF4-FFF2-40B4-BE49-F238E27FC236}">
                <a16:creationId xmlns:a16="http://schemas.microsoft.com/office/drawing/2014/main" id="{96CBEE77-6846-4093-9FD7-1E72719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variaciones son pequeñas y rápidas; el intercambio de calor durante cada ciclo se aproxima como despreciable. Esquema conceptual; no está a escala.</a:t>
            </a:r>
          </a:p>
        </p:txBody>
      </p:sp>
      <p:sp>
        <p:nvSpPr>
          <p:cNvPr id="21" name="U02-077_source">
            <a:extLst xmlns:a="http://schemas.openxmlformats.org/drawingml/2006/main">
              <a:ext uri="{FF2B5EF4-FFF2-40B4-BE49-F238E27FC236}">
                <a16:creationId xmlns:a16="http://schemas.microsoft.com/office/drawing/2014/main" id="{16E79803-27FC-433A-951C-1FD82449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Alternativa estática basada en un diagrama propio validado.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860E46EB-B72F-C12D-87AC-B941D4FF3915}" type="slidenum">
              <a:t>78</a:t>
            </a:fld>
          </a:p>
        </p:txBody>
      </p:sp>
      <p:sp>
        <p:nvSpPr>
          <p:cNvPr id="20" name="U02-078_eyebrow">
            <a:extLst xmlns:a="http://schemas.openxmlformats.org/drawingml/2006/main">
              <a:ext uri="{FF2B5EF4-FFF2-40B4-BE49-F238E27FC236}">
                <a16:creationId xmlns:a16="http://schemas.microsoft.com/office/drawing/2014/main" id="{9A01B7E4-F8C6-4320-AB18-7C8D21D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21" name="U02-078_title">
            <a:extLst xmlns:a="http://schemas.openxmlformats.org/drawingml/2006/main">
              <a:ext uri="{FF2B5EF4-FFF2-40B4-BE49-F238E27FC236}">
                <a16:creationId xmlns:a16="http://schemas.microsoft.com/office/drawing/2014/main" id="{5C319045-BFF1-44A6-898C-F84EE30B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perturbación avanza; las partículas se mueven localmente</a:t>
            </a:r>
          </a:p>
        </p:txBody>
      </p:sp>
      <p:sp>
        <p:nvSpPr>
          <p:cNvPr id="22" name="U02-078_takeaway">
            <a:extLst xmlns:a="http://schemas.openxmlformats.org/drawingml/2006/main">
              <a:ext uri="{FF2B5EF4-FFF2-40B4-BE49-F238E27FC236}">
                <a16:creationId xmlns:a16="http://schemas.microsoft.com/office/drawing/2014/main" id="{AEC0953C-58EC-43C8-A8FF-82C3DDC9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Frente: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la perturbación avanza con velocidad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Partícula: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cada porción de aire oscila localmente con velocidad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Propagación no significa transporte neto del aire.</a:t>
            </a:r>
          </a:p>
        </p:txBody>
      </p:sp>
      <p:pic>
        <p:nvPicPr>
          <p:cNvPr id="30" name="U02-078: Diagrama de la slide «La perturbación avanza; las partículas se mueven localmente»: Dos descripciones coordinadas, símbolos c y u, unidades iguales y significados distint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ca34930da4bf9">
            <a:extLst>
              <a:ext uri="{96DAC541-7B7A-43D3-8B79-37D633B846F1}">
                <asvg:svgBlip xmlns:asvg="http://schemas.microsoft.com/office/drawing/2016/SVG/main" r:embed="R37440539cae84b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24" name="U02-078_caption">
            <a:extLst xmlns:a="http://schemas.openxmlformats.org/drawingml/2006/main">
              <a:ext uri="{FF2B5EF4-FFF2-40B4-BE49-F238E27FC236}">
                <a16:creationId xmlns:a16="http://schemas.microsoft.com/office/drawing/2014/main" id="{01394BAB-B234-408B-B37A-816D4E65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 no es la velocidad local de las partículas del aire. Esquema conceptual; no está a escala.</a:t>
            </a:r>
          </a:p>
        </p:txBody>
      </p:sp>
      <p:sp>
        <p:nvSpPr>
          <p:cNvPr id="25" name="U02-078_source">
            <a:extLst xmlns:a="http://schemas.openxmlformats.org/drawingml/2006/main">
              <a:ext uri="{FF2B5EF4-FFF2-40B4-BE49-F238E27FC236}">
                <a16:creationId xmlns:a16="http://schemas.microsoft.com/office/drawing/2014/main" id="{FCA376F9-54C9-4CB8-B175-C60C2293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DDC342D8-64E7-3045-4428-844537067040}" type="slidenum">
              <a:t>79</a:t>
            </a:fld>
          </a:p>
        </p:txBody>
      </p:sp>
      <p:sp>
        <p:nvSpPr>
          <p:cNvPr id="19" name="U02-079_eyebrow">
            <a:extLst xmlns:a="http://schemas.openxmlformats.org/drawingml/2006/main">
              <a:ext uri="{FF2B5EF4-FFF2-40B4-BE49-F238E27FC236}">
                <a16:creationId xmlns:a16="http://schemas.microsoft.com/office/drawing/2014/main" id="{D9913473-AB48-416E-83E9-30FA1CA2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20" name="U02-079_title">
            <a:extLst xmlns:a="http://schemas.openxmlformats.org/drawingml/2006/main">
              <a:ext uri="{FF2B5EF4-FFF2-40B4-BE49-F238E27FC236}">
                <a16:creationId xmlns:a16="http://schemas.microsoft.com/office/drawing/2014/main" id="{E4E2B803-4FC7-40B8-B0F9-9A1D05A1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Cerca de temperaturas ambientales, c aumenta aproximadamente 0,6 m/s por °C</a:t>
            </a:r>
          </a:p>
        </p:txBody>
      </p:sp>
      <p:sp>
        <p:nvSpPr>
          <p:cNvPr id="21" name="U02-079_takeaway">
            <a:extLst xmlns:a="http://schemas.openxmlformats.org/drawingml/2006/main">
              <a:ext uri="{FF2B5EF4-FFF2-40B4-BE49-F238E27FC236}">
                <a16:creationId xmlns:a16="http://schemas.microsoft.com/office/drawing/2014/main" id="{F69ADBC4-C748-4A3D-BDFE-593ADD4A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Cerca de temperaturas ambientales y para aire seco: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 ≈ 331 m/s + (0,6 m/s·°C⁻¹)·ϑ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Es una aproximación lineal de alcance limitado.</a:t>
            </a:r>
          </a:p>
        </p:txBody>
      </p:sp>
      <p:sp>
        <p:nvSpPr>
          <p:cNvPr id="22" name="U02-079_equation_panel">
            <a:extLst xmlns:a="http://schemas.openxmlformats.org/drawingml/2006/main">
              <a:ext uri="{FF2B5EF4-FFF2-40B4-BE49-F238E27FC236}">
                <a16:creationId xmlns:a16="http://schemas.microsoft.com/office/drawing/2014/main" id="{B8F68188-E6F9-4194-AFF8-FF127C50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3" name="U02-079_equation">
            <a:extLst xmlns:a="http://schemas.openxmlformats.org/drawingml/2006/main">
              <a:ext uri="{FF2B5EF4-FFF2-40B4-BE49-F238E27FC236}">
                <a16:creationId xmlns:a16="http://schemas.microsoft.com/office/drawing/2014/main" id="{ADC0EA90-01C3-4186-92DA-B7CA8C8A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 ≈ 331 m/s + [0,6 (m/s)/°C]·ϑ</a:t>
            </a:r>
          </a:p>
        </p:txBody>
      </p:sp>
      <p:pic>
        <p:nvPicPr>
          <p:cNvPr id="33" name="U02-079: Ecuación anotada de la slide «Cerca de temperaturas ambientales, c aumenta aproximadamente 0,6 m/s por °C»: Ecuación c ≈ 331 m/s + ...·ϑ; símbolos, unidades, rango y condicion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2d6448f0b4019">
            <a:extLst>
              <a:ext uri="{96DAC541-7B7A-43D3-8B79-37D633B846F1}">
                <asvg:svgBlip xmlns:asvg="http://schemas.microsoft.com/office/drawing/2016/SVG/main" r:embed="R2b806abf1e7b4e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5" name="U02-079_caption">
            <a:extLst xmlns:a="http://schemas.openxmlformats.org/drawingml/2006/main">
              <a:ext uri="{FF2B5EF4-FFF2-40B4-BE49-F238E27FC236}">
                <a16:creationId xmlns:a16="http://schemas.microsoft.com/office/drawing/2014/main" id="{23224F48-AA63-48A4-90D8-3BE6A558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aproximación describe aire seco en un intervalo limitado; no es universal.</a:t>
            </a:r>
          </a:p>
        </p:txBody>
      </p:sp>
      <p:sp>
        <p:nvSpPr>
          <p:cNvPr id="26" name="U02-079_source">
            <a:extLst xmlns:a="http://schemas.openxmlformats.org/drawingml/2006/main">
              <a:ext uri="{FF2B5EF4-FFF2-40B4-BE49-F238E27FC236}">
                <a16:creationId xmlns:a16="http://schemas.microsoft.com/office/drawing/2014/main" id="{03D3A8B0-3945-496D-9EF3-CE237DDC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33D57995-3DFA-DF16-0E49-A4D4112E1203}" type="slidenum">
              <a:t>80</a:t>
            </a:fld>
          </a:p>
        </p:txBody>
      </p:sp>
      <p:sp>
        <p:nvSpPr>
          <p:cNvPr id="19" name="U02-080_eyebrow">
            <a:extLst xmlns:a="http://schemas.openxmlformats.org/drawingml/2006/main">
              <a:ext uri="{FF2B5EF4-FFF2-40B4-BE49-F238E27FC236}">
                <a16:creationId xmlns:a16="http://schemas.microsoft.com/office/drawing/2014/main" id="{E9189E26-6E76-497A-BC87-68FAA0DF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20" name="U02-080_title">
            <a:extLst xmlns:a="http://schemas.openxmlformats.org/drawingml/2006/main">
              <a:ext uri="{FF2B5EF4-FFF2-40B4-BE49-F238E27FC236}">
                <a16:creationId xmlns:a16="http://schemas.microsoft.com/office/drawing/2014/main" id="{C70743D5-FE4F-4DA6-9709-509AE269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gráfico muestra una tendencia del modelo, no mediciones</a:t>
            </a:r>
          </a:p>
        </p:txBody>
      </p:sp>
      <p:sp>
        <p:nvSpPr>
          <p:cNvPr id="21" name="U02-080_takeaway">
            <a:extLst xmlns:a="http://schemas.openxmlformats.org/drawingml/2006/main">
              <a:ext uri="{FF2B5EF4-FFF2-40B4-BE49-F238E27FC236}">
                <a16:creationId xmlns:a16="http://schemas.microsoft.com/office/drawing/2014/main" id="{4C99AF57-588C-4237-BC6A-F8735D13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Puntos del modelo: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°C → 331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 °C → 337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°C → 343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30 °C → 349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eje vertical está truncado y no comienza en cero.</a:t>
            </a:r>
          </a:p>
        </p:txBody>
      </p:sp>
      <p:pic>
        <p:nvPicPr>
          <p:cNvPr id="29" name="U02-080: Gráfico de la slide «El gráfico muestra una tendencia del modelo, no mediciones»: Gráfico c(ϑ), cuatro puntos calculados, eje vertical truncado declarado y lectura clav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e4671342642a7">
            <a:extLst>
              <a:ext uri="{96DAC541-7B7A-43D3-8B79-37D633B846F1}">
                <asvg:svgBlip xmlns:asvg="http://schemas.microsoft.com/office/drawing/2016/SVG/main" r:embed="Re19285ff150241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3" name="U02-080_caption">
            <a:extLst xmlns:a="http://schemas.openxmlformats.org/drawingml/2006/main">
              <a:ext uri="{FF2B5EF4-FFF2-40B4-BE49-F238E27FC236}">
                <a16:creationId xmlns:a16="http://schemas.microsoft.com/office/drawing/2014/main" id="{3266A9A7-68E9-4166-A5C5-A46F09E5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Entre 0 y 30 °C, el modelo aumenta de 331 a 349 m/s.</a:t>
            </a:r>
          </a:p>
        </p:txBody>
      </p:sp>
      <p:sp>
        <p:nvSpPr>
          <p:cNvPr id="24" name="U02-080_source">
            <a:extLst xmlns:a="http://schemas.openxmlformats.org/drawingml/2006/main">
              <a:ext uri="{FF2B5EF4-FFF2-40B4-BE49-F238E27FC236}">
                <a16:creationId xmlns:a16="http://schemas.microsoft.com/office/drawing/2014/main" id="{DAD526F0-32AB-4C0D-B5AD-38E45F89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3D85474-CC96-761E-A5A0-35F7821F8C3F}" type="slidenum">
              <a:t>81</a:t>
            </a:fld>
          </a:p>
        </p:txBody>
      </p:sp>
      <p:sp>
        <p:nvSpPr>
          <p:cNvPr id="25" name="U02-081_eyebrow">
            <a:extLst xmlns:a="http://schemas.openxmlformats.org/drawingml/2006/main">
              <a:ext uri="{FF2B5EF4-FFF2-40B4-BE49-F238E27FC236}">
                <a16:creationId xmlns:a16="http://schemas.microsoft.com/office/drawing/2014/main" id="{026F11CA-E4AA-4C82-9BD4-337106CC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26" name="U02-081_title">
            <a:extLst xmlns:a="http://schemas.openxmlformats.org/drawingml/2006/main">
              <a:ext uri="{FF2B5EF4-FFF2-40B4-BE49-F238E27FC236}">
                <a16:creationId xmlns:a16="http://schemas.microsoft.com/office/drawing/2014/main" id="{62E63C84-85E2-4287-AD38-5AF24F4C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20 °C a 30 °C, c aumenta aproximadamente 6 m/s</a:t>
            </a:r>
          </a:p>
        </p:txBody>
      </p:sp>
      <p:sp>
        <p:nvSpPr>
          <p:cNvPr id="27" name="U02-081_takeaway">
            <a:extLst xmlns:a="http://schemas.openxmlformats.org/drawingml/2006/main">
              <a:ext uri="{FF2B5EF4-FFF2-40B4-BE49-F238E27FC236}">
                <a16:creationId xmlns:a16="http://schemas.microsoft.com/office/drawing/2014/main" id="{7A8C45B1-C65F-4BCC-80A2-92946E67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°C: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343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30 °C: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349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aproximadamente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+6 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Condiciones: aire seco, intervalo ambiental y modelo lineal.</a:t>
            </a:r>
          </a:p>
        </p:txBody>
      </p:sp>
      <p:pic>
        <p:nvPicPr>
          <p:cNvPr id="35" name="U02-081: Esquema mixto de la slide «De 20 °C a 30 °C, c aumenta aproximadamente 6 m/s»: Cálculos para 20 y 30 °C; diferencia; hipótes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a0ea47e994e09">
            <a:extLst>
              <a:ext uri="{96DAC541-7B7A-43D3-8B79-37D633B846F1}">
                <asvg:svgBlip xmlns:asvg="http://schemas.microsoft.com/office/drawing/2016/SVG/main" r:embed="R5c240754462243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29" name="U02-081_caption">
            <a:extLst xmlns:a="http://schemas.openxmlformats.org/drawingml/2006/main">
              <a:ext uri="{FF2B5EF4-FFF2-40B4-BE49-F238E27FC236}">
                <a16:creationId xmlns:a16="http://schemas.microsoft.com/office/drawing/2014/main" id="{5664511A-BCF5-4DAC-B8A7-AE37AE15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cambio de velocidad no fija por sí solo frecuencia ni percepción.</a:t>
            </a:r>
          </a:p>
        </p:txBody>
      </p:sp>
      <p:sp>
        <p:nvSpPr>
          <p:cNvPr id="30" name="U02-081_source">
            <a:extLst xmlns:a="http://schemas.openxmlformats.org/drawingml/2006/main">
              <a:ext uri="{FF2B5EF4-FFF2-40B4-BE49-F238E27FC236}">
                <a16:creationId xmlns:a16="http://schemas.microsoft.com/office/drawing/2014/main" id="{E8734BA4-303C-4840-A341-D079389F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64ABC67-38DD-FC88-F2B3-FD29FD14CB50}" type="slidenum">
              <a:t>82</a:t>
            </a:fld>
          </a:p>
        </p:txBody>
      </p:sp>
      <p:sp>
        <p:nvSpPr>
          <p:cNvPr id="17" name="U02-082_eyebrow">
            <a:extLst xmlns:a="http://schemas.openxmlformats.org/drawingml/2006/main">
              <a:ext uri="{FF2B5EF4-FFF2-40B4-BE49-F238E27FC236}">
                <a16:creationId xmlns:a16="http://schemas.microsoft.com/office/drawing/2014/main" id="{BB2F7429-3B09-4A17-9238-3C52E17A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AIRE Y TEMPERATURA</a:t>
            </a:r>
          </a:p>
        </p:txBody>
      </p:sp>
      <p:sp>
        <p:nvSpPr>
          <p:cNvPr id="18" name="U02-082_title">
            <a:extLst xmlns:a="http://schemas.openxmlformats.org/drawingml/2006/main">
              <a:ext uri="{FF2B5EF4-FFF2-40B4-BE49-F238E27FC236}">
                <a16:creationId xmlns:a16="http://schemas.microsoft.com/office/drawing/2014/main" id="{966384F6-F520-415C-9D1C-48E4A74C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Mayor velocidad de propagación no significa mayor altura tonal</a:t>
            </a:r>
          </a:p>
        </p:txBody>
      </p:sp>
      <p:sp>
        <p:nvSpPr>
          <p:cNvPr id="19" name="U02-082_takeaway">
            <a:extLst xmlns:a="http://schemas.openxmlformats.org/drawingml/2006/main">
              <a:ext uri="{FF2B5EF4-FFF2-40B4-BE49-F238E27FC236}">
                <a16:creationId xmlns:a16="http://schemas.microsoft.com/office/drawing/2014/main" id="{AD50B2F1-110F-4457-94A5-5D519BF1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“si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aumenta, el sonido se vuelve más agudo”.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Corrección: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si la fuente mantiene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el cambio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modifica principalmente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no permite deducir la altura tonal.</a:t>
            </a:r>
          </a:p>
        </p:txBody>
      </p:sp>
      <p:sp>
        <p:nvSpPr>
          <p:cNvPr id="20" name="U02-082_equation_panel">
            <a:extLst xmlns:a="http://schemas.openxmlformats.org/drawingml/2006/main">
              <a:ext uri="{FF2B5EF4-FFF2-40B4-BE49-F238E27FC236}">
                <a16:creationId xmlns:a16="http://schemas.microsoft.com/office/drawing/2014/main" id="{B4224BC3-E06D-40AD-81B9-5A1E259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1" name="U02-082_equation">
            <a:extLst xmlns:a="http://schemas.openxmlformats.org/drawingml/2006/main">
              <a:ext uri="{FF2B5EF4-FFF2-40B4-BE49-F238E27FC236}">
                <a16:creationId xmlns:a16="http://schemas.microsoft.com/office/drawing/2014/main" id="{E506FC53-6179-451C-8F95-E9F9C067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 = λf como puente a U3</a:t>
            </a:r>
          </a:p>
        </p:txBody>
      </p:sp>
      <p:pic>
        <p:nvPicPr>
          <p:cNvPr id="31" name="U02-082: Esquema mixto de la slide «Mayor velocidad de propagación no significa mayor altura tonal»: Error, corrección y puente c = λf hacia U3; físico frente a perceptu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f6add0e4c4efd">
            <a:extLst>
              <a:ext uri="{96DAC541-7B7A-43D3-8B79-37D633B846F1}">
                <asvg:svgBlip xmlns:asvg="http://schemas.microsoft.com/office/drawing/2016/SVG/main" r:embed="R283f331dde8244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62225"/>
            <a:ext cx="10668000" cy="3152775"/>
          </a:xfrm>
          <a:prstGeom xmlns:a="http://schemas.openxmlformats.org/drawingml/2006/main" prst="rect">
            <a:avLst/>
          </a:prstGeom>
        </p:spPr>
      </p:pic>
      <p:sp>
        <p:nvSpPr>
          <p:cNvPr id="23" name="U02-082_caption">
            <a:extLst xmlns:a="http://schemas.openxmlformats.org/drawingml/2006/main">
              <a:ext uri="{FF2B5EF4-FFF2-40B4-BE49-F238E27FC236}">
                <a16:creationId xmlns:a16="http://schemas.microsoft.com/office/drawing/2014/main" id="{2FE257F7-CFB7-474A-A796-6AEC0D85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 la frecuencia de la fuente permanece fija, el cambio de c modifica principalmente la longitud de onda.</a:t>
            </a:r>
          </a:p>
        </p:txBody>
      </p:sp>
      <p:sp>
        <p:nvSpPr>
          <p:cNvPr id="24" name="U02-082_source">
            <a:extLst xmlns:a="http://schemas.openxmlformats.org/drawingml/2006/main">
              <a:ext uri="{FF2B5EF4-FFF2-40B4-BE49-F238E27FC236}">
                <a16:creationId xmlns:a16="http://schemas.microsoft.com/office/drawing/2014/main" id="{887E97FB-A628-401F-AE2F-CB8EE7C4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DD74841-24FE-7EE8-22BB-4DC45FDF28A3}" type="slidenum">
              <a:t>83</a:t>
            </a:fld>
          </a:p>
        </p:txBody>
      </p:sp>
      <p:sp>
        <p:nvSpPr>
          <p:cNvPr id="10" name="U02-083_eyebrow">
            <a:extLst xmlns:a="http://schemas.openxmlformats.org/drawingml/2006/main">
              <a:ext uri="{FF2B5EF4-FFF2-40B4-BE49-F238E27FC236}">
                <a16:creationId xmlns:a16="http://schemas.microsoft.com/office/drawing/2014/main" id="{2779D2F7-291F-47EF-B40C-7D7825DA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1" name="U02-083_title">
            <a:extLst xmlns:a="http://schemas.openxmlformats.org/drawingml/2006/main">
              <a:ext uri="{FF2B5EF4-FFF2-40B4-BE49-F238E27FC236}">
                <a16:creationId xmlns:a16="http://schemas.microsoft.com/office/drawing/2014/main" id="{05CE5755-F983-4ECE-9FAB-3FF4EA78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modelo físico ayuda si también conocemos sus límites</a:t>
            </a:r>
          </a:p>
        </p:txBody>
      </p:sp>
      <p:sp>
        <p:nvSpPr>
          <p:cNvPr id="12" name="U02-083_guide">
            <a:extLst xmlns:a="http://schemas.openxmlformats.org/drawingml/2006/main">
              <a:ext uri="{FF2B5EF4-FFF2-40B4-BE49-F238E27FC236}">
                <a16:creationId xmlns:a16="http://schemas.microsoft.com/office/drawing/2014/main" id="{AD492271-CEA6-4891-85A7-E0A599C3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guía:</a:t>
            </a: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¿qué permite afirmar un modelo físico y qué información adicional hace falta para aplicarlo a una situación clínica?</a:t>
            </a:r>
          </a:p>
        </p:txBody>
      </p:sp>
      <p:sp>
        <p:nvSpPr>
          <p:cNvPr id="13" name="U02-083_subtitle">
            <a:extLst xmlns:a="http://schemas.openxmlformats.org/drawingml/2006/main">
              <a:ext uri="{FF2B5EF4-FFF2-40B4-BE49-F238E27FC236}">
                <a16:creationId xmlns:a16="http://schemas.microsoft.com/office/drawing/2014/main" id="{EE7F2690-B743-4980-A029-56EA345F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Pregunta guía del bloque.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AB9938E4-BE03-A7BA-4A48-E6E490724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A4C4240-6F12-7F09-5904-52FC212F0821}" type="slidenum">
              <a:t>84</a:t>
            </a:fld>
          </a:p>
        </p:txBody>
      </p:sp>
      <p:sp>
        <p:nvSpPr>
          <p:cNvPr id="27" name="U02-084_eyebrow">
            <a:extLst xmlns:a="http://schemas.openxmlformats.org/drawingml/2006/main">
              <a:ext uri="{FF2B5EF4-FFF2-40B4-BE49-F238E27FC236}">
                <a16:creationId xmlns:a16="http://schemas.microsoft.com/office/drawing/2014/main" id="{FF095196-4ABA-45DE-9EA1-95504904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28" name="U02-084_title">
            <a:extLst xmlns:a="http://schemas.openxmlformats.org/drawingml/2006/main">
              <a:ext uri="{FF2B5EF4-FFF2-40B4-BE49-F238E27FC236}">
                <a16:creationId xmlns:a16="http://schemas.microsoft.com/office/drawing/2014/main" id="{07643FAB-C5CE-473C-9D16-5F00048C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Cinco aplicaciones reutilizan las mismas ideas</a:t>
            </a:r>
          </a:p>
        </p:txBody>
      </p:sp>
      <p:sp>
        <p:nvSpPr>
          <p:cNvPr id="29" name="U02-084_takeaway">
            <a:extLst xmlns:a="http://schemas.openxmlformats.org/drawingml/2006/main">
              <a:ext uri="{FF2B5EF4-FFF2-40B4-BE49-F238E27FC236}">
                <a16:creationId xmlns:a16="http://schemas.microsoft.com/office/drawing/2014/main" id="{B23894DB-B1C4-4FBF-B3E1-3CF042A6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Aplicaciones: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membrana timpánica; oído medio; vibrador óseo; tejidos; propagación en aire.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Ideas reutilizadas: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presión, fuerza, respuesta mecánica y energía.</a:t>
            </a:r>
          </a:p>
        </p:txBody>
      </p:sp>
      <p:pic>
        <p:nvPicPr>
          <p:cNvPr id="37" name="U02-084: Diagrama de la slide «Cinco aplicaciones reutilizan las mismas ideas»: Mapa de cinco aplicaciones conectadas con cuatro conceptos físic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8eeef42114582">
            <a:extLst>
              <a:ext uri="{96DAC541-7B7A-43D3-8B79-37D633B846F1}">
                <asvg:svgBlip xmlns:asvg="http://schemas.microsoft.com/office/drawing/2016/SVG/main" r:embed="Rd6ad22219db44f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31" name="U02-084_caption">
            <a:extLst xmlns:a="http://schemas.openxmlformats.org/drawingml/2006/main">
              <a:ext uri="{FF2B5EF4-FFF2-40B4-BE49-F238E27FC236}">
                <a16:creationId xmlns:a16="http://schemas.microsoft.com/office/drawing/2014/main" id="{F5678284-5189-4394-A12D-25E2DCB1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Presión, fuerza, respuesta mecánica y energía reaparecen en membrana, oído medio, vibrador, tejidos y aire.</a:t>
            </a:r>
          </a:p>
        </p:txBody>
      </p:sp>
      <p:sp>
        <p:nvSpPr>
          <p:cNvPr id="32" name="U02-084_source">
            <a:extLst xmlns:a="http://schemas.openxmlformats.org/drawingml/2006/main">
              <a:ext uri="{FF2B5EF4-FFF2-40B4-BE49-F238E27FC236}">
                <a16:creationId xmlns:a16="http://schemas.microsoft.com/office/drawing/2014/main" id="{202DD1D0-FCD7-4309-B57F-ACC5E79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48AFE98-E9CF-3A34-C20C-6A6243E55E64}" type="slidenum">
              <a:t>85</a:t>
            </a:fld>
          </a:p>
        </p:txBody>
      </p:sp>
      <p:sp>
        <p:nvSpPr>
          <p:cNvPr id="16" name="U02-085_eyebrow">
            <a:extLst xmlns:a="http://schemas.openxmlformats.org/drawingml/2006/main">
              <a:ext uri="{FF2B5EF4-FFF2-40B4-BE49-F238E27FC236}">
                <a16:creationId xmlns:a16="http://schemas.microsoft.com/office/drawing/2014/main" id="{540C36FE-46F5-4700-BA9B-E005685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7" name="U02-085_title">
            <a:extLst xmlns:a="http://schemas.openxmlformats.org/drawingml/2006/main">
              <a:ext uri="{FF2B5EF4-FFF2-40B4-BE49-F238E27FC236}">
                <a16:creationId xmlns:a16="http://schemas.microsoft.com/office/drawing/2014/main" id="{8EF8108E-ECBF-4879-A854-DFCBB078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Membrana y tejido no son resortes ideales</a:t>
            </a:r>
          </a:p>
        </p:txBody>
      </p:sp>
      <p:sp>
        <p:nvSpPr>
          <p:cNvPr id="18" name="U02-085_takeaway">
            <a:extLst xmlns:a="http://schemas.openxmlformats.org/drawingml/2006/main">
              <a:ext uri="{FF2B5EF4-FFF2-40B4-BE49-F238E27FC236}">
                <a16:creationId xmlns:a16="http://schemas.microsoft.com/office/drawing/2014/main" id="{8474CD20-E7F9-430F-995A-20FB4A12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Utilidad: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separar inercia, elasticidad y disipación.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las propiedades están distribuidas; la estructura real no es una masa puntual unida literalmente a un resorte.</a:t>
            </a:r>
          </a:p>
        </p:txBody>
      </p:sp>
      <p:pic>
        <p:nvPicPr>
          <p:cNvPr id="26" name="U02-085: Imagen técnica de la slide «Membrana y tejido no son resortes ideales»: Concepto físico, ejemplo biológico, utilidad y dos límit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3e6a9f4fe46d9">
            <a:extLst>
              <a:ext uri="{96DAC541-7B7A-43D3-8B79-37D633B846F1}">
                <asvg:svgBlip xmlns:asvg="http://schemas.microsoft.com/office/drawing/2016/SVG/main" r:embed="Ra643b69986f84f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0" name="U02-085_caption">
            <a:extLst xmlns:a="http://schemas.openxmlformats.org/drawingml/2006/main">
              <a:ext uri="{FF2B5EF4-FFF2-40B4-BE49-F238E27FC236}">
                <a16:creationId xmlns:a16="http://schemas.microsoft.com/office/drawing/2014/main" id="{61D827F0-1EC9-4747-A7D8-257DC080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Masa, rigidez y amortiguamiento son propiedades distribuidas en estructuras reales.</a:t>
            </a:r>
          </a:p>
        </p:txBody>
      </p:sp>
      <p:sp>
        <p:nvSpPr>
          <p:cNvPr id="21" name="U02-085_source">
            <a:extLst xmlns:a="http://schemas.openxmlformats.org/drawingml/2006/main">
              <a:ext uri="{FF2B5EF4-FFF2-40B4-BE49-F238E27FC236}">
                <a16:creationId xmlns:a16="http://schemas.microsoft.com/office/drawing/2014/main" id="{6B461751-848D-477F-AF79-7F86AB8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 u="sng">
                <a:solidFill>
                  <a:srgbClr val="969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7c3a4883d314c9c"/>
              </a:rPr>
              <a:t>Inductiveload, Tympanic membrane cross-section, dominio público, vía Wikimedia Commons.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231AC35B-B5C2-36EF-1CB3-8BED41B6A46D}" type="slidenum">
              <a:t>86</a:t>
            </a:fld>
          </a:p>
        </p:txBody>
      </p:sp>
      <p:sp>
        <p:nvSpPr>
          <p:cNvPr id="16" name="U02-086_eyebrow">
            <a:extLst xmlns:a="http://schemas.openxmlformats.org/drawingml/2006/main">
              <a:ext uri="{FF2B5EF4-FFF2-40B4-BE49-F238E27FC236}">
                <a16:creationId xmlns:a16="http://schemas.microsoft.com/office/drawing/2014/main" id="{8B9911A2-6CAC-420F-8920-3769880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7" name="U02-086_title">
            <a:extLst xmlns:a="http://schemas.openxmlformats.org/drawingml/2006/main">
              <a:ext uri="{FF2B5EF4-FFF2-40B4-BE49-F238E27FC236}">
                <a16:creationId xmlns:a16="http://schemas.microsoft.com/office/drawing/2014/main" id="{31A70EDB-1803-4B64-BCB9-BFD9DF01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oído medio transforma variables sin crear energía</a:t>
            </a:r>
          </a:p>
        </p:txBody>
      </p:sp>
      <p:sp>
        <p:nvSpPr>
          <p:cNvPr id="18" name="U02-086_takeaway">
            <a:extLst xmlns:a="http://schemas.openxmlformats.org/drawingml/2006/main">
              <a:ext uri="{FF2B5EF4-FFF2-40B4-BE49-F238E27FC236}">
                <a16:creationId xmlns:a16="http://schemas.microsoft.com/office/drawing/2014/main" id="{D435FA78-B561-430F-9385-837A63D0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Perturbación → membrana → cadena osicular → oído interno. En la ruta puede haber almacenamiento, transferencia hacia otras vías y disipación.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aparece ningún término de creación de energía.</a:t>
            </a:r>
          </a:p>
        </p:txBody>
      </p:sp>
      <p:pic>
        <p:nvPicPr>
          <p:cNvPr id="26" name="U02-086: Esquema mixto de la slide «El oído medio transforma variables sin crear energía»: Perturbación → membrana → cadena → oído interno; almacenamiento, otras transferencias y disip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2ec6cc37c4ed4">
            <a:extLst>
              <a:ext uri="{96DAC541-7B7A-43D3-8B79-37D633B846F1}">
                <asvg:svgBlip xmlns:asvg="http://schemas.microsoft.com/office/drawing/2016/SVG/main" r:embed="R8fe602af2abe40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0" name="U02-086_caption">
            <a:extLst xmlns:a="http://schemas.openxmlformats.org/drawingml/2006/main">
              <a:ext uri="{FF2B5EF4-FFF2-40B4-BE49-F238E27FC236}">
                <a16:creationId xmlns:a16="http://schemas.microsoft.com/office/drawing/2014/main" id="{230447DB-11B0-4DB3-883E-AAC80D4B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Aumentar presión o fuerza no equivale a crear energía. Esquema conceptual; no está a escala.</a:t>
            </a:r>
          </a:p>
        </p:txBody>
      </p:sp>
      <p:sp>
        <p:nvSpPr>
          <p:cNvPr id="21" name="U02-086_source">
            <a:extLst xmlns:a="http://schemas.openxmlformats.org/drawingml/2006/main">
              <a:ext uri="{FF2B5EF4-FFF2-40B4-BE49-F238E27FC236}">
                <a16:creationId xmlns:a16="http://schemas.microsoft.com/office/drawing/2014/main" id="{F62EDC90-7BE6-471F-8DD6-D3FAAADB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66BFED3-8D00-65E7-CBC4-2668E3295A52}" type="slidenum">
              <a:t>87</a:t>
            </a:fld>
          </a:p>
        </p:txBody>
      </p:sp>
      <p:sp>
        <p:nvSpPr>
          <p:cNvPr id="16" name="U02-087_eyebrow">
            <a:extLst xmlns:a="http://schemas.openxmlformats.org/drawingml/2006/main">
              <a:ext uri="{FF2B5EF4-FFF2-40B4-BE49-F238E27FC236}">
                <a16:creationId xmlns:a16="http://schemas.microsoft.com/office/drawing/2014/main" id="{556B616E-FD1C-4B84-8746-50F5E9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7" name="U02-087_title">
            <a:extLst xmlns:a="http://schemas.openxmlformats.org/drawingml/2006/main">
              <a:ext uri="{FF2B5EF4-FFF2-40B4-BE49-F238E27FC236}">
                <a16:creationId xmlns:a16="http://schemas.microsoft.com/office/drawing/2014/main" id="{6C69B194-9A18-4579-AA74-CA507085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Vibrador y cabeza ejercen fuerzas sobre cuerpos diferentes</a:t>
            </a:r>
          </a:p>
        </p:txBody>
      </p:sp>
      <p:sp>
        <p:nvSpPr>
          <p:cNvPr id="18" name="U02-087_takeaway">
            <a:extLst xmlns:a="http://schemas.openxmlformats.org/drawingml/2006/main">
              <a:ext uri="{FF2B5EF4-FFF2-40B4-BE49-F238E27FC236}">
                <a16:creationId xmlns:a16="http://schemas.microsoft.com/office/drawing/2014/main" id="{F147828E-100B-4355-B2C1-2945C037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vibrador sobre cabeza ↔ cabeza sobre vibrador. Las fuerzas son iguales y opuestas, pero actúan sobre cuerpos distintos. La vía ósea involucra varios mecanismos.</a:t>
            </a:r>
          </a:p>
        </p:txBody>
      </p:sp>
      <p:pic>
        <p:nvPicPr>
          <p:cNvPr id="26" name="U02-087: Esquema mixto de la slide «Vibrador y cabeza ejercen fuerzas sobre cuerpos diferentes»: Transductor, punto de contacto, fuerzas del par y advertencia multimecanism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b2054f2be47f0">
            <a:extLst>
              <a:ext uri="{96DAC541-7B7A-43D3-8B79-37D633B846F1}">
                <asvg:svgBlip xmlns:asvg="http://schemas.microsoft.com/office/drawing/2016/SVG/main" r:embed="Rcb1fecd104054a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0" name="U02-087_caption">
            <a:extLst xmlns:a="http://schemas.openxmlformats.org/drawingml/2006/main">
              <a:ext uri="{FF2B5EF4-FFF2-40B4-BE49-F238E27FC236}">
                <a16:creationId xmlns:a16="http://schemas.microsoft.com/office/drawing/2014/main" id="{3047AB43-8CB3-44C7-B732-D2253B32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par de interacción no se cancela al analizar solamente la cabeza. Esquema conceptual; no está a escala.</a:t>
            </a:r>
          </a:p>
        </p:txBody>
      </p:sp>
      <p:sp>
        <p:nvSpPr>
          <p:cNvPr id="21" name="U02-087_source">
            <a:extLst xmlns:a="http://schemas.openxmlformats.org/drawingml/2006/main">
              <a:ext uri="{FF2B5EF4-FFF2-40B4-BE49-F238E27FC236}">
                <a16:creationId xmlns:a16="http://schemas.microsoft.com/office/drawing/2014/main" id="{56DECCB7-8A01-4B71-AC32-9D7C469E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9C38CC3-51DE-E4B0-CCEB-BA581457C9D2}" type="slidenum">
              <a:t>88</a:t>
            </a:fld>
          </a:p>
        </p:txBody>
      </p:sp>
      <p:sp>
        <p:nvSpPr>
          <p:cNvPr id="15" name="U02-088_eyebrow">
            <a:extLst xmlns:a="http://schemas.openxmlformats.org/drawingml/2006/main">
              <a:ext uri="{FF2B5EF4-FFF2-40B4-BE49-F238E27FC236}">
                <a16:creationId xmlns:a16="http://schemas.microsoft.com/office/drawing/2014/main" id="{664DAE94-1DFF-4517-A4CC-968D652F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6" name="U02-088_title">
            <a:extLst xmlns:a="http://schemas.openxmlformats.org/drawingml/2006/main">
              <a:ext uri="{FF2B5EF4-FFF2-40B4-BE49-F238E27FC236}">
                <a16:creationId xmlns:a16="http://schemas.microsoft.com/office/drawing/2014/main" id="{0B7109DF-1D6D-427B-94AC-946CFEAF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elegir primero el modelo correcto</a:t>
            </a:r>
          </a:p>
        </p:txBody>
      </p:sp>
      <p:sp>
        <p:nvSpPr>
          <p:cNvPr id="17" name="U02-088_takeaway">
            <a:extLst xmlns:a="http://schemas.openxmlformats.org/drawingml/2006/main">
              <a:ext uri="{FF2B5EF4-FFF2-40B4-BE49-F238E27FC236}">
                <a16:creationId xmlns:a16="http://schemas.microsoft.com/office/drawing/2014/main" id="{11C8FD88-B87C-4178-B6E0-1560D13A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común: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superficie flexible.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Ruta mecánica: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fuerza y aceleración.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Ruta energética: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balance y disipación.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Ruta térmica: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velocidad del aire.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Cierre: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declarar límites de inferencia.</a:t>
            </a:r>
          </a:p>
        </p:txBody>
      </p:sp>
      <p:pic>
        <p:nvPicPr>
          <p:cNvPr id="25" name="U02-088: Diagrama de la slide «Caso integrador: elegir primero el modelo correcto»: Superficie flexible; tres tareas: fuerza/aceleración, balance de energía, velocidad del aire; límites de inferenc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63ecefa1f4d51">
            <a:extLst>
              <a:ext uri="{96DAC541-7B7A-43D3-8B79-37D633B846F1}">
                <asvg:svgBlip xmlns:asvg="http://schemas.microsoft.com/office/drawing/2016/SVG/main" r:embed="R3ff54b34f55b4e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3038475"/>
            <a:ext cx="10668000" cy="2676525"/>
          </a:xfrm>
          <a:prstGeom xmlns:a="http://schemas.openxmlformats.org/drawingml/2006/main" prst="rect">
            <a:avLst/>
          </a:prstGeom>
        </p:spPr>
      </p:pic>
      <p:sp>
        <p:nvSpPr>
          <p:cNvPr id="19" name="U02-088_caption">
            <a:extLst xmlns:a="http://schemas.openxmlformats.org/drawingml/2006/main">
              <a:ext uri="{FF2B5EF4-FFF2-40B4-BE49-F238E27FC236}">
                <a16:creationId xmlns:a16="http://schemas.microsoft.com/office/drawing/2014/main" id="{3359C824-DD0B-4C6B-A68C-1339D24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pregunta del caso exige una herramienta distinta y condiciones explícitas.</a:t>
            </a:r>
          </a:p>
        </p:txBody>
      </p:sp>
      <p:sp>
        <p:nvSpPr>
          <p:cNvPr id="20" name="U02-088_source">
            <a:extLst xmlns:a="http://schemas.openxmlformats.org/drawingml/2006/main">
              <a:ext uri="{FF2B5EF4-FFF2-40B4-BE49-F238E27FC236}">
                <a16:creationId xmlns:a16="http://schemas.microsoft.com/office/drawing/2014/main" id="{FB125D13-6C28-43FC-ABD0-329B3FCC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48DCF458-710D-5FD6-E1A6-D16CA392E9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1AD500FE-C17C-C2F1-CE87-18DB040F0B31}" type="slidenum">
              <a:t>89</a:t>
            </a:fld>
          </a:p>
        </p:txBody>
      </p:sp>
      <p:sp>
        <p:nvSpPr>
          <p:cNvPr id="17" name="U02-089_eyebrow">
            <a:extLst xmlns:a="http://schemas.openxmlformats.org/drawingml/2006/main">
              <a:ext uri="{FF2B5EF4-FFF2-40B4-BE49-F238E27FC236}">
                <a16:creationId xmlns:a16="http://schemas.microsoft.com/office/drawing/2014/main" id="{EDFC1C65-E880-44C8-95E6-8B73F8AD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8" name="U02-089_title">
            <a:extLst xmlns:a="http://schemas.openxmlformats.org/drawingml/2006/main">
              <a:ext uri="{FF2B5EF4-FFF2-40B4-BE49-F238E27FC236}">
                <a16:creationId xmlns:a16="http://schemas.microsoft.com/office/drawing/2014/main" id="{08FEF196-880C-4CBC-AC21-94B3B19B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unidad conecta fuerzas, energía e irreversibilidad</a:t>
            </a:r>
          </a:p>
        </p:txBody>
      </p:sp>
      <p:sp>
        <p:nvSpPr>
          <p:cNvPr id="19" name="U02-089_takeaway">
            <a:extLst xmlns:a="http://schemas.openxmlformats.org/drawingml/2006/main">
              <a:ext uri="{FF2B5EF4-FFF2-40B4-BE49-F238E27FC236}">
                <a16:creationId xmlns:a16="http://schemas.microsoft.com/office/drawing/2014/main" id="{8C52ADCC-6F6A-4C26-8D62-79F1851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 → fuerzas → respuesta → energía → dirección del proceso → aplicación. La frontera elegida organiza qué fuerzas se suman y qué energías cruzan.</a:t>
            </a:r>
          </a:p>
        </p:txBody>
      </p:sp>
      <p:pic>
        <p:nvPicPr>
          <p:cNvPr id="27" name="U02-089: Diagrama de la slide «La unidad conecta fuerzas, energía e irreversibilidad»: Mapa final: sistema → fuerzas → respuesta → energía → dirección del proceso → aplic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f3a1bd2aa4317">
            <a:extLst>
              <a:ext uri="{96DAC541-7B7A-43D3-8B79-37D633B846F1}">
                <asvg:svgBlip xmlns:asvg="http://schemas.microsoft.com/office/drawing/2016/SVG/main" r:embed="R756b193a8a4c42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24100"/>
            <a:ext cx="10668000" cy="3390900"/>
          </a:xfrm>
          <a:prstGeom xmlns:a="http://schemas.openxmlformats.org/drawingml/2006/main" prst="rect">
            <a:avLst/>
          </a:prstGeom>
        </p:spPr>
      </p:pic>
      <p:sp>
        <p:nvSpPr>
          <p:cNvPr id="21" name="U02-089_caption">
            <a:extLst xmlns:a="http://schemas.openxmlformats.org/drawingml/2006/main">
              <a:ext uri="{FF2B5EF4-FFF2-40B4-BE49-F238E27FC236}">
                <a16:creationId xmlns:a16="http://schemas.microsoft.com/office/drawing/2014/main" id="{13F61DD2-1734-4332-8E8C-8FED374A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frontera del sistema organiza tanto la mecánica como la termodinámica.</a:t>
            </a:r>
          </a:p>
        </p:txBody>
      </p:sp>
      <p:sp>
        <p:nvSpPr>
          <p:cNvPr id="22" name="U02-089_source">
            <a:extLst xmlns:a="http://schemas.openxmlformats.org/drawingml/2006/main">
              <a:ext uri="{FF2B5EF4-FFF2-40B4-BE49-F238E27FC236}">
                <a16:creationId xmlns:a16="http://schemas.microsoft.com/office/drawing/2014/main" id="{C4F9B43B-2E13-4F89-9418-6320394C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1E2046D0-504B-93BA-A56B-3D44A8F389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95C82590-C3E9-676B-72FC-E707471DCF64}" type="slidenum">
              <a:t>90</a:t>
            </a:fld>
          </a:p>
        </p:txBody>
      </p:sp>
      <p:sp>
        <p:nvSpPr>
          <p:cNvPr id="10" name="U02-090_eyebrow">
            <a:extLst xmlns:a="http://schemas.openxmlformats.org/drawingml/2006/main">
              <a:ext uri="{FF2B5EF4-FFF2-40B4-BE49-F238E27FC236}">
                <a16:creationId xmlns:a16="http://schemas.microsoft.com/office/drawing/2014/main" id="{56C97840-C965-420F-8D7C-8A398560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2 · APLICACIÓN E INTEGRACIÓN</a:t>
            </a:r>
          </a:p>
        </p:txBody>
      </p:sp>
      <p:sp>
        <p:nvSpPr>
          <p:cNvPr id="11" name="U02-090_title">
            <a:extLst xmlns:a="http://schemas.openxmlformats.org/drawingml/2006/main">
              <a:ext uri="{FF2B5EF4-FFF2-40B4-BE49-F238E27FC236}">
                <a16:creationId xmlns:a16="http://schemas.microsoft.com/office/drawing/2014/main" id="{F914313F-5F43-4BE7-AC3E-60CE5751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fuerza restauradora abre el estudio de las oscilaciones</a:t>
            </a:r>
          </a:p>
        </p:txBody>
      </p:sp>
      <p:sp>
        <p:nvSpPr>
          <p:cNvPr id="12" name="U02-090_closing">
            <a:extLst xmlns:a="http://schemas.openxmlformats.org/drawingml/2006/main">
              <a:ext uri="{FF2B5EF4-FFF2-40B4-BE49-F238E27FC236}">
                <a16:creationId xmlns:a16="http://schemas.microsoft.com/office/drawing/2014/main" id="{0B9A9CE9-C639-4092-8FDF-49458501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9239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"/>
              </a:spcAft>
              <a:buNone/>
              <a:defRPr sz="23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 identificamos </a:t>
            </a: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qué mecanismos actúan</a:t>
            </a: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 En la Unidad 3 estudiaremos </a:t>
            </a: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cómo evolucionan en el tiempo</a:t>
            </a:r>
            <a:r>
              <a:rPr sz="23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oscilación, período, frecuencia y propagación ondulatoria.</a:t>
            </a:r>
          </a:p>
        </p:txBody>
      </p:sp>
      <p:sp>
        <p:nvSpPr>
          <p:cNvPr id="13" name="U02-090_bridge">
            <a:extLst xmlns:a="http://schemas.openxmlformats.org/drawingml/2006/main">
              <a:ext uri="{FF2B5EF4-FFF2-40B4-BE49-F238E27FC236}">
                <a16:creationId xmlns:a16="http://schemas.microsoft.com/office/drawing/2014/main" id="{1A3E4E05-21F7-41F1-9299-E71F909B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E8DDE4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Puente hacia la Unidad 3.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CDC1A55-D8DD-A0BA-A0EC-BEB674726ECD}" type="slidenum">
              <a:t>91</a:t>
            </a:fld>
          </a:p>
        </p:txBody>
      </p:sp>
      <p:sp>
        <p:nvSpPr>
          <p:cNvPr id="21" name="U02-091_eyebrow">
            <a:extLst xmlns:a="http://schemas.openxmlformats.org/drawingml/2006/main">
              <a:ext uri="{FF2B5EF4-FFF2-40B4-BE49-F238E27FC236}">
                <a16:creationId xmlns:a16="http://schemas.microsoft.com/office/drawing/2014/main" id="{FD218A69-C91C-4424-8778-81628835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1_title">
            <a:extLst xmlns:a="http://schemas.openxmlformats.org/drawingml/2006/main">
              <a:ext uri="{FF2B5EF4-FFF2-40B4-BE49-F238E27FC236}">
                <a16:creationId xmlns:a16="http://schemas.microsoft.com/office/drawing/2014/main" id="{6800E626-ACE5-46E4-AC73-2850449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Referencia: sistema, eje y signos</a:t>
            </a:r>
          </a:p>
        </p:txBody>
      </p:sp>
      <p:sp>
        <p:nvSpPr>
          <p:cNvPr id="23" name="U02-091_takeaway">
            <a:extLst xmlns:a="http://schemas.openxmlformats.org/drawingml/2006/main">
              <a:ext uri="{FF2B5EF4-FFF2-40B4-BE49-F238E27FC236}">
                <a16:creationId xmlns:a16="http://schemas.microsoft.com/office/drawing/2014/main" id="{74309996-F2BA-41B3-8A51-8CB1C9FE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Checklist: 1. Elegir sistema. 2. Dibujar frontera. 3. Declarar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4. Identificar agentes. 5. Proyectar fuerzas. 6. Calcular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1" name="U02-091: Diagrama de la slide «Referencia: sistema, eje y signos»: Checklist, dos ejemplos y not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62ddac8fa4873">
            <a:extLst>
              <a:ext uri="{96DAC541-7B7A-43D3-8B79-37D633B846F1}">
                <asvg:svgBlip xmlns:asvg="http://schemas.microsoft.com/office/drawing/2016/SVG/main" r:embed="Rf981b261b2974d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5" name="U02-091_caption">
            <a:extLst xmlns:a="http://schemas.openxmlformats.org/drawingml/2006/main">
              <a:ext uri="{FF2B5EF4-FFF2-40B4-BE49-F238E27FC236}">
                <a16:creationId xmlns:a16="http://schemas.microsoft.com/office/drawing/2014/main" id="{89EF2698-030F-4390-8BD1-3CD2A9AD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elección de sistema y eje precede a la suma.</a:t>
            </a:r>
          </a:p>
        </p:txBody>
      </p:sp>
      <p:sp>
        <p:nvSpPr>
          <p:cNvPr id="26" name="U02-091_source">
            <a:extLst xmlns:a="http://schemas.openxmlformats.org/drawingml/2006/main">
              <a:ext uri="{FF2B5EF4-FFF2-40B4-BE49-F238E27FC236}">
                <a16:creationId xmlns:a16="http://schemas.microsoft.com/office/drawing/2014/main" id="{25F7C426-E3F2-4A50-8254-A7C559AB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FF7B4941-8669-5809-F8BD-80CECECCC165}" type="slidenum">
              <a:t>92</a:t>
            </a:fld>
          </a:p>
        </p:txBody>
      </p:sp>
      <p:sp>
        <p:nvSpPr>
          <p:cNvPr id="21" name="U02-092_eyebrow">
            <a:extLst xmlns:a="http://schemas.openxmlformats.org/drawingml/2006/main">
              <a:ext uri="{FF2B5EF4-FFF2-40B4-BE49-F238E27FC236}">
                <a16:creationId xmlns:a16="http://schemas.microsoft.com/office/drawing/2014/main" id="{6F72F049-6BE7-4EB1-9F83-69F7BEAC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2_title">
            <a:extLst xmlns:a="http://schemas.openxmlformats.org/drawingml/2006/main">
              <a:ext uri="{FF2B5EF4-FFF2-40B4-BE49-F238E27FC236}">
                <a16:creationId xmlns:a16="http://schemas.microsoft.com/office/drawing/2014/main" id="{A7A9ACE4-ADBA-41F5-AB82-1B9A6C1E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del diagnóstico inicial</a:t>
            </a:r>
          </a:p>
        </p:txBody>
      </p:sp>
      <p:sp>
        <p:nvSpPr>
          <p:cNvPr id="23" name="U02-092_takeaway">
            <a:extLst xmlns:a="http://schemas.openxmlformats.org/drawingml/2006/main">
              <a:ext uri="{FF2B5EF4-FFF2-40B4-BE49-F238E27FC236}">
                <a16:creationId xmlns:a16="http://schemas.microsoft.com/office/drawing/2014/main" id="{BFCFB3A0-5562-445B-9488-EB7F26FA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Reposo puede coexistir con fuerzas equilibradas.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Acción y reacción actúan sobre cuerpos distintos.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Para pasar de Pa a N se necesita un área.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Disipar no es destruir energía.</a:t>
            </a:r>
          </a:p>
        </p:txBody>
      </p:sp>
      <p:pic>
        <p:nvPicPr>
          <p:cNvPr id="31" name="U02-092: Esquema mixto de la slide «Soluciones del diagnóstico inicial»: Soluciones breves de las cuatro afirmaciones de U02-003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b292631de49ff">
            <a:extLst>
              <a:ext uri="{96DAC541-7B7A-43D3-8B79-37D633B846F1}">
                <asvg:svgBlip xmlns:asvg="http://schemas.microsoft.com/office/drawing/2016/SVG/main" r:embed="Rf0d12e8d473d4b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25" name="U02-092_caption">
            <a:extLst xmlns:a="http://schemas.openxmlformats.org/drawingml/2006/main">
              <a:ext uri="{FF2B5EF4-FFF2-40B4-BE49-F238E27FC236}">
                <a16:creationId xmlns:a16="http://schemas.microsoft.com/office/drawing/2014/main" id="{E83BF3A9-090B-4A42-A052-0FBF4AA3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respuesta se justifica con una ley, unidad o balance.</a:t>
            </a:r>
          </a:p>
        </p:txBody>
      </p:sp>
      <p:sp>
        <p:nvSpPr>
          <p:cNvPr id="26" name="U02-092_source">
            <a:extLst xmlns:a="http://schemas.openxmlformats.org/drawingml/2006/main">
              <a:ext uri="{FF2B5EF4-FFF2-40B4-BE49-F238E27FC236}">
                <a16:creationId xmlns:a16="http://schemas.microsoft.com/office/drawing/2014/main" id="{18BA8644-4367-46F0-9986-AC14305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3AB093C-C8AD-64A1-C003-5C0032800228}" type="slidenum">
              <a:t>93</a:t>
            </a:fld>
          </a:p>
        </p:txBody>
      </p:sp>
      <p:sp>
        <p:nvSpPr>
          <p:cNvPr id="21" name="U02-093_eyebrow">
            <a:extLst xmlns:a="http://schemas.openxmlformats.org/drawingml/2006/main">
              <a:ext uri="{FF2B5EF4-FFF2-40B4-BE49-F238E27FC236}">
                <a16:creationId xmlns:a16="http://schemas.microsoft.com/office/drawing/2014/main" id="{BD881156-3600-4C41-BA31-60990DEE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3_title">
            <a:extLst xmlns:a="http://schemas.openxmlformats.org/drawingml/2006/main">
              <a:ext uri="{FF2B5EF4-FFF2-40B4-BE49-F238E27FC236}">
                <a16:creationId xmlns:a16="http://schemas.microsoft.com/office/drawing/2014/main" id="{E6C69AFC-C05C-4978-9DCF-8FA7761C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Tercera ley y equilibrio: más contraejemplos</a:t>
            </a:r>
          </a:p>
        </p:txBody>
      </p:sp>
      <p:sp>
        <p:nvSpPr>
          <p:cNvPr id="23" name="U02-093_takeaway">
            <a:extLst xmlns:a="http://schemas.openxmlformats.org/drawingml/2006/main">
              <a:ext uri="{FF2B5EF4-FFF2-40B4-BE49-F238E27FC236}">
                <a16:creationId xmlns:a16="http://schemas.microsoft.com/office/drawing/2014/main" id="{F06410A9-1AAB-49A3-8C6D-E4B43FCC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Libro–mesa: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equilibrio sobre el libro y par entre cuerpos.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Membrana–aire: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presión y reacción sobre el aire.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Vibrador–cabeza: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el par se distribuye en dos DCL.</a:t>
            </a:r>
          </a:p>
        </p:txBody>
      </p:sp>
      <p:pic>
        <p:nvPicPr>
          <p:cNvPr id="31" name="U02-093: Diagrama de la slide «Tercera ley y equilibrio: más contraejemplos»: Tres casos: libro sobre mesa, membrana–aire, vibrador–cabez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e9b6b705d45de">
            <a:extLst>
              <a:ext uri="{96DAC541-7B7A-43D3-8B79-37D633B846F1}">
                <asvg:svgBlip xmlns:asvg="http://schemas.microsoft.com/office/drawing/2016/SVG/main" r:embed="Rf7fc3f104fd64e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5" name="U02-093_caption">
            <a:extLst xmlns:a="http://schemas.openxmlformats.org/drawingml/2006/main">
              <a:ext uri="{FF2B5EF4-FFF2-40B4-BE49-F238E27FC236}">
                <a16:creationId xmlns:a16="http://schemas.microsoft.com/office/drawing/2014/main" id="{24F5DE9C-3C94-40CE-B238-293E5C59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Par de interacción y fuerzas equilibradas usan cuerpos diferentes.</a:t>
            </a:r>
          </a:p>
        </p:txBody>
      </p:sp>
      <p:sp>
        <p:nvSpPr>
          <p:cNvPr id="26" name="U02-093_source">
            <a:extLst xmlns:a="http://schemas.openxmlformats.org/drawingml/2006/main">
              <a:ext uri="{FF2B5EF4-FFF2-40B4-BE49-F238E27FC236}">
                <a16:creationId xmlns:a16="http://schemas.microsoft.com/office/drawing/2014/main" id="{188CE726-EBD4-4BC7-976D-F9124A2E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arcador de número de diapositiva 9">
            <a:extLst xmlns:a="http://schemas.openxmlformats.org/drawingml/2006/main">
              <a:ext uri="{FF2B5EF4-FFF2-40B4-BE49-F238E27FC236}">
                <a16:creationId xmlns:a16="http://schemas.microsoft.com/office/drawing/2014/main" id="{35371791-CC55-AC21-40A2-17827BAE70F8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9AF0B80-E256-531F-19DB-D59497554B57}" type="slidenum">
              <a:t>94</a:t>
            </a:fld>
          </a:p>
        </p:txBody>
      </p:sp>
      <p:sp>
        <p:nvSpPr>
          <p:cNvPr id="11" name="U02-094_eyebrow">
            <a:extLst xmlns:a="http://schemas.openxmlformats.org/drawingml/2006/main">
              <a:ext uri="{FF2B5EF4-FFF2-40B4-BE49-F238E27FC236}">
                <a16:creationId xmlns:a16="http://schemas.microsoft.com/office/drawing/2014/main" id="{C9FE7349-7464-489E-9644-01785CBC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12" name="U02-094_title">
            <a:extLst xmlns:a="http://schemas.openxmlformats.org/drawingml/2006/main">
              <a:ext uri="{FF2B5EF4-FFF2-40B4-BE49-F238E27FC236}">
                <a16:creationId xmlns:a16="http://schemas.microsoft.com/office/drawing/2014/main" id="{47DCEAF5-3D7E-4155-845A-DE5E6848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Convenciones de notación mecánica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714375"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Magnitud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 posible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Convención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Área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 o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Rigidez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 o k_s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k_s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Resultante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ΣF o F_neta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F_neta = ΣF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4" name="U02-094_reading">
            <a:extLst xmlns:a="http://schemas.openxmlformats.org/drawingml/2006/main">
              <a:ext uri="{FF2B5EF4-FFF2-40B4-BE49-F238E27FC236}">
                <a16:creationId xmlns:a16="http://schemas.microsoft.com/office/drawing/2014/main" id="{57084D12-830F-442B-9923-7B14643C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339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Convención de slides: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área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; rigidez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; resultante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F_neta = ΣF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. Reconocer que otras fuentes pueden usar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k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o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ΣF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674AA88-74FE-9C49-CBB6-FCC52CBADF85}" type="slidenum">
              <a:t>95</a:t>
            </a:fld>
          </a:p>
        </p:txBody>
      </p:sp>
      <p:sp>
        <p:nvSpPr>
          <p:cNvPr id="21" name="U02-095_eyebrow">
            <a:extLst xmlns:a="http://schemas.openxmlformats.org/drawingml/2006/main">
              <a:ext uri="{FF2B5EF4-FFF2-40B4-BE49-F238E27FC236}">
                <a16:creationId xmlns:a16="http://schemas.microsoft.com/office/drawing/2014/main" id="{CC229EAC-BB5E-497A-A137-83B55E2C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5_title">
            <a:extLst xmlns:a="http://schemas.openxmlformats.org/drawingml/2006/main">
              <a:ext uri="{FF2B5EF4-FFF2-40B4-BE49-F238E27FC236}">
                <a16:creationId xmlns:a16="http://schemas.microsoft.com/office/drawing/2014/main" id="{068CFF04-33D2-4B57-B0A0-81339F2A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Parámetros del modelo masa–resorte–amortiguador</a:t>
            </a:r>
          </a:p>
        </p:txBody>
      </p:sp>
      <p:sp>
        <p:nvSpPr>
          <p:cNvPr id="23" name="U02-095_takeaway">
            <a:extLst xmlns:a="http://schemas.openxmlformats.org/drawingml/2006/main">
              <a:ext uri="{FF2B5EF4-FFF2-40B4-BE49-F238E27FC236}">
                <a16:creationId xmlns:a16="http://schemas.microsoft.com/office/drawing/2014/main" id="{F474A3FD-B73A-4B69-8E14-B32F92CD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masa (kg);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rigidez (N/m);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amortiguamiento (N·s/m);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: desplazamiento, velocidad y aceleración.</a:t>
            </a:r>
          </a:p>
        </p:txBody>
      </p:sp>
      <p:pic>
        <p:nvPicPr>
          <p:cNvPr id="31" name="U02-095: Esquema mixto de la slide «Parámetros del modelo masa–resorte–amortiguador»: m, k_s, b, x, v, a, fuerzas y unidad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09c909ca34c74">
            <a:extLst>
              <a:ext uri="{96DAC541-7B7A-43D3-8B79-37D633B846F1}">
                <asvg:svgBlip xmlns:asvg="http://schemas.microsoft.com/office/drawing/2016/SVG/main" r:embed="Rc558f7d140604a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5" name="U02-095_caption">
            <a:extLst xmlns:a="http://schemas.openxmlformats.org/drawingml/2006/main">
              <a:ext uri="{FF2B5EF4-FFF2-40B4-BE49-F238E27FC236}">
                <a16:creationId xmlns:a16="http://schemas.microsoft.com/office/drawing/2014/main" id="{BECDDB0F-549B-411F-A1A6-07F9083E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parámetro representa una propiedad distinta.</a:t>
            </a:r>
          </a:p>
        </p:txBody>
      </p:sp>
      <p:sp>
        <p:nvSpPr>
          <p:cNvPr id="26" name="U02-095_source">
            <a:extLst xmlns:a="http://schemas.openxmlformats.org/drawingml/2006/main">
              <a:ext uri="{FF2B5EF4-FFF2-40B4-BE49-F238E27FC236}">
                <a16:creationId xmlns:a16="http://schemas.microsoft.com/office/drawing/2014/main" id="{8B9B4287-18A7-49F3-B1E7-8A68F8DA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0483BBF-0FAF-C292-EB03-F731E615EDA9}" type="slidenum">
              <a:t>96</a:t>
            </a:fld>
          </a:p>
        </p:txBody>
      </p:sp>
      <p:sp>
        <p:nvSpPr>
          <p:cNvPr id="21" name="U02-096_eyebrow">
            <a:extLst xmlns:a="http://schemas.openxmlformats.org/drawingml/2006/main">
              <a:ext uri="{FF2B5EF4-FFF2-40B4-BE49-F238E27FC236}">
                <a16:creationId xmlns:a16="http://schemas.microsoft.com/office/drawing/2014/main" id="{0F3C7C01-08B3-4FEA-9CD8-347478B9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6_title">
            <a:extLst xmlns:a="http://schemas.openxmlformats.org/drawingml/2006/main">
              <a:ext uri="{FF2B5EF4-FFF2-40B4-BE49-F238E27FC236}">
                <a16:creationId xmlns:a16="http://schemas.microsoft.com/office/drawing/2014/main" id="{9D62087C-1768-405E-8954-E1731A6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completa del balance instantáneo</a:t>
            </a:r>
          </a:p>
        </p:txBody>
      </p:sp>
      <p:sp>
        <p:nvSpPr>
          <p:cNvPr id="23" name="U02-096_takeaway">
            <a:extLst xmlns:a="http://schemas.openxmlformats.org/drawingml/2006/main">
              <a:ext uri="{FF2B5EF4-FFF2-40B4-BE49-F238E27FC236}">
                <a16:creationId xmlns:a16="http://schemas.microsoft.com/office/drawing/2014/main" id="{5DA814B8-7EAE-4DB1-9ECC-EF285EF7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1: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signos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2: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unidades de cada fuerza.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3: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suma algebraica.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4: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unidad e interpretación de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1" name="U02-096: Esquema mixto de la slide «Solución completa del balance instantáneo»: Ejemplo del libro con todos los pasos y control dimension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b853fc2c043dd">
            <a:extLst>
              <a:ext uri="{96DAC541-7B7A-43D3-8B79-37D633B846F1}">
                <asvg:svgBlip xmlns:asvg="http://schemas.microsoft.com/office/drawing/2016/SVG/main" r:embed="R076b6f6a93d14a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25" name="U02-096_caption">
            <a:extLst xmlns:a="http://schemas.openxmlformats.org/drawingml/2006/main">
              <a:ext uri="{FF2B5EF4-FFF2-40B4-BE49-F238E27FC236}">
                <a16:creationId xmlns:a16="http://schemas.microsoft.com/office/drawing/2014/main" id="{26AD1C63-83F2-4079-A4B0-2747BBB6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Signos, resultante y aceleración deben verificarse por separado.</a:t>
            </a:r>
          </a:p>
        </p:txBody>
      </p:sp>
      <p:sp>
        <p:nvSpPr>
          <p:cNvPr id="26" name="U02-096_source">
            <a:extLst xmlns:a="http://schemas.openxmlformats.org/drawingml/2006/main">
              <a:ext uri="{FF2B5EF4-FFF2-40B4-BE49-F238E27FC236}">
                <a16:creationId xmlns:a16="http://schemas.microsoft.com/office/drawing/2014/main" id="{D892646E-106E-4F2B-AECB-52E6126D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arcador de número de diapositiva 9">
            <a:extLst xmlns:a="http://schemas.openxmlformats.org/drawingml/2006/main">
              <a:ext uri="{FF2B5EF4-FFF2-40B4-BE49-F238E27FC236}">
                <a16:creationId xmlns:a16="http://schemas.microsoft.com/office/drawing/2014/main" id="{35371791-CC55-AC21-40A2-17827BAE70F8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73D72CC5-DA28-E830-8C20-EAD7575ED362}" type="slidenum">
              <a:t>97</a:t>
            </a:fld>
          </a:p>
        </p:txBody>
      </p:sp>
      <p:sp>
        <p:nvSpPr>
          <p:cNvPr id="11" name="U02-097_eyebrow">
            <a:extLst xmlns:a="http://schemas.openxmlformats.org/drawingml/2006/main">
              <a:ext uri="{FF2B5EF4-FFF2-40B4-BE49-F238E27FC236}">
                <a16:creationId xmlns:a16="http://schemas.microsoft.com/office/drawing/2014/main" id="{8DA67464-83C1-4D12-8722-5AB5E73E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12" name="U02-097_title">
            <a:extLst xmlns:a="http://schemas.openxmlformats.org/drawingml/2006/main">
              <a:ext uri="{FF2B5EF4-FFF2-40B4-BE49-F238E27FC236}">
                <a16:creationId xmlns:a16="http://schemas.microsoft.com/office/drawing/2014/main" id="{0C3A4A74-1430-43CE-9DA8-7E994297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Amortiguamiento, atenuación, disipación y absorción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952500" y="1981200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43500"/>
                <a:gridCol w="5143500"/>
              </a:tblGrid>
              <a:tr h="571500"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Término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Uso en esta unidad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Amortiguamiento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Mecanismo disipativo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Atenuación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Disminución en transmisión o propagación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Disipación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Conversión a energía interna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Absorción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Se desarrolla en U9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4" name="U02-097_reading">
            <a:extLst xmlns:a="http://schemas.openxmlformats.org/drawingml/2006/main">
              <a:ext uri="{FF2B5EF4-FFF2-40B4-BE49-F238E27FC236}">
                <a16:creationId xmlns:a16="http://schemas.microsoft.com/office/drawing/2014/main" id="{4EFB04E6-522D-4553-95C0-B1E97142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768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Amortiguamiento: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mecanismo disipativo.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Atenuación: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disminución durante transmisión o propagación.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Disipación: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conversión a energía interna.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Absorción: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 se desarrolla en U9.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ACACB2E2-CA2E-979C-8F56-2E13E9D99812}" type="slidenum">
              <a:t>98</a:t>
            </a:fld>
          </a:p>
        </p:txBody>
      </p:sp>
      <p:sp>
        <p:nvSpPr>
          <p:cNvPr id="21" name="U02-098_eyebrow">
            <a:extLst xmlns:a="http://schemas.openxmlformats.org/drawingml/2006/main">
              <a:ext uri="{FF2B5EF4-FFF2-40B4-BE49-F238E27FC236}">
                <a16:creationId xmlns:a16="http://schemas.microsoft.com/office/drawing/2014/main" id="{431B9D5D-F815-45FA-8075-668B557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8_title">
            <a:extLst xmlns:a="http://schemas.openxmlformats.org/drawingml/2006/main">
              <a:ext uri="{FF2B5EF4-FFF2-40B4-BE49-F238E27FC236}">
                <a16:creationId xmlns:a16="http://schemas.microsoft.com/office/drawing/2014/main" id="{6630F884-E26C-43CE-A56D-80D5F9C3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presión y segunda ley</a:t>
            </a:r>
          </a:p>
        </p:txBody>
      </p:sp>
      <p:sp>
        <p:nvSpPr>
          <p:cNvPr id="23" name="U02-098_subtitle">
            <a:extLst xmlns:a="http://schemas.openxmlformats.org/drawingml/2006/main">
              <a:ext uri="{FF2B5EF4-FFF2-40B4-BE49-F238E27FC236}">
                <a16:creationId xmlns:a16="http://schemas.microsoft.com/office/drawing/2014/main" id="{D5AD545C-E4F1-42A5-B4BC-DC3D6317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de consulta.</a:t>
            </a:r>
          </a:p>
        </p:txBody>
      </p:sp>
      <p:sp>
        <p:nvSpPr>
          <p:cNvPr id="24" name="U02-098_block_0">
            <a:extLst xmlns:a="http://schemas.openxmlformats.org/drawingml/2006/main">
              <a:ext uri="{FF2B5EF4-FFF2-40B4-BE49-F238E27FC236}">
                <a16:creationId xmlns:a16="http://schemas.microsoft.com/office/drawing/2014/main" id="{F038274C-2A69-44A5-882F-BB670D4A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10287000" cy="13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Presión: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multiplicar 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Δp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por 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comprobar Pa·m²=N.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 mecánico: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calcular fuerzas con signo, sumar y dividir por 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5" name="U02-098_label_1">
            <a:extLst xmlns:a="http://schemas.openxmlformats.org/drawingml/2006/main">
              <a:ext uri="{FF2B5EF4-FFF2-40B4-BE49-F238E27FC236}">
                <a16:creationId xmlns:a16="http://schemas.microsoft.com/office/drawing/2014/main" id="{9B16D3C3-97A6-4EA2-B267-9EDC6990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ECUACIÓN</a:t>
            </a:r>
          </a:p>
        </p:txBody>
      </p:sp>
      <p:sp>
        <p:nvSpPr>
          <p:cNvPr id="26" name="U02-098_block_1">
            <a:extLst xmlns:a="http://schemas.openxmlformats.org/drawingml/2006/main">
              <a:ext uri="{FF2B5EF4-FFF2-40B4-BE49-F238E27FC236}">
                <a16:creationId xmlns:a16="http://schemas.microsoft.com/office/drawing/2014/main" id="{55084F93-38B1-4B68-8125-46198951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8850"/>
            <a:ext cx="10287000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F_pres = Δp·S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; 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F_neta = F_ext − k_sx − bv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; 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a = F_neta/m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.</a:t>
            </a:r>
          </a:p>
        </p:txBody>
      </p:sp>
      <p:sp>
        <p:nvSpPr>
          <p:cNvPr id="27" name="U02-098_label_2">
            <a:extLst xmlns:a="http://schemas.openxmlformats.org/drawingml/2006/main">
              <a:ext uri="{FF2B5EF4-FFF2-40B4-BE49-F238E27FC236}">
                <a16:creationId xmlns:a16="http://schemas.microsoft.com/office/drawing/2014/main" id="{D23B76A1-2484-43DD-A68A-354F936E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93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/ CONSIGNA</a:t>
            </a:r>
          </a:p>
        </p:txBody>
      </p:sp>
      <p:sp>
        <p:nvSpPr>
          <p:cNvPr id="28" name="U02-098_block_2">
            <a:extLst xmlns:a="http://schemas.openxmlformats.org/drawingml/2006/main">
              <a:ext uri="{FF2B5EF4-FFF2-40B4-BE49-F238E27FC236}">
                <a16:creationId xmlns:a16="http://schemas.microsoft.com/office/drawing/2014/main" id="{374A9F4A-08EC-4F33-8F35-759B0897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7925"/>
            <a:ext cx="10287000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Usar como devolución después de intentar ambos problemas.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0437E3D1-C15D-2A09-4AC4-283B6C735BEF}" type="slidenum">
              <a:t>99</a:t>
            </a:fld>
          </a:p>
        </p:txBody>
      </p:sp>
      <p:sp>
        <p:nvSpPr>
          <p:cNvPr id="21" name="U02-099_eyebrow">
            <a:extLst xmlns:a="http://schemas.openxmlformats.org/drawingml/2006/main">
              <a:ext uri="{FF2B5EF4-FFF2-40B4-BE49-F238E27FC236}">
                <a16:creationId xmlns:a16="http://schemas.microsoft.com/office/drawing/2014/main" id="{1F3AD255-D0DE-436E-A175-5E8E04A8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099_title">
            <a:extLst xmlns:a="http://schemas.openxmlformats.org/drawingml/2006/main">
              <a:ext uri="{FF2B5EF4-FFF2-40B4-BE49-F238E27FC236}">
                <a16:creationId xmlns:a16="http://schemas.microsoft.com/office/drawing/2014/main" id="{AA53E1D4-9E19-4AB1-9AFF-252D3724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Práctica autónoma de fuerza y energía elástica</a:t>
            </a:r>
          </a:p>
        </p:txBody>
      </p:sp>
      <p:sp>
        <p:nvSpPr>
          <p:cNvPr id="23" name="U02-099_subtitle">
            <a:extLst xmlns:a="http://schemas.openxmlformats.org/drawingml/2006/main">
              <a:ext uri="{FF2B5EF4-FFF2-40B4-BE49-F238E27FC236}">
                <a16:creationId xmlns:a16="http://schemas.microsoft.com/office/drawing/2014/main" id="{6C4C9B63-60AE-48B0-A2D4-DCF2157E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de consulta.</a:t>
            </a:r>
          </a:p>
        </p:txBody>
      </p:sp>
      <p:sp>
        <p:nvSpPr>
          <p:cNvPr id="24" name="U02-099_block_0">
            <a:extLst xmlns:a="http://schemas.openxmlformats.org/drawingml/2006/main">
              <a:ext uri="{FF2B5EF4-FFF2-40B4-BE49-F238E27FC236}">
                <a16:creationId xmlns:a16="http://schemas.microsoft.com/office/drawing/2014/main" id="{152B409C-99C6-48E3-B508-C52F462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10287000" cy="13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Calcular el módulo de la fuerza elástica e interpretar su sentido.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Calcular la energía elástica almacenada. En ambos casos: ecuación → sustitución → unidad → interpretación.</a:t>
            </a:r>
          </a:p>
        </p:txBody>
      </p:sp>
      <p:sp>
        <p:nvSpPr>
          <p:cNvPr id="25" name="U02-099_label_1">
            <a:extLst xmlns:a="http://schemas.openxmlformats.org/drawingml/2006/main">
              <a:ext uri="{FF2B5EF4-FFF2-40B4-BE49-F238E27FC236}">
                <a16:creationId xmlns:a16="http://schemas.microsoft.com/office/drawing/2014/main" id="{B7A189D2-50BA-413C-8E8C-D8E912A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ECUACIÓN</a:t>
            </a:r>
          </a:p>
        </p:txBody>
      </p:sp>
      <p:sp>
        <p:nvSpPr>
          <p:cNvPr id="26" name="U02-099_block_1">
            <a:extLst xmlns:a="http://schemas.openxmlformats.org/drawingml/2006/main">
              <a:ext uri="{FF2B5EF4-FFF2-40B4-BE49-F238E27FC236}">
                <a16:creationId xmlns:a16="http://schemas.microsoft.com/office/drawing/2014/main" id="{AEEECA61-EDD9-4DF3-BA5C-29F2E5D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8850"/>
            <a:ext cx="10287000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|F_el| = k_s|x|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; 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E_el = ½k_sx²</a:t>
            </a:r>
            <a:r>
              <a:rPr sz="180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.</a:t>
            </a:r>
          </a:p>
        </p:txBody>
      </p:sp>
      <p:sp>
        <p:nvSpPr>
          <p:cNvPr id="27" name="U02-099_label_2">
            <a:extLst xmlns:a="http://schemas.openxmlformats.org/drawingml/2006/main">
              <a:ext uri="{FF2B5EF4-FFF2-40B4-BE49-F238E27FC236}">
                <a16:creationId xmlns:a16="http://schemas.microsoft.com/office/drawing/2014/main" id="{878FA844-A390-41D5-B5E1-057C9DB8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93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/ CONSIGNA</a:t>
            </a:r>
          </a:p>
        </p:txBody>
      </p:sp>
      <p:sp>
        <p:nvSpPr>
          <p:cNvPr id="28" name="U02-099_block_2">
            <a:extLst xmlns:a="http://schemas.openxmlformats.org/drawingml/2006/main">
              <a:ext uri="{FF2B5EF4-FFF2-40B4-BE49-F238E27FC236}">
                <a16:creationId xmlns:a16="http://schemas.microsoft.com/office/drawing/2014/main" id="{B26ED25C-0EC6-4633-8013-2A620172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7925"/>
            <a:ext cx="10287000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Resolver de forma autónoma; las soluciones permanecen en notas.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arcador de número de diapositiva 16">
            <a:extLst xmlns:a="http://schemas.openxmlformats.org/drawingml/2006/main">
              <a:ext uri="{FF2B5EF4-FFF2-40B4-BE49-F238E27FC236}">
                <a16:creationId xmlns:a16="http://schemas.microsoft.com/office/drawing/2014/main" id="{E2D13425-3C5C-B26C-019E-A4D5E1FF74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977BB1A-195E-A702-1274-3E280E23D54D}" type="slidenum">
              <a:t>100</a:t>
            </a:fld>
          </a:p>
        </p:txBody>
      </p:sp>
      <p:sp>
        <p:nvSpPr>
          <p:cNvPr id="18" name="U02-100_eyebrow">
            <a:extLst xmlns:a="http://schemas.openxmlformats.org/drawingml/2006/main">
              <a:ext uri="{FF2B5EF4-FFF2-40B4-BE49-F238E27FC236}">
                <a16:creationId xmlns:a16="http://schemas.microsoft.com/office/drawing/2014/main" id="{5BE50AA8-C3AB-4932-8B1E-2A1B6903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19" name="U02-100_title">
            <a:extLst xmlns:a="http://schemas.openxmlformats.org/drawingml/2006/main">
              <a:ext uri="{FF2B5EF4-FFF2-40B4-BE49-F238E27FC236}">
                <a16:creationId xmlns:a16="http://schemas.microsoft.com/office/drawing/2014/main" id="{CA7E7A03-0D24-4536-9264-A24DA62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técnicas de mecánica y biomecánica</a:t>
            </a:r>
          </a:p>
        </p:txBody>
      </p:sp>
      <p:sp>
        <p:nvSpPr>
          <p:cNvPr id="20" name="U02-100_bibliography">
            <a:extLst xmlns:a="http://schemas.openxmlformats.org/drawingml/2006/main">
              <a:ext uri="{FF2B5EF4-FFF2-40B4-BE49-F238E27FC236}">
                <a16:creationId xmlns:a16="http://schemas.microsoft.com/office/drawing/2014/main" id="{38A6614E-903C-41AF-BAA3-D5E3082A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0287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Bibliografía del capítulo para: mecánica del oído medio; conducción ósea; comportamiento viscoelástico de tejidos. Consultar la referencia completa antes de citar.</a:t>
            </a:r>
          </a:p>
        </p:txBody>
      </p:sp>
      <p:sp>
        <p:nvSpPr>
          <p:cNvPr id="21" name="U02-100_bibliography_source">
            <a:extLst xmlns:a="http://schemas.openxmlformats.org/drawingml/2006/main">
              <a:ext uri="{FF2B5EF4-FFF2-40B4-BE49-F238E27FC236}">
                <a16:creationId xmlns:a16="http://schemas.microsoft.com/office/drawing/2014/main" id="{3F623923-23AB-49FC-A969-96373D6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REF ugarteburu2022, stenfeltGoode2005, fung1981.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0F038620-B44B-00F4-008B-75739726B70D}" type="slidenum">
              <a:t>101</a:t>
            </a:fld>
          </a:p>
        </p:txBody>
      </p:sp>
      <p:sp>
        <p:nvSpPr>
          <p:cNvPr id="21" name="U02-101_eyebrow">
            <a:extLst xmlns:a="http://schemas.openxmlformats.org/drawingml/2006/main">
              <a:ext uri="{FF2B5EF4-FFF2-40B4-BE49-F238E27FC236}">
                <a16:creationId xmlns:a16="http://schemas.microsoft.com/office/drawing/2014/main" id="{9E4E6DDA-4AD6-4AF4-8879-E1C24F6A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1_title">
            <a:extLst xmlns:a="http://schemas.openxmlformats.org/drawingml/2006/main">
              <a:ext uri="{FF2B5EF4-FFF2-40B4-BE49-F238E27FC236}">
                <a16:creationId xmlns:a16="http://schemas.microsoft.com/office/drawing/2014/main" id="{58D5F39D-CCA4-433F-8B19-8AD69226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Velocidad del sonido en un gas ideal</a:t>
            </a:r>
          </a:p>
        </p:txBody>
      </p:sp>
      <p:sp>
        <p:nvSpPr>
          <p:cNvPr id="23" name="U02-101_takeaway">
            <a:extLst xmlns:a="http://schemas.openxmlformats.org/drawingml/2006/main">
              <a:ext uri="{FF2B5EF4-FFF2-40B4-BE49-F238E27FC236}">
                <a16:creationId xmlns:a16="http://schemas.microsoft.com/office/drawing/2014/main" id="{D2A9AE6E-152C-4629-B586-87E7B99B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Parámetros: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γ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razón térmica;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constante de los gases;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T_temp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temperatura absoluta;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masa molar.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Hipótesis: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gas ideal y propagación adiabática.</a:t>
            </a:r>
          </a:p>
        </p:txBody>
      </p:sp>
      <p:sp>
        <p:nvSpPr>
          <p:cNvPr id="24" name="U02-101_equation_panel">
            <a:extLst xmlns:a="http://schemas.openxmlformats.org/drawingml/2006/main">
              <a:ext uri="{FF2B5EF4-FFF2-40B4-BE49-F238E27FC236}">
                <a16:creationId xmlns:a16="http://schemas.microsoft.com/office/drawing/2014/main" id="{F361A023-3C95-4B63-83E9-7DFBBC7F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2-101_equation">
            <a:extLst xmlns:a="http://schemas.openxmlformats.org/drawingml/2006/main">
              <a:ext uri="{FF2B5EF4-FFF2-40B4-BE49-F238E27FC236}">
                <a16:creationId xmlns:a16="http://schemas.microsoft.com/office/drawing/2014/main" id="{31F39C13-4D6A-4B92-AC37-C6CFB9B3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 = √(γRT_temp/M)</a:t>
            </a:r>
          </a:p>
        </p:txBody>
      </p:sp>
      <p:pic>
        <p:nvPicPr>
          <p:cNvPr id="35" name="U02-101: Ecuación anotada de la slide «Velocidad del sonido en un gas ideal»: Ecuación, parámetros, unidades e hipótesis de gas ideal adiabátic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3f95fd040457b">
            <a:extLst>
              <a:ext uri="{96DAC541-7B7A-43D3-8B79-37D633B846F1}">
                <asvg:svgBlip xmlns:asvg="http://schemas.microsoft.com/office/drawing/2016/SVG/main" r:embed="Rd4e5782c81e649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7" name="U02-101_caption">
            <a:extLst xmlns:a="http://schemas.openxmlformats.org/drawingml/2006/main">
              <a:ext uri="{FF2B5EF4-FFF2-40B4-BE49-F238E27FC236}">
                <a16:creationId xmlns:a16="http://schemas.microsoft.com/office/drawing/2014/main" id="{68710528-7DC4-4C9C-89D9-DB18326A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 = √(γRT/M) depende de propiedades térmicas y composición.</a:t>
            </a:r>
          </a:p>
        </p:txBody>
      </p:sp>
      <p:sp>
        <p:nvSpPr>
          <p:cNvPr id="28" name="U02-101_source">
            <a:extLst xmlns:a="http://schemas.openxmlformats.org/drawingml/2006/main">
              <a:ext uri="{FF2B5EF4-FFF2-40B4-BE49-F238E27FC236}">
                <a16:creationId xmlns:a16="http://schemas.microsoft.com/office/drawing/2014/main" id="{DE53489D-D440-43EC-8DF2-47ABD5A1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08478DB-4253-C054-9EA9-60BB87830769}" type="slidenum">
              <a:t>102</a:t>
            </a:fld>
          </a:p>
        </p:txBody>
      </p:sp>
      <p:sp>
        <p:nvSpPr>
          <p:cNvPr id="21" name="U02-102_eyebrow">
            <a:extLst xmlns:a="http://schemas.openxmlformats.org/drawingml/2006/main">
              <a:ext uri="{FF2B5EF4-FFF2-40B4-BE49-F238E27FC236}">
                <a16:creationId xmlns:a16="http://schemas.microsoft.com/office/drawing/2014/main" id="{9DC2F57F-5437-41B7-8A76-86665357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2_title">
            <a:extLst xmlns:a="http://schemas.openxmlformats.org/drawingml/2006/main">
              <a:ext uri="{FF2B5EF4-FFF2-40B4-BE49-F238E27FC236}">
                <a16:creationId xmlns:a16="http://schemas.microsoft.com/office/drawing/2014/main" id="{0D41B326-1572-402A-8E38-15C3F6E4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Control dimensional de c = √(γRT/M)</a:t>
            </a:r>
          </a:p>
        </p:txBody>
      </p:sp>
      <p:sp>
        <p:nvSpPr>
          <p:cNvPr id="23" name="U02-102_takeaway">
            <a:extLst xmlns:a="http://schemas.openxmlformats.org/drawingml/2006/main">
              <a:ext uri="{FF2B5EF4-FFF2-40B4-BE49-F238E27FC236}">
                <a16:creationId xmlns:a16="http://schemas.microsoft.com/office/drawing/2014/main" id="{C9D3369F-1B7E-4A25-9F38-1687D550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Dentro de la raíz deben quedar unidades de velocidad al cuadrado.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J/kg = m²/s²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al extraer la raíz se obtiene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m/s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1" name="U02-102: Ecuación anotada de la slide «Control dimensional de c = √(γRT/M)»: Cadena de unidades J·mol⁻¹·K⁻¹, K y kg·mol⁻¹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293af8189416e">
            <a:extLst>
              <a:ext uri="{96DAC541-7B7A-43D3-8B79-37D633B846F1}">
                <asvg:svgBlip xmlns:asvg="http://schemas.microsoft.com/office/drawing/2016/SVG/main" r:embed="R9aa1aea939cf40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5" name="U02-102_caption">
            <a:extLst xmlns:a="http://schemas.openxmlformats.org/drawingml/2006/main">
              <a:ext uri="{FF2B5EF4-FFF2-40B4-BE49-F238E27FC236}">
                <a16:creationId xmlns:a16="http://schemas.microsoft.com/office/drawing/2014/main" id="{928F63D3-67CF-4D5F-A4D7-76A0DD27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cociente dentro de la raíz tiene dimensión de velocidad al cuadrado.</a:t>
            </a:r>
          </a:p>
        </p:txBody>
      </p:sp>
      <p:sp>
        <p:nvSpPr>
          <p:cNvPr id="26" name="U02-102_source">
            <a:extLst xmlns:a="http://schemas.openxmlformats.org/drawingml/2006/main">
              <a:ext uri="{FF2B5EF4-FFF2-40B4-BE49-F238E27FC236}">
                <a16:creationId xmlns:a16="http://schemas.microsoft.com/office/drawing/2014/main" id="{F8BBCCCB-3E25-4193-99B7-FFD63984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E47C7A6-9A4A-001A-CA7F-401404C0258E}" type="slidenum">
              <a:t>103</a:t>
            </a:fld>
          </a:p>
        </p:txBody>
      </p:sp>
      <p:sp>
        <p:nvSpPr>
          <p:cNvPr id="21" name="U02-103_eyebrow">
            <a:extLst xmlns:a="http://schemas.openxmlformats.org/drawingml/2006/main">
              <a:ext uri="{FF2B5EF4-FFF2-40B4-BE49-F238E27FC236}">
                <a16:creationId xmlns:a16="http://schemas.microsoft.com/office/drawing/2014/main" id="{0F2BBC1A-D8E1-41CA-BF79-F6F08ED4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3_title">
            <a:extLst xmlns:a="http://schemas.openxmlformats.org/drawingml/2006/main">
              <a:ext uri="{FF2B5EF4-FFF2-40B4-BE49-F238E27FC236}">
                <a16:creationId xmlns:a16="http://schemas.microsoft.com/office/drawing/2014/main" id="{E3B06563-E2B9-422F-8C45-E2AAFC8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Temperatura y tiempo de propagación: práctica adicional</a:t>
            </a:r>
          </a:p>
        </p:txBody>
      </p:sp>
      <p:sp>
        <p:nvSpPr>
          <p:cNvPr id="23" name="U02-103_takeaway">
            <a:extLst xmlns:a="http://schemas.openxmlformats.org/drawingml/2006/main">
              <a:ext uri="{FF2B5EF4-FFF2-40B4-BE49-F238E27FC236}">
                <a16:creationId xmlns:a16="http://schemas.microsoft.com/office/drawing/2014/main" id="{E5A0390B-F974-47F3-9FBF-CAD73C3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dos estados: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 °C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25 °C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con la misma distancia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100 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Calcular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luego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= d/c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; expresar la diferencia temporal en ms.</a:t>
            </a:r>
          </a:p>
        </p:txBody>
      </p:sp>
      <p:sp>
        <p:nvSpPr>
          <p:cNvPr id="24" name="U02-103_equation_panel">
            <a:extLst xmlns:a="http://schemas.openxmlformats.org/drawingml/2006/main">
              <a:ext uri="{FF2B5EF4-FFF2-40B4-BE49-F238E27FC236}">
                <a16:creationId xmlns:a16="http://schemas.microsoft.com/office/drawing/2014/main" id="{C4DBE21D-5DD8-4ED4-87A3-1008A4DE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D9DCE0"/>
            </a:solidFill>
            <a:prstDash val="solid"/>
          </a:ln>
        </p:spPr>
      </p:sp>
      <p:sp>
        <p:nvSpPr>
          <p:cNvPr id="25" name="U02-103_equation">
            <a:extLst xmlns:a="http://schemas.openxmlformats.org/drawingml/2006/main">
              <a:ext uri="{FF2B5EF4-FFF2-40B4-BE49-F238E27FC236}">
                <a16:creationId xmlns:a16="http://schemas.microsoft.com/office/drawing/2014/main" id="{C56A8F65-C0D2-40CC-86ED-C3204ADC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0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c(ϑ) ≈ 331 + 0,6ϑ; t = d/c, con d = 100 m.</a:t>
            </a:r>
          </a:p>
        </p:txBody>
      </p:sp>
      <p:pic>
        <p:nvPicPr>
          <p:cNvPr id="35" name="U02-103: Esquema mixto de la slide «Temperatura y tiempo de propagación: práctica adicional»: Ejercicio NA5 para 5 °C y 25 °C; resultados en not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7ada1f97e49fd">
            <a:extLst>
              <a:ext uri="{96DAC541-7B7A-43D3-8B79-37D633B846F1}">
                <asvg:svgBlip xmlns:asvg="http://schemas.microsoft.com/office/drawing/2016/SVG/main" r:embed="R2fc30ddf516542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362200"/>
            <a:ext cx="10668000" cy="3352800"/>
          </a:xfrm>
          <a:prstGeom xmlns:a="http://schemas.openxmlformats.org/drawingml/2006/main" prst="rect">
            <a:avLst/>
          </a:prstGeom>
        </p:spPr>
      </p:pic>
      <p:sp>
        <p:nvSpPr>
          <p:cNvPr id="27" name="U02-103_caption">
            <a:extLst xmlns:a="http://schemas.openxmlformats.org/drawingml/2006/main">
              <a:ext uri="{FF2B5EF4-FFF2-40B4-BE49-F238E27FC236}">
                <a16:creationId xmlns:a16="http://schemas.microsoft.com/office/drawing/2014/main" id="{602B1951-3497-40E2-9BC4-568B0B6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Cambiar c modifica el tiempo de propagación en una distancia fija. Esquema conceptual; no está a escala.</a:t>
            </a:r>
          </a:p>
        </p:txBody>
      </p:sp>
      <p:sp>
        <p:nvSpPr>
          <p:cNvPr id="28" name="U02-103_source">
            <a:extLst xmlns:a="http://schemas.openxmlformats.org/drawingml/2006/main">
              <a:ext uri="{FF2B5EF4-FFF2-40B4-BE49-F238E27FC236}">
                <a16:creationId xmlns:a16="http://schemas.microsoft.com/office/drawing/2014/main" id="{F5665CA1-6AB5-4250-8029-41EF166D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 a partir del modelo del curso; escala lineal.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45357B09-1B64-D388-5357-A36E949217A1}" type="slidenum">
              <a:t>104</a:t>
            </a:fld>
          </a:p>
        </p:txBody>
      </p:sp>
      <p:sp>
        <p:nvSpPr>
          <p:cNvPr id="21" name="U02-104_eyebrow">
            <a:extLst xmlns:a="http://schemas.openxmlformats.org/drawingml/2006/main">
              <a:ext uri="{FF2B5EF4-FFF2-40B4-BE49-F238E27FC236}">
                <a16:creationId xmlns:a16="http://schemas.microsoft.com/office/drawing/2014/main" id="{B736641D-E420-4D4A-BA02-3F073700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4_title">
            <a:extLst xmlns:a="http://schemas.openxmlformats.org/drawingml/2006/main">
              <a:ext uri="{FF2B5EF4-FFF2-40B4-BE49-F238E27FC236}">
                <a16:creationId xmlns:a16="http://schemas.microsoft.com/office/drawing/2014/main" id="{A210DFB6-54D7-434F-8FD2-269DEA5F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Más casos de signos en la primera ley</a:t>
            </a:r>
          </a:p>
        </p:txBody>
      </p:sp>
      <p:sp>
        <p:nvSpPr>
          <p:cNvPr id="23" name="U02-104_takeaway">
            <a:extLst xmlns:a="http://schemas.openxmlformats.org/drawingml/2006/main">
              <a:ext uri="{FF2B5EF4-FFF2-40B4-BE49-F238E27FC236}">
                <a16:creationId xmlns:a16="http://schemas.microsoft.com/office/drawing/2014/main" id="{41C2F806-5625-4C15-80A7-361F7A3B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Cuatro casos: calor entra; calor sale; trabajo sobre el sistema; trabajo realizado por el sistema. Dibujar primero la flecha y asignar el signo después.</a:t>
            </a:r>
          </a:p>
        </p:txBody>
      </p:sp>
      <p:pic>
        <p:nvPicPr>
          <p:cNvPr id="31" name="U02-104: Diagrama de la slide «Más casos de signos en la primera ley»: Cuatro mini casos y resultados ocultos en not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427bac93d4ab8">
            <a:extLst>
              <a:ext uri="{96DAC541-7B7A-43D3-8B79-37D633B846F1}">
                <asvg:svgBlip xmlns:asvg="http://schemas.microsoft.com/office/drawing/2016/SVG/main" r:embed="R91b612e18a714c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057400"/>
            <a:ext cx="10668000" cy="3657600"/>
          </a:xfrm>
          <a:prstGeom xmlns:a="http://schemas.openxmlformats.org/drawingml/2006/main" prst="rect">
            <a:avLst/>
          </a:prstGeom>
        </p:spPr>
      </p:pic>
      <p:sp>
        <p:nvSpPr>
          <p:cNvPr id="25" name="U02-104_caption">
            <a:extLst xmlns:a="http://schemas.openxmlformats.org/drawingml/2006/main">
              <a:ext uri="{FF2B5EF4-FFF2-40B4-BE49-F238E27FC236}">
                <a16:creationId xmlns:a16="http://schemas.microsoft.com/office/drawing/2014/main" id="{B6B03213-E58C-46E9-9CAB-BFB49BBC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dirección física decide el signo.</a:t>
            </a:r>
          </a:p>
        </p:txBody>
      </p:sp>
      <p:sp>
        <p:nvSpPr>
          <p:cNvPr id="26" name="U02-104_source">
            <a:extLst xmlns:a="http://schemas.openxmlformats.org/drawingml/2006/main">
              <a:ext uri="{FF2B5EF4-FFF2-40B4-BE49-F238E27FC236}">
                <a16:creationId xmlns:a16="http://schemas.microsoft.com/office/drawing/2014/main" id="{6D8D7148-59C2-4403-9129-7F82F737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60199CD9-C7A3-B827-931B-50906644230B}" type="slidenum">
              <a:t>105</a:t>
            </a:fld>
          </a:p>
        </p:txBody>
      </p:sp>
      <p:sp>
        <p:nvSpPr>
          <p:cNvPr id="21" name="U02-105_eyebrow">
            <a:extLst xmlns:a="http://schemas.openxmlformats.org/drawingml/2006/main">
              <a:ext uri="{FF2B5EF4-FFF2-40B4-BE49-F238E27FC236}">
                <a16:creationId xmlns:a16="http://schemas.microsoft.com/office/drawing/2014/main" id="{C91CEC1C-F4C1-4776-8332-D3EABD68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5_title">
            <a:extLst xmlns:a="http://schemas.openxmlformats.org/drawingml/2006/main">
              <a:ext uri="{FF2B5EF4-FFF2-40B4-BE49-F238E27FC236}">
                <a16:creationId xmlns:a16="http://schemas.microsoft.com/office/drawing/2014/main" id="{9B4DF075-BC19-44DA-A8AA-82876D12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Límite reversible y producción de entropía</a:t>
            </a:r>
          </a:p>
        </p:txBody>
      </p:sp>
      <p:sp>
        <p:nvSpPr>
          <p:cNvPr id="23" name="U02-105_takeaway">
            <a:extLst xmlns:a="http://schemas.openxmlformats.org/drawingml/2006/main">
              <a:ext uri="{FF2B5EF4-FFF2-40B4-BE49-F238E27FC236}">
                <a16:creationId xmlns:a16="http://schemas.microsoft.com/office/drawing/2014/main" id="{C278A070-11B5-4E2E-8C07-7AF4FE2D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 reversible ideal: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=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irreversible: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ΔS_total &gt; 0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 Un subsistema puede disminuir su entropía si el total cumple la desigualdad.</a:t>
            </a:r>
          </a:p>
        </p:txBody>
      </p:sp>
      <p:pic>
        <p:nvPicPr>
          <p:cNvPr id="31" name="U02-105: Ecuación anotada de la slide «Límite reversible y producción de entropía»: Dos casos, alcance de sistema total aislado y advertencia sobre subsistem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1c62d87d94205">
            <a:extLst>
              <a:ext uri="{96DAC541-7B7A-43D3-8B79-37D633B846F1}">
                <asvg:svgBlip xmlns:asvg="http://schemas.microsoft.com/office/drawing/2016/SVG/main" r:embed="Ref186234d50542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5" name="U02-105_caption">
            <a:extLst xmlns:a="http://schemas.openxmlformats.org/drawingml/2006/main">
              <a:ext uri="{FF2B5EF4-FFF2-40B4-BE49-F238E27FC236}">
                <a16:creationId xmlns:a16="http://schemas.microsoft.com/office/drawing/2014/main" id="{D598A83E-4A28-4612-B509-1293B0A5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ΔS_total = 0 es un límite ideal; &gt; 0 caracteriza irreversibilidad.</a:t>
            </a:r>
          </a:p>
        </p:txBody>
      </p:sp>
      <p:sp>
        <p:nvSpPr>
          <p:cNvPr id="26" name="U02-105_source">
            <a:extLst xmlns:a="http://schemas.openxmlformats.org/drawingml/2006/main">
              <a:ext uri="{FF2B5EF4-FFF2-40B4-BE49-F238E27FC236}">
                <a16:creationId xmlns:a16="http://schemas.microsoft.com/office/drawing/2014/main" id="{6D1CAC9B-9ECA-4A5B-A091-7B8E332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B95B0581-C00A-9A4E-1313-BA3A3777E376}" type="slidenum">
              <a:t>106</a:t>
            </a:fld>
          </a:p>
        </p:txBody>
      </p:sp>
      <p:sp>
        <p:nvSpPr>
          <p:cNvPr id="21" name="U02-106_eyebrow">
            <a:extLst xmlns:a="http://schemas.openxmlformats.org/drawingml/2006/main">
              <a:ext uri="{FF2B5EF4-FFF2-40B4-BE49-F238E27FC236}">
                <a16:creationId xmlns:a16="http://schemas.microsoft.com/office/drawing/2014/main" id="{976475CA-8658-45FC-99FC-8C7221FD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6_title">
            <a:extLst xmlns:a="http://schemas.openxmlformats.org/drawingml/2006/main">
              <a:ext uri="{FF2B5EF4-FFF2-40B4-BE49-F238E27FC236}">
                <a16:creationId xmlns:a16="http://schemas.microsoft.com/office/drawing/2014/main" id="{6592E44D-532A-4F3A-831D-80C99B8A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 completo: datos y plan</a:t>
            </a:r>
          </a:p>
        </p:txBody>
      </p:sp>
      <p:sp>
        <p:nvSpPr>
          <p:cNvPr id="23" name="U02-106_takeaway">
            <a:extLst xmlns:a="http://schemas.openxmlformats.org/drawingml/2006/main">
              <a:ext uri="{FF2B5EF4-FFF2-40B4-BE49-F238E27FC236}">
                <a16:creationId xmlns:a16="http://schemas.microsoft.com/office/drawing/2014/main" id="{5DE492BD-7CE5-499C-A746-C6EEBB57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 mecánicos: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presión, área,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 energéticos: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entrada, cambio y salida.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 térmico: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temperatura. Resolver por tres ramas.</a:t>
            </a:r>
          </a:p>
        </p:txBody>
      </p:sp>
      <p:pic>
        <p:nvPicPr>
          <p:cNvPr id="31" name="U02-106: Diagrama de la slide «Caso integrador completo: datos y plan»: Enunciado I1 repartido en tres grupos de datos y siete tare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193ba9cdb48b1">
            <a:extLst>
              <a:ext uri="{96DAC541-7B7A-43D3-8B79-37D633B846F1}">
                <asvg:svgBlip xmlns:asvg="http://schemas.microsoft.com/office/drawing/2016/SVG/main" r:embed="R5478dbcc12eb4b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295525"/>
            <a:ext cx="10668000" cy="3419475"/>
          </a:xfrm>
          <a:prstGeom xmlns:a="http://schemas.openxmlformats.org/drawingml/2006/main" prst="rect">
            <a:avLst/>
          </a:prstGeom>
        </p:spPr>
      </p:pic>
      <p:sp>
        <p:nvSpPr>
          <p:cNvPr id="25" name="U02-106_caption">
            <a:extLst xmlns:a="http://schemas.openxmlformats.org/drawingml/2006/main">
              <a:ext uri="{FF2B5EF4-FFF2-40B4-BE49-F238E27FC236}">
                <a16:creationId xmlns:a16="http://schemas.microsoft.com/office/drawing/2014/main" id="{F8AF3BFD-0340-470D-81F7-8DB97EA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Separar datos mecánicos, energéticos y térmicos reduce la carga.</a:t>
            </a:r>
          </a:p>
        </p:txBody>
      </p:sp>
      <p:sp>
        <p:nvSpPr>
          <p:cNvPr id="26" name="U02-106_source">
            <a:extLst xmlns:a="http://schemas.openxmlformats.org/drawingml/2006/main">
              <a:ext uri="{FF2B5EF4-FFF2-40B4-BE49-F238E27FC236}">
                <a16:creationId xmlns:a16="http://schemas.microsoft.com/office/drawing/2014/main" id="{FFB14F5C-F9E3-4633-9639-BA82CDC4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CB276795-F8C7-75BD-2B4C-6612E6AF21C8}" type="slidenum">
              <a:t>107</a:t>
            </a:fld>
          </a:p>
        </p:txBody>
      </p:sp>
      <p:sp>
        <p:nvSpPr>
          <p:cNvPr id="21" name="U02-107_eyebrow">
            <a:extLst xmlns:a="http://schemas.openxmlformats.org/drawingml/2006/main">
              <a:ext uri="{FF2B5EF4-FFF2-40B4-BE49-F238E27FC236}">
                <a16:creationId xmlns:a16="http://schemas.microsoft.com/office/drawing/2014/main" id="{C06C9E69-7F58-4437-9E88-5DDEB9F7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7_title">
            <a:extLst xmlns:a="http://schemas.openxmlformats.org/drawingml/2006/main">
              <a:ext uri="{FF2B5EF4-FFF2-40B4-BE49-F238E27FC236}">
                <a16:creationId xmlns:a16="http://schemas.microsoft.com/office/drawing/2014/main" id="{7145C8E4-6902-4860-A945-A1492CF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fuerza y aceleración</a:t>
            </a:r>
          </a:p>
        </p:txBody>
      </p:sp>
      <p:sp>
        <p:nvSpPr>
          <p:cNvPr id="23" name="U02-107_takeaway">
            <a:extLst xmlns:a="http://schemas.openxmlformats.org/drawingml/2006/main">
              <a:ext uri="{FF2B5EF4-FFF2-40B4-BE49-F238E27FC236}">
                <a16:creationId xmlns:a16="http://schemas.microsoft.com/office/drawing/2014/main" id="{1A03D436-D020-4E6D-A017-1802B3E5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Obtener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F_ext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desde presión y área.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Calcular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F_el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F_amort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Sumar con signos.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Obtener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5. Identificar retorno y disipación.</a:t>
            </a:r>
          </a:p>
        </p:txBody>
      </p:sp>
      <p:pic>
        <p:nvPicPr>
          <p:cNvPr id="31" name="U02-107: Esquema mixto de la slide «Caso integrador: fuerza y aceleración»: F_ext, F_el, F_amort, F_neta y a; interpret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1ace510234501">
            <a:extLst>
              <a:ext uri="{96DAC541-7B7A-43D3-8B79-37D633B846F1}">
                <asvg:svgBlip xmlns:asvg="http://schemas.microsoft.com/office/drawing/2016/SVG/main" r:embed="Rc2cc4348a6e64d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771775"/>
            <a:ext cx="10668000" cy="2943225"/>
          </a:xfrm>
          <a:prstGeom xmlns:a="http://schemas.openxmlformats.org/drawingml/2006/main" prst="rect">
            <a:avLst/>
          </a:prstGeom>
        </p:spPr>
      </p:pic>
      <p:sp>
        <p:nvSpPr>
          <p:cNvPr id="25" name="U02-107_caption">
            <a:extLst xmlns:a="http://schemas.openxmlformats.org/drawingml/2006/main">
              <a:ext uri="{FF2B5EF4-FFF2-40B4-BE49-F238E27FC236}">
                <a16:creationId xmlns:a16="http://schemas.microsoft.com/office/drawing/2014/main" id="{589709F9-DB86-4F07-88EC-DB01B86F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Presión, elasticidad y amortiguamiento se suman con signos.</a:t>
            </a:r>
          </a:p>
        </p:txBody>
      </p:sp>
      <p:sp>
        <p:nvSpPr>
          <p:cNvPr id="26" name="U02-107_source">
            <a:extLst xmlns:a="http://schemas.openxmlformats.org/drawingml/2006/main">
              <a:ext uri="{FF2B5EF4-FFF2-40B4-BE49-F238E27FC236}">
                <a16:creationId xmlns:a16="http://schemas.microsoft.com/office/drawing/2014/main" id="{D7D6D5FC-0B5D-4983-8738-BFB1D91C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E697BE3F-1616-E168-0D1D-60B043688D30}" type="slidenum">
              <a:t>108</a:t>
            </a:fld>
          </a:p>
        </p:txBody>
      </p:sp>
      <p:sp>
        <p:nvSpPr>
          <p:cNvPr id="21" name="U02-108_eyebrow">
            <a:extLst xmlns:a="http://schemas.openxmlformats.org/drawingml/2006/main">
              <a:ext uri="{FF2B5EF4-FFF2-40B4-BE49-F238E27FC236}">
                <a16:creationId xmlns:a16="http://schemas.microsoft.com/office/drawing/2014/main" id="{F52A3E20-71B9-41FC-B593-EE51A6BA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08_title">
            <a:extLst xmlns:a="http://schemas.openxmlformats.org/drawingml/2006/main">
              <a:ext uri="{FF2B5EF4-FFF2-40B4-BE49-F238E27FC236}">
                <a16:creationId xmlns:a16="http://schemas.microsoft.com/office/drawing/2014/main" id="{61AD6562-B8ED-4F2F-8E59-19ECC3BD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energía, temperatura y límites</a:t>
            </a:r>
          </a:p>
        </p:txBody>
      </p:sp>
      <p:sp>
        <p:nvSpPr>
          <p:cNvPr id="23" name="U02-108_takeaway">
            <a:extLst xmlns:a="http://schemas.openxmlformats.org/drawingml/2006/main">
              <a:ext uri="{FF2B5EF4-FFF2-40B4-BE49-F238E27FC236}">
                <a16:creationId xmlns:a16="http://schemas.microsoft.com/office/drawing/2014/main" id="{486C3FDA-E5F2-480E-AAF8-2123FBF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Cerrar el balance energético.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Estimar 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 desde la temperatura.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Verificar conservación.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8"/>
              </a:spcAft>
              <a:buNone/>
              <a:defRPr sz="15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Declarar límites físicos y clínicos.</a:t>
            </a:r>
          </a:p>
        </p:txBody>
      </p:sp>
      <p:pic>
        <p:nvPicPr>
          <p:cNvPr id="31" name="U02-108: Esquema mixto de la slide «Caso integrador: energía, temperatura y límites»: E_disipada, c, conservación y dos límites del model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3025800dd4b8e">
            <a:extLst>
              <a:ext uri="{96DAC541-7B7A-43D3-8B79-37D633B846F1}">
                <asvg:svgBlip xmlns:asvg="http://schemas.microsoft.com/office/drawing/2016/SVG/main" r:embed="R22878f84f8b343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533650"/>
            <a:ext cx="10668000" cy="3181350"/>
          </a:xfrm>
          <a:prstGeom xmlns:a="http://schemas.openxmlformats.org/drawingml/2006/main" prst="rect">
            <a:avLst/>
          </a:prstGeom>
        </p:spPr>
      </p:pic>
      <p:sp>
        <p:nvSpPr>
          <p:cNvPr id="25" name="U02-108_caption">
            <a:extLst xmlns:a="http://schemas.openxmlformats.org/drawingml/2006/main">
              <a:ext uri="{FF2B5EF4-FFF2-40B4-BE49-F238E27FC236}">
                <a16:creationId xmlns:a16="http://schemas.microsoft.com/office/drawing/2014/main" id="{C3D0D7AD-2F27-4091-992A-DDCE500B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balance cierra, c se estima y ningún resultado produce una conclusión clínica.</a:t>
            </a:r>
          </a:p>
        </p:txBody>
      </p:sp>
      <p:sp>
        <p:nvSpPr>
          <p:cNvPr id="26" name="U02-108_source">
            <a:extLst xmlns:a="http://schemas.openxmlformats.org/drawingml/2006/main">
              <a:ext uri="{FF2B5EF4-FFF2-40B4-BE49-F238E27FC236}">
                <a16:creationId xmlns:a16="http://schemas.microsoft.com/office/drawing/2014/main" id="{691D339A-7B3F-468A-B65E-E875DA0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Elaboración propia; recurso vectorial validado.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arcador de número de diapositiva 16">
            <a:extLst xmlns:a="http://schemas.openxmlformats.org/drawingml/2006/main">
              <a:ext uri="{FF2B5EF4-FFF2-40B4-BE49-F238E27FC236}">
                <a16:creationId xmlns:a16="http://schemas.microsoft.com/office/drawing/2014/main" id="{E2D13425-3C5C-B26C-019E-A4D5E1FF74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F31BF41-EB55-155B-71E9-0FC2EE065353}" type="slidenum">
              <a:t>109</a:t>
            </a:fld>
          </a:p>
        </p:txBody>
      </p:sp>
      <p:sp>
        <p:nvSpPr>
          <p:cNvPr id="18" name="U02-109_eyebrow">
            <a:extLst xmlns:a="http://schemas.openxmlformats.org/drawingml/2006/main">
              <a:ext uri="{FF2B5EF4-FFF2-40B4-BE49-F238E27FC236}">
                <a16:creationId xmlns:a16="http://schemas.microsoft.com/office/drawing/2014/main" id="{BA59A07C-4484-4808-9266-FED46EDF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19" name="U02-109_title">
            <a:extLst xmlns:a="http://schemas.openxmlformats.org/drawingml/2006/main">
              <a:ext uri="{FF2B5EF4-FFF2-40B4-BE49-F238E27FC236}">
                <a16:creationId xmlns:a16="http://schemas.microsoft.com/office/drawing/2014/main" id="{D383D32A-8830-4934-B57E-9A86E5BC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técnicas de termodinámica y propagación</a:t>
            </a:r>
          </a:p>
        </p:txBody>
      </p:sp>
      <p:sp>
        <p:nvSpPr>
          <p:cNvPr id="20" name="U02-109_bibliography">
            <a:extLst xmlns:a="http://schemas.openxmlformats.org/drawingml/2006/main">
              <a:ext uri="{FF2B5EF4-FFF2-40B4-BE49-F238E27FC236}">
                <a16:creationId xmlns:a16="http://schemas.microsoft.com/office/drawing/2014/main" id="{4935D6A2-AF41-41A6-A511-10BA6BAC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0287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"/>
              </a:spcAft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Cramer (1993); Xiang y Blauert (2021); capítulo del curso; programa oficial. Conservar datos bibliográficos completos desde la bibliografía del capítulo.</a:t>
            </a:r>
          </a:p>
        </p:txBody>
      </p:sp>
      <p:sp>
        <p:nvSpPr>
          <p:cNvPr id="21" name="U02-109_bibliography_source">
            <a:extLst xmlns:a="http://schemas.openxmlformats.org/drawingml/2006/main">
              <a:ext uri="{FF2B5EF4-FFF2-40B4-BE49-F238E27FC236}">
                <a16:creationId xmlns:a16="http://schemas.microsoft.com/office/drawing/2014/main" id="{2897BA6F-D4BB-4B65-A631-26B646C8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PO; REF cramer1993, xiangBlauert2021.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124488B-3E0C-EB6C-F49A-C8FB457B995B}" type="slidenum">
              <a:t>110</a:t>
            </a:fld>
          </a:p>
        </p:txBody>
      </p:sp>
      <p:sp>
        <p:nvSpPr>
          <p:cNvPr id="21" name="U02-110_eyebrow">
            <a:extLst xmlns:a="http://schemas.openxmlformats.org/drawingml/2006/main">
              <a:ext uri="{FF2B5EF4-FFF2-40B4-BE49-F238E27FC236}">
                <a16:creationId xmlns:a16="http://schemas.microsoft.com/office/drawing/2014/main" id="{C392203C-51A5-48E3-A685-34A6F79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2 · MATERIAL DE RESPALDO</a:t>
            </a:r>
          </a:p>
        </p:txBody>
      </p:sp>
      <p:sp>
        <p:nvSpPr>
          <p:cNvPr id="22" name="U02-110_title">
            <a:extLst xmlns:a="http://schemas.openxmlformats.org/drawingml/2006/main">
              <a:ext uri="{FF2B5EF4-FFF2-40B4-BE49-F238E27FC236}">
                <a16:creationId xmlns:a16="http://schemas.microsoft.com/office/drawing/2014/main" id="{0A60227A-F337-4EB5-93DE-32BBDE39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Apéndice de símbolos y glosario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89857"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Significado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Unidad</a:t>
                      </a:r>
                    </a:p>
                  </a:txBody>
                  <a:tcPr marL="91440" marR="91440" marT="45720" marB="45720">
                    <a:solidFill>
                      <a:srgbClr val="4D1434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F_neta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Fuerza resultante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k_s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Rigidez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N/m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Amortiguamiento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N·s/m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U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Energía interna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Q_calor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Calor transferido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S_ent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Entropía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r>
                        <a:rPr sz="17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J/K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4" name="U02-110_reading">
            <a:extLst xmlns:a="http://schemas.openxmlformats.org/drawingml/2006/main">
              <a:ext uri="{FF2B5EF4-FFF2-40B4-BE49-F238E27FC236}">
                <a16:creationId xmlns:a16="http://schemas.microsoft.com/office/drawing/2014/main" id="{BE79F73A-BC9E-4310-97BC-34CE83FC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F_neta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fuerza resultante (N);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k_s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rigidez (N/m);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amortiguamiento (N·s/m);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energía interna (J);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Q_calor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calor transferido (J); 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S_ent</a:t>
            </a: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: entropía (J/K).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2026-07-29T22:58:03.7950000Z</dcterms:created>
  <dcterms:modified xsi:type="dcterms:W3CDTF">2026-07-29T22:58:03.7950000Z</dcterms:modified>
</coreProperties>
</file>