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83.xml" ContentType="application/vnd.openxmlformats-officedocument.presentationml.notesSlide+xml"/>
  <Override PartName="/ppt/slides/slide84.xml" ContentType="application/vnd.openxmlformats-officedocument.presentationml.slide+xml"/>
  <Override PartName="/ppt/notesSlides/notesSlide84.xml" ContentType="application/vnd.openxmlformats-officedocument.presentationml.notesSlide+xml"/>
  <Override PartName="/ppt/slides/slide85.xml" ContentType="application/vnd.openxmlformats-officedocument.presentationml.slide+xml"/>
  <Override PartName="/ppt/notesSlides/notesSlide85.xml" ContentType="application/vnd.openxmlformats-officedocument.presentationml.notesSlide+xml"/>
  <Override PartName="/ppt/slides/slide86.xml" ContentType="application/vnd.openxmlformats-officedocument.presentationml.slide+xml"/>
  <Override PartName="/ppt/notesSlides/notesSlide86.xml" ContentType="application/vnd.openxmlformats-officedocument.presentationml.notesSlide+xml"/>
  <Override PartName="/ppt/slides/slide87.xml" ContentType="application/vnd.openxmlformats-officedocument.presentationml.slide+xml"/>
  <Override PartName="/ppt/notesSlides/notesSlide87.xml" ContentType="application/vnd.openxmlformats-officedocument.presentationml.notesSlide+xml"/>
  <Override PartName="/ppt/slides/slide88.xml" ContentType="application/vnd.openxmlformats-officedocument.presentationml.slide+xml"/>
  <Override PartName="/ppt/notesSlides/notesSlide88.xml" ContentType="application/vnd.openxmlformats-officedocument.presentationml.notesSlide+xml"/>
  <Override PartName="/ppt/slides/slide89.xml" ContentType="application/vnd.openxmlformats-officedocument.presentationml.slide+xml"/>
  <Override PartName="/ppt/notesSlides/notesSlide89.xml" ContentType="application/vnd.openxmlformats-officedocument.presentationml.notesSlide+xml"/>
  <Override PartName="/ppt/slides/slide90.xml" ContentType="application/vnd.openxmlformats-officedocument.presentationml.slide+xml"/>
  <Override PartName="/ppt/notesSlides/notesSlide90.xml" ContentType="application/vnd.openxmlformats-officedocument.presentationml.notesSlide+xml"/>
  <Override PartName="/ppt/slides/slide91.xml" ContentType="application/vnd.openxmlformats-officedocument.presentationml.slide+xml"/>
  <Override PartName="/ppt/notesSlides/notesSlide91.xml" ContentType="application/vnd.openxmlformats-officedocument.presentationml.notesSlide+xml"/>
  <Override PartName="/ppt/slides/slide92.xml" ContentType="application/vnd.openxmlformats-officedocument.presentationml.slide+xml"/>
  <Override PartName="/ppt/notesSlides/notesSlide92.xml" ContentType="application/vnd.openxmlformats-officedocument.presentationml.notesSlide+xml"/>
  <Override PartName="/ppt/slides/slide93.xml" ContentType="application/vnd.openxmlformats-officedocument.presentationml.slide+xml"/>
  <Override PartName="/ppt/notesSlides/notesSlide93.xml" ContentType="application/vnd.openxmlformats-officedocument.presentationml.notesSlide+xml"/>
  <Override PartName="/ppt/slides/slide94.xml" ContentType="application/vnd.openxmlformats-officedocument.presentationml.slide+xml"/>
  <Override PartName="/ppt/notesSlides/notesSlide94.xml" ContentType="application/vnd.openxmlformats-officedocument.presentationml.notesSlide+xml"/>
  <Override PartName="/ppt/slides/slide95.xml" ContentType="application/vnd.openxmlformats-officedocument.presentationml.slide+xml"/>
  <Override PartName="/ppt/notesSlides/notesSlide95.xml" ContentType="application/vnd.openxmlformats-officedocument.presentationml.notesSlide+xml"/>
  <Override PartName="/ppt/slides/slide96.xml" ContentType="application/vnd.openxmlformats-officedocument.presentationml.slide+xml"/>
  <Override PartName="/ppt/notesSlides/notesSlide96.xml" ContentType="application/vnd.openxmlformats-officedocument.presentationml.notesSlide+xml"/>
  <Override PartName="/ppt/slides/slide97.xml" ContentType="application/vnd.openxmlformats-officedocument.presentationml.slide+xml"/>
  <Override PartName="/ppt/notesSlides/notesSlide97.xml" ContentType="application/vnd.openxmlformats-officedocument.presentationml.notesSlide+xml"/>
  <Override PartName="/ppt/slides/slide98.xml" ContentType="application/vnd.openxmlformats-officedocument.presentationml.slide+xml"/>
  <Override PartName="/ppt/notesSlides/notesSlide98.xml" ContentType="application/vnd.openxmlformats-officedocument.presentationml.notesSlide+xml"/>
  <Override PartName="/ppt/slides/slide99.xml" ContentType="application/vnd.openxmlformats-officedocument.presentationml.slide+xml"/>
  <Override PartName="/ppt/notesSlides/notesSlide99.xml" ContentType="application/vnd.openxmlformats-officedocument.presentationml.notesSlide+xml"/>
  <Override PartName="/ppt/slides/slide100.xml" ContentType="application/vnd.openxmlformats-officedocument.presentationml.slide+xml"/>
  <Override PartName="/ppt/notesSlides/notesSlide100.xml" ContentType="application/vnd.openxmlformats-officedocument.presentationml.notesSlide+xml"/>
  <Override PartName="/ppt/slides/slide101.xml" ContentType="application/vnd.openxmlformats-officedocument.presentationml.slide+xml"/>
  <Override PartName="/ppt/notesSlides/notesSlide101.xml" ContentType="application/vnd.openxmlformats-officedocument.presentationml.notesSlide+xml"/>
  <Override PartName="/ppt/slides/slide102.xml" ContentType="application/vnd.openxmlformats-officedocument.presentationml.slide+xml"/>
  <Override PartName="/ppt/notesSlides/notesSlide102.xml" ContentType="application/vnd.openxmlformats-officedocument.presentationml.notesSlide+xml"/>
  <Override PartName="/ppt/slides/slide103.xml" ContentType="application/vnd.openxmlformats-officedocument.presentationml.slide+xml"/>
  <Override PartName="/ppt/notesSlides/notesSlide103.xml" ContentType="application/vnd.openxmlformats-officedocument.presentationml.notesSlide+xml"/>
  <Override PartName="/ppt/slides/slide104.xml" ContentType="application/vnd.openxmlformats-officedocument.presentationml.slide+xml"/>
  <Override PartName="/ppt/notesSlides/notesSlide104.xml" ContentType="application/vnd.openxmlformats-officedocument.presentationml.notesSlide+xml"/>
  <Override PartName="/ppt/slides/slide105.xml" ContentType="application/vnd.openxmlformats-officedocument.presentationml.slide+xml"/>
  <Override PartName="/ppt/notesSlides/notesSlide105.xml" ContentType="application/vnd.openxmlformats-officedocument.presentationml.notesSlide+xml"/>
  <Override PartName="/ppt/slides/slide106.xml" ContentType="application/vnd.openxmlformats-officedocument.presentationml.slide+xml"/>
  <Override PartName="/ppt/notesSlides/notesSlide106.xml" ContentType="application/vnd.openxmlformats-officedocument.presentationml.notesSlide+xml"/>
  <Override PartName="/ppt/slides/slide107.xml" ContentType="application/vnd.openxmlformats-officedocument.presentationml.slide+xml"/>
  <Override PartName="/ppt/notesSlides/notesSlide107.xml" ContentType="application/vnd.openxmlformats-officedocument.presentationml.notesSlide+xml"/>
  <Override PartName="/ppt/slides/slide108.xml" ContentType="application/vnd.openxmlformats-officedocument.presentationml.slide+xml"/>
  <Override PartName="/ppt/notesSlides/notesSlide108.xml" ContentType="application/vnd.openxmlformats-officedocument.presentationml.notesSlide+xml"/>
  <Override PartName="/ppt/slides/slide109.xml" ContentType="application/vnd.openxmlformats-officedocument.presentationml.slide+xml"/>
  <Override PartName="/ppt/notesSlides/notesSlide109.xml" ContentType="application/vnd.openxmlformats-officedocument.presentationml.notesSlide+xml"/>
  <Override PartName="/ppt/slides/slide110.xml" ContentType="application/vnd.openxmlformats-officedocument.presentationml.slide+xml"/>
  <Override PartName="/ppt/notesSlides/notesSlide1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35f6c183d854bd6" /><Relationship Type="http://schemas.openxmlformats.org/officeDocument/2006/relationships/extended-properties" Target="/docProps/app.xml" Id="R1058406705b643e8" /><Relationship Type="http://schemas.openxmlformats.org/officeDocument/2006/relationships/officeDocument" Target="/ppt/presentation.xml" Id="Rea5fdbc02df5498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5cb2ec17be64fd3"/>
    <p:sldMasterId xmlns:r="http://schemas.openxmlformats.org/officeDocument/2006/relationships" id="2147483673" r:id="R7ead62623a8b4500"/>
  </p:sldMasterIdLst>
  <p:notesMasterIdLst>
    <p:notesMasterId xmlns:r="http://schemas.openxmlformats.org/officeDocument/2006/relationships" r:id="R09904ba382e647fa"/>
  </p:notesMasterIdLst>
  <p:sldIdLst>
    <p:sldId xmlns:r="http://schemas.openxmlformats.org/officeDocument/2006/relationships" id="256" r:id="R39cc0b103e334938"/>
    <p:sldId xmlns:r="http://schemas.openxmlformats.org/officeDocument/2006/relationships" id="257" r:id="R1786a52ee90449c9"/>
    <p:sldId xmlns:r="http://schemas.openxmlformats.org/officeDocument/2006/relationships" id="258" r:id="R282542b91c4e4c4c"/>
    <p:sldId xmlns:r="http://schemas.openxmlformats.org/officeDocument/2006/relationships" id="259" r:id="Ra7100e784fff4672"/>
    <p:sldId xmlns:r="http://schemas.openxmlformats.org/officeDocument/2006/relationships" id="260" r:id="Rf797898e61844f1f"/>
    <p:sldId xmlns:r="http://schemas.openxmlformats.org/officeDocument/2006/relationships" id="261" r:id="Rde5530d63e8d4ea9"/>
    <p:sldId xmlns:r="http://schemas.openxmlformats.org/officeDocument/2006/relationships" id="262" r:id="Rf017cd874f824a12"/>
    <p:sldId xmlns:r="http://schemas.openxmlformats.org/officeDocument/2006/relationships" id="263" r:id="R2ffd46edce5b4495"/>
    <p:sldId xmlns:r="http://schemas.openxmlformats.org/officeDocument/2006/relationships" id="264" r:id="R89316ed7ef724867"/>
    <p:sldId xmlns:r="http://schemas.openxmlformats.org/officeDocument/2006/relationships" id="265" r:id="R3da9cc27faae49a3"/>
    <p:sldId xmlns:r="http://schemas.openxmlformats.org/officeDocument/2006/relationships" id="266" r:id="R7ef6389fedd24708"/>
    <p:sldId xmlns:r="http://schemas.openxmlformats.org/officeDocument/2006/relationships" id="267" r:id="Re4b25f50db994f80"/>
    <p:sldId xmlns:r="http://schemas.openxmlformats.org/officeDocument/2006/relationships" id="268" r:id="R41e30e0c885544b5"/>
    <p:sldId xmlns:r="http://schemas.openxmlformats.org/officeDocument/2006/relationships" id="269" r:id="R2c557ff87f2e455d"/>
    <p:sldId xmlns:r="http://schemas.openxmlformats.org/officeDocument/2006/relationships" id="270" r:id="R7b2ce051ff624fd1"/>
    <p:sldId xmlns:r="http://schemas.openxmlformats.org/officeDocument/2006/relationships" id="271" r:id="Rcf8d37e63a17408d"/>
    <p:sldId xmlns:r="http://schemas.openxmlformats.org/officeDocument/2006/relationships" id="272" r:id="R18611c7c62924b10"/>
    <p:sldId xmlns:r="http://schemas.openxmlformats.org/officeDocument/2006/relationships" id="273" r:id="R6a6bd0a5478b4311"/>
    <p:sldId xmlns:r="http://schemas.openxmlformats.org/officeDocument/2006/relationships" id="274" r:id="Rd91da627e13943d9"/>
    <p:sldId xmlns:r="http://schemas.openxmlformats.org/officeDocument/2006/relationships" id="275" r:id="R3e7849a0790d47ad"/>
    <p:sldId xmlns:r="http://schemas.openxmlformats.org/officeDocument/2006/relationships" id="276" r:id="Rc0d8b48c585b42b3"/>
    <p:sldId xmlns:r="http://schemas.openxmlformats.org/officeDocument/2006/relationships" id="277" r:id="R4928c61eb07a42a0"/>
    <p:sldId xmlns:r="http://schemas.openxmlformats.org/officeDocument/2006/relationships" id="278" r:id="R52869762da054779"/>
    <p:sldId xmlns:r="http://schemas.openxmlformats.org/officeDocument/2006/relationships" id="279" r:id="Raf7342d9c71f4695"/>
    <p:sldId xmlns:r="http://schemas.openxmlformats.org/officeDocument/2006/relationships" id="280" r:id="R895043a295164b83"/>
    <p:sldId xmlns:r="http://schemas.openxmlformats.org/officeDocument/2006/relationships" id="281" r:id="R609bd7c35f5a489c"/>
    <p:sldId xmlns:r="http://schemas.openxmlformats.org/officeDocument/2006/relationships" id="282" r:id="Rbdfadcac138745d8"/>
    <p:sldId xmlns:r="http://schemas.openxmlformats.org/officeDocument/2006/relationships" id="283" r:id="R54351384ccc44411"/>
    <p:sldId xmlns:r="http://schemas.openxmlformats.org/officeDocument/2006/relationships" id="284" r:id="R8f5e8fcc862a49aa"/>
    <p:sldId xmlns:r="http://schemas.openxmlformats.org/officeDocument/2006/relationships" id="285" r:id="Rfe8b1dccfd9d417b"/>
    <p:sldId xmlns:r="http://schemas.openxmlformats.org/officeDocument/2006/relationships" id="286" r:id="R2c8e507dc47a4670"/>
    <p:sldId xmlns:r="http://schemas.openxmlformats.org/officeDocument/2006/relationships" id="287" r:id="R91b5c82c8ae34b1a"/>
    <p:sldId xmlns:r="http://schemas.openxmlformats.org/officeDocument/2006/relationships" id="288" r:id="R800585f0ca524b8c"/>
    <p:sldId xmlns:r="http://schemas.openxmlformats.org/officeDocument/2006/relationships" id="289" r:id="R00c89369f5e147cc"/>
    <p:sldId xmlns:r="http://schemas.openxmlformats.org/officeDocument/2006/relationships" id="290" r:id="R8be74e2579df439d"/>
    <p:sldId xmlns:r="http://schemas.openxmlformats.org/officeDocument/2006/relationships" id="291" r:id="R2598d2b934b64e1a"/>
    <p:sldId xmlns:r="http://schemas.openxmlformats.org/officeDocument/2006/relationships" id="292" r:id="Rcbe87bc71f314d74"/>
    <p:sldId xmlns:r="http://schemas.openxmlformats.org/officeDocument/2006/relationships" id="293" r:id="Rb6f34ab7e9c54924"/>
    <p:sldId xmlns:r="http://schemas.openxmlformats.org/officeDocument/2006/relationships" id="294" r:id="Rc6d9da170e474092"/>
    <p:sldId xmlns:r="http://schemas.openxmlformats.org/officeDocument/2006/relationships" id="295" r:id="R0ced3056f6e0485e"/>
    <p:sldId xmlns:r="http://schemas.openxmlformats.org/officeDocument/2006/relationships" id="296" r:id="R3fea1dafedef4bfe"/>
    <p:sldId xmlns:r="http://schemas.openxmlformats.org/officeDocument/2006/relationships" id="297" r:id="R3c077b6628fe448f"/>
    <p:sldId xmlns:r="http://schemas.openxmlformats.org/officeDocument/2006/relationships" id="298" r:id="R3ecb81c157694af7"/>
    <p:sldId xmlns:r="http://schemas.openxmlformats.org/officeDocument/2006/relationships" id="299" r:id="R8c208097f9ff4362"/>
    <p:sldId xmlns:r="http://schemas.openxmlformats.org/officeDocument/2006/relationships" id="300" r:id="Rafc1e1e80f594772"/>
    <p:sldId xmlns:r="http://schemas.openxmlformats.org/officeDocument/2006/relationships" id="301" r:id="Rb44fc8d2f35244b5"/>
    <p:sldId xmlns:r="http://schemas.openxmlformats.org/officeDocument/2006/relationships" id="302" r:id="Re8f381d9c7674778"/>
    <p:sldId xmlns:r="http://schemas.openxmlformats.org/officeDocument/2006/relationships" id="303" r:id="R2d6381fb266445ac"/>
    <p:sldId xmlns:r="http://schemas.openxmlformats.org/officeDocument/2006/relationships" id="304" r:id="R94a0d6ed1c8a4d84"/>
    <p:sldId xmlns:r="http://schemas.openxmlformats.org/officeDocument/2006/relationships" id="305" r:id="R0d376a216901455e"/>
    <p:sldId xmlns:r="http://schemas.openxmlformats.org/officeDocument/2006/relationships" id="306" r:id="Rb3df963d1a4d4983"/>
    <p:sldId xmlns:r="http://schemas.openxmlformats.org/officeDocument/2006/relationships" id="307" r:id="R9ef67954315346c3"/>
    <p:sldId xmlns:r="http://schemas.openxmlformats.org/officeDocument/2006/relationships" id="308" r:id="Ra7afe4d9e7fe44d0"/>
    <p:sldId xmlns:r="http://schemas.openxmlformats.org/officeDocument/2006/relationships" id="309" r:id="Red395b94025b40c7"/>
    <p:sldId xmlns:r="http://schemas.openxmlformats.org/officeDocument/2006/relationships" id="310" r:id="R75d2826f45a147e8"/>
    <p:sldId xmlns:r="http://schemas.openxmlformats.org/officeDocument/2006/relationships" id="311" r:id="Rcd9d53225ac04081"/>
    <p:sldId xmlns:r="http://schemas.openxmlformats.org/officeDocument/2006/relationships" id="312" r:id="R7aac0c47492f4d5c"/>
    <p:sldId xmlns:r="http://schemas.openxmlformats.org/officeDocument/2006/relationships" id="313" r:id="Rfff11930ea164017"/>
    <p:sldId xmlns:r="http://schemas.openxmlformats.org/officeDocument/2006/relationships" id="314" r:id="R339c784e160b4b99"/>
    <p:sldId xmlns:r="http://schemas.openxmlformats.org/officeDocument/2006/relationships" id="315" r:id="Rfc8da7ed34b34764"/>
    <p:sldId xmlns:r="http://schemas.openxmlformats.org/officeDocument/2006/relationships" id="316" r:id="R5a06722757a34f9d"/>
    <p:sldId xmlns:r="http://schemas.openxmlformats.org/officeDocument/2006/relationships" id="317" r:id="R96830d329f2a4c6d"/>
    <p:sldId xmlns:r="http://schemas.openxmlformats.org/officeDocument/2006/relationships" id="318" r:id="R21940509ffb54cad"/>
    <p:sldId xmlns:r="http://schemas.openxmlformats.org/officeDocument/2006/relationships" id="319" r:id="R84cf92afb6c34a34"/>
    <p:sldId xmlns:r="http://schemas.openxmlformats.org/officeDocument/2006/relationships" id="320" r:id="R9dc93e286bfa4486"/>
    <p:sldId xmlns:r="http://schemas.openxmlformats.org/officeDocument/2006/relationships" id="321" r:id="R7a38bd5079d04b0d"/>
    <p:sldId xmlns:r="http://schemas.openxmlformats.org/officeDocument/2006/relationships" id="322" r:id="R845144d7b4044496"/>
    <p:sldId xmlns:r="http://schemas.openxmlformats.org/officeDocument/2006/relationships" id="323" r:id="R5e2914dac8044ba8"/>
    <p:sldId xmlns:r="http://schemas.openxmlformats.org/officeDocument/2006/relationships" id="324" r:id="R667903542aa84b3e"/>
    <p:sldId xmlns:r="http://schemas.openxmlformats.org/officeDocument/2006/relationships" id="325" r:id="Rfa1f5a2bf26e4dc6"/>
    <p:sldId xmlns:r="http://schemas.openxmlformats.org/officeDocument/2006/relationships" id="326" r:id="R02c36519291c4a2e"/>
    <p:sldId xmlns:r="http://schemas.openxmlformats.org/officeDocument/2006/relationships" id="327" r:id="R2edfbbe8d58a421f"/>
    <p:sldId xmlns:r="http://schemas.openxmlformats.org/officeDocument/2006/relationships" id="328" r:id="R89c6e27b8c974099"/>
    <p:sldId xmlns:r="http://schemas.openxmlformats.org/officeDocument/2006/relationships" id="329" r:id="R7eda616461954130"/>
    <p:sldId xmlns:r="http://schemas.openxmlformats.org/officeDocument/2006/relationships" id="330" r:id="Raeed754ebdfe42d8"/>
    <p:sldId xmlns:r="http://schemas.openxmlformats.org/officeDocument/2006/relationships" id="331" r:id="R3b15d0d806844131"/>
    <p:sldId xmlns:r="http://schemas.openxmlformats.org/officeDocument/2006/relationships" id="332" r:id="R63086a31ea864a86"/>
    <p:sldId xmlns:r="http://schemas.openxmlformats.org/officeDocument/2006/relationships" id="333" r:id="R27548804ddac4a90"/>
    <p:sldId xmlns:r="http://schemas.openxmlformats.org/officeDocument/2006/relationships" id="334" r:id="R754904d86c4c4863"/>
    <p:sldId xmlns:r="http://schemas.openxmlformats.org/officeDocument/2006/relationships" id="335" r:id="Ra3e8052808ba42a0"/>
    <p:sldId xmlns:r="http://schemas.openxmlformats.org/officeDocument/2006/relationships" id="336" r:id="R6077afe15f0f4e81"/>
    <p:sldId xmlns:r="http://schemas.openxmlformats.org/officeDocument/2006/relationships" id="337" r:id="R6ed31aa49c0a47c4"/>
    <p:sldId xmlns:r="http://schemas.openxmlformats.org/officeDocument/2006/relationships" id="338" r:id="R251771f6de3147c1"/>
    <p:sldId xmlns:r="http://schemas.openxmlformats.org/officeDocument/2006/relationships" id="339" r:id="Ree6336ed894f472e"/>
    <p:sldId xmlns:r="http://schemas.openxmlformats.org/officeDocument/2006/relationships" id="340" r:id="Rf16a2fece71a4640"/>
    <p:sldId xmlns:r="http://schemas.openxmlformats.org/officeDocument/2006/relationships" id="341" r:id="R58c52d785c024037"/>
    <p:sldId xmlns:r="http://schemas.openxmlformats.org/officeDocument/2006/relationships" id="342" r:id="R13bfe1a6f3274520"/>
    <p:sldId xmlns:r="http://schemas.openxmlformats.org/officeDocument/2006/relationships" id="343" r:id="R83eb0d45b27743d9"/>
    <p:sldId xmlns:r="http://schemas.openxmlformats.org/officeDocument/2006/relationships" id="344" r:id="R0cc5e0c7bc9f4191"/>
    <p:sldId xmlns:r="http://schemas.openxmlformats.org/officeDocument/2006/relationships" id="345" r:id="R96fed3b4e6fc4f6d"/>
    <p:sldId xmlns:r="http://schemas.openxmlformats.org/officeDocument/2006/relationships" id="346" r:id="Rc93118135fbd4746"/>
    <p:sldId xmlns:r="http://schemas.openxmlformats.org/officeDocument/2006/relationships" id="347" r:id="R6b92785047e046b5"/>
    <p:sldId xmlns:r="http://schemas.openxmlformats.org/officeDocument/2006/relationships" id="348" r:id="R6bea2880a0ba4509"/>
    <p:sldId xmlns:r="http://schemas.openxmlformats.org/officeDocument/2006/relationships" id="349" r:id="Rb6697723af554ec8"/>
    <p:sldId xmlns:r="http://schemas.openxmlformats.org/officeDocument/2006/relationships" id="350" r:id="Re9f6769e0de34802"/>
    <p:sldId xmlns:r="http://schemas.openxmlformats.org/officeDocument/2006/relationships" id="351" r:id="Rfb5177105ce24c27"/>
    <p:sldId xmlns:r="http://schemas.openxmlformats.org/officeDocument/2006/relationships" id="352" r:id="R80518be533734f85"/>
    <p:sldId xmlns:r="http://schemas.openxmlformats.org/officeDocument/2006/relationships" id="353" r:id="R3f5735e60a284773"/>
    <p:sldId xmlns:r="http://schemas.openxmlformats.org/officeDocument/2006/relationships" id="354" r:id="Rd27a9009573d48fb"/>
    <p:sldId xmlns:r="http://schemas.openxmlformats.org/officeDocument/2006/relationships" id="355" r:id="R0151b86a445e4e8b"/>
    <p:sldId xmlns:r="http://schemas.openxmlformats.org/officeDocument/2006/relationships" id="356" r:id="R986c1ae1476743b8"/>
    <p:sldId xmlns:r="http://schemas.openxmlformats.org/officeDocument/2006/relationships" id="357" r:id="Rf303d1e217e44769"/>
    <p:sldId xmlns:r="http://schemas.openxmlformats.org/officeDocument/2006/relationships" id="358" r:id="Re45f63c6e3a04131"/>
    <p:sldId xmlns:r="http://schemas.openxmlformats.org/officeDocument/2006/relationships" id="359" r:id="R958aa6dca38c4221"/>
    <p:sldId xmlns:r="http://schemas.openxmlformats.org/officeDocument/2006/relationships" id="360" r:id="Rfc7b27e915b14c07"/>
    <p:sldId xmlns:r="http://schemas.openxmlformats.org/officeDocument/2006/relationships" id="361" r:id="R0db6bd29c8604cbb"/>
    <p:sldId xmlns:r="http://schemas.openxmlformats.org/officeDocument/2006/relationships" id="362" r:id="R1f0798816d084767"/>
    <p:sldId xmlns:r="http://schemas.openxmlformats.org/officeDocument/2006/relationships" id="363" r:id="R04ca21d66fbe4218"/>
    <p:sldId xmlns:r="http://schemas.openxmlformats.org/officeDocument/2006/relationships" id="364" r:id="Rcc0e1e178be143da"/>
    <p:sldId xmlns:r="http://schemas.openxmlformats.org/officeDocument/2006/relationships" id="365" r:id="R018d63694ac041e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1a18c6aed5a4d7c" /><Relationship Type="http://schemas.openxmlformats.org/officeDocument/2006/relationships/slideMaster" Target="/ppt/slideMasters/slideMaster1.xml" Id="Rf5cb2ec17be64fd3" /><Relationship Type="http://schemas.openxmlformats.org/officeDocument/2006/relationships/slideMaster" Target="/ppt/slideMasters/slideMaster2.xml" Id="R7ead62623a8b4500" /><Relationship Type="http://schemas.openxmlformats.org/officeDocument/2006/relationships/notesMaster" Target="/ppt/notesMasters/notesMaster1.xml" Id="R09904ba382e647fa" /><Relationship Type="http://schemas.openxmlformats.org/officeDocument/2006/relationships/presProps" Target="/ppt/presProps.xml" Id="Rca7e0a68e008476d" /><Relationship Type="http://schemas.openxmlformats.org/officeDocument/2006/relationships/viewProps" Target="/ppt/viewProps.xml" Id="R417fedb3ebb84bad" /><Relationship Type="http://schemas.openxmlformats.org/officeDocument/2006/relationships/tableStyles" Target="/ppt/tableStyles.xml" Id="Rc29dd665279a4654" /><Relationship Type="http://schemas.openxmlformats.org/officeDocument/2006/relationships/slide" Target="/ppt/slides/slide1.xml" Id="R39cc0b103e334938" /><Relationship Type="http://schemas.openxmlformats.org/officeDocument/2006/relationships/slide" Target="/ppt/slides/slide2.xml" Id="R1786a52ee90449c9" /><Relationship Type="http://schemas.openxmlformats.org/officeDocument/2006/relationships/slide" Target="/ppt/slides/slide3.xml" Id="R282542b91c4e4c4c" /><Relationship Type="http://schemas.openxmlformats.org/officeDocument/2006/relationships/slide" Target="/ppt/slides/slide4.xml" Id="Ra7100e784fff4672" /><Relationship Type="http://schemas.openxmlformats.org/officeDocument/2006/relationships/slide" Target="/ppt/slides/slide5.xml" Id="Rf797898e61844f1f" /><Relationship Type="http://schemas.openxmlformats.org/officeDocument/2006/relationships/slide" Target="/ppt/slides/slide6.xml" Id="Rde5530d63e8d4ea9" /><Relationship Type="http://schemas.openxmlformats.org/officeDocument/2006/relationships/slide" Target="/ppt/slides/slide7.xml" Id="Rf017cd874f824a12" /><Relationship Type="http://schemas.openxmlformats.org/officeDocument/2006/relationships/slide" Target="/ppt/slides/slide8.xml" Id="R2ffd46edce5b4495" /><Relationship Type="http://schemas.openxmlformats.org/officeDocument/2006/relationships/slide" Target="/ppt/slides/slide9.xml" Id="R89316ed7ef724867" /><Relationship Type="http://schemas.openxmlformats.org/officeDocument/2006/relationships/slide" Target="/ppt/slides/slide10.xml" Id="R3da9cc27faae49a3" /><Relationship Type="http://schemas.openxmlformats.org/officeDocument/2006/relationships/slide" Target="/ppt/slides/slide11.xml" Id="R7ef6389fedd24708" /><Relationship Type="http://schemas.openxmlformats.org/officeDocument/2006/relationships/slide" Target="/ppt/slides/slide12.xml" Id="Re4b25f50db994f80" /><Relationship Type="http://schemas.openxmlformats.org/officeDocument/2006/relationships/slide" Target="/ppt/slides/slide13.xml" Id="R41e30e0c885544b5" /><Relationship Type="http://schemas.openxmlformats.org/officeDocument/2006/relationships/slide" Target="/ppt/slides/slide14.xml" Id="R2c557ff87f2e455d" /><Relationship Type="http://schemas.openxmlformats.org/officeDocument/2006/relationships/slide" Target="/ppt/slides/slide15.xml" Id="R7b2ce051ff624fd1" /><Relationship Type="http://schemas.openxmlformats.org/officeDocument/2006/relationships/slide" Target="/ppt/slides/slide16.xml" Id="Rcf8d37e63a17408d" /><Relationship Type="http://schemas.openxmlformats.org/officeDocument/2006/relationships/slide" Target="/ppt/slides/slide17.xml" Id="R18611c7c62924b10" /><Relationship Type="http://schemas.openxmlformats.org/officeDocument/2006/relationships/slide" Target="/ppt/slides/slide18.xml" Id="R6a6bd0a5478b4311" /><Relationship Type="http://schemas.openxmlformats.org/officeDocument/2006/relationships/slide" Target="/ppt/slides/slide19.xml" Id="Rd91da627e13943d9" /><Relationship Type="http://schemas.openxmlformats.org/officeDocument/2006/relationships/slide" Target="/ppt/slides/slide20.xml" Id="R3e7849a0790d47ad" /><Relationship Type="http://schemas.openxmlformats.org/officeDocument/2006/relationships/slide" Target="/ppt/slides/slide21.xml" Id="Rc0d8b48c585b42b3" /><Relationship Type="http://schemas.openxmlformats.org/officeDocument/2006/relationships/slide" Target="/ppt/slides/slide22.xml" Id="R4928c61eb07a42a0" /><Relationship Type="http://schemas.openxmlformats.org/officeDocument/2006/relationships/slide" Target="/ppt/slides/slide23.xml" Id="R52869762da054779" /><Relationship Type="http://schemas.openxmlformats.org/officeDocument/2006/relationships/slide" Target="/ppt/slides/slide24.xml" Id="Raf7342d9c71f4695" /><Relationship Type="http://schemas.openxmlformats.org/officeDocument/2006/relationships/slide" Target="/ppt/slides/slide25.xml" Id="R895043a295164b83" /><Relationship Type="http://schemas.openxmlformats.org/officeDocument/2006/relationships/slide" Target="/ppt/slides/slide26.xml" Id="R609bd7c35f5a489c" /><Relationship Type="http://schemas.openxmlformats.org/officeDocument/2006/relationships/slide" Target="/ppt/slides/slide27.xml" Id="Rbdfadcac138745d8" /><Relationship Type="http://schemas.openxmlformats.org/officeDocument/2006/relationships/slide" Target="/ppt/slides/slide28.xml" Id="R54351384ccc44411" /><Relationship Type="http://schemas.openxmlformats.org/officeDocument/2006/relationships/slide" Target="/ppt/slides/slide29.xml" Id="R8f5e8fcc862a49aa" /><Relationship Type="http://schemas.openxmlformats.org/officeDocument/2006/relationships/slide" Target="/ppt/slides/slide30.xml" Id="Rfe8b1dccfd9d417b" /><Relationship Type="http://schemas.openxmlformats.org/officeDocument/2006/relationships/slide" Target="/ppt/slides/slide31.xml" Id="R2c8e507dc47a4670" /><Relationship Type="http://schemas.openxmlformats.org/officeDocument/2006/relationships/slide" Target="/ppt/slides/slide32.xml" Id="R91b5c82c8ae34b1a" /><Relationship Type="http://schemas.openxmlformats.org/officeDocument/2006/relationships/slide" Target="/ppt/slides/slide33.xml" Id="R800585f0ca524b8c" /><Relationship Type="http://schemas.openxmlformats.org/officeDocument/2006/relationships/slide" Target="/ppt/slides/slide34.xml" Id="R00c89369f5e147cc" /><Relationship Type="http://schemas.openxmlformats.org/officeDocument/2006/relationships/slide" Target="/ppt/slides/slide35.xml" Id="R8be74e2579df439d" /><Relationship Type="http://schemas.openxmlformats.org/officeDocument/2006/relationships/slide" Target="/ppt/slides/slide36.xml" Id="R2598d2b934b64e1a" /><Relationship Type="http://schemas.openxmlformats.org/officeDocument/2006/relationships/slide" Target="/ppt/slides/slide37.xml" Id="Rcbe87bc71f314d74" /><Relationship Type="http://schemas.openxmlformats.org/officeDocument/2006/relationships/slide" Target="/ppt/slides/slide38.xml" Id="Rb6f34ab7e9c54924" /><Relationship Type="http://schemas.openxmlformats.org/officeDocument/2006/relationships/slide" Target="/ppt/slides/slide39.xml" Id="Rc6d9da170e474092" /><Relationship Type="http://schemas.openxmlformats.org/officeDocument/2006/relationships/slide" Target="/ppt/slides/slide40.xml" Id="R0ced3056f6e0485e" /><Relationship Type="http://schemas.openxmlformats.org/officeDocument/2006/relationships/slide" Target="/ppt/slides/slide41.xml" Id="R3fea1dafedef4bfe" /><Relationship Type="http://schemas.openxmlformats.org/officeDocument/2006/relationships/slide" Target="/ppt/slides/slide42.xml" Id="R3c077b6628fe448f" /><Relationship Type="http://schemas.openxmlformats.org/officeDocument/2006/relationships/slide" Target="/ppt/slides/slide43.xml" Id="R3ecb81c157694af7" /><Relationship Type="http://schemas.openxmlformats.org/officeDocument/2006/relationships/slide" Target="/ppt/slides/slide44.xml" Id="R8c208097f9ff4362" /><Relationship Type="http://schemas.openxmlformats.org/officeDocument/2006/relationships/slide" Target="/ppt/slides/slide45.xml" Id="Rafc1e1e80f594772" /><Relationship Type="http://schemas.openxmlformats.org/officeDocument/2006/relationships/slide" Target="/ppt/slides/slide46.xml" Id="Rb44fc8d2f35244b5" /><Relationship Type="http://schemas.openxmlformats.org/officeDocument/2006/relationships/slide" Target="/ppt/slides/slide47.xml" Id="Re8f381d9c7674778" /><Relationship Type="http://schemas.openxmlformats.org/officeDocument/2006/relationships/slide" Target="/ppt/slides/slide48.xml" Id="R2d6381fb266445ac" /><Relationship Type="http://schemas.openxmlformats.org/officeDocument/2006/relationships/slide" Target="/ppt/slides/slide49.xml" Id="R94a0d6ed1c8a4d84" /><Relationship Type="http://schemas.openxmlformats.org/officeDocument/2006/relationships/slide" Target="/ppt/slides/slide50.xml" Id="R0d376a216901455e" /><Relationship Type="http://schemas.openxmlformats.org/officeDocument/2006/relationships/slide" Target="/ppt/slides/slide51.xml" Id="Rb3df963d1a4d4983" /><Relationship Type="http://schemas.openxmlformats.org/officeDocument/2006/relationships/slide" Target="/ppt/slides/slide52.xml" Id="R9ef67954315346c3" /><Relationship Type="http://schemas.openxmlformats.org/officeDocument/2006/relationships/slide" Target="/ppt/slides/slide53.xml" Id="Ra7afe4d9e7fe44d0" /><Relationship Type="http://schemas.openxmlformats.org/officeDocument/2006/relationships/slide" Target="/ppt/slides/slide54.xml" Id="Red395b94025b40c7" /><Relationship Type="http://schemas.openxmlformats.org/officeDocument/2006/relationships/slide" Target="/ppt/slides/slide55.xml" Id="R75d2826f45a147e8" /><Relationship Type="http://schemas.openxmlformats.org/officeDocument/2006/relationships/slide" Target="/ppt/slides/slide56.xml" Id="Rcd9d53225ac04081" /><Relationship Type="http://schemas.openxmlformats.org/officeDocument/2006/relationships/slide" Target="/ppt/slides/slide57.xml" Id="R7aac0c47492f4d5c" /><Relationship Type="http://schemas.openxmlformats.org/officeDocument/2006/relationships/slide" Target="/ppt/slides/slide58.xml" Id="Rfff11930ea164017" /><Relationship Type="http://schemas.openxmlformats.org/officeDocument/2006/relationships/slide" Target="/ppt/slides/slide59.xml" Id="R339c784e160b4b99" /><Relationship Type="http://schemas.openxmlformats.org/officeDocument/2006/relationships/slide" Target="/ppt/slides/slide60.xml" Id="Rfc8da7ed34b34764" /><Relationship Type="http://schemas.openxmlformats.org/officeDocument/2006/relationships/slide" Target="/ppt/slides/slide61.xml" Id="R5a06722757a34f9d" /><Relationship Type="http://schemas.openxmlformats.org/officeDocument/2006/relationships/slide" Target="/ppt/slides/slide62.xml" Id="R96830d329f2a4c6d" /><Relationship Type="http://schemas.openxmlformats.org/officeDocument/2006/relationships/slide" Target="/ppt/slides/slide63.xml" Id="R21940509ffb54cad" /><Relationship Type="http://schemas.openxmlformats.org/officeDocument/2006/relationships/slide" Target="/ppt/slides/slide64.xml" Id="R84cf92afb6c34a34" /><Relationship Type="http://schemas.openxmlformats.org/officeDocument/2006/relationships/slide" Target="/ppt/slides/slide65.xml" Id="R9dc93e286bfa4486" /><Relationship Type="http://schemas.openxmlformats.org/officeDocument/2006/relationships/slide" Target="/ppt/slides/slide66.xml" Id="R7a38bd5079d04b0d" /><Relationship Type="http://schemas.openxmlformats.org/officeDocument/2006/relationships/slide" Target="/ppt/slides/slide67.xml" Id="R845144d7b4044496" /><Relationship Type="http://schemas.openxmlformats.org/officeDocument/2006/relationships/slide" Target="/ppt/slides/slide68.xml" Id="R5e2914dac8044ba8" /><Relationship Type="http://schemas.openxmlformats.org/officeDocument/2006/relationships/slide" Target="/ppt/slides/slide69.xml" Id="R667903542aa84b3e" /><Relationship Type="http://schemas.openxmlformats.org/officeDocument/2006/relationships/slide" Target="/ppt/slides/slide70.xml" Id="Rfa1f5a2bf26e4dc6" /><Relationship Type="http://schemas.openxmlformats.org/officeDocument/2006/relationships/slide" Target="/ppt/slides/slide71.xml" Id="R02c36519291c4a2e" /><Relationship Type="http://schemas.openxmlformats.org/officeDocument/2006/relationships/slide" Target="/ppt/slides/slide72.xml" Id="R2edfbbe8d58a421f" /><Relationship Type="http://schemas.openxmlformats.org/officeDocument/2006/relationships/slide" Target="/ppt/slides/slide73.xml" Id="R89c6e27b8c974099" /><Relationship Type="http://schemas.openxmlformats.org/officeDocument/2006/relationships/slide" Target="/ppt/slides/slide74.xml" Id="R7eda616461954130" /><Relationship Type="http://schemas.openxmlformats.org/officeDocument/2006/relationships/slide" Target="/ppt/slides/slide75.xml" Id="Raeed754ebdfe42d8" /><Relationship Type="http://schemas.openxmlformats.org/officeDocument/2006/relationships/slide" Target="/ppt/slides/slide76.xml" Id="R3b15d0d806844131" /><Relationship Type="http://schemas.openxmlformats.org/officeDocument/2006/relationships/slide" Target="/ppt/slides/slide77.xml" Id="R63086a31ea864a86" /><Relationship Type="http://schemas.openxmlformats.org/officeDocument/2006/relationships/slide" Target="/ppt/slides/slide78.xml" Id="R27548804ddac4a90" /><Relationship Type="http://schemas.openxmlformats.org/officeDocument/2006/relationships/slide" Target="/ppt/slides/slide79.xml" Id="R754904d86c4c4863" /><Relationship Type="http://schemas.openxmlformats.org/officeDocument/2006/relationships/slide" Target="/ppt/slides/slide80.xml" Id="Ra3e8052808ba42a0" /><Relationship Type="http://schemas.openxmlformats.org/officeDocument/2006/relationships/slide" Target="/ppt/slides/slide81.xml" Id="R6077afe15f0f4e81" /><Relationship Type="http://schemas.openxmlformats.org/officeDocument/2006/relationships/slide" Target="/ppt/slides/slide82.xml" Id="R6ed31aa49c0a47c4" /><Relationship Type="http://schemas.openxmlformats.org/officeDocument/2006/relationships/slide" Target="/ppt/slides/slide83.xml" Id="R251771f6de3147c1" /><Relationship Type="http://schemas.openxmlformats.org/officeDocument/2006/relationships/slide" Target="/ppt/slides/slide84.xml" Id="Ree6336ed894f472e" /><Relationship Type="http://schemas.openxmlformats.org/officeDocument/2006/relationships/slide" Target="/ppt/slides/slide85.xml" Id="Rf16a2fece71a4640" /><Relationship Type="http://schemas.openxmlformats.org/officeDocument/2006/relationships/slide" Target="/ppt/slides/slide86.xml" Id="R58c52d785c024037" /><Relationship Type="http://schemas.openxmlformats.org/officeDocument/2006/relationships/slide" Target="/ppt/slides/slide87.xml" Id="R13bfe1a6f3274520" /><Relationship Type="http://schemas.openxmlformats.org/officeDocument/2006/relationships/slide" Target="/ppt/slides/slide88.xml" Id="R83eb0d45b27743d9" /><Relationship Type="http://schemas.openxmlformats.org/officeDocument/2006/relationships/slide" Target="/ppt/slides/slide89.xml" Id="R0cc5e0c7bc9f4191" /><Relationship Type="http://schemas.openxmlformats.org/officeDocument/2006/relationships/slide" Target="/ppt/slides/slide90.xml" Id="R96fed3b4e6fc4f6d" /><Relationship Type="http://schemas.openxmlformats.org/officeDocument/2006/relationships/slide" Target="/ppt/slides/slide91.xml" Id="Rc93118135fbd4746" /><Relationship Type="http://schemas.openxmlformats.org/officeDocument/2006/relationships/slide" Target="/ppt/slides/slide92.xml" Id="R6b92785047e046b5" /><Relationship Type="http://schemas.openxmlformats.org/officeDocument/2006/relationships/slide" Target="/ppt/slides/slide93.xml" Id="R6bea2880a0ba4509" /><Relationship Type="http://schemas.openxmlformats.org/officeDocument/2006/relationships/slide" Target="/ppt/slides/slide94.xml" Id="Rb6697723af554ec8" /><Relationship Type="http://schemas.openxmlformats.org/officeDocument/2006/relationships/slide" Target="/ppt/slides/slide95.xml" Id="Re9f6769e0de34802" /><Relationship Type="http://schemas.openxmlformats.org/officeDocument/2006/relationships/slide" Target="/ppt/slides/slide96.xml" Id="Rfb5177105ce24c27" /><Relationship Type="http://schemas.openxmlformats.org/officeDocument/2006/relationships/slide" Target="/ppt/slides/slide97.xml" Id="R80518be533734f85" /><Relationship Type="http://schemas.openxmlformats.org/officeDocument/2006/relationships/slide" Target="/ppt/slides/slide98.xml" Id="R3f5735e60a284773" /><Relationship Type="http://schemas.openxmlformats.org/officeDocument/2006/relationships/slide" Target="/ppt/slides/slide99.xml" Id="Rd27a9009573d48fb" /><Relationship Type="http://schemas.openxmlformats.org/officeDocument/2006/relationships/slide" Target="/ppt/slides/slide100.xml" Id="R0151b86a445e4e8b" /><Relationship Type="http://schemas.openxmlformats.org/officeDocument/2006/relationships/slide" Target="/ppt/slides/slide101.xml" Id="R986c1ae1476743b8" /><Relationship Type="http://schemas.openxmlformats.org/officeDocument/2006/relationships/slide" Target="/ppt/slides/slide102.xml" Id="Rf303d1e217e44769" /><Relationship Type="http://schemas.openxmlformats.org/officeDocument/2006/relationships/slide" Target="/ppt/slides/slide103.xml" Id="Re45f63c6e3a04131" /><Relationship Type="http://schemas.openxmlformats.org/officeDocument/2006/relationships/slide" Target="/ppt/slides/slide104.xml" Id="R958aa6dca38c4221" /><Relationship Type="http://schemas.openxmlformats.org/officeDocument/2006/relationships/slide" Target="/ppt/slides/slide105.xml" Id="Rfc7b27e915b14c07" /><Relationship Type="http://schemas.openxmlformats.org/officeDocument/2006/relationships/slide" Target="/ppt/slides/slide106.xml" Id="R0db6bd29c8604cbb" /><Relationship Type="http://schemas.openxmlformats.org/officeDocument/2006/relationships/slide" Target="/ppt/slides/slide107.xml" Id="R1f0798816d084767" /><Relationship Type="http://schemas.openxmlformats.org/officeDocument/2006/relationships/slide" Target="/ppt/slides/slide108.xml" Id="R04ca21d66fbe4218" /><Relationship Type="http://schemas.openxmlformats.org/officeDocument/2006/relationships/slide" Target="/ppt/slides/slide109.xml" Id="Rcc0e1e178be143da" /><Relationship Type="http://schemas.openxmlformats.org/officeDocument/2006/relationships/slide" Target="/ppt/slides/slide110.xml" Id="R018d63694ac041e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f5c4ac9a79d1498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FA_MASTER_CLARO">
  <a:themeElements>
    <a:clrScheme name="Física Acústica UCASAL">
      <a:dk1>
        <a:srgbClr val="000000"/>
      </a:dk1>
      <a:lt1>
        <a:srgbClr val="FFFFFF"/>
      </a:lt1>
      <a:dk2>
        <a:srgbClr val="3D3D3D"/>
      </a:dk2>
      <a:lt2>
        <a:srgbClr val="F7F6F2"/>
      </a:lt2>
      <a:accent1>
        <a:srgbClr val="4D1434"/>
      </a:accent1>
      <a:accent2>
        <a:srgbClr val="903163"/>
      </a:accent2>
      <a:accent3>
        <a:srgbClr val="2F7E83"/>
      </a:accent3>
      <a:accent4>
        <a:srgbClr val="9F541A"/>
      </a:accent4>
      <a:accent5>
        <a:srgbClr val="023E7C"/>
      </a:accent5>
      <a:accent6>
        <a:srgbClr val="969FA7"/>
      </a:accent6>
      <a:hlink>
        <a:srgbClr val="023E7C"/>
      </a:hlink>
      <a:folHlink>
        <a:srgbClr val="903163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Física Acústica UCAS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af9ec87b16341ad" /><Relationship Type="http://schemas.openxmlformats.org/officeDocument/2006/relationships/notesMaster" Target="/ppt/notesMasters/notesMaster1.xml" Id="Rb5bbf5806f2a4c8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11f2cd66ddd4090" /><Relationship Type="http://schemas.openxmlformats.org/officeDocument/2006/relationships/notesMaster" Target="/ppt/notesMasters/notesMaster1.xml" Id="R3ccdde28e43a469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100b9cf9a814a4e" /><Relationship Type="http://schemas.openxmlformats.org/officeDocument/2006/relationships/notesMaster" Target="/ppt/notesMasters/notesMaster1.xml" Id="Rd2f164c1d21d450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e03f746e05c4238" /><Relationship Type="http://schemas.openxmlformats.org/officeDocument/2006/relationships/notesMaster" Target="/ppt/notesMasters/notesMaster1.xml" Id="R9b05a8226e29445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926643b66dc418a" /><Relationship Type="http://schemas.openxmlformats.org/officeDocument/2006/relationships/notesMaster" Target="/ppt/notesMasters/notesMaster1.xml" Id="R122bbd63acf248f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956280e23a54be3" /><Relationship Type="http://schemas.openxmlformats.org/officeDocument/2006/relationships/notesMaster" Target="/ppt/notesMasters/notesMaster1.xml" Id="R17fae29e833d4c3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90f0e605e2d45e1" /><Relationship Type="http://schemas.openxmlformats.org/officeDocument/2006/relationships/notesMaster" Target="/ppt/notesMasters/notesMaster1.xml" Id="R6a7077ab4325416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cae378b45974132" /><Relationship Type="http://schemas.openxmlformats.org/officeDocument/2006/relationships/notesMaster" Target="/ppt/notesMasters/notesMaster1.xml" Id="Rfbdbb9d381d94ed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0b6f52b20744f64" /><Relationship Type="http://schemas.openxmlformats.org/officeDocument/2006/relationships/notesMaster" Target="/ppt/notesMasters/notesMaster1.xml" Id="Rf455805833d74fe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0e857b306634e5d" /><Relationship Type="http://schemas.openxmlformats.org/officeDocument/2006/relationships/notesMaster" Target="/ppt/notesMasters/notesMaster1.xml" Id="R9f6a0df7d222465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b2b5786d9f347f7" /><Relationship Type="http://schemas.openxmlformats.org/officeDocument/2006/relationships/notesMaster" Target="/ppt/notesMasters/notesMaster1.xml" Id="Rebfc3aa33f9043f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0b034772ef6402b" /><Relationship Type="http://schemas.openxmlformats.org/officeDocument/2006/relationships/notesMaster" Target="/ppt/notesMasters/notesMaster1.xml" Id="R8f428dfcb9bc4e5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7e764f502af46a8" /><Relationship Type="http://schemas.openxmlformats.org/officeDocument/2006/relationships/notesMaster" Target="/ppt/notesMasters/notesMaster1.xml" Id="R56b4c6767bff4db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6b8963f9471439d" /><Relationship Type="http://schemas.openxmlformats.org/officeDocument/2006/relationships/notesMaster" Target="/ppt/notesMasters/notesMaster1.xml" Id="R5f61a9baf230439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d2ec1aa609d4f75" /><Relationship Type="http://schemas.openxmlformats.org/officeDocument/2006/relationships/notesMaster" Target="/ppt/notesMasters/notesMaster1.xml" Id="R218537410d9b409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00d96446cb44b62" /><Relationship Type="http://schemas.openxmlformats.org/officeDocument/2006/relationships/notesMaster" Target="/ppt/notesMasters/notesMaster1.xml" Id="R68cc774956d44d0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477d811bf224439" /><Relationship Type="http://schemas.openxmlformats.org/officeDocument/2006/relationships/notesMaster" Target="/ppt/notesMasters/notesMaster1.xml" Id="Rb8305522076a473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64ed9e55d674d0c" /><Relationship Type="http://schemas.openxmlformats.org/officeDocument/2006/relationships/notesMaster" Target="/ppt/notesMasters/notesMaster1.xml" Id="R160665c3e59141a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38d701c2c8a49dd" /><Relationship Type="http://schemas.openxmlformats.org/officeDocument/2006/relationships/notesMaster" Target="/ppt/notesMasters/notesMaster1.xml" Id="R058d7da2ef3e461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bb5dcd670ca4ceb" /><Relationship Type="http://schemas.openxmlformats.org/officeDocument/2006/relationships/notesMaster" Target="/ppt/notesMasters/notesMaster1.xml" Id="Rb5d97182828e4d6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ebb559ea8684bbd" /><Relationship Type="http://schemas.openxmlformats.org/officeDocument/2006/relationships/notesMaster" Target="/ppt/notesMasters/notesMaster1.xml" Id="R59334aac5a3c449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37aeeb2c9f04927" /><Relationship Type="http://schemas.openxmlformats.org/officeDocument/2006/relationships/notesMaster" Target="/ppt/notesMasters/notesMaster1.xml" Id="R483f1ffd21794d8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8578e111fb5427c" /><Relationship Type="http://schemas.openxmlformats.org/officeDocument/2006/relationships/notesMaster" Target="/ppt/notesMasters/notesMaster1.xml" Id="R9ab40a9d65a8406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41451232e36407f" /><Relationship Type="http://schemas.openxmlformats.org/officeDocument/2006/relationships/notesMaster" Target="/ppt/notesMasters/notesMaster1.xml" Id="R24d90d94848642b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62d46efcbed4370" /><Relationship Type="http://schemas.openxmlformats.org/officeDocument/2006/relationships/notesMaster" Target="/ppt/notesMasters/notesMaster1.xml" Id="R6ab39bf57b8e475e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5b678f0cbaf4098" /><Relationship Type="http://schemas.openxmlformats.org/officeDocument/2006/relationships/notesMaster" Target="/ppt/notesMasters/notesMaster1.xml" Id="R7e322798a31043be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4b38ca1ad21f41c7" /><Relationship Type="http://schemas.openxmlformats.org/officeDocument/2006/relationships/notesMaster" Target="/ppt/notesMasters/notesMaster1.xml" Id="R130a5697bf66479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83f4166a23e14f68" /><Relationship Type="http://schemas.openxmlformats.org/officeDocument/2006/relationships/notesMaster" Target="/ppt/notesMasters/notesMaster1.xml" Id="Rbedf35671bdc4ad6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1275dd0967d448cb" /><Relationship Type="http://schemas.openxmlformats.org/officeDocument/2006/relationships/notesMaster" Target="/ppt/notesMasters/notesMaster1.xml" Id="Rc2181ca7ba484292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091f9f816b0740a7" /><Relationship Type="http://schemas.openxmlformats.org/officeDocument/2006/relationships/notesMaster" Target="/ppt/notesMasters/notesMaster1.xml" Id="Re78b7f8617864ec0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44be168d7e624af6" /><Relationship Type="http://schemas.openxmlformats.org/officeDocument/2006/relationships/notesMaster" Target="/ppt/notesMasters/notesMaster1.xml" Id="R34db40bbd88345eb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02dd2821bc524630" /><Relationship Type="http://schemas.openxmlformats.org/officeDocument/2006/relationships/notesMaster" Target="/ppt/notesMasters/notesMaster1.xml" Id="Rcda8346144a84bb1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edb237000997413b" /><Relationship Type="http://schemas.openxmlformats.org/officeDocument/2006/relationships/notesMaster" Target="/ppt/notesMasters/notesMaster1.xml" Id="R269971ffcfcf4b5c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e9ebd2c5681c4e49" /><Relationship Type="http://schemas.openxmlformats.org/officeDocument/2006/relationships/notesMaster" Target="/ppt/notesMasters/notesMaster1.xml" Id="R11cf4e5060144c51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68cc452b711b480d" /><Relationship Type="http://schemas.openxmlformats.org/officeDocument/2006/relationships/notesMaster" Target="/ppt/notesMasters/notesMaster1.xml" Id="Recd6cee77c0a4f7b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16cee4e4c0ed45bd" /><Relationship Type="http://schemas.openxmlformats.org/officeDocument/2006/relationships/notesMaster" Target="/ppt/notesMasters/notesMaster1.xml" Id="Rbf7d51454d204999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8db978632f3443de" /><Relationship Type="http://schemas.openxmlformats.org/officeDocument/2006/relationships/notesMaster" Target="/ppt/notesMasters/notesMaster1.xml" Id="R4567e364d1244137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ae0e48b9169f4b34" /><Relationship Type="http://schemas.openxmlformats.org/officeDocument/2006/relationships/notesMaster" Target="/ppt/notesMasters/notesMaster1.xml" Id="R652f688fe43f4e95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824b9bf4c99842cb" /><Relationship Type="http://schemas.openxmlformats.org/officeDocument/2006/relationships/notesMaster" Target="/ppt/notesMasters/notesMaster1.xml" Id="R3814a03400d64051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47be8905ace24c42" /><Relationship Type="http://schemas.openxmlformats.org/officeDocument/2006/relationships/notesMaster" Target="/ppt/notesMasters/notesMaster1.xml" Id="R0c369faeeea04ea7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e632572d489d41e9" /><Relationship Type="http://schemas.openxmlformats.org/officeDocument/2006/relationships/notesMaster" Target="/ppt/notesMasters/notesMaster1.xml" Id="R6fa24bff650d43b0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2d9d091f4a914571" /><Relationship Type="http://schemas.openxmlformats.org/officeDocument/2006/relationships/notesMaster" Target="/ppt/notesMasters/notesMaster1.xml" Id="R8a8a862ee2d640ce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e8edf33ddca84eab" /><Relationship Type="http://schemas.openxmlformats.org/officeDocument/2006/relationships/notesMaster" Target="/ppt/notesMasters/notesMaster1.xml" Id="R706f911da5a64a0f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e5d40f5988794618" /><Relationship Type="http://schemas.openxmlformats.org/officeDocument/2006/relationships/notesMaster" Target="/ppt/notesMasters/notesMaster1.xml" Id="Rc3e05670eb0040cd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3488b43b22794dac" /><Relationship Type="http://schemas.openxmlformats.org/officeDocument/2006/relationships/notesMaster" Target="/ppt/notesMasters/notesMaster1.xml" Id="R9d4eda0bed2e4d4d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ab64caa3fc8d4c19" /><Relationship Type="http://schemas.openxmlformats.org/officeDocument/2006/relationships/notesMaster" Target="/ppt/notesMasters/notesMaster1.xml" Id="R4524bef0398c4265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cbc72fe2e8684200" /><Relationship Type="http://schemas.openxmlformats.org/officeDocument/2006/relationships/notesMaster" Target="/ppt/notesMasters/notesMaster1.xml" Id="R7a8a64d3c79946e0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b4870fbbdbfa4e10" /><Relationship Type="http://schemas.openxmlformats.org/officeDocument/2006/relationships/notesMaster" Target="/ppt/notesMasters/notesMaster1.xml" Id="R48095baa9bbc4229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29fb0230d5434746" /><Relationship Type="http://schemas.openxmlformats.org/officeDocument/2006/relationships/notesMaster" Target="/ppt/notesMasters/notesMaster1.xml" Id="R7fd83c64b0f04c2f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f0c4d6637cd14e9a" /><Relationship Type="http://schemas.openxmlformats.org/officeDocument/2006/relationships/notesMaster" Target="/ppt/notesMasters/notesMaster1.xml" Id="R8e42b6b5ee4547a8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9ef0a2424d51466e" /><Relationship Type="http://schemas.openxmlformats.org/officeDocument/2006/relationships/notesMaster" Target="/ppt/notesMasters/notesMaster1.xml" Id="R803f05293017445e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dbf78bea1ce04b8c" /><Relationship Type="http://schemas.openxmlformats.org/officeDocument/2006/relationships/notesMaster" Target="/ppt/notesMasters/notesMaster1.xml" Id="R861f996cd44f4137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3d21c2dbc4f94551" /><Relationship Type="http://schemas.openxmlformats.org/officeDocument/2006/relationships/notesMaster" Target="/ppt/notesMasters/notesMaster1.xml" Id="R1f68dd862ac441e2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4ce33af31d4b4021" /><Relationship Type="http://schemas.openxmlformats.org/officeDocument/2006/relationships/notesMaster" Target="/ppt/notesMasters/notesMaster1.xml" Id="Re3ec2e439bba423f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06ee467e07154b35" /><Relationship Type="http://schemas.openxmlformats.org/officeDocument/2006/relationships/notesMaster" Target="/ppt/notesMasters/notesMaster1.xml" Id="Rf9ad197333134a05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11a7708ffaab4dcc" /><Relationship Type="http://schemas.openxmlformats.org/officeDocument/2006/relationships/notesMaster" Target="/ppt/notesMasters/notesMaster1.xml" Id="Rbb76de340c734962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3f319d5654cb4eaa" /><Relationship Type="http://schemas.openxmlformats.org/officeDocument/2006/relationships/notesMaster" Target="/ppt/notesMasters/notesMaster1.xml" Id="Rddc2bc40916a46dc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852d11cc31bd470d" /><Relationship Type="http://schemas.openxmlformats.org/officeDocument/2006/relationships/notesMaster" Target="/ppt/notesMasters/notesMaster1.xml" Id="R721f3a7c74fd4e34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ff95f77ab89f4346" /><Relationship Type="http://schemas.openxmlformats.org/officeDocument/2006/relationships/notesMaster" Target="/ppt/notesMasters/notesMaster1.xml" Id="R54b3d2ce90474635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96f30ad1366744b4" /><Relationship Type="http://schemas.openxmlformats.org/officeDocument/2006/relationships/notesMaster" Target="/ppt/notesMasters/notesMaster1.xml" Id="R0cc3a9dc0629484f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3783c79418e24cc9" /><Relationship Type="http://schemas.openxmlformats.org/officeDocument/2006/relationships/notesMaster" Target="/ppt/notesMasters/notesMaster1.xml" Id="R09891f4dae034c69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6c5a2e924a4d4318" /><Relationship Type="http://schemas.openxmlformats.org/officeDocument/2006/relationships/notesMaster" Target="/ppt/notesMasters/notesMaster1.xml" Id="R882d49f40fee4f3c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211593a57b51490c" /><Relationship Type="http://schemas.openxmlformats.org/officeDocument/2006/relationships/notesMaster" Target="/ppt/notesMasters/notesMaster1.xml" Id="R7283adecb39e4a00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c57d75cd69144062" /><Relationship Type="http://schemas.openxmlformats.org/officeDocument/2006/relationships/notesMaster" Target="/ppt/notesMasters/notesMaster1.xml" Id="Rd8c0923998cc48db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46c69c758bd444ef" /><Relationship Type="http://schemas.openxmlformats.org/officeDocument/2006/relationships/notesMaster" Target="/ppt/notesMasters/notesMaster1.xml" Id="R7424b42135fe4065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3eb8c2c8537147bb" /><Relationship Type="http://schemas.openxmlformats.org/officeDocument/2006/relationships/notesMaster" Target="/ppt/notesMasters/notesMaster1.xml" Id="R3404a171f2c2448b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8ee786d59ca74246" /><Relationship Type="http://schemas.openxmlformats.org/officeDocument/2006/relationships/notesMaster" Target="/ppt/notesMasters/notesMaster1.xml" Id="R7f8ba40b68d64f4c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eeb84d2e80bb4f5b" /><Relationship Type="http://schemas.openxmlformats.org/officeDocument/2006/relationships/notesMaster" Target="/ppt/notesMasters/notesMaster1.xml" Id="R6ae29bda954d46b0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ace2a2735d4e486d" /><Relationship Type="http://schemas.openxmlformats.org/officeDocument/2006/relationships/notesMaster" Target="/ppt/notesMasters/notesMaster1.xml" Id="Rb514666847c24670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7ee9310779a44d0b" /><Relationship Type="http://schemas.openxmlformats.org/officeDocument/2006/relationships/notesMaster" Target="/ppt/notesMasters/notesMaster1.xml" Id="Rdb2f94b4717243b3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de095c041784485d" /><Relationship Type="http://schemas.openxmlformats.org/officeDocument/2006/relationships/notesMaster" Target="/ppt/notesMasters/notesMaster1.xml" Id="Rc8425185c45f418d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5b3fe23e9da448e0" /><Relationship Type="http://schemas.openxmlformats.org/officeDocument/2006/relationships/notesMaster" Target="/ppt/notesMasters/notesMaster1.xml" Id="R2fad16397f1746e1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9420ab530bda4149" /><Relationship Type="http://schemas.openxmlformats.org/officeDocument/2006/relationships/notesMaster" Target="/ppt/notesMasters/notesMaster1.xml" Id="R7e218561e1a04c95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2e32e18cc7f347e1" /><Relationship Type="http://schemas.openxmlformats.org/officeDocument/2006/relationships/notesMaster" Target="/ppt/notesMasters/notesMaster1.xml" Id="R0341556a27d54eee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9fa39d1aadcc4423" /><Relationship Type="http://schemas.openxmlformats.org/officeDocument/2006/relationships/notesMaster" Target="/ppt/notesMasters/notesMaster1.xml" Id="R8f9bfb3312684990" /></Relationships>
</file>

<file path=ppt/notesSlides/_rels/notesSlide76.xml.rels>&#65279;<?xml version="1.0" encoding="utf-8"?><Relationships xmlns="http://schemas.openxmlformats.org/package/2006/relationships"><Relationship Type="http://schemas.openxmlformats.org/officeDocument/2006/relationships/slide" Target="/ppt/slides/slide76.xml" Id="R33adcdfeafbf43ef" /><Relationship Type="http://schemas.openxmlformats.org/officeDocument/2006/relationships/notesMaster" Target="/ppt/notesMasters/notesMaster1.xml" Id="R938a8d378a98416a" /></Relationships>
</file>

<file path=ppt/notesSlides/_rels/notesSlide77.xml.rels>&#65279;<?xml version="1.0" encoding="utf-8"?><Relationships xmlns="http://schemas.openxmlformats.org/package/2006/relationships"><Relationship Type="http://schemas.openxmlformats.org/officeDocument/2006/relationships/slide" Target="/ppt/slides/slide77.xml" Id="R23c88b2ef42646e1" /><Relationship Type="http://schemas.openxmlformats.org/officeDocument/2006/relationships/notesMaster" Target="/ppt/notesMasters/notesMaster1.xml" Id="Rda60aa03b8e840d8" /></Relationships>
</file>

<file path=ppt/notesSlides/_rels/notesSlide78.xml.rels>&#65279;<?xml version="1.0" encoding="utf-8"?><Relationships xmlns="http://schemas.openxmlformats.org/package/2006/relationships"><Relationship Type="http://schemas.openxmlformats.org/officeDocument/2006/relationships/slide" Target="/ppt/slides/slide78.xml" Id="R2025178860fe475d" /><Relationship Type="http://schemas.openxmlformats.org/officeDocument/2006/relationships/notesMaster" Target="/ppt/notesMasters/notesMaster1.xml" Id="R65638ad9963d42d8" /></Relationships>
</file>

<file path=ppt/notesSlides/_rels/notesSlide79.xml.rels>&#65279;<?xml version="1.0" encoding="utf-8"?><Relationships xmlns="http://schemas.openxmlformats.org/package/2006/relationships"><Relationship Type="http://schemas.openxmlformats.org/officeDocument/2006/relationships/slide" Target="/ppt/slides/slide79.xml" Id="Ra29df441ea8d4e6c" /><Relationship Type="http://schemas.openxmlformats.org/officeDocument/2006/relationships/notesMaster" Target="/ppt/notesMasters/notesMaster1.xml" Id="Raf4ec0eefc614e03" /></Relationships>
</file>

<file path=ppt/notesSlides/_rels/notesSlide80.xml.rels>&#65279;<?xml version="1.0" encoding="utf-8"?><Relationships xmlns="http://schemas.openxmlformats.org/package/2006/relationships"><Relationship Type="http://schemas.openxmlformats.org/officeDocument/2006/relationships/slide" Target="/ppt/slides/slide80.xml" Id="R0b2ca99daf1a426f" /><Relationship Type="http://schemas.openxmlformats.org/officeDocument/2006/relationships/notesMaster" Target="/ppt/notesMasters/notesMaster1.xml" Id="R0675d9ac3e7b4aba" /></Relationships>
</file>

<file path=ppt/notesSlides/_rels/notesSlide81.xml.rels>&#65279;<?xml version="1.0" encoding="utf-8"?><Relationships xmlns="http://schemas.openxmlformats.org/package/2006/relationships"><Relationship Type="http://schemas.openxmlformats.org/officeDocument/2006/relationships/slide" Target="/ppt/slides/slide81.xml" Id="R7df05cf365bd4d9d" /><Relationship Type="http://schemas.openxmlformats.org/officeDocument/2006/relationships/notesMaster" Target="/ppt/notesMasters/notesMaster1.xml" Id="Rc69464658d114703" /></Relationships>
</file>

<file path=ppt/notesSlides/_rels/notesSlide82.xml.rels>&#65279;<?xml version="1.0" encoding="utf-8"?><Relationships xmlns="http://schemas.openxmlformats.org/package/2006/relationships"><Relationship Type="http://schemas.openxmlformats.org/officeDocument/2006/relationships/slide" Target="/ppt/slides/slide82.xml" Id="R29ce69c825444591" /><Relationship Type="http://schemas.openxmlformats.org/officeDocument/2006/relationships/notesMaster" Target="/ppt/notesMasters/notesMaster1.xml" Id="Rafb44e2bd53b48ce" /></Relationships>
</file>

<file path=ppt/notesSlides/_rels/notesSlide83.xml.rels>&#65279;<?xml version="1.0" encoding="utf-8"?><Relationships xmlns="http://schemas.openxmlformats.org/package/2006/relationships"><Relationship Type="http://schemas.openxmlformats.org/officeDocument/2006/relationships/slide" Target="/ppt/slides/slide83.xml" Id="R64a28fb5a5044a9b" /><Relationship Type="http://schemas.openxmlformats.org/officeDocument/2006/relationships/notesMaster" Target="/ppt/notesMasters/notesMaster1.xml" Id="R2c80f73135eb41fa" /></Relationships>
</file>

<file path=ppt/notesSlides/_rels/notesSlide84.xml.rels>&#65279;<?xml version="1.0" encoding="utf-8"?><Relationships xmlns="http://schemas.openxmlformats.org/package/2006/relationships"><Relationship Type="http://schemas.openxmlformats.org/officeDocument/2006/relationships/slide" Target="/ppt/slides/slide84.xml" Id="R24198e7accbc4158" /><Relationship Type="http://schemas.openxmlformats.org/officeDocument/2006/relationships/notesMaster" Target="/ppt/notesMasters/notesMaster1.xml" Id="R9c5ead3fc4f9467e" /></Relationships>
</file>

<file path=ppt/notesSlides/_rels/notesSlide85.xml.rels>&#65279;<?xml version="1.0" encoding="utf-8"?><Relationships xmlns="http://schemas.openxmlformats.org/package/2006/relationships"><Relationship Type="http://schemas.openxmlformats.org/officeDocument/2006/relationships/slide" Target="/ppt/slides/slide85.xml" Id="R972b76d1377b4473" /><Relationship Type="http://schemas.openxmlformats.org/officeDocument/2006/relationships/notesMaster" Target="/ppt/notesMasters/notesMaster1.xml" Id="Ra12f10c344bc402d" /></Relationships>
</file>

<file path=ppt/notesSlides/_rels/notesSlide86.xml.rels>&#65279;<?xml version="1.0" encoding="utf-8"?><Relationships xmlns="http://schemas.openxmlformats.org/package/2006/relationships"><Relationship Type="http://schemas.openxmlformats.org/officeDocument/2006/relationships/slide" Target="/ppt/slides/slide86.xml" Id="R44e99eb74cf44812" /><Relationship Type="http://schemas.openxmlformats.org/officeDocument/2006/relationships/notesMaster" Target="/ppt/notesMasters/notesMaster1.xml" Id="R5d977bc7dd9745e5" /></Relationships>
</file>

<file path=ppt/notesSlides/_rels/notesSlide87.xml.rels>&#65279;<?xml version="1.0" encoding="utf-8"?><Relationships xmlns="http://schemas.openxmlformats.org/package/2006/relationships"><Relationship Type="http://schemas.openxmlformats.org/officeDocument/2006/relationships/slide" Target="/ppt/slides/slide87.xml" Id="Rc2c8b365fd9e4657" /><Relationship Type="http://schemas.openxmlformats.org/officeDocument/2006/relationships/notesMaster" Target="/ppt/notesMasters/notesMaster1.xml" Id="Re66ffec68c8144ea" /></Relationships>
</file>

<file path=ppt/notesSlides/_rels/notesSlide88.xml.rels>&#65279;<?xml version="1.0" encoding="utf-8"?><Relationships xmlns="http://schemas.openxmlformats.org/package/2006/relationships"><Relationship Type="http://schemas.openxmlformats.org/officeDocument/2006/relationships/slide" Target="/ppt/slides/slide88.xml" Id="Rf7eb2e96df3847ed" /><Relationship Type="http://schemas.openxmlformats.org/officeDocument/2006/relationships/notesMaster" Target="/ppt/notesMasters/notesMaster1.xml" Id="Ra47a3add38c04d15" /></Relationships>
</file>

<file path=ppt/notesSlides/_rels/notesSlide89.xml.rels>&#65279;<?xml version="1.0" encoding="utf-8"?><Relationships xmlns="http://schemas.openxmlformats.org/package/2006/relationships"><Relationship Type="http://schemas.openxmlformats.org/officeDocument/2006/relationships/slide" Target="/ppt/slides/slide89.xml" Id="Ra072bd999bbe45ff" /><Relationship Type="http://schemas.openxmlformats.org/officeDocument/2006/relationships/notesMaster" Target="/ppt/notesMasters/notesMaster1.xml" Id="R70b7e49234b84fb9" /></Relationships>
</file>

<file path=ppt/notesSlides/_rels/notesSlide90.xml.rels>&#65279;<?xml version="1.0" encoding="utf-8"?><Relationships xmlns="http://schemas.openxmlformats.org/package/2006/relationships"><Relationship Type="http://schemas.openxmlformats.org/officeDocument/2006/relationships/slide" Target="/ppt/slides/slide90.xml" Id="R103f455676804046" /><Relationship Type="http://schemas.openxmlformats.org/officeDocument/2006/relationships/notesMaster" Target="/ppt/notesMasters/notesMaster1.xml" Id="R9f82ad07669b4c52" /></Relationships>
</file>

<file path=ppt/notesSlides/_rels/notesSlide91.xml.rels>&#65279;<?xml version="1.0" encoding="utf-8"?><Relationships xmlns="http://schemas.openxmlformats.org/package/2006/relationships"><Relationship Type="http://schemas.openxmlformats.org/officeDocument/2006/relationships/slide" Target="/ppt/slides/slide91.xml" Id="R43a326e2485c4314" /><Relationship Type="http://schemas.openxmlformats.org/officeDocument/2006/relationships/notesMaster" Target="/ppt/notesMasters/notesMaster1.xml" Id="Rdd64f3d98be84955" /></Relationships>
</file>

<file path=ppt/notesSlides/_rels/notesSlide92.xml.rels>&#65279;<?xml version="1.0" encoding="utf-8"?><Relationships xmlns="http://schemas.openxmlformats.org/package/2006/relationships"><Relationship Type="http://schemas.openxmlformats.org/officeDocument/2006/relationships/slide" Target="/ppt/slides/slide92.xml" Id="R31b9127a44f84a7e" /><Relationship Type="http://schemas.openxmlformats.org/officeDocument/2006/relationships/notesMaster" Target="/ppt/notesMasters/notesMaster1.xml" Id="Rab2653217dea4dc1" /></Relationships>
</file>

<file path=ppt/notesSlides/_rels/notesSlide93.xml.rels>&#65279;<?xml version="1.0" encoding="utf-8"?><Relationships xmlns="http://schemas.openxmlformats.org/package/2006/relationships"><Relationship Type="http://schemas.openxmlformats.org/officeDocument/2006/relationships/slide" Target="/ppt/slides/slide93.xml" Id="R7c13b2cf2fef40ba" /><Relationship Type="http://schemas.openxmlformats.org/officeDocument/2006/relationships/notesMaster" Target="/ppt/notesMasters/notesMaster1.xml" Id="R9de20a36ed954ec4" /></Relationships>
</file>

<file path=ppt/notesSlides/_rels/notesSlide94.xml.rels>&#65279;<?xml version="1.0" encoding="utf-8"?><Relationships xmlns="http://schemas.openxmlformats.org/package/2006/relationships"><Relationship Type="http://schemas.openxmlformats.org/officeDocument/2006/relationships/slide" Target="/ppt/slides/slide94.xml" Id="Rbe140d62088641be" /><Relationship Type="http://schemas.openxmlformats.org/officeDocument/2006/relationships/notesMaster" Target="/ppt/notesMasters/notesMaster1.xml" Id="Rc5783c69412c45ab" /></Relationships>
</file>

<file path=ppt/notesSlides/_rels/notesSlide95.xml.rels>&#65279;<?xml version="1.0" encoding="utf-8"?><Relationships xmlns="http://schemas.openxmlformats.org/package/2006/relationships"><Relationship Type="http://schemas.openxmlformats.org/officeDocument/2006/relationships/slide" Target="/ppt/slides/slide95.xml" Id="Rf112dd63ac01497d" /><Relationship Type="http://schemas.openxmlformats.org/officeDocument/2006/relationships/notesMaster" Target="/ppt/notesMasters/notesMaster1.xml" Id="Rc67eba1850e242b8" /></Relationships>
</file>

<file path=ppt/notesSlides/_rels/notesSlide96.xml.rels>&#65279;<?xml version="1.0" encoding="utf-8"?><Relationships xmlns="http://schemas.openxmlformats.org/package/2006/relationships"><Relationship Type="http://schemas.openxmlformats.org/officeDocument/2006/relationships/slide" Target="/ppt/slides/slide96.xml" Id="Rdf72d88ce2854b04" /><Relationship Type="http://schemas.openxmlformats.org/officeDocument/2006/relationships/notesMaster" Target="/ppt/notesMasters/notesMaster1.xml" Id="Rf6656c7a2aa74b14" /></Relationships>
</file>

<file path=ppt/notesSlides/_rels/notesSlide97.xml.rels>&#65279;<?xml version="1.0" encoding="utf-8"?><Relationships xmlns="http://schemas.openxmlformats.org/package/2006/relationships"><Relationship Type="http://schemas.openxmlformats.org/officeDocument/2006/relationships/slide" Target="/ppt/slides/slide97.xml" Id="Rfa801a9e4ad740c2" /><Relationship Type="http://schemas.openxmlformats.org/officeDocument/2006/relationships/notesMaster" Target="/ppt/notesMasters/notesMaster1.xml" Id="R4c16c2baa6464209" /></Relationships>
</file>

<file path=ppt/notesSlides/_rels/notesSlide98.xml.rels>&#65279;<?xml version="1.0" encoding="utf-8"?><Relationships xmlns="http://schemas.openxmlformats.org/package/2006/relationships"><Relationship Type="http://schemas.openxmlformats.org/officeDocument/2006/relationships/slide" Target="/ppt/slides/slide98.xml" Id="R967b2969d0aa4647" /><Relationship Type="http://schemas.openxmlformats.org/officeDocument/2006/relationships/notesMaster" Target="/ppt/notesMasters/notesMaster1.xml" Id="Rc5076d0332954f2b" /></Relationships>
</file>

<file path=ppt/notesSlides/_rels/notesSlide99.xml.rels>&#65279;<?xml version="1.0" encoding="utf-8"?><Relationships xmlns="http://schemas.openxmlformats.org/package/2006/relationships"><Relationship Type="http://schemas.openxmlformats.org/officeDocument/2006/relationships/slide" Target="/ppt/slides/slide99.xml" Id="Rdac019ddcc3344f5" /><Relationship Type="http://schemas.openxmlformats.org/officeDocument/2006/relationships/notesMaster" Target="/ppt/notesMasters/notesMaster1.xml" Id="R5dc651a2fdca4723" /></Relationships>
</file>

<file path=ppt/notesSlides/_rels/notesSlide100.xml.rels>&#65279;<?xml version="1.0" encoding="utf-8"?><Relationships xmlns="http://schemas.openxmlformats.org/package/2006/relationships"><Relationship Type="http://schemas.openxmlformats.org/officeDocument/2006/relationships/slide" Target="/ppt/slides/slide100.xml" Id="R137b83d7d6484825" /><Relationship Type="http://schemas.openxmlformats.org/officeDocument/2006/relationships/notesMaster" Target="/ppt/notesMasters/notesMaster1.xml" Id="R04fb4b9a174c47f7" /></Relationships>
</file>

<file path=ppt/notesSlides/_rels/notesSlide101.xml.rels>&#65279;<?xml version="1.0" encoding="utf-8"?><Relationships xmlns="http://schemas.openxmlformats.org/package/2006/relationships"><Relationship Type="http://schemas.openxmlformats.org/officeDocument/2006/relationships/slide" Target="/ppt/slides/slide101.xml" Id="R9e9da5f431fc4db9" /><Relationship Type="http://schemas.openxmlformats.org/officeDocument/2006/relationships/notesMaster" Target="/ppt/notesMasters/notesMaster1.xml" Id="R26fa21db74a54116" /></Relationships>
</file>

<file path=ppt/notesSlides/_rels/notesSlide102.xml.rels>&#65279;<?xml version="1.0" encoding="utf-8"?><Relationships xmlns="http://schemas.openxmlformats.org/package/2006/relationships"><Relationship Type="http://schemas.openxmlformats.org/officeDocument/2006/relationships/slide" Target="/ppt/slides/slide102.xml" Id="Rb615ca1e5ecf443f" /><Relationship Type="http://schemas.openxmlformats.org/officeDocument/2006/relationships/notesMaster" Target="/ppt/notesMasters/notesMaster1.xml" Id="Rb13e5b19c59b4b27" /></Relationships>
</file>

<file path=ppt/notesSlides/_rels/notesSlide103.xml.rels>&#65279;<?xml version="1.0" encoding="utf-8"?><Relationships xmlns="http://schemas.openxmlformats.org/package/2006/relationships"><Relationship Type="http://schemas.openxmlformats.org/officeDocument/2006/relationships/slide" Target="/ppt/slides/slide103.xml" Id="Re928db584ac54a11" /><Relationship Type="http://schemas.openxmlformats.org/officeDocument/2006/relationships/notesMaster" Target="/ppt/notesMasters/notesMaster1.xml" Id="Rbd009d13c95e42d2" /></Relationships>
</file>

<file path=ppt/notesSlides/_rels/notesSlide104.xml.rels>&#65279;<?xml version="1.0" encoding="utf-8"?><Relationships xmlns="http://schemas.openxmlformats.org/package/2006/relationships"><Relationship Type="http://schemas.openxmlformats.org/officeDocument/2006/relationships/slide" Target="/ppt/slides/slide104.xml" Id="Rbeec499e7a994c88" /><Relationship Type="http://schemas.openxmlformats.org/officeDocument/2006/relationships/notesMaster" Target="/ppt/notesMasters/notesMaster1.xml" Id="Rfb4d81a8fbad4295" /></Relationships>
</file>

<file path=ppt/notesSlides/_rels/notesSlide105.xml.rels>&#65279;<?xml version="1.0" encoding="utf-8"?><Relationships xmlns="http://schemas.openxmlformats.org/package/2006/relationships"><Relationship Type="http://schemas.openxmlformats.org/officeDocument/2006/relationships/slide" Target="/ppt/slides/slide105.xml" Id="Raa585fe6dc0f43b9" /><Relationship Type="http://schemas.openxmlformats.org/officeDocument/2006/relationships/notesMaster" Target="/ppt/notesMasters/notesMaster1.xml" Id="Rd039a9be00f648db" /></Relationships>
</file>

<file path=ppt/notesSlides/_rels/notesSlide106.xml.rels>&#65279;<?xml version="1.0" encoding="utf-8"?><Relationships xmlns="http://schemas.openxmlformats.org/package/2006/relationships"><Relationship Type="http://schemas.openxmlformats.org/officeDocument/2006/relationships/slide" Target="/ppt/slides/slide106.xml" Id="R6c804ab6965d404d" /><Relationship Type="http://schemas.openxmlformats.org/officeDocument/2006/relationships/notesMaster" Target="/ppt/notesMasters/notesMaster1.xml" Id="Rb1778c36f4714f05" /></Relationships>
</file>

<file path=ppt/notesSlides/_rels/notesSlide107.xml.rels>&#65279;<?xml version="1.0" encoding="utf-8"?><Relationships xmlns="http://schemas.openxmlformats.org/package/2006/relationships"><Relationship Type="http://schemas.openxmlformats.org/officeDocument/2006/relationships/slide" Target="/ppt/slides/slide107.xml" Id="Rc3e7aecc84a74703" /><Relationship Type="http://schemas.openxmlformats.org/officeDocument/2006/relationships/notesMaster" Target="/ppt/notesMasters/notesMaster1.xml" Id="Rbcd87893f9ea4eb6" /></Relationships>
</file>

<file path=ppt/notesSlides/_rels/notesSlide108.xml.rels>&#65279;<?xml version="1.0" encoding="utf-8"?><Relationships xmlns="http://schemas.openxmlformats.org/package/2006/relationships"><Relationship Type="http://schemas.openxmlformats.org/officeDocument/2006/relationships/slide" Target="/ppt/slides/slide108.xml" Id="Re03fcb5444574294" /><Relationship Type="http://schemas.openxmlformats.org/officeDocument/2006/relationships/notesMaster" Target="/ppt/notesMasters/notesMaster1.xml" Id="Rd829dbe7a8fc4046" /></Relationships>
</file>

<file path=ppt/notesSlides/_rels/notesSlide109.xml.rels>&#65279;<?xml version="1.0" encoding="utf-8"?><Relationships xmlns="http://schemas.openxmlformats.org/package/2006/relationships"><Relationship Type="http://schemas.openxmlformats.org/officeDocument/2006/relationships/slide" Target="/ppt/slides/slide109.xml" Id="R1fee89d6625e4da6" /><Relationship Type="http://schemas.openxmlformats.org/officeDocument/2006/relationships/notesMaster" Target="/ppt/notesMasters/notesMaster1.xml" Id="R53e2122b65744f12" /></Relationships>
</file>

<file path=ppt/notesSlides/_rels/notesSlide110.xml.rels>&#65279;<?xml version="1.0" encoding="utf-8"?><Relationships xmlns="http://schemas.openxmlformats.org/package/2006/relationships"><Relationship Type="http://schemas.openxmlformats.org/officeDocument/2006/relationships/slide" Target="/ppt/slides/slide110.xml" Id="R2a9a78e388e9464f" /><Relationship Type="http://schemas.openxmlformats.org/officeDocument/2006/relationships/notesMaster" Target="/ppt/notesMasters/notesMaster1.xml" Id="Rc82db669575f4e7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Abrir con la pregunta “¿qué hace que una membrana empiece a moverse y luego se detenga?”.</a:t>
            </a:r>
          </a:p>
          <a:p xmlns:a="http://schemas.openxmlformats.org/drawingml/2006/main">
            <a:r>
              <a:t>- **Guía del visual/diagrama:** —</a:t>
            </a:r>
          </a:p>
          <a:p xmlns:a="http://schemas.openxmlformats.org/drawingml/2006/main">
            <a:r>
              <a:t>- **Pregunta y respuesta esperada:** “¿Qué hace que una membrana empiece a moverse y luego se detenga?” Respuesta esperada: Una fuerza neta inicia el cambio; elasticidad y amortiguamiento ayudan a explicar retorno y decaimiento.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Mantener consistente el sistema elegido, el eje de signos y las unidades.</a:t>
            </a:r>
          </a:p>
          <a:p xmlns:a="http://schemas.openxmlformats.org/drawingml/2006/main">
            <a:r>
              <a:t>- **Transición:** “Presentar el fenómeno que organizará la unidad.”</a:t>
            </a:r>
          </a:p>
          <a:p xmlns:a="http://schemas.openxmlformats.org/drawingml/2006/main">
            <a:r>
              <a:t>- **Duración:** 2 min.</a:t>
            </a:r>
          </a:p>
          <a:p xmlns:a="http://schemas.openxmlformats.org/drawingml/2006/main">
            <a:r>
              <a:t>- **[Sources]:** PO; TEX 2.1; PDF p. 37; BR.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Recoger predicciones sin corregir todavía; separar observación de explicación. Dar tiempo de respuesta individual y pedir una justificación breve antes de discutir.</a:t>
            </a:r>
          </a:p>
          <a:p xmlns:a="http://schemas.openxmlformats.org/drawingml/2006/main">
            <a:r>
              <a:t>- **Guía del visual/diagrama:** 1. Delimitar el sistema o la ecuación central. 2. Recorrer en el orden previsto: Dos estados: presiones iguales y presiones diferentes → preguntas sobre movimiento, retorno y detención. 3. Cerrar con la idea central: Una diferencia de presión puede producir una fuerza neta.</a:t>
            </a:r>
          </a:p>
          <a:p xmlns:a="http://schemas.openxmlformats.org/drawingml/2006/main">
            <a:r>
              <a:t>- **Pregunta y respuesta esperada:** “¿En qué estado espera una fuerza neta?” Respuesta esperada: Cuando las presiones son diferentes, si las demás condiciones se mantienen.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No interpretar el esquema como anatomía a escala; usarlo para leer relaciones y direcciones.</a:t>
            </a:r>
          </a:p>
          <a:p xmlns:a="http://schemas.openxmlformats.org/drawingml/2006/main">
            <a:r>
              <a:t>- **Transición:** “La predicción revela qué conocimientos conviene recuperar.”</a:t>
            </a:r>
          </a:p>
          <a:p xmlns:a="http://schemas.openxmlformats.org/drawingml/2006/main">
            <a:r>
              <a:t>- **Duración:** 5 min.</a:t>
            </a:r>
          </a:p>
          <a:p xmlns:a="http://schemas.openxmlformats.org/drawingml/2006/main">
            <a:r>
              <a:t>- **[Sources]:** TEX 2.3; PDF p. 38; INV U02-C09–C11.</a:t>
            </a:r>
          </a:p>
          <a:p xmlns:a="http://schemas.openxmlformats.org/drawingml/2006/main">
            <a:r>
              <a:t>[Asset] units/unit_02/assets/generated/diagrams/u02_dg001_s002/u02_fig_002_001.svg (diagram; versión final validada).</a:t>
            </a:r>
          </a:p>
          <a:p xmlns:a="http://schemas.openxmlformats.org/drawingml/2006/main">
            <a:r>
              <a:t>[Multimedia] El recurso audiovisual previsto no tiene archivo local aprobado; usar la alternativa estática de la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Pedir voto y una razón; no calificar. Dar tiempo de respuesta individual y pedir una justificación breve antes de discutir.</a:t>
            </a:r>
          </a:p>
          <a:p xmlns:a="http://schemas.openxmlformats.org/drawingml/2006/main">
            <a:r>
              <a:t>- **Guía del visual/diagrama:** —</a:t>
            </a:r>
          </a:p>
          <a:p xmlns:a="http://schemas.openxmlformats.org/drawingml/2006/main">
            <a:r>
              <a:t>- **Pregunta y respuesta esperada:** “¿Qué afirmación les genera más duda?” Respuesta esperada: No hay una única respuesta diagnóstica; se busca una justificación inicial.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No revelar la respuesta antes de escuchar al menos una justificación.</a:t>
            </a:r>
          </a:p>
          <a:p xmlns:a="http://schemas.openxmlformats.org/drawingml/2006/main">
            <a:r>
              <a:t>- **Transición:** “Recuperar formalmente magnitudes y criterios de U1.”</a:t>
            </a:r>
          </a:p>
          <a:p xmlns:a="http://schemas.openxmlformats.org/drawingml/2006/main">
            <a:r>
              <a:t>- **Duración:** 3 min si se selecciona.</a:t>
            </a:r>
          </a:p>
          <a:p xmlns:a="http://schemas.openxmlformats.org/drawingml/2006/main">
            <a:r>
              <a:t>- **[Sources]:** BR, diagnóstico inicial; TEX 2.9; PDF pp. 48–49.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Comprobar que Pa y N no son intercambiables y que el signo necesita un eje.</a:t>
            </a:r>
          </a:p>
          <a:p xmlns:a="http://schemas.openxmlformats.org/drawingml/2006/main">
            <a:r>
              <a:t>- **Guía del visual/diagrama:** —</a:t>
            </a:r>
          </a:p>
          <a:p xmlns:a="http://schemas.openxmlformats.org/drawingml/2006/main">
            <a:r>
              <a:t>- **Pregunta y respuesta esperada:** “¿Cómo justificaría la idea central usando el sistema, los signos o las unidades?” Respuesta esperada: Masa, fuerza, presión, unidades y signos son el lenguaje de entrada.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Mantener consistente el sistema elegido, el eje de signos y las unidades.</a:t>
            </a:r>
          </a:p>
          <a:p xmlns:a="http://schemas.openxmlformats.org/drawingml/2006/main">
            <a:r>
              <a:t>- **Transición:** “Convertir los prerrequisitos en resultados observables.”</a:t>
            </a:r>
          </a:p>
          <a:p xmlns:a="http://schemas.openxmlformats.org/drawingml/2006/main">
            <a:r>
              <a:t>- **Duración:** 4 min.</a:t>
            </a:r>
          </a:p>
          <a:p xmlns:a="http://schemas.openxmlformats.org/drawingml/2006/main">
            <a:r>
              <a:t>- **[Sources]:** TEX 2.2; PDF p. 38; CDM; U1.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Parafrasear los ocho objetivos del brief sin leerlos como lista administrativa.</a:t>
            </a:r>
          </a:p>
          <a:p xmlns:a="http://schemas.openxmlformats.org/drawingml/2006/main">
            <a:r>
              <a:t>- **Guía del visual/diagrama:** —</a:t>
            </a:r>
          </a:p>
          <a:p xmlns:a="http://schemas.openxmlformats.org/drawingml/2006/main">
            <a:r>
              <a:t>- **Pregunta y respuesta esperada:** “¿Cómo justificaría la idea central usando el sistema, los signos o las unidades?” Respuesta esperada: La unidad combina interpretación, cálculo y aplicación responsable.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Mantener consistente el sistema elegido, el eje de signos y las unidades.</a:t>
            </a:r>
          </a:p>
          <a:p xmlns:a="http://schemas.openxmlformats.org/drawingml/2006/main">
            <a:r>
              <a:t>- **Transición:** “Mostrar cómo se recorrerán esos resultados.”</a:t>
            </a:r>
          </a:p>
          <a:p xmlns:a="http://schemas.openxmlformats.org/drawingml/2006/main">
            <a:r>
              <a:t>- **Duración:** 2 min.</a:t>
            </a:r>
          </a:p>
          <a:p xmlns:a="http://schemas.openxmlformats.org/drawingml/2006/main">
            <a:r>
              <a:t>- **[Sources]:** BR, objetivos; TEX 2.1; PDF pp. 37–38.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Explicar que el mapa se retomará en las recapitulaciones, no como agenda decorativa. Usar el mapa como orientación y señalar dónde se encuentra la clase.</a:t>
            </a:r>
          </a:p>
          <a:p xmlns:a="http://schemas.openxmlformats.org/drawingml/2006/main">
            <a:r>
              <a:t>- **Guía del visual/diagrama:** 1. Delimitar el sistema o la ecuación central. 2. Recorrer en el orden previsto: Cinco macroetapas: sistema y leyes → presión → respuesta mecánica → energía/termodinámica. 3. Cerrar con la idea central: La frontera del sistema conecta fuerzas, energía y termodinámica.</a:t>
            </a:r>
          </a:p>
          <a:p xmlns:a="http://schemas.openxmlformats.org/drawingml/2006/main">
            <a:r>
              <a:t>- **Pregunta y respuesta esperada:** “¿Qué conexión del mapa organiza las ideas de la unidad?” Respuesta esperada: La frontera del sistema conecta fuerzas, energía y termodinámica.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No interpretar el esquema como anatomía a escala; usarlo para leer relaciones y direcciones.</a:t>
            </a:r>
          </a:p>
          <a:p xmlns:a="http://schemas.openxmlformats.org/drawingml/2006/main">
            <a:r>
              <a:t>- **Transición:** “Abrir el primer bloque: antes de aplicar una ley, se elige el sistema.”</a:t>
            </a:r>
          </a:p>
          <a:p xmlns:a="http://schemas.openxmlformats.org/drawingml/2006/main">
            <a:r>
              <a:t>- **Duración:** 2 min.</a:t>
            </a:r>
          </a:p>
          <a:p xmlns:a="http://schemas.openxmlformats.org/drawingml/2006/main">
            <a:r>
              <a:t>- **[Sources]:** BR; CM; CDM.</a:t>
            </a:r>
          </a:p>
          <a:p xmlns:a="http://schemas.openxmlformats.org/drawingml/2006/main">
            <a:r>
              <a:t>[Asset] units/unit_02/assets/generated/diagrams/u02_dg001_s006/u02_fig_006_001.svg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Dar un ejemplo oral con membrana y aire.</a:t>
            </a:r>
          </a:p>
          <a:p xmlns:a="http://schemas.openxmlformats.org/drawingml/2006/main">
            <a:r>
              <a:t>- **Guía del visual/diagrama:** —</a:t>
            </a:r>
          </a:p>
          <a:p xmlns:a="http://schemas.openxmlformats.org/drawingml/2006/main">
            <a:r>
              <a:t>- **Pregunta y respuesta esperada:** “¿Qué pregunta física organiza este bloque?” Respuesta esperada: La misma interacción se describe de modo distinto según la frontera elegida.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Mantener consistente el sistema elegido, el eje de signos y las unidades.</a:t>
            </a:r>
          </a:p>
          <a:p xmlns:a="http://schemas.openxmlformats.org/drawingml/2006/main">
            <a:r>
              <a:t>- **Transición:** “Definir sistema y entorno.”</a:t>
            </a:r>
          </a:p>
          <a:p xmlns:a="http://schemas.openxmlformats.org/drawingml/2006/main">
            <a:r>
              <a:t>- **Duración:** 2 min.</a:t>
            </a:r>
          </a:p>
          <a:p xmlns:a="http://schemas.openxmlformats.org/drawingml/2006/main">
            <a:r>
              <a:t>- **[Sources]:** TEX 2.4.1; PDF p. 38; CDM.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Mostrar cómo cambia la lista de fuerzas al cambiar la frontera. Dar un ejemplo y un contraejemplo antes de fijar el término.</a:t>
            </a:r>
          </a:p>
          <a:p xmlns:a="http://schemas.openxmlformats.org/drawingml/2006/main">
            <a:r>
              <a:t>- **Guía del visual/diagrama:** 1. Delimitar el sistema o la ecuación central. 2. Recorrer en el orden previsto: Definición → ejemplo “membrana” frente a “membrana + aire” → qué queda fuera. 3. Cerrar con la idea central: Sin sistema definido no existe un diagrama de fuerzas inequívoco.</a:t>
            </a:r>
          </a:p>
          <a:p xmlns:a="http://schemas.openxmlformats.org/drawingml/2006/main">
            <a:r>
              <a:t>- **Pregunta y respuesta esperada:** “¿Qué distingue esta magnitud o concepto de los anteriores?” Respuesta esperada: Sin sistema definido no existe un diagrama de fuerzas inequívoco.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No interpretar el esquema como anatomía a escala; usarlo para leer relaciones y direcciones.</a:t>
            </a:r>
          </a:p>
          <a:p xmlns:a="http://schemas.openxmlformats.org/drawingml/2006/main">
            <a:r>
              <a:t>- **Transición:** “Una fuerza aparece cuando el sistema interactúa con otra cosa.”</a:t>
            </a:r>
          </a:p>
          <a:p xmlns:a="http://schemas.openxmlformats.org/drawingml/2006/main">
            <a:r>
              <a:t>- **Duración:** 3 min.</a:t>
            </a:r>
          </a:p>
          <a:p xmlns:a="http://schemas.openxmlformats.org/drawingml/2006/main">
            <a:r>
              <a:t>- **[Sources]:** TEX 2.4.1; INV U02-C01.</a:t>
            </a:r>
          </a:p>
          <a:p xmlns:a="http://schemas.openxmlformats.org/drawingml/2006/main">
            <a:r>
              <a:t>[Asset] units/unit_02/assets/generated/diagrams/u02_dg002_s008/u02_fig_008_002.svg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Preparar la notación de tercera ley sin adelantar todavía el par completo.</a:t>
            </a:r>
          </a:p>
          <a:p xmlns:a="http://schemas.openxmlformats.org/drawingml/2006/main">
            <a:r>
              <a:t>- **Guía del visual/diagrama:** 1. Delimitar el sistema o la ecuación central. 2. Recorrer en el orden previsto: Estructura verbal “A ejerce fuerza sobre B” → dos ejemplos mecánicos. 3. Cerrar con la idea central: Toda fuerza tiene agente y receptor.</a:t>
            </a:r>
          </a:p>
          <a:p xmlns:a="http://schemas.openxmlformats.org/drawingml/2006/main">
            <a:r>
              <a:t>- **Pregunta y respuesta esperada:** “¿Cómo justificaría la idea central usando el sistema, los signos o las unidades?” Respuesta esperada: Toda fuerza tiene agente y receptor.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No interpretar el esquema como anatomía a escala; usarlo para leer relaciones y direcciones.</a:t>
            </a:r>
          </a:p>
          <a:p xmlns:a="http://schemas.openxmlformats.org/drawingml/2006/main">
            <a:r>
              <a:t>- **Transición:** “Para sumar fuerzas necesitamos dirección y sentido.”</a:t>
            </a:r>
          </a:p>
          <a:p xmlns:a="http://schemas.openxmlformats.org/drawingml/2006/main">
            <a:r>
              <a:t>- **Duración:** 2 min.</a:t>
            </a:r>
          </a:p>
          <a:p xmlns:a="http://schemas.openxmlformats.org/drawingml/2006/main">
            <a:r>
              <a:t>- **[Sources]:** TEX 2.4.1; GLO fuerza.</a:t>
            </a:r>
          </a:p>
          <a:p xmlns:a="http://schemas.openxmlformats.org/drawingml/2006/main">
            <a:r>
              <a:t>[Asset] units/unit_02/assets/generated/diagrams/u02_dg002_s009/u02_fig_009_002.svg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Evitar presentar “negativo” como menor intensidad; cambiar el eje como contraejemplo.</a:t>
            </a:r>
          </a:p>
          <a:p xmlns:a="http://schemas.openxmlformats.org/drawingml/2006/main">
            <a:r>
              <a:t>- **Guía del visual/diagrama:** 1. Delimitar el sistema o la ecuación central. 2. Recorrer en el orden previsto: Fuerza vectorial → módulo, dirección y sentido → eje positivo → dos flechas con signo. 3. Cerrar con la idea central: Positivo y negativo describen sentido respecto de un eje elegido.</a:t>
            </a:r>
          </a:p>
          <a:p xmlns:a="http://schemas.openxmlformats.org/drawingml/2006/main">
            <a:r>
              <a:t>- **Pregunta y respuesta esperada:** “¿Cómo justificaría la idea central usando el sistema, los signos o las unidades?” Respuesta esperada: Positivo y negativo describen sentido respecto de un eje elegido.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No interpretar el esquema como anatomía a escala; usarlo para leer relaciones y direcciones.</a:t>
            </a:r>
          </a:p>
          <a:p xmlns:a="http://schemas.openxmlformats.org/drawingml/2006/main">
            <a:r>
              <a:t>- **Transición:** “Sumar las componentes produce la fuerza neta.”</a:t>
            </a:r>
          </a:p>
          <a:p xmlns:a="http://schemas.openxmlformats.org/drawingml/2006/main">
            <a:r>
              <a:t>- **Duración:** 2 min.</a:t>
            </a:r>
          </a:p>
          <a:p xmlns:a="http://schemas.openxmlformats.org/drawingml/2006/main">
            <a:r>
              <a:t>- **[Sources]:** TEX 2.4.1; NOT.</a:t>
            </a:r>
          </a:p>
          <a:p xmlns:a="http://schemas.openxmlformats.org/drawingml/2006/main">
            <a:r>
              <a:t>[Asset] units/unit_02/assets/generated/diagrams/u02_dg002_s010/u02_fig_010_002.svg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Nombrar cada fuerza y distinguir diagrama de cálculo. Seguir una sola ruta de izquierda a derecha y detenerse en cada transformación.</a:t>
            </a:r>
          </a:p>
          <a:p xmlns:a="http://schemas.openxmlformats.org/drawingml/2006/main">
            <a:r>
              <a:t>- **Guía del visual/diagrama:** 1. Delimitar el sistema o la ecuación central. 2. Recorrer en el orden previsto: Tres fuerzas sobre un cuerpo → suma con signos → flecha resultante. 3. Cerrar con la idea central: La aceleración depende de la suma, no de una fuerza aislada.</a:t>
            </a:r>
          </a:p>
          <a:p xmlns:a="http://schemas.openxmlformats.org/drawingml/2006/main">
            <a:r>
              <a:t>- **Pregunta y respuesta esperada:** “¿Qué etapa conecta la entrada con el resultado?” Respuesta esperada: La aceleración depende de la suma, no de una fuerza aislada.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No interpretar el esquema como anatomía a escala; usarlo para leer relaciones y direcciones.</a:t>
            </a:r>
          </a:p>
          <a:p xmlns:a="http://schemas.openxmlformats.org/drawingml/2006/main">
            <a:r>
              <a:t>- **Transición:** “Comprobar qué puede ocurrir cuando la suma es cero.”</a:t>
            </a:r>
          </a:p>
          <a:p xmlns:a="http://schemas.openxmlformats.org/drawingml/2006/main">
            <a:r>
              <a:t>- **Duración:** 3 min.</a:t>
            </a:r>
          </a:p>
          <a:p xmlns:a="http://schemas.openxmlformats.org/drawingml/2006/main">
            <a:r>
              <a:t>- **[Sources]:** TEX 2.4.1; INV U02-C04.</a:t>
            </a:r>
          </a:p>
          <a:p xmlns:a="http://schemas.openxmlformats.org/drawingml/2006/main">
            <a:r>
              <a:t>[Asset] units/unit_02/assets/generated/diagrams/u02_dg002_s011/u02_fig_011_002.svg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Esperar “fuerza neta cero”; pedir qué información falta sobre la velocidad. Dar tiempo de respuesta individual y pedir una justificación breve antes de discutir.</a:t>
            </a:r>
          </a:p>
          <a:p xmlns:a="http://schemas.openxmlformats.org/drawingml/2006/main">
            <a:r>
              <a:t>- **Guía del visual/diagrama:** 1. Delimitar el sistema o la ecuación central. 2. Recorrer en el orden previsto: Situación de dos fuerzas equilibradas → elegir y justificar. 3. Cerrar con la idea central: Reposo no significa ausencia de fuerzas; puede haber equilibrio.</a:t>
            </a:r>
          </a:p>
          <a:p xmlns:a="http://schemas.openxmlformats.org/drawingml/2006/main">
            <a:r>
              <a:t>- **Pregunta y respuesta esperada:** “Si el cuerpo está en reposo, ¿pueden actuar fuerzas?” Respuesta esperada: Sí; pueden sumar cero.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Reposo no equivale a ausencia de fuerzas.</a:t>
            </a:r>
          </a:p>
          <a:p xmlns:a="http://schemas.openxmlformats.org/drawingml/2006/main">
            <a:r>
              <a:t>- **Transición:** “Formular la primera ley.”</a:t>
            </a:r>
          </a:p>
          <a:p xmlns:a="http://schemas.openxmlformats.org/drawingml/2006/main">
            <a:r>
              <a:t>- **Duración:** 3 min.</a:t>
            </a:r>
          </a:p>
          <a:p xmlns:a="http://schemas.openxmlformats.org/drawingml/2006/main">
            <a:r>
              <a:t>- **[Sources]:** TEX 2.4.2; ejercicios C1/D4; PDF pp. 38–39, 50, 53.</a:t>
            </a:r>
          </a:p>
          <a:p xmlns:a="http://schemas.openxmlformats.org/drawingml/2006/main">
            <a:r>
              <a:t>[Asset] units/unit_02/assets/generated/diagrams/u02_dg002_s012/u02_fig_012_002.svg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Señalar que la primera ley no explica por qué una membrana desplazada vuelve. Definir símbolos, signos, unidades e hipótesis antes de usar la expresión.</a:t>
            </a:r>
          </a:p>
          <a:p xmlns:a="http://schemas.openxmlformats.org/drawingml/2006/main">
            <a:r>
              <a:t>- **Guía del visual/diagrama:** 1. Delimitar el sistema o la ecuación central. 2. Recorrer en el orden previsto: `F_neta = 0 → v constante` → reposo como caso particular → masa cuantifica inercia. 3. Cerrar con la idea central: La inercia conserva el estado de movimiento; no produce retorno al equilibrio.</a:t>
            </a:r>
          </a:p>
          <a:p xmlns:a="http://schemas.openxmlformats.org/drawingml/2006/main">
            <a:r>
              <a:t>- **Pregunta y respuesta esperada:** “¿Qué relación física expresa la ecuación y qué unidades deben ser compatibles?” Respuesta esperada: La inercia conserva el estado de movimiento; no produce retorno al equilibrio.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La inercia no es una fuerza y no explica el retorno al equilibrio.</a:t>
            </a:r>
          </a:p>
          <a:p xmlns:a="http://schemas.openxmlformats.org/drawingml/2006/main">
            <a:r>
              <a:t>- **Transición:** “Consolidar sistema, signos e inercia antes de cambiar de ley.”</a:t>
            </a:r>
          </a:p>
          <a:p xmlns:a="http://schemas.openxmlformats.org/drawingml/2006/main">
            <a:r>
              <a:t>- **Duración:** 3 min.</a:t>
            </a:r>
          </a:p>
          <a:p xmlns:a="http://schemas.openxmlformats.org/drawingml/2006/main">
            <a:r>
              <a:t>- **[Sources]:** PO; TEX 2.4.2; PDF pp. 38–39; INV U02-C05–C06.</a:t>
            </a:r>
          </a:p>
          <a:p xmlns:a="http://schemas.openxmlformats.org/drawingml/2006/main">
            <a:r>
              <a:t>[Asset] units/unit_02/assets/generated/diagrams/u02_dg002_s013/u02_fig_013_002.svg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Recuperar respuestas del diagnóstico y anunciar aceleración. Reconstruir las relaciones causales; evitar una enumeración de términos aislados.</a:t>
            </a:r>
          </a:p>
          <a:p xmlns:a="http://schemas.openxmlformats.org/drawingml/2006/main">
            <a:r>
              <a:t>- **Guía del visual/diagrama:** —</a:t>
            </a:r>
          </a:p>
          <a:p xmlns:a="http://schemas.openxmlformats.org/drawingml/2006/main">
            <a:r>
              <a:t>- **Pregunta y respuesta esperada:** “¿Qué debe cambiar para que cambie la velocidad?” Respuesta esperada: Debe existir aceleración producida por una fuerza neta no nula.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Pedir conexiones entre conceptos, no una lista memorizada.</a:t>
            </a:r>
          </a:p>
          <a:p xmlns:a="http://schemas.openxmlformats.org/drawingml/2006/main">
            <a:r>
              <a:t>- **Transición:** “Abrir la segunda ley: una fuerza neta no nula cambia la velocidad.”</a:t>
            </a:r>
          </a:p>
          <a:p xmlns:a="http://schemas.openxmlformats.org/drawingml/2006/main">
            <a:r>
              <a:t>- **Duración:** 2 min.</a:t>
            </a:r>
          </a:p>
          <a:p xmlns:a="http://schemas.openxmlformats.org/drawingml/2006/main">
            <a:r>
              <a:t>- **[Sources]:** TEX 2.4.1–2.4.2; CDM.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Conectar la respuesta del recap con aceleración.</a:t>
            </a:r>
          </a:p>
          <a:p xmlns:a="http://schemas.openxmlformats.org/drawingml/2006/main">
            <a:r>
              <a:t>- **Guía del visual/diagrama:** —</a:t>
            </a:r>
          </a:p>
          <a:p xmlns:a="http://schemas.openxmlformats.org/drawingml/2006/main">
            <a:r>
              <a:t>- **Pregunta y respuesta esperada:** “¿Qué pregunta física organiza este bloque?” Respuesta esperada: La segunda ley relaciona resultante, masa y aceleración.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Mantener consistente el sistema elegido, el eje de signos y las unidades.</a:t>
            </a:r>
          </a:p>
          <a:p xmlns:a="http://schemas.openxmlformats.org/drawingml/2006/main">
            <a:r>
              <a:t>- **Transición:** “Distinguir aceleración de velocidad.”</a:t>
            </a:r>
          </a:p>
          <a:p xmlns:a="http://schemas.openxmlformats.org/drawingml/2006/main">
            <a:r>
              <a:t>- **Duración:** 1 min.</a:t>
            </a:r>
          </a:p>
          <a:p xmlns:a="http://schemas.openxmlformats.org/drawingml/2006/main">
            <a:r>
              <a:t>- **[Sources]:** TEX 2.4.3; PDF p. 39.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Recuperar aceleración de U1 sin introducir cálculo diferencial.</a:t>
            </a:r>
          </a:p>
          <a:p xmlns:a="http://schemas.openxmlformats.org/drawingml/2006/main">
            <a:r>
              <a:t>- **Guía del visual/diagrama:** 1. Delimitar el sistema o la ecuación central. 2. Recorrer en el orden previsto: Secuencia fuerza neta → aceleración → cambio de velocidad → contraejemplo de fuerzas equilibradas. 3. Cerrar con la idea central: La aceleración es el cambio de velocidad por unidad de tiempo.</a:t>
            </a:r>
          </a:p>
          <a:p xmlns:a="http://schemas.openxmlformats.org/drawingml/2006/main">
            <a:r>
              <a:t>- **Pregunta y respuesta esperada:** “¿Cómo justificaría la idea central usando el sistema, los signos o las unidades?” Respuesta esperada: La aceleración es el cambio de velocidad por unidad de tiempo.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No interpretar el esquema como anatomía a escala; usarlo para leer relaciones y direcciones.</a:t>
            </a:r>
          </a:p>
          <a:p xmlns:a="http://schemas.openxmlformats.org/drawingml/2006/main">
            <a:r>
              <a:t>- **Transición:** “Presentar la relación cuantitativa.”</a:t>
            </a:r>
          </a:p>
          <a:p xmlns:a="http://schemas.openxmlformats.org/drawingml/2006/main">
            <a:r>
              <a:t>- **Duración:** 3 min.</a:t>
            </a:r>
          </a:p>
          <a:p xmlns:a="http://schemas.openxmlformats.org/drawingml/2006/main">
            <a:r>
              <a:t>- **[Sources]:** TEX 2.4.3; PDF p. 39; INV U02-C07.</a:t>
            </a:r>
          </a:p>
          <a:p xmlns:a="http://schemas.openxmlformats.org/drawingml/2006/main">
            <a:r>
              <a:t>[Asset] units/unit_02/assets/generated/diagrams/u02_dg003_s016/u02_fig_016_003.svg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Mostrar control dimensional y evitar escribir `F = ma` sin calificador. Definir símbolos, signos, unidades e hipótesis antes de usar la expresión.</a:t>
            </a:r>
          </a:p>
          <a:p xmlns:a="http://schemas.openxmlformats.org/drawingml/2006/main">
            <a:r>
              <a:t>- **Guía del visual/diagrama:** 1. Delimitar el sistema o la ecuación central. 2. Recorrer en el orden previsto: Ecuación → símbolos → N, kg y m·s⁻² → condiciones de masa constante y una dimensión. 3. Cerrar con la idea central: A igual masa, mayor resultante implica mayor aceleración.</a:t>
            </a:r>
          </a:p>
          <a:p xmlns:a="http://schemas.openxmlformats.org/drawingml/2006/main">
            <a:r>
              <a:t>- **Pregunta y respuesta esperada:** “¿Qué relación física expresa la ecuación y qué unidades deben ser compatibles?” Respuesta esperada: A igual masa, mayor resultante implica mayor aceleración.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Usar una fuerza aislada en lugar de `F_neta`.</a:t>
            </a:r>
          </a:p>
          <a:p xmlns:a="http://schemas.openxmlformats.org/drawingml/2006/main">
            <a:r>
              <a:t>- **Transición:** “Visualizar proporcionalidades sin ocultarlas en la ecuación.”</a:t>
            </a:r>
          </a:p>
          <a:p xmlns:a="http://schemas.openxmlformats.org/drawingml/2006/main">
            <a:r>
              <a:t>- **Duración:** 4 min.</a:t>
            </a:r>
          </a:p>
          <a:p xmlns:a="http://schemas.openxmlformats.org/drawingml/2006/main">
            <a:r>
              <a:t>- **[Sources]:** PO; TEX 2.4.3; PDF p. 39; NOT; INV U02-E01.</a:t>
            </a:r>
          </a:p>
          <a:p xmlns:a="http://schemas.openxmlformats.org/drawingml/2006/main">
            <a:r>
              <a:t>[Asset] units/unit_02/assets/generated/diagrams/u02_dg003_s017/u02_fig_017_003.svg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Explicar que la pendiente es `1/m` sin exigir formalización avanzada.</a:t>
            </a:r>
          </a:p>
          <a:p xmlns:a="http://schemas.openxmlformats.org/drawingml/2006/main">
            <a:r>
              <a:t>- **Guía del visual/diagrama:** Nombrar primero los ejes y sus unidades; luego leer uno o dos puntos; finalmente formular la conclusión: La masa modifica cuánto cambia la aceleración frente a una fuerza neta.</a:t>
            </a:r>
          </a:p>
          <a:p xmlns:a="http://schemas.openxmlformats.org/drawingml/2006/main">
            <a:r>
              <a:t>- **Pregunta y respuesta esperada:** “¿Qué recta corresponde a la masa mayor?” Respuesta esperada: La de menor pendiente.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Nombrar ejes, unidades y escala; no presentar los puntos del modelo como mediciones.</a:t>
            </a:r>
          </a:p>
          <a:p xmlns:a="http://schemas.openxmlformats.org/drawingml/2006/main">
            <a:r>
              <a:t>- **Transición:** “Aplicar la relación en un caso de una dimensión.”</a:t>
            </a:r>
          </a:p>
          <a:p xmlns:a="http://schemas.openxmlformats.org/drawingml/2006/main">
            <a:r>
              <a:t>- **Duración:** 3 min si se selecciona.</a:t>
            </a:r>
          </a:p>
          <a:p xmlns:a="http://schemas.openxmlformats.org/drawingml/2006/main">
            <a:r>
              <a:t>- **[Sources]:** TEX 2.4.3; ejercicio C2; INV U02-C06–C07.</a:t>
            </a:r>
          </a:p>
          <a:p xmlns:a="http://schemas.openxmlformats.org/drawingml/2006/main">
            <a:r>
              <a:t>[Asset] units/unit_02/assets/generated/charts/u02_ch001_aceleracion_fuerza/u02_fig_001_aceleracion_fuerza.svg (chart;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Pedir predicción de signo antes de revelar el número.</a:t>
            </a:r>
          </a:p>
          <a:p xmlns:a="http://schemas.openxmlformats.org/drawingml/2006/main">
            <a:r>
              <a:t>- **Guía del visual/diagrama:** 1. Delimitar el sistema o la ecuación central. 2. Recorrer en el orden previsto: Datos de tres fuerzas, eje positivo, suma, `a = F_neta/m`, resultado e interpretación del signo. 3. Cerrar con la idea central: Primero se obtiene la resultante; después se divide por la masa.</a:t>
            </a:r>
          </a:p>
          <a:p xmlns:a="http://schemas.openxmlformats.org/drawingml/2006/main">
            <a:r>
              <a:t>- **Pregunta y respuesta esperada:** “¿Cómo justificaría la idea central usando el sistema, los signos o las unidades?” Respuesta esperada: Primero se obtiene la resultante; después se divide por la masa.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No interpretar el esquema como anatomía a escala; usarlo para leer relaciones y direcciones.</a:t>
            </a:r>
          </a:p>
          <a:p xmlns:a="http://schemas.openxmlformats.org/drawingml/2006/main">
            <a:r>
              <a:t>- **Transición:** “Comprobar transferencia a dos masas.”</a:t>
            </a:r>
          </a:p>
          <a:p xmlns:a="http://schemas.openxmlformats.org/drawingml/2006/main">
            <a:r>
              <a:t>- **Duración:** 6 min.</a:t>
            </a:r>
          </a:p>
          <a:p xmlns:a="http://schemas.openxmlformats.org/drawingml/2006/main">
            <a:r>
              <a:t>- **[Sources]:** TEX 2.4.1–2.4.3; elaboración didáctica basada en NA2.</a:t>
            </a:r>
          </a:p>
          <a:p xmlns:a="http://schemas.openxmlformats.org/drawingml/2006/main">
            <a:r>
              <a:t>[Asset] units/unit_02/assets/generated/diagrams/u02_dg003_s019/u02_fig_019_003.svg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Recoger respuesta antes de usar `a = F_neta/m`. Dar tiempo de respuesta individual y pedir una justificación breve antes de discutir.</a:t>
            </a:r>
          </a:p>
          <a:p xmlns:a="http://schemas.openxmlformats.org/drawingml/2006/main">
            <a:r>
              <a:t>- **Guía del visual/diagrama:** 1. Delimitar el sistema o la ecuación central. 2. Recorrer en el orden previsto: Comparación cualitativa A/B → justificar sin cálculo o con razón simple. 3. Cerrar con la idea central: La masa mayor representa mayor inercia.</a:t>
            </a:r>
          </a:p>
          <a:p xmlns:a="http://schemas.openxmlformats.org/drawingml/2006/main">
            <a:r>
              <a:t>- **Pregunta y respuesta esperada:** “¿Quién acelera más con la misma fuerza?” Respuesta esperada: La masa menor.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No interpretar el esquema como anatomía a escala; usarlo para leer relaciones y direcciones.</a:t>
            </a:r>
          </a:p>
          <a:p xmlns:a="http://schemas.openxmlformats.org/drawingml/2006/main">
            <a:r>
              <a:t>- **Transición:** “Introducir fuerzas de interacción entre dos cuerpos.”</a:t>
            </a:r>
          </a:p>
          <a:p xmlns:a="http://schemas.openxmlformats.org/drawingml/2006/main">
            <a:r>
              <a:t>- **Duración:** 3 min si se selecciona.</a:t>
            </a:r>
          </a:p>
          <a:p xmlns:a="http://schemas.openxmlformats.org/drawingml/2006/main">
            <a:r>
              <a:t>- **[Sources]:** TEX ejercicio C2; PDF p. 50.</a:t>
            </a:r>
          </a:p>
          <a:p xmlns:a="http://schemas.openxmlformats.org/drawingml/2006/main">
            <a:r>
              <a:t>[Asset] units/unit_02/assets/generated/diagrams/u02_dg003_s020/u02_fig_020_003.svg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Leer la notación verbalmente antes de operar. Definir símbolos, signos, unidades e hipótesis antes de usar la expresión.</a:t>
            </a:r>
          </a:p>
          <a:p xmlns:a="http://schemas.openxmlformats.org/drawingml/2006/main">
            <a:r>
              <a:t>- **Guía del visual/diagrama:** 1. Delimitar el sistema o la ecuación central. 2. Recorrer en el orden previsto: `F⃗_A→B = -F⃗_B→A` → lectura de subíndices y cuerpos. 3. Cerrar con la idea central: Las fuerzas son simultáneas, iguales en módulo y opuestas, pero no actúan sobre el mismo cuerpo.</a:t>
            </a:r>
          </a:p>
          <a:p xmlns:a="http://schemas.openxmlformats.org/drawingml/2006/main">
            <a:r>
              <a:t>- **Pregunta y respuesta esperada:** “¿Qué relación física expresa la ecuación y qué unidades deben ser compatibles?” Respuesta esperada: Las fuerzas son simultáneas, iguales en módulo y opuestas, pero no actúan sobre el mismo cuerpo.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Acción y reacción no se cancelan dentro de un mismo DCL.</a:t>
            </a:r>
          </a:p>
          <a:p xmlns:a="http://schemas.openxmlformats.org/drawingml/2006/main">
            <a:r>
              <a:t>- **Transición:** “Representar cada fuerza en su propio diagrama.”</a:t>
            </a:r>
          </a:p>
          <a:p xmlns:a="http://schemas.openxmlformats.org/drawingml/2006/main">
            <a:r>
              <a:t>- **Duración:** 4 min.</a:t>
            </a:r>
          </a:p>
          <a:p xmlns:a="http://schemas.openxmlformats.org/drawingml/2006/main">
            <a:r>
              <a:t>- **[Sources]:** PO; TEX 2.4.4; PDF p. 40; INV U02-E04.</a:t>
            </a:r>
          </a:p>
          <a:p xmlns:a="http://schemas.openxmlformats.org/drawingml/2006/main">
            <a:r>
              <a:t>[Asset] units/unit_02/assets/generated/diagrams/u02_dg004_s021/u02_fig_021_004.svg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Contrastar tercera ley con equilibrio sobre un solo cuerpo. Recorrer primero lo común y después la diferencia que cambia la interpretación.</a:t>
            </a:r>
          </a:p>
          <a:p xmlns:a="http://schemas.openxmlformats.org/drawingml/2006/main">
            <a:r>
              <a:t>- **Guía del visual/diagrama:** 1. Delimitar el sistema o la ecuación central. 2. Recorrer en el orden previsto: Izquierda: diagrama de A → derecha: diagrama de B → síntesis inferior. 3. Cerrar con la idea central: El par pertenece a dos cuerpos; las fuerzas equilibradas pertenecen a uno.</a:t>
            </a:r>
          </a:p>
          <a:p xmlns:a="http://schemas.openxmlformats.org/drawingml/2006/main">
            <a:r>
              <a:t>- **Pregunta y respuesta esperada:** “¿Cuál es la diferencia esencial entre los casos comparados?” Respuesta esperada: El par pertenece a dos cuerpos; las fuerzas equilibradas pertenecen a uno.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No interpretar el esquema como anatomía a escala; usarlo para leer relaciones y direcciones.</a:t>
            </a:r>
          </a:p>
          <a:p xmlns:a="http://schemas.openxmlformats.org/drawingml/2006/main">
            <a:r>
              <a:t>- **Transición:** “Consolidar las tres leyes como herramientas distintas.”</a:t>
            </a:r>
          </a:p>
          <a:p xmlns:a="http://schemas.openxmlformats.org/drawingml/2006/main">
            <a:r>
              <a:t>- **Duración:** 4 min.</a:t>
            </a:r>
          </a:p>
          <a:p xmlns:a="http://schemas.openxmlformats.org/drawingml/2006/main">
            <a:r>
              <a:t>- **[Sources]:** TEX 2.4.4; ejercicios C4/D4; PDF pp. 40, 50, 53.</a:t>
            </a:r>
          </a:p>
          <a:p xmlns:a="http://schemas.openxmlformats.org/drawingml/2006/main">
            <a:r>
              <a:t>[Asset] units/unit_02/assets/generated/diagrams/u02_dg004_s022/u02_fig_022_004.svg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Detectar si alguien aún mezcla equilibrio y tercera ley. Reconstruir las relaciones causales; evitar una enumeración de términos aislados.</a:t>
            </a:r>
          </a:p>
          <a:p xmlns:a="http://schemas.openxmlformats.org/drawingml/2006/main">
            <a:r>
              <a:t>- **Guía del visual/diagrama:** —</a:t>
            </a:r>
          </a:p>
          <a:p xmlns:a="http://schemas.openxmlformats.org/drawingml/2006/main">
            <a:r>
              <a:t>- **Pregunta y respuesta esperada:** “¿Qué ley relaciona dos cuerpos?” Respuesta esperada: La tercera ley.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Pedir conexiones entre conceptos, no una lista memorizada.</a:t>
            </a:r>
          </a:p>
          <a:p xmlns:a="http://schemas.openxmlformats.org/drawingml/2006/main">
            <a:r>
              <a:t>- **Transición:** “Aplicar fuerza neta a una superficie sometida a presión.”</a:t>
            </a:r>
          </a:p>
          <a:p xmlns:a="http://schemas.openxmlformats.org/drawingml/2006/main">
            <a:r>
              <a:t>- **Duración:** 3 min.</a:t>
            </a:r>
          </a:p>
          <a:p xmlns:a="http://schemas.openxmlformats.org/drawingml/2006/main">
            <a:r>
              <a:t>- **[Sources]:** PO; TEX 2.4; PDF pp. 38–40.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Volver al estado inicial de la membrana.</a:t>
            </a:r>
          </a:p>
          <a:p xmlns:a="http://schemas.openxmlformats.org/drawingml/2006/main">
            <a:r>
              <a:t>- **Guía del visual/diagrama:** —</a:t>
            </a:r>
          </a:p>
          <a:p xmlns:a="http://schemas.openxmlformats.org/drawingml/2006/main">
            <a:r>
              <a:t>- **Pregunta y respuesta esperada:** “¿Qué pregunta física organiza este bloque?” Respuesta esperada: La presión se convierte en fuerza solo al considerar una superficie.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Mantener consistente el sistema elegido, el eje de signos y las unidades.</a:t>
            </a:r>
          </a:p>
          <a:p xmlns:a="http://schemas.openxmlformats.org/drawingml/2006/main">
            <a:r>
              <a:t>- **Transición:** “Mostrar las contribuciones de ambos lados.”</a:t>
            </a:r>
          </a:p>
          <a:p xmlns:a="http://schemas.openxmlformats.org/drawingml/2006/main">
            <a:r>
              <a:t>- **Duración:** 1 min.</a:t>
            </a:r>
          </a:p>
          <a:p xmlns:a="http://schemas.openxmlformats.org/drawingml/2006/main">
            <a:r>
              <a:t>- **[Sources]:** TEX 2.3 y 2.4.3; PDF pp. 38–40.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Aclarar que las flechas representan fuerzas debidas a presión, no presión “viajando”.</a:t>
            </a:r>
          </a:p>
          <a:p xmlns:a="http://schemas.openxmlformats.org/drawingml/2006/main">
            <a:r>
              <a:t>- **Guía del visual/diagrama:** 1. Delimitar el sistema o la ecuación central. 2. Recorrer en el orden previsto: Superficie, `p₁`, `p₂`, área y flechas opuestas → casos `p₁ = p₂` y `p₁ &gt; p₂`. 3. Cerrar con la idea central: La resultante apunta hacia la región de menor presión si las demás condiciones se mantienen.</a:t>
            </a:r>
          </a:p>
          <a:p xmlns:a="http://schemas.openxmlformats.org/drawingml/2006/main">
            <a:r>
              <a:t>- **Pregunta y respuesta esperada:** “¿Cómo justificaría la idea central usando el sistema, los signos o las unidades?” Respuesta esperada: La resultante apunta hacia la región de menor presión si las demás condiciones se mantienen.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No interpretar el esquema como anatomía a escala; usarlo para leer relaciones y direcciones.</a:t>
            </a:r>
          </a:p>
          <a:p xmlns:a="http://schemas.openxmlformats.org/drawingml/2006/main">
            <a:r>
              <a:t>- **Transición:** “Separar conceptualmente presión y fuerza.”</a:t>
            </a:r>
          </a:p>
          <a:p xmlns:a="http://schemas.openxmlformats.org/drawingml/2006/main">
            <a:r>
              <a:t>- **Duración:** 2 min.</a:t>
            </a:r>
          </a:p>
          <a:p xmlns:a="http://schemas.openxmlformats.org/drawingml/2006/main">
            <a:r>
              <a:t>- **[Sources]:** TEX 2.4.3; figura 2.1; PDF p. 40.</a:t>
            </a:r>
          </a:p>
          <a:p xmlns:a="http://schemas.openxmlformats.org/drawingml/2006/main">
            <a:r>
              <a:t>[Asset] units/unit_02/assets/generated/diagrams/u02_dg005_s025/u02_fig_025_005.svg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Recuperar `p = F_perp/S` de U1 y preparar la forma inversa. Recorrer primero lo común y después la diferencia que cambia la interpretación.</a:t>
            </a:r>
          </a:p>
          <a:p xmlns:a="http://schemas.openxmlformats.org/drawingml/2006/main">
            <a:r>
              <a:t>- **Guía del visual/diagrama:** —</a:t>
            </a:r>
          </a:p>
          <a:p xmlns:a="http://schemas.openxmlformats.org/drawingml/2006/main">
            <a:r>
              <a:t>- **Pregunta y respuesta esperada:** “¿Por qué Pa y N no son intercambiables?” Respuesta esperada: Describen magnitudes distintas y se relacionan mediante un área.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Confundir Pa con N.</a:t>
            </a:r>
          </a:p>
          <a:p xmlns:a="http://schemas.openxmlformats.org/drawingml/2006/main">
            <a:r>
              <a:t>- **Transición:** “Definir la diferencia de presión con signo.”</a:t>
            </a:r>
          </a:p>
          <a:p xmlns:a="http://schemas.openxmlformats.org/drawingml/2006/main">
            <a:r>
              <a:t>- **Duración:** 3 min.</a:t>
            </a:r>
          </a:p>
          <a:p xmlns:a="http://schemas.openxmlformats.org/drawingml/2006/main">
            <a:r>
              <a:t>- **[Sources]:** TEX 2.4.3; U1; GLO.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Mostrar que invertir etiquetas cambia el signo, no el fenómeno físico. Definir símbolos, signos, unidades e hipótesis antes de usar la expresión.</a:t>
            </a:r>
          </a:p>
          <a:p xmlns:a="http://schemas.openxmlformats.org/drawingml/2006/main">
            <a:r>
              <a:t>- **Guía del visual/diagrama:** 1. Delimitar el sistema o la ecuación central. 2. Recorrer en el orden previsto: `Δp = p₁ - p₂` → símbolos, Pa y dos resultados de signo opuesto. 3. Cerrar con la idea central: El orden `p₁ - p₂` fija el signo respecto del eje elegido.</a:t>
            </a:r>
          </a:p>
          <a:p xmlns:a="http://schemas.openxmlformats.org/drawingml/2006/main">
            <a:r>
              <a:t>- **Pregunta y respuesta esperada:** “¿Qué relación física expresa la ecuación y qué unidades deben ser compatibles?” Respuesta esperada: El orden `p₁ - p₂` fija el signo respecto del eje elegido.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No usar la fórmula como receta: controlar signo, unidad e hipótesis.</a:t>
            </a:r>
          </a:p>
          <a:p xmlns:a="http://schemas.openxmlformats.org/drawingml/2006/main">
            <a:r>
              <a:t>- **Transición:** “Incorporar el área para obtener fuerza.”</a:t>
            </a:r>
          </a:p>
          <a:p xmlns:a="http://schemas.openxmlformats.org/drawingml/2006/main">
            <a:r>
              <a:t>- **Duración:** 3 min.</a:t>
            </a:r>
          </a:p>
          <a:p xmlns:a="http://schemas.openxmlformats.org/drawingml/2006/main">
            <a:r>
              <a:t>- **[Sources]:** TEX 2.4.3; PDF p. 39; NOT.</a:t>
            </a:r>
          </a:p>
          <a:p xmlns:a="http://schemas.openxmlformats.org/drawingml/2006/main">
            <a:r>
              <a:t>[Asset] units/unit_02/assets/generated/diagrams/u02_dg005_s027/u02_fig_027_005.svg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Registrar que el libro usa `A`; no alternar notación visible. Definir símbolos, signos, unidades e hipótesis antes de usar la expresión.</a:t>
            </a:r>
          </a:p>
          <a:p xmlns:a="http://schemas.openxmlformats.org/drawingml/2006/main">
            <a:r>
              <a:t>- **Guía del visual/diagrama:** 1. Delimitar el sistema o la ecuación central. 2. Recorrer en el orden previsto: Ecuación con `S` para continuidad con U1 → símbolos, unidades e hipótesis. 3. Cerrar con la idea central: La misma `Δp` produce mayor fuerza sobre una superficie mayor, bajo presión uniforme.</a:t>
            </a:r>
          </a:p>
          <a:p xmlns:a="http://schemas.openxmlformats.org/drawingml/2006/main">
            <a:r>
              <a:t>- **Pregunta y respuesta esperada:** “¿Qué relación física expresa la ecuación y qué unidades deben ser compatibles?” Respuesta esperada: La misma `Δp` produce mayor fuerza sobre una superficie mayor, bajo presión uniforme.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La relación supone presión uniforme sobre el área considerada.</a:t>
            </a:r>
          </a:p>
          <a:p xmlns:a="http://schemas.openxmlformats.org/drawingml/2006/main">
            <a:r>
              <a:t>- **Transición:** “Comprobar dimensionalmente la relación.”</a:t>
            </a:r>
          </a:p>
          <a:p xmlns:a="http://schemas.openxmlformats.org/drawingml/2006/main">
            <a:r>
              <a:t>- **Duración:** 3 min.</a:t>
            </a:r>
          </a:p>
          <a:p xmlns:a="http://schemas.openxmlformats.org/drawingml/2006/main">
            <a:r>
              <a:t>- **[Sources]:** TEX 2.4.3; PDF p. 39; NOT; U1; INV U02-E03.</a:t>
            </a:r>
          </a:p>
          <a:p xmlns:a="http://schemas.openxmlformats.org/drawingml/2006/main">
            <a:r>
              <a:t>[Asset] units/unit_02/assets/generated/diagrams/u02_dg005_s028/u02_fig_028_005.svg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Pedir al curso que descarte opciones antes de revelar. Definir símbolos, signos, unidades e hipótesis antes de usar la expresión.</a:t>
            </a:r>
          </a:p>
          <a:p xmlns:a="http://schemas.openxmlformats.org/drawingml/2006/main">
            <a:r>
              <a:t>- **Guía del visual/diagrama:** 1. Delimitar el sistema o la ecuación central. 2. Recorrer en el orden previsto: `Pa·m² = N` → dos opciones incorrectas `Δp/S` y `S/Δp`. 3. Cerrar con la idea central: Las unidades descartan relaciones físicamente incompatibles.</a:t>
            </a:r>
          </a:p>
          <a:p xmlns:a="http://schemas.openxmlformats.org/drawingml/2006/main">
            <a:r>
              <a:t>- **Pregunta y respuesta esperada:** “¿Qué relación física expresa la ecuación y qué unidades deben ser compatibles?” Respuesta esperada: Las unidades descartan relaciones físicamente incompatibles.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No usar la fórmula como receta: controlar signo, unidad e hipótesis.</a:t>
            </a:r>
          </a:p>
          <a:p xmlns:a="http://schemas.openxmlformats.org/drawingml/2006/main">
            <a:r>
              <a:t>- **Transición:** “Resolver el ejemplo de superficie modelo.”</a:t>
            </a:r>
          </a:p>
          <a:p xmlns:a="http://schemas.openxmlformats.org/drawingml/2006/main">
            <a:r>
              <a:t>- **Duración:** 3 min si se selecciona.</a:t>
            </a:r>
          </a:p>
          <a:p xmlns:a="http://schemas.openxmlformats.org/drawingml/2006/main">
            <a:r>
              <a:t>- **[Sources]:** TEX 2.4.3; ejercicio D1; PDF pp. 39, 53.</a:t>
            </a:r>
          </a:p>
          <a:p xmlns:a="http://schemas.openxmlformats.org/drawingml/2006/main">
            <a:r>
              <a:t>[Asset] units/unit_02/assets/generated/diagrams/u02_dg005_s029/u02_fig_029_005.svg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Mantener notación científica y cifras significativas; preguntar el sentido.</a:t>
            </a:r>
          </a:p>
          <a:p xmlns:a="http://schemas.openxmlformats.org/drawingml/2006/main">
            <a:r>
              <a:t>- **Guía del visual/diagrama:** 1. Delimitar el sistema o la ecuación central. 2. Recorrer en el orden previsto: Datos, hipótesis, cálculo y frase de alcance. 3. Cerrar con la idea central: El resultado pertenece al sistema ideal y no es un valor universal del tímpano.</a:t>
            </a:r>
          </a:p>
          <a:p xmlns:a="http://schemas.openxmlformats.org/drawingml/2006/main">
            <a:r>
              <a:t>- **Pregunta y respuesta esperada:** “¿Cómo justificaría la idea central usando el sistema, los signos o las unidades?” Respuesta esperada: El resultado pertenece al sistema ideal y no es un valor universal del tímpano.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No interpretar el esquema como anatomía a escala; usarlo para leer relaciones y direcciones.</a:t>
            </a:r>
          </a:p>
          <a:p xmlns:a="http://schemas.openxmlformats.org/drawingml/2006/main">
            <a:r>
              <a:t>- **Transición:** “Aplicar el modelo a una membrana real con límites.”</a:t>
            </a:r>
          </a:p>
          <a:p xmlns:a="http://schemas.openxmlformats.org/drawingml/2006/main">
            <a:r>
              <a:t>- **Duración:** 3 min.</a:t>
            </a:r>
          </a:p>
          <a:p xmlns:a="http://schemas.openxmlformats.org/drawingml/2006/main">
            <a:r>
              <a:t>- **[Sources]:** TEX ejemplo presión–superficie; PDF p. 40.</a:t>
            </a:r>
          </a:p>
          <a:p xmlns:a="http://schemas.openxmlformats.org/drawingml/2006/main">
            <a:r>
              <a:t>[Asset] units/unit_02/assets/generated/diagrams/u02_dg005_s030/u02_fig_030_005.svg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Evitar usar los valores del ejemplo como dato anatómico o clínico. Separar explícitamente la utilidad del modelo de sus límites físicos y clínicos.</a:t>
            </a:r>
          </a:p>
          <a:p xmlns:a="http://schemas.openxmlformats.org/drawingml/2006/main">
            <a:r>
              <a:t>- **Guía del visual/diagrama:** 1. Delimitar el sistema o la ecuación central. 2. Recorrer en el orden previsto: Concepto físico, aplicación y tres límites: geometría, presión no uniforme, movimiento distribuido. 3. Cerrar con la idea central: La relación presión–área ayuda a razonar, pero la membrana real tiene propiedades distribuidas.</a:t>
            </a:r>
          </a:p>
          <a:p xmlns:a="http://schemas.openxmlformats.org/drawingml/2006/main">
            <a:r>
              <a:t>- **Pregunta y respuesta esperada:** “¿Qué permite afirmar el modelo y qué queda fuera de su alcance?” Respuesta esperada: La relación presión–área ayuda a razonar, pero la membrana real tiene propiedades distribuidas.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No interpretar el esquema como anatomía a escala; usarlo para leer relaciones y direcciones.</a:t>
            </a:r>
          </a:p>
          <a:p xmlns:a="http://schemas.openxmlformats.org/drawingml/2006/main">
            <a:r>
              <a:t>- **Transición:** “Recapitular antes de añadir elasticidad y amortiguamiento.”</a:t>
            </a:r>
          </a:p>
          <a:p xmlns:a="http://schemas.openxmlformats.org/drawingml/2006/main">
            <a:r>
              <a:t>- **Duración:** 3 min.</a:t>
            </a:r>
          </a:p>
          <a:p xmlns:a="http://schemas.openxmlformats.org/drawingml/2006/main">
            <a:r>
              <a:t>- **[Sources]:** TEX 2.3, 2.8; PDF pp. 38, 47; REF ugarteburu2022.</a:t>
            </a:r>
          </a:p>
          <a:p xmlns:a="http://schemas.openxmlformats.org/drawingml/2006/main">
            <a:r>
              <a:t>[Asset] units/unit_02/assets/generated/diagrams/u02_dg005_s031/u02_fig_031_005.svg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Hacer que el curso narre la cadena sin leer ecuaciones. Reconstruir las relaciones causales; evitar una enumeración de términos aislados.</a:t>
            </a:r>
          </a:p>
          <a:p xmlns:a="http://schemas.openxmlformats.org/drawingml/2006/main">
            <a:r>
              <a:t>- **Guía del visual/diagrama:** 1. Delimitar el sistema o la ecuación central. 2. Recorrer en el orden previsto: Tres relaciones y pregunta de control sobre duplicar el área. 3. Cerrar con la idea central: Presión, área, fuerza neta y aceleración forman una cadena con unidades distintas.</a:t>
            </a:r>
          </a:p>
          <a:p xmlns:a="http://schemas.openxmlformats.org/drawingml/2006/main">
            <a:r>
              <a:t>- **Pregunta y respuesta esperada:** “¿Qué ocurre con la fuerza si se duplica el área?” Respuesta esperada: Se duplica bajo `Δp` uniforme y constante.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No interpretar el esquema como anatomía a escala; usarlo para leer relaciones y direcciones.</a:t>
            </a:r>
          </a:p>
          <a:p xmlns:a="http://schemas.openxmlformats.org/drawingml/2006/main">
            <a:r>
              <a:t>- **Transición:** “Preguntar por qué una membrana vuelve y por qué termina de vibrar.”</a:t>
            </a:r>
          </a:p>
          <a:p xmlns:a="http://schemas.openxmlformats.org/drawingml/2006/main">
            <a:r>
              <a:t>- **Duración:** 2 min.</a:t>
            </a:r>
          </a:p>
          <a:p xmlns:a="http://schemas.openxmlformats.org/drawingml/2006/main">
            <a:r>
              <a:t>- **[Sources]:** TEX 2.3–2.4; U1; INV.</a:t>
            </a:r>
          </a:p>
          <a:p xmlns:a="http://schemas.openxmlformats.org/drawingml/2006/main">
            <a:r>
              <a:t>[Asset] units/unit_02/assets/generated/diagrams/u02_dg005_s032/u02_fig_032_005.svg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Anticipar construcción por etapas; no mostrar aún la ecuación completa.</a:t>
            </a:r>
          </a:p>
          <a:p xmlns:a="http://schemas.openxmlformats.org/drawingml/2006/main">
            <a:r>
              <a:t>- **Guía del visual/diagrama:** —</a:t>
            </a:r>
          </a:p>
          <a:p xmlns:a="http://schemas.openxmlformats.org/drawingml/2006/main">
            <a:r>
              <a:t>- **Pregunta y respuesta esperada:** “¿Qué pregunta física organiza este bloque?” Respuesta esperada: Inercia, retorno y disipación no son el mismo mecanismo.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Mantener consistente el sistema elegido, el eje de signos y las unidades.</a:t>
            </a:r>
          </a:p>
          <a:p xmlns:a="http://schemas.openxmlformats.org/drawingml/2006/main">
            <a:r>
              <a:t>- **Transición:** “Observar primero un sistema real o simulado.”</a:t>
            </a:r>
          </a:p>
          <a:p xmlns:a="http://schemas.openxmlformats.org/drawingml/2006/main">
            <a:r>
              <a:t>- **Duración:** 1 min.</a:t>
            </a:r>
          </a:p>
          <a:p xmlns:a="http://schemas.openxmlformats.org/drawingml/2006/main">
            <a:r>
              <a:t>- **[Sources]:** TEX 2.5; PDF pp. 41–43; CM.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No introducir frecuencia natural; enfocar retorno y decaimiento.</a:t>
            </a:r>
          </a:p>
          <a:p xmlns:a="http://schemas.openxmlformats.org/drawingml/2006/main">
            <a:r>
              <a:t>- **Guía del visual/diagrama:** —</a:t>
            </a:r>
          </a:p>
          <a:p xmlns:a="http://schemas.openxmlformats.org/drawingml/2006/main">
            <a:r>
              <a:t>- **Pregunta y respuesta esperada:** “¿Qué cambia al aumentar el amortiguamiento?” Respuesta esperada: La oscilación decae más rápido.</a:t>
            </a:r>
          </a:p>
          <a:p xmlns:a="http://schemas.openxmlformats.org/drawingml/2006/main">
            <a:r>
              <a:t>- **Demostración/multimedia:** Reproducir el recurso indicado: MEDIA: GIF o demostración propia masa–resorte con dos amortiguamientos; duración menor a 20 s. Mostrar una vez sin explicar y otra vez siguiendo el elemento señalado. Si falla la reproducción, usar la alternativa estática completa.</a:t>
            </a:r>
          </a:p>
          <a:p xmlns:a="http://schemas.openxmlformats.org/drawingml/2006/main">
            <a:r>
              <a:t>- **Énfasis/error frecuente:** Mantener consistente el sistema elegido, el eje de signos y las unidades.</a:t>
            </a:r>
          </a:p>
          <a:p xmlns:a="http://schemas.openxmlformats.org/drawingml/2006/main">
            <a:r>
              <a:t>- **Transición:** “Nombrar las tres propiedades observadas.”</a:t>
            </a:r>
          </a:p>
          <a:p xmlns:a="http://schemas.openxmlformats.org/drawingml/2006/main">
            <a:r>
              <a:t>- **Duración:** 3 min si se selecciona.</a:t>
            </a:r>
          </a:p>
          <a:p xmlns:a="http://schemas.openxmlformats.org/drawingml/2006/main">
            <a:r>
              <a:t>- **[Sources]:** Elaboración propia basada en TEX 2.5.</a:t>
            </a:r>
          </a:p>
          <a:p xmlns:a="http://schemas.openxmlformats.org/drawingml/2006/main">
            <a:r>
              <a:t>[Multimedia] El recurso audiovisual previsto no tiene archivo local aprobado; usar la alternativa estática de la slide.</a:t>
            </a:r>
          </a:p>
          <a:p xmlns:a="http://schemas.openxmlformats.org/drawingml/2006/main">
            <a:r>
              <a:t>[Link] https://phet.colorado.edu/es_PE/simulations/masses-and-springs-basics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Aclarar que son propiedades concentradas de un modelo, no piezas anatómicas. Usar el mapa como orientación y señalar dónde se encuentra la clase.</a:t>
            </a:r>
          </a:p>
          <a:p xmlns:a="http://schemas.openxmlformats.org/drawingml/2006/main">
            <a:r>
              <a:t>- **Guía del visual/diagrama:** 1. Delimitar el sistema o la ecuación central. 2. Recorrer en el orden previsto: Masa → inercia → elasticidad → retorno → amortiguamiento → disipación. 3. Cerrar con la idea central: Cada propiedad responde una pregunta distinta.</a:t>
            </a:r>
          </a:p>
          <a:p xmlns:a="http://schemas.openxmlformats.org/drawingml/2006/main">
            <a:r>
              <a:t>- **Pregunta y respuesta esperada:** “¿Qué conexión del mapa organiza las ideas de la unidad?” Respuesta esperada: Cada propiedad responde una pregunta distinta.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No interpretar el esquema como anatomía a escala; usarlo para leer relaciones y direcciones.</a:t>
            </a:r>
          </a:p>
          <a:p xmlns:a="http://schemas.openxmlformats.org/drawingml/2006/main">
            <a:r>
              <a:t>- **Transición:** “Profundizar una propiedad por vez.”</a:t>
            </a:r>
          </a:p>
          <a:p xmlns:a="http://schemas.openxmlformats.org/drawingml/2006/main">
            <a:r>
              <a:t>- **Duración:** 2 min.</a:t>
            </a:r>
          </a:p>
          <a:p xmlns:a="http://schemas.openxmlformats.org/drawingml/2006/main">
            <a:r>
              <a:t>- **[Sources]:** TEX 2.5.1; figura 2.2; PDF p. 41.</a:t>
            </a:r>
          </a:p>
          <a:p xmlns:a="http://schemas.openxmlformats.org/drawingml/2006/main">
            <a:r>
              <a:t>[Asset] units/unit_02/assets/generated/diagrams/u02_dg006_s035/u02_fig_035_006.svg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Repetición pedagógica: ahora la masa es un término del modelo, no solo de la segunda ley.</a:t>
            </a:r>
          </a:p>
          <a:p xmlns:a="http://schemas.openxmlformats.org/drawingml/2006/main">
            <a:r>
              <a:t>- **Guía del visual/diagrama:** 1. Delimitar el sistema o la ecuación central. 2. Recorrer en el orden previsto: Definición, unidad y comparación cualitativa. 3. Cerrar con la idea central: A igualdad de resultante, mayor masa implica menor aceleración.</a:t>
            </a:r>
          </a:p>
          <a:p xmlns:a="http://schemas.openxmlformats.org/drawingml/2006/main">
            <a:r>
              <a:t>- **Pregunta y respuesta esperada:** “¿Cómo justificaría la idea central usando el sistema, los signos o las unidades?” Respuesta esperada: A igualdad de resultante, mayor masa implica menor aceleración.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No interpretar el esquema como anatomía a escala; usarlo para leer relaciones y direcciones.</a:t>
            </a:r>
          </a:p>
          <a:p xmlns:a="http://schemas.openxmlformats.org/drawingml/2006/main">
            <a:r>
              <a:t>- **Transición:** “Introducir la fuerza que permite volver al equilibrio.”</a:t>
            </a:r>
          </a:p>
          <a:p xmlns:a="http://schemas.openxmlformats.org/drawingml/2006/main">
            <a:r>
              <a:t>- **Duración:** 3 min.</a:t>
            </a:r>
          </a:p>
          <a:p xmlns:a="http://schemas.openxmlformats.org/drawingml/2006/main">
            <a:r>
              <a:t>- **[Sources]:** TEX 2.5.1; PDF p. 41.</a:t>
            </a:r>
          </a:p>
          <a:p xmlns:a="http://schemas.openxmlformats.org/drawingml/2006/main">
            <a:r>
              <a:t>[Asset] units/unit_02/assets/generated/charts/u02_ch001_aceleracion_fuerza/u02_fig_001_aceleracion_fuerza.svg (chart;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Diferenciar “volver” de primera ley e inercia.</a:t>
            </a:r>
          </a:p>
          <a:p xmlns:a="http://schemas.openxmlformats.org/drawingml/2006/main">
            <a:r>
              <a:t>- **Guía del visual/diagrama:** 1. Delimitar el sistema o la ecuación central. 2. Recorrer en el orden previsto: Posición de equilibrio, desplazamiento positivo/negativo y sentido de retorno. 3. Cerrar con la idea central: Al separarse del equilibrio aparece una fuerza que apunta hacia él.</a:t>
            </a:r>
          </a:p>
          <a:p xmlns:a="http://schemas.openxmlformats.org/drawingml/2006/main">
            <a:r>
              <a:t>- **Pregunta y respuesta esperada:** “¿Cómo justificaría la idea central usando el sistema, los signos o las unidades?” Respuesta esperada: Al separarse del equilibrio aparece una fuerza que apunta hacia él.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No interpretar el esquema como anatomía a escala; usarlo para leer relaciones y direcciones.</a:t>
            </a:r>
          </a:p>
          <a:p xmlns:a="http://schemas.openxmlformats.org/drawingml/2006/main">
            <a:r>
              <a:t>- **Transición:** “Formalizar el modelo lineal.”</a:t>
            </a:r>
          </a:p>
          <a:p xmlns:a="http://schemas.openxmlformats.org/drawingml/2006/main">
            <a:r>
              <a:t>- **Duración:** 3 min.</a:t>
            </a:r>
          </a:p>
          <a:p xmlns:a="http://schemas.openxmlformats.org/drawingml/2006/main">
            <a:r>
              <a:t>- **[Sources]:** TEX 2.5.1–2.5.2; PDF p. 41.</a:t>
            </a:r>
          </a:p>
          <a:p xmlns:a="http://schemas.openxmlformats.org/drawingml/2006/main">
            <a:r>
              <a:t>[Asset] units/unit_02/assets/generated/diagrams/u02_dg006_s037/u02_fig_037_006.svg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Explicar límite de proporcionalidad y notación `k_s` provisional. Definir símbolos, signos, unidades e hipótesis antes de usar la expresión.</a:t>
            </a:r>
          </a:p>
          <a:p xmlns:a="http://schemas.openxmlformats.org/drawingml/2006/main">
            <a:r>
              <a:t>- **Guía del visual/diagrama:** 1. Delimitar el sistema o la ecuación central. 2. Recorrer en el orden previsto: Ecuación, `k_s`, `x`, unidades, zona lineal y dos signos. 3. Cerrar con la idea central: El signo negativo expresa dirección restauradora.</a:t>
            </a:r>
          </a:p>
          <a:p xmlns:a="http://schemas.openxmlformats.org/drawingml/2006/main">
            <a:r>
              <a:t>- **Pregunta y respuesta esperada:** “¿Qué relación física expresa la ecuación y qué unidades deben ser compatibles?” Respuesta esperada: El signo negativo expresa dirección restauradora.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El signo negativo expresa sentido restaurador, no módulo negativo.</a:t>
            </a:r>
          </a:p>
          <a:p xmlns:a="http://schemas.openxmlformats.org/drawingml/2006/main">
            <a:r>
              <a:t>- **Transición:** “Añadir el mecanismo que se opone al movimiento.”</a:t>
            </a:r>
          </a:p>
          <a:p xmlns:a="http://schemas.openxmlformats.org/drawingml/2006/main">
            <a:r>
              <a:t>- **Duración:** 5 min.</a:t>
            </a:r>
          </a:p>
          <a:p xmlns:a="http://schemas.openxmlformats.org/drawingml/2006/main">
            <a:r>
              <a:t>- **[Sources]:** TEX 2.5.2; PDF pp. 41–42; NOT; INV U02-E05.</a:t>
            </a:r>
          </a:p>
          <a:p xmlns:a="http://schemas.openxmlformats.org/drawingml/2006/main">
            <a:r>
              <a:t>[Asset] units/unit_02/assets/generated/charts/u02_ch002_fuerza_elastica/u02_fig_002_fuerza_elastica.svg (chart;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Preparar la diferencia entre fuerza restauradora y fuerza disipativa.</a:t>
            </a:r>
          </a:p>
          <a:p xmlns:a="http://schemas.openxmlformats.org/drawingml/2006/main">
            <a:r>
              <a:t>- **Guía del visual/diagrama:** 1. Delimitar el sistema o la ecuación central. 2. Recorrer en el orden previsto: Comparar dos instantes con igual posición y velocidades opuestas. 3. Cerrar con la idea central: Su sentido depende de `v`, no necesariamente de `x`.</a:t>
            </a:r>
          </a:p>
          <a:p xmlns:a="http://schemas.openxmlformats.org/drawingml/2006/main">
            <a:r>
              <a:t>- **Pregunta y respuesta esperada:** “¿Cómo justificaría la idea central usando el sistema, los signos o las unidades?” Respuesta esperada: Su sentido depende de `v`, no necesariamente de `x`.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No interpretar el esquema como anatomía a escala; usarlo para leer relaciones y direcciones.</a:t>
            </a:r>
          </a:p>
          <a:p xmlns:a="http://schemas.openxmlformats.org/drawingml/2006/main">
            <a:r>
              <a:t>- **Transición:** “Formalizar el modelo viscoso lineal.”</a:t>
            </a:r>
          </a:p>
          <a:p xmlns:a="http://schemas.openxmlformats.org/drawingml/2006/main">
            <a:r>
              <a:t>- **Duración:** 3 min.</a:t>
            </a:r>
          </a:p>
          <a:p xmlns:a="http://schemas.openxmlformats.org/drawingml/2006/main">
            <a:r>
              <a:t>- **[Sources]:** TEX 2.5.1–2.5.2; PDF pp. 41–42.</a:t>
            </a:r>
          </a:p>
          <a:p xmlns:a="http://schemas.openxmlformats.org/drawingml/2006/main">
            <a:r>
              <a:t>[Asset] units/unit_02/assets/generated/diagrams/u02_dg006_s039/u02_fig_039_006.svg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Presentar como modelo ideal, no ley universal de tejidos. Definir símbolos, signos, unidades e hipótesis antes de usar la expresión.</a:t>
            </a:r>
          </a:p>
          <a:p xmlns:a="http://schemas.openxmlformats.org/drawingml/2006/main">
            <a:r>
              <a:t>- **Guía del visual/diagrama:** 1. Delimitar el sistema o la ecuación central. 2. Recorrer en el orden previsto: Ecuación, símbolos, unidades y gráfico lineal opcional. 3. Cerrar con la idea central: `b` caracteriza el modelo disipativo; no toda atenuación se debe a `b`.</a:t>
            </a:r>
          </a:p>
          <a:p xmlns:a="http://schemas.openxmlformats.org/drawingml/2006/main">
            <a:r>
              <a:t>- **Pregunta y respuesta esperada:** “¿Qué relación física expresa la ecuación y qué unidades deben ser compatibles?” Respuesta esperada: `b` caracteriza el modelo disipativo; no toda atenuación se debe a `b`.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No toda atenuación se explica mediante el coeficiente `b`.</a:t>
            </a:r>
          </a:p>
          <a:p xmlns:a="http://schemas.openxmlformats.org/drawingml/2006/main">
            <a:r>
              <a:t>- **Transición:** “Reunir masa, resorte y amortiguador.”</a:t>
            </a:r>
          </a:p>
          <a:p xmlns:a="http://schemas.openxmlformats.org/drawingml/2006/main">
            <a:r>
              <a:t>- **Duración:** 3 min si se selecciona.</a:t>
            </a:r>
          </a:p>
          <a:p xmlns:a="http://schemas.openxmlformats.org/drawingml/2006/main">
            <a:r>
              <a:t>- **[Sources]:** TEX 2.5.2; PDF p. 42; NOT; INV U02-E06.</a:t>
            </a:r>
          </a:p>
          <a:p xmlns:a="http://schemas.openxmlformats.org/drawingml/2006/main">
            <a:r>
              <a:t>[Asset] units/unit_02/assets/generated/charts/u02_ch003_fuerza_amortiguamiento/u02_fig_003_fuerza_amortiguamiento.svg (chart;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Señalar límites de analogía y conexiones en paralelo. Seguir una sola ruta de izquierda a derecha y detenerse en cada transformación.</a:t>
            </a:r>
          </a:p>
          <a:p xmlns:a="http://schemas.openxmlformats.org/drawingml/2006/main">
            <a:r>
              <a:t>- **Guía del visual/diagrama:** 1. Delimitar el sistema o la ecuación central. 2. Recorrer en el orden previsto: Etapa 1 masa → etapa 2 resorte → etapa 3 amortiguador y fuerza externa → rótulos y unidades. 3. Cerrar con la idea central: Los elementos ideales concentran propiedades distribuidas.</a:t>
            </a:r>
          </a:p>
          <a:p xmlns:a="http://schemas.openxmlformats.org/drawingml/2006/main">
            <a:r>
              <a:t>- **Pregunta y respuesta esperada:** “¿Qué etapa conecta la entrada con el resultado?” Respuesta esperada: Los elementos ideales concentran propiedades distribuidas.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No interpretar el esquema como anatomía a escala; usarlo para leer relaciones y direcciones.</a:t>
            </a:r>
          </a:p>
          <a:p xmlns:a="http://schemas.openxmlformats.org/drawingml/2006/main">
            <a:r>
              <a:t>- **Transición:** “Escribir el balance instantáneo del modelo.”</a:t>
            </a:r>
          </a:p>
          <a:p xmlns:a="http://schemas.openxmlformats.org/drawingml/2006/main">
            <a:r>
              <a:t>- **Duración:** 5 min.</a:t>
            </a:r>
          </a:p>
          <a:p xmlns:a="http://schemas.openxmlformats.org/drawingml/2006/main">
            <a:r>
              <a:t>- **[Sources]:** TEX 2.5.1; figura 2.2; PDF p. 41.</a:t>
            </a:r>
          </a:p>
          <a:p xmlns:a="http://schemas.openxmlformats.org/drawingml/2006/main">
            <a:r>
              <a:t>[Asset] units/unit_02/assets/generated/diagrams/u02_dg006_s041/u02_fig_041_006.svg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Hacer control dimensional término por término y diferir la dinámica a U3. Definir símbolos, signos, unidades e hipótesis antes de usar la expresión.</a:t>
            </a:r>
          </a:p>
          <a:p xmlns:a="http://schemas.openxmlformats.org/drawingml/2006/main">
            <a:r>
              <a:t>- **Guía del visual/diagrama:** 1. Delimitar el sistema o la ecuación central. 2. Recorrer en el orden previsto: Ecuación central → color o callout estable para entrada, retorno, disipación e inercia. 3. Cerrar con la idea central: La ecuación describe un instante; no resuelve por sí sola la evolución temporal.</a:t>
            </a:r>
          </a:p>
          <a:p xmlns:a="http://schemas.openxmlformats.org/drawingml/2006/main">
            <a:r>
              <a:t>- **Pregunta y respuesta esperada:** “¿Qué relación física expresa la ecuación y qué unidades deben ser compatibles?” Respuesta esperada: La ecuación describe un instante; no resuelve por sí sola la evolución temporal.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El balance instantáneo no es la solución temporal de la oscilación.</a:t>
            </a:r>
          </a:p>
          <a:p xmlns:a="http://schemas.openxmlformats.org/drawingml/2006/main">
            <a:r>
              <a:t>- **Transición:** “Predecir signos antes del cálculo.”</a:t>
            </a:r>
          </a:p>
          <a:p xmlns:a="http://schemas.openxmlformats.org/drawingml/2006/main">
            <a:r>
              <a:t>- **Duración:** 4 min.</a:t>
            </a:r>
          </a:p>
          <a:p xmlns:a="http://schemas.openxmlformats.org/drawingml/2006/main">
            <a:r>
              <a:t>- **[Sources]:** TEX 2.5.2; PDF p. 42; INV U02-E07.</a:t>
            </a:r>
          </a:p>
          <a:p xmlns:a="http://schemas.openxmlformats.org/drawingml/2006/main">
            <a:r>
              <a:t>[Asset] units/unit_02/assets/generated/diagrams/u02_dg006_s042/u02_fig_042_006.svg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Resolver verbalmente dos casos y dejar dos para pares. Resolver en el orden datos e hipótesis → ecuación → sustitución → unidad → interpretación.</a:t>
            </a:r>
          </a:p>
          <a:p xmlns:a="http://schemas.openxmlformats.org/drawingml/2006/main">
            <a:r>
              <a:t>- **Guía del visual/diagrama:** 1. Delimitar el sistema o la ecuación central. 2. Recorrer en el orden previsto: Cuatro combinaciones de signos → completar flechas o signos. 3. Cerrar con la idea central: `F_el` depende de `x`; `F_amort` depende de `v`.</a:t>
            </a:r>
          </a:p>
          <a:p xmlns:a="http://schemas.openxmlformats.org/drawingml/2006/main">
            <a:r>
              <a:t>- **Pregunta y respuesta esperada:** “¿De qué variable depende cada fuerza?” Respuesta esperada: `F_el` depende de `x`; `F_amort` depende de `v`.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No interpretar el esquema como anatomía a escala; usarlo para leer relaciones y direcciones.</a:t>
            </a:r>
          </a:p>
          <a:p xmlns:a="http://schemas.openxmlformats.org/drawingml/2006/main">
            <a:r>
              <a:t>- **Transición:** “Usar la predicción en un ejemplo numérico.”</a:t>
            </a:r>
          </a:p>
          <a:p xmlns:a="http://schemas.openxmlformats.org/drawingml/2006/main">
            <a:r>
              <a:t>- **Duración:** 3 min si se selecciona.</a:t>
            </a:r>
          </a:p>
          <a:p xmlns:a="http://schemas.openxmlformats.org/drawingml/2006/main">
            <a:r>
              <a:t>- **[Sources]:** TEX ejercicios R2/NG2; PDF pp. 50–51.</a:t>
            </a:r>
          </a:p>
          <a:p xmlns:a="http://schemas.openxmlformats.org/drawingml/2006/main">
            <a:r>
              <a:t>[Asset] units/unit_02/assets/generated/diagrams/u02_dg006_s043/u02_fig_043_006.svg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Revelar pasos y remarcar que no predice posición futura.</a:t>
            </a:r>
          </a:p>
          <a:p xmlns:a="http://schemas.openxmlformats.org/drawingml/2006/main">
            <a:r>
              <a:t>- **Guía del visual/diagrama:** 1. Delimitar el sistema o la ecuación central. 2. Recorrer en el orden previsto: Datos del libro → `F_el`, `F_amort`, `F_neta`, `a` → interpretación del instante. 3. Cerrar con la idea central: Predecir signos evita sumar módulos incorrectamente.</a:t>
            </a:r>
          </a:p>
          <a:p xmlns:a="http://schemas.openxmlformats.org/drawingml/2006/main">
            <a:r>
              <a:t>- **Pregunta y respuesta esperada:** “¿Cómo justificaría la idea central usando el sistema, los signos o las unidades?” Respuesta esperada: Predecir signos evita sumar módulos incorrectamente.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No interpretar el esquema como anatomía a escala; usarlo para leer relaciones y direcciones.</a:t>
            </a:r>
          </a:p>
          <a:p xmlns:a="http://schemas.openxmlformats.org/drawingml/2006/main">
            <a:r>
              <a:t>- **Transición:** “Distinguir el mecanismo interno de lo observado durante propagación.”</a:t>
            </a:r>
          </a:p>
          <a:p xmlns:a="http://schemas.openxmlformats.org/drawingml/2006/main">
            <a:r>
              <a:t>- **Duración:** 6 min.</a:t>
            </a:r>
          </a:p>
          <a:p xmlns:a="http://schemas.openxmlformats.org/drawingml/2006/main">
            <a:r>
              <a:t>- **[Sources]:** TEX 2.5.3; PDF p. 42; INV U02-EX03.</a:t>
            </a:r>
          </a:p>
          <a:p xmlns:a="http://schemas.openxmlformats.org/drawingml/2006/main">
            <a:r>
              <a:t>[Asset] units/unit_02/assets/generated/diagrams/u02_dg006_s044/u02_fig_044_006.svg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Anticipar absorción y propagación de U9 sin formalizarlas. Recorrer primero lo común y después la diferencia que cambia la interpretación.</a:t>
            </a:r>
          </a:p>
          <a:p xmlns:a="http://schemas.openxmlformats.org/drawingml/2006/main">
            <a:r>
              <a:t>- **Guía del visual/diagrama:** 1. Delimitar el sistema o la ecuación central. 2. Recorrer en el orden previsto: Tabla conceptual de contexto, observación y mecanismo → ejemplos de transferencia y redistribución. 3. Cerrar con la idea central: Una disminución observada no identifica por sí sola el destino de la energía.</a:t>
            </a:r>
          </a:p>
          <a:p xmlns:a="http://schemas.openxmlformats.org/drawingml/2006/main">
            <a:r>
              <a:t>- **Pregunta y respuesta esperada:** “¿Cuál es la diferencia esencial entre los casos comparados?” Respuesta esperada: Una disminución observada no identifica por sí sola el destino de la energía.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Una amplitud menor no identifica por sí sola disipación.</a:t>
            </a:r>
          </a:p>
          <a:p xmlns:a="http://schemas.openxmlformats.org/drawingml/2006/main">
            <a:r>
              <a:t>- **Transición:** “Consolidar el modelo antes de pasar a energía.”</a:t>
            </a:r>
          </a:p>
          <a:p xmlns:a="http://schemas.openxmlformats.org/drawingml/2006/main">
            <a:r>
              <a:t>- **Duración:** 3 min si se selecciona.</a:t>
            </a:r>
          </a:p>
          <a:p xmlns:a="http://schemas.openxmlformats.org/drawingml/2006/main">
            <a:r>
              <a:t>- **[Sources]:** TEX 2.5.4; PDF p. 43; INV U02-C18.</a:t>
            </a:r>
          </a:p>
          <a:p xmlns:a="http://schemas.openxmlformats.org/drawingml/2006/main">
            <a:r>
              <a:t>[Asset] units/unit_02/assets/generated/diagrams/u02_dg006_s045/u02_fig_045_006.svg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Repetir la ecuación con nueva función: síntesis causal, no nueva derivación. Reconstruir las relaciones causales; evitar una enumeración de términos aislados.</a:t>
            </a:r>
          </a:p>
          <a:p xmlns:a="http://schemas.openxmlformats.org/drawingml/2006/main">
            <a:r>
              <a:t>- **Guía del visual/diagrama:** 1. Delimitar el sistema o la ecuación central. 2. Recorrer en el orden previsto: Tres afirmaciones, ecuación reducida y pregunta “¿qué término cambia si cambia `v`?”. 3. Cerrar con la idea central: Masa cambia la respuesta; resorte devuelve; amortiguador disipa.</a:t>
            </a:r>
          </a:p>
          <a:p xmlns:a="http://schemas.openxmlformats.org/drawingml/2006/main">
            <a:r>
              <a:t>- **Pregunta y respuesta esperada:** “¿Qué término cambia si cambia `v`?” Respuesta esperada: El término `bv` y, por lo tanto, `F_amort`.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No interpretar el esquema como anatomía a escala; usarlo para leer relaciones y direcciones.</a:t>
            </a:r>
          </a:p>
          <a:p xmlns:a="http://schemas.openxmlformats.org/drawingml/2006/main">
            <a:r>
              <a:t>- **Transición:** “Preguntar qué ocurre con la energía mientras el sistema se mueve.”</a:t>
            </a:r>
          </a:p>
          <a:p xmlns:a="http://schemas.openxmlformats.org/drawingml/2006/main">
            <a:r>
              <a:t>- **Duración:** 3 min.</a:t>
            </a:r>
          </a:p>
          <a:p xmlns:a="http://schemas.openxmlformats.org/drawingml/2006/main">
            <a:r>
              <a:t>- **[Sources]:** TEX 2.5; PDF pp. 41–43.</a:t>
            </a:r>
          </a:p>
          <a:p xmlns:a="http://schemas.openxmlformats.org/drawingml/2006/main">
            <a:r>
              <a:t>[Asset] units/unit_02/assets/generated/diagrams/u02_dg006_s046/u02_fig_046_006.svg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Explicar que ambos lenguajes son compatibles y responden preguntas distintas.</a:t>
            </a:r>
          </a:p>
          <a:p xmlns:a="http://schemas.openxmlformats.org/drawingml/2006/main">
            <a:r>
              <a:t>- **Guía del visual/diagrama:** —</a:t>
            </a:r>
          </a:p>
          <a:p xmlns:a="http://schemas.openxmlformats.org/drawingml/2006/main">
            <a:r>
              <a:t>- **Pregunta y respuesta esperada:** “¿Qué pregunta física organiza este bloque?” Respuesta esperada: El mismo sistema puede describirse mediante fuerzas o mediante energía.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Mantener consistente el sistema elegido, el eje de signos y las unidades.</a:t>
            </a:r>
          </a:p>
          <a:p xmlns:a="http://schemas.openxmlformats.org/drawingml/2006/main">
            <a:r>
              <a:t>- **Transición:** “Introducir trabajo como transferencia.”</a:t>
            </a:r>
          </a:p>
          <a:p xmlns:a="http://schemas.openxmlformats.org/drawingml/2006/main">
            <a:r>
              <a:t>- **Duración:** 2 min.</a:t>
            </a:r>
          </a:p>
          <a:p xmlns:a="http://schemas.openxmlformats.org/drawingml/2006/main">
            <a:r>
              <a:t>- **[Sources]:** TEX 2.6; PDF pp. 43–44.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Limitar el alcance a fuerza constante y paralela; no introducir producto escalar formal.</a:t>
            </a:r>
          </a:p>
          <a:p xmlns:a="http://schemas.openxmlformats.org/drawingml/2006/main">
            <a:r>
              <a:t>- **Guía del visual/diagrama:** 1. Delimitar el sistema o la ecuación central. 2. Recorrer en el orden previsto: Situaciones con y sin desplazamiento → fuerza paralela como caso estudiado. 3. Cerrar con la idea central: Fuerza sin desplazamiento no realiza trabajo mecánico en este modelo simple.</a:t>
            </a:r>
          </a:p>
          <a:p xmlns:a="http://schemas.openxmlformats.org/drawingml/2006/main">
            <a:r>
              <a:t>- **Pregunta y respuesta esperada:** “¿Cómo justificaría la idea central usando el sistema, los signos o las unidades?” Respuesta esperada: Fuerza sin desplazamiento no realiza trabajo mecánico en este modelo simple.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No interpretar el esquema como anatomía a escala; usarlo para leer relaciones y direcciones.</a:t>
            </a:r>
          </a:p>
          <a:p xmlns:a="http://schemas.openxmlformats.org/drawingml/2006/main">
            <a:r>
              <a:t>- **Transición:** “Presentar la ecuación del caso simple.”</a:t>
            </a:r>
          </a:p>
          <a:p xmlns:a="http://schemas.openxmlformats.org/drawingml/2006/main">
            <a:r>
              <a:t>- **Duración:** 3 min.</a:t>
            </a:r>
          </a:p>
          <a:p xmlns:a="http://schemas.openxmlformats.org/drawingml/2006/main">
            <a:r>
              <a:t>- **[Sources]:** TEX 2.6.1; PDF p. 43; GLO trabajo.</a:t>
            </a:r>
          </a:p>
          <a:p xmlns:a="http://schemas.openxmlformats.org/drawingml/2006/main">
            <a:r>
              <a:t>[Asset] units/unit_02/assets/generated/diagrams/u02_dg007_s048/u02_fig_048_007.svg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Distinguir trabajo de potencia y de fuerza. Definir símbolos, signos, unidades e hipótesis antes de usar la expresión.</a:t>
            </a:r>
          </a:p>
          <a:p xmlns:a="http://schemas.openxmlformats.org/drawingml/2006/main">
            <a:r>
              <a:t>- **Guía del visual/diagrama:** 1. Delimitar el sistema o la ecuación central. 2. Recorrer en el orden previsto: Ecuación, condiciones, símbolos y `1 J = 1 N·m` → un contraejemplo sin desplazamiento. 3. Cerrar con la idea central: El joule equivale a newton por metro.</a:t>
            </a:r>
          </a:p>
          <a:p xmlns:a="http://schemas.openxmlformats.org/drawingml/2006/main">
            <a:r>
              <a:t>- **Pregunta y respuesta esperada:** “¿Qué relación física expresa la ecuación y qué unidades deben ser compatibles?” Respuesta esperada: El joule equivale a newton por metro.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No usar la fórmula como receta: controlar signo, unidad e hipótesis.</a:t>
            </a:r>
          </a:p>
          <a:p xmlns:a="http://schemas.openxmlformats.org/drawingml/2006/main">
            <a:r>
              <a:t>- **Transición:** “Identificar formas de energía mecánica.”</a:t>
            </a:r>
          </a:p>
          <a:p xmlns:a="http://schemas.openxmlformats.org/drawingml/2006/main">
            <a:r>
              <a:t>- **Duración:** 3 min si se selecciona.</a:t>
            </a:r>
          </a:p>
          <a:p xmlns:a="http://schemas.openxmlformats.org/drawingml/2006/main">
            <a:r>
              <a:t>- **[Sources]:** TEX 2.6.1; PDF p. 43; NOT; INV U02-E08, E16.</a:t>
            </a:r>
          </a:p>
          <a:p xmlns:a="http://schemas.openxmlformats.org/drawingml/2006/main">
            <a:r>
              <a:t>[Asset] units/unit_02/assets/generated/diagrams/u02_dg007_s049/u02_fig_049_007.svg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No confundir rapidez en la energía con velocidad vectorial del balance. Definir símbolos, signos, unidades e hipótesis antes de usar la expresión.</a:t>
            </a:r>
          </a:p>
          <a:p xmlns:a="http://schemas.openxmlformats.org/drawingml/2006/main">
            <a:r>
              <a:t>- **Guía del visual/diagrama:** 1. Delimitar el sistema o la ecuación central. 2. Recorrer en el orden previsto: `E_c = 1/2 mv²` → símbolos, unidades y lectura cualitativa. 3. Cerrar con la idea central: Duplicar la rapidez cuadruplica `E_c` para la misma masa.</a:t>
            </a:r>
          </a:p>
          <a:p xmlns:a="http://schemas.openxmlformats.org/drawingml/2006/main">
            <a:r>
              <a:t>- **Pregunta y respuesta esperada:** “¿Qué relación física expresa la ecuación y qué unidades deben ser compatibles?” Respuesta esperada: Duplicar la rapidez cuadruplica `E_c` para la misma masa.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No usar la fórmula como receta: controlar signo, unidad e hipótesis.</a:t>
            </a:r>
          </a:p>
          <a:p xmlns:a="http://schemas.openxmlformats.org/drawingml/2006/main">
            <a:r>
              <a:t>- **Transición:** “Introducir energía almacenada por deformación.”</a:t>
            </a:r>
          </a:p>
          <a:p xmlns:a="http://schemas.openxmlformats.org/drawingml/2006/main">
            <a:r>
              <a:t>- **Duración:** 4 min.</a:t>
            </a:r>
          </a:p>
          <a:p xmlns:a="http://schemas.openxmlformats.org/drawingml/2006/main">
            <a:r>
              <a:t>- **[Sources]:** TEX 2.6.1; PDF p. 43; INV U02-E09.</a:t>
            </a:r>
          </a:p>
          <a:p xmlns:a="http://schemas.openxmlformats.org/drawingml/2006/main">
            <a:r>
              <a:t>[Asset] units/unit_02/assets/generated/diagrams/u02_dg007_s050/u02_fig_050_007.svg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Relacionar con `F_el = -k_s x` sin derivar. Definir símbolos, signos, unidades e hipótesis antes de usar la expresión.</a:t>
            </a:r>
          </a:p>
          <a:p xmlns:a="http://schemas.openxmlformats.org/drawingml/2006/main">
            <a:r>
              <a:t>- **Guía del visual/diagrama:** 1. Delimitar el sistema o la ecuación central. 2. Recorrer en el orden previsto: `E_el = 1/2 k_s x²` → símbolos, unidades y comparación `x`/`-x`. 3. Cerrar con la idea central: La energía elástica crece con `x²` y no conserva el signo de `x`.</a:t>
            </a:r>
          </a:p>
          <a:p xmlns:a="http://schemas.openxmlformats.org/drawingml/2006/main">
            <a:r>
              <a:t>- **Pregunta y respuesta esperada:** “¿Qué relación física expresa la ecuación y qué unidades deben ser compatibles?” Respuesta esperada: La energía elástica crece con `x²` y no conserva el signo de `x`.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No usar la fórmula como receta: controlar signo, unidad e hipótesis.</a:t>
            </a:r>
          </a:p>
          <a:p xmlns:a="http://schemas.openxmlformats.org/drawingml/2006/main">
            <a:r>
              <a:t>- **Transición:** “Mostrar transformación entre formas.”</a:t>
            </a:r>
          </a:p>
          <a:p xmlns:a="http://schemas.openxmlformats.org/drawingml/2006/main">
            <a:r>
              <a:t>- **Duración:** 4 min.</a:t>
            </a:r>
          </a:p>
          <a:p xmlns:a="http://schemas.openxmlformats.org/drawingml/2006/main">
            <a:r>
              <a:t>- **[Sources]:** TEX 2.6.1; PDF p. 43; INV U02-E10.</a:t>
            </a:r>
          </a:p>
          <a:p xmlns:a="http://schemas.openxmlformats.org/drawingml/2006/main">
            <a:r>
              <a:t>[Asset] units/unit_02/assets/generated/diagrams/u02_dg007_s051/u02_fig_051_007.svg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Advertir que la oscilación temporal se formalizará en U3. Seguir una sola ruta de izquierda a derecha y detenerse en cada transformación.</a:t>
            </a:r>
          </a:p>
          <a:p xmlns:a="http://schemas.openxmlformats.org/drawingml/2006/main">
            <a:r>
              <a:t>- **Guía del visual/diagrama:** 1. Delimitar el sistema o la ecuación central. 2. Recorrer en el orden previsto: Tres estados de una oscilación: equilibrio rápido, extremo detenido, retorno. 3. Cerrar con la idea central: En el modelo sin amortiguamiento cambia la forma, no la energía mecánica total.</a:t>
            </a:r>
          </a:p>
          <a:p xmlns:a="http://schemas.openxmlformats.org/drawingml/2006/main">
            <a:r>
              <a:t>- **Pregunta y respuesta esperada:** “¿Dónde es mayor la energía elástica?” Respuesta esperada: En los extremos de mayor deformación.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No interpretar el esquema como anatomía a escala; usarlo para leer relaciones y direcciones.</a:t>
            </a:r>
          </a:p>
          <a:p xmlns:a="http://schemas.openxmlformats.org/drawingml/2006/main">
            <a:r>
              <a:t>- **Transición:** “Introducir conservación y sistemas reales.”</a:t>
            </a:r>
          </a:p>
          <a:p xmlns:a="http://schemas.openxmlformats.org/drawingml/2006/main">
            <a:r>
              <a:t>- **Duración:** 3 min si se selecciona.</a:t>
            </a:r>
          </a:p>
          <a:p xmlns:a="http://schemas.openxmlformats.org/drawingml/2006/main">
            <a:r>
              <a:t>- **[Sources]:** TEX 2.6.1; PDF p. 43.</a:t>
            </a:r>
          </a:p>
          <a:p xmlns:a="http://schemas.openxmlformats.org/drawingml/2006/main">
            <a:r>
              <a:t>[Asset] units/unit_02/assets/generated/diagrams/u02_dg007_s052/u02_fig_052_007.svg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Diferenciar conservación total de constancia de una forma particular. Dar un ejemplo y un contraejemplo antes de fijar el término.</a:t>
            </a:r>
          </a:p>
          <a:p xmlns:a="http://schemas.openxmlformats.org/drawingml/2006/main">
            <a:r>
              <a:t>- **Guía del visual/diagrama:** 1. Delimitar el sistema o la ecuación central. 2. Recorrer en el orden previsto: Definición → sistema aislado → formas y transferencias → frase de precisión. 3. Cerrar con la idea central: Disminuir energía mecánica útil no significa destruir energía total.</a:t>
            </a:r>
          </a:p>
          <a:p xmlns:a="http://schemas.openxmlformats.org/drawingml/2006/main">
            <a:r>
              <a:t>- **Pregunta y respuesta esperada:** “¿Qué distingue esta magnitud o concepto de los anteriores?” Respuesta esperada: Disminuir energía mecánica útil no significa destruir energía total.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Disminución de energía mecánica útil no significa destrucción de energía total.</a:t>
            </a:r>
          </a:p>
          <a:p xmlns:a="http://schemas.openxmlformats.org/drawingml/2006/main">
            <a:r>
              <a:t>- **Transición:** “Representar rutas posibles.”</a:t>
            </a:r>
          </a:p>
          <a:p xmlns:a="http://schemas.openxmlformats.org/drawingml/2006/main">
            <a:r>
              <a:t>- **Duración:** 3 min.</a:t>
            </a:r>
          </a:p>
          <a:p xmlns:a="http://schemas.openxmlformats.org/drawingml/2006/main">
            <a:r>
              <a:t>- **[Sources]:** PO; TEX 2.6.2; PDF pp. 43–44; INV U02-C22.</a:t>
            </a:r>
          </a:p>
          <a:p xmlns:a="http://schemas.openxmlformats.org/drawingml/2006/main">
            <a:r>
              <a:t>[Asset] units/unit_02/assets/generated/diagrams/u02_dg007_s053/u02_fig_053_007.svg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Hacer que el curso clasifique ejemplos antes de mostrar la ecuación. Seguir una sola ruta de izquierda a derecha y detenerse en cada transformación.</a:t>
            </a:r>
          </a:p>
          <a:p xmlns:a="http://schemas.openxmlformats.org/drawingml/2006/main">
            <a:r>
              <a:t>- **Guía del visual/diagrama:** 1. Delimitar el sistema o la ecuación central. 2. Recorrer en el orden previsto: Cuatro destinos con verbos → sin proporciones ni eficiencia. 3. Cerrar con la idea central: La frontera y el intervalo determinan qué cuenta como entrada o salida.</a:t>
            </a:r>
          </a:p>
          <a:p xmlns:a="http://schemas.openxmlformats.org/drawingml/2006/main">
            <a:r>
              <a:t>- **Pregunta y respuesta esperada:** “¿Qué etapa conecta la entrada con el resultado?” Respuesta esperada: La frontera y el intervalo determinan qué cuenta como entrada o salida.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No interpretar el esquema como anatomía a escala; usarlo para leer relaciones y direcciones.</a:t>
            </a:r>
          </a:p>
          <a:p xmlns:a="http://schemas.openxmlformats.org/drawingml/2006/main">
            <a:r>
              <a:t>- **Transición:** “Traducir el diagrama a una igualdad.”</a:t>
            </a:r>
          </a:p>
          <a:p xmlns:a="http://schemas.openxmlformats.org/drawingml/2006/main">
            <a:r>
              <a:t>- **Duración:** 4 min.</a:t>
            </a:r>
          </a:p>
          <a:p xmlns:a="http://schemas.openxmlformats.org/drawingml/2006/main">
            <a:r>
              <a:t>- **[Sources]:** TEX 2.6.2; figura 2.4 como patrón; PDF p. 44.</a:t>
            </a:r>
          </a:p>
          <a:p xmlns:a="http://schemas.openxmlformats.org/drawingml/2006/main">
            <a:r>
              <a:t>[Asset] units/unit_02/assets/generated/diagrams/u02_dg007_s054/u02_fig_054_007.svg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Comprobar signos y aclarar que `ΔE_mec` es cambio, no energía total. Definir símbolos, signos, unidades e hipótesis antes de usar la expresión.</a:t>
            </a:r>
          </a:p>
          <a:p xmlns:a="http://schemas.openxmlformats.org/drawingml/2006/main">
            <a:r>
              <a:t>- **Guía del visual/diagrama:** 1. Delimitar el sistema o la ecuación central. 2. Recorrer en el orden previsto: `E_entrada = ΔE_mec + E_salida + E_disipada` → unidades y condiciones. 3. Cerrar con la idea central: Si no hay otras vías, la entrada se reparte entre cambio mecánico, salida y disipación.</a:t>
            </a:r>
          </a:p>
          <a:p xmlns:a="http://schemas.openxmlformats.org/drawingml/2006/main">
            <a:r>
              <a:t>- **Pregunta y respuesta esperada:** “¿Qué relación física expresa la ecuación y qué unidades deben ser compatibles?” Respuesta esperada: Si no hay otras vías, la entrada se reparte entre cambio mecánico, salida y disipación.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No usar la fórmula como receta: controlar signo, unidad e hipótesis.</a:t>
            </a:r>
          </a:p>
          <a:p xmlns:a="http://schemas.openxmlformats.org/drawingml/2006/main">
            <a:r>
              <a:t>- **Transición:** “Resolver un balance numérico.”</a:t>
            </a:r>
          </a:p>
          <a:p xmlns:a="http://schemas.openxmlformats.org/drawingml/2006/main">
            <a:r>
              <a:t>- **Duración:** 3 min.</a:t>
            </a:r>
          </a:p>
          <a:p xmlns:a="http://schemas.openxmlformats.org/drawingml/2006/main">
            <a:r>
              <a:t>- **[Sources]:** TEX 2.6.2; PDF p. 44; INV U02-E11.</a:t>
            </a:r>
          </a:p>
          <a:p xmlns:a="http://schemas.openxmlformats.org/drawingml/2006/main">
            <a:r>
              <a:t>[Asset] units/unit_02/assets/generated/diagrams/u02_dg007_s055/u02_fig_055_007.svg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Mantener todas las cantidades en mJ y redondear al final.</a:t>
            </a:r>
          </a:p>
          <a:p xmlns:a="http://schemas.openxmlformats.org/drawingml/2006/main">
            <a:r>
              <a:t>- **Guía del visual/diagrama:** 1. Delimitar el sistema o la ecuación central. 2. Recorrer en el orden previsto: Datos `2,0`, `1,3`, `0,4 mJ` → despeje → cálculo → verificación de suma. 3. Cerrar con la idea central: El valor `0,3 mJ` completa el balance y representa conversión a energía interna.</a:t>
            </a:r>
          </a:p>
          <a:p xmlns:a="http://schemas.openxmlformats.org/drawingml/2006/main">
            <a:r>
              <a:t>- **Pregunta y respuesta esperada:** “¿Cómo justificaría la idea central usando el sistema, los signos o las unidades?” Respuesta esperada: El valor `0,3 mJ` completa el balance y representa conversión a energía interna.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No interpretar el esquema como anatomía a escala; usarlo para leer relaciones y direcciones.</a:t>
            </a:r>
          </a:p>
          <a:p xmlns:a="http://schemas.openxmlformats.org/drawingml/2006/main">
            <a:r>
              <a:t>- **Transición:** “Corregir explícitamente “la energía se perdió”.”</a:t>
            </a:r>
          </a:p>
          <a:p xmlns:a="http://schemas.openxmlformats.org/drawingml/2006/main">
            <a:r>
              <a:t>- **Duración:** 4 min.</a:t>
            </a:r>
          </a:p>
          <a:p xmlns:a="http://schemas.openxmlformats.org/drawingml/2006/main">
            <a:r>
              <a:t>- **[Sources]:** TEX 2.6.3; PDF p. 44; INV U02-EX04.</a:t>
            </a:r>
          </a:p>
          <a:p xmlns:a="http://schemas.openxmlformats.org/drawingml/2006/main">
            <a:r>
              <a:t>[Asset] units/unit_02/assets/generated/diagrams/u02_dg007_s056/u02_fig_056_007.svg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Conectar con oído medio sin desarrollar aún anatomía; anunciar energía interna. Reconstruir las relaciones causales; evitar una enumeración de términos aislados.</a:t>
            </a:r>
          </a:p>
          <a:p xmlns:a="http://schemas.openxmlformats.org/drawingml/2006/main">
            <a:r>
              <a:t>- **Guía del visual/diagrama:** 1. Delimitar el sistema o la ecuación central. 2. Recorrer en el orden previsto: Tres ideas y pregunta sobre un sistema pasivo que aumenta presión. 3. Cerrar con la idea central: Energía puede almacenarse, transferirse o disiparse sin desaparecer.</a:t>
            </a:r>
          </a:p>
          <a:p xmlns:a="http://schemas.openxmlformats.org/drawingml/2006/main">
            <a:r>
              <a:t>- **Pregunta y respuesta esperada:** “¿Aumentar presión equivale a crear energía?” Respuesta esperada: No; un sistema pasivo puede transformar variables y redistribuir energía.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No interpretar el esquema como anatomía a escala; usarlo para leer relaciones y direcciones.</a:t>
            </a:r>
          </a:p>
          <a:p xmlns:a="http://schemas.openxmlformats.org/drawingml/2006/main">
            <a:r>
              <a:t>- **Transición:** “Pausa recomendada; luego distinguir estado térmico y transferencias.”</a:t>
            </a:r>
          </a:p>
          <a:p xmlns:a="http://schemas.openxmlformats.org/drawingml/2006/main">
            <a:r>
              <a:t>- **Duración:** 3 min.</a:t>
            </a:r>
          </a:p>
          <a:p xmlns:a="http://schemas.openxmlformats.org/drawingml/2006/main">
            <a:r>
              <a:t>- **[Sources]:** TEX 2.6.2–2.6.3; ejercicios C7/D3; PDF pp. 44, 50, 53.</a:t>
            </a:r>
          </a:p>
          <a:p xmlns:a="http://schemas.openxmlformats.org/drawingml/2006/main">
            <a:r>
              <a:t>[Asset] units/unit_02/assets/generated/diagrams/u02_dg007_s057/u02_fig_057_007.svg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Recuperar la frontera usada en energía; sugerir pausa previa de 15 min.</a:t>
            </a:r>
          </a:p>
          <a:p xmlns:a="http://schemas.openxmlformats.org/drawingml/2006/main">
            <a:r>
              <a:t>- **Guía del visual/diagrama:** —</a:t>
            </a:r>
          </a:p>
          <a:p xmlns:a="http://schemas.openxmlformats.org/drawingml/2006/main">
            <a:r>
              <a:t>- **Pregunta y respuesta esperada:** “¿Qué pregunta física organiza este bloque?” Respuesta esperada: El lenguaje cotidiano mezcla propiedades del sistema con formas de transferencia.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Mantener consistente el sistema elegido, el eje de signos y las unidades.</a:t>
            </a:r>
          </a:p>
          <a:p xmlns:a="http://schemas.openxmlformats.org/drawingml/2006/main">
            <a:r>
              <a:t>- **Transición:** “Activar clasificación conceptual.”</a:t>
            </a:r>
          </a:p>
          <a:p xmlns:a="http://schemas.openxmlformats.org/drawingml/2006/main">
            <a:r>
              <a:t>- **Duración:** 2 min.</a:t>
            </a:r>
          </a:p>
          <a:p xmlns:a="http://schemas.openxmlformats.org/drawingml/2006/main">
            <a:r>
              <a:t>- **[Sources]:** PO; TEX 2.7.1; PDF p. 44.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No corregir con “caliente/frío” solamente; pedir unidad y mecanismo. Dar tiempo de respuesta individual y pedir una justificación breve antes de discutir.</a:t>
            </a:r>
          </a:p>
          <a:p xmlns:a="http://schemas.openxmlformats.org/drawingml/2006/main">
            <a:r>
              <a:t>- **Guía del visual/diagrama:** 1. Delimitar el sistema o la ecuación central. 2. Recorrer en el orden previsto: Cuatro términos para clasificar y justificar. 3. Cerrar con la idea central: Temperatura y energía interna describen estado; calor y trabajo describen transferencias.</a:t>
            </a:r>
          </a:p>
          <a:p xmlns:a="http://schemas.openxmlformats.org/drawingml/2006/main">
            <a:r>
              <a:t>- **Pregunta y respuesta esperada:** “¿Qué contiene el sistema?” Respuesta esperada: Temperatura y energía interna describen su estado; calor y trabajo no son contenidos.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No interpretar el esquema como anatomía a escala; usarlo para leer relaciones y direcciones.</a:t>
            </a:r>
          </a:p>
          <a:p xmlns:a="http://schemas.openxmlformats.org/drawingml/2006/main">
            <a:r>
              <a:t>- **Transición:** “Definir los términos uno por vez.”</a:t>
            </a:r>
          </a:p>
          <a:p xmlns:a="http://schemas.openxmlformats.org/drawingml/2006/main">
            <a:r>
              <a:t>- **Duración:** 4 min.</a:t>
            </a:r>
          </a:p>
          <a:p xmlns:a="http://schemas.openxmlformats.org/drawingml/2006/main">
            <a:r>
              <a:t>- **[Sources]:** TEX 2.7.1–2.7.2; PDF pp. 44–45.</a:t>
            </a:r>
          </a:p>
          <a:p xmlns:a="http://schemas.openxmlformats.org/drawingml/2006/main">
            <a:r>
              <a:t>[Asset] units/unit_02/assets/generated/diagrams/u02_dg008_s059/u02_fig_059_008.svg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No presentar temperatura como “cantidad de calor”. Dar un ejemplo y un contraejemplo antes de fijar el término.</a:t>
            </a:r>
          </a:p>
          <a:p xmlns:a="http://schemas.openxmlformats.org/drawingml/2006/main">
            <a:r>
              <a:t>- **Guía del visual/diagrama:** —</a:t>
            </a:r>
          </a:p>
          <a:p xmlns:a="http://schemas.openxmlformats.org/drawingml/2006/main">
            <a:r>
              <a:t>- **Pregunta y respuesta esperada:** “¿Qué distingue esta magnitud o concepto de los anteriores?” Respuesta esperada: °C es útil para ambiente; K es necesaria en ecuaciones con temperatura absoluta.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No usar grados Celsius dentro de una ecuación que requiere temperatura absoluta.</a:t>
            </a:r>
          </a:p>
          <a:p xmlns:a="http://schemas.openxmlformats.org/drawingml/2006/main">
            <a:r>
              <a:t>- **Transición:** “Distinguir temperatura de energía interna.”</a:t>
            </a:r>
          </a:p>
          <a:p xmlns:a="http://schemas.openxmlformats.org/drawingml/2006/main">
            <a:r>
              <a:t>- **Duración:** 3 min si se selecciona.</a:t>
            </a:r>
          </a:p>
          <a:p xmlns:a="http://schemas.openxmlformats.org/drawingml/2006/main">
            <a:r>
              <a:t>- **[Sources]:** TEX 2.7.1; PDF p. 44; NOT.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Evitar reducir `U` a energía cinética macroscópica. Dar un ejemplo y un contraejemplo antes de fijar el término.</a:t>
            </a:r>
          </a:p>
          <a:p xmlns:a="http://schemas.openxmlformats.org/drawingml/2006/main">
            <a:r>
              <a:t>- **Guía del visual/diagrama:** 1. Delimitar el sistema o la ecuación central. 2. Recorrer en el orden previsto: Definición, símbolo, unidad y contraejemplo conceptual con distinta cantidad de materia. 3. Cerrar con la idea central: Dos sistemas a igual temperatura pueden tener distinta energía interna.</a:t>
            </a:r>
          </a:p>
          <a:p xmlns:a="http://schemas.openxmlformats.org/drawingml/2006/main">
            <a:r>
              <a:t>- **Pregunta y respuesta esperada:** “¿Qué distingue esta magnitud o concepto de los anteriores?” Respuesta esperada: Dos sistemas a igual temperatura pueden tener distinta energía interna.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No interpretar el esquema como anatomía a escala; usarlo para leer relaciones y direcciones.</a:t>
            </a:r>
          </a:p>
          <a:p xmlns:a="http://schemas.openxmlformats.org/drawingml/2006/main">
            <a:r>
              <a:t>- **Transición:** “Definir calor como transferencia.”</a:t>
            </a:r>
          </a:p>
          <a:p xmlns:a="http://schemas.openxmlformats.org/drawingml/2006/main">
            <a:r>
              <a:t>- **Duración:** 3 min.</a:t>
            </a:r>
          </a:p>
          <a:p xmlns:a="http://schemas.openxmlformats.org/drawingml/2006/main">
            <a:r>
              <a:t>- **[Sources]:** TEX 2.7.1; PDF p. 44; GLO.</a:t>
            </a:r>
          </a:p>
          <a:p xmlns:a="http://schemas.openxmlformats.org/drawingml/2006/main">
            <a:r>
              <a:t>[Asset] units/unit_02/assets/generated/diagrams/u02_dg008_s061/u02_fig_061_008.svg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Usar verbos “recibe/cede calor” con cuidado; no sustantivar como sustancia. Dar un ejemplo y un contraejemplo antes de fijar el término.</a:t>
            </a:r>
          </a:p>
          <a:p xmlns:a="http://schemas.openxmlformats.org/drawingml/2006/main">
            <a:r>
              <a:t>- **Guía del visual/diagrama:** 1. Delimitar el sistema o la ecuación central. 2. Recorrer en el orden previsto: Definición, `Q_calor`, J, condición de diferencia de temperatura. 3. Cerrar con la idea central: El sistema posee energía interna y puede recibir o ceder energía mediante calor.</a:t>
            </a:r>
          </a:p>
          <a:p xmlns:a="http://schemas.openxmlformats.org/drawingml/2006/main">
            <a:r>
              <a:t>- **Pregunta y respuesta esperada:** “¿Qué distingue esta magnitud o concepto de los anteriores?” Respuesta esperada: El sistema posee energía interna y puede recibir o ceder energía mediante calor.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El sistema no “contiene calor”; contiene energía interna.</a:t>
            </a:r>
          </a:p>
          <a:p xmlns:a="http://schemas.openxmlformats.org/drawingml/2006/main">
            <a:r>
              <a:t>- **Transición:** “Reunir los cuatro conceptos con la frontera.”</a:t>
            </a:r>
          </a:p>
          <a:p xmlns:a="http://schemas.openxmlformats.org/drawingml/2006/main">
            <a:r>
              <a:t>- **Duración:** 3 min.</a:t>
            </a:r>
          </a:p>
          <a:p xmlns:a="http://schemas.openxmlformats.org/drawingml/2006/main">
            <a:r>
              <a:t>- **[Sources]:** PO; TEX 2.7.1; PDF p. 44; NOT; GLO.</a:t>
            </a:r>
          </a:p>
          <a:p xmlns:a="http://schemas.openxmlformats.org/drawingml/2006/main">
            <a:r>
              <a:t>[Asset] units/unit_02/assets/generated/diagrams/u02_dg008_s062/u02_fig_062_008.svg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Repetición pedagógica de la frontera: ahora clasifica energía, no fuerzas. Recorrer primero lo común y después la diferencia que cambia la interpretación.</a:t>
            </a:r>
          </a:p>
          <a:p xmlns:a="http://schemas.openxmlformats.org/drawingml/2006/main">
            <a:r>
              <a:t>- **Guía del visual/diagrama:** 1. Delimitar el sistema o la ecuación central. 2. Recorrer en el orden previsto: Dos columnas equivalentes y ejemplos de entrada/salida. 3. Cerrar con la idea central: Una magnitud de estado describe el sistema; una transferencia describe energía que cruza la frontera.</a:t>
            </a:r>
          </a:p>
          <a:p xmlns:a="http://schemas.openxmlformats.org/drawingml/2006/main">
            <a:r>
              <a:t>- **Pregunta y respuesta esperada:** “¿Cuál es la diferencia esencial entre los casos comparados?” Respuesta esperada: Una magnitud de estado describe el sistema; una transferencia describe energía que cruza la frontera.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No interpretar el esquema como anatomía a escala; usarlo para leer relaciones y direcciones.</a:t>
            </a:r>
          </a:p>
          <a:p xmlns:a="http://schemas.openxmlformats.org/drawingml/2006/main">
            <a:r>
              <a:t>- **Transición:** “Formular el balance termodinámico.”</a:t>
            </a:r>
          </a:p>
          <a:p xmlns:a="http://schemas.openxmlformats.org/drawingml/2006/main">
            <a:r>
              <a:t>- **Duración:** 4 min.</a:t>
            </a:r>
          </a:p>
          <a:p xmlns:a="http://schemas.openxmlformats.org/drawingml/2006/main">
            <a:r>
              <a:t>- **[Sources]:** TEX 2.7.1–2.7.2; INV U02-C27–C30.</a:t>
            </a:r>
          </a:p>
          <a:p xmlns:a="http://schemas.openxmlformats.org/drawingml/2006/main">
            <a:r>
              <a:t>[Asset] units/unit_02/assets/generated/diagrams/u02_dg008_s063/u02_fig_063_008.svg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Explicar que otra convención es posible, pero no se mezcla dentro de un cálculo. Definir símbolos, signos, unidades e hipótesis antes de usar la expresión.</a:t>
            </a:r>
          </a:p>
          <a:p xmlns:a="http://schemas.openxmlformats.org/drawingml/2006/main">
            <a:r>
              <a:t>- **Guía del visual/diagrama:** 1. Delimitar el sistema o la ecuación central. 2. Recorrer en el orden previsto: Ecuación, signos, unidades y frase de convención. 3. Cerrar con la idea central: Con `Q_calor` y `W_sobre` positivos al entrar, `ΔU = Q_calor + W_sobre`.</a:t>
            </a:r>
          </a:p>
          <a:p xmlns:a="http://schemas.openxmlformats.org/drawingml/2006/main">
            <a:r>
              <a:t>- **Pregunta y respuesta esperada:** “¿Qué relación física expresa la ecuación y qué unidades deben ser compatibles?” Respuesta esperada: Con `Q_calor` y `W_sobre` positivos al entrar, `ΔU = Q_calor + W_sobre`.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No cambiar la convención de signos a mitad del ejercicio.</a:t>
            </a:r>
          </a:p>
          <a:p xmlns:a="http://schemas.openxmlformats.org/drawingml/2006/main">
            <a:r>
              <a:t>- **Transición:** “Practicar signos antes de calcular.”</a:t>
            </a:r>
          </a:p>
          <a:p xmlns:a="http://schemas.openxmlformats.org/drawingml/2006/main">
            <a:r>
              <a:t>- **Duración:** 3 min.</a:t>
            </a:r>
          </a:p>
          <a:p xmlns:a="http://schemas.openxmlformats.org/drawingml/2006/main">
            <a:r>
              <a:t>- **[Sources]:** TEX 2.7.2; PDF p. 45; NOT; INV U02-E12.</a:t>
            </a:r>
          </a:p>
          <a:p xmlns:a="http://schemas.openxmlformats.org/drawingml/2006/main">
            <a:r>
              <a:t>[Asset] units/unit_02/assets/generated/diagrams/u02_dg008_s064/u02_fig_064_008.svg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Hacer que los estudiantes narren la dirección antes de asignar signo. Seguir una sola ruta de izquierda a derecha y detenerse en cada transformación.</a:t>
            </a:r>
          </a:p>
          <a:p xmlns:a="http://schemas.openxmlformats.org/drawingml/2006/main">
            <a:r>
              <a:t>- **Guía del visual/diagrama:** 1. Delimitar el sistema o la ecuación central. 2. Recorrer en el orden previsto: Cuatro casos: calor entra/sale → trabajo sobre/por el sistema. 3. Cerrar con la idea central: Entrar al sistema es positivo; salir es negativo, bajo la convención declarada.</a:t>
            </a:r>
          </a:p>
          <a:p xmlns:a="http://schemas.openxmlformats.org/drawingml/2006/main">
            <a:r>
              <a:t>- **Pregunta y respuesta esperada:** “¿Qué determina el signo?” Respuesta esperada: La dirección física respecto de la frontera y la convención declarada.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No interpretar el esquema como anatomía a escala; usarlo para leer relaciones y direcciones.</a:t>
            </a:r>
          </a:p>
          <a:p xmlns:a="http://schemas.openxmlformats.org/drawingml/2006/main">
            <a:r>
              <a:t>- **Transición:** “Resolver un caso con dos transferencias opuestas.”</a:t>
            </a:r>
          </a:p>
          <a:p xmlns:a="http://schemas.openxmlformats.org/drawingml/2006/main">
            <a:r>
              <a:t>- **Duración:** 3 min.</a:t>
            </a:r>
          </a:p>
          <a:p xmlns:a="http://schemas.openxmlformats.org/drawingml/2006/main">
            <a:r>
              <a:t>- **[Sources]:** TEX 2.7.2; ejercicio NG4; PDF pp. 45, 51.</a:t>
            </a:r>
          </a:p>
          <a:p xmlns:a="http://schemas.openxmlformats.org/drawingml/2006/main">
            <a:r>
              <a:t>[Asset] units/unit_02/assets/generated/diagrams/u02_dg008_s065/u02_fig_065_008.svg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Insistir en que el signo se decide antes de la suma.</a:t>
            </a:r>
          </a:p>
          <a:p xmlns:a="http://schemas.openxmlformats.org/drawingml/2006/main">
            <a:r>
              <a:t>- **Guía del visual/diagrama:** 1. Delimitar el sistema o la ecuación central. 2. Recorrer en el orden previsto: Situación, signos, sustitución y significado del resultado negativo. 3. Cerrar con la idea central: `Q = -3,0 J` y `W_sobre = +2,0 J` producen `ΔU = -1,0 J`.</a:t>
            </a:r>
          </a:p>
          <a:p xmlns:a="http://schemas.openxmlformats.org/drawingml/2006/main">
            <a:r>
              <a:t>- **Pregunta y respuesta esperada:** “¿Qué significa `ΔU &lt; 0`?” Respuesta esperada: Que la energía interna final es menor que la inicial en el intervalo.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No interpretar el esquema como anatomía a escala; usarlo para leer relaciones y direcciones.</a:t>
            </a:r>
          </a:p>
          <a:p xmlns:a="http://schemas.openxmlformats.org/drawingml/2006/main">
            <a:r>
              <a:t>- **Transición:** “Corregir el lenguaje de “calor almacenado”.”</a:t>
            </a:r>
          </a:p>
          <a:p xmlns:a="http://schemas.openxmlformats.org/drawingml/2006/main">
            <a:r>
              <a:t>- **Duración:** 3 min si se selecciona.</a:t>
            </a:r>
          </a:p>
          <a:p xmlns:a="http://schemas.openxmlformats.org/drawingml/2006/main">
            <a:r>
              <a:t>- **[Sources]:** TEX ejercicio NG4; PDF pp. 51, 56; INV U02-EX05.</a:t>
            </a:r>
          </a:p>
          <a:p xmlns:a="http://schemas.openxmlformats.org/drawingml/2006/main">
            <a:r>
              <a:t>[Asset] units/unit_02/assets/generated/diagrams/u02_dg008_s066/u02_fig_066_008.svg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Volver a la energía disipada: ¿por qué el proceso no se invierte espontáneamente? Reconstruir las relaciones causales; evitar una enumeración de términos aislados.</a:t>
            </a:r>
          </a:p>
          <a:p xmlns:a="http://schemas.openxmlformats.org/drawingml/2006/main">
            <a:r>
              <a:t>- **Guía del visual/diagrama:** —</a:t>
            </a:r>
          </a:p>
          <a:p xmlns:a="http://schemas.openxmlformats.org/drawingml/2006/main">
            <a:r>
              <a:t>- **Pregunta y respuesta esperada:** “¿Cómo se conectan las ideas principales del bloque?” Respuesta esperada: Temperatura y `U` describen; calor y trabajo transfieren; la primera ley relaciona cambios.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Pedir conexiones entre conceptos, no una lista memorizada.</a:t>
            </a:r>
          </a:p>
          <a:p xmlns:a="http://schemas.openxmlformats.org/drawingml/2006/main">
            <a:r>
              <a:t>- **Transición:** “Abrir entropía como dirección de procesos.”</a:t>
            </a:r>
          </a:p>
          <a:p xmlns:a="http://schemas.openxmlformats.org/drawingml/2006/main">
            <a:r>
              <a:t>- **Duración:** 3 min.</a:t>
            </a:r>
          </a:p>
          <a:p xmlns:a="http://schemas.openxmlformats.org/drawingml/2006/main">
            <a:r>
              <a:t>- **[Sources]:** PO; TEX 2.7.1–2.7.2; PDF pp. 44–45.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Conectar con el amortiguamiento observado, sin usar “desorden”.</a:t>
            </a:r>
          </a:p>
          <a:p xmlns:a="http://schemas.openxmlformats.org/drawingml/2006/main">
            <a:r>
              <a:t>- **Guía del visual/diagrama:** —</a:t>
            </a:r>
          </a:p>
          <a:p xmlns:a="http://schemas.openxmlformats.org/drawingml/2006/main">
            <a:r>
              <a:t>- **Pregunta y respuesta esperada:** “¿Qué pregunta física organiza este bloque?” Respuesta esperada: La conservación de energía no indica por sí sola qué procesos ocurren espontáneamente.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Mantener consistente el sistema elegido, el eje de signos y las unidades.</a:t>
            </a:r>
          </a:p>
          <a:p xmlns:a="http://schemas.openxmlformats.org/drawingml/2006/main">
            <a:r>
              <a:t>- **Transición:** “Mostrar un proceso irreversible familiar al modelo.”</a:t>
            </a:r>
          </a:p>
          <a:p xmlns:a="http://schemas.openxmlformats.org/drawingml/2006/main">
            <a:r>
              <a:t>- **Duración:** 2 min.</a:t>
            </a:r>
          </a:p>
          <a:p xmlns:a="http://schemas.openxmlformats.org/drawingml/2006/main">
            <a:r>
              <a:t>- **[Sources]:** PO; TEX 2.7.3; PDF p. 45.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Separar observación macroscópica de definición de entropía.</a:t>
            </a:r>
          </a:p>
          <a:p xmlns:a="http://schemas.openxmlformats.org/drawingml/2006/main">
            <a:r>
              <a:t>- **Guía del visual/diagrama:** —</a:t>
            </a:r>
          </a:p>
          <a:p xmlns:a="http://schemas.openxmlformats.org/drawingml/2006/main">
            <a:r>
              <a:t>- **Pregunta y respuesta esperada:** “¿Cómo justificaría la idea central usando el sistema, los signos o las unidades?” Respuesta esperada: Energía mecánica organizada se convierte en energía interna y no retorna espontáneamente en el modelo.</a:t>
            </a:r>
          </a:p>
          <a:p xmlns:a="http://schemas.openxmlformats.org/drawingml/2006/main">
            <a:r>
              <a:t>- **Demostración/multimedia:** Reproducir el recurso indicado: MEDIA opcional o secuencia estática; no presentar una solución de oscilador. Mostrar una vez sin explicar y otra vez siguiendo el elemento señalado. Si falla la reproducción, usar la alternativa estática completa.</a:t>
            </a:r>
          </a:p>
          <a:p xmlns:a="http://schemas.openxmlformats.org/drawingml/2006/main">
            <a:r>
              <a:t>- **Énfasis/error frecuente:** Mantener consistente el sistema elegido, el eje de signos y las unidades.</a:t>
            </a:r>
          </a:p>
          <a:p xmlns:a="http://schemas.openxmlformats.org/drawingml/2006/main">
            <a:r>
              <a:t>- **Transición:** “Definir la magnitud que caracteriza irreversibilidad.”</a:t>
            </a:r>
          </a:p>
          <a:p xmlns:a="http://schemas.openxmlformats.org/drawingml/2006/main">
            <a:r>
              <a:t>- **Duración:** 3 min.</a:t>
            </a:r>
          </a:p>
          <a:p xmlns:a="http://schemas.openxmlformats.org/drawingml/2006/main">
            <a:r>
              <a:t>- **[Sources]:** TEX 2.5.4 y 2.7.3; PDF pp. 43, 45.</a:t>
            </a:r>
          </a:p>
          <a:p xmlns:a="http://schemas.openxmlformats.org/drawingml/2006/main">
            <a:r>
              <a:t>[Multimedia] El recurso audiovisual previsto no tiene archivo local aprobado; usar la alternativa estática de la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Aclarar que no se calculará con microestados ni integrales. Dar un ejemplo y un contraejemplo antes de fijar el término.</a:t>
            </a:r>
          </a:p>
          <a:p xmlns:a="http://schemas.openxmlformats.org/drawingml/2006/main">
            <a:r>
              <a:t>- **Guía del visual/diagrama:** —</a:t>
            </a:r>
          </a:p>
          <a:p xmlns:a="http://schemas.openxmlformats.org/drawingml/2006/main">
            <a:r>
              <a:t>- **Pregunta y respuesta esperada:** “¿Qué distingue esta magnitud o concepto de los anteriores?” Respuesta esperada: En esta unidad se usa para reconocer irreversibilidad macroscópica.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Evitar definir entropía como desorden cotidiano.</a:t>
            </a:r>
          </a:p>
          <a:p xmlns:a="http://schemas.openxmlformats.org/drawingml/2006/main">
            <a:r>
              <a:t>- **Transición:** “Presentar la desigualdad del sistema total aislado.”</a:t>
            </a:r>
          </a:p>
          <a:p xmlns:a="http://schemas.openxmlformats.org/drawingml/2006/main">
            <a:r>
              <a:t>- **Duración:** 3 min.</a:t>
            </a:r>
          </a:p>
          <a:p xmlns:a="http://schemas.openxmlformats.org/drawingml/2006/main">
            <a:r>
              <a:t>- **[Sources]:** PO; TEX 2.7.3; PDF p. 45; NOT; GLO.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No extender la afirmación a una parte abierta sin considerar entorno. Definir símbolos, signos, unidades e hipótesis antes de usar la expresión.</a:t>
            </a:r>
          </a:p>
          <a:p xmlns:a="http://schemas.openxmlformats.org/drawingml/2006/main">
            <a:r>
              <a:t>- **Guía del visual/diagrama:** 1. Delimitar el sistema o la ecuación central. 2. Recorrer en el orden previsto: Ecuación, sistema total, unidad y dos ramas de interpretación. 3. Cerrar con la idea central: Igualdad es el límite reversible ideal; aumento indica producción de entropía.</a:t>
            </a:r>
          </a:p>
          <a:p xmlns:a="http://schemas.openxmlformats.org/drawingml/2006/main">
            <a:r>
              <a:t>- **Pregunta y respuesta esperada:** “¿Qué diferencia hay entre `=0` y `&gt;0`?” Respuesta esperada: Igualdad: límite reversible ideal; aumento: proceso irreversible.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No usar la fórmula como receta: controlar signo, unidad e hipótesis.</a:t>
            </a:r>
          </a:p>
          <a:p xmlns:a="http://schemas.openxmlformats.org/drawingml/2006/main">
            <a:r>
              <a:t>- **Transición:** “Comparar ideal reversible y proceso real.”</a:t>
            </a:r>
          </a:p>
          <a:p xmlns:a="http://schemas.openxmlformats.org/drawingml/2006/main">
            <a:r>
              <a:t>- **Duración:** 3 min.</a:t>
            </a:r>
          </a:p>
          <a:p xmlns:a="http://schemas.openxmlformats.org/drawingml/2006/main">
            <a:r>
              <a:t>- **[Sources]:** TEX 2.7.3; PDF p. 45; INV U02-E13.</a:t>
            </a:r>
          </a:p>
          <a:p xmlns:a="http://schemas.openxmlformats.org/drawingml/2006/main">
            <a:r>
              <a:t>[Asset] units/unit_02/assets/generated/diagrams/u02_dg009_s071/u02_fig_071_009.svg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Evitar sugerir que un proceso reversible no conserva energía o que uno real la destruye. Recorrer primero lo común y después la diferencia que cambia la interpretación.</a:t>
            </a:r>
          </a:p>
          <a:p xmlns:a="http://schemas.openxmlformats.org/drawingml/2006/main">
            <a:r>
              <a:t>- **Guía del visual/diagrama:** —</a:t>
            </a:r>
          </a:p>
          <a:p xmlns:a="http://schemas.openxmlformats.org/drawingml/2006/main">
            <a:r>
              <a:t>- **Pregunta y respuesta esperada:** “¿Cuál es la diferencia esencial entre los casos comparados?” Respuesta esperada: Reversible es un límite ideal; disipación produce entropía.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Mantener consistente el sistema elegido, el eje de signos y las unidades.</a:t>
            </a:r>
          </a:p>
          <a:p xmlns:a="http://schemas.openxmlformats.org/drawingml/2006/main">
            <a:r>
              <a:t>- **Transición:** “Conectar explícitamente mecánica y termodinámica.”</a:t>
            </a:r>
          </a:p>
          <a:p xmlns:a="http://schemas.openxmlformats.org/drawingml/2006/main">
            <a:r>
              <a:t>- **Duración:** 3 min si se selecciona.</a:t>
            </a:r>
          </a:p>
          <a:p xmlns:a="http://schemas.openxmlformats.org/drawingml/2006/main">
            <a:r>
              <a:t>- **[Sources]:** TEX 2.7.3; PDF p. 45.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Mostrar que este puente resuelve la aparente contradicción entre conservación y disipación. Seguir una sola ruta de izquierda a derecha y detenerse en cada transformación.</a:t>
            </a:r>
          </a:p>
          <a:p xmlns:a="http://schemas.openxmlformats.org/drawingml/2006/main">
            <a:r>
              <a:t>- **Guía del visual/diagrama:** 1. Delimitar el sistema o la ecuación central. 2. Recorrer en el orden previsto: Cadena causal con cuatro etapas y límites del modelo. 3. Cerrar con la idea central: Fuerza disipativa → menor energía mecánica útil → mayor energía interna → producción de entropía.</a:t>
            </a:r>
          </a:p>
          <a:p xmlns:a="http://schemas.openxmlformats.org/drawingml/2006/main">
            <a:r>
              <a:t>- **Pregunta y respuesta esperada:** “¿Qué etapa conecta la entrada con el resultado?” Respuesta esperada: Fuerza disipativa → menor energía mecánica útil → mayor energía interna → producción de entropía.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No interpretar el esquema como anatomía a escala; usarlo para leer relaciones y direcciones.</a:t>
            </a:r>
          </a:p>
          <a:p xmlns:a="http://schemas.openxmlformats.org/drawingml/2006/main">
            <a:r>
              <a:t>- **Transición:** “Corregir metáforas insuficientes.”</a:t>
            </a:r>
          </a:p>
          <a:p xmlns:a="http://schemas.openxmlformats.org/drawingml/2006/main">
            <a:r>
              <a:t>- **Duración:** 3 min.</a:t>
            </a:r>
          </a:p>
          <a:p xmlns:a="http://schemas.openxmlformats.org/drawingml/2006/main">
            <a:r>
              <a:t>- **[Sources]:** TEX 2.5.4, 2.6.2, 2.7.3; BR.</a:t>
            </a:r>
          </a:p>
          <a:p xmlns:a="http://schemas.openxmlformats.org/drawingml/2006/main">
            <a:r>
              <a:t>[Asset] units/unit_02/assets/generated/diagrams/u02_dg009_s073/u02_fig_073_009.svg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No reemplazar una metáfora mala por otra; volver a irreversibilidad y unidad. Pedir primero que identifiquen el error y luego formular la corrección precisa.</a:t>
            </a:r>
          </a:p>
          <a:p xmlns:a="http://schemas.openxmlformats.org/drawingml/2006/main">
            <a:r>
              <a:t>- **Guía del visual/diagrama:** —</a:t>
            </a:r>
          </a:p>
          <a:p xmlns:a="http://schemas.openxmlformats.org/drawingml/2006/main">
            <a:r>
              <a:t>- **Pregunta y respuesta esperada:** “¿La unidad de entropía podría ser la de un eco?” Respuesta esperada: No; J/K identifica una magnitud termodinámica.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Eco y reverberación no son ejemplos de entropía.</a:t>
            </a:r>
          </a:p>
          <a:p xmlns:a="http://schemas.openxmlformats.org/drawingml/2006/main">
            <a:r>
              <a:t>- **Transición:** “Comprobar comprensión antes de aplicar al aire.”</a:t>
            </a:r>
          </a:p>
          <a:p xmlns:a="http://schemas.openxmlformats.org/drawingml/2006/main">
            <a:r>
              <a:t>- **Duración:** 3 min.</a:t>
            </a:r>
          </a:p>
          <a:p xmlns:a="http://schemas.openxmlformats.org/drawingml/2006/main">
            <a:r>
              <a:t>- **[Sources]:** TEX 2.7.3 y 2.9; PDF pp. 45, 49.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Pedir una explicación oral sin usar la palabra “desorden”. Reconstruir las relaciones causales; evitar una enumeración de términos aislados.</a:t>
            </a:r>
          </a:p>
          <a:p xmlns:a="http://schemas.openxmlformats.org/drawingml/2006/main">
            <a:r>
              <a:t>- **Guía del visual/diagrama:** —</a:t>
            </a:r>
          </a:p>
          <a:p xmlns:a="http://schemas.openxmlformats.org/drawingml/2006/main">
            <a:r>
              <a:t>- **Pregunta y respuesta esperada:** “¿Puede conservarse energía y aumentar la entropía?” Respuesta esperada: Sí; las leyes responden preguntas distintas.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Pedir conexiones entre conceptos, no una lista memorizada.</a:t>
            </a:r>
          </a:p>
          <a:p xmlns:a="http://schemas.openxmlformats.org/drawingml/2006/main">
            <a:r>
              <a:t>- **Transición:** “Aplicar termodinámica a pequeñas compresiones del aire.”</a:t>
            </a:r>
          </a:p>
          <a:p xmlns:a="http://schemas.openxmlformats.org/drawingml/2006/main">
            <a:r>
              <a:t>- **Duración:** 3 min.</a:t>
            </a:r>
          </a:p>
          <a:p xmlns:a="http://schemas.openxmlformats.org/drawingml/2006/main">
            <a:r>
              <a:t>- **[Sources]:** TEX 2.6–2.7.3; PDF pp. 43–45.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Anunciar que el desarrollo completo de ondas pertenece a U3/U4.</a:t>
            </a:r>
          </a:p>
          <a:p xmlns:a="http://schemas.openxmlformats.org/drawingml/2006/main">
            <a:r>
              <a:t>- **Guía del visual/diagrama:** —</a:t>
            </a:r>
          </a:p>
          <a:p xmlns:a="http://schemas.openxmlformats.org/drawingml/2006/main">
            <a:r>
              <a:t>- **Pregunta y respuesta esperada:** “¿Qué pregunta física organiza este bloque?” Respuesta esperada: Compresibilidad, inercia y estado termodinámico determinan `c`.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Mantener consistente el sistema elegido, el eje de signos y las unidades.</a:t>
            </a:r>
          </a:p>
          <a:p xmlns:a="http://schemas.openxmlformats.org/drawingml/2006/main">
            <a:r>
              <a:t>- **Transición:** “Observar compresiones y rarefacciones locales.”</a:t>
            </a:r>
          </a:p>
          <a:p xmlns:a="http://schemas.openxmlformats.org/drawingml/2006/main">
            <a:r>
              <a:t>- **Duración:** 1 min.</a:t>
            </a:r>
          </a:p>
          <a:p xmlns:a="http://schemas.openxmlformats.org/drawingml/2006/main">
            <a:r>
              <a:t>- **[Sources]:** TEX 2.7.4; PDF pp. 45–47; CM.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Evitar decir que las partículas viajan con la onda o que adiabático significa temperatura constante.</a:t>
            </a:r>
          </a:p>
          <a:p xmlns:a="http://schemas.openxmlformats.org/drawingml/2006/main">
            <a:r>
              <a:t>- **Guía del visual/diagrama:** —</a:t>
            </a:r>
          </a:p>
          <a:p xmlns:a="http://schemas.openxmlformats.org/drawingml/2006/main">
            <a:r>
              <a:t>- **Pregunta y respuesta esperada:** “¿Cómo justificaría la idea central usando el sistema, los signos o las unidades?” Respuesta esperada: Las variaciones son pequeñas y rápidas; el intercambio de calor durante cada ciclo se aproxima como despreciable.</a:t>
            </a:r>
          </a:p>
          <a:p xmlns:a="http://schemas.openxmlformats.org/drawingml/2006/main">
            <a:r>
              <a:t>- **Demostración/multimedia:** Reproducir el recurso indicado: MEDIA: GIF propio o animación técnica con alternativa estática; partículas locales y frente de propagación. Mostrar una vez sin explicar y otra vez siguiendo el elemento señalado. Si falla la reproducción, usar la alternativa estática completa.</a:t>
            </a:r>
          </a:p>
          <a:p xmlns:a="http://schemas.openxmlformats.org/drawingml/2006/main">
            <a:r>
              <a:t>- **Énfasis/error frecuente:** Mantener consistente el sistema elegido, el eje de signos y las unidades.</a:t>
            </a:r>
          </a:p>
          <a:p xmlns:a="http://schemas.openxmlformats.org/drawingml/2006/main">
            <a:r>
              <a:t>- **Transición:** “Distinguir rapidez de propagación y movimiento local.”</a:t>
            </a:r>
          </a:p>
          <a:p xmlns:a="http://schemas.openxmlformats.org/drawingml/2006/main">
            <a:r>
              <a:t>- **Duración:** 6 min.</a:t>
            </a:r>
          </a:p>
          <a:p xmlns:a="http://schemas.openxmlformats.org/drawingml/2006/main">
            <a:r>
              <a:t>- **[Sources]:** TEX 2.7.4; PDF p. 45; REF xiangBlauert2021.</a:t>
            </a:r>
          </a:p>
          <a:p xmlns:a="http://schemas.openxmlformats.org/drawingml/2006/main">
            <a:r>
              <a:t>[Asset] units/unit_02/assets/generated/diagrams/u02_dg010_s078/u02_fig_078_010.svg (static-fallback; versión final validada).</a:t>
            </a:r>
          </a:p>
          <a:p xmlns:a="http://schemas.openxmlformats.org/drawingml/2006/main">
            <a:r>
              <a:t>[Multimedia] El recurso audiovisual previsto no tiene archivo local aprobado; usar la alternativa estática de la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Repetición pedagógica de U1 con nuevo nivel: ahora el estado termodinámico condiciona `c`. Recorrer primero lo común y después la diferencia que cambia la interpretación.</a:t>
            </a:r>
          </a:p>
          <a:p xmlns:a="http://schemas.openxmlformats.org/drawingml/2006/main">
            <a:r>
              <a:t>- **Guía del visual/diagrama:** 1. Delimitar el sistema o la ecuación central. 2. Recorrer en el orden previsto: Dos descripciones coordinadas, símbolos `c` y `u`, unidades iguales y significados distintos. 3. Cerrar con la idea central: `c` no es la velocidad local de las partículas del aire.</a:t>
            </a:r>
          </a:p>
          <a:p xmlns:a="http://schemas.openxmlformats.org/drawingml/2006/main">
            <a:r>
              <a:t>- **Pregunta y respuesta esperada:** “¿La partícula marcada viaja con el frente?” Respuesta esperada: No; oscila localmente.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No confundir `c` con la velocidad local `u`.</a:t>
            </a:r>
          </a:p>
          <a:p xmlns:a="http://schemas.openxmlformats.org/drawingml/2006/main">
            <a:r>
              <a:t>- **Transición:** “Introducir la aproximación ambiental.”</a:t>
            </a:r>
          </a:p>
          <a:p xmlns:a="http://schemas.openxmlformats.org/drawingml/2006/main">
            <a:r>
              <a:t>- **Duración:** 3 min si se selecciona.</a:t>
            </a:r>
          </a:p>
          <a:p xmlns:a="http://schemas.openxmlformats.org/drawingml/2006/main">
            <a:r>
              <a:t>- **[Sources]:** TEX 2.7.4; PDF p. 45; NOT; U1.</a:t>
            </a:r>
          </a:p>
          <a:p xmlns:a="http://schemas.openxmlformats.org/drawingml/2006/main">
            <a:r>
              <a:t>[Asset] units/unit_02/assets/generated/diagrams/u02_dg010_s078/u02_fig_078_010.svg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No mezclar `ϑ` en °C con temperatura absoluta de la ecuación general. Definir símbolos, signos, unidades e hipótesis antes de usar la expresión.</a:t>
            </a:r>
          </a:p>
          <a:p xmlns:a="http://schemas.openxmlformats.org/drawingml/2006/main">
            <a:r>
              <a:t>- **Guía del visual/diagrama:** 1. Delimitar el sistema o la ecuación central. 2. Recorrer en el orden previsto: Ecuación `c ≈ 331 m/s + ...·ϑ` → símbolos, unidades, rango y condiciones. 3. Cerrar con la idea central: La aproximación describe aire seco en un intervalo limitado; no es universal.</a:t>
            </a:r>
          </a:p>
          <a:p xmlns:a="http://schemas.openxmlformats.org/drawingml/2006/main">
            <a:r>
              <a:t>- **Pregunta y respuesta esperada:** “¿Qué relación física expresa la ecuación y qué unidades deben ser compatibles?” Respuesta esperada: La aproximación describe aire seco en un intervalo limitado; no es universal.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No usar la fórmula como receta: controlar signo, unidad e hipótesis.</a:t>
            </a:r>
          </a:p>
          <a:p xmlns:a="http://schemas.openxmlformats.org/drawingml/2006/main">
            <a:r>
              <a:t>- **Transición:** “Leer la tendencia en un gráfico.”</a:t>
            </a:r>
          </a:p>
          <a:p xmlns:a="http://schemas.openxmlformats.org/drawingml/2006/main">
            <a:r>
              <a:t>- **Duración:** 5 min.</a:t>
            </a:r>
          </a:p>
          <a:p xmlns:a="http://schemas.openxmlformats.org/drawingml/2006/main">
            <a:r>
              <a:t>- **[Sources]:** TEX 2.7.4; PDF p. 46; REF cramer1993, xiangBlauert2021; INV U02-E15.</a:t>
            </a:r>
          </a:p>
          <a:p xmlns:a="http://schemas.openxmlformats.org/drawingml/2006/main">
            <a:r>
              <a:t>[Asset] units/unit_02/assets/generated/diagrams/u02_dg010_s079/u02_fig_079_010.svg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Explicar por qué el eje truncado hace visible una variación pequeña sin falsearla.</a:t>
            </a:r>
          </a:p>
          <a:p xmlns:a="http://schemas.openxmlformats.org/drawingml/2006/main">
            <a:r>
              <a:t>- **Guía del visual/diagrama:** Nombrar primero los ejes y sus unidades; luego leer uno o dos puntos; finalmente formular la conclusión: Entre 0 y 30 °C, el modelo aumenta de 331 a 349 m/s.</a:t>
            </a:r>
          </a:p>
          <a:p xmlns:a="http://schemas.openxmlformats.org/drawingml/2006/main">
            <a:r>
              <a:t>- **Pregunta y respuesta esperada:** “¿Los puntos son mediciones?” Respuesta esperada: No; son valores calculados con el modelo.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El eje truncado hace visible el cambio, pero no debe exagerarse su interpretación.</a:t>
            </a:r>
          </a:p>
          <a:p xmlns:a="http://schemas.openxmlformats.org/drawingml/2006/main">
            <a:r>
              <a:t>- **Transición:** “Aplicar la relación a dos temperaturas.”</a:t>
            </a:r>
          </a:p>
          <a:p xmlns:a="http://schemas.openxmlformats.org/drawingml/2006/main">
            <a:r>
              <a:t>- **Duración:** 5 min.</a:t>
            </a:r>
          </a:p>
          <a:p xmlns:a="http://schemas.openxmlformats.org/drawingml/2006/main">
            <a:r>
              <a:t>- **[Sources]:** TEX figura 2.3; PDF p. 47; REF.</a:t>
            </a:r>
          </a:p>
          <a:p xmlns:a="http://schemas.openxmlformats.org/drawingml/2006/main">
            <a:r>
              <a:t>[Asset] units/unit_02/assets/generated/charts/u02_ch004_velocidad_temperatura/u02_fig_004_velocidad_temperatura.svg (chart;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Pedir primero estimación visual; luego calcular.</a:t>
            </a:r>
          </a:p>
          <a:p xmlns:a="http://schemas.openxmlformats.org/drawingml/2006/main">
            <a:r>
              <a:t>- **Guía del visual/diagrama:** 1. Delimitar el sistema o la ecuación central. 2. Recorrer en el orden previsto: Cálculos para 20 y 30 °C → diferencia → hipótesis. 3. Cerrar con la idea central: El cambio de velocidad no fija por sí solo frecuencia ni percepción.</a:t>
            </a:r>
          </a:p>
          <a:p xmlns:a="http://schemas.openxmlformats.org/drawingml/2006/main">
            <a:r>
              <a:t>- **Pregunta y respuesta esperada:** “¿Cuánto cambia `c` entre 20 y 30 °C?” Respuesta esperada: Aproximadamente 6 m/s.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No interpretar el esquema como anatomía a escala; usarlo para leer relaciones y direcciones.</a:t>
            </a:r>
          </a:p>
          <a:p xmlns:a="http://schemas.openxmlformats.org/drawingml/2006/main">
            <a:r>
              <a:t>- **Transición:** “Corregir la inferencia sobre altura tonal.”</a:t>
            </a:r>
          </a:p>
          <a:p xmlns:a="http://schemas.openxmlformats.org/drawingml/2006/main">
            <a:r>
              <a:t>- **Duración:** 3 min si se selecciona.</a:t>
            </a:r>
          </a:p>
          <a:p xmlns:a="http://schemas.openxmlformats.org/drawingml/2006/main">
            <a:r>
              <a:t>- **[Sources]:** TEX ejemplo temperatura; PDF p. 46; INV U02-EX06.</a:t>
            </a:r>
          </a:p>
          <a:p xmlns:a="http://schemas.openxmlformats.org/drawingml/2006/main">
            <a:r>
              <a:t>[Asset] units/unit_02/assets/generated/charts/u02_ch004_velocidad_temperatura/u02_fig_004_velocidad_temperatura.svg (chart;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No formalizar todavía longitud de onda; usarla como pregunta futura. Pedir primero que identifiquen el error y luego formular la corrección precisa.</a:t>
            </a:r>
          </a:p>
          <a:p xmlns:a="http://schemas.openxmlformats.org/drawingml/2006/main">
            <a:r>
              <a:t>- **Guía del visual/diagrama:** 1. Delimitar el sistema o la ecuación central. 2. Recorrer en el orden previsto: Error, corrección y puente `c = λf` hacia U3 → físico frente a perceptual. 3. Cerrar con la idea central: Si la frecuencia de la fuente permanece fija, el cambio de `c` modifica principalmente la longitud de onda.</a:t>
            </a:r>
          </a:p>
          <a:p xmlns:a="http://schemas.openxmlformats.org/drawingml/2006/main">
            <a:r>
              <a:t>- **Pregunta y respuesta esperada:** “Si `f` permanece fija y aumenta `c`, ¿qué cambia?” Respuesta esperada: La longitud de onda `λ`.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Velocidad de propagación y altura tonal no son sinónimos.</a:t>
            </a:r>
          </a:p>
          <a:p xmlns:a="http://schemas.openxmlformats.org/drawingml/2006/main">
            <a:r>
              <a:t>- **Transición:** “Abrir aplicaciones donde los modelos se combinan.”</a:t>
            </a:r>
          </a:p>
          <a:p xmlns:a="http://schemas.openxmlformats.org/drawingml/2006/main">
            <a:r>
              <a:t>- **Duración:** 3 min.</a:t>
            </a:r>
          </a:p>
          <a:p xmlns:a="http://schemas.openxmlformats.org/drawingml/2006/main">
            <a:r>
              <a:t>- **[Sources]:** TEX 2.7.4 y 2.9; PDF pp. 46, 49; CDM.</a:t>
            </a:r>
          </a:p>
          <a:p xmlns:a="http://schemas.openxmlformats.org/drawingml/2006/main">
            <a:r>
              <a:t>[Asset] units/unit_02/assets/generated/diagrams/u02_dg010_s082/u02_fig_082_010.svg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Recuperar cuatro niveles de descripción usados en U1.</a:t>
            </a:r>
          </a:p>
          <a:p xmlns:a="http://schemas.openxmlformats.org/drawingml/2006/main">
            <a:r>
              <a:t>- **Guía del visual/diagrama:** —</a:t>
            </a:r>
          </a:p>
          <a:p xmlns:a="http://schemas.openxmlformats.org/drawingml/2006/main">
            <a:r>
              <a:t>- **Pregunta y respuesta esperada:** “¿Qué permite afirmar un modelo físico?” Respuesta esperada: Mecanismos y relaciones dentro de sus hipótesis, no diagnósticos ni sensaciones por sí solo.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Mantener consistente el sistema elegido, el eje de signos y las unidades.</a:t>
            </a:r>
          </a:p>
          <a:p xmlns:a="http://schemas.openxmlformats.org/drawingml/2006/main">
            <a:r>
              <a:t>- **Transición:** “Mapear aplicaciones antes de elegir casos.”</a:t>
            </a:r>
          </a:p>
          <a:p xmlns:a="http://schemas.openxmlformats.org/drawingml/2006/main">
            <a:r>
              <a:t>- **Duración:** 1 min.</a:t>
            </a:r>
          </a:p>
          <a:p xmlns:a="http://schemas.openxmlformats.org/drawingml/2006/main">
            <a:r>
              <a:t>- **[Sources]:** TEX 2.8; PDF pp. 46–48; U1.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Evitar explicar todas con igual profundidad; usar el mapa para elegir. Usar el mapa como orientación y señalar dónde se encuentra la clase.</a:t>
            </a:r>
          </a:p>
          <a:p xmlns:a="http://schemas.openxmlformats.org/drawingml/2006/main">
            <a:r>
              <a:t>- **Guía del visual/diagrama:** 1. Delimitar el sistema o la ecuación central. 2. Recorrer en el orden previsto: Mapa de cinco aplicaciones conectadas con cuatro conceptos físicos. 3. Cerrar con la idea central: Presión, fuerza, respuesta mecánica y energía reaparecen en membrana, oído medio, vibrador, tejidos y aire.</a:t>
            </a:r>
          </a:p>
          <a:p xmlns:a="http://schemas.openxmlformats.org/drawingml/2006/main">
            <a:r>
              <a:t>- **Pregunta y respuesta esperada:** “¿Qué conexión del mapa organiza las ideas de la unidad?” Respuesta esperada: Presión, fuerza, respuesta mecánica y energía reaparecen en membrana, oído medio, vibrador, tejidos y aire.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No interpretar el esquema como anatomía a escala; usarlo para leer relaciones y direcciones.</a:t>
            </a:r>
          </a:p>
          <a:p xmlns:a="http://schemas.openxmlformats.org/drawingml/2006/main">
            <a:r>
              <a:t>- **Transición:** “Profundizar membrana y tejidos como límites de modelo.”</a:t>
            </a:r>
          </a:p>
          <a:p xmlns:a="http://schemas.openxmlformats.org/drawingml/2006/main">
            <a:r>
              <a:t>- **Duración:** 3 min si se selecciona.</a:t>
            </a:r>
          </a:p>
          <a:p xmlns:a="http://schemas.openxmlformats.org/drawingml/2006/main">
            <a:r>
              <a:t>- **[Sources]:** TEX 2.8; PDF pp. 46–48; INV aplicaciones.</a:t>
            </a:r>
          </a:p>
          <a:p xmlns:a="http://schemas.openxmlformats.org/drawingml/2006/main">
            <a:r>
              <a:t>[Asset] units/unit_02/assets/generated/diagrams/u02_dg011_s084/u02_fig_084_011.svg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No asociar parámetros del ejemplo con valores anatómicos. Separar explícitamente la utilidad del modelo de sus límites físicos y clínicos.</a:t>
            </a:r>
          </a:p>
          <a:p xmlns:a="http://schemas.openxmlformats.org/drawingml/2006/main">
            <a:r>
              <a:t>- **Guía del visual/diagrama:** —</a:t>
            </a:r>
          </a:p>
          <a:p xmlns:a="http://schemas.openxmlformats.org/drawingml/2006/main">
            <a:r>
              <a:t>- **Pregunta y respuesta esperada:** “¿Qué permite afirmar el modelo y qué queda fuera de su alcance?” Respuesta esperada: Masa, rigidez y amortiguamiento son propiedades distribuidas en estructuras reales.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El modelo concentrado no copia la anatomía.</a:t>
            </a:r>
          </a:p>
          <a:p xmlns:a="http://schemas.openxmlformats.org/drawingml/2006/main">
            <a:r>
              <a:t>- **Transición:** “Pasar a una ruta de energía pasiva.”</a:t>
            </a:r>
          </a:p>
          <a:p xmlns:a="http://schemas.openxmlformats.org/drawingml/2006/main">
            <a:r>
              <a:t>- **Duración:** 3 min si se selecciona.</a:t>
            </a:r>
          </a:p>
          <a:p xmlns:a="http://schemas.openxmlformats.org/drawingml/2006/main">
            <a:r>
              <a:t>- **[Sources]:** TEX 2.8; PDF p. 47; REF fung1981, ugarteburu2022.</a:t>
            </a:r>
          </a:p>
          <a:p xmlns:a="http://schemas.openxmlformats.org/drawingml/2006/main">
            <a:r>
              <a:t>[Asset] units/unit_02/assets/external/u02_img_001_tympanic_membrane_cross_section.svg (external;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Diferir impedancia y anatomía detallada a U6; corregir “ganancia de energía”. Separar explícitamente la utilidad del modelo de sus límites físicos y clínicos.</a:t>
            </a:r>
          </a:p>
          <a:p xmlns:a="http://schemas.openxmlformats.org/drawingml/2006/main">
            <a:r>
              <a:t>- **Guía del visual/diagrama:** 1. Delimitar el sistema o la ecuación central. 2. Recorrer en el orden previsto: Perturbación → membrana → cadena → oído interno → almacenamiento, otras transferencias y disipación. 3. Cerrar con la idea central: Aumentar presión o fuerza no equivale a crear energía.</a:t>
            </a:r>
          </a:p>
          <a:p xmlns:a="http://schemas.openxmlformats.org/drawingml/2006/main">
            <a:r>
              <a:t>- **Pregunta y respuesta esperada:** “¿Qué permite afirmar el modelo y qué queda fuera de su alcance?” Respuesta esperada: Aumentar presión o fuerza no equivale a crear energía.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Aumentar presión o fuerza no implica crear energía.</a:t>
            </a:r>
          </a:p>
          <a:p xmlns:a="http://schemas.openxmlformats.org/drawingml/2006/main">
            <a:r>
              <a:t>- **Transición:** “Aplicar tercera ley a un transductor en contacto.”</a:t>
            </a:r>
          </a:p>
          <a:p xmlns:a="http://schemas.openxmlformats.org/drawingml/2006/main">
            <a:r>
              <a:t>- **Duración:** 4 min.</a:t>
            </a:r>
          </a:p>
          <a:p xmlns:a="http://schemas.openxmlformats.org/drawingml/2006/main">
            <a:r>
              <a:t>- **[Sources]:** TEX 2.8; figura 2.4; PDF p. 48; REF ugarteburu2022.</a:t>
            </a:r>
          </a:p>
          <a:p xmlns:a="http://schemas.openxmlformats.org/drawingml/2006/main">
            <a:r>
              <a:t>[Asset] units/unit_02/assets/generated/diagrams/u02_dg011_s086/u02_fig_086_011.svg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No describir conducción ósea como una única onda por el hueso. Separar explícitamente la utilidad del modelo de sus límites físicos y clínicos.</a:t>
            </a:r>
          </a:p>
          <a:p xmlns:a="http://schemas.openxmlformats.org/drawingml/2006/main">
            <a:r>
              <a:t>- **Guía del visual/diagrama:** 1. Delimitar el sistema o la ecuación central. 2. Recorrer en el orden previsto: Transductor, punto de contacto, fuerzas del par y advertencia multimecanismo. 3. Cerrar con la idea central: El par de interacción no se cancela al analizar solamente la cabeza.</a:t>
            </a:r>
          </a:p>
          <a:p xmlns:a="http://schemas.openxmlformats.org/drawingml/2006/main">
            <a:r>
              <a:t>- **Pregunta y respuesta esperada:** “¿Por qué el par no se cancela al estudiar la cabeza?” Respuesta esperada: La fuerza opuesta actúa sobre el vibrador.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La conducción ósea no se reduce a una única onda que recorre el hueso.</a:t>
            </a:r>
          </a:p>
          <a:p xmlns:a="http://schemas.openxmlformats.org/drawingml/2006/main">
            <a:r>
              <a:t>- **Transición:** “Integrar fuerzas, energía y temperatura en un caso.”</a:t>
            </a:r>
          </a:p>
          <a:p xmlns:a="http://schemas.openxmlformats.org/drawingml/2006/main">
            <a:r>
              <a:t>- **Duración:** 3 min si se selecciona.</a:t>
            </a:r>
          </a:p>
          <a:p xmlns:a="http://schemas.openxmlformats.org/drawingml/2006/main">
            <a:r>
              <a:t>- **[Sources]:** TEX 2.8; ejercicio F2; PDF pp. 47, 53; REF stenfeltGoode2005.</a:t>
            </a:r>
          </a:p>
          <a:p xmlns:a="http://schemas.openxmlformats.org/drawingml/2006/main">
            <a:r>
              <a:t>[Asset] units/unit_02/assets/generated/diagrams/u02_dg011_s087/u02_fig_087_011.svg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Resolver en clase solo una ruta; dejar cálculo completo en respaldo. Resolver en el orden datos e hipótesis → ecuación → sustitución → unidad → interpretación.</a:t>
            </a:r>
          </a:p>
          <a:p xmlns:a="http://schemas.openxmlformats.org/drawingml/2006/main">
            <a:r>
              <a:t>- **Guía del visual/diagrama:** 1. Delimitar el sistema o la ecuación central. 2. Recorrer en el orden previsto: Superficie flexible → tres tareas: fuerza/aceleración, balance de energía, velocidad del aire → límites de inferencia. 3. Cerrar con la idea central: Cada pregunta del caso exige una herramienta distinta y condiciones explícitas.</a:t>
            </a:r>
          </a:p>
          <a:p xmlns:a="http://schemas.openxmlformats.org/drawingml/2006/main">
            <a:r>
              <a:t>- **Pregunta y respuesta esperada:** “¿Qué herramienta usaría para cada tarea?” Respuesta esperada: Newton para fuerzas; balance para energía; `c(ϑ)` para propagación.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No interpretar el esquema como anatomía a escala; usarlo para leer relaciones y direcciones.</a:t>
            </a:r>
          </a:p>
          <a:p xmlns:a="http://schemas.openxmlformats.org/drawingml/2006/main">
            <a:r>
              <a:t>- **Transición:** “Recapitular las relaciones que el caso obligó a elegir.”</a:t>
            </a:r>
          </a:p>
          <a:p xmlns:a="http://schemas.openxmlformats.org/drawingml/2006/main">
            <a:r>
              <a:t>- **Duración:** 5 min.</a:t>
            </a:r>
          </a:p>
          <a:p xmlns:a="http://schemas.openxmlformats.org/drawingml/2006/main">
            <a:r>
              <a:t>- **[Sources]:** TEX ejercicio I1; PDF p. 54; INV U02-EX08.</a:t>
            </a:r>
          </a:p>
          <a:p xmlns:a="http://schemas.openxmlformats.org/drawingml/2006/main">
            <a:r>
              <a:t>[Asset] units/unit_02/assets/generated/diagrams/u02_dg012_s088/u02_fig_088_012.svg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Pedir que cada flecha se explique con una frase y una unidad. Reconstruir las relaciones causales; evitar una enumeración de términos aislados.</a:t>
            </a:r>
          </a:p>
          <a:p xmlns:a="http://schemas.openxmlformats.org/drawingml/2006/main">
            <a:r>
              <a:t>- **Guía del visual/diagrama:** 1. Delimitar el sistema o la ecuación central. 2. Recorrer en el orden previsto: Mapa final: sistema → fuerzas → respuesta → energía → dirección del proceso → aplicación. 3. Cerrar con la idea central: La frontera del sistema organiza tanto la mecánica como la termodinámica.</a:t>
            </a:r>
          </a:p>
          <a:p xmlns:a="http://schemas.openxmlformats.org/drawingml/2006/main">
            <a:r>
              <a:t>- **Pregunta y respuesta esperada:** “¿Qué elemento organiza ambos balances?” Respuesta esperada: La frontera del sistema.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No interpretar el esquema como anatomía a escala; usarlo para leer relaciones y direcciones.</a:t>
            </a:r>
          </a:p>
          <a:p xmlns:a="http://schemas.openxmlformats.org/drawingml/2006/main">
            <a:r>
              <a:t>- **Transición:** “Abrir la pregunta que U3 formalizará.”</a:t>
            </a:r>
          </a:p>
          <a:p xmlns:a="http://schemas.openxmlformats.org/drawingml/2006/main">
            <a:r>
              <a:t>- **Duración:** 3 min.</a:t>
            </a:r>
          </a:p>
          <a:p xmlns:a="http://schemas.openxmlformats.org/drawingml/2006/main">
            <a:r>
              <a:t>- **[Sources]:** PO; TEX 2.10; PDF p. 49; BR.</a:t>
            </a:r>
          </a:p>
          <a:p xmlns:a="http://schemas.openxmlformats.org/drawingml/2006/main">
            <a:r>
              <a:t>[Asset] units/unit_02/assets/generated/diagrams/u02_dg012_s089/u02_fig_089_012.svg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Recuperar el mapa de dependencias y no adelantar ecuaciones de MAS.</a:t>
            </a:r>
          </a:p>
          <a:p xmlns:a="http://schemas.openxmlformats.org/drawingml/2006/main">
            <a:r>
              <a:t>- **Guía del visual/diagrama:** —</a:t>
            </a:r>
          </a:p>
          <a:p xmlns:a="http://schemas.openxmlformats.org/drawingml/2006/main">
            <a:r>
              <a:t>- **Pregunta y respuesta esperada:** “¿Qué falta describir?” Respuesta esperada: La evolución temporal: oscilación, frecuencia y onda.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Mantener consistente el sistema elegido, el eje de signos y las unidades.</a:t>
            </a:r>
          </a:p>
          <a:p xmlns:a="http://schemas.openxmlformats.org/drawingml/2006/main">
            <a:r>
              <a:t>- **Transición:** “Fin de ruta principal.”</a:t>
            </a:r>
          </a:p>
          <a:p xmlns:a="http://schemas.openxmlformats.org/drawingml/2006/main">
            <a:r>
              <a:t>- **Duración:** 2 min.</a:t>
            </a:r>
          </a:p>
          <a:p xmlns:a="http://schemas.openxmlformats.org/drawingml/2006/main">
            <a:r>
              <a:t>- **[Sources]:** TEX conclusión p. 60; CM; CDM.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Usar solo si persisten dificultades de signos.</a:t>
            </a:r>
          </a:p>
          <a:p xmlns:a="http://schemas.openxmlformats.org/drawingml/2006/main">
            <a:r>
              <a:t>- **Guía del visual/diagrama:** 1. Delimitar el sistema o la ecuación central. 2. Recorrer en el orden previsto: Checklist, dos ejemplos y notación. 3. Cerrar con la idea central: La elección de sistema y eje precede a la suma.</a:t>
            </a:r>
          </a:p>
          <a:p xmlns:a="http://schemas.openxmlformats.org/drawingml/2006/main">
            <a:r>
              <a:t>- **Pregunta y respuesta esperada:** “¿Cómo justificaría la idea central usando el sistema, los signos o las unidades?” Respuesta esperada: La elección de sistema y eje precede a la suma.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No interpretar el esquema como anatomía a escala; usarlo para leer relaciones y direcciones.</a:t>
            </a:r>
          </a:p>
          <a:p xmlns:a="http://schemas.openxmlformats.org/drawingml/2006/main">
            <a:r>
              <a:t>- **Transición:** “Respaldo independiente.”</a:t>
            </a:r>
          </a:p>
          <a:p xmlns:a="http://schemas.openxmlformats.org/drawingml/2006/main">
            <a:r>
              <a:t>- **Duración:** A demanda.</a:t>
            </a:r>
          </a:p>
          <a:p xmlns:a="http://schemas.openxmlformats.org/drawingml/2006/main">
            <a:r>
              <a:t>- **[Sources]:** TEX 2.4.1; NOT.</a:t>
            </a:r>
          </a:p>
          <a:p xmlns:a="http://schemas.openxmlformats.org/drawingml/2006/main">
            <a:r>
              <a:t>[Asset] units/unit_02/assets/generated/diagrams/u02_dg013_s091/u02_fig_091_013.svg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No mostrar antes de discutir.</a:t>
            </a:r>
          </a:p>
          <a:p xmlns:a="http://schemas.openxmlformats.org/drawingml/2006/main">
            <a:r>
              <a:t>- **Guía del visual/diagrama:** 1. Delimitar el sistema o la ecuación central. 2. Recorrer en el orden previsto: Soluciones breves de las cuatro afirmaciones de U02-003. 3. Cerrar con la idea central: Cada respuesta se justifica con una ley, unidad o balance.</a:t>
            </a:r>
          </a:p>
          <a:p xmlns:a="http://schemas.openxmlformats.org/drawingml/2006/main">
            <a:r>
              <a:t>- **Pregunta y respuesta esperada:** “¿Cómo justificaría la idea central usando el sistema, los signos o las unidades?” Respuesta esperada: Cada respuesta se justifica con una ley, unidad o balance.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No interpretar el esquema como anatomía a escala; usarlo para leer relaciones y direcciones.</a:t>
            </a:r>
          </a:p>
          <a:p xmlns:a="http://schemas.openxmlformats.org/drawingml/2006/main">
            <a:r>
              <a:t>- **Transición:** “Respaldo independiente.”</a:t>
            </a:r>
          </a:p>
          <a:p xmlns:a="http://schemas.openxmlformats.org/drawingml/2006/main">
            <a:r>
              <a:t>- **Duración:** A demanda.</a:t>
            </a:r>
          </a:p>
          <a:p xmlns:a="http://schemas.openxmlformats.org/drawingml/2006/main">
            <a:r>
              <a:t>- **[Sources]:** TEX 2.9; ejercicios D1–D4; BR.</a:t>
            </a:r>
          </a:p>
          <a:p xmlns:a="http://schemas.openxmlformats.org/drawingml/2006/main">
            <a:r>
              <a:t>[Asset] units/unit_02/assets/generated/diagrams/u02_dg013_s092/u02_fig_092_013.svg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Seleccionar un caso según dudas del grupo.</a:t>
            </a:r>
          </a:p>
          <a:p xmlns:a="http://schemas.openxmlformats.org/drawingml/2006/main">
            <a:r>
              <a:t>- **Guía del visual/diagrama:** 1. Delimitar el sistema o la ecuación central. 2. Recorrer en el orden previsto: Tres casos: libro sobre mesa, membrana–aire, vibrador–cabeza. 3. Cerrar con la idea central: Par de interacción y fuerzas equilibradas usan cuerpos diferentes.</a:t>
            </a:r>
          </a:p>
          <a:p xmlns:a="http://schemas.openxmlformats.org/drawingml/2006/main">
            <a:r>
              <a:t>- **Pregunta y respuesta esperada:** “¿Cómo justificaría la idea central usando el sistema, los signos o las unidades?” Respuesta esperada: Par de interacción y fuerzas equilibradas usan cuerpos diferentes.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No interpretar el esquema como anatomía a escala; usarlo para leer relaciones y direcciones.</a:t>
            </a:r>
          </a:p>
          <a:p xmlns:a="http://schemas.openxmlformats.org/drawingml/2006/main">
            <a:r>
              <a:t>- **Transición:** “Respaldo independiente.”</a:t>
            </a:r>
          </a:p>
          <a:p xmlns:a="http://schemas.openxmlformats.org/drawingml/2006/main">
            <a:r>
              <a:t>- **Duración:** A demanda.</a:t>
            </a:r>
          </a:p>
          <a:p xmlns:a="http://schemas.openxmlformats.org/drawingml/2006/main">
            <a:r>
              <a:t>- **[Sources]:** TEX 2.4.4; ejercicios C4/F2.</a:t>
            </a:r>
          </a:p>
          <a:p xmlns:a="http://schemas.openxmlformats.org/drawingml/2006/main">
            <a:r>
              <a:t>[Asset] units/unit_02/assets/generated/diagrams/u02_dg004_s093/u02_fig_093_004.svg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Explicar diferencias de fuente, no convertirlas en contenido evaluable.</a:t>
            </a:r>
          </a:p>
          <a:p xmlns:a="http://schemas.openxmlformats.org/drawingml/2006/main">
            <a:r>
              <a:t>- **Guía del visual/diagrama:** —</a:t>
            </a:r>
          </a:p>
          <a:p xmlns:a="http://schemas.openxmlformats.org/drawingml/2006/main">
            <a:r>
              <a:t>- **Pregunta y respuesta esperada:** “¿Cómo justificaría la idea central usando el sistema, los signos o las unidades?” Respuesta esperada: `S/A`, `k_s/k`, `F_neta/ΣF` deben leerse sin alternar dentro de una explicación.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Usar solo si resuelve una duda concreta; no interrumpir la ruta central sin necesidad.</a:t>
            </a:r>
          </a:p>
          <a:p xmlns:a="http://schemas.openxmlformats.org/drawingml/2006/main">
            <a:r>
              <a:t>- **Transición:** “Respaldo independiente.”</a:t>
            </a:r>
          </a:p>
          <a:p xmlns:a="http://schemas.openxmlformats.org/drawingml/2006/main">
            <a:r>
              <a:t>- **Duración:** A demanda.</a:t>
            </a:r>
          </a:p>
          <a:p xmlns:a="http://schemas.openxmlformats.org/drawingml/2006/main">
            <a:r>
              <a:t>- **[Sources]:** TEX; NOT; U1; open_decisions.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Usar como referencia durante ejercicios.</a:t>
            </a:r>
          </a:p>
          <a:p xmlns:a="http://schemas.openxmlformats.org/drawingml/2006/main">
            <a:r>
              <a:t>- **Guía del visual/diagrama:** 1. Delimitar el sistema o la ecuación central. 2. Recorrer en el orden previsto: `m`, `k_s`, `b`, `x`, `v`, `a`, fuerzas y unidades. 3. Cerrar con la idea central: Cada parámetro representa una propiedad distinta.</a:t>
            </a:r>
          </a:p>
          <a:p xmlns:a="http://schemas.openxmlformats.org/drawingml/2006/main">
            <a:r>
              <a:t>- **Pregunta y respuesta esperada:** “¿Cómo justificaría la idea central usando el sistema, los signos o las unidades?” Respuesta esperada: Cada parámetro representa una propiedad distinta.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No interpretar el esquema como anatomía a escala; usarlo para leer relaciones y direcciones.</a:t>
            </a:r>
          </a:p>
          <a:p xmlns:a="http://schemas.openxmlformats.org/drawingml/2006/main">
            <a:r>
              <a:t>- **Transición:** “Respaldo independiente.”</a:t>
            </a:r>
          </a:p>
          <a:p xmlns:a="http://schemas.openxmlformats.org/drawingml/2006/main">
            <a:r>
              <a:t>- **Duración:** A demanda.</a:t>
            </a:r>
          </a:p>
          <a:p xmlns:a="http://schemas.openxmlformats.org/drawingml/2006/main">
            <a:r>
              <a:t>- **[Sources]:** TEX 2.5; PDF pp. 41–42.</a:t>
            </a:r>
          </a:p>
          <a:p xmlns:a="http://schemas.openxmlformats.org/drawingml/2006/main">
            <a:r>
              <a:t>[Asset] units/unit_02/assets/generated/diagrams/u02_dg014_s095/u02_fig_095_014.svg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Mostrar después de recoger procedimientos.</a:t>
            </a:r>
          </a:p>
          <a:p xmlns:a="http://schemas.openxmlformats.org/drawingml/2006/main">
            <a:r>
              <a:t>- **Guía del visual/diagrama:** 1. Delimitar el sistema o la ecuación central. 2. Recorrer en el orden previsto: Ejemplo del libro con todos los pasos y control dimensional. 3. Cerrar con la idea central: Signos, resultante y aceleración deben verificarse por separado.</a:t>
            </a:r>
          </a:p>
          <a:p xmlns:a="http://schemas.openxmlformats.org/drawingml/2006/main">
            <a:r>
              <a:t>- **Pregunta y respuesta esperada:** “¿Cómo justificaría la idea central usando el sistema, los signos o las unidades?” Respuesta esperada: Signos, resultante y aceleración deben verificarse por separado.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No interpretar el esquema como anatomía a escala; usarlo para leer relaciones y direcciones.</a:t>
            </a:r>
          </a:p>
          <a:p xmlns:a="http://schemas.openxmlformats.org/drawingml/2006/main">
            <a:r>
              <a:t>- **Transición:** “Respaldo independiente.”</a:t>
            </a:r>
          </a:p>
          <a:p xmlns:a="http://schemas.openxmlformats.org/drawingml/2006/main">
            <a:r>
              <a:t>- **Duración:** A demanda.</a:t>
            </a:r>
          </a:p>
          <a:p xmlns:a="http://schemas.openxmlformats.org/drawingml/2006/main">
            <a:r>
              <a:t>- **[Sources]:** TEX 2.5.3; PDF p. 42.</a:t>
            </a:r>
          </a:p>
          <a:p xmlns:a="http://schemas.openxmlformats.org/drawingml/2006/main">
            <a:r>
              <a:t>[Asset] units/unit_02/assets/generated/diagrams/u02_dg014_s096/u02_fig_096_014.svg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Reservar absorción para U9; usar solo para aclaración.</a:t>
            </a:r>
          </a:p>
          <a:p xmlns:a="http://schemas.openxmlformats.org/drawingml/2006/main">
            <a:r>
              <a:t>- **Guía del visual/diagrama:** —</a:t>
            </a:r>
          </a:p>
          <a:p xmlns:a="http://schemas.openxmlformats.org/drawingml/2006/main">
            <a:r>
              <a:t>- **Pregunta y respuesta esperada:** “¿Cómo justificaría la idea central usando el sistema, los signos o las unidades?” Respuesta esperada: La observación de menor amplitud no identifica un único mecanismo.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Usar solo si resuelve una duda concreta; no interrumpir la ruta central sin necesidad.</a:t>
            </a:r>
          </a:p>
          <a:p xmlns:a="http://schemas.openxmlformats.org/drawingml/2006/main">
            <a:r>
              <a:t>- **Transición:** “Respaldo independiente.”</a:t>
            </a:r>
          </a:p>
          <a:p xmlns:a="http://schemas.openxmlformats.org/drawingml/2006/main">
            <a:r>
              <a:t>- **Duración:** A demanda.</a:t>
            </a:r>
          </a:p>
          <a:p xmlns:a="http://schemas.openxmlformats.org/drawingml/2006/main">
            <a:r>
              <a:t>- **[Sources]:** TEX 2.5.4; GLO; CM.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Dividir durante producción si no entra a tamaño mínimo.</a:t>
            </a:r>
          </a:p>
          <a:p xmlns:a="http://schemas.openxmlformats.org/drawingml/2006/main">
            <a:r>
              <a:t>- **Guía del visual/diagrama:** 1. Delimitar el sistema o la ecuación central. 2. Recorrer en el orden previsto: Resultados de fuerza sobre superficie y MRA guiado. 3. Cerrar con la idea central: Las unidades y los signos explican el resultado.</a:t>
            </a:r>
          </a:p>
          <a:p xmlns:a="http://schemas.openxmlformats.org/drawingml/2006/main">
            <a:r>
              <a:t>- **Pregunta y respuesta esperada:** “¿Cómo justificaría la idea central usando el sistema, los signos o las unidades?” Respuesta esperada: Las unidades y los signos explican el resultado.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Usar solo si resuelve una duda concreta; no interrumpir la ruta central sin necesidad.</a:t>
            </a:r>
          </a:p>
          <a:p xmlns:a="http://schemas.openxmlformats.org/drawingml/2006/main">
            <a:r>
              <a:t>- **Transición:** “Respaldo independiente.”</a:t>
            </a:r>
          </a:p>
          <a:p xmlns:a="http://schemas.openxmlformats.org/drawingml/2006/main">
            <a:r>
              <a:t>- **Duración:** A demanda.</a:t>
            </a:r>
          </a:p>
          <a:p xmlns:a="http://schemas.openxmlformats.org/drawingml/2006/main">
            <a:r>
              <a:t>- **[Sources]:** TEX ejercicios NG1/NG2; PDF pp. 51, 56.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Usar como tarea o transferencia.</a:t>
            </a:r>
          </a:p>
          <a:p xmlns:a="http://schemas.openxmlformats.org/drawingml/2006/main">
            <a:r>
              <a:t>- **Guía del visual/diagrama:** —</a:t>
            </a:r>
          </a:p>
          <a:p xmlns:a="http://schemas.openxmlformats.org/drawingml/2006/main">
            <a:r>
              <a:t>- **Pregunta y respuesta esperada:** “¿Qué debe acompañar a cada resultado?” Respuesta esperada: Ecuación, unidad e interpretación.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Usar solo si resuelve una duda concreta; no interrumpir la ruta central sin necesidad.</a:t>
            </a:r>
          </a:p>
          <a:p xmlns:a="http://schemas.openxmlformats.org/drawingml/2006/main">
            <a:r>
              <a:t>- **Transición:** “Respaldo independiente.”</a:t>
            </a:r>
          </a:p>
          <a:p xmlns:a="http://schemas.openxmlformats.org/drawingml/2006/main">
            <a:r>
              <a:t>- **Duración:** A demanda.</a:t>
            </a:r>
          </a:p>
          <a:p xmlns:a="http://schemas.openxmlformats.org/drawingml/2006/main">
            <a:r>
              <a:t>- **[Sources]:** TEX ejercicios NA1/NA2; PDF p. 52.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Explicar qué afirmación sostiene cada referencia. Indicar para qué pregunta sirve cada grupo de fuentes; no leer la lista completa.</a:t>
            </a:r>
          </a:p>
          <a:p xmlns:a="http://schemas.openxmlformats.org/drawingml/2006/main">
            <a:r>
              <a:t>- **Guía del visual/diagrama:** —</a:t>
            </a:r>
          </a:p>
          <a:p xmlns:a="http://schemas.openxmlformats.org/drawingml/2006/main">
            <a:r>
              <a:t>- **Pregunta y respuesta esperada:** “¿Cómo justificaría la idea central usando el sistema, los signos o las unidades?” Respuesta esperada: Las aplicaciones se apoyan en bibliografía del capítulo.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Mantener consistente el sistema elegido, el eje de signos y las unidades.</a:t>
            </a:r>
          </a:p>
          <a:p xmlns:a="http://schemas.openxmlformats.org/drawingml/2006/main">
            <a:r>
              <a:t>- **Transición:** “Cierra respaldo mecánico.”</a:t>
            </a:r>
          </a:p>
          <a:p xmlns:a="http://schemas.openxmlformats.org/drawingml/2006/main">
            <a:r>
              <a:t>- **Duración:** A demanda.</a:t>
            </a:r>
          </a:p>
          <a:p xmlns:a="http://schemas.openxmlformats.org/drawingml/2006/main">
            <a:r>
              <a:t>- **[Sources]:** REF ugarteburu2022, stenfeltGoode2005, fung1981.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No derivar; mostrar relación `c ∝ √T` a composición constante.</a:t>
            </a:r>
          </a:p>
          <a:p xmlns:a="http://schemas.openxmlformats.org/drawingml/2006/main">
            <a:r>
              <a:t>- **Guía del visual/diagrama:** 1. Delimitar el sistema o la ecuación central. 2. Recorrer en el orden previsto: Ecuación, parámetros, unidades e hipótesis de gas ideal adiabático. 3. Cerrar con la idea central: `c = √(γRT/M)` depende de propiedades térmicas y composición.</a:t>
            </a:r>
          </a:p>
          <a:p xmlns:a="http://schemas.openxmlformats.org/drawingml/2006/main">
            <a:r>
              <a:t>- **Pregunta y respuesta esperada:** “¿Cómo justificaría la idea central usando el sistema, los signos o las unidades?” Respuesta esperada: `c = √(γRT/M)` depende de propiedades térmicas y composición.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La temperatura de la ecuación general debe ser absoluta.</a:t>
            </a:r>
          </a:p>
          <a:p xmlns:a="http://schemas.openxmlformats.org/drawingml/2006/main">
            <a:r>
              <a:t>- **Transición:** “Respaldo independiente.”</a:t>
            </a:r>
          </a:p>
          <a:p xmlns:a="http://schemas.openxmlformats.org/drawingml/2006/main">
            <a:r>
              <a:t>- **Duración:** A demanda.</a:t>
            </a:r>
          </a:p>
          <a:p xmlns:a="http://schemas.openxmlformats.org/drawingml/2006/main">
            <a:r>
              <a:t>- **[Sources]:** TEX 2.7.4; PDF p. 46; REF cramer1993, xiangBlauert2021.</a:t>
            </a:r>
          </a:p>
          <a:p xmlns:a="http://schemas.openxmlformats.org/drawingml/2006/main">
            <a:r>
              <a:t>[Asset] units/unit_02/assets/generated/diagrams/u02_dg010_s101/u02_fig_101_010.svg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Usar solo si el grupo pregunta por los parámetros o la raíz.</a:t>
            </a:r>
          </a:p>
          <a:p xmlns:a="http://schemas.openxmlformats.org/drawingml/2006/main">
            <a:r>
              <a:t>- **Guía del visual/diagrama:** 1. Delimitar el sistema o la ecuación central. 2. Recorrer en el orden previsto: Cadena de unidades `J·mol⁻¹·K⁻¹`, K y kg·mol⁻¹. 3. Cerrar con la idea central: El cociente dentro de la raíz tiene dimensión de velocidad al cuadrado.</a:t>
            </a:r>
          </a:p>
          <a:p xmlns:a="http://schemas.openxmlformats.org/drawingml/2006/main">
            <a:r>
              <a:t>- **Pregunta y respuesta esperada:** “¿Cómo justificaría la idea central usando el sistema, los signos o las unidades?” Respuesta esperada: El cociente dentro de la raíz tiene dimensión de velocidad al cuadrado.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Usar solo si resuelve una duda concreta; no interrumpir la ruta central sin necesidad.</a:t>
            </a:r>
          </a:p>
          <a:p xmlns:a="http://schemas.openxmlformats.org/drawingml/2006/main">
            <a:r>
              <a:t>- **Transición:** “Respaldo independiente.”</a:t>
            </a:r>
          </a:p>
          <a:p xmlns:a="http://schemas.openxmlformats.org/drawingml/2006/main">
            <a:r>
              <a:t>- **Duración:** A demanda.</a:t>
            </a:r>
          </a:p>
          <a:p xmlns:a="http://schemas.openxmlformats.org/drawingml/2006/main">
            <a:r>
              <a:t>- **[Sources]:** TEX 2.7.4; NOT.</a:t>
            </a:r>
          </a:p>
          <a:p xmlns:a="http://schemas.openxmlformats.org/drawingml/2006/main">
            <a:r>
              <a:t>[Asset] units/unit_02/assets/generated/diagrams/u02_dg010_s102/u02_fig_102_010.svg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Conectar con función inversa de U1 y no con altura tonal.</a:t>
            </a:r>
          </a:p>
          <a:p xmlns:a="http://schemas.openxmlformats.org/drawingml/2006/main">
            <a:r>
              <a:t>- **Guía del visual/diagrama:** 1. Delimitar el sistema o la ecuación central. 2. Recorrer en el orden previsto: Ejercicio NA5 para 5 °C y 25 °C → resultados en notas. 3. Cerrar con la idea central: Cambiar `c` modifica el tiempo de propagación en una distancia fija.</a:t>
            </a:r>
          </a:p>
          <a:p xmlns:a="http://schemas.openxmlformats.org/drawingml/2006/main">
            <a:r>
              <a:t>- **Pregunta y respuesta esperada:** “¿Por qué cambia el tiempo si la distancia es la misma?” Respuesta esperada: Porque `t=d/c` y cambia `c`.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No interpretar el esquema como anatomía a escala; usarlo para leer relaciones y direcciones.</a:t>
            </a:r>
          </a:p>
          <a:p xmlns:a="http://schemas.openxmlformats.org/drawingml/2006/main">
            <a:r>
              <a:t>- **Transición:** “Respaldo independiente.”</a:t>
            </a:r>
          </a:p>
          <a:p xmlns:a="http://schemas.openxmlformats.org/drawingml/2006/main">
            <a:r>
              <a:t>- **Duración:** A demanda.</a:t>
            </a:r>
          </a:p>
          <a:p xmlns:a="http://schemas.openxmlformats.org/drawingml/2006/main">
            <a:r>
              <a:t>- **[Sources]:** TEX ejercicio NA5; PDF pp. 52, 57.</a:t>
            </a:r>
          </a:p>
          <a:p xmlns:a="http://schemas.openxmlformats.org/drawingml/2006/main">
            <a:r>
              <a:t>[Asset] units/unit_02/assets/generated/charts/u02_ch004_velocidad_temperatura/u02_fig_004_velocidad_temperatura.svg (chart;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Alternar trabajo sobre y por el sistema sin cambiar convención.</a:t>
            </a:r>
          </a:p>
          <a:p xmlns:a="http://schemas.openxmlformats.org/drawingml/2006/main">
            <a:r>
              <a:t>- **Guía del visual/diagrama:** 1. Delimitar el sistema o la ecuación central. 2. Recorrer en el orden previsto: Cuatro mini casos y resultados ocultos en notas. 3. Cerrar con la idea central: La dirección física decide el signo.</a:t>
            </a:r>
          </a:p>
          <a:p xmlns:a="http://schemas.openxmlformats.org/drawingml/2006/main">
            <a:r>
              <a:t>- **Pregunta y respuesta esperada:** “¿Se puede asignar el signo sin dibujar la dirección?” Respuesta esperada: Es más seguro dibujar primero la transferencia.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No interpretar el esquema como anatomía a escala; usarlo para leer relaciones y direcciones.</a:t>
            </a:r>
          </a:p>
          <a:p xmlns:a="http://schemas.openxmlformats.org/drawingml/2006/main">
            <a:r>
              <a:t>- **Transición:** “Respaldo independiente.”</a:t>
            </a:r>
          </a:p>
          <a:p xmlns:a="http://schemas.openxmlformats.org/drawingml/2006/main">
            <a:r>
              <a:t>- **Duración:** A demanda.</a:t>
            </a:r>
          </a:p>
          <a:p xmlns:a="http://schemas.openxmlformats.org/drawingml/2006/main">
            <a:r>
              <a:t>- **[Sources]:** TEX 2.7.2; ejercicios NG4/NA4.</a:t>
            </a:r>
          </a:p>
          <a:p xmlns:a="http://schemas.openxmlformats.org/drawingml/2006/main">
            <a:r>
              <a:t>[Asset] units/unit_02/assets/generated/diagrams/u02_dg015_s104/u02_fig_104_015.svg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No introducir cálculo de entropía.</a:t>
            </a:r>
          </a:p>
          <a:p xmlns:a="http://schemas.openxmlformats.org/drawingml/2006/main">
            <a:r>
              <a:t>- **Guía del visual/diagrama:** 1. Delimitar el sistema o la ecuación central. 2. Recorrer en el orden previsto: Dos casos, alcance de sistema total aislado y advertencia sobre subsistemas. 3. Cerrar con la idea central: `ΔS_total = 0` es un límite ideal; `&gt; 0` caracteriza irreversibilidad.</a:t>
            </a:r>
          </a:p>
          <a:p xmlns:a="http://schemas.openxmlformats.org/drawingml/2006/main">
            <a:r>
              <a:t>- **Pregunta y respuesta esperada:** “¿Puede disminuir la entropía de un subsistema?” Respuesta esperada: Sí, si el total aislado cumple `ΔS_total ≥ 0`.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La desigualdad se aplica al sistema total aislado, no automáticamente a cada subsistema.</a:t>
            </a:r>
          </a:p>
          <a:p xmlns:a="http://schemas.openxmlformats.org/drawingml/2006/main">
            <a:r>
              <a:t>- **Transición:** “Respaldo independiente.”</a:t>
            </a:r>
          </a:p>
          <a:p xmlns:a="http://schemas.openxmlformats.org/drawingml/2006/main">
            <a:r>
              <a:t>- **Duración:** A demanda.</a:t>
            </a:r>
          </a:p>
          <a:p xmlns:a="http://schemas.openxmlformats.org/drawingml/2006/main">
            <a:r>
              <a:t>- **[Sources]:** TEX 2.7.3; PDF p. 45.</a:t>
            </a:r>
          </a:p>
          <a:p xmlns:a="http://schemas.openxmlformats.org/drawingml/2006/main">
            <a:r>
              <a:t>[Asset] units/unit_02/assets/generated/diagrams/u02_dg009_s105/u02_fig_105_009.svg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No copiar un párrafo del libro; mantener todos los datos y límites.</a:t>
            </a:r>
          </a:p>
          <a:p xmlns:a="http://schemas.openxmlformats.org/drawingml/2006/main">
            <a:r>
              <a:t>- **Guía del visual/diagrama:** 1. Delimitar el sistema o la ecuación central. 2. Recorrer en el orden previsto: Enunciado I1 repartido en tres grupos de datos y siete tareas. 3. Cerrar con la idea central: Separar datos mecánicos, energéticos y térmicos reduce la carga.</a:t>
            </a:r>
          </a:p>
          <a:p xmlns:a="http://schemas.openxmlformats.org/drawingml/2006/main">
            <a:r>
              <a:t>- **Pregunta y respuesta esperada:** “¿Cómo justificaría la idea central usando el sistema, los signos o las unidades?” Respuesta esperada: Separar datos mecánicos, energéticos y térmicos reduce la carga.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No interpretar el esquema como anatomía a escala; usarlo para leer relaciones y direcciones.</a:t>
            </a:r>
          </a:p>
          <a:p xmlns:a="http://schemas.openxmlformats.org/drawingml/2006/main">
            <a:r>
              <a:t>- **Transición:** “Continuar con soluciones por partes.”</a:t>
            </a:r>
          </a:p>
          <a:p xmlns:a="http://schemas.openxmlformats.org/drawingml/2006/main">
            <a:r>
              <a:t>- **Duración:** A demanda.</a:t>
            </a:r>
          </a:p>
          <a:p xmlns:a="http://schemas.openxmlformats.org/drawingml/2006/main">
            <a:r>
              <a:t>- **[Sources]:** TEX ejercicio I1; PDF p. 54.</a:t>
            </a:r>
          </a:p>
          <a:p xmlns:a="http://schemas.openxmlformats.org/drawingml/2006/main">
            <a:r>
              <a:t>[Asset] units/unit_02/assets/generated/diagrams/u02_dg015_s106/u02_fig_106_015.svg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Reforzar que los parámetros no son anatómicos.</a:t>
            </a:r>
          </a:p>
          <a:p xmlns:a="http://schemas.openxmlformats.org/drawingml/2006/main">
            <a:r>
              <a:t>- **Guía del visual/diagrama:** 1. Delimitar el sistema o la ecuación central. 2. Recorrer en el orden previsto: `F_ext`, `F_el`, `F_amort`, `F_neta` y `a` → interpretación. 3. Cerrar con la idea central: Presión, elasticidad y amortiguamiento se suman con signos.</a:t>
            </a:r>
          </a:p>
          <a:p xmlns:a="http://schemas.openxmlformats.org/drawingml/2006/main">
            <a:r>
              <a:t>- **Pregunta y respuesta esperada:** “¿Cómo justificaría la idea central usando el sistema, los signos o las unidades?” Respuesta esperada: Presión, elasticidad y amortiguamiento se suman con signos.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No interpretar el esquema como anatomía a escala; usarlo para leer relaciones y direcciones.</a:t>
            </a:r>
          </a:p>
          <a:p xmlns:a="http://schemas.openxmlformats.org/drawingml/2006/main">
            <a:r>
              <a:t>- **Transición:** “Continuar con energía y temperatura.”</a:t>
            </a:r>
          </a:p>
          <a:p xmlns:a="http://schemas.openxmlformats.org/drawingml/2006/main">
            <a:r>
              <a:t>- **Duración:** A demanda.</a:t>
            </a:r>
          </a:p>
          <a:p xmlns:a="http://schemas.openxmlformats.org/drawingml/2006/main">
            <a:r>
              <a:t>- **[Sources]:** TEX solución I1 a–c; PDF pp. 58–59.</a:t>
            </a:r>
          </a:p>
          <a:p xmlns:a="http://schemas.openxmlformats.org/drawingml/2006/main">
            <a:r>
              <a:t>[Asset] units/unit_02/assets/generated/diagrams/u02_dg015_s107/u02_fig_107_015.svg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Terminar con límites de inferencia, no con el número.</a:t>
            </a:r>
          </a:p>
          <a:p xmlns:a="http://schemas.openxmlformats.org/drawingml/2006/main">
            <a:r>
              <a:t>- **Guía del visual/diagrama:** 1. Delimitar el sistema o la ecuación central. 2. Recorrer en el orden previsto: `E_disipada`, `c`, conservación y dos límites del modelo. 3. Cerrar con la idea central: El balance cierra, `c` se estima y ningún resultado produce una conclusión clínica.</a:t>
            </a:r>
          </a:p>
          <a:p xmlns:a="http://schemas.openxmlformats.org/drawingml/2006/main">
            <a:r>
              <a:t>- **Pregunta y respuesta esperada:** “¿Cómo justificaría la idea central usando el sistema, los signos o las unidades?” Respuesta esperada: El balance cierra, `c` se estima y ningún resultado produce una conclusión clínica.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No interpretar el esquema como anatomía a escala; usarlo para leer relaciones y direcciones.</a:t>
            </a:r>
          </a:p>
          <a:p xmlns:a="http://schemas.openxmlformats.org/drawingml/2006/main">
            <a:r>
              <a:t>- **Transición:** “Respaldo independiente.”</a:t>
            </a:r>
          </a:p>
          <a:p xmlns:a="http://schemas.openxmlformats.org/drawingml/2006/main">
            <a:r>
              <a:t>- **Duración:** A demanda.</a:t>
            </a:r>
          </a:p>
          <a:p xmlns:a="http://schemas.openxmlformats.org/drawingml/2006/main">
            <a:r>
              <a:t>- **[Sources]:** TEX solución I1 d–g; PDF p. 59.</a:t>
            </a:r>
          </a:p>
          <a:p xmlns:a="http://schemas.openxmlformats.org/drawingml/2006/main">
            <a:r>
              <a:t>[Asset] units/unit_02/assets/generated/diagrams/u02_dg015_s108/u02_fig_108_015.svg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Distinguir fuentes de contenido y futuros assets. Indicar para qué pregunta sirve cada grupo de fuentes; no leer la lista completa.</a:t>
            </a:r>
          </a:p>
          <a:p xmlns:a="http://schemas.openxmlformats.org/drawingml/2006/main">
            <a:r>
              <a:t>- **Guía del visual/diagrama:** —</a:t>
            </a:r>
          </a:p>
          <a:p xmlns:a="http://schemas.openxmlformats.org/drawingml/2006/main">
            <a:r>
              <a:t>- **Pregunta y respuesta esperada:** “¿Cómo justificaría la idea central usando el sistema, los signos o las unidades?” Respuesta esperada: Las relaciones de velocidad y adiabaticidad provienen de bibliografía explícita.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Mantener consistente el sistema elegido, el eje de signos y las unidades.</a:t>
            </a:r>
          </a:p>
          <a:p xmlns:a="http://schemas.openxmlformats.org/drawingml/2006/main">
            <a:r>
              <a:t>- **Transición:** “Preparar glosario final.”</a:t>
            </a:r>
          </a:p>
          <a:p xmlns:a="http://schemas.openxmlformats.org/drawingml/2006/main">
            <a:r>
              <a:t>- **Duración:** A demanda.</a:t>
            </a:r>
          </a:p>
          <a:p xmlns:a="http://schemas.openxmlformats.org/drawingml/2006/main">
            <a:r>
              <a:t>- **[Sources]:** PO; REF cramer1993, xiangBlauert2021.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Dividir en dos slides en producción si supera mínimos tipográficos.</a:t>
            </a:r>
          </a:p>
          <a:p xmlns:a="http://schemas.openxmlformats.org/drawingml/2006/main">
            <a:r>
              <a:t>- **Guía del visual/diagrama:** —</a:t>
            </a:r>
          </a:p>
          <a:p xmlns:a="http://schemas.openxmlformats.org/drawingml/2006/main">
            <a:r>
              <a:t>- **Pregunta y respuesta esperada:** “¿Cómo justificaría la idea central usando el sistema, los signos o las unidades?” Respuesta esperada: Un símbolo se interpreta con su definición, unidad y contexto.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Usar solo si resuelve una duda concreta; no interrumpir la ruta central sin necesidad.</a:t>
            </a:r>
          </a:p>
          <a:p xmlns:a="http://schemas.openxmlformats.org/drawingml/2006/main">
            <a:r>
              <a:t>- **Transición:** “Fin del material de respaldo.”</a:t>
            </a:r>
          </a:p>
          <a:p xmlns:a="http://schemas.openxmlformats.org/drawingml/2006/main">
            <a:r>
              <a:t>- **Duración:** A demanda.</a:t>
            </a:r>
          </a:p>
          <a:p xmlns:a="http://schemas.openxmlformats.org/drawingml/2006/main">
            <a:r>
              <a:t>- **[Sources]:** TEX 2.13; PDF pp. 59–60; NOT; GLO.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61c5ac7c78457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3161bbb502453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00b2d3d43d497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779986cee547b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ff7063b4e5453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0e5b5423d3476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013a55b92c4aa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2df24360aa460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390eef40f949e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5f3313c9d543c8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6841a0995f4682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8540059f46465b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37b5165c264fd7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acc40b1b9a434b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81ae1216f0477e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98470410864771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6989aa116c498c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c6540152b84a7b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78230d45634ef2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f1806e6aef4950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35432f0bd4451d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566f868a6446fb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b16b746d674e55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7be64b9d354fe9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b4163df8f8b4735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e7402fdc03843d2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e11a80634014224" /></Relationships>
</file>

<file path=ppt/slideLayouts/slideLayout1.xml><?xml version="1.0" encoding="utf-8"?>
<p:sldLayout xmlns:p="http://schemas.openxmlformats.org/presentationml/2006/main" type="title">
  <p:cSld name="FA_02_OBJETIVO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h_title_0">
            <a:extLst xmlns:a="http://schemas.openxmlformats.org/drawingml/2006/main">
              <a:ext uri="{FF2B5EF4-FFF2-40B4-BE49-F238E27FC236}">
                <a16:creationId xmlns:a16="http://schemas.microsoft.com/office/drawing/2014/main" id="{4E7B686E-D1DB-4795-5290-247ED77443BC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Objetivos de aprendizaje</a:t>
            </a:r>
          </a:p>
        </p:txBody>
      </p:sp>
      <p:sp>
        <p:nvSpPr>
          <p:cNvPr id="3" name="ph_body_0">
            <a:extLst xmlns:a="http://schemas.openxmlformats.org/drawingml/2006/main">
              <a:ext uri="{FF2B5EF4-FFF2-40B4-BE49-F238E27FC236}">
                <a16:creationId xmlns:a16="http://schemas.microsoft.com/office/drawing/2014/main" id="{F07F7DEC-A90F-3966-89A5-75E897AE30F9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800100" y="1733550"/>
            <a:ext cx="8001000" cy="400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Objetivos observables</a:t>
            </a:r>
          </a:p>
        </p:txBody>
      </p:sp>
      <p:sp>
        <p:nvSpPr>
          <p:cNvPr id="4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D4921F09-2F28-54BE-F644-07838B22BCE2}"/>
              </a:ext>
            </a:extLst>
          </p:cNvPr>
          <p:cNvSpPr>
            <a:spLocks xmlns:a="http://schemas.openxmlformats.org/drawingml/2006/main" noGrp="1"/>
          </p:cNvSpPr>
          <p:nvPr>
            <p:ph idx="12" hasCustomPrompt="1"/>
          </p:nvPr>
        </p:nvSpPr>
        <p:spPr>
          <a:xfrm xmlns:a="http://schemas.openxmlformats.org/drawingml/2006/main">
            <a:off x="9144000" y="1752600"/>
            <a:ext cx="2286000" cy="3429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Síntesis visual</a:t>
            </a:r>
          </a:p>
        </p:txBody>
      </p:sp>
      <p:sp>
        <p:nvSpPr>
          <p:cNvPr id="5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1912B5C8-473B-C77D-A05F-B105E16C686E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493598C6-FC0D-4EB0-AFF4-EF34A4827315}" type="slidenum">
              <a:t>‹Nº›</a:t>
            </a:fld>
          </a:p>
        </p:txBody>
      </p:sp>
    </p:spTree>
  </p:cSld>
  <p:hf hdr="0" ftr="0" dt="0"/>
</p:sldLayout>
</file>

<file path=ppt/slideLayouts/slideLayout2.xml><?xml version="1.0" encoding="utf-8"?>
<p:sldLayout xmlns:p="http://schemas.openxmlformats.org/presentationml/2006/main" userDrawn="1">
  <p:cSld name="FA_23_APENDIC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4F817AC1-63E9-74A3-6EEF-E53D71A0508E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Apéndice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3A72ED7B-043F-EB18-1C28-92B596F251B2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676400"/>
            <a:ext cx="106680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Material de consulta</a:t>
            </a:r>
          </a:p>
        </p:txBody>
      </p:sp>
      <p:sp>
        <p:nvSpPr>
          <p:cNvPr id="8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54E6216A-7B06-7D20-00D4-14737599E1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89BA0A7D-AABB-4192-B838-2BA5BB3178BC}" type="slidenum">
              <a:t>‹Nº›</a:t>
            </a:fld>
          </a:p>
        </p:txBody>
      </p:sp>
    </p:spTree>
  </p:cSld>
  <p:hf hdr="0" ftr="0" dt="0"/>
</p:sldLayout>
</file>

<file path=ppt/slideLayouts/slideLayout3.xml><?xml version="1.0" encoding="utf-8"?>
<p:sldLayout xmlns:p="http://schemas.openxmlformats.org/presentationml/2006/main" userDrawn="1">
  <p:cSld name="FA_22_VISUAL_COMPLET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B0072429-6B7A-69F4-3F2D-C2B17968DFE0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Título informativo</a:t>
            </a:r>
          </a:p>
        </p:txBody>
      </p:sp>
      <p:sp>
        <p:nvSpPr>
          <p:cNvPr id="7" name="ph_picture_0">
            <a:extLst xmlns:a="http://schemas.openxmlformats.org/drawingml/2006/main">
              <a:ext uri="{FF2B5EF4-FFF2-40B4-BE49-F238E27FC236}">
                <a16:creationId xmlns:a16="http://schemas.microsoft.com/office/drawing/2014/main" id="{F9D8C064-C5F2-F9D4-1C9F-C48CF1E689A0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762000" y="1562100"/>
            <a:ext cx="10668000" cy="421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r>
              <a:t>Visual principal</a:t>
            </a:r>
          </a:p>
        </p:txBody>
      </p:sp>
      <p:sp>
        <p:nvSpPr>
          <p:cNvPr id="8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BEAB57CB-6BFE-7577-9B58-D0EA985A281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DBBF5632-20E4-4D54-B3A4-92C990DA26EE}" type="slidenum">
              <a:t>‹Nº›</a:t>
            </a:fld>
          </a:p>
        </p:txBody>
      </p:sp>
    </p:spTree>
  </p:cSld>
  <p:hf hdr="0" ftr="0" dt="0"/>
</p:sldLayout>
</file>

<file path=ppt/slideLayouts/slideLayout4.xml><?xml version="1.0" encoding="utf-8"?>
<p:sldLayout xmlns:p="http://schemas.openxmlformats.org/presentationml/2006/main" userDrawn="1">
  <p:cSld name="FA_20_BIBLIO_RECURSO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9FB78823-06A2-4172-6192-1B829F9AB87F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Bibliografía y recursos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009E4BB4-6F84-BBB7-BD01-0716EEE41AB5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676400"/>
            <a:ext cx="106680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Referencias y enlaces</a:t>
            </a:r>
          </a:p>
        </p:txBody>
      </p:sp>
      <p:sp>
        <p:nvSpPr>
          <p:cNvPr id="8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FCDD5430-4EE5-8B4D-B583-289E6408232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E8732B64-9C97-4971-8B5F-42781D287601}" type="slidenum">
              <a:t>‹Nº›</a:t>
            </a:fld>
          </a:p>
        </p:txBody>
      </p:sp>
    </p:spTree>
  </p:cSld>
  <p:hf hdr="0" ftr="0" dt="0"/>
</p:sldLayout>
</file>

<file path=ppt/slideLayouts/slideLayout5.xml><?xml version="1.0" encoding="utf-8"?>
<p:sldLayout xmlns:p="http://schemas.openxmlformats.org/presentationml/2006/main" userDrawn="1">
  <p:cSld name="FA_19_MEDIA_AUDIO_VIDE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B0CDC979-FF33-3EDD-88CD-DF60D4B1D61C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Video, GIF o audio</a:t>
            </a:r>
          </a:p>
        </p:txBody>
      </p:sp>
      <p:sp>
        <p:nvSpPr>
          <p:cNvPr id="7" name="ph_media_0">
            <a:extLst xmlns:a="http://schemas.openxmlformats.org/drawingml/2006/main">
              <a:ext uri="{FF2B5EF4-FFF2-40B4-BE49-F238E27FC236}">
                <a16:creationId xmlns:a16="http://schemas.microsoft.com/office/drawing/2014/main" id="{079FCF96-20BE-7B92-B825-972A93B10A07}"/>
              </a:ext>
            </a:extLst>
          </p:cNvPr>
          <p:cNvSpPr>
            <a:spLocks xmlns:a="http://schemas.openxmlformats.org/drawingml/2006/main" noGrp="1"/>
          </p:cNvSpPr>
          <p:nvPr>
            <p:ph type="media" idx="11" hasCustomPrompt="1"/>
          </p:nvPr>
        </p:nvSpPr>
        <p:spPr>
          <a:xfrm xmlns:a="http://schemas.openxmlformats.org/drawingml/2006/main">
            <a:off x="762000" y="1657350"/>
            <a:ext cx="7239000" cy="3714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r>
              <a:t>Video, GIF o audio</a:t>
            </a:r>
          </a:p>
        </p:txBody>
      </p:sp>
      <p:sp>
        <p:nvSpPr>
          <p:cNvPr id="8" name="ph_body_0">
            <a:extLst xmlns:a="http://schemas.openxmlformats.org/drawingml/2006/main">
              <a:ext uri="{FF2B5EF4-FFF2-40B4-BE49-F238E27FC236}">
                <a16:creationId xmlns:a16="http://schemas.microsoft.com/office/drawing/2014/main" id="{F555F5DB-607B-02A3-9FCF-CDD66D2EF793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8382000" y="1657350"/>
            <a:ext cx="3048000" cy="3714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Consigna de observación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FB834D89-9F78-BAC7-245C-165FD788A321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076EB7A8-105E-44D9-AF9B-E4B002172AD7}" type="slidenum">
              <a:t>‹Nº›</a:t>
            </a:fld>
          </a:p>
        </p:txBody>
      </p:sp>
    </p:spTree>
  </p:cSld>
  <p:hf hdr="0" ftr="0" dt="0"/>
</p:sldLayout>
</file>

<file path=ppt/slideLayouts/slideLayout6.xml><?xml version="1.0" encoding="utf-8"?>
<p:sldLayout xmlns:p="http://schemas.openxmlformats.org/presentationml/2006/main" userDrawn="1">
  <p:cSld name="FA_18_TABLA_DATO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409A66DE-F76D-5BAF-6FEA-DF1908C43A15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Tabla o datos</a:t>
            </a:r>
          </a:p>
        </p:txBody>
      </p:sp>
      <p:sp>
        <p:nvSpPr>
          <p:cNvPr id="7" name="ph_table_0">
            <a:extLst xmlns:a="http://schemas.openxmlformats.org/drawingml/2006/main">
              <a:ext uri="{FF2B5EF4-FFF2-40B4-BE49-F238E27FC236}">
                <a16:creationId xmlns:a16="http://schemas.microsoft.com/office/drawing/2014/main" id="{4C0D0D26-F100-8659-00EA-2409004E2AEE}"/>
              </a:ext>
            </a:extLst>
          </p:cNvPr>
          <p:cNvSpPr>
            <a:spLocks xmlns:a="http://schemas.openxmlformats.org/drawingml/2006/main" noGrp="1"/>
          </p:cNvSpPr>
          <p:nvPr>
            <p:ph type="tbl" idx="11" hasCustomPrompt="1"/>
          </p:nvPr>
        </p:nvSpPr>
        <p:spPr>
          <a:xfrm xmlns:a="http://schemas.openxmlformats.org/drawingml/2006/main">
            <a:off x="762000" y="1676400"/>
            <a:ext cx="10668000" cy="3714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r>
              <a:t>Tabla editable</a:t>
            </a:r>
          </a:p>
        </p:txBody>
      </p:sp>
      <p:sp>
        <p:nvSpPr>
          <p:cNvPr id="8" name="ph_body_0">
            <a:extLst xmlns:a="http://schemas.openxmlformats.org/drawingml/2006/main">
              <a:ext uri="{FF2B5EF4-FFF2-40B4-BE49-F238E27FC236}">
                <a16:creationId xmlns:a16="http://schemas.microsoft.com/office/drawing/2014/main" id="{B5DAB8AD-C9A2-9783-CB90-DB0CFE8EF09E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762000" y="5581650"/>
            <a:ext cx="10668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Lectura principal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7408CF10-5CC7-0648-9A06-15F7433C7031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4FEE56A1-BB6C-438D-8886-FF44760C7C6B}" type="slidenum">
              <a:t>‹Nº›</a:t>
            </a:fld>
          </a:p>
        </p:txBody>
      </p:sp>
    </p:spTree>
  </p:cSld>
  <p:hf hdr="0" ftr="0" dt="0"/>
</p:sldLayout>
</file>

<file path=ppt/slideLayouts/slideLayout7.xml><?xml version="1.0" encoding="utf-8"?>
<p:sldLayout xmlns:p="http://schemas.openxmlformats.org/presentationml/2006/main" userDrawn="1">
  <p:cSld name="FA_17_RECAP_FINA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58A1AFD7-74FA-41E6-94B3-B5C8DDCED2B7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Recapitulación final</a:t>
            </a:r>
          </a:p>
        </p:txBody>
      </p:sp>
      <p:sp>
        <p:nvSpPr>
          <p:cNvPr id="7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DE1EB0DD-8791-1A8B-9D62-CD8B1EF3E7B3}"/>
              </a:ext>
            </a:extLst>
          </p:cNvPr>
          <p:cNvSpPr>
            <a:spLocks xmlns:a="http://schemas.openxmlformats.org/drawingml/2006/main" noGrp="1"/>
          </p:cNvSpPr>
          <p:nvPr>
            <p:ph idx="11" hasCustomPrompt="1"/>
          </p:nvPr>
        </p:nvSpPr>
        <p:spPr>
          <a:xfrm xmlns:a="http://schemas.openxmlformats.org/drawingml/2006/main">
            <a:off x="762000" y="1695450"/>
            <a:ext cx="10668000" cy="3714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Mapa de conceptos</a:t>
            </a:r>
          </a:p>
        </p:txBody>
      </p:sp>
      <p:sp>
        <p:nvSpPr>
          <p:cNvPr id="8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85F550E7-9C54-188B-FFC4-467A63CBBB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456A0307-F779-4344-B886-D9280EB668B3}" type="slidenum">
              <a:t>‹Nº›</a:t>
            </a:fld>
          </a:p>
        </p:txBody>
      </p:sp>
    </p:spTree>
  </p:cSld>
  <p:hf hdr="0" ftr="0" dt="0"/>
</p:sldLayout>
</file>

<file path=ppt/slideLayouts/slideLayout8.xml><?xml version="1.0" encoding="utf-8"?>
<p:sldLayout xmlns:p="http://schemas.openxmlformats.org/presentationml/2006/main" userDrawn="1">
  <p:cSld name="FA_16_RECAP_PARCIA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39229E1F-564D-1252-8752-640CDDC94936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Resumen parcial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26942BEC-4BB7-68A8-5D3D-0F2E7C8C878D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676400"/>
            <a:ext cx="6858000" cy="400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Ideas consolidadas</a:t>
            </a:r>
          </a:p>
        </p:txBody>
      </p:sp>
      <p:sp>
        <p:nvSpPr>
          <p:cNvPr id="8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58A41835-9B86-B2F7-FDEB-E572198A44F3}"/>
              </a:ext>
            </a:extLst>
          </p:cNvPr>
          <p:cNvSpPr>
            <a:spLocks xmlns:a="http://schemas.openxmlformats.org/drawingml/2006/main" noGrp="1"/>
          </p:cNvSpPr>
          <p:nvPr>
            <p:ph idx="12" hasCustomPrompt="1"/>
          </p:nvPr>
        </p:nvSpPr>
        <p:spPr>
          <a:xfrm xmlns:a="http://schemas.openxmlformats.org/drawingml/2006/main">
            <a:off x="8001000" y="1676400"/>
            <a:ext cx="3429000" cy="3143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Llamada de recapitulación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9448B502-DD56-36BC-C80F-26C3FDF379C3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A33687D1-4041-4057-AFDA-E8313599D529}" type="slidenum">
              <a:t>‹Nº›</a:t>
            </a:fld>
          </a:p>
        </p:txBody>
      </p:sp>
    </p:spTree>
  </p:cSld>
  <p:hf hdr="0" ftr="0" dt="0"/>
</p:sldLayout>
</file>

<file path=ppt/slideLayouts/slideLayout9.xml><?xml version="1.0" encoding="utf-8"?>
<p:sldLayout xmlns:p="http://schemas.openxmlformats.org/presentationml/2006/main" userDrawn="1">
  <p:cSld name="FA_15_ERROR_FRECUENT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EDF6D93D-81D3-09A3-9451-58354AAA940D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Error frecuente</a:t>
            </a:r>
          </a:p>
        </p:txBody>
      </p:sp>
      <p:sp>
        <p:nvSpPr>
          <p:cNvPr id="7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BEE8D141-1A7B-E1E2-4278-DACF5AEFFBB9}"/>
              </a:ext>
            </a:extLst>
          </p:cNvPr>
          <p:cNvSpPr>
            <a:spLocks xmlns:a="http://schemas.openxmlformats.org/drawingml/2006/main" noGrp="1"/>
          </p:cNvSpPr>
          <p:nvPr>
            <p:ph idx="11" hasCustomPrompt="1"/>
          </p:nvPr>
        </p:nvSpPr>
        <p:spPr>
          <a:xfrm xmlns:a="http://schemas.openxmlformats.org/drawingml/2006/main">
            <a:off x="952500" y="1809750"/>
            <a:ext cx="10287000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Idea incorrecta</a:t>
            </a:r>
          </a:p>
        </p:txBody>
      </p:sp>
      <p:sp>
        <p:nvSpPr>
          <p:cNvPr id="8" name="ph_body_0">
            <a:extLst xmlns:a="http://schemas.openxmlformats.org/drawingml/2006/main">
              <a:ext uri="{FF2B5EF4-FFF2-40B4-BE49-F238E27FC236}">
                <a16:creationId xmlns:a16="http://schemas.microsoft.com/office/drawing/2014/main" id="{51AAF03A-25D3-5D01-FCF9-2955539C92E3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1143000" y="3905250"/>
            <a:ext cx="9906000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Corrección razonada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2EC62D10-711F-D9B1-7D3A-18749CF1A784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BDAFD395-8463-4588-B260-79B86AAD3E51}" type="slidenum">
              <a:t>‹Nº›</a:t>
            </a:fld>
          </a:p>
        </p:txBody>
      </p:sp>
    </p:spTree>
  </p:cSld>
  <p:hf hdr="0" ftr="0" dt="0"/>
</p:sldLayout>
</file>

<file path=ppt/slideLayouts/slideLayout10.xml><?xml version="1.0" encoding="utf-8"?>
<p:sldLayout xmlns:p="http://schemas.openxmlformats.org/presentationml/2006/main" userDrawn="1">
  <p:cSld name="FA_14B_MINI_EJERCICI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EC11DF7D-DCF3-07BF-2350-3CEDB78BCA73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Mini ejercicio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BFFBA6A1-CB2F-C08F-96BB-D862AE72699F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695450"/>
            <a:ext cx="6477000" cy="3429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Consigna y datos</a:t>
            </a:r>
          </a:p>
        </p:txBody>
      </p:sp>
      <p:sp>
        <p:nvSpPr>
          <p:cNvPr id="8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91DCAFC2-EA6E-2D23-3B41-A0752099656D}"/>
              </a:ext>
            </a:extLst>
          </p:cNvPr>
          <p:cNvSpPr>
            <a:spLocks xmlns:a="http://schemas.openxmlformats.org/drawingml/2006/main" noGrp="1"/>
          </p:cNvSpPr>
          <p:nvPr>
            <p:ph idx="12" hasCustomPrompt="1"/>
          </p:nvPr>
        </p:nvSpPr>
        <p:spPr>
          <a:xfrm xmlns:a="http://schemas.openxmlformats.org/drawingml/2006/main">
            <a:off x="7620000" y="1695450"/>
            <a:ext cx="3810000" cy="3429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Espacio de resolución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A0621BFB-671E-D2BB-46AB-1C4FC0833871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81336448-9F7A-438A-9B1D-8F6491D87475}" type="slidenum">
              <a:t>‹Nº›</a:t>
            </a:fld>
          </a:p>
        </p:txBody>
      </p:sp>
    </p:spTree>
  </p:cSld>
  <p:hf hdr="0" ftr="0" dt="0"/>
</p:sldLayout>
</file>

<file path=ppt/slideLayouts/slideLayout11.xml><?xml version="1.0" encoding="utf-8"?>
<p:sldLayout xmlns:p="http://schemas.openxmlformats.org/presentationml/2006/main" userDrawn="1">
  <p:cSld name="FA_14_PREGUNTA_EJERCICI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622FF81E-C3C8-AD07-DE0B-DA2CA2611D15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Pregunta al curso</a:t>
            </a:r>
          </a:p>
        </p:txBody>
      </p:sp>
      <p:sp>
        <p:nvSpPr>
          <p:cNvPr id="7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FB5F4DDD-6CFB-7D47-14E7-EA043E89CA23}"/>
              </a:ext>
            </a:extLst>
          </p:cNvPr>
          <p:cNvSpPr>
            <a:spLocks xmlns:a="http://schemas.openxmlformats.org/drawingml/2006/main" noGrp="1"/>
          </p:cNvSpPr>
          <p:nvPr>
            <p:ph idx="11" hasCustomPrompt="1"/>
          </p:nvPr>
        </p:nvSpPr>
        <p:spPr>
          <a:xfrm xmlns:a="http://schemas.openxmlformats.org/drawingml/2006/main">
            <a:off x="1333500" y="2000250"/>
            <a:ext cx="952500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Pregunta</a:t>
            </a:r>
          </a:p>
        </p:txBody>
      </p:sp>
      <p:sp>
        <p:nvSpPr>
          <p:cNvPr id="8" name="ph_body_0">
            <a:extLst xmlns:a="http://schemas.openxmlformats.org/drawingml/2006/main">
              <a:ext uri="{FF2B5EF4-FFF2-40B4-BE49-F238E27FC236}">
                <a16:creationId xmlns:a16="http://schemas.microsoft.com/office/drawing/2014/main" id="{543AE4C9-62D3-B123-DF7D-6CA4CFF8C65B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1524000" y="4457700"/>
            <a:ext cx="91440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Pistas para discutir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81D1303B-53FE-8249-310B-E605F0EE1564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1CFE78DF-3976-48C8-961D-AA1C8CA99F09}" type="slidenum">
              <a:t>‹Nº›</a:t>
            </a:fld>
          </a:p>
        </p:txBody>
      </p:sp>
    </p:spTree>
  </p:cSld>
  <p:hf hdr="0" ftr="0" dt="0"/>
</p:sldLayout>
</file>

<file path=ppt/slideLayouts/slideLayout12.xml><?xml version="1.0" encoding="utf-8"?>
<p:sldLayout xmlns:p="http://schemas.openxmlformats.org/presentationml/2006/main" userDrawn="1">
  <p:cSld name="FA_13_APLICACION_CLINIC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DDD03774-96DE-DA2F-A511-71B36099D23A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Aplicación a Fonoaudiología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BF907AE9-FAD6-BFC9-BD52-A97C988A7F59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714500"/>
            <a:ext cx="5715000" cy="3905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Concepto físico</a:t>
            </a:r>
          </a:p>
        </p:txBody>
      </p:sp>
      <p:sp>
        <p:nvSpPr>
          <p:cNvPr id="8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714E50E2-E1DA-3206-B850-EA65C2FD7D1A}"/>
              </a:ext>
            </a:extLst>
          </p:cNvPr>
          <p:cNvSpPr>
            <a:spLocks xmlns:a="http://schemas.openxmlformats.org/drawingml/2006/main" noGrp="1"/>
          </p:cNvSpPr>
          <p:nvPr>
            <p:ph idx="12" hasCustomPrompt="1"/>
          </p:nvPr>
        </p:nvSpPr>
        <p:spPr>
          <a:xfrm xmlns:a="http://schemas.openxmlformats.org/drawingml/2006/main">
            <a:off x="6858000" y="1714500"/>
            <a:ext cx="4572000" cy="3429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Aplicación clínica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51F74211-E68E-8F63-B477-ED892A0B76ED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A330D82D-5740-4471-AF56-8696EEE2E4B5}" type="slidenum">
              <a:t>‹Nº›</a:t>
            </a:fld>
          </a:p>
        </p:txBody>
      </p:sp>
    </p:spTree>
  </p:cSld>
  <p:hf hdr="0" ftr="0" dt="0"/>
</p:sldLayout>
</file>

<file path=ppt/slideLayouts/slideLayout13.xml><?xml version="1.0" encoding="utf-8"?>
<p:sldLayout xmlns:p="http://schemas.openxmlformats.org/presentationml/2006/main" userDrawn="1">
  <p:cSld name="FA_12_PROCES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6A7C0E02-1009-E9C6-5ACC-80E7D6880A69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Proceso secuencial</a:t>
            </a:r>
          </a:p>
        </p:txBody>
      </p:sp>
      <p:sp>
        <p:nvSpPr>
          <p:cNvPr id="7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58205925-FD47-66F2-A802-416BCA053AEF}"/>
              </a:ext>
            </a:extLst>
          </p:cNvPr>
          <p:cNvSpPr>
            <a:spLocks xmlns:a="http://schemas.openxmlformats.org/drawingml/2006/main" noGrp="1"/>
          </p:cNvSpPr>
          <p:nvPr>
            <p:ph idx="11" hasCustomPrompt="1"/>
          </p:nvPr>
        </p:nvSpPr>
        <p:spPr>
          <a:xfrm xmlns:a="http://schemas.openxmlformats.org/drawingml/2006/main">
            <a:off x="762000" y="1924050"/>
            <a:ext cx="10668000" cy="2952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Secuencia editable</a:t>
            </a:r>
          </a:p>
        </p:txBody>
      </p:sp>
      <p:sp>
        <p:nvSpPr>
          <p:cNvPr id="8" name="ph_body_0">
            <a:extLst xmlns:a="http://schemas.openxmlformats.org/drawingml/2006/main">
              <a:ext uri="{FF2B5EF4-FFF2-40B4-BE49-F238E27FC236}">
                <a16:creationId xmlns:a16="http://schemas.microsoft.com/office/drawing/2014/main" id="{8685E304-E9CA-43F8-8930-8E0ED8BE7286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914400" y="5219700"/>
            <a:ext cx="103632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Idea de cierre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0506C10D-1069-18D8-D511-E7658980284E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9CA5DB51-531C-4AFB-9FB5-87CA9A3111B8}" type="slidenum">
              <a:t>‹Nº›</a:t>
            </a:fld>
          </a:p>
        </p:txBody>
      </p:sp>
    </p:spTree>
  </p:cSld>
  <p:hf hdr="0" ftr="0" dt="0"/>
</p:sldLayout>
</file>

<file path=ppt/slideLayouts/slideLayout14.xml><?xml version="1.0" encoding="utf-8"?>
<p:sldLayout xmlns:p="http://schemas.openxmlformats.org/presentationml/2006/main" userDrawn="1">
  <p:cSld name="FA_11_COMPARAC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C3754BA9-BA43-89AA-C70D-83CA68AF3401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Comparación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4E58697A-6AA1-094E-FB77-5ED2F72D0C96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695450"/>
            <a:ext cx="4953000" cy="3905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Caso A</a:t>
            </a:r>
          </a:p>
        </p:txBody>
      </p:sp>
      <p:sp>
        <p:nvSpPr>
          <p:cNvPr id="8" name="ph_body_1">
            <a:extLst xmlns:a="http://schemas.openxmlformats.org/drawingml/2006/main">
              <a:ext uri="{FF2B5EF4-FFF2-40B4-BE49-F238E27FC236}">
                <a16:creationId xmlns:a16="http://schemas.microsoft.com/office/drawing/2014/main" id="{76A280CC-0448-5099-BD8C-5F5DA7427A41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6477000" y="1695450"/>
            <a:ext cx="4953000" cy="3905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Caso B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B22C4027-B511-C66A-3210-C4F977C71BF0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5DBCCD25-7213-4B32-B316-993301A50991}" type="slidenum">
              <a:t>‹Nº›</a:t>
            </a:fld>
          </a:p>
        </p:txBody>
      </p:sp>
    </p:spTree>
  </p:cSld>
  <p:hf hdr="0" ftr="0" dt="0"/>
</p:sldLayout>
</file>

<file path=ppt/slideLayouts/slideLayout15.xml><?xml version="1.0" encoding="utf-8"?>
<p:sldLayout xmlns:p="http://schemas.openxmlformats.org/presentationml/2006/main" userDrawn="1">
  <p:cSld name="FA_10_EJEMPLO_RESUELT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1EBA8C66-75F7-8786-62D4-8E39087D032A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Ejemplo resuelto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B3761D8C-5D3D-B5FC-3088-D429C5A6F945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657350"/>
            <a:ext cx="4000500" cy="400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Datos y pregunta</a:t>
            </a:r>
          </a:p>
        </p:txBody>
      </p:sp>
      <p:sp>
        <p:nvSpPr>
          <p:cNvPr id="8" name="ph_body_1">
            <a:extLst xmlns:a="http://schemas.openxmlformats.org/drawingml/2006/main">
              <a:ext uri="{FF2B5EF4-FFF2-40B4-BE49-F238E27FC236}">
                <a16:creationId xmlns:a16="http://schemas.microsoft.com/office/drawing/2014/main" id="{72C3AA6E-744B-B585-1A7D-4DBA7725171B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5143500" y="1657350"/>
            <a:ext cx="6286500" cy="400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Resolución paso a paso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F87FCAB0-F142-2C7C-6C7A-2118A60FE41C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1685110A-6086-4FE8-8F00-9DEAECCAACBB}" type="slidenum">
              <a:t>‹Nº›</a:t>
            </a:fld>
          </a:p>
        </p:txBody>
      </p:sp>
    </p:spTree>
  </p:cSld>
  <p:hf hdr="0" ftr="0" dt="0"/>
</p:sldLayout>
</file>

<file path=ppt/slideLayouts/slideLayout16.xml><?xml version="1.0" encoding="utf-8"?>
<p:sldLayout xmlns:p="http://schemas.openxmlformats.org/presentationml/2006/main" userDrawn="1">
  <p:cSld name="FA_09_ECUACION_INTERPRETAC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E55D978A-66A3-12DD-6D64-38108280AE38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Título informativo</a:t>
            </a:r>
          </a:p>
        </p:txBody>
      </p:sp>
      <p:sp>
        <p:nvSpPr>
          <p:cNvPr id="7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63049859-11E6-28FF-2063-7C84F2BCE7EA}"/>
              </a:ext>
            </a:extLst>
          </p:cNvPr>
          <p:cNvSpPr>
            <a:spLocks xmlns:a="http://schemas.openxmlformats.org/drawingml/2006/main" noGrp="1"/>
          </p:cNvSpPr>
          <p:nvPr>
            <p:ph idx="11" hasCustomPrompt="1"/>
          </p:nvPr>
        </p:nvSpPr>
        <p:spPr>
          <a:xfrm xmlns:a="http://schemas.openxmlformats.org/drawingml/2006/main">
            <a:off x="762000" y="1752600"/>
            <a:ext cx="1066800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Ecuación editable</a:t>
            </a:r>
          </a:p>
        </p:txBody>
      </p:sp>
      <p:sp>
        <p:nvSpPr>
          <p:cNvPr id="8" name="ph_body_0">
            <a:extLst xmlns:a="http://schemas.openxmlformats.org/drawingml/2006/main">
              <a:ext uri="{FF2B5EF4-FFF2-40B4-BE49-F238E27FC236}">
                <a16:creationId xmlns:a16="http://schemas.microsoft.com/office/drawing/2014/main" id="{27826603-AFCB-A7FC-DC5A-2E4905DA0F02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762000" y="3638550"/>
            <a:ext cx="1066800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Interpretación y unidades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554DD594-5FD7-1BA8-C390-3B2081E1BD93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D4E3DF21-1703-4AF3-A758-2190B581AEE3}" type="slidenum">
              <a:t>‹Nº›</a:t>
            </a:fld>
          </a:p>
        </p:txBody>
      </p:sp>
    </p:spTree>
  </p:cSld>
  <p:hf hdr="0" ftr="0" dt="0"/>
</p:sldLayout>
</file>

<file path=ppt/slideLayouts/slideLayout17.xml><?xml version="1.0" encoding="utf-8"?>
<p:sldLayout xmlns:p="http://schemas.openxmlformats.org/presentationml/2006/main" userDrawn="1">
  <p:cSld name="FA_08_DEFINIC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A64F010A-6A76-C440-2396-A624262AB04D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Concepto</a:t>
            </a:r>
          </a:p>
        </p:txBody>
      </p:sp>
      <p:sp>
        <p:nvSpPr>
          <p:cNvPr id="7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314101D8-2C06-19A3-8BA4-89816CC23386}"/>
              </a:ext>
            </a:extLst>
          </p:cNvPr>
          <p:cNvSpPr>
            <a:spLocks xmlns:a="http://schemas.openxmlformats.org/drawingml/2006/main" noGrp="1"/>
          </p:cNvSpPr>
          <p:nvPr>
            <p:ph idx="11" hasCustomPrompt="1"/>
          </p:nvPr>
        </p:nvSpPr>
        <p:spPr>
          <a:xfrm xmlns:a="http://schemas.openxmlformats.org/drawingml/2006/main">
            <a:off x="1143000" y="1981200"/>
            <a:ext cx="9906000" cy="2381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Definición completa</a:t>
            </a:r>
          </a:p>
        </p:txBody>
      </p:sp>
      <p:sp>
        <p:nvSpPr>
          <p:cNvPr id="8" name="ph_body_0">
            <a:extLst xmlns:a="http://schemas.openxmlformats.org/drawingml/2006/main">
              <a:ext uri="{FF2B5EF4-FFF2-40B4-BE49-F238E27FC236}">
                <a16:creationId xmlns:a16="http://schemas.microsoft.com/office/drawing/2014/main" id="{4D685FE1-58B7-9044-F0E6-24526BBA1CC2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1333500" y="4686300"/>
            <a:ext cx="95250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Implicación o ejemplo breve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08CAD3E8-7C2E-D428-8533-9F43F7FD3565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EF7231C5-674D-43AF-A7BF-A95F7B1AC02E}" type="slidenum">
              <a:t>‹Nº›</a:t>
            </a:fld>
          </a:p>
        </p:txBody>
      </p:sp>
    </p:spTree>
  </p:cSld>
  <p:hf hdr="0" ftr="0" dt="0"/>
</p:sldLayout>
</file>

<file path=ppt/slideLayouts/slideLayout18.xml><?xml version="1.0" encoding="utf-8"?>
<p:sldLayout xmlns:p="http://schemas.openxmlformats.org/presentationml/2006/main" userDrawn="1">
  <p:cSld name="FA_07_GRAFICO_EXPLICAC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8E031ACD-0AD5-8809-0717-649540F4F383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Título informativo</a:t>
            </a:r>
          </a:p>
        </p:txBody>
      </p:sp>
      <p:sp>
        <p:nvSpPr>
          <p:cNvPr id="7" name="ph_chart_0">
            <a:extLst xmlns:a="http://schemas.openxmlformats.org/drawingml/2006/main">
              <a:ext uri="{FF2B5EF4-FFF2-40B4-BE49-F238E27FC236}">
                <a16:creationId xmlns:a16="http://schemas.microsoft.com/office/drawing/2014/main" id="{5380A50B-6A0F-2DF2-CF30-B0F7001B31E2}"/>
              </a:ext>
            </a:extLst>
          </p:cNvPr>
          <p:cNvSpPr>
            <a:spLocks xmlns:a="http://schemas.openxmlformats.org/drawingml/2006/main" noGrp="1"/>
          </p:cNvSpPr>
          <p:nvPr>
            <p:ph type="chart" idx="11" hasCustomPrompt="1"/>
          </p:nvPr>
        </p:nvSpPr>
        <p:spPr>
          <a:xfrm xmlns:a="http://schemas.openxmlformats.org/drawingml/2006/main">
            <a:off x="762000" y="1676400"/>
            <a:ext cx="6858000" cy="3714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r>
              <a:t>Gráfico editable</a:t>
            </a:r>
          </a:p>
        </p:txBody>
      </p:sp>
      <p:sp>
        <p:nvSpPr>
          <p:cNvPr id="8" name="ph_body_0">
            <a:extLst xmlns:a="http://schemas.openxmlformats.org/drawingml/2006/main">
              <a:ext uri="{FF2B5EF4-FFF2-40B4-BE49-F238E27FC236}">
                <a16:creationId xmlns:a16="http://schemas.microsoft.com/office/drawing/2014/main" id="{1A6588E5-AEF0-6915-CE1D-570FEF5B4711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8039100" y="1676400"/>
            <a:ext cx="3390900" cy="3905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Lectura guiada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61303251-BC98-15C7-91D2-8A07695826A0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F56D38C4-B1D5-4C8E-BE72-930FD8BDBC8E}" type="slidenum">
              <a:t>‹Nº›</a:t>
            </a:fld>
          </a:p>
        </p:txBody>
      </p:sp>
    </p:spTree>
  </p:cSld>
  <p:hf hdr="0" ftr="0" dt="0"/>
</p:sldLayout>
</file>

<file path=ppt/slideLayouts/slideLayout19.xml><?xml version="1.0" encoding="utf-8"?>
<p:sldLayout xmlns:p="http://schemas.openxmlformats.org/presentationml/2006/main" userDrawn="1">
  <p:cSld name="FA_06B_DOS_COLUMNA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08ED06A4-5573-5517-B8B5-C2075DA96245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Título informativo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CFF38B9F-A684-35A1-0FA9-F59A1B5AB4C6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676400"/>
            <a:ext cx="49530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Columna izquierda</a:t>
            </a:r>
          </a:p>
        </p:txBody>
      </p:sp>
      <p:sp>
        <p:nvSpPr>
          <p:cNvPr id="8" name="ph_body_1">
            <a:extLst xmlns:a="http://schemas.openxmlformats.org/drawingml/2006/main">
              <a:ext uri="{FF2B5EF4-FFF2-40B4-BE49-F238E27FC236}">
                <a16:creationId xmlns:a16="http://schemas.microsoft.com/office/drawing/2014/main" id="{8F895085-9CE5-6EE1-5F9D-097B6BDA3C7F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6477000" y="1676400"/>
            <a:ext cx="49530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Columna derecha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BA13ABB1-00AB-594A-F558-8175EBCF3114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602F4707-DF6D-4294-BB93-51F5AE613322}" type="slidenum">
              <a:t>‹Nº›</a:t>
            </a:fld>
          </a:p>
        </p:txBody>
      </p:sp>
    </p:spTree>
  </p:cSld>
  <p:hf hdr="0" ftr="0" dt="0"/>
</p:sldLayout>
</file>

<file path=ppt/slideLayouts/slideLayout20.xml><?xml version="1.0" encoding="utf-8"?>
<p:sldLayout xmlns:p="http://schemas.openxmlformats.org/presentationml/2006/main" userDrawn="1">
  <p:cSld name="FA_06_VISUAL_TEXTO_40_60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D5AED30D-A7BD-30DD-BE10-40C7E08936FE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Título informativo</a:t>
            </a:r>
          </a:p>
        </p:txBody>
      </p:sp>
      <p:sp>
        <p:nvSpPr>
          <p:cNvPr id="7" name="ph_picture_0">
            <a:extLst xmlns:a="http://schemas.openxmlformats.org/drawingml/2006/main">
              <a:ext uri="{FF2B5EF4-FFF2-40B4-BE49-F238E27FC236}">
                <a16:creationId xmlns:a16="http://schemas.microsoft.com/office/drawing/2014/main" id="{6FA99C08-D6E3-4E98-F4FE-DDBFAED84D03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762000" y="1676400"/>
            <a:ext cx="4095750" cy="3371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r>
              <a:t>Imagen o diagrama</a:t>
            </a:r>
          </a:p>
        </p:txBody>
      </p:sp>
      <p:sp>
        <p:nvSpPr>
          <p:cNvPr id="8" name="ph_body_0">
            <a:extLst xmlns:a="http://schemas.openxmlformats.org/drawingml/2006/main">
              <a:ext uri="{FF2B5EF4-FFF2-40B4-BE49-F238E27FC236}">
                <a16:creationId xmlns:a16="http://schemas.microsoft.com/office/drawing/2014/main" id="{E5F7348D-D236-9EEA-2133-597F8B480978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5238750" y="1676400"/>
            <a:ext cx="6191250" cy="3905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Explicación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9B437985-0763-FCCF-F44F-242B6F5117A3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BA6B0A21-BCB8-4A3F-B261-5C6ED3AE2361}" type="slidenum">
              <a:t>‹Nº›</a:t>
            </a:fld>
          </a:p>
        </p:txBody>
      </p:sp>
    </p:spTree>
  </p:cSld>
  <p:hf hdr="0" ftr="0" dt="0"/>
</p:sldLayout>
</file>

<file path=ppt/slideLayouts/slideLayout21.xml><?xml version="1.0" encoding="utf-8"?>
<p:sldLayout xmlns:p="http://schemas.openxmlformats.org/presentationml/2006/main" userDrawn="1">
  <p:cSld name="FA_05_TEXTO_VISUAL_60_40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3EF649E4-ADFE-13DB-6148-5183BBE49514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Título informativo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8F472493-280E-0CA3-7AC8-E68E8FBDBFCC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676400"/>
            <a:ext cx="6191250" cy="3905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Explicación</a:t>
            </a:r>
          </a:p>
        </p:txBody>
      </p:sp>
      <p:sp>
        <p:nvSpPr>
          <p:cNvPr id="8" name="ph_picture_0">
            <a:extLst xmlns:a="http://schemas.openxmlformats.org/drawingml/2006/main">
              <a:ext uri="{FF2B5EF4-FFF2-40B4-BE49-F238E27FC236}">
                <a16:creationId xmlns:a16="http://schemas.microsoft.com/office/drawing/2014/main" id="{79FC630C-AD55-24EA-E53D-308D86D07925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7334250" y="1676400"/>
            <a:ext cx="4095750" cy="3371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r>
              <a:t>Imagen o diagrama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3545EB75-FA22-76BE-9CE1-5BBC0905B29C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1060B985-A0D6-43B6-9BE3-5D6CD61324BB}" type="slidenum">
              <a:t>‹Nº›</a:t>
            </a:fld>
          </a:p>
        </p:txBody>
      </p:sp>
    </p:spTree>
  </p:cSld>
  <p:hf hdr="0" ftr="0" dt="0"/>
</p:sldLayout>
</file>

<file path=ppt/slideLayouts/slideLayout22.xml><?xml version="1.0" encoding="utf-8"?>
<p:sldLayout xmlns:p="http://schemas.openxmlformats.org/presentationml/2006/main" userDrawn="1">
  <p:cSld name="FA_04_TITULO_CONTENID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EA73D0B5-44ED-C607-E4A8-F4FDBA1B460F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Título informativo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4067827F-3DFD-43A8-ED1D-4A061C6AADC3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695450"/>
            <a:ext cx="10668000" cy="411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Idea principal y desarrollo</a:t>
            </a:r>
          </a:p>
        </p:txBody>
      </p:sp>
      <p:sp>
        <p:nvSpPr>
          <p:cNvPr id="8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AB672653-EF56-0789-95CE-0ACA397242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1113A982-D864-4714-BC0D-F64786B8C006}" type="slidenum">
              <a:t>‹Nº›</a:t>
            </a:fld>
          </a:p>
        </p:txBody>
      </p:sp>
    </p:spTree>
  </p:cSld>
  <p:hf hdr="0" ftr="0" dt="0"/>
</p:sldLayout>
</file>

<file path=ppt/slideLayouts/slideLayout23.xml><?xml version="1.0" encoding="utf-8"?>
<p:sldLayout xmlns:p="http://schemas.openxmlformats.org/presentationml/2006/main" userDrawn="1">
  <p:cSld name="FA_03_MAPA_CLAS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774C0439-FC2E-F5D5-0F77-C83354962018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Mapa de la clase</a:t>
            </a:r>
          </a:p>
        </p:txBody>
      </p:sp>
      <p:sp>
        <p:nvSpPr>
          <p:cNvPr id="7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5D91A08B-7367-A177-D3A1-D4D0D4FD2923}"/>
              </a:ext>
            </a:extLst>
          </p:cNvPr>
          <p:cNvSpPr>
            <a:spLocks xmlns:a="http://schemas.openxmlformats.org/drawingml/2006/main" noGrp="1"/>
          </p:cNvSpPr>
          <p:nvPr>
            <p:ph idx="11" hasCustomPrompt="1"/>
          </p:nvPr>
        </p:nvSpPr>
        <p:spPr>
          <a:xfrm xmlns:a="http://schemas.openxmlformats.org/drawingml/2006/main">
            <a:off x="762000" y="1790700"/>
            <a:ext cx="10668000" cy="3733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Secuencia de bloques</a:t>
            </a:r>
          </a:p>
        </p:txBody>
      </p:sp>
      <p:sp>
        <p:nvSpPr>
          <p:cNvPr id="8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CB1AB991-FF40-041B-F321-8D5FD603622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A4F5DA17-0689-46E4-8362-81AB21D91399}" type="slidenum">
              <a:t>‹Nº›</a:t>
            </a:fld>
          </a:p>
        </p:txBody>
      </p:sp>
    </p:spTree>
  </p:cSld>
  <p:hf hdr="0" ftr="0" dt="0"/>
</p:sldLayout>
</file>

<file path=ppt/slideLayouts/slideLayout24.xml><?xml version="1.0" encoding="utf-8"?>
<p:sldLayout xmlns:p="http://schemas.openxmlformats.org/presentationml/2006/main" userDrawn="1">
  <p:cSld name="FA_02B_CONOCIMIENTOS_PREVIO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E86E20EB-ACF6-E98B-A7F7-FAA63FE7A1AB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Conocimientos previos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DA74F11D-A621-76AD-1939-D17C951722BA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714500"/>
            <a:ext cx="49530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Ya conocemos</a:t>
            </a:r>
          </a:p>
        </p:txBody>
      </p:sp>
      <p:sp>
        <p:nvSpPr>
          <p:cNvPr id="8" name="ph_body_1">
            <a:extLst xmlns:a="http://schemas.openxmlformats.org/drawingml/2006/main">
              <a:ext uri="{FF2B5EF4-FFF2-40B4-BE49-F238E27FC236}">
                <a16:creationId xmlns:a16="http://schemas.microsoft.com/office/drawing/2014/main" id="{3F301BAB-D31B-43BA-8C3E-29D441A86035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6477000" y="1714500"/>
            <a:ext cx="49530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Necesitamos recuperar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485A1487-76D9-6CD2-5B5D-641F847EEABE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C017E5F8-CA14-4AD9-9C34-2654E5F0D860}" type="slidenum">
              <a:t>‹Nº›</a:t>
            </a:fld>
          </a:p>
        </p:txBody>
      </p:sp>
    </p:spTree>
  </p:cSld>
  <p:hf hdr="0" ftr="0" dt="0"/>
</p:sldLayout>
</file>

<file path=ppt/slideLayouts/slideLayout25.xml><?xml version="1.0" encoding="utf-8"?>
<p:sldLayout xmlns:p="http://schemas.openxmlformats.org/presentationml/2006/main" preserve="1" userDrawn="1">
  <p:cSld name="FA_00_PORTAD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h_title_0">
            <a:extLst xmlns:a="http://schemas.openxmlformats.org/drawingml/2006/main">
              <a:ext uri="{FF2B5EF4-FFF2-40B4-BE49-F238E27FC236}">
                <a16:creationId xmlns:a16="http://schemas.microsoft.com/office/drawing/2014/main" id="{BBF699B4-1B17-0944-8A64-D6854D8D6D1E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800100" y="1543049"/>
            <a:ext cx="85725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Título de la unidad</a:t>
            </a:r>
          </a:p>
        </p:txBody>
      </p:sp>
      <p:sp>
        <p:nvSpPr>
          <p:cNvPr id="8" name="ph_subtitle_0">
            <a:extLst xmlns:a="http://schemas.openxmlformats.org/drawingml/2006/main">
              <a:ext uri="{FF2B5EF4-FFF2-40B4-BE49-F238E27FC236}">
                <a16:creationId xmlns:a16="http://schemas.microsoft.com/office/drawing/2014/main" id="{5EEB7C2E-BFEB-6726-9C51-28E1E3242D9B}"/>
              </a:ext>
            </a:extLst>
          </p:cNvPr>
          <p:cNvSpPr>
            <a:spLocks xmlns:a="http://schemas.openxmlformats.org/drawingml/2006/main" noGrp="1"/>
          </p:cNvSpPr>
          <p:nvPr>
            <p:ph type="subTitle" idx="11" hasCustomPrompt="1"/>
          </p:nvPr>
        </p:nvSpPr>
        <p:spPr>
          <a:xfrm xmlns:a="http://schemas.openxmlformats.org/drawingml/2006/main">
            <a:off x="838200" y="3143250"/>
            <a:ext cx="7239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marL="0" indent="0" algn="l">
              <a:buNone/>
              <a:defRPr sz="21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 xmlns:a="http://schemas.openxmlformats.org/drawingml/2006/main">
            <a:r>
              <a:t>Subtítulo o alcance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F9094F21-F8D4-117E-6486-B4FB78DA574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BFBD13B0-F1EE-46B2-9204-54BDCC94E2F7}" type="slidenum">
              <a:t>‹Nº›</a:t>
            </a:fld>
          </a:p>
        </p:txBody>
      </p:sp>
    </p:spTree>
  </p:cSld>
  <p:hf hdr="0" ftr="0" dt="0"/>
</p:sldLayout>
</file>

<file path=ppt/slideLayouts/slideLayout26.xml><?xml version="1.0" encoding="utf-8"?>
<p:sldLayout xmlns:p="http://schemas.openxmlformats.org/presentationml/2006/main" preserve="1" userDrawn="1">
  <p:cSld name="FA_21_CIERRE_PUENT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h_title_0">
            <a:extLst xmlns:a="http://schemas.openxmlformats.org/drawingml/2006/main">
              <a:ext uri="{FF2B5EF4-FFF2-40B4-BE49-F238E27FC236}">
                <a16:creationId xmlns:a16="http://schemas.microsoft.com/office/drawing/2014/main" id="{08E6C8A6-F9D3-7926-25DF-ED045F3A4CCD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800100" y="2019300"/>
            <a:ext cx="895350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Cierre</a:t>
            </a:r>
          </a:p>
        </p:txBody>
      </p:sp>
      <p:sp>
        <p:nvSpPr>
          <p:cNvPr id="3" name="ph_subtitle_0">
            <a:extLst xmlns:a="http://schemas.openxmlformats.org/drawingml/2006/main">
              <a:ext uri="{FF2B5EF4-FFF2-40B4-BE49-F238E27FC236}">
                <a16:creationId xmlns:a16="http://schemas.microsoft.com/office/drawing/2014/main" id="{7DB56B4A-8D9F-CA11-B9D5-A6125863F28F}"/>
              </a:ext>
            </a:extLst>
          </p:cNvPr>
          <p:cNvSpPr>
            <a:spLocks xmlns:a="http://schemas.openxmlformats.org/drawingml/2006/main" noGrp="1"/>
          </p:cNvSpPr>
          <p:nvPr>
            <p:ph type="subTitle" idx="11" hasCustomPrompt="1"/>
          </p:nvPr>
        </p:nvSpPr>
        <p:spPr>
          <a:xfrm xmlns:a="http://schemas.openxmlformats.org/drawingml/2006/main">
            <a:off x="838200" y="3314700"/>
            <a:ext cx="819150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marL="0" indent="0" algn="l">
              <a:buNone/>
              <a:defRPr sz="21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 xmlns:a="http://schemas.openxmlformats.org/drawingml/2006/main">
            <a:r>
              <a:t>Puente hacia la próxima clase</a:t>
            </a:r>
          </a:p>
        </p:txBody>
      </p:sp>
      <p:sp>
        <p:nvSpPr>
          <p:cNvPr id="4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62762AF0-3B86-E082-1D9F-E94F6C836E6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1551B1DD-AE22-4797-A41E-B58F85D9714A}" type="slidenum">
              <a:t>‹Nº›</a:t>
            </a:fld>
          </a:p>
        </p:txBody>
      </p:sp>
    </p:spTree>
  </p:cSld>
  <p:hf hdr="0" ftr="0" dt="0"/>
</p:sldLayout>
</file>

<file path=ppt/slideLayouts/slideLayout27.xml><?xml version="1.0" encoding="utf-8"?>
<p:sldLayout xmlns:p="http://schemas.openxmlformats.org/presentationml/2006/main" preserve="1" userDrawn="1">
  <p:cSld name="FA_01_DIVISO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h_title_0">
            <a:extLst xmlns:a="http://schemas.openxmlformats.org/drawingml/2006/main">
              <a:ext uri="{FF2B5EF4-FFF2-40B4-BE49-F238E27FC236}">
                <a16:creationId xmlns:a16="http://schemas.microsoft.com/office/drawing/2014/main" id="{D1F88028-AD7E-5C80-FCA4-7044C14652DA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800100" y="2095500"/>
            <a:ext cx="93345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Título del bloque</a:t>
            </a:r>
          </a:p>
        </p:txBody>
      </p:sp>
      <p:sp>
        <p:nvSpPr>
          <p:cNvPr id="3" name="ph_subtitle_0">
            <a:extLst xmlns:a="http://schemas.openxmlformats.org/drawingml/2006/main">
              <a:ext uri="{FF2B5EF4-FFF2-40B4-BE49-F238E27FC236}">
                <a16:creationId xmlns:a16="http://schemas.microsoft.com/office/drawing/2014/main" id="{8858B713-BB8F-93CF-76E5-B16753D5870D}"/>
              </a:ext>
            </a:extLst>
          </p:cNvPr>
          <p:cNvSpPr>
            <a:spLocks xmlns:a="http://schemas.openxmlformats.org/drawingml/2006/main" noGrp="1"/>
          </p:cNvSpPr>
          <p:nvPr>
            <p:ph type="subTitle" idx="11" hasCustomPrompt="1"/>
          </p:nvPr>
        </p:nvSpPr>
        <p:spPr>
          <a:xfrm xmlns:a="http://schemas.openxmlformats.org/drawingml/2006/main">
            <a:off x="838200" y="3295650"/>
            <a:ext cx="7810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marL="0" indent="0" algn="l">
              <a:buNone/>
              <a:defRPr sz="21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 xmlns:a="http://schemas.openxmlformats.org/drawingml/2006/main">
            <a:r>
              <a:t>Pregunta guía o propósito</a:t>
            </a:r>
          </a:p>
        </p:txBody>
      </p:sp>
      <p:sp>
        <p:nvSpPr>
          <p:cNvPr id="4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20025C06-92EB-B9DF-64E7-DAAC9343FA0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60E8974C-1134-48A5-94B6-2428CCBD93A5}" type="slidenum">
              <a:t>‹Nº›</a:t>
            </a:fld>
          </a:p>
        </p:txBody>
      </p:sp>
    </p:spTree>
  </p:cSld>
  <p:hf hdr="0" ftr="0" dt="0"/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def9fc175c7746e6" /><Relationship Type="http://schemas.openxmlformats.org/officeDocument/2006/relationships/theme" Target="/ppt/slideMasters/theme/theme2.xml" Id="Rc4a2562d1c34485a" /><Relationship Type="http://schemas.openxmlformats.org/officeDocument/2006/relationships/slideLayout" Target="/ppt/slideLayouts/slideLayout1.xml" Id="R1269f7de63d9494e" /><Relationship Type="http://schemas.openxmlformats.org/officeDocument/2006/relationships/slideLayout" Target="/ppt/slideLayouts/slideLayout2.xml" Id="Ra35e928b91f64130" /><Relationship Type="http://schemas.openxmlformats.org/officeDocument/2006/relationships/slideLayout" Target="/ppt/slideLayouts/slideLayout3.xml" Id="R09ebf0516304475c" /><Relationship Type="http://schemas.openxmlformats.org/officeDocument/2006/relationships/slideLayout" Target="/ppt/slideLayouts/slideLayout4.xml" Id="Rdf46ce39e9fd4531" /><Relationship Type="http://schemas.openxmlformats.org/officeDocument/2006/relationships/slideLayout" Target="/ppt/slideLayouts/slideLayout5.xml" Id="Ra5c8531a5ba94163" /><Relationship Type="http://schemas.openxmlformats.org/officeDocument/2006/relationships/slideLayout" Target="/ppt/slideLayouts/slideLayout6.xml" Id="R15800bd6975342bc" /><Relationship Type="http://schemas.openxmlformats.org/officeDocument/2006/relationships/slideLayout" Target="/ppt/slideLayouts/slideLayout7.xml" Id="R86953394eac64a8c" /><Relationship Type="http://schemas.openxmlformats.org/officeDocument/2006/relationships/slideLayout" Target="/ppt/slideLayouts/slideLayout8.xml" Id="Rc3f2b6b0bb174785" /><Relationship Type="http://schemas.openxmlformats.org/officeDocument/2006/relationships/slideLayout" Target="/ppt/slideLayouts/slideLayout9.xml" Id="R0095ae5a631a4eb4" /><Relationship Type="http://schemas.openxmlformats.org/officeDocument/2006/relationships/slideLayout" Target="/ppt/slideLayouts/slideLayout10.xml" Id="R91da24348bc942ed" /><Relationship Type="http://schemas.openxmlformats.org/officeDocument/2006/relationships/slideLayout" Target="/ppt/slideLayouts/slideLayout11.xml" Id="R078cf7ae5e3c4fbc" /><Relationship Type="http://schemas.openxmlformats.org/officeDocument/2006/relationships/slideLayout" Target="/ppt/slideLayouts/slideLayout12.xml" Id="R4e14f8d876a0472c" /><Relationship Type="http://schemas.openxmlformats.org/officeDocument/2006/relationships/slideLayout" Target="/ppt/slideLayouts/slideLayout13.xml" Id="Rf46b081e7511433c" /><Relationship Type="http://schemas.openxmlformats.org/officeDocument/2006/relationships/slideLayout" Target="/ppt/slideLayouts/slideLayout14.xml" Id="Rc574b84bf84f45f3" /><Relationship Type="http://schemas.openxmlformats.org/officeDocument/2006/relationships/slideLayout" Target="/ppt/slideLayouts/slideLayout15.xml" Id="R58ec5b2952e14b51" /><Relationship Type="http://schemas.openxmlformats.org/officeDocument/2006/relationships/slideLayout" Target="/ppt/slideLayouts/slideLayout16.xml" Id="Ra8ade7ad29e54cda" /><Relationship Type="http://schemas.openxmlformats.org/officeDocument/2006/relationships/slideLayout" Target="/ppt/slideLayouts/slideLayout17.xml" Id="Rdf285cbdb5a740c5" /><Relationship Type="http://schemas.openxmlformats.org/officeDocument/2006/relationships/slideLayout" Target="/ppt/slideLayouts/slideLayout18.xml" Id="Rd731b0be2c364290" /><Relationship Type="http://schemas.openxmlformats.org/officeDocument/2006/relationships/slideLayout" Target="/ppt/slideLayouts/slideLayout19.xml" Id="R77703ef74cfd4c39" /><Relationship Type="http://schemas.openxmlformats.org/officeDocument/2006/relationships/slideLayout" Target="/ppt/slideLayouts/slideLayout20.xml" Id="R72fd779100464ffd" /><Relationship Type="http://schemas.openxmlformats.org/officeDocument/2006/relationships/slideLayout" Target="/ppt/slideLayouts/slideLayout21.xml" Id="Rb6830daf4674480e" /><Relationship Type="http://schemas.openxmlformats.org/officeDocument/2006/relationships/slideLayout" Target="/ppt/slideLayouts/slideLayout22.xml" Id="R9531c1478c8d4a88" /><Relationship Type="http://schemas.openxmlformats.org/officeDocument/2006/relationships/slideLayout" Target="/ppt/slideLayouts/slideLayout23.xml" Id="Ref37a47b2e164e8a" /><Relationship Type="http://schemas.openxmlformats.org/officeDocument/2006/relationships/slideLayout" Target="/ppt/slideLayouts/slideLayout24.xml" Id="R4577a560a32d4759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image" Target="/ppt/media/image.png" Id="R5a6e5395d7df4327" /><Relationship Type="http://schemas.openxmlformats.org/officeDocument/2006/relationships/theme" Target="/ppt/slideMasters/theme/theme3.xml" Id="Rad0fb17afe894e34" /><Relationship Type="http://schemas.openxmlformats.org/officeDocument/2006/relationships/slideLayout" Target="/ppt/slideLayouts/slideLayout25.xml" Id="R081c567e889a48f7" /><Relationship Type="http://schemas.openxmlformats.org/officeDocument/2006/relationships/slideLayout" Target="/ppt/slideLayouts/slideLayout26.xml" Id="R88add0e0585a4c16" /><Relationship Type="http://schemas.openxmlformats.org/officeDocument/2006/relationships/slideLayout" Target="/ppt/slideLayouts/slideLayout27.xml" Id="R28c32b89fab44f25" /></Relationships>
</file>

<file path=ppt/slideMasters/slideMaster1.xml><?xml version="1.0" encoding="utf-8"?>
<p:sldMaster xmlns:p="http://schemas.openxmlformats.org/presentationml/2006/main">
  <p:cSld name="Master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ule_maroon">
            <a:extLst xmlns:a="http://schemas.openxmlformats.org/drawingml/2006/main">
              <a:ext uri="{FF2B5EF4-FFF2-40B4-BE49-F238E27FC236}">
                <a16:creationId xmlns:a16="http://schemas.microsoft.com/office/drawing/2014/main" id="{7ED400B0-4650-BD81-8872-00CCE5394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3657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19050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ule_berry">
            <a:extLst xmlns:a="http://schemas.openxmlformats.org/drawingml/2006/main">
              <a:ext uri="{FF2B5EF4-FFF2-40B4-BE49-F238E27FC236}">
                <a16:creationId xmlns:a16="http://schemas.microsoft.com/office/drawing/2014/main" id="{19067D9B-1D69-BEBD-53A6-E2EBCE31B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47650"/>
            <a:ext cx="3657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19050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rule_gray">
            <a:extLst xmlns:a="http://schemas.openxmlformats.org/drawingml/2006/main">
              <a:ext uri="{FF2B5EF4-FFF2-40B4-BE49-F238E27FC236}">
                <a16:creationId xmlns:a16="http://schemas.microsoft.com/office/drawing/2014/main" id="{D5EE4B42-9A6B-A99D-63F0-0D1F0CDA5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7650"/>
            <a:ext cx="3467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19050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footer_rule">
            <a:extLst xmlns:a="http://schemas.openxmlformats.org/drawingml/2006/main">
              <a:ext uri="{FF2B5EF4-FFF2-40B4-BE49-F238E27FC236}">
                <a16:creationId xmlns:a16="http://schemas.microsoft.com/office/drawing/2014/main" id="{967B707C-1A6F-0D89-F330-66B1FD9D5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0"/>
          </a:solidFill>
          <a:ln xmlns:a="http://schemas.openxmlformats.org/drawingml/2006/main" w="19050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4" name="ucasal_logo_master_ligh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f9fc175c7746e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6429375"/>
            <a:ext cx="1028700" cy="304800"/>
          </a:xfrm>
          <a:prstGeom xmlns:a="http://schemas.openxmlformats.org/drawingml/2006/main" prst="rect">
            <a:avLst/>
          </a:prstGeom>
        </p:spPr>
      </p:pic>
      <p:sp>
        <p:nvSpPr>
          <p:cNvPr id="8" name="footer_course_light">
            <a:extLst xmlns:a="http://schemas.openxmlformats.org/drawingml/2006/main">
              <a:ext uri="{FF2B5EF4-FFF2-40B4-BE49-F238E27FC236}">
                <a16:creationId xmlns:a16="http://schemas.microsoft.com/office/drawing/2014/main" id="{63C3527D-F71A-255A-556A-E956A5B2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467475"/>
            <a:ext cx="4953000" cy="2539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Física Acústica · Licenciatura en Fonoaudiología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269f7de63d9494e"/>
    <p:sldLayoutId xmlns:r="http://schemas.openxmlformats.org/officeDocument/2006/relationships" id="2147483650" r:id="Ra35e928b91f64130"/>
    <p:sldLayoutId xmlns:r="http://schemas.openxmlformats.org/officeDocument/2006/relationships" id="2147483651" r:id="R09ebf0516304475c"/>
    <p:sldLayoutId xmlns:r="http://schemas.openxmlformats.org/officeDocument/2006/relationships" id="2147483652" r:id="Rdf46ce39e9fd4531"/>
    <p:sldLayoutId xmlns:r="http://schemas.openxmlformats.org/officeDocument/2006/relationships" id="2147483653" r:id="Ra5c8531a5ba94163"/>
    <p:sldLayoutId xmlns:r="http://schemas.openxmlformats.org/officeDocument/2006/relationships" id="2147483654" r:id="R15800bd6975342bc"/>
    <p:sldLayoutId xmlns:r="http://schemas.openxmlformats.org/officeDocument/2006/relationships" id="2147483655" r:id="R86953394eac64a8c"/>
    <p:sldLayoutId xmlns:r="http://schemas.openxmlformats.org/officeDocument/2006/relationships" id="2147483656" r:id="Rc3f2b6b0bb174785"/>
    <p:sldLayoutId xmlns:r="http://schemas.openxmlformats.org/officeDocument/2006/relationships" id="2147483657" r:id="R0095ae5a631a4eb4"/>
    <p:sldLayoutId xmlns:r="http://schemas.openxmlformats.org/officeDocument/2006/relationships" id="2147483658" r:id="R91da24348bc942ed"/>
    <p:sldLayoutId xmlns:r="http://schemas.openxmlformats.org/officeDocument/2006/relationships" id="2147483659" r:id="R078cf7ae5e3c4fbc"/>
    <p:sldLayoutId xmlns:r="http://schemas.openxmlformats.org/officeDocument/2006/relationships" id="2147483660" r:id="R4e14f8d876a0472c"/>
    <p:sldLayoutId xmlns:r="http://schemas.openxmlformats.org/officeDocument/2006/relationships" id="2147483661" r:id="Rf46b081e7511433c"/>
    <p:sldLayoutId xmlns:r="http://schemas.openxmlformats.org/officeDocument/2006/relationships" id="2147483662" r:id="Rc574b84bf84f45f3"/>
    <p:sldLayoutId xmlns:r="http://schemas.openxmlformats.org/officeDocument/2006/relationships" id="2147483663" r:id="R58ec5b2952e14b51"/>
    <p:sldLayoutId xmlns:r="http://schemas.openxmlformats.org/officeDocument/2006/relationships" id="2147483664" r:id="Ra8ade7ad29e54cda"/>
    <p:sldLayoutId xmlns:r="http://schemas.openxmlformats.org/officeDocument/2006/relationships" id="2147483665" r:id="Rdf285cbdb5a740c5"/>
    <p:sldLayoutId xmlns:r="http://schemas.openxmlformats.org/officeDocument/2006/relationships" id="2147483666" r:id="Rd731b0be2c364290"/>
    <p:sldLayoutId xmlns:r="http://schemas.openxmlformats.org/officeDocument/2006/relationships" id="2147483667" r:id="R77703ef74cfd4c39"/>
    <p:sldLayoutId xmlns:r="http://schemas.openxmlformats.org/officeDocument/2006/relationships" id="2147483668" r:id="R72fd779100464ffd"/>
    <p:sldLayoutId xmlns:r="http://schemas.openxmlformats.org/officeDocument/2006/relationships" id="2147483669" r:id="Rb6830daf4674480e"/>
    <p:sldLayoutId xmlns:r="http://schemas.openxmlformats.org/officeDocument/2006/relationships" id="2147483670" r:id="R9531c1478c8d4a88"/>
    <p:sldLayoutId xmlns:r="http://schemas.openxmlformats.org/officeDocument/2006/relationships" id="2147483671" r:id="Ref37a47b2e164e8a"/>
    <p:sldLayoutId xmlns:r="http://schemas.openxmlformats.org/officeDocument/2006/relationships" id="2147483672" r:id="R4577a560a32d4759"/>
  </p:sldLayoutIdLst>
  <p:hf hdr="0" ftr="0" dt="0"/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rgbClr val="4D14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ule_berry">
            <a:extLst xmlns:a="http://schemas.openxmlformats.org/drawingml/2006/main">
              <a:ext uri="{FF2B5EF4-FFF2-40B4-BE49-F238E27FC236}">
                <a16:creationId xmlns:a16="http://schemas.microsoft.com/office/drawing/2014/main" id="{54233747-3B41-236E-F508-E312E7DCB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3657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ule_white">
            <a:extLst xmlns:a="http://schemas.openxmlformats.org/drawingml/2006/main">
              <a:ext uri="{FF2B5EF4-FFF2-40B4-BE49-F238E27FC236}">
                <a16:creationId xmlns:a16="http://schemas.microsoft.com/office/drawing/2014/main" id="{AB7800AF-4B8D-3775-268D-A94322560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47650"/>
            <a:ext cx="3657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rule_gray">
            <a:extLst xmlns:a="http://schemas.openxmlformats.org/drawingml/2006/main">
              <a:ext uri="{FF2B5EF4-FFF2-40B4-BE49-F238E27FC236}">
                <a16:creationId xmlns:a16="http://schemas.microsoft.com/office/drawing/2014/main" id="{092696FC-D673-2DD3-4FCF-4D8518D87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7650"/>
            <a:ext cx="3467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footer_rule">
            <a:extLst xmlns:a="http://schemas.openxmlformats.org/drawingml/2006/main">
              <a:ext uri="{FF2B5EF4-FFF2-40B4-BE49-F238E27FC236}">
                <a16:creationId xmlns:a16="http://schemas.microsoft.com/office/drawing/2014/main" id="{99D069AE-519E-8032-14CB-9643E0ECC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logo_backing">
            <a:extLst xmlns:a="http://schemas.openxmlformats.org/drawingml/2006/main">
              <a:ext uri="{FF2B5EF4-FFF2-40B4-BE49-F238E27FC236}">
                <a16:creationId xmlns:a16="http://schemas.microsoft.com/office/drawing/2014/main" id="{DED1A456-4096-91AC-8233-B33FFC94C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ucasal_logo_master_dark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6e5395d7df43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6467475"/>
            <a:ext cx="990600" cy="228600"/>
          </a:xfrm>
          <a:prstGeom xmlns:a="http://schemas.openxmlformats.org/drawingml/2006/main" prst="rect">
            <a:avLst/>
          </a:prstGeom>
        </p:spPr>
      </p:pic>
      <p:sp>
        <p:nvSpPr>
          <p:cNvPr id="14" name="footer_course_dark">
            <a:extLst xmlns:a="http://schemas.openxmlformats.org/drawingml/2006/main">
              <a:ext uri="{FF2B5EF4-FFF2-40B4-BE49-F238E27FC236}">
                <a16:creationId xmlns:a16="http://schemas.microsoft.com/office/drawing/2014/main" id="{D186B626-134A-FBCD-AEA0-4A2A93AA0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6467475"/>
            <a:ext cx="4953000" cy="2539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Física Acústica · Licenciatura en Fonoaudiología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74" r:id="R081c567e889a48f7"/>
    <p:sldLayoutId xmlns:r="http://schemas.openxmlformats.org/officeDocument/2006/relationships" id="2147483675" r:id="R88add0e0585a4c16"/>
    <p:sldLayoutId xmlns:r="http://schemas.openxmlformats.org/officeDocument/2006/relationships" id="2147483676" r:id="R28c32b89fab44f25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FA_MASTER_CLARO">
  <a:themeElements>
    <a:clrScheme name="Física Acústica UCASAL">
      <a:dk1>
        <a:srgbClr val="000000"/>
      </a:dk1>
      <a:lt1>
        <a:srgbClr val="FFFFFF"/>
      </a:lt1>
      <a:dk2>
        <a:srgbClr val="3D3D3D"/>
      </a:dk2>
      <a:lt2>
        <a:srgbClr val="F7F6F2"/>
      </a:lt2>
      <a:accent1>
        <a:srgbClr val="4D1434"/>
      </a:accent1>
      <a:accent2>
        <a:srgbClr val="903163"/>
      </a:accent2>
      <a:accent3>
        <a:srgbClr val="2F7E83"/>
      </a:accent3>
      <a:accent4>
        <a:srgbClr val="9F541A"/>
      </a:accent4>
      <a:accent5>
        <a:srgbClr val="023E7C"/>
      </a:accent5>
      <a:accent6>
        <a:srgbClr val="969FA7"/>
      </a:accent6>
      <a:hlink>
        <a:srgbClr val="023E7C"/>
      </a:hlink>
      <a:folHlink>
        <a:srgbClr val="903163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Física Acústica UCAS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FA_MASTER_BORDO">
  <a:themeElements>
    <a:clrScheme name="Office">
      <a:dk1>
        <a:srgbClr val="000000"/>
      </a:dk1>
      <a:lt1>
        <a:srgbClr val="FFFFFF"/>
      </a:lt1>
      <a:dk2>
        <a:srgbClr val="3D3D3D"/>
      </a:dk2>
      <a:lt2>
        <a:srgbClr val="F7F6F2"/>
      </a:lt2>
      <a:accent1>
        <a:srgbClr val="4D1434"/>
      </a:accent1>
      <a:accent2>
        <a:srgbClr val="903163"/>
      </a:accent2>
      <a:accent3>
        <a:srgbClr val="2F7E83"/>
      </a:accent3>
      <a:accent4>
        <a:srgbClr val="9F541A"/>
      </a:accent4>
      <a:accent5>
        <a:srgbClr val="023E7C"/>
      </a:accent5>
      <a:accent6>
        <a:srgbClr val="969FA7"/>
      </a:accent6>
      <a:hlink>
        <a:srgbClr val="023E7C"/>
      </a:hlink>
      <a:folHlink>
        <a:srgbClr val="903163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5.xml" Id="Rdaefcde036aa4b76" /><Relationship Type="http://schemas.openxmlformats.org/officeDocument/2006/relationships/notesSlide" Target="/ppt/notesSlides/notesSlide1.xml" Id="R0fd8343dffe441c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2c6b6fd1cc84a0d" /><Relationship Type="http://schemas.openxmlformats.org/officeDocument/2006/relationships/image" Target="/ppt/media/image.svg" Id="R1ea95244ded64409" /><Relationship Type="http://schemas.openxmlformats.org/officeDocument/2006/relationships/image" Target="/ppt/media/image.png" Id="Rf7f2216125524d71" /><Relationship Type="http://schemas.openxmlformats.org/officeDocument/2006/relationships/notesSlide" Target="/ppt/notesSlides/notesSlide2.xml" Id="Rc5db604844bb40a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e22e89ed6b5f4aee" /><Relationship Type="http://schemas.openxmlformats.org/officeDocument/2006/relationships/notesSlide" Target="/ppt/notesSlides/notesSlide3.xml" Id="R7579a4ca830344e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4.xml" Id="R379159ad07434251" /><Relationship Type="http://schemas.openxmlformats.org/officeDocument/2006/relationships/notesSlide" Target="/ppt/notesSlides/notesSlide4.xml" Id="Rbf246c87d95a4d6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4b4bb1f6594bb9" /><Relationship Type="http://schemas.openxmlformats.org/officeDocument/2006/relationships/notesSlide" Target="/ppt/notesSlides/notesSlide5.xml" Id="R722ba0163190422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3.xml" Id="Rbeaef6671cfe47d3" /><Relationship Type="http://schemas.openxmlformats.org/officeDocument/2006/relationships/image" Target="/ppt/media/image2.png" Id="Rb79942ae11014c7c" /><Relationship Type="http://schemas.openxmlformats.org/officeDocument/2006/relationships/image" Target="/ppt/media/image2.svg" Id="R667be5cf19664363" /><Relationship Type="http://schemas.openxmlformats.org/officeDocument/2006/relationships/notesSlide" Target="/ppt/notesSlides/notesSlide6.xml" Id="Ra8dc30f6f47d4b7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a366402e21854133" /><Relationship Type="http://schemas.openxmlformats.org/officeDocument/2006/relationships/notesSlide" Target="/ppt/notesSlides/notesSlide7.xml" Id="Rf7fc725b911b455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751f73d9638a4a8a" /><Relationship Type="http://schemas.openxmlformats.org/officeDocument/2006/relationships/image" Target="/ppt/media/image3.png" Id="Rae545b679c9c446f" /><Relationship Type="http://schemas.openxmlformats.org/officeDocument/2006/relationships/image" Target="/ppt/media/image3.svg" Id="R28e2e7db8d5a44c0" /><Relationship Type="http://schemas.openxmlformats.org/officeDocument/2006/relationships/notesSlide" Target="/ppt/notesSlides/notesSlide8.xml" Id="R70229c98c543447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1.xml" Id="R1d344e74bc7c4ce2" /><Relationship Type="http://schemas.openxmlformats.org/officeDocument/2006/relationships/image" Target="/ppt/media/image4.png" Id="R1a4eca4d0ef143cc" /><Relationship Type="http://schemas.openxmlformats.org/officeDocument/2006/relationships/image" Target="/ppt/media/image4.svg" Id="R7bc543b9512c4565" /><Relationship Type="http://schemas.openxmlformats.org/officeDocument/2006/relationships/notesSlide" Target="/ppt/notesSlides/notesSlide9.xml" Id="Rbce38f888dae4d1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0.xml" Id="R7d7eab182fb7493e" /><Relationship Type="http://schemas.openxmlformats.org/officeDocument/2006/relationships/image" Target="/ppt/media/image5.png" Id="R51e5807f0071430c" /><Relationship Type="http://schemas.openxmlformats.org/officeDocument/2006/relationships/image" Target="/ppt/media/image5.svg" Id="Rabf6dbe0dda44ffa" /><Relationship Type="http://schemas.openxmlformats.org/officeDocument/2006/relationships/notesSlide" Target="/ppt/notesSlides/notesSlide10.xml" Id="Rb9af2588fa7e4ec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c32fe52c010b46e7" /><Relationship Type="http://schemas.openxmlformats.org/officeDocument/2006/relationships/image" Target="/ppt/media/image6.png" Id="R33a8f0d78c7a4798" /><Relationship Type="http://schemas.openxmlformats.org/officeDocument/2006/relationships/image" Target="/ppt/media/image6.svg" Id="Re7f6caffbabc4afe" /><Relationship Type="http://schemas.openxmlformats.org/officeDocument/2006/relationships/notesSlide" Target="/ppt/notesSlides/notesSlide11.xml" Id="Rf91847163335434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e968c099f43a4660" /><Relationship Type="http://schemas.openxmlformats.org/officeDocument/2006/relationships/image" Target="/ppt/media/image7.png" Id="Rfcafe218f9a84c85" /><Relationship Type="http://schemas.openxmlformats.org/officeDocument/2006/relationships/image" Target="/ppt/media/image7.svg" Id="R8f876ab431eb4cdd" /><Relationship Type="http://schemas.openxmlformats.org/officeDocument/2006/relationships/notesSlide" Target="/ppt/notesSlides/notesSlide12.xml" Id="R8397e3ef6f6b4ea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c017c2f3b72f4b4c" /><Relationship Type="http://schemas.openxmlformats.org/officeDocument/2006/relationships/image" Target="/ppt/media/image8.png" Id="R86ee43647d1b40df" /><Relationship Type="http://schemas.openxmlformats.org/officeDocument/2006/relationships/image" Target="/ppt/media/image8.svg" Id="R5557846ae5d34033" /><Relationship Type="http://schemas.openxmlformats.org/officeDocument/2006/relationships/notesSlide" Target="/ppt/notesSlides/notesSlide13.xml" Id="R13b6687f157b492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fb3da987c4f94b14" /><Relationship Type="http://schemas.openxmlformats.org/officeDocument/2006/relationships/notesSlide" Target="/ppt/notesSlides/notesSlide14.xml" Id="R19320fef24e6458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680b51f62bbe44a2" /><Relationship Type="http://schemas.openxmlformats.org/officeDocument/2006/relationships/notesSlide" Target="/ppt/notesSlides/notesSlide15.xml" Id="R5b5fbdc6696642c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b09f763292f24891" /><Relationship Type="http://schemas.openxmlformats.org/officeDocument/2006/relationships/image" Target="/ppt/media/image9.png" Id="Rf0d1c66c1de04e9b" /><Relationship Type="http://schemas.openxmlformats.org/officeDocument/2006/relationships/image" Target="/ppt/media/image9.svg" Id="R32181814ba574bea" /><Relationship Type="http://schemas.openxmlformats.org/officeDocument/2006/relationships/notesSlide" Target="/ppt/notesSlides/notesSlide16.xml" Id="R93cd7a2654c24a9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b7f21d49a3d14e08" /><Relationship Type="http://schemas.openxmlformats.org/officeDocument/2006/relationships/image" Target="/ppt/media/image10.png" Id="R09968330eeb04cd5" /><Relationship Type="http://schemas.openxmlformats.org/officeDocument/2006/relationships/image" Target="/ppt/media/image10.svg" Id="Re3894f734450434b" /><Relationship Type="http://schemas.openxmlformats.org/officeDocument/2006/relationships/notesSlide" Target="/ppt/notesSlides/notesSlide17.xml" Id="R1ef955ed2fd54a2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fd24e493bb544272" /><Relationship Type="http://schemas.openxmlformats.org/officeDocument/2006/relationships/image" Target="/ppt/media/image11.png" Id="Rdadb21282ecd4c35" /><Relationship Type="http://schemas.openxmlformats.org/officeDocument/2006/relationships/notesSlide" Target="/ppt/notesSlides/notesSlide18.xml" Id="R143b252370fa423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cf14146f91b94113" /><Relationship Type="http://schemas.openxmlformats.org/officeDocument/2006/relationships/image" Target="/ppt/media/image12.png" Id="R78481dccd76a4b99" /><Relationship Type="http://schemas.openxmlformats.org/officeDocument/2006/relationships/notesSlide" Target="/ppt/notesSlides/notesSlide19.xml" Id="R49121003af004e8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5a91e536a7ad400a" /><Relationship Type="http://schemas.openxmlformats.org/officeDocument/2006/relationships/image" Target="/ppt/media/image13.png" Id="R18c4e1706e0d4e5d" /><Relationship Type="http://schemas.openxmlformats.org/officeDocument/2006/relationships/image" Target="/ppt/media/image11.svg" Id="Ra941701e111f4545" /><Relationship Type="http://schemas.openxmlformats.org/officeDocument/2006/relationships/notesSlide" Target="/ppt/notesSlides/notesSlide20.xml" Id="Rb3ddb21dc0de421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39d731a97a084351" /><Relationship Type="http://schemas.openxmlformats.org/officeDocument/2006/relationships/image" Target="/ppt/media/image14.png" Id="R9ac8530310674067" /><Relationship Type="http://schemas.openxmlformats.org/officeDocument/2006/relationships/image" Target="/ppt/media/image12.svg" Id="Raa34785223114bea" /><Relationship Type="http://schemas.openxmlformats.org/officeDocument/2006/relationships/notesSlide" Target="/ppt/notesSlides/notesSlide21.xml" Id="R022f1cc532ff470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2694b5d06625487b" /><Relationship Type="http://schemas.openxmlformats.org/officeDocument/2006/relationships/image" Target="/ppt/media/image15.png" Id="Rdd077c57bdb74b90" /><Relationship Type="http://schemas.openxmlformats.org/officeDocument/2006/relationships/image" Target="/ppt/media/image13.svg" Id="Rcdbd76bb567342da" /><Relationship Type="http://schemas.openxmlformats.org/officeDocument/2006/relationships/notesSlide" Target="/ppt/notesSlides/notesSlide22.xml" Id="Rb0a1e19af0074c2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7ca35ec910ca496c" /><Relationship Type="http://schemas.openxmlformats.org/officeDocument/2006/relationships/notesSlide" Target="/ppt/notesSlides/notesSlide23.xml" Id="Ref95257c8d124d6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19dfae25a7854e67" /><Relationship Type="http://schemas.openxmlformats.org/officeDocument/2006/relationships/notesSlide" Target="/ppt/notesSlides/notesSlide24.xml" Id="R7fc4fcb39209429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1cbfd2e358c403e" /><Relationship Type="http://schemas.openxmlformats.org/officeDocument/2006/relationships/image" Target="/ppt/media/image16.png" Id="R530d907964fa4a47" /><Relationship Type="http://schemas.openxmlformats.org/officeDocument/2006/relationships/image" Target="/ppt/media/image14.svg" Id="Rc7cf9f69a8e24926" /><Relationship Type="http://schemas.openxmlformats.org/officeDocument/2006/relationships/notesSlide" Target="/ppt/notesSlides/notesSlide25.xml" Id="Rbf8f8fd482ec466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f0f1f449273e46d3" /><Relationship Type="http://schemas.openxmlformats.org/officeDocument/2006/relationships/notesSlide" Target="/ppt/notesSlides/notesSlide26.xml" Id="R270f91874b1f4653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2dac1e9d0e6b4af2" /><Relationship Type="http://schemas.openxmlformats.org/officeDocument/2006/relationships/image" Target="/ppt/media/image17.png" Id="Rfbd3865d8efd414d" /><Relationship Type="http://schemas.openxmlformats.org/officeDocument/2006/relationships/image" Target="/ppt/media/image15.svg" Id="R2fd1cef15cc24cc8" /><Relationship Type="http://schemas.openxmlformats.org/officeDocument/2006/relationships/notesSlide" Target="/ppt/notesSlides/notesSlide27.xml" Id="Ra11a357499f340a5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9ed4c211b2dd4d03" /><Relationship Type="http://schemas.openxmlformats.org/officeDocument/2006/relationships/image" Target="/ppt/media/image18.png" Id="Rd3ba5a96cf0c4d02" /><Relationship Type="http://schemas.openxmlformats.org/officeDocument/2006/relationships/image" Target="/ppt/media/image16.svg" Id="Rdab5ae39c1ba4888" /><Relationship Type="http://schemas.openxmlformats.org/officeDocument/2006/relationships/notesSlide" Target="/ppt/notesSlides/notesSlide28.xml" Id="Rf4ea403b529b4185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85f1f51625734085" /><Relationship Type="http://schemas.openxmlformats.org/officeDocument/2006/relationships/image" Target="/ppt/media/image19.png" Id="R8300ee9d2fa54036" /><Relationship Type="http://schemas.openxmlformats.org/officeDocument/2006/relationships/image" Target="/ppt/media/image17.svg" Id="Rae32afa1ab624b16" /><Relationship Type="http://schemas.openxmlformats.org/officeDocument/2006/relationships/notesSlide" Target="/ppt/notesSlides/notesSlide29.xml" Id="R0e1cd5516969410b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a60a0dcec1a545aa" /><Relationship Type="http://schemas.openxmlformats.org/officeDocument/2006/relationships/image" Target="/ppt/media/image20.png" Id="Rb106eaa1828e4edc" /><Relationship Type="http://schemas.openxmlformats.org/officeDocument/2006/relationships/image" Target="/ppt/media/image18.svg" Id="R7390ce9614ab4bd8" /><Relationship Type="http://schemas.openxmlformats.org/officeDocument/2006/relationships/notesSlide" Target="/ppt/notesSlides/notesSlide30.xml" Id="R8583403719694f29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b83188ac04d425a" /><Relationship Type="http://schemas.openxmlformats.org/officeDocument/2006/relationships/image" Target="/ppt/media/image21.png" Id="R54e622af5587451e" /><Relationship Type="http://schemas.openxmlformats.org/officeDocument/2006/relationships/image" Target="/ppt/media/image19.svg" Id="R4f69bf51faa54187" /><Relationship Type="http://schemas.openxmlformats.org/officeDocument/2006/relationships/notesSlide" Target="/ppt/notesSlides/notesSlide31.xml" Id="Re6c3aec647184b2c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4d30d019f19c46e6" /><Relationship Type="http://schemas.openxmlformats.org/officeDocument/2006/relationships/image" Target="/ppt/media/image22.png" Id="Rbe9fd8c6fe434867" /><Relationship Type="http://schemas.openxmlformats.org/officeDocument/2006/relationships/image" Target="/ppt/media/image20.svg" Id="Rdb017e771da64a7d" /><Relationship Type="http://schemas.openxmlformats.org/officeDocument/2006/relationships/notesSlide" Target="/ppt/notesSlides/notesSlide32.xml" Id="R067c52750a164a82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df0446891d6b4285" /><Relationship Type="http://schemas.openxmlformats.org/officeDocument/2006/relationships/notesSlide" Target="/ppt/notesSlides/notesSlide33.xml" Id="Rd61d9174467545d2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2ab8e13057584098" /><Relationship Type="http://schemas.openxmlformats.org/officeDocument/2006/relationships/hyperlink" Target="https://phet.colorado.edu/es_PE/simulations/masses-and-springs-basics" TargetMode="External" Id="Red8a8df15b2643f4" /><Relationship Type="http://schemas.openxmlformats.org/officeDocument/2006/relationships/notesSlide" Target="/ppt/notesSlides/notesSlide34.xml" Id="R1554d2886c604dc5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3.xml" Id="R03abf0400a3446f3" /><Relationship Type="http://schemas.openxmlformats.org/officeDocument/2006/relationships/image" Target="/ppt/media/image23.png" Id="R81c2e6f1be144329" /><Relationship Type="http://schemas.openxmlformats.org/officeDocument/2006/relationships/image" Target="/ppt/media/image21.svg" Id="R2afa6f405fe14225" /><Relationship Type="http://schemas.openxmlformats.org/officeDocument/2006/relationships/notesSlide" Target="/ppt/notesSlides/notesSlide35.xml" Id="Rac9c10c34d19452d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1.xml" Id="Rb625f0afc46143b9" /><Relationship Type="http://schemas.openxmlformats.org/officeDocument/2006/relationships/image" Target="/ppt/media/image24.png" Id="R60a56ea673774a0e" /><Relationship Type="http://schemas.openxmlformats.org/officeDocument/2006/relationships/notesSlide" Target="/ppt/notesSlides/notesSlide36.xml" Id="R650f449b26c54476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0.xml" Id="R23bffe1903504bff" /><Relationship Type="http://schemas.openxmlformats.org/officeDocument/2006/relationships/image" Target="/ppt/media/image25.png" Id="R2a61239562094927" /><Relationship Type="http://schemas.openxmlformats.org/officeDocument/2006/relationships/image" Target="/ppt/media/image22.svg" Id="R9e76199308d348fd" /><Relationship Type="http://schemas.openxmlformats.org/officeDocument/2006/relationships/notesSlide" Target="/ppt/notesSlides/notesSlide37.xml" Id="R99f4393621a64eaf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125c015a16bb4722" /><Relationship Type="http://schemas.openxmlformats.org/officeDocument/2006/relationships/image" Target="/ppt/media/image26.png" Id="R9b4f7552532f45b1" /><Relationship Type="http://schemas.openxmlformats.org/officeDocument/2006/relationships/notesSlide" Target="/ppt/notesSlides/notesSlide38.xml" Id="Rd441b96b86b9433c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5dc45621cc7944ab" /><Relationship Type="http://schemas.openxmlformats.org/officeDocument/2006/relationships/image" Target="/ppt/media/image27.png" Id="Rc1a0a91190e84378" /><Relationship Type="http://schemas.openxmlformats.org/officeDocument/2006/relationships/image" Target="/ppt/media/image23.svg" Id="R24d3285fac88484b" /><Relationship Type="http://schemas.openxmlformats.org/officeDocument/2006/relationships/notesSlide" Target="/ppt/notesSlides/notesSlide39.xml" Id="R1c361889c649418f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8514c37572a0411c" /><Relationship Type="http://schemas.openxmlformats.org/officeDocument/2006/relationships/image" Target="/ppt/media/image28.png" Id="R9920073894a5492c" /><Relationship Type="http://schemas.openxmlformats.org/officeDocument/2006/relationships/notesSlide" Target="/ppt/notesSlides/notesSlide40.xml" Id="Rade71b81f16943ab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e58de8ae2574a7a" /><Relationship Type="http://schemas.openxmlformats.org/officeDocument/2006/relationships/image" Target="/ppt/media/image29.png" Id="R7ed0e0780d9e4935" /><Relationship Type="http://schemas.openxmlformats.org/officeDocument/2006/relationships/image" Target="/ppt/media/image24.svg" Id="Rf48dee72bf304de2" /><Relationship Type="http://schemas.openxmlformats.org/officeDocument/2006/relationships/notesSlide" Target="/ppt/notesSlides/notesSlide41.xml" Id="Rd03b57bbde124138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39b53ff37901494b" /><Relationship Type="http://schemas.openxmlformats.org/officeDocument/2006/relationships/image" Target="/ppt/media/image30.png" Id="R304d39c470fa493c" /><Relationship Type="http://schemas.openxmlformats.org/officeDocument/2006/relationships/image" Target="/ppt/media/image25.svg" Id="R2b34f40e0ea44282" /><Relationship Type="http://schemas.openxmlformats.org/officeDocument/2006/relationships/notesSlide" Target="/ppt/notesSlides/notesSlide42.xml" Id="R87478ca624ea487e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07d5f2feeae5406e" /><Relationship Type="http://schemas.openxmlformats.org/officeDocument/2006/relationships/image" Target="/ppt/media/image31.png" Id="Rff4ecde6b6994b79" /><Relationship Type="http://schemas.openxmlformats.org/officeDocument/2006/relationships/image" Target="/ppt/media/image26.svg" Id="Rf69bc3861dc74892" /><Relationship Type="http://schemas.openxmlformats.org/officeDocument/2006/relationships/notesSlide" Target="/ppt/notesSlides/notesSlide43.xml" Id="R28c80a73a18a47c4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4d72cc52945c486c" /><Relationship Type="http://schemas.openxmlformats.org/officeDocument/2006/relationships/image" Target="/ppt/media/image32.png" Id="R2d6eb1dbc30343c1" /><Relationship Type="http://schemas.openxmlformats.org/officeDocument/2006/relationships/notesSlide" Target="/ppt/notesSlides/notesSlide44.xml" Id="Rf7d08b48eda14079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6a685a3e43430c" /><Relationship Type="http://schemas.openxmlformats.org/officeDocument/2006/relationships/image" Target="/ppt/media/image33.png" Id="Rd47359a6fa964963" /><Relationship Type="http://schemas.openxmlformats.org/officeDocument/2006/relationships/image" Target="/ppt/media/image27.svg" Id="Rcc6509913a544103" /><Relationship Type="http://schemas.openxmlformats.org/officeDocument/2006/relationships/notesSlide" Target="/ppt/notesSlides/notesSlide45.xml" Id="R85c949da53ac4586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f24dd31bd50b40ee" /><Relationship Type="http://schemas.openxmlformats.org/officeDocument/2006/relationships/image" Target="/ppt/media/image34.png" Id="R740fe9a6de6a4831" /><Relationship Type="http://schemas.openxmlformats.org/officeDocument/2006/relationships/image" Target="/ppt/media/image28.svg" Id="R2c0e1e29445543ab" /><Relationship Type="http://schemas.openxmlformats.org/officeDocument/2006/relationships/notesSlide" Target="/ppt/notesSlides/notesSlide46.xml" Id="Ra6c31b7635d34305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004f9426b9314508" /><Relationship Type="http://schemas.openxmlformats.org/officeDocument/2006/relationships/notesSlide" Target="/ppt/notesSlides/notesSlide47.xml" Id="Rd368e4b77f384160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0.xml" Id="Rce89615a55954839" /><Relationship Type="http://schemas.openxmlformats.org/officeDocument/2006/relationships/image" Target="/ppt/media/image35.png" Id="R75cc8309b4ce4e3a" /><Relationship Type="http://schemas.openxmlformats.org/officeDocument/2006/relationships/image" Target="/ppt/media/image29.svg" Id="R9755b7443a4a4cd0" /><Relationship Type="http://schemas.openxmlformats.org/officeDocument/2006/relationships/notesSlide" Target="/ppt/notesSlides/notesSlide48.xml" Id="Rf5609a6a3a6548a3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4a679116d8274820" /><Relationship Type="http://schemas.openxmlformats.org/officeDocument/2006/relationships/image" Target="/ppt/media/image36.png" Id="R4012e7308c86493c" /><Relationship Type="http://schemas.openxmlformats.org/officeDocument/2006/relationships/image" Target="/ppt/media/image30.svg" Id="R1fd90861e6b04273" /><Relationship Type="http://schemas.openxmlformats.org/officeDocument/2006/relationships/notesSlide" Target="/ppt/notesSlides/notesSlide49.xml" Id="R4ff9436d105d4c3a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b5267597d4204515" /><Relationship Type="http://schemas.openxmlformats.org/officeDocument/2006/relationships/image" Target="/ppt/media/image37.png" Id="R07cf06134c20436e" /><Relationship Type="http://schemas.openxmlformats.org/officeDocument/2006/relationships/image" Target="/ppt/media/image31.svg" Id="Rd6f82e84d4c144ca" /><Relationship Type="http://schemas.openxmlformats.org/officeDocument/2006/relationships/notesSlide" Target="/ppt/notesSlides/notesSlide50.xml" Id="Rc2e2fbdf7a5d4255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16fc83c2aba94a22" /><Relationship Type="http://schemas.openxmlformats.org/officeDocument/2006/relationships/image" Target="/ppt/media/image38.png" Id="Ra8356495f44845e0" /><Relationship Type="http://schemas.openxmlformats.org/officeDocument/2006/relationships/image" Target="/ppt/media/image32.svg" Id="R5fc8016364514b95" /><Relationship Type="http://schemas.openxmlformats.org/officeDocument/2006/relationships/notesSlide" Target="/ppt/notesSlides/notesSlide51.xml" Id="R41b8b89444b74a06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5efbb6a5ac80447a" /><Relationship Type="http://schemas.openxmlformats.org/officeDocument/2006/relationships/image" Target="/ppt/media/image39.png" Id="R8c1841fd81514209" /><Relationship Type="http://schemas.openxmlformats.org/officeDocument/2006/relationships/image" Target="/ppt/media/image33.svg" Id="R59afb966b6a8437b" /><Relationship Type="http://schemas.openxmlformats.org/officeDocument/2006/relationships/notesSlide" Target="/ppt/notesSlides/notesSlide52.xml" Id="R52a7ddee08df4e71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9aa2914c87b4427f" /><Relationship Type="http://schemas.openxmlformats.org/officeDocument/2006/relationships/image" Target="/ppt/media/image40.png" Id="R6875aa13d94d44a9" /><Relationship Type="http://schemas.openxmlformats.org/officeDocument/2006/relationships/image" Target="/ppt/media/image34.svg" Id="R78e9b39cdd4740fa" /><Relationship Type="http://schemas.openxmlformats.org/officeDocument/2006/relationships/notesSlide" Target="/ppt/notesSlides/notesSlide53.xml" Id="Rf466f2b9079f407c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7db55946dbff4161" /><Relationship Type="http://schemas.openxmlformats.org/officeDocument/2006/relationships/image" Target="/ppt/media/image41.png" Id="R925b9183fe6b42f0" /><Relationship Type="http://schemas.openxmlformats.org/officeDocument/2006/relationships/image" Target="/ppt/media/image35.svg" Id="Re1a554f3291a4f7c" /><Relationship Type="http://schemas.openxmlformats.org/officeDocument/2006/relationships/notesSlide" Target="/ppt/notesSlides/notesSlide54.xml" Id="R8777f4d01373405f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fcc2f39b2ca748f7" /><Relationship Type="http://schemas.openxmlformats.org/officeDocument/2006/relationships/image" Target="/ppt/media/image42.png" Id="Rf045763078714891" /><Relationship Type="http://schemas.openxmlformats.org/officeDocument/2006/relationships/image" Target="/ppt/media/image36.svg" Id="Raeba7eefc222418b" /><Relationship Type="http://schemas.openxmlformats.org/officeDocument/2006/relationships/notesSlide" Target="/ppt/notesSlides/notesSlide55.xml" Id="R534c41e0d3d54447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977baccafa964414" /><Relationship Type="http://schemas.openxmlformats.org/officeDocument/2006/relationships/image" Target="/ppt/media/image43.png" Id="R9a8fa17bad144226" /><Relationship Type="http://schemas.openxmlformats.org/officeDocument/2006/relationships/image" Target="/ppt/media/image37.svg" Id="R491f700d9d604921" /><Relationship Type="http://schemas.openxmlformats.org/officeDocument/2006/relationships/notesSlide" Target="/ppt/notesSlides/notesSlide56.xml" Id="R3a73a5028c9245e8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0b2a010b133f4c72" /><Relationship Type="http://schemas.openxmlformats.org/officeDocument/2006/relationships/image" Target="/ppt/media/image44.png" Id="R8985bacf754643bc" /><Relationship Type="http://schemas.openxmlformats.org/officeDocument/2006/relationships/image" Target="/ppt/media/image38.svg" Id="R497d3d297fb7458d" /><Relationship Type="http://schemas.openxmlformats.org/officeDocument/2006/relationships/notesSlide" Target="/ppt/notesSlides/notesSlide57.xml" Id="R0c08b29f59ab4b80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2d60a2ffb7744760" /><Relationship Type="http://schemas.openxmlformats.org/officeDocument/2006/relationships/notesSlide" Target="/ppt/notesSlides/notesSlide58.xml" Id="R535f478232164755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fe380073775e41f9" /><Relationship Type="http://schemas.openxmlformats.org/officeDocument/2006/relationships/image" Target="/ppt/media/image45.png" Id="Rc71ab68fca364f60" /><Relationship Type="http://schemas.openxmlformats.org/officeDocument/2006/relationships/image" Target="/ppt/media/image39.svg" Id="Rf3b0e36cae8f4b59" /><Relationship Type="http://schemas.openxmlformats.org/officeDocument/2006/relationships/notesSlide" Target="/ppt/notesSlides/notesSlide59.xml" Id="R96c70520313f4bc6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58b40ea846ba4e61" /><Relationship Type="http://schemas.openxmlformats.org/officeDocument/2006/relationships/notesSlide" Target="/ppt/notesSlides/notesSlide60.xml" Id="R75969c5446b64621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a915177e06bf4566" /><Relationship Type="http://schemas.openxmlformats.org/officeDocument/2006/relationships/image" Target="/ppt/media/image46.png" Id="R15728f38374a48b4" /><Relationship Type="http://schemas.openxmlformats.org/officeDocument/2006/relationships/image" Target="/ppt/media/image40.svg" Id="Rf509d2d76ffe45bf" /><Relationship Type="http://schemas.openxmlformats.org/officeDocument/2006/relationships/notesSlide" Target="/ppt/notesSlides/notesSlide61.xml" Id="R0c3336452e914153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46bb5e61025c4346" /><Relationship Type="http://schemas.openxmlformats.org/officeDocument/2006/relationships/image" Target="/ppt/media/image47.png" Id="R0c047cddba024cfc" /><Relationship Type="http://schemas.openxmlformats.org/officeDocument/2006/relationships/image" Target="/ppt/media/image41.svg" Id="Re2a1422492754b84" /><Relationship Type="http://schemas.openxmlformats.org/officeDocument/2006/relationships/notesSlide" Target="/ppt/notesSlides/notesSlide62.xml" Id="Ra12ad4e94db84993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b5c6a560a0bc4cca" /><Relationship Type="http://schemas.openxmlformats.org/officeDocument/2006/relationships/image" Target="/ppt/media/image48.png" Id="R4ba739368b6d44cb" /><Relationship Type="http://schemas.openxmlformats.org/officeDocument/2006/relationships/image" Target="/ppt/media/image42.svg" Id="Re025414c22954fcf" /><Relationship Type="http://schemas.openxmlformats.org/officeDocument/2006/relationships/notesSlide" Target="/ppt/notesSlides/notesSlide63.xml" Id="R1aed123f62474635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f8ec5457336447d2" /><Relationship Type="http://schemas.openxmlformats.org/officeDocument/2006/relationships/image" Target="/ppt/media/image49.png" Id="R8456c5c2a3c94812" /><Relationship Type="http://schemas.openxmlformats.org/officeDocument/2006/relationships/image" Target="/ppt/media/image43.svg" Id="Rd46e5bfefbdd4e0e" /><Relationship Type="http://schemas.openxmlformats.org/officeDocument/2006/relationships/notesSlide" Target="/ppt/notesSlides/notesSlide64.xml" Id="R117f8b51a6524a75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856c1f986cb641e9" /><Relationship Type="http://schemas.openxmlformats.org/officeDocument/2006/relationships/image" Target="/ppt/media/image50.png" Id="R014068733aa34d41" /><Relationship Type="http://schemas.openxmlformats.org/officeDocument/2006/relationships/image" Target="/ppt/media/image44.svg" Id="R7efd218e5fa74643" /><Relationship Type="http://schemas.openxmlformats.org/officeDocument/2006/relationships/notesSlide" Target="/ppt/notesSlides/notesSlide65.xml" Id="R6b51a7beb3364f8f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06488caec7204485" /><Relationship Type="http://schemas.openxmlformats.org/officeDocument/2006/relationships/image" Target="/ppt/media/image51.png" Id="R10510ed2c6694a62" /><Relationship Type="http://schemas.openxmlformats.org/officeDocument/2006/relationships/image" Target="/ppt/media/image45.svg" Id="Rffbfe12b30b8426a" /><Relationship Type="http://schemas.openxmlformats.org/officeDocument/2006/relationships/notesSlide" Target="/ppt/notesSlides/notesSlide66.xml" Id="Rfd3a759d071d49b9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478fc266ac5e4fc6" /><Relationship Type="http://schemas.openxmlformats.org/officeDocument/2006/relationships/notesSlide" Target="/ppt/notesSlides/notesSlide67.xml" Id="Rfbe79c68b3ff4ed8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1a13020da8cc4422" /><Relationship Type="http://schemas.openxmlformats.org/officeDocument/2006/relationships/notesSlide" Target="/ppt/notesSlides/notesSlide68.xml" Id="Re467f5f8bc3a42d9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0.xml" Id="Rb401ef55c3764606" /><Relationship Type="http://schemas.openxmlformats.org/officeDocument/2006/relationships/notesSlide" Target="/ppt/notesSlides/notesSlide69.xml" Id="R9bec8c32126645ed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344e6aac5a7d41d0" /><Relationship Type="http://schemas.openxmlformats.org/officeDocument/2006/relationships/notesSlide" Target="/ppt/notesSlides/notesSlide70.xml" Id="R38d83ecff603473d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f28db4ebaa23492a" /><Relationship Type="http://schemas.openxmlformats.org/officeDocument/2006/relationships/image" Target="/ppt/media/image52.png" Id="R68411e8c93ea478a" /><Relationship Type="http://schemas.openxmlformats.org/officeDocument/2006/relationships/image" Target="/ppt/media/image46.svg" Id="Rb42acfc2b7194310" /><Relationship Type="http://schemas.openxmlformats.org/officeDocument/2006/relationships/notesSlide" Target="/ppt/notesSlides/notesSlide71.xml" Id="R5acd83728bb2430b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c2a63fa6511f42fd" /><Relationship Type="http://schemas.openxmlformats.org/officeDocument/2006/relationships/notesSlide" Target="/ppt/notesSlides/notesSlide72.xml" Id="R90d9af10f4324a42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d47d1e089cd54703" /><Relationship Type="http://schemas.openxmlformats.org/officeDocument/2006/relationships/image" Target="/ppt/media/image53.png" Id="Rde3519e7daf243a3" /><Relationship Type="http://schemas.openxmlformats.org/officeDocument/2006/relationships/image" Target="/ppt/media/image47.svg" Id="R38b04b7b9a8948c3" /><Relationship Type="http://schemas.openxmlformats.org/officeDocument/2006/relationships/notesSlide" Target="/ppt/notesSlides/notesSlide73.xml" Id="Rceed139ae1cc45e2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27d54d124dcf4ea4" /><Relationship Type="http://schemas.openxmlformats.org/officeDocument/2006/relationships/notesSlide" Target="/ppt/notesSlides/notesSlide74.xml" Id="R6179e64ba3534d01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8211c8f4a2c34c48" /><Relationship Type="http://schemas.openxmlformats.org/officeDocument/2006/relationships/notesSlide" Target="/ppt/notesSlides/notesSlide75.xml" Id="Rcc18bbeb42e64447" /></Relationships>
</file>

<file path=ppt/slides/_rels/slide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fc0d81f4bb624f48" /><Relationship Type="http://schemas.openxmlformats.org/officeDocument/2006/relationships/notesSlide" Target="/ppt/notesSlides/notesSlide76.xml" Id="Rc9d4b2fb709040a4" /></Relationships>
</file>

<file path=ppt/slides/_rels/slide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e8b47261eb864320" /><Relationship Type="http://schemas.openxmlformats.org/officeDocument/2006/relationships/image" Target="/ppt/media/image54.png" Id="Rdd29a2355a984e8e" /><Relationship Type="http://schemas.openxmlformats.org/officeDocument/2006/relationships/image" Target="/ppt/media/image48.svg" Id="R9d0701dc56e6452e" /><Relationship Type="http://schemas.openxmlformats.org/officeDocument/2006/relationships/notesSlide" Target="/ppt/notesSlides/notesSlide77.xml" Id="Rf42f98b968904f7c" /></Relationships>
</file>

<file path=ppt/slides/_rels/slide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093e9b0d59f848b4" /><Relationship Type="http://schemas.openxmlformats.org/officeDocument/2006/relationships/image" Target="/ppt/media/image55.png" Id="Rfadbb9e40f6f481d" /><Relationship Type="http://schemas.openxmlformats.org/officeDocument/2006/relationships/image" Target="/ppt/media/image49.svg" Id="Rbd13ed14c1b3454e" /><Relationship Type="http://schemas.openxmlformats.org/officeDocument/2006/relationships/notesSlide" Target="/ppt/notesSlides/notesSlide78.xml" Id="R25114e0695a34d49" /></Relationships>
</file>

<file path=ppt/slides/_rels/slide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7ff5393663634500" /><Relationship Type="http://schemas.openxmlformats.org/officeDocument/2006/relationships/image" Target="/ppt/media/image56.png" Id="R528defab37924c42" /><Relationship Type="http://schemas.openxmlformats.org/officeDocument/2006/relationships/image" Target="/ppt/media/image50.svg" Id="R7d95c49b9d2e4e46" /><Relationship Type="http://schemas.openxmlformats.org/officeDocument/2006/relationships/notesSlide" Target="/ppt/notesSlides/notesSlide79.xml" Id="Rb9a1ca6fb9f3461e" /></Relationships>
</file>

<file path=ppt/slides/_rels/slide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1c8befc7249b4a42" /><Relationship Type="http://schemas.openxmlformats.org/officeDocument/2006/relationships/image" Target="/ppt/media/image57.png" Id="Re39c0a08134444fd" /><Relationship Type="http://schemas.openxmlformats.org/officeDocument/2006/relationships/notesSlide" Target="/ppt/notesSlides/notesSlide80.xml" Id="R7f2be1dd98874c04" /></Relationships>
</file>

<file path=ppt/slides/_rels/slide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8101aae6c2aa48b4" /><Relationship Type="http://schemas.openxmlformats.org/officeDocument/2006/relationships/image" Target="/ppt/media/image58.png" Id="R34c15856368a4b87" /><Relationship Type="http://schemas.openxmlformats.org/officeDocument/2006/relationships/notesSlide" Target="/ppt/notesSlides/notesSlide81.xml" Id="R028ed76772c6496a" /></Relationships>
</file>

<file path=ppt/slides/_rels/slide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4ec8aefe952d4f63" /><Relationship Type="http://schemas.openxmlformats.org/officeDocument/2006/relationships/image" Target="/ppt/media/image59.png" Id="R94d92eea302a4e8f" /><Relationship Type="http://schemas.openxmlformats.org/officeDocument/2006/relationships/image" Target="/ppt/media/image51.svg" Id="R3153af4aac2c47f7" /><Relationship Type="http://schemas.openxmlformats.org/officeDocument/2006/relationships/notesSlide" Target="/ppt/notesSlides/notesSlide82.xml" Id="R798296098aa74015" /></Relationships>
</file>

<file path=ppt/slides/_rels/slide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6569eb6ef74746e7" /><Relationship Type="http://schemas.openxmlformats.org/officeDocument/2006/relationships/notesSlide" Target="/ppt/notesSlides/notesSlide83.xml" Id="Re719a6073cf3478f" /></Relationships>
</file>

<file path=ppt/slides/_rels/slide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3.xml" Id="Re3bda272f0b240da" /><Relationship Type="http://schemas.openxmlformats.org/officeDocument/2006/relationships/image" Target="/ppt/media/image60.png" Id="R77dc159e61444139" /><Relationship Type="http://schemas.openxmlformats.org/officeDocument/2006/relationships/image" Target="/ppt/media/image52.svg" Id="Rb132a55c018e4c1d" /><Relationship Type="http://schemas.openxmlformats.org/officeDocument/2006/relationships/notesSlide" Target="/ppt/notesSlides/notesSlide84.xml" Id="Rdb959fb814ab49a1" /></Relationships>
</file>

<file path=ppt/slides/_rels/slide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51a8c63a64f4d3e" /><Relationship Type="http://schemas.openxmlformats.org/officeDocument/2006/relationships/image" Target="/ppt/media/image61.png" Id="R8d7bbd3abeba4675" /><Relationship Type="http://schemas.openxmlformats.org/officeDocument/2006/relationships/image" Target="/ppt/media/image53.svg" Id="Rcd1c8b2deec9415a" /><Relationship Type="http://schemas.openxmlformats.org/officeDocument/2006/relationships/hyperlink" Target="https://commons.wikimedia.org/wiki/File:Tympanic_membrane_cross-section.svg" TargetMode="External" Id="R4c407e645cc64062" /><Relationship Type="http://schemas.openxmlformats.org/officeDocument/2006/relationships/notesSlide" Target="/ppt/notesSlides/notesSlide85.xml" Id="R896337c7b4864c66" /></Relationships>
</file>

<file path=ppt/slides/_rels/slide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aabefb437c14f92" /><Relationship Type="http://schemas.openxmlformats.org/officeDocument/2006/relationships/image" Target="/ppt/media/image62.png" Id="R77ce50c02a6344b1" /><Relationship Type="http://schemas.openxmlformats.org/officeDocument/2006/relationships/image" Target="/ppt/media/image54.svg" Id="R69999a37cc1f4dbb" /><Relationship Type="http://schemas.openxmlformats.org/officeDocument/2006/relationships/notesSlide" Target="/ppt/notesSlides/notesSlide86.xml" Id="Rdd9210e86f374a00" /></Relationships>
</file>

<file path=ppt/slides/_rels/slide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7370a6c88ba410c" /><Relationship Type="http://schemas.openxmlformats.org/officeDocument/2006/relationships/image" Target="/ppt/media/image63.png" Id="R6d9794a59eb6418f" /><Relationship Type="http://schemas.openxmlformats.org/officeDocument/2006/relationships/image" Target="/ppt/media/image55.svg" Id="R7ded2538c59c4b6c" /><Relationship Type="http://schemas.openxmlformats.org/officeDocument/2006/relationships/notesSlide" Target="/ppt/notesSlides/notesSlide87.xml" Id="R7f962d1350e64c11" /></Relationships>
</file>

<file path=ppt/slides/_rels/slide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d92c187553a944de" /><Relationship Type="http://schemas.openxmlformats.org/officeDocument/2006/relationships/image" Target="/ppt/media/image64.png" Id="R8fc319ebd14c4019" /><Relationship Type="http://schemas.openxmlformats.org/officeDocument/2006/relationships/image" Target="/ppt/media/image56.svg" Id="R4f17ca10151b481f" /><Relationship Type="http://schemas.openxmlformats.org/officeDocument/2006/relationships/notesSlide" Target="/ppt/notesSlides/notesSlide88.xml" Id="R4aed594dac2f47d7" /></Relationships>
</file>

<file path=ppt/slides/_rels/slide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e25e250ea134fef" /><Relationship Type="http://schemas.openxmlformats.org/officeDocument/2006/relationships/image" Target="/ppt/media/image65.png" Id="R12a8537e61df4bb1" /><Relationship Type="http://schemas.openxmlformats.org/officeDocument/2006/relationships/image" Target="/ppt/media/image57.svg" Id="Rf83cfe34d7174249" /><Relationship Type="http://schemas.openxmlformats.org/officeDocument/2006/relationships/notesSlide" Target="/ppt/notesSlides/notesSlide89.xml" Id="R36a0355cee5e47af" /></Relationships>
</file>

<file path=ppt/slides/_rels/slide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6.xml" Id="Rb41d0974688241a0" /><Relationship Type="http://schemas.openxmlformats.org/officeDocument/2006/relationships/notesSlide" Target="/ppt/notesSlides/notesSlide90.xml" Id="R9e6860333ca04b68" /></Relationships>
</file>

<file path=ppt/slides/_rels/slide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54aa2a4caf747b5" /><Relationship Type="http://schemas.openxmlformats.org/officeDocument/2006/relationships/image" Target="/ppt/media/image66.png" Id="Rf45721aca23f4f60" /><Relationship Type="http://schemas.openxmlformats.org/officeDocument/2006/relationships/image" Target="/ppt/media/image58.svg" Id="R5152051a681a42bd" /><Relationship Type="http://schemas.openxmlformats.org/officeDocument/2006/relationships/notesSlide" Target="/ppt/notesSlides/notesSlide91.xml" Id="R80e2bfafa833420f" /></Relationships>
</file>

<file path=ppt/slides/_rels/slide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231427107d142c3" /><Relationship Type="http://schemas.openxmlformats.org/officeDocument/2006/relationships/image" Target="/ppt/media/image67.png" Id="R7a1a86c1d8344fd3" /><Relationship Type="http://schemas.openxmlformats.org/officeDocument/2006/relationships/image" Target="/ppt/media/image59.svg" Id="R1d3abf1e05a545b5" /><Relationship Type="http://schemas.openxmlformats.org/officeDocument/2006/relationships/notesSlide" Target="/ppt/notesSlides/notesSlide92.xml" Id="R1ed9bac1ed054ebc" /></Relationships>
</file>

<file path=ppt/slides/_rels/slide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86314dd08854c10" /><Relationship Type="http://schemas.openxmlformats.org/officeDocument/2006/relationships/image" Target="/ppt/media/image68.png" Id="R6a72ccd5d256420b" /><Relationship Type="http://schemas.openxmlformats.org/officeDocument/2006/relationships/image" Target="/ppt/media/image60.svg" Id="R41876cfcefd54ddc" /><Relationship Type="http://schemas.openxmlformats.org/officeDocument/2006/relationships/notesSlide" Target="/ppt/notesSlides/notesSlide93.xml" Id="R9580263ff4c942e2" /></Relationships>
</file>

<file path=ppt/slides/_rels/slide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060f045a114d98" /><Relationship Type="http://schemas.openxmlformats.org/officeDocument/2006/relationships/notesSlide" Target="/ppt/notesSlides/notesSlide94.xml" Id="Ra80045a3c0b6412a" /></Relationships>
</file>

<file path=ppt/slides/_rels/slide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82bdd11d1534d1d" /><Relationship Type="http://schemas.openxmlformats.org/officeDocument/2006/relationships/image" Target="/ppt/media/image69.png" Id="Rfc4bee779d354ab1" /><Relationship Type="http://schemas.openxmlformats.org/officeDocument/2006/relationships/image" Target="/ppt/media/image61.svg" Id="R523b2825d3014117" /><Relationship Type="http://schemas.openxmlformats.org/officeDocument/2006/relationships/notesSlide" Target="/ppt/notesSlides/notesSlide95.xml" Id="Re377b0f687e04bfc" /></Relationships>
</file>

<file path=ppt/slides/_rels/slide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4b427ca996c4bde" /><Relationship Type="http://schemas.openxmlformats.org/officeDocument/2006/relationships/image" Target="/ppt/media/image70.png" Id="Ra4fe2820db704f22" /><Relationship Type="http://schemas.openxmlformats.org/officeDocument/2006/relationships/notesSlide" Target="/ppt/notesSlides/notesSlide96.xml" Id="Rf8a50700cae0477b" /></Relationships>
</file>

<file path=ppt/slides/_rels/slide9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b7a9a3a5474fa2" /><Relationship Type="http://schemas.openxmlformats.org/officeDocument/2006/relationships/notesSlide" Target="/ppt/notesSlides/notesSlide97.xml" Id="R8cb96850105640a3" /></Relationships>
</file>

<file path=ppt/slides/_rels/slide9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8796236aa414c44" /><Relationship Type="http://schemas.openxmlformats.org/officeDocument/2006/relationships/notesSlide" Target="/ppt/notesSlides/notesSlide98.xml" Id="Rd8677e54376f442e" /></Relationships>
</file>

<file path=ppt/slides/_rels/slide9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e6ca136bf004a33" /><Relationship Type="http://schemas.openxmlformats.org/officeDocument/2006/relationships/notesSlide" Target="/ppt/notesSlides/notesSlide99.xml" Id="R4fd9bc793786447b" /></Relationships>
</file>

<file path=ppt/slides/_rels/slide100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b47a8cd8e1d54f7b" /><Relationship Type="http://schemas.openxmlformats.org/officeDocument/2006/relationships/notesSlide" Target="/ppt/notesSlides/notesSlide100.xml" Id="R24e3f0cdc2534838" /></Relationships>
</file>

<file path=ppt/slides/_rels/slide10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7eb228c9f874807" /><Relationship Type="http://schemas.openxmlformats.org/officeDocument/2006/relationships/image" Target="/ppt/media/image71.png" Id="Rf36352fdee7f4529" /><Relationship Type="http://schemas.openxmlformats.org/officeDocument/2006/relationships/image" Target="/ppt/media/image62.svg" Id="R553b7e7474bd458b" /><Relationship Type="http://schemas.openxmlformats.org/officeDocument/2006/relationships/notesSlide" Target="/ppt/notesSlides/notesSlide101.xml" Id="R4d0798d6b1b14779" /></Relationships>
</file>

<file path=ppt/slides/_rels/slide10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a9d40c953454e13" /><Relationship Type="http://schemas.openxmlformats.org/officeDocument/2006/relationships/image" Target="/ppt/media/image72.png" Id="R1cb5d38209354a85" /><Relationship Type="http://schemas.openxmlformats.org/officeDocument/2006/relationships/image" Target="/ppt/media/image63.svg" Id="R8cb6343fc9e64efa" /><Relationship Type="http://schemas.openxmlformats.org/officeDocument/2006/relationships/notesSlide" Target="/ppt/notesSlides/notesSlide102.xml" Id="R5becb58640b04fcf" /></Relationships>
</file>

<file path=ppt/slides/_rels/slide10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eecccbee6e14dde" /><Relationship Type="http://schemas.openxmlformats.org/officeDocument/2006/relationships/image" Target="/ppt/media/image73.png" Id="R897d61f0ca3447d5" /><Relationship Type="http://schemas.openxmlformats.org/officeDocument/2006/relationships/notesSlide" Target="/ppt/notesSlides/notesSlide103.xml" Id="R5ebaaad5aeee40a8" /></Relationships>
</file>

<file path=ppt/slides/_rels/slide10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05f62421b0349d6" /><Relationship Type="http://schemas.openxmlformats.org/officeDocument/2006/relationships/image" Target="/ppt/media/image74.png" Id="R187e7714a64c4e95" /><Relationship Type="http://schemas.openxmlformats.org/officeDocument/2006/relationships/image" Target="/ppt/media/image64.svg" Id="Rb7b65332d4264c0d" /><Relationship Type="http://schemas.openxmlformats.org/officeDocument/2006/relationships/notesSlide" Target="/ppt/notesSlides/notesSlide104.xml" Id="R81039486cdb247f2" /></Relationships>
</file>

<file path=ppt/slides/_rels/slide10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e1138e2dd574033" /><Relationship Type="http://schemas.openxmlformats.org/officeDocument/2006/relationships/image" Target="/ppt/media/image75.png" Id="Ra7ec058e58e44191" /><Relationship Type="http://schemas.openxmlformats.org/officeDocument/2006/relationships/image" Target="/ppt/media/image65.svg" Id="R470adb99fb3145a9" /><Relationship Type="http://schemas.openxmlformats.org/officeDocument/2006/relationships/notesSlide" Target="/ppt/notesSlides/notesSlide105.xml" Id="R9e7b34fe87614299" /></Relationships>
</file>

<file path=ppt/slides/_rels/slide10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e8abf9891974207" /><Relationship Type="http://schemas.openxmlformats.org/officeDocument/2006/relationships/image" Target="/ppt/media/image76.png" Id="R7c0ad4be387549f2" /><Relationship Type="http://schemas.openxmlformats.org/officeDocument/2006/relationships/image" Target="/ppt/media/image66.svg" Id="R1870e8ed74944877" /><Relationship Type="http://schemas.openxmlformats.org/officeDocument/2006/relationships/notesSlide" Target="/ppt/notesSlides/notesSlide106.xml" Id="R8e818f20875e45ef" /></Relationships>
</file>

<file path=ppt/slides/_rels/slide10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1a10477c4b1496d" /><Relationship Type="http://schemas.openxmlformats.org/officeDocument/2006/relationships/image" Target="/ppt/media/image77.png" Id="R6b3e8b93818c4985" /><Relationship Type="http://schemas.openxmlformats.org/officeDocument/2006/relationships/image" Target="/ppt/media/image67.svg" Id="R8f55b2de7e534b72" /><Relationship Type="http://schemas.openxmlformats.org/officeDocument/2006/relationships/notesSlide" Target="/ppt/notesSlides/notesSlide107.xml" Id="R2bdaa5b4ff574a7d" /></Relationships>
</file>

<file path=ppt/slides/_rels/slide10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78130aab8cd4294" /><Relationship Type="http://schemas.openxmlformats.org/officeDocument/2006/relationships/image" Target="/ppt/media/image78.png" Id="R8574b62b23b14df9" /><Relationship Type="http://schemas.openxmlformats.org/officeDocument/2006/relationships/image" Target="/ppt/media/image68.svg" Id="R14589239134c4fbd" /><Relationship Type="http://schemas.openxmlformats.org/officeDocument/2006/relationships/notesSlide" Target="/ppt/notesSlides/notesSlide108.xml" Id="Rb93c225cc09748ff" /></Relationships>
</file>

<file path=ppt/slides/_rels/slide109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0e5f66d183d04b60" /><Relationship Type="http://schemas.openxmlformats.org/officeDocument/2006/relationships/notesSlide" Target="/ppt/notesSlides/notesSlide109.xml" Id="Rf7090d8a598a4cef" /></Relationships>
</file>

<file path=ppt/slides/_rels/slide1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8ef180a52284e15" /><Relationship Type="http://schemas.openxmlformats.org/officeDocument/2006/relationships/notesSlide" Target="/ppt/notesSlides/notesSlide110.xml" Id="R4e800daba5854b5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ver_wave_line">
            <a:extLst xmlns:a="http://schemas.openxmlformats.org/drawingml/2006/main">
              <a:ext uri="{FF2B5EF4-FFF2-40B4-BE49-F238E27FC236}">
                <a16:creationId xmlns:a16="http://schemas.microsoft.com/office/drawing/2014/main" id="{E5787022-2768-4CD1-98E2-2B1F632DC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38300"/>
            <a:ext cx="2476500" cy="1809750"/>
          </a:xfrm>
          <a:prstGeom xmlns:a="http://schemas.openxmlformats.org/drawingml/2006/main" prst="wav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2" name="Marcador de número de diapositiva 11">
            <a:extLst xmlns:a="http://schemas.openxmlformats.org/drawingml/2006/main">
              <a:ext uri="{FF2B5EF4-FFF2-40B4-BE49-F238E27FC236}">
                <a16:creationId xmlns:a16="http://schemas.microsoft.com/office/drawing/2014/main" id="{0B44733C-D931-3240-C8D6-A74952D40B1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AD75FED6-38D0-DE9C-92C0-6E7FA635581C}" type="slidenum">
              <a:t>1</a:t>
            </a:fld>
          </a:p>
        </p:txBody>
      </p:sp>
      <p:sp>
        <p:nvSpPr>
          <p:cNvPr id="13" name="U02-001_eyebrow">
            <a:extLst xmlns:a="http://schemas.openxmlformats.org/drawingml/2006/main">
              <a:ext uri="{FF2B5EF4-FFF2-40B4-BE49-F238E27FC236}">
                <a16:creationId xmlns:a16="http://schemas.microsoft.com/office/drawing/2014/main" id="{29A0CDE2-548C-481C-B75F-5B99614B7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UNIDAD 2 · FÍSICA ACÚSTICA</a:t>
            </a:r>
          </a:p>
        </p:txBody>
      </p:sp>
      <p:sp>
        <p:nvSpPr>
          <p:cNvPr id="14" name="U02-001_title">
            <a:extLst xmlns:a="http://schemas.openxmlformats.org/drawingml/2006/main">
              <a:ext uri="{FF2B5EF4-FFF2-40B4-BE49-F238E27FC236}">
                <a16:creationId xmlns:a16="http://schemas.microsoft.com/office/drawing/2014/main" id="{2FA3BE2B-862E-4CDB-9A41-606C15747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2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42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Leyes de la mecánica clásica y de la termodinámica</a:t>
            </a:r>
          </a:p>
        </p:txBody>
      </p:sp>
      <p:sp>
        <p:nvSpPr>
          <p:cNvPr id="15" name="U02-001_subtitle">
            <a:extLst xmlns:a="http://schemas.openxmlformats.org/drawingml/2006/main">
              <a:ext uri="{FF2B5EF4-FFF2-40B4-BE49-F238E27FC236}">
                <a16:creationId xmlns:a16="http://schemas.microsoft.com/office/drawing/2014/main" id="{4921EDF1-0D55-4970-822A-C46307291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Movimiento, energía y sistemas acústicos.</a:t>
            </a:r>
          </a:p>
        </p:txBody>
      </p:sp>
      <p:sp>
        <p:nvSpPr>
          <p:cNvPr id="16" name="U02-001_scope">
            <a:extLst xmlns:a="http://schemas.openxmlformats.org/drawingml/2006/main">
              <a:ext uri="{FF2B5EF4-FFF2-40B4-BE49-F238E27FC236}">
                <a16:creationId xmlns:a16="http://schemas.microsoft.com/office/drawing/2014/main" id="{DCCBAE76-22DA-4E1F-8E42-715A89CB6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0"/>
            <a:ext cx="685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Unidad 2. Movimiento, fuerzas, energía y sistemas acústicos.</a:t>
            </a:r>
          </a:p>
        </p:txBody>
      </p:sp>
      <p:sp>
        <p:nvSpPr>
          <p:cNvPr id="17" name="U02-001_version">
            <a:extLst xmlns:a="http://schemas.openxmlformats.org/drawingml/2006/main">
              <a:ext uri="{FF2B5EF4-FFF2-40B4-BE49-F238E27FC236}">
                <a16:creationId xmlns:a16="http://schemas.microsoft.com/office/drawing/2014/main" id="{44A9EAED-0A7F-4A4D-B84C-05093542D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Licenciatura en Fonoaudiología · UCASAL</a:t>
            </a:r>
          </a:p>
        </p:txBody>
      </p:sp>
    </p:spTree>
    <p:extLst>
      <p:ext uri="{BB962C8B-B14F-4D97-AF65-F5344CB8AC3E}">
        <p14:creationId xmlns:p14="http://schemas.microsoft.com/office/powerpoint/2010/main" val="119466310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Marcador de número de diapositiva 25">
            <a:extLst xmlns:a="http://schemas.openxmlformats.org/drawingml/2006/main">
              <a:ext uri="{FF2B5EF4-FFF2-40B4-BE49-F238E27FC236}">
                <a16:creationId xmlns:a16="http://schemas.microsoft.com/office/drawing/2014/main" id="{E82CC427-17D1-D7E7-6008-F7922268FB6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E2598689-54C9-18A7-3A19-ED76AA08988F}" type="slidenum">
              <a:t>2</a:t>
            </a:fld>
          </a:p>
        </p:txBody>
      </p:sp>
      <p:sp>
        <p:nvSpPr>
          <p:cNvPr id="27" name="U02-002_eyebrow">
            <a:extLst xmlns:a="http://schemas.openxmlformats.org/drawingml/2006/main">
              <a:ext uri="{FF2B5EF4-FFF2-40B4-BE49-F238E27FC236}">
                <a16:creationId xmlns:a16="http://schemas.microsoft.com/office/drawing/2014/main" id="{CF50328D-5B8E-4C91-8155-783DD09F9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APERTURA</a:t>
            </a:r>
          </a:p>
        </p:txBody>
      </p:sp>
      <p:sp>
        <p:nvSpPr>
          <p:cNvPr id="28" name="U02-002_title">
            <a:extLst xmlns:a="http://schemas.openxmlformats.org/drawingml/2006/main">
              <a:ext uri="{FF2B5EF4-FFF2-40B4-BE49-F238E27FC236}">
                <a16:creationId xmlns:a16="http://schemas.microsoft.com/office/drawing/2014/main" id="{4C8FA042-BD58-4705-8CCE-FAF6F18EE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Dos lados, una membrana: ¿qué cambia?</a:t>
            </a:r>
          </a:p>
        </p:txBody>
      </p:sp>
      <p:sp>
        <p:nvSpPr>
          <p:cNvPr id="29" name="U02-002_takeaway">
            <a:extLst xmlns:a="http://schemas.openxmlformats.org/drawingml/2006/main">
              <a:ext uri="{FF2B5EF4-FFF2-40B4-BE49-F238E27FC236}">
                <a16:creationId xmlns:a16="http://schemas.microsoft.com/office/drawing/2014/main" id="{27D83F37-BCE9-42B3-A70F-344EC87CC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Compare los dos estados: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1.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p_1 = p_2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; 2.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p_1 &gt; p_2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. ¿En cuál espera movimiento? ¿Qué podría producir retorno? ¿Qué podría hacer que se detenga?</a:t>
            </a:r>
          </a:p>
        </p:txBody>
      </p:sp>
      <p:pic>
        <p:nvPicPr>
          <p:cNvPr id="38" name="U02-002: Diagrama de la slide «Dos lados, una membrana: ¿qué cambia?»: Dos estados: presiones iguales y presiones diferentes; preguntas sobre movimiento, retorno y detención." descr="U02-002: Diagrama de la slide «Dos lados, una membrana: ¿qué cambia?»: Dos estados: presiones iguales y presiones diferentes; preguntas sobre movimiento, retorno y detención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f2216125524d71">
            <a:extLst>
              <a:ext uri="{96DAC541-7B7A-43D3-8B79-37D633B846F1}">
                <asvg:svgBlip xmlns:asvg="http://schemas.microsoft.com/office/drawing/2016/SVG/main" r:embed="R1ea95244ded6440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057400"/>
            <a:ext cx="10668000" cy="3657600"/>
          </a:xfrm>
          <a:prstGeom xmlns:a="http://schemas.openxmlformats.org/drawingml/2006/main" prst="rect">
            <a:avLst/>
          </a:prstGeom>
        </p:spPr>
      </p:pic>
      <p:sp>
        <p:nvSpPr>
          <p:cNvPr id="31" name="U02-002_caption">
            <a:extLst xmlns:a="http://schemas.openxmlformats.org/drawingml/2006/main">
              <a:ext uri="{FF2B5EF4-FFF2-40B4-BE49-F238E27FC236}">
                <a16:creationId xmlns:a16="http://schemas.microsoft.com/office/drawing/2014/main" id="{92883456-C922-4468-A7C6-A73705B5A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Una diferencia de presión puede producir una fuerza neta. Esquema conceptual; no está a escala.</a:t>
            </a:r>
          </a:p>
        </p:txBody>
      </p:sp>
      <p:sp>
        <p:nvSpPr>
          <p:cNvPr id="32" name="U02-002_source">
            <a:extLst xmlns:a="http://schemas.openxmlformats.org/drawingml/2006/main">
              <a:ext uri="{FF2B5EF4-FFF2-40B4-BE49-F238E27FC236}">
                <a16:creationId xmlns:a16="http://schemas.microsoft.com/office/drawing/2014/main" id="{E0839578-6855-41FC-8DC8-A1576ABFD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199544924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Marcador de número de diapositiva 13">
            <a:extLst xmlns:a="http://schemas.openxmlformats.org/drawingml/2006/main">
              <a:ext uri="{FF2B5EF4-FFF2-40B4-BE49-F238E27FC236}">
                <a16:creationId xmlns:a16="http://schemas.microsoft.com/office/drawing/2014/main" id="{6F0E431F-4E1E-5064-2E0C-9F4C713D3097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202359C0-8A7A-196E-DD58-8E6569619F09}" type="slidenum">
              <a:t>3</a:t>
            </a:fld>
          </a:p>
        </p:txBody>
      </p:sp>
      <p:sp>
        <p:nvSpPr>
          <p:cNvPr id="15" name="U02-003_eyebrow">
            <a:extLst xmlns:a="http://schemas.openxmlformats.org/drawingml/2006/main">
              <a:ext uri="{FF2B5EF4-FFF2-40B4-BE49-F238E27FC236}">
                <a16:creationId xmlns:a16="http://schemas.microsoft.com/office/drawing/2014/main" id="{BF1BD757-08A1-4713-BD27-A8BDC540B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APERTURA</a:t>
            </a:r>
          </a:p>
        </p:txBody>
      </p:sp>
      <p:sp>
        <p:nvSpPr>
          <p:cNvPr id="16" name="U02-003_title">
            <a:extLst xmlns:a="http://schemas.openxmlformats.org/drawingml/2006/main">
              <a:ext uri="{FF2B5EF4-FFF2-40B4-BE49-F238E27FC236}">
                <a16:creationId xmlns:a16="http://schemas.microsoft.com/office/drawing/2014/main" id="{437E0C1A-1947-4F8E-88A2-1D0335FED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Cuatro respuestas rápidas para empezar</a:t>
            </a:r>
          </a:p>
        </p:txBody>
      </p:sp>
      <p:sp>
        <p:nvSpPr>
          <p:cNvPr id="17" name="U02-003_question_panel">
            <a:extLst xmlns:a="http://schemas.openxmlformats.org/drawingml/2006/main">
              <a:ext uri="{FF2B5EF4-FFF2-40B4-BE49-F238E27FC236}">
                <a16:creationId xmlns:a16="http://schemas.microsoft.com/office/drawing/2014/main" id="{76EE380D-0718-410D-818F-80B8AAF49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1028700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4D1434"/>
            </a:solidFill>
            <a:prstDash val="solid"/>
          </a:ln>
        </p:spPr>
      </p:sp>
      <p:sp>
        <p:nvSpPr>
          <p:cNvPr id="18" name="U02-003_question">
            <a:extLst xmlns:a="http://schemas.openxmlformats.org/drawingml/2006/main">
              <a:ext uri="{FF2B5EF4-FFF2-40B4-BE49-F238E27FC236}">
                <a16:creationId xmlns:a16="http://schemas.microsoft.com/office/drawing/2014/main" id="{D1CDA4AC-1204-4395-B06B-4A69BB431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000250"/>
            <a:ext cx="96202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8"/>
              </a:spcAft>
              <a:buNone/>
              <a:defRPr sz="21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1. “Si está en reposo, no actúa ninguna fuerza”.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8"/>
              </a:spcAft>
              <a:buNone/>
              <a:defRPr sz="21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2. “Acción y reacción se cancelan sobre el mismo cuerpo”.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8"/>
              </a:spcAft>
              <a:buNone/>
              <a:defRPr sz="21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3. “La presión ya es una fuerza”.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8"/>
              </a:spcAft>
              <a:buNone/>
              <a:defRPr sz="21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4. “La energía disipada desaparece”.</a:t>
            </a:r>
          </a:p>
        </p:txBody>
      </p:sp>
      <p:sp>
        <p:nvSpPr>
          <p:cNvPr id="19" name="U02-003_prompt">
            <a:extLst xmlns:a="http://schemas.openxmlformats.org/drawingml/2006/main">
              <a:ext uri="{FF2B5EF4-FFF2-40B4-BE49-F238E27FC236}">
                <a16:creationId xmlns:a16="http://schemas.microsoft.com/office/drawing/2014/main" id="{0A967FB2-A448-4A2F-B53E-8ECBB9050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52925"/>
            <a:ext cx="9334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Aft>
                <a:spcPts val="8"/>
              </a:spcAft>
              <a:buNone/>
              <a:defRPr sz="1725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Votar verdadero/falso y escribir una razón breve para cada afirmación.</a:t>
            </a:r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Marcador de número de diapositiva 16">
            <a:extLst xmlns:a="http://schemas.openxmlformats.org/drawingml/2006/main">
              <a:ext uri="{FF2B5EF4-FFF2-40B4-BE49-F238E27FC236}">
                <a16:creationId xmlns:a16="http://schemas.microsoft.com/office/drawing/2014/main" id="{D0D35EE8-11B1-606B-8714-EAD8DAF8D38F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EFD6AB9A-5F9E-5F59-51AB-3C8734130965}" type="slidenum">
              <a:t>4</a:t>
            </a:fld>
          </a:p>
        </p:txBody>
      </p:sp>
      <p:sp>
        <p:nvSpPr>
          <p:cNvPr id="18" name="U02-004_eyebrow">
            <a:extLst xmlns:a="http://schemas.openxmlformats.org/drawingml/2006/main">
              <a:ext uri="{FF2B5EF4-FFF2-40B4-BE49-F238E27FC236}">
                <a16:creationId xmlns:a16="http://schemas.microsoft.com/office/drawing/2014/main" id="{66A0FFB2-029F-4CE0-B853-0CA29CC2A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APERTURA</a:t>
            </a:r>
          </a:p>
        </p:txBody>
      </p:sp>
      <p:sp>
        <p:nvSpPr>
          <p:cNvPr id="19" name="U02-004_title">
            <a:extLst xmlns:a="http://schemas.openxmlformats.org/drawingml/2006/main">
              <a:ext uri="{FF2B5EF4-FFF2-40B4-BE49-F238E27FC236}">
                <a16:creationId xmlns:a16="http://schemas.microsoft.com/office/drawing/2014/main" id="{BB643AA8-F4C6-4DCC-B4B3-9E49926C0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Lo que ya podemos medir; lo que ahora queremos explicar</a:t>
            </a:r>
          </a:p>
        </p:txBody>
      </p:sp>
      <p:sp>
        <p:nvSpPr>
          <p:cNvPr id="20" name="U02-004_subtitle">
            <a:extLst xmlns:a="http://schemas.openxmlformats.org/drawingml/2006/main">
              <a:ext uri="{FF2B5EF4-FFF2-40B4-BE49-F238E27FC236}">
                <a16:creationId xmlns:a16="http://schemas.microsoft.com/office/drawing/2014/main" id="{8B0FA121-E4CA-4453-896D-8CD244666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335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Recuperación de conocimientos previos.</a:t>
            </a:r>
          </a:p>
        </p:txBody>
      </p:sp>
      <p:sp>
        <p:nvSpPr>
          <p:cNvPr id="21" name="U02-004_block_0">
            <a:extLst xmlns:a="http://schemas.openxmlformats.org/drawingml/2006/main">
              <a:ext uri="{FF2B5EF4-FFF2-40B4-BE49-F238E27FC236}">
                <a16:creationId xmlns:a16="http://schemas.microsoft.com/office/drawing/2014/main" id="{11D54A8F-E995-47D6-8C5E-6FB9B4AB8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24075"/>
            <a:ext cx="10287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8"/>
              </a:spcAft>
              <a:buNone/>
              <a:defRPr sz="21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Ya usamos:</a:t>
            </a:r>
            <a:r>
              <a:rPr sz="21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masa, fuerza, presión y unidades.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8"/>
              </a:spcAft>
              <a:buNone/>
              <a:defRPr sz="21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Debemos recuperar:</a:t>
            </a:r>
            <a:r>
              <a:rPr sz="21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eje positivo, signos y análisis dimensional.</a:t>
            </a:r>
          </a:p>
        </p:txBody>
      </p:sp>
    </p:spTree>
    <p:extLst>
      <p:ext uri="{BB962C8B-B14F-4D97-AF65-F5344CB8AC3E}">
        <p14:creationId xmlns:p14="http://schemas.microsoft.com/office/powerpoint/2010/main" val="183359511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Marcador de número de diapositiva 17">
            <a:extLst xmlns:a="http://schemas.openxmlformats.org/drawingml/2006/main">
              <a:ext uri="{FF2B5EF4-FFF2-40B4-BE49-F238E27FC236}">
                <a16:creationId xmlns:a16="http://schemas.microsoft.com/office/drawing/2014/main" id="{2DADB7A0-DAED-ABD0-4D66-533872518345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EE5B3003-2C54-13C6-9832-7637201064DE}" type="slidenum">
              <a:t>5</a:t>
            </a:fld>
          </a:p>
        </p:txBody>
      </p:sp>
      <p:sp>
        <p:nvSpPr>
          <p:cNvPr id="19" name="U02-005_eyebrow">
            <a:extLst xmlns:a="http://schemas.openxmlformats.org/drawingml/2006/main">
              <a:ext uri="{FF2B5EF4-FFF2-40B4-BE49-F238E27FC236}">
                <a16:creationId xmlns:a16="http://schemas.microsoft.com/office/drawing/2014/main" id="{965F56A5-ADB9-491D-90BD-2CA14B421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APERTURA</a:t>
            </a:r>
          </a:p>
        </p:txBody>
      </p:sp>
      <p:sp>
        <p:nvSpPr>
          <p:cNvPr id="20" name="U02-005_title">
            <a:extLst xmlns:a="http://schemas.openxmlformats.org/drawingml/2006/main">
              <a:ext uri="{FF2B5EF4-FFF2-40B4-BE49-F238E27FC236}">
                <a16:creationId xmlns:a16="http://schemas.microsoft.com/office/drawing/2014/main" id="{DB1644FC-84BB-41E5-9C1E-79D0F6D66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Qué podremos hacer al finalizar</a:t>
            </a:r>
          </a:p>
        </p:txBody>
      </p:sp>
      <p:sp>
        <p:nvSpPr>
          <p:cNvPr id="21" name="U02-005_subtitle">
            <a:extLst xmlns:a="http://schemas.openxmlformats.org/drawingml/2006/main">
              <a:ext uri="{FF2B5EF4-FFF2-40B4-BE49-F238E27FC236}">
                <a16:creationId xmlns:a16="http://schemas.microsoft.com/office/drawing/2014/main" id="{ABB979CE-8BFD-410C-9D37-986E526B4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906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Resultados observables de aprendizaje.</a:t>
            </a:r>
          </a:p>
        </p:txBody>
      </p:sp>
      <p:sp>
        <p:nvSpPr>
          <p:cNvPr id="22" name="U02-005_block_0">
            <a:extLst xmlns:a="http://schemas.openxmlformats.org/drawingml/2006/main">
              <a:ext uri="{FF2B5EF4-FFF2-40B4-BE49-F238E27FC236}">
                <a16:creationId xmlns:a16="http://schemas.microsoft.com/office/drawing/2014/main" id="{D6EE2523-BF5D-4CA1-A3A4-54CB4050B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81175"/>
            <a:ext cx="10287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8"/>
              </a:spcAft>
              <a:buNone/>
              <a:defRPr sz="21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Al finalizar podremos: identificar sistemas y fuerzas; aplicar las leyes de Newton; relacionar presión, área y fuerza; explicar masa, elasticidad y amortiguamiento; organizar balances de energía y aplicar los modelos con límites explícitos.</a:t>
            </a:r>
          </a:p>
        </p:txBody>
      </p:sp>
    </p:spTree>
    <p:extLst>
      <p:ext uri="{BB962C8B-B14F-4D97-AF65-F5344CB8AC3E}">
        <p14:creationId xmlns:p14="http://schemas.microsoft.com/office/powerpoint/2010/main" val="156191842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Marcador de número de diapositiva 25">
            <a:extLst xmlns:a="http://schemas.openxmlformats.org/drawingml/2006/main">
              <a:ext uri="{FF2B5EF4-FFF2-40B4-BE49-F238E27FC236}">
                <a16:creationId xmlns:a16="http://schemas.microsoft.com/office/drawing/2014/main" id="{AB9938E4-BE03-A7BA-4A48-E6E4907240D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8C630A04-5A25-9E0C-9436-126091DB86B3}" type="slidenum">
              <a:t>6</a:t>
            </a:fld>
          </a:p>
        </p:txBody>
      </p:sp>
      <p:sp>
        <p:nvSpPr>
          <p:cNvPr id="27" name="U02-006_eyebrow">
            <a:extLst xmlns:a="http://schemas.openxmlformats.org/drawingml/2006/main">
              <a:ext uri="{FF2B5EF4-FFF2-40B4-BE49-F238E27FC236}">
                <a16:creationId xmlns:a16="http://schemas.microsoft.com/office/drawing/2014/main" id="{8F0E1EE3-954D-47E0-81C4-7CCD38BD0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APERTURA</a:t>
            </a:r>
          </a:p>
        </p:txBody>
      </p:sp>
      <p:sp>
        <p:nvSpPr>
          <p:cNvPr id="28" name="U02-006_title">
            <a:extLst xmlns:a="http://schemas.openxmlformats.org/drawingml/2006/main">
              <a:ext uri="{FF2B5EF4-FFF2-40B4-BE49-F238E27FC236}">
                <a16:creationId xmlns:a16="http://schemas.microsoft.com/office/drawing/2014/main" id="{D5B2DD2E-9CAE-4641-BB03-981FBD8BC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Del sistema a la aplicación auditiva</a:t>
            </a:r>
          </a:p>
        </p:txBody>
      </p:sp>
      <p:sp>
        <p:nvSpPr>
          <p:cNvPr id="29" name="U02-006_takeaway">
            <a:extLst xmlns:a="http://schemas.openxmlformats.org/drawingml/2006/main">
              <a:ext uri="{FF2B5EF4-FFF2-40B4-BE49-F238E27FC236}">
                <a16:creationId xmlns:a16="http://schemas.microsoft.com/office/drawing/2014/main" id="{B4E5D75B-F005-4AEE-A03B-194CCFFBA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10668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1. Sistema y leyes.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2. Presión sobre una superficie.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3. Respuesta mecánica.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4. Energía y termodinámica.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5. Aplicaciones auditivas.</a:t>
            </a:r>
          </a:p>
        </p:txBody>
      </p:sp>
      <p:pic>
        <p:nvPicPr>
          <p:cNvPr id="38" name="U02-006: Diagrama de la slide «Del sistema a la aplicación auditiva»: Cinco macroetapas: sistema y leyes; presión; respuesta mecánica; energía/termodinámica; aplicación." descr="U02-006: Diagrama de la slide «Del sistema a la aplicación auditiva»: Cinco macroetapas: sistema y leyes; presión; respuesta mecánica; energía/termodinámica; aplicación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9942ae11014c7c">
            <a:extLst>
              <a:ext uri="{96DAC541-7B7A-43D3-8B79-37D633B846F1}">
                <asvg:svgBlip xmlns:asvg="http://schemas.microsoft.com/office/drawing/2016/SVG/main" r:embed="R667be5cf1966436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771775"/>
            <a:ext cx="10668000" cy="2943225"/>
          </a:xfrm>
          <a:prstGeom xmlns:a="http://schemas.openxmlformats.org/drawingml/2006/main" prst="rect">
            <a:avLst/>
          </a:prstGeom>
        </p:spPr>
      </p:pic>
      <p:sp>
        <p:nvSpPr>
          <p:cNvPr id="31" name="U02-006_caption">
            <a:extLst xmlns:a="http://schemas.openxmlformats.org/drawingml/2006/main">
              <a:ext uri="{FF2B5EF4-FFF2-40B4-BE49-F238E27FC236}">
                <a16:creationId xmlns:a16="http://schemas.microsoft.com/office/drawing/2014/main" id="{DBB6927A-D356-49DD-B26F-A2C8BB35B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frontera del sistema conecta fuerzas, energía y termodinámica.</a:t>
            </a:r>
          </a:p>
        </p:txBody>
      </p:sp>
      <p:sp>
        <p:nvSpPr>
          <p:cNvPr id="32" name="U02-006_source">
            <a:extLst xmlns:a="http://schemas.openxmlformats.org/drawingml/2006/main">
              <a:ext uri="{FF2B5EF4-FFF2-40B4-BE49-F238E27FC236}">
                <a16:creationId xmlns:a16="http://schemas.microsoft.com/office/drawing/2014/main" id="{FDD6EFAF-DF0C-4B0A-B838-286842172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127147903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Marcador de número de diapositiva 8">
            <a:extLst xmlns:a="http://schemas.openxmlformats.org/drawingml/2006/main">
              <a:ext uri="{FF2B5EF4-FFF2-40B4-BE49-F238E27FC236}">
                <a16:creationId xmlns:a16="http://schemas.microsoft.com/office/drawing/2014/main" id="{208C11FF-1310-C67B-A471-A3573013EA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D3D7D1C8-AE23-AA48-DF65-C742588DBE47}" type="slidenum">
              <a:t>7</a:t>
            </a:fld>
          </a:p>
        </p:txBody>
      </p:sp>
      <p:sp>
        <p:nvSpPr>
          <p:cNvPr id="10" name="U02-007_eyebrow">
            <a:extLst xmlns:a="http://schemas.openxmlformats.org/drawingml/2006/main">
              <a:ext uri="{FF2B5EF4-FFF2-40B4-BE49-F238E27FC236}">
                <a16:creationId xmlns:a16="http://schemas.microsoft.com/office/drawing/2014/main" id="{BB95ADBD-58C5-4A38-829B-705791528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UNIDAD 2 · SISTEMA E INERCIA</a:t>
            </a:r>
          </a:p>
        </p:txBody>
      </p:sp>
      <p:sp>
        <p:nvSpPr>
          <p:cNvPr id="11" name="U02-007_title">
            <a:extLst xmlns:a="http://schemas.openxmlformats.org/drawingml/2006/main">
              <a:ext uri="{FF2B5EF4-FFF2-40B4-BE49-F238E27FC236}">
                <a16:creationId xmlns:a16="http://schemas.microsoft.com/office/drawing/2014/main" id="{42B3C5BC-459F-45B3-9353-13A591812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9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Antes de sumar fuerzas, elegimos el sistema</a:t>
            </a:r>
          </a:p>
        </p:txBody>
      </p:sp>
      <p:sp>
        <p:nvSpPr>
          <p:cNvPr id="12" name="U02-007_guide">
            <a:extLst xmlns:a="http://schemas.openxmlformats.org/drawingml/2006/main">
              <a:ext uri="{FF2B5EF4-FFF2-40B4-BE49-F238E27FC236}">
                <a16:creationId xmlns:a16="http://schemas.microsoft.com/office/drawing/2014/main" id="{4B7C501B-0ED9-4755-ABD8-A54EFFD81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9334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8"/>
              </a:spcAft>
              <a:buNone/>
              <a:defRPr sz="22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Pregunta guía:</a:t>
            </a:r>
            <a:r>
              <a:rPr sz="22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¿sobre qué cuerpo actúan las fuerzas que vamos a sumar?</a:t>
            </a:r>
          </a:p>
        </p:txBody>
      </p:sp>
      <p:sp>
        <p:nvSpPr>
          <p:cNvPr id="13" name="U02-007_subtitle">
            <a:extLst xmlns:a="http://schemas.openxmlformats.org/drawingml/2006/main">
              <a:ext uri="{FF2B5EF4-FFF2-40B4-BE49-F238E27FC236}">
                <a16:creationId xmlns:a16="http://schemas.microsoft.com/office/drawing/2014/main" id="{0DCE9099-D8A2-4AD7-92BE-ED38027E4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800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E8DDE4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E8DDE4"/>
                </a:solidFill>
                <a:latin typeface="Calibri"/>
                <a:ea typeface="Calibri"/>
                <a:cs typeface="Calibri"/>
              </a:rPr>
              <a:t>Pregunta guía del bloque.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Marcador de número de diapositiva 12">
            <a:extLst xmlns:a="http://schemas.openxmlformats.org/drawingml/2006/main">
              <a:ext uri="{FF2B5EF4-FFF2-40B4-BE49-F238E27FC236}">
                <a16:creationId xmlns:a16="http://schemas.microsoft.com/office/drawing/2014/main" id="{12BF3667-16D3-B7A0-EF76-B375EF898D79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BA58DA2A-B818-18A9-29C1-B697728D5BCE}" type="slidenum">
              <a:t>8</a:t>
            </a:fld>
          </a:p>
        </p:txBody>
      </p:sp>
      <p:sp>
        <p:nvSpPr>
          <p:cNvPr id="14" name="U02-008_eyebrow">
            <a:extLst xmlns:a="http://schemas.openxmlformats.org/drawingml/2006/main">
              <a:ext uri="{FF2B5EF4-FFF2-40B4-BE49-F238E27FC236}">
                <a16:creationId xmlns:a16="http://schemas.microsoft.com/office/drawing/2014/main" id="{FF5B6BAE-6CDA-45DF-B378-9168B5814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SISTEMA E INERCIA</a:t>
            </a:r>
          </a:p>
        </p:txBody>
      </p:sp>
      <p:sp>
        <p:nvSpPr>
          <p:cNvPr id="15" name="U02-008_title">
            <a:extLst xmlns:a="http://schemas.openxmlformats.org/drawingml/2006/main">
              <a:ext uri="{FF2B5EF4-FFF2-40B4-BE49-F238E27FC236}">
                <a16:creationId xmlns:a16="http://schemas.microsoft.com/office/drawing/2014/main" id="{601BECBC-452F-45CC-9E24-8F2C03072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sistema es aquello cuyo movimiento queremos explicar</a:t>
            </a:r>
          </a:p>
        </p:txBody>
      </p:sp>
      <p:sp>
        <p:nvSpPr>
          <p:cNvPr id="16" name="U02-008_takeaway">
            <a:extLst xmlns:a="http://schemas.openxmlformats.org/drawingml/2006/main">
              <a:ext uri="{FF2B5EF4-FFF2-40B4-BE49-F238E27FC236}">
                <a16:creationId xmlns:a16="http://schemas.microsoft.com/office/drawing/2014/main" id="{D28DE8B4-8FCB-4E68-98EB-4AD6EEED6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Sistema: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cuerpo o conjunto de cuerpos cuyo movimiento analizamos.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Ejemplo: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estudiar solo la membrana no equivale a estudiar “membrana + aire”.</a:t>
            </a:r>
          </a:p>
        </p:txBody>
      </p:sp>
      <p:pic>
        <p:nvPicPr>
          <p:cNvPr id="25" name="U02-008: Diagrama de la slide «El sistema es aquello cuyo movimiento queremos explicar»: Definición; ejemplo “membrana” frente a “membrana + aire”; qué queda fuera." descr="U02-008: Diagrama de la slide «El sistema es aquello cuyo movimiento queremos explicar»: Definición; ejemplo “membrana” frente a “membrana + aire”; qué queda fuera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545b679c9c446f">
            <a:extLst>
              <a:ext uri="{96DAC541-7B7A-43D3-8B79-37D633B846F1}">
                <asvg:svgBlip xmlns:asvg="http://schemas.microsoft.com/office/drawing/2016/SVG/main" r:embed="R28e2e7db8d5a44c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324100"/>
            <a:ext cx="10668000" cy="3390900"/>
          </a:xfrm>
          <a:prstGeom xmlns:a="http://schemas.openxmlformats.org/drawingml/2006/main" prst="rect">
            <a:avLst/>
          </a:prstGeom>
        </p:spPr>
      </p:pic>
      <p:sp>
        <p:nvSpPr>
          <p:cNvPr id="18" name="U02-008_caption">
            <a:extLst xmlns:a="http://schemas.openxmlformats.org/drawingml/2006/main">
              <a:ext uri="{FF2B5EF4-FFF2-40B4-BE49-F238E27FC236}">
                <a16:creationId xmlns:a16="http://schemas.microsoft.com/office/drawing/2014/main" id="{58D99DC1-FACF-41AA-A756-38ABE45BD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Sin sistema definido no existe un diagrama de fuerzas inequívoco.</a:t>
            </a:r>
          </a:p>
        </p:txBody>
      </p:sp>
      <p:sp>
        <p:nvSpPr>
          <p:cNvPr id="19" name="U02-008_source">
            <a:extLst xmlns:a="http://schemas.openxmlformats.org/drawingml/2006/main">
              <a:ext uri="{FF2B5EF4-FFF2-40B4-BE49-F238E27FC236}">
                <a16:creationId xmlns:a16="http://schemas.microsoft.com/office/drawing/2014/main" id="{8A7CC836-4AA8-462F-BBC0-1AAA2EDA2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Marcador de número de diapositiva 17">
            <a:extLst xmlns:a="http://schemas.openxmlformats.org/drawingml/2006/main">
              <a:ext uri="{FF2B5EF4-FFF2-40B4-BE49-F238E27FC236}">
                <a16:creationId xmlns:a16="http://schemas.microsoft.com/office/drawing/2014/main" id="{2630458C-F90C-62F1-3891-6CBC98AF2192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388657AE-30A1-5A7A-6A7F-315D84436430}" type="slidenum">
              <a:t>9</a:t>
            </a:fld>
          </a:p>
        </p:txBody>
      </p:sp>
      <p:sp>
        <p:nvSpPr>
          <p:cNvPr id="19" name="U02-009_eyebrow">
            <a:extLst xmlns:a="http://schemas.openxmlformats.org/drawingml/2006/main">
              <a:ext uri="{FF2B5EF4-FFF2-40B4-BE49-F238E27FC236}">
                <a16:creationId xmlns:a16="http://schemas.microsoft.com/office/drawing/2014/main" id="{28043FA1-8102-4B49-B17D-6E4CF486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SISTEMA E INERCIA</a:t>
            </a:r>
          </a:p>
        </p:txBody>
      </p:sp>
      <p:sp>
        <p:nvSpPr>
          <p:cNvPr id="20" name="U02-009_title">
            <a:extLst xmlns:a="http://schemas.openxmlformats.org/drawingml/2006/main">
              <a:ext uri="{FF2B5EF4-FFF2-40B4-BE49-F238E27FC236}">
                <a16:creationId xmlns:a16="http://schemas.microsoft.com/office/drawing/2014/main" id="{4FF1E323-F0EC-4FAA-BB8D-42025AB74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Una fuerza representa una interacción</a:t>
            </a:r>
          </a:p>
        </p:txBody>
      </p:sp>
      <p:sp>
        <p:nvSpPr>
          <p:cNvPr id="21" name="U02-009_takeaway">
            <a:extLst xmlns:a="http://schemas.openxmlformats.org/drawingml/2006/main">
              <a:ext uri="{FF2B5EF4-FFF2-40B4-BE49-F238E27FC236}">
                <a16:creationId xmlns:a16="http://schemas.microsoft.com/office/drawing/2014/main" id="{762773C2-20EE-45AD-9D9D-F02797B00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Nombrar siempre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agente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interacción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y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receptor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: “el aire ejerce una fuerza sobre la membrana”.</a:t>
            </a:r>
          </a:p>
        </p:txBody>
      </p:sp>
      <p:pic>
        <p:nvPicPr>
          <p:cNvPr id="30" name="U02-009: Diagrama de la slide «Una fuerza representa una interacción»: Estructura verbal “A ejerce fuerza sobre B”; dos ejemplos mecánicos." descr="U02-009: Diagrama de la slide «Una fuerza representa una interacción»: Estructura verbal “A ejerce fuerza sobre B”; dos ejemplos mecánicos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4eca4d0ef143cc">
            <a:extLst>
              <a:ext uri="{96DAC541-7B7A-43D3-8B79-37D633B846F1}">
                <asvg:svgBlip xmlns:asvg="http://schemas.microsoft.com/office/drawing/2016/SVG/main" r:embed="R7bc543b9512c456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038350"/>
            <a:ext cx="10668000" cy="3676650"/>
          </a:xfrm>
          <a:prstGeom xmlns:a="http://schemas.openxmlformats.org/drawingml/2006/main" prst="rect">
            <a:avLst/>
          </a:prstGeom>
        </p:spPr>
      </p:pic>
      <p:sp>
        <p:nvSpPr>
          <p:cNvPr id="23" name="U02-009_caption">
            <a:extLst xmlns:a="http://schemas.openxmlformats.org/drawingml/2006/main">
              <a:ext uri="{FF2B5EF4-FFF2-40B4-BE49-F238E27FC236}">
                <a16:creationId xmlns:a16="http://schemas.microsoft.com/office/drawing/2014/main" id="{BB235B55-DDBB-424F-81F3-A7EF17DB6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Toda fuerza tiene agente y receptor.</a:t>
            </a:r>
          </a:p>
        </p:txBody>
      </p:sp>
      <p:sp>
        <p:nvSpPr>
          <p:cNvPr id="24" name="U02-009_source">
            <a:extLst xmlns:a="http://schemas.openxmlformats.org/drawingml/2006/main">
              <a:ext uri="{FF2B5EF4-FFF2-40B4-BE49-F238E27FC236}">
                <a16:creationId xmlns:a16="http://schemas.microsoft.com/office/drawing/2014/main" id="{755BF98D-19CF-4FAD-ABD4-38831FF58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192697577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Marcador de número de diapositiva 20">
            <a:extLst xmlns:a="http://schemas.openxmlformats.org/drawingml/2006/main">
              <a:ext uri="{FF2B5EF4-FFF2-40B4-BE49-F238E27FC236}">
                <a16:creationId xmlns:a16="http://schemas.microsoft.com/office/drawing/2014/main" id="{9CA9596E-D94D-48D7-199C-CC38FBB01EFD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DB7BEEEC-A170-5376-2B6E-CB54687B0CB1}" type="slidenum">
              <a:t>10</a:t>
            </a:fld>
          </a:p>
        </p:txBody>
      </p:sp>
      <p:sp>
        <p:nvSpPr>
          <p:cNvPr id="22" name="U02-010_eyebrow">
            <a:extLst xmlns:a="http://schemas.openxmlformats.org/drawingml/2006/main">
              <a:ext uri="{FF2B5EF4-FFF2-40B4-BE49-F238E27FC236}">
                <a16:creationId xmlns:a16="http://schemas.microsoft.com/office/drawing/2014/main" id="{21B9CD19-7C43-4F22-A892-AEBE72A29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SISTEMA E INERCIA</a:t>
            </a:r>
          </a:p>
        </p:txBody>
      </p:sp>
      <p:sp>
        <p:nvSpPr>
          <p:cNvPr id="23" name="U02-010_title">
            <a:extLst xmlns:a="http://schemas.openxmlformats.org/drawingml/2006/main">
              <a:ext uri="{FF2B5EF4-FFF2-40B4-BE49-F238E27FC236}">
                <a16:creationId xmlns:a16="http://schemas.microsoft.com/office/drawing/2014/main" id="{F581E5DC-D9F7-4998-AB57-FC81AEB44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 eje convierte direcciones en signos</a:t>
            </a:r>
          </a:p>
        </p:txBody>
      </p:sp>
      <p:sp>
        <p:nvSpPr>
          <p:cNvPr id="24" name="U02-010_takeaway">
            <a:extLst xmlns:a="http://schemas.openxmlformats.org/drawingml/2006/main">
              <a:ext uri="{FF2B5EF4-FFF2-40B4-BE49-F238E27FC236}">
                <a16:creationId xmlns:a16="http://schemas.microsoft.com/office/drawing/2014/main" id="{549CC9B3-3FF0-4FD8-BF0C-F60D5B4DB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Elegimos un eje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+x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. Una fuerza hacia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+x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tiene componente positiva; una fuerza en sentido contrario tiene componente negativa.</a:t>
            </a:r>
          </a:p>
        </p:txBody>
      </p:sp>
      <p:pic>
        <p:nvPicPr>
          <p:cNvPr id="33" name="U02-010: Diagrama de la slide «Un eje convierte direcciones en signos»: Fuerza vectorial; módulo, dirección y sentido; eje positivo; dos flechas con signo." descr="U02-010: Diagrama de la slide «Un eje convierte direcciones en signos»: Fuerza vectorial; módulo, dirección y sentido; eje positivo; dos flechas con signo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e5807f0071430c">
            <a:extLst>
              <a:ext uri="{96DAC541-7B7A-43D3-8B79-37D633B846F1}">
                <asvg:svgBlip xmlns:asvg="http://schemas.microsoft.com/office/drawing/2016/SVG/main" r:embed="Rabf6dbe0dda44ff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057400"/>
            <a:ext cx="10668000" cy="3657600"/>
          </a:xfrm>
          <a:prstGeom xmlns:a="http://schemas.openxmlformats.org/drawingml/2006/main" prst="rect">
            <a:avLst/>
          </a:prstGeom>
        </p:spPr>
      </p:pic>
      <p:sp>
        <p:nvSpPr>
          <p:cNvPr id="26" name="U02-010_caption">
            <a:extLst xmlns:a="http://schemas.openxmlformats.org/drawingml/2006/main">
              <a:ext uri="{FF2B5EF4-FFF2-40B4-BE49-F238E27FC236}">
                <a16:creationId xmlns:a16="http://schemas.microsoft.com/office/drawing/2014/main" id="{75BCA4AE-C839-46AB-9D2E-476A376A5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Positivo y negativo describen sentido respecto de un eje elegido.</a:t>
            </a:r>
          </a:p>
        </p:txBody>
      </p:sp>
      <p:sp>
        <p:nvSpPr>
          <p:cNvPr id="27" name="U02-010_source">
            <a:extLst xmlns:a="http://schemas.openxmlformats.org/drawingml/2006/main">
              <a:ext uri="{FF2B5EF4-FFF2-40B4-BE49-F238E27FC236}">
                <a16:creationId xmlns:a16="http://schemas.microsoft.com/office/drawing/2014/main" id="{3B02DAAA-F86F-4D47-897E-AE8D3556E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168726306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Marcador de número de diapositiva 27">
            <a:extLst xmlns:a="http://schemas.openxmlformats.org/drawingml/2006/main">
              <a:ext uri="{FF2B5EF4-FFF2-40B4-BE49-F238E27FC236}">
                <a16:creationId xmlns:a16="http://schemas.microsoft.com/office/drawing/2014/main" id="{7D464FDA-53EB-4C28-9BB9-7238405ABEB4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30394428-F1DC-E5F6-DB0C-7DE31F3D8A23}" type="slidenum">
              <a:t>11</a:t>
            </a:fld>
          </a:p>
        </p:txBody>
      </p:sp>
      <p:sp>
        <p:nvSpPr>
          <p:cNvPr id="29" name="U02-011_eyebrow">
            <a:extLst xmlns:a="http://schemas.openxmlformats.org/drawingml/2006/main">
              <a:ext uri="{FF2B5EF4-FFF2-40B4-BE49-F238E27FC236}">
                <a16:creationId xmlns:a16="http://schemas.microsoft.com/office/drawing/2014/main" id="{4084D69E-A8FA-4724-A588-9D136E2A0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SISTEMA E INERCIA</a:t>
            </a:r>
          </a:p>
        </p:txBody>
      </p:sp>
      <p:sp>
        <p:nvSpPr>
          <p:cNvPr id="30" name="U02-011_title">
            <a:extLst xmlns:a="http://schemas.openxmlformats.org/drawingml/2006/main">
              <a:ext uri="{FF2B5EF4-FFF2-40B4-BE49-F238E27FC236}">
                <a16:creationId xmlns:a16="http://schemas.microsoft.com/office/drawing/2014/main" id="{24DC1C46-35EF-4F02-BA09-71A239FF3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fuerza neta resume todas las fuerzas sobre el sistema</a:t>
            </a:r>
          </a:p>
        </p:txBody>
      </p:sp>
      <p:sp>
        <p:nvSpPr>
          <p:cNvPr id="31" name="U02-011_takeaway">
            <a:extLst xmlns:a="http://schemas.openxmlformats.org/drawingml/2006/main">
              <a:ext uri="{FF2B5EF4-FFF2-40B4-BE49-F238E27FC236}">
                <a16:creationId xmlns:a16="http://schemas.microsoft.com/office/drawing/2014/main" id="{99A2F6EC-A0B6-43BE-B62B-67193C102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1. Identificar todas las fuerzas sobre el sistema.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2. Proyectarlas sobre el eje.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3. Sumarlas con signo. La resultante reemplaza ese conjunto para estudiar el movimiento.</a:t>
            </a:r>
          </a:p>
        </p:txBody>
      </p:sp>
      <p:pic>
        <p:nvPicPr>
          <p:cNvPr id="40" name="U02-011: Diagrama de la slide «La fuerza neta resume todas las fuerzas sobre el sistema»: Tres fuerzas sobre un cuerpo; suma con signos; flecha resultante." descr="U02-011: Diagrama de la slide «La fuerza neta resume todas las fuerzas sobre el sistema»: Tres fuerzas sobre un cuerpo; suma con signos; flecha resultante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a8f0d78c7a4798">
            <a:extLst>
              <a:ext uri="{96DAC541-7B7A-43D3-8B79-37D633B846F1}">
                <asvg:svgBlip xmlns:asvg="http://schemas.microsoft.com/office/drawing/2016/SVG/main" r:embed="Re7f6caffbabc4af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562225"/>
            <a:ext cx="10668000" cy="3152775"/>
          </a:xfrm>
          <a:prstGeom xmlns:a="http://schemas.openxmlformats.org/drawingml/2006/main" prst="rect">
            <a:avLst/>
          </a:prstGeom>
        </p:spPr>
      </p:pic>
      <p:sp>
        <p:nvSpPr>
          <p:cNvPr id="33" name="U02-011_caption">
            <a:extLst xmlns:a="http://schemas.openxmlformats.org/drawingml/2006/main">
              <a:ext uri="{FF2B5EF4-FFF2-40B4-BE49-F238E27FC236}">
                <a16:creationId xmlns:a16="http://schemas.microsoft.com/office/drawing/2014/main" id="{5CF1F11C-B447-4967-939A-59470F1CD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aceleración depende de la suma, no de una fuerza aislada.</a:t>
            </a:r>
          </a:p>
        </p:txBody>
      </p:sp>
      <p:sp>
        <p:nvSpPr>
          <p:cNvPr id="34" name="U02-011_source">
            <a:extLst xmlns:a="http://schemas.openxmlformats.org/drawingml/2006/main">
              <a:ext uri="{FF2B5EF4-FFF2-40B4-BE49-F238E27FC236}">
                <a16:creationId xmlns:a16="http://schemas.microsoft.com/office/drawing/2014/main" id="{B8F5F7DE-82F9-48C6-B8C5-67B6E2CE6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Marcador de número de diapositiva 13">
            <a:extLst xmlns:a="http://schemas.openxmlformats.org/drawingml/2006/main">
              <a:ext uri="{FF2B5EF4-FFF2-40B4-BE49-F238E27FC236}">
                <a16:creationId xmlns:a16="http://schemas.microsoft.com/office/drawing/2014/main" id="{6F0E431F-4E1E-5064-2E0C-9F4C713D3097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4DB16885-0D3F-A391-B669-3211DB3B26E8}" type="slidenum">
              <a:t>12</a:t>
            </a:fld>
          </a:p>
        </p:txBody>
      </p:sp>
      <p:sp>
        <p:nvSpPr>
          <p:cNvPr id="15" name="U02-012_eyebrow">
            <a:extLst xmlns:a="http://schemas.openxmlformats.org/drawingml/2006/main">
              <a:ext uri="{FF2B5EF4-FFF2-40B4-BE49-F238E27FC236}">
                <a16:creationId xmlns:a16="http://schemas.microsoft.com/office/drawing/2014/main" id="{FFF04EB7-206E-4871-A22F-2BF00ADA4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SISTEMA E INERCIA</a:t>
            </a:r>
          </a:p>
        </p:txBody>
      </p:sp>
      <p:sp>
        <p:nvSpPr>
          <p:cNvPr id="16" name="U02-012_title">
            <a:extLst xmlns:a="http://schemas.openxmlformats.org/drawingml/2006/main">
              <a:ext uri="{FF2B5EF4-FFF2-40B4-BE49-F238E27FC236}">
                <a16:creationId xmlns:a16="http://schemas.microsoft.com/office/drawing/2014/main" id="{FCA56ED9-E159-4253-9318-BFC03884B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Si está en reposo, ¿no actúa ninguna fuerza?</a:t>
            </a:r>
          </a:p>
        </p:txBody>
      </p:sp>
      <p:sp>
        <p:nvSpPr>
          <p:cNvPr id="17" name="U02-012_takeaway">
            <a:extLst xmlns:a="http://schemas.openxmlformats.org/drawingml/2006/main">
              <a:ext uri="{FF2B5EF4-FFF2-40B4-BE49-F238E27FC236}">
                <a16:creationId xmlns:a16="http://schemas.microsoft.com/office/drawing/2014/main" id="{4D514519-DF48-4953-9B4A-814211EC4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Dos fuerzas de igual módulo y sentidos opuestos actúan sobre el mismo sistema.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Elegir: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A. no actúa ninguna fuerza; B.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F_neta = 0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; C. falta definir la masa. Justificar.</a:t>
            </a:r>
          </a:p>
        </p:txBody>
      </p:sp>
      <p:pic>
        <p:nvPicPr>
          <p:cNvPr id="26" name="U02-012: Diagrama de la slide «Si está en reposo, ¿no actúa ninguna fuerza?»: Situación de dos fuerzas equilibradas; elegir y justificar." descr="U02-012: Diagrama de la slide «Si está en reposo, ¿no actúa ninguna fuerza?»: Situación de dos fuerzas equilibradas; elegir y justificar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afe218f9a84c85">
            <a:extLst>
              <a:ext uri="{96DAC541-7B7A-43D3-8B79-37D633B846F1}">
                <asvg:svgBlip xmlns:asvg="http://schemas.microsoft.com/office/drawing/2016/SVG/main" r:embed="R8f876ab431eb4cd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057400"/>
            <a:ext cx="10668000" cy="3657600"/>
          </a:xfrm>
          <a:prstGeom xmlns:a="http://schemas.openxmlformats.org/drawingml/2006/main" prst="rect">
            <a:avLst/>
          </a:prstGeom>
        </p:spPr>
      </p:pic>
      <p:sp>
        <p:nvSpPr>
          <p:cNvPr id="19" name="U02-012_caption">
            <a:extLst xmlns:a="http://schemas.openxmlformats.org/drawingml/2006/main">
              <a:ext uri="{FF2B5EF4-FFF2-40B4-BE49-F238E27FC236}">
                <a16:creationId xmlns:a16="http://schemas.microsoft.com/office/drawing/2014/main" id="{CCF32935-F970-47EB-8C9C-22A119834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Reposo no significa ausencia de fuerzas; puede haber equilibrio.</a:t>
            </a:r>
          </a:p>
        </p:txBody>
      </p:sp>
      <p:sp>
        <p:nvSpPr>
          <p:cNvPr id="20" name="U02-012_source">
            <a:extLst xmlns:a="http://schemas.openxmlformats.org/drawingml/2006/main">
              <a:ext uri="{FF2B5EF4-FFF2-40B4-BE49-F238E27FC236}">
                <a16:creationId xmlns:a16="http://schemas.microsoft.com/office/drawing/2014/main" id="{87823953-7167-4B74-9A5E-01C60D056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Marcador de número de diapositiva 17">
            <a:extLst xmlns:a="http://schemas.openxmlformats.org/drawingml/2006/main">
              <a:ext uri="{FF2B5EF4-FFF2-40B4-BE49-F238E27FC236}">
                <a16:creationId xmlns:a16="http://schemas.microsoft.com/office/drawing/2014/main" id="{FA71A55B-B389-7001-A9E1-319E4426EE2D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2DD23107-4986-8758-3A93-3D74F35908CC}" type="slidenum">
              <a:t>13</a:t>
            </a:fld>
          </a:p>
        </p:txBody>
      </p:sp>
      <p:sp>
        <p:nvSpPr>
          <p:cNvPr id="19" name="U02-013_eyebrow">
            <a:extLst xmlns:a="http://schemas.openxmlformats.org/drawingml/2006/main">
              <a:ext uri="{FF2B5EF4-FFF2-40B4-BE49-F238E27FC236}">
                <a16:creationId xmlns:a16="http://schemas.microsoft.com/office/drawing/2014/main" id="{7B700609-AFF0-4E73-85FC-B8D6FFCC2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SISTEMA E INERCIA</a:t>
            </a:r>
          </a:p>
        </p:txBody>
      </p:sp>
      <p:sp>
        <p:nvSpPr>
          <p:cNvPr id="20" name="U02-013_title">
            <a:extLst xmlns:a="http://schemas.openxmlformats.org/drawingml/2006/main">
              <a:ext uri="{FF2B5EF4-FFF2-40B4-BE49-F238E27FC236}">
                <a16:creationId xmlns:a16="http://schemas.microsoft.com/office/drawing/2014/main" id="{DB3B5FB3-6061-4F83-BB85-3B08F1E1D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Fuerza neta cero significa velocidad constante</a:t>
            </a:r>
          </a:p>
        </p:txBody>
      </p:sp>
      <p:sp>
        <p:nvSpPr>
          <p:cNvPr id="21" name="U02-013_takeaway">
            <a:extLst xmlns:a="http://schemas.openxmlformats.org/drawingml/2006/main">
              <a:ext uri="{FF2B5EF4-FFF2-40B4-BE49-F238E27FC236}">
                <a16:creationId xmlns:a16="http://schemas.microsoft.com/office/drawing/2014/main" id="{F023F7D5-B37F-462F-A144-68A1B5314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Si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F_neta = 0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, la velocidad permanece constante. El reposo es el caso particular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v = 0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; la inercia no genera una fuerza de retorno.</a:t>
            </a:r>
          </a:p>
        </p:txBody>
      </p:sp>
      <p:sp>
        <p:nvSpPr>
          <p:cNvPr id="22" name="U02-013_equation_panel">
            <a:extLst xmlns:a="http://schemas.openxmlformats.org/drawingml/2006/main">
              <a:ext uri="{FF2B5EF4-FFF2-40B4-BE49-F238E27FC236}">
                <a16:creationId xmlns:a16="http://schemas.microsoft.com/office/drawing/2014/main" id="{589B94AC-BA33-4CDF-BE92-85B64275E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0495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23" name="U02-013_equation">
            <a:extLst xmlns:a="http://schemas.openxmlformats.org/drawingml/2006/main">
              <a:ext uri="{FF2B5EF4-FFF2-40B4-BE49-F238E27FC236}">
                <a16:creationId xmlns:a16="http://schemas.microsoft.com/office/drawing/2014/main" id="{577C9C5D-3B6A-4D1F-8850-538D9433A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53352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F_neta = 0 → v = constante</a:t>
            </a:r>
          </a:p>
        </p:txBody>
      </p:sp>
      <p:pic>
        <p:nvPicPr>
          <p:cNvPr id="34" name="U02-013: Ecuación anotada de la slide «Fuerza neta cero significa velocidad constante»: F_neta = 0 → v constante; reposo como caso particular; masa cuantifica inercia." descr="U02-013: Ecuación anotada de la slide «Fuerza neta cero significa velocidad constante»: F_neta = 0 → v constante; reposo como caso particular; masa cuantifica inercia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ee43647d1b40df">
            <a:extLst>
              <a:ext uri="{96DAC541-7B7A-43D3-8B79-37D633B846F1}">
                <asvg:svgBlip xmlns:asvg="http://schemas.microsoft.com/office/drawing/2016/SVG/main" r:embed="R5557846ae5d3403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095500"/>
            <a:ext cx="10668000" cy="3619500"/>
          </a:xfrm>
          <a:prstGeom xmlns:a="http://schemas.openxmlformats.org/drawingml/2006/main" prst="rect">
            <a:avLst/>
          </a:prstGeom>
        </p:spPr>
      </p:pic>
      <p:sp>
        <p:nvSpPr>
          <p:cNvPr id="25" name="U02-013_caption">
            <a:extLst xmlns:a="http://schemas.openxmlformats.org/drawingml/2006/main">
              <a:ext uri="{FF2B5EF4-FFF2-40B4-BE49-F238E27FC236}">
                <a16:creationId xmlns:a16="http://schemas.microsoft.com/office/drawing/2014/main" id="{2A39A278-9A1C-4A51-A160-4BB819E5F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inercia conserva el estado de movimiento; no produce retorno al equilibrio.</a:t>
            </a:r>
          </a:p>
        </p:txBody>
      </p:sp>
      <p:sp>
        <p:nvSpPr>
          <p:cNvPr id="26" name="U02-013_source">
            <a:extLst xmlns:a="http://schemas.openxmlformats.org/drawingml/2006/main">
              <a:ext uri="{FF2B5EF4-FFF2-40B4-BE49-F238E27FC236}">
                <a16:creationId xmlns:a16="http://schemas.microsoft.com/office/drawing/2014/main" id="{A5A190FB-045A-49C7-88D4-A91A68083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Marcador de número de diapositiva 19">
            <a:extLst xmlns:a="http://schemas.openxmlformats.org/drawingml/2006/main">
              <a:ext uri="{FF2B5EF4-FFF2-40B4-BE49-F238E27FC236}">
                <a16:creationId xmlns:a16="http://schemas.microsoft.com/office/drawing/2014/main" id="{18081493-A553-AC13-4BA5-17CFA71BB2B5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327921A4-25C4-3DB4-06B1-32693CEE2241}" type="slidenum">
              <a:t>14</a:t>
            </a:fld>
          </a:p>
        </p:txBody>
      </p:sp>
      <p:sp>
        <p:nvSpPr>
          <p:cNvPr id="21" name="U02-014_eyebrow">
            <a:extLst xmlns:a="http://schemas.openxmlformats.org/drawingml/2006/main">
              <a:ext uri="{FF2B5EF4-FFF2-40B4-BE49-F238E27FC236}">
                <a16:creationId xmlns:a16="http://schemas.microsoft.com/office/drawing/2014/main" id="{79119B7F-C7CF-44A6-BAE7-59591FFAA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SISTEMA E INERCIA</a:t>
            </a:r>
          </a:p>
        </p:txBody>
      </p:sp>
      <p:sp>
        <p:nvSpPr>
          <p:cNvPr id="22" name="U02-014_title">
            <a:extLst xmlns:a="http://schemas.openxmlformats.org/drawingml/2006/main">
              <a:ext uri="{FF2B5EF4-FFF2-40B4-BE49-F238E27FC236}">
                <a16:creationId xmlns:a16="http://schemas.microsoft.com/office/drawing/2014/main" id="{E690A333-D420-4132-9C24-AC3F52901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7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7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Hasta acá: sistema, fuerzas e inercia</a:t>
            </a:r>
          </a:p>
        </p:txBody>
      </p:sp>
      <p:sp>
        <p:nvSpPr>
          <p:cNvPr id="23" name="U02-014_recap_panel">
            <a:extLst xmlns:a="http://schemas.openxmlformats.org/drawingml/2006/main">
              <a:ext uri="{FF2B5EF4-FFF2-40B4-BE49-F238E27FC236}">
                <a16:creationId xmlns:a16="http://schemas.microsoft.com/office/drawing/2014/main" id="{2611F70F-F0AF-4924-BECB-0176FB1FE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43050"/>
            <a:ext cx="105156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24" name="U02-014_recap">
            <a:extLst xmlns:a="http://schemas.openxmlformats.org/drawingml/2006/main">
              <a:ext uri="{FF2B5EF4-FFF2-40B4-BE49-F238E27FC236}">
                <a16:creationId xmlns:a16="http://schemas.microsoft.com/office/drawing/2014/main" id="{78F3319A-B5E0-4F68-AFA9-68C664326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876425"/>
            <a:ext cx="981075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8"/>
              </a:spcAft>
              <a:buNone/>
              <a:defRPr sz="20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1. Elegir el sistema.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8"/>
              </a:spcAft>
              <a:buNone/>
              <a:defRPr sz="20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2. Declarar el eje.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8"/>
              </a:spcAft>
              <a:buNone/>
              <a:defRPr sz="20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3. Identificar y sumar las fuerzas.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8"/>
              </a:spcAft>
              <a:buNone/>
              <a:defRPr sz="20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Pregunta:</a:t>
            </a:r>
            <a:r>
              <a:rPr sz="20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¿qué debe cambiar para que cambie la velocidad?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Marcador de número de diapositiva 8">
            <a:extLst xmlns:a="http://schemas.openxmlformats.org/drawingml/2006/main">
              <a:ext uri="{FF2B5EF4-FFF2-40B4-BE49-F238E27FC236}">
                <a16:creationId xmlns:a16="http://schemas.microsoft.com/office/drawing/2014/main" id="{208C11FF-1310-C67B-A471-A3573013EA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EA83FA91-883A-0168-8075-96CEB9DCA3C2}" type="slidenum">
              <a:t>15</a:t>
            </a:fld>
          </a:p>
        </p:txBody>
      </p:sp>
      <p:sp>
        <p:nvSpPr>
          <p:cNvPr id="10" name="U02-015_eyebrow">
            <a:extLst xmlns:a="http://schemas.openxmlformats.org/drawingml/2006/main">
              <a:ext uri="{FF2B5EF4-FFF2-40B4-BE49-F238E27FC236}">
                <a16:creationId xmlns:a16="http://schemas.microsoft.com/office/drawing/2014/main" id="{55802B0C-0028-462D-86AE-C55AF0DB8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UNIDAD 2 · LEYES DE NEWTON</a:t>
            </a:r>
          </a:p>
        </p:txBody>
      </p:sp>
      <p:sp>
        <p:nvSpPr>
          <p:cNvPr id="11" name="U02-015_title">
            <a:extLst xmlns:a="http://schemas.openxmlformats.org/drawingml/2006/main">
              <a:ext uri="{FF2B5EF4-FFF2-40B4-BE49-F238E27FC236}">
                <a16:creationId xmlns:a16="http://schemas.microsoft.com/office/drawing/2014/main" id="{1882FE76-8311-4FB3-996F-9B9EE8678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9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De la fuerza neta al cambio de movimiento</a:t>
            </a:r>
          </a:p>
        </p:txBody>
      </p:sp>
      <p:sp>
        <p:nvSpPr>
          <p:cNvPr id="12" name="U02-015_guide">
            <a:extLst xmlns:a="http://schemas.openxmlformats.org/drawingml/2006/main">
              <a:ext uri="{FF2B5EF4-FFF2-40B4-BE49-F238E27FC236}">
                <a16:creationId xmlns:a16="http://schemas.microsoft.com/office/drawing/2014/main" id="{2B6F95DB-0E73-4803-A3BE-4CEA4E609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9334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8"/>
              </a:spcAft>
              <a:buNone/>
              <a:defRPr sz="22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Pregunta guía:</a:t>
            </a:r>
            <a:r>
              <a:rPr sz="22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¿cuánto cambia el movimiento y de qué depende ese cambio?</a:t>
            </a:r>
          </a:p>
        </p:txBody>
      </p:sp>
      <p:sp>
        <p:nvSpPr>
          <p:cNvPr id="13" name="U02-015_subtitle">
            <a:extLst xmlns:a="http://schemas.openxmlformats.org/drawingml/2006/main">
              <a:ext uri="{FF2B5EF4-FFF2-40B4-BE49-F238E27FC236}">
                <a16:creationId xmlns:a16="http://schemas.microsoft.com/office/drawing/2014/main" id="{A37DE1DF-DE02-41F0-A865-AC8D6AFE0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800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E8DDE4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E8DDE4"/>
                </a:solidFill>
                <a:latin typeface="Calibri"/>
                <a:ea typeface="Calibri"/>
                <a:cs typeface="Calibri"/>
              </a:rPr>
              <a:t>Pregunta guía del bloque.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Marcador de número de diapositiva 27">
            <a:extLst xmlns:a="http://schemas.openxmlformats.org/drawingml/2006/main">
              <a:ext uri="{FF2B5EF4-FFF2-40B4-BE49-F238E27FC236}">
                <a16:creationId xmlns:a16="http://schemas.microsoft.com/office/drawing/2014/main" id="{7D464FDA-53EB-4C28-9BB9-7238405ABEB4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DC9C7607-4BA3-B4DC-A00F-2E67A9FCFF7E}" type="slidenum">
              <a:t>16</a:t>
            </a:fld>
          </a:p>
        </p:txBody>
      </p:sp>
      <p:sp>
        <p:nvSpPr>
          <p:cNvPr id="29" name="U02-016_eyebrow">
            <a:extLst xmlns:a="http://schemas.openxmlformats.org/drawingml/2006/main">
              <a:ext uri="{FF2B5EF4-FFF2-40B4-BE49-F238E27FC236}">
                <a16:creationId xmlns:a16="http://schemas.microsoft.com/office/drawing/2014/main" id="{48748078-E8FB-4A6D-95EF-8E85C52E2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LEYES DE NEWTON</a:t>
            </a:r>
          </a:p>
        </p:txBody>
      </p:sp>
      <p:sp>
        <p:nvSpPr>
          <p:cNvPr id="30" name="U02-016_title">
            <a:extLst xmlns:a="http://schemas.openxmlformats.org/drawingml/2006/main">
              <a:ext uri="{FF2B5EF4-FFF2-40B4-BE49-F238E27FC236}">
                <a16:creationId xmlns:a16="http://schemas.microsoft.com/office/drawing/2014/main" id="{A3947330-3E7F-4E65-9E6D-0F6297472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Una fuerza neta produce aceleración, no velocidad fija</a:t>
            </a:r>
          </a:p>
        </p:txBody>
      </p:sp>
      <p:sp>
        <p:nvSpPr>
          <p:cNvPr id="31" name="U02-016_takeaway">
            <a:extLst xmlns:a="http://schemas.openxmlformats.org/drawingml/2006/main">
              <a:ext uri="{FF2B5EF4-FFF2-40B4-BE49-F238E27FC236}">
                <a16:creationId xmlns:a16="http://schemas.microsoft.com/office/drawing/2014/main" id="{9280A6BF-C7B8-4B33-9064-32BA28FA2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Una fuerza neta cambia la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velocidad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mediante una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aceleración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. Si las fuerzas se equilibran, no hay aceleración aunque el sistema pueda seguir moviéndose.</a:t>
            </a:r>
          </a:p>
        </p:txBody>
      </p:sp>
      <p:pic>
        <p:nvPicPr>
          <p:cNvPr id="40" name="U02-016: Diagrama de la slide «Una fuerza neta produce aceleración, no velocidad fija»: Secuencia fuerza neta → aceleración → cambio de velocidad; contraejemplo de fuerzas equilibradas." descr="U02-016: Diagrama de la slide «Una fuerza neta produce aceleración, no velocidad fija»: Secuencia fuerza neta → aceleración → cambio de velocidad; contraejemplo de fuerzas equilibradas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d1c66c1de04e9b">
            <a:extLst>
              <a:ext uri="{96DAC541-7B7A-43D3-8B79-37D633B846F1}">
                <asvg:svgBlip xmlns:asvg="http://schemas.microsoft.com/office/drawing/2016/SVG/main" r:embed="R32181814ba574be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324100"/>
            <a:ext cx="10668000" cy="3390900"/>
          </a:xfrm>
          <a:prstGeom xmlns:a="http://schemas.openxmlformats.org/drawingml/2006/main" prst="rect">
            <a:avLst/>
          </a:prstGeom>
        </p:spPr>
      </p:pic>
      <p:sp>
        <p:nvSpPr>
          <p:cNvPr id="33" name="U02-016_caption">
            <a:extLst xmlns:a="http://schemas.openxmlformats.org/drawingml/2006/main">
              <a:ext uri="{FF2B5EF4-FFF2-40B4-BE49-F238E27FC236}">
                <a16:creationId xmlns:a16="http://schemas.microsoft.com/office/drawing/2014/main" id="{288DE4B4-A294-41BA-AD72-4FCCBF96E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aceleración es el cambio de velocidad por unidad de tiempo.</a:t>
            </a:r>
          </a:p>
        </p:txBody>
      </p:sp>
      <p:sp>
        <p:nvSpPr>
          <p:cNvPr id="34" name="U02-016_source">
            <a:extLst xmlns:a="http://schemas.openxmlformats.org/drawingml/2006/main">
              <a:ext uri="{FF2B5EF4-FFF2-40B4-BE49-F238E27FC236}">
                <a16:creationId xmlns:a16="http://schemas.microsoft.com/office/drawing/2014/main" id="{D6834266-C6CD-416A-955F-7A00ED90A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Marcador de número de diapositiva 17">
            <a:extLst xmlns:a="http://schemas.openxmlformats.org/drawingml/2006/main">
              <a:ext uri="{FF2B5EF4-FFF2-40B4-BE49-F238E27FC236}">
                <a16:creationId xmlns:a16="http://schemas.microsoft.com/office/drawing/2014/main" id="{FA71A55B-B389-7001-A9E1-319E4426EE2D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90F7333B-44AC-F7E9-D49D-FE92F45E0477}" type="slidenum">
              <a:t>17</a:t>
            </a:fld>
          </a:p>
        </p:txBody>
      </p:sp>
      <p:sp>
        <p:nvSpPr>
          <p:cNvPr id="19" name="U02-017_eyebrow">
            <a:extLst xmlns:a="http://schemas.openxmlformats.org/drawingml/2006/main">
              <a:ext uri="{FF2B5EF4-FFF2-40B4-BE49-F238E27FC236}">
                <a16:creationId xmlns:a16="http://schemas.microsoft.com/office/drawing/2014/main" id="{3A63E62F-9476-4632-ACCF-A9C2ACC9D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LEYES DE NEWTON</a:t>
            </a:r>
          </a:p>
        </p:txBody>
      </p:sp>
      <p:sp>
        <p:nvSpPr>
          <p:cNvPr id="20" name="U02-017_title">
            <a:extLst xmlns:a="http://schemas.openxmlformats.org/drawingml/2006/main">
              <a:ext uri="{FF2B5EF4-FFF2-40B4-BE49-F238E27FC236}">
                <a16:creationId xmlns:a16="http://schemas.microsoft.com/office/drawing/2014/main" id="{E0EA5061-9F04-40AF-8FEC-D80C3E814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segunda ley usa la fuerza neta</a:t>
            </a:r>
          </a:p>
        </p:txBody>
      </p:sp>
      <p:sp>
        <p:nvSpPr>
          <p:cNvPr id="21" name="U02-017_takeaway">
            <a:extLst xmlns:a="http://schemas.openxmlformats.org/drawingml/2006/main">
              <a:ext uri="{FF2B5EF4-FFF2-40B4-BE49-F238E27FC236}">
                <a16:creationId xmlns:a16="http://schemas.microsoft.com/office/drawing/2014/main" id="{57AD394D-A06E-415A-A5EB-28CB72319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F_neta = m·a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. La fuerza neta se mide en newtons (N), la masa en kilogramos (kg) y la aceleración en metros por segundo cuadrado (m/s²).</a:t>
            </a:r>
          </a:p>
        </p:txBody>
      </p:sp>
      <p:sp>
        <p:nvSpPr>
          <p:cNvPr id="22" name="U02-017_equation_panel">
            <a:extLst xmlns:a="http://schemas.openxmlformats.org/drawingml/2006/main">
              <a:ext uri="{FF2B5EF4-FFF2-40B4-BE49-F238E27FC236}">
                <a16:creationId xmlns:a16="http://schemas.microsoft.com/office/drawing/2014/main" id="{A7C8F76A-17EC-4538-A506-4825C34C1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0495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23" name="U02-017_equation">
            <a:extLst xmlns:a="http://schemas.openxmlformats.org/drawingml/2006/main">
              <a:ext uri="{FF2B5EF4-FFF2-40B4-BE49-F238E27FC236}">
                <a16:creationId xmlns:a16="http://schemas.microsoft.com/office/drawing/2014/main" id="{5D2C31D9-3BA5-4887-8E6E-2F5F00B07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53352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F_neta = m·a</a:t>
            </a:r>
          </a:p>
        </p:txBody>
      </p:sp>
      <p:pic>
        <p:nvPicPr>
          <p:cNvPr id="34" name="U02-017: Ecuación anotada de la slide «La segunda ley usa la fuerza neta»: Ecuación; símbolos; N, kg y m·s⁻²; condiciones de masa constante y una dimensión." descr="U02-017: Ecuación anotada de la slide «La segunda ley usa la fuerza neta»: Ecuación; símbolos; N, kg y m·s⁻²; condiciones de masa constante y una dimensión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968330eeb04cd5">
            <a:extLst>
              <a:ext uri="{96DAC541-7B7A-43D3-8B79-37D633B846F1}">
                <asvg:svgBlip xmlns:asvg="http://schemas.microsoft.com/office/drawing/2016/SVG/main" r:embed="Re3894f734450434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095500"/>
            <a:ext cx="10668000" cy="3619500"/>
          </a:xfrm>
          <a:prstGeom xmlns:a="http://schemas.openxmlformats.org/drawingml/2006/main" prst="rect">
            <a:avLst/>
          </a:prstGeom>
        </p:spPr>
      </p:pic>
      <p:sp>
        <p:nvSpPr>
          <p:cNvPr id="25" name="U02-017_caption">
            <a:extLst xmlns:a="http://schemas.openxmlformats.org/drawingml/2006/main">
              <a:ext uri="{FF2B5EF4-FFF2-40B4-BE49-F238E27FC236}">
                <a16:creationId xmlns:a16="http://schemas.microsoft.com/office/drawing/2014/main" id="{E2A56FC9-379A-4152-B681-D3DFFF6E6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A igual masa, mayor resultante implica mayor aceleración.</a:t>
            </a:r>
          </a:p>
        </p:txBody>
      </p:sp>
      <p:sp>
        <p:nvSpPr>
          <p:cNvPr id="26" name="U02-017_source">
            <a:extLst xmlns:a="http://schemas.openxmlformats.org/drawingml/2006/main">
              <a:ext uri="{FF2B5EF4-FFF2-40B4-BE49-F238E27FC236}">
                <a16:creationId xmlns:a16="http://schemas.microsoft.com/office/drawing/2014/main" id="{7C423B63-DF4E-4794-B314-0A0AD5C47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Marcador de número de diapositiva 17">
            <a:extLst xmlns:a="http://schemas.openxmlformats.org/drawingml/2006/main">
              <a:ext uri="{FF2B5EF4-FFF2-40B4-BE49-F238E27FC236}">
                <a16:creationId xmlns:a16="http://schemas.microsoft.com/office/drawing/2014/main" id="{7BC74996-1398-61FE-9DC2-28F79E0C2E8F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B1C6C81E-38B9-7560-621D-5A151A79DF9B}" type="slidenum">
              <a:t>18</a:t>
            </a:fld>
          </a:p>
        </p:txBody>
      </p:sp>
      <p:sp>
        <p:nvSpPr>
          <p:cNvPr id="19" name="U02-018_eyebrow">
            <a:extLst xmlns:a="http://schemas.openxmlformats.org/drawingml/2006/main">
              <a:ext uri="{FF2B5EF4-FFF2-40B4-BE49-F238E27FC236}">
                <a16:creationId xmlns:a16="http://schemas.microsoft.com/office/drawing/2014/main" id="{1BA1985F-12D3-4C29-A609-4ADE41886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LEYES DE NEWTON</a:t>
            </a:r>
          </a:p>
        </p:txBody>
      </p:sp>
      <p:sp>
        <p:nvSpPr>
          <p:cNvPr id="20" name="U02-018_title">
            <a:extLst xmlns:a="http://schemas.openxmlformats.org/drawingml/2006/main">
              <a:ext uri="{FF2B5EF4-FFF2-40B4-BE49-F238E27FC236}">
                <a16:creationId xmlns:a16="http://schemas.microsoft.com/office/drawing/2014/main" id="{297BC346-1E0F-423A-A0D3-D9F798658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misma fuerza acelera menos a la masa mayor</a:t>
            </a:r>
          </a:p>
        </p:txBody>
      </p:sp>
      <p:sp>
        <p:nvSpPr>
          <p:cNvPr id="21" name="U02-018_takeaway">
            <a:extLst xmlns:a="http://schemas.openxmlformats.org/drawingml/2006/main">
              <a:ext uri="{FF2B5EF4-FFF2-40B4-BE49-F238E27FC236}">
                <a16:creationId xmlns:a16="http://schemas.microsoft.com/office/drawing/2014/main" id="{C16D27BC-BFC6-4CE0-A640-3F764BE1B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Para una misma fuerza neta, la masa menor adquiere mayor aceleración. En un gráfico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–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F_neta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, la pendiente es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1/m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pic>
        <p:nvPicPr>
          <p:cNvPr id="30" name="U02-018: Gráfico de la slide «La misma fuerza acelera menos a la masa mayor»: Dos rectas a(F_neta) para masas diferentes; lectura de un mismo valor de fuerza." descr="U02-018: Gráfico de la slide «La misma fuerza acelera menos a la masa mayor»: Dos rectas a(F_neta) para masas diferentes; lectura de un mismo valor de fuerza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db21282ecd4c35"/>
          <a:stretch xmlns:a="http://schemas.openxmlformats.org/drawingml/2006/main"/>
        </p:blipFill>
        <p:spPr>
          <a:xfrm xmlns:a="http://schemas.openxmlformats.org/drawingml/2006/main" flipH="0" flipV="0">
            <a:off x="762000" y="2057400"/>
            <a:ext cx="10668000" cy="3657600"/>
          </a:xfrm>
          <a:prstGeom xmlns:a="http://schemas.openxmlformats.org/drawingml/2006/main" prst="rect">
            <a:avLst/>
          </a:prstGeom>
        </p:spPr>
      </p:pic>
      <p:sp>
        <p:nvSpPr>
          <p:cNvPr id="23" name="U02-018_caption">
            <a:extLst xmlns:a="http://schemas.openxmlformats.org/drawingml/2006/main">
              <a:ext uri="{FF2B5EF4-FFF2-40B4-BE49-F238E27FC236}">
                <a16:creationId xmlns:a16="http://schemas.microsoft.com/office/drawing/2014/main" id="{8077A5FC-8681-4ED3-A9FC-EE40D7B73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masa modifica cuánto cambia la aceleración frente a una fuerza neta.</a:t>
            </a:r>
          </a:p>
        </p:txBody>
      </p:sp>
      <p:sp>
        <p:nvSpPr>
          <p:cNvPr id="24" name="U02-018_source">
            <a:extLst xmlns:a="http://schemas.openxmlformats.org/drawingml/2006/main">
              <a:ext uri="{FF2B5EF4-FFF2-40B4-BE49-F238E27FC236}">
                <a16:creationId xmlns:a16="http://schemas.microsoft.com/office/drawing/2014/main" id="{C65DDB68-46A7-4813-BE0A-3098C71F1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 a partir del modelo del curso; escala lineal.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Marcador de número de diapositiva 23">
            <a:extLst xmlns:a="http://schemas.openxmlformats.org/drawingml/2006/main">
              <a:ext uri="{FF2B5EF4-FFF2-40B4-BE49-F238E27FC236}">
                <a16:creationId xmlns:a16="http://schemas.microsoft.com/office/drawing/2014/main" id="{D4631810-29E2-3802-8D4E-7DEAB08103EF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CCF91274-D221-1BB4-3BF9-836E3AD31EBE}" type="slidenum">
              <a:t>19</a:t>
            </a:fld>
          </a:p>
        </p:txBody>
      </p:sp>
      <p:sp>
        <p:nvSpPr>
          <p:cNvPr id="25" name="U02-019_eyebrow">
            <a:extLst xmlns:a="http://schemas.openxmlformats.org/drawingml/2006/main">
              <a:ext uri="{FF2B5EF4-FFF2-40B4-BE49-F238E27FC236}">
                <a16:creationId xmlns:a16="http://schemas.microsoft.com/office/drawing/2014/main" id="{FC2FCDFF-FAC8-43C3-95D2-EEC08BCAB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LEYES DE NEWTON</a:t>
            </a:r>
          </a:p>
        </p:txBody>
      </p:sp>
      <p:sp>
        <p:nvSpPr>
          <p:cNvPr id="26" name="U02-019_title">
            <a:extLst xmlns:a="http://schemas.openxmlformats.org/drawingml/2006/main">
              <a:ext uri="{FF2B5EF4-FFF2-40B4-BE49-F238E27FC236}">
                <a16:creationId xmlns:a16="http://schemas.microsoft.com/office/drawing/2014/main" id="{3DD71E5A-C7E4-4CCD-99B8-893528663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De tres fuerzas a una aceleración</a:t>
            </a:r>
          </a:p>
        </p:txBody>
      </p:sp>
      <p:sp>
        <p:nvSpPr>
          <p:cNvPr id="27" name="U02-019_takeaway">
            <a:extLst xmlns:a="http://schemas.openxmlformats.org/drawingml/2006/main">
              <a:ext uri="{FF2B5EF4-FFF2-40B4-BE49-F238E27FC236}">
                <a16:creationId xmlns:a16="http://schemas.microsoft.com/office/drawing/2014/main" id="{C0ED15E8-85EF-469D-9F4F-C399D66A9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723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Paso 1: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dibujar el eje y asignar signos.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Paso 2: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sumar las tres fuerzas.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Paso 3: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dividir la resultante por la masa.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Paso 4: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interpretar el signo de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28" name="U02-019_equation_panel">
            <a:extLst xmlns:a="http://schemas.openxmlformats.org/drawingml/2006/main">
              <a:ext uri="{FF2B5EF4-FFF2-40B4-BE49-F238E27FC236}">
                <a16:creationId xmlns:a16="http://schemas.microsoft.com/office/drawing/2014/main" id="{1DE45B64-6460-4D2B-B495-7F9D8667D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0495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29" name="U02-019_equation">
            <a:extLst xmlns:a="http://schemas.openxmlformats.org/drawingml/2006/main">
              <a:ext uri="{FF2B5EF4-FFF2-40B4-BE49-F238E27FC236}">
                <a16:creationId xmlns:a16="http://schemas.microsoft.com/office/drawing/2014/main" id="{EAC7B1A7-4982-48FF-994A-584A19828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53352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F_neta = ΣF_x; luego a = F_neta/m</a:t>
            </a:r>
          </a:p>
        </p:txBody>
      </p:sp>
      <p:pic>
        <p:nvPicPr>
          <p:cNvPr id="40" name="U02-019: Esquema mixto de la slide «De tres fuerzas a una aceleración»: Datos de tres fuerzas, eje positivo, suma, a = F_neta/m, resultado e interpretación del signo." descr="U02-019: Esquema mixto de la slide «De tres fuerzas a una aceleración»: Datos de tres fuerzas, eje positivo, suma, a = F_neta/m, resultado e interpretación del signo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481dccd76a4b99"/>
          <a:stretch xmlns:a="http://schemas.openxmlformats.org/drawingml/2006/main"/>
        </p:blipFill>
        <p:spPr>
          <a:xfrm xmlns:a="http://schemas.openxmlformats.org/drawingml/2006/main" flipH="0" flipV="0">
            <a:off x="762000" y="2533650"/>
            <a:ext cx="10668000" cy="3181350"/>
          </a:xfrm>
          <a:prstGeom xmlns:a="http://schemas.openxmlformats.org/drawingml/2006/main" prst="rect">
            <a:avLst/>
          </a:prstGeom>
        </p:spPr>
      </p:pic>
      <p:sp>
        <p:nvSpPr>
          <p:cNvPr id="31" name="U02-019_caption">
            <a:extLst xmlns:a="http://schemas.openxmlformats.org/drawingml/2006/main">
              <a:ext uri="{FF2B5EF4-FFF2-40B4-BE49-F238E27FC236}">
                <a16:creationId xmlns:a16="http://schemas.microsoft.com/office/drawing/2014/main" id="{61AE3055-C901-4E38-9C86-9413B7F44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Primero se obtiene la resultante; después se divide por la masa.</a:t>
            </a:r>
          </a:p>
        </p:txBody>
      </p:sp>
      <p:sp>
        <p:nvSpPr>
          <p:cNvPr id="32" name="U02-019_source">
            <a:extLst xmlns:a="http://schemas.openxmlformats.org/drawingml/2006/main">
              <a:ext uri="{FF2B5EF4-FFF2-40B4-BE49-F238E27FC236}">
                <a16:creationId xmlns:a16="http://schemas.microsoft.com/office/drawing/2014/main" id="{A92034DF-4F00-4018-90DE-98BAA5D29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40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40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1133635661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Marcador de número de diapositiva 19">
            <a:extLst xmlns:a="http://schemas.openxmlformats.org/drawingml/2006/main">
              <a:ext uri="{FF2B5EF4-FFF2-40B4-BE49-F238E27FC236}">
                <a16:creationId xmlns:a16="http://schemas.microsoft.com/office/drawing/2014/main" id="{B71E6959-ACF4-0436-802C-200F793D53F6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844E025A-983C-6D44-79C6-4612AACD43FC}" type="slidenum">
              <a:t>20</a:t>
            </a:fld>
          </a:p>
        </p:txBody>
      </p:sp>
      <p:sp>
        <p:nvSpPr>
          <p:cNvPr id="21" name="U02-020_eyebrow">
            <a:extLst xmlns:a="http://schemas.openxmlformats.org/drawingml/2006/main">
              <a:ext uri="{FF2B5EF4-FFF2-40B4-BE49-F238E27FC236}">
                <a16:creationId xmlns:a16="http://schemas.microsoft.com/office/drawing/2014/main" id="{1A9BAEE6-5B30-4D6F-93CC-FC5DCCD44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LEYES DE NEWTON</a:t>
            </a:r>
          </a:p>
        </p:txBody>
      </p:sp>
      <p:sp>
        <p:nvSpPr>
          <p:cNvPr id="22" name="U02-020_title">
            <a:extLst xmlns:a="http://schemas.openxmlformats.org/drawingml/2006/main">
              <a:ext uri="{FF2B5EF4-FFF2-40B4-BE49-F238E27FC236}">
                <a16:creationId xmlns:a16="http://schemas.microsoft.com/office/drawing/2014/main" id="{08C07DDC-3110-4B4A-9A29-676295059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Misma fuerza neta, masas distintas: ¿quién acelera más?</a:t>
            </a:r>
          </a:p>
        </p:txBody>
      </p:sp>
      <p:sp>
        <p:nvSpPr>
          <p:cNvPr id="23" name="U02-020_takeaway">
            <a:extLst xmlns:a="http://schemas.openxmlformats.org/drawingml/2006/main">
              <a:ext uri="{FF2B5EF4-FFF2-40B4-BE49-F238E27FC236}">
                <a16:creationId xmlns:a16="http://schemas.microsoft.com/office/drawing/2014/main" id="{47B01ACB-6750-4DB8-BE47-20ED95D09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Los sistemas A y B reciben la misma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F_neta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, pero tienen masas distintas.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Predicción: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¿cuál adquiere mayor aceleración? Justificar con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 = F_neta/m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pic>
        <p:nvPicPr>
          <p:cNvPr id="32" name="U02-020: Diagrama de la slide «Misma fuerza neta, masas distintas: ¿quién acelera más?»: Comparación cualitativa A/B; justificar sin cálculo o con razón simple." descr="U02-020: Diagrama de la slide «Misma fuerza neta, masas distintas: ¿quién acelera más?»: Comparación cualitativa A/B; justificar sin cálculo o con razón simple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c4e1706e0d4e5d">
            <a:extLst>
              <a:ext uri="{96DAC541-7B7A-43D3-8B79-37D633B846F1}">
                <asvg:svgBlip xmlns:asvg="http://schemas.microsoft.com/office/drawing/2016/SVG/main" r:embed="Ra941701e111f454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324100"/>
            <a:ext cx="10668000" cy="3390900"/>
          </a:xfrm>
          <a:prstGeom xmlns:a="http://schemas.openxmlformats.org/drawingml/2006/main" prst="rect">
            <a:avLst/>
          </a:prstGeom>
        </p:spPr>
      </p:pic>
      <p:sp>
        <p:nvSpPr>
          <p:cNvPr id="25" name="U02-020_caption">
            <a:extLst xmlns:a="http://schemas.openxmlformats.org/drawingml/2006/main">
              <a:ext uri="{FF2B5EF4-FFF2-40B4-BE49-F238E27FC236}">
                <a16:creationId xmlns:a16="http://schemas.microsoft.com/office/drawing/2014/main" id="{58AEB76C-796B-4873-83F1-E4D15B79D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masa mayor representa mayor inercia.</a:t>
            </a:r>
          </a:p>
        </p:txBody>
      </p:sp>
      <p:sp>
        <p:nvSpPr>
          <p:cNvPr id="26" name="U02-020_source">
            <a:extLst xmlns:a="http://schemas.openxmlformats.org/drawingml/2006/main">
              <a:ext uri="{FF2B5EF4-FFF2-40B4-BE49-F238E27FC236}">
                <a16:creationId xmlns:a16="http://schemas.microsoft.com/office/drawing/2014/main" id="{4B7C7FF6-9276-4037-A4F9-4C2BCAD93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281546375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Marcador de número de diapositiva 17">
            <a:extLst xmlns:a="http://schemas.openxmlformats.org/drawingml/2006/main">
              <a:ext uri="{FF2B5EF4-FFF2-40B4-BE49-F238E27FC236}">
                <a16:creationId xmlns:a16="http://schemas.microsoft.com/office/drawing/2014/main" id="{FA71A55B-B389-7001-A9E1-319E4426EE2D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F6DF2BE2-2DFA-1C03-677D-BDC2260D6D92}" type="slidenum">
              <a:t>21</a:t>
            </a:fld>
          </a:p>
        </p:txBody>
      </p:sp>
      <p:sp>
        <p:nvSpPr>
          <p:cNvPr id="19" name="U02-021_eyebrow">
            <a:extLst xmlns:a="http://schemas.openxmlformats.org/drawingml/2006/main">
              <a:ext uri="{FF2B5EF4-FFF2-40B4-BE49-F238E27FC236}">
                <a16:creationId xmlns:a16="http://schemas.microsoft.com/office/drawing/2014/main" id="{3B01D02B-DF1A-47B5-9605-26FDFDDC7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LEYES DE NEWTON</a:t>
            </a:r>
          </a:p>
        </p:txBody>
      </p:sp>
      <p:sp>
        <p:nvSpPr>
          <p:cNvPr id="20" name="U02-021_title">
            <a:extLst xmlns:a="http://schemas.openxmlformats.org/drawingml/2006/main">
              <a:ext uri="{FF2B5EF4-FFF2-40B4-BE49-F238E27FC236}">
                <a16:creationId xmlns:a16="http://schemas.microsoft.com/office/drawing/2014/main" id="{31407BB0-9803-40F6-AA0C-98230C6EE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tercera ley relaciona fuerzas sobre cuerpos distintos</a:t>
            </a:r>
          </a:p>
        </p:txBody>
      </p:sp>
      <p:sp>
        <p:nvSpPr>
          <p:cNvPr id="21" name="U02-021_takeaway">
            <a:extLst xmlns:a="http://schemas.openxmlformats.org/drawingml/2006/main">
              <a:ext uri="{FF2B5EF4-FFF2-40B4-BE49-F238E27FC236}">
                <a16:creationId xmlns:a16="http://schemas.microsoft.com/office/drawing/2014/main" id="{2FF18F82-DDEA-43E4-AD3A-EAC50146C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F_{A→B} = −F_{B→A}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. Las dos fuerzas aparecen al mismo tiempo y tienen igual módulo, pero actúan sobre cuerpos diferentes.</a:t>
            </a:r>
          </a:p>
        </p:txBody>
      </p:sp>
      <p:sp>
        <p:nvSpPr>
          <p:cNvPr id="22" name="U02-021_equation_panel">
            <a:extLst xmlns:a="http://schemas.openxmlformats.org/drawingml/2006/main">
              <a:ext uri="{FF2B5EF4-FFF2-40B4-BE49-F238E27FC236}">
                <a16:creationId xmlns:a16="http://schemas.microsoft.com/office/drawing/2014/main" id="{C7A0B417-FBD4-4789-9E18-0DC1BA175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7165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23" name="U02-021_equation">
            <a:extLst xmlns:a="http://schemas.openxmlformats.org/drawingml/2006/main">
              <a:ext uri="{FF2B5EF4-FFF2-40B4-BE49-F238E27FC236}">
                <a16:creationId xmlns:a16="http://schemas.microsoft.com/office/drawing/2014/main" id="{B08A837F-E164-4694-BFF0-2DB1A86DA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80022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F⃗_A→B = −F⃗_B→A</a:t>
            </a:r>
          </a:p>
        </p:txBody>
      </p:sp>
      <p:pic>
        <p:nvPicPr>
          <p:cNvPr id="34" name="U02-021: Ecuación anotada de la slide «La tercera ley relaciona fuerzas sobre cuerpos distintos»: F⃗_A→B = -F⃗_B→A; lectura de subíndices y cuerpos." descr="U02-021: Ecuación anotada de la slide «La tercera ley relaciona fuerzas sobre cuerpos distintos»: F⃗_A→B = -F⃗_B→A; lectura de subíndices y cuerpos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c8530310674067">
            <a:extLst>
              <a:ext uri="{96DAC541-7B7A-43D3-8B79-37D633B846F1}">
                <asvg:svgBlip xmlns:asvg="http://schemas.microsoft.com/office/drawing/2016/SVG/main" r:embed="Raa34785223114be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362200"/>
            <a:ext cx="10668000" cy="3352800"/>
          </a:xfrm>
          <a:prstGeom xmlns:a="http://schemas.openxmlformats.org/drawingml/2006/main" prst="rect">
            <a:avLst/>
          </a:prstGeom>
        </p:spPr>
      </p:pic>
      <p:sp>
        <p:nvSpPr>
          <p:cNvPr id="25" name="U02-021_caption">
            <a:extLst xmlns:a="http://schemas.openxmlformats.org/drawingml/2006/main">
              <a:ext uri="{FF2B5EF4-FFF2-40B4-BE49-F238E27FC236}">
                <a16:creationId xmlns:a16="http://schemas.microsoft.com/office/drawing/2014/main" id="{F4396579-061E-4DFE-A796-C58A2CFE4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Las fuerzas son simultáneas, iguales en módulo y opuestas, pero no actúan sobre el mismo cuerpo.</a:t>
            </a:r>
          </a:p>
        </p:txBody>
      </p:sp>
      <p:sp>
        <p:nvSpPr>
          <p:cNvPr id="26" name="U02-021_source">
            <a:extLst xmlns:a="http://schemas.openxmlformats.org/drawingml/2006/main">
              <a:ext uri="{FF2B5EF4-FFF2-40B4-BE49-F238E27FC236}">
                <a16:creationId xmlns:a16="http://schemas.microsoft.com/office/drawing/2014/main" id="{B1B0EA3A-6E89-444F-BA6C-B3D0691B6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Marcador de número de diapositiva 18">
            <a:extLst xmlns:a="http://schemas.openxmlformats.org/drawingml/2006/main">
              <a:ext uri="{FF2B5EF4-FFF2-40B4-BE49-F238E27FC236}">
                <a16:creationId xmlns:a16="http://schemas.microsoft.com/office/drawing/2014/main" id="{3701E013-5363-F7F5-9233-7CB612036904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0BB18BA8-60F4-C50D-CD9B-1BB87D3E8506}" type="slidenum">
              <a:t>22</a:t>
            </a:fld>
          </a:p>
        </p:txBody>
      </p:sp>
      <p:sp>
        <p:nvSpPr>
          <p:cNvPr id="20" name="U02-022_eyebrow">
            <a:extLst xmlns:a="http://schemas.openxmlformats.org/drawingml/2006/main">
              <a:ext uri="{FF2B5EF4-FFF2-40B4-BE49-F238E27FC236}">
                <a16:creationId xmlns:a16="http://schemas.microsoft.com/office/drawing/2014/main" id="{5167F008-740B-49B5-81E0-205449285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LEYES DE NEWTON</a:t>
            </a:r>
          </a:p>
        </p:txBody>
      </p:sp>
      <p:sp>
        <p:nvSpPr>
          <p:cNvPr id="21" name="U02-022_title">
            <a:extLst xmlns:a="http://schemas.openxmlformats.org/drawingml/2006/main">
              <a:ext uri="{FF2B5EF4-FFF2-40B4-BE49-F238E27FC236}">
                <a16:creationId xmlns:a16="http://schemas.microsoft.com/office/drawing/2014/main" id="{5C9E3D70-7493-4604-8CD7-71C80DF54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Acción y reacción viven en dos diagramas diferentes</a:t>
            </a:r>
          </a:p>
        </p:txBody>
      </p:sp>
      <p:sp>
        <p:nvSpPr>
          <p:cNvPr id="22" name="U02-022_takeaway">
            <a:extLst xmlns:a="http://schemas.openxmlformats.org/drawingml/2006/main">
              <a:ext uri="{FF2B5EF4-FFF2-40B4-BE49-F238E27FC236}">
                <a16:creationId xmlns:a16="http://schemas.microsoft.com/office/drawing/2014/main" id="{EC104DFF-BF8A-47C2-88FC-1B75596E9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Diagrama de A: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incluye la fuerza que B ejerce sobre A.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Diagrama de B: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incluye la fuerza que A ejerce sobre B. No se suman entre sí en un único DCL.</a:t>
            </a:r>
          </a:p>
        </p:txBody>
      </p:sp>
      <p:pic>
        <p:nvPicPr>
          <p:cNvPr id="31" name="U02-022: Diagrama de la slide «Acción y reacción viven en dos diagramas diferentes»: Izquierda: diagrama de A; derecha: diagrama de B; síntesis inferior." descr="U02-022: Diagrama de la slide «Acción y reacción viven en dos diagramas diferentes»: Izquierda: diagrama de A; derecha: diagrama de B; síntesis inferior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077c57bdb74b90">
            <a:extLst>
              <a:ext uri="{96DAC541-7B7A-43D3-8B79-37D633B846F1}">
                <asvg:svgBlip xmlns:asvg="http://schemas.microsoft.com/office/drawing/2016/SVG/main" r:embed="Rcdbd76bb567342d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324100"/>
            <a:ext cx="10668000" cy="3390900"/>
          </a:xfrm>
          <a:prstGeom xmlns:a="http://schemas.openxmlformats.org/drawingml/2006/main" prst="rect">
            <a:avLst/>
          </a:prstGeom>
        </p:spPr>
      </p:pic>
      <p:sp>
        <p:nvSpPr>
          <p:cNvPr id="24" name="U02-022_caption">
            <a:extLst xmlns:a="http://schemas.openxmlformats.org/drawingml/2006/main">
              <a:ext uri="{FF2B5EF4-FFF2-40B4-BE49-F238E27FC236}">
                <a16:creationId xmlns:a16="http://schemas.microsoft.com/office/drawing/2014/main" id="{82DBDC7C-AD6D-432E-8841-6A28609FB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El par pertenece a dos cuerpos; las fuerzas equilibradas pertenecen a uno.</a:t>
            </a:r>
          </a:p>
        </p:txBody>
      </p:sp>
      <p:sp>
        <p:nvSpPr>
          <p:cNvPr id="25" name="U02-022_source">
            <a:extLst xmlns:a="http://schemas.openxmlformats.org/drawingml/2006/main">
              <a:ext uri="{FF2B5EF4-FFF2-40B4-BE49-F238E27FC236}">
                <a16:creationId xmlns:a16="http://schemas.microsoft.com/office/drawing/2014/main" id="{1C8E52E9-A7C1-4A99-AFB1-82951C349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Marcador de número de diapositiva 19">
            <a:extLst xmlns:a="http://schemas.openxmlformats.org/drawingml/2006/main">
              <a:ext uri="{FF2B5EF4-FFF2-40B4-BE49-F238E27FC236}">
                <a16:creationId xmlns:a16="http://schemas.microsoft.com/office/drawing/2014/main" id="{18081493-A553-AC13-4BA5-17CFA71BB2B5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A4E99CEF-AF55-BA3C-ADF8-4E52E186DD8F}" type="slidenum">
              <a:t>23</a:t>
            </a:fld>
          </a:p>
        </p:txBody>
      </p:sp>
      <p:sp>
        <p:nvSpPr>
          <p:cNvPr id="21" name="U02-023_eyebrow">
            <a:extLst xmlns:a="http://schemas.openxmlformats.org/drawingml/2006/main">
              <a:ext uri="{FF2B5EF4-FFF2-40B4-BE49-F238E27FC236}">
                <a16:creationId xmlns:a16="http://schemas.microsoft.com/office/drawing/2014/main" id="{71C03471-3F33-42E8-A4DE-A5A808D8D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LEYES DE NEWTON</a:t>
            </a:r>
          </a:p>
        </p:txBody>
      </p:sp>
      <p:sp>
        <p:nvSpPr>
          <p:cNvPr id="22" name="U02-023_title">
            <a:extLst xmlns:a="http://schemas.openxmlformats.org/drawingml/2006/main">
              <a:ext uri="{FF2B5EF4-FFF2-40B4-BE49-F238E27FC236}">
                <a16:creationId xmlns:a16="http://schemas.microsoft.com/office/drawing/2014/main" id="{49EB083B-0682-42BA-AD60-D3419EBCA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7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7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Tres leyes, tres preguntas diferentes</a:t>
            </a:r>
          </a:p>
        </p:txBody>
      </p:sp>
      <p:sp>
        <p:nvSpPr>
          <p:cNvPr id="23" name="U02-023_recap_panel">
            <a:extLst xmlns:a="http://schemas.openxmlformats.org/drawingml/2006/main">
              <a:ext uri="{FF2B5EF4-FFF2-40B4-BE49-F238E27FC236}">
                <a16:creationId xmlns:a16="http://schemas.microsoft.com/office/drawing/2014/main" id="{7705F42A-7C87-4321-B6C3-65E40C89F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43050"/>
            <a:ext cx="105156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24" name="U02-023_recap">
            <a:extLst xmlns:a="http://schemas.openxmlformats.org/drawingml/2006/main">
              <a:ext uri="{FF2B5EF4-FFF2-40B4-BE49-F238E27FC236}">
                <a16:creationId xmlns:a16="http://schemas.microsoft.com/office/drawing/2014/main" id="{F05437F0-66ED-488D-921E-D1C5089B0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876425"/>
            <a:ext cx="981075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8"/>
              </a:spcAft>
              <a:buNone/>
              <a:defRPr sz="20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Primera ley:</a:t>
            </a:r>
            <a:r>
              <a:rPr sz="20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¿qué ocurre si </a:t>
            </a:r>
            <a:r>
              <a:rPr sz="20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F_neta = 0</a:t>
            </a:r>
            <a:r>
              <a:rPr sz="20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?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8"/>
              </a:spcAft>
              <a:buNone/>
              <a:defRPr sz="20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Segunda ley:</a:t>
            </a:r>
            <a:r>
              <a:rPr sz="20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¿cuánto acelera?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8"/>
              </a:spcAft>
              <a:buNone/>
              <a:defRPr sz="20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Tercera ley:</a:t>
            </a:r>
            <a:r>
              <a:rPr sz="20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¿cómo se relacionan las fuerzas de dos cuerpos?</a:t>
            </a:r>
          </a:p>
        </p:txBody>
      </p:sp>
      <p:sp>
        <p:nvSpPr>
          <p:cNvPr id="25" name="U02-023_recap_question">
            <a:extLst xmlns:a="http://schemas.openxmlformats.org/drawingml/2006/main">
              <a:ext uri="{FF2B5EF4-FFF2-40B4-BE49-F238E27FC236}">
                <a16:creationId xmlns:a16="http://schemas.microsoft.com/office/drawing/2014/main" id="{84AD14DD-B8B9-4C66-9572-356461802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829175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8"/>
              </a:spcAft>
              <a:buNone/>
              <a:defRPr sz="16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Ante un mini caso, elegir qué ley responde primero la pregunta planteada.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Marcador de número de diapositiva 8">
            <a:extLst xmlns:a="http://schemas.openxmlformats.org/drawingml/2006/main">
              <a:ext uri="{FF2B5EF4-FFF2-40B4-BE49-F238E27FC236}">
                <a16:creationId xmlns:a16="http://schemas.microsoft.com/office/drawing/2014/main" id="{208C11FF-1310-C67B-A471-A3573013EA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4A59AF09-D197-0193-A7DE-FAAF0B691058}" type="slidenum">
              <a:t>24</a:t>
            </a:fld>
          </a:p>
        </p:txBody>
      </p:sp>
      <p:sp>
        <p:nvSpPr>
          <p:cNvPr id="10" name="U02-024_eyebrow">
            <a:extLst xmlns:a="http://schemas.openxmlformats.org/drawingml/2006/main">
              <a:ext uri="{FF2B5EF4-FFF2-40B4-BE49-F238E27FC236}">
                <a16:creationId xmlns:a16="http://schemas.microsoft.com/office/drawing/2014/main" id="{31624CD9-DC8D-478B-9F29-258256827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UNIDAD 2 · PRESIÓN Y FUERZA</a:t>
            </a:r>
          </a:p>
        </p:txBody>
      </p:sp>
      <p:sp>
        <p:nvSpPr>
          <p:cNvPr id="11" name="U02-024_title">
            <a:extLst xmlns:a="http://schemas.openxmlformats.org/drawingml/2006/main">
              <a:ext uri="{FF2B5EF4-FFF2-40B4-BE49-F238E27FC236}">
                <a16:creationId xmlns:a16="http://schemas.microsoft.com/office/drawing/2014/main" id="{19352B6E-FD91-47BC-AEEC-041D2FA76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9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Una diferencia de presión puede mover una superficie</a:t>
            </a:r>
          </a:p>
        </p:txBody>
      </p:sp>
      <p:sp>
        <p:nvSpPr>
          <p:cNvPr id="12" name="U02-024_guide">
            <a:extLst xmlns:a="http://schemas.openxmlformats.org/drawingml/2006/main">
              <a:ext uri="{FF2B5EF4-FFF2-40B4-BE49-F238E27FC236}">
                <a16:creationId xmlns:a16="http://schemas.microsoft.com/office/drawing/2014/main" id="{FE5B1DD1-C0B4-4BF7-B254-8E96BB16D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9334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8"/>
              </a:spcAft>
              <a:buNone/>
              <a:defRPr sz="22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Pregunta guía:</a:t>
            </a:r>
            <a:r>
              <a:rPr sz="22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¿cómo convertimos una diferencia de presión, medida en pascales, en una fuerza, medida en newtons?</a:t>
            </a:r>
          </a:p>
        </p:txBody>
      </p:sp>
      <p:sp>
        <p:nvSpPr>
          <p:cNvPr id="13" name="U02-024_subtitle">
            <a:extLst xmlns:a="http://schemas.openxmlformats.org/drawingml/2006/main">
              <a:ext uri="{FF2B5EF4-FFF2-40B4-BE49-F238E27FC236}">
                <a16:creationId xmlns:a16="http://schemas.microsoft.com/office/drawing/2014/main" id="{6DB461F9-ABD9-46A9-9C81-30A26D40B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800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E8DDE4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E8DDE4"/>
                </a:solidFill>
                <a:latin typeface="Calibri"/>
                <a:ea typeface="Calibri"/>
                <a:cs typeface="Calibri"/>
              </a:rPr>
              <a:t>Pregunta guía del bloque.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Marcador de número de diapositiva 25">
            <a:extLst xmlns:a="http://schemas.openxmlformats.org/drawingml/2006/main">
              <a:ext uri="{FF2B5EF4-FFF2-40B4-BE49-F238E27FC236}">
                <a16:creationId xmlns:a16="http://schemas.microsoft.com/office/drawing/2014/main" id="{E82CC427-17D1-D7E7-6008-F7922268FB6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F3AE1AE4-D79E-94D6-E825-3FC6C21A77D2}" type="slidenum">
              <a:t>25</a:t>
            </a:fld>
          </a:p>
        </p:txBody>
      </p:sp>
      <p:sp>
        <p:nvSpPr>
          <p:cNvPr id="27" name="U02-025_eyebrow">
            <a:extLst xmlns:a="http://schemas.openxmlformats.org/drawingml/2006/main">
              <a:ext uri="{FF2B5EF4-FFF2-40B4-BE49-F238E27FC236}">
                <a16:creationId xmlns:a16="http://schemas.microsoft.com/office/drawing/2014/main" id="{264CB676-C690-48E5-A2B9-2797E5875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PRESIÓN Y FUERZA</a:t>
            </a:r>
          </a:p>
        </p:txBody>
      </p:sp>
      <p:sp>
        <p:nvSpPr>
          <p:cNvPr id="28" name="U02-025_title">
            <a:extLst xmlns:a="http://schemas.openxmlformats.org/drawingml/2006/main">
              <a:ext uri="{FF2B5EF4-FFF2-40B4-BE49-F238E27FC236}">
                <a16:creationId xmlns:a16="http://schemas.microsoft.com/office/drawing/2014/main" id="{5E3D6672-9137-4CE1-80B0-3CD9B09B8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Las presiones de ambos lados ejercen fuerzas opuestas</a:t>
            </a:r>
          </a:p>
        </p:txBody>
      </p:sp>
      <p:sp>
        <p:nvSpPr>
          <p:cNvPr id="29" name="U02-025_takeaway">
            <a:extLst xmlns:a="http://schemas.openxmlformats.org/drawingml/2006/main">
              <a:ext uri="{FF2B5EF4-FFF2-40B4-BE49-F238E27FC236}">
                <a16:creationId xmlns:a16="http://schemas.microsoft.com/office/drawing/2014/main" id="{FD540B3C-5653-4CEC-A737-40F70FBE4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Cada lado ejerce una fuerza sobre la superficie. Si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p_1 = p_2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, las contribuciones se equilibran; si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p_1 &gt; p_2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, la resultante apunta hacia el lado de menor presión.</a:t>
            </a:r>
          </a:p>
        </p:txBody>
      </p:sp>
      <p:pic>
        <p:nvPicPr>
          <p:cNvPr id="38" name="U02-025: Diagrama de la slide «Las presiones de ambos lados ejercen fuerzas opuestas»: Superficie, p₁, p₂, área y flechas opuestas; casos p₁ = p₂ y p₁ &gt; p₂." descr="U02-025: Diagrama de la slide «Las presiones de ambos lados ejercen fuerzas opuestas»: Superficie, p₁, p₂, área y flechas opuestas; casos p₁ = p₂ y p₁ &gt; p₂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0d907964fa4a47">
            <a:extLst>
              <a:ext uri="{96DAC541-7B7A-43D3-8B79-37D633B846F1}">
                <asvg:svgBlip xmlns:asvg="http://schemas.microsoft.com/office/drawing/2016/SVG/main" r:embed="Rc7cf9f69a8e2492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324100"/>
            <a:ext cx="10668000" cy="3390900"/>
          </a:xfrm>
          <a:prstGeom xmlns:a="http://schemas.openxmlformats.org/drawingml/2006/main" prst="rect">
            <a:avLst/>
          </a:prstGeom>
        </p:spPr>
      </p:pic>
      <p:sp>
        <p:nvSpPr>
          <p:cNvPr id="31" name="U02-025_caption">
            <a:extLst xmlns:a="http://schemas.openxmlformats.org/drawingml/2006/main">
              <a:ext uri="{FF2B5EF4-FFF2-40B4-BE49-F238E27FC236}">
                <a16:creationId xmlns:a16="http://schemas.microsoft.com/office/drawing/2014/main" id="{4B046D37-2202-40B2-BD6A-089475678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resultante apunta hacia la región de menor presión si las demás condiciones se mantienen. Esquema conceptual; no está a escala.</a:t>
            </a:r>
          </a:p>
        </p:txBody>
      </p:sp>
      <p:sp>
        <p:nvSpPr>
          <p:cNvPr id="32" name="U02-025_source">
            <a:extLst xmlns:a="http://schemas.openxmlformats.org/drawingml/2006/main">
              <a:ext uri="{FF2B5EF4-FFF2-40B4-BE49-F238E27FC236}">
                <a16:creationId xmlns:a16="http://schemas.microsoft.com/office/drawing/2014/main" id="{CCA7E6D7-B661-4507-9BE1-85935A155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1995449240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Marcador de número de diapositiva 18">
            <a:extLst xmlns:a="http://schemas.openxmlformats.org/drawingml/2006/main">
              <a:ext uri="{FF2B5EF4-FFF2-40B4-BE49-F238E27FC236}">
                <a16:creationId xmlns:a16="http://schemas.microsoft.com/office/drawing/2014/main" id="{3701E013-5363-F7F5-9233-7CB612036904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5AB55966-FA28-BC73-EA9E-53DF014DF033}" type="slidenum">
              <a:t>26</a:t>
            </a:fld>
          </a:p>
        </p:txBody>
      </p:sp>
      <p:sp>
        <p:nvSpPr>
          <p:cNvPr id="20" name="U02-026_eyebrow">
            <a:extLst xmlns:a="http://schemas.openxmlformats.org/drawingml/2006/main">
              <a:ext uri="{FF2B5EF4-FFF2-40B4-BE49-F238E27FC236}">
                <a16:creationId xmlns:a16="http://schemas.microsoft.com/office/drawing/2014/main" id="{B52F2E53-EA76-4060-B1B4-4AC143837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PRESIÓN Y FUERZA</a:t>
            </a:r>
          </a:p>
        </p:txBody>
      </p:sp>
      <p:sp>
        <p:nvSpPr>
          <p:cNvPr id="21" name="U02-026_title">
            <a:extLst xmlns:a="http://schemas.openxmlformats.org/drawingml/2006/main">
              <a:ext uri="{FF2B5EF4-FFF2-40B4-BE49-F238E27FC236}">
                <a16:creationId xmlns:a16="http://schemas.microsoft.com/office/drawing/2014/main" id="{C142CBBD-FD80-4005-8A3A-2DDB85E07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Presión y fuerza no son la misma magnitud</a:t>
            </a:r>
          </a:p>
        </p:txBody>
      </p:sp>
      <p:graphicFrame>
        <p:nvGraphicFramePr>
          <p:cNvPr id="28" name=""/>
          <p:cNvGraphicFramePr/>
          <p:nvPr/>
        </p:nvGraphicFramePr>
        <p:xfrm>
          <a:off xmlns:a="http://schemas.openxmlformats.org/drawingml/2006/main" x="952500" y="1638300"/>
          <a:ext xmlns:a="http://schemas.openxmlformats.org/drawingml/2006/main" cx="10287000" cy="2857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429000"/>
                <a:gridCol w="3429000"/>
                <a:gridCol w="3429000"/>
              </a:tblGrid>
              <a:tr h="714375">
                <a:tc>
                  <a:txBody>
                    <a:bodyPr anchor="ctr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Criterio</a:t>
                      </a:r>
                    </a:p>
                  </a:txBody>
                  <a:tcPr marL="91440" marR="91440" marT="45720" marB="45720">
                    <a:solidFill>
                      <a:srgbClr val="4D1434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Presión</a:t>
                      </a:r>
                    </a:p>
                  </a:txBody>
                  <a:tcPr marL="91440" marR="91440" marT="45720" marB="45720">
                    <a:solidFill>
                      <a:srgbClr val="4D1434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Fuerza</a:t>
                      </a:r>
                    </a:p>
                  </a:txBody>
                  <a:tcPr marL="91440" marR="91440" marT="45720" marB="45720">
                    <a:solidFill>
                      <a:srgbClr val="4D1434"/>
                    </a:solidFill>
                  </a:tcPr>
                </a:tc>
              </a:tr>
              <a:tr h="714375">
                <a:tc>
                  <a:txBody>
                    <a:bodyPr anchor="ctr"/>
                    <a:lstStyle/>
                    <a:p>
                      <a:r>
                        <a:rPr sz="17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Describe</a:t>
                      </a:r>
                    </a:p>
                  </a:txBody>
                  <a:tcPr marL="91440" marR="91440" marT="45720" marB="45720"/>
                </a:tc>
                <a:tc>
                  <a:txBody>
                    <a:bodyPr anchor="ctr"/>
                    <a:lstStyle/>
                    <a:p>
                      <a:r>
                        <a:rPr sz="17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Distribución sobre un área</a:t>
                      </a:r>
                    </a:p>
                  </a:txBody>
                  <a:tcPr marL="91440" marR="91440" marT="45720" marB="45720"/>
                </a:tc>
                <a:tc>
                  <a:txBody>
                    <a:bodyPr anchor="ctr"/>
                    <a:lstStyle/>
                    <a:p>
                      <a:r>
                        <a:rPr sz="17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Interacción resultante</a:t>
                      </a:r>
                    </a:p>
                  </a:txBody>
                  <a:tcPr marL="91440" marR="91440" marT="45720" marB="45720"/>
                </a:tc>
              </a:tr>
              <a:tr h="714375">
                <a:tc>
                  <a:txBody>
                    <a:bodyPr anchor="ctr"/>
                    <a:lstStyle/>
                    <a:p>
                      <a:r>
                        <a:rPr sz="17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Unidad</a:t>
                      </a:r>
                    </a:p>
                  </a:txBody>
                  <a:tcPr marL="91440" marR="91440" marT="45720" marB="45720"/>
                </a:tc>
                <a:tc>
                  <a:txBody>
                    <a:bodyPr anchor="ctr"/>
                    <a:lstStyle/>
                    <a:p>
                      <a:r>
                        <a:rPr sz="17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Pa</a:t>
                      </a:r>
                    </a:p>
                  </a:txBody>
                  <a:tcPr marL="91440" marR="91440" marT="45720" marB="45720"/>
                </a:tc>
                <a:tc>
                  <a:txBody>
                    <a:bodyPr anchor="ctr"/>
                    <a:lstStyle/>
                    <a:p>
                      <a:r>
                        <a:rPr sz="17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N</a:t>
                      </a:r>
                    </a:p>
                  </a:txBody>
                  <a:tcPr marL="91440" marR="91440" marT="45720" marB="45720"/>
                </a:tc>
              </a:tr>
              <a:tr h="714375">
                <a:tc>
                  <a:txBody>
                    <a:bodyPr anchor="ctr"/>
                    <a:lstStyle/>
                    <a:p>
                      <a:r>
                        <a:rPr sz="17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Relación</a:t>
                      </a:r>
                    </a:p>
                  </a:txBody>
                  <a:tcPr marL="91440" marR="91440" marT="45720" marB="45720"/>
                </a:tc>
                <a:tc>
                  <a:txBody>
                    <a:bodyPr anchor="ctr"/>
                    <a:lstStyle/>
                    <a:p>
                      <a:r>
                        <a:rPr sz="17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Necesita S</a:t>
                      </a:r>
                    </a:p>
                  </a:txBody>
                  <a:tcPr marL="91440" marR="91440" marT="45720" marB="45720"/>
                </a:tc>
                <a:tc>
                  <a:txBody>
                    <a:bodyPr anchor="ctr"/>
                    <a:lstStyle/>
                    <a:p>
                      <a:r>
                        <a:rPr sz="17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F_pres = Δp·S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23" name="U02-026_reading">
            <a:extLst xmlns:a="http://schemas.openxmlformats.org/drawingml/2006/main">
              <a:ext uri="{FF2B5EF4-FFF2-40B4-BE49-F238E27FC236}">
                <a16:creationId xmlns:a16="http://schemas.microsoft.com/office/drawing/2014/main" id="{BFF764BD-F34F-4187-898D-09C9A2A53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33925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8"/>
              </a:spcAft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Presión:</a:t>
            </a:r>
            <a:r>
              <a:rPr sz="165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 fuerza distribuida por unidad de área; unidad Pa.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8"/>
              </a:spcAft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Fuerza:</a:t>
            </a:r>
            <a:r>
              <a:rPr sz="165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 interacción resultante; unidad N. Para relacionarlas hace falta conocer el área.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Marcador de número de diapositiva 17">
            <a:extLst xmlns:a="http://schemas.openxmlformats.org/drawingml/2006/main">
              <a:ext uri="{FF2B5EF4-FFF2-40B4-BE49-F238E27FC236}">
                <a16:creationId xmlns:a16="http://schemas.microsoft.com/office/drawing/2014/main" id="{FA71A55B-B389-7001-A9E1-319E4426EE2D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02F15020-66A7-620A-7B7A-C05C4312DEAE}" type="slidenum">
              <a:t>27</a:t>
            </a:fld>
          </a:p>
        </p:txBody>
      </p:sp>
      <p:sp>
        <p:nvSpPr>
          <p:cNvPr id="19" name="U02-027_eyebrow">
            <a:extLst xmlns:a="http://schemas.openxmlformats.org/drawingml/2006/main">
              <a:ext uri="{FF2B5EF4-FFF2-40B4-BE49-F238E27FC236}">
                <a16:creationId xmlns:a16="http://schemas.microsoft.com/office/drawing/2014/main" id="{0EB171E3-CE32-4027-9762-8181D7D73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PRESIÓN Y FUERZA</a:t>
            </a:r>
          </a:p>
        </p:txBody>
      </p:sp>
      <p:sp>
        <p:nvSpPr>
          <p:cNvPr id="20" name="U02-027_title">
            <a:extLst xmlns:a="http://schemas.openxmlformats.org/drawingml/2006/main">
              <a:ext uri="{FF2B5EF4-FFF2-40B4-BE49-F238E27FC236}">
                <a16:creationId xmlns:a16="http://schemas.microsoft.com/office/drawing/2014/main" id="{F321B2FE-AEF0-455F-AC21-2336709C5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diferencia de presión conserva dirección y signo</a:t>
            </a:r>
          </a:p>
        </p:txBody>
      </p:sp>
      <p:sp>
        <p:nvSpPr>
          <p:cNvPr id="21" name="U02-027_takeaway">
            <a:extLst xmlns:a="http://schemas.openxmlformats.org/drawingml/2006/main">
              <a:ext uri="{FF2B5EF4-FFF2-40B4-BE49-F238E27FC236}">
                <a16:creationId xmlns:a16="http://schemas.microsoft.com/office/drawing/2014/main" id="{48A595B7-1943-4B45-AED9-2004EE80C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Definimos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Δp = p_1 − p_2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. El orden elegido fija el signo: cambiar el orden invierte el sentido de la fuerza calculada.</a:t>
            </a:r>
          </a:p>
        </p:txBody>
      </p:sp>
      <p:sp>
        <p:nvSpPr>
          <p:cNvPr id="22" name="U02-027_equation_panel">
            <a:extLst xmlns:a="http://schemas.openxmlformats.org/drawingml/2006/main">
              <a:ext uri="{FF2B5EF4-FFF2-40B4-BE49-F238E27FC236}">
                <a16:creationId xmlns:a16="http://schemas.microsoft.com/office/drawing/2014/main" id="{07781513-7244-4E37-A429-20676E43E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7165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23" name="U02-027_equation">
            <a:extLst xmlns:a="http://schemas.openxmlformats.org/drawingml/2006/main">
              <a:ext uri="{FF2B5EF4-FFF2-40B4-BE49-F238E27FC236}">
                <a16:creationId xmlns:a16="http://schemas.microsoft.com/office/drawing/2014/main" id="{13921A30-B024-4694-94BC-34E52A8E0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80022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Δp = p_1 − p_2</a:t>
            </a:r>
          </a:p>
        </p:txBody>
      </p:sp>
      <p:pic>
        <p:nvPicPr>
          <p:cNvPr id="34" name="U02-027: Ecuación anotada de la slide «La diferencia de presión conserva dirección y signo»: Δp = p₁ - p₂; símbolos, Pa y dos resultados de signo opuesto." descr="U02-027: Ecuación anotada de la slide «La diferencia de presión conserva dirección y signo»: Δp = p₁ - p₂; símbolos, Pa y dos resultados de signo opuesto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d3865d8efd414d">
            <a:extLst>
              <a:ext uri="{96DAC541-7B7A-43D3-8B79-37D633B846F1}">
                <asvg:svgBlip xmlns:asvg="http://schemas.microsoft.com/office/drawing/2016/SVG/main" r:embed="R2fd1cef15cc24cc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362200"/>
            <a:ext cx="10668000" cy="3352800"/>
          </a:xfrm>
          <a:prstGeom xmlns:a="http://schemas.openxmlformats.org/drawingml/2006/main" prst="rect">
            <a:avLst/>
          </a:prstGeom>
        </p:spPr>
      </p:pic>
      <p:sp>
        <p:nvSpPr>
          <p:cNvPr id="25" name="U02-027_caption">
            <a:extLst xmlns:a="http://schemas.openxmlformats.org/drawingml/2006/main">
              <a:ext uri="{FF2B5EF4-FFF2-40B4-BE49-F238E27FC236}">
                <a16:creationId xmlns:a16="http://schemas.microsoft.com/office/drawing/2014/main" id="{0CA56F13-1DE7-4586-94D0-B29BD0099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El orden p₁ - p₂ fija el signo respecto del eje elegido.</a:t>
            </a:r>
          </a:p>
        </p:txBody>
      </p:sp>
      <p:sp>
        <p:nvSpPr>
          <p:cNvPr id="26" name="U02-027_source">
            <a:extLst xmlns:a="http://schemas.openxmlformats.org/drawingml/2006/main">
              <a:ext uri="{FF2B5EF4-FFF2-40B4-BE49-F238E27FC236}">
                <a16:creationId xmlns:a16="http://schemas.microsoft.com/office/drawing/2014/main" id="{FFEF3596-8DFB-4CA3-B7A6-FA835B614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Marcador de número de diapositiva 17">
            <a:extLst xmlns:a="http://schemas.openxmlformats.org/drawingml/2006/main">
              <a:ext uri="{FF2B5EF4-FFF2-40B4-BE49-F238E27FC236}">
                <a16:creationId xmlns:a16="http://schemas.microsoft.com/office/drawing/2014/main" id="{FA71A55B-B389-7001-A9E1-319E4426EE2D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68AD4375-9F50-F53A-6F9F-DD8473067C05}" type="slidenum">
              <a:t>28</a:t>
            </a:fld>
          </a:p>
        </p:txBody>
      </p:sp>
      <p:sp>
        <p:nvSpPr>
          <p:cNvPr id="19" name="U02-028_eyebrow">
            <a:extLst xmlns:a="http://schemas.openxmlformats.org/drawingml/2006/main">
              <a:ext uri="{FF2B5EF4-FFF2-40B4-BE49-F238E27FC236}">
                <a16:creationId xmlns:a16="http://schemas.microsoft.com/office/drawing/2014/main" id="{28053C84-E997-440D-8E20-FE4C47321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PRESIÓN Y FUERZA</a:t>
            </a:r>
          </a:p>
        </p:txBody>
      </p:sp>
      <p:sp>
        <p:nvSpPr>
          <p:cNvPr id="20" name="U02-028_title">
            <a:extLst xmlns:a="http://schemas.openxmlformats.org/drawingml/2006/main">
              <a:ext uri="{FF2B5EF4-FFF2-40B4-BE49-F238E27FC236}">
                <a16:creationId xmlns:a16="http://schemas.microsoft.com/office/drawing/2014/main" id="{D57F3002-881D-4728-A2AC-8204D9A2F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fuerza depende de la diferencia de presión y del área</a:t>
            </a:r>
          </a:p>
        </p:txBody>
      </p:sp>
      <p:sp>
        <p:nvSpPr>
          <p:cNvPr id="21" name="U02-028_takeaway">
            <a:extLst xmlns:a="http://schemas.openxmlformats.org/drawingml/2006/main">
              <a:ext uri="{FF2B5EF4-FFF2-40B4-BE49-F238E27FC236}">
                <a16:creationId xmlns:a16="http://schemas.microsoft.com/office/drawing/2014/main" id="{23BBB503-01B4-492F-8279-D82BE3E19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Bajo presión uniforme,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F_pres = Δp·S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. La misma diferencia de presión produce una fuerza mayor cuando el área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es mayor.</a:t>
            </a:r>
          </a:p>
        </p:txBody>
      </p:sp>
      <p:sp>
        <p:nvSpPr>
          <p:cNvPr id="22" name="U02-028_equation_panel">
            <a:extLst xmlns:a="http://schemas.openxmlformats.org/drawingml/2006/main">
              <a:ext uri="{FF2B5EF4-FFF2-40B4-BE49-F238E27FC236}">
                <a16:creationId xmlns:a16="http://schemas.microsoft.com/office/drawing/2014/main" id="{DACB447E-85F3-47ED-88F3-4DBFC09BF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7165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23" name="U02-028_equation">
            <a:extLst xmlns:a="http://schemas.openxmlformats.org/drawingml/2006/main">
              <a:ext uri="{FF2B5EF4-FFF2-40B4-BE49-F238E27FC236}">
                <a16:creationId xmlns:a16="http://schemas.microsoft.com/office/drawing/2014/main" id="{BBF3EDE4-59A2-4EE7-BE0D-37ADBF0DE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80022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F_pres = Δp·S</a:t>
            </a:r>
          </a:p>
        </p:txBody>
      </p:sp>
      <p:pic>
        <p:nvPicPr>
          <p:cNvPr id="34" name="U02-028: Ecuación anotada de la slide «La fuerza depende de la diferencia de presión y del área»: Ecuación con S para continuidad con U1; símbolos, unidades e hipótesis." descr="U02-028: Ecuación anotada de la slide «La fuerza depende de la diferencia de presión y del área»: Ecuación con S para continuidad con U1; símbolos, unidades e hipótesis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ba5a96cf0c4d02">
            <a:extLst>
              <a:ext uri="{96DAC541-7B7A-43D3-8B79-37D633B846F1}">
                <asvg:svgBlip xmlns:asvg="http://schemas.microsoft.com/office/drawing/2016/SVG/main" r:embed="Rdab5ae39c1ba488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362200"/>
            <a:ext cx="10668000" cy="3352800"/>
          </a:xfrm>
          <a:prstGeom xmlns:a="http://schemas.openxmlformats.org/drawingml/2006/main" prst="rect">
            <a:avLst/>
          </a:prstGeom>
        </p:spPr>
      </p:pic>
      <p:sp>
        <p:nvSpPr>
          <p:cNvPr id="25" name="U02-028_caption">
            <a:extLst xmlns:a="http://schemas.openxmlformats.org/drawingml/2006/main">
              <a:ext uri="{FF2B5EF4-FFF2-40B4-BE49-F238E27FC236}">
                <a16:creationId xmlns:a16="http://schemas.microsoft.com/office/drawing/2014/main" id="{A75AE742-F8BC-4777-AD7A-FAD355BFE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misma Δp produce mayor fuerza sobre una superficie mayor, bajo presión uniforme.</a:t>
            </a:r>
          </a:p>
        </p:txBody>
      </p:sp>
      <p:sp>
        <p:nvSpPr>
          <p:cNvPr id="26" name="U02-028_source">
            <a:extLst xmlns:a="http://schemas.openxmlformats.org/drawingml/2006/main">
              <a:ext uri="{FF2B5EF4-FFF2-40B4-BE49-F238E27FC236}">
                <a16:creationId xmlns:a16="http://schemas.microsoft.com/office/drawing/2014/main" id="{CFB79710-AB1F-47AA-98EF-4D4AB22B8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Marcador de número de diapositiva 17">
            <a:extLst xmlns:a="http://schemas.openxmlformats.org/drawingml/2006/main">
              <a:ext uri="{FF2B5EF4-FFF2-40B4-BE49-F238E27FC236}">
                <a16:creationId xmlns:a16="http://schemas.microsoft.com/office/drawing/2014/main" id="{FA71A55B-B389-7001-A9E1-319E4426EE2D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41680313-6E64-04FF-399A-57B7CADE95A9}" type="slidenum">
              <a:t>29</a:t>
            </a:fld>
          </a:p>
        </p:txBody>
      </p:sp>
      <p:sp>
        <p:nvSpPr>
          <p:cNvPr id="19" name="U02-029_eyebrow">
            <a:extLst xmlns:a="http://schemas.openxmlformats.org/drawingml/2006/main">
              <a:ext uri="{FF2B5EF4-FFF2-40B4-BE49-F238E27FC236}">
                <a16:creationId xmlns:a16="http://schemas.microsoft.com/office/drawing/2014/main" id="{A1C05355-5DC3-4F65-8D0E-D37EB514E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PRESIÓN Y FUERZA</a:t>
            </a:r>
          </a:p>
        </p:txBody>
      </p:sp>
      <p:sp>
        <p:nvSpPr>
          <p:cNvPr id="20" name="U02-029_title">
            <a:extLst xmlns:a="http://schemas.openxmlformats.org/drawingml/2006/main">
              <a:ext uri="{FF2B5EF4-FFF2-40B4-BE49-F238E27FC236}">
                <a16:creationId xmlns:a16="http://schemas.microsoft.com/office/drawing/2014/main" id="{DB8A40C6-88E5-4214-A113-0D308496E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Pascal por metro cuadrado produce newtons</a:t>
            </a:r>
          </a:p>
        </p:txBody>
      </p:sp>
      <p:sp>
        <p:nvSpPr>
          <p:cNvPr id="21" name="U02-029_takeaway">
            <a:extLst xmlns:a="http://schemas.openxmlformats.org/drawingml/2006/main">
              <a:ext uri="{FF2B5EF4-FFF2-40B4-BE49-F238E27FC236}">
                <a16:creationId xmlns:a16="http://schemas.microsoft.com/office/drawing/2014/main" id="{5A92C89A-D061-45F6-9820-D8C861DA7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Pa·m² = (N/m²)·m² = N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. El análisis dimensional permite descartar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Δp/S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y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S/Δp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22" name="U02-029_equation_panel">
            <a:extLst xmlns:a="http://schemas.openxmlformats.org/drawingml/2006/main">
              <a:ext uri="{FF2B5EF4-FFF2-40B4-BE49-F238E27FC236}">
                <a16:creationId xmlns:a16="http://schemas.microsoft.com/office/drawing/2014/main" id="{89CCBFD4-A74C-4014-812D-4C1A36F07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0495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23" name="U02-029_equation">
            <a:extLst xmlns:a="http://schemas.openxmlformats.org/drawingml/2006/main">
              <a:ext uri="{FF2B5EF4-FFF2-40B4-BE49-F238E27FC236}">
                <a16:creationId xmlns:a16="http://schemas.microsoft.com/office/drawing/2014/main" id="{2F3A2795-C4F0-4C6D-A60C-9103C2FF3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53352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Pa·m² = (N/m²)·m² = N.</a:t>
            </a:r>
          </a:p>
        </p:txBody>
      </p:sp>
      <p:pic>
        <p:nvPicPr>
          <p:cNvPr id="34" name="U02-029: Ecuación anotada de la slide «Pascal por metro cuadrado produce newtons»: Pa·m² = N; dos opciones incorrectas Δp/S y S/Δp." descr="U02-029: Ecuación anotada de la slide «Pascal por metro cuadrado produce newtons»: Pa·m² = N; dos opciones incorrectas Δp/S y S/Δp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00ee9d2fa54036">
            <a:extLst>
              <a:ext uri="{96DAC541-7B7A-43D3-8B79-37D633B846F1}">
                <asvg:svgBlip xmlns:asvg="http://schemas.microsoft.com/office/drawing/2016/SVG/main" r:embed="Rae32afa1ab624b1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095500"/>
            <a:ext cx="10668000" cy="3619500"/>
          </a:xfrm>
          <a:prstGeom xmlns:a="http://schemas.openxmlformats.org/drawingml/2006/main" prst="rect">
            <a:avLst/>
          </a:prstGeom>
        </p:spPr>
      </p:pic>
      <p:sp>
        <p:nvSpPr>
          <p:cNvPr id="25" name="U02-029_caption">
            <a:extLst xmlns:a="http://schemas.openxmlformats.org/drawingml/2006/main">
              <a:ext uri="{FF2B5EF4-FFF2-40B4-BE49-F238E27FC236}">
                <a16:creationId xmlns:a16="http://schemas.microsoft.com/office/drawing/2014/main" id="{F583FEE3-501E-4961-997E-078A50A5E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Las unidades descartan relaciones físicamente incompatibles.</a:t>
            </a:r>
          </a:p>
        </p:txBody>
      </p:sp>
      <p:sp>
        <p:nvSpPr>
          <p:cNvPr id="26" name="U02-029_source">
            <a:extLst xmlns:a="http://schemas.openxmlformats.org/drawingml/2006/main">
              <a:ext uri="{FF2B5EF4-FFF2-40B4-BE49-F238E27FC236}">
                <a16:creationId xmlns:a16="http://schemas.microsoft.com/office/drawing/2014/main" id="{C0BB184C-4313-402D-9997-0E53E9C35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Marcador de número de diapositiva 23">
            <a:extLst xmlns:a="http://schemas.openxmlformats.org/drawingml/2006/main">
              <a:ext uri="{FF2B5EF4-FFF2-40B4-BE49-F238E27FC236}">
                <a16:creationId xmlns:a16="http://schemas.microsoft.com/office/drawing/2014/main" id="{D4631810-29E2-3802-8D4E-7DEAB08103EF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5FEBBBCE-9E16-527A-0EE3-E5839422D847}" type="slidenum">
              <a:t>30</a:t>
            </a:fld>
          </a:p>
        </p:txBody>
      </p:sp>
      <p:sp>
        <p:nvSpPr>
          <p:cNvPr id="25" name="U02-030_eyebrow">
            <a:extLst xmlns:a="http://schemas.openxmlformats.org/drawingml/2006/main">
              <a:ext uri="{FF2B5EF4-FFF2-40B4-BE49-F238E27FC236}">
                <a16:creationId xmlns:a16="http://schemas.microsoft.com/office/drawing/2014/main" id="{A08EAC19-C8AD-44BE-BABD-84144E185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PRESIÓN Y FUERZA</a:t>
            </a:r>
          </a:p>
        </p:txBody>
      </p:sp>
      <p:sp>
        <p:nvSpPr>
          <p:cNvPr id="26" name="U02-030_title">
            <a:extLst xmlns:a="http://schemas.openxmlformats.org/drawingml/2006/main">
              <a:ext uri="{FF2B5EF4-FFF2-40B4-BE49-F238E27FC236}">
                <a16:creationId xmlns:a16="http://schemas.microsoft.com/office/drawing/2014/main" id="{71D49D41-D374-4594-887F-C34B42DDA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De 0,50 Pa a 1,0×10⁻⁴ N</a:t>
            </a:r>
          </a:p>
        </p:txBody>
      </p:sp>
      <p:sp>
        <p:nvSpPr>
          <p:cNvPr id="27" name="U02-030_takeaway">
            <a:extLst xmlns:a="http://schemas.openxmlformats.org/drawingml/2006/main">
              <a:ext uri="{FF2B5EF4-FFF2-40B4-BE49-F238E27FC236}">
                <a16:creationId xmlns:a16="http://schemas.microsoft.com/office/drawing/2014/main" id="{A037397E-8CED-40B7-BBD7-D6D588670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7239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Datos e hipótesis: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diferencia de presión conocida, área conocida y presión uniforme.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Cálculo: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multiplicar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Δp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por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Resultado: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1,0×10⁻⁴ N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Alcance: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superficie ideal.</a:t>
            </a:r>
          </a:p>
        </p:txBody>
      </p:sp>
      <p:sp>
        <p:nvSpPr>
          <p:cNvPr id="28" name="U02-030_equation_panel">
            <a:extLst xmlns:a="http://schemas.openxmlformats.org/drawingml/2006/main">
              <a:ext uri="{FF2B5EF4-FFF2-40B4-BE49-F238E27FC236}">
                <a16:creationId xmlns:a16="http://schemas.microsoft.com/office/drawing/2014/main" id="{38148E55-15BB-4D8D-BA97-518D56320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0495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29" name="U02-030_equation">
            <a:extLst xmlns:a="http://schemas.openxmlformats.org/drawingml/2006/main">
              <a:ext uri="{FF2B5EF4-FFF2-40B4-BE49-F238E27FC236}">
                <a16:creationId xmlns:a16="http://schemas.microsoft.com/office/drawing/2014/main" id="{05F6E35A-0677-4C3E-98EC-579DECEC9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53352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400" b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F_pres = 1,0×10⁻⁴ N</a:t>
            </a:r>
          </a:p>
        </p:txBody>
      </p:sp>
      <p:pic>
        <p:nvPicPr>
          <p:cNvPr id="40" name="U02-030: Esquema mixto de la slide «De 0,50 Pa a 1,0×10⁻⁴ N»: Datos, hipótesis, cálculo y frase de alcance." descr="U02-030: Esquema mixto de la slide «De 0,50 Pa a 1,0×10⁻⁴ N»: Datos, hipótesis, cálculo y frase de alcance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06eaa1828e4edc">
            <a:extLst>
              <a:ext uri="{96DAC541-7B7A-43D3-8B79-37D633B846F1}">
                <asvg:svgBlip xmlns:asvg="http://schemas.microsoft.com/office/drawing/2016/SVG/main" r:embed="R7390ce9614ab4bd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771775"/>
            <a:ext cx="10668000" cy="2943225"/>
          </a:xfrm>
          <a:prstGeom xmlns:a="http://schemas.openxmlformats.org/drawingml/2006/main" prst="rect">
            <a:avLst/>
          </a:prstGeom>
        </p:spPr>
      </p:pic>
      <p:sp>
        <p:nvSpPr>
          <p:cNvPr id="31" name="U02-030_caption">
            <a:extLst xmlns:a="http://schemas.openxmlformats.org/drawingml/2006/main">
              <a:ext uri="{FF2B5EF4-FFF2-40B4-BE49-F238E27FC236}">
                <a16:creationId xmlns:a16="http://schemas.microsoft.com/office/drawing/2014/main" id="{88850D00-FED3-477B-A553-714AA3E48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El resultado pertenece al sistema ideal y no es un valor universal del tímpano.</a:t>
            </a:r>
          </a:p>
        </p:txBody>
      </p:sp>
      <p:sp>
        <p:nvSpPr>
          <p:cNvPr id="32" name="U02-030_source">
            <a:extLst xmlns:a="http://schemas.openxmlformats.org/drawingml/2006/main">
              <a:ext uri="{FF2B5EF4-FFF2-40B4-BE49-F238E27FC236}">
                <a16:creationId xmlns:a16="http://schemas.microsoft.com/office/drawing/2014/main" id="{CA987F77-8B66-431B-B269-3731DA2F8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1133635661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Marcador de número de diapositiva 14">
            <a:extLst xmlns:a="http://schemas.openxmlformats.org/drawingml/2006/main">
              <a:ext uri="{FF2B5EF4-FFF2-40B4-BE49-F238E27FC236}">
                <a16:creationId xmlns:a16="http://schemas.microsoft.com/office/drawing/2014/main" id="{8DADC982-ECBE-DC77-CD69-BF0C0D93F5BB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D172A7C5-A0CC-7B36-F236-345181E6AD72}" type="slidenum">
              <a:t>31</a:t>
            </a:fld>
          </a:p>
        </p:txBody>
      </p:sp>
      <p:sp>
        <p:nvSpPr>
          <p:cNvPr id="16" name="U02-031_eyebrow">
            <a:extLst xmlns:a="http://schemas.openxmlformats.org/drawingml/2006/main">
              <a:ext uri="{FF2B5EF4-FFF2-40B4-BE49-F238E27FC236}">
                <a16:creationId xmlns:a16="http://schemas.microsoft.com/office/drawing/2014/main" id="{8795A203-4A9E-4CBC-965D-B86C88062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PRESIÓN Y FUERZA</a:t>
            </a:r>
          </a:p>
        </p:txBody>
      </p:sp>
      <p:sp>
        <p:nvSpPr>
          <p:cNvPr id="17" name="U02-031_title">
            <a:extLst xmlns:a="http://schemas.openxmlformats.org/drawingml/2006/main">
              <a:ext uri="{FF2B5EF4-FFF2-40B4-BE49-F238E27FC236}">
                <a16:creationId xmlns:a16="http://schemas.microsoft.com/office/drawing/2014/main" id="{CDC87EB1-E212-48E9-B07B-4126FC96F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membrana timpánica recibe una fuerza distribuida</a:t>
            </a:r>
          </a:p>
        </p:txBody>
      </p:sp>
      <p:sp>
        <p:nvSpPr>
          <p:cNvPr id="18" name="U02-031_takeaway">
            <a:extLst xmlns:a="http://schemas.openxmlformats.org/drawingml/2006/main">
              <a:ext uri="{FF2B5EF4-FFF2-40B4-BE49-F238E27FC236}">
                <a16:creationId xmlns:a16="http://schemas.microsoft.com/office/drawing/2014/main" id="{B519613F-A3FC-4E9F-9808-A144FC39C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Permite razonar: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una diferencia de presión ejerce fuerza distribuida.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No representa: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geometría real, presión espacialmente uniforme ni movimiento rígido de toda la membrana.</a:t>
            </a:r>
          </a:p>
        </p:txBody>
      </p:sp>
      <p:pic>
        <p:nvPicPr>
          <p:cNvPr id="27" name="U02-031: Diagrama de la slide «La membrana timpánica recibe una fuerza distribuida»: Concepto físico, aplicación y tres límites: geometría, presión no uniforme, movimiento distribuido." descr="U02-031: Diagrama de la slide «La membrana timpánica recibe una fuerza distribuida»: Concepto físico, aplicación y tres límites: geometría, presión no uniforme, movimiento distribuido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e622af5587451e">
            <a:extLst>
              <a:ext uri="{96DAC541-7B7A-43D3-8B79-37D633B846F1}">
                <asvg:svgBlip xmlns:asvg="http://schemas.microsoft.com/office/drawing/2016/SVG/main" r:embed="R4f69bf51faa5418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324100"/>
            <a:ext cx="10668000" cy="3390900"/>
          </a:xfrm>
          <a:prstGeom xmlns:a="http://schemas.openxmlformats.org/drawingml/2006/main" prst="rect">
            <a:avLst/>
          </a:prstGeom>
        </p:spPr>
      </p:pic>
      <p:sp>
        <p:nvSpPr>
          <p:cNvPr id="20" name="U02-031_caption">
            <a:extLst xmlns:a="http://schemas.openxmlformats.org/drawingml/2006/main">
              <a:ext uri="{FF2B5EF4-FFF2-40B4-BE49-F238E27FC236}">
                <a16:creationId xmlns:a16="http://schemas.microsoft.com/office/drawing/2014/main" id="{6E2502BC-EFA4-42E7-9BBA-7158D5AE2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relación presión–área ayuda a razonar, pero la membrana real tiene propiedades distribuidas. Esquema conceptual; no está a escala.</a:t>
            </a:r>
          </a:p>
        </p:txBody>
      </p:sp>
      <p:sp>
        <p:nvSpPr>
          <p:cNvPr id="21" name="U02-031_source">
            <a:extLst xmlns:a="http://schemas.openxmlformats.org/drawingml/2006/main">
              <a:ext uri="{FF2B5EF4-FFF2-40B4-BE49-F238E27FC236}">
                <a16:creationId xmlns:a16="http://schemas.microsoft.com/office/drawing/2014/main" id="{EB3F698E-115A-4278-9301-57E8EDCC8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Marcador de número de diapositiva 19">
            <a:extLst xmlns:a="http://schemas.openxmlformats.org/drawingml/2006/main">
              <a:ext uri="{FF2B5EF4-FFF2-40B4-BE49-F238E27FC236}">
                <a16:creationId xmlns:a16="http://schemas.microsoft.com/office/drawing/2014/main" id="{18081493-A553-AC13-4BA5-17CFA71BB2B5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66C3428B-053E-6B4E-39FF-75B44F3F33F6}" type="slidenum">
              <a:t>32</a:t>
            </a:fld>
          </a:p>
        </p:txBody>
      </p:sp>
      <p:sp>
        <p:nvSpPr>
          <p:cNvPr id="21" name="U02-032_eyebrow">
            <a:extLst xmlns:a="http://schemas.openxmlformats.org/drawingml/2006/main">
              <a:ext uri="{FF2B5EF4-FFF2-40B4-BE49-F238E27FC236}">
                <a16:creationId xmlns:a16="http://schemas.microsoft.com/office/drawing/2014/main" id="{1107572B-362A-4400-AE06-33E3BCF8A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PRESIÓN Y FUERZA</a:t>
            </a:r>
          </a:p>
        </p:txBody>
      </p:sp>
      <p:sp>
        <p:nvSpPr>
          <p:cNvPr id="22" name="U02-032_title">
            <a:extLst xmlns:a="http://schemas.openxmlformats.org/drawingml/2006/main">
              <a:ext uri="{FF2B5EF4-FFF2-40B4-BE49-F238E27FC236}">
                <a16:creationId xmlns:a16="http://schemas.microsoft.com/office/drawing/2014/main" id="{71F738F7-DC52-49AF-80AC-903D6562A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Hasta acá: de la presión al movimiento</a:t>
            </a:r>
          </a:p>
        </p:txBody>
      </p:sp>
      <p:sp>
        <p:nvSpPr>
          <p:cNvPr id="23" name="U02-032_takeaway">
            <a:extLst xmlns:a="http://schemas.openxmlformats.org/drawingml/2006/main">
              <a:ext uri="{FF2B5EF4-FFF2-40B4-BE49-F238E27FC236}">
                <a16:creationId xmlns:a16="http://schemas.microsoft.com/office/drawing/2014/main" id="{127BC8D2-7FFD-422A-A62B-B56543EFB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Δp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(Pa) →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F_pres = Δp·S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(N) →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 = F_neta/m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(m/s²). Cada flecha exige una relación física y unidades compatibles.</a:t>
            </a:r>
          </a:p>
        </p:txBody>
      </p:sp>
      <p:sp>
        <p:nvSpPr>
          <p:cNvPr id="24" name="U02-032_equation_panel">
            <a:extLst xmlns:a="http://schemas.openxmlformats.org/drawingml/2006/main">
              <a:ext uri="{FF2B5EF4-FFF2-40B4-BE49-F238E27FC236}">
                <a16:creationId xmlns:a16="http://schemas.microsoft.com/office/drawing/2014/main" id="{C9EDE32E-EC1B-4BCB-96FC-6BC7B6409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0495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25" name="U02-032_equation">
            <a:extLst xmlns:a="http://schemas.openxmlformats.org/drawingml/2006/main">
              <a:ext uri="{FF2B5EF4-FFF2-40B4-BE49-F238E27FC236}">
                <a16:creationId xmlns:a16="http://schemas.microsoft.com/office/drawing/2014/main" id="{3BCDB1BB-7384-4B33-89E4-A74A39DE3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53352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Δp = p_1 − p_2 → F_pres = Δp·S → a = F_neta/m.</a:t>
            </a:r>
          </a:p>
        </p:txBody>
      </p:sp>
      <p:pic>
        <p:nvPicPr>
          <p:cNvPr id="36" name="U02-032: Diagrama de la slide «Hasta acá: de la presión al movimiento»: Tres relaciones y pregunta de control sobre duplicar el área." descr="U02-032: Diagrama de la slide «Hasta acá: de la presión al movimiento»: Tres relaciones y pregunta de control sobre duplicar el área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9fd8c6fe434867">
            <a:extLst>
              <a:ext uri="{96DAC541-7B7A-43D3-8B79-37D633B846F1}">
                <asvg:svgBlip xmlns:asvg="http://schemas.microsoft.com/office/drawing/2016/SVG/main" r:embed="Rdb017e771da64a7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095500"/>
            <a:ext cx="10668000" cy="3619500"/>
          </a:xfrm>
          <a:prstGeom xmlns:a="http://schemas.openxmlformats.org/drawingml/2006/main" prst="rect">
            <a:avLst/>
          </a:prstGeom>
        </p:spPr>
      </p:pic>
      <p:sp>
        <p:nvSpPr>
          <p:cNvPr id="27" name="U02-032_caption">
            <a:extLst xmlns:a="http://schemas.openxmlformats.org/drawingml/2006/main">
              <a:ext uri="{FF2B5EF4-FFF2-40B4-BE49-F238E27FC236}">
                <a16:creationId xmlns:a16="http://schemas.microsoft.com/office/drawing/2014/main" id="{EF8DA622-F291-4200-AE9F-0D5364EC8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Presión, área, fuerza neta y aceleración forman una cadena con unidades distintas.</a:t>
            </a:r>
          </a:p>
        </p:txBody>
      </p:sp>
      <p:sp>
        <p:nvSpPr>
          <p:cNvPr id="28" name="U02-032_source">
            <a:extLst xmlns:a="http://schemas.openxmlformats.org/drawingml/2006/main">
              <a:ext uri="{FF2B5EF4-FFF2-40B4-BE49-F238E27FC236}">
                <a16:creationId xmlns:a16="http://schemas.microsoft.com/office/drawing/2014/main" id="{21715094-720A-4EDD-B363-DE24AB671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Marcador de número de diapositiva 8">
            <a:extLst xmlns:a="http://schemas.openxmlformats.org/drawingml/2006/main">
              <a:ext uri="{FF2B5EF4-FFF2-40B4-BE49-F238E27FC236}">
                <a16:creationId xmlns:a16="http://schemas.microsoft.com/office/drawing/2014/main" id="{208C11FF-1310-C67B-A471-A3573013EA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59F9B2FD-F323-2D0A-D581-D6E61055F9A8}" type="slidenum">
              <a:t>33</a:t>
            </a:fld>
          </a:p>
        </p:txBody>
      </p:sp>
      <p:sp>
        <p:nvSpPr>
          <p:cNvPr id="10" name="U02-033_eyebrow">
            <a:extLst xmlns:a="http://schemas.openxmlformats.org/drawingml/2006/main">
              <a:ext uri="{FF2B5EF4-FFF2-40B4-BE49-F238E27FC236}">
                <a16:creationId xmlns:a16="http://schemas.microsoft.com/office/drawing/2014/main" id="{F1BD4A15-3455-4799-827A-EE8B80E1B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UNIDAD 2 · RESPUESTA MECÁNICA</a:t>
            </a:r>
          </a:p>
        </p:txBody>
      </p:sp>
      <p:sp>
        <p:nvSpPr>
          <p:cNvPr id="11" name="U02-033_title">
            <a:extLst xmlns:a="http://schemas.openxmlformats.org/drawingml/2006/main">
              <a:ext uri="{FF2B5EF4-FFF2-40B4-BE49-F238E27FC236}">
                <a16:creationId xmlns:a16="http://schemas.microsoft.com/office/drawing/2014/main" id="{DB9D6924-28B8-4138-A901-2BA8ABF89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9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Masa, elasticidad y amortiguamiento explican respuestas diferentes</a:t>
            </a:r>
          </a:p>
        </p:txBody>
      </p:sp>
      <p:sp>
        <p:nvSpPr>
          <p:cNvPr id="12" name="U02-033_guide">
            <a:extLst xmlns:a="http://schemas.openxmlformats.org/drawingml/2006/main">
              <a:ext uri="{FF2B5EF4-FFF2-40B4-BE49-F238E27FC236}">
                <a16:creationId xmlns:a16="http://schemas.microsoft.com/office/drawing/2014/main" id="{6BF3A909-08CA-42AB-A53D-A2E93D099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9334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8"/>
              </a:spcAft>
              <a:buNone/>
              <a:defRPr sz="22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Pregunta guía:</a:t>
            </a:r>
            <a:r>
              <a:rPr sz="22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¿por qué un sistema puede volver al equilibrio, oscilar y finalmente detenerse?</a:t>
            </a:r>
          </a:p>
        </p:txBody>
      </p:sp>
      <p:sp>
        <p:nvSpPr>
          <p:cNvPr id="13" name="U02-033_subtitle">
            <a:extLst xmlns:a="http://schemas.openxmlformats.org/drawingml/2006/main">
              <a:ext uri="{FF2B5EF4-FFF2-40B4-BE49-F238E27FC236}">
                <a16:creationId xmlns:a16="http://schemas.microsoft.com/office/drawing/2014/main" id="{3D270BD9-6CBC-4514-85DE-C356B942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800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E8DDE4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E8DDE4"/>
                </a:solidFill>
                <a:latin typeface="Calibri"/>
                <a:ea typeface="Calibri"/>
                <a:cs typeface="Calibri"/>
              </a:rPr>
              <a:t>Pregunta guía del bloque.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Marcador de número de diapositiva 14">
            <a:extLst xmlns:a="http://schemas.openxmlformats.org/drawingml/2006/main">
              <a:ext uri="{FF2B5EF4-FFF2-40B4-BE49-F238E27FC236}">
                <a16:creationId xmlns:a16="http://schemas.microsoft.com/office/drawing/2014/main" id="{817719D9-501B-28AD-B78E-917C652F4997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D6C2EC43-E3B9-C9B0-67FF-5447EB7F3925}" type="slidenum">
              <a:t>34</a:t>
            </a:fld>
          </a:p>
        </p:txBody>
      </p:sp>
      <p:sp>
        <p:nvSpPr>
          <p:cNvPr id="16" name="U02-034_eyebrow">
            <a:extLst xmlns:a="http://schemas.openxmlformats.org/drawingml/2006/main">
              <a:ext uri="{FF2B5EF4-FFF2-40B4-BE49-F238E27FC236}">
                <a16:creationId xmlns:a16="http://schemas.microsoft.com/office/drawing/2014/main" id="{ECFE69A2-2035-4985-8206-E17A8011B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RESPUESTA MECÁNICA</a:t>
            </a:r>
          </a:p>
        </p:txBody>
      </p:sp>
      <p:sp>
        <p:nvSpPr>
          <p:cNvPr id="17" name="U02-034_title">
            <a:extLst xmlns:a="http://schemas.openxmlformats.org/drawingml/2006/main">
              <a:ext uri="{FF2B5EF4-FFF2-40B4-BE49-F238E27FC236}">
                <a16:creationId xmlns:a16="http://schemas.microsoft.com/office/drawing/2014/main" id="{DC91E473-CC19-451D-87CB-EB74FBEC2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Observe qué cambia cuando aumenta el amortiguamiento</a:t>
            </a:r>
          </a:p>
        </p:txBody>
      </p:sp>
      <p:sp>
        <p:nvSpPr>
          <p:cNvPr id="18" name="U02-034_static_panel">
            <a:extLst xmlns:a="http://schemas.openxmlformats.org/drawingml/2006/main">
              <a:ext uri="{FF2B5EF4-FFF2-40B4-BE49-F238E27FC236}">
                <a16:creationId xmlns:a16="http://schemas.microsoft.com/office/drawing/2014/main" id="{69EE56CE-B759-4E8D-B57B-5343E3DE2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24050"/>
            <a:ext cx="102870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2F7E83"/>
            </a:solidFill>
            <a:prstDash val="solid"/>
          </a:ln>
        </p:spPr>
      </p:sp>
      <p:sp>
        <p:nvSpPr>
          <p:cNvPr id="19" name="U02-034_static_text">
            <a:extLst xmlns:a="http://schemas.openxmlformats.org/drawingml/2006/main">
              <a:ext uri="{FF2B5EF4-FFF2-40B4-BE49-F238E27FC236}">
                <a16:creationId xmlns:a16="http://schemas.microsoft.com/office/drawing/2014/main" id="{8F8CDC10-890B-432A-9270-13C12DC0E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247900"/>
            <a:ext cx="9620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8"/>
              </a:spcAft>
              <a:buNone/>
              <a:defRPr sz="21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Prediga:</a:t>
            </a:r>
            <a:r>
              <a:rPr sz="21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¿qué sistema mantendrá la oscilación durante más tiempo?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8"/>
              </a:spcAft>
              <a:buNone/>
              <a:defRPr sz="21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Observe:</a:t>
            </a:r>
            <a:r>
              <a:rPr sz="21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igual masa y rigidez, distinto amortiguamiento.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8"/>
              </a:spcAft>
              <a:buNone/>
              <a:defRPr sz="21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Compare:</a:t>
            </a:r>
            <a:r>
              <a:rPr sz="21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rapidez de decaimiento.</a:t>
            </a:r>
          </a:p>
        </p:txBody>
      </p:sp>
      <p:sp>
        <p:nvSpPr>
          <p:cNvPr id="20" name="U02-034_media_status">
            <a:extLst xmlns:a="http://schemas.openxmlformats.org/drawingml/2006/main">
              <a:ext uri="{FF2B5EF4-FFF2-40B4-BE49-F238E27FC236}">
                <a16:creationId xmlns:a16="http://schemas.microsoft.com/office/drawing/2014/main" id="{67CDFAF6-7A0A-4ED5-8D4E-416266762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9339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Alternativa estática incluida. El recurso audiovisual propio continúa pendiente.</a:t>
            </a:r>
          </a:p>
        </p:txBody>
      </p:sp>
      <p:sp>
        <p:nvSpPr>
          <p:cNvPr id="21" name="U02-034_phet_link">
            <a:extLst xmlns:a="http://schemas.openxmlformats.org/drawingml/2006/main">
              <a:ext uri="{FF2B5EF4-FFF2-40B4-BE49-F238E27FC236}">
                <a16:creationId xmlns:a16="http://schemas.microsoft.com/office/drawing/2014/main" id="{7424CF30-4BF4-4B29-BEFB-3F31767C9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486400"/>
            <a:ext cx="962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023E7C"/>
                </a:solidFill>
                <a:latin typeface="Calibri"/>
                <a:ea typeface="Calibri"/>
                <a:cs typeface="Calibri"/>
              </a:defRPr>
            </a:pPr>
            <a:r>
              <a:rPr sz="1500" b="0" u="sng">
                <a:solidFill>
                  <a:srgbClr val="023E7C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ed8a8df15b2643f4"/>
              </a:rPr>
              <a:t>Abrir simulación PhET: Masas y Resortes — Fundamentos</a:t>
            </a:r>
          </a:p>
        </p:txBody>
      </p:sp>
    </p:spTree>
    <p:extLst>
      <p:ext uri="{BB962C8B-B14F-4D97-AF65-F5344CB8AC3E}">
        <p14:creationId xmlns:p14="http://schemas.microsoft.com/office/powerpoint/2010/main" val="1046213385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Marcador de número de diapositiva 25">
            <a:extLst xmlns:a="http://schemas.openxmlformats.org/drawingml/2006/main">
              <a:ext uri="{FF2B5EF4-FFF2-40B4-BE49-F238E27FC236}">
                <a16:creationId xmlns:a16="http://schemas.microsoft.com/office/drawing/2014/main" id="{AB9938E4-BE03-A7BA-4A48-E6E4907240D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4A4FA566-8B12-6DD2-DDB5-FA6393938FB6}" type="slidenum">
              <a:t>35</a:t>
            </a:fld>
          </a:p>
        </p:txBody>
      </p:sp>
      <p:sp>
        <p:nvSpPr>
          <p:cNvPr id="27" name="U02-035_eyebrow">
            <a:extLst xmlns:a="http://schemas.openxmlformats.org/drawingml/2006/main">
              <a:ext uri="{FF2B5EF4-FFF2-40B4-BE49-F238E27FC236}">
                <a16:creationId xmlns:a16="http://schemas.microsoft.com/office/drawing/2014/main" id="{FF4526FF-2063-40C8-9086-A836DCE9E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RESPUESTA MECÁNICA</a:t>
            </a:r>
          </a:p>
        </p:txBody>
      </p:sp>
      <p:sp>
        <p:nvSpPr>
          <p:cNvPr id="28" name="U02-035_title">
            <a:extLst xmlns:a="http://schemas.openxmlformats.org/drawingml/2006/main">
              <a:ext uri="{FF2B5EF4-FFF2-40B4-BE49-F238E27FC236}">
                <a16:creationId xmlns:a16="http://schemas.microsoft.com/office/drawing/2014/main" id="{B778B6C9-B15E-46AD-90B2-643670510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Tres propiedades, tres efectos</a:t>
            </a:r>
          </a:p>
        </p:txBody>
      </p:sp>
      <p:sp>
        <p:nvSpPr>
          <p:cNvPr id="29" name="U02-035_takeaway">
            <a:extLst xmlns:a="http://schemas.openxmlformats.org/drawingml/2006/main">
              <a:ext uri="{FF2B5EF4-FFF2-40B4-BE49-F238E27FC236}">
                <a16:creationId xmlns:a16="http://schemas.microsoft.com/office/drawing/2014/main" id="{C7393461-C65B-4F0F-9CD9-17A5940C8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Masa: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se opone a cambios de velocidad.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Elasticidad: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genera retorno.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Amortiguamiento: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se opone al movimiento y disipa energía.</a:t>
            </a:r>
          </a:p>
        </p:txBody>
      </p:sp>
      <p:pic>
        <p:nvPicPr>
          <p:cNvPr id="38" name="U02-035: Diagrama de la slide «Tres propiedades, tres efectos»: Masa → inercia; elasticidad → retorno; amortiguamiento → disipación." descr="U02-035: Diagrama de la slide «Tres propiedades, tres efectos»: Masa → inercia; elasticidad → retorno; amortiguamiento → disipación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c2e6f1be144329">
            <a:extLst>
              <a:ext uri="{96DAC541-7B7A-43D3-8B79-37D633B846F1}">
                <asvg:svgBlip xmlns:asvg="http://schemas.microsoft.com/office/drawing/2016/SVG/main" r:embed="R2afa6f405fe1422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295525"/>
            <a:ext cx="10668000" cy="3419475"/>
          </a:xfrm>
          <a:prstGeom xmlns:a="http://schemas.openxmlformats.org/drawingml/2006/main" prst="rect">
            <a:avLst/>
          </a:prstGeom>
        </p:spPr>
      </p:pic>
      <p:sp>
        <p:nvSpPr>
          <p:cNvPr id="31" name="U02-035_caption">
            <a:extLst xmlns:a="http://schemas.openxmlformats.org/drawingml/2006/main">
              <a:ext uri="{FF2B5EF4-FFF2-40B4-BE49-F238E27FC236}">
                <a16:creationId xmlns:a16="http://schemas.microsoft.com/office/drawing/2014/main" id="{32EC7B87-B4C7-48BF-A0C8-5DF484BF2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Cada propiedad responde una pregunta distinta.</a:t>
            </a:r>
          </a:p>
        </p:txBody>
      </p:sp>
      <p:sp>
        <p:nvSpPr>
          <p:cNvPr id="32" name="U02-035_source">
            <a:extLst xmlns:a="http://schemas.openxmlformats.org/drawingml/2006/main">
              <a:ext uri="{FF2B5EF4-FFF2-40B4-BE49-F238E27FC236}">
                <a16:creationId xmlns:a16="http://schemas.microsoft.com/office/drawing/2014/main" id="{C5540A32-AA76-4627-B4D5-8795C1E4D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1271479030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Marcador de número de diapositiva 17">
            <a:extLst xmlns:a="http://schemas.openxmlformats.org/drawingml/2006/main">
              <a:ext uri="{FF2B5EF4-FFF2-40B4-BE49-F238E27FC236}">
                <a16:creationId xmlns:a16="http://schemas.microsoft.com/office/drawing/2014/main" id="{2630458C-F90C-62F1-3891-6CBC98AF2192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E39A338D-B192-3127-EB9A-53A2665A0BB7}" type="slidenum">
              <a:t>36</a:t>
            </a:fld>
          </a:p>
        </p:txBody>
      </p:sp>
      <p:sp>
        <p:nvSpPr>
          <p:cNvPr id="19" name="U02-036_eyebrow">
            <a:extLst xmlns:a="http://schemas.openxmlformats.org/drawingml/2006/main">
              <a:ext uri="{FF2B5EF4-FFF2-40B4-BE49-F238E27FC236}">
                <a16:creationId xmlns:a16="http://schemas.microsoft.com/office/drawing/2014/main" id="{41742577-1FAE-4C46-A9D5-F30AC43D3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RESPUESTA MECÁNICA</a:t>
            </a:r>
          </a:p>
        </p:txBody>
      </p:sp>
      <p:sp>
        <p:nvSpPr>
          <p:cNvPr id="20" name="U02-036_title">
            <a:extLst xmlns:a="http://schemas.openxmlformats.org/drawingml/2006/main">
              <a:ext uri="{FF2B5EF4-FFF2-40B4-BE49-F238E27FC236}">
                <a16:creationId xmlns:a16="http://schemas.microsoft.com/office/drawing/2014/main" id="{3E5CBE58-E528-4D90-B4DD-EF143C2A6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masa cuantifica la inercia</a:t>
            </a:r>
          </a:p>
        </p:txBody>
      </p:sp>
      <p:sp>
        <p:nvSpPr>
          <p:cNvPr id="21" name="U02-036_takeaway">
            <a:extLst xmlns:a="http://schemas.openxmlformats.org/drawingml/2006/main">
              <a:ext uri="{FF2B5EF4-FFF2-40B4-BE49-F238E27FC236}">
                <a16:creationId xmlns:a16="http://schemas.microsoft.com/office/drawing/2014/main" id="{B7E3B3E2-AD62-4194-B02E-8491B0A6C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 masa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mide la inercia. Con la misma fuerza neta, una masa mayor presenta una aceleración menor.</a:t>
            </a:r>
          </a:p>
        </p:txBody>
      </p:sp>
      <p:pic>
        <p:nvPicPr>
          <p:cNvPr id="30" name="U02-036: Diagrama de la slide «La masa cuantifica la inercia»: Definición, unidad y comparación cualitativa." descr="U02-036: Diagrama de la slide «La masa cuantifica la inercia»: Definición, unidad y comparación cualitativa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a56ea673774a0e"/>
          <a:stretch xmlns:a="http://schemas.openxmlformats.org/drawingml/2006/main"/>
        </p:blipFill>
        <p:spPr>
          <a:xfrm xmlns:a="http://schemas.openxmlformats.org/drawingml/2006/main" flipH="0" flipV="0">
            <a:off x="762000" y="2038350"/>
            <a:ext cx="10668000" cy="3676650"/>
          </a:xfrm>
          <a:prstGeom xmlns:a="http://schemas.openxmlformats.org/drawingml/2006/main" prst="rect">
            <a:avLst/>
          </a:prstGeom>
        </p:spPr>
      </p:pic>
      <p:sp>
        <p:nvSpPr>
          <p:cNvPr id="23" name="U02-036_caption">
            <a:extLst xmlns:a="http://schemas.openxmlformats.org/drawingml/2006/main">
              <a:ext uri="{FF2B5EF4-FFF2-40B4-BE49-F238E27FC236}">
                <a16:creationId xmlns:a16="http://schemas.microsoft.com/office/drawing/2014/main" id="{D997A7CB-A1C4-4CDD-A94A-357B25D0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A igualdad de resultante, mayor masa implica menor aceleración.</a:t>
            </a:r>
          </a:p>
        </p:txBody>
      </p:sp>
      <p:sp>
        <p:nvSpPr>
          <p:cNvPr id="24" name="U02-036_source">
            <a:extLst xmlns:a="http://schemas.openxmlformats.org/drawingml/2006/main">
              <a:ext uri="{FF2B5EF4-FFF2-40B4-BE49-F238E27FC236}">
                <a16:creationId xmlns:a16="http://schemas.microsoft.com/office/drawing/2014/main" id="{81830327-0AED-411C-8423-B5ADDF6A2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40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40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 a partir del modelo del curso; escala lineal.</a:t>
            </a:r>
          </a:p>
        </p:txBody>
      </p:sp>
    </p:spTree>
    <p:extLst>
      <p:ext uri="{BB962C8B-B14F-4D97-AF65-F5344CB8AC3E}">
        <p14:creationId xmlns:p14="http://schemas.microsoft.com/office/powerpoint/2010/main" val="1926975773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Marcador de número de diapositiva 20">
            <a:extLst xmlns:a="http://schemas.openxmlformats.org/drawingml/2006/main">
              <a:ext uri="{FF2B5EF4-FFF2-40B4-BE49-F238E27FC236}">
                <a16:creationId xmlns:a16="http://schemas.microsoft.com/office/drawing/2014/main" id="{9CA9596E-D94D-48D7-199C-CC38FBB01EFD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8D334276-4C85-190E-BA41-5CA1CBB04E4E}" type="slidenum">
              <a:t>37</a:t>
            </a:fld>
          </a:p>
        </p:txBody>
      </p:sp>
      <p:sp>
        <p:nvSpPr>
          <p:cNvPr id="22" name="U02-037_eyebrow">
            <a:extLst xmlns:a="http://schemas.openxmlformats.org/drawingml/2006/main">
              <a:ext uri="{FF2B5EF4-FFF2-40B4-BE49-F238E27FC236}">
                <a16:creationId xmlns:a16="http://schemas.microsoft.com/office/drawing/2014/main" id="{D2CAADAD-F4C5-42D8-93EB-FC74204CF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RESPUESTA MECÁNICA</a:t>
            </a:r>
          </a:p>
        </p:txBody>
      </p:sp>
      <p:sp>
        <p:nvSpPr>
          <p:cNvPr id="23" name="U02-037_title">
            <a:extLst xmlns:a="http://schemas.openxmlformats.org/drawingml/2006/main">
              <a:ext uri="{FF2B5EF4-FFF2-40B4-BE49-F238E27FC236}">
                <a16:creationId xmlns:a16="http://schemas.microsoft.com/office/drawing/2014/main" id="{A1A753F3-B02E-4296-AEA5-8D6100ECE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elasticidad produce una fuerza restauradora</a:t>
            </a:r>
          </a:p>
        </p:txBody>
      </p:sp>
      <p:sp>
        <p:nvSpPr>
          <p:cNvPr id="24" name="U02-037_takeaway">
            <a:extLst xmlns:a="http://schemas.openxmlformats.org/drawingml/2006/main">
              <a:ext uri="{FF2B5EF4-FFF2-40B4-BE49-F238E27FC236}">
                <a16:creationId xmlns:a16="http://schemas.microsoft.com/office/drawing/2014/main" id="{A9A320FA-E7EF-487A-91CA-2A16A7836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Si el sistema se aparta del equilibrio, la fuerza elástica apunta en sentido contrario al desplazamiento y tiende a hacerlo regresar.</a:t>
            </a:r>
          </a:p>
        </p:txBody>
      </p:sp>
      <p:pic>
        <p:nvPicPr>
          <p:cNvPr id="33" name="U02-037: Diagrama de la slide «La elasticidad produce una fuerza restauradora»: Posición de equilibrio, desplazamiento positivo/negativo y sentido de retorno." descr="U02-037: Diagrama de la slide «La elasticidad produce una fuerza restauradora»: Posición de equilibrio, desplazamiento positivo/negativo y sentido de retorno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61239562094927">
            <a:extLst>
              <a:ext uri="{96DAC541-7B7A-43D3-8B79-37D633B846F1}">
                <asvg:svgBlip xmlns:asvg="http://schemas.microsoft.com/office/drawing/2016/SVG/main" r:embed="R9e76199308d348f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057400"/>
            <a:ext cx="10668000" cy="3657600"/>
          </a:xfrm>
          <a:prstGeom xmlns:a="http://schemas.openxmlformats.org/drawingml/2006/main" prst="rect">
            <a:avLst/>
          </a:prstGeom>
        </p:spPr>
      </p:pic>
      <p:sp>
        <p:nvSpPr>
          <p:cNvPr id="26" name="U02-037_caption">
            <a:extLst xmlns:a="http://schemas.openxmlformats.org/drawingml/2006/main">
              <a:ext uri="{FF2B5EF4-FFF2-40B4-BE49-F238E27FC236}">
                <a16:creationId xmlns:a16="http://schemas.microsoft.com/office/drawing/2014/main" id="{DAA2318F-88EC-4CAD-9EE6-1BD80A3E9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Al separarse del equilibrio aparece una fuerza que apunta hacia él. Esquema conceptual; no está a escala.</a:t>
            </a:r>
          </a:p>
        </p:txBody>
      </p:sp>
      <p:sp>
        <p:nvSpPr>
          <p:cNvPr id="27" name="U02-037_source">
            <a:extLst xmlns:a="http://schemas.openxmlformats.org/drawingml/2006/main">
              <a:ext uri="{FF2B5EF4-FFF2-40B4-BE49-F238E27FC236}">
                <a16:creationId xmlns:a16="http://schemas.microsoft.com/office/drawing/2014/main" id="{E49E4EF4-C492-40BF-9336-881857E64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1687263069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Marcador de número de diapositiva 17">
            <a:extLst xmlns:a="http://schemas.openxmlformats.org/drawingml/2006/main">
              <a:ext uri="{FF2B5EF4-FFF2-40B4-BE49-F238E27FC236}">
                <a16:creationId xmlns:a16="http://schemas.microsoft.com/office/drawing/2014/main" id="{FA71A55B-B389-7001-A9E1-319E4426EE2D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855A7F00-3259-A23D-D734-A322A9F9DD63}" type="slidenum">
              <a:t>38</a:t>
            </a:fld>
          </a:p>
        </p:txBody>
      </p:sp>
      <p:sp>
        <p:nvSpPr>
          <p:cNvPr id="19" name="U02-038_eyebrow">
            <a:extLst xmlns:a="http://schemas.openxmlformats.org/drawingml/2006/main">
              <a:ext uri="{FF2B5EF4-FFF2-40B4-BE49-F238E27FC236}">
                <a16:creationId xmlns:a16="http://schemas.microsoft.com/office/drawing/2014/main" id="{8A9F7C38-D6CB-4D9E-9F04-9C3CEC3F2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RESPUESTA MECÁNICA</a:t>
            </a:r>
          </a:p>
        </p:txBody>
      </p:sp>
      <p:sp>
        <p:nvSpPr>
          <p:cNvPr id="20" name="U02-038_title">
            <a:extLst xmlns:a="http://schemas.openxmlformats.org/drawingml/2006/main">
              <a:ext uri="{FF2B5EF4-FFF2-40B4-BE49-F238E27FC236}">
                <a16:creationId xmlns:a16="http://schemas.microsoft.com/office/drawing/2014/main" id="{AAD75CB3-D047-4990-8D51-235636706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fuerza elástica es opuesta al desplazamiento</a:t>
            </a:r>
          </a:p>
        </p:txBody>
      </p:sp>
      <p:sp>
        <p:nvSpPr>
          <p:cNvPr id="21" name="U02-038_takeaway">
            <a:extLst xmlns:a="http://schemas.openxmlformats.org/drawingml/2006/main">
              <a:ext uri="{FF2B5EF4-FFF2-40B4-BE49-F238E27FC236}">
                <a16:creationId xmlns:a16="http://schemas.microsoft.com/office/drawing/2014/main" id="{CA5D87AC-5967-46DB-9EE0-AEBD15C13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F_el = −k_s·x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.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k_s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es la rigidez (N/m) y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x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el desplazamiento (m). El signo menos indica que la fuerza apunta hacia el equilibrio.</a:t>
            </a:r>
          </a:p>
        </p:txBody>
      </p:sp>
      <p:sp>
        <p:nvSpPr>
          <p:cNvPr id="22" name="U02-038_equation_panel">
            <a:extLst xmlns:a="http://schemas.openxmlformats.org/drawingml/2006/main">
              <a:ext uri="{FF2B5EF4-FFF2-40B4-BE49-F238E27FC236}">
                <a16:creationId xmlns:a16="http://schemas.microsoft.com/office/drawing/2014/main" id="{505DEF42-5F13-42E6-BAE1-8C1FB335E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0495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23" name="U02-038_equation">
            <a:extLst xmlns:a="http://schemas.openxmlformats.org/drawingml/2006/main">
              <a:ext uri="{FF2B5EF4-FFF2-40B4-BE49-F238E27FC236}">
                <a16:creationId xmlns:a16="http://schemas.microsoft.com/office/drawing/2014/main" id="{51C06F4D-A1F5-44C1-BD75-266257701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53352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F_el = −k_sx</a:t>
            </a:r>
          </a:p>
        </p:txBody>
      </p:sp>
      <p:pic>
        <p:nvPicPr>
          <p:cNvPr id="34" name="U02-038: Esquema mixto de la slide «La fuerza elástica es opuesta al desplazamiento»: Ecuación, k_s, x, unidades, zona lineal y dos signos." descr="U02-038: Esquema mixto de la slide «La fuerza elástica es opuesta al desplazamiento»: Ecuación, k_s, x, unidades, zona lineal y dos signos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4f7552532f45b1"/>
          <a:stretch xmlns:a="http://schemas.openxmlformats.org/drawingml/2006/main"/>
        </p:blipFill>
        <p:spPr>
          <a:xfrm xmlns:a="http://schemas.openxmlformats.org/drawingml/2006/main" flipH="0" flipV="0">
            <a:off x="762000" y="2095500"/>
            <a:ext cx="10668000" cy="3619500"/>
          </a:xfrm>
          <a:prstGeom xmlns:a="http://schemas.openxmlformats.org/drawingml/2006/main" prst="rect">
            <a:avLst/>
          </a:prstGeom>
        </p:spPr>
      </p:pic>
      <p:sp>
        <p:nvSpPr>
          <p:cNvPr id="25" name="U02-038_caption">
            <a:extLst xmlns:a="http://schemas.openxmlformats.org/drawingml/2006/main">
              <a:ext uri="{FF2B5EF4-FFF2-40B4-BE49-F238E27FC236}">
                <a16:creationId xmlns:a16="http://schemas.microsoft.com/office/drawing/2014/main" id="{A37091E6-1A9A-4F57-9692-742B08B87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El signo negativo expresa dirección restauradora.</a:t>
            </a:r>
          </a:p>
        </p:txBody>
      </p:sp>
      <p:sp>
        <p:nvSpPr>
          <p:cNvPr id="26" name="U02-038_source">
            <a:extLst xmlns:a="http://schemas.openxmlformats.org/drawingml/2006/main">
              <a:ext uri="{FF2B5EF4-FFF2-40B4-BE49-F238E27FC236}">
                <a16:creationId xmlns:a16="http://schemas.microsoft.com/office/drawing/2014/main" id="{8E8EB0CD-E92A-4740-9EAF-EE4CC6800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 a partir del modelo del curso; escala lineal.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Marcador de número de diapositiva 18">
            <a:extLst xmlns:a="http://schemas.openxmlformats.org/drawingml/2006/main">
              <a:ext uri="{FF2B5EF4-FFF2-40B4-BE49-F238E27FC236}">
                <a16:creationId xmlns:a16="http://schemas.microsoft.com/office/drawing/2014/main" id="{3701E013-5363-F7F5-9233-7CB612036904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6166C477-A387-35CF-F492-F54B4FA4FEC9}" type="slidenum">
              <a:t>39</a:t>
            </a:fld>
          </a:p>
        </p:txBody>
      </p:sp>
      <p:sp>
        <p:nvSpPr>
          <p:cNvPr id="20" name="U02-039_eyebrow">
            <a:extLst xmlns:a="http://schemas.openxmlformats.org/drawingml/2006/main">
              <a:ext uri="{FF2B5EF4-FFF2-40B4-BE49-F238E27FC236}">
                <a16:creationId xmlns:a16="http://schemas.microsoft.com/office/drawing/2014/main" id="{32DCB5B0-D2DA-4BBC-8131-A7BE5C096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RESPUESTA MECÁNICA</a:t>
            </a:r>
          </a:p>
        </p:txBody>
      </p:sp>
      <p:sp>
        <p:nvSpPr>
          <p:cNvPr id="21" name="U02-039_title">
            <a:extLst xmlns:a="http://schemas.openxmlformats.org/drawingml/2006/main">
              <a:ext uri="{FF2B5EF4-FFF2-40B4-BE49-F238E27FC236}">
                <a16:creationId xmlns:a16="http://schemas.microsoft.com/office/drawing/2014/main" id="{4DD316C8-579D-4844-A670-4DD6B1605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amortiguamiento se opone al movimiento</a:t>
            </a:r>
          </a:p>
        </p:txBody>
      </p:sp>
      <p:sp>
        <p:nvSpPr>
          <p:cNvPr id="22" name="U02-039_takeaway">
            <a:extLst xmlns:a="http://schemas.openxmlformats.org/drawingml/2006/main">
              <a:ext uri="{FF2B5EF4-FFF2-40B4-BE49-F238E27FC236}">
                <a16:creationId xmlns:a16="http://schemas.microsoft.com/office/drawing/2014/main" id="{6DE87CD1-D613-4E01-8E27-AC41A1214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El amortiguamiento se opone a la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velocidad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. En una misma posición, invertir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v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invierte la fuerza de amortiguamiento.</a:t>
            </a:r>
          </a:p>
        </p:txBody>
      </p:sp>
      <p:pic>
        <p:nvPicPr>
          <p:cNvPr id="31" name="U02-039: Diagrama de la slide «El amortiguamiento se opone al movimiento»: Comparar dos instantes con igual posición y velocidades opuestas." descr="U02-039: Diagrama de la slide «El amortiguamiento se opone al movimiento»: Comparar dos instantes con igual posición y velocidades opuestas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a0a91190e84378">
            <a:extLst>
              <a:ext uri="{96DAC541-7B7A-43D3-8B79-37D633B846F1}">
                <asvg:svgBlip xmlns:asvg="http://schemas.microsoft.com/office/drawing/2016/SVG/main" r:embed="R24d3285fac88484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057400"/>
            <a:ext cx="10668000" cy="3657600"/>
          </a:xfrm>
          <a:prstGeom xmlns:a="http://schemas.openxmlformats.org/drawingml/2006/main" prst="rect">
            <a:avLst/>
          </a:prstGeom>
        </p:spPr>
      </p:pic>
      <p:sp>
        <p:nvSpPr>
          <p:cNvPr id="24" name="U02-039_caption">
            <a:extLst xmlns:a="http://schemas.openxmlformats.org/drawingml/2006/main">
              <a:ext uri="{FF2B5EF4-FFF2-40B4-BE49-F238E27FC236}">
                <a16:creationId xmlns:a16="http://schemas.microsoft.com/office/drawing/2014/main" id="{D1D5CE56-4C80-4727-9804-08EBD467D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Su sentido depende de v, no necesariamente de x.</a:t>
            </a:r>
          </a:p>
        </p:txBody>
      </p:sp>
      <p:sp>
        <p:nvSpPr>
          <p:cNvPr id="25" name="U02-039_source">
            <a:extLst xmlns:a="http://schemas.openxmlformats.org/drawingml/2006/main">
              <a:ext uri="{FF2B5EF4-FFF2-40B4-BE49-F238E27FC236}">
                <a16:creationId xmlns:a16="http://schemas.microsoft.com/office/drawing/2014/main" id="{EBC80074-4994-42D1-A298-D8CB369E5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</p:sld>
</file>

<file path=ppt/slides/slide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Marcador de número de diapositiva 17">
            <a:extLst xmlns:a="http://schemas.openxmlformats.org/drawingml/2006/main">
              <a:ext uri="{FF2B5EF4-FFF2-40B4-BE49-F238E27FC236}">
                <a16:creationId xmlns:a16="http://schemas.microsoft.com/office/drawing/2014/main" id="{FA71A55B-B389-7001-A9E1-319E4426EE2D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C0C89EF0-BE71-8D92-BDDF-FF7D05F0AC04}" type="slidenum">
              <a:t>40</a:t>
            </a:fld>
          </a:p>
        </p:txBody>
      </p:sp>
      <p:sp>
        <p:nvSpPr>
          <p:cNvPr id="19" name="U02-040_eyebrow">
            <a:extLst xmlns:a="http://schemas.openxmlformats.org/drawingml/2006/main">
              <a:ext uri="{FF2B5EF4-FFF2-40B4-BE49-F238E27FC236}">
                <a16:creationId xmlns:a16="http://schemas.microsoft.com/office/drawing/2014/main" id="{6732D03E-FAF6-498E-8D12-794DB1E0C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RESPUESTA MECÁNICA</a:t>
            </a:r>
          </a:p>
        </p:txBody>
      </p:sp>
      <p:sp>
        <p:nvSpPr>
          <p:cNvPr id="20" name="U02-040_title">
            <a:extLst xmlns:a="http://schemas.openxmlformats.org/drawingml/2006/main">
              <a:ext uri="{FF2B5EF4-FFF2-40B4-BE49-F238E27FC236}">
                <a16:creationId xmlns:a16="http://schemas.microsoft.com/office/drawing/2014/main" id="{17F20752-6703-44BB-9E2E-98C833647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fuerza de amortiguamiento es opuesta a la velocidad</a:t>
            </a:r>
          </a:p>
        </p:txBody>
      </p:sp>
      <p:sp>
        <p:nvSpPr>
          <p:cNvPr id="21" name="U02-040_takeaway">
            <a:extLst xmlns:a="http://schemas.openxmlformats.org/drawingml/2006/main">
              <a:ext uri="{FF2B5EF4-FFF2-40B4-BE49-F238E27FC236}">
                <a16:creationId xmlns:a16="http://schemas.microsoft.com/office/drawing/2014/main" id="{1030AAF0-1EEF-4C60-9403-546CC9B01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F_amort = −b·v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.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b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se mide en N·s/m y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v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en m/s. El signo menos indica oposición al movimiento.</a:t>
            </a:r>
          </a:p>
        </p:txBody>
      </p:sp>
      <p:sp>
        <p:nvSpPr>
          <p:cNvPr id="22" name="U02-040_equation_panel">
            <a:extLst xmlns:a="http://schemas.openxmlformats.org/drawingml/2006/main">
              <a:ext uri="{FF2B5EF4-FFF2-40B4-BE49-F238E27FC236}">
                <a16:creationId xmlns:a16="http://schemas.microsoft.com/office/drawing/2014/main" id="{44BC9DE2-C876-4FB1-85D0-00FF8CBDE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7165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23" name="U02-040_equation">
            <a:extLst xmlns:a="http://schemas.openxmlformats.org/drawingml/2006/main">
              <a:ext uri="{FF2B5EF4-FFF2-40B4-BE49-F238E27FC236}">
                <a16:creationId xmlns:a16="http://schemas.microsoft.com/office/drawing/2014/main" id="{FC35E267-7FC1-40E3-B94A-B97CC058C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80022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F_amort = −bv</a:t>
            </a:r>
          </a:p>
        </p:txBody>
      </p:sp>
      <p:pic>
        <p:nvPicPr>
          <p:cNvPr id="34" name="U02-040: Esquema mixto de la slide «La fuerza de amortiguamiento es opuesta a la velocidad»: Ecuación, símbolos, unidades y gráfico lineal opcional." descr="U02-040: Esquema mixto de la slide «La fuerza de amortiguamiento es opuesta a la velocidad»: Ecuación, símbolos, unidades y gráfico lineal opcional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20073894a5492c"/>
          <a:stretch xmlns:a="http://schemas.openxmlformats.org/drawingml/2006/main"/>
        </p:blipFill>
        <p:spPr>
          <a:xfrm xmlns:a="http://schemas.openxmlformats.org/drawingml/2006/main" flipH="0" flipV="0">
            <a:off x="762000" y="2362200"/>
            <a:ext cx="10668000" cy="3352800"/>
          </a:xfrm>
          <a:prstGeom xmlns:a="http://schemas.openxmlformats.org/drawingml/2006/main" prst="rect">
            <a:avLst/>
          </a:prstGeom>
        </p:spPr>
      </p:pic>
      <p:sp>
        <p:nvSpPr>
          <p:cNvPr id="25" name="U02-040_caption">
            <a:extLst xmlns:a="http://schemas.openxmlformats.org/drawingml/2006/main">
              <a:ext uri="{FF2B5EF4-FFF2-40B4-BE49-F238E27FC236}">
                <a16:creationId xmlns:a16="http://schemas.microsoft.com/office/drawing/2014/main" id="{9C3F0802-C328-46B0-B67F-1248030D4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b caracteriza el modelo disipativo; no toda atenuación se debe a b.</a:t>
            </a:r>
          </a:p>
        </p:txBody>
      </p:sp>
      <p:sp>
        <p:nvSpPr>
          <p:cNvPr id="26" name="U02-040_source">
            <a:extLst xmlns:a="http://schemas.openxmlformats.org/drawingml/2006/main">
              <a:ext uri="{FF2B5EF4-FFF2-40B4-BE49-F238E27FC236}">
                <a16:creationId xmlns:a16="http://schemas.microsoft.com/office/drawing/2014/main" id="{C40BA082-8711-4B68-B206-1ACB7CADB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 a partir del modelo del curso; escala lineal.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4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Marcador de número de diapositiva 25">
            <a:extLst xmlns:a="http://schemas.openxmlformats.org/drawingml/2006/main">
              <a:ext uri="{FF2B5EF4-FFF2-40B4-BE49-F238E27FC236}">
                <a16:creationId xmlns:a16="http://schemas.microsoft.com/office/drawing/2014/main" id="{E82CC427-17D1-D7E7-6008-F7922268FB6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9CAEC632-A9E6-82AB-6034-3014BC3905A0}" type="slidenum">
              <a:t>41</a:t>
            </a:fld>
          </a:p>
        </p:txBody>
      </p:sp>
      <p:sp>
        <p:nvSpPr>
          <p:cNvPr id="27" name="U02-041_eyebrow">
            <a:extLst xmlns:a="http://schemas.openxmlformats.org/drawingml/2006/main">
              <a:ext uri="{FF2B5EF4-FFF2-40B4-BE49-F238E27FC236}">
                <a16:creationId xmlns:a16="http://schemas.microsoft.com/office/drawing/2014/main" id="{A7C0A365-21CB-4EDE-B6D5-22AC7E162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RESPUESTA MECÁNICA</a:t>
            </a:r>
          </a:p>
        </p:txBody>
      </p:sp>
      <p:sp>
        <p:nvSpPr>
          <p:cNvPr id="28" name="U02-041_title">
            <a:extLst xmlns:a="http://schemas.openxmlformats.org/drawingml/2006/main">
              <a:ext uri="{FF2B5EF4-FFF2-40B4-BE49-F238E27FC236}">
                <a16:creationId xmlns:a16="http://schemas.microsoft.com/office/drawing/2014/main" id="{8C15A549-657B-483A-9F48-E9E2BF567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modelo reúne tres mecanismos sin copiar la anatomía</a:t>
            </a:r>
          </a:p>
        </p:txBody>
      </p:sp>
      <p:sp>
        <p:nvSpPr>
          <p:cNvPr id="29" name="U02-041_takeaway">
            <a:extLst xmlns:a="http://schemas.openxmlformats.org/drawingml/2006/main">
              <a:ext uri="{FF2B5EF4-FFF2-40B4-BE49-F238E27FC236}">
                <a16:creationId xmlns:a16="http://schemas.microsoft.com/office/drawing/2014/main" id="{F79489BE-4FF0-432A-90BF-6E2A76690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El modelo ideal separa tres propiedades: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representa inercia,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k_s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representa rigidez y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b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representa amortiguamiento. No es una copia anatómica.</a:t>
            </a:r>
          </a:p>
        </p:txBody>
      </p:sp>
      <p:pic>
        <p:nvPicPr>
          <p:cNvPr id="38" name="U02-041: Diagrama de la slide «El modelo reúne tres mecanismos sin copiar la anatomía»: Etapa 1 masa; etapa 2 resorte; etapa 3 amortiguador y fuerza externa; rótulos y unidades." descr="U02-041: Diagrama de la slide «El modelo reúne tres mecanismos sin copiar la anatomía»: Etapa 1 masa; etapa 2 resorte; etapa 3 amortiguador y fuerza externa; rótulos y unidades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d0e0780d9e4935">
            <a:extLst>
              <a:ext uri="{96DAC541-7B7A-43D3-8B79-37D633B846F1}">
                <asvg:svgBlip xmlns:asvg="http://schemas.microsoft.com/office/drawing/2016/SVG/main" r:embed="Rf48dee72bf304de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324100"/>
            <a:ext cx="10668000" cy="3390900"/>
          </a:xfrm>
          <a:prstGeom xmlns:a="http://schemas.openxmlformats.org/drawingml/2006/main" prst="rect">
            <a:avLst/>
          </a:prstGeom>
        </p:spPr>
      </p:pic>
      <p:sp>
        <p:nvSpPr>
          <p:cNvPr id="31" name="U02-041_caption">
            <a:extLst xmlns:a="http://schemas.openxmlformats.org/drawingml/2006/main">
              <a:ext uri="{FF2B5EF4-FFF2-40B4-BE49-F238E27FC236}">
                <a16:creationId xmlns:a16="http://schemas.microsoft.com/office/drawing/2014/main" id="{789B4EE1-AA82-4D5D-9BA4-80D00C202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Los elementos ideales concentran propiedades distribuidas.</a:t>
            </a:r>
          </a:p>
        </p:txBody>
      </p:sp>
      <p:sp>
        <p:nvSpPr>
          <p:cNvPr id="32" name="U02-041_source">
            <a:extLst xmlns:a="http://schemas.openxmlformats.org/drawingml/2006/main">
              <a:ext uri="{FF2B5EF4-FFF2-40B4-BE49-F238E27FC236}">
                <a16:creationId xmlns:a16="http://schemas.microsoft.com/office/drawing/2014/main" id="{2B8C17EE-EC4D-49AD-A351-6BD1C0F4B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1995449240"/>
      </p:ext>
    </p:extLst>
  </p:cSld>
</p:sld>
</file>

<file path=ppt/slides/slide4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Marcador de número de diapositiva 17">
            <a:extLst xmlns:a="http://schemas.openxmlformats.org/drawingml/2006/main">
              <a:ext uri="{FF2B5EF4-FFF2-40B4-BE49-F238E27FC236}">
                <a16:creationId xmlns:a16="http://schemas.microsoft.com/office/drawing/2014/main" id="{FA71A55B-B389-7001-A9E1-319E4426EE2D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675CE1F1-F8E2-E359-8FD1-A9FA98B3A676}" type="slidenum">
              <a:t>42</a:t>
            </a:fld>
          </a:p>
        </p:txBody>
      </p:sp>
      <p:sp>
        <p:nvSpPr>
          <p:cNvPr id="19" name="U02-042_eyebrow">
            <a:extLst xmlns:a="http://schemas.openxmlformats.org/drawingml/2006/main">
              <a:ext uri="{FF2B5EF4-FFF2-40B4-BE49-F238E27FC236}">
                <a16:creationId xmlns:a16="http://schemas.microsoft.com/office/drawing/2014/main" id="{9378B52A-40BE-4056-9F95-488008CDD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RESPUESTA MECÁNICA</a:t>
            </a:r>
          </a:p>
        </p:txBody>
      </p:sp>
      <p:sp>
        <p:nvSpPr>
          <p:cNvPr id="20" name="U02-042_title">
            <a:extLst xmlns:a="http://schemas.openxmlformats.org/drawingml/2006/main">
              <a:ext uri="{FF2B5EF4-FFF2-40B4-BE49-F238E27FC236}">
                <a16:creationId xmlns:a16="http://schemas.microsoft.com/office/drawing/2014/main" id="{F981C439-9D4A-4B69-84D7-CAC7D48B7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Cada término del balance representa un mecanismo</a:t>
            </a:r>
          </a:p>
        </p:txBody>
      </p:sp>
      <p:sp>
        <p:nvSpPr>
          <p:cNvPr id="21" name="U02-042_takeaway">
            <a:extLst xmlns:a="http://schemas.openxmlformats.org/drawingml/2006/main">
              <a:ext uri="{FF2B5EF4-FFF2-40B4-BE49-F238E27FC236}">
                <a16:creationId xmlns:a16="http://schemas.microsoft.com/office/drawing/2014/main" id="{9AE99E4F-535F-414A-93A2-C4E0D9ECB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m·a = F_ext − k_s·x − b·v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. Cada término describe un mecanismo: entrada externa, retorno elástico, disipación e inercia.</a:t>
            </a:r>
          </a:p>
        </p:txBody>
      </p:sp>
      <p:sp>
        <p:nvSpPr>
          <p:cNvPr id="22" name="U02-042_equation_panel">
            <a:extLst xmlns:a="http://schemas.openxmlformats.org/drawingml/2006/main">
              <a:ext uri="{FF2B5EF4-FFF2-40B4-BE49-F238E27FC236}">
                <a16:creationId xmlns:a16="http://schemas.microsoft.com/office/drawing/2014/main" id="{D4CBD2A2-B803-4C9E-A06B-F0F136768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0495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23" name="U02-042_equation">
            <a:extLst xmlns:a="http://schemas.openxmlformats.org/drawingml/2006/main">
              <a:ext uri="{FF2B5EF4-FFF2-40B4-BE49-F238E27FC236}">
                <a16:creationId xmlns:a16="http://schemas.microsoft.com/office/drawing/2014/main" id="{D6595299-3DC6-49C4-9C51-77AE8EDA7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53352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F_ext − k_sx − bv = ma</a:t>
            </a:r>
          </a:p>
        </p:txBody>
      </p:sp>
      <p:pic>
        <p:nvPicPr>
          <p:cNvPr id="34" name="U02-042: Ecuación anotada de la slide «Cada término del balance representa un mecanismo»: Ecuación central; color o callout estable para entrada, retorno, disipación e inercia." descr="U02-042: Ecuación anotada de la slide «Cada término del balance representa un mecanismo»: Ecuación central; color o callout estable para entrada, retorno, disipación e inercia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4d39c470fa493c">
            <a:extLst>
              <a:ext uri="{96DAC541-7B7A-43D3-8B79-37D633B846F1}">
                <asvg:svgBlip xmlns:asvg="http://schemas.microsoft.com/office/drawing/2016/SVG/main" r:embed="R2b34f40e0ea4428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095500"/>
            <a:ext cx="10668000" cy="3619500"/>
          </a:xfrm>
          <a:prstGeom xmlns:a="http://schemas.openxmlformats.org/drawingml/2006/main" prst="rect">
            <a:avLst/>
          </a:prstGeom>
        </p:spPr>
      </p:pic>
      <p:sp>
        <p:nvSpPr>
          <p:cNvPr id="25" name="U02-042_caption">
            <a:extLst xmlns:a="http://schemas.openxmlformats.org/drawingml/2006/main">
              <a:ext uri="{FF2B5EF4-FFF2-40B4-BE49-F238E27FC236}">
                <a16:creationId xmlns:a16="http://schemas.microsoft.com/office/drawing/2014/main" id="{B79C45E4-240B-41E1-B658-80C7A0E95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ecuación describe un instante; no resuelve por sí sola la evolución temporal.</a:t>
            </a:r>
          </a:p>
        </p:txBody>
      </p:sp>
      <p:sp>
        <p:nvSpPr>
          <p:cNvPr id="26" name="U02-042_source">
            <a:extLst xmlns:a="http://schemas.openxmlformats.org/drawingml/2006/main">
              <a:ext uri="{FF2B5EF4-FFF2-40B4-BE49-F238E27FC236}">
                <a16:creationId xmlns:a16="http://schemas.microsoft.com/office/drawing/2014/main" id="{95677DDE-37D3-49EE-82B4-9DD1BE28C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4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Marcador de número de diapositiva 19">
            <a:extLst xmlns:a="http://schemas.openxmlformats.org/drawingml/2006/main">
              <a:ext uri="{FF2B5EF4-FFF2-40B4-BE49-F238E27FC236}">
                <a16:creationId xmlns:a16="http://schemas.microsoft.com/office/drawing/2014/main" id="{B71E6959-ACF4-0436-802C-200F793D53F6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270EE3B2-1325-F8E9-D276-8EA80C32ED19}" type="slidenum">
              <a:t>43</a:t>
            </a:fld>
          </a:p>
        </p:txBody>
      </p:sp>
      <p:sp>
        <p:nvSpPr>
          <p:cNvPr id="21" name="U02-043_eyebrow">
            <a:extLst xmlns:a="http://schemas.openxmlformats.org/drawingml/2006/main">
              <a:ext uri="{FF2B5EF4-FFF2-40B4-BE49-F238E27FC236}">
                <a16:creationId xmlns:a16="http://schemas.microsoft.com/office/drawing/2014/main" id="{6CCDB1E7-EABD-4800-AFB3-39727EBE7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RESPUESTA MECÁNICA</a:t>
            </a:r>
          </a:p>
        </p:txBody>
      </p:sp>
      <p:sp>
        <p:nvSpPr>
          <p:cNvPr id="22" name="U02-043_title">
            <a:extLst xmlns:a="http://schemas.openxmlformats.org/drawingml/2006/main">
              <a:ext uri="{FF2B5EF4-FFF2-40B4-BE49-F238E27FC236}">
                <a16:creationId xmlns:a16="http://schemas.microsoft.com/office/drawing/2014/main" id="{DA8A0163-9C44-47B2-8AAB-539989355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¿Hacia dónde apuntan las fuerzas si x y v cambian de signo?</a:t>
            </a:r>
          </a:p>
        </p:txBody>
      </p:sp>
      <p:sp>
        <p:nvSpPr>
          <p:cNvPr id="23" name="U02-043_takeaway">
            <a:extLst xmlns:a="http://schemas.openxmlformats.org/drawingml/2006/main">
              <a:ext uri="{FF2B5EF4-FFF2-40B4-BE49-F238E27FC236}">
                <a16:creationId xmlns:a16="http://schemas.microsoft.com/office/drawing/2014/main" id="{158CC4C4-E3D7-444A-86F0-261C86CC2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Para cada combinación de signos de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x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y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v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, aplicar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F_el = −k_s·x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y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F_amort = −b·v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. Ambas fuerzas pueden coincidir o apuntar en sentidos opuestos.</a:t>
            </a:r>
          </a:p>
        </p:txBody>
      </p:sp>
      <p:pic>
        <p:nvPicPr>
          <p:cNvPr id="32" name="U02-043: Diagrama de la slide «¿Hacia dónde apuntan las fuerzas si x y v cambian de signo?»: Cuatro combinaciones de signos; completar flechas o signos." descr="U02-043: Diagrama de la slide «¿Hacia dónde apuntan las fuerzas si x y v cambian de signo?»: Cuatro combinaciones de signos; completar flechas o signos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4ecde6b6994b79">
            <a:extLst>
              <a:ext uri="{96DAC541-7B7A-43D3-8B79-37D633B846F1}">
                <asvg:svgBlip xmlns:asvg="http://schemas.microsoft.com/office/drawing/2016/SVG/main" r:embed="Rf69bc3861dc7489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324100"/>
            <a:ext cx="10668000" cy="3390900"/>
          </a:xfrm>
          <a:prstGeom xmlns:a="http://schemas.openxmlformats.org/drawingml/2006/main" prst="rect">
            <a:avLst/>
          </a:prstGeom>
        </p:spPr>
      </p:pic>
      <p:sp>
        <p:nvSpPr>
          <p:cNvPr id="25" name="U02-043_caption">
            <a:extLst xmlns:a="http://schemas.openxmlformats.org/drawingml/2006/main">
              <a:ext uri="{FF2B5EF4-FFF2-40B4-BE49-F238E27FC236}">
                <a16:creationId xmlns:a16="http://schemas.microsoft.com/office/drawing/2014/main" id="{FEEC4CC2-667A-4221-9E76-90DD1A96E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F_el depende de x; F_amort depende de v.</a:t>
            </a:r>
          </a:p>
        </p:txBody>
      </p:sp>
      <p:sp>
        <p:nvSpPr>
          <p:cNvPr id="26" name="U02-043_source">
            <a:extLst xmlns:a="http://schemas.openxmlformats.org/drawingml/2006/main">
              <a:ext uri="{FF2B5EF4-FFF2-40B4-BE49-F238E27FC236}">
                <a16:creationId xmlns:a16="http://schemas.microsoft.com/office/drawing/2014/main" id="{915379BC-3A43-4B92-A17D-B67CEA66A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281546375"/>
      </p:ext>
    </p:extLst>
  </p:cSld>
</p:sld>
</file>

<file path=ppt/slides/slide4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Marcador de número de diapositiva 23">
            <a:extLst xmlns:a="http://schemas.openxmlformats.org/drawingml/2006/main">
              <a:ext uri="{FF2B5EF4-FFF2-40B4-BE49-F238E27FC236}">
                <a16:creationId xmlns:a16="http://schemas.microsoft.com/office/drawing/2014/main" id="{D4631810-29E2-3802-8D4E-7DEAB08103EF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1110800D-D5E6-B48B-B335-F070B0EAA3B9}" type="slidenum">
              <a:t>44</a:t>
            </a:fld>
          </a:p>
        </p:txBody>
      </p:sp>
      <p:sp>
        <p:nvSpPr>
          <p:cNvPr id="25" name="U02-044_eyebrow">
            <a:extLst xmlns:a="http://schemas.openxmlformats.org/drawingml/2006/main">
              <a:ext uri="{FF2B5EF4-FFF2-40B4-BE49-F238E27FC236}">
                <a16:creationId xmlns:a16="http://schemas.microsoft.com/office/drawing/2014/main" id="{E31F7323-40DC-442C-A627-14C432EC2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RESPUESTA MECÁNICA</a:t>
            </a:r>
          </a:p>
        </p:txBody>
      </p:sp>
      <p:sp>
        <p:nvSpPr>
          <p:cNvPr id="26" name="U02-044_title">
            <a:extLst xmlns:a="http://schemas.openxmlformats.org/drawingml/2006/main">
              <a:ext uri="{FF2B5EF4-FFF2-40B4-BE49-F238E27FC236}">
                <a16:creationId xmlns:a16="http://schemas.microsoft.com/office/drawing/2014/main" id="{104E70AD-428B-41FB-9E78-10F9C65C7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Balance instantáneo: primero fuerzas, después aceleración</a:t>
            </a:r>
          </a:p>
        </p:txBody>
      </p:sp>
      <p:sp>
        <p:nvSpPr>
          <p:cNvPr id="27" name="U02-044_takeaway">
            <a:extLst xmlns:a="http://schemas.openxmlformats.org/drawingml/2006/main">
              <a:ext uri="{FF2B5EF4-FFF2-40B4-BE49-F238E27FC236}">
                <a16:creationId xmlns:a16="http://schemas.microsoft.com/office/drawing/2014/main" id="{1C6F90A3-62B7-4C62-8BB3-5B4EF84B3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Procedimiento: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predecir signos → calcular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F_el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y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F_amort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→ sumar con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F_ext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→ obtener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F_neta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→ dividir por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→ interpretar el instante.</a:t>
            </a:r>
          </a:p>
        </p:txBody>
      </p:sp>
      <p:pic>
        <p:nvPicPr>
          <p:cNvPr id="36" name="U02-044: Esquema mixto de la slide «Balance instantáneo: primero fuerzas, después aceleración»: Datos del libro; F_el, F_amort, F_neta, a; interpretación del instante." descr="U02-044: Esquema mixto de la slide «Balance instantáneo: primero fuerzas, después aceleración»: Datos del libro; F_el, F_amort, F_neta, a; interpretación del instante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6eb1dbc30343c1"/>
          <a:stretch xmlns:a="http://schemas.openxmlformats.org/drawingml/2006/main"/>
        </p:blipFill>
        <p:spPr>
          <a:xfrm xmlns:a="http://schemas.openxmlformats.org/drawingml/2006/main" flipH="0" flipV="0">
            <a:off x="762000" y="2324100"/>
            <a:ext cx="10668000" cy="3390900"/>
          </a:xfrm>
          <a:prstGeom xmlns:a="http://schemas.openxmlformats.org/drawingml/2006/main" prst="rect">
            <a:avLst/>
          </a:prstGeom>
        </p:spPr>
      </p:pic>
      <p:sp>
        <p:nvSpPr>
          <p:cNvPr id="29" name="U02-044_caption">
            <a:extLst xmlns:a="http://schemas.openxmlformats.org/drawingml/2006/main">
              <a:ext uri="{FF2B5EF4-FFF2-40B4-BE49-F238E27FC236}">
                <a16:creationId xmlns:a16="http://schemas.microsoft.com/office/drawing/2014/main" id="{66043539-40E4-4EF9-B118-B26F3D7FC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Predecir signos evita sumar módulos incorrectamente.</a:t>
            </a:r>
          </a:p>
        </p:txBody>
      </p:sp>
      <p:sp>
        <p:nvSpPr>
          <p:cNvPr id="30" name="U02-044_source">
            <a:extLst xmlns:a="http://schemas.openxmlformats.org/drawingml/2006/main">
              <a:ext uri="{FF2B5EF4-FFF2-40B4-BE49-F238E27FC236}">
                <a16:creationId xmlns:a16="http://schemas.microsoft.com/office/drawing/2014/main" id="{6D035A02-5EB7-4A71-904D-2827D8AAB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40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40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1133635661"/>
      </p:ext>
    </p:extLst>
  </p:cSld>
</p:sld>
</file>

<file path=ppt/slides/slide4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Marcador de número de diapositiva 9">
            <a:extLst xmlns:a="http://schemas.openxmlformats.org/drawingml/2006/main">
              <a:ext uri="{FF2B5EF4-FFF2-40B4-BE49-F238E27FC236}">
                <a16:creationId xmlns:a16="http://schemas.microsoft.com/office/drawing/2014/main" id="{35371791-CC55-AC21-40A2-17827BAE70F8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AE060EEA-E29B-CF3D-E7B7-BE01DFE3A2D2}" type="slidenum">
              <a:t>45</a:t>
            </a:fld>
          </a:p>
        </p:txBody>
      </p:sp>
      <p:sp>
        <p:nvSpPr>
          <p:cNvPr id="11" name="U02-045_eyebrow">
            <a:extLst xmlns:a="http://schemas.openxmlformats.org/drawingml/2006/main">
              <a:ext uri="{FF2B5EF4-FFF2-40B4-BE49-F238E27FC236}">
                <a16:creationId xmlns:a16="http://schemas.microsoft.com/office/drawing/2014/main" id="{2740E606-FA56-4B76-BFCF-E5D0BAF18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RESPUESTA MECÁNICA</a:t>
            </a:r>
          </a:p>
        </p:txBody>
      </p:sp>
      <p:sp>
        <p:nvSpPr>
          <p:cNvPr id="12" name="U02-045_title">
            <a:extLst xmlns:a="http://schemas.openxmlformats.org/drawingml/2006/main">
              <a:ext uri="{FF2B5EF4-FFF2-40B4-BE49-F238E27FC236}">
                <a16:creationId xmlns:a16="http://schemas.microsoft.com/office/drawing/2014/main" id="{429579B8-B224-4758-A914-519D33968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Amortiguamiento, atenuación y disipación responden preguntas distintas</a:t>
            </a:r>
          </a:p>
        </p:txBody>
      </p:sp>
      <p:sp>
        <p:nvSpPr>
          <p:cNvPr id="13" name="U02-045_takeaway">
            <a:extLst xmlns:a="http://schemas.openxmlformats.org/drawingml/2006/main">
              <a:ext uri="{FF2B5EF4-FFF2-40B4-BE49-F238E27FC236}">
                <a16:creationId xmlns:a16="http://schemas.microsoft.com/office/drawing/2014/main" id="{C5EF93B7-BFE7-4DDD-BAE1-B5EC60F6A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Amortiguamiento: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mecanismo que reduce la oscilación.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Atenuación: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disminución de una magnitud.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Disipación: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conversión de energía mecánica en energía interna.</a:t>
            </a:r>
          </a:p>
        </p:txBody>
      </p:sp>
      <p:pic>
        <p:nvPicPr>
          <p:cNvPr id="22" name="U02-045: Esquema mixto de la slide «Amortiguamiento, atenuación y disipación responden preguntas distintas»: Tabla conceptual de contexto, observación y mecanismo; ejemplos de transferencia y redistribución." descr="U02-045: Esquema mixto de la slide «Amortiguamiento, atenuación y disipación responden preguntas distintas»: Tabla conceptual de contexto, observación y mecanismo; ejemplos de transferencia y redistribución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7359a6fa964963">
            <a:extLst>
              <a:ext uri="{96DAC541-7B7A-43D3-8B79-37D633B846F1}">
                <asvg:svgBlip xmlns:asvg="http://schemas.microsoft.com/office/drawing/2016/SVG/main" r:embed="Rcc6509913a54410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562225"/>
            <a:ext cx="10668000" cy="3152775"/>
          </a:xfrm>
          <a:prstGeom xmlns:a="http://schemas.openxmlformats.org/drawingml/2006/main" prst="rect">
            <a:avLst/>
          </a:prstGeom>
        </p:spPr>
      </p:pic>
      <p:sp>
        <p:nvSpPr>
          <p:cNvPr id="15" name="U02-045_caption">
            <a:extLst xmlns:a="http://schemas.openxmlformats.org/drawingml/2006/main">
              <a:ext uri="{FF2B5EF4-FFF2-40B4-BE49-F238E27FC236}">
                <a16:creationId xmlns:a16="http://schemas.microsoft.com/office/drawing/2014/main" id="{DCEA6AE3-CC1F-4BEC-805D-A560CEE16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Una disminución observada no identifica por sí sola el destino de la energía.</a:t>
            </a:r>
          </a:p>
        </p:txBody>
      </p:sp>
      <p:sp>
        <p:nvSpPr>
          <p:cNvPr id="16" name="U02-045_source">
            <a:extLst xmlns:a="http://schemas.openxmlformats.org/drawingml/2006/main">
              <a:ext uri="{FF2B5EF4-FFF2-40B4-BE49-F238E27FC236}">
                <a16:creationId xmlns:a16="http://schemas.microsoft.com/office/drawing/2014/main" id="{670DC8B8-FAA3-467C-84B9-257FF75E9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34619112"/>
      </p:ext>
    </p:extLst>
  </p:cSld>
</p:sld>
</file>

<file path=ppt/slides/slide4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Marcador de número de diapositiva 19">
            <a:extLst xmlns:a="http://schemas.openxmlformats.org/drawingml/2006/main">
              <a:ext uri="{FF2B5EF4-FFF2-40B4-BE49-F238E27FC236}">
                <a16:creationId xmlns:a16="http://schemas.microsoft.com/office/drawing/2014/main" id="{18081493-A553-AC13-4BA5-17CFA71BB2B5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472DB7CE-501A-BBF4-0CAD-B084CE0A592C}" type="slidenum">
              <a:t>46</a:t>
            </a:fld>
          </a:p>
        </p:txBody>
      </p:sp>
      <p:sp>
        <p:nvSpPr>
          <p:cNvPr id="21" name="U02-046_eyebrow">
            <a:extLst xmlns:a="http://schemas.openxmlformats.org/drawingml/2006/main">
              <a:ext uri="{FF2B5EF4-FFF2-40B4-BE49-F238E27FC236}">
                <a16:creationId xmlns:a16="http://schemas.microsoft.com/office/drawing/2014/main" id="{BF327E5C-C0A3-40C6-A02E-C434A7F2C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RESPUESTA MECÁNICA</a:t>
            </a:r>
          </a:p>
        </p:txBody>
      </p:sp>
      <p:sp>
        <p:nvSpPr>
          <p:cNvPr id="22" name="U02-046_title">
            <a:extLst xmlns:a="http://schemas.openxmlformats.org/drawingml/2006/main">
              <a:ext uri="{FF2B5EF4-FFF2-40B4-BE49-F238E27FC236}">
                <a16:creationId xmlns:a16="http://schemas.microsoft.com/office/drawing/2014/main" id="{C6F46E7D-F3FB-4752-AAC1-1088B4B99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Hasta acá: qué hace cada término</a:t>
            </a:r>
          </a:p>
        </p:txBody>
      </p:sp>
      <p:sp>
        <p:nvSpPr>
          <p:cNvPr id="23" name="U02-046_takeaway">
            <a:extLst xmlns:a="http://schemas.openxmlformats.org/drawingml/2006/main">
              <a:ext uri="{FF2B5EF4-FFF2-40B4-BE49-F238E27FC236}">
                <a16:creationId xmlns:a16="http://schemas.microsoft.com/office/drawing/2014/main" id="{03455B86-FFEC-48A5-A07D-79580B200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723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Masa: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cambia la respuesta.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Resorte: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produce retorno.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Amortiguador: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se opone al movimiento y disipa.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Control: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¿qué término cambia directamente cuando cambia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v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?</a:t>
            </a:r>
          </a:p>
        </p:txBody>
      </p:sp>
      <p:sp>
        <p:nvSpPr>
          <p:cNvPr id="24" name="U02-046_equation_panel">
            <a:extLst xmlns:a="http://schemas.openxmlformats.org/drawingml/2006/main">
              <a:ext uri="{FF2B5EF4-FFF2-40B4-BE49-F238E27FC236}">
                <a16:creationId xmlns:a16="http://schemas.microsoft.com/office/drawing/2014/main" id="{D3AA4259-D8EE-4A68-BA01-958D3519D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0495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25" name="U02-046_equation">
            <a:extLst xmlns:a="http://schemas.openxmlformats.org/drawingml/2006/main">
              <a:ext uri="{FF2B5EF4-FFF2-40B4-BE49-F238E27FC236}">
                <a16:creationId xmlns:a16="http://schemas.microsoft.com/office/drawing/2014/main" id="{A6A435B2-E709-443A-99F1-0F4F77D61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53352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F_ext − k_sx − bv = ma.</a:t>
            </a:r>
          </a:p>
        </p:txBody>
      </p:sp>
      <p:pic>
        <p:nvPicPr>
          <p:cNvPr id="36" name="U02-046: Diagrama de la slide «Hasta acá: qué hace cada término»: Tres afirmaciones, ecuación reducida y pregunta “¿qué término cambia si cambia v?”." descr="U02-046: Diagrama de la slide «Hasta acá: qué hace cada término»: Tres afirmaciones, ecuación reducida y pregunta “¿qué término cambia si cambia v?”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0fe9a6de6a4831">
            <a:extLst>
              <a:ext uri="{96DAC541-7B7A-43D3-8B79-37D633B846F1}">
                <asvg:svgBlip xmlns:asvg="http://schemas.microsoft.com/office/drawing/2016/SVG/main" r:embed="R2c0e1e29445543a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533650"/>
            <a:ext cx="10668000" cy="3181350"/>
          </a:xfrm>
          <a:prstGeom xmlns:a="http://schemas.openxmlformats.org/drawingml/2006/main" prst="rect">
            <a:avLst/>
          </a:prstGeom>
        </p:spPr>
      </p:pic>
      <p:sp>
        <p:nvSpPr>
          <p:cNvPr id="27" name="U02-046_caption">
            <a:extLst xmlns:a="http://schemas.openxmlformats.org/drawingml/2006/main">
              <a:ext uri="{FF2B5EF4-FFF2-40B4-BE49-F238E27FC236}">
                <a16:creationId xmlns:a16="http://schemas.microsoft.com/office/drawing/2014/main" id="{A910D426-CBEF-48BD-BD33-CFF4FAA29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Masa cambia la respuesta; resorte devuelve; amortiguador disipa.</a:t>
            </a:r>
          </a:p>
        </p:txBody>
      </p:sp>
      <p:sp>
        <p:nvSpPr>
          <p:cNvPr id="28" name="U02-046_source">
            <a:extLst xmlns:a="http://schemas.openxmlformats.org/drawingml/2006/main">
              <a:ext uri="{FF2B5EF4-FFF2-40B4-BE49-F238E27FC236}">
                <a16:creationId xmlns:a16="http://schemas.microsoft.com/office/drawing/2014/main" id="{1674CB7D-C96D-4D2E-A4A9-01BCB2F36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</p:sld>
</file>

<file path=ppt/slides/slide4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Marcador de número de diapositiva 8">
            <a:extLst xmlns:a="http://schemas.openxmlformats.org/drawingml/2006/main">
              <a:ext uri="{FF2B5EF4-FFF2-40B4-BE49-F238E27FC236}">
                <a16:creationId xmlns:a16="http://schemas.microsoft.com/office/drawing/2014/main" id="{208C11FF-1310-C67B-A471-A3573013EA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F766E625-45F0-7FC0-7206-B9D4780D3461}" type="slidenum">
              <a:t>47</a:t>
            </a:fld>
          </a:p>
        </p:txBody>
      </p:sp>
      <p:sp>
        <p:nvSpPr>
          <p:cNvPr id="10" name="U02-047_eyebrow">
            <a:extLst xmlns:a="http://schemas.openxmlformats.org/drawingml/2006/main">
              <a:ext uri="{FF2B5EF4-FFF2-40B4-BE49-F238E27FC236}">
                <a16:creationId xmlns:a16="http://schemas.microsoft.com/office/drawing/2014/main" id="{FE95931F-578A-4C57-8D7F-FE70B3560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UNIDAD 2 · TRABAJO Y ENERGÍA</a:t>
            </a:r>
          </a:p>
        </p:txBody>
      </p:sp>
      <p:sp>
        <p:nvSpPr>
          <p:cNvPr id="11" name="U02-047_title">
            <a:extLst xmlns:a="http://schemas.openxmlformats.org/drawingml/2006/main">
              <a:ext uri="{FF2B5EF4-FFF2-40B4-BE49-F238E27FC236}">
                <a16:creationId xmlns:a16="http://schemas.microsoft.com/office/drawing/2014/main" id="{AFD5CE77-F0F6-4569-8408-E776E7985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9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Las fuerzas también transfieren y almacenan energía</a:t>
            </a:r>
          </a:p>
        </p:txBody>
      </p:sp>
      <p:sp>
        <p:nvSpPr>
          <p:cNvPr id="12" name="U02-047_guide">
            <a:extLst xmlns:a="http://schemas.openxmlformats.org/drawingml/2006/main">
              <a:ext uri="{FF2B5EF4-FFF2-40B4-BE49-F238E27FC236}">
                <a16:creationId xmlns:a16="http://schemas.microsoft.com/office/drawing/2014/main" id="{EC52F29D-DDE0-41B1-B329-9846A0F43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9334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8"/>
              </a:spcAft>
              <a:buNone/>
              <a:defRPr sz="22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Pregunta guía:</a:t>
            </a:r>
            <a:r>
              <a:rPr sz="22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cuando una fuerza realiza trabajo, ¿dónde queda la energía transferida?</a:t>
            </a:r>
          </a:p>
        </p:txBody>
      </p:sp>
      <p:sp>
        <p:nvSpPr>
          <p:cNvPr id="13" name="U02-047_subtitle">
            <a:extLst xmlns:a="http://schemas.openxmlformats.org/drawingml/2006/main">
              <a:ext uri="{FF2B5EF4-FFF2-40B4-BE49-F238E27FC236}">
                <a16:creationId xmlns:a16="http://schemas.microsoft.com/office/drawing/2014/main" id="{BB4E1DB5-C461-4019-954F-A63D2F7EB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800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E8DDE4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E8DDE4"/>
                </a:solidFill>
                <a:latin typeface="Calibri"/>
                <a:ea typeface="Calibri"/>
                <a:cs typeface="Calibri"/>
              </a:rPr>
              <a:t>Pregunta guía del bloque.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</p:sld>
</file>

<file path=ppt/slides/slide4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Marcador de número de diapositiva 20">
            <a:extLst xmlns:a="http://schemas.openxmlformats.org/drawingml/2006/main">
              <a:ext uri="{FF2B5EF4-FFF2-40B4-BE49-F238E27FC236}">
                <a16:creationId xmlns:a16="http://schemas.microsoft.com/office/drawing/2014/main" id="{9CA9596E-D94D-48D7-199C-CC38FBB01EFD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79CF87E8-8F71-04A5-6F3A-BEE8F630D5E2}" type="slidenum">
              <a:t>48</a:t>
            </a:fld>
          </a:p>
        </p:txBody>
      </p:sp>
      <p:sp>
        <p:nvSpPr>
          <p:cNvPr id="22" name="U02-048_eyebrow">
            <a:extLst xmlns:a="http://schemas.openxmlformats.org/drawingml/2006/main">
              <a:ext uri="{FF2B5EF4-FFF2-40B4-BE49-F238E27FC236}">
                <a16:creationId xmlns:a16="http://schemas.microsoft.com/office/drawing/2014/main" id="{EF7757CB-76A5-4FC9-ABE1-8B9944C37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TRABAJO Y ENERGÍA</a:t>
            </a:r>
          </a:p>
        </p:txBody>
      </p:sp>
      <p:sp>
        <p:nvSpPr>
          <p:cNvPr id="23" name="U02-048_title">
            <a:extLst xmlns:a="http://schemas.openxmlformats.org/drawingml/2006/main">
              <a:ext uri="{FF2B5EF4-FFF2-40B4-BE49-F238E27FC236}">
                <a16:creationId xmlns:a16="http://schemas.microsoft.com/office/drawing/2014/main" id="{EE5E4CE1-FE13-40BC-A879-4FFB1303A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Una fuerza transfiere energía cuando produce desplazamiento</a:t>
            </a:r>
          </a:p>
        </p:txBody>
      </p:sp>
      <p:sp>
        <p:nvSpPr>
          <p:cNvPr id="24" name="U02-048_takeaway">
            <a:extLst xmlns:a="http://schemas.openxmlformats.org/drawingml/2006/main">
              <a:ext uri="{FF2B5EF4-FFF2-40B4-BE49-F238E27FC236}">
                <a16:creationId xmlns:a16="http://schemas.microsoft.com/office/drawing/2014/main" id="{B8B55188-1419-4050-B0AD-A0BF77DCB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En el caso simple, una fuerza realiza trabajo mecánico si produce un desplazamiento. Puede existir fuerza sin trabajo cuando no hay desplazamiento.</a:t>
            </a:r>
          </a:p>
        </p:txBody>
      </p:sp>
      <p:pic>
        <p:nvPicPr>
          <p:cNvPr id="33" name="U02-048: Diagrama de la slide «Una fuerza transfiere energía cuando produce desplazamiento»: Situaciones con y sin desplazamiento; fuerza paralela como caso estudiado." descr="U02-048: Diagrama de la slide «Una fuerza transfiere energía cuando produce desplazamiento»: Situaciones con y sin desplazamiento; fuerza paralela como caso estudiado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cc8309b4ce4e3a">
            <a:extLst>
              <a:ext uri="{96DAC541-7B7A-43D3-8B79-37D633B846F1}">
                <asvg:svgBlip xmlns:asvg="http://schemas.microsoft.com/office/drawing/2016/SVG/main" r:embed="R9755b7443a4a4cd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324100"/>
            <a:ext cx="10668000" cy="3390900"/>
          </a:xfrm>
          <a:prstGeom xmlns:a="http://schemas.openxmlformats.org/drawingml/2006/main" prst="rect">
            <a:avLst/>
          </a:prstGeom>
        </p:spPr>
      </p:pic>
      <p:sp>
        <p:nvSpPr>
          <p:cNvPr id="26" name="U02-048_caption">
            <a:extLst xmlns:a="http://schemas.openxmlformats.org/drawingml/2006/main">
              <a:ext uri="{FF2B5EF4-FFF2-40B4-BE49-F238E27FC236}">
                <a16:creationId xmlns:a16="http://schemas.microsoft.com/office/drawing/2014/main" id="{C87AA73E-B7FB-4F7F-989C-4EFC9B9F0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Fuerza sin desplazamiento no realiza trabajo mecánico en este modelo simple.</a:t>
            </a:r>
          </a:p>
        </p:txBody>
      </p:sp>
      <p:sp>
        <p:nvSpPr>
          <p:cNvPr id="27" name="U02-048_source">
            <a:extLst xmlns:a="http://schemas.openxmlformats.org/drawingml/2006/main">
              <a:ext uri="{FF2B5EF4-FFF2-40B4-BE49-F238E27FC236}">
                <a16:creationId xmlns:a16="http://schemas.microsoft.com/office/drawing/2014/main" id="{78237BF5-FB5D-401D-88E8-DEF0128CA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1687263069"/>
      </p:ext>
    </p:extLst>
  </p:cSld>
</p:sld>
</file>

<file path=ppt/slides/slide4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Marcador de número de diapositiva 17">
            <a:extLst xmlns:a="http://schemas.openxmlformats.org/drawingml/2006/main">
              <a:ext uri="{FF2B5EF4-FFF2-40B4-BE49-F238E27FC236}">
                <a16:creationId xmlns:a16="http://schemas.microsoft.com/office/drawing/2014/main" id="{FA71A55B-B389-7001-A9E1-319E4426EE2D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AD74175A-4E66-87FD-D56A-AAD4D4BBF877}" type="slidenum">
              <a:t>49</a:t>
            </a:fld>
          </a:p>
        </p:txBody>
      </p:sp>
      <p:sp>
        <p:nvSpPr>
          <p:cNvPr id="19" name="U02-049_eyebrow">
            <a:extLst xmlns:a="http://schemas.openxmlformats.org/drawingml/2006/main">
              <a:ext uri="{FF2B5EF4-FFF2-40B4-BE49-F238E27FC236}">
                <a16:creationId xmlns:a16="http://schemas.microsoft.com/office/drawing/2014/main" id="{E1CE51D2-0AC2-484B-846D-758F18870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TRABAJO Y ENERGÍA</a:t>
            </a:r>
          </a:p>
        </p:txBody>
      </p:sp>
      <p:sp>
        <p:nvSpPr>
          <p:cNvPr id="20" name="U02-049_title">
            <a:extLst xmlns:a="http://schemas.openxmlformats.org/drawingml/2006/main">
              <a:ext uri="{FF2B5EF4-FFF2-40B4-BE49-F238E27FC236}">
                <a16:creationId xmlns:a16="http://schemas.microsoft.com/office/drawing/2014/main" id="{68960C43-C6D8-40A5-BF5D-87FC9A38A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En el caso simple, trabajo es fuerza por desplazamiento</a:t>
            </a:r>
          </a:p>
        </p:txBody>
      </p:sp>
      <p:sp>
        <p:nvSpPr>
          <p:cNvPr id="21" name="U02-049_takeaway">
            <a:extLst xmlns:a="http://schemas.openxmlformats.org/drawingml/2006/main">
              <a:ext uri="{FF2B5EF4-FFF2-40B4-BE49-F238E27FC236}">
                <a16:creationId xmlns:a16="http://schemas.microsoft.com/office/drawing/2014/main" id="{069DE7AB-763B-4233-AFA9-B4C5AFFFB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Si la fuerza es constante y paralela al desplazamiento,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W = F·Δx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. El trabajo se mide en joules: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1 J = 1 N·m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22" name="U02-049_equation_panel">
            <a:extLst xmlns:a="http://schemas.openxmlformats.org/drawingml/2006/main">
              <a:ext uri="{FF2B5EF4-FFF2-40B4-BE49-F238E27FC236}">
                <a16:creationId xmlns:a16="http://schemas.microsoft.com/office/drawing/2014/main" id="{90CC20E6-C335-456A-BFDD-5EDD98AD0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7165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23" name="U02-049_equation">
            <a:extLst xmlns:a="http://schemas.openxmlformats.org/drawingml/2006/main">
              <a:ext uri="{FF2B5EF4-FFF2-40B4-BE49-F238E27FC236}">
                <a16:creationId xmlns:a16="http://schemas.microsoft.com/office/drawing/2014/main" id="{2EF11B84-1941-48EE-A8C9-7CC0691C4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80022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W_trab = F·d</a:t>
            </a:r>
          </a:p>
        </p:txBody>
      </p:sp>
      <p:pic>
        <p:nvPicPr>
          <p:cNvPr id="34" name="U02-049: Ecuación anotada de la slide «En el caso simple, trabajo es fuerza por desplazamiento»: Ecuación, condiciones, símbolos y 1 J = 1 N·m; un contraejemplo sin desplazamiento." descr="U02-049: Ecuación anotada de la slide «En el caso simple, trabajo es fuerza por desplazamiento»: Ecuación, condiciones, símbolos y 1 J = 1 N·m; un contraejemplo sin desplazamiento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12e7308c86493c">
            <a:extLst>
              <a:ext uri="{96DAC541-7B7A-43D3-8B79-37D633B846F1}">
                <asvg:svgBlip xmlns:asvg="http://schemas.microsoft.com/office/drawing/2016/SVG/main" r:embed="R1fd90861e6b0427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362200"/>
            <a:ext cx="10668000" cy="3352800"/>
          </a:xfrm>
          <a:prstGeom xmlns:a="http://schemas.openxmlformats.org/drawingml/2006/main" prst="rect">
            <a:avLst/>
          </a:prstGeom>
        </p:spPr>
      </p:pic>
      <p:sp>
        <p:nvSpPr>
          <p:cNvPr id="25" name="U02-049_caption">
            <a:extLst xmlns:a="http://schemas.openxmlformats.org/drawingml/2006/main">
              <a:ext uri="{FF2B5EF4-FFF2-40B4-BE49-F238E27FC236}">
                <a16:creationId xmlns:a16="http://schemas.microsoft.com/office/drawing/2014/main" id="{93E15EFA-C33F-4B2F-BCF0-4ED92575C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El joule equivale a newton por metro.</a:t>
            </a:r>
          </a:p>
        </p:txBody>
      </p:sp>
      <p:sp>
        <p:nvSpPr>
          <p:cNvPr id="26" name="U02-049_source">
            <a:extLst xmlns:a="http://schemas.openxmlformats.org/drawingml/2006/main">
              <a:ext uri="{FF2B5EF4-FFF2-40B4-BE49-F238E27FC236}">
                <a16:creationId xmlns:a16="http://schemas.microsoft.com/office/drawing/2014/main" id="{12E59AD9-4C5A-486F-8DAB-66BE3BB6F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5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Marcador de número de diapositiva 17">
            <a:extLst xmlns:a="http://schemas.openxmlformats.org/drawingml/2006/main">
              <a:ext uri="{FF2B5EF4-FFF2-40B4-BE49-F238E27FC236}">
                <a16:creationId xmlns:a16="http://schemas.microsoft.com/office/drawing/2014/main" id="{FA71A55B-B389-7001-A9E1-319E4426EE2D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3491E0C6-B3E9-2F0E-6F4F-4638278C4AE4}" type="slidenum">
              <a:t>50</a:t>
            </a:fld>
          </a:p>
        </p:txBody>
      </p:sp>
      <p:sp>
        <p:nvSpPr>
          <p:cNvPr id="19" name="U02-050_eyebrow">
            <a:extLst xmlns:a="http://schemas.openxmlformats.org/drawingml/2006/main">
              <a:ext uri="{FF2B5EF4-FFF2-40B4-BE49-F238E27FC236}">
                <a16:creationId xmlns:a16="http://schemas.microsoft.com/office/drawing/2014/main" id="{1FDE3D2A-A1AF-48D5-8587-BD5B70560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TRABAJO Y ENERGÍA</a:t>
            </a:r>
          </a:p>
        </p:txBody>
      </p:sp>
      <p:sp>
        <p:nvSpPr>
          <p:cNvPr id="20" name="U02-050_title">
            <a:extLst xmlns:a="http://schemas.openxmlformats.org/drawingml/2006/main">
              <a:ext uri="{FF2B5EF4-FFF2-40B4-BE49-F238E27FC236}">
                <a16:creationId xmlns:a16="http://schemas.microsoft.com/office/drawing/2014/main" id="{3193FE24-491C-440E-86D8-EE5A387BA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energía cinética depende de la rapidez al cuadrado</a:t>
            </a:r>
          </a:p>
        </p:txBody>
      </p:sp>
      <p:sp>
        <p:nvSpPr>
          <p:cNvPr id="21" name="U02-050_takeaway">
            <a:extLst xmlns:a="http://schemas.openxmlformats.org/drawingml/2006/main">
              <a:ext uri="{FF2B5EF4-FFF2-40B4-BE49-F238E27FC236}">
                <a16:creationId xmlns:a16="http://schemas.microsoft.com/office/drawing/2014/main" id="{DE1940D5-3DC9-4643-AD1B-646F4D538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E_c = ½m·v²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. Para la misma masa, duplicar la rapidez cuadruplica la energía cinética.</a:t>
            </a:r>
          </a:p>
        </p:txBody>
      </p:sp>
      <p:sp>
        <p:nvSpPr>
          <p:cNvPr id="22" name="U02-050_equation_panel">
            <a:extLst xmlns:a="http://schemas.openxmlformats.org/drawingml/2006/main">
              <a:ext uri="{FF2B5EF4-FFF2-40B4-BE49-F238E27FC236}">
                <a16:creationId xmlns:a16="http://schemas.microsoft.com/office/drawing/2014/main" id="{59420D90-7BD8-4073-BD16-A612AC21E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7165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23" name="U02-050_equation">
            <a:extLst xmlns:a="http://schemas.openxmlformats.org/drawingml/2006/main">
              <a:ext uri="{FF2B5EF4-FFF2-40B4-BE49-F238E27FC236}">
                <a16:creationId xmlns:a16="http://schemas.microsoft.com/office/drawing/2014/main" id="{6E128671-7DA2-469D-A752-EF42E74B4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80022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E_c = ½mv²</a:t>
            </a:r>
          </a:p>
        </p:txBody>
      </p:sp>
      <p:pic>
        <p:nvPicPr>
          <p:cNvPr id="34" name="U02-050: Ecuación anotada de la slide «La energía cinética depende de la rapidez al cuadrado»: E_c = 1/2 mv²; símbolos, unidades y lectura cualitativa." descr="U02-050: Ecuación anotada de la slide «La energía cinética depende de la rapidez al cuadrado»: E_c = 1/2 mv²; símbolos, unidades y lectura cualitativa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cf06134c20436e">
            <a:extLst>
              <a:ext uri="{96DAC541-7B7A-43D3-8B79-37D633B846F1}">
                <asvg:svgBlip xmlns:asvg="http://schemas.microsoft.com/office/drawing/2016/SVG/main" r:embed="Rd6f82e84d4c144c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362200"/>
            <a:ext cx="10668000" cy="3352800"/>
          </a:xfrm>
          <a:prstGeom xmlns:a="http://schemas.openxmlformats.org/drawingml/2006/main" prst="rect">
            <a:avLst/>
          </a:prstGeom>
        </p:spPr>
      </p:pic>
      <p:sp>
        <p:nvSpPr>
          <p:cNvPr id="25" name="U02-050_caption">
            <a:extLst xmlns:a="http://schemas.openxmlformats.org/drawingml/2006/main">
              <a:ext uri="{FF2B5EF4-FFF2-40B4-BE49-F238E27FC236}">
                <a16:creationId xmlns:a16="http://schemas.microsoft.com/office/drawing/2014/main" id="{16DAB0A9-83B7-49B5-9661-F2E13B91D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Duplicar la rapidez cuadruplica E_c para la misma masa.</a:t>
            </a:r>
          </a:p>
        </p:txBody>
      </p:sp>
      <p:sp>
        <p:nvSpPr>
          <p:cNvPr id="26" name="U02-050_source">
            <a:extLst xmlns:a="http://schemas.openxmlformats.org/drawingml/2006/main">
              <a:ext uri="{FF2B5EF4-FFF2-40B4-BE49-F238E27FC236}">
                <a16:creationId xmlns:a16="http://schemas.microsoft.com/office/drawing/2014/main" id="{AB6C4E67-EF27-4E7A-BD3F-F9A4CA60E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5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Marcador de número de diapositiva 17">
            <a:extLst xmlns:a="http://schemas.openxmlformats.org/drawingml/2006/main">
              <a:ext uri="{FF2B5EF4-FFF2-40B4-BE49-F238E27FC236}">
                <a16:creationId xmlns:a16="http://schemas.microsoft.com/office/drawing/2014/main" id="{FA71A55B-B389-7001-A9E1-319E4426EE2D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6043A58D-60CA-DFB2-80EC-B65AE4CB9481}" type="slidenum">
              <a:t>51</a:t>
            </a:fld>
          </a:p>
        </p:txBody>
      </p:sp>
      <p:sp>
        <p:nvSpPr>
          <p:cNvPr id="19" name="U02-051_eyebrow">
            <a:extLst xmlns:a="http://schemas.openxmlformats.org/drawingml/2006/main">
              <a:ext uri="{FF2B5EF4-FFF2-40B4-BE49-F238E27FC236}">
                <a16:creationId xmlns:a16="http://schemas.microsoft.com/office/drawing/2014/main" id="{369129EE-0BC6-4E0C-AC8F-99B0E52BC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TRABAJO Y ENERGÍA</a:t>
            </a:r>
          </a:p>
        </p:txBody>
      </p:sp>
      <p:sp>
        <p:nvSpPr>
          <p:cNvPr id="20" name="U02-051_title">
            <a:extLst xmlns:a="http://schemas.openxmlformats.org/drawingml/2006/main">
              <a:ext uri="{FF2B5EF4-FFF2-40B4-BE49-F238E27FC236}">
                <a16:creationId xmlns:a16="http://schemas.microsoft.com/office/drawing/2014/main" id="{2871BB6B-25DE-4133-89B3-777C8DB72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 resorte lineal almacena energía al deformarse</a:t>
            </a:r>
          </a:p>
        </p:txBody>
      </p:sp>
      <p:sp>
        <p:nvSpPr>
          <p:cNvPr id="21" name="U02-051_takeaway">
            <a:extLst xmlns:a="http://schemas.openxmlformats.org/drawingml/2006/main">
              <a:ext uri="{FF2B5EF4-FFF2-40B4-BE49-F238E27FC236}">
                <a16:creationId xmlns:a16="http://schemas.microsoft.com/office/drawing/2014/main" id="{73773DFF-4D25-4427-B35C-477F6102F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E_el = ½k_s·x²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. El resorte almacena la misma energía para desplazamientos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+x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y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−x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de igual módulo.</a:t>
            </a:r>
          </a:p>
        </p:txBody>
      </p:sp>
      <p:sp>
        <p:nvSpPr>
          <p:cNvPr id="22" name="U02-051_equation_panel">
            <a:extLst xmlns:a="http://schemas.openxmlformats.org/drawingml/2006/main">
              <a:ext uri="{FF2B5EF4-FFF2-40B4-BE49-F238E27FC236}">
                <a16:creationId xmlns:a16="http://schemas.microsoft.com/office/drawing/2014/main" id="{BDD669AA-87A4-4F72-BF64-484B5A704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0495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23" name="U02-051_equation">
            <a:extLst xmlns:a="http://schemas.openxmlformats.org/drawingml/2006/main">
              <a:ext uri="{FF2B5EF4-FFF2-40B4-BE49-F238E27FC236}">
                <a16:creationId xmlns:a16="http://schemas.microsoft.com/office/drawing/2014/main" id="{2593C4A5-C40F-4EE6-AA91-F8D1ABF90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53352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E_el = ½k_sx²</a:t>
            </a:r>
          </a:p>
        </p:txBody>
      </p:sp>
      <p:pic>
        <p:nvPicPr>
          <p:cNvPr id="34" name="U02-051: Ecuación anotada de la slide «Un resorte lineal almacena energía al deformarse»: E_el = 1/2 k_s x²; símbolos, unidades y comparación x/-x." descr="U02-051: Ecuación anotada de la slide «Un resorte lineal almacena energía al deformarse»: E_el = 1/2 k_s x²; símbolos, unidades y comparación x/-x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356495f44845e0">
            <a:extLst>
              <a:ext uri="{96DAC541-7B7A-43D3-8B79-37D633B846F1}">
                <asvg:svgBlip xmlns:asvg="http://schemas.microsoft.com/office/drawing/2016/SVG/main" r:embed="R5fc8016364514b9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095500"/>
            <a:ext cx="10668000" cy="3619500"/>
          </a:xfrm>
          <a:prstGeom xmlns:a="http://schemas.openxmlformats.org/drawingml/2006/main" prst="rect">
            <a:avLst/>
          </a:prstGeom>
        </p:spPr>
      </p:pic>
      <p:sp>
        <p:nvSpPr>
          <p:cNvPr id="25" name="U02-051_caption">
            <a:extLst xmlns:a="http://schemas.openxmlformats.org/drawingml/2006/main">
              <a:ext uri="{FF2B5EF4-FFF2-40B4-BE49-F238E27FC236}">
                <a16:creationId xmlns:a16="http://schemas.microsoft.com/office/drawing/2014/main" id="{D3B21D81-5A27-4B79-9EEC-9FE814CB9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energía elástica crece con x² y no conserva el signo de x.</a:t>
            </a:r>
          </a:p>
        </p:txBody>
      </p:sp>
      <p:sp>
        <p:nvSpPr>
          <p:cNvPr id="26" name="U02-051_source">
            <a:extLst xmlns:a="http://schemas.openxmlformats.org/drawingml/2006/main">
              <a:ext uri="{FF2B5EF4-FFF2-40B4-BE49-F238E27FC236}">
                <a16:creationId xmlns:a16="http://schemas.microsoft.com/office/drawing/2014/main" id="{A458363E-991B-4AA0-857C-7FFF7C104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5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Marcador de número de diapositiva 27">
            <a:extLst xmlns:a="http://schemas.openxmlformats.org/drawingml/2006/main">
              <a:ext uri="{FF2B5EF4-FFF2-40B4-BE49-F238E27FC236}">
                <a16:creationId xmlns:a16="http://schemas.microsoft.com/office/drawing/2014/main" id="{7D464FDA-53EB-4C28-9BB9-7238405ABEB4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E633A456-5465-3671-5B0B-A8DFBB753E5A}" type="slidenum">
              <a:t>52</a:t>
            </a:fld>
          </a:p>
        </p:txBody>
      </p:sp>
      <p:sp>
        <p:nvSpPr>
          <p:cNvPr id="29" name="U02-052_eyebrow">
            <a:extLst xmlns:a="http://schemas.openxmlformats.org/drawingml/2006/main">
              <a:ext uri="{FF2B5EF4-FFF2-40B4-BE49-F238E27FC236}">
                <a16:creationId xmlns:a16="http://schemas.microsoft.com/office/drawing/2014/main" id="{B468B5A8-3321-4776-A411-6A6164427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TRABAJO Y ENERGÍA</a:t>
            </a:r>
          </a:p>
        </p:txBody>
      </p:sp>
      <p:sp>
        <p:nvSpPr>
          <p:cNvPr id="30" name="U02-052_title">
            <a:extLst xmlns:a="http://schemas.openxmlformats.org/drawingml/2006/main">
              <a:ext uri="{FF2B5EF4-FFF2-40B4-BE49-F238E27FC236}">
                <a16:creationId xmlns:a16="http://schemas.microsoft.com/office/drawing/2014/main" id="{E807FD58-44D7-4C28-A6BE-BAFD6DE2D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energía puede pasar de cinética a elástica</a:t>
            </a:r>
          </a:p>
        </p:txBody>
      </p:sp>
      <p:sp>
        <p:nvSpPr>
          <p:cNvPr id="31" name="U02-052_takeaway">
            <a:extLst xmlns:a="http://schemas.openxmlformats.org/drawingml/2006/main">
              <a:ext uri="{FF2B5EF4-FFF2-40B4-BE49-F238E27FC236}">
                <a16:creationId xmlns:a16="http://schemas.microsoft.com/office/drawing/2014/main" id="{DCD66F70-9D72-400B-807B-979F9226B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1. En equilibrio, la rapidez puede ser máxima.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2. En el extremo, la rapidez es momentáneamente nula y la energía elástica es mayor.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3. Durante el retorno, ambas formas se intercambian.</a:t>
            </a:r>
          </a:p>
        </p:txBody>
      </p:sp>
      <p:pic>
        <p:nvPicPr>
          <p:cNvPr id="40" name="U02-052: Diagrama de la slide «La energía puede pasar de cinética a elástica»: Tres estados de una oscilación: equilibrio rápido, extremo detenido, retorno." descr="U02-052: Diagrama de la slide «La energía puede pasar de cinética a elástica»: Tres estados de una oscilación: equilibrio rápido, extremo detenido, retorno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1841fd81514209">
            <a:extLst>
              <a:ext uri="{96DAC541-7B7A-43D3-8B79-37D633B846F1}">
                <asvg:svgBlip xmlns:asvg="http://schemas.microsoft.com/office/drawing/2016/SVG/main" r:embed="R59afb966b6a8437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295525"/>
            <a:ext cx="10668000" cy="3419475"/>
          </a:xfrm>
          <a:prstGeom xmlns:a="http://schemas.openxmlformats.org/drawingml/2006/main" prst="rect">
            <a:avLst/>
          </a:prstGeom>
        </p:spPr>
      </p:pic>
      <p:sp>
        <p:nvSpPr>
          <p:cNvPr id="33" name="U02-052_caption">
            <a:extLst xmlns:a="http://schemas.openxmlformats.org/drawingml/2006/main">
              <a:ext uri="{FF2B5EF4-FFF2-40B4-BE49-F238E27FC236}">
                <a16:creationId xmlns:a16="http://schemas.microsoft.com/office/drawing/2014/main" id="{4370F03A-E7A5-4336-8712-6CF004C8A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En el modelo sin amortiguamiento cambia la forma, no la energía mecánica total. Esquema conceptual; no está a escala.</a:t>
            </a:r>
          </a:p>
        </p:txBody>
      </p:sp>
      <p:sp>
        <p:nvSpPr>
          <p:cNvPr id="34" name="U02-052_source">
            <a:extLst xmlns:a="http://schemas.openxmlformats.org/drawingml/2006/main">
              <a:ext uri="{FF2B5EF4-FFF2-40B4-BE49-F238E27FC236}">
                <a16:creationId xmlns:a16="http://schemas.microsoft.com/office/drawing/2014/main" id="{87B87692-A461-4FDA-97CC-8403696B4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</p:sld>
</file>

<file path=ppt/slides/slide5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Marcador de número de diapositiva 12">
            <a:extLst xmlns:a="http://schemas.openxmlformats.org/drawingml/2006/main">
              <a:ext uri="{FF2B5EF4-FFF2-40B4-BE49-F238E27FC236}">
                <a16:creationId xmlns:a16="http://schemas.microsoft.com/office/drawing/2014/main" id="{12BF3667-16D3-B7A0-EF76-B375EF898D79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4477B42F-3A06-F812-16D6-7080D8A12563}" type="slidenum">
              <a:t>53</a:t>
            </a:fld>
          </a:p>
        </p:txBody>
      </p:sp>
      <p:sp>
        <p:nvSpPr>
          <p:cNvPr id="14" name="U02-053_eyebrow">
            <a:extLst xmlns:a="http://schemas.openxmlformats.org/drawingml/2006/main">
              <a:ext uri="{FF2B5EF4-FFF2-40B4-BE49-F238E27FC236}">
                <a16:creationId xmlns:a16="http://schemas.microsoft.com/office/drawing/2014/main" id="{8DEF7D90-8356-4492-8326-FE6F6EFA4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TRABAJO Y ENERGÍA</a:t>
            </a:r>
          </a:p>
        </p:txBody>
      </p:sp>
      <p:sp>
        <p:nvSpPr>
          <p:cNvPr id="15" name="U02-053_title">
            <a:extLst xmlns:a="http://schemas.openxmlformats.org/drawingml/2006/main">
              <a:ext uri="{FF2B5EF4-FFF2-40B4-BE49-F238E27FC236}">
                <a16:creationId xmlns:a16="http://schemas.microsoft.com/office/drawing/2014/main" id="{52126934-D4B7-4265-B0BB-D370D13E0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energía total se conserva en un sistema aislado</a:t>
            </a:r>
          </a:p>
        </p:txBody>
      </p:sp>
      <p:sp>
        <p:nvSpPr>
          <p:cNvPr id="16" name="U02-053_takeaway">
            <a:extLst xmlns:a="http://schemas.openxmlformats.org/drawingml/2006/main">
              <a:ext uri="{FF2B5EF4-FFF2-40B4-BE49-F238E27FC236}">
                <a16:creationId xmlns:a16="http://schemas.microsoft.com/office/drawing/2014/main" id="{A4DE4AEB-D380-4666-AAF8-01F13DDA9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En un sistema aislado, la energía total permanece constante aunque cambie de forma. Una disminución de energía mecánica no implica destrucción de energía.</a:t>
            </a:r>
          </a:p>
        </p:txBody>
      </p:sp>
      <p:pic>
        <p:nvPicPr>
          <p:cNvPr id="25" name="U02-053: Diagrama de la slide «La energía total se conserva en un sistema aislado»: Definición; sistema aislado; formas y transferencias; frase de precisión." descr="U02-053: Diagrama de la slide «La energía total se conserva en un sistema aislado»: Definición; sistema aislado; formas y transferencias; frase de precisión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75aa13d94d44a9">
            <a:extLst>
              <a:ext uri="{96DAC541-7B7A-43D3-8B79-37D633B846F1}">
                <asvg:svgBlip xmlns:asvg="http://schemas.microsoft.com/office/drawing/2016/SVG/main" r:embed="R78e9b39cdd4740f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324100"/>
            <a:ext cx="10668000" cy="3390900"/>
          </a:xfrm>
          <a:prstGeom xmlns:a="http://schemas.openxmlformats.org/drawingml/2006/main" prst="rect">
            <a:avLst/>
          </a:prstGeom>
        </p:spPr>
      </p:pic>
      <p:sp>
        <p:nvSpPr>
          <p:cNvPr id="18" name="U02-053_caption">
            <a:extLst xmlns:a="http://schemas.openxmlformats.org/drawingml/2006/main">
              <a:ext uri="{FF2B5EF4-FFF2-40B4-BE49-F238E27FC236}">
                <a16:creationId xmlns:a16="http://schemas.microsoft.com/office/drawing/2014/main" id="{CD5224B9-68AC-4559-8A70-389DC259C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Disminuir energía mecánica útil no significa destruir energía total.</a:t>
            </a:r>
          </a:p>
        </p:txBody>
      </p:sp>
      <p:sp>
        <p:nvSpPr>
          <p:cNvPr id="19" name="U02-053_source">
            <a:extLst xmlns:a="http://schemas.openxmlformats.org/drawingml/2006/main">
              <a:ext uri="{FF2B5EF4-FFF2-40B4-BE49-F238E27FC236}">
                <a16:creationId xmlns:a16="http://schemas.microsoft.com/office/drawing/2014/main" id="{5FB07E79-40C3-4AC3-A04F-F0F0B18C4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</p:sld>
</file>

<file path=ppt/slides/slide5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Marcador de número de diapositiva 27">
            <a:extLst xmlns:a="http://schemas.openxmlformats.org/drawingml/2006/main">
              <a:ext uri="{FF2B5EF4-FFF2-40B4-BE49-F238E27FC236}">
                <a16:creationId xmlns:a16="http://schemas.microsoft.com/office/drawing/2014/main" id="{7D464FDA-53EB-4C28-9BB9-7238405ABEB4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2FFCF489-DFD6-64BD-BCB3-4D97AF36B1FB}" type="slidenum">
              <a:t>54</a:t>
            </a:fld>
          </a:p>
        </p:txBody>
      </p:sp>
      <p:sp>
        <p:nvSpPr>
          <p:cNvPr id="29" name="U02-054_eyebrow">
            <a:extLst xmlns:a="http://schemas.openxmlformats.org/drawingml/2006/main">
              <a:ext uri="{FF2B5EF4-FFF2-40B4-BE49-F238E27FC236}">
                <a16:creationId xmlns:a16="http://schemas.microsoft.com/office/drawing/2014/main" id="{3C829B19-9799-4599-B204-618FB971F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TRABAJO Y ENERGÍA</a:t>
            </a:r>
          </a:p>
        </p:txBody>
      </p:sp>
      <p:sp>
        <p:nvSpPr>
          <p:cNvPr id="30" name="U02-054_title">
            <a:extLst xmlns:a="http://schemas.openxmlformats.org/drawingml/2006/main">
              <a:ext uri="{FF2B5EF4-FFF2-40B4-BE49-F238E27FC236}">
                <a16:creationId xmlns:a16="http://schemas.microsoft.com/office/drawing/2014/main" id="{D69E8C42-2E2D-4AE8-8EF3-738F89ECA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Entrada, almacenamiento, salida y disipación son destinos diferentes</a:t>
            </a:r>
          </a:p>
        </p:txBody>
      </p:sp>
      <p:sp>
        <p:nvSpPr>
          <p:cNvPr id="31" name="U02-054_takeaway">
            <a:extLst xmlns:a="http://schemas.openxmlformats.org/drawingml/2006/main">
              <a:ext uri="{FF2B5EF4-FFF2-40B4-BE49-F238E27FC236}">
                <a16:creationId xmlns:a16="http://schemas.microsoft.com/office/drawing/2014/main" id="{36B4D600-BF90-423A-BFC6-311624AE9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Entra: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cruza hacia el sistema.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Se almacena: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cambia la energía mecánica.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Sale: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cruza hacia otro sistema.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Se disipa: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se convierte en energía interna.</a:t>
            </a:r>
          </a:p>
        </p:txBody>
      </p:sp>
      <p:pic>
        <p:nvPicPr>
          <p:cNvPr id="40" name="U02-054: Diagrama de la slide «Entrada, almacenamiento, salida y disipación son destinos diferentes»: Cuatro destinos con verbos; sin proporciones ni eficiencia." descr="U02-054: Diagrama de la slide «Entrada, almacenamiento, salida y disipación son destinos diferentes»: Cuatro destinos con verbos; sin proporciones ni eficiencia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5b9183fe6b42f0">
            <a:extLst>
              <a:ext uri="{96DAC541-7B7A-43D3-8B79-37D633B846F1}">
                <asvg:svgBlip xmlns:asvg="http://schemas.microsoft.com/office/drawing/2016/SVG/main" r:embed="Re1a554f3291a4f7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800350"/>
            <a:ext cx="10668000" cy="2914650"/>
          </a:xfrm>
          <a:prstGeom xmlns:a="http://schemas.openxmlformats.org/drawingml/2006/main" prst="rect">
            <a:avLst/>
          </a:prstGeom>
        </p:spPr>
      </p:pic>
      <p:sp>
        <p:nvSpPr>
          <p:cNvPr id="33" name="U02-054_caption">
            <a:extLst xmlns:a="http://schemas.openxmlformats.org/drawingml/2006/main">
              <a:ext uri="{FF2B5EF4-FFF2-40B4-BE49-F238E27FC236}">
                <a16:creationId xmlns:a16="http://schemas.microsoft.com/office/drawing/2014/main" id="{6E306CA5-7406-4F46-A4A9-B0C47643E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frontera y el intervalo determinan qué cuenta como entrada o salida.</a:t>
            </a:r>
          </a:p>
        </p:txBody>
      </p:sp>
      <p:sp>
        <p:nvSpPr>
          <p:cNvPr id="34" name="U02-054_source">
            <a:extLst xmlns:a="http://schemas.openxmlformats.org/drawingml/2006/main">
              <a:ext uri="{FF2B5EF4-FFF2-40B4-BE49-F238E27FC236}">
                <a16:creationId xmlns:a16="http://schemas.microsoft.com/office/drawing/2014/main" id="{76B15AF5-1635-41C1-A46A-54EE9479F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</p:sld>
</file>

<file path=ppt/slides/slide5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Marcador de número de diapositiva 17">
            <a:extLst xmlns:a="http://schemas.openxmlformats.org/drawingml/2006/main">
              <a:ext uri="{FF2B5EF4-FFF2-40B4-BE49-F238E27FC236}">
                <a16:creationId xmlns:a16="http://schemas.microsoft.com/office/drawing/2014/main" id="{FA71A55B-B389-7001-A9E1-319E4426EE2D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4C0BC6D5-207B-F838-F994-CD836D38A6B0}" type="slidenum">
              <a:t>55</a:t>
            </a:fld>
          </a:p>
        </p:txBody>
      </p:sp>
      <p:sp>
        <p:nvSpPr>
          <p:cNvPr id="19" name="U02-055_eyebrow">
            <a:extLst xmlns:a="http://schemas.openxmlformats.org/drawingml/2006/main">
              <a:ext uri="{FF2B5EF4-FFF2-40B4-BE49-F238E27FC236}">
                <a16:creationId xmlns:a16="http://schemas.microsoft.com/office/drawing/2014/main" id="{1A2554DB-68BC-4FDB-AA8A-0A1D834A2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TRABAJO Y ENERGÍA</a:t>
            </a:r>
          </a:p>
        </p:txBody>
      </p:sp>
      <p:sp>
        <p:nvSpPr>
          <p:cNvPr id="20" name="U02-055_title">
            <a:extLst xmlns:a="http://schemas.openxmlformats.org/drawingml/2006/main">
              <a:ext uri="{FF2B5EF4-FFF2-40B4-BE49-F238E27FC236}">
                <a16:creationId xmlns:a16="http://schemas.microsoft.com/office/drawing/2014/main" id="{6E3ECE3C-00A1-4412-BF1D-2F066AFEB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balance debe cerrar</a:t>
            </a:r>
          </a:p>
        </p:txBody>
      </p:sp>
      <p:sp>
        <p:nvSpPr>
          <p:cNvPr id="21" name="U02-055_takeaway">
            <a:extLst xmlns:a="http://schemas.openxmlformats.org/drawingml/2006/main">
              <a:ext uri="{FF2B5EF4-FFF2-40B4-BE49-F238E27FC236}">
                <a16:creationId xmlns:a16="http://schemas.microsoft.com/office/drawing/2014/main" id="{63302275-925A-4D0E-964D-F6330B9B9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E_entrada = ΔE_mec + E_salida + E_disipada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. Si conocemos tres términos, el cuarto se obtiene por balance y debe conservar la unidad de energía.</a:t>
            </a:r>
          </a:p>
        </p:txBody>
      </p:sp>
      <p:sp>
        <p:nvSpPr>
          <p:cNvPr id="22" name="U02-055_equation_panel">
            <a:extLst xmlns:a="http://schemas.openxmlformats.org/drawingml/2006/main">
              <a:ext uri="{FF2B5EF4-FFF2-40B4-BE49-F238E27FC236}">
                <a16:creationId xmlns:a16="http://schemas.microsoft.com/office/drawing/2014/main" id="{805A330E-B4CE-4070-AC5D-D18842E94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0495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23" name="U02-055_equation">
            <a:extLst xmlns:a="http://schemas.openxmlformats.org/drawingml/2006/main">
              <a:ext uri="{FF2B5EF4-FFF2-40B4-BE49-F238E27FC236}">
                <a16:creationId xmlns:a16="http://schemas.microsoft.com/office/drawing/2014/main" id="{3A094CFF-819A-4023-AEAD-0D501AB81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53352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E_entrada = ΔE_mec + E_salida + E_disipada</a:t>
            </a:r>
          </a:p>
        </p:txBody>
      </p:sp>
      <p:pic>
        <p:nvPicPr>
          <p:cNvPr id="34" name="U02-055: Ecuación anotada de la slide «El balance debe cerrar»: E_entrada = ΔE_mec + E_salida + E_disipada; unidades y condiciones." descr="U02-055: Ecuación anotada de la slide «El balance debe cerrar»: E_entrada = ΔE_mec + E_salida + E_disipada; unidades y condiciones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45763078714891">
            <a:extLst>
              <a:ext uri="{96DAC541-7B7A-43D3-8B79-37D633B846F1}">
                <asvg:svgBlip xmlns:asvg="http://schemas.microsoft.com/office/drawing/2016/SVG/main" r:embed="Raeba7eefc222418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095500"/>
            <a:ext cx="10668000" cy="3619500"/>
          </a:xfrm>
          <a:prstGeom xmlns:a="http://schemas.openxmlformats.org/drawingml/2006/main" prst="rect">
            <a:avLst/>
          </a:prstGeom>
        </p:spPr>
      </p:pic>
      <p:sp>
        <p:nvSpPr>
          <p:cNvPr id="25" name="U02-055_caption">
            <a:extLst xmlns:a="http://schemas.openxmlformats.org/drawingml/2006/main">
              <a:ext uri="{FF2B5EF4-FFF2-40B4-BE49-F238E27FC236}">
                <a16:creationId xmlns:a16="http://schemas.microsoft.com/office/drawing/2014/main" id="{A51FB895-B1FE-4516-9C60-3547AD852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Si no hay otras vías, la entrada se reparte entre cambio mecánico, salida y disipación.</a:t>
            </a:r>
          </a:p>
        </p:txBody>
      </p:sp>
      <p:sp>
        <p:nvSpPr>
          <p:cNvPr id="26" name="U02-055_source">
            <a:extLst xmlns:a="http://schemas.openxmlformats.org/drawingml/2006/main">
              <a:ext uri="{FF2B5EF4-FFF2-40B4-BE49-F238E27FC236}">
                <a16:creationId xmlns:a16="http://schemas.microsoft.com/office/drawing/2014/main" id="{2918C918-F93A-4926-8CFD-FCF886169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5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Marcador de número de diapositiva 23">
            <a:extLst xmlns:a="http://schemas.openxmlformats.org/drawingml/2006/main">
              <a:ext uri="{FF2B5EF4-FFF2-40B4-BE49-F238E27FC236}">
                <a16:creationId xmlns:a16="http://schemas.microsoft.com/office/drawing/2014/main" id="{D4631810-29E2-3802-8D4E-7DEAB08103EF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53265AEE-4D99-0673-12C8-99EFF695690A}" type="slidenum">
              <a:t>56</a:t>
            </a:fld>
          </a:p>
        </p:txBody>
      </p:sp>
      <p:sp>
        <p:nvSpPr>
          <p:cNvPr id="25" name="U02-056_eyebrow">
            <a:extLst xmlns:a="http://schemas.openxmlformats.org/drawingml/2006/main">
              <a:ext uri="{FF2B5EF4-FFF2-40B4-BE49-F238E27FC236}">
                <a16:creationId xmlns:a16="http://schemas.microsoft.com/office/drawing/2014/main" id="{B33CAD76-42B4-4281-B458-9BC200C5C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TRABAJO Y ENERGÍA</a:t>
            </a:r>
          </a:p>
        </p:txBody>
      </p:sp>
      <p:sp>
        <p:nvSpPr>
          <p:cNvPr id="26" name="U02-056_title">
            <a:extLst xmlns:a="http://schemas.openxmlformats.org/drawingml/2006/main">
              <a:ext uri="{FF2B5EF4-FFF2-40B4-BE49-F238E27FC236}">
                <a16:creationId xmlns:a16="http://schemas.microsoft.com/office/drawing/2014/main" id="{CD732077-CBCB-4E84-A117-00BA1543D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energía disipada no es energía destruida</a:t>
            </a:r>
          </a:p>
        </p:txBody>
      </p:sp>
      <p:sp>
        <p:nvSpPr>
          <p:cNvPr id="27" name="U02-056_takeaway">
            <a:extLst xmlns:a="http://schemas.openxmlformats.org/drawingml/2006/main">
              <a:ext uri="{FF2B5EF4-FFF2-40B4-BE49-F238E27FC236}">
                <a16:creationId xmlns:a16="http://schemas.microsoft.com/office/drawing/2014/main" id="{DCEC6211-E7FE-45D8-AA38-F834D2E2C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7239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Datos: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entrada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2,0 mJ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; aumento mecánico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1,3 mJ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; salida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0,4 mJ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Despeje: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restar cambio y salida.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Resultado: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0,3 mJ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convertidos en energía interna.</a:t>
            </a:r>
          </a:p>
        </p:txBody>
      </p:sp>
      <p:sp>
        <p:nvSpPr>
          <p:cNvPr id="28" name="U02-056_equation_panel">
            <a:extLst xmlns:a="http://schemas.openxmlformats.org/drawingml/2006/main">
              <a:ext uri="{FF2B5EF4-FFF2-40B4-BE49-F238E27FC236}">
                <a16:creationId xmlns:a16="http://schemas.microsoft.com/office/drawing/2014/main" id="{6403D3A9-D71C-49B4-B81F-00976B4A0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0495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29" name="U02-056_equation">
            <a:extLst xmlns:a="http://schemas.openxmlformats.org/drawingml/2006/main">
              <a:ext uri="{FF2B5EF4-FFF2-40B4-BE49-F238E27FC236}">
                <a16:creationId xmlns:a16="http://schemas.microsoft.com/office/drawing/2014/main" id="{6B59BC4A-C9AD-4A84-BC9A-593ACBD22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53352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E_disipada = 2,0 mJ − 1,3 mJ − 0,4 mJ = 0,3 mJ.</a:t>
            </a:r>
          </a:p>
        </p:txBody>
      </p:sp>
      <p:pic>
        <p:nvPicPr>
          <p:cNvPr id="40" name="U02-056: Esquema mixto de la slide «La energía disipada no es energía destruida»: Datos 2,0, 1,3, 0,4 mJ; despeje; cálculo; verificación de suma." descr="U02-056: Esquema mixto de la slide «La energía disipada no es energía destruida»: Datos 2,0, 1,3, 0,4 mJ; despeje; cálculo; verificación de suma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8fa17bad144226">
            <a:extLst>
              <a:ext uri="{96DAC541-7B7A-43D3-8B79-37D633B846F1}">
                <asvg:svgBlip xmlns:asvg="http://schemas.microsoft.com/office/drawing/2016/SVG/main" r:embed="R491f700d9d60492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295525"/>
            <a:ext cx="10668000" cy="3419475"/>
          </a:xfrm>
          <a:prstGeom xmlns:a="http://schemas.openxmlformats.org/drawingml/2006/main" prst="rect">
            <a:avLst/>
          </a:prstGeom>
        </p:spPr>
      </p:pic>
      <p:sp>
        <p:nvSpPr>
          <p:cNvPr id="31" name="U02-056_caption">
            <a:extLst xmlns:a="http://schemas.openxmlformats.org/drawingml/2006/main">
              <a:ext uri="{FF2B5EF4-FFF2-40B4-BE49-F238E27FC236}">
                <a16:creationId xmlns:a16="http://schemas.microsoft.com/office/drawing/2014/main" id="{2337F37C-9BE5-4381-869E-2C7E7EEAF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El valor 0,3 mJ completa el balance y representa conversión a energía interna.</a:t>
            </a:r>
          </a:p>
        </p:txBody>
      </p:sp>
      <p:sp>
        <p:nvSpPr>
          <p:cNvPr id="32" name="U02-056_source">
            <a:extLst xmlns:a="http://schemas.openxmlformats.org/drawingml/2006/main">
              <a:ext uri="{FF2B5EF4-FFF2-40B4-BE49-F238E27FC236}">
                <a16:creationId xmlns:a16="http://schemas.microsoft.com/office/drawing/2014/main" id="{7191AF35-86C5-4470-AC2D-2FA33482F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1133635661"/>
      </p:ext>
    </p:extLst>
  </p:cSld>
</p:sld>
</file>

<file path=ppt/slides/slide5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Marcador de número de diapositiva 19">
            <a:extLst xmlns:a="http://schemas.openxmlformats.org/drawingml/2006/main">
              <a:ext uri="{FF2B5EF4-FFF2-40B4-BE49-F238E27FC236}">
                <a16:creationId xmlns:a16="http://schemas.microsoft.com/office/drawing/2014/main" id="{18081493-A553-AC13-4BA5-17CFA71BB2B5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8F0DF58B-F0CC-EE04-B3E8-87EC24B7009F}" type="slidenum">
              <a:t>57</a:t>
            </a:fld>
          </a:p>
        </p:txBody>
      </p:sp>
      <p:sp>
        <p:nvSpPr>
          <p:cNvPr id="21" name="U02-057_eyebrow">
            <a:extLst xmlns:a="http://schemas.openxmlformats.org/drawingml/2006/main">
              <a:ext uri="{FF2B5EF4-FFF2-40B4-BE49-F238E27FC236}">
                <a16:creationId xmlns:a16="http://schemas.microsoft.com/office/drawing/2014/main" id="{9FE8DE6B-175B-4E1A-89AF-41FE6774F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TRABAJO Y ENERGÍA</a:t>
            </a:r>
          </a:p>
        </p:txBody>
      </p:sp>
      <p:sp>
        <p:nvSpPr>
          <p:cNvPr id="22" name="U02-057_title">
            <a:extLst xmlns:a="http://schemas.openxmlformats.org/drawingml/2006/main">
              <a:ext uri="{FF2B5EF4-FFF2-40B4-BE49-F238E27FC236}">
                <a16:creationId xmlns:a16="http://schemas.microsoft.com/office/drawing/2014/main" id="{D7CA8FE5-B274-4416-8FBC-01B177309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Hasta acá: conservar no significa conservar la forma</a:t>
            </a:r>
          </a:p>
        </p:txBody>
      </p:sp>
      <p:sp>
        <p:nvSpPr>
          <p:cNvPr id="23" name="U02-057_takeaway">
            <a:extLst xmlns:a="http://schemas.openxmlformats.org/drawingml/2006/main">
              <a:ext uri="{FF2B5EF4-FFF2-40B4-BE49-F238E27FC236}">
                <a16:creationId xmlns:a16="http://schemas.microsoft.com/office/drawing/2014/main" id="{601FB973-4B9C-48BD-B853-E03EF6972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 energía puede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almacenarse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transferirse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o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disiparse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. Ninguna de esas rutas implica desaparición.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Pregunta: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¿un sistema pasivo puede aumentar presión sin crear energía?</a:t>
            </a:r>
          </a:p>
        </p:txBody>
      </p:sp>
      <p:pic>
        <p:nvPicPr>
          <p:cNvPr id="32" name="U02-057: Esquema mixto de la slide «Hasta acá: conservar no significa conservar la forma»: Tres ideas y pregunta sobre un sistema pasivo que aumenta presión." descr="U02-057: Esquema mixto de la slide «Hasta acá: conservar no significa conservar la forma»: Tres ideas y pregunta sobre un sistema pasivo que aumenta presión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85bacf754643bc">
            <a:extLst>
              <a:ext uri="{96DAC541-7B7A-43D3-8B79-37D633B846F1}">
                <asvg:svgBlip xmlns:asvg="http://schemas.microsoft.com/office/drawing/2016/SVG/main" r:embed="R497d3d297fb7458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324100"/>
            <a:ext cx="10668000" cy="3390900"/>
          </a:xfrm>
          <a:prstGeom xmlns:a="http://schemas.openxmlformats.org/drawingml/2006/main" prst="rect">
            <a:avLst/>
          </a:prstGeom>
        </p:spPr>
      </p:pic>
      <p:sp>
        <p:nvSpPr>
          <p:cNvPr id="25" name="U02-057_caption">
            <a:extLst xmlns:a="http://schemas.openxmlformats.org/drawingml/2006/main">
              <a:ext uri="{FF2B5EF4-FFF2-40B4-BE49-F238E27FC236}">
                <a16:creationId xmlns:a16="http://schemas.microsoft.com/office/drawing/2014/main" id="{1C0169A9-F659-4D6A-BE0E-6F8B2B4F0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Energía puede almacenarse, transferirse o disiparse sin desaparecer.</a:t>
            </a:r>
          </a:p>
        </p:txBody>
      </p:sp>
      <p:sp>
        <p:nvSpPr>
          <p:cNvPr id="26" name="U02-057_source">
            <a:extLst xmlns:a="http://schemas.openxmlformats.org/drawingml/2006/main">
              <a:ext uri="{FF2B5EF4-FFF2-40B4-BE49-F238E27FC236}">
                <a16:creationId xmlns:a16="http://schemas.microsoft.com/office/drawing/2014/main" id="{F34A7C21-C02E-43BA-9215-FBECA52E9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</p:sld>
</file>

<file path=ppt/slides/slide5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Marcador de número de diapositiva 8">
            <a:extLst xmlns:a="http://schemas.openxmlformats.org/drawingml/2006/main">
              <a:ext uri="{FF2B5EF4-FFF2-40B4-BE49-F238E27FC236}">
                <a16:creationId xmlns:a16="http://schemas.microsoft.com/office/drawing/2014/main" id="{208C11FF-1310-C67B-A471-A3573013EA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AC5D86DB-0D22-4F3A-B798-73C3EACC87D6}" type="slidenum">
              <a:t>58</a:t>
            </a:fld>
          </a:p>
        </p:txBody>
      </p:sp>
      <p:sp>
        <p:nvSpPr>
          <p:cNvPr id="10" name="U02-058_eyebrow">
            <a:extLst xmlns:a="http://schemas.openxmlformats.org/drawingml/2006/main">
              <a:ext uri="{FF2B5EF4-FFF2-40B4-BE49-F238E27FC236}">
                <a16:creationId xmlns:a16="http://schemas.microsoft.com/office/drawing/2014/main" id="{2A8C9AA1-9391-4740-86D9-9DBFED29B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UNIDAD 2 · CALOR Y PRIMERA LEY</a:t>
            </a:r>
          </a:p>
        </p:txBody>
      </p:sp>
      <p:sp>
        <p:nvSpPr>
          <p:cNvPr id="11" name="U02-058_title">
            <a:extLst xmlns:a="http://schemas.openxmlformats.org/drawingml/2006/main">
              <a:ext uri="{FF2B5EF4-FFF2-40B4-BE49-F238E27FC236}">
                <a16:creationId xmlns:a16="http://schemas.microsoft.com/office/drawing/2014/main" id="{8EB4224C-5BB3-4BA9-93FE-A1E854C3B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9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Temperatura, calor y energía interna no son equivalentes</a:t>
            </a:r>
          </a:p>
        </p:txBody>
      </p:sp>
      <p:sp>
        <p:nvSpPr>
          <p:cNvPr id="12" name="U02-058_guide">
            <a:extLst xmlns:a="http://schemas.openxmlformats.org/drawingml/2006/main">
              <a:ext uri="{FF2B5EF4-FFF2-40B4-BE49-F238E27FC236}">
                <a16:creationId xmlns:a16="http://schemas.microsoft.com/office/drawing/2014/main" id="{5424C150-6225-4794-A95F-C83D9E7EA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9334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8"/>
              </a:spcAft>
              <a:buNone/>
              <a:defRPr sz="22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Pregunta guía:</a:t>
            </a:r>
            <a:r>
              <a:rPr sz="22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¿qué magnitudes describen el estado del sistema y cuáles representan energía que cruza su frontera?</a:t>
            </a:r>
          </a:p>
        </p:txBody>
      </p:sp>
      <p:sp>
        <p:nvSpPr>
          <p:cNvPr id="13" name="U02-058_subtitle">
            <a:extLst xmlns:a="http://schemas.openxmlformats.org/drawingml/2006/main">
              <a:ext uri="{FF2B5EF4-FFF2-40B4-BE49-F238E27FC236}">
                <a16:creationId xmlns:a16="http://schemas.microsoft.com/office/drawing/2014/main" id="{866BCD0D-C97D-416D-9EB7-E39AE0006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800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E8DDE4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E8DDE4"/>
                </a:solidFill>
                <a:latin typeface="Calibri"/>
                <a:ea typeface="Calibri"/>
                <a:cs typeface="Calibri"/>
              </a:rPr>
              <a:t>Pregunta guía del bloque.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</p:sld>
</file>

<file path=ppt/slides/slide5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Marcador de número de diapositiva 13">
            <a:extLst xmlns:a="http://schemas.openxmlformats.org/drawingml/2006/main">
              <a:ext uri="{FF2B5EF4-FFF2-40B4-BE49-F238E27FC236}">
                <a16:creationId xmlns:a16="http://schemas.microsoft.com/office/drawing/2014/main" id="{6F0E431F-4E1E-5064-2E0C-9F4C713D3097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39F1FA4F-5E1D-6DD7-8899-DB45C4C32C6E}" type="slidenum">
              <a:t>59</a:t>
            </a:fld>
          </a:p>
        </p:txBody>
      </p:sp>
      <p:sp>
        <p:nvSpPr>
          <p:cNvPr id="15" name="U02-059_eyebrow">
            <a:extLst xmlns:a="http://schemas.openxmlformats.org/drawingml/2006/main">
              <a:ext uri="{FF2B5EF4-FFF2-40B4-BE49-F238E27FC236}">
                <a16:creationId xmlns:a16="http://schemas.microsoft.com/office/drawing/2014/main" id="{4AF5B2A8-B753-44BB-99C8-B043EBDB6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CALOR Y PRIMERA LEY</a:t>
            </a:r>
          </a:p>
        </p:txBody>
      </p:sp>
      <p:sp>
        <p:nvSpPr>
          <p:cNvPr id="16" name="U02-059_title">
            <a:extLst xmlns:a="http://schemas.openxmlformats.org/drawingml/2006/main">
              <a:ext uri="{FF2B5EF4-FFF2-40B4-BE49-F238E27FC236}">
                <a16:creationId xmlns:a16="http://schemas.microsoft.com/office/drawing/2014/main" id="{B31929AB-43ED-4522-A2E7-2915B2DD8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¿Cuál es estado y cuál es transferencia?</a:t>
            </a:r>
          </a:p>
        </p:txBody>
      </p:sp>
      <p:sp>
        <p:nvSpPr>
          <p:cNvPr id="17" name="U02-059_takeaway">
            <a:extLst xmlns:a="http://schemas.openxmlformats.org/drawingml/2006/main">
              <a:ext uri="{FF2B5EF4-FFF2-40B4-BE49-F238E27FC236}">
                <a16:creationId xmlns:a16="http://schemas.microsoft.com/office/drawing/2014/main" id="{4BBC93DF-6437-4B4D-A5D5-C22EA4CD1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Clasificar y justificar: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temperatura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energía interna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calor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trabajo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. ¿Cuáles describen el sistema y cuáles describen energía que cruza la frontera?</a:t>
            </a:r>
          </a:p>
        </p:txBody>
      </p:sp>
      <p:pic>
        <p:nvPicPr>
          <p:cNvPr id="26" name="U02-059: Diagrama de la slide «¿Cuál es estado y cuál es transferencia?»: Cuatro términos para clasificar y justificar." descr="U02-059: Diagrama de la slide «¿Cuál es estado y cuál es transferencia?»: Cuatro términos para clasificar y justificar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1ab68fca364f60">
            <a:extLst>
              <a:ext uri="{96DAC541-7B7A-43D3-8B79-37D633B846F1}">
                <asvg:svgBlip xmlns:asvg="http://schemas.microsoft.com/office/drawing/2016/SVG/main" r:embed="Rf3b0e36cae8f4b5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057400"/>
            <a:ext cx="10668000" cy="3657600"/>
          </a:xfrm>
          <a:prstGeom xmlns:a="http://schemas.openxmlformats.org/drawingml/2006/main" prst="rect">
            <a:avLst/>
          </a:prstGeom>
        </p:spPr>
      </p:pic>
      <p:sp>
        <p:nvSpPr>
          <p:cNvPr id="19" name="U02-059_caption">
            <a:extLst xmlns:a="http://schemas.openxmlformats.org/drawingml/2006/main">
              <a:ext uri="{FF2B5EF4-FFF2-40B4-BE49-F238E27FC236}">
                <a16:creationId xmlns:a16="http://schemas.microsoft.com/office/drawing/2014/main" id="{05F97112-6073-4B2F-9CE6-F8C57B9E5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Temperatura y energía interna describen estado; calor y trabajo describen transferencias.</a:t>
            </a:r>
          </a:p>
        </p:txBody>
      </p:sp>
      <p:sp>
        <p:nvSpPr>
          <p:cNvPr id="20" name="U02-059_source">
            <a:extLst xmlns:a="http://schemas.openxmlformats.org/drawingml/2006/main">
              <a:ext uri="{FF2B5EF4-FFF2-40B4-BE49-F238E27FC236}">
                <a16:creationId xmlns:a16="http://schemas.microsoft.com/office/drawing/2014/main" id="{B2A67637-FBC0-452A-999E-02E88C56F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</p:sld>
</file>

<file path=ppt/slides/slide6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Marcador de número de diapositiva 12">
            <a:extLst xmlns:a="http://schemas.openxmlformats.org/drawingml/2006/main">
              <a:ext uri="{FF2B5EF4-FFF2-40B4-BE49-F238E27FC236}">
                <a16:creationId xmlns:a16="http://schemas.microsoft.com/office/drawing/2014/main" id="{12BF3667-16D3-B7A0-EF76-B375EF898D79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28F55584-BE3A-83D9-FA7F-21221C333295}" type="slidenum">
              <a:t>60</a:t>
            </a:fld>
          </a:p>
        </p:txBody>
      </p:sp>
      <p:sp>
        <p:nvSpPr>
          <p:cNvPr id="14" name="U02-060_eyebrow">
            <a:extLst xmlns:a="http://schemas.openxmlformats.org/drawingml/2006/main">
              <a:ext uri="{FF2B5EF4-FFF2-40B4-BE49-F238E27FC236}">
                <a16:creationId xmlns:a16="http://schemas.microsoft.com/office/drawing/2014/main" id="{87C3F91A-0BC2-401A-998D-8023E20B1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CALOR Y PRIMERA LEY</a:t>
            </a:r>
          </a:p>
        </p:txBody>
      </p:sp>
      <p:sp>
        <p:nvSpPr>
          <p:cNvPr id="15" name="U02-060_title">
            <a:extLst xmlns:a="http://schemas.openxmlformats.org/drawingml/2006/main">
              <a:ext uri="{FF2B5EF4-FFF2-40B4-BE49-F238E27FC236}">
                <a16:creationId xmlns:a16="http://schemas.microsoft.com/office/drawing/2014/main" id="{D40A77BE-91D9-4DF6-99C6-BB10D7D08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temperatura caracteriza el estado térmico</a:t>
            </a:r>
          </a:p>
        </p:txBody>
      </p:sp>
      <p:sp>
        <p:nvSpPr>
          <p:cNvPr id="16" name="U02-060_definition_panel">
            <a:extLst xmlns:a="http://schemas.openxmlformats.org/drawingml/2006/main">
              <a:ext uri="{FF2B5EF4-FFF2-40B4-BE49-F238E27FC236}">
                <a16:creationId xmlns:a16="http://schemas.microsoft.com/office/drawing/2014/main" id="{554DF299-91C3-4100-A317-6D1005C7A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76400"/>
            <a:ext cx="10287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4D1434"/>
            </a:solidFill>
            <a:prstDash val="solid"/>
          </a:ln>
        </p:spPr>
      </p:sp>
      <p:sp>
        <p:nvSpPr>
          <p:cNvPr id="17" name="U02-060_definition">
            <a:extLst xmlns:a="http://schemas.openxmlformats.org/drawingml/2006/main">
              <a:ext uri="{FF2B5EF4-FFF2-40B4-BE49-F238E27FC236}">
                <a16:creationId xmlns:a16="http://schemas.microsoft.com/office/drawing/2014/main" id="{93B52B31-7E69-49DC-951C-53CE1967E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962150"/>
            <a:ext cx="96202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8"/>
              </a:spcAft>
              <a:buNone/>
              <a:defRPr sz="21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Temperatura:</a:t>
            </a:r>
            <a:r>
              <a:rPr sz="21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magnitud de estado que caracteriza el estado térmico. Usar °C para ambiente y K cuando se requiere temperatura absoluta.</a:t>
            </a:r>
          </a:p>
        </p:txBody>
      </p:sp>
      <p:sp>
        <p:nvSpPr>
          <p:cNvPr id="18" name="U02-060_example">
            <a:extLst xmlns:a="http://schemas.openxmlformats.org/drawingml/2006/main">
              <a:ext uri="{FF2B5EF4-FFF2-40B4-BE49-F238E27FC236}">
                <a16:creationId xmlns:a16="http://schemas.microsoft.com/office/drawing/2014/main" id="{A7CDB948-006B-427E-982A-AEBDBCC82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05300"/>
            <a:ext cx="9525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8"/>
              </a:spcAft>
              <a:buNone/>
              <a:defRPr sz="18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temperatura describe el estado térmico. Usamos grados Celsius (°C) para el ambiente y kelvin (K) cuando una ecuación requiere temperatura absoluta.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</p:sld>
</file>

<file path=ppt/slides/slide6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Marcador de número de diapositiva 12">
            <a:extLst xmlns:a="http://schemas.openxmlformats.org/drawingml/2006/main">
              <a:ext uri="{FF2B5EF4-FFF2-40B4-BE49-F238E27FC236}">
                <a16:creationId xmlns:a16="http://schemas.microsoft.com/office/drawing/2014/main" id="{12BF3667-16D3-B7A0-EF76-B375EF898D79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F1E013D6-0C4B-FE2D-855A-F1342FCB0974}" type="slidenum">
              <a:t>61</a:t>
            </a:fld>
          </a:p>
        </p:txBody>
      </p:sp>
      <p:sp>
        <p:nvSpPr>
          <p:cNvPr id="14" name="U02-061_eyebrow">
            <a:extLst xmlns:a="http://schemas.openxmlformats.org/drawingml/2006/main">
              <a:ext uri="{FF2B5EF4-FFF2-40B4-BE49-F238E27FC236}">
                <a16:creationId xmlns:a16="http://schemas.microsoft.com/office/drawing/2014/main" id="{2305BC9E-39C5-441D-BAED-D8E92DB73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CALOR Y PRIMERA LEY</a:t>
            </a:r>
          </a:p>
        </p:txBody>
      </p:sp>
      <p:sp>
        <p:nvSpPr>
          <p:cNvPr id="15" name="U02-061_title">
            <a:extLst xmlns:a="http://schemas.openxmlformats.org/drawingml/2006/main">
              <a:ext uri="{FF2B5EF4-FFF2-40B4-BE49-F238E27FC236}">
                <a16:creationId xmlns:a16="http://schemas.microsoft.com/office/drawing/2014/main" id="{C000A97A-85D4-4ED8-8327-4145544D1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energía interna pertenece al estado microscópico</a:t>
            </a:r>
          </a:p>
        </p:txBody>
      </p:sp>
      <p:sp>
        <p:nvSpPr>
          <p:cNvPr id="16" name="U02-061_takeaway">
            <a:extLst xmlns:a="http://schemas.openxmlformats.org/drawingml/2006/main">
              <a:ext uri="{FF2B5EF4-FFF2-40B4-BE49-F238E27FC236}">
                <a16:creationId xmlns:a16="http://schemas.microsoft.com/office/drawing/2014/main" id="{9B72EDB6-C936-4319-B557-FF809B576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 energía interna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U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pertenece al estado microscópico del sistema y se mide en joules. Dos sistemas a igual temperatura pueden tener distinta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U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pic>
        <p:nvPicPr>
          <p:cNvPr id="25" name="U02-061: Diagrama de la slide «La energía interna pertenece al estado microscópico»: Definición, símbolo, unidad y contraejemplo conceptual con distinta cantidad de materia." descr="U02-061: Diagrama de la slide «La energía interna pertenece al estado microscópico»: Definición, símbolo, unidad y contraejemplo conceptual con distinta cantidad de materia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728f38374a48b4">
            <a:extLst>
              <a:ext uri="{96DAC541-7B7A-43D3-8B79-37D633B846F1}">
                <asvg:svgBlip xmlns:asvg="http://schemas.microsoft.com/office/drawing/2016/SVG/main" r:embed="Rf509d2d76ffe45b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324100"/>
            <a:ext cx="10668000" cy="3390900"/>
          </a:xfrm>
          <a:prstGeom xmlns:a="http://schemas.openxmlformats.org/drawingml/2006/main" prst="rect">
            <a:avLst/>
          </a:prstGeom>
        </p:spPr>
      </p:pic>
      <p:sp>
        <p:nvSpPr>
          <p:cNvPr id="18" name="U02-061_caption">
            <a:extLst xmlns:a="http://schemas.openxmlformats.org/drawingml/2006/main">
              <a:ext uri="{FF2B5EF4-FFF2-40B4-BE49-F238E27FC236}">
                <a16:creationId xmlns:a16="http://schemas.microsoft.com/office/drawing/2014/main" id="{551198D4-A0D0-4383-8CD5-1319CF561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Dos sistemas a igual temperatura pueden tener distinta energía interna.</a:t>
            </a:r>
          </a:p>
        </p:txBody>
      </p:sp>
      <p:sp>
        <p:nvSpPr>
          <p:cNvPr id="19" name="U02-061_source">
            <a:extLst xmlns:a="http://schemas.openxmlformats.org/drawingml/2006/main">
              <a:ext uri="{FF2B5EF4-FFF2-40B4-BE49-F238E27FC236}">
                <a16:creationId xmlns:a16="http://schemas.microsoft.com/office/drawing/2014/main" id="{1E0ACDB7-FC03-4D99-A679-21923C69B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</p:sld>
</file>

<file path=ppt/slides/slide6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Marcador de número de diapositiva 12">
            <a:extLst xmlns:a="http://schemas.openxmlformats.org/drawingml/2006/main">
              <a:ext uri="{FF2B5EF4-FFF2-40B4-BE49-F238E27FC236}">
                <a16:creationId xmlns:a16="http://schemas.microsoft.com/office/drawing/2014/main" id="{12BF3667-16D3-B7A0-EF76-B375EF898D79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E71E1DC6-F89D-8D69-6333-36D980A4F9DD}" type="slidenum">
              <a:t>62</a:t>
            </a:fld>
          </a:p>
        </p:txBody>
      </p:sp>
      <p:sp>
        <p:nvSpPr>
          <p:cNvPr id="14" name="U02-062_eyebrow">
            <a:extLst xmlns:a="http://schemas.openxmlformats.org/drawingml/2006/main">
              <a:ext uri="{FF2B5EF4-FFF2-40B4-BE49-F238E27FC236}">
                <a16:creationId xmlns:a16="http://schemas.microsoft.com/office/drawing/2014/main" id="{03A0AA49-D498-47EC-BEDC-4BE6941DB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CALOR Y PRIMERA LEY</a:t>
            </a:r>
          </a:p>
        </p:txBody>
      </p:sp>
      <p:sp>
        <p:nvSpPr>
          <p:cNvPr id="15" name="U02-062_title">
            <a:extLst xmlns:a="http://schemas.openxmlformats.org/drawingml/2006/main">
              <a:ext uri="{FF2B5EF4-FFF2-40B4-BE49-F238E27FC236}">
                <a16:creationId xmlns:a16="http://schemas.microsoft.com/office/drawing/2014/main" id="{F9412B23-A003-4C79-B067-1CF460F4B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calor es energía transferida por diferencia de temperatura</a:t>
            </a:r>
          </a:p>
        </p:txBody>
      </p:sp>
      <p:sp>
        <p:nvSpPr>
          <p:cNvPr id="16" name="U02-062_takeaway">
            <a:extLst xmlns:a="http://schemas.openxmlformats.org/drawingml/2006/main">
              <a:ext uri="{FF2B5EF4-FFF2-40B4-BE49-F238E27FC236}">
                <a16:creationId xmlns:a16="http://schemas.microsoft.com/office/drawing/2014/main" id="{F201C3A6-E50F-4006-B7DC-30DDFD757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El calor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Q_calor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es energía transferida por una diferencia de temperatura. Un sistema no “contiene calor”: contiene energía interna.</a:t>
            </a:r>
          </a:p>
        </p:txBody>
      </p:sp>
      <p:pic>
        <p:nvPicPr>
          <p:cNvPr id="25" name="U02-062: Diagrama de la slide «El calor es energía transferida por diferencia de temperatura»: Definición, Q_calor, J, condición de diferencia de temperatura." descr="U02-062: Diagrama de la slide «El calor es energía transferida por diferencia de temperatura»: Definición, Q_calor, J, condición de diferencia de temperatura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047cddba024cfc">
            <a:extLst>
              <a:ext uri="{96DAC541-7B7A-43D3-8B79-37D633B846F1}">
                <asvg:svgBlip xmlns:asvg="http://schemas.microsoft.com/office/drawing/2016/SVG/main" r:embed="Re2a1422492754b8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324100"/>
            <a:ext cx="10668000" cy="3390900"/>
          </a:xfrm>
          <a:prstGeom xmlns:a="http://schemas.openxmlformats.org/drawingml/2006/main" prst="rect">
            <a:avLst/>
          </a:prstGeom>
        </p:spPr>
      </p:pic>
      <p:sp>
        <p:nvSpPr>
          <p:cNvPr id="18" name="U02-062_caption">
            <a:extLst xmlns:a="http://schemas.openxmlformats.org/drawingml/2006/main">
              <a:ext uri="{FF2B5EF4-FFF2-40B4-BE49-F238E27FC236}">
                <a16:creationId xmlns:a16="http://schemas.microsoft.com/office/drawing/2014/main" id="{63444E5E-F8F0-45DD-895C-2CD0F78E0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El sistema posee energía interna y puede recibir o ceder energía mediante calor.</a:t>
            </a:r>
          </a:p>
        </p:txBody>
      </p:sp>
      <p:sp>
        <p:nvSpPr>
          <p:cNvPr id="19" name="U02-062_source">
            <a:extLst xmlns:a="http://schemas.openxmlformats.org/drawingml/2006/main">
              <a:ext uri="{FF2B5EF4-FFF2-40B4-BE49-F238E27FC236}">
                <a16:creationId xmlns:a16="http://schemas.microsoft.com/office/drawing/2014/main" id="{B904A679-22F4-4586-8D7E-B038FB2CC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</p:sld>
</file>

<file path=ppt/slides/slide6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Marcador de número de diapositiva 18">
            <a:extLst xmlns:a="http://schemas.openxmlformats.org/drawingml/2006/main">
              <a:ext uri="{FF2B5EF4-FFF2-40B4-BE49-F238E27FC236}">
                <a16:creationId xmlns:a16="http://schemas.microsoft.com/office/drawing/2014/main" id="{3701E013-5363-F7F5-9233-7CB612036904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E8BECC1C-8AF1-E14F-B384-26C5966C006A}" type="slidenum">
              <a:t>63</a:t>
            </a:fld>
          </a:p>
        </p:txBody>
      </p:sp>
      <p:sp>
        <p:nvSpPr>
          <p:cNvPr id="20" name="U02-063_eyebrow">
            <a:extLst xmlns:a="http://schemas.openxmlformats.org/drawingml/2006/main">
              <a:ext uri="{FF2B5EF4-FFF2-40B4-BE49-F238E27FC236}">
                <a16:creationId xmlns:a16="http://schemas.microsoft.com/office/drawing/2014/main" id="{B5478FD0-14F1-4BD8-B927-746174E69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CALOR Y PRIMERA LEY</a:t>
            </a:r>
          </a:p>
        </p:txBody>
      </p:sp>
      <p:sp>
        <p:nvSpPr>
          <p:cNvPr id="21" name="U02-063_title">
            <a:extLst xmlns:a="http://schemas.openxmlformats.org/drawingml/2006/main">
              <a:ext uri="{FF2B5EF4-FFF2-40B4-BE49-F238E27FC236}">
                <a16:creationId xmlns:a16="http://schemas.microsoft.com/office/drawing/2014/main" id="{82FC0CE2-19B2-45ED-811A-40980F8D3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Estado y transferencia responden preguntas distintas</a:t>
            </a:r>
          </a:p>
        </p:txBody>
      </p:sp>
      <p:sp>
        <p:nvSpPr>
          <p:cNvPr id="22" name="U02-063_takeaway">
            <a:extLst xmlns:a="http://schemas.openxmlformats.org/drawingml/2006/main">
              <a:ext uri="{FF2B5EF4-FFF2-40B4-BE49-F238E27FC236}">
                <a16:creationId xmlns:a16="http://schemas.microsoft.com/office/drawing/2014/main" id="{D03DF262-7C1B-40E0-B47B-A1E5EEFB1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Magnitudes de estado: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temperatura y energía interna; describen al sistema.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Transferencias: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calor y trabajo; describen energía que cruza la frontera durante un proceso.</a:t>
            </a:r>
          </a:p>
        </p:txBody>
      </p:sp>
      <p:pic>
        <p:nvPicPr>
          <p:cNvPr id="31" name="U02-063: Diagrama de la slide «Estado y transferencia responden preguntas distintas»: Dos columnas equivalentes y ejemplos de entrada/salida." descr="U02-063: Diagrama de la slide «Estado y transferencia responden preguntas distintas»: Dos columnas equivalentes y ejemplos de entrada/salida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a739368b6d44cb">
            <a:extLst>
              <a:ext uri="{96DAC541-7B7A-43D3-8B79-37D633B846F1}">
                <asvg:svgBlip xmlns:asvg="http://schemas.microsoft.com/office/drawing/2016/SVG/main" r:embed="Re025414c22954fc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324100"/>
            <a:ext cx="10668000" cy="3390900"/>
          </a:xfrm>
          <a:prstGeom xmlns:a="http://schemas.openxmlformats.org/drawingml/2006/main" prst="rect">
            <a:avLst/>
          </a:prstGeom>
        </p:spPr>
      </p:pic>
      <p:sp>
        <p:nvSpPr>
          <p:cNvPr id="24" name="U02-063_caption">
            <a:extLst xmlns:a="http://schemas.openxmlformats.org/drawingml/2006/main">
              <a:ext uri="{FF2B5EF4-FFF2-40B4-BE49-F238E27FC236}">
                <a16:creationId xmlns:a16="http://schemas.microsoft.com/office/drawing/2014/main" id="{044BE561-4B71-4693-9247-BC3CBA1FB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Una magnitud de estado describe el sistema; una transferencia describe energía que cruza la frontera.</a:t>
            </a:r>
          </a:p>
        </p:txBody>
      </p:sp>
      <p:sp>
        <p:nvSpPr>
          <p:cNvPr id="25" name="U02-063_source">
            <a:extLst xmlns:a="http://schemas.openxmlformats.org/drawingml/2006/main">
              <a:ext uri="{FF2B5EF4-FFF2-40B4-BE49-F238E27FC236}">
                <a16:creationId xmlns:a16="http://schemas.microsoft.com/office/drawing/2014/main" id="{E3DF8E9D-718A-453F-872D-4EEE03F6F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</p:sld>
</file>

<file path=ppt/slides/slide6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Marcador de número de diapositiva 17">
            <a:extLst xmlns:a="http://schemas.openxmlformats.org/drawingml/2006/main">
              <a:ext uri="{FF2B5EF4-FFF2-40B4-BE49-F238E27FC236}">
                <a16:creationId xmlns:a16="http://schemas.microsoft.com/office/drawing/2014/main" id="{FA71A55B-B389-7001-A9E1-319E4426EE2D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E0266C08-4012-4EBF-30A1-86DAD603F97A}" type="slidenum">
              <a:t>64</a:t>
            </a:fld>
          </a:p>
        </p:txBody>
      </p:sp>
      <p:sp>
        <p:nvSpPr>
          <p:cNvPr id="19" name="U02-064_eyebrow">
            <a:extLst xmlns:a="http://schemas.openxmlformats.org/drawingml/2006/main">
              <a:ext uri="{FF2B5EF4-FFF2-40B4-BE49-F238E27FC236}">
                <a16:creationId xmlns:a16="http://schemas.microsoft.com/office/drawing/2014/main" id="{5602000D-868B-4918-8794-3F44380C3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CALOR Y PRIMERA LEY</a:t>
            </a:r>
          </a:p>
        </p:txBody>
      </p:sp>
      <p:sp>
        <p:nvSpPr>
          <p:cNvPr id="20" name="U02-064_title">
            <a:extLst xmlns:a="http://schemas.openxmlformats.org/drawingml/2006/main">
              <a:ext uri="{FF2B5EF4-FFF2-40B4-BE49-F238E27FC236}">
                <a16:creationId xmlns:a16="http://schemas.microsoft.com/office/drawing/2014/main" id="{B2DB2FAC-6230-48EA-A4DF-200D7085D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primera ley contabiliza calor y trabajo sobre el sistema</a:t>
            </a:r>
          </a:p>
        </p:txBody>
      </p:sp>
      <p:sp>
        <p:nvSpPr>
          <p:cNvPr id="21" name="U02-064_takeaway">
            <a:extLst xmlns:a="http://schemas.openxmlformats.org/drawingml/2006/main">
              <a:ext uri="{FF2B5EF4-FFF2-40B4-BE49-F238E27FC236}">
                <a16:creationId xmlns:a16="http://schemas.microsoft.com/office/drawing/2014/main" id="{6D956B7D-E6D8-407D-A1DB-A4DD8DA34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 la convención “positivo al entrar”: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ΔU = Q_calor + W_sobre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. Cada término se expresa en joules (J).</a:t>
            </a:r>
          </a:p>
        </p:txBody>
      </p:sp>
      <p:sp>
        <p:nvSpPr>
          <p:cNvPr id="22" name="U02-064_equation_panel">
            <a:extLst xmlns:a="http://schemas.openxmlformats.org/drawingml/2006/main">
              <a:ext uri="{FF2B5EF4-FFF2-40B4-BE49-F238E27FC236}">
                <a16:creationId xmlns:a16="http://schemas.microsoft.com/office/drawing/2014/main" id="{4D1BF5F5-DE22-4E3E-909A-A45A7541B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7165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23" name="U02-064_equation">
            <a:extLst xmlns:a="http://schemas.openxmlformats.org/drawingml/2006/main">
              <a:ext uri="{FF2B5EF4-FFF2-40B4-BE49-F238E27FC236}">
                <a16:creationId xmlns:a16="http://schemas.microsoft.com/office/drawing/2014/main" id="{E121E51B-4B20-4F6B-9468-1B587EF54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80022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ΔU = Q_calor + W_sobre</a:t>
            </a:r>
          </a:p>
        </p:txBody>
      </p:sp>
      <p:pic>
        <p:nvPicPr>
          <p:cNvPr id="34" name="U02-064: Ecuación anotada de la slide «La primera ley contabiliza calor y trabajo sobre el sistema»: Ecuación, signos, unidades y frase de convención." descr="U02-064: Ecuación anotada de la slide «La primera ley contabiliza calor y trabajo sobre el sistema»: Ecuación, signos, unidades y frase de convención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56c5c2a3c94812">
            <a:extLst>
              <a:ext uri="{96DAC541-7B7A-43D3-8B79-37D633B846F1}">
                <asvg:svgBlip xmlns:asvg="http://schemas.microsoft.com/office/drawing/2016/SVG/main" r:embed="Rd46e5bfefbdd4e0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362200"/>
            <a:ext cx="10668000" cy="3352800"/>
          </a:xfrm>
          <a:prstGeom xmlns:a="http://schemas.openxmlformats.org/drawingml/2006/main" prst="rect">
            <a:avLst/>
          </a:prstGeom>
        </p:spPr>
      </p:pic>
      <p:sp>
        <p:nvSpPr>
          <p:cNvPr id="25" name="U02-064_caption">
            <a:extLst xmlns:a="http://schemas.openxmlformats.org/drawingml/2006/main">
              <a:ext uri="{FF2B5EF4-FFF2-40B4-BE49-F238E27FC236}">
                <a16:creationId xmlns:a16="http://schemas.microsoft.com/office/drawing/2014/main" id="{FEFDFB42-DCCF-4DEC-B0A8-C05D1D8D2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Con Q_calor y W_sobre positivos al entrar, ΔU = Q_calor + W_sobre.</a:t>
            </a:r>
          </a:p>
        </p:txBody>
      </p:sp>
      <p:sp>
        <p:nvSpPr>
          <p:cNvPr id="26" name="U02-064_source">
            <a:extLst xmlns:a="http://schemas.openxmlformats.org/drawingml/2006/main">
              <a:ext uri="{FF2B5EF4-FFF2-40B4-BE49-F238E27FC236}">
                <a16:creationId xmlns:a16="http://schemas.microsoft.com/office/drawing/2014/main" id="{F66AC7E6-E183-4842-983B-9DD7B5810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6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Marcador de número de diapositiva 27">
            <a:extLst xmlns:a="http://schemas.openxmlformats.org/drawingml/2006/main">
              <a:ext uri="{FF2B5EF4-FFF2-40B4-BE49-F238E27FC236}">
                <a16:creationId xmlns:a16="http://schemas.microsoft.com/office/drawing/2014/main" id="{7D464FDA-53EB-4C28-9BB9-7238405ABEB4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82FF3517-0353-38FD-111C-6706FB0AABA9}" type="slidenum">
              <a:t>65</a:t>
            </a:fld>
          </a:p>
        </p:txBody>
      </p:sp>
      <p:sp>
        <p:nvSpPr>
          <p:cNvPr id="29" name="U02-065_eyebrow">
            <a:extLst xmlns:a="http://schemas.openxmlformats.org/drawingml/2006/main">
              <a:ext uri="{FF2B5EF4-FFF2-40B4-BE49-F238E27FC236}">
                <a16:creationId xmlns:a16="http://schemas.microsoft.com/office/drawing/2014/main" id="{4FDD5691-BADE-4233-B195-0EFD08B0B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CALOR Y PRIMERA LEY</a:t>
            </a:r>
          </a:p>
        </p:txBody>
      </p:sp>
      <p:sp>
        <p:nvSpPr>
          <p:cNvPr id="30" name="U02-065_title">
            <a:extLst xmlns:a="http://schemas.openxmlformats.org/drawingml/2006/main">
              <a:ext uri="{FF2B5EF4-FFF2-40B4-BE49-F238E27FC236}">
                <a16:creationId xmlns:a16="http://schemas.microsoft.com/office/drawing/2014/main" id="{75F38F5A-507B-475D-9B9A-827AF37FE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signo depende de la dirección de la transferencia</a:t>
            </a:r>
          </a:p>
        </p:txBody>
      </p:sp>
      <p:sp>
        <p:nvSpPr>
          <p:cNvPr id="31" name="U02-065_takeaway">
            <a:extLst xmlns:a="http://schemas.openxmlformats.org/drawingml/2006/main">
              <a:ext uri="{FF2B5EF4-FFF2-40B4-BE49-F238E27FC236}">
                <a16:creationId xmlns:a16="http://schemas.microsoft.com/office/drawing/2014/main" id="{117E029A-3218-4104-8653-BF924C541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1. Calor entra: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Q_calor &gt; 0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2. Calor sale: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Q_calor &lt; 0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3. Trabajo sobre el sistema: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W_sobre &gt; 0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4. Trabajo realizado por el sistema: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W_sobre &lt; 0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pic>
        <p:nvPicPr>
          <p:cNvPr id="40" name="U02-065: Diagrama de la slide «El signo depende de la dirección de la transferencia»: Cuatro casos: calor entra/sale; trabajo sobre/por el sistema." descr="U02-065: Diagrama de la slide «El signo depende de la dirección de la transferencia»: Cuatro casos: calor entra/sale; trabajo sobre/por el sistema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4068733aa34d41">
            <a:extLst>
              <a:ext uri="{96DAC541-7B7A-43D3-8B79-37D633B846F1}">
                <asvg:svgBlip xmlns:asvg="http://schemas.microsoft.com/office/drawing/2016/SVG/main" r:embed="R7efd218e5fa7464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800350"/>
            <a:ext cx="10668000" cy="2914650"/>
          </a:xfrm>
          <a:prstGeom xmlns:a="http://schemas.openxmlformats.org/drawingml/2006/main" prst="rect">
            <a:avLst/>
          </a:prstGeom>
        </p:spPr>
      </p:pic>
      <p:sp>
        <p:nvSpPr>
          <p:cNvPr id="33" name="U02-065_caption">
            <a:extLst xmlns:a="http://schemas.openxmlformats.org/drawingml/2006/main">
              <a:ext uri="{FF2B5EF4-FFF2-40B4-BE49-F238E27FC236}">
                <a16:creationId xmlns:a16="http://schemas.microsoft.com/office/drawing/2014/main" id="{DF10247F-61F8-4E2B-BE9D-2A8E1E054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Entrar al sistema es positivo; salir es negativo, bajo la convención declarada.</a:t>
            </a:r>
          </a:p>
        </p:txBody>
      </p:sp>
      <p:sp>
        <p:nvSpPr>
          <p:cNvPr id="34" name="U02-065_source">
            <a:extLst xmlns:a="http://schemas.openxmlformats.org/drawingml/2006/main">
              <a:ext uri="{FF2B5EF4-FFF2-40B4-BE49-F238E27FC236}">
                <a16:creationId xmlns:a16="http://schemas.microsoft.com/office/drawing/2014/main" id="{E702419F-4154-43AF-9CBA-5A2171917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</p:sld>
</file>

<file path=ppt/slides/slide6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Marcador de número de diapositiva 23">
            <a:extLst xmlns:a="http://schemas.openxmlformats.org/drawingml/2006/main">
              <a:ext uri="{FF2B5EF4-FFF2-40B4-BE49-F238E27FC236}">
                <a16:creationId xmlns:a16="http://schemas.microsoft.com/office/drawing/2014/main" id="{D4631810-29E2-3802-8D4E-7DEAB08103EF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2D0572CC-9AC8-F369-D684-34788CEC1F0F}" type="slidenum">
              <a:t>66</a:t>
            </a:fld>
          </a:p>
        </p:txBody>
      </p:sp>
      <p:sp>
        <p:nvSpPr>
          <p:cNvPr id="25" name="U02-066_eyebrow">
            <a:extLst xmlns:a="http://schemas.openxmlformats.org/drawingml/2006/main">
              <a:ext uri="{FF2B5EF4-FFF2-40B4-BE49-F238E27FC236}">
                <a16:creationId xmlns:a16="http://schemas.microsoft.com/office/drawing/2014/main" id="{9947C32B-C8E5-4D4D-BDAA-73CAB3FFF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CALOR Y PRIMERA LEY</a:t>
            </a:r>
          </a:p>
        </p:txBody>
      </p:sp>
      <p:sp>
        <p:nvSpPr>
          <p:cNvPr id="26" name="U02-066_title">
            <a:extLst xmlns:a="http://schemas.openxmlformats.org/drawingml/2006/main">
              <a:ext uri="{FF2B5EF4-FFF2-40B4-BE49-F238E27FC236}">
                <a16:creationId xmlns:a16="http://schemas.microsoft.com/office/drawing/2014/main" id="{96214018-764D-4838-ABAB-A55F600DF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Calor sale y trabajo entra: el balance decide ΔU</a:t>
            </a:r>
          </a:p>
        </p:txBody>
      </p:sp>
      <p:sp>
        <p:nvSpPr>
          <p:cNvPr id="27" name="U02-066_takeaway">
            <a:extLst xmlns:a="http://schemas.openxmlformats.org/drawingml/2006/main">
              <a:ext uri="{FF2B5EF4-FFF2-40B4-BE49-F238E27FC236}">
                <a16:creationId xmlns:a16="http://schemas.microsoft.com/office/drawing/2014/main" id="{69A099EA-EA94-4652-8B01-0068ED225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7239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Signos: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el calor sale, por eso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Q = −3,0 J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; el trabajo entra, por eso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W_sobre = +2,0 J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Resultado: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ΔU = −1,0 J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; la energía interna disminuye.</a:t>
            </a:r>
          </a:p>
        </p:txBody>
      </p:sp>
      <p:sp>
        <p:nvSpPr>
          <p:cNvPr id="28" name="U02-066_equation_panel">
            <a:extLst xmlns:a="http://schemas.openxmlformats.org/drawingml/2006/main">
              <a:ext uri="{FF2B5EF4-FFF2-40B4-BE49-F238E27FC236}">
                <a16:creationId xmlns:a16="http://schemas.microsoft.com/office/drawing/2014/main" id="{23E549E3-B80D-4633-A05E-9A0FDF879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0495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29" name="U02-066_equation">
            <a:extLst xmlns:a="http://schemas.openxmlformats.org/drawingml/2006/main">
              <a:ext uri="{FF2B5EF4-FFF2-40B4-BE49-F238E27FC236}">
                <a16:creationId xmlns:a16="http://schemas.microsoft.com/office/drawing/2014/main" id="{C17C2349-E1E2-4C3C-AFEE-3CA2595FA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53352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ΔU = (−3,0 J) + (+2,0 J) = −1,0 J.</a:t>
            </a:r>
          </a:p>
        </p:txBody>
      </p:sp>
      <p:pic>
        <p:nvPicPr>
          <p:cNvPr id="40" name="U02-066: Esquema mixto de la slide «Calor sale y trabajo entra: el balance decide ΔU»: Situación, signos, sustitución y significado del resultado negativo." descr="U02-066: Esquema mixto de la slide «Calor sale y trabajo entra: el balance decide ΔU»: Situación, signos, sustitución y significado del resultado negativo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510ed2c6694a62">
            <a:extLst>
              <a:ext uri="{96DAC541-7B7A-43D3-8B79-37D633B846F1}">
                <asvg:svgBlip xmlns:asvg="http://schemas.microsoft.com/office/drawing/2016/SVG/main" r:embed="Rffbfe12b30b8426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295525"/>
            <a:ext cx="10668000" cy="3419475"/>
          </a:xfrm>
          <a:prstGeom xmlns:a="http://schemas.openxmlformats.org/drawingml/2006/main" prst="rect">
            <a:avLst/>
          </a:prstGeom>
        </p:spPr>
      </p:pic>
      <p:sp>
        <p:nvSpPr>
          <p:cNvPr id="31" name="U02-066_caption">
            <a:extLst xmlns:a="http://schemas.openxmlformats.org/drawingml/2006/main">
              <a:ext uri="{FF2B5EF4-FFF2-40B4-BE49-F238E27FC236}">
                <a16:creationId xmlns:a16="http://schemas.microsoft.com/office/drawing/2014/main" id="{0C7150DC-04ED-49F4-82E3-711DC48C6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Q = -3,0 J y W_sobre = +2,0 J producen ΔU = -1,0 J.</a:t>
            </a:r>
          </a:p>
        </p:txBody>
      </p:sp>
      <p:sp>
        <p:nvSpPr>
          <p:cNvPr id="32" name="U02-066_source">
            <a:extLst xmlns:a="http://schemas.openxmlformats.org/drawingml/2006/main">
              <a:ext uri="{FF2B5EF4-FFF2-40B4-BE49-F238E27FC236}">
                <a16:creationId xmlns:a16="http://schemas.microsoft.com/office/drawing/2014/main" id="{44E5DCC3-842C-4200-870C-92C933582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1133635661"/>
      </p:ext>
    </p:extLst>
  </p:cSld>
</p:sld>
</file>

<file path=ppt/slides/slide6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Marcador de número de diapositiva 19">
            <a:extLst xmlns:a="http://schemas.openxmlformats.org/drawingml/2006/main">
              <a:ext uri="{FF2B5EF4-FFF2-40B4-BE49-F238E27FC236}">
                <a16:creationId xmlns:a16="http://schemas.microsoft.com/office/drawing/2014/main" id="{18081493-A553-AC13-4BA5-17CFA71BB2B5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A9DAD1FF-0708-FB06-41A3-EFFD1902CB65}" type="slidenum">
              <a:t>67</a:t>
            </a:fld>
          </a:p>
        </p:txBody>
      </p:sp>
      <p:sp>
        <p:nvSpPr>
          <p:cNvPr id="21" name="U02-067_eyebrow">
            <a:extLst xmlns:a="http://schemas.openxmlformats.org/drawingml/2006/main">
              <a:ext uri="{FF2B5EF4-FFF2-40B4-BE49-F238E27FC236}">
                <a16:creationId xmlns:a16="http://schemas.microsoft.com/office/drawing/2014/main" id="{C92ACC64-ED81-4F9B-AADD-C7B09C936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CALOR Y PRIMERA LEY</a:t>
            </a:r>
          </a:p>
        </p:txBody>
      </p:sp>
      <p:sp>
        <p:nvSpPr>
          <p:cNvPr id="22" name="U02-067_title">
            <a:extLst xmlns:a="http://schemas.openxmlformats.org/drawingml/2006/main">
              <a:ext uri="{FF2B5EF4-FFF2-40B4-BE49-F238E27FC236}">
                <a16:creationId xmlns:a16="http://schemas.microsoft.com/office/drawing/2014/main" id="{BD277A9C-AAE0-4541-BCE8-78FC34C32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7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7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Hasta acá: estado, transferencia y balance</a:t>
            </a:r>
          </a:p>
        </p:txBody>
      </p:sp>
      <p:sp>
        <p:nvSpPr>
          <p:cNvPr id="23" name="U02-067_recap_panel">
            <a:extLst xmlns:a="http://schemas.openxmlformats.org/drawingml/2006/main">
              <a:ext uri="{FF2B5EF4-FFF2-40B4-BE49-F238E27FC236}">
                <a16:creationId xmlns:a16="http://schemas.microsoft.com/office/drawing/2014/main" id="{847E0133-3459-4F68-87C3-48B7CDB2D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43050"/>
            <a:ext cx="105156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24" name="U02-067_recap">
            <a:extLst xmlns:a="http://schemas.openxmlformats.org/drawingml/2006/main">
              <a:ext uri="{FF2B5EF4-FFF2-40B4-BE49-F238E27FC236}">
                <a16:creationId xmlns:a16="http://schemas.microsoft.com/office/drawing/2014/main" id="{F404A5FA-A65E-4020-A582-2DCA20C14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876425"/>
            <a:ext cx="981075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8"/>
              </a:spcAft>
              <a:buNone/>
              <a:defRPr sz="20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Estado:</a:t>
            </a:r>
            <a:r>
              <a:rPr sz="20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temperatura y </a:t>
            </a:r>
            <a:r>
              <a:rPr sz="20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U</a:t>
            </a:r>
            <a:r>
              <a:rPr sz="20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.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8"/>
              </a:spcAft>
              <a:buNone/>
              <a:defRPr sz="20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Transferencia:</a:t>
            </a:r>
            <a:r>
              <a:rPr sz="20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calor y trabajo.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8"/>
              </a:spcAft>
              <a:buNone/>
              <a:defRPr sz="20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Balance:</a:t>
            </a:r>
            <a:r>
              <a:rPr sz="20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la primera ley relaciona transferencias con </a:t>
            </a:r>
            <a:r>
              <a:rPr sz="20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ΔU</a:t>
            </a:r>
            <a:r>
              <a:rPr sz="20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. ¿El sistema “contiene calor”?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</p:sld>
</file>

<file path=ppt/slides/slide6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Marcador de número de diapositiva 8">
            <a:extLst xmlns:a="http://schemas.openxmlformats.org/drawingml/2006/main">
              <a:ext uri="{FF2B5EF4-FFF2-40B4-BE49-F238E27FC236}">
                <a16:creationId xmlns:a16="http://schemas.microsoft.com/office/drawing/2014/main" id="{208C11FF-1310-C67B-A471-A3573013EA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F22EA31E-2FA5-E9C8-EB93-8FED021F82AB}" type="slidenum">
              <a:t>68</a:t>
            </a:fld>
          </a:p>
        </p:txBody>
      </p:sp>
      <p:sp>
        <p:nvSpPr>
          <p:cNvPr id="10" name="U02-068_eyebrow">
            <a:extLst xmlns:a="http://schemas.openxmlformats.org/drawingml/2006/main">
              <a:ext uri="{FF2B5EF4-FFF2-40B4-BE49-F238E27FC236}">
                <a16:creationId xmlns:a16="http://schemas.microsoft.com/office/drawing/2014/main" id="{91BA66A8-63CE-4CC5-B3FE-03E7DBC6F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UNIDAD 2 · ENTROPÍA</a:t>
            </a:r>
          </a:p>
        </p:txBody>
      </p:sp>
      <p:sp>
        <p:nvSpPr>
          <p:cNvPr id="11" name="U02-068_title">
            <a:extLst xmlns:a="http://schemas.openxmlformats.org/drawingml/2006/main">
              <a:ext uri="{FF2B5EF4-FFF2-40B4-BE49-F238E27FC236}">
                <a16:creationId xmlns:a16="http://schemas.microsoft.com/office/drawing/2014/main" id="{65C3D51E-FF3F-45FC-9FE3-BF9BD597E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9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Algunos procesos tienen una dirección preferente</a:t>
            </a:r>
          </a:p>
        </p:txBody>
      </p:sp>
      <p:sp>
        <p:nvSpPr>
          <p:cNvPr id="12" name="U02-068_guide">
            <a:extLst xmlns:a="http://schemas.openxmlformats.org/drawingml/2006/main">
              <a:ext uri="{FF2B5EF4-FFF2-40B4-BE49-F238E27FC236}">
                <a16:creationId xmlns:a16="http://schemas.microsoft.com/office/drawing/2014/main" id="{A943F162-7B30-40B7-88A0-D5BCFEA28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9334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8"/>
              </a:spcAft>
              <a:buNone/>
              <a:defRPr sz="22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Pregunta guía:</a:t>
            </a:r>
            <a:r>
              <a:rPr sz="22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¿por qué una oscilación amortiguada no recupera por sí sola su amplitud inicial?</a:t>
            </a:r>
          </a:p>
        </p:txBody>
      </p:sp>
      <p:sp>
        <p:nvSpPr>
          <p:cNvPr id="13" name="U02-068_subtitle">
            <a:extLst xmlns:a="http://schemas.openxmlformats.org/drawingml/2006/main">
              <a:ext uri="{FF2B5EF4-FFF2-40B4-BE49-F238E27FC236}">
                <a16:creationId xmlns:a16="http://schemas.microsoft.com/office/drawing/2014/main" id="{B8A431CE-901C-47F3-83FD-1A987DD97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800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E8DDE4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E8DDE4"/>
                </a:solidFill>
                <a:latin typeface="Calibri"/>
                <a:ea typeface="Calibri"/>
                <a:cs typeface="Calibri"/>
              </a:rPr>
              <a:t>Pregunta guía del bloque.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</p:sld>
</file>

<file path=ppt/slides/slide6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Marcador de número de diapositiva 20">
            <a:extLst xmlns:a="http://schemas.openxmlformats.org/drawingml/2006/main">
              <a:ext uri="{FF2B5EF4-FFF2-40B4-BE49-F238E27FC236}">
                <a16:creationId xmlns:a16="http://schemas.microsoft.com/office/drawing/2014/main" id="{9CA9596E-D94D-48D7-199C-CC38FBB01EFD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EF9EABC7-5C80-1540-9810-371589B4C2E2}" type="slidenum">
              <a:t>69</a:t>
            </a:fld>
          </a:p>
        </p:txBody>
      </p:sp>
      <p:sp>
        <p:nvSpPr>
          <p:cNvPr id="22" name="U02-069_eyebrow">
            <a:extLst xmlns:a="http://schemas.openxmlformats.org/drawingml/2006/main">
              <a:ext uri="{FF2B5EF4-FFF2-40B4-BE49-F238E27FC236}">
                <a16:creationId xmlns:a16="http://schemas.microsoft.com/office/drawing/2014/main" id="{F76F87C3-DF92-4EFA-AEAD-FF2B66A25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ENTROPÍA</a:t>
            </a:r>
          </a:p>
        </p:txBody>
      </p:sp>
      <p:sp>
        <p:nvSpPr>
          <p:cNvPr id="23" name="U02-069_title">
            <a:extLst xmlns:a="http://schemas.openxmlformats.org/drawingml/2006/main">
              <a:ext uri="{FF2B5EF4-FFF2-40B4-BE49-F238E27FC236}">
                <a16:creationId xmlns:a16="http://schemas.microsoft.com/office/drawing/2014/main" id="{A917DBDB-A6DB-46AA-A69C-4F36CBEF5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amortiguamiento marca una dirección del proceso</a:t>
            </a:r>
          </a:p>
        </p:txBody>
      </p:sp>
      <p:sp>
        <p:nvSpPr>
          <p:cNvPr id="24" name="U02-069_static_panel">
            <a:extLst xmlns:a="http://schemas.openxmlformats.org/drawingml/2006/main">
              <a:ext uri="{FF2B5EF4-FFF2-40B4-BE49-F238E27FC236}">
                <a16:creationId xmlns:a16="http://schemas.microsoft.com/office/drawing/2014/main" id="{C4F85D0D-5202-4744-8219-C0B729A7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24050"/>
            <a:ext cx="102870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2F7E83"/>
            </a:solidFill>
            <a:prstDash val="solid"/>
          </a:ln>
        </p:spPr>
      </p:sp>
      <p:sp>
        <p:nvSpPr>
          <p:cNvPr id="25" name="U02-069_static_text">
            <a:extLst xmlns:a="http://schemas.openxmlformats.org/drawingml/2006/main">
              <a:ext uri="{FF2B5EF4-FFF2-40B4-BE49-F238E27FC236}">
                <a16:creationId xmlns:a16="http://schemas.microsoft.com/office/drawing/2014/main" id="{A2198BEB-F38F-4BB1-A1BD-245ABBE2B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247900"/>
            <a:ext cx="9620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8"/>
              </a:spcAft>
              <a:buNone/>
              <a:defRPr sz="21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Secuencia: amplitud decreciente → menor energía mecánica organizada → mayor energía interna. El proceso inverso no ocurre espontáneamente en el modelo.</a:t>
            </a:r>
          </a:p>
        </p:txBody>
      </p:sp>
      <p:sp>
        <p:nvSpPr>
          <p:cNvPr id="26" name="U02-069_media_status">
            <a:extLst xmlns:a="http://schemas.openxmlformats.org/drawingml/2006/main">
              <a:ext uri="{FF2B5EF4-FFF2-40B4-BE49-F238E27FC236}">
                <a16:creationId xmlns:a16="http://schemas.microsoft.com/office/drawing/2014/main" id="{2C09AF0A-3EA6-4877-AD18-091187B0D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9339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Alternativa estática incluida. El recurso audiovisual propio continúa pendiente.</a:t>
            </a:r>
          </a:p>
        </p:txBody>
      </p:sp>
    </p:spTree>
    <p:extLst>
      <p:ext uri="{BB962C8B-B14F-4D97-AF65-F5344CB8AC3E}">
        <p14:creationId xmlns:p14="http://schemas.microsoft.com/office/powerpoint/2010/main" val="1687263069"/>
      </p:ext>
    </p:extLst>
  </p:cSld>
</p:sld>
</file>

<file path=ppt/slides/slide7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Marcador de número de diapositiva 12">
            <a:extLst xmlns:a="http://schemas.openxmlformats.org/drawingml/2006/main">
              <a:ext uri="{FF2B5EF4-FFF2-40B4-BE49-F238E27FC236}">
                <a16:creationId xmlns:a16="http://schemas.microsoft.com/office/drawing/2014/main" id="{12BF3667-16D3-B7A0-EF76-B375EF898D79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5A6072AD-BB8C-D3CF-DBF4-F438AF6C7F9D}" type="slidenum">
              <a:t>70</a:t>
            </a:fld>
          </a:p>
        </p:txBody>
      </p:sp>
      <p:sp>
        <p:nvSpPr>
          <p:cNvPr id="14" name="U02-070_eyebrow">
            <a:extLst xmlns:a="http://schemas.openxmlformats.org/drawingml/2006/main">
              <a:ext uri="{FF2B5EF4-FFF2-40B4-BE49-F238E27FC236}">
                <a16:creationId xmlns:a16="http://schemas.microsoft.com/office/drawing/2014/main" id="{E874E2B7-0E8F-47F3-830A-7920568B3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ENTROPÍA</a:t>
            </a:r>
          </a:p>
        </p:txBody>
      </p:sp>
      <p:sp>
        <p:nvSpPr>
          <p:cNvPr id="15" name="U02-070_title">
            <a:extLst xmlns:a="http://schemas.openxmlformats.org/drawingml/2006/main">
              <a:ext uri="{FF2B5EF4-FFF2-40B4-BE49-F238E27FC236}">
                <a16:creationId xmlns:a16="http://schemas.microsoft.com/office/drawing/2014/main" id="{F56AAC8D-9E95-4D27-98FD-9B5AB382D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entropía es una magnitud de estado</a:t>
            </a:r>
          </a:p>
        </p:txBody>
      </p:sp>
      <p:sp>
        <p:nvSpPr>
          <p:cNvPr id="16" name="U02-070_definition_panel">
            <a:extLst xmlns:a="http://schemas.openxmlformats.org/drawingml/2006/main">
              <a:ext uri="{FF2B5EF4-FFF2-40B4-BE49-F238E27FC236}">
                <a16:creationId xmlns:a16="http://schemas.microsoft.com/office/drawing/2014/main" id="{DF111BD0-47ED-45CF-A283-95F673832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76400"/>
            <a:ext cx="10287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4D1434"/>
            </a:solidFill>
            <a:prstDash val="solid"/>
          </a:ln>
        </p:spPr>
      </p:sp>
      <p:sp>
        <p:nvSpPr>
          <p:cNvPr id="17" name="U02-070_definition">
            <a:extLst xmlns:a="http://schemas.openxmlformats.org/drawingml/2006/main">
              <a:ext uri="{FF2B5EF4-FFF2-40B4-BE49-F238E27FC236}">
                <a16:creationId xmlns:a16="http://schemas.microsoft.com/office/drawing/2014/main" id="{D085DA07-235D-432E-B404-5DFAECC8F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962150"/>
            <a:ext cx="96202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8"/>
              </a:spcAft>
              <a:buNone/>
              <a:defRPr sz="21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Entropía:</a:t>
            </a:r>
            <a:r>
              <a:rPr sz="21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magnitud de estado usada aquí para reconocer irreversibilidad macroscópica; unidad: J/K.</a:t>
            </a:r>
          </a:p>
        </p:txBody>
      </p:sp>
      <p:sp>
        <p:nvSpPr>
          <p:cNvPr id="18" name="U02-070_example">
            <a:extLst xmlns:a="http://schemas.openxmlformats.org/drawingml/2006/main">
              <a:ext uri="{FF2B5EF4-FFF2-40B4-BE49-F238E27FC236}">
                <a16:creationId xmlns:a16="http://schemas.microsoft.com/office/drawing/2014/main" id="{F77AE73E-7B93-4609-B229-0FD3F4F03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05300"/>
            <a:ext cx="9525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8"/>
              </a:spcAft>
              <a:buNone/>
              <a:defRPr sz="18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entropía </a:t>
            </a:r>
            <a:r>
              <a:rPr sz="18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S_ent</a:t>
            </a:r>
            <a:r>
              <a:rPr sz="18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 es una magnitud de estado. Aquí se usa cualitativamente para reconocer irreversibilidad macroscópica; su unidad es J/K.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</p:sld>
</file>

<file path=ppt/slides/slide7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Marcador de número de diapositiva 17">
            <a:extLst xmlns:a="http://schemas.openxmlformats.org/drawingml/2006/main">
              <a:ext uri="{FF2B5EF4-FFF2-40B4-BE49-F238E27FC236}">
                <a16:creationId xmlns:a16="http://schemas.microsoft.com/office/drawing/2014/main" id="{FA71A55B-B389-7001-A9E1-319E4426EE2D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5729EB1E-22A9-C7DF-64B8-0F3C191F1744}" type="slidenum">
              <a:t>71</a:t>
            </a:fld>
          </a:p>
        </p:txBody>
      </p:sp>
      <p:sp>
        <p:nvSpPr>
          <p:cNvPr id="19" name="U02-071_eyebrow">
            <a:extLst xmlns:a="http://schemas.openxmlformats.org/drawingml/2006/main">
              <a:ext uri="{FF2B5EF4-FFF2-40B4-BE49-F238E27FC236}">
                <a16:creationId xmlns:a16="http://schemas.microsoft.com/office/drawing/2014/main" id="{3AFB4FFF-BC54-48F2-9DBC-C05374792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ENTROPÍA</a:t>
            </a:r>
          </a:p>
        </p:txBody>
      </p:sp>
      <p:sp>
        <p:nvSpPr>
          <p:cNvPr id="20" name="U02-071_title">
            <a:extLst xmlns:a="http://schemas.openxmlformats.org/drawingml/2006/main">
              <a:ext uri="{FF2B5EF4-FFF2-40B4-BE49-F238E27FC236}">
                <a16:creationId xmlns:a16="http://schemas.microsoft.com/office/drawing/2014/main" id="{85B981E5-B9EB-4EBC-8AC1-004C9E1F6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En un sistema total aislado, la entropía no disminuye</a:t>
            </a:r>
          </a:p>
        </p:txBody>
      </p:sp>
      <p:sp>
        <p:nvSpPr>
          <p:cNvPr id="21" name="U02-071_takeaway">
            <a:extLst xmlns:a="http://schemas.openxmlformats.org/drawingml/2006/main">
              <a:ext uri="{FF2B5EF4-FFF2-40B4-BE49-F238E27FC236}">
                <a16:creationId xmlns:a16="http://schemas.microsoft.com/office/drawing/2014/main" id="{979D1B98-38B4-4C09-B5E0-1917DB737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Para un sistema total aislado,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ΔS_total ≥ 0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. La igualdad representa el límite reversible ideal; un aumento indica producción de entropía.</a:t>
            </a:r>
          </a:p>
        </p:txBody>
      </p:sp>
      <p:sp>
        <p:nvSpPr>
          <p:cNvPr id="22" name="U02-071_equation_panel">
            <a:extLst xmlns:a="http://schemas.openxmlformats.org/drawingml/2006/main">
              <a:ext uri="{FF2B5EF4-FFF2-40B4-BE49-F238E27FC236}">
                <a16:creationId xmlns:a16="http://schemas.microsoft.com/office/drawing/2014/main" id="{2E456B5A-AED2-4DA9-8E64-A6C818647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7165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23" name="U02-071_equation">
            <a:extLst xmlns:a="http://schemas.openxmlformats.org/drawingml/2006/main">
              <a:ext uri="{FF2B5EF4-FFF2-40B4-BE49-F238E27FC236}">
                <a16:creationId xmlns:a16="http://schemas.microsoft.com/office/drawing/2014/main" id="{9D77BAB6-793B-48CA-97D2-A5495ED49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80022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ΔS_total ≥ 0</a:t>
            </a:r>
          </a:p>
        </p:txBody>
      </p:sp>
      <p:pic>
        <p:nvPicPr>
          <p:cNvPr id="34" name="U02-071: Ecuación anotada de la slide «En un sistema total aislado, la entropía no disminuye»: Ecuación, sistema total, unidad y dos ramas de interpretación." descr="U02-071: Ecuación anotada de la slide «En un sistema total aislado, la entropía no disminuye»: Ecuación, sistema total, unidad y dos ramas de interpretación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411e8c93ea478a">
            <a:extLst>
              <a:ext uri="{96DAC541-7B7A-43D3-8B79-37D633B846F1}">
                <asvg:svgBlip xmlns:asvg="http://schemas.microsoft.com/office/drawing/2016/SVG/main" r:embed="Rb42acfc2b719431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362200"/>
            <a:ext cx="10668000" cy="3352800"/>
          </a:xfrm>
          <a:prstGeom xmlns:a="http://schemas.openxmlformats.org/drawingml/2006/main" prst="rect">
            <a:avLst/>
          </a:prstGeom>
        </p:spPr>
      </p:pic>
      <p:sp>
        <p:nvSpPr>
          <p:cNvPr id="25" name="U02-071_caption">
            <a:extLst xmlns:a="http://schemas.openxmlformats.org/drawingml/2006/main">
              <a:ext uri="{FF2B5EF4-FFF2-40B4-BE49-F238E27FC236}">
                <a16:creationId xmlns:a16="http://schemas.microsoft.com/office/drawing/2014/main" id="{17642351-83F8-4A19-885D-237A16FFA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Igualdad es el límite reversible ideal; aumento indica producción de entropía.</a:t>
            </a:r>
          </a:p>
        </p:txBody>
      </p:sp>
      <p:sp>
        <p:nvSpPr>
          <p:cNvPr id="26" name="U02-071_source">
            <a:extLst xmlns:a="http://schemas.openxmlformats.org/drawingml/2006/main">
              <a:ext uri="{FF2B5EF4-FFF2-40B4-BE49-F238E27FC236}">
                <a16:creationId xmlns:a16="http://schemas.microsoft.com/office/drawing/2014/main" id="{BDCBCC44-97DF-4F30-921A-1F536E021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7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Marcador de número de diapositiva 18">
            <a:extLst xmlns:a="http://schemas.openxmlformats.org/drawingml/2006/main">
              <a:ext uri="{FF2B5EF4-FFF2-40B4-BE49-F238E27FC236}">
                <a16:creationId xmlns:a16="http://schemas.microsoft.com/office/drawing/2014/main" id="{3701E013-5363-F7F5-9233-7CB612036904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8776987F-56AD-7B55-62F3-0CC641828052}" type="slidenum">
              <a:t>72</a:t>
            </a:fld>
          </a:p>
        </p:txBody>
      </p:sp>
      <p:sp>
        <p:nvSpPr>
          <p:cNvPr id="20" name="U02-072_eyebrow">
            <a:extLst xmlns:a="http://schemas.openxmlformats.org/drawingml/2006/main">
              <a:ext uri="{FF2B5EF4-FFF2-40B4-BE49-F238E27FC236}">
                <a16:creationId xmlns:a16="http://schemas.microsoft.com/office/drawing/2014/main" id="{37F4BC20-BD8A-44AB-B59A-58D5DA3BE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ENTROPÍA</a:t>
            </a:r>
          </a:p>
        </p:txBody>
      </p:sp>
      <p:sp>
        <p:nvSpPr>
          <p:cNvPr id="21" name="U02-072_title">
            <a:extLst xmlns:a="http://schemas.openxmlformats.org/drawingml/2006/main">
              <a:ext uri="{FF2B5EF4-FFF2-40B4-BE49-F238E27FC236}">
                <a16:creationId xmlns:a16="http://schemas.microsoft.com/office/drawing/2014/main" id="{3F8192B4-4851-4FC8-8DDB-3384C32A8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Reversible ideal e irreversible real no son sinónimos de “sin pérdida” y “con pérdida”</a:t>
            </a:r>
          </a:p>
        </p:txBody>
      </p:sp>
      <p:sp>
        <p:nvSpPr>
          <p:cNvPr id="22" name="U02-072_subtitle">
            <a:extLst xmlns:a="http://schemas.openxmlformats.org/drawingml/2006/main">
              <a:ext uri="{FF2B5EF4-FFF2-40B4-BE49-F238E27FC236}">
                <a16:creationId xmlns:a16="http://schemas.microsoft.com/office/drawing/2014/main" id="{9F6921AF-3814-4DDD-A830-38E050BA1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335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Diferencias que cambian la explicación.</a:t>
            </a:r>
          </a:p>
        </p:txBody>
      </p:sp>
      <p:sp>
        <p:nvSpPr>
          <p:cNvPr id="23" name="U02-072_block_0">
            <a:extLst xmlns:a="http://schemas.openxmlformats.org/drawingml/2006/main">
              <a:ext uri="{FF2B5EF4-FFF2-40B4-BE49-F238E27FC236}">
                <a16:creationId xmlns:a16="http://schemas.microsoft.com/office/drawing/2014/main" id="{B61796CF-5AFB-43BD-A5B3-9A5316BCF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24075"/>
            <a:ext cx="10287000" cy="20621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8"/>
              </a:spcAft>
              <a:buNone/>
              <a:defRPr sz="21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Reversible ideal:</a:t>
            </a:r>
            <a:r>
              <a:rPr sz="21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1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ΔS_total = 0</a:t>
            </a:r>
            <a:r>
              <a:rPr sz="21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, sin producción de entropía.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8"/>
              </a:spcAft>
              <a:buNone/>
              <a:defRPr sz="21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Irreversible real:</a:t>
            </a:r>
            <a:r>
              <a:rPr sz="21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1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ΔS_total &gt; 0</a:t>
            </a:r>
            <a:r>
              <a:rPr sz="21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, con una dirección preferente del proceso.</a:t>
            </a:r>
          </a:p>
        </p:txBody>
      </p:sp>
      <p:sp>
        <p:nvSpPr>
          <p:cNvPr id="24" name="U02-072_label_1">
            <a:extLst xmlns:a="http://schemas.openxmlformats.org/drawingml/2006/main">
              <a:ext uri="{FF2B5EF4-FFF2-40B4-BE49-F238E27FC236}">
                <a16:creationId xmlns:a16="http://schemas.microsoft.com/office/drawing/2014/main" id="{0EB24D20-3705-49D1-8F73-E87E614BF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95788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ECUACIÓN</a:t>
            </a:r>
          </a:p>
        </p:txBody>
      </p:sp>
      <p:sp>
        <p:nvSpPr>
          <p:cNvPr id="25" name="U02-072_block_1">
            <a:extLst xmlns:a="http://schemas.openxmlformats.org/drawingml/2006/main">
              <a:ext uri="{FF2B5EF4-FFF2-40B4-BE49-F238E27FC236}">
                <a16:creationId xmlns:a16="http://schemas.microsoft.com/office/drawing/2014/main" id="{8034E2B5-F894-455E-AE2D-8C8400326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24388"/>
            <a:ext cx="10287000" cy="1833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8"/>
              </a:spcAft>
              <a:buNone/>
              <a:defRPr sz="210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10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ΔS_total = 0</a:t>
            </a:r>
            <a:r>
              <a:rPr sz="210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 frente a </a:t>
            </a:r>
            <a:r>
              <a:rPr sz="210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ΔS_total &gt; 0</a:t>
            </a:r>
            <a:r>
              <a:rPr sz="210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, siempre para el sistema total considerado.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</p:sld>
</file>

<file path=ppt/slides/slide7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Marcador de número de diapositiva 27">
            <a:extLst xmlns:a="http://schemas.openxmlformats.org/drawingml/2006/main">
              <a:ext uri="{FF2B5EF4-FFF2-40B4-BE49-F238E27FC236}">
                <a16:creationId xmlns:a16="http://schemas.microsoft.com/office/drawing/2014/main" id="{7D464FDA-53EB-4C28-9BB9-7238405ABEB4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79ACACBC-23A9-0259-8853-3D40A2922B53}" type="slidenum">
              <a:t>73</a:t>
            </a:fld>
          </a:p>
        </p:txBody>
      </p:sp>
      <p:sp>
        <p:nvSpPr>
          <p:cNvPr id="29" name="U02-073_eyebrow">
            <a:extLst xmlns:a="http://schemas.openxmlformats.org/drawingml/2006/main">
              <a:ext uri="{FF2B5EF4-FFF2-40B4-BE49-F238E27FC236}">
                <a16:creationId xmlns:a16="http://schemas.microsoft.com/office/drawing/2014/main" id="{694F0F15-B4E2-4F99-B1B3-A9DD2F259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ENTROPÍA</a:t>
            </a:r>
          </a:p>
        </p:txBody>
      </p:sp>
      <p:sp>
        <p:nvSpPr>
          <p:cNvPr id="30" name="U02-073_title">
            <a:extLst xmlns:a="http://schemas.openxmlformats.org/drawingml/2006/main">
              <a:ext uri="{FF2B5EF4-FFF2-40B4-BE49-F238E27FC236}">
                <a16:creationId xmlns:a16="http://schemas.microsoft.com/office/drawing/2014/main" id="{C1824203-DBBB-43CD-8F89-16382E913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amortiguamiento conecta mecánica y termodinámica</a:t>
            </a:r>
          </a:p>
        </p:txBody>
      </p:sp>
      <p:sp>
        <p:nvSpPr>
          <p:cNvPr id="31" name="U02-073_takeaway">
            <a:extLst xmlns:a="http://schemas.openxmlformats.org/drawingml/2006/main">
              <a:ext uri="{FF2B5EF4-FFF2-40B4-BE49-F238E27FC236}">
                <a16:creationId xmlns:a16="http://schemas.microsoft.com/office/drawing/2014/main" id="{1B30C958-D418-444A-AADA-5092C5598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Fuerza disipativa → disminuye la energía mecánica útil → aumenta la energía interna → se produce entropía.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 energía total se conserva.</a:t>
            </a:r>
          </a:p>
        </p:txBody>
      </p:sp>
      <p:pic>
        <p:nvPicPr>
          <p:cNvPr id="40" name="U02-073: Diagrama de la slide «El amortiguamiento conecta mecánica y termodinámica»: Cadena causal con cuatro etapas y límites del modelo." descr="U02-073: Diagrama de la slide «El amortiguamiento conecta mecánica y termodinámica»: Cadena causal con cuatro etapas y límites del modelo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3519e7daf243a3">
            <a:extLst>
              <a:ext uri="{96DAC541-7B7A-43D3-8B79-37D633B846F1}">
                <asvg:svgBlip xmlns:asvg="http://schemas.microsoft.com/office/drawing/2016/SVG/main" r:embed="R38b04b7b9a8948c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324100"/>
            <a:ext cx="10668000" cy="3390900"/>
          </a:xfrm>
          <a:prstGeom xmlns:a="http://schemas.openxmlformats.org/drawingml/2006/main" prst="rect">
            <a:avLst/>
          </a:prstGeom>
        </p:spPr>
      </p:pic>
      <p:sp>
        <p:nvSpPr>
          <p:cNvPr id="33" name="U02-073_caption">
            <a:extLst xmlns:a="http://schemas.openxmlformats.org/drawingml/2006/main">
              <a:ext uri="{FF2B5EF4-FFF2-40B4-BE49-F238E27FC236}">
                <a16:creationId xmlns:a16="http://schemas.microsoft.com/office/drawing/2014/main" id="{D1E76B26-CB7E-49D2-A2E1-AFEBD700C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Fuerza disipativa → menor energía mecánica útil → mayor energía interna → producción de entropía.</a:t>
            </a:r>
          </a:p>
        </p:txBody>
      </p:sp>
      <p:sp>
        <p:nvSpPr>
          <p:cNvPr id="34" name="U02-073_source">
            <a:extLst xmlns:a="http://schemas.openxmlformats.org/drawingml/2006/main">
              <a:ext uri="{FF2B5EF4-FFF2-40B4-BE49-F238E27FC236}">
                <a16:creationId xmlns:a16="http://schemas.microsoft.com/office/drawing/2014/main" id="{D697D8E6-C82A-4893-9CA7-8C7D91A0E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</p:sld>
</file>

<file path=ppt/slides/slide7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Marcador de número de diapositiva 15">
            <a:extLst xmlns:a="http://schemas.openxmlformats.org/drawingml/2006/main">
              <a:ext uri="{FF2B5EF4-FFF2-40B4-BE49-F238E27FC236}">
                <a16:creationId xmlns:a16="http://schemas.microsoft.com/office/drawing/2014/main" id="{A3B291B6-2F9F-F87F-EE7A-EE2204EF18D2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BD7CAEA5-FC9E-B891-9738-7871F1F765A5}" type="slidenum">
              <a:t>74</a:t>
            </a:fld>
          </a:p>
        </p:txBody>
      </p:sp>
      <p:sp>
        <p:nvSpPr>
          <p:cNvPr id="17" name="U02-074_eyebrow">
            <a:extLst xmlns:a="http://schemas.openxmlformats.org/drawingml/2006/main">
              <a:ext uri="{FF2B5EF4-FFF2-40B4-BE49-F238E27FC236}">
                <a16:creationId xmlns:a16="http://schemas.microsoft.com/office/drawing/2014/main" id="{171C27B2-E061-4758-ABF3-062DE5EAF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ENTROPÍA</a:t>
            </a:r>
          </a:p>
        </p:txBody>
      </p:sp>
      <p:sp>
        <p:nvSpPr>
          <p:cNvPr id="18" name="U02-074_title">
            <a:extLst xmlns:a="http://schemas.openxmlformats.org/drawingml/2006/main">
              <a:ext uri="{FF2B5EF4-FFF2-40B4-BE49-F238E27FC236}">
                <a16:creationId xmlns:a16="http://schemas.microsoft.com/office/drawing/2014/main" id="{9BFC7960-A3F9-4982-9888-30EE4A020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Entropía no significa simplemente “desorden” ni “eco”</a:t>
            </a:r>
          </a:p>
        </p:txBody>
      </p:sp>
      <p:sp>
        <p:nvSpPr>
          <p:cNvPr id="19" name="U02-074_error_panel">
            <a:extLst xmlns:a="http://schemas.openxmlformats.org/drawingml/2006/main">
              <a:ext uri="{FF2B5EF4-FFF2-40B4-BE49-F238E27FC236}">
                <a16:creationId xmlns:a16="http://schemas.microsoft.com/office/drawing/2014/main" id="{E6420284-B2A5-454D-8366-68FBA633A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10477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E8"/>
          </a:solidFill>
          <a:ln xmlns:a="http://schemas.openxmlformats.org/drawingml/2006/main" w="11430">
            <a:solidFill>
              <a:srgbClr val="A33A3A"/>
            </a:solidFill>
            <a:prstDash val="solid"/>
          </a:ln>
        </p:spPr>
      </p:sp>
      <p:sp>
        <p:nvSpPr>
          <p:cNvPr id="20" name="U02-074_error_text">
            <a:extLst xmlns:a="http://schemas.openxmlformats.org/drawingml/2006/main">
              <a:ext uri="{FF2B5EF4-FFF2-40B4-BE49-F238E27FC236}">
                <a16:creationId xmlns:a16="http://schemas.microsoft.com/office/drawing/2014/main" id="{FA7262E4-C9F8-4190-98B0-05107161A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47900"/>
            <a:ext cx="990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A33A3A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A33A3A"/>
                </a:solidFill>
                <a:latin typeface="Calibri"/>
                <a:ea typeface="Calibri"/>
                <a:cs typeface="Calibri"/>
              </a:rPr>
              <a:t>“entropía es desorden” o “entropía es eco”.</a:t>
            </a:r>
          </a:p>
        </p:txBody>
      </p:sp>
      <p:sp>
        <p:nvSpPr>
          <p:cNvPr id="21" name="U02-074_correction_panel">
            <a:extLst xmlns:a="http://schemas.openxmlformats.org/drawingml/2006/main">
              <a:ext uri="{FF2B5EF4-FFF2-40B4-BE49-F238E27FC236}">
                <a16:creationId xmlns:a16="http://schemas.microsoft.com/office/drawing/2014/main" id="{CCFA349C-F858-482A-B336-8C8A5D079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90950"/>
            <a:ext cx="10477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EC"/>
          </a:solidFill>
          <a:ln xmlns:a="http://schemas.openxmlformats.org/drawingml/2006/main" w="11430">
            <a:solidFill>
              <a:srgbClr val="2F6F55"/>
            </a:solidFill>
            <a:prstDash val="solid"/>
          </a:ln>
        </p:spPr>
      </p:sp>
      <p:sp>
        <p:nvSpPr>
          <p:cNvPr id="22" name="U02-074_correction_text">
            <a:extLst xmlns:a="http://schemas.openxmlformats.org/drawingml/2006/main">
              <a:ext uri="{FF2B5EF4-FFF2-40B4-BE49-F238E27FC236}">
                <a16:creationId xmlns:a16="http://schemas.microsoft.com/office/drawing/2014/main" id="{F0ED7FE8-0487-4941-96A7-D7C241DFD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76700"/>
            <a:ext cx="990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2F6F55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F6F55"/>
                </a:solidFill>
                <a:latin typeface="Calibri"/>
                <a:ea typeface="Calibri"/>
                <a:cs typeface="Calibri"/>
              </a:rPr>
              <a:t>la entropía es termodinámica y se expresa en J/K; eco y reverberación corresponden a reflexión.</a:t>
            </a:r>
          </a:p>
        </p:txBody>
      </p:sp>
    </p:spTree>
    <p:extLst>
      <p:ext uri="{BB962C8B-B14F-4D97-AF65-F5344CB8AC3E}">
        <p14:creationId xmlns:p14="http://schemas.microsoft.com/office/powerpoint/2010/main" val="1741329192"/>
      </p:ext>
    </p:extLst>
  </p:cSld>
</p:sld>
</file>

<file path=ppt/slides/slide7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Marcador de número de diapositiva 19">
            <a:extLst xmlns:a="http://schemas.openxmlformats.org/drawingml/2006/main">
              <a:ext uri="{FF2B5EF4-FFF2-40B4-BE49-F238E27FC236}">
                <a16:creationId xmlns:a16="http://schemas.microsoft.com/office/drawing/2014/main" id="{18081493-A553-AC13-4BA5-17CFA71BB2B5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EB457202-512A-0979-41CD-3DF3572B5B0D}" type="slidenum">
              <a:t>75</a:t>
            </a:fld>
          </a:p>
        </p:txBody>
      </p:sp>
      <p:sp>
        <p:nvSpPr>
          <p:cNvPr id="21" name="U02-075_eyebrow">
            <a:extLst xmlns:a="http://schemas.openxmlformats.org/drawingml/2006/main">
              <a:ext uri="{FF2B5EF4-FFF2-40B4-BE49-F238E27FC236}">
                <a16:creationId xmlns:a16="http://schemas.microsoft.com/office/drawing/2014/main" id="{958115BA-8B24-4AAF-AEBE-725BEADF2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ENTROPÍA</a:t>
            </a:r>
          </a:p>
        </p:txBody>
      </p:sp>
      <p:sp>
        <p:nvSpPr>
          <p:cNvPr id="22" name="U02-075_title">
            <a:extLst xmlns:a="http://schemas.openxmlformats.org/drawingml/2006/main">
              <a:ext uri="{FF2B5EF4-FFF2-40B4-BE49-F238E27FC236}">
                <a16:creationId xmlns:a16="http://schemas.microsoft.com/office/drawing/2014/main" id="{C1EA996B-C80A-4F7B-A22A-FC803234A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Hasta acá: conservar energía y producir entropía son compatibles</a:t>
            </a:r>
          </a:p>
        </p:txBody>
      </p:sp>
      <p:sp>
        <p:nvSpPr>
          <p:cNvPr id="23" name="U02-075_recap_panel">
            <a:extLst xmlns:a="http://schemas.openxmlformats.org/drawingml/2006/main">
              <a:ext uri="{FF2B5EF4-FFF2-40B4-BE49-F238E27FC236}">
                <a16:creationId xmlns:a16="http://schemas.microsoft.com/office/drawing/2014/main" id="{68037A45-FE1A-4466-AD8E-876D5B319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85950"/>
            <a:ext cx="105156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24" name="U02-075_recap">
            <a:extLst xmlns:a="http://schemas.openxmlformats.org/drawingml/2006/main">
              <a:ext uri="{FF2B5EF4-FFF2-40B4-BE49-F238E27FC236}">
                <a16:creationId xmlns:a16="http://schemas.microsoft.com/office/drawing/2014/main" id="{6BECCE8D-3A76-4643-8FE2-103ABF866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219325"/>
            <a:ext cx="981075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8"/>
              </a:spcAft>
              <a:buNone/>
              <a:defRPr sz="20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1. La primera ley contabiliza energía.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8"/>
              </a:spcAft>
              <a:buNone/>
              <a:defRPr sz="20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2. La entropía informa sobre la dirección del proceso.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8"/>
              </a:spcAft>
              <a:buNone/>
              <a:defRPr sz="20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3. Conservar energía y producir entropía son afirmaciones compatibles.</a:t>
            </a:r>
          </a:p>
        </p:txBody>
      </p:sp>
      <p:sp>
        <p:nvSpPr>
          <p:cNvPr id="25" name="U02-075_recap_question">
            <a:extLst xmlns:a="http://schemas.openxmlformats.org/drawingml/2006/main">
              <a:ext uri="{FF2B5EF4-FFF2-40B4-BE49-F238E27FC236}">
                <a16:creationId xmlns:a16="http://schemas.microsoft.com/office/drawing/2014/main" id="{6F36F272-1CB9-44E9-B231-9BCD8A905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172075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8"/>
              </a:spcAft>
              <a:buNone/>
              <a:defRPr sz="16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Aplicar ambas leyes a un oscilador amortiguado.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</p:sld>
</file>

<file path=ppt/slides/slide7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Marcador de número de diapositiva 8">
            <a:extLst xmlns:a="http://schemas.openxmlformats.org/drawingml/2006/main">
              <a:ext uri="{FF2B5EF4-FFF2-40B4-BE49-F238E27FC236}">
                <a16:creationId xmlns:a16="http://schemas.microsoft.com/office/drawing/2014/main" id="{208C11FF-1310-C67B-A471-A3573013EA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C4577F63-6B95-799D-E400-1CB1B221750D}" type="slidenum">
              <a:t>76</a:t>
            </a:fld>
          </a:p>
        </p:txBody>
      </p:sp>
      <p:sp>
        <p:nvSpPr>
          <p:cNvPr id="10" name="U02-076_eyebrow">
            <a:extLst xmlns:a="http://schemas.openxmlformats.org/drawingml/2006/main">
              <a:ext uri="{FF2B5EF4-FFF2-40B4-BE49-F238E27FC236}">
                <a16:creationId xmlns:a16="http://schemas.microsoft.com/office/drawing/2014/main" id="{3F53DE36-583C-42CF-9833-1E1187D56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UNIDAD 2 · AIRE Y TEMPERATURA</a:t>
            </a:r>
          </a:p>
        </p:txBody>
      </p:sp>
      <p:sp>
        <p:nvSpPr>
          <p:cNvPr id="11" name="U02-076_title">
            <a:extLst xmlns:a="http://schemas.openxmlformats.org/drawingml/2006/main">
              <a:ext uri="{FF2B5EF4-FFF2-40B4-BE49-F238E27FC236}">
                <a16:creationId xmlns:a16="http://schemas.microsoft.com/office/drawing/2014/main" id="{5EEED214-7743-4317-A826-CF6586A04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9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El estado del aire influye en la velocidad de propagación</a:t>
            </a:r>
          </a:p>
        </p:txBody>
      </p:sp>
      <p:sp>
        <p:nvSpPr>
          <p:cNvPr id="12" name="U02-076_guide">
            <a:extLst xmlns:a="http://schemas.openxmlformats.org/drawingml/2006/main">
              <a:ext uri="{FF2B5EF4-FFF2-40B4-BE49-F238E27FC236}">
                <a16:creationId xmlns:a16="http://schemas.microsoft.com/office/drawing/2014/main" id="{C73561A8-36A8-47CC-8458-551E8DC74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9334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8"/>
              </a:spcAft>
              <a:buNone/>
              <a:defRPr sz="22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Pregunta guía:</a:t>
            </a:r>
            <a:r>
              <a:rPr sz="22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¿qué cambia en la propagación del sonido cuando cambia la temperatura del aire?</a:t>
            </a:r>
          </a:p>
        </p:txBody>
      </p:sp>
      <p:sp>
        <p:nvSpPr>
          <p:cNvPr id="13" name="U02-076_subtitle">
            <a:extLst xmlns:a="http://schemas.openxmlformats.org/drawingml/2006/main">
              <a:ext uri="{FF2B5EF4-FFF2-40B4-BE49-F238E27FC236}">
                <a16:creationId xmlns:a16="http://schemas.microsoft.com/office/drawing/2014/main" id="{81DC4CCA-9935-4A33-B309-8370C8C06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800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E8DDE4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E8DDE4"/>
                </a:solidFill>
                <a:latin typeface="Calibri"/>
                <a:ea typeface="Calibri"/>
                <a:cs typeface="Calibri"/>
              </a:rPr>
              <a:t>Pregunta guía del bloque.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</p:sld>
</file>

<file path=ppt/slides/slide7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Marcador de número de diapositiva 14">
            <a:extLst xmlns:a="http://schemas.openxmlformats.org/drawingml/2006/main">
              <a:ext uri="{FF2B5EF4-FFF2-40B4-BE49-F238E27FC236}">
                <a16:creationId xmlns:a16="http://schemas.microsoft.com/office/drawing/2014/main" id="{817719D9-501B-28AD-B78E-917C652F4997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A745F4A9-739A-E4F3-B534-ADC362278112}" type="slidenum">
              <a:t>77</a:t>
            </a:fld>
          </a:p>
        </p:txBody>
      </p:sp>
      <p:sp>
        <p:nvSpPr>
          <p:cNvPr id="16" name="U02-077_eyebrow">
            <a:extLst xmlns:a="http://schemas.openxmlformats.org/drawingml/2006/main">
              <a:ext uri="{FF2B5EF4-FFF2-40B4-BE49-F238E27FC236}">
                <a16:creationId xmlns:a16="http://schemas.microsoft.com/office/drawing/2014/main" id="{24CC1077-266D-4E40-858C-1A7176A16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AIRE Y TEMPERATURA</a:t>
            </a:r>
          </a:p>
        </p:txBody>
      </p:sp>
      <p:sp>
        <p:nvSpPr>
          <p:cNvPr id="17" name="U02-077_title">
            <a:extLst xmlns:a="http://schemas.openxmlformats.org/drawingml/2006/main">
              <a:ext uri="{FF2B5EF4-FFF2-40B4-BE49-F238E27FC236}">
                <a16:creationId xmlns:a16="http://schemas.microsoft.com/office/drawing/2014/main" id="{2E6A74A7-06B4-40B3-B453-D1D6F3E7E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aire se comprime y se expande localmente</a:t>
            </a:r>
          </a:p>
        </p:txBody>
      </p:sp>
      <p:sp>
        <p:nvSpPr>
          <p:cNvPr id="18" name="U02-077_takeaway">
            <a:extLst xmlns:a="http://schemas.openxmlformats.org/drawingml/2006/main">
              <a:ext uri="{FF2B5EF4-FFF2-40B4-BE49-F238E27FC236}">
                <a16:creationId xmlns:a16="http://schemas.microsoft.com/office/drawing/2014/main" id="{0FFA4CE1-D576-4692-8683-7972D7B81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Observar tres zonas: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compresión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equilibrio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y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rarefacción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. Seguir una partícula y luego el frente. Las variaciones son pequeñas y rápidas.</a:t>
            </a:r>
          </a:p>
        </p:txBody>
      </p:sp>
      <p:pic>
        <p:nvPicPr>
          <p:cNvPr id="27" name="U02-077: Secuencia multimedia de la slide «El aire se comprime y se expande localmente»: Compresión, rarefacción, equilibrio y consigna de observación; definición breve de adiabático." descr="U02-077: Secuencia multimedia de la slide «El aire se comprime y se expande localmente»: Compresión, rarefacción, equilibrio y consigna de observación; definición breve de adiabático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29a2355a984e8e">
            <a:extLst>
              <a:ext uri="{96DAC541-7B7A-43D3-8B79-37D633B846F1}">
                <asvg:svgBlip xmlns:asvg="http://schemas.microsoft.com/office/drawing/2016/SVG/main" r:embed="R9d0701dc56e6452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057400"/>
            <a:ext cx="10668000" cy="3657600"/>
          </a:xfrm>
          <a:prstGeom xmlns:a="http://schemas.openxmlformats.org/drawingml/2006/main" prst="rect">
            <a:avLst/>
          </a:prstGeom>
        </p:spPr>
      </p:pic>
      <p:sp>
        <p:nvSpPr>
          <p:cNvPr id="20" name="U02-077_caption">
            <a:extLst xmlns:a="http://schemas.openxmlformats.org/drawingml/2006/main">
              <a:ext uri="{FF2B5EF4-FFF2-40B4-BE49-F238E27FC236}">
                <a16:creationId xmlns:a16="http://schemas.microsoft.com/office/drawing/2014/main" id="{96CBEE77-6846-4093-9FD7-1E727192E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Las variaciones son pequeñas y rápidas; el intercambio de calor durante cada ciclo se aproxima como despreciable. Esquema conceptual; no está a escala.</a:t>
            </a:r>
          </a:p>
        </p:txBody>
      </p:sp>
      <p:sp>
        <p:nvSpPr>
          <p:cNvPr id="21" name="U02-077_source">
            <a:extLst xmlns:a="http://schemas.openxmlformats.org/drawingml/2006/main">
              <a:ext uri="{FF2B5EF4-FFF2-40B4-BE49-F238E27FC236}">
                <a16:creationId xmlns:a16="http://schemas.microsoft.com/office/drawing/2014/main" id="{16E79803-27FC-433A-951C-1FD82449E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Alternativa estática basada en un diagrama propio validado.</a:t>
            </a:r>
          </a:p>
        </p:txBody>
      </p:sp>
    </p:spTree>
    <p:extLst>
      <p:ext uri="{BB962C8B-B14F-4D97-AF65-F5344CB8AC3E}">
        <p14:creationId xmlns:p14="http://schemas.microsoft.com/office/powerpoint/2010/main" val="1046213385"/>
      </p:ext>
    </p:extLst>
  </p:cSld>
</p:sld>
</file>

<file path=ppt/slides/slide7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Marcador de número de diapositiva 18">
            <a:extLst xmlns:a="http://schemas.openxmlformats.org/drawingml/2006/main">
              <a:ext uri="{FF2B5EF4-FFF2-40B4-BE49-F238E27FC236}">
                <a16:creationId xmlns:a16="http://schemas.microsoft.com/office/drawing/2014/main" id="{3701E013-5363-F7F5-9233-7CB612036904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860E46EB-B72F-C12D-87AC-B941D4FF3915}" type="slidenum">
              <a:t>78</a:t>
            </a:fld>
          </a:p>
        </p:txBody>
      </p:sp>
      <p:sp>
        <p:nvSpPr>
          <p:cNvPr id="20" name="U02-078_eyebrow">
            <a:extLst xmlns:a="http://schemas.openxmlformats.org/drawingml/2006/main">
              <a:ext uri="{FF2B5EF4-FFF2-40B4-BE49-F238E27FC236}">
                <a16:creationId xmlns:a16="http://schemas.microsoft.com/office/drawing/2014/main" id="{9A01B7E4-F8C6-4320-AB18-7C8D21DD8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AIRE Y TEMPERATURA</a:t>
            </a:r>
          </a:p>
        </p:txBody>
      </p:sp>
      <p:sp>
        <p:nvSpPr>
          <p:cNvPr id="21" name="U02-078_title">
            <a:extLst xmlns:a="http://schemas.openxmlformats.org/drawingml/2006/main">
              <a:ext uri="{FF2B5EF4-FFF2-40B4-BE49-F238E27FC236}">
                <a16:creationId xmlns:a16="http://schemas.microsoft.com/office/drawing/2014/main" id="{5C319045-BFF1-44A6-898C-F84EE30BF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perturbación avanza; las partículas se mueven localmente</a:t>
            </a:r>
          </a:p>
        </p:txBody>
      </p:sp>
      <p:sp>
        <p:nvSpPr>
          <p:cNvPr id="22" name="U02-078_takeaway">
            <a:extLst xmlns:a="http://schemas.openxmlformats.org/drawingml/2006/main">
              <a:ext uri="{FF2B5EF4-FFF2-40B4-BE49-F238E27FC236}">
                <a16:creationId xmlns:a16="http://schemas.microsoft.com/office/drawing/2014/main" id="{AEC0953C-58EC-43C8-A8FF-82C3DDC98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Frente: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la perturbación avanza con velocidad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Partícula: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cada porción de aire oscila localmente con velocidad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u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. Propagación no significa transporte neto del aire.</a:t>
            </a:r>
          </a:p>
        </p:txBody>
      </p:sp>
      <p:pic>
        <p:nvPicPr>
          <p:cNvPr id="31" name="U02-078: Diagrama de la slide «La perturbación avanza; las partículas se mueven localmente»: Dos descripciones coordinadas, símbolos c y u, unidades iguales y significados distintos." descr="U02-078: Diagrama de la slide «La perturbación avanza; las partículas se mueven localmente»: Dos descripciones coordinadas, símbolos c y u, unidades iguales y significados distintos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dbb9e40f6f481d">
            <a:extLst>
              <a:ext uri="{96DAC541-7B7A-43D3-8B79-37D633B846F1}">
                <asvg:svgBlip xmlns:asvg="http://schemas.microsoft.com/office/drawing/2016/SVG/main" r:embed="Rbd13ed14c1b3454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562225"/>
            <a:ext cx="10668000" cy="3152775"/>
          </a:xfrm>
          <a:prstGeom xmlns:a="http://schemas.openxmlformats.org/drawingml/2006/main" prst="rect">
            <a:avLst/>
          </a:prstGeom>
        </p:spPr>
      </p:pic>
      <p:sp>
        <p:nvSpPr>
          <p:cNvPr id="24" name="U02-078_caption">
            <a:extLst xmlns:a="http://schemas.openxmlformats.org/drawingml/2006/main">
              <a:ext uri="{FF2B5EF4-FFF2-40B4-BE49-F238E27FC236}">
                <a16:creationId xmlns:a16="http://schemas.microsoft.com/office/drawing/2014/main" id="{01394BAB-B234-408B-B37A-816D4E65D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c no es la velocidad local de las partículas del aire. Esquema conceptual; no está a escala.</a:t>
            </a:r>
          </a:p>
        </p:txBody>
      </p:sp>
      <p:sp>
        <p:nvSpPr>
          <p:cNvPr id="25" name="U02-078_source">
            <a:extLst xmlns:a="http://schemas.openxmlformats.org/drawingml/2006/main">
              <a:ext uri="{FF2B5EF4-FFF2-40B4-BE49-F238E27FC236}">
                <a16:creationId xmlns:a16="http://schemas.microsoft.com/office/drawing/2014/main" id="{FCA376F9-54C9-4CB8-B175-C60C22933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</p:sld>
</file>

<file path=ppt/slides/slide7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Marcador de número de diapositiva 17">
            <a:extLst xmlns:a="http://schemas.openxmlformats.org/drawingml/2006/main">
              <a:ext uri="{FF2B5EF4-FFF2-40B4-BE49-F238E27FC236}">
                <a16:creationId xmlns:a16="http://schemas.microsoft.com/office/drawing/2014/main" id="{FA71A55B-B389-7001-A9E1-319E4426EE2D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DDC342D8-64E7-3045-4428-844537067040}" type="slidenum">
              <a:t>79</a:t>
            </a:fld>
          </a:p>
        </p:txBody>
      </p:sp>
      <p:sp>
        <p:nvSpPr>
          <p:cNvPr id="19" name="U02-079_eyebrow">
            <a:extLst xmlns:a="http://schemas.openxmlformats.org/drawingml/2006/main">
              <a:ext uri="{FF2B5EF4-FFF2-40B4-BE49-F238E27FC236}">
                <a16:creationId xmlns:a16="http://schemas.microsoft.com/office/drawing/2014/main" id="{D9913473-AB48-416E-83E9-30FA1CA27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AIRE Y TEMPERATURA</a:t>
            </a:r>
          </a:p>
        </p:txBody>
      </p:sp>
      <p:sp>
        <p:nvSpPr>
          <p:cNvPr id="20" name="U02-079_title">
            <a:extLst xmlns:a="http://schemas.openxmlformats.org/drawingml/2006/main">
              <a:ext uri="{FF2B5EF4-FFF2-40B4-BE49-F238E27FC236}">
                <a16:creationId xmlns:a16="http://schemas.microsoft.com/office/drawing/2014/main" id="{E4E2B803-4FC7-40B8-B0F9-9A1D05A14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Cerca de temperaturas ambientales, c aumenta aproximadamente 0,6 m/s por °C</a:t>
            </a:r>
          </a:p>
        </p:txBody>
      </p:sp>
      <p:sp>
        <p:nvSpPr>
          <p:cNvPr id="21" name="U02-079_takeaway">
            <a:extLst xmlns:a="http://schemas.openxmlformats.org/drawingml/2006/main">
              <a:ext uri="{FF2B5EF4-FFF2-40B4-BE49-F238E27FC236}">
                <a16:creationId xmlns:a16="http://schemas.microsoft.com/office/drawing/2014/main" id="{F69ADBC4-C748-4A3D-BDFE-593ADD4A9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Cerca de temperaturas ambientales y para aire seco: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 ≈ 331 m/s + (0,6 m/s·°C⁻¹)·ϑ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. Es una aproximación lineal de alcance limitado.</a:t>
            </a:r>
          </a:p>
        </p:txBody>
      </p:sp>
      <p:sp>
        <p:nvSpPr>
          <p:cNvPr id="22" name="U02-079_equation_panel">
            <a:extLst xmlns:a="http://schemas.openxmlformats.org/drawingml/2006/main">
              <a:ext uri="{FF2B5EF4-FFF2-40B4-BE49-F238E27FC236}">
                <a16:creationId xmlns:a16="http://schemas.microsoft.com/office/drawing/2014/main" id="{B8F68188-E6F9-4194-AFF8-FF127C504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7165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23" name="U02-079_equation">
            <a:extLst xmlns:a="http://schemas.openxmlformats.org/drawingml/2006/main">
              <a:ext uri="{FF2B5EF4-FFF2-40B4-BE49-F238E27FC236}">
                <a16:creationId xmlns:a16="http://schemas.microsoft.com/office/drawing/2014/main" id="{ADC0EA90-01C3-4186-92DA-B7CA8C8A2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80022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c ≈ 331 m/s + [0,6 (m/s)/°C]·ϑ</a:t>
            </a:r>
          </a:p>
        </p:txBody>
      </p:sp>
      <p:pic>
        <p:nvPicPr>
          <p:cNvPr id="34" name="U02-079: Ecuación anotada de la slide «Cerca de temperaturas ambientales, c aumenta aproximadamente 0,6 m/s por °C»: Ecuación c ≈ 331 m/s + ...·ϑ; símbolos, unidades, rango y condiciones." descr="U02-079: Ecuación anotada de la slide «Cerca de temperaturas ambientales, c aumenta aproximadamente 0,6 m/s por °C»: Ecuación c ≈ 331 m/s + ...·ϑ; símbolos, unidades, rango y condiciones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8defab37924c42">
            <a:extLst>
              <a:ext uri="{96DAC541-7B7A-43D3-8B79-37D633B846F1}">
                <asvg:svgBlip xmlns:asvg="http://schemas.microsoft.com/office/drawing/2016/SVG/main" r:embed="R7d95c49b9d2e4e4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362200"/>
            <a:ext cx="10668000" cy="3352800"/>
          </a:xfrm>
          <a:prstGeom xmlns:a="http://schemas.openxmlformats.org/drawingml/2006/main" prst="rect">
            <a:avLst/>
          </a:prstGeom>
        </p:spPr>
      </p:pic>
      <p:sp>
        <p:nvSpPr>
          <p:cNvPr id="25" name="U02-079_caption">
            <a:extLst xmlns:a="http://schemas.openxmlformats.org/drawingml/2006/main">
              <a:ext uri="{FF2B5EF4-FFF2-40B4-BE49-F238E27FC236}">
                <a16:creationId xmlns:a16="http://schemas.microsoft.com/office/drawing/2014/main" id="{23224F48-AA63-48A4-90D8-3BE6A5589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aproximación describe aire seco en un intervalo limitado; no es universal.</a:t>
            </a:r>
          </a:p>
        </p:txBody>
      </p:sp>
      <p:sp>
        <p:nvSpPr>
          <p:cNvPr id="26" name="U02-079_source">
            <a:extLst xmlns:a="http://schemas.openxmlformats.org/drawingml/2006/main">
              <a:ext uri="{FF2B5EF4-FFF2-40B4-BE49-F238E27FC236}">
                <a16:creationId xmlns:a16="http://schemas.microsoft.com/office/drawing/2014/main" id="{03D3A8B0-3945-496D-9EF3-CE237DDCD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8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Marcador de número de diapositiva 17">
            <a:extLst xmlns:a="http://schemas.openxmlformats.org/drawingml/2006/main">
              <a:ext uri="{FF2B5EF4-FFF2-40B4-BE49-F238E27FC236}">
                <a16:creationId xmlns:a16="http://schemas.microsoft.com/office/drawing/2014/main" id="{7BC74996-1398-61FE-9DC2-28F79E0C2E8F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33D57995-3DFA-DF16-0E49-A4D4112E1203}" type="slidenum">
              <a:t>80</a:t>
            </a:fld>
          </a:p>
        </p:txBody>
      </p:sp>
      <p:sp>
        <p:nvSpPr>
          <p:cNvPr id="19" name="U02-080_eyebrow">
            <a:extLst xmlns:a="http://schemas.openxmlformats.org/drawingml/2006/main">
              <a:ext uri="{FF2B5EF4-FFF2-40B4-BE49-F238E27FC236}">
                <a16:creationId xmlns:a16="http://schemas.microsoft.com/office/drawing/2014/main" id="{E9189E26-6E76-497A-BC87-68FAA0DFE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AIRE Y TEMPERATURA</a:t>
            </a:r>
          </a:p>
        </p:txBody>
      </p:sp>
      <p:sp>
        <p:nvSpPr>
          <p:cNvPr id="20" name="U02-080_title">
            <a:extLst xmlns:a="http://schemas.openxmlformats.org/drawingml/2006/main">
              <a:ext uri="{FF2B5EF4-FFF2-40B4-BE49-F238E27FC236}">
                <a16:creationId xmlns:a16="http://schemas.microsoft.com/office/drawing/2014/main" id="{C70743D5-FE4F-4DA6-9709-509AE269F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gráfico muestra una tendencia del modelo, no mediciones</a:t>
            </a:r>
          </a:p>
        </p:txBody>
      </p:sp>
      <p:sp>
        <p:nvSpPr>
          <p:cNvPr id="21" name="U02-080_takeaway">
            <a:extLst xmlns:a="http://schemas.openxmlformats.org/drawingml/2006/main">
              <a:ext uri="{FF2B5EF4-FFF2-40B4-BE49-F238E27FC236}">
                <a16:creationId xmlns:a16="http://schemas.microsoft.com/office/drawing/2014/main" id="{4C99AF57-588C-4237-BC6A-F8735D136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Puntos del modelo: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0 °C → 331 m/s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;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10 °C → 337 m/s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;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20 °C → 343 m/s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;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30 °C → 349 m/s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.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El eje vertical está truncado y no comienza en cero.</a:t>
            </a:r>
          </a:p>
        </p:txBody>
      </p:sp>
      <p:pic>
        <p:nvPicPr>
          <p:cNvPr id="30" name="U02-080: Gráfico de la slide «El gráfico muestra una tendencia del modelo, no mediciones»: Gráfico c(ϑ), cuatro puntos calculados, eje vertical truncado declarado y lectura clave." descr="U02-080: Gráfico de la slide «El gráfico muestra una tendencia del modelo, no mediciones»: Gráfico c(ϑ), cuatro puntos calculados, eje vertical truncado declarado y lectura clave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9c0a08134444fd"/>
          <a:stretch xmlns:a="http://schemas.openxmlformats.org/drawingml/2006/main"/>
        </p:blipFill>
        <p:spPr>
          <a:xfrm xmlns:a="http://schemas.openxmlformats.org/drawingml/2006/main" flipH="0" flipV="0">
            <a:off x="762000" y="2324100"/>
            <a:ext cx="10668000" cy="3390900"/>
          </a:xfrm>
          <a:prstGeom xmlns:a="http://schemas.openxmlformats.org/drawingml/2006/main" prst="rect">
            <a:avLst/>
          </a:prstGeom>
        </p:spPr>
      </p:pic>
      <p:sp>
        <p:nvSpPr>
          <p:cNvPr id="23" name="U02-080_caption">
            <a:extLst xmlns:a="http://schemas.openxmlformats.org/drawingml/2006/main">
              <a:ext uri="{FF2B5EF4-FFF2-40B4-BE49-F238E27FC236}">
                <a16:creationId xmlns:a16="http://schemas.microsoft.com/office/drawing/2014/main" id="{3266A9A7-68E9-4166-A5C5-A46F09E58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Entre 0 y 30 °C, el modelo aumenta de 331 a 349 m/s.</a:t>
            </a:r>
          </a:p>
        </p:txBody>
      </p:sp>
      <p:sp>
        <p:nvSpPr>
          <p:cNvPr id="24" name="U02-080_source">
            <a:extLst xmlns:a="http://schemas.openxmlformats.org/drawingml/2006/main">
              <a:ext uri="{FF2B5EF4-FFF2-40B4-BE49-F238E27FC236}">
                <a16:creationId xmlns:a16="http://schemas.microsoft.com/office/drawing/2014/main" id="{DAD526F0-32AB-4C0D-B5AD-38E45F89F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40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40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 a partir del modelo del curso; escala lineal.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</p:sld>
</file>

<file path=ppt/slides/slide8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Marcador de número de diapositiva 23">
            <a:extLst xmlns:a="http://schemas.openxmlformats.org/drawingml/2006/main">
              <a:ext uri="{FF2B5EF4-FFF2-40B4-BE49-F238E27FC236}">
                <a16:creationId xmlns:a16="http://schemas.microsoft.com/office/drawing/2014/main" id="{D4631810-29E2-3802-8D4E-7DEAB08103EF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B3D85474-CC96-761E-A5A0-35F7821F8C3F}" type="slidenum">
              <a:t>81</a:t>
            </a:fld>
          </a:p>
        </p:txBody>
      </p:sp>
      <p:sp>
        <p:nvSpPr>
          <p:cNvPr id="25" name="U02-081_eyebrow">
            <a:extLst xmlns:a="http://schemas.openxmlformats.org/drawingml/2006/main">
              <a:ext uri="{FF2B5EF4-FFF2-40B4-BE49-F238E27FC236}">
                <a16:creationId xmlns:a16="http://schemas.microsoft.com/office/drawing/2014/main" id="{026F11CA-E4AA-4C82-9BD4-337106CCB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AIRE Y TEMPERATURA</a:t>
            </a:r>
          </a:p>
        </p:txBody>
      </p:sp>
      <p:sp>
        <p:nvSpPr>
          <p:cNvPr id="26" name="U02-081_title">
            <a:extLst xmlns:a="http://schemas.openxmlformats.org/drawingml/2006/main">
              <a:ext uri="{FF2B5EF4-FFF2-40B4-BE49-F238E27FC236}">
                <a16:creationId xmlns:a16="http://schemas.microsoft.com/office/drawing/2014/main" id="{62E63C84-85E2-4287-AD38-5AF24F4C3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De 20 °C a 30 °C, c aumenta aproximadamente 6 m/s</a:t>
            </a:r>
          </a:p>
        </p:txBody>
      </p:sp>
      <p:sp>
        <p:nvSpPr>
          <p:cNvPr id="27" name="U02-081_takeaway">
            <a:extLst xmlns:a="http://schemas.openxmlformats.org/drawingml/2006/main">
              <a:ext uri="{FF2B5EF4-FFF2-40B4-BE49-F238E27FC236}">
                <a16:creationId xmlns:a16="http://schemas.microsoft.com/office/drawing/2014/main" id="{7A8C45B1-C65F-4BCC-80A2-92946E67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20 °C: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343 m/s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30 °C: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349 m/s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Cambio: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aproximadamente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+6 m/s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. Condiciones: aire seco, intervalo ambiental y modelo lineal.</a:t>
            </a:r>
          </a:p>
        </p:txBody>
      </p:sp>
      <p:pic>
        <p:nvPicPr>
          <p:cNvPr id="36" name="U02-081: Esquema mixto de la slide «De 20 °C a 30 °C, c aumenta aproximadamente 6 m/s»: Cálculos para 20 y 30 °C; diferencia; hipótesis." descr="U02-081: Esquema mixto de la slide «De 20 °C a 30 °C, c aumenta aproximadamente 6 m/s»: Cálculos para 20 y 30 °C; diferencia; hipótesis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c15856368a4b87"/>
          <a:stretch xmlns:a="http://schemas.openxmlformats.org/drawingml/2006/main"/>
        </p:blipFill>
        <p:spPr>
          <a:xfrm xmlns:a="http://schemas.openxmlformats.org/drawingml/2006/main" flipH="0" flipV="0">
            <a:off x="762000" y="2562225"/>
            <a:ext cx="10668000" cy="3152775"/>
          </a:xfrm>
          <a:prstGeom xmlns:a="http://schemas.openxmlformats.org/drawingml/2006/main" prst="rect">
            <a:avLst/>
          </a:prstGeom>
        </p:spPr>
      </p:pic>
      <p:sp>
        <p:nvSpPr>
          <p:cNvPr id="29" name="U02-081_caption">
            <a:extLst xmlns:a="http://schemas.openxmlformats.org/drawingml/2006/main">
              <a:ext uri="{FF2B5EF4-FFF2-40B4-BE49-F238E27FC236}">
                <a16:creationId xmlns:a16="http://schemas.microsoft.com/office/drawing/2014/main" id="{5664511A-BCF5-4DAC-B8A7-AE37AE156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El cambio de velocidad no fija por sí solo frecuencia ni percepción.</a:t>
            </a:r>
          </a:p>
        </p:txBody>
      </p:sp>
      <p:sp>
        <p:nvSpPr>
          <p:cNvPr id="30" name="U02-081_source">
            <a:extLst xmlns:a="http://schemas.openxmlformats.org/drawingml/2006/main">
              <a:ext uri="{FF2B5EF4-FFF2-40B4-BE49-F238E27FC236}">
                <a16:creationId xmlns:a16="http://schemas.microsoft.com/office/drawing/2014/main" id="{E8734BA4-303C-4840-A341-D079389FE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 a partir del modelo del curso; escala lineal.</a:t>
            </a:r>
          </a:p>
        </p:txBody>
      </p:sp>
    </p:spTree>
    <p:extLst>
      <p:ext uri="{BB962C8B-B14F-4D97-AF65-F5344CB8AC3E}">
        <p14:creationId xmlns:p14="http://schemas.microsoft.com/office/powerpoint/2010/main" val="1133635661"/>
      </p:ext>
    </p:extLst>
  </p:cSld>
</p:sld>
</file>

<file path=ppt/slides/slide8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Marcador de número de diapositiva 15">
            <a:extLst xmlns:a="http://schemas.openxmlformats.org/drawingml/2006/main">
              <a:ext uri="{FF2B5EF4-FFF2-40B4-BE49-F238E27FC236}">
                <a16:creationId xmlns:a16="http://schemas.microsoft.com/office/drawing/2014/main" id="{A3B291B6-2F9F-F87F-EE7A-EE2204EF18D2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C64ABC67-38DD-FC88-F2B3-FD29FD14CB50}" type="slidenum">
              <a:t>82</a:t>
            </a:fld>
          </a:p>
        </p:txBody>
      </p:sp>
      <p:sp>
        <p:nvSpPr>
          <p:cNvPr id="17" name="U02-082_eyebrow">
            <a:extLst xmlns:a="http://schemas.openxmlformats.org/drawingml/2006/main">
              <a:ext uri="{FF2B5EF4-FFF2-40B4-BE49-F238E27FC236}">
                <a16:creationId xmlns:a16="http://schemas.microsoft.com/office/drawing/2014/main" id="{BB2F7429-3B09-4A17-9238-3C52E17A1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AIRE Y TEMPERATURA</a:t>
            </a:r>
          </a:p>
        </p:txBody>
      </p:sp>
      <p:sp>
        <p:nvSpPr>
          <p:cNvPr id="18" name="U02-082_title">
            <a:extLst xmlns:a="http://schemas.openxmlformats.org/drawingml/2006/main">
              <a:ext uri="{FF2B5EF4-FFF2-40B4-BE49-F238E27FC236}">
                <a16:creationId xmlns:a16="http://schemas.microsoft.com/office/drawing/2014/main" id="{966384F6-F520-415C-9D1C-48E4A74C6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Mayor velocidad de propagación no significa mayor altura tonal</a:t>
            </a:r>
          </a:p>
        </p:txBody>
      </p:sp>
      <p:sp>
        <p:nvSpPr>
          <p:cNvPr id="19" name="U02-082_takeaway">
            <a:extLst xmlns:a="http://schemas.openxmlformats.org/drawingml/2006/main">
              <a:ext uri="{FF2B5EF4-FFF2-40B4-BE49-F238E27FC236}">
                <a16:creationId xmlns:a16="http://schemas.microsoft.com/office/drawing/2014/main" id="{AD50B2F1-110F-4457-94A5-5D519BF11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7239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Error: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“si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aumenta, el sonido se vuelve más agudo”.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Corrección: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si la fuente mantiene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, el cambio de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modifica principalmente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λ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; no permite deducir la altura tonal.</a:t>
            </a:r>
          </a:p>
        </p:txBody>
      </p:sp>
      <p:sp>
        <p:nvSpPr>
          <p:cNvPr id="20" name="U02-082_equation_panel">
            <a:extLst xmlns:a="http://schemas.openxmlformats.org/drawingml/2006/main">
              <a:ext uri="{FF2B5EF4-FFF2-40B4-BE49-F238E27FC236}">
                <a16:creationId xmlns:a16="http://schemas.microsoft.com/office/drawing/2014/main" id="{B4224BC3-E06D-40AD-81B9-5A1E25923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7165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21" name="U02-082_equation">
            <a:extLst xmlns:a="http://schemas.openxmlformats.org/drawingml/2006/main">
              <a:ext uri="{FF2B5EF4-FFF2-40B4-BE49-F238E27FC236}">
                <a16:creationId xmlns:a16="http://schemas.microsoft.com/office/drawing/2014/main" id="{E506FC53-6179-451C-8F95-E9F9C067D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80022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c = λf como puente a U3</a:t>
            </a:r>
          </a:p>
        </p:txBody>
      </p:sp>
      <p:pic>
        <p:nvPicPr>
          <p:cNvPr id="32" name="U02-082: Esquema mixto de la slide «Mayor velocidad de propagación no significa mayor altura tonal»: Error, corrección y puente c = λf hacia U3; físico frente a perceptual." descr="U02-082: Esquema mixto de la slide «Mayor velocidad de propagación no significa mayor altura tonal»: Error, corrección y puente c = λf hacia U3; físico frente a perceptual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d92eea302a4e8f">
            <a:extLst>
              <a:ext uri="{96DAC541-7B7A-43D3-8B79-37D633B846F1}">
                <asvg:svgBlip xmlns:asvg="http://schemas.microsoft.com/office/drawing/2016/SVG/main" r:embed="R3153af4aac2c47f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562225"/>
            <a:ext cx="10668000" cy="3152775"/>
          </a:xfrm>
          <a:prstGeom xmlns:a="http://schemas.openxmlformats.org/drawingml/2006/main" prst="rect">
            <a:avLst/>
          </a:prstGeom>
        </p:spPr>
      </p:pic>
      <p:sp>
        <p:nvSpPr>
          <p:cNvPr id="23" name="U02-082_caption">
            <a:extLst xmlns:a="http://schemas.openxmlformats.org/drawingml/2006/main">
              <a:ext uri="{FF2B5EF4-FFF2-40B4-BE49-F238E27FC236}">
                <a16:creationId xmlns:a16="http://schemas.microsoft.com/office/drawing/2014/main" id="{2FE257F7-CFB7-474A-A796-6AEC0D85B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Si la frecuencia de la fuente permanece fija, el cambio de c modifica principalmente la longitud de onda.</a:t>
            </a:r>
          </a:p>
        </p:txBody>
      </p:sp>
      <p:sp>
        <p:nvSpPr>
          <p:cNvPr id="24" name="U02-082_source">
            <a:extLst xmlns:a="http://schemas.openxmlformats.org/drawingml/2006/main">
              <a:ext uri="{FF2B5EF4-FFF2-40B4-BE49-F238E27FC236}">
                <a16:creationId xmlns:a16="http://schemas.microsoft.com/office/drawing/2014/main" id="{887E97FB-A628-401F-AE2F-CB8EE7C47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1741329192"/>
      </p:ext>
    </p:extLst>
  </p:cSld>
</p:sld>
</file>

<file path=ppt/slides/slide8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Marcador de número de diapositiva 8">
            <a:extLst xmlns:a="http://schemas.openxmlformats.org/drawingml/2006/main">
              <a:ext uri="{FF2B5EF4-FFF2-40B4-BE49-F238E27FC236}">
                <a16:creationId xmlns:a16="http://schemas.microsoft.com/office/drawing/2014/main" id="{208C11FF-1310-C67B-A471-A3573013EA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7DD74841-24FE-7EE8-22BB-4DC45FDF28A3}" type="slidenum">
              <a:t>83</a:t>
            </a:fld>
          </a:p>
        </p:txBody>
      </p:sp>
      <p:sp>
        <p:nvSpPr>
          <p:cNvPr id="10" name="U02-083_eyebrow">
            <a:extLst xmlns:a="http://schemas.openxmlformats.org/drawingml/2006/main">
              <a:ext uri="{FF2B5EF4-FFF2-40B4-BE49-F238E27FC236}">
                <a16:creationId xmlns:a16="http://schemas.microsoft.com/office/drawing/2014/main" id="{2779D2F7-291F-47EF-B40C-7D7825DA2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UNIDAD 2 · APLICACIÓN E INTEGRACIÓN</a:t>
            </a:r>
          </a:p>
        </p:txBody>
      </p:sp>
      <p:sp>
        <p:nvSpPr>
          <p:cNvPr id="11" name="U02-083_title">
            <a:extLst xmlns:a="http://schemas.openxmlformats.org/drawingml/2006/main">
              <a:ext uri="{FF2B5EF4-FFF2-40B4-BE49-F238E27FC236}">
                <a16:creationId xmlns:a16="http://schemas.microsoft.com/office/drawing/2014/main" id="{05CE5755-F983-4ECE-9FAB-3FF4EA786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9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Un modelo físico ayuda si también conocemos sus límites</a:t>
            </a:r>
          </a:p>
        </p:txBody>
      </p:sp>
      <p:sp>
        <p:nvSpPr>
          <p:cNvPr id="12" name="U02-083_guide">
            <a:extLst xmlns:a="http://schemas.openxmlformats.org/drawingml/2006/main">
              <a:ext uri="{FF2B5EF4-FFF2-40B4-BE49-F238E27FC236}">
                <a16:creationId xmlns:a16="http://schemas.microsoft.com/office/drawing/2014/main" id="{AD492271-CEA6-4891-85A7-E0A599C30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9334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8"/>
              </a:spcAft>
              <a:buNone/>
              <a:defRPr sz="22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Pregunta guía:</a:t>
            </a:r>
            <a:r>
              <a:rPr sz="22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¿qué permite afirmar un modelo físico y qué información adicional hace falta para aplicarlo a una situación clínica?</a:t>
            </a:r>
          </a:p>
        </p:txBody>
      </p:sp>
      <p:sp>
        <p:nvSpPr>
          <p:cNvPr id="13" name="U02-083_subtitle">
            <a:extLst xmlns:a="http://schemas.openxmlformats.org/drawingml/2006/main">
              <a:ext uri="{FF2B5EF4-FFF2-40B4-BE49-F238E27FC236}">
                <a16:creationId xmlns:a16="http://schemas.microsoft.com/office/drawing/2014/main" id="{EE7F2690-B743-4980-A029-56EA345FE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800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E8DDE4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E8DDE4"/>
                </a:solidFill>
                <a:latin typeface="Calibri"/>
                <a:ea typeface="Calibri"/>
                <a:cs typeface="Calibri"/>
              </a:rPr>
              <a:t>Pregunta guía del bloque.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</p:sld>
</file>

<file path=ppt/slides/slide8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Marcador de número de diapositiva 25">
            <a:extLst xmlns:a="http://schemas.openxmlformats.org/drawingml/2006/main">
              <a:ext uri="{FF2B5EF4-FFF2-40B4-BE49-F238E27FC236}">
                <a16:creationId xmlns:a16="http://schemas.microsoft.com/office/drawing/2014/main" id="{AB9938E4-BE03-A7BA-4A48-E6E4907240D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AA4C4240-6F12-7F09-5904-52FC212F0821}" type="slidenum">
              <a:t>84</a:t>
            </a:fld>
          </a:p>
        </p:txBody>
      </p:sp>
      <p:sp>
        <p:nvSpPr>
          <p:cNvPr id="27" name="U02-084_eyebrow">
            <a:extLst xmlns:a="http://schemas.openxmlformats.org/drawingml/2006/main">
              <a:ext uri="{FF2B5EF4-FFF2-40B4-BE49-F238E27FC236}">
                <a16:creationId xmlns:a16="http://schemas.microsoft.com/office/drawing/2014/main" id="{FF095196-4ABA-45DE-9EA1-95504904D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APLICACIÓN E INTEGRACIÓN</a:t>
            </a:r>
          </a:p>
        </p:txBody>
      </p:sp>
      <p:sp>
        <p:nvSpPr>
          <p:cNvPr id="28" name="U02-084_title">
            <a:extLst xmlns:a="http://schemas.openxmlformats.org/drawingml/2006/main">
              <a:ext uri="{FF2B5EF4-FFF2-40B4-BE49-F238E27FC236}">
                <a16:creationId xmlns:a16="http://schemas.microsoft.com/office/drawing/2014/main" id="{07643FAB-C5CE-473C-9D16-5F00048C5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Cinco aplicaciones reutilizan las mismas ideas</a:t>
            </a:r>
          </a:p>
        </p:txBody>
      </p:sp>
      <p:sp>
        <p:nvSpPr>
          <p:cNvPr id="29" name="U02-084_takeaway">
            <a:extLst xmlns:a="http://schemas.openxmlformats.org/drawingml/2006/main">
              <a:ext uri="{FF2B5EF4-FFF2-40B4-BE49-F238E27FC236}">
                <a16:creationId xmlns:a16="http://schemas.microsoft.com/office/drawing/2014/main" id="{B23894DB-B1C4-4FBF-B3E1-3CF042A6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Aplicaciones: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membrana timpánica; oído medio; vibrador óseo; tejidos; propagación en aire.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Ideas reutilizadas: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presión, fuerza, respuesta mecánica y energía.</a:t>
            </a:r>
          </a:p>
        </p:txBody>
      </p:sp>
      <p:pic>
        <p:nvPicPr>
          <p:cNvPr id="38" name="U02-084: Diagrama de la slide «Cinco aplicaciones reutilizan las mismas ideas»: Mapa de cinco aplicaciones conectadas con cuatro conceptos físicos." descr="U02-084: Diagrama de la slide «Cinco aplicaciones reutilizan las mismas ideas»: Mapa de cinco aplicaciones conectadas con cuatro conceptos físicos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dc159e61444139">
            <a:extLst>
              <a:ext uri="{96DAC541-7B7A-43D3-8B79-37D633B846F1}">
                <asvg:svgBlip xmlns:asvg="http://schemas.microsoft.com/office/drawing/2016/SVG/main" r:embed="Rb132a55c018e4c1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057400"/>
            <a:ext cx="10668000" cy="3657600"/>
          </a:xfrm>
          <a:prstGeom xmlns:a="http://schemas.openxmlformats.org/drawingml/2006/main" prst="rect">
            <a:avLst/>
          </a:prstGeom>
        </p:spPr>
      </p:pic>
      <p:sp>
        <p:nvSpPr>
          <p:cNvPr id="31" name="U02-084_caption">
            <a:extLst xmlns:a="http://schemas.openxmlformats.org/drawingml/2006/main">
              <a:ext uri="{FF2B5EF4-FFF2-40B4-BE49-F238E27FC236}">
                <a16:creationId xmlns:a16="http://schemas.microsoft.com/office/drawing/2014/main" id="{F5678284-5189-4394-A12D-25E2DCB11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Presión, fuerza, respuesta mecánica y energía reaparecen en membrana, oído medio, vibrador, tejidos y aire.</a:t>
            </a:r>
          </a:p>
        </p:txBody>
      </p:sp>
      <p:sp>
        <p:nvSpPr>
          <p:cNvPr id="32" name="U02-084_source">
            <a:extLst xmlns:a="http://schemas.openxmlformats.org/drawingml/2006/main">
              <a:ext uri="{FF2B5EF4-FFF2-40B4-BE49-F238E27FC236}">
                <a16:creationId xmlns:a16="http://schemas.microsoft.com/office/drawing/2014/main" id="{202DD1D0-FCD7-4309-B57F-ACC5E79DF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1271479030"/>
      </p:ext>
    </p:extLst>
  </p:cSld>
</p:sld>
</file>

<file path=ppt/slides/slide8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Marcador de número de diapositiva 14">
            <a:extLst xmlns:a="http://schemas.openxmlformats.org/drawingml/2006/main">
              <a:ext uri="{FF2B5EF4-FFF2-40B4-BE49-F238E27FC236}">
                <a16:creationId xmlns:a16="http://schemas.microsoft.com/office/drawing/2014/main" id="{8DADC982-ECBE-DC77-CD69-BF0C0D93F5BB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F48AFE98-E9CF-3A34-C20C-6A6243E55E64}" type="slidenum">
              <a:t>85</a:t>
            </a:fld>
          </a:p>
        </p:txBody>
      </p:sp>
      <p:sp>
        <p:nvSpPr>
          <p:cNvPr id="16" name="U02-085_eyebrow">
            <a:extLst xmlns:a="http://schemas.openxmlformats.org/drawingml/2006/main">
              <a:ext uri="{FF2B5EF4-FFF2-40B4-BE49-F238E27FC236}">
                <a16:creationId xmlns:a16="http://schemas.microsoft.com/office/drawing/2014/main" id="{540C36FE-46F5-4700-BA9B-E005685B9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APLICACIÓN E INTEGRACIÓN</a:t>
            </a:r>
          </a:p>
        </p:txBody>
      </p:sp>
      <p:sp>
        <p:nvSpPr>
          <p:cNvPr id="17" name="U02-085_title">
            <a:extLst xmlns:a="http://schemas.openxmlformats.org/drawingml/2006/main">
              <a:ext uri="{FF2B5EF4-FFF2-40B4-BE49-F238E27FC236}">
                <a16:creationId xmlns:a16="http://schemas.microsoft.com/office/drawing/2014/main" id="{8EF8108E-ECBF-4879-A854-DFCBB0789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Membrana y tejido no son resortes ideales</a:t>
            </a:r>
          </a:p>
        </p:txBody>
      </p:sp>
      <p:sp>
        <p:nvSpPr>
          <p:cNvPr id="18" name="U02-085_takeaway">
            <a:extLst xmlns:a="http://schemas.openxmlformats.org/drawingml/2006/main">
              <a:ext uri="{FF2B5EF4-FFF2-40B4-BE49-F238E27FC236}">
                <a16:creationId xmlns:a16="http://schemas.microsoft.com/office/drawing/2014/main" id="{8474CD20-E7F9-430F-995A-20FB4A128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Utilidad: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separar inercia, elasticidad y disipación.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Límites: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las propiedades están distribuidas; la estructura real no es una masa puntual unida literalmente a un resorte.</a:t>
            </a:r>
          </a:p>
        </p:txBody>
      </p:sp>
      <p:pic>
        <p:nvPicPr>
          <p:cNvPr id="27" name="U02-085: Imagen técnica de la slide «Membrana y tejido no son resortes ideales»: Concepto físico, ejemplo biológico, utilidad y dos límites." descr="U02-085: Imagen técnica de la slide «Membrana y tejido no son resortes ideales»: Concepto físico, ejemplo biológico, utilidad y dos límites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7bbd3abeba4675">
            <a:extLst>
              <a:ext uri="{96DAC541-7B7A-43D3-8B79-37D633B846F1}">
                <asvg:svgBlip xmlns:asvg="http://schemas.microsoft.com/office/drawing/2016/SVG/main" r:embed="Rcd1c8b2deec9415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295525"/>
            <a:ext cx="10668000" cy="3419475"/>
          </a:xfrm>
          <a:prstGeom xmlns:a="http://schemas.openxmlformats.org/drawingml/2006/main" prst="rect">
            <a:avLst/>
          </a:prstGeom>
        </p:spPr>
      </p:pic>
      <p:sp>
        <p:nvSpPr>
          <p:cNvPr id="20" name="U02-085_caption">
            <a:extLst xmlns:a="http://schemas.openxmlformats.org/drawingml/2006/main">
              <a:ext uri="{FF2B5EF4-FFF2-40B4-BE49-F238E27FC236}">
                <a16:creationId xmlns:a16="http://schemas.microsoft.com/office/drawing/2014/main" id="{61D827F0-1EC9-4747-A7D8-257DC0802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Masa, rigidez y amortiguamiento son propiedades distribuidas en estructuras reales.</a:t>
            </a:r>
          </a:p>
        </p:txBody>
      </p:sp>
      <p:sp>
        <p:nvSpPr>
          <p:cNvPr id="21" name="U02-085_source">
            <a:extLst xmlns:a="http://schemas.openxmlformats.org/drawingml/2006/main">
              <a:ext uri="{FF2B5EF4-FFF2-40B4-BE49-F238E27FC236}">
                <a16:creationId xmlns:a16="http://schemas.microsoft.com/office/drawing/2014/main" id="{6B461751-848D-477F-AF79-7F86AB8E2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 u="sng">
                <a:solidFill>
                  <a:srgbClr val="969FA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4c407e645cc64062"/>
              </a:rPr>
              <a:t>Inductiveload, Tympanic membrane cross-section, dominio público, vía Wikimedia Commons.</a:t>
            </a:r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</p:sld>
</file>

<file path=ppt/slides/slide8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Marcador de número de diapositiva 14">
            <a:extLst xmlns:a="http://schemas.openxmlformats.org/drawingml/2006/main">
              <a:ext uri="{FF2B5EF4-FFF2-40B4-BE49-F238E27FC236}">
                <a16:creationId xmlns:a16="http://schemas.microsoft.com/office/drawing/2014/main" id="{8DADC982-ECBE-DC77-CD69-BF0C0D93F5BB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231AC35B-B5C2-36EF-1CB3-8BED41B6A46D}" type="slidenum">
              <a:t>86</a:t>
            </a:fld>
          </a:p>
        </p:txBody>
      </p:sp>
      <p:sp>
        <p:nvSpPr>
          <p:cNvPr id="16" name="U02-086_eyebrow">
            <a:extLst xmlns:a="http://schemas.openxmlformats.org/drawingml/2006/main">
              <a:ext uri="{FF2B5EF4-FFF2-40B4-BE49-F238E27FC236}">
                <a16:creationId xmlns:a16="http://schemas.microsoft.com/office/drawing/2014/main" id="{8B9911A2-6CAC-420F-8920-376988063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APLICACIÓN E INTEGRACIÓN</a:t>
            </a:r>
          </a:p>
        </p:txBody>
      </p:sp>
      <p:sp>
        <p:nvSpPr>
          <p:cNvPr id="17" name="U02-086_title">
            <a:extLst xmlns:a="http://schemas.openxmlformats.org/drawingml/2006/main">
              <a:ext uri="{FF2B5EF4-FFF2-40B4-BE49-F238E27FC236}">
                <a16:creationId xmlns:a16="http://schemas.microsoft.com/office/drawing/2014/main" id="{31A70EDB-1803-4B64-BCB9-BFD9DF01E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oído medio transforma variables sin crear energía</a:t>
            </a:r>
          </a:p>
        </p:txBody>
      </p:sp>
      <p:sp>
        <p:nvSpPr>
          <p:cNvPr id="18" name="U02-086_takeaway">
            <a:extLst xmlns:a="http://schemas.openxmlformats.org/drawingml/2006/main">
              <a:ext uri="{FF2B5EF4-FFF2-40B4-BE49-F238E27FC236}">
                <a16:creationId xmlns:a16="http://schemas.microsoft.com/office/drawing/2014/main" id="{D435FA78-B561-430F-9385-837A63D0A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Perturbación → membrana → cadena osicular → oído interno. En la ruta puede haber almacenamiento, transferencia hacia otras vías y disipación.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No aparece ningún término de creación de energía.</a:t>
            </a:r>
          </a:p>
        </p:txBody>
      </p:sp>
      <p:pic>
        <p:nvPicPr>
          <p:cNvPr id="27" name="U02-086: Esquema mixto de la slide «El oído medio transforma variables sin crear energía»: Perturbación → membrana → cadena → oído interno; almacenamiento, otras transferencias y disipación." descr="U02-086: Esquema mixto de la slide «El oído medio transforma variables sin crear energía»: Perturbación → membrana → cadena → oído interno; almacenamiento, otras transferencias y disipación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ce50c02a6344b1">
            <a:extLst>
              <a:ext uri="{96DAC541-7B7A-43D3-8B79-37D633B846F1}">
                <asvg:svgBlip xmlns:asvg="http://schemas.microsoft.com/office/drawing/2016/SVG/main" r:embed="R69999a37cc1f4db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324100"/>
            <a:ext cx="10668000" cy="3390900"/>
          </a:xfrm>
          <a:prstGeom xmlns:a="http://schemas.openxmlformats.org/drawingml/2006/main" prst="rect">
            <a:avLst/>
          </a:prstGeom>
        </p:spPr>
      </p:pic>
      <p:sp>
        <p:nvSpPr>
          <p:cNvPr id="20" name="U02-086_caption">
            <a:extLst xmlns:a="http://schemas.openxmlformats.org/drawingml/2006/main">
              <a:ext uri="{FF2B5EF4-FFF2-40B4-BE49-F238E27FC236}">
                <a16:creationId xmlns:a16="http://schemas.microsoft.com/office/drawing/2014/main" id="{230447DB-11B0-4DB3-883E-AAC80D4BC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Aumentar presión o fuerza no equivale a crear energía. Esquema conceptual; no está a escala.</a:t>
            </a:r>
          </a:p>
        </p:txBody>
      </p:sp>
      <p:sp>
        <p:nvSpPr>
          <p:cNvPr id="21" name="U02-086_source">
            <a:extLst xmlns:a="http://schemas.openxmlformats.org/drawingml/2006/main">
              <a:ext uri="{FF2B5EF4-FFF2-40B4-BE49-F238E27FC236}">
                <a16:creationId xmlns:a16="http://schemas.microsoft.com/office/drawing/2014/main" id="{F62EDC90-7BE6-471F-8DD6-D3FAAADB7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</p:sld>
</file>

<file path=ppt/slides/slide8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Marcador de número de diapositiva 14">
            <a:extLst xmlns:a="http://schemas.openxmlformats.org/drawingml/2006/main">
              <a:ext uri="{FF2B5EF4-FFF2-40B4-BE49-F238E27FC236}">
                <a16:creationId xmlns:a16="http://schemas.microsoft.com/office/drawing/2014/main" id="{8DADC982-ECBE-DC77-CD69-BF0C0D93F5BB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B66BFED3-8D00-65E7-CBC4-2668E3295A52}" type="slidenum">
              <a:t>87</a:t>
            </a:fld>
          </a:p>
        </p:txBody>
      </p:sp>
      <p:sp>
        <p:nvSpPr>
          <p:cNvPr id="16" name="U02-087_eyebrow">
            <a:extLst xmlns:a="http://schemas.openxmlformats.org/drawingml/2006/main">
              <a:ext uri="{FF2B5EF4-FFF2-40B4-BE49-F238E27FC236}">
                <a16:creationId xmlns:a16="http://schemas.microsoft.com/office/drawing/2014/main" id="{556B616E-FD1C-4B84-8746-50F5E9EF0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APLICACIÓN E INTEGRACIÓN</a:t>
            </a:r>
          </a:p>
        </p:txBody>
      </p:sp>
      <p:sp>
        <p:nvSpPr>
          <p:cNvPr id="17" name="U02-087_title">
            <a:extLst xmlns:a="http://schemas.openxmlformats.org/drawingml/2006/main">
              <a:ext uri="{FF2B5EF4-FFF2-40B4-BE49-F238E27FC236}">
                <a16:creationId xmlns:a16="http://schemas.microsoft.com/office/drawing/2014/main" id="{6C69B194-9A18-4579-AA74-CA5070852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Vibrador y cabeza ejercen fuerzas sobre cuerpos diferentes</a:t>
            </a:r>
          </a:p>
        </p:txBody>
      </p:sp>
      <p:sp>
        <p:nvSpPr>
          <p:cNvPr id="18" name="U02-087_takeaway">
            <a:extLst xmlns:a="http://schemas.openxmlformats.org/drawingml/2006/main">
              <a:ext uri="{FF2B5EF4-FFF2-40B4-BE49-F238E27FC236}">
                <a16:creationId xmlns:a16="http://schemas.microsoft.com/office/drawing/2014/main" id="{F147828E-100B-4355-B2C1-2945C0370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Par: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vibrador sobre cabeza ↔ cabeza sobre vibrador. Las fuerzas son iguales y opuestas, pero actúan sobre cuerpos distintos. La vía ósea involucra varios mecanismos.</a:t>
            </a:r>
          </a:p>
        </p:txBody>
      </p:sp>
      <p:pic>
        <p:nvPicPr>
          <p:cNvPr id="27" name="U02-087: Esquema mixto de la slide «Vibrador y cabeza ejercen fuerzas sobre cuerpos diferentes»: Transductor, punto de contacto, fuerzas del par y advertencia multimecanismo." descr="U02-087: Esquema mixto de la slide «Vibrador y cabeza ejercen fuerzas sobre cuerpos diferentes»: Transductor, punto de contacto, fuerzas del par y advertencia multimecanismo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9794a59eb6418f">
            <a:extLst>
              <a:ext uri="{96DAC541-7B7A-43D3-8B79-37D633B846F1}">
                <asvg:svgBlip xmlns:asvg="http://schemas.microsoft.com/office/drawing/2016/SVG/main" r:embed="R7ded2538c59c4b6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324100"/>
            <a:ext cx="10668000" cy="3390900"/>
          </a:xfrm>
          <a:prstGeom xmlns:a="http://schemas.openxmlformats.org/drawingml/2006/main" prst="rect">
            <a:avLst/>
          </a:prstGeom>
        </p:spPr>
      </p:pic>
      <p:sp>
        <p:nvSpPr>
          <p:cNvPr id="20" name="U02-087_caption">
            <a:extLst xmlns:a="http://schemas.openxmlformats.org/drawingml/2006/main">
              <a:ext uri="{FF2B5EF4-FFF2-40B4-BE49-F238E27FC236}">
                <a16:creationId xmlns:a16="http://schemas.microsoft.com/office/drawing/2014/main" id="{3047AB43-8CB3-44C7-B732-D2253B323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El par de interacción no se cancela al analizar solamente la cabeza. Esquema conceptual; no está a escala.</a:t>
            </a:r>
          </a:p>
        </p:txBody>
      </p:sp>
      <p:sp>
        <p:nvSpPr>
          <p:cNvPr id="21" name="U02-087_source">
            <a:extLst xmlns:a="http://schemas.openxmlformats.org/drawingml/2006/main">
              <a:ext uri="{FF2B5EF4-FFF2-40B4-BE49-F238E27FC236}">
                <a16:creationId xmlns:a16="http://schemas.microsoft.com/office/drawing/2014/main" id="{56DECCB7-8A01-4B71-AC32-9D7C469E1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</p:sld>
</file>

<file path=ppt/slides/slide8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Marcador de número de diapositiva 13">
            <a:extLst xmlns:a="http://schemas.openxmlformats.org/drawingml/2006/main">
              <a:ext uri="{FF2B5EF4-FFF2-40B4-BE49-F238E27FC236}">
                <a16:creationId xmlns:a16="http://schemas.microsoft.com/office/drawing/2014/main" id="{6F0E431F-4E1E-5064-2E0C-9F4C713D3097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A9C38CC3-51DE-E4B0-CCEB-BA581457C9D2}" type="slidenum">
              <a:t>88</a:t>
            </a:fld>
          </a:p>
        </p:txBody>
      </p:sp>
      <p:sp>
        <p:nvSpPr>
          <p:cNvPr id="15" name="U02-088_eyebrow">
            <a:extLst xmlns:a="http://schemas.openxmlformats.org/drawingml/2006/main">
              <a:ext uri="{FF2B5EF4-FFF2-40B4-BE49-F238E27FC236}">
                <a16:creationId xmlns:a16="http://schemas.microsoft.com/office/drawing/2014/main" id="{664DAE94-1DFF-4517-A4CC-968D652F2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APLICACIÓN E INTEGRACIÓN</a:t>
            </a:r>
          </a:p>
        </p:txBody>
      </p:sp>
      <p:sp>
        <p:nvSpPr>
          <p:cNvPr id="16" name="U02-088_title">
            <a:extLst xmlns:a="http://schemas.openxmlformats.org/drawingml/2006/main">
              <a:ext uri="{FF2B5EF4-FFF2-40B4-BE49-F238E27FC236}">
                <a16:creationId xmlns:a16="http://schemas.microsoft.com/office/drawing/2014/main" id="{0B7109DF-1D6D-427B-94AC-946CFEAFA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Caso integrador: elegir primero el modelo correcto</a:t>
            </a:r>
          </a:p>
        </p:txBody>
      </p:sp>
      <p:sp>
        <p:nvSpPr>
          <p:cNvPr id="17" name="U02-088_takeaway">
            <a:extLst xmlns:a="http://schemas.openxmlformats.org/drawingml/2006/main">
              <a:ext uri="{FF2B5EF4-FFF2-40B4-BE49-F238E27FC236}">
                <a16:creationId xmlns:a16="http://schemas.microsoft.com/office/drawing/2014/main" id="{11C8FD88-B87C-4178-B6E0-1560D13A2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10668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Caso común: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superficie flexible.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Ruta mecánica: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fuerza y aceleración.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Ruta energética: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balance y disipación.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Ruta térmica: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velocidad del aire.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Cierre: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declarar límites de inferencia.</a:t>
            </a:r>
          </a:p>
        </p:txBody>
      </p:sp>
      <p:pic>
        <p:nvPicPr>
          <p:cNvPr id="26" name="U02-088: Diagrama de la slide «Caso integrador: elegir primero el modelo correcto»: Superficie flexible; tres tareas: fuerza/aceleración, balance de energía, velocidad del aire; límites de inferencia." descr="U02-088: Diagrama de la slide «Caso integrador: elegir primero el modelo correcto»: Superficie flexible; tres tareas: fuerza/aceleración, balance de energía, velocidad del aire; límites de inferencia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c319ebd14c4019">
            <a:extLst>
              <a:ext uri="{96DAC541-7B7A-43D3-8B79-37D633B846F1}">
                <asvg:svgBlip xmlns:asvg="http://schemas.microsoft.com/office/drawing/2016/SVG/main" r:embed="R4f17ca10151b481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3038475"/>
            <a:ext cx="10668000" cy="2676525"/>
          </a:xfrm>
          <a:prstGeom xmlns:a="http://schemas.openxmlformats.org/drawingml/2006/main" prst="rect">
            <a:avLst/>
          </a:prstGeom>
        </p:spPr>
      </p:pic>
      <p:sp>
        <p:nvSpPr>
          <p:cNvPr id="19" name="U02-088_caption">
            <a:extLst xmlns:a="http://schemas.openxmlformats.org/drawingml/2006/main">
              <a:ext uri="{FF2B5EF4-FFF2-40B4-BE49-F238E27FC236}">
                <a16:creationId xmlns:a16="http://schemas.microsoft.com/office/drawing/2014/main" id="{3359C824-DD0B-4C6B-A68C-1339D240E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Cada pregunta del caso exige una herramienta distinta y condiciones explícitas.</a:t>
            </a:r>
          </a:p>
        </p:txBody>
      </p:sp>
      <p:sp>
        <p:nvSpPr>
          <p:cNvPr id="20" name="U02-088_source">
            <a:extLst xmlns:a="http://schemas.openxmlformats.org/drawingml/2006/main">
              <a:ext uri="{FF2B5EF4-FFF2-40B4-BE49-F238E27FC236}">
                <a16:creationId xmlns:a16="http://schemas.microsoft.com/office/drawing/2014/main" id="{FB125D13-6C28-43FC-ABD0-329B3FCCF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</p:sld>
</file>

<file path=ppt/slides/slide8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Marcador de número de diapositiva 15">
            <a:extLst xmlns:a="http://schemas.openxmlformats.org/drawingml/2006/main">
              <a:ext uri="{FF2B5EF4-FFF2-40B4-BE49-F238E27FC236}">
                <a16:creationId xmlns:a16="http://schemas.microsoft.com/office/drawing/2014/main" id="{48DCF458-710D-5FD6-E1A6-D16CA392E91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1AD500FE-C17C-C2F1-CE87-18DB040F0B31}" type="slidenum">
              <a:t>89</a:t>
            </a:fld>
          </a:p>
        </p:txBody>
      </p:sp>
      <p:sp>
        <p:nvSpPr>
          <p:cNvPr id="17" name="U02-089_eyebrow">
            <a:extLst xmlns:a="http://schemas.openxmlformats.org/drawingml/2006/main">
              <a:ext uri="{FF2B5EF4-FFF2-40B4-BE49-F238E27FC236}">
                <a16:creationId xmlns:a16="http://schemas.microsoft.com/office/drawing/2014/main" id="{EDFC1C65-E880-44C8-95E6-8B73F8AD7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APLICACIÓN E INTEGRACIÓN</a:t>
            </a:r>
          </a:p>
        </p:txBody>
      </p:sp>
      <p:sp>
        <p:nvSpPr>
          <p:cNvPr id="18" name="U02-089_title">
            <a:extLst xmlns:a="http://schemas.openxmlformats.org/drawingml/2006/main">
              <a:ext uri="{FF2B5EF4-FFF2-40B4-BE49-F238E27FC236}">
                <a16:creationId xmlns:a16="http://schemas.microsoft.com/office/drawing/2014/main" id="{08FEF196-880C-4CBC-AC21-94B3B19B1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unidad conecta fuerzas, energía e irreversibilidad</a:t>
            </a:r>
          </a:p>
        </p:txBody>
      </p:sp>
      <p:sp>
        <p:nvSpPr>
          <p:cNvPr id="19" name="U02-089_takeaway">
            <a:extLst xmlns:a="http://schemas.openxmlformats.org/drawingml/2006/main">
              <a:ext uri="{FF2B5EF4-FFF2-40B4-BE49-F238E27FC236}">
                <a16:creationId xmlns:a16="http://schemas.microsoft.com/office/drawing/2014/main" id="{8C52ADCC-6F6A-4C26-8D62-79F18512C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Sistema → fuerzas → respuesta → energía → dirección del proceso → aplicación. La frontera elegida organiza qué fuerzas se suman y qué energías cruzan.</a:t>
            </a:r>
          </a:p>
        </p:txBody>
      </p:sp>
      <p:pic>
        <p:nvPicPr>
          <p:cNvPr id="28" name="U02-089: Diagrama de la slide «La unidad conecta fuerzas, energía e irreversibilidad»: Mapa final: sistema → fuerzas → respuesta → energía → dirección del proceso → aplicación." descr="U02-089: Diagrama de la slide «La unidad conecta fuerzas, energía e irreversibilidad»: Mapa final: sistema → fuerzas → respuesta → energía → dirección del proceso → aplicación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a8537e61df4bb1">
            <a:extLst>
              <a:ext uri="{96DAC541-7B7A-43D3-8B79-37D633B846F1}">
                <asvg:svgBlip xmlns:asvg="http://schemas.microsoft.com/office/drawing/2016/SVG/main" r:embed="Rf83cfe34d717424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324100"/>
            <a:ext cx="10668000" cy="3390900"/>
          </a:xfrm>
          <a:prstGeom xmlns:a="http://schemas.openxmlformats.org/drawingml/2006/main" prst="rect">
            <a:avLst/>
          </a:prstGeom>
        </p:spPr>
      </p:pic>
      <p:sp>
        <p:nvSpPr>
          <p:cNvPr id="21" name="U02-089_caption">
            <a:extLst xmlns:a="http://schemas.openxmlformats.org/drawingml/2006/main">
              <a:ext uri="{FF2B5EF4-FFF2-40B4-BE49-F238E27FC236}">
                <a16:creationId xmlns:a16="http://schemas.microsoft.com/office/drawing/2014/main" id="{13F61DD2-1734-4332-8E8C-8FED374A0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frontera del sistema organiza tanto la mecánica como la termodinámica.</a:t>
            </a:r>
          </a:p>
        </p:txBody>
      </p:sp>
      <p:sp>
        <p:nvSpPr>
          <p:cNvPr id="22" name="U02-089_source">
            <a:extLst xmlns:a="http://schemas.openxmlformats.org/drawingml/2006/main">
              <a:ext uri="{FF2B5EF4-FFF2-40B4-BE49-F238E27FC236}">
                <a16:creationId xmlns:a16="http://schemas.microsoft.com/office/drawing/2014/main" id="{C4F9B43B-2E13-4F89-9418-6320394CF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951530275"/>
      </p:ext>
    </p:extLst>
  </p:cSld>
</p:sld>
</file>

<file path=ppt/slides/slide9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Marcador de número de diapositiva 8">
            <a:extLst xmlns:a="http://schemas.openxmlformats.org/drawingml/2006/main">
              <a:ext uri="{FF2B5EF4-FFF2-40B4-BE49-F238E27FC236}">
                <a16:creationId xmlns:a16="http://schemas.microsoft.com/office/drawing/2014/main" id="{1E2046D0-504B-93BA-A56B-3D44A8F3899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95C82590-C3E9-676B-72FC-E707471DCF64}" type="slidenum">
              <a:t>90</a:t>
            </a:fld>
          </a:p>
        </p:txBody>
      </p:sp>
      <p:sp>
        <p:nvSpPr>
          <p:cNvPr id="10" name="U02-090_eyebrow">
            <a:extLst xmlns:a="http://schemas.openxmlformats.org/drawingml/2006/main">
              <a:ext uri="{FF2B5EF4-FFF2-40B4-BE49-F238E27FC236}">
                <a16:creationId xmlns:a16="http://schemas.microsoft.com/office/drawing/2014/main" id="{56C97840-C965-420F-8D7C-8A398560C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UNIDAD 2 · APLICACIÓN E INTEGRACIÓN</a:t>
            </a:r>
          </a:p>
        </p:txBody>
      </p:sp>
      <p:sp>
        <p:nvSpPr>
          <p:cNvPr id="11" name="U02-090_title">
            <a:extLst xmlns:a="http://schemas.openxmlformats.org/drawingml/2006/main">
              <a:ext uri="{FF2B5EF4-FFF2-40B4-BE49-F238E27FC236}">
                <a16:creationId xmlns:a16="http://schemas.microsoft.com/office/drawing/2014/main" id="{F914313F-5F43-4BE7-AC3E-60CE57516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75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375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La fuerza restauradora abre el estudio de las oscilaciones</a:t>
            </a:r>
          </a:p>
        </p:txBody>
      </p:sp>
      <p:sp>
        <p:nvSpPr>
          <p:cNvPr id="12" name="U02-090_closing">
            <a:extLst xmlns:a="http://schemas.openxmlformats.org/drawingml/2006/main">
              <a:ext uri="{FF2B5EF4-FFF2-40B4-BE49-F238E27FC236}">
                <a16:creationId xmlns:a16="http://schemas.microsoft.com/office/drawing/2014/main" id="{0B9A9CE9-C639-4092-8FDF-494585016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9239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8"/>
              </a:spcAft>
              <a:buNone/>
              <a:defRPr sz="232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Ya identificamos </a:t>
            </a:r>
            <a:r>
              <a:rPr sz="232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qué mecanismos actúan</a:t>
            </a:r>
            <a:r>
              <a:rPr sz="232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. En la Unidad 3 estudiaremos </a:t>
            </a:r>
            <a:r>
              <a:rPr sz="232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cómo evolucionan en el tiempo</a:t>
            </a:r>
            <a:r>
              <a:rPr sz="232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: oscilación, período, frecuencia y propagación ondulatoria.</a:t>
            </a:r>
          </a:p>
        </p:txBody>
      </p:sp>
      <p:sp>
        <p:nvSpPr>
          <p:cNvPr id="13" name="U02-090_bridge">
            <a:extLst xmlns:a="http://schemas.openxmlformats.org/drawingml/2006/main">
              <a:ext uri="{FF2B5EF4-FFF2-40B4-BE49-F238E27FC236}">
                <a16:creationId xmlns:a16="http://schemas.microsoft.com/office/drawing/2014/main" id="{1A3E4E05-21F7-41F1-9299-E71F909B7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577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E8DDE4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E8DDE4"/>
                </a:solidFill>
                <a:latin typeface="Calibri"/>
                <a:ea typeface="Calibri"/>
                <a:cs typeface="Calibri"/>
              </a:rPr>
              <a:t>Puente hacia la Unidad 3.</a:t>
            </a:r>
          </a:p>
        </p:txBody>
      </p:sp>
    </p:spTree>
    <p:extLst>
      <p:ext uri="{BB962C8B-B14F-4D97-AF65-F5344CB8AC3E}">
        <p14:creationId xmlns:p14="http://schemas.microsoft.com/office/powerpoint/2010/main" val="880112903"/>
      </p:ext>
    </p:extLst>
  </p:cSld>
</p:sld>
</file>

<file path=ppt/slides/slide9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Marcador de número de diapositiva 19">
            <a:extLst xmlns:a="http://schemas.openxmlformats.org/drawingml/2006/main">
              <a:ext uri="{FF2B5EF4-FFF2-40B4-BE49-F238E27FC236}">
                <a16:creationId xmlns:a16="http://schemas.microsoft.com/office/drawing/2014/main" id="{2BD418A6-9462-5656-3C46-A62864F5F6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7CDC1A55-D8DD-A0BA-A0EC-BEB674726ECD}" type="slidenum">
              <a:t>91</a:t>
            </a:fld>
          </a:p>
        </p:txBody>
      </p:sp>
      <p:sp>
        <p:nvSpPr>
          <p:cNvPr id="21" name="U02-091_eyebrow">
            <a:extLst xmlns:a="http://schemas.openxmlformats.org/drawingml/2006/main">
              <a:ext uri="{FF2B5EF4-FFF2-40B4-BE49-F238E27FC236}">
                <a16:creationId xmlns:a16="http://schemas.microsoft.com/office/drawing/2014/main" id="{FD218A69-C91C-4424-8778-816288359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MATERIAL DE RESPALDO</a:t>
            </a:r>
          </a:p>
        </p:txBody>
      </p:sp>
      <p:sp>
        <p:nvSpPr>
          <p:cNvPr id="22" name="U02-091_title">
            <a:extLst xmlns:a="http://schemas.openxmlformats.org/drawingml/2006/main">
              <a:ext uri="{FF2B5EF4-FFF2-40B4-BE49-F238E27FC236}">
                <a16:creationId xmlns:a16="http://schemas.microsoft.com/office/drawing/2014/main" id="{6800E626-ACE5-46E4-AC73-285044951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Referencia: sistema, eje y signos</a:t>
            </a:r>
          </a:p>
        </p:txBody>
      </p:sp>
      <p:sp>
        <p:nvSpPr>
          <p:cNvPr id="23" name="U02-091_takeaway">
            <a:extLst xmlns:a="http://schemas.openxmlformats.org/drawingml/2006/main">
              <a:ext uri="{FF2B5EF4-FFF2-40B4-BE49-F238E27FC236}">
                <a16:creationId xmlns:a16="http://schemas.microsoft.com/office/drawing/2014/main" id="{74309996-F2BA-41B3-8A51-8CB1C9FED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Checklist: 1. Elegir sistema. 2. Dibujar frontera. 3. Declarar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+x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. 4. Identificar agentes. 5. Proyectar fuerzas. 6. Calcular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F_neta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pic>
        <p:nvPicPr>
          <p:cNvPr id="32" name="U02-091: Diagrama de la slide «Referencia: sistema, eje y signos»: Checklist, dos ejemplos y notación." descr="U02-091: Diagrama de la slide «Referencia: sistema, eje y signos»: Checklist, dos ejemplos y notación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5721aca23f4f60">
            <a:extLst>
              <a:ext uri="{96DAC541-7B7A-43D3-8B79-37D633B846F1}">
                <asvg:svgBlip xmlns:asvg="http://schemas.microsoft.com/office/drawing/2016/SVG/main" r:embed="R5152051a681a42b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057400"/>
            <a:ext cx="10668000" cy="3657600"/>
          </a:xfrm>
          <a:prstGeom xmlns:a="http://schemas.openxmlformats.org/drawingml/2006/main" prst="rect">
            <a:avLst/>
          </a:prstGeom>
        </p:spPr>
      </p:pic>
      <p:sp>
        <p:nvSpPr>
          <p:cNvPr id="25" name="U02-091_caption">
            <a:extLst xmlns:a="http://schemas.openxmlformats.org/drawingml/2006/main">
              <a:ext uri="{FF2B5EF4-FFF2-40B4-BE49-F238E27FC236}">
                <a16:creationId xmlns:a16="http://schemas.microsoft.com/office/drawing/2014/main" id="{89EF2698-030F-4390-8BD1-3CD2A9ADB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elección de sistema y eje precede a la suma.</a:t>
            </a:r>
          </a:p>
        </p:txBody>
      </p:sp>
      <p:sp>
        <p:nvSpPr>
          <p:cNvPr id="26" name="U02-091_source">
            <a:extLst xmlns:a="http://schemas.openxmlformats.org/drawingml/2006/main">
              <a:ext uri="{FF2B5EF4-FFF2-40B4-BE49-F238E27FC236}">
                <a16:creationId xmlns:a16="http://schemas.microsoft.com/office/drawing/2014/main" id="{25F7C426-E3F2-4A50-8254-A7C559ABD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9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Marcador de número de diapositiva 19">
            <a:extLst xmlns:a="http://schemas.openxmlformats.org/drawingml/2006/main">
              <a:ext uri="{FF2B5EF4-FFF2-40B4-BE49-F238E27FC236}">
                <a16:creationId xmlns:a16="http://schemas.microsoft.com/office/drawing/2014/main" id="{2BD418A6-9462-5656-3C46-A62864F5F6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FF7B4941-8669-5809-F8BD-80CECECCC165}" type="slidenum">
              <a:t>92</a:t>
            </a:fld>
          </a:p>
        </p:txBody>
      </p:sp>
      <p:sp>
        <p:nvSpPr>
          <p:cNvPr id="21" name="U02-092_eyebrow">
            <a:extLst xmlns:a="http://schemas.openxmlformats.org/drawingml/2006/main">
              <a:ext uri="{FF2B5EF4-FFF2-40B4-BE49-F238E27FC236}">
                <a16:creationId xmlns:a16="http://schemas.microsoft.com/office/drawing/2014/main" id="{6F72F049-6BE7-4EB1-9F83-69F7BEAC7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MATERIAL DE RESPALDO</a:t>
            </a:r>
          </a:p>
        </p:txBody>
      </p:sp>
      <p:sp>
        <p:nvSpPr>
          <p:cNvPr id="22" name="U02-092_title">
            <a:extLst xmlns:a="http://schemas.openxmlformats.org/drawingml/2006/main">
              <a:ext uri="{FF2B5EF4-FFF2-40B4-BE49-F238E27FC236}">
                <a16:creationId xmlns:a16="http://schemas.microsoft.com/office/drawing/2014/main" id="{A7A9ACE4-ADBA-41F5-AB82-1B9A6C1E6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Soluciones del diagnóstico inicial</a:t>
            </a:r>
          </a:p>
        </p:txBody>
      </p:sp>
      <p:sp>
        <p:nvSpPr>
          <p:cNvPr id="23" name="U02-092_takeaway">
            <a:extLst xmlns:a="http://schemas.openxmlformats.org/drawingml/2006/main">
              <a:ext uri="{FF2B5EF4-FFF2-40B4-BE49-F238E27FC236}">
                <a16:creationId xmlns:a16="http://schemas.microsoft.com/office/drawing/2014/main" id="{BFCFB3A0-5562-445B-9488-EB7F26FA2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1. Reposo puede coexistir con fuerzas equilibradas.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2. Acción y reacción actúan sobre cuerpos distintos.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3. Para pasar de Pa a N se necesita un área.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4. Disipar no es destruir energía.</a:t>
            </a:r>
          </a:p>
        </p:txBody>
      </p:sp>
      <p:pic>
        <p:nvPicPr>
          <p:cNvPr id="32" name="U02-092: Esquema mixto de la slide «Soluciones del diagnóstico inicial»: Soluciones breves de las cuatro afirmaciones de U02-003." descr="U02-092: Esquema mixto de la slide «Soluciones del diagnóstico inicial»: Soluciones breves de las cuatro afirmaciones de U02-003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1a86c1d8344fd3">
            <a:extLst>
              <a:ext uri="{96DAC541-7B7A-43D3-8B79-37D633B846F1}">
                <asvg:svgBlip xmlns:asvg="http://schemas.microsoft.com/office/drawing/2016/SVG/main" r:embed="R1d3abf1e05a545b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533650"/>
            <a:ext cx="10668000" cy="3181350"/>
          </a:xfrm>
          <a:prstGeom xmlns:a="http://schemas.openxmlformats.org/drawingml/2006/main" prst="rect">
            <a:avLst/>
          </a:prstGeom>
        </p:spPr>
      </p:pic>
      <p:sp>
        <p:nvSpPr>
          <p:cNvPr id="25" name="U02-092_caption">
            <a:extLst xmlns:a="http://schemas.openxmlformats.org/drawingml/2006/main">
              <a:ext uri="{FF2B5EF4-FFF2-40B4-BE49-F238E27FC236}">
                <a16:creationId xmlns:a16="http://schemas.microsoft.com/office/drawing/2014/main" id="{E83BF3A9-090B-4A42-A052-0FBF4AA34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Cada respuesta se justifica con una ley, unidad o balance.</a:t>
            </a:r>
          </a:p>
        </p:txBody>
      </p:sp>
      <p:sp>
        <p:nvSpPr>
          <p:cNvPr id="26" name="U02-092_source">
            <a:extLst xmlns:a="http://schemas.openxmlformats.org/drawingml/2006/main">
              <a:ext uri="{FF2B5EF4-FFF2-40B4-BE49-F238E27FC236}">
                <a16:creationId xmlns:a16="http://schemas.microsoft.com/office/drawing/2014/main" id="{18BA8644-4367-46F0-9986-AC1430596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9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Marcador de número de diapositiva 19">
            <a:extLst xmlns:a="http://schemas.openxmlformats.org/drawingml/2006/main">
              <a:ext uri="{FF2B5EF4-FFF2-40B4-BE49-F238E27FC236}">
                <a16:creationId xmlns:a16="http://schemas.microsoft.com/office/drawing/2014/main" id="{2BD418A6-9462-5656-3C46-A62864F5F6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63AB093C-C8AD-64A1-C003-5C0032800228}" type="slidenum">
              <a:t>93</a:t>
            </a:fld>
          </a:p>
        </p:txBody>
      </p:sp>
      <p:sp>
        <p:nvSpPr>
          <p:cNvPr id="21" name="U02-093_eyebrow">
            <a:extLst xmlns:a="http://schemas.openxmlformats.org/drawingml/2006/main">
              <a:ext uri="{FF2B5EF4-FFF2-40B4-BE49-F238E27FC236}">
                <a16:creationId xmlns:a16="http://schemas.microsoft.com/office/drawing/2014/main" id="{BD881156-3600-4C41-BA31-60990DEE4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MATERIAL DE RESPALDO</a:t>
            </a:r>
          </a:p>
        </p:txBody>
      </p:sp>
      <p:sp>
        <p:nvSpPr>
          <p:cNvPr id="22" name="U02-093_title">
            <a:extLst xmlns:a="http://schemas.openxmlformats.org/drawingml/2006/main">
              <a:ext uri="{FF2B5EF4-FFF2-40B4-BE49-F238E27FC236}">
                <a16:creationId xmlns:a16="http://schemas.microsoft.com/office/drawing/2014/main" id="{E6C69AFC-C05C-4978-9DCF-8FA7761CB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Tercera ley y equilibrio: más contraejemplos</a:t>
            </a:r>
          </a:p>
        </p:txBody>
      </p:sp>
      <p:sp>
        <p:nvSpPr>
          <p:cNvPr id="23" name="U02-093_takeaway">
            <a:extLst xmlns:a="http://schemas.openxmlformats.org/drawingml/2006/main">
              <a:ext uri="{FF2B5EF4-FFF2-40B4-BE49-F238E27FC236}">
                <a16:creationId xmlns:a16="http://schemas.microsoft.com/office/drawing/2014/main" id="{F06410A9-1AAB-49A3-8C6D-E4B43FCC7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Libro–mesa: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equilibrio sobre el libro y par entre cuerpos.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Membrana–aire: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presión y reacción sobre el aire.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Vibrador–cabeza: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el par se distribuye en dos DCL.</a:t>
            </a:r>
          </a:p>
        </p:txBody>
      </p:sp>
      <p:pic>
        <p:nvPicPr>
          <p:cNvPr id="32" name="U02-093: Diagrama de la slide «Tercera ley y equilibrio: más contraejemplos»: Tres casos: libro sobre mesa, membrana–aire, vibrador–cabeza." descr="U02-093: Diagrama de la slide «Tercera ley y equilibrio: más contraejemplos»: Tres casos: libro sobre mesa, membrana–aire, vibrador–cabeza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72ccd5d256420b">
            <a:extLst>
              <a:ext uri="{96DAC541-7B7A-43D3-8B79-37D633B846F1}">
                <asvg:svgBlip xmlns:asvg="http://schemas.microsoft.com/office/drawing/2016/SVG/main" r:embed="R41876cfcefd54dd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295525"/>
            <a:ext cx="10668000" cy="3419475"/>
          </a:xfrm>
          <a:prstGeom xmlns:a="http://schemas.openxmlformats.org/drawingml/2006/main" prst="rect">
            <a:avLst/>
          </a:prstGeom>
        </p:spPr>
      </p:pic>
      <p:sp>
        <p:nvSpPr>
          <p:cNvPr id="25" name="U02-093_caption">
            <a:extLst xmlns:a="http://schemas.openxmlformats.org/drawingml/2006/main">
              <a:ext uri="{FF2B5EF4-FFF2-40B4-BE49-F238E27FC236}">
                <a16:creationId xmlns:a16="http://schemas.microsoft.com/office/drawing/2014/main" id="{24F5DE9C-3C94-40CE-B238-293E5C59C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Par de interacción y fuerzas equilibradas usan cuerpos diferentes.</a:t>
            </a:r>
          </a:p>
        </p:txBody>
      </p:sp>
      <p:sp>
        <p:nvSpPr>
          <p:cNvPr id="26" name="U02-093_source">
            <a:extLst xmlns:a="http://schemas.openxmlformats.org/drawingml/2006/main">
              <a:ext uri="{FF2B5EF4-FFF2-40B4-BE49-F238E27FC236}">
                <a16:creationId xmlns:a16="http://schemas.microsoft.com/office/drawing/2014/main" id="{188CE726-EBD4-4BC7-976D-F9124A2E9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9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Marcador de número de diapositiva 9">
            <a:extLst xmlns:a="http://schemas.openxmlformats.org/drawingml/2006/main">
              <a:ext uri="{FF2B5EF4-FFF2-40B4-BE49-F238E27FC236}">
                <a16:creationId xmlns:a16="http://schemas.microsoft.com/office/drawing/2014/main" id="{35371791-CC55-AC21-40A2-17827BAE70F8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49AF0B80-E256-531F-19DB-D59497554B57}" type="slidenum">
              <a:t>94</a:t>
            </a:fld>
          </a:p>
        </p:txBody>
      </p:sp>
      <p:sp>
        <p:nvSpPr>
          <p:cNvPr id="11" name="U02-094_eyebrow">
            <a:extLst xmlns:a="http://schemas.openxmlformats.org/drawingml/2006/main">
              <a:ext uri="{FF2B5EF4-FFF2-40B4-BE49-F238E27FC236}">
                <a16:creationId xmlns:a16="http://schemas.microsoft.com/office/drawing/2014/main" id="{C9FE7349-7464-489E-9644-01785CBCD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MATERIAL DE RESPALDO</a:t>
            </a:r>
          </a:p>
        </p:txBody>
      </p:sp>
      <p:sp>
        <p:nvSpPr>
          <p:cNvPr id="12" name="U02-094_title">
            <a:extLst xmlns:a="http://schemas.openxmlformats.org/drawingml/2006/main">
              <a:ext uri="{FF2B5EF4-FFF2-40B4-BE49-F238E27FC236}">
                <a16:creationId xmlns:a16="http://schemas.microsoft.com/office/drawing/2014/main" id="{47DCEAF5-3D7E-4155-845A-DE5E68485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Convenciones de notación mecánica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952500" y="1638300"/>
          <a:ext xmlns:a="http://schemas.openxmlformats.org/drawingml/2006/main" cx="10287000" cy="2857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429000"/>
                <a:gridCol w="3429000"/>
                <a:gridCol w="3429000"/>
              </a:tblGrid>
              <a:tr h="714375">
                <a:tc>
                  <a:txBody>
                    <a:bodyPr anchor="ctr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Magnitud</a:t>
                      </a:r>
                    </a:p>
                  </a:txBody>
                  <a:tcPr marL="91440" marR="91440" marT="45720" marB="45720">
                    <a:solidFill>
                      <a:srgbClr val="4D1434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Símbolo posible</a:t>
                      </a:r>
                    </a:p>
                  </a:txBody>
                  <a:tcPr marL="91440" marR="91440" marT="45720" marB="45720">
                    <a:solidFill>
                      <a:srgbClr val="4D1434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Convención</a:t>
                      </a:r>
                    </a:p>
                  </a:txBody>
                  <a:tcPr marL="91440" marR="91440" marT="45720" marB="45720">
                    <a:solidFill>
                      <a:srgbClr val="4D1434"/>
                    </a:solidFill>
                  </a:tcPr>
                </a:tc>
              </a:tr>
              <a:tr h="714375">
                <a:tc>
                  <a:txBody>
                    <a:bodyPr anchor="ctr"/>
                    <a:lstStyle/>
                    <a:p>
                      <a:r>
                        <a:rPr sz="17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Área</a:t>
                      </a:r>
                    </a:p>
                  </a:txBody>
                  <a:tcPr marL="91440" marR="91440" marT="45720" marB="45720"/>
                </a:tc>
                <a:tc>
                  <a:txBody>
                    <a:bodyPr anchor="ctr"/>
                    <a:lstStyle/>
                    <a:p>
                      <a:r>
                        <a:rPr sz="17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A o S</a:t>
                      </a:r>
                    </a:p>
                  </a:txBody>
                  <a:tcPr marL="91440" marR="91440" marT="45720" marB="45720"/>
                </a:tc>
                <a:tc>
                  <a:txBody>
                    <a:bodyPr anchor="ctr"/>
                    <a:lstStyle/>
                    <a:p>
                      <a:r>
                        <a:rPr sz="17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S</a:t>
                      </a:r>
                    </a:p>
                  </a:txBody>
                  <a:tcPr marL="91440" marR="91440" marT="45720" marB="45720"/>
                </a:tc>
              </a:tr>
              <a:tr h="714375">
                <a:tc>
                  <a:txBody>
                    <a:bodyPr anchor="ctr"/>
                    <a:lstStyle/>
                    <a:p>
                      <a:r>
                        <a:rPr sz="17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Rigidez</a:t>
                      </a:r>
                    </a:p>
                  </a:txBody>
                  <a:tcPr marL="91440" marR="91440" marT="45720" marB="45720"/>
                </a:tc>
                <a:tc>
                  <a:txBody>
                    <a:bodyPr anchor="ctr"/>
                    <a:lstStyle/>
                    <a:p>
                      <a:r>
                        <a:rPr sz="17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k o k_s</a:t>
                      </a:r>
                    </a:p>
                  </a:txBody>
                  <a:tcPr marL="91440" marR="91440" marT="45720" marB="45720"/>
                </a:tc>
                <a:tc>
                  <a:txBody>
                    <a:bodyPr anchor="ctr"/>
                    <a:lstStyle/>
                    <a:p>
                      <a:r>
                        <a:rPr sz="17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k_s</a:t>
                      </a:r>
                    </a:p>
                  </a:txBody>
                  <a:tcPr marL="91440" marR="91440" marT="45720" marB="45720"/>
                </a:tc>
              </a:tr>
              <a:tr h="714375">
                <a:tc>
                  <a:txBody>
                    <a:bodyPr anchor="ctr"/>
                    <a:lstStyle/>
                    <a:p>
                      <a:r>
                        <a:rPr sz="17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Resultante</a:t>
                      </a:r>
                    </a:p>
                  </a:txBody>
                  <a:tcPr marL="91440" marR="91440" marT="45720" marB="45720"/>
                </a:tc>
                <a:tc>
                  <a:txBody>
                    <a:bodyPr anchor="ctr"/>
                    <a:lstStyle/>
                    <a:p>
                      <a:r>
                        <a:rPr sz="17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ΣF o F_neta</a:t>
                      </a:r>
                    </a:p>
                  </a:txBody>
                  <a:tcPr marL="91440" marR="91440" marT="45720" marB="45720"/>
                </a:tc>
                <a:tc>
                  <a:txBody>
                    <a:bodyPr anchor="ctr"/>
                    <a:lstStyle/>
                    <a:p>
                      <a:r>
                        <a:rPr sz="17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F_neta = ΣF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14" name="U02-094_reading">
            <a:extLst xmlns:a="http://schemas.openxmlformats.org/drawingml/2006/main">
              <a:ext uri="{FF2B5EF4-FFF2-40B4-BE49-F238E27FC236}">
                <a16:creationId xmlns:a16="http://schemas.microsoft.com/office/drawing/2014/main" id="{57084D12-830F-442B-9923-7B14643C0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33925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8"/>
              </a:spcAft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Convención de slides:</a:t>
            </a:r>
            <a:r>
              <a:rPr sz="165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 área </a:t>
            </a:r>
            <a:r>
              <a:rPr sz="165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S</a:t>
            </a:r>
            <a:r>
              <a:rPr sz="165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; rigidez </a:t>
            </a:r>
            <a:r>
              <a:rPr sz="165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k_s</a:t>
            </a:r>
            <a:r>
              <a:rPr sz="165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; resultante </a:t>
            </a:r>
            <a:r>
              <a:rPr sz="165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F_neta = ΣF</a:t>
            </a:r>
            <a:r>
              <a:rPr sz="165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. Reconocer que otras fuentes pueden usar </a:t>
            </a:r>
            <a:r>
              <a:rPr sz="165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A</a:t>
            </a:r>
            <a:r>
              <a:rPr sz="165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65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k</a:t>
            </a:r>
            <a:r>
              <a:rPr sz="165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 o </a:t>
            </a:r>
            <a:r>
              <a:rPr sz="165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ΣF</a:t>
            </a:r>
            <a:r>
              <a:rPr sz="165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619112"/>
      </p:ext>
    </p:extLst>
  </p:cSld>
</p:sld>
</file>

<file path=ppt/slides/slide9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Marcador de número de diapositiva 19">
            <a:extLst xmlns:a="http://schemas.openxmlformats.org/drawingml/2006/main">
              <a:ext uri="{FF2B5EF4-FFF2-40B4-BE49-F238E27FC236}">
                <a16:creationId xmlns:a16="http://schemas.microsoft.com/office/drawing/2014/main" id="{2BD418A6-9462-5656-3C46-A62864F5F6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4674AA88-74FE-9C49-CBB6-FCC52CBADF85}" type="slidenum">
              <a:t>95</a:t>
            </a:fld>
          </a:p>
        </p:txBody>
      </p:sp>
      <p:sp>
        <p:nvSpPr>
          <p:cNvPr id="21" name="U02-095_eyebrow">
            <a:extLst xmlns:a="http://schemas.openxmlformats.org/drawingml/2006/main">
              <a:ext uri="{FF2B5EF4-FFF2-40B4-BE49-F238E27FC236}">
                <a16:creationId xmlns:a16="http://schemas.microsoft.com/office/drawing/2014/main" id="{CC229EAC-BB5E-497A-A137-83B55E2C9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MATERIAL DE RESPALDO</a:t>
            </a:r>
          </a:p>
        </p:txBody>
      </p:sp>
      <p:sp>
        <p:nvSpPr>
          <p:cNvPr id="22" name="U02-095_title">
            <a:extLst xmlns:a="http://schemas.openxmlformats.org/drawingml/2006/main">
              <a:ext uri="{FF2B5EF4-FFF2-40B4-BE49-F238E27FC236}">
                <a16:creationId xmlns:a16="http://schemas.microsoft.com/office/drawing/2014/main" id="{068CFF04-33D2-4B57-B0A0-81339F2A5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Parámetros del modelo masa–resorte–amortiguador</a:t>
            </a:r>
          </a:p>
        </p:txBody>
      </p:sp>
      <p:sp>
        <p:nvSpPr>
          <p:cNvPr id="23" name="U02-095_takeaway">
            <a:extLst xmlns:a="http://schemas.openxmlformats.org/drawingml/2006/main">
              <a:ext uri="{FF2B5EF4-FFF2-40B4-BE49-F238E27FC236}">
                <a16:creationId xmlns:a16="http://schemas.microsoft.com/office/drawing/2014/main" id="{F474A3FD-B73A-4B69-8E14-B32F92CDF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: masa (kg);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k_s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: rigidez (N/m);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b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: amortiguamiento (N·s/m);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x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v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: desplazamiento, velocidad y aceleración.</a:t>
            </a:r>
          </a:p>
        </p:txBody>
      </p:sp>
      <p:pic>
        <p:nvPicPr>
          <p:cNvPr id="32" name="U02-095: Esquema mixto de la slide «Parámetros del modelo masa–resorte–amortiguador»: m, k_s, b, x, v, a, fuerzas y unidades." descr="U02-095: Esquema mixto de la slide «Parámetros del modelo masa–resorte–amortiguador»: m, k_s, b, x, v, a, fuerzas y unidades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4bee779d354ab1">
            <a:extLst>
              <a:ext uri="{96DAC541-7B7A-43D3-8B79-37D633B846F1}">
                <asvg:svgBlip xmlns:asvg="http://schemas.microsoft.com/office/drawing/2016/SVG/main" r:embed="R523b2825d301411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057400"/>
            <a:ext cx="10668000" cy="3657600"/>
          </a:xfrm>
          <a:prstGeom xmlns:a="http://schemas.openxmlformats.org/drawingml/2006/main" prst="rect">
            <a:avLst/>
          </a:prstGeom>
        </p:spPr>
      </p:pic>
      <p:sp>
        <p:nvSpPr>
          <p:cNvPr id="25" name="U02-095_caption">
            <a:extLst xmlns:a="http://schemas.openxmlformats.org/drawingml/2006/main">
              <a:ext uri="{FF2B5EF4-FFF2-40B4-BE49-F238E27FC236}">
                <a16:creationId xmlns:a16="http://schemas.microsoft.com/office/drawing/2014/main" id="{BECDDB0F-549B-411F-A1A6-07F9083EE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Cada parámetro representa una propiedad distinta.</a:t>
            </a:r>
          </a:p>
        </p:txBody>
      </p:sp>
      <p:sp>
        <p:nvSpPr>
          <p:cNvPr id="26" name="U02-095_source">
            <a:extLst xmlns:a="http://schemas.openxmlformats.org/drawingml/2006/main">
              <a:ext uri="{FF2B5EF4-FFF2-40B4-BE49-F238E27FC236}">
                <a16:creationId xmlns:a16="http://schemas.microsoft.com/office/drawing/2014/main" id="{8B9B4287-18A7-49F3-B1E7-8A68F8DA1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9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Marcador de número de diapositiva 19">
            <a:extLst xmlns:a="http://schemas.openxmlformats.org/drawingml/2006/main">
              <a:ext uri="{FF2B5EF4-FFF2-40B4-BE49-F238E27FC236}">
                <a16:creationId xmlns:a16="http://schemas.microsoft.com/office/drawing/2014/main" id="{2BD418A6-9462-5656-3C46-A62864F5F6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70483BBF-0FAF-C292-EB03-F731E615EDA9}" type="slidenum">
              <a:t>96</a:t>
            </a:fld>
          </a:p>
        </p:txBody>
      </p:sp>
      <p:sp>
        <p:nvSpPr>
          <p:cNvPr id="21" name="U02-096_eyebrow">
            <a:extLst xmlns:a="http://schemas.openxmlformats.org/drawingml/2006/main">
              <a:ext uri="{FF2B5EF4-FFF2-40B4-BE49-F238E27FC236}">
                <a16:creationId xmlns:a16="http://schemas.microsoft.com/office/drawing/2014/main" id="{0F3C7C01-08B3-4FEA-9CD8-347478B92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MATERIAL DE RESPALDO</a:t>
            </a:r>
          </a:p>
        </p:txBody>
      </p:sp>
      <p:sp>
        <p:nvSpPr>
          <p:cNvPr id="22" name="U02-096_title">
            <a:extLst xmlns:a="http://schemas.openxmlformats.org/drawingml/2006/main">
              <a:ext uri="{FF2B5EF4-FFF2-40B4-BE49-F238E27FC236}">
                <a16:creationId xmlns:a16="http://schemas.microsoft.com/office/drawing/2014/main" id="{9D62087C-1768-405E-8954-E1731A67E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Solución completa del balance instantáneo</a:t>
            </a:r>
          </a:p>
        </p:txBody>
      </p:sp>
      <p:sp>
        <p:nvSpPr>
          <p:cNvPr id="23" name="U02-096_takeaway">
            <a:extLst xmlns:a="http://schemas.openxmlformats.org/drawingml/2006/main">
              <a:ext uri="{FF2B5EF4-FFF2-40B4-BE49-F238E27FC236}">
                <a16:creationId xmlns:a16="http://schemas.microsoft.com/office/drawing/2014/main" id="{5DA814B8-7EAE-4DB1-9ECC-EF285EF75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Control 1: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signos de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x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y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v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Control 2: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unidades de cada fuerza.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Control 3: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suma algebraica.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Control 4: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unidad e interpretación de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pic>
        <p:nvPicPr>
          <p:cNvPr id="32" name="U02-096: Esquema mixto de la slide «Solución completa del balance instantáneo»: Ejemplo del libro con todos los pasos y control dimensional." descr="U02-096: Esquema mixto de la slide «Solución completa del balance instantáneo»: Ejemplo del libro con todos los pasos y control dimensional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fe2820db704f22"/>
          <a:stretch xmlns:a="http://schemas.openxmlformats.org/drawingml/2006/main"/>
        </p:blipFill>
        <p:spPr>
          <a:xfrm xmlns:a="http://schemas.openxmlformats.org/drawingml/2006/main" flipH="0" flipV="0">
            <a:off x="762000" y="2533650"/>
            <a:ext cx="10668000" cy="3181350"/>
          </a:xfrm>
          <a:prstGeom xmlns:a="http://schemas.openxmlformats.org/drawingml/2006/main" prst="rect">
            <a:avLst/>
          </a:prstGeom>
        </p:spPr>
      </p:pic>
      <p:sp>
        <p:nvSpPr>
          <p:cNvPr id="25" name="U02-096_caption">
            <a:extLst xmlns:a="http://schemas.openxmlformats.org/drawingml/2006/main">
              <a:ext uri="{FF2B5EF4-FFF2-40B4-BE49-F238E27FC236}">
                <a16:creationId xmlns:a16="http://schemas.microsoft.com/office/drawing/2014/main" id="{26AD1C63-83F2-4079-A4B0-2747BBB61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Signos, resultante y aceleración deben verificarse por separado.</a:t>
            </a:r>
          </a:p>
        </p:txBody>
      </p:sp>
      <p:sp>
        <p:nvSpPr>
          <p:cNvPr id="26" name="U02-096_source">
            <a:extLst xmlns:a="http://schemas.openxmlformats.org/drawingml/2006/main">
              <a:ext uri="{FF2B5EF4-FFF2-40B4-BE49-F238E27FC236}">
                <a16:creationId xmlns:a16="http://schemas.microsoft.com/office/drawing/2014/main" id="{D892646E-106E-4F2B-AECB-52E6126DE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40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40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9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Marcador de número de diapositiva 9">
            <a:extLst xmlns:a="http://schemas.openxmlformats.org/drawingml/2006/main">
              <a:ext uri="{FF2B5EF4-FFF2-40B4-BE49-F238E27FC236}">
                <a16:creationId xmlns:a16="http://schemas.microsoft.com/office/drawing/2014/main" id="{35371791-CC55-AC21-40A2-17827BAE70F8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73D72CC5-DA28-E830-8C20-EAD7575ED362}" type="slidenum">
              <a:t>97</a:t>
            </a:fld>
          </a:p>
        </p:txBody>
      </p:sp>
      <p:sp>
        <p:nvSpPr>
          <p:cNvPr id="11" name="U02-097_eyebrow">
            <a:extLst xmlns:a="http://schemas.openxmlformats.org/drawingml/2006/main">
              <a:ext uri="{FF2B5EF4-FFF2-40B4-BE49-F238E27FC236}">
                <a16:creationId xmlns:a16="http://schemas.microsoft.com/office/drawing/2014/main" id="{8DA67464-83C1-4D12-8722-5AB5E73E1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MATERIAL DE RESPALDO</a:t>
            </a:r>
          </a:p>
        </p:txBody>
      </p:sp>
      <p:sp>
        <p:nvSpPr>
          <p:cNvPr id="12" name="U02-097_title">
            <a:extLst xmlns:a="http://schemas.openxmlformats.org/drawingml/2006/main">
              <a:ext uri="{FF2B5EF4-FFF2-40B4-BE49-F238E27FC236}">
                <a16:creationId xmlns:a16="http://schemas.microsoft.com/office/drawing/2014/main" id="{0C3A4A74-1430-43CE-9DA8-7E994297E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Amortiguamiento, atenuación, disipación y absorción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952500" y="1981200"/>
          <a:ext xmlns:a="http://schemas.openxmlformats.org/drawingml/2006/main" cx="10287000" cy="2857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5143500"/>
                <a:gridCol w="5143500"/>
              </a:tblGrid>
              <a:tr h="571500">
                <a:tc>
                  <a:txBody>
                    <a:bodyPr anchor="ctr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Término</a:t>
                      </a:r>
                    </a:p>
                  </a:txBody>
                  <a:tcPr marL="91440" marR="91440" marT="45720" marB="45720">
                    <a:solidFill>
                      <a:srgbClr val="4D1434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Uso en esta unidad</a:t>
                      </a:r>
                    </a:p>
                  </a:txBody>
                  <a:tcPr marL="91440" marR="91440" marT="45720" marB="45720">
                    <a:solidFill>
                      <a:srgbClr val="4D1434"/>
                    </a:solidFill>
                  </a:tcPr>
                </a:tc>
              </a:tr>
              <a:tr h="571500">
                <a:tc>
                  <a:txBody>
                    <a:bodyPr anchor="ctr"/>
                    <a:lstStyle/>
                    <a:p>
                      <a:r>
                        <a:rPr sz="17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Amortiguamiento</a:t>
                      </a:r>
                    </a:p>
                  </a:txBody>
                  <a:tcPr marL="91440" marR="91440" marT="45720" marB="45720"/>
                </a:tc>
                <a:tc>
                  <a:txBody>
                    <a:bodyPr anchor="ctr"/>
                    <a:lstStyle/>
                    <a:p>
                      <a:r>
                        <a:rPr sz="17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Mecanismo disipativo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 anchor="ctr"/>
                    <a:lstStyle/>
                    <a:p>
                      <a:r>
                        <a:rPr sz="17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Atenuación</a:t>
                      </a:r>
                    </a:p>
                  </a:txBody>
                  <a:tcPr marL="91440" marR="91440" marT="45720" marB="45720"/>
                </a:tc>
                <a:tc>
                  <a:txBody>
                    <a:bodyPr anchor="ctr"/>
                    <a:lstStyle/>
                    <a:p>
                      <a:r>
                        <a:rPr sz="17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Disminución en transmisión o propagación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 anchor="ctr"/>
                    <a:lstStyle/>
                    <a:p>
                      <a:r>
                        <a:rPr sz="17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Disipación</a:t>
                      </a:r>
                    </a:p>
                  </a:txBody>
                  <a:tcPr marL="91440" marR="91440" marT="45720" marB="45720"/>
                </a:tc>
                <a:tc>
                  <a:txBody>
                    <a:bodyPr anchor="ctr"/>
                    <a:lstStyle/>
                    <a:p>
                      <a:r>
                        <a:rPr sz="17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Conversión a energía interna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 anchor="ctr"/>
                    <a:lstStyle/>
                    <a:p>
                      <a:r>
                        <a:rPr sz="17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Absorción</a:t>
                      </a:r>
                    </a:p>
                  </a:txBody>
                  <a:tcPr marL="91440" marR="91440" marT="45720" marB="45720"/>
                </a:tc>
                <a:tc>
                  <a:txBody>
                    <a:bodyPr anchor="ctr"/>
                    <a:lstStyle/>
                    <a:p>
                      <a:r>
                        <a:rPr sz="17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Se desarrolla en U9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14" name="U02-097_reading">
            <a:extLst xmlns:a="http://schemas.openxmlformats.org/drawingml/2006/main">
              <a:ext uri="{FF2B5EF4-FFF2-40B4-BE49-F238E27FC236}">
                <a16:creationId xmlns:a16="http://schemas.microsoft.com/office/drawing/2014/main" id="{4EFB04E6-522D-4553-95C0-B1E97142C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76825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8"/>
              </a:spcAft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Amortiguamiento:</a:t>
            </a:r>
            <a:r>
              <a:rPr sz="165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 mecanismo disipativo.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8"/>
              </a:spcAft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Atenuación:</a:t>
            </a:r>
            <a:r>
              <a:rPr sz="165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 disminución durante transmisión o propagación.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8"/>
              </a:spcAft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Disipación:</a:t>
            </a:r>
            <a:r>
              <a:rPr sz="165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 conversión a energía interna.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8"/>
              </a:spcAft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Absorción:</a:t>
            </a:r>
            <a:r>
              <a:rPr sz="165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 se desarrolla en U9.</a:t>
            </a:r>
          </a:p>
        </p:txBody>
      </p:sp>
    </p:spTree>
    <p:extLst>
      <p:ext uri="{BB962C8B-B14F-4D97-AF65-F5344CB8AC3E}">
        <p14:creationId xmlns:p14="http://schemas.microsoft.com/office/powerpoint/2010/main" val="34619112"/>
      </p:ext>
    </p:extLst>
  </p:cSld>
</p:sld>
</file>

<file path=ppt/slides/slide9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Marcador de número de diapositiva 19">
            <a:extLst xmlns:a="http://schemas.openxmlformats.org/drawingml/2006/main">
              <a:ext uri="{FF2B5EF4-FFF2-40B4-BE49-F238E27FC236}">
                <a16:creationId xmlns:a16="http://schemas.microsoft.com/office/drawing/2014/main" id="{2BD418A6-9462-5656-3C46-A62864F5F6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ACACB2E2-CA2E-979C-8F56-2E13E9D99812}" type="slidenum">
              <a:t>98</a:t>
            </a:fld>
          </a:p>
        </p:txBody>
      </p:sp>
      <p:sp>
        <p:nvSpPr>
          <p:cNvPr id="21" name="U02-098_eyebrow">
            <a:extLst xmlns:a="http://schemas.openxmlformats.org/drawingml/2006/main">
              <a:ext uri="{FF2B5EF4-FFF2-40B4-BE49-F238E27FC236}">
                <a16:creationId xmlns:a16="http://schemas.microsoft.com/office/drawing/2014/main" id="{431B9D5D-F815-45FA-8075-668B55727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MATERIAL DE RESPALDO</a:t>
            </a:r>
          </a:p>
        </p:txBody>
      </p:sp>
      <p:sp>
        <p:nvSpPr>
          <p:cNvPr id="22" name="U02-098_title">
            <a:extLst xmlns:a="http://schemas.openxmlformats.org/drawingml/2006/main">
              <a:ext uri="{FF2B5EF4-FFF2-40B4-BE49-F238E27FC236}">
                <a16:creationId xmlns:a16="http://schemas.microsoft.com/office/drawing/2014/main" id="{6630F884-E26C-43CE-A56D-80D5F9C38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Soluciones de presión y segunda ley</a:t>
            </a:r>
          </a:p>
        </p:txBody>
      </p:sp>
      <p:sp>
        <p:nvSpPr>
          <p:cNvPr id="23" name="U02-098_subtitle">
            <a:extLst xmlns:a="http://schemas.openxmlformats.org/drawingml/2006/main">
              <a:ext uri="{FF2B5EF4-FFF2-40B4-BE49-F238E27FC236}">
                <a16:creationId xmlns:a16="http://schemas.microsoft.com/office/drawing/2014/main" id="{D5AD545C-E4F1-42A5-B4BC-DC3D63177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906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Material de consulta.</a:t>
            </a:r>
          </a:p>
        </p:txBody>
      </p:sp>
      <p:sp>
        <p:nvSpPr>
          <p:cNvPr id="24" name="U02-098_block_0">
            <a:extLst xmlns:a="http://schemas.openxmlformats.org/drawingml/2006/main">
              <a:ext uri="{FF2B5EF4-FFF2-40B4-BE49-F238E27FC236}">
                <a16:creationId xmlns:a16="http://schemas.microsoft.com/office/drawing/2014/main" id="{F038274C-2A69-44A5-882F-BB670D4A9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81175"/>
            <a:ext cx="10287000" cy="1355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8"/>
              </a:spcAft>
              <a:buNone/>
              <a:defRPr sz="18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Presión:</a:t>
            </a:r>
            <a:r>
              <a:rPr sz="18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multiplicar </a:t>
            </a:r>
            <a:r>
              <a:rPr sz="18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Δp</a:t>
            </a:r>
            <a:r>
              <a:rPr sz="18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por </a:t>
            </a:r>
            <a:r>
              <a:rPr sz="18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</a:t>
            </a:r>
            <a:r>
              <a:rPr sz="18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y comprobar Pa·m²=N.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8"/>
              </a:spcAft>
              <a:buNone/>
              <a:defRPr sz="18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Modelo mecánico:</a:t>
            </a:r>
            <a:r>
              <a:rPr sz="18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calcular fuerzas con signo, sumar y dividir por </a:t>
            </a:r>
            <a:r>
              <a:rPr sz="18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</a:t>
            </a:r>
            <a:r>
              <a:rPr sz="18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25" name="U02-098_label_1">
            <a:extLst xmlns:a="http://schemas.openxmlformats.org/drawingml/2006/main">
              <a:ext uri="{FF2B5EF4-FFF2-40B4-BE49-F238E27FC236}">
                <a16:creationId xmlns:a16="http://schemas.microsoft.com/office/drawing/2014/main" id="{9B16D3C3-97A6-4EA2-B267-9EDC69905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702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ECUACIÓN</a:t>
            </a:r>
          </a:p>
        </p:txBody>
      </p:sp>
      <p:sp>
        <p:nvSpPr>
          <p:cNvPr id="26" name="U02-098_block_1">
            <a:extLst xmlns:a="http://schemas.openxmlformats.org/drawingml/2006/main">
              <a:ext uri="{FF2B5EF4-FFF2-40B4-BE49-F238E27FC236}">
                <a16:creationId xmlns:a16="http://schemas.microsoft.com/office/drawing/2014/main" id="{55084F93-38B1-4B68-8125-46198951D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98850"/>
            <a:ext cx="10287000" cy="112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8"/>
              </a:spcAft>
              <a:buNone/>
              <a:defRPr sz="180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F_pres = Δp·S</a:t>
            </a:r>
            <a:r>
              <a:rPr sz="180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; </a:t>
            </a:r>
            <a:r>
              <a:rPr sz="180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F_neta = F_ext − k_sx − bv</a:t>
            </a:r>
            <a:r>
              <a:rPr sz="180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; </a:t>
            </a:r>
            <a:r>
              <a:rPr sz="180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a = F_neta/m</a:t>
            </a:r>
            <a:r>
              <a:rPr sz="180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.</a:t>
            </a:r>
          </a:p>
        </p:txBody>
      </p:sp>
      <p:sp>
        <p:nvSpPr>
          <p:cNvPr id="27" name="U02-098_label_2">
            <a:extLst xmlns:a="http://schemas.openxmlformats.org/drawingml/2006/main">
              <a:ext uri="{FF2B5EF4-FFF2-40B4-BE49-F238E27FC236}">
                <a16:creationId xmlns:a16="http://schemas.microsoft.com/office/drawing/2014/main" id="{D23B76A1-2484-43DD-A68A-354F936EB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5932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EJEMPLO / CONSIGNA</a:t>
            </a:r>
          </a:p>
        </p:txBody>
      </p:sp>
      <p:sp>
        <p:nvSpPr>
          <p:cNvPr id="28" name="U02-098_block_2">
            <a:extLst xmlns:a="http://schemas.openxmlformats.org/drawingml/2006/main">
              <a:ext uri="{FF2B5EF4-FFF2-40B4-BE49-F238E27FC236}">
                <a16:creationId xmlns:a16="http://schemas.microsoft.com/office/drawing/2014/main" id="{374A9F4A-08EC-4F33-8F35-759B08976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87925"/>
            <a:ext cx="10287000" cy="112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8"/>
              </a:spcAft>
              <a:buNone/>
              <a:defRPr sz="18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Usar como devolución después de intentar ambos problemas.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9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Marcador de número de diapositiva 19">
            <a:extLst xmlns:a="http://schemas.openxmlformats.org/drawingml/2006/main">
              <a:ext uri="{FF2B5EF4-FFF2-40B4-BE49-F238E27FC236}">
                <a16:creationId xmlns:a16="http://schemas.microsoft.com/office/drawing/2014/main" id="{2BD418A6-9462-5656-3C46-A62864F5F6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0437E3D1-C15D-2A09-4AC4-283B6C735BEF}" type="slidenum">
              <a:t>99</a:t>
            </a:fld>
          </a:p>
        </p:txBody>
      </p:sp>
      <p:sp>
        <p:nvSpPr>
          <p:cNvPr id="21" name="U02-099_eyebrow">
            <a:extLst xmlns:a="http://schemas.openxmlformats.org/drawingml/2006/main">
              <a:ext uri="{FF2B5EF4-FFF2-40B4-BE49-F238E27FC236}">
                <a16:creationId xmlns:a16="http://schemas.microsoft.com/office/drawing/2014/main" id="{1F3AD255-D0DE-436E-A175-5E8E04A85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MATERIAL DE RESPALDO</a:t>
            </a:r>
          </a:p>
        </p:txBody>
      </p:sp>
      <p:sp>
        <p:nvSpPr>
          <p:cNvPr id="22" name="U02-099_title">
            <a:extLst xmlns:a="http://schemas.openxmlformats.org/drawingml/2006/main">
              <a:ext uri="{FF2B5EF4-FFF2-40B4-BE49-F238E27FC236}">
                <a16:creationId xmlns:a16="http://schemas.microsoft.com/office/drawing/2014/main" id="{AA53E1D4-9E19-4AB1-9AFF-252D3724A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Práctica autónoma de fuerza y energía elástica</a:t>
            </a:r>
          </a:p>
        </p:txBody>
      </p:sp>
      <p:sp>
        <p:nvSpPr>
          <p:cNvPr id="23" name="U02-099_subtitle">
            <a:extLst xmlns:a="http://schemas.openxmlformats.org/drawingml/2006/main">
              <a:ext uri="{FF2B5EF4-FFF2-40B4-BE49-F238E27FC236}">
                <a16:creationId xmlns:a16="http://schemas.microsoft.com/office/drawing/2014/main" id="{6C4C9B63-60AE-48B0-A2D4-DCF2157E3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906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Material de consulta.</a:t>
            </a:r>
          </a:p>
        </p:txBody>
      </p:sp>
      <p:sp>
        <p:nvSpPr>
          <p:cNvPr id="24" name="U02-099_block_0">
            <a:extLst xmlns:a="http://schemas.openxmlformats.org/drawingml/2006/main">
              <a:ext uri="{FF2B5EF4-FFF2-40B4-BE49-F238E27FC236}">
                <a16:creationId xmlns:a16="http://schemas.microsoft.com/office/drawing/2014/main" id="{152B409C-99C6-48E3-B508-C52F462E3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81175"/>
            <a:ext cx="10287000" cy="1355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8"/>
              </a:spcAft>
              <a:buNone/>
              <a:defRPr sz="18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1. Calcular el módulo de la fuerza elástica e interpretar su sentido.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8"/>
              </a:spcAft>
              <a:buNone/>
              <a:defRPr sz="18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2. Calcular la energía elástica almacenada. En ambos casos: ecuación → sustitución → unidad → interpretación.</a:t>
            </a:r>
          </a:p>
        </p:txBody>
      </p:sp>
      <p:sp>
        <p:nvSpPr>
          <p:cNvPr id="25" name="U02-099_label_1">
            <a:extLst xmlns:a="http://schemas.openxmlformats.org/drawingml/2006/main">
              <a:ext uri="{FF2B5EF4-FFF2-40B4-BE49-F238E27FC236}">
                <a16:creationId xmlns:a16="http://schemas.microsoft.com/office/drawing/2014/main" id="{B7A189D2-50BA-413C-8E8C-D8E912AB5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702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ECUACIÓN</a:t>
            </a:r>
          </a:p>
        </p:txBody>
      </p:sp>
      <p:sp>
        <p:nvSpPr>
          <p:cNvPr id="26" name="U02-099_block_1">
            <a:extLst xmlns:a="http://schemas.openxmlformats.org/drawingml/2006/main">
              <a:ext uri="{FF2B5EF4-FFF2-40B4-BE49-F238E27FC236}">
                <a16:creationId xmlns:a16="http://schemas.microsoft.com/office/drawing/2014/main" id="{AEEECA61-EDD9-4DF3-BA5C-29F2E5DD6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98850"/>
            <a:ext cx="10287000" cy="112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8"/>
              </a:spcAft>
              <a:buNone/>
              <a:defRPr sz="180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|F_el| = k_s|x|</a:t>
            </a:r>
            <a:r>
              <a:rPr sz="180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; </a:t>
            </a:r>
            <a:r>
              <a:rPr sz="180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E_el = ½k_sx²</a:t>
            </a:r>
            <a:r>
              <a:rPr sz="180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.</a:t>
            </a:r>
          </a:p>
        </p:txBody>
      </p:sp>
      <p:sp>
        <p:nvSpPr>
          <p:cNvPr id="27" name="U02-099_label_2">
            <a:extLst xmlns:a="http://schemas.openxmlformats.org/drawingml/2006/main">
              <a:ext uri="{FF2B5EF4-FFF2-40B4-BE49-F238E27FC236}">
                <a16:creationId xmlns:a16="http://schemas.microsoft.com/office/drawing/2014/main" id="{878FA844-A390-41D5-B5E1-057C9DB8F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5932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EJEMPLO / CONSIGNA</a:t>
            </a:r>
          </a:p>
        </p:txBody>
      </p:sp>
      <p:sp>
        <p:nvSpPr>
          <p:cNvPr id="28" name="U02-099_block_2">
            <a:extLst xmlns:a="http://schemas.openxmlformats.org/drawingml/2006/main">
              <a:ext uri="{FF2B5EF4-FFF2-40B4-BE49-F238E27FC236}">
                <a16:creationId xmlns:a16="http://schemas.microsoft.com/office/drawing/2014/main" id="{B26ED25C-0EC6-4633-8013-2A620172F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87925"/>
            <a:ext cx="10287000" cy="112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8"/>
              </a:spcAft>
              <a:buNone/>
              <a:defRPr sz="18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Resolver de forma autónoma; las soluciones permanecen en notas.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10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Marcador de número de diapositiva 16">
            <a:extLst xmlns:a="http://schemas.openxmlformats.org/drawingml/2006/main">
              <a:ext uri="{FF2B5EF4-FFF2-40B4-BE49-F238E27FC236}">
                <a16:creationId xmlns:a16="http://schemas.microsoft.com/office/drawing/2014/main" id="{E2D13425-3C5C-B26C-019E-A4D5E1FF74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6977BB1A-195E-A702-1274-3E280E23D54D}" type="slidenum">
              <a:t>100</a:t>
            </a:fld>
          </a:p>
        </p:txBody>
      </p:sp>
      <p:sp>
        <p:nvSpPr>
          <p:cNvPr id="18" name="U02-100_eyebrow">
            <a:extLst xmlns:a="http://schemas.openxmlformats.org/drawingml/2006/main">
              <a:ext uri="{FF2B5EF4-FFF2-40B4-BE49-F238E27FC236}">
                <a16:creationId xmlns:a16="http://schemas.microsoft.com/office/drawing/2014/main" id="{5BE50AA8-C3AB-4932-8B1E-2A1B69038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MATERIAL DE RESPALDO</a:t>
            </a:r>
          </a:p>
        </p:txBody>
      </p:sp>
      <p:sp>
        <p:nvSpPr>
          <p:cNvPr id="19" name="U02-100_title">
            <a:extLst xmlns:a="http://schemas.openxmlformats.org/drawingml/2006/main">
              <a:ext uri="{FF2B5EF4-FFF2-40B4-BE49-F238E27FC236}">
                <a16:creationId xmlns:a16="http://schemas.microsoft.com/office/drawing/2014/main" id="{CA7E7A03-0D24-4536-9264-A24DA6244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Fuentes técnicas de mecánica y biomecánica</a:t>
            </a:r>
          </a:p>
        </p:txBody>
      </p:sp>
      <p:sp>
        <p:nvSpPr>
          <p:cNvPr id="20" name="U02-100_bibliography">
            <a:extLst xmlns:a="http://schemas.openxmlformats.org/drawingml/2006/main">
              <a:ext uri="{FF2B5EF4-FFF2-40B4-BE49-F238E27FC236}">
                <a16:creationId xmlns:a16="http://schemas.microsoft.com/office/drawing/2014/main" id="{38A6614E-903C-41AF-BAA3-D5E3082AD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38300"/>
            <a:ext cx="102870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8"/>
              </a:spcAft>
              <a:buNone/>
              <a:defRPr sz="18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Ugarteburu, M. et al. (2022). Mammalian Middle Ear Mechanics: A Review. Frontiers in Bioengineering and Biotechnology, 10, 983510. doi:10.3389/fbioe.2022.983510</a:t>
            </a:r>
          </a:p>
          <a:p xmlns:a="http://schemas.openxmlformats.org/drawingml/2006/main">
            <a:pPr algn="l">
              <a:lnSpc>
                <a:spcPct val="115000"/>
              </a:lnSpc>
              <a:spcAft>
                <a:spcPts val="8"/>
              </a:spcAft>
              <a:buNone/>
              <a:defRPr sz="20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/>
            </a:r>
          </a:p>
          <a:p xmlns:a="http://schemas.openxmlformats.org/drawingml/2006/main">
            <a:pPr algn="l">
              <a:lnSpc>
                <a:spcPct val="115000"/>
              </a:lnSpc>
              <a:spcAft>
                <a:spcPts val="8"/>
              </a:spcAft>
              <a:buNone/>
              <a:defRPr sz="18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Stenfelt, S. y Goode, R. L. (2005). Bone-Conducted Sound: Physiological and Clinical Aspects. Otology &amp; Neurotology, 26(6), 1245–1261. doi:10.1097/01.mao.0000187236.10842.d5</a:t>
            </a:r>
          </a:p>
          <a:p xmlns:a="http://schemas.openxmlformats.org/drawingml/2006/main">
            <a:pPr algn="l">
              <a:lnSpc>
                <a:spcPct val="115000"/>
              </a:lnSpc>
              <a:spcAft>
                <a:spcPts val="8"/>
              </a:spcAft>
              <a:buNone/>
              <a:defRPr sz="20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/>
            </a:r>
          </a:p>
          <a:p xmlns:a="http://schemas.openxmlformats.org/drawingml/2006/main">
            <a:pPr algn="l">
              <a:lnSpc>
                <a:spcPct val="115000"/>
              </a:lnSpc>
              <a:spcAft>
                <a:spcPts val="8"/>
              </a:spcAft>
              <a:buNone/>
              <a:defRPr sz="18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Fung, Y. C. (1981). Biomechanics: Mechanical Properties of Living Tissues. Springer. doi:10.1007/978-1-4757-1752-5</a:t>
            </a:r>
          </a:p>
        </p:txBody>
      </p:sp>
      <p:sp>
        <p:nvSpPr>
          <p:cNvPr id="21" name="U02-100_bibliography_source">
            <a:extLst xmlns:a="http://schemas.openxmlformats.org/drawingml/2006/main">
              <a:ext uri="{FF2B5EF4-FFF2-40B4-BE49-F238E27FC236}">
                <a16:creationId xmlns:a16="http://schemas.microsoft.com/office/drawing/2014/main" id="{3F623923-23AB-49FC-A969-96373D6B5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7205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3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Referencias verificadas contra la bibliografía del capítulo 2.</a:t>
            </a:r>
          </a:p>
        </p:txBody>
      </p:sp>
    </p:spTree>
    <p:extLst>
      <p:ext uri="{BB962C8B-B14F-4D97-AF65-F5344CB8AC3E}">
        <p14:creationId xmlns:p14="http://schemas.microsoft.com/office/powerpoint/2010/main" val="235601764"/>
      </p:ext>
    </p:extLst>
  </p:cSld>
</p:sld>
</file>

<file path=ppt/slides/slide10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Marcador de número de diapositiva 19">
            <a:extLst xmlns:a="http://schemas.openxmlformats.org/drawingml/2006/main">
              <a:ext uri="{FF2B5EF4-FFF2-40B4-BE49-F238E27FC236}">
                <a16:creationId xmlns:a16="http://schemas.microsoft.com/office/drawing/2014/main" id="{2BD418A6-9462-5656-3C46-A62864F5F6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0F038620-B44B-00F4-008B-75739726B70D}" type="slidenum">
              <a:t>101</a:t>
            </a:fld>
          </a:p>
        </p:txBody>
      </p:sp>
      <p:sp>
        <p:nvSpPr>
          <p:cNvPr id="21" name="U02-101_eyebrow">
            <a:extLst xmlns:a="http://schemas.openxmlformats.org/drawingml/2006/main">
              <a:ext uri="{FF2B5EF4-FFF2-40B4-BE49-F238E27FC236}">
                <a16:creationId xmlns:a16="http://schemas.microsoft.com/office/drawing/2014/main" id="{9E4E6DDA-4AD6-4AF4-8879-E1C24F6A4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MATERIAL DE RESPALDO</a:t>
            </a:r>
          </a:p>
        </p:txBody>
      </p:sp>
      <p:sp>
        <p:nvSpPr>
          <p:cNvPr id="22" name="U02-101_title">
            <a:extLst xmlns:a="http://schemas.openxmlformats.org/drawingml/2006/main">
              <a:ext uri="{FF2B5EF4-FFF2-40B4-BE49-F238E27FC236}">
                <a16:creationId xmlns:a16="http://schemas.microsoft.com/office/drawing/2014/main" id="{58D5F39D-CCA4-433F-8B19-8AD692267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Velocidad del sonido en un gas ideal</a:t>
            </a:r>
          </a:p>
        </p:txBody>
      </p:sp>
      <p:sp>
        <p:nvSpPr>
          <p:cNvPr id="23" name="U02-101_takeaway">
            <a:extLst xmlns:a="http://schemas.openxmlformats.org/drawingml/2006/main">
              <a:ext uri="{FF2B5EF4-FFF2-40B4-BE49-F238E27FC236}">
                <a16:creationId xmlns:a16="http://schemas.microsoft.com/office/drawing/2014/main" id="{D2A9AE6E-152C-4629-B586-87E7B99B0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7239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Parámetros: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γ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razón térmica;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constante de los gases;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T_temp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temperatura absoluta;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masa molar.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Hipótesis: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gas ideal y propagación adiabática.</a:t>
            </a:r>
          </a:p>
        </p:txBody>
      </p:sp>
      <p:sp>
        <p:nvSpPr>
          <p:cNvPr id="24" name="U02-101_equation_panel">
            <a:extLst xmlns:a="http://schemas.openxmlformats.org/drawingml/2006/main">
              <a:ext uri="{FF2B5EF4-FFF2-40B4-BE49-F238E27FC236}">
                <a16:creationId xmlns:a16="http://schemas.microsoft.com/office/drawing/2014/main" id="{F361A023-3C95-4B63-83E9-7DFBBC7FF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0495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25" name="U02-101_equation">
            <a:extLst xmlns:a="http://schemas.openxmlformats.org/drawingml/2006/main">
              <a:ext uri="{FF2B5EF4-FFF2-40B4-BE49-F238E27FC236}">
                <a16:creationId xmlns:a16="http://schemas.microsoft.com/office/drawing/2014/main" id="{31F39C13-4D6A-4B92-AC37-C6CFB9B35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53352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c = √(γRT_temp/M)</a:t>
            </a:r>
          </a:p>
        </p:txBody>
      </p:sp>
      <p:pic>
        <p:nvPicPr>
          <p:cNvPr id="36" name="U02-101: Ecuación anotada de la slide «Velocidad del sonido en un gas ideal»: Ecuación, parámetros, unidades e hipótesis de gas ideal adiabático." descr="U02-101: Ecuación anotada de la slide «Velocidad del sonido en un gas ideal»: Ecuación, parámetros, unidades e hipótesis de gas ideal adiabático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6352fdee7f4529">
            <a:extLst>
              <a:ext uri="{96DAC541-7B7A-43D3-8B79-37D633B846F1}">
                <asvg:svgBlip xmlns:asvg="http://schemas.microsoft.com/office/drawing/2016/SVG/main" r:embed="R553b7e7474bd458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295525"/>
            <a:ext cx="10668000" cy="3419475"/>
          </a:xfrm>
          <a:prstGeom xmlns:a="http://schemas.openxmlformats.org/drawingml/2006/main" prst="rect">
            <a:avLst/>
          </a:prstGeom>
        </p:spPr>
      </p:pic>
      <p:sp>
        <p:nvSpPr>
          <p:cNvPr id="27" name="U02-101_caption">
            <a:extLst xmlns:a="http://schemas.openxmlformats.org/drawingml/2006/main">
              <a:ext uri="{FF2B5EF4-FFF2-40B4-BE49-F238E27FC236}">
                <a16:creationId xmlns:a16="http://schemas.microsoft.com/office/drawing/2014/main" id="{68710528-7DC4-4C9C-89D9-DB18326A1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c = √(γRT/M) depende de propiedades térmicas y composición.</a:t>
            </a:r>
          </a:p>
        </p:txBody>
      </p:sp>
      <p:sp>
        <p:nvSpPr>
          <p:cNvPr id="28" name="U02-101_source">
            <a:extLst xmlns:a="http://schemas.openxmlformats.org/drawingml/2006/main">
              <a:ext uri="{FF2B5EF4-FFF2-40B4-BE49-F238E27FC236}">
                <a16:creationId xmlns:a16="http://schemas.microsoft.com/office/drawing/2014/main" id="{DE53489D-D440-43EC-8DF2-47ABD5A1F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10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Marcador de número de diapositiva 19">
            <a:extLst xmlns:a="http://schemas.openxmlformats.org/drawingml/2006/main">
              <a:ext uri="{FF2B5EF4-FFF2-40B4-BE49-F238E27FC236}">
                <a16:creationId xmlns:a16="http://schemas.microsoft.com/office/drawing/2014/main" id="{2BD418A6-9462-5656-3C46-A62864F5F6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C08478DB-4253-C054-9EA9-60BB87830769}" type="slidenum">
              <a:t>102</a:t>
            </a:fld>
          </a:p>
        </p:txBody>
      </p:sp>
      <p:sp>
        <p:nvSpPr>
          <p:cNvPr id="21" name="U02-102_eyebrow">
            <a:extLst xmlns:a="http://schemas.openxmlformats.org/drawingml/2006/main">
              <a:ext uri="{FF2B5EF4-FFF2-40B4-BE49-F238E27FC236}">
                <a16:creationId xmlns:a16="http://schemas.microsoft.com/office/drawing/2014/main" id="{9DC2F57F-5437-41B7-8A76-866653572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MATERIAL DE RESPALDO</a:t>
            </a:r>
          </a:p>
        </p:txBody>
      </p:sp>
      <p:sp>
        <p:nvSpPr>
          <p:cNvPr id="22" name="U02-102_title">
            <a:extLst xmlns:a="http://schemas.openxmlformats.org/drawingml/2006/main">
              <a:ext uri="{FF2B5EF4-FFF2-40B4-BE49-F238E27FC236}">
                <a16:creationId xmlns:a16="http://schemas.microsoft.com/office/drawing/2014/main" id="{0D41B326-1572-402A-8E38-15C3F6E45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Control dimensional de c = √(γRT/M)</a:t>
            </a:r>
          </a:p>
        </p:txBody>
      </p:sp>
      <p:sp>
        <p:nvSpPr>
          <p:cNvPr id="23" name="U02-102_takeaway">
            <a:extLst xmlns:a="http://schemas.openxmlformats.org/drawingml/2006/main">
              <a:ext uri="{FF2B5EF4-FFF2-40B4-BE49-F238E27FC236}">
                <a16:creationId xmlns:a16="http://schemas.microsoft.com/office/drawing/2014/main" id="{C9D3369F-1B7E-4A25-9F38-1687D5503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Dentro de la raíz deben quedar unidades de velocidad al cuadrado.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J/kg = m²/s²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; al extraer la raíz se obtiene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m/s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pic>
        <p:nvPicPr>
          <p:cNvPr id="32" name="U02-102: Ecuación anotada de la slide «Control dimensional de c = √(γRT/M)»: Cadena de unidades J·mol⁻¹·K⁻¹, K y kg·mol⁻¹." descr="U02-102: Ecuación anotada de la slide «Control dimensional de c = √(γRT/M)»: Cadena de unidades J·mol⁻¹·K⁻¹, K y kg·mol⁻¹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b5d38209354a85">
            <a:extLst>
              <a:ext uri="{96DAC541-7B7A-43D3-8B79-37D633B846F1}">
                <asvg:svgBlip xmlns:asvg="http://schemas.microsoft.com/office/drawing/2016/SVG/main" r:embed="R8cb6343fc9e64ef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057400"/>
            <a:ext cx="10668000" cy="3657600"/>
          </a:xfrm>
          <a:prstGeom xmlns:a="http://schemas.openxmlformats.org/drawingml/2006/main" prst="rect">
            <a:avLst/>
          </a:prstGeom>
        </p:spPr>
      </p:pic>
      <p:sp>
        <p:nvSpPr>
          <p:cNvPr id="25" name="U02-102_caption">
            <a:extLst xmlns:a="http://schemas.openxmlformats.org/drawingml/2006/main">
              <a:ext uri="{FF2B5EF4-FFF2-40B4-BE49-F238E27FC236}">
                <a16:creationId xmlns:a16="http://schemas.microsoft.com/office/drawing/2014/main" id="{928F63D3-67CF-4D5F-A4D7-76A0DD277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El cociente dentro de la raíz tiene dimensión de velocidad al cuadrado.</a:t>
            </a:r>
          </a:p>
        </p:txBody>
      </p:sp>
      <p:sp>
        <p:nvSpPr>
          <p:cNvPr id="26" name="U02-102_source">
            <a:extLst xmlns:a="http://schemas.openxmlformats.org/drawingml/2006/main">
              <a:ext uri="{FF2B5EF4-FFF2-40B4-BE49-F238E27FC236}">
                <a16:creationId xmlns:a16="http://schemas.microsoft.com/office/drawing/2014/main" id="{F8BBCCCB-3E25-4193-99B7-FFD63984D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10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Marcador de número de diapositiva 19">
            <a:extLst xmlns:a="http://schemas.openxmlformats.org/drawingml/2006/main">
              <a:ext uri="{FF2B5EF4-FFF2-40B4-BE49-F238E27FC236}">
                <a16:creationId xmlns:a16="http://schemas.microsoft.com/office/drawing/2014/main" id="{2BD418A6-9462-5656-3C46-A62864F5F6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5E47C7A6-9A4A-001A-CA7F-401404C0258E}" type="slidenum">
              <a:t>103</a:t>
            </a:fld>
          </a:p>
        </p:txBody>
      </p:sp>
      <p:sp>
        <p:nvSpPr>
          <p:cNvPr id="21" name="U02-103_eyebrow">
            <a:extLst xmlns:a="http://schemas.openxmlformats.org/drawingml/2006/main">
              <a:ext uri="{FF2B5EF4-FFF2-40B4-BE49-F238E27FC236}">
                <a16:creationId xmlns:a16="http://schemas.microsoft.com/office/drawing/2014/main" id="{0F2BBC1A-D8E1-41CA-BF79-F6F08ED44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MATERIAL DE RESPALDO</a:t>
            </a:r>
          </a:p>
        </p:txBody>
      </p:sp>
      <p:sp>
        <p:nvSpPr>
          <p:cNvPr id="22" name="U02-103_title">
            <a:extLst xmlns:a="http://schemas.openxmlformats.org/drawingml/2006/main">
              <a:ext uri="{FF2B5EF4-FFF2-40B4-BE49-F238E27FC236}">
                <a16:creationId xmlns:a16="http://schemas.microsoft.com/office/drawing/2014/main" id="{E3B06563-E2B9-422F-8C45-E2AAFC835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Temperatura y tiempo de propagación: práctica adicional</a:t>
            </a:r>
          </a:p>
        </p:txBody>
      </p:sp>
      <p:sp>
        <p:nvSpPr>
          <p:cNvPr id="23" name="U02-103_takeaway">
            <a:extLst xmlns:a="http://schemas.openxmlformats.org/drawingml/2006/main">
              <a:ext uri="{FF2B5EF4-FFF2-40B4-BE49-F238E27FC236}">
                <a16:creationId xmlns:a16="http://schemas.microsoft.com/office/drawing/2014/main" id="{E5A0390B-F974-47F3-9FBF-CAD73C3B5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Comparar dos estados: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5 °C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y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25 °C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, con la misma distancia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 = 100 m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. Calcular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y luego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 = d/c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; expresar la diferencia temporal en ms.</a:t>
            </a:r>
          </a:p>
        </p:txBody>
      </p:sp>
      <p:sp>
        <p:nvSpPr>
          <p:cNvPr id="24" name="U02-103_equation_panel">
            <a:extLst xmlns:a="http://schemas.openxmlformats.org/drawingml/2006/main">
              <a:ext uri="{FF2B5EF4-FFF2-40B4-BE49-F238E27FC236}">
                <a16:creationId xmlns:a16="http://schemas.microsoft.com/office/drawing/2014/main" id="{C4DBE21D-5DD8-4ED4-87A3-1008A4DE9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7165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25" name="U02-103_equation">
            <a:extLst xmlns:a="http://schemas.openxmlformats.org/drawingml/2006/main">
              <a:ext uri="{FF2B5EF4-FFF2-40B4-BE49-F238E27FC236}">
                <a16:creationId xmlns:a16="http://schemas.microsoft.com/office/drawing/2014/main" id="{C56A8F65-C0D2-40CC-86ED-C3204ADCD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80022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00" b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700" b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c = 331 m/s +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700" b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700" b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[0,6 (m/s)/°C]·ϑ;  t = d/c</a:t>
            </a:r>
          </a:p>
        </p:txBody>
      </p:sp>
      <p:pic>
        <p:nvPicPr>
          <p:cNvPr id="36" name="U02-103: Esquema mixto de la slide «Temperatura y tiempo de propagación: práctica adicional»: Ejercicio NA5 para 5 °C y 25 °C; resultados en notas." descr="U02-103: Esquema mixto de la slide «Temperatura y tiempo de propagación: práctica adicional»: Ejercicio NA5 para 5 °C y 25 °C; resultados en notas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7d61f0ca3447d5"/>
          <a:stretch xmlns:a="http://schemas.openxmlformats.org/drawingml/2006/main"/>
        </p:blipFill>
        <p:spPr>
          <a:xfrm xmlns:a="http://schemas.openxmlformats.org/drawingml/2006/main" flipH="0" flipV="0">
            <a:off x="762000" y="2362200"/>
            <a:ext cx="10668000" cy="3352800"/>
          </a:xfrm>
          <a:prstGeom xmlns:a="http://schemas.openxmlformats.org/drawingml/2006/main" prst="rect">
            <a:avLst/>
          </a:prstGeom>
        </p:spPr>
      </p:pic>
      <p:sp>
        <p:nvSpPr>
          <p:cNvPr id="27" name="U02-103_caption">
            <a:extLst xmlns:a="http://schemas.openxmlformats.org/drawingml/2006/main">
              <a:ext uri="{FF2B5EF4-FFF2-40B4-BE49-F238E27FC236}">
                <a16:creationId xmlns:a16="http://schemas.microsoft.com/office/drawing/2014/main" id="{602B1951-3497-40E2-9BC4-568B0B6EF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Cambiar c modifica el tiempo de propagación en una distancia fija. Esquema conceptual; no está a escala.</a:t>
            </a:r>
          </a:p>
        </p:txBody>
      </p:sp>
      <p:sp>
        <p:nvSpPr>
          <p:cNvPr id="28" name="U02-103_source">
            <a:extLst xmlns:a="http://schemas.openxmlformats.org/drawingml/2006/main">
              <a:ext uri="{FF2B5EF4-FFF2-40B4-BE49-F238E27FC236}">
                <a16:creationId xmlns:a16="http://schemas.microsoft.com/office/drawing/2014/main" id="{F5665CA1-6AB5-4250-8029-41EF166DC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 a partir del modelo del curso; escala lineal.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10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Marcador de número de diapositiva 19">
            <a:extLst xmlns:a="http://schemas.openxmlformats.org/drawingml/2006/main">
              <a:ext uri="{FF2B5EF4-FFF2-40B4-BE49-F238E27FC236}">
                <a16:creationId xmlns:a16="http://schemas.microsoft.com/office/drawing/2014/main" id="{2BD418A6-9462-5656-3C46-A62864F5F6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45357B09-1B64-D388-5357-A36E949217A1}" type="slidenum">
              <a:t>104</a:t>
            </a:fld>
          </a:p>
        </p:txBody>
      </p:sp>
      <p:sp>
        <p:nvSpPr>
          <p:cNvPr id="21" name="U02-104_eyebrow">
            <a:extLst xmlns:a="http://schemas.openxmlformats.org/drawingml/2006/main">
              <a:ext uri="{FF2B5EF4-FFF2-40B4-BE49-F238E27FC236}">
                <a16:creationId xmlns:a16="http://schemas.microsoft.com/office/drawing/2014/main" id="{B736641D-E420-4D4A-BA02-3F0737000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MATERIAL DE RESPALDO</a:t>
            </a:r>
          </a:p>
        </p:txBody>
      </p:sp>
      <p:sp>
        <p:nvSpPr>
          <p:cNvPr id="22" name="U02-104_title">
            <a:extLst xmlns:a="http://schemas.openxmlformats.org/drawingml/2006/main">
              <a:ext uri="{FF2B5EF4-FFF2-40B4-BE49-F238E27FC236}">
                <a16:creationId xmlns:a16="http://schemas.microsoft.com/office/drawing/2014/main" id="{A210DFB6-54D7-434F-8FD2-269DEA5F2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Más casos de signos en la primera ley</a:t>
            </a:r>
          </a:p>
        </p:txBody>
      </p:sp>
      <p:sp>
        <p:nvSpPr>
          <p:cNvPr id="23" name="U02-104_takeaway">
            <a:extLst xmlns:a="http://schemas.openxmlformats.org/drawingml/2006/main">
              <a:ext uri="{FF2B5EF4-FFF2-40B4-BE49-F238E27FC236}">
                <a16:creationId xmlns:a16="http://schemas.microsoft.com/office/drawing/2014/main" id="{41C2F806-5625-4C15-80A7-361F7A3B7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Cuatro casos: calor entra; calor sale; trabajo sobre el sistema; trabajo realizado por el sistema. Dibujar primero la flecha y asignar el signo después.</a:t>
            </a:r>
          </a:p>
        </p:txBody>
      </p:sp>
      <p:pic>
        <p:nvPicPr>
          <p:cNvPr id="32" name="U02-104: Diagrama de la slide «Más casos de signos en la primera ley»: Cuatro mini casos y resultados ocultos en notas." descr="U02-104: Diagrama de la slide «Más casos de signos en la primera ley»: Cuatro mini casos y resultados ocultos en notas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7e7714a64c4e95">
            <a:extLst>
              <a:ext uri="{96DAC541-7B7A-43D3-8B79-37D633B846F1}">
                <asvg:svgBlip xmlns:asvg="http://schemas.microsoft.com/office/drawing/2016/SVG/main" r:embed="Rb7b65332d4264c0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057400"/>
            <a:ext cx="10668000" cy="3657600"/>
          </a:xfrm>
          <a:prstGeom xmlns:a="http://schemas.openxmlformats.org/drawingml/2006/main" prst="rect">
            <a:avLst/>
          </a:prstGeom>
        </p:spPr>
      </p:pic>
      <p:sp>
        <p:nvSpPr>
          <p:cNvPr id="25" name="U02-104_caption">
            <a:extLst xmlns:a="http://schemas.openxmlformats.org/drawingml/2006/main">
              <a:ext uri="{FF2B5EF4-FFF2-40B4-BE49-F238E27FC236}">
                <a16:creationId xmlns:a16="http://schemas.microsoft.com/office/drawing/2014/main" id="{B6B03213-E58C-46E9-9CAB-BFB49BBCD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dirección física decide el signo.</a:t>
            </a:r>
          </a:p>
        </p:txBody>
      </p:sp>
      <p:sp>
        <p:nvSpPr>
          <p:cNvPr id="26" name="U02-104_source">
            <a:extLst xmlns:a="http://schemas.openxmlformats.org/drawingml/2006/main">
              <a:ext uri="{FF2B5EF4-FFF2-40B4-BE49-F238E27FC236}">
                <a16:creationId xmlns:a16="http://schemas.microsoft.com/office/drawing/2014/main" id="{6D8D7148-59C2-4403-9129-7F82F7372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10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Marcador de número de diapositiva 19">
            <a:extLst xmlns:a="http://schemas.openxmlformats.org/drawingml/2006/main">
              <a:ext uri="{FF2B5EF4-FFF2-40B4-BE49-F238E27FC236}">
                <a16:creationId xmlns:a16="http://schemas.microsoft.com/office/drawing/2014/main" id="{2BD418A6-9462-5656-3C46-A62864F5F6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60199CD9-C7A3-B827-931B-50906644230B}" type="slidenum">
              <a:t>105</a:t>
            </a:fld>
          </a:p>
        </p:txBody>
      </p:sp>
      <p:sp>
        <p:nvSpPr>
          <p:cNvPr id="21" name="U02-105_eyebrow">
            <a:extLst xmlns:a="http://schemas.openxmlformats.org/drawingml/2006/main">
              <a:ext uri="{FF2B5EF4-FFF2-40B4-BE49-F238E27FC236}">
                <a16:creationId xmlns:a16="http://schemas.microsoft.com/office/drawing/2014/main" id="{C91CEC1C-F4C1-4776-8332-D3EABD687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MATERIAL DE RESPALDO</a:t>
            </a:r>
          </a:p>
        </p:txBody>
      </p:sp>
      <p:sp>
        <p:nvSpPr>
          <p:cNvPr id="22" name="U02-105_title">
            <a:extLst xmlns:a="http://schemas.openxmlformats.org/drawingml/2006/main">
              <a:ext uri="{FF2B5EF4-FFF2-40B4-BE49-F238E27FC236}">
                <a16:creationId xmlns:a16="http://schemas.microsoft.com/office/drawing/2014/main" id="{9B4DF075-BC19-44DA-A8AA-82876D12F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Límite reversible y producción de entropía</a:t>
            </a:r>
          </a:p>
        </p:txBody>
      </p:sp>
      <p:sp>
        <p:nvSpPr>
          <p:cNvPr id="23" name="U02-105_takeaway">
            <a:extLst xmlns:a="http://schemas.openxmlformats.org/drawingml/2006/main">
              <a:ext uri="{FF2B5EF4-FFF2-40B4-BE49-F238E27FC236}">
                <a16:creationId xmlns:a16="http://schemas.microsoft.com/office/drawing/2014/main" id="{C278A070-11B5-4E2E-8C07-7AF4FE2D7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Límite reversible ideal: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ΔS_total = 0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Proceso irreversible: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ΔS_total &gt; 0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. Un subsistema puede disminuir su entropía si el total cumple la desigualdad.</a:t>
            </a:r>
          </a:p>
        </p:txBody>
      </p:sp>
      <p:pic>
        <p:nvPicPr>
          <p:cNvPr id="32" name="U02-105: Ecuación anotada de la slide «Límite reversible y producción de entropía»: Dos casos, alcance de sistema total aislado y advertencia sobre subsistemas." descr="U02-105: Ecuación anotada de la slide «Límite reversible y producción de entropía»: Dos casos, alcance de sistema total aislado y advertencia sobre subsistemas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ec058e58e44191">
            <a:extLst>
              <a:ext uri="{96DAC541-7B7A-43D3-8B79-37D633B846F1}">
                <asvg:svgBlip xmlns:asvg="http://schemas.microsoft.com/office/drawing/2016/SVG/main" r:embed="R470adb99fb3145a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295525"/>
            <a:ext cx="10668000" cy="3419475"/>
          </a:xfrm>
          <a:prstGeom xmlns:a="http://schemas.openxmlformats.org/drawingml/2006/main" prst="rect">
            <a:avLst/>
          </a:prstGeom>
        </p:spPr>
      </p:pic>
      <p:sp>
        <p:nvSpPr>
          <p:cNvPr id="25" name="U02-105_caption">
            <a:extLst xmlns:a="http://schemas.openxmlformats.org/drawingml/2006/main">
              <a:ext uri="{FF2B5EF4-FFF2-40B4-BE49-F238E27FC236}">
                <a16:creationId xmlns:a16="http://schemas.microsoft.com/office/drawing/2014/main" id="{D598A83E-4A28-4612-B509-1293B0A5C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ΔS_total = 0 es un límite ideal; &gt; 0 caracteriza irreversibilidad.</a:t>
            </a:r>
          </a:p>
        </p:txBody>
      </p:sp>
      <p:sp>
        <p:nvSpPr>
          <p:cNvPr id="26" name="U02-105_source">
            <a:extLst xmlns:a="http://schemas.openxmlformats.org/drawingml/2006/main">
              <a:ext uri="{FF2B5EF4-FFF2-40B4-BE49-F238E27FC236}">
                <a16:creationId xmlns:a16="http://schemas.microsoft.com/office/drawing/2014/main" id="{6D1CAC9B-9ECA-4A5B-A091-7B8E33298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10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Marcador de número de diapositiva 19">
            <a:extLst xmlns:a="http://schemas.openxmlformats.org/drawingml/2006/main">
              <a:ext uri="{FF2B5EF4-FFF2-40B4-BE49-F238E27FC236}">
                <a16:creationId xmlns:a16="http://schemas.microsoft.com/office/drawing/2014/main" id="{2BD418A6-9462-5656-3C46-A62864F5F6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B95B0581-C00A-9A4E-1313-BA3A3777E376}" type="slidenum">
              <a:t>106</a:t>
            </a:fld>
          </a:p>
        </p:txBody>
      </p:sp>
      <p:sp>
        <p:nvSpPr>
          <p:cNvPr id="21" name="U02-106_eyebrow">
            <a:extLst xmlns:a="http://schemas.openxmlformats.org/drawingml/2006/main">
              <a:ext uri="{FF2B5EF4-FFF2-40B4-BE49-F238E27FC236}">
                <a16:creationId xmlns:a16="http://schemas.microsoft.com/office/drawing/2014/main" id="{976475CA-8658-45FC-99FC-8C7221FDD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MATERIAL DE RESPALDO</a:t>
            </a:r>
          </a:p>
        </p:txBody>
      </p:sp>
      <p:sp>
        <p:nvSpPr>
          <p:cNvPr id="22" name="U02-106_title">
            <a:extLst xmlns:a="http://schemas.openxmlformats.org/drawingml/2006/main">
              <a:ext uri="{FF2B5EF4-FFF2-40B4-BE49-F238E27FC236}">
                <a16:creationId xmlns:a16="http://schemas.microsoft.com/office/drawing/2014/main" id="{6592E44D-532A-4F3A-831D-80C99B8AC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Caso integrador completo: datos y plan</a:t>
            </a:r>
          </a:p>
        </p:txBody>
      </p:sp>
      <p:sp>
        <p:nvSpPr>
          <p:cNvPr id="23" name="U02-106_takeaway">
            <a:extLst xmlns:a="http://schemas.openxmlformats.org/drawingml/2006/main">
              <a:ext uri="{FF2B5EF4-FFF2-40B4-BE49-F238E27FC236}">
                <a16:creationId xmlns:a16="http://schemas.microsoft.com/office/drawing/2014/main" id="{5DE492BD-7CE5-499C-A746-C6EEBB576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Datos mecánicos: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presión, área,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k_s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b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x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v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Datos energéticos: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entrada, cambio y salida.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Dato térmico: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temperatura. Resolver por tres ramas.</a:t>
            </a:r>
          </a:p>
        </p:txBody>
      </p:sp>
      <p:pic>
        <p:nvPicPr>
          <p:cNvPr id="32" name="U02-106: Diagrama de la slide «Caso integrador completo: datos y plan»: Enunciado I1 repartido en tres grupos de datos y siete tareas." descr="U02-106: Diagrama de la slide «Caso integrador completo: datos y plan»: Enunciado I1 repartido en tres grupos de datos y siete tareas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0ad4be387549f2">
            <a:extLst>
              <a:ext uri="{96DAC541-7B7A-43D3-8B79-37D633B846F1}">
                <asvg:svgBlip xmlns:asvg="http://schemas.microsoft.com/office/drawing/2016/SVG/main" r:embed="R1870e8ed7494487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295525"/>
            <a:ext cx="10668000" cy="3419475"/>
          </a:xfrm>
          <a:prstGeom xmlns:a="http://schemas.openxmlformats.org/drawingml/2006/main" prst="rect">
            <a:avLst/>
          </a:prstGeom>
        </p:spPr>
      </p:pic>
      <p:sp>
        <p:nvSpPr>
          <p:cNvPr id="25" name="U02-106_caption">
            <a:extLst xmlns:a="http://schemas.openxmlformats.org/drawingml/2006/main">
              <a:ext uri="{FF2B5EF4-FFF2-40B4-BE49-F238E27FC236}">
                <a16:creationId xmlns:a16="http://schemas.microsoft.com/office/drawing/2014/main" id="{F8AF3BFD-0340-470D-81F7-8DB97EA64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Separar datos mecánicos, energéticos y térmicos reduce la carga.</a:t>
            </a:r>
          </a:p>
        </p:txBody>
      </p:sp>
      <p:sp>
        <p:nvSpPr>
          <p:cNvPr id="26" name="U02-106_source">
            <a:extLst xmlns:a="http://schemas.openxmlformats.org/drawingml/2006/main">
              <a:ext uri="{FF2B5EF4-FFF2-40B4-BE49-F238E27FC236}">
                <a16:creationId xmlns:a16="http://schemas.microsoft.com/office/drawing/2014/main" id="{FFB14F5C-F9E3-4633-9639-BA82CDC41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10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Marcador de número de diapositiva 19">
            <a:extLst xmlns:a="http://schemas.openxmlformats.org/drawingml/2006/main">
              <a:ext uri="{FF2B5EF4-FFF2-40B4-BE49-F238E27FC236}">
                <a16:creationId xmlns:a16="http://schemas.microsoft.com/office/drawing/2014/main" id="{2BD418A6-9462-5656-3C46-A62864F5F6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CB276795-F8C7-75BD-2B4C-6612E6AF21C8}" type="slidenum">
              <a:t>107</a:t>
            </a:fld>
          </a:p>
        </p:txBody>
      </p:sp>
      <p:sp>
        <p:nvSpPr>
          <p:cNvPr id="21" name="U02-107_eyebrow">
            <a:extLst xmlns:a="http://schemas.openxmlformats.org/drawingml/2006/main">
              <a:ext uri="{FF2B5EF4-FFF2-40B4-BE49-F238E27FC236}">
                <a16:creationId xmlns:a16="http://schemas.microsoft.com/office/drawing/2014/main" id="{C06C9E69-7F58-4437-9E88-5DDEB9F76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MATERIAL DE RESPALDO</a:t>
            </a:r>
          </a:p>
        </p:txBody>
      </p:sp>
      <p:sp>
        <p:nvSpPr>
          <p:cNvPr id="22" name="U02-107_title">
            <a:extLst xmlns:a="http://schemas.openxmlformats.org/drawingml/2006/main">
              <a:ext uri="{FF2B5EF4-FFF2-40B4-BE49-F238E27FC236}">
                <a16:creationId xmlns:a16="http://schemas.microsoft.com/office/drawing/2014/main" id="{7145C8E4-6902-4860-A945-A1492CF9B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Caso integrador: fuerza y aceleración</a:t>
            </a:r>
          </a:p>
        </p:txBody>
      </p:sp>
      <p:sp>
        <p:nvSpPr>
          <p:cNvPr id="23" name="U02-107_takeaway">
            <a:extLst xmlns:a="http://schemas.openxmlformats.org/drawingml/2006/main">
              <a:ext uri="{FF2B5EF4-FFF2-40B4-BE49-F238E27FC236}">
                <a16:creationId xmlns:a16="http://schemas.microsoft.com/office/drawing/2014/main" id="{1A03D436-D020-4E6D-A017-1802B3E51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10668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1. Obtener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F_ext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desde presión y área.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2. Calcular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F_el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y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F_amort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3. Sumar con signos.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4. Obtener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5. Identificar retorno y disipación.</a:t>
            </a:r>
          </a:p>
        </p:txBody>
      </p:sp>
      <p:pic>
        <p:nvPicPr>
          <p:cNvPr id="32" name="U02-107: Esquema mixto de la slide «Caso integrador: fuerza y aceleración»: F_ext, F_el, F_amort, F_neta y a; interpretación." descr="U02-107: Esquema mixto de la slide «Caso integrador: fuerza y aceleración»: F_ext, F_el, F_amort, F_neta y a; interpretación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3e8b93818c4985">
            <a:extLst>
              <a:ext uri="{96DAC541-7B7A-43D3-8B79-37D633B846F1}">
                <asvg:svgBlip xmlns:asvg="http://schemas.microsoft.com/office/drawing/2016/SVG/main" r:embed="R8f55b2de7e534b7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771775"/>
            <a:ext cx="10668000" cy="2943225"/>
          </a:xfrm>
          <a:prstGeom xmlns:a="http://schemas.openxmlformats.org/drawingml/2006/main" prst="rect">
            <a:avLst/>
          </a:prstGeom>
        </p:spPr>
      </p:pic>
      <p:sp>
        <p:nvSpPr>
          <p:cNvPr id="25" name="U02-107_caption">
            <a:extLst xmlns:a="http://schemas.openxmlformats.org/drawingml/2006/main">
              <a:ext uri="{FF2B5EF4-FFF2-40B4-BE49-F238E27FC236}">
                <a16:creationId xmlns:a16="http://schemas.microsoft.com/office/drawing/2014/main" id="{589709F9-DB86-4F07-88EC-DB01B86FA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Presión, elasticidad y amortiguamiento se suman con signos.</a:t>
            </a:r>
          </a:p>
        </p:txBody>
      </p:sp>
      <p:sp>
        <p:nvSpPr>
          <p:cNvPr id="26" name="U02-107_source">
            <a:extLst xmlns:a="http://schemas.openxmlformats.org/drawingml/2006/main">
              <a:ext uri="{FF2B5EF4-FFF2-40B4-BE49-F238E27FC236}">
                <a16:creationId xmlns:a16="http://schemas.microsoft.com/office/drawing/2014/main" id="{D7D6D5FC-0B5D-4983-8738-BFB1D91C4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10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Marcador de número de diapositiva 19">
            <a:extLst xmlns:a="http://schemas.openxmlformats.org/drawingml/2006/main">
              <a:ext uri="{FF2B5EF4-FFF2-40B4-BE49-F238E27FC236}">
                <a16:creationId xmlns:a16="http://schemas.microsoft.com/office/drawing/2014/main" id="{2BD418A6-9462-5656-3C46-A62864F5F6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E697BE3F-1616-E168-0D1D-60B043688D30}" type="slidenum">
              <a:t>108</a:t>
            </a:fld>
          </a:p>
        </p:txBody>
      </p:sp>
      <p:sp>
        <p:nvSpPr>
          <p:cNvPr id="21" name="U02-108_eyebrow">
            <a:extLst xmlns:a="http://schemas.openxmlformats.org/drawingml/2006/main">
              <a:ext uri="{FF2B5EF4-FFF2-40B4-BE49-F238E27FC236}">
                <a16:creationId xmlns:a16="http://schemas.microsoft.com/office/drawing/2014/main" id="{F52A3E20-71B9-41FC-B593-EE51A6BAE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MATERIAL DE RESPALDO</a:t>
            </a:r>
          </a:p>
        </p:txBody>
      </p:sp>
      <p:sp>
        <p:nvSpPr>
          <p:cNvPr id="22" name="U02-108_title">
            <a:extLst xmlns:a="http://schemas.openxmlformats.org/drawingml/2006/main">
              <a:ext uri="{FF2B5EF4-FFF2-40B4-BE49-F238E27FC236}">
                <a16:creationId xmlns:a16="http://schemas.microsoft.com/office/drawing/2014/main" id="{61AD6562-B8ED-4F2F-8E59-19ECC3BDE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Caso integrador: energía, temperatura y límites</a:t>
            </a:r>
          </a:p>
        </p:txBody>
      </p:sp>
      <p:sp>
        <p:nvSpPr>
          <p:cNvPr id="23" name="U02-108_takeaway">
            <a:extLst xmlns:a="http://schemas.openxmlformats.org/drawingml/2006/main">
              <a:ext uri="{FF2B5EF4-FFF2-40B4-BE49-F238E27FC236}">
                <a16:creationId xmlns:a16="http://schemas.microsoft.com/office/drawing/2014/main" id="{486C3FDA-E5F2-480E-AAF8-2123FBF00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1. Cerrar el balance energético.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2. Estimar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desde la temperatura.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3. Verificar conservación.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4. Declarar límites físicos y clínicos.</a:t>
            </a:r>
          </a:p>
        </p:txBody>
      </p:sp>
      <p:pic>
        <p:nvPicPr>
          <p:cNvPr id="32" name="U02-108: Esquema mixto de la slide «Caso integrador: energía, temperatura y límites»: E_disipada, c, conservación y dos límites del modelo." descr="U02-108: Esquema mixto de la slide «Caso integrador: energía, temperatura y límites»: E_disipada, c, conservación y dos límites del modelo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74b62b23b14df9">
            <a:extLst>
              <a:ext uri="{96DAC541-7B7A-43D3-8B79-37D633B846F1}">
                <asvg:svgBlip xmlns:asvg="http://schemas.microsoft.com/office/drawing/2016/SVG/main" r:embed="R14589239134c4fb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533650"/>
            <a:ext cx="10668000" cy="3181350"/>
          </a:xfrm>
          <a:prstGeom xmlns:a="http://schemas.openxmlformats.org/drawingml/2006/main" prst="rect">
            <a:avLst/>
          </a:prstGeom>
        </p:spPr>
      </p:pic>
      <p:sp>
        <p:nvSpPr>
          <p:cNvPr id="25" name="U02-108_caption">
            <a:extLst xmlns:a="http://schemas.openxmlformats.org/drawingml/2006/main">
              <a:ext uri="{FF2B5EF4-FFF2-40B4-BE49-F238E27FC236}">
                <a16:creationId xmlns:a16="http://schemas.microsoft.com/office/drawing/2014/main" id="{C3D0D7AD-2F27-4091-992A-DDCE500B1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El balance cierra, c se estima y ningún resultado produce una conclusión clínica.</a:t>
            </a:r>
          </a:p>
        </p:txBody>
      </p:sp>
      <p:sp>
        <p:nvSpPr>
          <p:cNvPr id="26" name="U02-108_source">
            <a:extLst xmlns:a="http://schemas.openxmlformats.org/drawingml/2006/main">
              <a:ext uri="{FF2B5EF4-FFF2-40B4-BE49-F238E27FC236}">
                <a16:creationId xmlns:a16="http://schemas.microsoft.com/office/drawing/2014/main" id="{691D339A-7B3F-468A-B65E-E875DA0D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10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Marcador de número de diapositiva 16">
            <a:extLst xmlns:a="http://schemas.openxmlformats.org/drawingml/2006/main">
              <a:ext uri="{FF2B5EF4-FFF2-40B4-BE49-F238E27FC236}">
                <a16:creationId xmlns:a16="http://schemas.microsoft.com/office/drawing/2014/main" id="{E2D13425-3C5C-B26C-019E-A4D5E1FF74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5F31BF41-EB55-155B-71E9-0FC2EE065353}" type="slidenum">
              <a:t>109</a:t>
            </a:fld>
          </a:p>
        </p:txBody>
      </p:sp>
      <p:sp>
        <p:nvSpPr>
          <p:cNvPr id="18" name="U02-109_eyebrow">
            <a:extLst xmlns:a="http://schemas.openxmlformats.org/drawingml/2006/main">
              <a:ext uri="{FF2B5EF4-FFF2-40B4-BE49-F238E27FC236}">
                <a16:creationId xmlns:a16="http://schemas.microsoft.com/office/drawing/2014/main" id="{BA59A07C-4484-4808-9266-FED46EDFC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MATERIAL DE RESPALDO</a:t>
            </a:r>
          </a:p>
        </p:txBody>
      </p:sp>
      <p:sp>
        <p:nvSpPr>
          <p:cNvPr id="19" name="U02-109_title">
            <a:extLst xmlns:a="http://schemas.openxmlformats.org/drawingml/2006/main">
              <a:ext uri="{FF2B5EF4-FFF2-40B4-BE49-F238E27FC236}">
                <a16:creationId xmlns:a16="http://schemas.microsoft.com/office/drawing/2014/main" id="{D383D32A-8830-4934-B57E-9A86E5BCA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Fuentes técnicas de termodinámica y propagación</a:t>
            </a:r>
          </a:p>
        </p:txBody>
      </p:sp>
      <p:sp>
        <p:nvSpPr>
          <p:cNvPr id="20" name="U02-109_bibliography">
            <a:extLst xmlns:a="http://schemas.openxmlformats.org/drawingml/2006/main">
              <a:ext uri="{FF2B5EF4-FFF2-40B4-BE49-F238E27FC236}">
                <a16:creationId xmlns:a16="http://schemas.microsoft.com/office/drawing/2014/main" id="{4935D6A2-AF41-41A6-A511-10BA6BAC3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38300"/>
            <a:ext cx="102870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8"/>
              </a:spcAft>
              <a:buNone/>
              <a:defRPr sz="18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Cramer, O. (1993). The Variation of the Specific Heat Ratio and the Speed of Sound in Air with Temperature, Pressure, Humidity, and CO₂ Concentration. The Journal of the Acoustical Society of America, 93(5), 2510–2516. doi:10.1121/1.405827</a:t>
            </a:r>
          </a:p>
          <a:p xmlns:a="http://schemas.openxmlformats.org/drawingml/2006/main">
            <a:pPr algn="l">
              <a:lnSpc>
                <a:spcPct val="115000"/>
              </a:lnSpc>
              <a:spcAft>
                <a:spcPts val="8"/>
              </a:spcAft>
              <a:buNone/>
              <a:defRPr sz="20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/>
            </a:r>
          </a:p>
          <a:p xmlns:a="http://schemas.openxmlformats.org/drawingml/2006/main">
            <a:pPr algn="l">
              <a:lnSpc>
                <a:spcPct val="115000"/>
              </a:lnSpc>
              <a:spcAft>
                <a:spcPts val="8"/>
              </a:spcAft>
              <a:buNone/>
              <a:defRPr sz="18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Xiang, N. y Blauert, J. (2021). Acoustics for Engineers: Troy Lectures (3.ª ed.). Springer. doi:10.1007/978-3-662-63342-7</a:t>
            </a:r>
          </a:p>
          <a:p xmlns:a="http://schemas.openxmlformats.org/drawingml/2006/main">
            <a:pPr algn="l">
              <a:lnSpc>
                <a:spcPct val="115000"/>
              </a:lnSpc>
              <a:spcAft>
                <a:spcPts val="8"/>
              </a:spcAft>
              <a:buNone/>
              <a:defRPr sz="20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/>
            </a:r>
          </a:p>
          <a:p xmlns:a="http://schemas.openxmlformats.org/drawingml/2006/main">
            <a:pPr algn="l">
              <a:lnSpc>
                <a:spcPct val="115000"/>
              </a:lnSpc>
              <a:spcAft>
                <a:spcPts val="8"/>
              </a:spcAft>
              <a:buNone/>
              <a:defRPr sz="18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Fuentes primarias del curso: programa oficial y capítulo 2 del libro.</a:t>
            </a:r>
          </a:p>
        </p:txBody>
      </p:sp>
      <p:sp>
        <p:nvSpPr>
          <p:cNvPr id="21" name="U02-109_bibliography_source">
            <a:extLst xmlns:a="http://schemas.openxmlformats.org/drawingml/2006/main">
              <a:ext uri="{FF2B5EF4-FFF2-40B4-BE49-F238E27FC236}">
                <a16:creationId xmlns:a16="http://schemas.microsoft.com/office/drawing/2014/main" id="{2897BA6F-D4BB-4B65-A631-26B646C89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7205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3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Referencias verificadas contra la bibliografía del capítulo 2.</a:t>
            </a:r>
          </a:p>
        </p:txBody>
      </p:sp>
    </p:spTree>
    <p:extLst>
      <p:ext uri="{BB962C8B-B14F-4D97-AF65-F5344CB8AC3E}">
        <p14:creationId xmlns:p14="http://schemas.microsoft.com/office/powerpoint/2010/main" val="235601764"/>
      </p:ext>
    </p:extLst>
  </p:cSld>
</p:sld>
</file>

<file path=ppt/slides/slide1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Marcador de número de diapositiva 19">
            <a:extLst xmlns:a="http://schemas.openxmlformats.org/drawingml/2006/main">
              <a:ext uri="{FF2B5EF4-FFF2-40B4-BE49-F238E27FC236}">
                <a16:creationId xmlns:a16="http://schemas.microsoft.com/office/drawing/2014/main" id="{2BD418A6-9462-5656-3C46-A62864F5F6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5124488B-3E0C-EB6C-F49A-C8FB457B995B}" type="slidenum">
              <a:t>110</a:t>
            </a:fld>
          </a:p>
        </p:txBody>
      </p:sp>
      <p:sp>
        <p:nvSpPr>
          <p:cNvPr id="21" name="U02-110_eyebrow">
            <a:extLst xmlns:a="http://schemas.openxmlformats.org/drawingml/2006/main">
              <a:ext uri="{FF2B5EF4-FFF2-40B4-BE49-F238E27FC236}">
                <a16:creationId xmlns:a16="http://schemas.microsoft.com/office/drawing/2014/main" id="{C392203C-51A5-48E3-A685-34A6F791D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MATERIAL DE RESPALDO</a:t>
            </a:r>
          </a:p>
        </p:txBody>
      </p:sp>
      <p:sp>
        <p:nvSpPr>
          <p:cNvPr id="22" name="U02-110_title">
            <a:extLst xmlns:a="http://schemas.openxmlformats.org/drawingml/2006/main">
              <a:ext uri="{FF2B5EF4-FFF2-40B4-BE49-F238E27FC236}">
                <a16:creationId xmlns:a16="http://schemas.microsoft.com/office/drawing/2014/main" id="{0A60227A-F337-4EB5-93DE-32BBDE391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Apéndice de símbolos y glosario</a:t>
            </a:r>
          </a:p>
        </p:txBody>
      </p:sp>
      <p:graphicFrame>
        <p:nvGraphicFramePr>
          <p:cNvPr id="29" name=""/>
          <p:cNvGraphicFramePr/>
          <p:nvPr/>
        </p:nvGraphicFramePr>
        <p:xfrm>
          <a:off xmlns:a="http://schemas.openxmlformats.org/drawingml/2006/main" x="952500" y="1638300"/>
          <a:ext xmlns:a="http://schemas.openxmlformats.org/drawingml/2006/main" cx="10287000" cy="3429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429000"/>
                <a:gridCol w="3429000"/>
                <a:gridCol w="3429000"/>
              </a:tblGrid>
              <a:tr h="489857">
                <a:tc>
                  <a:txBody>
                    <a:bodyPr anchor="ctr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Símbolo</a:t>
                      </a:r>
                    </a:p>
                  </a:txBody>
                  <a:tcPr marL="91440" marR="91440" marT="45720" marB="45720">
                    <a:solidFill>
                      <a:srgbClr val="4D1434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Significado</a:t>
                      </a:r>
                    </a:p>
                  </a:txBody>
                  <a:tcPr marL="91440" marR="91440" marT="45720" marB="45720">
                    <a:solidFill>
                      <a:srgbClr val="4D1434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Unidad</a:t>
                      </a:r>
                    </a:p>
                  </a:txBody>
                  <a:tcPr marL="91440" marR="91440" marT="45720" marB="45720">
                    <a:solidFill>
                      <a:srgbClr val="4D1434"/>
                    </a:solidFill>
                  </a:tcPr>
                </a:tc>
              </a:tr>
              <a:tr h="489857">
                <a:tc>
                  <a:txBody>
                    <a:bodyPr anchor="ctr"/>
                    <a:lstStyle/>
                    <a:p>
                      <a:r>
                        <a:rPr sz="17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F_neta</a:t>
                      </a:r>
                    </a:p>
                  </a:txBody>
                  <a:tcPr marL="91440" marR="91440" marT="45720" marB="45720"/>
                </a:tc>
                <a:tc>
                  <a:txBody>
                    <a:bodyPr anchor="ctr"/>
                    <a:lstStyle/>
                    <a:p>
                      <a:r>
                        <a:rPr sz="17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Fuerza resultante</a:t>
                      </a:r>
                    </a:p>
                  </a:txBody>
                  <a:tcPr marL="91440" marR="91440" marT="45720" marB="45720"/>
                </a:tc>
                <a:tc>
                  <a:txBody>
                    <a:bodyPr anchor="ctr"/>
                    <a:lstStyle/>
                    <a:p>
                      <a:r>
                        <a:rPr sz="17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N</a:t>
                      </a:r>
                    </a:p>
                  </a:txBody>
                  <a:tcPr marL="91440" marR="91440" marT="45720" marB="45720"/>
                </a:tc>
              </a:tr>
              <a:tr h="489857">
                <a:tc>
                  <a:txBody>
                    <a:bodyPr anchor="ctr"/>
                    <a:lstStyle/>
                    <a:p>
                      <a:r>
                        <a:rPr sz="17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k_s</a:t>
                      </a:r>
                    </a:p>
                  </a:txBody>
                  <a:tcPr marL="91440" marR="91440" marT="45720" marB="45720"/>
                </a:tc>
                <a:tc>
                  <a:txBody>
                    <a:bodyPr anchor="ctr"/>
                    <a:lstStyle/>
                    <a:p>
                      <a:r>
                        <a:rPr sz="17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Rigidez</a:t>
                      </a:r>
                    </a:p>
                  </a:txBody>
                  <a:tcPr marL="91440" marR="91440" marT="45720" marB="45720"/>
                </a:tc>
                <a:tc>
                  <a:txBody>
                    <a:bodyPr anchor="ctr"/>
                    <a:lstStyle/>
                    <a:p>
                      <a:r>
                        <a:rPr sz="17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N/m</a:t>
                      </a:r>
                    </a:p>
                  </a:txBody>
                  <a:tcPr marL="91440" marR="91440" marT="45720" marB="45720"/>
                </a:tc>
              </a:tr>
              <a:tr h="489857">
                <a:tc>
                  <a:txBody>
                    <a:bodyPr anchor="ctr"/>
                    <a:lstStyle/>
                    <a:p>
                      <a:r>
                        <a:rPr sz="17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b</a:t>
                      </a:r>
                    </a:p>
                  </a:txBody>
                  <a:tcPr marL="91440" marR="91440" marT="45720" marB="45720"/>
                </a:tc>
                <a:tc>
                  <a:txBody>
                    <a:bodyPr anchor="ctr"/>
                    <a:lstStyle/>
                    <a:p>
                      <a:r>
                        <a:rPr sz="17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Amortiguamiento</a:t>
                      </a:r>
                    </a:p>
                  </a:txBody>
                  <a:tcPr marL="91440" marR="91440" marT="45720" marB="45720"/>
                </a:tc>
                <a:tc>
                  <a:txBody>
                    <a:bodyPr anchor="ctr"/>
                    <a:lstStyle/>
                    <a:p>
                      <a:r>
                        <a:rPr sz="17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N·s/m</a:t>
                      </a:r>
                    </a:p>
                  </a:txBody>
                  <a:tcPr marL="91440" marR="91440" marT="45720" marB="45720"/>
                </a:tc>
              </a:tr>
              <a:tr h="489857">
                <a:tc>
                  <a:txBody>
                    <a:bodyPr anchor="ctr"/>
                    <a:lstStyle/>
                    <a:p>
                      <a:r>
                        <a:rPr sz="17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U</a:t>
                      </a:r>
                    </a:p>
                  </a:txBody>
                  <a:tcPr marL="91440" marR="91440" marT="45720" marB="45720"/>
                </a:tc>
                <a:tc>
                  <a:txBody>
                    <a:bodyPr anchor="ctr"/>
                    <a:lstStyle/>
                    <a:p>
                      <a:r>
                        <a:rPr sz="17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Energía interna</a:t>
                      </a:r>
                    </a:p>
                  </a:txBody>
                  <a:tcPr marL="91440" marR="91440" marT="45720" marB="45720"/>
                </a:tc>
                <a:tc>
                  <a:txBody>
                    <a:bodyPr anchor="ctr"/>
                    <a:lstStyle/>
                    <a:p>
                      <a:r>
                        <a:rPr sz="17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J</a:t>
                      </a:r>
                    </a:p>
                  </a:txBody>
                  <a:tcPr marL="91440" marR="91440" marT="45720" marB="45720"/>
                </a:tc>
              </a:tr>
              <a:tr h="489857">
                <a:tc>
                  <a:txBody>
                    <a:bodyPr anchor="ctr"/>
                    <a:lstStyle/>
                    <a:p>
                      <a:r>
                        <a:rPr sz="17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Q_calor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 anchor="ctr"/>
                    <a:lstStyle/>
                    <a:p>
                      <a:r>
                        <a:rPr sz="17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Calor transferido</a:t>
                      </a:r>
                    </a:p>
                  </a:txBody>
                  <a:tcPr marL="91440" marR="91440" marT="45720" marB="45720"/>
                </a:tc>
                <a:tc>
                  <a:txBody>
                    <a:bodyPr anchor="ctr"/>
                    <a:lstStyle/>
                    <a:p>
                      <a:r>
                        <a:rPr sz="17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J</a:t>
                      </a:r>
                    </a:p>
                  </a:txBody>
                  <a:tcPr marL="91440" marR="91440" marT="45720" marB="45720"/>
                </a:tc>
              </a:tr>
              <a:tr h="489857">
                <a:tc>
                  <a:txBody>
                    <a:bodyPr anchor="ctr"/>
                    <a:lstStyle/>
                    <a:p>
                      <a:r>
                        <a:rPr sz="17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S_ent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 anchor="ctr"/>
                    <a:lstStyle/>
                    <a:p>
                      <a:r>
                        <a:rPr sz="17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Entropía</a:t>
                      </a:r>
                    </a:p>
                  </a:txBody>
                  <a:tcPr marL="91440" marR="91440" marT="45720" marB="45720"/>
                </a:tc>
                <a:tc>
                  <a:txBody>
                    <a:bodyPr anchor="ctr"/>
                    <a:lstStyle/>
                    <a:p>
                      <a:r>
                        <a:rPr sz="17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J/K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24" name="U02-110_reading">
            <a:extLst xmlns:a="http://schemas.openxmlformats.org/drawingml/2006/main">
              <a:ext uri="{FF2B5EF4-FFF2-40B4-BE49-F238E27FC236}">
                <a16:creationId xmlns:a16="http://schemas.microsoft.com/office/drawing/2014/main" id="{BE79F73A-BC9E-4310-97BC-34CE83FC2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05425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8"/>
              </a:spcAft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F_neta</a:t>
            </a:r>
            <a:r>
              <a:rPr sz="165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: fuerza resultante (N); </a:t>
            </a:r>
            <a:r>
              <a:rPr sz="165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k_s</a:t>
            </a:r>
            <a:r>
              <a:rPr sz="165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: rigidez (N/m); </a:t>
            </a:r>
            <a:r>
              <a:rPr sz="165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b</a:t>
            </a:r>
            <a:r>
              <a:rPr sz="165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: amortiguamiento (N·s/m); </a:t>
            </a:r>
            <a:r>
              <a:rPr sz="165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U</a:t>
            </a:r>
            <a:r>
              <a:rPr sz="165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: energía interna (J); </a:t>
            </a:r>
            <a:r>
              <a:rPr sz="165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Q_calor</a:t>
            </a:r>
            <a:r>
              <a:rPr sz="165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: calor transferido (J); </a:t>
            </a:r>
            <a:r>
              <a:rPr sz="165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S_ent</a:t>
            </a:r>
            <a:r>
              <a:rPr sz="165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: entropía (J/K).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theme/theme1.xml><?xml version="1.0" encoding="utf-8"?>
<a:theme xmlns:a="http://schemas.openxmlformats.org/drawingml/2006/main" name="FA_MASTER_CLARO">
  <a:themeElements>
    <a:clrScheme name="Física Acústica UCASAL">
      <a:dk1>
        <a:srgbClr val="000000"/>
      </a:dk1>
      <a:lt1>
        <a:srgbClr val="FFFFFF"/>
      </a:lt1>
      <a:dk2>
        <a:srgbClr val="3D3D3D"/>
      </a:dk2>
      <a:lt2>
        <a:srgbClr val="F7F6F2"/>
      </a:lt2>
      <a:accent1>
        <a:srgbClr val="4D1434"/>
      </a:accent1>
      <a:accent2>
        <a:srgbClr val="903163"/>
      </a:accent2>
      <a:accent3>
        <a:srgbClr val="2F7E83"/>
      </a:accent3>
      <a:accent4>
        <a:srgbClr val="9F541A"/>
      </a:accent4>
      <a:accent5>
        <a:srgbClr val="023E7C"/>
      </a:accent5>
      <a:accent6>
        <a:srgbClr val="969FA7"/>
      </a:accent6>
      <a:hlink>
        <a:srgbClr val="023E7C"/>
      </a:hlink>
      <a:folHlink>
        <a:srgbClr val="903163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Física Acústica UCAS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2026-07-29T23:46:18.4950000Z</dcterms:created>
  <dcterms:modified xsi:type="dcterms:W3CDTF">2026-07-29T23:46:18.4950000Z</dcterms:modified>
</coreProperties>
</file>