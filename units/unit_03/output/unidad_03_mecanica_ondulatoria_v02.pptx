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3" r:id="rId2"/>
  </p:sldMasterIdLst>
  <p:notesMasterIdLst>
    <p:notesMasterId r:id="rId9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48" r:id="rId95"/>
    <p:sldId id="349" r:id="rId96"/>
    <p:sldId id="350" r:id="rId97"/>
    <p:sldId id="351" r:id="rId9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theme" Target="theme/theme1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103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notesMaster" Target="notesMasters/notesMaster1.xml"/><Relationship Id="rId10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microsoft.com/office/2016/11/relationships/changesInfo" Target="changesInfos/changesInfo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ximiliano Ortiz" userId="90727fd8e92db46b" providerId="LiveId" clId="{9BC7EBD1-E6C7-40E2-9BE0-E69EBE0B6810}"/>
    <pc:docChg chg="custSel modSld">
      <pc:chgData name="Maximiliano Ortiz" userId="90727fd8e92db46b" providerId="LiveId" clId="{9BC7EBD1-E6C7-40E2-9BE0-E69EBE0B6810}" dt="2026-07-31T01:56:25.378" v="885" actId="20577"/>
      <pc:docMkLst>
        <pc:docMk/>
      </pc:docMkLst>
      <pc:sldChg chg="addSp delSp modSp mod">
        <pc:chgData name="Maximiliano Ortiz" userId="90727fd8e92db46b" providerId="LiveId" clId="{9BC7EBD1-E6C7-40E2-9BE0-E69EBE0B6810}" dt="2026-07-31T01:55:57.777" v="10"/>
        <pc:sldMkLst>
          <pc:docMk/>
          <pc:sldMk cId="1995449240" sldId="257"/>
        </pc:sldMkLst>
        <pc:picChg chg="add mod ord">
          <ac:chgData name="Maximiliano Ortiz" userId="90727fd8e92db46b" providerId="LiveId" clId="{9BC7EBD1-E6C7-40E2-9BE0-E69EBE0B6810}" dt="2026-07-31T01:55:57.777" v="10"/>
          <ac:picMkLst>
            <pc:docMk/>
            <pc:sldMk cId="1995449240" sldId="257"/>
            <ac:picMk id="3" creationId="{9E2EA902-FA7D-1908-3CBE-B2412988CAA0}"/>
          </ac:picMkLst>
        </pc:picChg>
        <pc:picChg chg="del">
          <ac:chgData name="Maximiliano Ortiz" userId="90727fd8e92db46b" providerId="LiveId" clId="{9BC7EBD1-E6C7-40E2-9BE0-E69EBE0B6810}" dt="2026-07-31T01:55:57.692" v="1"/>
          <ac:picMkLst>
            <pc:docMk/>
            <pc:sldMk cId="1995449240" sldId="257"/>
            <ac:picMk id="33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01:56:25.331" v="880" actId="20577"/>
        <pc:sldMkLst>
          <pc:docMk/>
          <pc:sldMk cId="1673297158" sldId="258"/>
        </pc:sldMkLst>
        <pc:spChg chg="mod">
          <ac:chgData name="Maximiliano Ortiz" userId="90727fd8e92db46b" providerId="LiveId" clId="{9BC7EBD1-E6C7-40E2-9BE0-E69EBE0B6810}" dt="2026-07-31T01:56:25.331" v="880" actId="20577"/>
          <ac:spMkLst>
            <pc:docMk/>
            <pc:sldMk cId="1673297158" sldId="258"/>
            <ac:spMk id="17" creationId="{15B1D9DD-F412-479E-9903-FF8661045C67}"/>
          </ac:spMkLst>
        </pc:spChg>
      </pc:sldChg>
      <pc:sldChg chg="addSp delSp modSp mod">
        <pc:chgData name="Maximiliano Ortiz" userId="90727fd8e92db46b" providerId="LiveId" clId="{9BC7EBD1-E6C7-40E2-9BE0-E69EBE0B6810}" dt="2026-07-31T01:55:57.825" v="21"/>
        <pc:sldMkLst>
          <pc:docMk/>
          <pc:sldMk cId="318321949" sldId="259"/>
        </pc:sldMkLst>
        <pc:picChg chg="add mod ord">
          <ac:chgData name="Maximiliano Ortiz" userId="90727fd8e92db46b" providerId="LiveId" clId="{9BC7EBD1-E6C7-40E2-9BE0-E69EBE0B6810}" dt="2026-07-31T01:55:57.825" v="21"/>
          <ac:picMkLst>
            <pc:docMk/>
            <pc:sldMk cId="318321949" sldId="259"/>
            <ac:picMk id="3" creationId="{8FA0C703-4E27-0B5D-497D-230D0DA04CB0}"/>
          </ac:picMkLst>
        </pc:picChg>
        <pc:picChg chg="del">
          <ac:chgData name="Maximiliano Ortiz" userId="90727fd8e92db46b" providerId="LiveId" clId="{9BC7EBD1-E6C7-40E2-9BE0-E69EBE0B6810}" dt="2026-07-31T01:55:57.791" v="12"/>
          <ac:picMkLst>
            <pc:docMk/>
            <pc:sldMk cId="318321949" sldId="259"/>
            <ac:picMk id="26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5:57.898" v="32"/>
        <pc:sldMkLst>
          <pc:docMk/>
          <pc:sldMk cId="1271479030" sldId="261"/>
        </pc:sldMkLst>
        <pc:picChg chg="add mod ord">
          <ac:chgData name="Maximiliano Ortiz" userId="90727fd8e92db46b" providerId="LiveId" clId="{9BC7EBD1-E6C7-40E2-9BE0-E69EBE0B6810}" dt="2026-07-31T01:55:57.898" v="32"/>
          <ac:picMkLst>
            <pc:docMk/>
            <pc:sldMk cId="1271479030" sldId="261"/>
            <ac:picMk id="3" creationId="{AF193DA2-F46B-3B3D-C1CE-F1E2F681BE9E}"/>
          </ac:picMkLst>
        </pc:picChg>
        <pc:picChg chg="del">
          <ac:chgData name="Maximiliano Ortiz" userId="90727fd8e92db46b" providerId="LiveId" clId="{9BC7EBD1-E6C7-40E2-9BE0-E69EBE0B6810}" dt="2026-07-31T01:55:57.841" v="23"/>
          <ac:picMkLst>
            <pc:docMk/>
            <pc:sldMk cId="1271479030" sldId="261"/>
            <ac:picMk id="33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5:57.939" v="43"/>
        <pc:sldMkLst>
          <pc:docMk/>
          <pc:sldMk cId="986630461" sldId="263"/>
        </pc:sldMkLst>
        <pc:picChg chg="add mod ord">
          <ac:chgData name="Maximiliano Ortiz" userId="90727fd8e92db46b" providerId="LiveId" clId="{9BC7EBD1-E6C7-40E2-9BE0-E69EBE0B6810}" dt="2026-07-31T01:55:57.939" v="43"/>
          <ac:picMkLst>
            <pc:docMk/>
            <pc:sldMk cId="986630461" sldId="263"/>
            <ac:picMk id="3" creationId="{64698802-02BF-223D-9E5E-E5AEB7BF4FC6}"/>
          </ac:picMkLst>
        </pc:picChg>
        <pc:picChg chg="del">
          <ac:chgData name="Maximiliano Ortiz" userId="90727fd8e92db46b" providerId="LiveId" clId="{9BC7EBD1-E6C7-40E2-9BE0-E69EBE0B6810}" dt="2026-07-31T01:55:57.912" v="34"/>
          <ac:picMkLst>
            <pc:docMk/>
            <pc:sldMk cId="986630461" sldId="263"/>
            <ac:picMk id="20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5:58.016" v="54"/>
        <pc:sldMkLst>
          <pc:docMk/>
          <pc:sldMk cId="567438305" sldId="264"/>
        </pc:sldMkLst>
        <pc:picChg chg="add mod ord">
          <ac:chgData name="Maximiliano Ortiz" userId="90727fd8e92db46b" providerId="LiveId" clId="{9BC7EBD1-E6C7-40E2-9BE0-E69EBE0B6810}" dt="2026-07-31T01:55:58.016" v="54"/>
          <ac:picMkLst>
            <pc:docMk/>
            <pc:sldMk cId="567438305" sldId="264"/>
            <ac:picMk id="3" creationId="{891B7D52-AA55-5126-ECCE-5A1312267AC5}"/>
          </ac:picMkLst>
        </pc:picChg>
        <pc:picChg chg="del">
          <ac:chgData name="Maximiliano Ortiz" userId="90727fd8e92db46b" providerId="LiveId" clId="{9BC7EBD1-E6C7-40E2-9BE0-E69EBE0B6810}" dt="2026-07-31T01:55:57.967" v="45"/>
          <ac:picMkLst>
            <pc:docMk/>
            <pc:sldMk cId="567438305" sldId="264"/>
            <ac:picMk id="35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5:58.089" v="65"/>
        <pc:sldMkLst>
          <pc:docMk/>
          <pc:sldMk cId="318321949" sldId="265"/>
        </pc:sldMkLst>
        <pc:picChg chg="add mod ord">
          <ac:chgData name="Maximiliano Ortiz" userId="90727fd8e92db46b" providerId="LiveId" clId="{9BC7EBD1-E6C7-40E2-9BE0-E69EBE0B6810}" dt="2026-07-31T01:55:58.089" v="65"/>
          <ac:picMkLst>
            <pc:docMk/>
            <pc:sldMk cId="318321949" sldId="265"/>
            <ac:picMk id="3" creationId="{4F0A281D-CE1E-9CE9-84AC-82D5F14CA317}"/>
          </ac:picMkLst>
        </pc:picChg>
        <pc:picChg chg="del">
          <ac:chgData name="Maximiliano Ortiz" userId="90727fd8e92db46b" providerId="LiveId" clId="{9BC7EBD1-E6C7-40E2-9BE0-E69EBE0B6810}" dt="2026-07-31T01:55:58.041" v="56"/>
          <ac:picMkLst>
            <pc:docMk/>
            <pc:sldMk cId="318321949" sldId="265"/>
            <ac:picMk id="26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5:58.152" v="76"/>
        <pc:sldMkLst>
          <pc:docMk/>
          <pc:sldMk cId="986630461" sldId="266"/>
        </pc:sldMkLst>
        <pc:picChg chg="add mod ord">
          <ac:chgData name="Maximiliano Ortiz" userId="90727fd8e92db46b" providerId="LiveId" clId="{9BC7EBD1-E6C7-40E2-9BE0-E69EBE0B6810}" dt="2026-07-31T01:55:58.152" v="76"/>
          <ac:picMkLst>
            <pc:docMk/>
            <pc:sldMk cId="986630461" sldId="266"/>
            <ac:picMk id="3" creationId="{4EBFCE57-A597-8922-A830-679FA82C6792}"/>
          </ac:picMkLst>
        </pc:picChg>
        <pc:picChg chg="del">
          <ac:chgData name="Maximiliano Ortiz" userId="90727fd8e92db46b" providerId="LiveId" clId="{9BC7EBD1-E6C7-40E2-9BE0-E69EBE0B6810}" dt="2026-07-31T01:55:58.108" v="67"/>
          <ac:picMkLst>
            <pc:docMk/>
            <pc:sldMk cId="986630461" sldId="266"/>
            <ac:picMk id="20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5:58.221" v="87"/>
        <pc:sldMkLst>
          <pc:docMk/>
          <pc:sldMk cId="318321949" sldId="267"/>
        </pc:sldMkLst>
        <pc:picChg chg="add mod ord">
          <ac:chgData name="Maximiliano Ortiz" userId="90727fd8e92db46b" providerId="LiveId" clId="{9BC7EBD1-E6C7-40E2-9BE0-E69EBE0B6810}" dt="2026-07-31T01:55:58.221" v="87"/>
          <ac:picMkLst>
            <pc:docMk/>
            <pc:sldMk cId="318321949" sldId="267"/>
            <ac:picMk id="3" creationId="{BEBD5795-8E7A-D445-2535-16D922971A3D}"/>
          </ac:picMkLst>
        </pc:picChg>
        <pc:picChg chg="del">
          <ac:chgData name="Maximiliano Ortiz" userId="90727fd8e92db46b" providerId="LiveId" clId="{9BC7EBD1-E6C7-40E2-9BE0-E69EBE0B6810}" dt="2026-07-31T01:55:58.175" v="78"/>
          <ac:picMkLst>
            <pc:docMk/>
            <pc:sldMk cId="318321949" sldId="267"/>
            <ac:picMk id="26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01:56:25.362" v="882" actId="20577"/>
        <pc:sldMkLst>
          <pc:docMk/>
          <pc:sldMk cId="1046213385" sldId="268"/>
        </pc:sldMkLst>
        <pc:spChg chg="mod">
          <ac:chgData name="Maximiliano Ortiz" userId="90727fd8e92db46b" providerId="LiveId" clId="{9BC7EBD1-E6C7-40E2-9BE0-E69EBE0B6810}" dt="2026-07-31T01:56:25.356" v="881" actId="20577"/>
          <ac:spMkLst>
            <pc:docMk/>
            <pc:sldMk cId="1046213385" sldId="268"/>
            <ac:spMk id="17" creationId="{8F89B155-71CF-40C5-AB99-36B1FB014E95}"/>
          </ac:spMkLst>
        </pc:spChg>
        <pc:spChg chg="mod">
          <ac:chgData name="Maximiliano Ortiz" userId="90727fd8e92db46b" providerId="LiveId" clId="{9BC7EBD1-E6C7-40E2-9BE0-E69EBE0B6810}" dt="2026-07-31T01:56:25.362" v="882" actId="20577"/>
          <ac:spMkLst>
            <pc:docMk/>
            <pc:sldMk cId="1046213385" sldId="268"/>
            <ac:spMk id="18" creationId="{7D5EECDF-7277-461B-9381-FE348CD2CE95}"/>
          </ac:spMkLst>
        </pc:spChg>
      </pc:sldChg>
      <pc:sldChg chg="addSp delSp modSp mod">
        <pc:chgData name="Maximiliano Ortiz" userId="90727fd8e92db46b" providerId="LiveId" clId="{9BC7EBD1-E6C7-40E2-9BE0-E69EBE0B6810}" dt="2026-07-31T01:55:58.294" v="98"/>
        <pc:sldMkLst>
          <pc:docMk/>
          <pc:sldMk cId="1673297158" sldId="269"/>
        </pc:sldMkLst>
        <pc:picChg chg="add mod ord">
          <ac:chgData name="Maximiliano Ortiz" userId="90727fd8e92db46b" providerId="LiveId" clId="{9BC7EBD1-E6C7-40E2-9BE0-E69EBE0B6810}" dt="2026-07-31T01:55:58.294" v="98"/>
          <ac:picMkLst>
            <pc:docMk/>
            <pc:sldMk cId="1673297158" sldId="269"/>
            <ac:picMk id="3" creationId="{1F92B709-9956-4E33-3A96-59AB2B578E63}"/>
          </ac:picMkLst>
        </pc:picChg>
        <pc:picChg chg="del">
          <ac:chgData name="Maximiliano Ortiz" userId="90727fd8e92db46b" providerId="LiveId" clId="{9BC7EBD1-E6C7-40E2-9BE0-E69EBE0B6810}" dt="2026-07-31T01:55:58.245" v="89"/>
          <ac:picMkLst>
            <pc:docMk/>
            <pc:sldMk cId="1673297158" sldId="269"/>
            <ac:picMk id="21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5:58.350" v="109"/>
        <pc:sldMkLst>
          <pc:docMk/>
          <pc:sldMk cId="817057724" sldId="270"/>
        </pc:sldMkLst>
        <pc:picChg chg="add mod ord">
          <ac:chgData name="Maximiliano Ortiz" userId="90727fd8e92db46b" providerId="LiveId" clId="{9BC7EBD1-E6C7-40E2-9BE0-E69EBE0B6810}" dt="2026-07-31T01:55:58.350" v="109"/>
          <ac:picMkLst>
            <pc:docMk/>
            <pc:sldMk cId="817057724" sldId="270"/>
            <ac:picMk id="3" creationId="{21A19D67-3222-4C09-2119-80D14B8AC497}"/>
          </ac:picMkLst>
        </pc:picChg>
        <pc:picChg chg="del">
          <ac:chgData name="Maximiliano Ortiz" userId="90727fd8e92db46b" providerId="LiveId" clId="{9BC7EBD1-E6C7-40E2-9BE0-E69EBE0B6810}" dt="2026-07-31T01:55:58.314" v="100"/>
          <ac:picMkLst>
            <pc:docMk/>
            <pc:sldMk cId="817057724" sldId="270"/>
            <ac:picMk id="22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5:58.415" v="120"/>
        <pc:sldMkLst>
          <pc:docMk/>
          <pc:sldMk cId="1320203634" sldId="271"/>
        </pc:sldMkLst>
        <pc:picChg chg="add mod ord">
          <ac:chgData name="Maximiliano Ortiz" userId="90727fd8e92db46b" providerId="LiveId" clId="{9BC7EBD1-E6C7-40E2-9BE0-E69EBE0B6810}" dt="2026-07-31T01:55:58.415" v="120"/>
          <ac:picMkLst>
            <pc:docMk/>
            <pc:sldMk cId="1320203634" sldId="271"/>
            <ac:picMk id="3" creationId="{4F4FAD0A-1122-38D4-DB62-E5A56C1323E4}"/>
          </ac:picMkLst>
        </pc:picChg>
        <pc:picChg chg="del">
          <ac:chgData name="Maximiliano Ortiz" userId="90727fd8e92db46b" providerId="LiveId" clId="{9BC7EBD1-E6C7-40E2-9BE0-E69EBE0B6810}" dt="2026-07-31T01:55:58.373" v="111"/>
          <ac:picMkLst>
            <pc:docMk/>
            <pc:sldMk cId="1320203634" sldId="271"/>
            <ac:picMk id="27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5:58.456" v="131"/>
        <pc:sldMkLst>
          <pc:docMk/>
          <pc:sldMk cId="986630461" sldId="273"/>
        </pc:sldMkLst>
        <pc:picChg chg="add mod ord">
          <ac:chgData name="Maximiliano Ortiz" userId="90727fd8e92db46b" providerId="LiveId" clId="{9BC7EBD1-E6C7-40E2-9BE0-E69EBE0B6810}" dt="2026-07-31T01:55:58.456" v="131"/>
          <ac:picMkLst>
            <pc:docMk/>
            <pc:sldMk cId="986630461" sldId="273"/>
            <ac:picMk id="3" creationId="{E9AC3CC6-E77B-5A5B-472D-544F2CA7CBE0}"/>
          </ac:picMkLst>
        </pc:picChg>
        <pc:picChg chg="del">
          <ac:chgData name="Maximiliano Ortiz" userId="90727fd8e92db46b" providerId="LiveId" clId="{9BC7EBD1-E6C7-40E2-9BE0-E69EBE0B6810}" dt="2026-07-31T01:55:58.436" v="122"/>
          <ac:picMkLst>
            <pc:docMk/>
            <pc:sldMk cId="986630461" sldId="273"/>
            <ac:picMk id="20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5:58.503" v="142"/>
        <pc:sldMkLst>
          <pc:docMk/>
          <pc:sldMk cId="1602286470" sldId="274"/>
        </pc:sldMkLst>
        <pc:picChg chg="add mod ord">
          <ac:chgData name="Maximiliano Ortiz" userId="90727fd8e92db46b" providerId="LiveId" clId="{9BC7EBD1-E6C7-40E2-9BE0-E69EBE0B6810}" dt="2026-07-31T01:55:58.503" v="142"/>
          <ac:picMkLst>
            <pc:docMk/>
            <pc:sldMk cId="1602286470" sldId="274"/>
            <ac:picMk id="3" creationId="{913882D7-547B-EB9A-EC28-6FABA2CB9F5F}"/>
          </ac:picMkLst>
        </pc:picChg>
        <pc:picChg chg="del">
          <ac:chgData name="Maximiliano Ortiz" userId="90727fd8e92db46b" providerId="LiveId" clId="{9BC7EBD1-E6C7-40E2-9BE0-E69EBE0B6810}" dt="2026-07-31T01:55:58.481" v="133"/>
          <ac:picMkLst>
            <pc:docMk/>
            <pc:sldMk cId="1602286470" sldId="274"/>
            <ac:picMk id="25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5:58.554" v="153"/>
        <pc:sldMkLst>
          <pc:docMk/>
          <pc:sldMk cId="567438305" sldId="275"/>
        </pc:sldMkLst>
        <pc:picChg chg="add mod ord">
          <ac:chgData name="Maximiliano Ortiz" userId="90727fd8e92db46b" providerId="LiveId" clId="{9BC7EBD1-E6C7-40E2-9BE0-E69EBE0B6810}" dt="2026-07-31T01:55:58.554" v="153"/>
          <ac:picMkLst>
            <pc:docMk/>
            <pc:sldMk cId="567438305" sldId="275"/>
            <ac:picMk id="3" creationId="{4C1C7958-912E-FA24-EBDA-3276023F3301}"/>
          </ac:picMkLst>
        </pc:picChg>
        <pc:picChg chg="del">
          <ac:chgData name="Maximiliano Ortiz" userId="90727fd8e92db46b" providerId="LiveId" clId="{9BC7EBD1-E6C7-40E2-9BE0-E69EBE0B6810}" dt="2026-07-31T01:55:58.523" v="144"/>
          <ac:picMkLst>
            <pc:docMk/>
            <pc:sldMk cId="567438305" sldId="275"/>
            <ac:picMk id="35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5:58.610" v="164"/>
        <pc:sldMkLst>
          <pc:docMk/>
          <pc:sldMk cId="986630461" sldId="276"/>
        </pc:sldMkLst>
        <pc:picChg chg="add mod ord">
          <ac:chgData name="Maximiliano Ortiz" userId="90727fd8e92db46b" providerId="LiveId" clId="{9BC7EBD1-E6C7-40E2-9BE0-E69EBE0B6810}" dt="2026-07-31T01:55:58.610" v="164"/>
          <ac:picMkLst>
            <pc:docMk/>
            <pc:sldMk cId="986630461" sldId="276"/>
            <ac:picMk id="3" creationId="{4F8A8490-A094-7899-75A9-6AB767A020B3}"/>
          </ac:picMkLst>
        </pc:picChg>
        <pc:picChg chg="del">
          <ac:chgData name="Maximiliano Ortiz" userId="90727fd8e92db46b" providerId="LiveId" clId="{9BC7EBD1-E6C7-40E2-9BE0-E69EBE0B6810}" dt="2026-07-31T01:55:58.581" v="155"/>
          <ac:picMkLst>
            <pc:docMk/>
            <pc:sldMk cId="986630461" sldId="276"/>
            <ac:picMk id="20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5:58.689" v="175"/>
        <pc:sldMkLst>
          <pc:docMk/>
          <pc:sldMk cId="986630461" sldId="277"/>
        </pc:sldMkLst>
        <pc:picChg chg="add mod ord">
          <ac:chgData name="Maximiliano Ortiz" userId="90727fd8e92db46b" providerId="LiveId" clId="{9BC7EBD1-E6C7-40E2-9BE0-E69EBE0B6810}" dt="2026-07-31T01:55:58.689" v="175"/>
          <ac:picMkLst>
            <pc:docMk/>
            <pc:sldMk cId="986630461" sldId="277"/>
            <ac:picMk id="3" creationId="{8C81ADC8-7FE2-5ABB-A45A-F5437FC741DC}"/>
          </ac:picMkLst>
        </pc:picChg>
        <pc:picChg chg="del">
          <ac:chgData name="Maximiliano Ortiz" userId="90727fd8e92db46b" providerId="LiveId" clId="{9BC7EBD1-E6C7-40E2-9BE0-E69EBE0B6810}" dt="2026-07-31T01:55:58.633" v="166"/>
          <ac:picMkLst>
            <pc:docMk/>
            <pc:sldMk cId="986630461" sldId="277"/>
            <ac:picMk id="20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5:58.791" v="186"/>
        <pc:sldMkLst>
          <pc:docMk/>
          <pc:sldMk cId="318321949" sldId="278"/>
        </pc:sldMkLst>
        <pc:picChg chg="add mod ord">
          <ac:chgData name="Maximiliano Ortiz" userId="90727fd8e92db46b" providerId="LiveId" clId="{9BC7EBD1-E6C7-40E2-9BE0-E69EBE0B6810}" dt="2026-07-31T01:55:58.791" v="186"/>
          <ac:picMkLst>
            <pc:docMk/>
            <pc:sldMk cId="318321949" sldId="278"/>
            <ac:picMk id="3" creationId="{1BC67699-F04C-7334-F8B1-1A5B5F2B8A85}"/>
          </ac:picMkLst>
        </pc:picChg>
        <pc:picChg chg="del">
          <ac:chgData name="Maximiliano Ortiz" userId="90727fd8e92db46b" providerId="LiveId" clId="{9BC7EBD1-E6C7-40E2-9BE0-E69EBE0B6810}" dt="2026-07-31T01:55:58.720" v="177"/>
          <ac:picMkLst>
            <pc:docMk/>
            <pc:sldMk cId="318321949" sldId="278"/>
            <ac:picMk id="26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5:58.822" v="197"/>
        <pc:sldMkLst>
          <pc:docMk/>
          <pc:sldMk cId="1602286470" sldId="279"/>
        </pc:sldMkLst>
        <pc:picChg chg="add mod ord">
          <ac:chgData name="Maximiliano Ortiz" userId="90727fd8e92db46b" providerId="LiveId" clId="{9BC7EBD1-E6C7-40E2-9BE0-E69EBE0B6810}" dt="2026-07-31T01:55:58.822" v="197"/>
          <ac:picMkLst>
            <pc:docMk/>
            <pc:sldMk cId="1602286470" sldId="279"/>
            <ac:picMk id="3" creationId="{6D13F137-B072-EACD-6A29-CC0DB97734E7}"/>
          </ac:picMkLst>
        </pc:picChg>
        <pc:picChg chg="del">
          <ac:chgData name="Maximiliano Ortiz" userId="90727fd8e92db46b" providerId="LiveId" clId="{9BC7EBD1-E6C7-40E2-9BE0-E69EBE0B6810}" dt="2026-07-31T01:55:58.799" v="188"/>
          <ac:picMkLst>
            <pc:docMk/>
            <pc:sldMk cId="1602286470" sldId="279"/>
            <ac:picMk id="25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5:58.852" v="208"/>
        <pc:sldMkLst>
          <pc:docMk/>
          <pc:sldMk cId="1926975773" sldId="281"/>
        </pc:sldMkLst>
        <pc:picChg chg="add mod ord">
          <ac:chgData name="Maximiliano Ortiz" userId="90727fd8e92db46b" providerId="LiveId" clId="{9BC7EBD1-E6C7-40E2-9BE0-E69EBE0B6810}" dt="2026-07-31T01:55:58.852" v="208"/>
          <ac:picMkLst>
            <pc:docMk/>
            <pc:sldMk cId="1926975773" sldId="281"/>
            <ac:picMk id="3" creationId="{1D27B721-804A-0764-2957-C41EBF756179}"/>
          </ac:picMkLst>
        </pc:picChg>
        <pc:picChg chg="del">
          <ac:chgData name="Maximiliano Ortiz" userId="90727fd8e92db46b" providerId="LiveId" clId="{9BC7EBD1-E6C7-40E2-9BE0-E69EBE0B6810}" dt="2026-07-31T01:55:58.836" v="199"/>
          <ac:picMkLst>
            <pc:docMk/>
            <pc:sldMk cId="1926975773" sldId="281"/>
            <ac:picMk id="25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5:58.884" v="219"/>
        <pc:sldMkLst>
          <pc:docMk/>
          <pc:sldMk cId="1320203634" sldId="282"/>
        </pc:sldMkLst>
        <pc:picChg chg="add mod ord">
          <ac:chgData name="Maximiliano Ortiz" userId="90727fd8e92db46b" providerId="LiveId" clId="{9BC7EBD1-E6C7-40E2-9BE0-E69EBE0B6810}" dt="2026-07-31T01:55:58.884" v="219"/>
          <ac:picMkLst>
            <pc:docMk/>
            <pc:sldMk cId="1320203634" sldId="282"/>
            <ac:picMk id="3" creationId="{2E4BF13C-B4DB-E2A6-83E5-633317B5370A}"/>
          </ac:picMkLst>
        </pc:picChg>
        <pc:picChg chg="del">
          <ac:chgData name="Maximiliano Ortiz" userId="90727fd8e92db46b" providerId="LiveId" clId="{9BC7EBD1-E6C7-40E2-9BE0-E69EBE0B6810}" dt="2026-07-31T01:55:58.868" v="210"/>
          <ac:picMkLst>
            <pc:docMk/>
            <pc:sldMk cId="1320203634" sldId="282"/>
            <ac:picMk id="27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5:58.932" v="230"/>
        <pc:sldMkLst>
          <pc:docMk/>
          <pc:sldMk cId="1602286470" sldId="284"/>
        </pc:sldMkLst>
        <pc:picChg chg="add mod ord">
          <ac:chgData name="Maximiliano Ortiz" userId="90727fd8e92db46b" providerId="LiveId" clId="{9BC7EBD1-E6C7-40E2-9BE0-E69EBE0B6810}" dt="2026-07-31T01:55:58.932" v="230"/>
          <ac:picMkLst>
            <pc:docMk/>
            <pc:sldMk cId="1602286470" sldId="284"/>
            <ac:picMk id="3" creationId="{517BA567-AC05-A84B-1544-7DD71DF356F1}"/>
          </ac:picMkLst>
        </pc:picChg>
        <pc:picChg chg="del">
          <ac:chgData name="Maximiliano Ortiz" userId="90727fd8e92db46b" providerId="LiveId" clId="{9BC7EBD1-E6C7-40E2-9BE0-E69EBE0B6810}" dt="2026-07-31T01:55:58.909" v="221"/>
          <ac:picMkLst>
            <pc:docMk/>
            <pc:sldMk cId="1602286470" sldId="284"/>
            <ac:picMk id="25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5:58.996" v="241"/>
        <pc:sldMkLst>
          <pc:docMk/>
          <pc:sldMk cId="1133635661" sldId="285"/>
        </pc:sldMkLst>
        <pc:picChg chg="add mod ord">
          <ac:chgData name="Maximiliano Ortiz" userId="90727fd8e92db46b" providerId="LiveId" clId="{9BC7EBD1-E6C7-40E2-9BE0-E69EBE0B6810}" dt="2026-07-31T01:55:58.996" v="241"/>
          <ac:picMkLst>
            <pc:docMk/>
            <pc:sldMk cId="1133635661" sldId="285"/>
            <ac:picMk id="3" creationId="{785E99EE-1C9E-79F3-0A8D-4D0A6F481014}"/>
          </ac:picMkLst>
        </pc:picChg>
        <pc:picChg chg="del">
          <ac:chgData name="Maximiliano Ortiz" userId="90727fd8e92db46b" providerId="LiveId" clId="{9BC7EBD1-E6C7-40E2-9BE0-E69EBE0B6810}" dt="2026-07-31T01:55:58.948" v="232"/>
          <ac:picMkLst>
            <pc:docMk/>
            <pc:sldMk cId="1133635661" sldId="285"/>
            <ac:picMk id="31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5:59.040" v="252"/>
        <pc:sldMkLst>
          <pc:docMk/>
          <pc:sldMk cId="567438305" sldId="286"/>
        </pc:sldMkLst>
        <pc:picChg chg="add mod ord">
          <ac:chgData name="Maximiliano Ortiz" userId="90727fd8e92db46b" providerId="LiveId" clId="{9BC7EBD1-E6C7-40E2-9BE0-E69EBE0B6810}" dt="2026-07-31T01:55:59.040" v="252"/>
          <ac:picMkLst>
            <pc:docMk/>
            <pc:sldMk cId="567438305" sldId="286"/>
            <ac:picMk id="3" creationId="{F44788BE-736F-9CD5-8EDB-D3238B2206BC}"/>
          </ac:picMkLst>
        </pc:picChg>
        <pc:picChg chg="del">
          <ac:chgData name="Maximiliano Ortiz" userId="90727fd8e92db46b" providerId="LiveId" clId="{9BC7EBD1-E6C7-40E2-9BE0-E69EBE0B6810}" dt="2026-07-31T01:55:59.007" v="243"/>
          <ac:picMkLst>
            <pc:docMk/>
            <pc:sldMk cId="567438305" sldId="286"/>
            <ac:picMk id="35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5:59.086" v="263"/>
        <pc:sldMkLst>
          <pc:docMk/>
          <pc:sldMk cId="567438305" sldId="287"/>
        </pc:sldMkLst>
        <pc:picChg chg="add mod ord">
          <ac:chgData name="Maximiliano Ortiz" userId="90727fd8e92db46b" providerId="LiveId" clId="{9BC7EBD1-E6C7-40E2-9BE0-E69EBE0B6810}" dt="2026-07-31T01:55:59.086" v="263"/>
          <ac:picMkLst>
            <pc:docMk/>
            <pc:sldMk cId="567438305" sldId="287"/>
            <ac:picMk id="3" creationId="{2AE0235F-5553-04E2-5260-D73AE75761D0}"/>
          </ac:picMkLst>
        </pc:picChg>
        <pc:picChg chg="del">
          <ac:chgData name="Maximiliano Ortiz" userId="90727fd8e92db46b" providerId="LiveId" clId="{9BC7EBD1-E6C7-40E2-9BE0-E69EBE0B6810}" dt="2026-07-31T01:55:59.060" v="254"/>
          <ac:picMkLst>
            <pc:docMk/>
            <pc:sldMk cId="567438305" sldId="287"/>
            <ac:picMk id="35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5:59.201" v="274"/>
        <pc:sldMkLst>
          <pc:docMk/>
          <pc:sldMk cId="48649001" sldId="288"/>
        </pc:sldMkLst>
        <pc:picChg chg="add mod ord">
          <ac:chgData name="Maximiliano Ortiz" userId="90727fd8e92db46b" providerId="LiveId" clId="{9BC7EBD1-E6C7-40E2-9BE0-E69EBE0B6810}" dt="2026-07-31T01:55:59.201" v="274"/>
          <ac:picMkLst>
            <pc:docMk/>
            <pc:sldMk cId="48649001" sldId="288"/>
            <ac:picMk id="3" creationId="{0469C5D0-D747-002D-8D9E-BD6402965B3A}"/>
          </ac:picMkLst>
        </pc:picChg>
        <pc:picChg chg="del">
          <ac:chgData name="Maximiliano Ortiz" userId="90727fd8e92db46b" providerId="LiveId" clId="{9BC7EBD1-E6C7-40E2-9BE0-E69EBE0B6810}" dt="2026-07-31T01:55:59.113" v="265"/>
          <ac:picMkLst>
            <pc:docMk/>
            <pc:sldMk cId="48649001" sldId="288"/>
            <ac:picMk id="25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5:59.308" v="285"/>
        <pc:sldMkLst>
          <pc:docMk/>
          <pc:sldMk cId="1673297158" sldId="289"/>
        </pc:sldMkLst>
        <pc:picChg chg="add mod ord">
          <ac:chgData name="Maximiliano Ortiz" userId="90727fd8e92db46b" providerId="LiveId" clId="{9BC7EBD1-E6C7-40E2-9BE0-E69EBE0B6810}" dt="2026-07-31T01:55:59.308" v="285"/>
          <ac:picMkLst>
            <pc:docMk/>
            <pc:sldMk cId="1673297158" sldId="289"/>
            <ac:picMk id="3" creationId="{93E78C84-5327-B233-34AD-F7DE7EF7FA51}"/>
          </ac:picMkLst>
        </pc:picChg>
        <pc:picChg chg="del">
          <ac:chgData name="Maximiliano Ortiz" userId="90727fd8e92db46b" providerId="LiveId" clId="{9BC7EBD1-E6C7-40E2-9BE0-E69EBE0B6810}" dt="2026-07-31T01:55:59.216" v="276"/>
          <ac:picMkLst>
            <pc:docMk/>
            <pc:sldMk cId="1673297158" sldId="289"/>
            <ac:picMk id="21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5:59.450" v="296"/>
        <pc:sldMkLst>
          <pc:docMk/>
          <pc:sldMk cId="318321949" sldId="290"/>
        </pc:sldMkLst>
        <pc:picChg chg="add mod ord">
          <ac:chgData name="Maximiliano Ortiz" userId="90727fd8e92db46b" providerId="LiveId" clId="{9BC7EBD1-E6C7-40E2-9BE0-E69EBE0B6810}" dt="2026-07-31T01:55:59.450" v="296"/>
          <ac:picMkLst>
            <pc:docMk/>
            <pc:sldMk cId="318321949" sldId="290"/>
            <ac:picMk id="3" creationId="{E83F0755-C0AA-F961-9743-3A3463A1F1FB}"/>
          </ac:picMkLst>
        </pc:picChg>
        <pc:picChg chg="del">
          <ac:chgData name="Maximiliano Ortiz" userId="90727fd8e92db46b" providerId="LiveId" clId="{9BC7EBD1-E6C7-40E2-9BE0-E69EBE0B6810}" dt="2026-07-31T01:55:59.340" v="287"/>
          <ac:picMkLst>
            <pc:docMk/>
            <pc:sldMk cId="318321949" sldId="290"/>
            <ac:picMk id="26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5:59.482" v="307"/>
        <pc:sldMkLst>
          <pc:docMk/>
          <pc:sldMk cId="1741329192" sldId="291"/>
        </pc:sldMkLst>
        <pc:picChg chg="add mod ord">
          <ac:chgData name="Maximiliano Ortiz" userId="90727fd8e92db46b" providerId="LiveId" clId="{9BC7EBD1-E6C7-40E2-9BE0-E69EBE0B6810}" dt="2026-07-31T01:55:59.482" v="307"/>
          <ac:picMkLst>
            <pc:docMk/>
            <pc:sldMk cId="1741329192" sldId="291"/>
            <ac:picMk id="3" creationId="{AFE97BE0-A4E9-B730-F43D-1A4B007032F8}"/>
          </ac:picMkLst>
        </pc:picChg>
        <pc:picChg chg="del">
          <ac:chgData name="Maximiliano Ortiz" userId="90727fd8e92db46b" providerId="LiveId" clId="{9BC7EBD1-E6C7-40E2-9BE0-E69EBE0B6810}" dt="2026-07-31T01:55:59.456" v="298"/>
          <ac:picMkLst>
            <pc:docMk/>
            <pc:sldMk cId="1741329192" sldId="291"/>
            <ac:picMk id="23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5:59.518" v="318"/>
        <pc:sldMkLst>
          <pc:docMk/>
          <pc:sldMk cId="1741329192" sldId="292"/>
        </pc:sldMkLst>
        <pc:picChg chg="add mod ord">
          <ac:chgData name="Maximiliano Ortiz" userId="90727fd8e92db46b" providerId="LiveId" clId="{9BC7EBD1-E6C7-40E2-9BE0-E69EBE0B6810}" dt="2026-07-31T01:55:59.518" v="318"/>
          <ac:picMkLst>
            <pc:docMk/>
            <pc:sldMk cId="1741329192" sldId="292"/>
            <ac:picMk id="3" creationId="{2C4EB15B-E7DF-4AD4-AC13-0389D01D7939}"/>
          </ac:picMkLst>
        </pc:picChg>
        <pc:picChg chg="del">
          <ac:chgData name="Maximiliano Ortiz" userId="90727fd8e92db46b" providerId="LiveId" clId="{9BC7EBD1-E6C7-40E2-9BE0-E69EBE0B6810}" dt="2026-07-31T01:55:59.489" v="309"/>
          <ac:picMkLst>
            <pc:docMk/>
            <pc:sldMk cId="1741329192" sldId="292"/>
            <ac:picMk id="23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5:59.550" v="329"/>
        <pc:sldMkLst>
          <pc:docMk/>
          <pc:sldMk cId="1320203634" sldId="293"/>
        </pc:sldMkLst>
        <pc:picChg chg="add mod ord">
          <ac:chgData name="Maximiliano Ortiz" userId="90727fd8e92db46b" providerId="LiveId" clId="{9BC7EBD1-E6C7-40E2-9BE0-E69EBE0B6810}" dt="2026-07-31T01:55:59.550" v="329"/>
          <ac:picMkLst>
            <pc:docMk/>
            <pc:sldMk cId="1320203634" sldId="293"/>
            <ac:picMk id="3" creationId="{3F7D3E98-F4AB-DE2F-9E5D-09CC613900B5}"/>
          </ac:picMkLst>
        </pc:picChg>
        <pc:picChg chg="del">
          <ac:chgData name="Maximiliano Ortiz" userId="90727fd8e92db46b" providerId="LiveId" clId="{9BC7EBD1-E6C7-40E2-9BE0-E69EBE0B6810}" dt="2026-07-31T01:55:59.521" v="320"/>
          <ac:picMkLst>
            <pc:docMk/>
            <pc:sldMk cId="1320203634" sldId="293"/>
            <ac:picMk id="27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5:59.584" v="340"/>
        <pc:sldMkLst>
          <pc:docMk/>
          <pc:sldMk cId="986630461" sldId="295"/>
        </pc:sldMkLst>
        <pc:picChg chg="add mod ord">
          <ac:chgData name="Maximiliano Ortiz" userId="90727fd8e92db46b" providerId="LiveId" clId="{9BC7EBD1-E6C7-40E2-9BE0-E69EBE0B6810}" dt="2026-07-31T01:55:59.584" v="340"/>
          <ac:picMkLst>
            <pc:docMk/>
            <pc:sldMk cId="986630461" sldId="295"/>
            <ac:picMk id="3" creationId="{D8AFBEA0-A36A-4D6F-393B-AA06BDA9CF22}"/>
          </ac:picMkLst>
        </pc:picChg>
        <pc:picChg chg="del">
          <ac:chgData name="Maximiliano Ortiz" userId="90727fd8e92db46b" providerId="LiveId" clId="{9BC7EBD1-E6C7-40E2-9BE0-E69EBE0B6810}" dt="2026-07-31T01:55:59.556" v="331"/>
          <ac:picMkLst>
            <pc:docMk/>
            <pc:sldMk cId="986630461" sldId="295"/>
            <ac:picMk id="20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5:59.672" v="351"/>
        <pc:sldMkLst>
          <pc:docMk/>
          <pc:sldMk cId="318321949" sldId="296"/>
        </pc:sldMkLst>
        <pc:picChg chg="add mod ord">
          <ac:chgData name="Maximiliano Ortiz" userId="90727fd8e92db46b" providerId="LiveId" clId="{9BC7EBD1-E6C7-40E2-9BE0-E69EBE0B6810}" dt="2026-07-31T01:55:59.672" v="351"/>
          <ac:picMkLst>
            <pc:docMk/>
            <pc:sldMk cId="318321949" sldId="296"/>
            <ac:picMk id="3" creationId="{91A81881-DEED-3D42-4573-752B36E174A0}"/>
          </ac:picMkLst>
        </pc:picChg>
        <pc:picChg chg="del">
          <ac:chgData name="Maximiliano Ortiz" userId="90727fd8e92db46b" providerId="LiveId" clId="{9BC7EBD1-E6C7-40E2-9BE0-E69EBE0B6810}" dt="2026-07-31T01:55:59.604" v="342"/>
          <ac:picMkLst>
            <pc:docMk/>
            <pc:sldMk cId="318321949" sldId="296"/>
            <ac:picMk id="26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5:59.709" v="362"/>
        <pc:sldMkLst>
          <pc:docMk/>
          <pc:sldMk cId="567438305" sldId="297"/>
        </pc:sldMkLst>
        <pc:picChg chg="add mod ord">
          <ac:chgData name="Maximiliano Ortiz" userId="90727fd8e92db46b" providerId="LiveId" clId="{9BC7EBD1-E6C7-40E2-9BE0-E69EBE0B6810}" dt="2026-07-31T01:55:59.709" v="362"/>
          <ac:picMkLst>
            <pc:docMk/>
            <pc:sldMk cId="567438305" sldId="297"/>
            <ac:picMk id="3" creationId="{6787F3AA-3CC4-D832-299C-F172867EC963}"/>
          </ac:picMkLst>
        </pc:picChg>
        <pc:picChg chg="del">
          <ac:chgData name="Maximiliano Ortiz" userId="90727fd8e92db46b" providerId="LiveId" clId="{9BC7EBD1-E6C7-40E2-9BE0-E69EBE0B6810}" dt="2026-07-31T01:55:59.689" v="353"/>
          <ac:picMkLst>
            <pc:docMk/>
            <pc:sldMk cId="567438305" sldId="297"/>
            <ac:picMk id="35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5:59.751" v="373"/>
        <pc:sldMkLst>
          <pc:docMk/>
          <pc:sldMk cId="1926975773" sldId="298"/>
        </pc:sldMkLst>
        <pc:picChg chg="add mod ord">
          <ac:chgData name="Maximiliano Ortiz" userId="90727fd8e92db46b" providerId="LiveId" clId="{9BC7EBD1-E6C7-40E2-9BE0-E69EBE0B6810}" dt="2026-07-31T01:55:59.751" v="373"/>
          <ac:picMkLst>
            <pc:docMk/>
            <pc:sldMk cId="1926975773" sldId="298"/>
            <ac:picMk id="3" creationId="{D79D8459-0E85-DD3D-AD40-D74F024B7147}"/>
          </ac:picMkLst>
        </pc:picChg>
        <pc:picChg chg="del">
          <ac:chgData name="Maximiliano Ortiz" userId="90727fd8e92db46b" providerId="LiveId" clId="{9BC7EBD1-E6C7-40E2-9BE0-E69EBE0B6810}" dt="2026-07-31T01:55:59.719" v="364"/>
          <ac:picMkLst>
            <pc:docMk/>
            <pc:sldMk cId="1926975773" sldId="298"/>
            <ac:picMk id="25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5:59.807" v="384"/>
        <pc:sldMkLst>
          <pc:docMk/>
          <pc:sldMk cId="1995449240" sldId="299"/>
        </pc:sldMkLst>
        <pc:picChg chg="add mod ord">
          <ac:chgData name="Maximiliano Ortiz" userId="90727fd8e92db46b" providerId="LiveId" clId="{9BC7EBD1-E6C7-40E2-9BE0-E69EBE0B6810}" dt="2026-07-31T01:55:59.807" v="384"/>
          <ac:picMkLst>
            <pc:docMk/>
            <pc:sldMk cId="1995449240" sldId="299"/>
            <ac:picMk id="3" creationId="{E186996E-4A1E-FA98-F5DB-8297F28BA22F}"/>
          </ac:picMkLst>
        </pc:picChg>
        <pc:picChg chg="del">
          <ac:chgData name="Maximiliano Ortiz" userId="90727fd8e92db46b" providerId="LiveId" clId="{9BC7EBD1-E6C7-40E2-9BE0-E69EBE0B6810}" dt="2026-07-31T01:55:59.767" v="375"/>
          <ac:picMkLst>
            <pc:docMk/>
            <pc:sldMk cId="1995449240" sldId="299"/>
            <ac:picMk id="33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5:59.865" v="395"/>
        <pc:sldMkLst>
          <pc:docMk/>
          <pc:sldMk cId="48649001" sldId="300"/>
        </pc:sldMkLst>
        <pc:picChg chg="add mod ord">
          <ac:chgData name="Maximiliano Ortiz" userId="90727fd8e92db46b" providerId="LiveId" clId="{9BC7EBD1-E6C7-40E2-9BE0-E69EBE0B6810}" dt="2026-07-31T01:55:59.865" v="395"/>
          <ac:picMkLst>
            <pc:docMk/>
            <pc:sldMk cId="48649001" sldId="300"/>
            <ac:picMk id="3" creationId="{CDE34886-7C6E-38A5-BC8C-EB8AF4EDD3D8}"/>
          </ac:picMkLst>
        </pc:picChg>
        <pc:picChg chg="del">
          <ac:chgData name="Maximiliano Ortiz" userId="90727fd8e92db46b" providerId="LiveId" clId="{9BC7EBD1-E6C7-40E2-9BE0-E69EBE0B6810}" dt="2026-07-31T01:55:59.814" v="386"/>
          <ac:picMkLst>
            <pc:docMk/>
            <pc:sldMk cId="48649001" sldId="300"/>
            <ac:picMk id="25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5:59.909" v="406"/>
        <pc:sldMkLst>
          <pc:docMk/>
          <pc:sldMk cId="817057724" sldId="301"/>
        </pc:sldMkLst>
        <pc:picChg chg="add mod ord">
          <ac:chgData name="Maximiliano Ortiz" userId="90727fd8e92db46b" providerId="LiveId" clId="{9BC7EBD1-E6C7-40E2-9BE0-E69EBE0B6810}" dt="2026-07-31T01:55:59.909" v="406"/>
          <ac:picMkLst>
            <pc:docMk/>
            <pc:sldMk cId="817057724" sldId="301"/>
            <ac:picMk id="3" creationId="{D5DB69F7-E162-2C8E-4944-51FFC5BAEB76}"/>
          </ac:picMkLst>
        </pc:picChg>
        <pc:picChg chg="del">
          <ac:chgData name="Maximiliano Ortiz" userId="90727fd8e92db46b" providerId="LiveId" clId="{9BC7EBD1-E6C7-40E2-9BE0-E69EBE0B6810}" dt="2026-07-31T01:55:59.883" v="397"/>
          <ac:picMkLst>
            <pc:docMk/>
            <pc:sldMk cId="817057724" sldId="301"/>
            <ac:picMk id="22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5:59.951" v="417"/>
        <pc:sldMkLst>
          <pc:docMk/>
          <pc:sldMk cId="1320203634" sldId="302"/>
        </pc:sldMkLst>
        <pc:picChg chg="add mod ord">
          <ac:chgData name="Maximiliano Ortiz" userId="90727fd8e92db46b" providerId="LiveId" clId="{9BC7EBD1-E6C7-40E2-9BE0-E69EBE0B6810}" dt="2026-07-31T01:55:59.951" v="417"/>
          <ac:picMkLst>
            <pc:docMk/>
            <pc:sldMk cId="1320203634" sldId="302"/>
            <ac:picMk id="3" creationId="{E554ECE4-6782-AE81-9796-04129CE19954}"/>
          </ac:picMkLst>
        </pc:picChg>
        <pc:picChg chg="del">
          <ac:chgData name="Maximiliano Ortiz" userId="90727fd8e92db46b" providerId="LiveId" clId="{9BC7EBD1-E6C7-40E2-9BE0-E69EBE0B6810}" dt="2026-07-31T01:55:59.919" v="408"/>
          <ac:picMkLst>
            <pc:docMk/>
            <pc:sldMk cId="1320203634" sldId="302"/>
            <ac:picMk id="27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5:59.988" v="428"/>
        <pc:sldMkLst>
          <pc:docMk/>
          <pc:sldMk cId="986630461" sldId="304"/>
        </pc:sldMkLst>
        <pc:picChg chg="add mod ord">
          <ac:chgData name="Maximiliano Ortiz" userId="90727fd8e92db46b" providerId="LiveId" clId="{9BC7EBD1-E6C7-40E2-9BE0-E69EBE0B6810}" dt="2026-07-31T01:55:59.988" v="428"/>
          <ac:picMkLst>
            <pc:docMk/>
            <pc:sldMk cId="986630461" sldId="304"/>
            <ac:picMk id="3" creationId="{77ABF810-E362-88B6-CAA6-FED5B27B800F}"/>
          </ac:picMkLst>
        </pc:picChg>
        <pc:picChg chg="del">
          <ac:chgData name="Maximiliano Ortiz" userId="90727fd8e92db46b" providerId="LiveId" clId="{9BC7EBD1-E6C7-40E2-9BE0-E69EBE0B6810}" dt="2026-07-31T01:55:59.956" v="419"/>
          <ac:picMkLst>
            <pc:docMk/>
            <pc:sldMk cId="986630461" sldId="304"/>
            <ac:picMk id="20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6:22.967" v="439"/>
        <pc:sldMkLst>
          <pc:docMk/>
          <pc:sldMk cId="1995449240" sldId="305"/>
        </pc:sldMkLst>
        <pc:picChg chg="add mod ord">
          <ac:chgData name="Maximiliano Ortiz" userId="90727fd8e92db46b" providerId="LiveId" clId="{9BC7EBD1-E6C7-40E2-9BE0-E69EBE0B6810}" dt="2026-07-31T01:56:22.967" v="439"/>
          <ac:picMkLst>
            <pc:docMk/>
            <pc:sldMk cId="1995449240" sldId="305"/>
            <ac:picMk id="3" creationId="{42D04A12-4E9F-F83D-8A98-9D7D9F81F47C}"/>
          </ac:picMkLst>
        </pc:picChg>
        <pc:picChg chg="del">
          <ac:chgData name="Maximiliano Ortiz" userId="90727fd8e92db46b" providerId="LiveId" clId="{9BC7EBD1-E6C7-40E2-9BE0-E69EBE0B6810}" dt="2026-07-31T01:56:04.697" v="430"/>
          <ac:picMkLst>
            <pc:docMk/>
            <pc:sldMk cId="1995449240" sldId="305"/>
            <ac:picMk id="33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6:23.039" v="450"/>
        <pc:sldMkLst>
          <pc:docMk/>
          <pc:sldMk cId="48649001" sldId="306"/>
        </pc:sldMkLst>
        <pc:picChg chg="add mod ord">
          <ac:chgData name="Maximiliano Ortiz" userId="90727fd8e92db46b" providerId="LiveId" clId="{9BC7EBD1-E6C7-40E2-9BE0-E69EBE0B6810}" dt="2026-07-31T01:56:23.039" v="450"/>
          <ac:picMkLst>
            <pc:docMk/>
            <pc:sldMk cId="48649001" sldId="306"/>
            <ac:picMk id="3" creationId="{AEB5D796-0C0A-F293-98EE-8B67017F2C28}"/>
          </ac:picMkLst>
        </pc:picChg>
        <pc:picChg chg="del">
          <ac:chgData name="Maximiliano Ortiz" userId="90727fd8e92db46b" providerId="LiveId" clId="{9BC7EBD1-E6C7-40E2-9BE0-E69EBE0B6810}" dt="2026-07-31T01:56:22.990" v="441"/>
          <ac:picMkLst>
            <pc:docMk/>
            <pc:sldMk cId="48649001" sldId="306"/>
            <ac:picMk id="25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6:23.087" v="461"/>
        <pc:sldMkLst>
          <pc:docMk/>
          <pc:sldMk cId="48649001" sldId="307"/>
        </pc:sldMkLst>
        <pc:picChg chg="add mod ord">
          <ac:chgData name="Maximiliano Ortiz" userId="90727fd8e92db46b" providerId="LiveId" clId="{9BC7EBD1-E6C7-40E2-9BE0-E69EBE0B6810}" dt="2026-07-31T01:56:23.087" v="461"/>
          <ac:picMkLst>
            <pc:docMk/>
            <pc:sldMk cId="48649001" sldId="307"/>
            <ac:picMk id="3" creationId="{EE473640-6196-186F-0215-880C8CBA650A}"/>
          </ac:picMkLst>
        </pc:picChg>
        <pc:picChg chg="del">
          <ac:chgData name="Maximiliano Ortiz" userId="90727fd8e92db46b" providerId="LiveId" clId="{9BC7EBD1-E6C7-40E2-9BE0-E69EBE0B6810}" dt="2026-07-31T01:56:23.055" v="452"/>
          <ac:picMkLst>
            <pc:docMk/>
            <pc:sldMk cId="48649001" sldId="307"/>
            <ac:picMk id="25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6:23.131" v="472"/>
        <pc:sldMkLst>
          <pc:docMk/>
          <pc:sldMk cId="318321949" sldId="308"/>
        </pc:sldMkLst>
        <pc:picChg chg="add mod ord">
          <ac:chgData name="Maximiliano Ortiz" userId="90727fd8e92db46b" providerId="LiveId" clId="{9BC7EBD1-E6C7-40E2-9BE0-E69EBE0B6810}" dt="2026-07-31T01:56:23.131" v="472"/>
          <ac:picMkLst>
            <pc:docMk/>
            <pc:sldMk cId="318321949" sldId="308"/>
            <ac:picMk id="3" creationId="{3E40EF73-3599-411F-4699-EE9704D64234}"/>
          </ac:picMkLst>
        </pc:picChg>
        <pc:picChg chg="del">
          <ac:chgData name="Maximiliano Ortiz" userId="90727fd8e92db46b" providerId="LiveId" clId="{9BC7EBD1-E6C7-40E2-9BE0-E69EBE0B6810}" dt="2026-07-31T01:56:23.102" v="463"/>
          <ac:picMkLst>
            <pc:docMk/>
            <pc:sldMk cId="318321949" sldId="308"/>
            <ac:picMk id="26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6:23.183" v="483"/>
        <pc:sldMkLst>
          <pc:docMk/>
          <pc:sldMk cId="986630461" sldId="309"/>
        </pc:sldMkLst>
        <pc:picChg chg="add mod ord">
          <ac:chgData name="Maximiliano Ortiz" userId="90727fd8e92db46b" providerId="LiveId" clId="{9BC7EBD1-E6C7-40E2-9BE0-E69EBE0B6810}" dt="2026-07-31T01:56:23.183" v="483"/>
          <ac:picMkLst>
            <pc:docMk/>
            <pc:sldMk cId="986630461" sldId="309"/>
            <ac:picMk id="3" creationId="{54402EBB-77D7-C86D-BDD7-CA27940E4BB4}"/>
          </ac:picMkLst>
        </pc:picChg>
        <pc:picChg chg="del">
          <ac:chgData name="Maximiliano Ortiz" userId="90727fd8e92db46b" providerId="LiveId" clId="{9BC7EBD1-E6C7-40E2-9BE0-E69EBE0B6810}" dt="2026-07-31T01:56:23.134" v="474"/>
          <ac:picMkLst>
            <pc:docMk/>
            <pc:sldMk cId="986630461" sldId="309"/>
            <ac:picMk id="20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6:23.224" v="494"/>
        <pc:sldMkLst>
          <pc:docMk/>
          <pc:sldMk cId="1602286470" sldId="310"/>
        </pc:sldMkLst>
        <pc:picChg chg="add mod ord">
          <ac:chgData name="Maximiliano Ortiz" userId="90727fd8e92db46b" providerId="LiveId" clId="{9BC7EBD1-E6C7-40E2-9BE0-E69EBE0B6810}" dt="2026-07-31T01:56:23.224" v="494"/>
          <ac:picMkLst>
            <pc:docMk/>
            <pc:sldMk cId="1602286470" sldId="310"/>
            <ac:picMk id="3" creationId="{5B8D1566-BF90-E47E-FC90-BC6F7AD7BD37}"/>
          </ac:picMkLst>
        </pc:picChg>
        <pc:picChg chg="del">
          <ac:chgData name="Maximiliano Ortiz" userId="90727fd8e92db46b" providerId="LiveId" clId="{9BC7EBD1-E6C7-40E2-9BE0-E69EBE0B6810}" dt="2026-07-31T01:56:23.197" v="485"/>
          <ac:picMkLst>
            <pc:docMk/>
            <pc:sldMk cId="1602286470" sldId="310"/>
            <ac:picMk id="25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6:23.245" v="505"/>
        <pc:sldMkLst>
          <pc:docMk/>
          <pc:sldMk cId="1602286470" sldId="311"/>
        </pc:sldMkLst>
        <pc:picChg chg="add mod ord">
          <ac:chgData name="Maximiliano Ortiz" userId="90727fd8e92db46b" providerId="LiveId" clId="{9BC7EBD1-E6C7-40E2-9BE0-E69EBE0B6810}" dt="2026-07-31T01:56:23.245" v="505"/>
          <ac:picMkLst>
            <pc:docMk/>
            <pc:sldMk cId="1602286470" sldId="311"/>
            <ac:picMk id="3" creationId="{3ADBA696-87E9-7A91-55D6-2B836B8269D0}"/>
          </ac:picMkLst>
        </pc:picChg>
        <pc:picChg chg="del">
          <ac:chgData name="Maximiliano Ortiz" userId="90727fd8e92db46b" providerId="LiveId" clId="{9BC7EBD1-E6C7-40E2-9BE0-E69EBE0B6810}" dt="2026-07-31T01:56:23.229" v="496"/>
          <ac:picMkLst>
            <pc:docMk/>
            <pc:sldMk cId="1602286470" sldId="311"/>
            <ac:picMk id="25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6:23.276" v="516"/>
        <pc:sldMkLst>
          <pc:docMk/>
          <pc:sldMk cId="1133635661" sldId="312"/>
        </pc:sldMkLst>
        <pc:picChg chg="add mod ord">
          <ac:chgData name="Maximiliano Ortiz" userId="90727fd8e92db46b" providerId="LiveId" clId="{9BC7EBD1-E6C7-40E2-9BE0-E69EBE0B6810}" dt="2026-07-31T01:56:23.276" v="516"/>
          <ac:picMkLst>
            <pc:docMk/>
            <pc:sldMk cId="1133635661" sldId="312"/>
            <ac:picMk id="3" creationId="{15CF9AF6-71B0-D83A-8AB0-7CB074B61065}"/>
          </ac:picMkLst>
        </pc:picChg>
        <pc:picChg chg="del">
          <ac:chgData name="Maximiliano Ortiz" userId="90727fd8e92db46b" providerId="LiveId" clId="{9BC7EBD1-E6C7-40E2-9BE0-E69EBE0B6810}" dt="2026-07-31T01:56:23.260" v="507"/>
          <ac:picMkLst>
            <pc:docMk/>
            <pc:sldMk cId="1133635661" sldId="312"/>
            <ac:picMk id="31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6:23.387" v="527"/>
        <pc:sldMkLst>
          <pc:docMk/>
          <pc:sldMk cId="1673297158" sldId="313"/>
        </pc:sldMkLst>
        <pc:picChg chg="add mod ord">
          <ac:chgData name="Maximiliano Ortiz" userId="90727fd8e92db46b" providerId="LiveId" clId="{9BC7EBD1-E6C7-40E2-9BE0-E69EBE0B6810}" dt="2026-07-31T01:56:23.387" v="527"/>
          <ac:picMkLst>
            <pc:docMk/>
            <pc:sldMk cId="1673297158" sldId="313"/>
            <ac:picMk id="3" creationId="{59CA3830-9880-9F37-92BD-3517432BCE47}"/>
          </ac:picMkLst>
        </pc:picChg>
        <pc:picChg chg="del">
          <ac:chgData name="Maximiliano Ortiz" userId="90727fd8e92db46b" providerId="LiveId" clId="{9BC7EBD1-E6C7-40E2-9BE0-E69EBE0B6810}" dt="2026-07-31T01:56:23.339" v="518"/>
          <ac:picMkLst>
            <pc:docMk/>
            <pc:sldMk cId="1673297158" sldId="313"/>
            <ac:picMk id="21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6:23.435" v="538"/>
        <pc:sldMkLst>
          <pc:docMk/>
          <pc:sldMk cId="1320203634" sldId="314"/>
        </pc:sldMkLst>
        <pc:picChg chg="add mod ord">
          <ac:chgData name="Maximiliano Ortiz" userId="90727fd8e92db46b" providerId="LiveId" clId="{9BC7EBD1-E6C7-40E2-9BE0-E69EBE0B6810}" dt="2026-07-31T01:56:23.435" v="538"/>
          <ac:picMkLst>
            <pc:docMk/>
            <pc:sldMk cId="1320203634" sldId="314"/>
            <ac:picMk id="3" creationId="{1A922457-D018-5571-46C2-6CFA56FE93DB}"/>
          </ac:picMkLst>
        </pc:picChg>
        <pc:picChg chg="del">
          <ac:chgData name="Maximiliano Ortiz" userId="90727fd8e92db46b" providerId="LiveId" clId="{9BC7EBD1-E6C7-40E2-9BE0-E69EBE0B6810}" dt="2026-07-31T01:56:23.403" v="529"/>
          <ac:picMkLst>
            <pc:docMk/>
            <pc:sldMk cId="1320203634" sldId="314"/>
            <ac:picMk id="27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6:25.362" v="883" actId="20577"/>
        <pc:sldMkLst>
          <pc:docMk/>
          <pc:sldMk cId="1046213385" sldId="316"/>
        </pc:sldMkLst>
        <pc:spChg chg="mod">
          <ac:chgData name="Maximiliano Ortiz" userId="90727fd8e92db46b" providerId="LiveId" clId="{9BC7EBD1-E6C7-40E2-9BE0-E69EBE0B6810}" dt="2026-07-31T01:56:25.362" v="883" actId="20577"/>
          <ac:spMkLst>
            <pc:docMk/>
            <pc:sldMk cId="1046213385" sldId="316"/>
            <ac:spMk id="18" creationId="{04426F51-40C7-4DDE-9CB0-674C54817A60}"/>
          </ac:spMkLst>
        </pc:spChg>
        <pc:picChg chg="add mod ord">
          <ac:chgData name="Maximiliano Ortiz" userId="90727fd8e92db46b" providerId="LiveId" clId="{9BC7EBD1-E6C7-40E2-9BE0-E69EBE0B6810}" dt="2026-07-31T01:56:23.467" v="549"/>
          <ac:picMkLst>
            <pc:docMk/>
            <pc:sldMk cId="1046213385" sldId="316"/>
            <ac:picMk id="3" creationId="{8C85A4A3-D847-EFFD-0464-4BAB9C979ECE}"/>
          </ac:picMkLst>
        </pc:picChg>
        <pc:picChg chg="del">
          <ac:chgData name="Maximiliano Ortiz" userId="90727fd8e92db46b" providerId="LiveId" clId="{9BC7EBD1-E6C7-40E2-9BE0-E69EBE0B6810}" dt="2026-07-31T01:56:23.451" v="540"/>
          <ac:picMkLst>
            <pc:docMk/>
            <pc:sldMk cId="1046213385" sldId="316"/>
            <ac:picMk id="22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6:23.519" v="560"/>
        <pc:sldMkLst>
          <pc:docMk/>
          <pc:sldMk cId="318321949" sldId="317"/>
        </pc:sldMkLst>
        <pc:picChg chg="add mod ord">
          <ac:chgData name="Maximiliano Ortiz" userId="90727fd8e92db46b" providerId="LiveId" clId="{9BC7EBD1-E6C7-40E2-9BE0-E69EBE0B6810}" dt="2026-07-31T01:56:23.519" v="560"/>
          <ac:picMkLst>
            <pc:docMk/>
            <pc:sldMk cId="318321949" sldId="317"/>
            <ac:picMk id="3" creationId="{8D2CA48C-A9DA-33F4-A066-1C2D046F3CC8}"/>
          </ac:picMkLst>
        </pc:picChg>
        <pc:picChg chg="del">
          <ac:chgData name="Maximiliano Ortiz" userId="90727fd8e92db46b" providerId="LiveId" clId="{9BC7EBD1-E6C7-40E2-9BE0-E69EBE0B6810}" dt="2026-07-31T01:56:23.488" v="551"/>
          <ac:picMkLst>
            <pc:docMk/>
            <pc:sldMk cId="318321949" sldId="317"/>
            <ac:picMk id="26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6:23.602" v="571"/>
        <pc:sldMkLst>
          <pc:docMk/>
          <pc:sldMk cId="1741329192" sldId="318"/>
        </pc:sldMkLst>
        <pc:picChg chg="add mod ord">
          <ac:chgData name="Maximiliano Ortiz" userId="90727fd8e92db46b" providerId="LiveId" clId="{9BC7EBD1-E6C7-40E2-9BE0-E69EBE0B6810}" dt="2026-07-31T01:56:23.602" v="571"/>
          <ac:picMkLst>
            <pc:docMk/>
            <pc:sldMk cId="1741329192" sldId="318"/>
            <ac:picMk id="3" creationId="{076FF68B-92D0-E104-235C-DEF1A66F60FC}"/>
          </ac:picMkLst>
        </pc:picChg>
        <pc:picChg chg="del">
          <ac:chgData name="Maximiliano Ortiz" userId="90727fd8e92db46b" providerId="LiveId" clId="{9BC7EBD1-E6C7-40E2-9BE0-E69EBE0B6810}" dt="2026-07-31T01:56:23.538" v="562"/>
          <ac:picMkLst>
            <pc:docMk/>
            <pc:sldMk cId="1741329192" sldId="318"/>
            <ac:picMk id="23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6:23.712" v="582"/>
        <pc:sldMkLst>
          <pc:docMk/>
          <pc:sldMk cId="986630461" sldId="319"/>
        </pc:sldMkLst>
        <pc:picChg chg="add mod ord">
          <ac:chgData name="Maximiliano Ortiz" userId="90727fd8e92db46b" providerId="LiveId" clId="{9BC7EBD1-E6C7-40E2-9BE0-E69EBE0B6810}" dt="2026-07-31T01:56:23.712" v="582"/>
          <ac:picMkLst>
            <pc:docMk/>
            <pc:sldMk cId="986630461" sldId="319"/>
            <ac:picMk id="3" creationId="{2D5C4D1A-C9E7-4FB2-B989-ACD94E166522}"/>
          </ac:picMkLst>
        </pc:picChg>
        <pc:picChg chg="del">
          <ac:chgData name="Maximiliano Ortiz" userId="90727fd8e92db46b" providerId="LiveId" clId="{9BC7EBD1-E6C7-40E2-9BE0-E69EBE0B6810}" dt="2026-07-31T01:56:23.624" v="573"/>
          <ac:picMkLst>
            <pc:docMk/>
            <pc:sldMk cId="986630461" sldId="319"/>
            <ac:picMk id="20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6:23.744" v="593"/>
        <pc:sldMkLst>
          <pc:docMk/>
          <pc:sldMk cId="1602286470" sldId="320"/>
        </pc:sldMkLst>
        <pc:picChg chg="add mod ord">
          <ac:chgData name="Maximiliano Ortiz" userId="90727fd8e92db46b" providerId="LiveId" clId="{9BC7EBD1-E6C7-40E2-9BE0-E69EBE0B6810}" dt="2026-07-31T01:56:23.744" v="593"/>
          <ac:picMkLst>
            <pc:docMk/>
            <pc:sldMk cId="1602286470" sldId="320"/>
            <ac:picMk id="3" creationId="{A22854BD-3276-4FC3-6422-4CBD481EC42A}"/>
          </ac:picMkLst>
        </pc:picChg>
        <pc:picChg chg="del">
          <ac:chgData name="Maximiliano Ortiz" userId="90727fd8e92db46b" providerId="LiveId" clId="{9BC7EBD1-E6C7-40E2-9BE0-E69EBE0B6810}" dt="2026-07-31T01:56:23.728" v="584"/>
          <ac:picMkLst>
            <pc:docMk/>
            <pc:sldMk cId="1602286470" sldId="320"/>
            <ac:picMk id="25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6:23.824" v="604"/>
        <pc:sldMkLst>
          <pc:docMk/>
          <pc:sldMk cId="48649001" sldId="321"/>
        </pc:sldMkLst>
        <pc:picChg chg="add mod ord">
          <ac:chgData name="Maximiliano Ortiz" userId="90727fd8e92db46b" providerId="LiveId" clId="{9BC7EBD1-E6C7-40E2-9BE0-E69EBE0B6810}" dt="2026-07-31T01:56:23.824" v="604"/>
          <ac:picMkLst>
            <pc:docMk/>
            <pc:sldMk cId="48649001" sldId="321"/>
            <ac:picMk id="3" creationId="{A0AF19F9-9076-DF11-1EEB-FAFE0CBF38E2}"/>
          </ac:picMkLst>
        </pc:picChg>
        <pc:picChg chg="del">
          <ac:chgData name="Maximiliano Ortiz" userId="90727fd8e92db46b" providerId="LiveId" clId="{9BC7EBD1-E6C7-40E2-9BE0-E69EBE0B6810}" dt="2026-07-31T01:56:23.775" v="595"/>
          <ac:picMkLst>
            <pc:docMk/>
            <pc:sldMk cId="48649001" sldId="321"/>
            <ac:picMk id="25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6:23.853" v="615"/>
        <pc:sldMkLst>
          <pc:docMk/>
          <pc:sldMk cId="1602286470" sldId="322"/>
        </pc:sldMkLst>
        <pc:picChg chg="add mod ord">
          <ac:chgData name="Maximiliano Ortiz" userId="90727fd8e92db46b" providerId="LiveId" clId="{9BC7EBD1-E6C7-40E2-9BE0-E69EBE0B6810}" dt="2026-07-31T01:56:23.853" v="615"/>
          <ac:picMkLst>
            <pc:docMk/>
            <pc:sldMk cId="1602286470" sldId="322"/>
            <ac:picMk id="3" creationId="{27B4DAF0-411C-A8D4-FA57-15D8C8189E8D}"/>
          </ac:picMkLst>
        </pc:picChg>
        <pc:picChg chg="del">
          <ac:chgData name="Maximiliano Ortiz" userId="90727fd8e92db46b" providerId="LiveId" clId="{9BC7EBD1-E6C7-40E2-9BE0-E69EBE0B6810}" dt="2026-07-31T01:56:23.838" v="606"/>
          <ac:picMkLst>
            <pc:docMk/>
            <pc:sldMk cId="1602286470" sldId="322"/>
            <ac:picMk id="25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6:23.980" v="626"/>
        <pc:sldMkLst>
          <pc:docMk/>
          <pc:sldMk cId="1673297158" sldId="323"/>
        </pc:sldMkLst>
        <pc:picChg chg="add mod ord">
          <ac:chgData name="Maximiliano Ortiz" userId="90727fd8e92db46b" providerId="LiveId" clId="{9BC7EBD1-E6C7-40E2-9BE0-E69EBE0B6810}" dt="2026-07-31T01:56:23.980" v="626"/>
          <ac:picMkLst>
            <pc:docMk/>
            <pc:sldMk cId="1673297158" sldId="323"/>
            <ac:picMk id="3" creationId="{6980D13B-64C3-75EA-411A-2102F0B28320}"/>
          </ac:picMkLst>
        </pc:picChg>
        <pc:picChg chg="del">
          <ac:chgData name="Maximiliano Ortiz" userId="90727fd8e92db46b" providerId="LiveId" clId="{9BC7EBD1-E6C7-40E2-9BE0-E69EBE0B6810}" dt="2026-07-31T01:56:23.885" v="617"/>
          <ac:picMkLst>
            <pc:docMk/>
            <pc:sldMk cId="1673297158" sldId="323"/>
            <ac:picMk id="21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6:24.025" v="637"/>
        <pc:sldMkLst>
          <pc:docMk/>
          <pc:sldMk cId="1320203634" sldId="324"/>
        </pc:sldMkLst>
        <pc:picChg chg="add mod ord">
          <ac:chgData name="Maximiliano Ortiz" userId="90727fd8e92db46b" providerId="LiveId" clId="{9BC7EBD1-E6C7-40E2-9BE0-E69EBE0B6810}" dt="2026-07-31T01:56:24.025" v="637"/>
          <ac:picMkLst>
            <pc:docMk/>
            <pc:sldMk cId="1320203634" sldId="324"/>
            <ac:picMk id="3" creationId="{E008E16C-07E7-7BDE-7CD8-8A1A4A2AE6D7}"/>
          </ac:picMkLst>
        </pc:picChg>
        <pc:picChg chg="del">
          <ac:chgData name="Maximiliano Ortiz" userId="90727fd8e92db46b" providerId="LiveId" clId="{9BC7EBD1-E6C7-40E2-9BE0-E69EBE0B6810}" dt="2026-07-31T01:56:23.996" v="628"/>
          <ac:picMkLst>
            <pc:docMk/>
            <pc:sldMk cId="1320203634" sldId="324"/>
            <ac:picMk id="27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6:24.060" v="648"/>
        <pc:sldMkLst>
          <pc:docMk/>
          <pc:sldMk cId="1602286470" sldId="326"/>
        </pc:sldMkLst>
        <pc:picChg chg="add mod ord">
          <ac:chgData name="Maximiliano Ortiz" userId="90727fd8e92db46b" providerId="LiveId" clId="{9BC7EBD1-E6C7-40E2-9BE0-E69EBE0B6810}" dt="2026-07-31T01:56:24.060" v="648"/>
          <ac:picMkLst>
            <pc:docMk/>
            <pc:sldMk cId="1602286470" sldId="326"/>
            <ac:picMk id="3" creationId="{FAB4A49D-6B96-0F65-28E5-400970E57F68}"/>
          </ac:picMkLst>
        </pc:picChg>
        <pc:picChg chg="del">
          <ac:chgData name="Maximiliano Ortiz" userId="90727fd8e92db46b" providerId="LiveId" clId="{9BC7EBD1-E6C7-40E2-9BE0-E69EBE0B6810}" dt="2026-07-31T01:56:24.028" v="639"/>
          <ac:picMkLst>
            <pc:docMk/>
            <pc:sldMk cId="1602286470" sldId="326"/>
            <ac:picMk id="25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6:24.152" v="659"/>
        <pc:sldMkLst>
          <pc:docMk/>
          <pc:sldMk cId="48649001" sldId="327"/>
        </pc:sldMkLst>
        <pc:picChg chg="add mod ord">
          <ac:chgData name="Maximiliano Ortiz" userId="90727fd8e92db46b" providerId="LiveId" clId="{9BC7EBD1-E6C7-40E2-9BE0-E69EBE0B6810}" dt="2026-07-31T01:56:24.152" v="659"/>
          <ac:picMkLst>
            <pc:docMk/>
            <pc:sldMk cId="48649001" sldId="327"/>
            <ac:picMk id="3" creationId="{C4F7899D-F377-B6C0-1E6B-3B5D8EB23D96}"/>
          </ac:picMkLst>
        </pc:picChg>
        <pc:picChg chg="del">
          <ac:chgData name="Maximiliano Ortiz" userId="90727fd8e92db46b" providerId="LiveId" clId="{9BC7EBD1-E6C7-40E2-9BE0-E69EBE0B6810}" dt="2026-07-31T01:56:24.104" v="650"/>
          <ac:picMkLst>
            <pc:docMk/>
            <pc:sldMk cId="48649001" sldId="327"/>
            <ac:picMk id="25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6:24.245" v="670"/>
        <pc:sldMkLst>
          <pc:docMk/>
          <pc:sldMk cId="48649001" sldId="328"/>
        </pc:sldMkLst>
        <pc:picChg chg="add mod ord">
          <ac:chgData name="Maximiliano Ortiz" userId="90727fd8e92db46b" providerId="LiveId" clId="{9BC7EBD1-E6C7-40E2-9BE0-E69EBE0B6810}" dt="2026-07-31T01:56:24.245" v="670"/>
          <ac:picMkLst>
            <pc:docMk/>
            <pc:sldMk cId="48649001" sldId="328"/>
            <ac:picMk id="3" creationId="{0170C183-4241-02DC-E490-26D8938E70E9}"/>
          </ac:picMkLst>
        </pc:picChg>
        <pc:picChg chg="del">
          <ac:chgData name="Maximiliano Ortiz" userId="90727fd8e92db46b" providerId="LiveId" clId="{9BC7EBD1-E6C7-40E2-9BE0-E69EBE0B6810}" dt="2026-07-31T01:56:24.184" v="661"/>
          <ac:picMkLst>
            <pc:docMk/>
            <pc:sldMk cId="48649001" sldId="328"/>
            <ac:picMk id="25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6:24.329" v="681"/>
        <pc:sldMkLst>
          <pc:docMk/>
          <pc:sldMk cId="318321949" sldId="329"/>
        </pc:sldMkLst>
        <pc:picChg chg="add mod ord">
          <ac:chgData name="Maximiliano Ortiz" userId="90727fd8e92db46b" providerId="LiveId" clId="{9BC7EBD1-E6C7-40E2-9BE0-E69EBE0B6810}" dt="2026-07-31T01:56:24.329" v="681"/>
          <ac:picMkLst>
            <pc:docMk/>
            <pc:sldMk cId="318321949" sldId="329"/>
            <ac:picMk id="3" creationId="{B2556D4F-6352-9F70-A05B-E480EBD2C0A4}"/>
          </ac:picMkLst>
        </pc:picChg>
        <pc:picChg chg="del">
          <ac:chgData name="Maximiliano Ortiz" userId="90727fd8e92db46b" providerId="LiveId" clId="{9BC7EBD1-E6C7-40E2-9BE0-E69EBE0B6810}" dt="2026-07-31T01:56:24.280" v="672"/>
          <ac:picMkLst>
            <pc:docMk/>
            <pc:sldMk cId="318321949" sldId="329"/>
            <ac:picMk id="26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6:24.469" v="692"/>
        <pc:sldMkLst>
          <pc:docMk/>
          <pc:sldMk cId="1673297158" sldId="330"/>
        </pc:sldMkLst>
        <pc:picChg chg="add mod ord">
          <ac:chgData name="Maximiliano Ortiz" userId="90727fd8e92db46b" providerId="LiveId" clId="{9BC7EBD1-E6C7-40E2-9BE0-E69EBE0B6810}" dt="2026-07-31T01:56:24.469" v="692"/>
          <ac:picMkLst>
            <pc:docMk/>
            <pc:sldMk cId="1673297158" sldId="330"/>
            <ac:picMk id="3" creationId="{F6B97AEC-9EE3-6415-C820-6126E2413BF8}"/>
          </ac:picMkLst>
        </pc:picChg>
        <pc:picChg chg="del">
          <ac:chgData name="Maximiliano Ortiz" userId="90727fd8e92db46b" providerId="LiveId" clId="{9BC7EBD1-E6C7-40E2-9BE0-E69EBE0B6810}" dt="2026-07-31T01:56:24.375" v="683"/>
          <ac:picMkLst>
            <pc:docMk/>
            <pc:sldMk cId="1673297158" sldId="330"/>
            <ac:picMk id="21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6:24.501" v="703"/>
        <pc:sldMkLst>
          <pc:docMk/>
          <pc:sldMk cId="817057724" sldId="331"/>
        </pc:sldMkLst>
        <pc:picChg chg="add mod ord">
          <ac:chgData name="Maximiliano Ortiz" userId="90727fd8e92db46b" providerId="LiveId" clId="{9BC7EBD1-E6C7-40E2-9BE0-E69EBE0B6810}" dt="2026-07-31T01:56:24.501" v="703"/>
          <ac:picMkLst>
            <pc:docMk/>
            <pc:sldMk cId="817057724" sldId="331"/>
            <ac:picMk id="3" creationId="{785FEEAA-95B0-4AA2-8A2E-7246E8DF866C}"/>
          </ac:picMkLst>
        </pc:picChg>
        <pc:picChg chg="del">
          <ac:chgData name="Maximiliano Ortiz" userId="90727fd8e92db46b" providerId="LiveId" clId="{9BC7EBD1-E6C7-40E2-9BE0-E69EBE0B6810}" dt="2026-07-31T01:56:24.483" v="694"/>
          <ac:picMkLst>
            <pc:docMk/>
            <pc:sldMk cId="817057724" sldId="331"/>
            <ac:picMk id="22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6:24.548" v="714"/>
        <pc:sldMkLst>
          <pc:docMk/>
          <pc:sldMk cId="817057724" sldId="332"/>
        </pc:sldMkLst>
        <pc:picChg chg="add mod ord">
          <ac:chgData name="Maximiliano Ortiz" userId="90727fd8e92db46b" providerId="LiveId" clId="{9BC7EBD1-E6C7-40E2-9BE0-E69EBE0B6810}" dt="2026-07-31T01:56:24.548" v="714"/>
          <ac:picMkLst>
            <pc:docMk/>
            <pc:sldMk cId="817057724" sldId="332"/>
            <ac:picMk id="3" creationId="{F2C012C3-E1BD-87C8-5D13-8ADCCF2554E6}"/>
          </ac:picMkLst>
        </pc:picChg>
        <pc:picChg chg="del">
          <ac:chgData name="Maximiliano Ortiz" userId="90727fd8e92db46b" providerId="LiveId" clId="{9BC7EBD1-E6C7-40E2-9BE0-E69EBE0B6810}" dt="2026-07-31T01:56:24.526" v="705"/>
          <ac:picMkLst>
            <pc:docMk/>
            <pc:sldMk cId="817057724" sldId="332"/>
            <ac:picMk id="22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6:24.611" v="725"/>
        <pc:sldMkLst>
          <pc:docMk/>
          <pc:sldMk cId="1320203634" sldId="333"/>
        </pc:sldMkLst>
        <pc:picChg chg="add mod ord">
          <ac:chgData name="Maximiliano Ortiz" userId="90727fd8e92db46b" providerId="LiveId" clId="{9BC7EBD1-E6C7-40E2-9BE0-E69EBE0B6810}" dt="2026-07-31T01:56:24.611" v="725"/>
          <ac:picMkLst>
            <pc:docMk/>
            <pc:sldMk cId="1320203634" sldId="333"/>
            <ac:picMk id="3" creationId="{B6C96CC0-1524-87FA-DE1F-73636064F146}"/>
          </ac:picMkLst>
        </pc:picChg>
        <pc:picChg chg="del">
          <ac:chgData name="Maximiliano Ortiz" userId="90727fd8e92db46b" providerId="LiveId" clId="{9BC7EBD1-E6C7-40E2-9BE0-E69EBE0B6810}" dt="2026-07-31T01:56:24.564" v="716"/>
          <ac:picMkLst>
            <pc:docMk/>
            <pc:sldMk cId="1320203634" sldId="333"/>
            <ac:picMk id="27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6:24.656" v="736"/>
        <pc:sldMkLst>
          <pc:docMk/>
          <pc:sldMk cId="817057724" sldId="334"/>
        </pc:sldMkLst>
        <pc:picChg chg="add mod ord">
          <ac:chgData name="Maximiliano Ortiz" userId="90727fd8e92db46b" providerId="LiveId" clId="{9BC7EBD1-E6C7-40E2-9BE0-E69EBE0B6810}" dt="2026-07-31T01:56:24.656" v="736"/>
          <ac:picMkLst>
            <pc:docMk/>
            <pc:sldMk cId="817057724" sldId="334"/>
            <ac:picMk id="3" creationId="{0C2FB468-0940-B680-4408-8723AD198B57}"/>
          </ac:picMkLst>
        </pc:picChg>
        <pc:picChg chg="del">
          <ac:chgData name="Maximiliano Ortiz" userId="90727fd8e92db46b" providerId="LiveId" clId="{9BC7EBD1-E6C7-40E2-9BE0-E69EBE0B6810}" dt="2026-07-31T01:56:24.627" v="727"/>
          <ac:picMkLst>
            <pc:docMk/>
            <pc:sldMk cId="817057724" sldId="334"/>
            <ac:picMk id="22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6:24.688" v="747"/>
        <pc:sldMkLst>
          <pc:docMk/>
          <pc:sldMk cId="1673297158" sldId="335"/>
        </pc:sldMkLst>
        <pc:picChg chg="add mod ord">
          <ac:chgData name="Maximiliano Ortiz" userId="90727fd8e92db46b" providerId="LiveId" clId="{9BC7EBD1-E6C7-40E2-9BE0-E69EBE0B6810}" dt="2026-07-31T01:56:24.688" v="747"/>
          <ac:picMkLst>
            <pc:docMk/>
            <pc:sldMk cId="1673297158" sldId="335"/>
            <ac:picMk id="3" creationId="{C468159A-D2FC-6F17-0593-698692E03F87}"/>
          </ac:picMkLst>
        </pc:picChg>
        <pc:picChg chg="del">
          <ac:chgData name="Maximiliano Ortiz" userId="90727fd8e92db46b" providerId="LiveId" clId="{9BC7EBD1-E6C7-40E2-9BE0-E69EBE0B6810}" dt="2026-07-31T01:56:24.673" v="738"/>
          <ac:picMkLst>
            <pc:docMk/>
            <pc:sldMk cId="1673297158" sldId="335"/>
            <ac:picMk id="21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6:24.736" v="758"/>
        <pc:sldMkLst>
          <pc:docMk/>
          <pc:sldMk cId="951530275" sldId="336"/>
        </pc:sldMkLst>
        <pc:picChg chg="add mod ord">
          <ac:chgData name="Maximiliano Ortiz" userId="90727fd8e92db46b" providerId="LiveId" clId="{9BC7EBD1-E6C7-40E2-9BE0-E69EBE0B6810}" dt="2026-07-31T01:56:24.736" v="758"/>
          <ac:picMkLst>
            <pc:docMk/>
            <pc:sldMk cId="951530275" sldId="336"/>
            <ac:picMk id="3" creationId="{35EC9184-61B3-1EC6-4432-504BCA3FFD37}"/>
          </ac:picMkLst>
        </pc:picChg>
        <pc:picChg chg="del">
          <ac:chgData name="Maximiliano Ortiz" userId="90727fd8e92db46b" providerId="LiveId" clId="{9BC7EBD1-E6C7-40E2-9BE0-E69EBE0B6810}" dt="2026-07-31T01:56:24.704" v="749"/>
          <ac:picMkLst>
            <pc:docMk/>
            <pc:sldMk cId="951530275" sldId="336"/>
            <ac:picMk id="23" creationId="{00000000-0000-0000-0000-000000000000}"/>
          </ac:picMkLst>
        </pc:picChg>
      </pc:sldChg>
      <pc:sldChg chg="modSp mod">
        <pc:chgData name="Maximiliano Ortiz" userId="90727fd8e92db46b" providerId="LiveId" clId="{9BC7EBD1-E6C7-40E2-9BE0-E69EBE0B6810}" dt="2026-07-31T01:56:25.378" v="885" actId="20577"/>
        <pc:sldMkLst>
          <pc:docMk/>
          <pc:sldMk cId="1673297158" sldId="337"/>
        </pc:sldMkLst>
        <pc:spChg chg="mod">
          <ac:chgData name="Maximiliano Ortiz" userId="90727fd8e92db46b" providerId="LiveId" clId="{9BC7EBD1-E6C7-40E2-9BE0-E69EBE0B6810}" dt="2026-07-31T01:56:25.362" v="884" actId="20577"/>
          <ac:spMkLst>
            <pc:docMk/>
            <pc:sldMk cId="1673297158" sldId="337"/>
            <ac:spMk id="16" creationId="{40977BCC-FC9A-4B44-B288-3934A3CF210B}"/>
          </ac:spMkLst>
        </pc:spChg>
        <pc:spChg chg="mod">
          <ac:chgData name="Maximiliano Ortiz" userId="90727fd8e92db46b" providerId="LiveId" clId="{9BC7EBD1-E6C7-40E2-9BE0-E69EBE0B6810}" dt="2026-07-31T01:56:25.378" v="885" actId="20577"/>
          <ac:spMkLst>
            <pc:docMk/>
            <pc:sldMk cId="1673297158" sldId="337"/>
            <ac:spMk id="17" creationId="{BFDB84D5-BF9D-40AC-AA80-4053A829666F}"/>
          </ac:spMkLst>
        </pc:spChg>
      </pc:sldChg>
      <pc:sldChg chg="addSp delSp modSp mod">
        <pc:chgData name="Maximiliano Ortiz" userId="90727fd8e92db46b" providerId="LiveId" clId="{9BC7EBD1-E6C7-40E2-9BE0-E69EBE0B6810}" dt="2026-07-31T01:56:24.786" v="769"/>
        <pc:sldMkLst>
          <pc:docMk/>
          <pc:sldMk cId="313021856" sldId="339"/>
        </pc:sldMkLst>
        <pc:picChg chg="add mod ord">
          <ac:chgData name="Maximiliano Ortiz" userId="90727fd8e92db46b" providerId="LiveId" clId="{9BC7EBD1-E6C7-40E2-9BE0-E69EBE0B6810}" dt="2026-07-31T01:56:24.786" v="769"/>
          <ac:picMkLst>
            <pc:docMk/>
            <pc:sldMk cId="313021856" sldId="339"/>
            <ac:picMk id="3" creationId="{43462F1B-B8D0-2EC8-C64C-6C14157E025E}"/>
          </ac:picMkLst>
        </pc:picChg>
        <pc:picChg chg="del">
          <ac:chgData name="Maximiliano Ortiz" userId="90727fd8e92db46b" providerId="LiveId" clId="{9BC7EBD1-E6C7-40E2-9BE0-E69EBE0B6810}" dt="2026-07-31T01:56:24.752" v="760"/>
          <ac:picMkLst>
            <pc:docMk/>
            <pc:sldMk cId="313021856" sldId="339"/>
            <ac:picMk id="27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6:24.826" v="780"/>
        <pc:sldMkLst>
          <pc:docMk/>
          <pc:sldMk cId="313021856" sldId="340"/>
        </pc:sldMkLst>
        <pc:picChg chg="add mod ord">
          <ac:chgData name="Maximiliano Ortiz" userId="90727fd8e92db46b" providerId="LiveId" clId="{9BC7EBD1-E6C7-40E2-9BE0-E69EBE0B6810}" dt="2026-07-31T01:56:24.826" v="780"/>
          <ac:picMkLst>
            <pc:docMk/>
            <pc:sldMk cId="313021856" sldId="340"/>
            <ac:picMk id="3" creationId="{A22B45C5-7A29-A22B-47EE-51852AE13CF7}"/>
          </ac:picMkLst>
        </pc:picChg>
        <pc:picChg chg="del">
          <ac:chgData name="Maximiliano Ortiz" userId="90727fd8e92db46b" providerId="LiveId" clId="{9BC7EBD1-E6C7-40E2-9BE0-E69EBE0B6810}" dt="2026-07-31T01:56:24.799" v="771"/>
          <ac:picMkLst>
            <pc:docMk/>
            <pc:sldMk cId="313021856" sldId="340"/>
            <ac:picMk id="27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6:24.865" v="791"/>
        <pc:sldMkLst>
          <pc:docMk/>
          <pc:sldMk cId="313021856" sldId="341"/>
        </pc:sldMkLst>
        <pc:picChg chg="add mod ord">
          <ac:chgData name="Maximiliano Ortiz" userId="90727fd8e92db46b" providerId="LiveId" clId="{9BC7EBD1-E6C7-40E2-9BE0-E69EBE0B6810}" dt="2026-07-31T01:56:24.865" v="791"/>
          <ac:picMkLst>
            <pc:docMk/>
            <pc:sldMk cId="313021856" sldId="341"/>
            <ac:picMk id="3" creationId="{4AEAB477-EF4C-4139-8566-77CB27B6E1F4}"/>
          </ac:picMkLst>
        </pc:picChg>
        <pc:picChg chg="del">
          <ac:chgData name="Maximiliano Ortiz" userId="90727fd8e92db46b" providerId="LiveId" clId="{9BC7EBD1-E6C7-40E2-9BE0-E69EBE0B6810}" dt="2026-07-31T01:56:24.839" v="782"/>
          <ac:picMkLst>
            <pc:docMk/>
            <pc:sldMk cId="313021856" sldId="341"/>
            <ac:picMk id="27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6:24.901" v="802"/>
        <pc:sldMkLst>
          <pc:docMk/>
          <pc:sldMk cId="313021856" sldId="343"/>
        </pc:sldMkLst>
        <pc:picChg chg="add mod ord">
          <ac:chgData name="Maximiliano Ortiz" userId="90727fd8e92db46b" providerId="LiveId" clId="{9BC7EBD1-E6C7-40E2-9BE0-E69EBE0B6810}" dt="2026-07-31T01:56:24.901" v="802"/>
          <ac:picMkLst>
            <pc:docMk/>
            <pc:sldMk cId="313021856" sldId="343"/>
            <ac:picMk id="3" creationId="{92263392-89E2-D56E-AA3C-D9B4318A0CA8}"/>
          </ac:picMkLst>
        </pc:picChg>
        <pc:picChg chg="del">
          <ac:chgData name="Maximiliano Ortiz" userId="90727fd8e92db46b" providerId="LiveId" clId="{9BC7EBD1-E6C7-40E2-9BE0-E69EBE0B6810}" dt="2026-07-31T01:56:24.871" v="793"/>
          <ac:picMkLst>
            <pc:docMk/>
            <pc:sldMk cId="313021856" sldId="343"/>
            <ac:picMk id="27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6:24.937" v="813"/>
        <pc:sldMkLst>
          <pc:docMk/>
          <pc:sldMk cId="313021856" sldId="344"/>
        </pc:sldMkLst>
        <pc:picChg chg="add mod ord">
          <ac:chgData name="Maximiliano Ortiz" userId="90727fd8e92db46b" providerId="LiveId" clId="{9BC7EBD1-E6C7-40E2-9BE0-E69EBE0B6810}" dt="2026-07-31T01:56:24.937" v="813"/>
          <ac:picMkLst>
            <pc:docMk/>
            <pc:sldMk cId="313021856" sldId="344"/>
            <ac:picMk id="3" creationId="{2374497F-D96C-27B2-6124-521E2EFCAC42}"/>
          </ac:picMkLst>
        </pc:picChg>
        <pc:picChg chg="del">
          <ac:chgData name="Maximiliano Ortiz" userId="90727fd8e92db46b" providerId="LiveId" clId="{9BC7EBD1-E6C7-40E2-9BE0-E69EBE0B6810}" dt="2026-07-31T01:56:24.905" v="804"/>
          <ac:picMkLst>
            <pc:docMk/>
            <pc:sldMk cId="313021856" sldId="344"/>
            <ac:picMk id="27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6:24.969" v="824"/>
        <pc:sldMkLst>
          <pc:docMk/>
          <pc:sldMk cId="313021856" sldId="345"/>
        </pc:sldMkLst>
        <pc:picChg chg="add mod ord">
          <ac:chgData name="Maximiliano Ortiz" userId="90727fd8e92db46b" providerId="LiveId" clId="{9BC7EBD1-E6C7-40E2-9BE0-E69EBE0B6810}" dt="2026-07-31T01:56:24.969" v="824"/>
          <ac:picMkLst>
            <pc:docMk/>
            <pc:sldMk cId="313021856" sldId="345"/>
            <ac:picMk id="3" creationId="{C57EEF13-E6BC-1272-F1B8-A1E0EC2CE1FC}"/>
          </ac:picMkLst>
        </pc:picChg>
        <pc:picChg chg="del">
          <ac:chgData name="Maximiliano Ortiz" userId="90727fd8e92db46b" providerId="LiveId" clId="{9BC7EBD1-E6C7-40E2-9BE0-E69EBE0B6810}" dt="2026-07-31T01:56:24.953" v="815"/>
          <ac:picMkLst>
            <pc:docMk/>
            <pc:sldMk cId="313021856" sldId="345"/>
            <ac:picMk id="27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6:25.020" v="835"/>
        <pc:sldMkLst>
          <pc:docMk/>
          <pc:sldMk cId="313021856" sldId="346"/>
        </pc:sldMkLst>
        <pc:picChg chg="add mod ord">
          <ac:chgData name="Maximiliano Ortiz" userId="90727fd8e92db46b" providerId="LiveId" clId="{9BC7EBD1-E6C7-40E2-9BE0-E69EBE0B6810}" dt="2026-07-31T01:56:25.020" v="835"/>
          <ac:picMkLst>
            <pc:docMk/>
            <pc:sldMk cId="313021856" sldId="346"/>
            <ac:picMk id="3" creationId="{C923F569-7AB8-1801-74BC-A3BCA02A6585}"/>
          </ac:picMkLst>
        </pc:picChg>
        <pc:picChg chg="del">
          <ac:chgData name="Maximiliano Ortiz" userId="90727fd8e92db46b" providerId="LiveId" clId="{9BC7EBD1-E6C7-40E2-9BE0-E69EBE0B6810}" dt="2026-07-31T01:56:24.990" v="826"/>
          <ac:picMkLst>
            <pc:docMk/>
            <pc:sldMk cId="313021856" sldId="346"/>
            <ac:picMk id="27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6:25.077" v="846"/>
        <pc:sldMkLst>
          <pc:docMk/>
          <pc:sldMk cId="313021856" sldId="347"/>
        </pc:sldMkLst>
        <pc:picChg chg="add mod ord">
          <ac:chgData name="Maximiliano Ortiz" userId="90727fd8e92db46b" providerId="LiveId" clId="{9BC7EBD1-E6C7-40E2-9BE0-E69EBE0B6810}" dt="2026-07-31T01:56:25.077" v="846"/>
          <ac:picMkLst>
            <pc:docMk/>
            <pc:sldMk cId="313021856" sldId="347"/>
            <ac:picMk id="3" creationId="{1A2566D0-540A-3AAC-1398-543C1DEAA4D7}"/>
          </ac:picMkLst>
        </pc:picChg>
        <pc:picChg chg="del">
          <ac:chgData name="Maximiliano Ortiz" userId="90727fd8e92db46b" providerId="LiveId" clId="{9BC7EBD1-E6C7-40E2-9BE0-E69EBE0B6810}" dt="2026-07-31T01:56:25.040" v="837"/>
          <ac:picMkLst>
            <pc:docMk/>
            <pc:sldMk cId="313021856" sldId="347"/>
            <ac:picMk id="27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6:25.126" v="857"/>
        <pc:sldMkLst>
          <pc:docMk/>
          <pc:sldMk cId="313021856" sldId="348"/>
        </pc:sldMkLst>
        <pc:picChg chg="add mod ord">
          <ac:chgData name="Maximiliano Ortiz" userId="90727fd8e92db46b" providerId="LiveId" clId="{9BC7EBD1-E6C7-40E2-9BE0-E69EBE0B6810}" dt="2026-07-31T01:56:25.126" v="857"/>
          <ac:picMkLst>
            <pc:docMk/>
            <pc:sldMk cId="313021856" sldId="348"/>
            <ac:picMk id="3" creationId="{485B61E3-8FA8-F9A7-CD89-403792C0065E}"/>
          </ac:picMkLst>
        </pc:picChg>
        <pc:picChg chg="del">
          <ac:chgData name="Maximiliano Ortiz" userId="90727fd8e92db46b" providerId="LiveId" clId="{9BC7EBD1-E6C7-40E2-9BE0-E69EBE0B6810}" dt="2026-07-31T01:56:25.087" v="848"/>
          <ac:picMkLst>
            <pc:docMk/>
            <pc:sldMk cId="313021856" sldId="348"/>
            <ac:picMk id="27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6:25.226" v="868"/>
        <pc:sldMkLst>
          <pc:docMk/>
          <pc:sldMk cId="313021856" sldId="349"/>
        </pc:sldMkLst>
        <pc:picChg chg="add mod ord">
          <ac:chgData name="Maximiliano Ortiz" userId="90727fd8e92db46b" providerId="LiveId" clId="{9BC7EBD1-E6C7-40E2-9BE0-E69EBE0B6810}" dt="2026-07-31T01:56:25.226" v="868"/>
          <ac:picMkLst>
            <pc:docMk/>
            <pc:sldMk cId="313021856" sldId="349"/>
            <ac:picMk id="3" creationId="{00241F56-1F3C-6A0E-F3C9-52C74F04CA52}"/>
          </ac:picMkLst>
        </pc:picChg>
        <pc:picChg chg="del">
          <ac:chgData name="Maximiliano Ortiz" userId="90727fd8e92db46b" providerId="LiveId" clId="{9BC7EBD1-E6C7-40E2-9BE0-E69EBE0B6810}" dt="2026-07-31T01:56:25.156" v="859"/>
          <ac:picMkLst>
            <pc:docMk/>
            <pc:sldMk cId="313021856" sldId="349"/>
            <ac:picMk id="27" creationId="{00000000-0000-0000-0000-000000000000}"/>
          </ac:picMkLst>
        </pc:picChg>
      </pc:sldChg>
      <pc:sldChg chg="addSp delSp modSp mod">
        <pc:chgData name="Maximiliano Ortiz" userId="90727fd8e92db46b" providerId="LiveId" clId="{9BC7EBD1-E6C7-40E2-9BE0-E69EBE0B6810}" dt="2026-07-31T01:56:25.254" v="879"/>
        <pc:sldMkLst>
          <pc:docMk/>
          <pc:sldMk cId="313021856" sldId="350"/>
        </pc:sldMkLst>
        <pc:picChg chg="add mod ord">
          <ac:chgData name="Maximiliano Ortiz" userId="90727fd8e92db46b" providerId="LiveId" clId="{9BC7EBD1-E6C7-40E2-9BE0-E69EBE0B6810}" dt="2026-07-31T01:56:25.254" v="879"/>
          <ac:picMkLst>
            <pc:docMk/>
            <pc:sldMk cId="313021856" sldId="350"/>
            <ac:picMk id="3" creationId="{7FDC2FCF-D40D-A0D3-74C0-3D89B7672552}"/>
          </ac:picMkLst>
        </pc:picChg>
        <pc:picChg chg="del">
          <ac:chgData name="Maximiliano Ortiz" userId="90727fd8e92db46b" providerId="LiveId" clId="{9BC7EBD1-E6C7-40E2-9BE0-E69EBE0B6810}" dt="2026-07-31T01:56:25.236" v="870"/>
          <ac:picMkLst>
            <pc:docMk/>
            <pc:sldMk cId="313021856" sldId="350"/>
            <ac:picMk id="27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U03-001 — Fundamentos de la mecánica ondulatoria</a:t>
            </a:r>
          </a:p>
          <a:p>
            <a:endParaRPr/>
          </a:p>
          <a:p>
            <a:r>
              <a:t>- **Explicación extendida:** Abrir con la pregunta “si oímos un tono a distancia, ¿viajó el aire desde el parlante hasta el oído?”. Cierre conceptual: El sonido exige distinguir movimiento local, representación y propagación.</a:t>
            </a:r>
          </a:p>
          <a:p>
            <a:r>
              <a:t>- **Guía del visual/diagrama:** —</a:t>
            </a:r>
          </a:p>
          <a:p>
            <a:r>
              <a:t>- **Pregunta al grupo:** Si oímos un tono a distancia, ¿viajó el aire desde el parlante hasta el oído?</a:t>
            </a:r>
          </a:p>
          <a:p>
            <a:r>
              <a:t>- **Respuesta esperada:** No; las partículas de aire oscilan localmente y la perturbación se propaga.</a:t>
            </a:r>
          </a:p>
          <a:p>
            <a:r>
              <a:t>- **Demostración/audio/video/GIF:** —</a:t>
            </a:r>
          </a:p>
          <a:p>
            <a:r>
              <a:t>- **Error frecuente o énfasis:** Mantener consistentes variable, referencia, signo y unidad.</a:t>
            </a:r>
          </a:p>
          <a:p>
            <a:r>
              <a:t>- **Transición oral:** “Presentar un fenómeno que obligue a separar qué se mueve de qué avanza.”</a:t>
            </a:r>
          </a:p>
          <a:p>
            <a:r>
              <a:t>- **Duración aproximada:** 1 min.</a:t>
            </a:r>
          </a:p>
          <a:p>
            <a:r>
              <a:t>- **[Sources]:** PO; TEX 3.1; PDF p. 61; BR.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U03-002 — Un parlante vibra: ¿qué llega hasta el oído?</a:t>
            </a:r>
          </a:p>
          <a:p>
            <a:endParaRPr/>
          </a:p>
          <a:p>
            <a:r>
              <a:t>- **Explicación extendida:** Recoger explicaciones sin corregir; escuchar si aparece “el aire viaja”, “la onda es la curva” o “más frecuencia viaja más rápido”. Escuchar una justificación antes de validar o corregir. Cierre conceptual: El cono se mueve localmente y la perturbación se transmite por el medio.</a:t>
            </a:r>
          </a:p>
          <a:p>
            <a:r>
              <a:t>- **Guía del visual/diagrama:** 1. Señalar el objeto, sistema o ecuación central. 2. Recorrer el esquema en este orden: Secuencia incompleta parlante–aire–oído con tres preguntas de predicción. 3. Distinguir conectores de movimiento local y propagación cuando corresponda. 4. Cerrar con una sola idea: El cono se mueve localmente y la perturbación se transmite por el medio. El esquema es conceptual y no está a escala.</a:t>
            </a:r>
          </a:p>
          <a:p>
            <a:r>
              <a:t>- **Pregunta al grupo:** ¿Qué elemento creen que recorre toda la distancia?</a:t>
            </a:r>
          </a:p>
          <a:p>
            <a:r>
              <a:t>- **Respuesta esperada:** Respuesta diagnóstica abierta; se espera distinguir al menos cono, aire y perturbación.</a:t>
            </a:r>
          </a:p>
          <a:p>
            <a:r>
              <a:t>- **Demostración/audio/video/GIF:** —</a:t>
            </a:r>
          </a:p>
          <a:p>
            <a:r>
              <a:t>- **Error frecuente o énfasis:** No leer el esquema como representación anatómica o geométrica a escala.</a:t>
            </a:r>
          </a:p>
          <a:p>
            <a:r>
              <a:t>- **Transición oral:** “Usar las respuestas para un diagnóstico breve.”</a:t>
            </a:r>
          </a:p>
          <a:p>
            <a:r>
              <a:t>- **Duración aproximada:** 5 min.</a:t>
            </a:r>
          </a:p>
          <a:p>
            <a:r>
              <a:t>- **[Sources]:** TEX 3.3 y 3.6; PDF pp. 62–64, 70–72; BR.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U03-003 — Cuatro afirmaciones para empezar</a:t>
            </a:r>
          </a:p>
          <a:p>
            <a:endParaRPr/>
          </a:p>
          <a:p>
            <a:r>
              <a:t>- **Explicación extendida:** Registrar patrones y anunciar que cada afirmación se retomará en un bloque distinto. Escuchar una justificación antes de validar o corregir. Cierre conceptual: Las razones importan más que acertar por intuición.</a:t>
            </a:r>
          </a:p>
          <a:p>
            <a:r>
              <a:t>- **Guía del visual/diagrama:** —</a:t>
            </a:r>
          </a:p>
          <a:p>
            <a:r>
              <a:t>- **Pregunta al grupo:** ¿Qué afirmación les genera más duda y por qué?</a:t>
            </a:r>
          </a:p>
          <a:p>
            <a:r>
              <a:t>- **Respuesta esperada:** No se corrige todavía; se registra la justificación para retomarla.</a:t>
            </a:r>
          </a:p>
          <a:p>
            <a:r>
              <a:t>- **Demostración/audio/video/GIF:** —</a:t>
            </a:r>
          </a:p>
          <a:p>
            <a:r>
              <a:t>- **Error frecuente o énfasis:** Mantener consistentes variable, referencia, signo y unidad.</a:t>
            </a:r>
          </a:p>
          <a:p>
            <a:r>
              <a:t>- **Transición oral:** “Recuperar herramientas de U1 y U2 antes de avanzar.”</a:t>
            </a:r>
          </a:p>
          <a:p>
            <a:r>
              <a:t>- **Duración aproximada:** 3–5 min si se selecciona.</a:t>
            </a:r>
          </a:p>
          <a:p>
            <a:r>
              <a:t>- **[Sources]:** TEX 3.5 y 3.10; PDF pp. 68–70, 79–80; INV errores.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U03-004 — Equilibrio, elasticidad y gráficos: lo que ya sabemos</a:t>
            </a:r>
          </a:p>
          <a:p>
            <a:endParaRPr/>
          </a:p>
          <a:p>
            <a:r>
              <a:t>- **Explicación extendida:** Verificar que el signo depende del eje y que una fuerza hacia el equilibrio no implica velocidad hacia el equilibrio. Cierre conceptual: El eje, las unidades, la fuerza restauradora y la lectura de gráficos sostienen toda la unidad.</a:t>
            </a:r>
          </a:p>
          <a:p>
            <a:r>
              <a:t>- **Guía del visual/diagrama:** 1. Señalar el objeto, sistema o ecuación central. 2. Recorrer el esquema en este orden: Dos columnas: “ya podemos usar” y “conviene recuperar” → seno/coseno, `f=1/T`, equilibrio, `F_el=-k_s x`, unidades. 3. Distinguir conectores de movimiento local y propagación cuando corresponda. 4. Cerrar con una sola idea: El eje, las unidades, la fuerza restauradora y la lectura de gráficos sostienen toda la unidad. El esquema es conceptual y no está a escala.</a:t>
            </a:r>
          </a:p>
          <a:p>
            <a:r>
              <a:t>- **Pregunta al grupo:** Si `x&gt;0`, ¿qué signo tiene `F_el`?</a:t>
            </a:r>
          </a:p>
          <a:p>
            <a:r>
              <a:t>- **Respuesta esperada:** Negativo, porque la fuerza restauradora apunta hacia el equilibrio.</a:t>
            </a:r>
          </a:p>
          <a:p>
            <a:r>
              <a:t>- **Demostración/audio/video/GIF:** —</a:t>
            </a:r>
          </a:p>
          <a:p>
            <a:r>
              <a:t>- **Error frecuente o énfasis:** Una fuerza hacia el equilibrio no implica que la velocidad también apunte hacia el equilibrio en ese instante.</a:t>
            </a:r>
          </a:p>
          <a:p>
            <a:r>
              <a:t>- **Transición oral:** “Convertir los prerrequisitos en resultados observables.”</a:t>
            </a:r>
          </a:p>
          <a:p>
            <a:r>
              <a:t>- **Duración aproximada:** 4 min.</a:t>
            </a:r>
          </a:p>
          <a:p>
            <a:r>
              <a:t>- **[Sources]:** TEX 3.2; PDF p. 62; CDM; U2;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U03-005 — Qué podremos explicar, leer y calcular</a:t>
            </a:r>
          </a:p>
          <a:p>
            <a:endParaRPr/>
          </a:p>
          <a:p>
            <a:r>
              <a:t>- **Explicación extendida:** Parafrasear los objetivos sin leerlos como lista administrativa; señalar la evidencia esperada. Cierre conceptual: La unidad combina interpretación física, lectura gráfica, cálculo simple y aplicación.</a:t>
            </a:r>
          </a:p>
          <a:p>
            <a:r>
              <a:t>- **Guía del visual/diagrama:** —</a:t>
            </a:r>
          </a:p>
          <a:p>
            <a:r>
              <a:t>- **Pregunta al grupo:** ¿Cómo justificaría la idea central con variables, unidades o relaciones físicas?</a:t>
            </a:r>
          </a:p>
          <a:p>
            <a:r>
              <a:t>- **Respuesta esperada:** La unidad combina interpretación física, lectura gráfica, cálculo simple y aplicación.</a:t>
            </a:r>
          </a:p>
          <a:p>
            <a:r>
              <a:t>- **Demostración/audio/video/GIF:** —</a:t>
            </a:r>
          </a:p>
          <a:p>
            <a:r>
              <a:t>- **Error frecuente o énfasis:** Mantener consistentes variable, referencia, signo y unidad.</a:t>
            </a:r>
          </a:p>
          <a:p>
            <a:r>
              <a:t>- **Transición oral:** “Mostrar el itinerario que construye esas capacidades.”</a:t>
            </a:r>
          </a:p>
          <a:p>
            <a:r>
              <a:t>- **Duración aproximada:** 3 min.</a:t>
            </a:r>
          </a:p>
          <a:p>
            <a:r>
              <a:t>- **[Sources]:** BR, objetivos; CM.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U03-006 — Del movimiento local a la onda que llega</a:t>
            </a:r>
          </a:p>
          <a:p>
            <a:endParaRPr/>
          </a:p>
          <a:p>
            <a:r>
              <a:t>- **Explicación extendida:** Explicar que el mapa volverá en cada recapitulación y que no equivale al índice del capítulo. Señalar la etapa activa sin convertir el mapa en una lista para memorizar. Cierre conceptual: La clase avanza de un oscilador a una descripción temporal y espacial de la propagación.</a:t>
            </a:r>
          </a:p>
          <a:p>
            <a:r>
              <a:t>- **Guía del visual/diagrama:** 1. Señalar el objeto, sistema o ecuación central. 2. Recorrer el esquema en este orden: Nueve etapas: oscilación → MAS → parámetros → sinusoide. 3. Distinguir conectores de movimiento local y propagación cuando corresponda. 4. Cerrar con una sola idea: La clase avanza de un oscilador a una descripción temporal y espacial de la propagación. El esquema es conceptual y no está a escala.</a:t>
            </a:r>
          </a:p>
          <a:p>
            <a:r>
              <a:t>- **Pregunta al grupo:** ¿En qué etapa del recorrido estamos y qué conexión sigue?</a:t>
            </a:r>
          </a:p>
          <a:p>
            <a:r>
              <a:t>- **Respuesta esperada:** La clase avanza de un oscilador a una descripción temporal y espacial de la propagación.</a:t>
            </a:r>
          </a:p>
          <a:p>
            <a:r>
              <a:t>- **Demostración/audio/video/GIF:** —</a:t>
            </a:r>
          </a:p>
          <a:p>
            <a:r>
              <a:t>- **Error frecuente o énfasis:** No leer el esquema como representación anatómica o geométrica a escala.</a:t>
            </a:r>
          </a:p>
          <a:p>
            <a:r>
              <a:t>- **Transición oral:** “Abrir el primer contraste: movimiento local frente a propagación.”</a:t>
            </a:r>
          </a:p>
          <a:p>
            <a:r>
              <a:t>- **Duración aproximada:** 2 min.</a:t>
            </a:r>
          </a:p>
          <a:p>
            <a:r>
              <a:t>- **[Sources]:** BR; CM; CDM.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U03-007 — Una parte oscila; la perturbación avanza</a:t>
            </a:r>
          </a:p>
          <a:p>
            <a:endParaRPr/>
          </a:p>
          <a:p>
            <a:r>
              <a:t>- **Explicación extendida:** Volver al parlante y pedir qué objeto permanece cerca de su posición de equilibrio. Cierre conceptual: Movimiento local y propagación son descripciones diferentes del mismo fenómeno ondulatorio.</a:t>
            </a:r>
          </a:p>
          <a:p>
            <a:r>
              <a:t>- **Guía del visual/diagrama:** —</a:t>
            </a:r>
          </a:p>
          <a:p>
            <a:r>
              <a:t>- **Pregunta al grupo:** ¿Qué pregunta física organiza este bloque?</a:t>
            </a:r>
          </a:p>
          <a:p>
            <a:r>
              <a:t>- **Respuesta esperada:** Movimiento local y propagación son descripciones diferentes del mismo fenómeno ondulatorio.</a:t>
            </a:r>
          </a:p>
          <a:p>
            <a:r>
              <a:t>- **Demostración/audio/video/GIF:** —</a:t>
            </a:r>
          </a:p>
          <a:p>
            <a:r>
              <a:t>- **Error frecuente o énfasis:** Mantener consistentes variable, referencia, signo y unidad.</a:t>
            </a:r>
          </a:p>
          <a:p>
            <a:r>
              <a:t>- **Transición oral:** “Definir primero una oscilación local.”</a:t>
            </a:r>
          </a:p>
          <a:p>
            <a:r>
              <a:t>- **Duración aproximada:** 1 min.</a:t>
            </a:r>
          </a:p>
          <a:p>
            <a:r>
              <a:t>- **[Sources]:** TEX 3.3; PDF pp. 62–65.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U03-008 — Oscilar es ir y volver alrededor de un equilibrio</a:t>
            </a:r>
          </a:p>
          <a:p>
            <a:endParaRPr/>
          </a:p>
          <a:p>
            <a:r>
              <a:t>- **Explicación extendida:** Diferenciar oscilatorio, periódico y armónico; no introducir aún la ecuación completa. Comenzar con el fenómeno y un contraejemplo; fijar el término después. Cierre conceptual: La posición cambia repetidamente alrededor de una referencia; no toda oscilación es armónica.</a:t>
            </a:r>
          </a:p>
          <a:p>
            <a:r>
              <a:t>- **Guía del visual/diagrama:** 1. Señalar el objeto, sistema o ecuación central. 2. Recorrer el esquema en este orden: Equilibrio, elongación, extremos y retorno → ejemplo de masa–resorte. 3. Distinguir conectores de movimiento local y propagación cuando corresponda. 4. Cerrar con una sola idea: La posición cambia repetidamente alrededor de una referencia; no toda oscilación es armónica. El esquema es conceptual y no está a escala.</a:t>
            </a:r>
          </a:p>
          <a:p>
            <a:r>
              <a:t>- **Pregunta al grupo:** ¿Toda oscilación repetitiva es armónica?</a:t>
            </a:r>
          </a:p>
          <a:p>
            <a:r>
              <a:t>- **Respuesta esperada:** No; el MAS exige una relación restauradora lineal específica.</a:t>
            </a:r>
          </a:p>
          <a:p>
            <a:r>
              <a:t>- **Demostración/audio/video/GIF:** —</a:t>
            </a:r>
          </a:p>
          <a:p>
            <a:r>
              <a:t>- **Error frecuente o énfasis:** No usar oscilatorio, periódico y armónico como sinónimos.</a:t>
            </a:r>
          </a:p>
          <a:p>
            <a:r>
              <a:t>- **Transición oral:** “Preguntar qué cambia cuando el movimiento de una región afecta a la siguiente.”</a:t>
            </a:r>
          </a:p>
          <a:p>
            <a:r>
              <a:t>- **Duración aproximada:** 3 min.</a:t>
            </a:r>
          </a:p>
          <a:p>
            <a:r>
              <a:t>- **[Sources]:** PO; TEX 3.3.1; PDF p. 62; INV U03-C01–C03.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U03-009 — Una interacción vecina transmite la perturbación</a:t>
            </a:r>
          </a:p>
          <a:p>
            <a:endParaRPr/>
          </a:p>
          <a:p>
            <a:r>
              <a:t>- **Explicación extendida:** Narrar causa local, retraso y transferencia; evitar decir que “la forma material viaja”. Cierre conceptual: Cada región mueve a la siguiente sin trasladarse con el frente.</a:t>
            </a:r>
          </a:p>
          <a:p>
            <a:r>
              <a:t>- **Guía del visual/diagrama:** 1. Señalar el objeto, sistema o ecuación central. 2. Recorrer el esquema en este orden: Cinco instantes de una cadena de partículas o resortes → frente de perturbación y movimientos locales. 3. Distinguir conectores de movimiento local y propagación cuando corresponda. 4. Cerrar con una sola idea: Cada región mueve a la siguiente sin trasladarse con el frente. El esquema es conceptual y no está a escala.</a:t>
            </a:r>
          </a:p>
          <a:p>
            <a:r>
              <a:t>- **Pregunta al grupo:** ¿Qué evidencia muestra que la perturbación avanza?</a:t>
            </a:r>
          </a:p>
          <a:p>
            <a:r>
              <a:t>- **Respuesta esperada:** Regiones cada vez más alejadas comienzan a responder con retraso.</a:t>
            </a:r>
          </a:p>
          <a:p>
            <a:r>
              <a:t>- **Demostración/audio/video/GIF:** —</a:t>
            </a:r>
          </a:p>
          <a:p>
            <a:r>
              <a:t>- **Error frecuente o énfasis:** No decir que una forma material viaja de partícula en partícula.</a:t>
            </a:r>
          </a:p>
          <a:p>
            <a:r>
              <a:t>- **Transición oral:** “Nombrar qué sí se transporta y qué no.”</a:t>
            </a:r>
          </a:p>
          <a:p>
            <a:r>
              <a:t>- **Duración aproximada:** 3 min.</a:t>
            </a:r>
          </a:p>
          <a:p>
            <a:r>
              <a:t>- **[Sources]:** TEX 3.3.2; PDF pp. 63–64; INV U03-C04–C06.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U03-010 — Materia, perturbación y energía no recorren lo mismo</a:t>
            </a:r>
          </a:p>
          <a:p>
            <a:endParaRPr/>
          </a:p>
          <a:p>
            <a:r>
              <a:t>- **Explicación extendida:** Usar una marca de corcho o una espira para mostrar movimiento local; aclarar el alcance idealizado. Nombrar primero lo común y luego la diferencia que cambia la interpretación. Cierre conceptual: En una onda mecánica la materia oscila localmente mientras la perturbación y la energía se propagan.</a:t>
            </a:r>
          </a:p>
          <a:p>
            <a:r>
              <a:t>- **Guía del visual/diagrama:** 1. Señalar el objeto, sistema o ecuación central. 2. Recorrer el esquema en este orden: Comparación por trayectoria, alcance y ejemplo → límite explícito sobre transporte neto de materia. 3. Distinguir conectores de movimiento local y propagación cuando corresponda. 4. Cerrar con una sola idea: En una onda mecánica la materia oscila localmente mientras la perturbación y la energía se propagan. El esquema es conceptual y no está a escala.</a:t>
            </a:r>
          </a:p>
          <a:p>
            <a:r>
              <a:t>- **Pregunta al grupo:** ¿Qué se transporta sin que la materia recorra toda la distancia?</a:t>
            </a:r>
          </a:p>
          <a:p>
            <a:r>
              <a:t>- **Respuesta esperada:** La perturbación y la energía pueden propagarse; la materia oscila localmente.</a:t>
            </a:r>
          </a:p>
          <a:p>
            <a:r>
              <a:t>- **Demostración/audio/video/GIF:** —</a:t>
            </a:r>
          </a:p>
          <a:p>
            <a:r>
              <a:t>- **Error frecuente o énfasis:** No afirmar transporte neto de materia en el modelo ideal.</a:t>
            </a:r>
          </a:p>
          <a:p>
            <a:r>
              <a:t>- **Transición oral:** “Definir qué necesita una onda mecánica para existir.”</a:t>
            </a:r>
          </a:p>
          <a:p>
            <a:r>
              <a:t>- **Duración aproximada:** 3 min.</a:t>
            </a:r>
          </a:p>
          <a:p>
            <a:r>
              <a:t>- **[Sources]:** TEX 3.3.2 y 3.10; PDF pp. 63–64, 79.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U03-011 — Una onda mecánica necesita medio e interacción</a:t>
            </a:r>
          </a:p>
          <a:p>
            <a:endParaRPr/>
          </a:p>
          <a:p>
            <a:r>
              <a:t>- **Explicación extendida:** Evitar generalizar a todas las ondas; indicar que aquí se estudian ondas mecánicas. Comenzar con el fenómeno y un contraejemplo; fijar el término después. Cierre conceptual: Sin medio material no hay onda sonora mecánica.</a:t>
            </a:r>
          </a:p>
          <a:p>
            <a:r>
              <a:t>- **Guía del visual/diagrama:** 1. Señalar el objeto, sistema o ecuación central. 2. Recorrer el esquema en este orden: Definición, tres condiciones y contraste mínimo con el vacío. 3. Distinguir conectores de movimiento local y propagación cuando corresponda. 4. Cerrar con una sola idea: Sin medio material no hay onda sonora mecánica. El esquema es conceptual y no está a escala.</a:t>
            </a:r>
          </a:p>
          <a:p>
            <a:r>
              <a:t>- **Pregunta al grupo:** ¿Puede propagarse sonido en el vacío?</a:t>
            </a:r>
          </a:p>
          <a:p>
            <a:r>
              <a:t>- **Respuesta esperada:** No, porque es una onda mecánica y necesita medio material.</a:t>
            </a:r>
          </a:p>
          <a:p>
            <a:r>
              <a:t>- **Demostración/audio/video/GIF:** —</a:t>
            </a:r>
          </a:p>
          <a:p>
            <a:r>
              <a:t>- **Error frecuente o énfasis:** La necesidad de medio se refiere a ondas mecánicas; no a toda clase de onda.</a:t>
            </a:r>
          </a:p>
          <a:p>
            <a:r>
              <a:t>- **Transición oral:** “Clasificar el movimiento local respecto de la dirección de propagación.”</a:t>
            </a:r>
          </a:p>
          <a:p>
            <a:r>
              <a:t>- **Duración aproximada:** 3 min.</a:t>
            </a:r>
          </a:p>
          <a:p>
            <a:r>
              <a:t>- **[Sources]:** TEX 3.3.2; PDF pp. 63–64; GLO.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U03-012 — Longitudinal y transversal: dos direcciones</a:t>
            </a:r>
          </a:p>
          <a:p>
            <a:endParaRPr/>
          </a:p>
          <a:p>
            <a:r>
              <a:t>- **Explicación extendida:** Subrayar que el sonido en fluidos se modela principalmente como longitudinal; no confundir el dibujo sinusoidal con movimiento transversal del aire. Nombrar primero lo común y luego la diferencia que cambia la interpretación. Cierre conceptual: La clasificación depende de la orientación del movimiento local respecto del avance.</a:t>
            </a:r>
          </a:p>
          <a:p>
            <a:r>
              <a:t>- **Guía del visual/diagrama:** 1. Señalar el objeto, sistema o ecuación central. 2. Recorrer el esquema en este orden: Dos casos con flecha de propagación y flechas de desplazamiento → aire y cuerda como ejemplos. 3. Distinguir conectores de movimiento local y propagación cuando corresponda. 4. Cerrar con una sola idea: La clasificación depende de la orientación del movimiento local respecto del avance. El esquema es conceptual y no está a escala.</a:t>
            </a:r>
          </a:p>
          <a:p>
            <a:r>
              <a:t>- **Pregunta al grupo:** ¿Qué dos direcciones hay que comparar?</a:t>
            </a:r>
          </a:p>
          <a:p>
            <a:r>
              <a:t>- **Respuesta esperada:** El movimiento local de las partículas y la dirección de propagación.</a:t>
            </a:r>
          </a:p>
          <a:p>
            <a:r>
              <a:t>- **Demostración/audio/video/GIF:** —</a:t>
            </a:r>
          </a:p>
          <a:p>
            <a:r>
              <a:t>- **Error frecuente o énfasis:** No clasificar por la orientación del dibujo, sino por las dos direcciones físicas.</a:t>
            </a:r>
          </a:p>
          <a:p>
            <a:r>
              <a:t>- **Transición oral:** “Observar el mecanismo en una demostración concreta.”</a:t>
            </a:r>
          </a:p>
          <a:p>
            <a:r>
              <a:t>- **Duración aproximada:** 3–5 min si se selecciona.</a:t>
            </a:r>
          </a:p>
          <a:p>
            <a:r>
              <a:t>- **[Sources]:** TEX 3.3.3; PDF pp. 64–65; INV U03-C07–C08.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U03-013 — Un resorte permite ver movimiento local y frente</a:t>
            </a:r>
          </a:p>
          <a:p>
            <a:endParaRPr/>
          </a:p>
          <a:p>
            <a:r>
              <a:t>- **Explicación extendida:** Pedir predicción, observar y volver a formular con “partícula”, “perturbación” y “propagación”. Cierre conceptual: Una marca del medio puede volver casi al mismo lugar mientras el pulso avanza.</a:t>
            </a:r>
          </a:p>
          <a:p>
            <a:r>
              <a:t>- **Guía del visual/diagrama:** —</a:t>
            </a:r>
          </a:p>
          <a:p>
            <a:r>
              <a:t>- **Pregunta al grupo:** ¿Cómo justificaría la idea central con variables, unidades o relaciones físicas?</a:t>
            </a:r>
          </a:p>
          <a:p>
            <a:r>
              <a:t>- **Respuesta esperada:** Una marca del medio puede volver casi al mismo lugar mientras el pulso avanza.</a:t>
            </a:r>
          </a:p>
          <a:p>
            <a:r>
              <a:t>- **Demostración/audio/video/GIF:** Reproducir: MEDIA: demostración propia con resorte o GIF técnico; alternativa estática en 4 fotogramas. Mostrar primero sin narración y luego seguir la marca o el frente. Si el recurso no se reproduce, usar la secuencia estática incluida.</a:t>
            </a:r>
          </a:p>
          <a:p>
            <a:r>
              <a:t>- **Error frecuente o énfasis:** Mantener consistentes variable, referencia, signo y unidad.</a:t>
            </a:r>
          </a:p>
          <a:p>
            <a:r>
              <a:t>- **Transición oral:** “Comprobar la distinción sin apoyarse solo en vocabulario.”</a:t>
            </a:r>
          </a:p>
          <a:p>
            <a:r>
              <a:t>- **Duración aproximada:** 3–5 min si se selecciona.</a:t>
            </a:r>
          </a:p>
          <a:p>
            <a:r>
              <a:t>- **[Sources]:** TEX 3.3.4; PDF p. 65; 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U03-014 — Si la marca vuelve, ¿la onda también volvió?</a:t>
            </a:r>
          </a:p>
          <a:p>
            <a:endParaRPr/>
          </a:p>
          <a:p>
            <a:r>
              <a:t>- **Explicación extendida:** Exigir que la respuesta nombre dos referentes distintos. Escuchar una justificación antes de validar o corregir. Cierre conceptual: La posición final de una región no informa por sí sola la posición del frente.</a:t>
            </a:r>
          </a:p>
          <a:p>
            <a:r>
              <a:t>- **Guía del visual/diagrama:** 1. Señalar el objeto, sistema o ecuación central. 2. Recorrer el esquema en este orden: Secuencia de cuatro estados y opciones razonadas sobre marca, frente y energía. 3. Distinguir conectores de movimiento local y propagación cuando corresponda. 4. Cerrar con una sola idea: La posición final de una región no informa por sí sola la posición del frente. El esquema es conceptual y no está a escala.</a:t>
            </a:r>
          </a:p>
          <a:p>
            <a:r>
              <a:t>- **Pregunta al grupo:** ¿Por qué la marca vuelve pero la onda no?</a:t>
            </a:r>
          </a:p>
          <a:p>
            <a:r>
              <a:t>- **Respuesta esperada:** La marca representa materia local; el estado de perturbación se transmite a vecinos.</a:t>
            </a:r>
          </a:p>
          <a:p>
            <a:r>
              <a:t>- **Demostración/audio/video/GIF:** —</a:t>
            </a:r>
          </a:p>
          <a:p>
            <a:r>
              <a:t>- **Error frecuente o énfasis:** No leer el esquema como representación anatómica o geométrica a escala.</a:t>
            </a:r>
          </a:p>
          <a:p>
            <a:r>
              <a:t>- **Transición oral:** “Aplicar la distinción al aparato fonador y al oído.”</a:t>
            </a:r>
          </a:p>
          <a:p>
            <a:r>
              <a:t>- **Duración aproximada:** 5 min.</a:t>
            </a:r>
          </a:p>
          <a:p>
            <a:r>
              <a:t>- **[Sources]:** TEX ejercicios C1 y G1; PDF pp. 80–82.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U03-015 — Fuente y receptor también oscilan localmente</a:t>
            </a:r>
          </a:p>
          <a:p>
            <a:endParaRPr/>
          </a:p>
          <a:p>
            <a:r>
              <a:t>- **Explicación extendida:** Evitar afirmar que toda anatomía se comporta como resorte ideal; usar la cadena como función, no como copia anatómica. Separar utilidad física, condiciones del modelo y límite clínico. Cierre conceptual: Pliegues vocales, aire y estructuras receptoras cumplen funciones distintas dentro de una cadena.</a:t>
            </a:r>
          </a:p>
          <a:p>
            <a:r>
              <a:t>- **Guía del visual/diagrama:** 1. Señalar el objeto, sistema o ecuación central. 2. Recorrer el esquema en este orden: Esquema fuente–medio–receptor con movimiento local en extremos y propagación en el medio → límites del modelo. 3. Distinguir conectores de movimiento local y propagación cuando corresponda. 4. Cerrar con una sola idea: Pliegues vocales, aire y estructuras receptoras cumplen funciones distintas dentro de una cadena. El esquema es conceptual y no está a escala.</a:t>
            </a:r>
          </a:p>
          <a:p>
            <a:r>
              <a:t>- **Pregunta al grupo:** ¿Qué permite afirmar el modelo y qué queda fuera de su alcance?</a:t>
            </a:r>
          </a:p>
          <a:p>
            <a:r>
              <a:t>- **Respuesta esperada:** Pliegues vocales, aire y estructuras receptoras cumplen funciones distintas dentro de una cadena.</a:t>
            </a:r>
          </a:p>
          <a:p>
            <a:r>
              <a:t>- **Demostración/audio/video/GIF:** —</a:t>
            </a:r>
          </a:p>
          <a:p>
            <a:r>
              <a:t>- **Error frecuente o énfasis:** No leer el esquema como representación anatómica o geométrica a escala.</a:t>
            </a:r>
          </a:p>
          <a:p>
            <a:r>
              <a:t>- **Transición oral:** “Cerrar el bloque con una regla de decisión.”</a:t>
            </a:r>
          </a:p>
          <a:p>
            <a:r>
              <a:t>- **Duración aproximada:** 4 min.</a:t>
            </a:r>
          </a:p>
          <a:p>
            <a:r>
              <a:t>- **[Sources]:** TEX 3.9.1; PDF pp. 77–78; BR aplicaciones.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U03-016 — Hasta acá: qué oscila y qué se propaga</a:t>
            </a:r>
          </a:p>
          <a:p>
            <a:endParaRPr/>
          </a:p>
          <a:p>
            <a:r>
              <a:t>- **Explicación extendida:** Repetición pedagógica: reformular la distinción en un contexto biológico; evitar repetir definiciones literales. Reconstruir relaciones; evitar una enumeración de palabras. Cierre conceptual: Antes de usar fórmulas hay que identificar sistema, variable local, medio y dirección de avance.</a:t>
            </a:r>
          </a:p>
          <a:p>
            <a:r>
              <a:t>- **Guía del visual/diagrama:** 1. Señalar el objeto, sistema o ecuación central. 2. Recorrer el esquema en este orden: Cuatro preguntas de lectura y retorno al mapa de clase. 3. Distinguir conectores de movimiento local y propagación cuando corresponda. 4. Cerrar con una sola idea: Antes de usar fórmulas hay que identificar sistema, variable local, medio y dirección de avance. El esquema es conceptual y no está a escala.</a:t>
            </a:r>
          </a:p>
          <a:p>
            <a:r>
              <a:t>- **Pregunta al grupo:** ¿Qué oscila y qué se propaga en el aire?</a:t>
            </a:r>
          </a:p>
          <a:p>
            <a:r>
              <a:t>- **Respuesta esperada:** Las partículas oscilan localmente; se propagan la perturbación y la energía.</a:t>
            </a:r>
          </a:p>
          <a:p>
            <a:r>
              <a:t>- **Demostración/audio/video/GIF:** —</a:t>
            </a:r>
          </a:p>
          <a:p>
            <a:r>
              <a:t>- **Error frecuente o énfasis:** No leer el esquema como representación anatómica o geométrica a escala.</a:t>
            </a:r>
          </a:p>
          <a:p>
            <a:r>
              <a:t>- **Transición oral:** “Pasar de cualquier oscilación a un modelo ideal especialmente útil.”</a:t>
            </a:r>
          </a:p>
          <a:p>
            <a:r>
              <a:t>- **Duración aproximada:** 3 min.</a:t>
            </a:r>
          </a:p>
          <a:p>
            <a:r>
              <a:t>- **[Sources]:** PO; TEX 3.3; CM; CDM.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U03-017 — Un modelo simple para una oscilación regular</a:t>
            </a:r>
          </a:p>
          <a:p>
            <a:endParaRPr/>
          </a:p>
          <a:p>
            <a:r>
              <a:t>- **Explicación extendida:** Recuperar masa, elasticidad y amortiguamiento de U2; anunciar qué se idealiza. Cierre conceptual: El MAS idealiza el retorno al equilibrio y permite predecir la evolución.</a:t>
            </a:r>
          </a:p>
          <a:p>
            <a:r>
              <a:t>- **Guía del visual/diagrama:** —</a:t>
            </a:r>
          </a:p>
          <a:p>
            <a:r>
              <a:t>- **Pregunta al grupo:** ¿Qué pregunta física organiza este bloque?</a:t>
            </a:r>
          </a:p>
          <a:p>
            <a:r>
              <a:t>- **Respuesta esperada:** El MAS idealiza el retorno al equilibrio y permite predecir la evolución.</a:t>
            </a:r>
          </a:p>
          <a:p>
            <a:r>
              <a:t>- **Demostración/audio/video/GIF:** —</a:t>
            </a:r>
          </a:p>
          <a:p>
            <a:r>
              <a:t>- **Error frecuente o énfasis:** Mantener consistentes variable, referencia, signo y unidad.</a:t>
            </a:r>
          </a:p>
          <a:p>
            <a:r>
              <a:t>- **Transición oral:** “Declarar condiciones y límites antes de la ecuación.”</a:t>
            </a:r>
          </a:p>
          <a:p>
            <a:r>
              <a:t>- **Duración aproximada:** 2 min.</a:t>
            </a:r>
          </a:p>
          <a:p>
            <a:r>
              <a:t>- **[Sources]:** PO; TEX 3.4; PDF pp. 65–68; U2.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U03-018 — El MAS combina inercia y fuerza restauradora lineal</a:t>
            </a:r>
          </a:p>
          <a:p>
            <a:endParaRPr/>
          </a:p>
          <a:p>
            <a:r>
              <a:t>- **Explicación extendida:** Separar modelo de objeto real y recordar que el amortiguamiento se dejó fuera para estudiar el caso base. Comenzar con el fenómeno y un contraejemplo; fijar el término después. Cierre conceptual: Un cuerpo oscila armónicamente cuando la fuerza neta es proporcional y opuesta a su desplazamiento, bajo hipótesis ideales.</a:t>
            </a:r>
          </a:p>
          <a:p>
            <a:r>
              <a:t>- **Guía del visual/diagrama:** 1. Señalar el objeto, sistema o ecuación central. 2. Recorrer el esquema en este orden: Sistema masa–resorte, equilibrio, desplazamiento y condiciones: linealidad, sin rozamiento y sin excitación externa. 3. Distinguir conectores de movimiento local y propagación cuando corresponda. 4. Cerrar con una sola idea: Un cuerpo oscila armónicamente cuando la fuerza neta es proporcional y opuesta a su desplazamiento, bajo hipótesis ideales. El esquema es conceptual y no está a escala.</a:t>
            </a:r>
          </a:p>
          <a:p>
            <a:r>
              <a:t>- **Pregunta al grupo:** ¿Qué condición distingue al MAS de una oscilación cualquiera?</a:t>
            </a:r>
          </a:p>
          <a:p>
            <a:r>
              <a:t>- **Respuesta esperada:** La fuerza neta es proporcional y opuesta a la elongación.</a:t>
            </a:r>
          </a:p>
          <a:p>
            <a:r>
              <a:t>- **Demostración/audio/video/GIF:** —</a:t>
            </a:r>
          </a:p>
          <a:p>
            <a:r>
              <a:t>- **Error frecuente o énfasis:** No confundir MAS con cualquier movimiento que se repite.</a:t>
            </a:r>
          </a:p>
          <a:p>
            <a:r>
              <a:t>- **Transición oral:** “Relacionar signo de posición y dirección de aceleración.”</a:t>
            </a:r>
          </a:p>
          <a:p>
            <a:r>
              <a:t>- **Duración aproximada:** 3 min.</a:t>
            </a:r>
          </a:p>
          <a:p>
            <a:r>
              <a:t>- **[Sources]:** PO; TEX 3.4.1; PDF pp. 65–66; INV U03-C10–C11.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U03-019 — La fuerza restauradora apunta hacia el equilibrio</a:t>
            </a:r>
          </a:p>
          <a:p>
            <a:endParaRPr/>
          </a:p>
          <a:p>
            <a:r>
              <a:t>- **Explicación extendida:** Leer físicamente cada factor; controlar `N = kg·m·s⁻²`; no derivar la ecuación diferencial. Definir símbolos, unidades, signo y condiciones antes de sustituir valores. Cierre conceptual: El signo menos expresa dirección de retorno, no una fuerza “negativa” en valor absoluto.</a:t>
            </a:r>
          </a:p>
          <a:p>
            <a:r>
              <a:t>- **Guía del visual/diagrama:** 1. Señalar el objeto, sistema o ecuación central. 2. Recorrer el esquema en este orden: `ma=-k_s x` → símbolos, unidades y dos posiciones con aceleraciones opuestas. 3. Distinguir conectores de movimiento local y propagación cuando corresponda. 4. Cerrar con una sola idea: El signo menos expresa dirección de retorno, no una fuerza “negativa” en valor absoluto. El esquema es conceptual y no está a escala.</a:t>
            </a:r>
          </a:p>
          <a:p>
            <a:r>
              <a:t>- **Pregunta al grupo:** En `x&gt;0`, ¿hacia dónde apunta `a`?</a:t>
            </a:r>
          </a:p>
          <a:p>
            <a:r>
              <a:t>- **Respuesta esperada:** Hacia el equilibrio; con el eje elegido, `a&lt;0`.</a:t>
            </a:r>
          </a:p>
          <a:p>
            <a:r>
              <a:t>- **Demostración/audio/video/GIF:** —</a:t>
            </a:r>
          </a:p>
          <a:p>
            <a:r>
              <a:t>- **Error frecuente o énfasis:** El signo negativo expresa dirección restauradora, no módulo negativo.</a:t>
            </a:r>
          </a:p>
          <a:p>
            <a:r>
              <a:t>- **Transición oral:** “Observar cómo el signo cambia durante un ciclo.”</a:t>
            </a:r>
          </a:p>
          <a:p>
            <a:r>
              <a:t>- **Duración aproximada:** 3 min.</a:t>
            </a:r>
          </a:p>
          <a:p>
            <a:r>
              <a:t>- **[Sources]:** TEX 3.4.1; PDF p. 66; NOT; INV U03-E01.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U03-020 — Un ciclo recorre extremos, equilibrio y regreso</a:t>
            </a:r>
          </a:p>
          <a:p>
            <a:endParaRPr/>
          </a:p>
          <a:p>
            <a:r>
              <a:t>- **Explicación extendida:** Insistir en que pasar dos veces por la misma posición no significa estar en la misma fase. Cierre conceptual: El estado se repite solo después de recuperar posición y sentido de movimiento.</a:t>
            </a:r>
          </a:p>
          <a:p>
            <a:r>
              <a:t>- **Guía del visual/diagrama:** 1. Señalar el objeto, sistema o ecuación central. 2. Recorrer el esquema en este orden: Cinco estados: extremo positivo, equilibrio, extremo negativo, equilibrio y retorno → flechas de velocidad y aceleración cualitativas. 3. Distinguir conectores de movimiento local y propagación cuando corresponda. 4. Cerrar con una sola idea: El estado se repite solo después de recuperar posición y sentido de movimiento. El esquema es conceptual y no está a escala.</a:t>
            </a:r>
          </a:p>
          <a:p>
            <a:r>
              <a:t>- **Pregunta al grupo:** ¿Cómo justificaría la idea central con variables, unidades o relaciones físicas?</a:t>
            </a:r>
          </a:p>
          <a:p>
            <a:r>
              <a:t>- **Respuesta esperada:** El estado se repite solo después de recuperar posición y sentido de movimiento.</a:t>
            </a:r>
          </a:p>
          <a:p>
            <a:r>
              <a:t>- **Demostración/audio/video/GIF:** —</a:t>
            </a:r>
          </a:p>
          <a:p>
            <a:r>
              <a:t>- **Error frecuente o énfasis:** No leer el esquema como representación anatómica o geométrica a escala.</a:t>
            </a:r>
          </a:p>
          <a:p>
            <a:r>
              <a:t>- **Transición oral:** “Definir una magnitud por slide sobre este ciclo.”</a:t>
            </a:r>
          </a:p>
          <a:p>
            <a:r>
              <a:t>- **Duración aproximada:** 3 min.</a:t>
            </a:r>
          </a:p>
          <a:p>
            <a:r>
              <a:t>- **[Sources]:** TEX 3.4.2–3.4.4; PDF pp. 66–68; GLO.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U03-021 — La amplitud mide el máximo alejamiento</a:t>
            </a:r>
          </a:p>
          <a:p>
            <a:endParaRPr/>
          </a:p>
          <a:p>
            <a:r>
              <a:t>- **Explicación extendida:** Usar `A_x` para evitar amplitud sin referente; anticipar que presión tendrá otra amplitud. Comenzar con el fenómeno y un contraejemplo; fijar el término después. Cierre conceptual: La amplitud pertenece a una magnitud concreta y es no negativa.</a:t>
            </a:r>
          </a:p>
          <a:p>
            <a:r>
              <a:t>- **Guía del visual/diagrama:** 1. Señalar el objeto, sistema o ecuación central. 2. Recorrer el esquema en este orden: `A_x` como máximo del valor absoluto de `x` → equilibrio, extremos, unidad de desplazamiento → distinción de valor instantáneo. 3. Distinguir conectores de movimiento local y propagación cuando corresponda. 4. Cerrar con una sola idea: La amplitud pertenece a una magnitud concreta y es no negativa. El esquema es conceptual y no está a escala.</a:t>
            </a:r>
          </a:p>
          <a:p>
            <a:r>
              <a:t>- **Pregunta al grupo:** ¿La amplitud puede ser negativa?</a:t>
            </a:r>
          </a:p>
          <a:p>
            <a:r>
              <a:t>- **Respuesta esperada:** No como magnitud; `A_x` es un máximo de `|x|` y es no negativa.</a:t>
            </a:r>
          </a:p>
          <a:p>
            <a:r>
              <a:t>- **Demostración/audio/video/GIF:** —</a:t>
            </a:r>
          </a:p>
          <a:p>
            <a:r>
              <a:t>- **Error frecuente o énfasis:** La amplitud no es la distancia entre máximo y mínimo; esa distancia es `2A_x`.</a:t>
            </a:r>
          </a:p>
          <a:p>
            <a:r>
              <a:t>- **Transición oral:** “Medir cuánto tarda en repetirse el estado.”</a:t>
            </a:r>
          </a:p>
          <a:p>
            <a:r>
              <a:t>- **Duración aproximada:** 3 min.</a:t>
            </a:r>
          </a:p>
          <a:p>
            <a:r>
              <a:t>- **[Sources]:** PO; TEX 3.4.2; PDF p. 66; NOT; INV U03-C13.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U03-022 — El período es el tiempo de un ciclo completo</a:t>
            </a:r>
          </a:p>
          <a:p>
            <a:endParaRPr/>
          </a:p>
          <a:p>
            <a:r>
              <a:t>- **Explicación extendida:** Señalar por qué máximo–mínimo es medio período y por qué dos cruces de cero pueden no ser estados equivalentes. Comenzar con el fenómeno y un contraejemplo; fijar el término después. Cierre conceptual: El período se mide entre dos estados equivalentes consecutivos.</a:t>
            </a:r>
          </a:p>
          <a:p>
            <a:r>
              <a:t>- **Guía del visual/diagrama:** 1. Nombrar ejes, variable, unidad y escala. 2. Leer los puntos o intervalos señalados. 3. Formular la conclusión sin extenderla más allá del modelo: El período se mide entre dos estados equivalentes consecutivos.</a:t>
            </a:r>
          </a:p>
          <a:p>
            <a:r>
              <a:t>- **Pregunta al grupo:** ¿Qué condición o diferencia forma parte de esta definición?</a:t>
            </a:r>
          </a:p>
          <a:p>
            <a:r>
              <a:t>- **Respuesta esperada:** El período se mide entre dos estados equivalentes consecutivos.</a:t>
            </a:r>
          </a:p>
          <a:p>
            <a:r>
              <a:t>- **Demostración/audio/video/GIF:** —</a:t>
            </a:r>
          </a:p>
          <a:p>
            <a:r>
              <a:t>- **Error frecuente o énfasis:** No presentar curvas del modelo como datos medidos; explicitar ejes, unidades y escala.</a:t>
            </a:r>
          </a:p>
          <a:p>
            <a:r>
              <a:t>- **Transición oral:** “Contar cuántos ciclos ocurren por segundo.”</a:t>
            </a:r>
          </a:p>
          <a:p>
            <a:r>
              <a:t>- **Duración aproximada:** 3 min.</a:t>
            </a:r>
          </a:p>
          <a:p>
            <a:r>
              <a:t>- **[Sources]:** PO; TEX 3.4.2; PDF p. 66; INV U03-C15.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U03-023 — La frecuencia cuenta ciclos por unidad de tiempo</a:t>
            </a:r>
          </a:p>
          <a:p>
            <a:endParaRPr/>
          </a:p>
          <a:p>
            <a:r>
              <a:t>- **Explicación extendida:** Evitar asociar todavía frecuencia con rapidez de propagación o pitch percibido. Comenzar con el fenómeno y un contraejemplo; fijar el término después. Cierre conceptual: `1 Hz` equivale a un ciclo por segundo.</a:t>
            </a:r>
          </a:p>
          <a:p>
            <a:r>
              <a:t>- **Guía del visual/diagrama:** 1. Nombrar ejes, variable, unidad y escala. 2. Leer los puntos o intervalos señalados. 3. Formular la conclusión sin extenderla más allá del modelo: `1 Hz` equivale a un ciclo por segundo.</a:t>
            </a:r>
          </a:p>
          <a:p>
            <a:r>
              <a:t>- **Pregunta al grupo:** ¿Qué condición o diferencia forma parte de esta definición?</a:t>
            </a:r>
          </a:p>
          <a:p>
            <a:r>
              <a:t>- **Respuesta esperada:** `1 Hz` equivale a un ciclo por segundo.</a:t>
            </a:r>
          </a:p>
          <a:p>
            <a:r>
              <a:t>- **Demostración/audio/video/GIF:** —</a:t>
            </a:r>
          </a:p>
          <a:p>
            <a:r>
              <a:t>- **Error frecuente o énfasis:** No presentar curvas del modelo como datos medidos; explicitar ejes, unidades y escala.</a:t>
            </a:r>
          </a:p>
          <a:p>
            <a:r>
              <a:t>- **Transición oral:** “Relacionar cuantitativamente las dos medidas.”</a:t>
            </a:r>
          </a:p>
          <a:p>
            <a:r>
              <a:t>- **Duración aproximada:** 3 min.</a:t>
            </a:r>
          </a:p>
          <a:p>
            <a:r>
              <a:t>- **[Sources]:** PO; TEX 3.4.2; PDF p. 66; INV U03-C14.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U03-024 — Frecuencia y período son recíprocos</a:t>
            </a:r>
          </a:p>
          <a:p>
            <a:endParaRPr/>
          </a:p>
          <a:p>
            <a:r>
              <a:t>- **Explicación extendida:** Hacer el control dimensional y evitar lenguaje de causa física entre `f` y `T`: son dos descripciones del mismo patrón. Definir símbolos, unidades, signo y condiciones antes de sustituir valores. Cierre conceptual: Más ciclos por segundo implican menos tiempo por ciclo.</a:t>
            </a:r>
          </a:p>
          <a:p>
            <a:r>
              <a:t>- **Guía del visual/diagrama:** 1. Señalar el objeto, sistema o ecuación central. 2. Recorrer el esquema en este orden: `f=1/T` y `T=1/f` → símbolos, unidades y lectura causal limitada. 3. Distinguir conectores de movimiento local y propagación cuando corresponda. 4. Cerrar con una sola idea: Más ciclos por segundo implican menos tiempo por ciclo. El esquema es conceptual y no está a escala.</a:t>
            </a:r>
          </a:p>
          <a:p>
            <a:r>
              <a:t>- **Pregunta al grupo:** Si el período se duplica, ¿qué ocurre con la frecuencia?</a:t>
            </a:r>
          </a:p>
          <a:p>
            <a:r>
              <a:t>- **Respuesta esperada:** Se reduce a la mitad.</a:t>
            </a:r>
          </a:p>
          <a:p>
            <a:r>
              <a:t>- **Demostración/audio/video/GIF:** —</a:t>
            </a:r>
          </a:p>
          <a:p>
            <a:r>
              <a:t>- **Error frecuente o énfasis:** Frecuencia y período son inversos, no directamente proporcionales.</a:t>
            </a:r>
          </a:p>
          <a:p>
            <a:r>
              <a:t>- **Transición oral:** “Modelar un cálculo mínimo.”</a:t>
            </a:r>
          </a:p>
          <a:p>
            <a:r>
              <a:t>- **Duración aproximada:** 3 min.</a:t>
            </a:r>
          </a:p>
          <a:p>
            <a:r>
              <a:t>- **[Sources]:** PO; TEX 3.4.2; PDF p. 66; NOT; INV U03-E02.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U03-025 — De 2 ms por ciclo a 500 Hz</a:t>
            </a:r>
          </a:p>
          <a:p>
            <a:endParaRPr/>
          </a:p>
          <a:p>
            <a:r>
              <a:t>- **Explicación extendida:** Pedir una estimación antes del cálculo y verificar que el resultado tenga sentido. Cierre conceptual: La unidad debe convertirse antes de invertir.</a:t>
            </a:r>
          </a:p>
          <a:p>
            <a:r>
              <a:t>- **Guía del visual/diagrama:** 1. Señalar el objeto, sistema o ecuación central. 2. Recorrer el esquema en este orden: Datos, `2 ms = 0,002 s`, aplicación de `f=1/T`, resultado con unidad y comprobación por ciclos. 3. Distinguir conectores de movimiento local y propagación cuando corresponda. 4. Cerrar con una sola idea: La unidad debe convertirse antes de invertir. El esquema es conceptual y no está a escala.</a:t>
            </a:r>
          </a:p>
          <a:p>
            <a:r>
              <a:t>- **Pregunta al grupo:** ¿Por qué hay que convertir milisegundos a segundos?</a:t>
            </a:r>
          </a:p>
          <a:p>
            <a:r>
              <a:t>- **Respuesta esperada:** Para obtener la frecuencia en s⁻¹, es decir, hertz.</a:t>
            </a:r>
          </a:p>
          <a:p>
            <a:r>
              <a:t>- **Demostración/audio/video/GIF:** —</a:t>
            </a:r>
          </a:p>
          <a:p>
            <a:r>
              <a:t>- **Error frecuente o énfasis:** No reemplazar `2 ms` por `2 s`.</a:t>
            </a:r>
          </a:p>
          <a:p>
            <a:r>
              <a:t>- **Transición oral:** “Introducir fase como posición dentro del ciclo, no como otra duración.”</a:t>
            </a:r>
          </a:p>
          <a:p>
            <a:r>
              <a:t>- **Duración aproximada:** 4 min.</a:t>
            </a:r>
          </a:p>
          <a:p>
            <a:r>
              <a:t>- **[Sources]:** TEX ejemplo 3.4.5; PDF p. 68; 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U03-026 — La fase ubica un estado dentro del ciclo</a:t>
            </a:r>
          </a:p>
          <a:p>
            <a:endParaRPr/>
          </a:p>
          <a:p>
            <a:r>
              <a:t>- **Explicación extendida:** Definir fase antes de operar con radianes; aclarar que no es “retraso” sin especificar frecuencia. Comenzar con el fenómeno y un contraejemplo; fijar el término después. Cierre conceptual: Dos oscilaciones pueden compartir amplitud y frecuencia y estar en estados distintos del ciclo.</a:t>
            </a:r>
          </a:p>
          <a:p>
            <a:r>
              <a:t>- **Guía del visual/diagrama:** 1. Señalar el objeto, sistema o ecuación central. 2. Recorrer el esquema en este orden: Ciclo circular y señal temporal con cuatro estados equivalentes → `φ₀` como estado inicial. 3. Distinguir conectores de movimiento local y propagación cuando corresponda. 4. Cerrar con una sola idea: Dos oscilaciones pueden compartir amplitud y frecuencia y estar en estados distintos del ciclo. El esquema es conceptual y no está a escala.</a:t>
            </a:r>
          </a:p>
          <a:p>
            <a:r>
              <a:t>- **Pregunta al grupo:** ¿Dos puntos con igual elongación tienen siempre igual fase?</a:t>
            </a:r>
          </a:p>
          <a:p>
            <a:r>
              <a:t>- **Respuesta esperada:** No; también importa el sentido del movimiento dentro del ciclo.</a:t>
            </a:r>
          </a:p>
          <a:p>
            <a:r>
              <a:t>- **Demostración/audio/video/GIF:** —</a:t>
            </a:r>
          </a:p>
          <a:p>
            <a:r>
              <a:t>- **Error frecuente o énfasis:** Fase no es una distancia ni un instante absoluto.</a:t>
            </a:r>
          </a:p>
          <a:p>
            <a:r>
              <a:t>- **Transición oral:** “Integrar los cuatro parámetros sin añadir cinemática.”</a:t>
            </a:r>
          </a:p>
          <a:p>
            <a:r>
              <a:t>- **Duración aproximada:** 3–5 min si se selecciona.</a:t>
            </a:r>
          </a:p>
          <a:p>
            <a:r>
              <a:t>- **[Sources]:** PO; TEX 3.4.2; PDF pp. 66–67; NOT; INV U03-C17.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U03-027 — Cuatro preguntas describen una oscilación</a:t>
            </a:r>
          </a:p>
          <a:p>
            <a:endParaRPr/>
          </a:p>
          <a:p>
            <a:r>
              <a:t>- **Explicación extendida:** Repetición pedagógica: cambiar de definición verbal a herramienta de lectura; detectar confusión entre fase y posición. Reconstruir relaciones; evitar una enumeración de palabras. Cierre conceptual: Cuánto se aleja, cuánto tarda, cuántos ciclos ocurren y en qué estado comienza son preguntas distintas.</a:t>
            </a:r>
          </a:p>
          <a:p>
            <a:r>
              <a:t>- **Guía del visual/diagrama:** 1. Señalar el objeto, sistema o ecuación central. 2. Recorrer el esquema en este orden: Matriz de cuatro magnitudes con pregunta, símbolo y unidad → mini chequeo sobre una señal. 3. Distinguir conectores de movimiento local y propagación cuando corresponda. 4. Cerrar con una sola idea: Cuánto se aleja, cuánto tarda, cuántos ciclos ocurren y en qué estado comienza son preguntas distintas. El esquema es conceptual y no está a escala.</a:t>
            </a:r>
          </a:p>
          <a:p>
            <a:r>
              <a:t>- **Pregunta al grupo:** ¿Cómo se conectan las ideas principales del bloque?</a:t>
            </a:r>
          </a:p>
          <a:p>
            <a:r>
              <a:t>- **Respuesta esperada:** Cuánto se aleja, cuánto tarda, cuántos ciclos ocurren y en qué estado comienza son preguntas distintas.</a:t>
            </a:r>
          </a:p>
          <a:p>
            <a:r>
              <a:t>- **Demostración/audio/video/GIF:** —</a:t>
            </a:r>
          </a:p>
          <a:p>
            <a:r>
              <a:t>- **Error frecuente o énfasis:** No leer el esquema como representación anatómica o geométrica a escala.</a:t>
            </a:r>
          </a:p>
          <a:p>
            <a:r>
              <a:t>- **Transición oral:** “Pasar de parámetros aislados a una expresión temporal completa.”</a:t>
            </a:r>
          </a:p>
          <a:p>
            <a:r>
              <a:t>- **Duración aproximada:** 3 min.</a:t>
            </a:r>
          </a:p>
          <a:p>
            <a:r>
              <a:t>- **[Sources]:** PO; TEX 3.4.2; CM.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U03-028 — La curva no es el fenómeno: es una representación</a:t>
            </a:r>
          </a:p>
          <a:p>
            <a:endParaRPr/>
          </a:p>
          <a:p>
            <a:r>
              <a:t>- **Explicación extendida:** Mostrar una curva sin ejes durante pocos segundos y preguntar qué puede afirmarse con rigor. Cierre conceptual: Una sinusoide solo cobra sentido cuando se nombran variable, ejes, unidades y condiciones.</a:t>
            </a:r>
          </a:p>
          <a:p>
            <a:r>
              <a:t>- **Guía del visual/diagrama:** —</a:t>
            </a:r>
          </a:p>
          <a:p>
            <a:r>
              <a:t>- **Pregunta al grupo:** ¿Qué pregunta física organiza este bloque?</a:t>
            </a:r>
          </a:p>
          <a:p>
            <a:r>
              <a:t>- **Respuesta esperada:** Una sinusoide solo cobra sentido cuando se nombran variable, ejes, unidades y condiciones.</a:t>
            </a:r>
          </a:p>
          <a:p>
            <a:r>
              <a:t>- **Demostración/audio/video/GIF:** —</a:t>
            </a:r>
          </a:p>
          <a:p>
            <a:r>
              <a:t>- **Error frecuente o énfasis:** Mantener consistentes variable, referencia, signo y unidad.</a:t>
            </a:r>
          </a:p>
          <a:p>
            <a:r>
              <a:t>- **Transición oral:** “Dar significado a la expresión temporal.”</a:t>
            </a:r>
          </a:p>
          <a:p>
            <a:r>
              <a:t>- **Duración aproximada:** 1 min.</a:t>
            </a:r>
          </a:p>
          <a:p>
            <a:r>
              <a:t>- **[Sources]:** TEX 3.5; PDF pp. 68–70.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U03-029 — x(t) describe una posición que cambia en el tiempo</a:t>
            </a:r>
          </a:p>
          <a:p>
            <a:endParaRPr/>
          </a:p>
          <a:p>
            <a:r>
              <a:t>- **Explicación extendida:** Leer la ecuación de izquierda a derecha; vincular símbolo y rasgo del gráfico sin derivar. Definir símbolos, unidades, signo y condiciones antes de sustituir valores. Cierre conceptual: Cada símbolo conecta una característica visible con una magnitud física.</a:t>
            </a:r>
          </a:p>
          <a:p>
            <a:r>
              <a:t>- **Guía del visual/diagrama:** 1. Señalar el objeto, sistema o ecuación central. 2. Recorrer el esquema en este orden: `x(t)=A_x cos(2πft+φ₀)` → variable dependiente, tiempo, amplitud, frecuencia y fase inicial → unidades. 3. Distinguir conectores de movimiento local y propagación cuando corresponda. 4. Cerrar con una sola idea: Cada símbolo conecta una característica visible con una magnitud física. El esquema es conceptual y no está a escala.</a:t>
            </a:r>
          </a:p>
          <a:p>
            <a:r>
              <a:t>- **Pregunta al grupo:** ¿Qué representa el eje horizontal?</a:t>
            </a:r>
          </a:p>
          <a:p>
            <a:r>
              <a:t>- **Respuesta esperada:** Tiempo, no una coordenada espacial.</a:t>
            </a:r>
          </a:p>
          <a:p>
            <a:r>
              <a:t>- **Demostración/audio/video/GIF:** —</a:t>
            </a:r>
          </a:p>
          <a:p>
            <a:r>
              <a:t>- **Error frecuente o énfasis:** La curva no es una trayectoria espacial.</a:t>
            </a:r>
          </a:p>
          <a:p>
            <a:r>
              <a:t>- **Transición oral:** “Aplicar el modelo a un desplazamiento pequeño de parlante.”</a:t>
            </a:r>
          </a:p>
          <a:p>
            <a:r>
              <a:t>- **Duración aproximada:** 6 min.</a:t>
            </a:r>
          </a:p>
          <a:p>
            <a:r>
              <a:t>- **[Sources]:** PO; TEX 3.4.3; PDF p. 67; NOT; INV U03-E04.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U03-030 — El cono de un parlante puede moverse micrómetros</a:t>
            </a:r>
          </a:p>
          <a:p>
            <a:endParaRPr/>
          </a:p>
          <a:p>
            <a:r>
              <a:t>- **Explicación extendida:** Destacar órdenes de magnitud y no inferir presión ni sonoridad desde el desplazamiento solo. Cierre conceptual: Una oscilación de alta frecuencia puede tener un desplazamiento extremadamente pequeño.</a:t>
            </a:r>
          </a:p>
          <a:p>
            <a:r>
              <a:t>- **Guía del visual/diagrama:** 1. Señalar el objeto, sistema o ecuación central. 2. Recorrer el esquema en este orden: Caso `A_x=0,010 mm`, `f=500 Hz` → conversión de amplitud, período y lectura de la expresión sin desarrollar toda la cuenta. 3. Distinguir conectores de movimiento local y propagación cuando corresponda. 4. Cerrar con una sola idea: Una oscilación de alta frecuencia puede tener un desplazamiento extremadamente pequeño. El esquema es conceptual y no está a escala.</a:t>
            </a:r>
          </a:p>
          <a:p>
            <a:r>
              <a:t>- **Pregunta al grupo:** ¿Qué sí permite afirmar el modelo y qué no?</a:t>
            </a:r>
          </a:p>
          <a:p>
            <a:r>
              <a:t>- **Respuesta esperada:** Permite describir desplazamiento y frecuencia del cono; no fija presión ni sonoridad.</a:t>
            </a:r>
          </a:p>
          <a:p>
            <a:r>
              <a:t>- **Demostración/audio/video/GIF:** —</a:t>
            </a:r>
          </a:p>
          <a:p>
            <a:r>
              <a:t>- **Error frecuente o énfasis:** No deducir presión o sonoridad desde desplazamiento sin una relación y calibración adicionales.</a:t>
            </a:r>
          </a:p>
          <a:p>
            <a:r>
              <a:t>- **Transición oral:** “Preguntar cómo cambian velocidad y aceleración dentro del mismo ciclo.”</a:t>
            </a:r>
          </a:p>
          <a:p>
            <a:r>
              <a:t>- **Duración aproximada:** 3–5 min si se selecciona.</a:t>
            </a:r>
          </a:p>
          <a:p>
            <a:r>
              <a:t>- **[Sources]:** TEX ejemplo 3.4.5; PDF p. 68; INV U03-X03.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U03-031 — En los extremos la velocidad se anula</a:t>
            </a:r>
          </a:p>
          <a:p>
            <a:endParaRPr/>
          </a:p>
          <a:p>
            <a:r>
              <a:t>- **Explicación extendida:** Usar razonamiento cinemático y no cálculo diferencial; distinguir velocidad cero de aceleración cero. Cierre conceptual: La rapidez es máxima al pasar por el equilibrio y cero en los extremos.</a:t>
            </a:r>
          </a:p>
          <a:p>
            <a:r>
              <a:t>- **Guía del visual/diagrama:** 1. Señalar el objeto, sistema o ecuación central. 2. Recorrer el esquema en este orden: Cuatro estados del oscilador con signos de `x` y `v` → sin fórmula derivada como foco. 3. Distinguir conectores de movimiento local y propagación cuando corresponda. 4. Cerrar con una sola idea: La rapidez es máxima al pasar por el equilibrio y cero en los extremos. El esquema es conceptual y no está a escala.</a:t>
            </a:r>
          </a:p>
          <a:p>
            <a:r>
              <a:t>- **Pregunta al grupo:** ¿Dónde es cero la velocidad instantánea?</a:t>
            </a:r>
          </a:p>
          <a:p>
            <a:r>
              <a:t>- **Respuesta esperada:** En los extremos de la oscilación.</a:t>
            </a:r>
          </a:p>
          <a:p>
            <a:r>
              <a:t>- **Demostración/audio/video/GIF:** —</a:t>
            </a:r>
          </a:p>
          <a:p>
            <a:r>
              <a:t>- **Error frecuente o énfasis:** Velocidad cero no implica aceleración cero en los extremos.</a:t>
            </a:r>
          </a:p>
          <a:p>
            <a:r>
              <a:t>- **Transición oral:** “Incorporar la aceleración restauradora en una slide separada.”</a:t>
            </a:r>
          </a:p>
          <a:p>
            <a:r>
              <a:t>- **Duración aproximada:** 3–5 min si se selecciona.</a:t>
            </a:r>
          </a:p>
          <a:p>
            <a:r>
              <a:t>- **[Sources]:** TEX 3.4.4; PDF pp. 67–68; INV U03-C20.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U03-032 — La aceleración siempre apunta hacia el equilibrio</a:t>
            </a:r>
          </a:p>
          <a:p>
            <a:endParaRPr/>
          </a:p>
          <a:p>
            <a:r>
              <a:t>- **Explicación extendida:** Repetición pedagógica deliberada: mismo ciclo, nueva variable; decir por qué no es redundancia. Cierre conceptual: En los extremos el módulo de `a` es máximo y en el equilibrio `a=0`.</a:t>
            </a:r>
          </a:p>
          <a:p>
            <a:r>
              <a:t>- **Guía del visual/diagrama:** 1. Señalar el objeto, sistema o ecuación central. 2. Recorrer el esquema en este orden: Cuatro estados del oscilador con `x` y `a` → contraste explícito con velocidad. 3. Distinguir conectores de movimiento local y propagación cuando corresponda. 4. Cerrar con una sola idea: En los extremos el módulo de `a` es máximo y en el equilibrio `a=0`. El esquema es conceptual y no está a escala.</a:t>
            </a:r>
          </a:p>
          <a:p>
            <a:r>
              <a:t>- **Pregunta al grupo:** ¿Dónde es cero la aceleración?</a:t>
            </a:r>
          </a:p>
          <a:p>
            <a:r>
              <a:t>- **Respuesta esperada:** En el equilibrio, para el MAS ideal.</a:t>
            </a:r>
          </a:p>
          <a:p>
            <a:r>
              <a:t>- **Demostración/audio/video/GIF:** —</a:t>
            </a:r>
          </a:p>
          <a:p>
            <a:r>
              <a:t>- **Error frecuente o énfasis:** Aceleración cero al pasar por el equilibrio no implica velocidad cero.</a:t>
            </a:r>
          </a:p>
          <a:p>
            <a:r>
              <a:t>- **Transición oral:** “Coordinar las tres variables en una representación cuantitativa.”</a:t>
            </a:r>
          </a:p>
          <a:p>
            <a:r>
              <a:t>- **Duración aproximada:** 3–5 min si se selecciona.</a:t>
            </a:r>
          </a:p>
          <a:p>
            <a:r>
              <a:t>- **[Sources]:** TEX 3.4.1 y 3.4.4; PDF pp. 66–68.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U03-033 — Posición, velocidad y aceleración no coinciden</a:t>
            </a:r>
          </a:p>
          <a:p>
            <a:endParaRPr/>
          </a:p>
          <a:p>
            <a:r>
              <a:t>- **Explicación extendida:** Leer primero estados concretos y recién después mencionar desfases de un cuarto o medio ciclo. Nombrar variable, ejes, unidades y escala antes de describir la forma. Cierre conceptual: Las tres curvas comparten frecuencia, pero sus máximos ocurren en momentos diferentes.</a:t>
            </a:r>
          </a:p>
          <a:p>
            <a:r>
              <a:t>- **Guía del visual/diagrama:** 1. Nombrar ejes, variable, unidad y escala. 2. Leer los puntos o intervalos señalados. 3. Formular la conclusión sin extenderla más allá del modelo: Las tres curvas comparten frecuencia, pero sus máximos ocurren en momentos diferentes.</a:t>
            </a:r>
          </a:p>
          <a:p>
            <a:r>
              <a:t>- **Pregunta al grupo:** ¿Qué indican los ejes, las unidades y la escala?</a:t>
            </a:r>
          </a:p>
          <a:p>
            <a:r>
              <a:t>- **Respuesta esperada:** Las tres curvas comparten frecuencia, pero sus máximos ocurren en momentos diferentes.</a:t>
            </a:r>
          </a:p>
          <a:p>
            <a:r>
              <a:t>- **Demostración/audio/video/GIF:** —</a:t>
            </a:r>
          </a:p>
          <a:p>
            <a:r>
              <a:t>- **Error frecuente o énfasis:** No presentar curvas del modelo como datos medidos; explicitar ejes, unidades y escala.</a:t>
            </a:r>
          </a:p>
          <a:p>
            <a:r>
              <a:t>- **Transición oral:** “Comprobar la lectura en un instante marcado.”</a:t>
            </a:r>
          </a:p>
          <a:p>
            <a:r>
              <a:t>- **Duración aproximada:** 3–5 min si se selecciona.</a:t>
            </a:r>
          </a:p>
          <a:p>
            <a:r>
              <a:t>- **[Sources]:** TEX figura 3.3; PDF p. 68; INV U03-R07.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U03-034 — En este instante, ¿hacia dónde se mueve y acelera?</a:t>
            </a:r>
          </a:p>
          <a:p>
            <a:endParaRPr/>
          </a:p>
          <a:p>
            <a:r>
              <a:t>- **Explicación extendida:** Pedir que separen información leída de información inferida mediante el modelo. Escuchar una justificación antes de validar o corregir. Cierre conceptual: La posición por sí sola no determina el sentido de movimiento; hace falta la pendiente o el estado de ciclo.</a:t>
            </a:r>
          </a:p>
          <a:p>
            <a:r>
              <a:t>- **Guía del visual/diagrama:** 1. Nombrar ejes, variable, unidad y escala. 2. Leer los puntos o intervalos señalados. 3. Formular la conclusión sin extenderla más allá del modelo: La posición por sí sola no determina el sentido de movimiento; hace falta la pendiente o el estado de ciclo.</a:t>
            </a:r>
          </a:p>
          <a:p>
            <a:r>
              <a:t>- **Pregunta al grupo:** ¿Cómo se obtiene el signo de `v` desde `x(t)`?</a:t>
            </a:r>
          </a:p>
          <a:p>
            <a:r>
              <a:t>- **Respuesta esperada:** Por el signo de la pendiente de la curva de posición.</a:t>
            </a:r>
          </a:p>
          <a:p>
            <a:r>
              <a:t>- **Demostración/audio/video/GIF:** —</a:t>
            </a:r>
          </a:p>
          <a:p>
            <a:r>
              <a:t>- **Error frecuente o énfasis:** No presentar curvas del modelo como datos medidos; explicitar ejes, unidades y escala.</a:t>
            </a:r>
          </a:p>
          <a:p>
            <a:r>
              <a:t>- **Transición oral:** “Ampliar la pregunta: una sinusoide puede representar otras magnitudes.”</a:t>
            </a:r>
          </a:p>
          <a:p>
            <a:r>
              <a:t>- **Duración aproximada:** 6 min.</a:t>
            </a:r>
          </a:p>
          <a:p>
            <a:r>
              <a:t>- **[Sources]:** TEX ejercicios G2 y R2; PDF pp. 81–82.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U03-035 — La misma forma puede representar magnitudes distintas</a:t>
            </a:r>
          </a:p>
          <a:p>
            <a:endParaRPr/>
          </a:p>
          <a:p>
            <a:r>
              <a:t>- **Explicación extendida:** Introducir desplazamiento de partícula, presión y tensión como representaciones futuras; no desarrollar aún sus magnitudes. Nombrar primero lo común y luego la diferencia que cambia la interpretación. Cierre conceptual: `x(t)`, `ξ(t)`, `p(t)` y `V(t)` pueden ser sinusoidales, pero no comparten variable ni unidad.</a:t>
            </a:r>
          </a:p>
          <a:p>
            <a:r>
              <a:t>- **Guía del visual/diagrama:** 1. Nombrar ejes, variable, unidad y escala. 2. Leer los puntos o intervalos señalados. 3. Formular la conclusión sin extenderla más allá del modelo: `x(t)`, `ξ(t)`, `p(t)` y `V(t)` pueden ser sinusoidales, pero no comparten variable ni unidad.</a:t>
            </a:r>
          </a:p>
          <a:p>
            <a:r>
              <a:t>- **Pregunta al grupo:** ¿Qué dato cambia el significado físico de una misma forma?</a:t>
            </a:r>
          </a:p>
          <a:p>
            <a:r>
              <a:t>- **Respuesta esperada:** Los rótulos de variable, ejes, unidades y calibración.</a:t>
            </a:r>
          </a:p>
          <a:p>
            <a:r>
              <a:t>- **Demostración/audio/video/GIF:** —</a:t>
            </a:r>
          </a:p>
          <a:p>
            <a:r>
              <a:t>- **Error frecuente o énfasis:** No atribuir significado físico por la forma sin leer ejes y unidades.</a:t>
            </a:r>
          </a:p>
          <a:p>
            <a:r>
              <a:t>- **Transición oral:** “Corregir la interpretación de la curva como dibujo del recorrido espacial.”</a:t>
            </a:r>
          </a:p>
          <a:p>
            <a:r>
              <a:t>- **Duración aproximada:** 3–5 min si se selecciona.</a:t>
            </a:r>
          </a:p>
          <a:p>
            <a:r>
              <a:t>- **[Sources]:** TEX 3.5.1; PDF pp. 68–69; INV U03-R05.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U03-036 — La sinusoide no es la trayectoria de una partícula</a:t>
            </a:r>
          </a:p>
          <a:p>
            <a:endParaRPr/>
          </a:p>
          <a:p>
            <a:r>
              <a:t>- **Explicación extendida:** Pedir que nombren los ejes antes de aceptar cualquier lectura. Cierre conceptual: La forma del gráfico depende de los ejes, no de la forma geométrica que recorre el objeto.</a:t>
            </a:r>
          </a:p>
          <a:p>
            <a:r>
              <a:t>- **Guía del visual/diagrama:** 1. Señalar el objeto, sistema o ecuación central. 2. Recorrer el esquema en este orden: Error, corrección y dos casos: `x(t)` temporal frente a perfil espacial → eje y unidad como criterio. 3. Distinguir conectores de movimiento local y propagación cuando corresponda. 4. Cerrar con una sola idea: La forma del gráfico depende de los ejes, no de la forma geométrica que recorre el objeto. El esquema es conceptual y no está a escala.</a:t>
            </a:r>
          </a:p>
          <a:p>
            <a:r>
              <a:t>- **Pregunta al grupo:** ¿La sinusoide muestra el camino de la partícula?</a:t>
            </a:r>
          </a:p>
          <a:p>
            <a:r>
              <a:t>- **Respuesta esperada:** No; muestra cómo una variable cambia respecto del eje horizontal.</a:t>
            </a:r>
          </a:p>
          <a:p>
            <a:r>
              <a:t>- **Demostración/audio/video/GIF:** —</a:t>
            </a:r>
          </a:p>
          <a:p>
            <a:r>
              <a:t>- **Error frecuente o énfasis:** No leer el esquema como representación anatómica o geométrica a escala.</a:t>
            </a:r>
          </a:p>
          <a:p>
            <a:r>
              <a:t>- **Transición oral:** “Señalar otros límites: forma normalizada y calibración.”</a:t>
            </a:r>
          </a:p>
          <a:p>
            <a:r>
              <a:t>- **Duración aproximada:** 5 min.</a:t>
            </a:r>
          </a:p>
          <a:p>
            <a:r>
              <a:t>- **[Sources]:** TEX 3.5.2 y 3.10; PDF pp. 69, 79–80.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U03-037 — Una curva sin escala no entrega un valor físico</a:t>
            </a:r>
          </a:p>
          <a:p>
            <a:endParaRPr/>
          </a:p>
          <a:p>
            <a:r>
              <a:t>- **Explicación extendida:** Preparar la lectura responsable de registros audiométricos y evitar convertir pixeles en pascales. Cierre conceptual: Sin ejes, unidades y calibración se reconoce un patrón, pero no una magnitud física.</a:t>
            </a:r>
          </a:p>
          <a:p>
            <a:r>
              <a:t>- **Guía del visual/diagrama:** 1. Señalar el objeto, sistema o ecuación central. 2. Recorrer el esquema en este orden: Tres versiones: esquema cualitativo, señal normalizada y registro calibrado → qué se puede concluir en cada una. 3. Distinguir conectores de movimiento local y propagación cuando corresponda. 4. Cerrar con una sola idea: Sin ejes, unidades y calibración se reconoce un patrón, pero no una magnitud física. El esquema es conceptual y no está a escala.</a:t>
            </a:r>
          </a:p>
          <a:p>
            <a:r>
              <a:t>- **Pregunta al grupo:** ¿Cómo justificaría la idea central con variables, unidades o relaciones físicas?</a:t>
            </a:r>
          </a:p>
          <a:p>
            <a:r>
              <a:t>- **Respuesta esperada:** Sin ejes, unidades y calibración se reconoce un patrón, pero no una magnitud física.</a:t>
            </a:r>
          </a:p>
          <a:p>
            <a:r>
              <a:t>- **Demostración/audio/video/GIF:** —</a:t>
            </a:r>
          </a:p>
          <a:p>
            <a:r>
              <a:t>- **Error frecuente o énfasis:** Normalizado no significa calibrado.</a:t>
            </a:r>
          </a:p>
          <a:p>
            <a:r>
              <a:t>- **Transición oral:** “Diferenciar finalmente magnitud física y atributo perceptual.”</a:t>
            </a:r>
          </a:p>
          <a:p>
            <a:r>
              <a:t>- **Duración aproximada:** 5 min.</a:t>
            </a:r>
          </a:p>
          <a:p>
            <a:r>
              <a:t>- **[Sources]:** TEX 3.5.2; PDF pp. 69–70; INV U03-C23.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U03-038 — Antes de interpretar una señal, haga cuatro preguntas</a:t>
            </a:r>
          </a:p>
          <a:p>
            <a:endParaRPr/>
          </a:p>
          <a:p>
            <a:r>
              <a:t>- **Explicación extendida:** Repetición pedagógica: convertir errores dispersos en una rutina transferible a U4–U5. Reconstruir relaciones; evitar una enumeración de palabras. Cierre conceptual: Variable, eje horizontal, unidad y calibración preceden a cualquier conclusión.</a:t>
            </a:r>
          </a:p>
          <a:p>
            <a:r>
              <a:t>- **Guía del visual/diagrama:** 1. Señalar el objeto, sistema o ecuación central. 2. Recorrer el esquema en este orden: Checklist de cuatro preguntas y retorno al diagnóstico sobre amplitud–sonoridad y frecuencia–pitch. 3. Distinguir conectores de movimiento local y propagación cuando corresponda. 4. Cerrar con una sola idea: Variable, eje horizontal, unidad y calibración preceden a cualquier conclusión. El esquema es conceptual y no está a escala.</a:t>
            </a:r>
          </a:p>
          <a:p>
            <a:r>
              <a:t>- **Pregunta al grupo:** ¿Qué conclusión puede sostenerse si faltan unidades?</a:t>
            </a:r>
          </a:p>
          <a:p>
            <a:r>
              <a:t>- **Respuesta esperada:** Solo relaciones cualitativas o normalizadas, no valores físicos absolutos.</a:t>
            </a:r>
          </a:p>
          <a:p>
            <a:r>
              <a:t>- **Demostración/audio/video/GIF:** —</a:t>
            </a:r>
          </a:p>
          <a:p>
            <a:r>
              <a:t>- **Error frecuente o énfasis:** No leer el esquema como representación anatómica o geométrica a escala.</a:t>
            </a:r>
          </a:p>
          <a:p>
            <a:r>
              <a:t>- **Transición oral:** “Usar la rutina para estudiar un tono puro y su producción.”</a:t>
            </a:r>
          </a:p>
          <a:p>
            <a:r>
              <a:t>- **Duración aproximada:** 5 min.</a:t>
            </a:r>
          </a:p>
          <a:p>
            <a:r>
              <a:t>- **[Sources]:** TEX 3.5 y 3.10; CM; CDM.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U03-039 — De una señal ideal a una perturbación acústica</a:t>
            </a:r>
          </a:p>
          <a:p>
            <a:endParaRPr/>
          </a:p>
          <a:p>
            <a:r>
              <a:t>- **Explicación extendida:** Recordar que forma matemática y variable no son lo mismo. Cierre conceptual: El tono puro es un modelo sinusoidal; el parlante conecta dominios físicos.</a:t>
            </a:r>
          </a:p>
          <a:p>
            <a:r>
              <a:t>- **Guía del visual/diagrama:** —</a:t>
            </a:r>
          </a:p>
          <a:p>
            <a:r>
              <a:t>- **Pregunta al grupo:** ¿Qué pregunta física organiza este bloque?</a:t>
            </a:r>
          </a:p>
          <a:p>
            <a:r>
              <a:t>- **Respuesta esperada:** El tono puro es un modelo sinusoidal; el parlante conecta dominios físicos.</a:t>
            </a:r>
          </a:p>
          <a:p>
            <a:r>
              <a:t>- **Demostración/audio/video/GIF:** —</a:t>
            </a:r>
          </a:p>
          <a:p>
            <a:r>
              <a:t>- **Error frecuente o énfasis:** Mantener consistentes variable, referencia, signo y unidad.</a:t>
            </a:r>
          </a:p>
          <a:p>
            <a:r>
              <a:t>- **Transición oral:** “Definir el modelo antes de seguir la cadena física.”</a:t>
            </a:r>
          </a:p>
          <a:p>
            <a:r>
              <a:t>- **Duración aproximada:** 1 min.</a:t>
            </a:r>
          </a:p>
          <a:p>
            <a:r>
              <a:t>- **[Sources]:** PO; TEX 3.6; PDF pp. 70–72.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U03-040 — Un tono puro ideal tiene una sola frecuencia</a:t>
            </a:r>
          </a:p>
          <a:p>
            <a:endParaRPr/>
          </a:p>
          <a:p>
            <a:r>
              <a:t>- **Explicación extendida:** Evitar identificar tono puro con cualquier sonido “simple”; separar modelo físico de percepción de pureza. Comenzar con el fenómeno y un contraejemplo; fijar el término después. Cierre conceptual: El modelo ideal es sinusoidal, estable e infinitamente prolongado; una realización física solo lo aproxima.</a:t>
            </a:r>
          </a:p>
          <a:p>
            <a:r>
              <a:t>- **Guía del visual/diagrama:** 1. Señalar el objeto, sistema o ecuación central. 2. Recorrer el esquema en este orden: Definición, `s(t)=A_s cos(2πft+φ₀)` y condiciones ideales → `s` como variable genérica declarada. 3. Distinguir conectores de movimiento local y propagación cuando corresponda. 4. Cerrar con una sola idea: El modelo ideal es sinusoidal, estable e infinitamente prolongado; una realización física solo lo aproxima. El esquema es conceptual y no está a escala.</a:t>
            </a:r>
          </a:p>
          <a:p>
            <a:r>
              <a:t>- **Pregunta al grupo:** ¿Qué idealización define al tono puro?</a:t>
            </a:r>
          </a:p>
          <a:p>
            <a:r>
              <a:t>- **Respuesta esperada:** Una sola frecuencia y comportamiento sinusoidal estable.</a:t>
            </a:r>
          </a:p>
          <a:p>
            <a:r>
              <a:t>- **Demostración/audio/video/GIF:** —</a:t>
            </a:r>
          </a:p>
          <a:p>
            <a:r>
              <a:t>- **Error frecuente o énfasis:** Un tono real no tiene duración infinita ni comienzo instantáneo.</a:t>
            </a:r>
          </a:p>
          <a:p>
            <a:r>
              <a:t>- **Transición oral:** “Comparar idealización con una señal tonal real.”</a:t>
            </a:r>
          </a:p>
          <a:p>
            <a:r>
              <a:t>- **Duración aproximada:** 3 min.</a:t>
            </a:r>
          </a:p>
          <a:p>
            <a:r>
              <a:t>- **[Sources]:** PO; TEX 3.6.1; PDF p. 70; NOT; INV U03-C24.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U03-041 — Un tono real comienza y termina</a:t>
            </a:r>
          </a:p>
          <a:p>
            <a:endParaRPr/>
          </a:p>
          <a:p>
            <a:r>
              <a:t>- **Explicación extendida:** Explicar por qué un tono infinito no puede producirse; no introducir ventanas ni Fourier. Nombrar primero lo común y luego la diferencia que cambia la interpretación. Cierre conceptual: El encendido y apagado rompen la idealidad temporal aunque el tramo sostenido sea casi sinusoidal.</a:t>
            </a:r>
          </a:p>
          <a:p>
            <a:r>
              <a:t>- **Guía del visual/diagrama:** 1. Nombrar ejes, variable, unidad y escala. 2. Leer los puntos o intervalos señalados. 3. Formular la conclusión sin extenderla más allá del modelo: El encendido y apagado rompen la idealidad temporal aunque el tramo sostenido sea casi sinusoidal.</a:t>
            </a:r>
          </a:p>
          <a:p>
            <a:r>
              <a:t>- **Pregunta al grupo:** ¿Cuál es la diferencia esencial entre los casos?</a:t>
            </a:r>
          </a:p>
          <a:p>
            <a:r>
              <a:t>- **Respuesta esperada:** El encendido y apagado rompen la idealidad temporal aunque el tramo sostenido sea casi sinusoidal.</a:t>
            </a:r>
          </a:p>
          <a:p>
            <a:r>
              <a:t>- **Demostración/audio/video/GIF:** —</a:t>
            </a:r>
          </a:p>
          <a:p>
            <a:r>
              <a:t>- **Error frecuente o énfasis:** No presentar curvas del modelo como datos medidos; explicitar ejes, unidades y escala.</a:t>
            </a:r>
          </a:p>
          <a:p>
            <a:r>
              <a:t>- **Transición oral:** “Seguir el recorrido desde la entrada eléctrica al medio.”</a:t>
            </a:r>
          </a:p>
          <a:p>
            <a:r>
              <a:t>- **Duración aproximada:** 3–5 min si se selecciona.</a:t>
            </a:r>
          </a:p>
          <a:p>
            <a:r>
              <a:t>- **[Sources]:** TEX 3.6.1; PDF pp. 70–71; CDM.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U03-042 — Señal eléctrica, cono, aire y presión: una cadena</a:t>
            </a:r>
          </a:p>
          <a:p>
            <a:endParaRPr/>
          </a:p>
          <a:p>
            <a:r>
              <a:t>- **Explicación extendida:** Leer la cadena sin afirmar amplitudes equivalentes ni conversión perfecta; señalar que cada eslabón exige calibración. Cierre conceptual: Una forma sinusoidal puede conservarse aproximadamente mientras cambia la magnitud representada.</a:t>
            </a:r>
          </a:p>
          <a:p>
            <a:r>
              <a:t>- **Guía del visual/diagrama:** 1. Señalar el objeto, sistema o ecuación central. 2. Recorrer el esquema en este orden: `V(t) → x_cono(t) → ξ_aire(t) → p(t)` → variable y unidad en cada etapa → flechas rotuladas como conversión física. 3. Distinguir conectores de movimiento local y propagación cuando corresponda. 4. Cerrar con una sola idea: Una forma sinusoidal puede conservarse aproximadamente mientras cambia la magnitud representada. El esquema es conceptual y no está a escala.</a:t>
            </a:r>
          </a:p>
          <a:p>
            <a:r>
              <a:t>- **Pregunta al grupo:** ¿En qué etapa cambia la variable física representada?</a:t>
            </a:r>
          </a:p>
          <a:p>
            <a:r>
              <a:t>- **Respuesta esperada:** En cada transformación: eléctrica, mecánica del cono, mecánica del aire y presión.</a:t>
            </a:r>
          </a:p>
          <a:p>
            <a:r>
              <a:t>- **Demostración/audio/video/GIF:** —</a:t>
            </a:r>
          </a:p>
          <a:p>
            <a:r>
              <a:t>- **Error frecuente o énfasis:** No leer el esquema como representación anatómica o geométrica a escala.</a:t>
            </a:r>
          </a:p>
          <a:p>
            <a:r>
              <a:t>- **Transición oral:** “Acercar la mirada al movimiento del cono.”</a:t>
            </a:r>
          </a:p>
          <a:p>
            <a:r>
              <a:t>- **Duración aproximada:** 3 min.</a:t>
            </a:r>
          </a:p>
          <a:p>
            <a:r>
              <a:t>- **[Sources]:** PO; TEX 3.6.2; figura 3.4; PDF pp. 71–72; INV U03-C25–C28.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U03-043 — El cono oscila alrededor de una posición media</a:t>
            </a:r>
          </a:p>
          <a:p>
            <a:endParaRPr/>
          </a:p>
          <a:p>
            <a:r>
              <a:t>- **Explicación extendida:** Recuperar MAS como modelo local y aclarar límites del parlante real. Cierre conceptual: El parlante no “envía el cono” hacia el oyente; alterna desplazamientos que perturban el aire vecino.</a:t>
            </a:r>
          </a:p>
          <a:p>
            <a:r>
              <a:t>- **Guía del visual/diagrama:** 1. Señalar el objeto, sistema o ecuación central. 2. Recorrer el esquema en este orden: Tres posiciones del cono con eje, amplitud de desplazamiento y dirección instantánea. 3. Distinguir conectores de movimiento local y propagación cuando corresponda. 4. Cerrar con una sola idea: El parlante no “envía el cono” hacia el oyente; alterna desplazamientos que perturban el aire vecino. El esquema es conceptual y no está a escala.</a:t>
            </a:r>
          </a:p>
          <a:p>
            <a:r>
              <a:t>- **Pregunta al grupo:** ¿Cómo justificaría la idea central con variables, unidades o relaciones físicas?</a:t>
            </a:r>
          </a:p>
          <a:p>
            <a:r>
              <a:t>- **Respuesta esperada:** El parlante no “envía el cono” hacia el oyente; alterna desplazamientos que perturban el aire vecino.</a:t>
            </a:r>
          </a:p>
          <a:p>
            <a:r>
              <a:t>- **Demostración/audio/video/GIF:** —</a:t>
            </a:r>
          </a:p>
          <a:p>
            <a:r>
              <a:t>- **Error frecuente o énfasis:** No leer el esquema como representación anatómica o geométrica a escala.</a:t>
            </a:r>
          </a:p>
          <a:p>
            <a:r>
              <a:t>- **Transición oral:** “Mostrar cómo ese movimiento afecta a la primera capa de aire.”</a:t>
            </a:r>
          </a:p>
          <a:p>
            <a:r>
              <a:t>- **Duración aproximada:** 3 min.</a:t>
            </a:r>
          </a:p>
          <a:p>
            <a:r>
              <a:t>- **[Sources]:** TEX 3.4.5 y 3.6.2; PDF pp. 68, 71; BR.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U03-044 — El aire vecino alterna compresiones y rarefacciones</a:t>
            </a:r>
          </a:p>
          <a:p>
            <a:endParaRPr/>
          </a:p>
          <a:p>
            <a:r>
              <a:t>- **Explicación extendida:** Diferenciar desplazamiento de partícula y presión; evitar dibujar moléculas recorriendo toda la sala. Cierre conceptual: El movimiento local del aire modifica separación y presión; la perturbación pasa a regiones vecinas.</a:t>
            </a:r>
          </a:p>
          <a:p>
            <a:r>
              <a:t>- **Guía del visual/diagrama:** 1. Señalar el objeto, sistema o ecuación central. 2. Recorrer el esquema en este orden: Secuencia cono hacia afuera/hacia adentro, partículas, compresión y rarefacción → flecha de propagación separada. 3. Distinguir conectores de movimiento local y propagación cuando corresponda. 4. Cerrar con una sola idea: El movimiento local del aire modifica separación y presión; la perturbación pasa a regiones vecinas. El esquema es conceptual y no está a escala.</a:t>
            </a:r>
          </a:p>
          <a:p>
            <a:r>
              <a:t>- **Pregunta al grupo:** ¿Cómo justificaría la idea central con variables, unidades o relaciones físicas?</a:t>
            </a:r>
          </a:p>
          <a:p>
            <a:r>
              <a:t>- **Respuesta esperada:** El movimiento local del aire modifica separación y presión; la perturbación pasa a regiones vecinas.</a:t>
            </a:r>
          </a:p>
          <a:p>
            <a:r>
              <a:t>- **Demostración/audio/video/GIF:** —</a:t>
            </a:r>
          </a:p>
          <a:p>
            <a:r>
              <a:t>- **Error frecuente o énfasis:** No leer el esquema como representación anatómica o geométrica a escala.</a:t>
            </a:r>
          </a:p>
          <a:p>
            <a:r>
              <a:t>- **Transición oral:** “Representar la variable de presión en un punto fijo.”</a:t>
            </a:r>
          </a:p>
          <a:p>
            <a:r>
              <a:t>- **Duración aproximada:** 3 min.</a:t>
            </a:r>
          </a:p>
          <a:p>
            <a:r>
              <a:t>- **[Sources]:** TEX 3.3.3 y 3.6.2; PDF pp. 64–65, 71–72; INV U03-C09.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U03-045 — En un punto del aire, la presión también puede oscilar</a:t>
            </a:r>
          </a:p>
          <a:p>
            <a:endParaRPr/>
          </a:p>
          <a:p>
            <a:r>
              <a:t>- **Explicación extendida:** Aclarar que la presión acústica es una variación sobre la presión estática y que U4 formalizará sus magnitudes. Nombrar variable, ejes, unidades y escala antes de describir la forma. Cierre conceptual: Un micrófono en posición fija puede registrar `p(t)` sinusoidal alrededor de la presión ambiente.</a:t>
            </a:r>
          </a:p>
          <a:p>
            <a:r>
              <a:t>- **Guía del visual/diagrama:** 1. Señalar el objeto, sistema o ecuación central. 2. Recorrer el esquema en este orden: Esquema del punto de observación y gráfico de presión acústica relativa con línea de equilibrio → sin introducir nivel sonoro. 3. Distinguir conectores de movimiento local y propagación cuando corresponda. 4. Cerrar con una sola idea: Un micrófono en posición fija puede registrar `p(t)` sinusoidal alrededor de la presión ambiente. El esquema es conceptual y no está a escala.</a:t>
            </a:r>
          </a:p>
          <a:p>
            <a:r>
              <a:t>- **Pregunta al grupo:** ¿La curva permite conocer nivel sonoro?</a:t>
            </a:r>
          </a:p>
          <a:p>
            <a:r>
              <a:t>- **Respuesta esperada:** No si no se especifican amplitud calibrada, referencia y condiciones.</a:t>
            </a:r>
          </a:p>
          <a:p>
            <a:r>
              <a:t>- **Demostración/audio/video/GIF:** —</a:t>
            </a:r>
          </a:p>
          <a:p>
            <a:r>
              <a:t>- **Error frecuente o énfasis:** Presión acústica no es presión ambiente total.</a:t>
            </a:r>
          </a:p>
          <a:p>
            <a:r>
              <a:t>- **Transición oral:** “Vincular el modelo con una medición audiológica.”</a:t>
            </a:r>
          </a:p>
          <a:p>
            <a:r>
              <a:t>- **Duración aproximada:** 4 min.</a:t>
            </a:r>
          </a:p>
          <a:p>
            <a:r>
              <a:t>- **[Sources]:** TEX 3.5.1 y 3.6.2; PDF pp. 69, 71–72; CDM.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U03-046 — Un tono audiométrico exige nivel y calibración</a:t>
            </a:r>
          </a:p>
          <a:p>
            <a:endParaRPr/>
          </a:p>
          <a:p>
            <a:r>
              <a:t>- **Explicación extendida:** No interpretar resultados clínicos; concentrarse en producción, entrega y trazabilidad del estímulo. Separar utilidad física, condiciones del modelo y límite clínico. Cierre conceptual: La forma sinusoidal y la frecuencia no bastan para garantizar el estímulo entregado al paciente.</a:t>
            </a:r>
          </a:p>
          <a:p>
            <a:r>
              <a:t>- **Guía del visual/diagrama:** 1. Señalar el objeto, sistema o ecuación central. 2. Recorrer el esquema en este orden: Cadena generador–transductor–acoplador u oído → parámetros físicos frente a ajuste instrumental → anticipación de U4/U8. 3. Distinguir conectores de movimiento local y propagación cuando corresponda. 4. Cerrar con una sola idea: La forma sinusoidal y la frecuencia no bastan para garantizar el estímulo entregado al paciente. El esquema es conceptual y no está a escala.</a:t>
            </a:r>
          </a:p>
          <a:p>
            <a:r>
              <a:t>- **Pregunta al grupo:** ¿Qué permite afirmar el modelo y qué queda fuera de su alcance?</a:t>
            </a:r>
          </a:p>
          <a:p>
            <a:r>
              <a:t>- **Respuesta esperada:** La forma sinusoidal y la frecuencia no bastan para garantizar el estímulo entregado al paciente.</a:t>
            </a:r>
          </a:p>
          <a:p>
            <a:r>
              <a:t>- **Demostración/audio/video/GIF:** —</a:t>
            </a:r>
          </a:p>
          <a:p>
            <a:r>
              <a:t>- **Error frecuente o énfasis:** No convertir una descripción física en diagnóstico o pronóstico.</a:t>
            </a:r>
          </a:p>
          <a:p>
            <a:r>
              <a:t>- **Transición oral:** “Revisar la cadena completa con una pregunta de comprobación.”</a:t>
            </a:r>
          </a:p>
          <a:p>
            <a:r>
              <a:t>- **Duración aproximada:** 4 min.</a:t>
            </a:r>
          </a:p>
          <a:p>
            <a:r>
              <a:t>- **[Sources]:** TEX 3.9.3–3.9.4; PDF pp. 78–79; BR; CDM.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U03-047 — Un mismo patrón, cuatro variables físicas</a:t>
            </a:r>
          </a:p>
          <a:p>
            <a:endParaRPr/>
          </a:p>
          <a:p>
            <a:r>
              <a:t>- **Explicación extendida:** Repetición pedagógica: volver a la cadena para cambiar de nivel —de mecanismo a lectura de variables—, no para copiarla. Reconstruir relaciones; evitar una enumeración de palabras. Cierre conceptual: La sinusoidalidad puede repetirse en tensión, desplazamiento y presión sin volverlas la misma magnitud.</a:t>
            </a:r>
          </a:p>
          <a:p>
            <a:r>
              <a:t>- **Guía del visual/diagrama:** 1. Señalar el objeto, sistema o ecuación central. 2. Recorrer el esquema en este orden: Cadena reducida con una pregunta por etapa: variable, unidad, qué oscila y qué se propaga. 3. Distinguir conectores de movimiento local y propagación cuando corresponda. 4. Cerrar con una sola idea: La sinusoidalidad puede repetirse en tensión, desplazamiento y presión sin volverlas la misma magnitud. El esquema es conceptual y no está a escala.</a:t>
            </a:r>
          </a:p>
          <a:p>
            <a:r>
              <a:t>- **Pregunta al grupo:** ¿Cómo se conectan las ideas principales del bloque?</a:t>
            </a:r>
          </a:p>
          <a:p>
            <a:r>
              <a:t>- **Respuesta esperada:** La sinusoidalidad puede repetirse en tensión, desplazamiento y presión sin volverlas la misma magnitud.</a:t>
            </a:r>
          </a:p>
          <a:p>
            <a:r>
              <a:t>- **Demostración/audio/video/GIF:** —</a:t>
            </a:r>
          </a:p>
          <a:p>
            <a:r>
              <a:t>- **Error frecuente o énfasis:** No leer el esquema como representación anatómica o geométrica a escala.</a:t>
            </a:r>
          </a:p>
          <a:p>
            <a:r>
              <a:t>- **Transición oral:** “Ampliar la descripción desde un punto fijo a todos los puntos del medio.”</a:t>
            </a:r>
          </a:p>
          <a:p>
            <a:r>
              <a:t>- **Duración aproximada:** 3 min.</a:t>
            </a:r>
          </a:p>
          <a:p>
            <a:r>
              <a:t>- **[Sources]:** PO; TEX 3.5–3.6; CM.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U03-048 — La onda depende del tiempo y del lugar</a:t>
            </a:r>
          </a:p>
          <a:p>
            <a:endParaRPr/>
          </a:p>
          <a:p>
            <a:r>
              <a:t>- **Explicación extendida:** Anunciar que se trabajará despacio con dos cortes del mismo fenómeno. Cierre conceptual: Una onda viajera requiere dos coordenadas independientes.</a:t>
            </a:r>
          </a:p>
          <a:p>
            <a:r>
              <a:t>- **Guía del visual/diagrama:** —</a:t>
            </a:r>
          </a:p>
          <a:p>
            <a:r>
              <a:t>- **Pregunta al grupo:** ¿Qué pregunta física organiza este bloque?</a:t>
            </a:r>
          </a:p>
          <a:p>
            <a:r>
              <a:t>- **Respuesta esperada:** Una onda viajera requiere dos coordenadas independientes.</a:t>
            </a:r>
          </a:p>
          <a:p>
            <a:r>
              <a:t>- **Demostración/audio/video/GIF:** —</a:t>
            </a:r>
          </a:p>
          <a:p>
            <a:r>
              <a:t>- **Error frecuente o énfasis:** Mantener consistentes variable, referencia, signo y unidad.</a:t>
            </a:r>
          </a:p>
          <a:p>
            <a:r>
              <a:t>- **Transición oral:** “Definir una variable de campo sin formalismo excesivo.”</a:t>
            </a:r>
          </a:p>
          <a:p>
            <a:r>
              <a:t>- **Duración aproximada:** 2 min.</a:t>
            </a:r>
          </a:p>
          <a:p>
            <a:r>
              <a:t>- **[Sources]:** PO; TEX 3.7; PDF pp. 72–76; BR carga cognitiva.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U03-049 — ξ(x,t) asigna un estado a cada lugar y cada instante</a:t>
            </a:r>
          </a:p>
          <a:p>
            <a:endParaRPr/>
          </a:p>
          <a:p>
            <a:r>
              <a:t>- **Explicación extendida:** Pronunciar “desplazamiento de partícula en la posición x y el instante t”; evitar tratar `x` como desplazamiento local. Cierre conceptual: Para describir la propagación hay que indicar dónde y cuándo se observa.</a:t>
            </a:r>
          </a:p>
          <a:p>
            <a:r>
              <a:t>- **Guía del visual/diagrama:** 1. Señalar el objeto, sistema o ecuación central. 2. Recorrer el esquema en este orden: Tabla mínima de tres posiciones y tres instantes → notación `ξ(x,t)` y pregunta asociada a cada argumento. 3. Distinguir conectores de movimiento local y propagación cuando corresponda. 4. Cerrar con una sola idea: Para describir la propagación hay que indicar dónde y cuándo se observa. El esquema es conceptual y no está a escala.</a:t>
            </a:r>
          </a:p>
          <a:p>
            <a:r>
              <a:t>- **Pregunta al grupo:** ¿Por qué hacen falta dos variables independientes?</a:t>
            </a:r>
          </a:p>
          <a:p>
            <a:r>
              <a:t>- **Respuesta esperada:** Porque el estado puede cambiar tanto con la posición como con el tiempo.</a:t>
            </a:r>
          </a:p>
          <a:p>
            <a:r>
              <a:t>- **Demostración/audio/video/GIF:** —</a:t>
            </a:r>
          </a:p>
          <a:p>
            <a:r>
              <a:t>- **Error frecuente o énfasis:** No leer `ξ(x,t)` como producto de `x` por `t`.</a:t>
            </a:r>
          </a:p>
          <a:p>
            <a:r>
              <a:t>- **Transición oral:** “Visualizar el fenómeno completo antes de tomar cortes.”</a:t>
            </a:r>
          </a:p>
          <a:p>
            <a:r>
              <a:t>- **Duración aproximada:** 3 min.</a:t>
            </a:r>
          </a:p>
          <a:p>
            <a:r>
              <a:t>- **[Sources]:** TEX 3.7.1; PDF p. 72; NOT; INV U03-C29.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U03-050 — Un mapa espacio–tiempo muestra el avance</a:t>
            </a:r>
          </a:p>
          <a:p>
            <a:endParaRPr/>
          </a:p>
          <a:p>
            <a:r>
              <a:t>- **Explicación extendida:** Recorrer primero una fila y luego una columna; no introducir aún derivadas ni ecuación de onda. Nombrar variable, ejes, unidades y escala antes de describir la forma. Cierre conceptual: Las crestas y estados de fase se desplazan con una pendiente que representa rapidez.</a:t>
            </a:r>
          </a:p>
          <a:p>
            <a:r>
              <a:t>- **Guía del visual/diagrama:** 1. Nombrar ejes, variable, unidad y escala. 2. Leer los puntos o intervalos señalados. 3. Formular la conclusión sin extenderla más allá del modelo: Las crestas y estados de fase se desplazan con una pendiente que representa rapidez.</a:t>
            </a:r>
          </a:p>
          <a:p>
            <a:r>
              <a:t>- **Pregunta al grupo:** ¿Qué indican los ejes, las unidades y la escala?</a:t>
            </a:r>
          </a:p>
          <a:p>
            <a:r>
              <a:t>- **Respuesta esperada:** Las crestas y estados de fase se desplazan con una pendiente que representa rapidez.</a:t>
            </a:r>
          </a:p>
          <a:p>
            <a:r>
              <a:t>- **Demostración/audio/video/GIF:** —</a:t>
            </a:r>
          </a:p>
          <a:p>
            <a:r>
              <a:t>- **Error frecuente o énfasis:** No presentar curvas del modelo como datos medidos; explicitar ejes, unidades y escala.</a:t>
            </a:r>
          </a:p>
          <a:p>
            <a:r>
              <a:t>- **Transición oral:** “Fijar una posición y dejar pasar el tiempo.”</a:t>
            </a:r>
          </a:p>
          <a:p>
            <a:r>
              <a:t>- **Duración aproximada:** 3 min.</a:t>
            </a:r>
          </a:p>
          <a:p>
            <a:r>
              <a:t>- **[Sources]:** TEX 3.7.1–3.7.2; figura 3.5; PDF pp. 72–74; 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U03-051 — En un punto fijo leemos un registro temporal</a:t>
            </a:r>
          </a:p>
          <a:p>
            <a:endParaRPr/>
          </a:p>
          <a:p>
            <a:r>
              <a:t>- **Explicación extendida:** Nombrar qué permanece fijo y qué varía; pedir al curso que señale un período correcto. Nombrar variable, ejes, unidades y escala antes de describir la forma. Cierre conceptual: Un observador inmóvil mide repetición en el tiempo y obtiene `T` y `f`.</a:t>
            </a:r>
          </a:p>
          <a:p>
            <a:r>
              <a:t>- **Guía del visual/diagrama:** 1. Nombrar ejes, variable, unidad y escala. 2. Leer los puntos o intervalos señalados. 3. Formular la conclusión sin extenderla más allá del modelo: Un observador inmóvil mide repetición en el tiempo y obtiene `T` y `f`.</a:t>
            </a:r>
          </a:p>
          <a:p>
            <a:r>
              <a:t>- **Pregunta al grupo:** ¿Qué magnitud se lee en un corte temporal?</a:t>
            </a:r>
          </a:p>
          <a:p>
            <a:r>
              <a:t>- **Respuesta esperada:** El período `T`, y de él la frecuencia `f`.</a:t>
            </a:r>
          </a:p>
          <a:p>
            <a:r>
              <a:t>- **Demostración/audio/video/GIF:** —</a:t>
            </a:r>
          </a:p>
          <a:p>
            <a:r>
              <a:t>- **Error frecuente o énfasis:** No presentar curvas del modelo como datos medidos; explicitar ejes, unidades y escala.</a:t>
            </a:r>
          </a:p>
          <a:p>
            <a:r>
              <a:t>- **Transición oral:** “Congelar el tiempo y recorrer el espacio.”</a:t>
            </a:r>
          </a:p>
          <a:p>
            <a:r>
              <a:t>- **Duración aproximada:** 3 min.</a:t>
            </a:r>
          </a:p>
          <a:p>
            <a:r>
              <a:t>- **[Sources]:** TEX 3.7.2; PDF pp. 73–74; INV U03-R09.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U03-052 — En un instante fijo leemos un perfil espacial</a:t>
            </a:r>
          </a:p>
          <a:p>
            <a:endParaRPr/>
          </a:p>
          <a:p>
            <a:r>
              <a:t>- **Explicación extendida:** Nombrar qué permanece fijo y evitar llamar “período” a una distancia. Nombrar variable, ejes, unidades y escala antes de describir la forma. Cierre conceptual: Una fotografía instantánea permite medir repetición en el espacio y obtener `λ`.</a:t>
            </a:r>
          </a:p>
          <a:p>
            <a:r>
              <a:t>- **Guía del visual/diagrama:** 1. Nombrar ejes, variable, unidad y escala. 2. Leer los puntos o intervalos señalados. 3. Formular la conclusión sin extenderla más allá del modelo: Una fotografía instantánea permite medir repetición en el espacio y obtener `λ`.</a:t>
            </a:r>
          </a:p>
          <a:p>
            <a:r>
              <a:t>- **Pregunta al grupo:** ¿Qué magnitud se lee en un perfil espacial?</a:t>
            </a:r>
          </a:p>
          <a:p>
            <a:r>
              <a:t>- **Respuesta esperada:** La longitud de onda `λ`.</a:t>
            </a:r>
          </a:p>
          <a:p>
            <a:r>
              <a:t>- **Demostración/audio/video/GIF:** —</a:t>
            </a:r>
          </a:p>
          <a:p>
            <a:r>
              <a:t>- **Error frecuente o énfasis:** No presentar curvas del modelo como datos medidos; explicitar ejes, unidades y escala.</a:t>
            </a:r>
          </a:p>
          <a:p>
            <a:r>
              <a:t>- **Transición oral:** “Comparar ambos cortes sin cambiar el fenómeno.”</a:t>
            </a:r>
          </a:p>
          <a:p>
            <a:r>
              <a:t>- **Duración aproximada:** 3 min.</a:t>
            </a:r>
          </a:p>
          <a:p>
            <a:r>
              <a:t>- **[Sources]:** TEX 3.7.2; PDF pp. 73–74; INV U03-C31.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U03-053 — Período y longitud de onda: tiempo y espacio</a:t>
            </a:r>
          </a:p>
          <a:p>
            <a:endParaRPr/>
          </a:p>
          <a:p>
            <a:r>
              <a:t>- **Explicación extendida:** Hacer que cada estudiante complete verbalmente “mismo lugar, distintos instantes” y “mismo instante, distintos lugares”. Nombrar primero lo común y luego la diferencia que cambia la interpretación. Cierre conceptual: `T` es una separación temporal; `λ` es una separación espacial entre estados de fase equivalentes.</a:t>
            </a:r>
          </a:p>
          <a:p>
            <a:r>
              <a:t>- **Guía del visual/diagrama:** 1. Señalar el objeto, sistema o ecuación central. 2. Recorrer el esquema en este orden: Dos gráficos coordinados con mismo código de fase → tabla de símbolo, eje, unidad y condición de lectura. 3. Distinguir conectores de movimiento local y propagación cuando corresponda. 4. Cerrar con una sola idea: `T` es una separación temporal; `λ` es una separación espacial entre estados de fase equivalentes. El esquema es conceptual y no está a escala.</a:t>
            </a:r>
          </a:p>
          <a:p>
            <a:r>
              <a:t>- **Pregunta al grupo:** ¿Por qué `T` y `λ` no pueden intercambiarse?</a:t>
            </a:r>
          </a:p>
          <a:p>
            <a:r>
              <a:t>- **Respuesta esperada:** Uno es tiempo en segundos y el otro distancia en metros.</a:t>
            </a:r>
          </a:p>
          <a:p>
            <a:r>
              <a:t>- **Demostración/audio/video/GIF:** —</a:t>
            </a:r>
          </a:p>
          <a:p>
            <a:r>
              <a:t>- **Error frecuente o énfasis:** No confundir segundos con metros.</a:t>
            </a:r>
          </a:p>
          <a:p>
            <a:r>
              <a:t>- **Transición oral:** “Definir formalmente longitud de onda.”</a:t>
            </a:r>
          </a:p>
          <a:p>
            <a:r>
              <a:t>- **Duración aproximada:** 3 min.</a:t>
            </a:r>
          </a:p>
          <a:p>
            <a:r>
              <a:t>- **[Sources]:** PO; TEX 3.7.2; PDF pp. 73–74; CM checkpoint.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U03-054 — La longitud de onda mide repetición espacial</a:t>
            </a:r>
          </a:p>
          <a:p>
            <a:endParaRPr/>
          </a:p>
          <a:p>
            <a:r>
              <a:t>- **Explicación extendida:** Aclarar que `λ` no es “el largo de la onda completa” ni la distancia recorrida en un tiempo arbitrario. Comenzar con el fenómeno y un contraejemplo; fijar el término después. Cierre conceptual: Se mide entre dos puntos espaciales consecutivos que están en el mismo estado de ciclo.</a:t>
            </a:r>
          </a:p>
          <a:p>
            <a:r>
              <a:t>- **Guía del visual/diagrama:** 1. Nombrar ejes, variable, unidad y escala. 2. Leer los puntos o intervalos señalados. 3. Formular la conclusión sin extenderla más allá del modelo: Se mide entre dos puntos espaciales consecutivos que están en el mismo estado de ciclo.</a:t>
            </a:r>
          </a:p>
          <a:p>
            <a:r>
              <a:t>- **Pregunta al grupo:** ¿Qué condición o diferencia forma parte de esta definición?</a:t>
            </a:r>
          </a:p>
          <a:p>
            <a:r>
              <a:t>- **Respuesta esperada:** Se mide entre dos puntos espaciales consecutivos que están en el mismo estado de ciclo.</a:t>
            </a:r>
          </a:p>
          <a:p>
            <a:r>
              <a:t>- **Demostración/audio/video/GIF:** —</a:t>
            </a:r>
          </a:p>
          <a:p>
            <a:r>
              <a:t>- **Error frecuente o énfasis:** No presentar curvas del modelo como datos medidos; explicitar ejes, unidades y escala.</a:t>
            </a:r>
          </a:p>
          <a:p>
            <a:r>
              <a:t>- **Transición oral:** “Mostrar una expresión que codifica el desplazamiento en tiempo y espacio.”</a:t>
            </a:r>
          </a:p>
          <a:p>
            <a:r>
              <a:t>- **Duración aproximada:** 3 min.</a:t>
            </a:r>
          </a:p>
          <a:p>
            <a:r>
              <a:t>- **[Sources]:** PO; TEX 3.7.2; PDF p. 74; INV U03-C31.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U03-055 — Una expresión viajera combina fase espacial y temporal</a:t>
            </a:r>
          </a:p>
          <a:p>
            <a:endParaRPr/>
          </a:p>
          <a:p>
            <a:r>
              <a:t>- **Explicación extendida:** Leer componentes, no resolver derivaciones; dejar `k_onda` y `ω` para respaldo. Definir símbolos, unidades, signo y condiciones antes de sustituir valores. Cierre conceptual: El argumento cambia con `x` y `t`; el signo determina la dirección de avance según la convención.</a:t>
            </a:r>
          </a:p>
          <a:p>
            <a:r>
              <a:t>- **Guía del visual/diagrama:** 1. Señalar el objeto, sistema o ecuación central. 2. Recorrer el esquema en este orden: `ξ(x,t)=A_ξ cos(2πft-2πx/λ+φ₀)` → grupos temporal, espacial e inicial → límites del modelo. 3. Distinguir conectores de movimiento local y propagación cuando corresponda. 4. Cerrar con una sola idea: El argumento cambia con `x` y `t`; el signo determina la dirección de avance según la convención. El esquema es conceptual y no está a escala.</a:t>
            </a:r>
          </a:p>
          <a:p>
            <a:r>
              <a:t>- **Pregunta al grupo:** ¿Qué relación física expresa la ecuación y qué unidades deben ser compatibles?</a:t>
            </a:r>
          </a:p>
          <a:p>
            <a:r>
              <a:t>- **Respuesta esperada:** El argumento cambia con `x` y `t`; el signo determina la dirección de avance según la convención.</a:t>
            </a:r>
          </a:p>
          <a:p>
            <a:r>
              <a:t>- **Demostración/audio/video/GIF:** —</a:t>
            </a:r>
          </a:p>
          <a:p>
            <a:r>
              <a:t>- **Error frecuente o énfasis:** La dirección depende del signo espacial y de la convención adoptada.</a:t>
            </a:r>
          </a:p>
          <a:p>
            <a:r>
              <a:t>- **Transición oral:** “Relacionar cuánto avanza un ciclo con cuánto dura.”</a:t>
            </a:r>
          </a:p>
          <a:p>
            <a:r>
              <a:t>- **Duración aproximada:** 3–5 min si se selecciona.</a:t>
            </a:r>
          </a:p>
          <a:p>
            <a:r>
              <a:t>- **[Sources]:** TEX 3.7.3; PDF pp. 74–75; NOT; INV U03-E08.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U03-056 — En un período la onda avanza una longitud de onda</a:t>
            </a:r>
          </a:p>
          <a:p>
            <a:endParaRPr/>
          </a:p>
          <a:p>
            <a:r>
              <a:t>- **Explicación extendida:** Controlar `m·s⁻¹`; señalar que la relación no afirma que aumentar la frecuencia cambie `c` si el medio fija la rapidez. Definir símbolos, unidades, signo y condiciones antes de sustituir valores. Cierre conceptual: La rapidez de propagación enlaza repetición espacial y temporal.</a:t>
            </a:r>
          </a:p>
          <a:p>
            <a:r>
              <a:t>- **Guía del visual/diagrama:** 1. Señalar el objeto, sistema o ecuación central. 2. Recorrer el esquema en este orden: Razonamiento `c=λ/T`, sustitución `f=1/T`, resultado `c=λf` → símbolos, unidades y condiciones de medio. 3. Distinguir conectores de movimiento local y propagación cuando corresponda. 4. Cerrar con una sola idea: La rapidez de propagación enlaza repetición espacial y temporal. El esquema es conceptual y no está a escala.</a:t>
            </a:r>
          </a:p>
          <a:p>
            <a:r>
              <a:t>- **Pregunta al grupo:** ¿Qué distancia avanza la fase en un período?</a:t>
            </a:r>
          </a:p>
          <a:p>
            <a:r>
              <a:t>- **Respuesta esperada:** Una longitud de onda.</a:t>
            </a:r>
          </a:p>
          <a:p>
            <a:r>
              <a:t>- **Demostración/audio/video/GIF:** —</a:t>
            </a:r>
          </a:p>
          <a:p>
            <a:r>
              <a:t>- **Error frecuente o énfasis:** La relación no afirma que una partícula recorra `λ` en un período.</a:t>
            </a:r>
          </a:p>
          <a:p>
            <a:r>
              <a:t>- **Transición oral:** “Resolver un caso acústico sencillo.”</a:t>
            </a:r>
          </a:p>
          <a:p>
            <a:r>
              <a:t>- **Duración aproximada:** 3 min.</a:t>
            </a:r>
          </a:p>
          <a:p>
            <a:r>
              <a:t>- **[Sources]:** TEX 3.7.4; PDF p. 75; NOT; INV U03-E10.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U03-057 — A 1000 Hz, una onda recorre 34 cm por ciclo</a:t>
            </a:r>
          </a:p>
          <a:p>
            <a:endParaRPr/>
          </a:p>
          <a:p>
            <a:r>
              <a:t>- **Explicación extendida:** No presentar `340 m/s` como universal; enlazar con U2 y reservar dependencia ambiental para U9. Cierre conceptual: En aire a `c≈340 m/s`, una frecuencia mayor corresponde a una longitud de onda menor bajo las mismas condiciones.</a:t>
            </a:r>
          </a:p>
          <a:p>
            <a:r>
              <a:t>- **Guía del visual/diagrama:** 1. Señalar el objeto, sistema o ecuación central. 2. Recorrer el esquema en este orden: Datos, despeje, sustitución, `λ=0,34 m`, conversión a cm e interpretación → condición del valor de `c`. 3. Distinguir conectores de movimiento local y propagación cuando corresponda. 4. Cerrar con una sola idea: En aire a `c≈340 m/s`, una frecuencia mayor corresponde a una longitud de onda menor bajo las mismas condiciones. El esquema es conceptual y no está a escala.</a:t>
            </a:r>
          </a:p>
          <a:p>
            <a:r>
              <a:t>- **Pregunta al grupo:** ¿Qué significa físicamente `λ=0,34 m`?</a:t>
            </a:r>
          </a:p>
          <a:p>
            <a:r>
              <a:t>- **Respuesta esperada:** Puntos separados 0,34 m pueden estar en el mismo estado de fase.</a:t>
            </a:r>
          </a:p>
          <a:p>
            <a:r>
              <a:t>- **Demostración/audio/video/GIF:** —</a:t>
            </a:r>
          </a:p>
          <a:p>
            <a:r>
              <a:t>- **Error frecuente o énfasis:** No leer el esquema como representación anatómica o geométrica a escala.</a:t>
            </a:r>
          </a:p>
          <a:p>
            <a:r>
              <a:t>- **Transición oral:** “Comprobar lectura y cálculo con un caso nuevo.”</a:t>
            </a:r>
          </a:p>
          <a:p>
            <a:r>
              <a:t>- **Duración aproximada:** 4 min.</a:t>
            </a:r>
          </a:p>
          <a:p>
            <a:r>
              <a:t>- **[Sources]:** TEX ejemplo 3.7.4; PDF p. 75; U2; BR decisión U3-D06.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U03-058 — Lea T y λ; luego calcule c</a:t>
            </a:r>
          </a:p>
          <a:p>
            <a:endParaRPr/>
          </a:p>
          <a:p>
            <a:r>
              <a:t>- **Explicación extendida:** Pedir primero que marquen visualmente intervalos equivalentes y luego calculen; observar errores de eje. Dar tiempo individual. Resolver en el orden lectura → datos → ecuación → unidad → interpretación. Cierre conceptual: El cálculo correcto exige leer cada repetición en su eje correspondiente.</a:t>
            </a:r>
          </a:p>
          <a:p>
            <a:r>
              <a:t>- **Guía del visual/diagrama:** 1. Nombrar ejes, variable, unidad y escala. 2. Leer los puntos o intervalos señalados. 3. Formular la conclusión sin extenderla más allá del modelo: El cálculo correcto exige leer cada repetición en su eje correspondiente.</a:t>
            </a:r>
          </a:p>
          <a:p>
            <a:r>
              <a:t>- **Pregunta al grupo:** ¿Qué se lee antes de calcular?</a:t>
            </a:r>
          </a:p>
          <a:p>
            <a:r>
              <a:t>- **Respuesta esperada:** `T` y `λ`, cada uno en el eje correspondiente.</a:t>
            </a:r>
          </a:p>
          <a:p>
            <a:r>
              <a:t>- **Demostración/audio/video/GIF:** —</a:t>
            </a:r>
          </a:p>
          <a:p>
            <a:r>
              <a:t>- **Error frecuente o énfasis:** No presentar curvas del modelo como datos medidos; explicitar ejes, unidades y escala.</a:t>
            </a:r>
          </a:p>
          <a:p>
            <a:r>
              <a:t>- **Transición oral:** “Convertir el procedimiento en una regla de lectura estable.”</a:t>
            </a:r>
          </a:p>
          <a:p>
            <a:r>
              <a:t>- **Duración aproximada:** 5 min.</a:t>
            </a:r>
          </a:p>
          <a:p>
            <a:r>
              <a:t>- **[Sources]:** CM checkpoint; TEX ejercicios G3 y N3; PDF pp. 82–84; 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U03-059 — Mismo fenómeno, dos cortes y una relación</a:t>
            </a:r>
          </a:p>
          <a:p>
            <a:endParaRPr/>
          </a:p>
          <a:p>
            <a:r>
              <a:t>- **Explicación extendida:** Repetición pedagógica: integrar representaciones antes de agregar velocidad de partícula y fase. Reconstruir relaciones; evitar una enumeración de palabras. Cierre conceptual: `T` se lee en tiempo, `λ` en espacio y `c` conecta ambas escalas.</a:t>
            </a:r>
          </a:p>
          <a:p>
            <a:r>
              <a:t>- **Guía del visual/diagrama:** 1. Señalar el objeto, sistema o ecuación central. 2. Recorrer el esquema en este orden: Mapa `ξ(x,t)` → corte temporal → corte espacial → `c=λf` → pregunta de salida del bloque. 3. Distinguir conectores de movimiento local y propagación cuando corresponda. 4. Cerrar con una sola idea: `T` se lee en tiempo, `λ` en espacio y `c` conecta ambas escalas. El esquema es conceptual y no está a escala.</a:t>
            </a:r>
          </a:p>
          <a:p>
            <a:r>
              <a:t>- **Pregunta al grupo:** ¿Cómo se conectan las ideas principales del bloque?</a:t>
            </a:r>
          </a:p>
          <a:p>
            <a:r>
              <a:t>- **Respuesta esperada:** `T` se lee en tiempo, `λ` en espacio y `c` conecta ambas escalas.</a:t>
            </a:r>
          </a:p>
          <a:p>
            <a:r>
              <a:t>- **Demostración/audio/video/GIF:** —</a:t>
            </a:r>
          </a:p>
          <a:p>
            <a:r>
              <a:t>- **Error frecuente o énfasis:** No leer el esquema como representación anatómica o geométrica a escala.</a:t>
            </a:r>
          </a:p>
          <a:p>
            <a:r>
              <a:t>- **Transición oral:** “Preguntar qué velocidad representa realmente `c`.”</a:t>
            </a:r>
          </a:p>
          <a:p>
            <a:r>
              <a:t>- **Duración aproximada:** 3 min.</a:t>
            </a:r>
          </a:p>
          <a:p>
            <a:r>
              <a:t>- **[Sources]:** PO; TEX 3.7.1–3.7.4; CM.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U03-060 — La partícula se mueve; la onda avanza</a:t>
            </a:r>
          </a:p>
          <a:p>
            <a:endParaRPr/>
          </a:p>
          <a:p>
            <a:r>
              <a:t>- **Explicación extendida:** Recuperar la demostración del resorte y el mapa espacio–tiempo. Cierre conceptual: Velocidad local y velocidad de propagación responden preguntas distintas.</a:t>
            </a:r>
          </a:p>
          <a:p>
            <a:r>
              <a:t>- **Guía del visual/diagrama:** —</a:t>
            </a:r>
          </a:p>
          <a:p>
            <a:r>
              <a:t>- **Pregunta al grupo:** ¿Qué pregunta física organiza este bloque?</a:t>
            </a:r>
          </a:p>
          <a:p>
            <a:r>
              <a:t>- **Respuesta esperada:** Velocidad local y velocidad de propagación responden preguntas distintas.</a:t>
            </a:r>
          </a:p>
          <a:p>
            <a:r>
              <a:t>- **Demostración/audio/video/GIF:** —</a:t>
            </a:r>
          </a:p>
          <a:p>
            <a:r>
              <a:t>- **Error frecuente o énfasis:** Mantener consistentes variable, referencia, signo y unidad.</a:t>
            </a:r>
          </a:p>
          <a:p>
            <a:r>
              <a:t>- **Transición oral:** “Observar simultáneamente frente y partícula.”</a:t>
            </a:r>
          </a:p>
          <a:p>
            <a:r>
              <a:t>- **Duración aproximada:** 1 min.</a:t>
            </a:r>
          </a:p>
          <a:p>
            <a:r>
              <a:t>- **[Sources]:** TEX 3.7.5 y 3.8; PDF pp. 75–77.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U03-061 — Siga una partícula y siga una cresta</a:t>
            </a:r>
          </a:p>
          <a:p>
            <a:endParaRPr/>
          </a:p>
          <a:p>
            <a:r>
              <a:t>- **Explicación extendida:** Pausar en extremos y cruces; evitar que la animación transversal se interprete como aire moviéndose verticalmente. Cierre conceptual: Una partícula invierte su sentido localmente mientras una cresta puede seguir avanzando.</a:t>
            </a:r>
          </a:p>
          <a:p>
            <a:r>
              <a:t>- **Guía del visual/diagrama:** —</a:t>
            </a:r>
          </a:p>
          <a:p>
            <a:r>
              <a:t>- **Pregunta al grupo:** ¿La partícula y la cresta recorren la misma trayectoria?</a:t>
            </a:r>
          </a:p>
          <a:p>
            <a:r>
              <a:t>- **Respuesta esperada:** No; la partícula oscila localmente y la cresta representa fase que avanza.</a:t>
            </a:r>
          </a:p>
          <a:p>
            <a:r>
              <a:t>- **Demostración/audio/video/GIF:** Reproducir: MEDIA: animación propia de onda longitudinal o transversal; alternativa estática en 6 fotogramas. Mostrar primero sin narración y luego seguir la marca o el frente. Si el recurso no se reproduce, usar la secuencia estática incluida.</a:t>
            </a:r>
          </a:p>
          <a:p>
            <a:r>
              <a:t>- **Error frecuente o énfasis:** Mantener consistentes variable, referencia, signo y unidad.</a:t>
            </a:r>
          </a:p>
          <a:p>
            <a:r>
              <a:t>- **Transición oral:** “Nombrar y definir ambas velocidades.”</a:t>
            </a:r>
          </a:p>
          <a:p>
            <a:r>
              <a:t>- **Duración aproximada:** 3 min.</a:t>
            </a:r>
          </a:p>
          <a:p>
            <a:r>
              <a:t>- **[Sources]:** TEX 3.7.5; PDF pp. 75–76; 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U03-062 — u es movimiento local; c, propagación</a:t>
            </a:r>
          </a:p>
          <a:p>
            <a:endParaRPr/>
          </a:p>
          <a:p>
            <a:r>
              <a:t>- **Explicación extendida:** Indicar que ambas usan m/s pero no son intercambiables; no introducir velocidad de grupo. Nombrar primero lo común y luego la diferencia que cambia la interpretación. Cierre conceptual: `u` cambia durante el ciclo; `c` caracteriza el avance de una fase en el medio.</a:t>
            </a:r>
          </a:p>
          <a:p>
            <a:r>
              <a:t>- **Guía del visual/diagrama:** 1. Señalar el objeto, sistema o ecuación central. 2. Recorrer el esquema en este orden: Tabla de referente, dirección, variación, unidad y cómo se mide → notación conforme a la guía. 3. Distinguir conectores de movimiento local y propagación cuando corresponda. 4. Cerrar con una sola idea: `u` cambia durante el ciclo; `c` caracteriza el avance de una fase en el medio. El esquema es conceptual y no está a escala.</a:t>
            </a:r>
          </a:p>
          <a:p>
            <a:r>
              <a:t>- **Pregunta al grupo:** ¿Cuál velocidad usaría para describir el avance del tono?</a:t>
            </a:r>
          </a:p>
          <a:p>
            <a:r>
              <a:t>- **Respuesta esperada:** `c`, no la velocidad local `u`.</a:t>
            </a:r>
          </a:p>
          <a:p>
            <a:r>
              <a:t>- **Demostración/audio/video/GIF:** —</a:t>
            </a:r>
          </a:p>
          <a:p>
            <a:r>
              <a:t>- **Error frecuente o énfasis:** No confundir velocidad local de partícula con rapidez de propagación.</a:t>
            </a:r>
          </a:p>
          <a:p>
            <a:r>
              <a:t>- **Transición oral:** “Confrontar el error “más frecuencia, mayor rapidez”.”</a:t>
            </a:r>
          </a:p>
          <a:p>
            <a:r>
              <a:t>- **Duración aproximada:** 3 min.</a:t>
            </a:r>
          </a:p>
          <a:p>
            <a:r>
              <a:t>- **[Sources]:** TEX 3.7.5; PDF pp. 75–76; NOT; INV U03-C34–C35.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U03-063 — Aumentar la frecuencia no obliga a aumentar c</a:t>
            </a:r>
          </a:p>
          <a:p>
            <a:endParaRPr/>
          </a:p>
          <a:p>
            <a:r>
              <a:t>- **Explicación extendida:** Explicitar qué variable se mantiene; recuperar el diagnóstico inicial. Cierre conceptual: En un mismo medio, si `c` permanece aproximadamente fija, cambia `λ` cuando cambia `f`.</a:t>
            </a:r>
          </a:p>
          <a:p>
            <a:r>
              <a:t>- **Guía del visual/diagrama:** 1. Señalar el objeto, sistema o ecuación central. 2. Recorrer el esquema en este orden: Error, condición del medio y comparación de dos frecuencias con longitudes de onda inversas. 3. Distinguir conectores de movimiento local y propagación cuando corresponda. 4. Cerrar con una sola idea: En un mismo medio, si `c` permanece aproximadamente fija, cambia `λ` cuando cambia `f`. El esquema es conceptual y no está a escala.</a:t>
            </a:r>
          </a:p>
          <a:p>
            <a:r>
              <a:t>- **Pregunta al grupo:** Si `f` se duplica y `c` permanece constante, ¿qué ocurre con `λ`?</a:t>
            </a:r>
          </a:p>
          <a:p>
            <a:r>
              <a:t>- **Respuesta esperada:** Se reduce a la mitad.</a:t>
            </a:r>
          </a:p>
          <a:p>
            <a:r>
              <a:t>- **Demostración/audio/video/GIF:** —</a:t>
            </a:r>
          </a:p>
          <a:p>
            <a:r>
              <a:t>- **Error frecuente o énfasis:** Mayor frecuencia no implica necesariamente mayor rapidez de propagación.</a:t>
            </a:r>
          </a:p>
          <a:p>
            <a:r>
              <a:t>- **Transición oral:** “Volver al ciclo para comparar estados entre oscilaciones.”</a:t>
            </a:r>
          </a:p>
          <a:p>
            <a:r>
              <a:t>- **Duración aproximada:** 3 min.</a:t>
            </a:r>
          </a:p>
          <a:p>
            <a:r>
              <a:t>- **[Sources]:** TEX 3.7.4 y 3.10; PDF pp. 75, 79; U2.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U03-064 — La fase permite comparar estados de ciclo</a:t>
            </a:r>
          </a:p>
          <a:p>
            <a:endParaRPr/>
          </a:p>
          <a:p>
            <a:r>
              <a:t>- **Explicación extendida:** Repetición pedagógica: en U03-026 fase ubicó un estado; ahora sirve para comparar dos estados. Comenzar con el fenómeno y un contraejemplo; fijar el término después. Cierre conceptual: La fase no solo ubica un oscilador: permite comparar dos señales o dos puntos de una onda.</a:t>
            </a:r>
          </a:p>
          <a:p>
            <a:r>
              <a:t>- **Guía del visual/diagrama:** 1. Nombrar ejes, variable, unidad y escala. 2. Leer los puntos o intervalos señalados. 3. Formular la conclusión sin extenderla más allá del modelo: La fase no solo ubica un oscilador: permite comparar dos señales o dos puntos de una onda.</a:t>
            </a:r>
          </a:p>
          <a:p>
            <a:r>
              <a:t>- **Pregunta al grupo:** ¿Qué condición o diferencia forma parte de esta definición?</a:t>
            </a:r>
          </a:p>
          <a:p>
            <a:r>
              <a:t>- **Respuesta esperada:** La fase no solo ubica un oscilador: permite comparar dos señales o dos puntos de una onda.</a:t>
            </a:r>
          </a:p>
          <a:p>
            <a:r>
              <a:t>- **Demostración/audio/video/GIF:** —</a:t>
            </a:r>
          </a:p>
          <a:p>
            <a:r>
              <a:t>- **Error frecuente o énfasis:** No presentar curvas del modelo como datos medidos; explicitar ejes, unidades y escala.</a:t>
            </a:r>
          </a:p>
          <a:p>
            <a:r>
              <a:t>- **Transición oral:** “Expresar la comparación como diferencia angular.”</a:t>
            </a:r>
          </a:p>
          <a:p>
            <a:r>
              <a:t>- **Duración aproximada:** 3 min.</a:t>
            </a:r>
          </a:p>
          <a:p>
            <a:r>
              <a:t>- **[Sources]:** PO; TEX 3.8.1; PDF p. 76; INV U03-C36.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U03-065 — La diferencia de fase mide cuánto se desplaza un ciclo</a:t>
            </a:r>
          </a:p>
          <a:p>
            <a:endParaRPr/>
          </a:p>
          <a:p>
            <a:r>
              <a:t>- **Explicación extendida:** Mantener una sola convención; no confundir `φ₀` con `Δφ`. Definir símbolos, unidades, signo y condiciones antes de sustituir valores. Cierre conceptual: `0`, `π/2`, `π` y `2π` representan coincidencia o desplazamientos fraccionarios del ciclo.</a:t>
            </a:r>
          </a:p>
          <a:p>
            <a:r>
              <a:t>- **Guía del visual/diagrama:** 1. Señalar el objeto, sistema o ecuación central. 2. Recorrer el esquema en este orden: `Δφ=φ₂-φ₁` → correspondencia grados–radianes–fracción de ciclo → signo según orden declarado. 3. Distinguir conectores de movimiento local y propagación cuando corresponda. 4. Cerrar con una sola idea: `0`, `π/2`, `π` y `2π` representan coincidencia o desplazamientos fraccionarios del ciclo. El esquema es conceptual y no está a escala.</a:t>
            </a:r>
          </a:p>
          <a:p>
            <a:r>
              <a:t>- **Pregunta al grupo:** ¿`2π` representa un estado distinto de `0`?</a:t>
            </a:r>
          </a:p>
          <a:p>
            <a:r>
              <a:t>- **Respuesta esperada:** Es un ciclo completo después y corresponde a fase equivalente.</a:t>
            </a:r>
          </a:p>
          <a:p>
            <a:r>
              <a:t>- **Demostración/audio/video/GIF:** —</a:t>
            </a:r>
          </a:p>
          <a:p>
            <a:r>
              <a:t>- **Error frecuente o énfasis:** Comparar fases exige una referencia común.</a:t>
            </a:r>
          </a:p>
          <a:p>
            <a:r>
              <a:t>- **Transición oral:** “Vincular fase temporal y separación espacial sin desarrollar `k_onda`.”</a:t>
            </a:r>
          </a:p>
          <a:p>
            <a:r>
              <a:t>- **Duración aproximada:** 4 min.</a:t>
            </a:r>
          </a:p>
          <a:p>
            <a:r>
              <a:t>- **[Sources]:** TEX 3.8.1; PDF pp. 76–77; NOT; INV U03-E12.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U03-066 — Separarse una longitud de onda repite la fase</a:t>
            </a:r>
          </a:p>
          <a:p>
            <a:endParaRPr/>
          </a:p>
          <a:p>
            <a:r>
              <a:t>- **Explicación extendida:** Hacer la correspondencia cualitativa antes de usar fórmulas; señalar que se compara en el mismo instante. Cierre conceptual: Dos puntos separados por `λ` están en fase; por `λ/2`, en oposición de fase para una sinusoide.</a:t>
            </a:r>
          </a:p>
          <a:p>
            <a:r>
              <a:t>- **Guía del visual/diagrama:** 1. Nombrar ejes, variable, unidad y escala. 2. Leer los puntos o intervalos señalados. 3. Formular la conclusión sin extenderla más allá del modelo: Dos puntos separados por `λ` están en fase; por `λ/2`, en oposición de fase para una sinusoide.</a:t>
            </a:r>
          </a:p>
          <a:p>
            <a:r>
              <a:t>- **Pregunta al grupo:** ¿Cómo justificaría la idea central con variables, unidades o relaciones físicas?</a:t>
            </a:r>
          </a:p>
          <a:p>
            <a:r>
              <a:t>- **Respuesta esperada:** Dos puntos separados por `λ` están en fase; por `λ/2`, en oposición de fase para una sinusoide.</a:t>
            </a:r>
          </a:p>
          <a:p>
            <a:r>
              <a:t>- **Demostración/audio/video/GIF:** —</a:t>
            </a:r>
          </a:p>
          <a:p>
            <a:r>
              <a:t>- **Error frecuente o énfasis:** No presentar curvas del modelo como datos medidos; explicitar ejes, unidades y escala.</a:t>
            </a:r>
          </a:p>
          <a:p>
            <a:r>
              <a:t>- **Transición oral:** “Mostrar una relación útil entre desfase y retraso.”</a:t>
            </a:r>
          </a:p>
          <a:p>
            <a:r>
              <a:t>- **Duración aproximada:** 3 min.</a:t>
            </a:r>
          </a:p>
          <a:p>
            <a:r>
              <a:t>- **[Sources]:** TEX 3.8.1; PDF pp. 76–77; INV U03-C36.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U03-067 — El retraso se vuelve fase si conocemos f</a:t>
            </a:r>
          </a:p>
          <a:p>
            <a:endParaRPr/>
          </a:p>
          <a:p>
            <a:r>
              <a:t>- **Explicación extendida:** Presentar como ampliación útil; evitar llamar fase a cualquier retraso sin frecuencia. Definir símbolos, unidades, signo y condiciones antes de sustituir valores. Cierre conceptual: El mismo retraso representa distinto desfase a frecuencias diferentes.</a:t>
            </a:r>
          </a:p>
          <a:p>
            <a:r>
              <a:t>- **Guía del visual/diagrama:** 1. Señalar el objeto, sistema o ecuación central. 2. Recorrer el esquema en este orden: `Δφ=2πfΔt` → unidades y dos ejemplos cualitativos con el mismo `Δt`. 3. Distinguir conectores de movimiento local y propagación cuando corresponda. 4. Cerrar con una sola idea: El mismo retraso representa distinto desfase a frecuencias diferentes. El esquema es conceptual y no está a escala.</a:t>
            </a:r>
          </a:p>
          <a:p>
            <a:r>
              <a:t>- **Pregunta al grupo:** ¿Qué desfase produce un retraso de `T/4`?</a:t>
            </a:r>
          </a:p>
          <a:p>
            <a:r>
              <a:t>- **Respuesta esperada:** `π/2 rad`.</a:t>
            </a:r>
          </a:p>
          <a:p>
            <a:r>
              <a:t>- **Demostración/audio/video/GIF:** —</a:t>
            </a:r>
          </a:p>
          <a:p>
            <a:r>
              <a:t>- **Error frecuente o énfasis:** No leer el esquema como representación anatómica o geométrica a escala.</a:t>
            </a:r>
          </a:p>
          <a:p>
            <a:r>
              <a:t>- **Transición oral:** “Practicar la comparación en una representación.”</a:t>
            </a:r>
          </a:p>
          <a:p>
            <a:r>
              <a:t>- **Duración aproximada:** 3–5 min si se selecciona.</a:t>
            </a:r>
          </a:p>
          <a:p>
            <a:r>
              <a:t>- **[Sources]:** TEX 3.8.1; ED; INV U03-E12.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U03-068 — ¿En fase, adelantadas o en oposición?</a:t>
            </a:r>
          </a:p>
          <a:p>
            <a:endParaRPr/>
          </a:p>
          <a:p>
            <a:r>
              <a:t>- **Explicación extendida:** Pedir primero lenguaje de ciclo y luego notación angular. Escuchar una justificación antes de validar o corregir. Cierre conceptual: La comparación debe usar puntos equivalentes y una referencia declarada.</a:t>
            </a:r>
          </a:p>
          <a:p>
            <a:r>
              <a:t>- **Guía del visual/diagrama:** 1. Nombrar ejes, variable, unidad y escala. 2. Leer los puntos o intervalos señalados. 3. Formular la conclusión sin extenderla más allá del modelo: La comparación debe usar puntos equivalentes y una referencia declarada.</a:t>
            </a:r>
          </a:p>
          <a:p>
            <a:r>
              <a:t>- **Pregunta al grupo:** ¿Qué evidencia física sostiene su respuesta?</a:t>
            </a:r>
          </a:p>
          <a:p>
            <a:r>
              <a:t>- **Respuesta esperada:** La comparación debe usar puntos equivalentes y una referencia declarada.</a:t>
            </a:r>
          </a:p>
          <a:p>
            <a:r>
              <a:t>- **Demostración/audio/video/GIF:** —</a:t>
            </a:r>
          </a:p>
          <a:p>
            <a:r>
              <a:t>- **Error frecuente o énfasis:** No presentar curvas del modelo como datos medidos; explicitar ejes, unidades y escala.</a:t>
            </a:r>
          </a:p>
          <a:p>
            <a:r>
              <a:t>- **Transición oral:** “Consolidar velocidades y fase antes de sumar perturbaciones.”</a:t>
            </a:r>
          </a:p>
          <a:p>
            <a:r>
              <a:t>- **Duración aproximada:** 4 min.</a:t>
            </a:r>
          </a:p>
          <a:p>
            <a:r>
              <a:t>- **[Sources]:** TEX ejercicios C4, G4 y R4; PDF pp. 80–83.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U03-069 — Dos preguntas evitan cuatro confusiones</a:t>
            </a:r>
          </a:p>
          <a:p>
            <a:endParaRPr/>
          </a:p>
          <a:p>
            <a:r>
              <a:t>- **Explicación extendida:** Repetición pedagógica: transformar notación en preguntas de control verbal. Reconstruir relaciones; evitar una enumeración de palabras. Cierre conceptual: Preguntar “¿velocidad de qué?” y “¿fase respecto de qué?” evita mezclar `u`, `c`, `φ₀` y `Δφ`.</a:t>
            </a:r>
          </a:p>
          <a:p>
            <a:r>
              <a:t>- **Guía del visual/diagrama:** 1. Señalar el objeto, sistema o ecuación central. 2. Recorrer el esquema en este orden: Matriz de dos preguntas con cuatro símbolos → retorno al mapa. 3. Distinguir conectores de movimiento local y propagación cuando corresponda. 4. Cerrar con una sola idea: Preguntar “¿velocidad de qué?” y “¿fase respecto de qué?” evita mezclar `u`, `c`, `φ₀` y `Δφ`. El esquema es conceptual y no está a escala.</a:t>
            </a:r>
          </a:p>
          <a:p>
            <a:r>
              <a:t>- **Pregunta al grupo:** ¿Cómo se conectan las ideas principales del bloque?</a:t>
            </a:r>
          </a:p>
          <a:p>
            <a:r>
              <a:t>- **Respuesta esperada:** Preguntar “¿velocidad de qué?” y “¿fase respecto de qué?” evita mezclar `u`, `c`, `φ₀` y `Δφ`.</a:t>
            </a:r>
          </a:p>
          <a:p>
            <a:r>
              <a:t>- **Demostración/audio/video/GIF:** —</a:t>
            </a:r>
          </a:p>
          <a:p>
            <a:r>
              <a:t>- **Error frecuente o énfasis:** No leer el esquema como representación anatómica o geométrica a escala.</a:t>
            </a:r>
          </a:p>
          <a:p>
            <a:r>
              <a:t>- **Transición oral:** “Plantear qué ocurre cuando dos perturbaciones llegan juntas.”</a:t>
            </a:r>
          </a:p>
          <a:p>
            <a:r>
              <a:t>- **Duración aproximada:** 3 min.</a:t>
            </a:r>
          </a:p>
          <a:p>
            <a:r>
              <a:t>- **[Sources]:** TEX 3.7.5–3.8.1; NOT; CM.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U03-070 — Cuando dos perturbaciones coinciden, se suman</a:t>
            </a:r>
          </a:p>
          <a:p>
            <a:endParaRPr/>
          </a:p>
          <a:p>
            <a:r>
              <a:t>- **Explicación extendida:** Aclarar que este bloque prepara U4–U5 y no expande todo el análisis de interferencia. Cierre conceptual: La respuesta resultante se obtiene punto a punto y en cada instante.</a:t>
            </a:r>
          </a:p>
          <a:p>
            <a:r>
              <a:t>- **Guía del visual/diagrama:** —</a:t>
            </a:r>
          </a:p>
          <a:p>
            <a:r>
              <a:t>- **Pregunta al grupo:** ¿Qué pregunta física organiza este bloque?</a:t>
            </a:r>
          </a:p>
          <a:p>
            <a:r>
              <a:t>- **Respuesta esperada:** La respuesta resultante se obtiene punto a punto y en cada instante.</a:t>
            </a:r>
          </a:p>
          <a:p>
            <a:r>
              <a:t>- **Demostración/audio/video/GIF:** —</a:t>
            </a:r>
          </a:p>
          <a:p>
            <a:r>
              <a:t>- **Error frecuente o énfasis:** Mantener consistentes variable, referencia, signo y unidad.</a:t>
            </a:r>
          </a:p>
          <a:p>
            <a:r>
              <a:t>- **Transición oral:** “Formular el principio con dos señales simples.”</a:t>
            </a:r>
          </a:p>
          <a:p>
            <a:r>
              <a:t>- **Duración aproximada:** 1 min.</a:t>
            </a:r>
          </a:p>
          <a:p>
            <a:r>
              <a:t>- **[Sources]:** TEX 3.8.2–3.8.5; PDF pp. 77–78; CCM U03-X2.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U03-071 — La superposición suma desplazamientos instantáneos</a:t>
            </a:r>
          </a:p>
          <a:p>
            <a:endParaRPr/>
          </a:p>
          <a:p>
            <a:r>
              <a:t>- **Explicación extendida:** Diferenciar valor instantáneo, amplitud y percepción; no prometer validez fuera del régimen lineal. Definir símbolos, unidades, signo y condiciones antes de sustituir valores. Cierre conceptual: Se suman valores con signo, no amplitudes de forma automática.</a:t>
            </a:r>
          </a:p>
          <a:p>
            <a:r>
              <a:t>- **Guía del visual/diagrama:** 1. Señalar el objeto, sistema o ecuación central. 2. Recorrer el esquema en este orden: Ecuación, lectura punto a punto y tres instantes de ejemplo → condiciones de linealidad como límite. 3. Distinguir conectores de movimiento local y propagación cuando corresponda. 4. Cerrar con una sola idea: Se suman valores con signo, no amplitudes de forma automática. El esquema es conceptual y no está a escala.</a:t>
            </a:r>
          </a:p>
          <a:p>
            <a:r>
              <a:t>- **Pregunta al grupo:** ¿La superposición suma amplitudes o valores instantáneos?</a:t>
            </a:r>
          </a:p>
          <a:p>
            <a:r>
              <a:t>- **Respuesta esperada:** Suma valores instantáneos punto a punto; la amplitud resultante depende de la fase.</a:t>
            </a:r>
          </a:p>
          <a:p>
            <a:r>
              <a:t>- **Demostración/audio/video/GIF:** —</a:t>
            </a:r>
          </a:p>
          <a:p>
            <a:r>
              <a:t>- **Error frecuente o énfasis:** La superposición lineal suma valores instantáneos, no etiquetas globales.</a:t>
            </a:r>
          </a:p>
          <a:p>
            <a:r>
              <a:t>- **Transición oral:** “Estudiar primero el caso más simple: señales en fase.”</a:t>
            </a:r>
          </a:p>
          <a:p>
            <a:r>
              <a:t>- **Duración aproximada:** 5 min.</a:t>
            </a:r>
          </a:p>
          <a:p>
            <a:r>
              <a:t>- **[Sources]:** TEX 3.8.2; PDF p. 77; INV U03-E13.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U03-072 — En fase, las contribuciones se refuerzan</a:t>
            </a:r>
          </a:p>
          <a:p>
            <a:endParaRPr/>
          </a:p>
          <a:p>
            <a:r>
              <a:t>- **Explicación extendida:** Evitar “crear energía de la nada”; limitarse a la suma local del modelo y condiciones de las fuentes. Nombrar variable, ejes, unidades y escala antes de describir la forma. Cierre conceptual: Dos sinusoides iguales en fase producen una resultante de mayor amplitud.</a:t>
            </a:r>
          </a:p>
          <a:p>
            <a:r>
              <a:t>- **Guía del visual/diagrama:** 1. Nombrar ejes, variable, unidad y escala. 2. Leer los puntos o intervalos señalados. 3. Formular la conclusión sin extenderla más allá del modelo: Dos sinusoides iguales en fase producen una resultante de mayor amplitud.</a:t>
            </a:r>
          </a:p>
          <a:p>
            <a:r>
              <a:t>- **Pregunta al grupo:** ¿Qué ocurre si los máximos coinciden?</a:t>
            </a:r>
          </a:p>
          <a:p>
            <a:r>
              <a:t>- **Respuesta esperada:** Hay refuerzo; con amplitudes iguales, la amplitud resultante es `2A`.</a:t>
            </a:r>
          </a:p>
          <a:p>
            <a:r>
              <a:t>- **Demostración/audio/video/GIF:** —</a:t>
            </a:r>
          </a:p>
          <a:p>
            <a:r>
              <a:t>- **Error frecuente o énfasis:** No presentar curvas del modelo como datos medidos; explicitar ejes, unidades y escala.</a:t>
            </a:r>
          </a:p>
          <a:p>
            <a:r>
              <a:t>- **Transición oral:** “Contrastar con oposición de fase.”</a:t>
            </a:r>
          </a:p>
          <a:p>
            <a:r>
              <a:t>- **Duración aproximada:** 4 min.</a:t>
            </a:r>
          </a:p>
          <a:p>
            <a:r>
              <a:t>- **[Sources]:** TEX 3.8.3; PDF p. 77; figura 3.6.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U03-073 — La oposición de fase puede cancelar</a:t>
            </a:r>
          </a:p>
          <a:p>
            <a:endParaRPr/>
          </a:p>
          <a:p>
            <a:r>
              <a:t>- **Explicación extendida:** Subrayar “en el punto considerado” y “condiciones ideales”; no equiparar silencio perceptual universal. Nombrar variable, ejes, unidades y escala antes de describir la forma. Cierre conceptual: La cancelación total exige misma amplitud, misma frecuencia y oposición de fase en el punto considerado.</a:t>
            </a:r>
          </a:p>
          <a:p>
            <a:r>
              <a:t>- **Guía del visual/diagrama:** 1. Nombrar ejes, variable, unidad y escala. 2. Leer los puntos o intervalos señalados. 3. Formular la conclusión sin extenderla más allá del modelo: La cancelación total exige misma amplitud, misma frecuencia y oposición de fase en el punto considerado.</a:t>
            </a:r>
          </a:p>
          <a:p>
            <a:r>
              <a:t>- **Pregunta al grupo:** ¿Cuándo puede haber cancelación completa?</a:t>
            </a:r>
          </a:p>
          <a:p>
            <a:r>
              <a:t>- **Respuesta esperada:** Con igual frecuencia y amplitud, oposición de fase y en el punto considerado.</a:t>
            </a:r>
          </a:p>
          <a:p>
            <a:r>
              <a:t>- **Demostración/audio/video/GIF:** —</a:t>
            </a:r>
          </a:p>
          <a:p>
            <a:r>
              <a:t>- **Error frecuente o énfasis:** La cancelación completa exige condiciones simultáneas y es local.</a:t>
            </a:r>
          </a:p>
          <a:p>
            <a:r>
              <a:t>- **Transición oral:** “Explorar el caso general de desfase intermedio.”</a:t>
            </a:r>
          </a:p>
          <a:p>
            <a:r>
              <a:t>- **Duración aproximada:** 4 min.</a:t>
            </a:r>
          </a:p>
          <a:p>
            <a:r>
              <a:t>- **[Sources]:** TEX 3.8.3–3.8.4; PDF pp. 77–78; INV U03-C39.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U03-074 — El desfase intermedio produce suma parcial</a:t>
            </a:r>
          </a:p>
          <a:p>
            <a:endParaRPr/>
          </a:p>
          <a:p>
            <a:r>
              <a:t>- **Explicación extendida:** Leer patrones cualitativos y reservar la fórmula de amplitud resultante para respaldo. Nombrar variable, ejes, unidades y escala antes de describir la forma. Cierre conceptual: La amplitud resultante depende continuamente de `Δφ`.</a:t>
            </a:r>
          </a:p>
          <a:p>
            <a:r>
              <a:t>- **Guía del visual/diagrama:** 1. Nombrar ejes, variable, unidad y escala. 2. Leer los puntos o intervalos señalados. 3. Formular la conclusión sin extenderla más allá del modelo: La amplitud resultante depende continuamente de `Δφ`.</a:t>
            </a:r>
          </a:p>
          <a:p>
            <a:r>
              <a:t>- **Pregunta al grupo:** ¿Qué indican los ejes, las unidades y la escala?</a:t>
            </a:r>
          </a:p>
          <a:p>
            <a:r>
              <a:t>- **Respuesta esperada:** La amplitud resultante depende continuamente de `Δφ`.</a:t>
            </a:r>
          </a:p>
          <a:p>
            <a:r>
              <a:t>- **Demostración/audio/video/GIF:** —</a:t>
            </a:r>
          </a:p>
          <a:p>
            <a:r>
              <a:t>- **Error frecuente o énfasis:** No presentar curvas del modelo como datos medidos; explicitar ejes, unidades y escala.</a:t>
            </a:r>
          </a:p>
          <a:p>
            <a:r>
              <a:t>- **Transición oral:** “Comprobar predicción antes de aplicar.”</a:t>
            </a:r>
          </a:p>
          <a:p>
            <a:r>
              <a:t>- **Duración aproximada:** 3–5 min si se selecciona.</a:t>
            </a:r>
          </a:p>
          <a:p>
            <a:r>
              <a:t>- **[Sources]:** TEX 3.8.3; PDF p. 77; INV U03-C38.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U03-075 — Antes de sumar, prediga la resultante</a:t>
            </a:r>
          </a:p>
          <a:p>
            <a:endParaRPr/>
          </a:p>
          <a:p>
            <a:r>
              <a:t>- **Explicación extendida:** Pedir una razón basada en fase y amplitud; revelar después la suma. Escuchar una justificación antes de validar o corregir. Cierre conceptual: La predicción cualitativa debe preceder al cálculo o al gráfico.</a:t>
            </a:r>
          </a:p>
          <a:p>
            <a:r>
              <a:t>- **Guía del visual/diagrama:** 1. Nombrar ejes, variable, unidad y escala. 2. Leer los puntos o intervalos señalados. 3. Formular la conclusión sin extenderla más allá del modelo: La predicción cualitativa debe preceder al cálculo o al gráfico.</a:t>
            </a:r>
          </a:p>
          <a:p>
            <a:r>
              <a:t>- **Pregunta al grupo:** ¿Qué evidencia física sostiene su respuesta?</a:t>
            </a:r>
          </a:p>
          <a:p>
            <a:r>
              <a:t>- **Respuesta esperada:** La predicción cualitativa debe preceder al cálculo o al gráfico.</a:t>
            </a:r>
          </a:p>
          <a:p>
            <a:r>
              <a:t>- **Demostración/audio/video/GIF:** —</a:t>
            </a:r>
          </a:p>
          <a:p>
            <a:r>
              <a:t>- **Error frecuente o énfasis:** No presentar curvas del modelo como datos medidos; explicitar ejes, unidades y escala.</a:t>
            </a:r>
          </a:p>
          <a:p>
            <a:r>
              <a:t>- **Transición oral:** “Llevar el principio a una aplicación tecnológica con límites.”</a:t>
            </a:r>
          </a:p>
          <a:p>
            <a:r>
              <a:t>- **Duración aproximada:** 4 min.</a:t>
            </a:r>
          </a:p>
          <a:p>
            <a:r>
              <a:t>- **[Sources]:** TEX ejercicios C5 y G4; PDF pp. 80–82; 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U03-076 — La cancelación activa exige control</a:t>
            </a:r>
          </a:p>
          <a:p>
            <a:endParaRPr/>
          </a:p>
          <a:p>
            <a:r>
              <a:t>- **Explicación extendida:** Distinguir principio físico de eficacia práctica; no usar “elimina todo el ruido”. Separar utilidad física, condiciones del modelo y límite clínico. Cierre conceptual: Una señal opuesta puede reducir presión en una región, pero el resultado depende de fase, amplitud, frecuencia, geometría y posición.</a:t>
            </a:r>
          </a:p>
          <a:p>
            <a:r>
              <a:t>- **Guía del visual/diagrama:** 1. Señalar el objeto, sistema o ecuación central. 2. Recorrer el esquema en este orden: Cadena sensor–control–fuente secundaria–zona de reducción → lista breve de límites. 3. Distinguir conectores de movimiento local y propagación cuando corresponda. 4. Cerrar con una sola idea: Una señal opuesta puede reducir presión en una región, pero el resultado depende de fase, amplitud, frecuencia, geometría y posición. El esquema es conceptual y no está a escala.</a:t>
            </a:r>
          </a:p>
          <a:p>
            <a:r>
              <a:t>- **Pregunta al grupo:** ¿La cancelación activa produce silencio en toda una sala?</a:t>
            </a:r>
          </a:p>
          <a:p>
            <a:r>
              <a:t>- **Respuesta esperada:** No; depende de posición, geometría y control de amplitud y fase.</a:t>
            </a:r>
          </a:p>
          <a:p>
            <a:r>
              <a:t>- **Demostración/audio/video/GIF:** —</a:t>
            </a:r>
          </a:p>
          <a:p>
            <a:r>
              <a:t>- **Error frecuente o énfasis:** Evitar prometer cancelación perfecta en todo el espacio.</a:t>
            </a:r>
          </a:p>
          <a:p>
            <a:r>
              <a:t>- **Transición oral:** “Recuperar una aplicación biológica directa.”</a:t>
            </a:r>
          </a:p>
          <a:p>
            <a:r>
              <a:t>- **Duración aproximada:** 3–5 min si se selecciona.</a:t>
            </a:r>
          </a:p>
          <a:p>
            <a:r>
              <a:t>- **[Sources]:** TEX 3.8.5; PDF p. 78; INV U03-A06.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U03-077 — En el oído y la voz también coinciden perturbaciones</a:t>
            </a:r>
          </a:p>
          <a:p>
            <a:endParaRPr/>
          </a:p>
          <a:p>
            <a:r>
              <a:t>- **Explicación extendida:** Mantener la afirmación en nivel de superposición; no explicar resonancias, filtros ni percepción compleja. Separar utilidad física, condiciones del modelo y límite clínico. Cierre conceptual: Las estructuras reciben combinaciones de perturbaciones; identificar componentes exige herramientas posteriores.</a:t>
            </a:r>
          </a:p>
          <a:p>
            <a:r>
              <a:t>- **Guía del visual/diagrama:** 1. Señalar el objeto, sistema o ecuación central. 2. Recorrer el esquema en este orden: Dos contextos: sonidos simultáneos en el oído y contribuciones en el tracto vocal → límite “análisis frecuencial en U5”. 3. Distinguir conectores de movimiento local y propagación cuando corresponda. 4. Cerrar con una sola idea: Las estructuras reciben combinaciones de perturbaciones; identificar componentes exige herramientas posteriores. El esquema es conceptual y no está a escala.</a:t>
            </a:r>
          </a:p>
          <a:p>
            <a:r>
              <a:t>- **Pregunta al grupo:** ¿Qué permite afirmar el modelo y qué queda fuera de su alcance?</a:t>
            </a:r>
          </a:p>
          <a:p>
            <a:r>
              <a:t>- **Respuesta esperada:** Las estructuras reciben combinaciones de perturbaciones; identificar componentes exige herramientas posteriores.</a:t>
            </a:r>
          </a:p>
          <a:p>
            <a:r>
              <a:t>- **Demostración/audio/video/GIF:** —</a:t>
            </a:r>
          </a:p>
          <a:p>
            <a:r>
              <a:t>- **Error frecuente o énfasis:** No leer el esquema como representación anatómica o geométrica a escala.</a:t>
            </a:r>
          </a:p>
          <a:p>
            <a:r>
              <a:t>- **Transición oral:** “Cerrar el bloque con una síntesis de condiciones.”</a:t>
            </a:r>
          </a:p>
          <a:p>
            <a:r>
              <a:t>- **Duración aproximada:** 4 min.</a:t>
            </a:r>
          </a:p>
          <a:p>
            <a:r>
              <a:t>- **[Sources]:** TEX 3.9.1–3.9.2; PDF pp. 78–79; CDM.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U03-078 — Sumar no significa sumar amplitudes sin mirar la fase</a:t>
            </a:r>
          </a:p>
          <a:p>
            <a:endParaRPr/>
          </a:p>
          <a:p>
            <a:r>
              <a:t>- **Explicación extendida:** Repetición pedagógica: pasar de gráficos particulares a un procedimiento general; evitar repetir los tres casos completos. Reconstruir relaciones; evitar una enumeración de palabras. Cierre conceptual: Valor instantáneo, amplitud, fase y lugar de observación determinan la resultante.</a:t>
            </a:r>
          </a:p>
          <a:p>
            <a:r>
              <a:t>- **Guía del visual/diagrama:** 1. Señalar el objeto, sistema o ecuación central. 2. Recorrer el esquema en este orden: Cuatro reglas y una pregunta de transferencia a cancelación activa. 3. Distinguir conectores de movimiento local y propagación cuando corresponda. 4. Cerrar con una sola idea: Valor instantáneo, amplitud, fase y lugar de observación determinan la resultante. El esquema es conceptual y no está a escala.</a:t>
            </a:r>
          </a:p>
          <a:p>
            <a:r>
              <a:t>- **Pregunta al grupo:** ¿Cómo se conectan las ideas principales del bloque?</a:t>
            </a:r>
          </a:p>
          <a:p>
            <a:r>
              <a:t>- **Respuesta esperada:** Valor instantáneo, amplitud, fase y lugar de observación determinan la resultante.</a:t>
            </a:r>
          </a:p>
          <a:p>
            <a:r>
              <a:t>- **Demostración/audio/video/GIF:** —</a:t>
            </a:r>
          </a:p>
          <a:p>
            <a:r>
              <a:t>- **Error frecuente o énfasis:** No leer el esquema como representación anatómica o geométrica a escala.</a:t>
            </a:r>
          </a:p>
          <a:p>
            <a:r>
              <a:t>- **Transición oral:** “Integrar la unidad desde producción hasta recepción.”</a:t>
            </a:r>
          </a:p>
          <a:p>
            <a:r>
              <a:t>- **Duración aproximada:** 3 min.</a:t>
            </a:r>
          </a:p>
          <a:p>
            <a:r>
              <a:t>- **[Sources]:** TEX 3.8; PDF pp. 76–78.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U03-079 — Producción, propagación y recepción</a:t>
            </a:r>
          </a:p>
          <a:p>
            <a:endParaRPr/>
          </a:p>
          <a:p>
            <a:r>
              <a:t>- **Explicación extendida:** Pedir que el curso nombre qué oscila y qué se propaga en cada tramo; declarar límites de los modelos. Separar utilidad física, condiciones del modelo y límite clínico. Cierre conceptual: En cada etapa cambian sistema y variable, pero amplitud, frecuencia, fase y propagación siguen siendo herramientas de descripción.</a:t>
            </a:r>
          </a:p>
          <a:p>
            <a:r>
              <a:t>- **Guía del visual/diagrama:** 1. Señalar el objeto, sistema o ecuación central. 2. Recorrer el esquema en este orden: Pliegues vocales o parlante → medio → oído/micrófono → variable local, variable propagada y medición. 3. Distinguir conectores de movimiento local y propagación cuando corresponda. 4. Cerrar con una sola idea: En cada etapa cambian sistema y variable, pero amplitud, frecuencia, fase y propagación siguen siendo herramientas de descripción. El esquema es conceptual y no está a escala.</a:t>
            </a:r>
          </a:p>
          <a:p>
            <a:r>
              <a:t>- **Pregunta al grupo:** ¿Qué permite afirmar el modelo y qué queda fuera de su alcance?</a:t>
            </a:r>
          </a:p>
          <a:p>
            <a:r>
              <a:t>- **Respuesta esperada:** En cada etapa cambian sistema y variable, pero amplitud, frecuencia, fase y propagación siguen siendo herramientas de descripción.</a:t>
            </a:r>
          </a:p>
          <a:p>
            <a:r>
              <a:t>- **Demostración/audio/video/GIF:** —</a:t>
            </a:r>
          </a:p>
          <a:p>
            <a:r>
              <a:t>- **Error frecuente o énfasis:** No leer el esquema como representación anatómica o geométrica a escala.</a:t>
            </a:r>
          </a:p>
          <a:p>
            <a:r>
              <a:t>- **Transición oral:** “Resolver un caso integrador con evidencia.”</a:t>
            </a:r>
          </a:p>
          <a:p>
            <a:r>
              <a:t>- **Duración aproximada:** 4 min.</a:t>
            </a:r>
          </a:p>
          <a:p>
            <a:r>
              <a:t>- **[Sources]:** TEX 3.9; PDF pp. 77–79; BR aplicaciones.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U03-080 — Caso integrador: de la señal al punto de observación</a:t>
            </a:r>
          </a:p>
          <a:p>
            <a:endParaRPr/>
          </a:p>
          <a:p>
            <a:r>
              <a:t>- **Explicación extendida:** Dar 5–7 minutos en parejas; pedir justificar ejes y unidades; solución ampliada en U03-095. Dar tiempo individual. Resolver en el orden lectura → datos → ecuación → unidad → interpretación. Cierre conceptual: Una descripción completa identifica variable, sistema, `f`, `T`, `λ`, fase y condición del medio.</a:t>
            </a:r>
          </a:p>
          <a:p>
            <a:r>
              <a:t>- **Guía del visual/diagrama:** 1. Señalar el objeto, sistema o ecuación central. 2. Recorrer el esquema en este orden: Caso de parlante a 500 Hz, registro temporal y perfil espacial → cinco preguntas encadenadas, sin solución visible. 3. Distinguir conectores de movimiento local y propagación cuando corresponda. 4. Cerrar con una sola idea: Una descripción completa identifica variable, sistema, `f`, `T`, `λ`, fase y condición del medio. El esquema es conceptual y no está a escala.</a:t>
            </a:r>
          </a:p>
          <a:p>
            <a:r>
              <a:t>- **Pregunta al grupo:** ¿Qué dato adicional hace falta para calcular `λ`?</a:t>
            </a:r>
          </a:p>
          <a:p>
            <a:r>
              <a:t>- **Respuesta esperada:** La rapidez de propagación `c` o las condiciones del medio que la determinan.</a:t>
            </a:r>
          </a:p>
          <a:p>
            <a:r>
              <a:t>- **Demostración/audio/video/GIF:** —</a:t>
            </a:r>
          </a:p>
          <a:p>
            <a:r>
              <a:t>- **Error frecuente o énfasis:** No calcular `λ` sin declarar `c` o las condiciones del medio.</a:t>
            </a:r>
          </a:p>
          <a:p>
            <a:r>
              <a:t>- **Transición oral:** “Comparar la resolución con el mapa conceptual final.”</a:t>
            </a:r>
          </a:p>
          <a:p>
            <a:r>
              <a:t>- **Duración aproximada:** 6 min.</a:t>
            </a:r>
          </a:p>
          <a:p>
            <a:r>
              <a:t>- **[Sources]:** TEX ejercicio integrador; PDF pp. 84–85; CM; 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U03-081 — De la fuerza restauradora a la onda</a:t>
            </a:r>
          </a:p>
          <a:p>
            <a:endParaRPr/>
          </a:p>
          <a:p>
            <a:r>
              <a:t>- **Explicación extendida:** Recorrer el mapa usando una sola frase por conexión; no volver a enseñar cada definición. Reconstruir relaciones; evitar una enumeración de palabras. Cierre conceptual: El oscilador genera cambios locales; el medio transmite la perturbación; las representaciones permiten medirla e interpretarla.</a:t>
            </a:r>
          </a:p>
          <a:p>
            <a:r>
              <a:t>- **Guía del visual/diagrama:** 1. Señalar el objeto, sistema o ecuación central. 2. Recorrer el esquema en este orden: Mapa final: equilibrio → MAS → parámetros → tono → parlante → onda → cortes → fase/suma → aplicación. 3. Distinguir conectores de movimiento local y propagación cuando corresponda. 4. Cerrar con una sola idea: El oscilador genera cambios locales; el medio transmite la perturbación; las representaciones permiten medirla e interpretarla. El esquema es conceptual y no está a escala.</a:t>
            </a:r>
          </a:p>
          <a:p>
            <a:r>
              <a:t>- **Pregunta al grupo:** ¿Cómo se conectan las ideas principales del bloque?</a:t>
            </a:r>
          </a:p>
          <a:p>
            <a:r>
              <a:t>- **Respuesta esperada:** El oscilador genera cambios locales; el medio transmite la perturbación; las representaciones permiten medirla e interpretarla.</a:t>
            </a:r>
          </a:p>
          <a:p>
            <a:r>
              <a:t>- **Demostración/audio/video/GIF:** —</a:t>
            </a:r>
          </a:p>
          <a:p>
            <a:r>
              <a:t>- **Error frecuente o énfasis:** No leer el esquema como representación anatómica o geométrica a escala.</a:t>
            </a:r>
          </a:p>
          <a:p>
            <a:r>
              <a:t>- **Transición oral:** “Verificar los errores del diagnóstico inicial.”</a:t>
            </a:r>
          </a:p>
          <a:p>
            <a:r>
              <a:t>- **Duración aproximada:** 3 min.</a:t>
            </a:r>
          </a:p>
          <a:p>
            <a:r>
              <a:t>- **[Sources]:** PO; TEX 3.11; PDF pp. 80; CM; CDM.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U03-082 — Cuatro afirmaciones, ahora con evidencia</a:t>
            </a:r>
          </a:p>
          <a:p>
            <a:endParaRPr/>
          </a:p>
          <a:p>
            <a:r>
              <a:t>- **Explicación extendida:** Repetición pedagógica deliberada: mismo estímulo para comparar razonamiento inicial y final; no añadir ítems nuevos. Escuchar una justificación antes de validar o corregir. Cierre conceptual: Las respuestas finales deben justificarse con modelo, representación o condición física.</a:t>
            </a:r>
          </a:p>
          <a:p>
            <a:r>
              <a:t>- **Guía del visual/diagrama:** —</a:t>
            </a:r>
          </a:p>
          <a:p>
            <a:r>
              <a:t>- **Pregunta al grupo:** ¿Qué cambió entre la primera respuesta y la final?</a:t>
            </a:r>
          </a:p>
          <a:p>
            <a:r>
              <a:t>- **Respuesta esperada:** La respuesta final distingue variable, medio, propagación, escala y condiciones.</a:t>
            </a:r>
          </a:p>
          <a:p>
            <a:r>
              <a:t>- **Demostración/audio/video/GIF:** —</a:t>
            </a:r>
          </a:p>
          <a:p>
            <a:r>
              <a:t>- **Error frecuente o énfasis:** Mantener consistentes variable, referencia, signo y unidad.</a:t>
            </a:r>
          </a:p>
          <a:p>
            <a:r>
              <a:t>- **Transición oral:** “Cerrar con el puente a las próximas unidades.”</a:t>
            </a:r>
          </a:p>
          <a:p>
            <a:r>
              <a:t>- **Duración aproximada:** 4 min.</a:t>
            </a:r>
          </a:p>
          <a:p>
            <a:r>
              <a:t>- **[Sources]:** TEX 3.10; PDF pp. 79–80; INV errores.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U03-083 — Describimos la onda; ahora mediremos el sonido</a:t>
            </a:r>
          </a:p>
          <a:p>
            <a:endParaRPr/>
          </a:p>
          <a:p>
            <a:r>
              <a:t>- **Explicación extendida:** Recoger una respuesta breve: “¿qué dato falta para pasar de una curva normalizada a una presión física?”. Cierre conceptual: La mecánica ondulatoria entrega el lenguaje; las próximas unidades cuantifican magnitudes acústicas y separan componentes frecuenciales.</a:t>
            </a:r>
          </a:p>
          <a:p>
            <a:r>
              <a:t>- **Guía del visual/diagrama:** —</a:t>
            </a:r>
          </a:p>
          <a:p>
            <a:r>
              <a:t>- **Pregunta al grupo:** ¿Qué falta para convertir una forma normalizada en una magnitud acústica?</a:t>
            </a:r>
          </a:p>
          <a:p>
            <a:r>
              <a:t>- **Respuesta esperada:** Variable, unidad, escala, calibración y referencia.</a:t>
            </a:r>
          </a:p>
          <a:p>
            <a:r>
              <a:t>- **Demostración/audio/video/GIF:** —</a:t>
            </a:r>
          </a:p>
          <a:p>
            <a:r>
              <a:t>- **Error frecuente o énfasis:** Mantener consistentes variable, referencia, signo y unidad.</a:t>
            </a:r>
          </a:p>
          <a:p>
            <a:r>
              <a:t>- **Transición oral:** “Final de la ruta principal; el respaldo queda para consulta.”</a:t>
            </a:r>
          </a:p>
          <a:p>
            <a:r>
              <a:t>- **Duración aproximada:** 3 min.</a:t>
            </a:r>
          </a:p>
          <a:p>
            <a:r>
              <a:t>- **[Sources]:** CM; CDM; TEX 3.11; PDF p. 80.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U03-084 — Recordatorio trigonométrico para leer sinusoides</a:t>
            </a:r>
          </a:p>
          <a:p>
            <a:endParaRPr/>
          </a:p>
          <a:p>
            <a:r>
              <a:t>- **Explicación extendida:** Usar solo ante dudas; no transformar la unidad en una clase de trigonometría. Cierre conceptual: La equivalencia `2π rad = 360° = 1 ciclo` organiza la fase.</a:t>
            </a:r>
          </a:p>
          <a:p>
            <a:r>
              <a:t>- **Guía del visual/diagrama:** 1. Señalar el objeto, sistema o ecuación central. 2. Recorrer el esquema en este orden: Círculo unitario mínimo, valores notables y correspondencia con una sinusoide. 3. Distinguir conectores de movimiento local y propagación cuando corresponda. 4. Cerrar con una sola idea: La equivalencia `2π rad = 360° = 1 ciclo` organiza la fase. El esquema es conceptual y no está a escala.</a:t>
            </a:r>
          </a:p>
          <a:p>
            <a:r>
              <a:t>- **Pregunta al grupo:** ¿Cómo justificaría la idea central con variables, unidades o relaciones físicas?</a:t>
            </a:r>
          </a:p>
          <a:p>
            <a:r>
              <a:t>- **Respuesta esperada:** La equivalencia `2π rad = 360° = 1 ciclo` organiza la fase.</a:t>
            </a:r>
          </a:p>
          <a:p>
            <a:r>
              <a:t>- **Demostración/audio/video/GIF:** —</a:t>
            </a:r>
          </a:p>
          <a:p>
            <a:r>
              <a:t>- **Error frecuente o énfasis:** No leer el esquema como representación anatómica o geométrica a escala.</a:t>
            </a:r>
          </a:p>
          <a:p>
            <a:r>
              <a:t>- **Transición oral:** “Volver a la slide que requirió el recordatorio.”</a:t>
            </a:r>
          </a:p>
          <a:p>
            <a:r>
              <a:t>- **Duración aproximada:** A demanda.</a:t>
            </a:r>
          </a:p>
          <a:p>
            <a:r>
              <a:t>- **[Sources]:** TEX 3.2 y apéndice implícito; CDM; U1.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U03-085 — Frecuencia angular: otra forma de contar el ciclo</a:t>
            </a:r>
          </a:p>
          <a:p>
            <a:endParaRPr/>
          </a:p>
          <a:p>
            <a:r>
              <a:t>- **Explicación extendida:** Mantener `ω` como formalismo de consulta; no reemplazar `f` en la ruta principal. Definir símbolos, unidades, signo y condiciones antes de sustituir valores. Cierre conceptual: `ω=2πf=2π/T` expresa radianes de fase por segundo.</a:t>
            </a:r>
          </a:p>
          <a:p>
            <a:r>
              <a:t>- **Guía del visual/diagrama:** 1. Señalar el objeto, sistema o ecuación central. 2. Recorrer el esquema en este orden: Ecuaciones, unidad `rad/s`, relación con `f` y un ejemplo breve. 3. Distinguir conectores de movimiento local y propagación cuando corresponda. 4. Cerrar con una sola idea: `ω=2πf=2π/T` expresa radianes de fase por segundo. El esquema es conceptual y no está a escala.</a:t>
            </a:r>
          </a:p>
          <a:p>
            <a:r>
              <a:t>- **Pregunta al grupo:** ¿Qué unidad distingue a `ω` de `f`?</a:t>
            </a:r>
          </a:p>
          <a:p>
            <a:r>
              <a:t>- **Respuesta esperada:** `ω` se expresa en rad/s y `f` en Hz.</a:t>
            </a:r>
          </a:p>
          <a:p>
            <a:r>
              <a:t>- **Demostración/audio/video/GIF:** —</a:t>
            </a:r>
          </a:p>
          <a:p>
            <a:r>
              <a:t>- **Error frecuente o énfasis:** No confundir hertz con radianes por segundo.</a:t>
            </a:r>
          </a:p>
          <a:p>
            <a:r>
              <a:t>- **Transición oral:** “Regresar a la expresión temporal o profundizar la dinámica del MAS.”</a:t>
            </a:r>
          </a:p>
          <a:p>
            <a:r>
              <a:t>- **Duración aproximada:** A demanda.</a:t>
            </a:r>
          </a:p>
          <a:p>
            <a:r>
              <a:t>- **[Sources]:** TEX 3.4.2; PDF p. 66; NOT; CCM U03-X1.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U03-086 — Masa y elasticidad fijan la frecuencia ideal</a:t>
            </a:r>
          </a:p>
          <a:p>
            <a:endParaRPr/>
          </a:p>
          <a:p>
            <a:r>
              <a:t>- **Explicación extendida:** Conectar con U2 y advertir que sistemas biológicos reales incluyen amortiguamiento, geometría y excitación. Definir símbolos, unidades, signo y condiciones antes de sustituir valores. Cierre conceptual: Mayor rigidez eleva la frecuencia natural; mayor masa la reduce, en el modelo ideal.</a:t>
            </a:r>
          </a:p>
          <a:p>
            <a:r>
              <a:t>- **Guía del visual/diagrama:** 1. Señalar el objeto, sistema o ecuación central. 2. Recorrer el esquema en este orden: Relación, símbolos, unidades y dos comparaciones cualitativas → hipótesis del MAS. 3. Distinguir conectores de movimiento local y propagación cuando corresponda. 4. Cerrar con una sola idea: Mayor rigidez eleva la frecuencia natural; mayor masa la reduce, en el modelo ideal. El esquema es conceptual y no está a escala.</a:t>
            </a:r>
          </a:p>
          <a:p>
            <a:r>
              <a:t>- **Pregunta al grupo:** ¿Cómo cambia `ω` si aumenta la masa y `k_s` permanece fija?</a:t>
            </a:r>
          </a:p>
          <a:p>
            <a:r>
              <a:t>- **Respuesta esperada:** Disminuye como la raíz inversa de la masa.</a:t>
            </a:r>
          </a:p>
          <a:p>
            <a:r>
              <a:t>- **Demostración/audio/video/GIF:** —</a:t>
            </a:r>
          </a:p>
          <a:p>
            <a:r>
              <a:t>- **Error frecuente o énfasis:** La fórmula corresponde al modelo ideal no amortiguado.</a:t>
            </a:r>
          </a:p>
          <a:p>
            <a:r>
              <a:t>- **Transición oral:** “Volver al modelo o consultar cinemática completa.”</a:t>
            </a:r>
          </a:p>
          <a:p>
            <a:r>
              <a:t>- **Duración aproximada:** A demanda.</a:t>
            </a:r>
          </a:p>
          <a:p>
            <a:r>
              <a:t>- **[Sources]:** TEX 3.4.1; PDF p. 66; NOT; INV U03-E03.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U03-087 — Soluciones del diagnóstico inicial</a:t>
            </a:r>
          </a:p>
          <a:p>
            <a:endParaRPr/>
          </a:p>
          <a:p>
            <a:r>
              <a:t>- **Explicación extendida:** No mostrar antes de U03-082; usar para discusión posterior o estudio autónomo. Cierre conceptual: Cada corrección requiere nombrar la condición física que invalida la afirmación.</a:t>
            </a:r>
          </a:p>
          <a:p>
            <a:r>
              <a:t>- **Guía del visual/diagrama:** —</a:t>
            </a:r>
          </a:p>
          <a:p>
            <a:r>
              <a:t>- **Pregunta al grupo:** ¿Cómo justificaría la idea central con variables, unidades o relaciones físicas?</a:t>
            </a:r>
          </a:p>
          <a:p>
            <a:r>
              <a:t>- **Respuesta esperada:** Cada corrección requiere nombrar la condición física que invalida la afirmación.</a:t>
            </a:r>
          </a:p>
          <a:p>
            <a:r>
              <a:t>- **Demostración/audio/video/GIF:** —</a:t>
            </a:r>
          </a:p>
          <a:p>
            <a:r>
              <a:t>- **Error frecuente o énfasis:** Mantener consistentes variable, referencia, signo y unidad.</a:t>
            </a:r>
          </a:p>
          <a:p>
            <a:r>
              <a:t>- **Transición oral:** “Retornar al bloque correspondiente según el error.”</a:t>
            </a:r>
          </a:p>
          <a:p>
            <a:r>
              <a:t>- **Duración aproximada:** A demanda.</a:t>
            </a:r>
          </a:p>
          <a:p>
            <a:r>
              <a:t>- **[Sources]:** TEX 3.5, 3.7.4 y 3.10; PDF pp. 69, 75, 79–80.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U03-088 — Posición, velocidad y aceleración del MAS</a:t>
            </a:r>
          </a:p>
          <a:p>
            <a:endParaRPr/>
          </a:p>
          <a:p>
            <a:r>
              <a:t>- **Explicación extendida:** Responder preguntas avanzadas y sostener estudio autónomo; no exigir memorización en la ruta central. Definir símbolos, unidades, signo y condiciones antes de sustituir valores. Cierre conceptual: Las tres variables comparten frecuencia y presentan relaciones de fase específicas.</a:t>
            </a:r>
          </a:p>
          <a:p>
            <a:r>
              <a:t>- **Guía del visual/diagrama:** 1. Señalar el objeto, sistema o ecuación central. 2. Recorrer el esquema en este orden: `x(t)`, `v(t)` y `a(t)` con amplitudes, unidades y correspondencia con el gráfico U03-033. 3. Distinguir conectores de movimiento local y propagación cuando corresponda. 4. Cerrar con una sola idea: Las tres variables comparten frecuencia y presentan relaciones de fase específicas. El esquema es conceptual y no está a escala.</a:t>
            </a:r>
          </a:p>
          <a:p>
            <a:r>
              <a:t>- **Pregunta al grupo:** ¿Qué relación física expresa la ecuación y qué unidades deben ser compatibles?</a:t>
            </a:r>
          </a:p>
          <a:p>
            <a:r>
              <a:t>- **Respuesta esperada:** Las tres variables comparten frecuencia y presentan relaciones de fase específicas.</a:t>
            </a:r>
          </a:p>
          <a:p>
            <a:r>
              <a:t>- **Demostración/audio/video/GIF:** —</a:t>
            </a:r>
          </a:p>
          <a:p>
            <a:r>
              <a:t>- **Error frecuente o énfasis:** No leer el esquema como representación anatómica o geométrica a escala.</a:t>
            </a:r>
          </a:p>
          <a:p>
            <a:r>
              <a:t>- **Transición oral:** “Regresar a lectura cualitativa o profundizar onda viajera.”</a:t>
            </a:r>
          </a:p>
          <a:p>
            <a:r>
              <a:t>- **Duración aproximada:** A demanda.</a:t>
            </a:r>
          </a:p>
          <a:p>
            <a:r>
              <a:t>- **[Sources]:** TEX 3.4.4; PDF pp. 67–68; NOT; INV U03-E05–E07.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U03-089 — Número de onda: fase acumulada por distancia</a:t>
            </a:r>
          </a:p>
          <a:p>
            <a:endParaRPr/>
          </a:p>
          <a:p>
            <a:r>
              <a:t>- **Explicación extendida:** Aplicar la notación oficial del repositorio; señalar por qué el subíndice es obligatorio. Definir símbolos, unidades, signo y condiciones antes de sustituir valores. Cierre conceptual: `k_onda=2π/λ` mide cambio de fase espacial y no es la constante del resorte.</a:t>
            </a:r>
          </a:p>
          <a:p>
            <a:r>
              <a:t>- **Guía del visual/diagrama:** 1. Señalar el objeto, sistema o ecuación central. 2. Recorrer el esquema en este orden: Ecuación, unidad `rad/m`, comparación explícita `k_s` frente a `k_onda` y ejemplo mínimo. 3. Distinguir conectores de movimiento local y propagación cuando corresponda. 4. Cerrar con una sola idea: `k_onda=2π/λ` mide cambio de fase espacial y no es la constante del resorte. El esquema es conceptual y no está a escala.</a:t>
            </a:r>
          </a:p>
          <a:p>
            <a:r>
              <a:t>- **Pregunta al grupo:** ¿Por qué no conviene escribir ambos parámetros como `k`?</a:t>
            </a:r>
          </a:p>
          <a:p>
            <a:r>
              <a:t>- **Respuesta esperada:** Porque describen magnitudes distintas y tienen unidades distintas.</a:t>
            </a:r>
          </a:p>
          <a:p>
            <a:r>
              <a:t>- **Demostración/audio/video/GIF:** —</a:t>
            </a:r>
          </a:p>
          <a:p>
            <a:r>
              <a:t>- **Error frecuente o énfasis:** `k_onda` y `k_s` no son intercambiables.</a:t>
            </a:r>
          </a:p>
          <a:p>
            <a:r>
              <a:t>- **Transición oral:** “Reescribir la onda viajera en forma compacta.”</a:t>
            </a:r>
          </a:p>
          <a:p>
            <a:r>
              <a:t>- **Duración aproximada:** A demanda.</a:t>
            </a:r>
          </a:p>
          <a:p>
            <a:r>
              <a:t>- **[Sources]:** TEX 3.7.3; PDF p. 74; NOT; CCM U03-X1.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U03-090 — Forma compacta de la onda viajera</a:t>
            </a:r>
          </a:p>
          <a:p>
            <a:endParaRPr/>
          </a:p>
          <a:p>
            <a:r>
              <a:t>- **Explicación extendida:** Usar para lectura del libro o continuidad académica, no como nuevo requisito de cálculo. Definir símbolos, unidades, signo y condiciones antes de sustituir valores. Cierre conceptual: `ξ=A_ξ cos(ωt-k_onda x+φ₀)` es equivalente a la forma con `f` y `λ`.</a:t>
            </a:r>
          </a:p>
          <a:p>
            <a:r>
              <a:t>- **Guía del visual/diagrama:** 1. Señalar el objeto, sistema o ecuación central. 2. Recorrer el esquema en este orden: Ambas expresiones en paralelo, correspondencias `ω=2πf`, `k_onda=2π/λ` y dirección según signo. 3. Distinguir conectores de movimiento local y propagación cuando corresponda. 4. Cerrar con una sola idea: `ξ=A_ξ cos(ωt-k_onda x+φ₀)` es equivalente a la forma con `f` y `λ`. El esquema es conceptual y no está a escala.</a:t>
            </a:r>
          </a:p>
          <a:p>
            <a:r>
              <a:t>- **Pregunta al grupo:** ¿Qué relación física expresa la ecuación y qué unidades deben ser compatibles?</a:t>
            </a:r>
          </a:p>
          <a:p>
            <a:r>
              <a:t>- **Respuesta esperada:** `ξ=A_ξ cos(ωt-k_onda x+φ₀)` es equivalente a la forma con `f` y `λ`.</a:t>
            </a:r>
          </a:p>
          <a:p>
            <a:r>
              <a:t>- **Demostración/audio/video/GIF:** —</a:t>
            </a:r>
          </a:p>
          <a:p>
            <a:r>
              <a:t>- **Error frecuente o énfasis:** No leer el esquema como representación anatómica o geométrica a escala.</a:t>
            </a:r>
          </a:p>
          <a:p>
            <a:r>
              <a:t>- **Transición oral:** “Regresar al bloque B05 o consultar relación de rapidez.”</a:t>
            </a:r>
          </a:p>
          <a:p>
            <a:r>
              <a:t>- **Duración aproximada:** A demanda.</a:t>
            </a:r>
          </a:p>
          <a:p>
            <a:r>
              <a:t>- **[Sources]:** TEX 3.7.3; PDF pp. 74–75;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U03-091 — c=ω/k_onda expresa la misma rapidez</a:t>
            </a:r>
          </a:p>
          <a:p>
            <a:endParaRPr/>
          </a:p>
          <a:p>
            <a:r>
              <a:t>- **Explicación extendida:** Evitar manipulación simbólica sin interpretación; pedir que identifiquen qué depende del medio. Definir símbolos, unidades, signo y condiciones antes de sustituir valores. Cierre conceptual: La forma angular no agrega otra velocidad; reexpresa `c=λf`.</a:t>
            </a:r>
          </a:p>
          <a:p>
            <a:r>
              <a:t>- **Guía del visual/diagrama:** 1. Señalar el objeto, sistema o ecuación central. 2. Recorrer el esquema en este orden: Sustitución en un renglón, unidades y equivalencia con `λf`. 3. Distinguir conectores de movimiento local y propagación cuando corresponda. 4. Cerrar con una sola idea: La forma angular no agrega otra velocidad; reexpresa `c=λf`. El esquema es conceptual y no está a escala.</a:t>
            </a:r>
          </a:p>
          <a:p>
            <a:r>
              <a:t>- **Pregunta al grupo:** ¿Qué factor se cancela al demostrar la equivalencia?</a:t>
            </a:r>
          </a:p>
          <a:p>
            <a:r>
              <a:t>- **Respuesta esperada:** `2π`.</a:t>
            </a:r>
          </a:p>
          <a:p>
            <a:r>
              <a:t>- **Demostración/audio/video/GIF:** —</a:t>
            </a:r>
          </a:p>
          <a:p>
            <a:r>
              <a:t>- **Error frecuente o énfasis:** No leer el esquema como representación anatómica o geométrica a escala.</a:t>
            </a:r>
          </a:p>
          <a:p>
            <a:r>
              <a:t>- **Transición oral:** “Volver a rapidez de propagación o pasar a superposición.”</a:t>
            </a:r>
          </a:p>
          <a:p>
            <a:r>
              <a:t>- **Duración aproximada:** A demanda.</a:t>
            </a:r>
          </a:p>
          <a:p>
            <a:r>
              <a:t>- **[Sources]:** TEX 3.7.4; PDF p. 75;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U03-092 — Amplitud resultante de dos sinusoides</a:t>
            </a:r>
          </a:p>
          <a:p>
            <a:endParaRPr/>
          </a:p>
          <a:p>
            <a:r>
              <a:t>- **Explicación extendida:** Presentar solo si el grupo necesita formalización; no desplazar la lectura gráfica central. Definir símbolos, unidades, signo y condiciones antes de sustituir valores. Cierre conceptual: La amplitud resultante depende de ambas amplitudes y de `cos(Δφ)`.</a:t>
            </a:r>
          </a:p>
          <a:p>
            <a:r>
              <a:t>- **Guía del visual/diagrama:** 1. Señalar el objeto, sistema o ecuación central. 2. Recorrer el esquema en este orden: `A_R=√(A₁²+A₂²+2A₁A₂ cosΔφ)` → comprobación de casos `0` y `π` → condiciones. 3. Distinguir conectores de movimiento local y propagación cuando corresponda. 4. Cerrar con una sola idea: La amplitud resultante depende de ambas amplitudes y de `cos(Δφ)`. El esquema es conceptual y no está a escala.</a:t>
            </a:r>
          </a:p>
          <a:p>
            <a:r>
              <a:t>- **Pregunta al grupo:** ¿Qué resultados se obtienen para `Δφ=0` y `π` con amplitudes iguales?</a:t>
            </a:r>
          </a:p>
          <a:p>
            <a:r>
              <a:t>- **Respuesta esperada:** `2A` y `0`, respectivamente.</a:t>
            </a:r>
          </a:p>
          <a:p>
            <a:r>
              <a:t>- **Demostración/audio/video/GIF:** —</a:t>
            </a:r>
          </a:p>
          <a:p>
            <a:r>
              <a:t>- **Error frecuente o énfasis:** La fórmula supone sinusoides coherentes de igual frecuencia en el punto comparado.</a:t>
            </a:r>
          </a:p>
          <a:p>
            <a:r>
              <a:t>- **Transición oral:** “Regresar a interferencia o usar el gráfico paramétrico siguiente.”</a:t>
            </a:r>
          </a:p>
          <a:p>
            <a:r>
              <a:t>- **Duración aproximada:** A demanda.</a:t>
            </a:r>
          </a:p>
          <a:p>
            <a:r>
              <a:t>- **[Sources]:** TEX 3.8.3; PDF p. 77; INV U03-E14.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U03-093 — Cómo cambia la amplitud resultante con la fase</a:t>
            </a:r>
          </a:p>
          <a:p>
            <a:endParaRPr/>
          </a:p>
          <a:p>
            <a:r>
              <a:t>- **Explicación extendida:** Conectar la curva con U03-072–074; no extender a coherencia temporal o espacial. Nombrar variable, ejes, unidades y escala antes de describir la forma. Cierre conceptual: La transición entre refuerzo y cancelación es continua.</a:t>
            </a:r>
          </a:p>
          <a:p>
            <a:r>
              <a:t>- **Guía del visual/diagrama:** 1. Nombrar ejes, variable, unidad y escala. 2. Leer los puntos o intervalos señalados. 3. Formular la conclusión sin extenderla más allá del modelo: La transición entre refuerzo y cancelación es continua.</a:t>
            </a:r>
          </a:p>
          <a:p>
            <a:r>
              <a:t>- **Pregunta al grupo:** ¿Qué indican los ejes, las unidades y la escala?</a:t>
            </a:r>
          </a:p>
          <a:p>
            <a:r>
              <a:t>- **Respuesta esperada:** La transición entre refuerzo y cancelación es continua.</a:t>
            </a:r>
          </a:p>
          <a:p>
            <a:r>
              <a:t>- **Demostración/audio/video/GIF:** —</a:t>
            </a:r>
          </a:p>
          <a:p>
            <a:r>
              <a:t>- **Error frecuente o énfasis:** No presentar curvas del modelo como datos medidos; explicitar ejes, unidades y escala.</a:t>
            </a:r>
          </a:p>
          <a:p>
            <a:r>
              <a:t>- **Transición oral:** “Volver a la comparación cualitativa.”</a:t>
            </a:r>
          </a:p>
          <a:p>
            <a:r>
              <a:t>- **Duración aproximada:** A demanda.</a:t>
            </a:r>
          </a:p>
          <a:p>
            <a:r>
              <a:t>- **[Sources]:** TEX 3.8.3; ED derivada de U03-E14.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U03-094 — Solución del ejercicio de tiempo y espacio</a:t>
            </a:r>
          </a:p>
          <a:p>
            <a:endParaRPr/>
          </a:p>
          <a:p>
            <a:r>
              <a:t>- **Explicación extendida:** Mostrar el orden de decisión, no solo el resultado numérico. Cierre conceptual: Cada magnitud se obtiene de su eje antes de usar `c=λf`.</a:t>
            </a:r>
          </a:p>
          <a:p>
            <a:r>
              <a:t>- **Guía del visual/diagrama:** 1. Señalar el objeto, sistema o ecuación central. 2. Recorrer el esquema en este orden: Marcas correctas de `T` y `λ`, cálculo de `f` y `c`, unidades y dos errores típicos. 3. Distinguir conectores de movimiento local y propagación cuando corresponda. 4. Cerrar con una sola idea: Cada magnitud se obtiene de su eje antes de usar `c=λf`. El esquema es conceptual y no está a escala.</a:t>
            </a:r>
          </a:p>
          <a:p>
            <a:r>
              <a:t>- **Pregunta al grupo:** ¿Cuál es el primer dato que debe leerse en cada gráfico?</a:t>
            </a:r>
          </a:p>
          <a:p>
            <a:r>
              <a:t>- **Respuesta esperada:** `T` en el temporal y `λ` en el espacial; después se calculan `f` y `c`.</a:t>
            </a:r>
          </a:p>
          <a:p>
            <a:r>
              <a:t>- **Demostración/audio/video/GIF:** —</a:t>
            </a:r>
          </a:p>
          <a:p>
            <a:r>
              <a:t>- **Error frecuente o énfasis:** No mezclar el eje temporal con el espacial ni omitir la conversión de ms a s.</a:t>
            </a:r>
          </a:p>
          <a:p>
            <a:r>
              <a:t>- **Transición oral:** “Volver a B05 o continuar al caso integrador.”</a:t>
            </a:r>
          </a:p>
          <a:p>
            <a:r>
              <a:t>- **Duración aproximada:** A demanda.</a:t>
            </a:r>
          </a:p>
          <a:p>
            <a:r>
              <a:t>- **[Sources]:** CM; TEX ejercicios G3 y N3; 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U03-095 — Solución del caso integrador</a:t>
            </a:r>
          </a:p>
          <a:p>
            <a:endParaRPr/>
          </a:p>
          <a:p>
            <a:r>
              <a:t>- **Explicación extendida:** Reservar para devolución posterior; no usar como lectura pasiva inmediata. Cierre conceptual: Una respuesta sólida combina mecanismo, variable, representación, cálculo y límites.</a:t>
            </a:r>
          </a:p>
          <a:p>
            <a:r>
              <a:t>- **Guía del visual/diagrama:** 1. Señalar el objeto, sistema o ecuación central. 2. Recorrer el esquema en este orden: Cinco pasos que corresponden a U03-080 → resultados y justificaciones breves. 3. Distinguir conectores de movimiento local y propagación cuando corresponda. 4. Cerrar con una sola idea: Una respuesta sólida combina mecanismo, variable, representación, cálculo y límites. El esquema es conceptual y no está a escala.</a:t>
            </a:r>
          </a:p>
          <a:p>
            <a:r>
              <a:t>- **Pregunta al grupo:** ¿Qué límite evita convertir el modelo en una conclusión clínica?</a:t>
            </a:r>
          </a:p>
          <a:p>
            <a:r>
              <a:t>- **Respuesta esperada:** No se conocen nivel, calibración, anatomía individual ni respuesta perceptual.</a:t>
            </a:r>
          </a:p>
          <a:p>
            <a:r>
              <a:t>- **Demostración/audio/video/GIF:** —</a:t>
            </a:r>
          </a:p>
          <a:p>
            <a:r>
              <a:t>- **Error frecuente o énfasis:** El caso no determina nivel ni respuesta auditiva individual.</a:t>
            </a:r>
          </a:p>
          <a:p>
            <a:r>
              <a:t>- **Transición oral:** “Retornar al mapa final y objetivos.”</a:t>
            </a:r>
          </a:p>
          <a:p>
            <a:r>
              <a:t>- **Duración aproximada:** A demanda.</a:t>
            </a:r>
          </a:p>
          <a:p>
            <a:r>
              <a:t>- **[Sources]:** TEX ejercicio integrador; PDF pp. 84–85; 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U03-096 — Notación, glosario y fuentes de consulta</a:t>
            </a:r>
          </a:p>
          <a:p>
            <a:endParaRPr/>
          </a:p>
          <a:p>
            <a:r>
              <a:t>- **Explicación extendida:** Usar como control de consistencia durante producción y como consulta del estudiante. Cierre conceptual: Símbolos y términos deben conservar significado estable entre unidades.</a:t>
            </a:r>
          </a:p>
          <a:p>
            <a:r>
              <a:t>- **Guía del visual/diagrama:** —</a:t>
            </a:r>
          </a:p>
          <a:p>
            <a:r>
              <a:t>- **Pregunta al grupo:** ¿Cómo justificaría la idea central con variables, unidades o relaciones físicas?</a:t>
            </a:r>
          </a:p>
          <a:p>
            <a:r>
              <a:t>- **Respuesta esperada:** Símbolos y términos deben conservar significado estable entre unidades.</a:t>
            </a:r>
          </a:p>
          <a:p>
            <a:r>
              <a:t>- **Demostración/audio/video/GIF:** —</a:t>
            </a:r>
          </a:p>
          <a:p>
            <a:r>
              <a:t>- **Error frecuente o énfasis:** Mantener consistentes variable, referencia, signo y unidad.</a:t>
            </a:r>
          </a:p>
          <a:p>
            <a:r>
              <a:t>- **Transición oral:** “Fin del respaldo.”</a:t>
            </a:r>
          </a:p>
          <a:p>
            <a:r>
              <a:t>- **Duración aproximada:** A demanda.</a:t>
            </a:r>
          </a:p>
          <a:p>
            <a:r>
              <a:t>- **[Sources]:** PO; TEX 3; PDF pp. 61–88; NOT; GLO; CCM.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FA_02_OBJETIV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0">
            <a:extLst>
              <a:ext uri="{FF2B5EF4-FFF2-40B4-BE49-F238E27FC236}">
                <a16:creationId xmlns:a16="http://schemas.microsoft.com/office/drawing/2014/main" id="{4E7B686E-D1DB-4795-5290-247ED77443BC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Objetivos de aprendizaje</a:t>
            </a:r>
          </a:p>
        </p:txBody>
      </p:sp>
      <p:sp>
        <p:nvSpPr>
          <p:cNvPr id="3" name="ph_body_0">
            <a:extLst>
              <a:ext uri="{FF2B5EF4-FFF2-40B4-BE49-F238E27FC236}">
                <a16:creationId xmlns:a16="http://schemas.microsoft.com/office/drawing/2014/main" id="{F07F7DEC-A90F-3966-89A5-75E897AE30F9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800100" y="1733550"/>
            <a:ext cx="8001000" cy="400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buNone/>
            </a:pPr>
            <a:r>
              <a:t>Objetivos observables</a:t>
            </a:r>
          </a:p>
        </p:txBody>
      </p:sp>
      <p:sp>
        <p:nvSpPr>
          <p:cNvPr id="4" name="ph_content_0">
            <a:extLst>
              <a:ext uri="{FF2B5EF4-FFF2-40B4-BE49-F238E27FC236}">
                <a16:creationId xmlns:a16="http://schemas.microsoft.com/office/drawing/2014/main" id="{D4921F09-2F28-54BE-F644-07838B22BCE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144000" y="1752600"/>
            <a:ext cx="2286000" cy="3429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buNone/>
            </a:pPr>
            <a:r>
              <a:t>Síntesis visual</a:t>
            </a:r>
          </a:p>
        </p:txBody>
      </p:sp>
      <p:sp>
        <p:nvSpPr>
          <p:cNvPr id="5" name="fa_slide_number">
            <a:extLst>
              <a:ext uri="{FF2B5EF4-FFF2-40B4-BE49-F238E27FC236}">
                <a16:creationId xmlns:a16="http://schemas.microsoft.com/office/drawing/2014/main" id="{1912B5C8-473B-C77D-A05F-B105E16C686E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493598C6-FC0D-4EB0-AFF4-EF34A4827315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23_APE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4F817AC1-63E9-74A3-6EEF-E53D71A0508E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Apéndice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3A72ED7B-043F-EB18-1C28-92B596F251B2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76400"/>
            <a:ext cx="10668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buNone/>
            </a:pPr>
            <a:r>
              <a:t>Material de consulta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54E6216A-7B06-7D20-00D4-14737599E1E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89BA0A7D-AABB-4192-B838-2BA5BB3178BC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22_VISUAL_COMPL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B0072429-6B7A-69F4-3F2D-C2B17968DFE0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picture_0">
            <a:extLst>
              <a:ext uri="{FF2B5EF4-FFF2-40B4-BE49-F238E27FC236}">
                <a16:creationId xmlns:a16="http://schemas.microsoft.com/office/drawing/2014/main" id="{F9D8C064-C5F2-F9D4-1C9F-C48CF1E689A0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762000" y="1562100"/>
            <a:ext cx="10668000" cy="42100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Visual principal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BEAB57CB-6BFE-7577-9B58-D0EA985A281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DBBF5632-20E4-4D54-B3A4-92C990DA26EE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20_BIBLIO_RECURS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9FB78823-06A2-4172-6192-1B829F9AB87F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Bibliografía y recursos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009E4BB4-6F84-BBB7-BD01-0716EEE41AB5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76400"/>
            <a:ext cx="10668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buNone/>
            </a:pPr>
            <a:r>
              <a:t>Referencias y enlaces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FCDD5430-4EE5-8B4D-B583-289E640823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E8732B64-9C97-4971-8B5F-42781D287601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9_MEDIA_AUDIO_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B0CDC979-FF33-3EDD-88CD-DF60D4B1D61C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Video, GIF o audio</a:t>
            </a:r>
          </a:p>
        </p:txBody>
      </p:sp>
      <p:sp>
        <p:nvSpPr>
          <p:cNvPr id="7" name="ph_media_0">
            <a:extLst>
              <a:ext uri="{FF2B5EF4-FFF2-40B4-BE49-F238E27FC236}">
                <a16:creationId xmlns:a16="http://schemas.microsoft.com/office/drawing/2014/main" id="{079FCF96-20BE-7B92-B825-972A93B10A07}"/>
              </a:ext>
            </a:extLst>
          </p:cNvPr>
          <p:cNvSpPr>
            <a:spLocks noGrp="1"/>
          </p:cNvSpPr>
          <p:nvPr>
            <p:ph type="media" idx="11" hasCustomPrompt="1"/>
          </p:nvPr>
        </p:nvSpPr>
        <p:spPr>
          <a:xfrm>
            <a:off x="762000" y="1657350"/>
            <a:ext cx="7239000" cy="3714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Video, GIF o audio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F555F5DB-607B-02A3-9FCF-CDD66D2EF793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382000" y="1657350"/>
            <a:ext cx="3048000" cy="3714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buNone/>
            </a:pPr>
            <a:r>
              <a:t>Consigna de observación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FB834D89-9F78-BAC7-245C-165FD788A321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076EB7A8-105E-44D9-AF9B-E4B002172AD7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8_TABLA_DA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409A66DE-F76D-5BAF-6FEA-DF1908C43A15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Tabla o datos</a:t>
            </a:r>
          </a:p>
        </p:txBody>
      </p:sp>
      <p:sp>
        <p:nvSpPr>
          <p:cNvPr id="7" name="ph_table_0">
            <a:extLst>
              <a:ext uri="{FF2B5EF4-FFF2-40B4-BE49-F238E27FC236}">
                <a16:creationId xmlns:a16="http://schemas.microsoft.com/office/drawing/2014/main" id="{4C0D0D26-F100-8659-00EA-2409004E2AEE}"/>
              </a:ext>
            </a:extLst>
          </p:cNvPr>
          <p:cNvSpPr>
            <a:spLocks noGrp="1"/>
          </p:cNvSpPr>
          <p:nvPr>
            <p:ph type="tbl" idx="11" hasCustomPrompt="1"/>
          </p:nvPr>
        </p:nvSpPr>
        <p:spPr>
          <a:xfrm>
            <a:off x="762000" y="1676400"/>
            <a:ext cx="10668000" cy="3714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Tabla editable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B5DAB8AD-C9A2-9783-CB90-DB0CFE8EF09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762000" y="5581650"/>
            <a:ext cx="10668000" cy="4191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buNone/>
            </a:pPr>
            <a:r>
              <a:t>Lectura principal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7408CF10-5CC7-0648-9A06-15F7433C7031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4FEE56A1-BB6C-438D-8886-FF44760C7C6B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7_RECAP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58A1AFD7-74FA-41E6-94B3-B5C8DDCED2B7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Recapitulación final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DE1EB0DD-8791-1A8B-9D62-CD8B1EF3E7B3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62000" y="1695450"/>
            <a:ext cx="10668000" cy="3714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buNone/>
            </a:pPr>
            <a:r>
              <a:t>Mapa de conceptos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85F550E7-9C54-188B-FFC4-467A63CBBB3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456A0307-F779-4344-B886-D9280EB668B3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6_RECAP_PARC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39229E1F-564D-1252-8752-640CDDC94936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Resumen parcial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26942BEC-4BB7-68A8-5D3D-0F2E7C8C878D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76400"/>
            <a:ext cx="6858000" cy="400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buNone/>
            </a:pPr>
            <a:r>
              <a:t>Ideas consolidadas</a:t>
            </a:r>
          </a:p>
        </p:txBody>
      </p:sp>
      <p:sp>
        <p:nvSpPr>
          <p:cNvPr id="8" name="ph_content_0">
            <a:extLst>
              <a:ext uri="{FF2B5EF4-FFF2-40B4-BE49-F238E27FC236}">
                <a16:creationId xmlns:a16="http://schemas.microsoft.com/office/drawing/2014/main" id="{58A41835-9B86-B2F7-FDEB-E572198A44F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001000" y="1676400"/>
            <a:ext cx="3429000" cy="31432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buNone/>
            </a:pPr>
            <a:r>
              <a:t>Llamada de recapitulación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9448B502-DD56-36BC-C80F-26C3FDF379C3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A33687D1-4041-4057-AFDA-E8313599D529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5_ERROR_FRECU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DF6D93D-81D3-09A3-9451-58354AAA940D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Error frecuente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BEE8D141-1A7B-E1E2-4278-DACF5AEFFBB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952500" y="1809750"/>
            <a:ext cx="10287000" cy="17145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buNone/>
            </a:pPr>
            <a:r>
              <a:t>Idea incorrecta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51AAF03A-25D3-5D01-FCF9-2955539C92E3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143000" y="3905250"/>
            <a:ext cx="9906000" cy="1714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buNone/>
            </a:pPr>
            <a:r>
              <a:t>Corrección razonada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2EC62D10-711F-D9B1-7D3A-18749CF1A784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BDAFD395-8463-4588-B260-79B86AAD3E51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4B_MINI_EJERCIC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C11DF7D-DCF3-07BF-2350-3CEDB78BCA73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Mini ejercicio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BFFBA6A1-CB2F-C08F-96BB-D862AE72699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95450"/>
            <a:ext cx="6477000" cy="3429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buNone/>
            </a:pPr>
            <a:r>
              <a:t>Consigna y datos</a:t>
            </a:r>
          </a:p>
        </p:txBody>
      </p:sp>
      <p:sp>
        <p:nvSpPr>
          <p:cNvPr id="8" name="ph_content_0">
            <a:extLst>
              <a:ext uri="{FF2B5EF4-FFF2-40B4-BE49-F238E27FC236}">
                <a16:creationId xmlns:a16="http://schemas.microsoft.com/office/drawing/2014/main" id="{91DCAFC2-EA6E-2D23-3B41-A0752099656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620000" y="1695450"/>
            <a:ext cx="3810000" cy="3429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buNone/>
            </a:pPr>
            <a:r>
              <a:t>Espacio de resolución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A0621BFB-671E-D2BB-46AB-1C4FC0833871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81336448-9F7A-438A-9B1D-8F6491D87475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4_PREGUNTA_EJERCIC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622FF81E-C3C8-AD07-DE0B-DA2CA2611D15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Pregunta al curso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FB5F4DDD-6CFB-7D47-14E7-EA043E89CA23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333500" y="2000250"/>
            <a:ext cx="9525000" cy="20955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buNone/>
            </a:pPr>
            <a:r>
              <a:t>Pregunta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543AE4C9-62D3-B123-DF7D-6CA4CFF8C65B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524000" y="4457700"/>
            <a:ext cx="9144000" cy="1047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buNone/>
            </a:pPr>
            <a:r>
              <a:t>Pistas para discutir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81D1303B-53FE-8249-310B-E605F0EE1564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1CFE78DF-3976-48C8-961D-AA1C8CA99F09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3_APLICACION_CLIN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DDD03774-96DE-DA2F-A511-71B36099D23A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Aplicación a Fonoaudiología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BF907AE9-FAD6-BFC9-BD52-A97C988A7F59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714500"/>
            <a:ext cx="571500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buNone/>
            </a:pPr>
            <a:r>
              <a:t>Concepto físico</a:t>
            </a:r>
          </a:p>
        </p:txBody>
      </p:sp>
      <p:sp>
        <p:nvSpPr>
          <p:cNvPr id="8" name="ph_content_0">
            <a:extLst>
              <a:ext uri="{FF2B5EF4-FFF2-40B4-BE49-F238E27FC236}">
                <a16:creationId xmlns:a16="http://schemas.microsoft.com/office/drawing/2014/main" id="{714E50E2-E1DA-3206-B850-EA65C2FD7D1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858000" y="1714500"/>
            <a:ext cx="4572000" cy="3429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buNone/>
            </a:pPr>
            <a:r>
              <a:t>Aplicación clínica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51F74211-E68E-8F63-B477-ED892A0B76ED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A330D82D-5740-4471-AF56-8696EEE2E4B5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2_PROCE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6A7C0E02-1009-E9C6-5ACC-80E7D6880A69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Proceso secuencial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58205925-FD47-66F2-A802-416BCA053AE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62000" y="1924050"/>
            <a:ext cx="10668000" cy="2952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buNone/>
            </a:pPr>
            <a:r>
              <a:t>Secuencia editable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8685E304-E9CA-43F8-8930-8E0ED8BE7286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914400" y="5219700"/>
            <a:ext cx="10363200" cy="609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buNone/>
            </a:pPr>
            <a:r>
              <a:t>Idea de cierre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0506C10D-1069-18D8-D511-E7658980284E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9CA5DB51-531C-4AFB-9FB5-87CA9A3111B8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1_COMPARA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C3754BA9-BA43-89AA-C70D-83CA68AF3401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Comparación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4E58697A-6AA1-094E-FB77-5ED2F72D0C96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95450"/>
            <a:ext cx="495300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buNone/>
            </a:pPr>
            <a:r>
              <a:t>Caso A</a:t>
            </a:r>
          </a:p>
        </p:txBody>
      </p:sp>
      <p:sp>
        <p:nvSpPr>
          <p:cNvPr id="8" name="ph_body_1">
            <a:extLst>
              <a:ext uri="{FF2B5EF4-FFF2-40B4-BE49-F238E27FC236}">
                <a16:creationId xmlns:a16="http://schemas.microsoft.com/office/drawing/2014/main" id="{76A280CC-0448-5099-BD8C-5F5DA7427A41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477000" y="1695450"/>
            <a:ext cx="495300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buNone/>
            </a:pPr>
            <a:r>
              <a:t>Caso B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B22C4027-B511-C66A-3210-C4F977C71BF0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5DBCCD25-7213-4B32-B316-993301A50991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0_EJEMPLO_RESUEL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1EBA8C66-75F7-8786-62D4-8E39087D032A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Ejemplo resuelto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B3761D8C-5D3D-B5FC-3088-D429C5A6F945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57350"/>
            <a:ext cx="4000500" cy="400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buNone/>
            </a:pPr>
            <a:r>
              <a:t>Datos y pregunta</a:t>
            </a:r>
          </a:p>
        </p:txBody>
      </p:sp>
      <p:sp>
        <p:nvSpPr>
          <p:cNvPr id="8" name="ph_body_1">
            <a:extLst>
              <a:ext uri="{FF2B5EF4-FFF2-40B4-BE49-F238E27FC236}">
                <a16:creationId xmlns:a16="http://schemas.microsoft.com/office/drawing/2014/main" id="{72C3AA6E-744B-B585-1A7D-4DBA7725171B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143500" y="1657350"/>
            <a:ext cx="6286500" cy="400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buNone/>
            </a:pPr>
            <a:r>
              <a:t>Resolución paso a paso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F87FCAB0-F142-2C7C-6C7A-2118A60FE41C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1685110A-6086-4FE8-8F00-9DEAECCAACBB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9_ECUACION_INTERPRETA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55D978A-66A3-12DD-6D64-38108280AE38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63049859-11E6-28FF-2063-7C84F2BCE7E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62000" y="1752600"/>
            <a:ext cx="10668000" cy="1524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buNone/>
            </a:pPr>
            <a:r>
              <a:t>Ecuación editable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27826603-AFCB-A7FC-DC5A-2E4905DA0F0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762000" y="3638550"/>
            <a:ext cx="10668000" cy="2000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buNone/>
            </a:pPr>
            <a:r>
              <a:t>Interpretación y unidades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554DD594-5FD7-1BA8-C390-3B2081E1BD93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D4E3DF21-1703-4AF3-A758-2190B581AEE3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8_DEFINI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A64F010A-6A76-C440-2396-A624262AB04D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Concepto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314101D8-2C06-19A3-8BA4-89816CC23386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143000" y="1981200"/>
            <a:ext cx="9906000" cy="23812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buNone/>
            </a:pPr>
            <a:r>
              <a:t>Definición completa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4D685FE1-58B7-9044-F0E6-24526BBA1CC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333500" y="4686300"/>
            <a:ext cx="9525000" cy="952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buNone/>
            </a:pPr>
            <a:r>
              <a:t>Implicación o ejemplo breve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08CAD3E8-7C2E-D428-8533-9F43F7FD3565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EF7231C5-674D-43AF-A7BF-A95F7B1AC02E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7_GRAFICO_EXPLICA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8E031ACD-0AD5-8809-0717-649540F4F383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chart_0">
            <a:extLst>
              <a:ext uri="{FF2B5EF4-FFF2-40B4-BE49-F238E27FC236}">
                <a16:creationId xmlns:a16="http://schemas.microsoft.com/office/drawing/2014/main" id="{5380A50B-6A0F-2DF2-CF30-B0F7001B31E2}"/>
              </a:ext>
            </a:extLst>
          </p:cNvPr>
          <p:cNvSpPr>
            <a:spLocks noGrp="1"/>
          </p:cNvSpPr>
          <p:nvPr>
            <p:ph type="chart" idx="11" hasCustomPrompt="1"/>
          </p:nvPr>
        </p:nvSpPr>
        <p:spPr>
          <a:xfrm>
            <a:off x="762000" y="1676400"/>
            <a:ext cx="6858000" cy="3714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Gráfico editable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1A6588E5-AEF0-6915-CE1D-570FEF5B4711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039100" y="1676400"/>
            <a:ext cx="339090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buNone/>
            </a:pPr>
            <a:r>
              <a:t>Lectura guiada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61303251-BC98-15C7-91D2-8A07695826A0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F56D38C4-B1D5-4C8E-BE72-930FD8BDBC8E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6B_DOS_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08ED06A4-5573-5517-B8B5-C2075DA96245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CFF38B9F-A684-35A1-0FA9-F59A1B5AB4C6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76400"/>
            <a:ext cx="4953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buNone/>
            </a:pPr>
            <a:r>
              <a:t>Columna izquierda</a:t>
            </a:r>
          </a:p>
        </p:txBody>
      </p:sp>
      <p:sp>
        <p:nvSpPr>
          <p:cNvPr id="8" name="ph_body_1">
            <a:extLst>
              <a:ext uri="{FF2B5EF4-FFF2-40B4-BE49-F238E27FC236}">
                <a16:creationId xmlns:a16="http://schemas.microsoft.com/office/drawing/2014/main" id="{8F895085-9CE5-6EE1-5F9D-097B6BDA3C7F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477000" y="1676400"/>
            <a:ext cx="4953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buNone/>
            </a:pPr>
            <a:r>
              <a:t>Columna derecha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BA13ABB1-00AB-594A-F558-8175EBCF3114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602F4707-DF6D-4294-BB93-51F5AE613322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6_VISUAL_TEXTO_40_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D5AED30D-A7BD-30DD-BE10-40C7E08936FE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picture_0">
            <a:extLst>
              <a:ext uri="{FF2B5EF4-FFF2-40B4-BE49-F238E27FC236}">
                <a16:creationId xmlns:a16="http://schemas.microsoft.com/office/drawing/2014/main" id="{6FA99C08-D6E3-4E98-F4FE-DDBFAED84D03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762000" y="1676400"/>
            <a:ext cx="4095750" cy="33718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Imagen o diagrama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E5F7348D-D236-9EEA-2133-597F8B48097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238750" y="1676400"/>
            <a:ext cx="619125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buNone/>
            </a:pPr>
            <a:r>
              <a:t>Explicación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9B437985-0763-FCCF-F44F-242B6F5117A3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BA6B0A21-BCB8-4A3F-B261-5C6ED3AE2361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5_TEXTO_VISUAL_60_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3EF649E4-ADFE-13DB-6148-5183BBE49514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8F472493-280E-0CA3-7AC8-E68E8FBDBFCC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76400"/>
            <a:ext cx="619125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buNone/>
            </a:pPr>
            <a:r>
              <a:t>Explicación</a:t>
            </a:r>
          </a:p>
        </p:txBody>
      </p:sp>
      <p:sp>
        <p:nvSpPr>
          <p:cNvPr id="8" name="ph_picture_0">
            <a:extLst>
              <a:ext uri="{FF2B5EF4-FFF2-40B4-BE49-F238E27FC236}">
                <a16:creationId xmlns:a16="http://schemas.microsoft.com/office/drawing/2014/main" id="{79FC630C-AD55-24EA-E53D-308D86D07925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7334250" y="1676400"/>
            <a:ext cx="4095750" cy="33718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Imagen o diagrama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3545EB75-FA22-76BE-9CE1-5BBC0905B29C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1060B985-A0D6-43B6-9BE3-5D6CD61324BB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4_TITULO_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A73D0B5-44ED-C607-E4A8-F4FDBA1B460F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4067827F-3DFD-43A8-ED1D-4A061C6AADC3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95450"/>
            <a:ext cx="10668000" cy="41148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buNone/>
            </a:pPr>
            <a:r>
              <a:t>Idea principal y desarrollo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AB672653-EF56-0789-95CE-0ACA3972421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1113A982-D864-4714-BC0D-F64786B8C006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3_MAPA_CL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774C0439-FC2E-F5D5-0F77-C83354962018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Mapa de la clase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5D91A08B-7367-A177-D3A1-D4D0D4FD2923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62000" y="1790700"/>
            <a:ext cx="10668000" cy="37338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buNone/>
            </a:pPr>
            <a:r>
              <a:t>Secuencia de bloques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CB1AB991-FF40-041B-F321-8D5FD60362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A4F5DA17-0689-46E4-8362-81AB21D91399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2B_CONOCIMIENTOS_PREVI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86E20EB-ACF6-E98B-A7F7-FAA63FE7A1AB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Conocimientos previos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DA74F11D-A621-76AD-1939-D17C951722BA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714500"/>
            <a:ext cx="4953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buNone/>
            </a:pPr>
            <a:r>
              <a:t>Ya conocemos</a:t>
            </a:r>
          </a:p>
        </p:txBody>
      </p:sp>
      <p:sp>
        <p:nvSpPr>
          <p:cNvPr id="8" name="ph_body_1">
            <a:extLst>
              <a:ext uri="{FF2B5EF4-FFF2-40B4-BE49-F238E27FC236}">
                <a16:creationId xmlns:a16="http://schemas.microsoft.com/office/drawing/2014/main" id="{3F301BAB-D31B-43BA-8C3E-29D441A86035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477000" y="1714500"/>
            <a:ext cx="4953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>
              <a:buNone/>
            </a:pPr>
            <a:r>
              <a:t>Necesitamos recuperar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485A1487-76D9-6CD2-5B5D-641F847EEABE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C017E5F8-CA14-4AD9-9C34-2654E5F0D860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_00_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h_title_0">
            <a:extLst>
              <a:ext uri="{FF2B5EF4-FFF2-40B4-BE49-F238E27FC236}">
                <a16:creationId xmlns:a16="http://schemas.microsoft.com/office/drawing/2014/main" id="{BBF699B4-1B17-0944-8A64-D6854D8D6D1E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800100" y="1543049"/>
            <a:ext cx="8572500" cy="1428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de la unidad</a:t>
            </a:r>
          </a:p>
        </p:txBody>
      </p:sp>
      <p:sp>
        <p:nvSpPr>
          <p:cNvPr id="8" name="ph_subtitle_0">
            <a:extLst>
              <a:ext uri="{FF2B5EF4-FFF2-40B4-BE49-F238E27FC236}">
                <a16:creationId xmlns:a16="http://schemas.microsoft.com/office/drawing/2014/main" id="{5EEB7C2E-BFEB-6726-9C51-28E1E3242D9B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838200" y="3143250"/>
            <a:ext cx="7239000" cy="7239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t>Subtítulo o alcance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F9094F21-F8D4-117E-6486-B4FB78DA574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BFBD13B0-F1EE-46B2-9204-54BDCC94E2F7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_21_CIERRE_PU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0">
            <a:extLst>
              <a:ext uri="{FF2B5EF4-FFF2-40B4-BE49-F238E27FC236}">
                <a16:creationId xmlns:a16="http://schemas.microsoft.com/office/drawing/2014/main" id="{08E6C8A6-F9D3-7926-25DF-ED045F3A4CCD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800100" y="2019300"/>
            <a:ext cx="8953500" cy="11239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Cierre</a:t>
            </a:r>
          </a:p>
        </p:txBody>
      </p:sp>
      <p:sp>
        <p:nvSpPr>
          <p:cNvPr id="3" name="ph_subtitle_0">
            <a:extLst>
              <a:ext uri="{FF2B5EF4-FFF2-40B4-BE49-F238E27FC236}">
                <a16:creationId xmlns:a16="http://schemas.microsoft.com/office/drawing/2014/main" id="{7DB56B4A-8D9F-CA11-B9D5-A6125863F28F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838200" y="3314700"/>
            <a:ext cx="8191500" cy="8191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t>Puente hacia la próxima clase</a:t>
            </a:r>
          </a:p>
        </p:txBody>
      </p:sp>
      <p:sp>
        <p:nvSpPr>
          <p:cNvPr id="4" name="fa_slide_number">
            <a:extLst>
              <a:ext uri="{FF2B5EF4-FFF2-40B4-BE49-F238E27FC236}">
                <a16:creationId xmlns:a16="http://schemas.microsoft.com/office/drawing/2014/main" id="{62762AF0-3B86-E082-1D9F-E94F6C836E6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1551B1DD-AE22-4797-A41E-B58F85D9714A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_01_DIVIS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0">
            <a:extLst>
              <a:ext uri="{FF2B5EF4-FFF2-40B4-BE49-F238E27FC236}">
                <a16:creationId xmlns:a16="http://schemas.microsoft.com/office/drawing/2014/main" id="{D1F88028-AD7E-5C80-FCA4-7044C14652DA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800100" y="2095500"/>
            <a:ext cx="9334500" cy="1047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del bloque</a:t>
            </a:r>
          </a:p>
        </p:txBody>
      </p:sp>
      <p:sp>
        <p:nvSpPr>
          <p:cNvPr id="3" name="ph_subtitle_0">
            <a:extLst>
              <a:ext uri="{FF2B5EF4-FFF2-40B4-BE49-F238E27FC236}">
                <a16:creationId xmlns:a16="http://schemas.microsoft.com/office/drawing/2014/main" id="{8858B713-BB8F-93CF-76E5-B16753D5870D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838200" y="3295650"/>
            <a:ext cx="78105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t>Pregunta guía o propósito</a:t>
            </a:r>
          </a:p>
        </p:txBody>
      </p:sp>
      <p:sp>
        <p:nvSpPr>
          <p:cNvPr id="4" name="fa_slide_number">
            <a:extLst>
              <a:ext uri="{FF2B5EF4-FFF2-40B4-BE49-F238E27FC236}">
                <a16:creationId xmlns:a16="http://schemas.microsoft.com/office/drawing/2014/main" id="{20025C06-92EB-B9DF-64E7-DAAC9343FA0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60E8974C-1134-48A5-94B6-2428CCBD93A5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_maroon">
            <a:extLst>
              <a:ext uri="{FF2B5EF4-FFF2-40B4-BE49-F238E27FC236}">
                <a16:creationId xmlns:a16="http://schemas.microsoft.com/office/drawing/2014/main" id="{7ED400B0-4650-BD81-8872-00CCE5394A4B}"/>
              </a:ext>
            </a:extLst>
          </p:cNvPr>
          <p:cNvSpPr>
            <a:spLocks noGrp="1"/>
          </p:cNvSpPr>
          <p:nvPr/>
        </p:nvSpPr>
        <p:spPr>
          <a:xfrm>
            <a:off x="609600" y="247650"/>
            <a:ext cx="3657600" cy="57150"/>
          </a:xfrm>
          <a:prstGeom prst="rect">
            <a:avLst/>
          </a:prstGeom>
          <a:solidFill>
            <a:srgbClr val="4D1434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ule_berry">
            <a:extLst>
              <a:ext uri="{FF2B5EF4-FFF2-40B4-BE49-F238E27FC236}">
                <a16:creationId xmlns:a16="http://schemas.microsoft.com/office/drawing/2014/main" id="{19067D9B-1D69-BEBD-53A6-E2EBCE31B809}"/>
              </a:ext>
            </a:extLst>
          </p:cNvPr>
          <p:cNvSpPr>
            <a:spLocks noGrp="1"/>
          </p:cNvSpPr>
          <p:nvPr/>
        </p:nvSpPr>
        <p:spPr>
          <a:xfrm>
            <a:off x="4362450" y="247650"/>
            <a:ext cx="3657600" cy="57150"/>
          </a:xfrm>
          <a:prstGeom prst="rect">
            <a:avLst/>
          </a:prstGeom>
          <a:solidFill>
            <a:srgbClr val="903163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ule_gray">
            <a:extLst>
              <a:ext uri="{FF2B5EF4-FFF2-40B4-BE49-F238E27FC236}">
                <a16:creationId xmlns:a16="http://schemas.microsoft.com/office/drawing/2014/main" id="{D5EE4B42-9A6B-A99D-63F0-0D1F0CDA593B}"/>
              </a:ext>
            </a:extLst>
          </p:cNvPr>
          <p:cNvSpPr>
            <a:spLocks noGrp="1"/>
          </p:cNvSpPr>
          <p:nvPr/>
        </p:nvSpPr>
        <p:spPr>
          <a:xfrm>
            <a:off x="8115300" y="247650"/>
            <a:ext cx="3467100" cy="57150"/>
          </a:xfrm>
          <a:prstGeom prst="rect">
            <a:avLst/>
          </a:prstGeom>
          <a:solidFill>
            <a:srgbClr val="969FA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footer_rule">
            <a:extLst>
              <a:ext uri="{FF2B5EF4-FFF2-40B4-BE49-F238E27FC236}">
                <a16:creationId xmlns:a16="http://schemas.microsoft.com/office/drawing/2014/main" id="{967B707C-1A6F-0D89-F330-66B1FD9D5071}"/>
              </a:ext>
            </a:extLst>
          </p:cNvPr>
          <p:cNvSpPr>
            <a:spLocks noGrp="1"/>
          </p:cNvSpPr>
          <p:nvPr/>
        </p:nvSpPr>
        <p:spPr>
          <a:xfrm>
            <a:off x="609600" y="6353175"/>
            <a:ext cx="10972800" cy="14288"/>
          </a:xfrm>
          <a:prstGeom prst="rect">
            <a:avLst/>
          </a:prstGeom>
          <a:solidFill>
            <a:srgbClr val="D9DCE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6" name="ucasal_logo_master_light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09600" y="6429375"/>
            <a:ext cx="1028700" cy="304800"/>
          </a:xfrm>
          <a:prstGeom prst="rect">
            <a:avLst/>
          </a:prstGeom>
        </p:spPr>
      </p:pic>
      <p:sp>
        <p:nvSpPr>
          <p:cNvPr id="8" name="footer_course_light">
            <a:extLst>
              <a:ext uri="{FF2B5EF4-FFF2-40B4-BE49-F238E27FC236}">
                <a16:creationId xmlns:a16="http://schemas.microsoft.com/office/drawing/2014/main" id="{63C3527D-F71A-255A-556A-E956A5B245FC}"/>
              </a:ext>
            </a:extLst>
          </p:cNvPr>
          <p:cNvSpPr>
            <a:spLocks noGrp="1"/>
          </p:cNvSpPr>
          <p:nvPr/>
        </p:nvSpPr>
        <p:spPr>
          <a:xfrm>
            <a:off x="1809750" y="6467475"/>
            <a:ext cx="4953000" cy="253916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l">
              <a:buNone/>
            </a:pPr>
            <a:r>
              <a:rPr sz="10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Física Acústica · Licenciatura en Fonoaudiología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p:hf hdr="0" ft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1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ule_berry">
            <a:extLst>
              <a:ext uri="{FF2B5EF4-FFF2-40B4-BE49-F238E27FC236}">
                <a16:creationId xmlns:a16="http://schemas.microsoft.com/office/drawing/2014/main" id="{54233747-3B41-236E-F508-E312E7DCB9DF}"/>
              </a:ext>
            </a:extLst>
          </p:cNvPr>
          <p:cNvSpPr>
            <a:spLocks noGrp="1"/>
          </p:cNvSpPr>
          <p:nvPr/>
        </p:nvSpPr>
        <p:spPr>
          <a:xfrm>
            <a:off x="609600" y="247650"/>
            <a:ext cx="3657600" cy="57150"/>
          </a:xfrm>
          <a:prstGeom prst="rect">
            <a:avLst/>
          </a:prstGeom>
          <a:solidFill>
            <a:srgbClr val="903163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ule_white">
            <a:extLst>
              <a:ext uri="{FF2B5EF4-FFF2-40B4-BE49-F238E27FC236}">
                <a16:creationId xmlns:a16="http://schemas.microsoft.com/office/drawing/2014/main" id="{AB7800AF-4B8D-3775-268D-A94322560FCE}"/>
              </a:ext>
            </a:extLst>
          </p:cNvPr>
          <p:cNvSpPr>
            <a:spLocks noGrp="1"/>
          </p:cNvSpPr>
          <p:nvPr/>
        </p:nvSpPr>
        <p:spPr>
          <a:xfrm>
            <a:off x="4362450" y="247650"/>
            <a:ext cx="365760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ule_gray">
            <a:extLst>
              <a:ext uri="{FF2B5EF4-FFF2-40B4-BE49-F238E27FC236}">
                <a16:creationId xmlns:a16="http://schemas.microsoft.com/office/drawing/2014/main" id="{092696FC-D673-2DD3-4FCF-4D8518D87390}"/>
              </a:ext>
            </a:extLst>
          </p:cNvPr>
          <p:cNvSpPr>
            <a:spLocks noGrp="1"/>
          </p:cNvSpPr>
          <p:nvPr/>
        </p:nvSpPr>
        <p:spPr>
          <a:xfrm>
            <a:off x="8115300" y="247650"/>
            <a:ext cx="3467100" cy="57150"/>
          </a:xfrm>
          <a:prstGeom prst="rect">
            <a:avLst/>
          </a:prstGeom>
          <a:solidFill>
            <a:srgbClr val="969FA7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footer_rule">
            <a:extLst>
              <a:ext uri="{FF2B5EF4-FFF2-40B4-BE49-F238E27FC236}">
                <a16:creationId xmlns:a16="http://schemas.microsoft.com/office/drawing/2014/main" id="{99D069AE-519E-8032-14CB-9643E0ECC0A3}"/>
              </a:ext>
            </a:extLst>
          </p:cNvPr>
          <p:cNvSpPr>
            <a:spLocks noGrp="1"/>
          </p:cNvSpPr>
          <p:nvPr/>
        </p:nvSpPr>
        <p:spPr>
          <a:xfrm>
            <a:off x="609600" y="6353175"/>
            <a:ext cx="10972800" cy="14288"/>
          </a:xfrm>
          <a:prstGeom prst="rect">
            <a:avLst/>
          </a:prstGeom>
          <a:solidFill>
            <a:srgbClr val="903163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logo_backing">
            <a:extLst>
              <a:ext uri="{FF2B5EF4-FFF2-40B4-BE49-F238E27FC236}">
                <a16:creationId xmlns:a16="http://schemas.microsoft.com/office/drawing/2014/main" id="{DED1A456-4096-91AC-8233-B33FFC94C295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104900" cy="3238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2" name="ucasal_logo_master_dar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6467475"/>
            <a:ext cx="990600" cy="228600"/>
          </a:xfrm>
          <a:prstGeom prst="rect">
            <a:avLst/>
          </a:prstGeom>
        </p:spPr>
      </p:pic>
      <p:sp>
        <p:nvSpPr>
          <p:cNvPr id="14" name="footer_course_dark">
            <a:extLst>
              <a:ext uri="{FF2B5EF4-FFF2-40B4-BE49-F238E27FC236}">
                <a16:creationId xmlns:a16="http://schemas.microsoft.com/office/drawing/2014/main" id="{D186B626-134A-FBCD-AEA0-4A2A93AA00A6}"/>
              </a:ext>
            </a:extLst>
          </p:cNvPr>
          <p:cNvSpPr>
            <a:spLocks noGrp="1"/>
          </p:cNvSpPr>
          <p:nvPr/>
        </p:nvSpPr>
        <p:spPr>
          <a:xfrm>
            <a:off x="1885950" y="6467475"/>
            <a:ext cx="4953000" cy="253916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l">
              <a:buNone/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Física Acústica · Licenciatura en Fonoaudiología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</p:sldLayoutIdLst>
  <p:hf hdr="0" ft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8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5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4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sv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9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8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8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sv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6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sv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8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8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sv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4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sv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sv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8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sv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sv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6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sv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sv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sv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sv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sv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sv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sv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sv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sv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sv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sv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ver_wave_line">
            <a:extLst>
              <a:ext uri="{FF2B5EF4-FFF2-40B4-BE49-F238E27FC236}">
                <a16:creationId xmlns:a16="http://schemas.microsoft.com/office/drawing/2014/main" id="{E5787022-2768-4CD1-98E2-2B1F632DC638}"/>
              </a:ext>
            </a:extLst>
          </p:cNvPr>
          <p:cNvSpPr>
            <a:spLocks noGrp="1"/>
          </p:cNvSpPr>
          <p:nvPr/>
        </p:nvSpPr>
        <p:spPr>
          <a:xfrm>
            <a:off x="8667750" y="1638300"/>
            <a:ext cx="2476500" cy="1809750"/>
          </a:xfrm>
          <a:prstGeom prst="wave">
            <a:avLst/>
          </a:prstGeom>
          <a:solidFill>
            <a:srgbClr val="000000">
              <a:alpha val="0"/>
            </a:srgbClr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6209043E-FF99-0424-F0A1-6DD300A34E4B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838200" y="1504950"/>
            <a:ext cx="7810500" cy="1571625"/>
          </a:xfrm>
        </p:spPr>
        <p:txBody>
          <a:bodyPr wrap="square" lIns="0" tIns="0" rIns="0" bIns="0" anchor="ctr">
            <a:noAutofit/>
          </a:bodyPr>
          <a:lstStyle/>
          <a:p>
            <a:pPr>
              <a:defRPr sz="49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9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Fundamentos de la mecánica ondulatoria</a:t>
            </a:r>
          </a:p>
        </p:txBody>
      </p:sp>
      <p:sp>
        <p:nvSpPr>
          <p:cNvPr id="11" name="Subtítulo 10">
            <a:extLst>
              <a:ext uri="{FF2B5EF4-FFF2-40B4-BE49-F238E27FC236}">
                <a16:creationId xmlns:a16="http://schemas.microsoft.com/office/drawing/2014/main" id="{D87FD449-A608-9EC9-BE8C-850EE9907EE1}"/>
              </a:ext>
            </a:extLst>
          </p:cNvPr>
          <p:cNvSpPr>
            <a:spLocks noGrp="1"/>
          </p:cNvSpPr>
          <p:nvPr>
            <p:ph type="subTitle" idx="11"/>
          </p:nvPr>
        </p:nvSpPr>
        <p:spPr>
          <a:xfrm>
            <a:off x="838200" y="3162300"/>
            <a:ext cx="7239000" cy="762000"/>
          </a:xfrm>
        </p:spPr>
        <p:txBody>
          <a:bodyPr wrap="square" lIns="0" tIns="0" rIns="0" bIns="0">
            <a:noAutofit/>
          </a:bodyPr>
          <a:lstStyle/>
          <a:p>
            <a:r>
              <a:t>Oscilaciones, ondas y tonos</a:t>
            </a:r>
          </a:p>
        </p:txBody>
      </p:sp>
      <p:sp>
        <p:nvSpPr>
          <p:cNvPr id="12" name="Marcador de número de diapositiva 11">
            <a:extLst>
              <a:ext uri="{FF2B5EF4-FFF2-40B4-BE49-F238E27FC236}">
                <a16:creationId xmlns:a16="http://schemas.microsoft.com/office/drawing/2014/main" id="{0B44733C-D931-3240-C8D6-A74952D40B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fld id="{AD75FED6-38D0-DE9C-92C0-6E7FA635581C}" type="slidenum">
              <a:rPr sz="112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fld>
            <a:endParaRPr sz="1125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u03_U03-001_eyebrow">
            <a:extLst>
              <a:ext uri="{FF2B5EF4-FFF2-40B4-BE49-F238E27FC236}">
                <a16:creationId xmlns:a16="http://schemas.microsoft.com/office/drawing/2014/main" id="{7FEA2301-FA0C-46B9-AC40-EDB00EC09BF5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3 · APERTURA</a:t>
            </a:r>
          </a:p>
        </p:txBody>
      </p:sp>
    </p:spTree>
    <p:extLst>
      <p:ext uri="{BB962C8B-B14F-4D97-AF65-F5344CB8AC3E}">
        <p14:creationId xmlns:p14="http://schemas.microsoft.com/office/powerpoint/2010/main" val="1194663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01-S002" descr="Diagrama conceptual con título «Un parlante vibra: ¿qué llega hasta el oído?». Secuencia incompleta parlante–aire–oído con tres preguntas de predicción.">
            <a:extLst>
              <a:ext uri="{FF2B5EF4-FFF2-40B4-BE49-F238E27FC236}">
                <a16:creationId xmlns:a16="http://schemas.microsoft.com/office/drawing/2014/main" id="{9E2EA902-FA7D-1908-3CBE-B2412988CAA0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24" name="Título 23">
            <a:extLst>
              <a:ext uri="{FF2B5EF4-FFF2-40B4-BE49-F238E27FC236}">
                <a16:creationId xmlns:a16="http://schemas.microsoft.com/office/drawing/2014/main" id="{6430AFA8-9094-1DB6-842A-986076FB7B38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parlante vibra: ¿qué llega hasta el oído?</a:t>
            </a:r>
          </a:p>
        </p:txBody>
      </p:sp>
      <p:sp>
        <p:nvSpPr>
          <p:cNvPr id="26" name="Marcador de número de diapositiva 25">
            <a:extLst>
              <a:ext uri="{FF2B5EF4-FFF2-40B4-BE49-F238E27FC236}">
                <a16:creationId xmlns:a16="http://schemas.microsoft.com/office/drawing/2014/main" id="{E82CC427-17D1-D7E7-6008-F7922268FB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E2598689-54C9-18A7-3A19-ED76AA08988F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2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u03_U03-002_eyebrow">
            <a:extLst>
              <a:ext uri="{FF2B5EF4-FFF2-40B4-BE49-F238E27FC236}">
                <a16:creationId xmlns:a16="http://schemas.microsoft.com/office/drawing/2014/main" id="{7C3E88D4-88CB-4C54-9B9B-F1E202B0B061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APERTURA</a:t>
            </a:r>
          </a:p>
        </p:txBody>
      </p:sp>
      <p:sp>
        <p:nvSpPr>
          <p:cNvPr id="29" name="U03-002_caption">
            <a:extLst>
              <a:ext uri="{FF2B5EF4-FFF2-40B4-BE49-F238E27FC236}">
                <a16:creationId xmlns:a16="http://schemas.microsoft.com/office/drawing/2014/main" id="{86D23CEF-CB64-4575-8286-BFEC47CDD715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Predicción inicial sobre fuente, medio y receptor.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0">
            <a:extLst>
              <a:ext uri="{FF2B5EF4-FFF2-40B4-BE49-F238E27FC236}">
                <a16:creationId xmlns:a16="http://schemas.microsoft.com/office/drawing/2014/main" id="{8518341A-3BB2-613E-8B5C-0FCDB876E026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Cuatro afirmaciones para empezar</a:t>
            </a:r>
          </a:p>
        </p:txBody>
      </p:sp>
      <p:sp>
        <p:nvSpPr>
          <p:cNvPr id="14" name="Marcador de número de diapositiva 13">
            <a:extLst>
              <a:ext uri="{FF2B5EF4-FFF2-40B4-BE49-F238E27FC236}">
                <a16:creationId xmlns:a16="http://schemas.microsoft.com/office/drawing/2014/main" id="{6F0E431F-4E1E-5064-2E0C-9F4C713D3097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202359C0-8A7A-196E-DD58-8E6569619F09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3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u03_U03-003_eyebrow">
            <a:extLst>
              <a:ext uri="{FF2B5EF4-FFF2-40B4-BE49-F238E27FC236}">
                <a16:creationId xmlns:a16="http://schemas.microsoft.com/office/drawing/2014/main" id="{B6E50B4D-01A8-497A-8FE6-A15FB7B6248F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APERTURA</a:t>
            </a:r>
          </a:p>
        </p:txBody>
      </p:sp>
      <p:sp>
        <p:nvSpPr>
          <p:cNvPr id="16" name="U03-003_question">
            <a:extLst>
              <a:ext uri="{FF2B5EF4-FFF2-40B4-BE49-F238E27FC236}">
                <a16:creationId xmlns:a16="http://schemas.microsoft.com/office/drawing/2014/main" id="{09E5ED3A-EFF9-4CD8-A48C-38CB995F0B2D}"/>
              </a:ext>
            </a:extLst>
          </p:cNvPr>
          <p:cNvSpPr>
            <a:spLocks noGrp="1"/>
          </p:cNvSpPr>
          <p:nvPr/>
        </p:nvSpPr>
        <p:spPr>
          <a:xfrm>
            <a:off x="952500" y="1695450"/>
            <a:ext cx="10287000" cy="2952750"/>
          </a:xfrm>
          <a:prstGeom prst="rect">
            <a:avLst/>
          </a:prstGeom>
          <a:solidFill>
            <a:srgbClr val="F7F6F2"/>
          </a:solidFill>
          <a:ln w="19050">
            <a:solidFill>
              <a:srgbClr val="4D1434"/>
            </a:solidFill>
            <a:prstDash val="solid"/>
          </a:ln>
        </p:spPr>
        <p:txBody>
          <a:bodyPr wrap="square" lIns="266700" tIns="209550" rIns="266700" bIns="209550" anchor="ctr">
            <a:noAutofit/>
          </a:bodyPr>
          <a:lstStyle/>
          <a:p>
            <a:pPr algn="l">
              <a:defRPr sz="26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Decida verdadero o falso y justifique:</a:t>
            </a:r>
          </a:p>
          <a:p>
            <a:pPr algn="l">
              <a:defRPr sz="26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1. La materia viaja con la onda.</a:t>
            </a:r>
          </a:p>
          <a:p>
            <a:pPr algn="l">
              <a:defRPr sz="26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2. Una frecuencia mayor siempre se propaga más rápido.</a:t>
            </a:r>
          </a:p>
          <a:p>
            <a:pPr algn="l">
              <a:defRPr sz="26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3. Mayor amplitud siempre significa mayor sonoridad.</a:t>
            </a:r>
          </a:p>
          <a:p>
            <a:pPr algn="l">
              <a:defRPr sz="26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6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4. La sinusoide dibuja la trayectoria de una partícula.</a:t>
            </a:r>
          </a:p>
        </p:txBody>
      </p:sp>
      <p:sp>
        <p:nvSpPr>
          <p:cNvPr id="17" name="U03-003_consigna">
            <a:extLst>
              <a:ext uri="{FF2B5EF4-FFF2-40B4-BE49-F238E27FC236}">
                <a16:creationId xmlns:a16="http://schemas.microsoft.com/office/drawing/2014/main" id="{15B1D9DD-F412-479E-9903-FF8661045C67}"/>
              </a:ext>
            </a:extLst>
          </p:cNvPr>
          <p:cNvSpPr>
            <a:spLocks noGrp="1"/>
          </p:cNvSpPr>
          <p:nvPr/>
        </p:nvSpPr>
        <p:spPr>
          <a:xfrm>
            <a:off x="1714500" y="4905375"/>
            <a:ext cx="8763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defRPr sz="18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lang="es-MX" sz="18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Volveremos a estas cuatro afirmaciones al cerrar la unidad.</a:t>
            </a:r>
            <a:endParaRPr sz="1800" b="1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06-S004" descr="Esquema mixto con título «Lo que ya sabemos sobre equilibrio, elasticidad y gráficos». Dos columnas: “ya podemos usar” y “conviene recuperar”; seno/coseno, f=1/T, equilibrio, F_el=-k_s x, unidades.">
            <a:extLst>
              <a:ext uri="{FF2B5EF4-FFF2-40B4-BE49-F238E27FC236}">
                <a16:creationId xmlns:a16="http://schemas.microsoft.com/office/drawing/2014/main" id="{8FA0C703-4E27-0B5D-497D-230D0DA04CB0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6" name="Título 15">
            <a:extLst>
              <a:ext uri="{FF2B5EF4-FFF2-40B4-BE49-F238E27FC236}">
                <a16:creationId xmlns:a16="http://schemas.microsoft.com/office/drawing/2014/main" id="{3F400882-E536-6293-8F25-E1201F15D0EE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Equilibrio, elasticidad y gráficos: lo que ya sabemos</a:t>
            </a:r>
          </a:p>
        </p:txBody>
      </p:sp>
      <p:sp>
        <p:nvSpPr>
          <p:cNvPr id="19" name="Marcador de número de diapositiva 18">
            <a:extLst>
              <a:ext uri="{FF2B5EF4-FFF2-40B4-BE49-F238E27FC236}">
                <a16:creationId xmlns:a16="http://schemas.microsoft.com/office/drawing/2014/main" id="{3701E013-5363-F7F5-9233-7CB612036904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EFD6AB9A-5F9E-5F59-51AB-3C8734130965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4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u03_U03-004_eyebrow">
            <a:extLst>
              <a:ext uri="{FF2B5EF4-FFF2-40B4-BE49-F238E27FC236}">
                <a16:creationId xmlns:a16="http://schemas.microsoft.com/office/drawing/2014/main" id="{50057479-894E-41EB-8887-9B28644C6D52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APERTURA</a:t>
            </a:r>
          </a:p>
        </p:txBody>
      </p:sp>
      <p:sp>
        <p:nvSpPr>
          <p:cNvPr id="22" name="U03-004_caption">
            <a:extLst>
              <a:ext uri="{FF2B5EF4-FFF2-40B4-BE49-F238E27FC236}">
                <a16:creationId xmlns:a16="http://schemas.microsoft.com/office/drawing/2014/main" id="{27D3DBE3-102F-4C9D-892E-1F942350EAE2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El eje, las unidades, la fuerza restauradora y la lectura de gráficos sostienen toda la unidad.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4">
            <a:extLst>
              <a:ext uri="{FF2B5EF4-FFF2-40B4-BE49-F238E27FC236}">
                <a16:creationId xmlns:a16="http://schemas.microsoft.com/office/drawing/2014/main" id="{FE1B20C0-2CF5-2A6D-C1F9-26F0F97A3547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Qué podremos explicar, leer y calcular</a:t>
            </a:r>
          </a:p>
        </p:txBody>
      </p:sp>
      <p:sp>
        <p:nvSpPr>
          <p:cNvPr id="18" name="Marcador de número de diapositiva 17">
            <a:extLst>
              <a:ext uri="{FF2B5EF4-FFF2-40B4-BE49-F238E27FC236}">
                <a16:creationId xmlns:a16="http://schemas.microsoft.com/office/drawing/2014/main" id="{2DADB7A0-DAED-ABD0-4D66-533872518345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EE5B3003-2C54-13C6-9832-7637201064DE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5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u03_U03-005_eyebrow">
            <a:extLst>
              <a:ext uri="{FF2B5EF4-FFF2-40B4-BE49-F238E27FC236}">
                <a16:creationId xmlns:a16="http://schemas.microsoft.com/office/drawing/2014/main" id="{2AAB96DD-D50B-497A-B8D0-F0E30EC40963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APERTURA</a:t>
            </a:r>
          </a:p>
        </p:txBody>
      </p:sp>
      <p:sp>
        <p:nvSpPr>
          <p:cNvPr id="20" name="U03-005_body">
            <a:extLst>
              <a:ext uri="{FF2B5EF4-FFF2-40B4-BE49-F238E27FC236}">
                <a16:creationId xmlns:a16="http://schemas.microsoft.com/office/drawing/2014/main" id="{2829E6E9-54FA-4FA4-B1CF-FFCF6C8E0115}"/>
              </a:ext>
            </a:extLst>
          </p:cNvPr>
          <p:cNvSpPr>
            <a:spLocks noGrp="1"/>
          </p:cNvSpPr>
          <p:nvPr/>
        </p:nvSpPr>
        <p:spPr>
          <a:xfrm>
            <a:off x="838200" y="1504950"/>
            <a:ext cx="10515600" cy="4448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228600" tIns="171450" rIns="228600" bIns="171450" anchor="ctr">
            <a:noAutofit/>
          </a:bodyPr>
          <a:lstStyle/>
          <a:p>
            <a:pPr algn="l"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Distinguir: oscilación y propagación. </a:t>
            </a:r>
          </a:p>
          <a:p>
            <a:pPr algn="l"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Representar: amplitud, período, frecuencia, fase y longitud de onda. </a:t>
            </a:r>
          </a:p>
          <a:p>
            <a:pPr algn="l"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Calcular: relaciones simples con unidades. </a:t>
            </a:r>
          </a:p>
          <a:p>
            <a:pPr algn="l"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Aplicar: describir un tono desde la fuente hasta el receptor.</a:t>
            </a:r>
          </a:p>
        </p:txBody>
      </p:sp>
    </p:spTree>
    <p:extLst>
      <p:ext uri="{BB962C8B-B14F-4D97-AF65-F5344CB8AC3E}">
        <p14:creationId xmlns:p14="http://schemas.microsoft.com/office/powerpoint/2010/main" val="1561918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02-S006" descr="Diagrama conceptual con título «Del movimiento local a la onda que llega». Nueve etapas: oscilación; MAS; parámetros; sinusoide; parlante; onda viajera; fase; superposición; aplicación.">
            <a:extLst>
              <a:ext uri="{FF2B5EF4-FFF2-40B4-BE49-F238E27FC236}">
                <a16:creationId xmlns:a16="http://schemas.microsoft.com/office/drawing/2014/main" id="{AF193DA2-F46B-3B3D-C1CE-F1E2F681BE9E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24" name="Título 23">
            <a:extLst>
              <a:ext uri="{FF2B5EF4-FFF2-40B4-BE49-F238E27FC236}">
                <a16:creationId xmlns:a16="http://schemas.microsoft.com/office/drawing/2014/main" id="{5328DB21-AD69-BA7D-188D-F8CF0A67A58A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Del movimiento local a la onda que llega</a:t>
            </a:r>
          </a:p>
        </p:txBody>
      </p:sp>
      <p:sp>
        <p:nvSpPr>
          <p:cNvPr id="26" name="Marcador de número de diapositiva 25">
            <a:extLst>
              <a:ext uri="{FF2B5EF4-FFF2-40B4-BE49-F238E27FC236}">
                <a16:creationId xmlns:a16="http://schemas.microsoft.com/office/drawing/2014/main" id="{AB9938E4-BE03-A7BA-4A48-E6E4907240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8C630A04-5A25-9E0C-9436-126091DB86B3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6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u03_U03-006_eyebrow">
            <a:extLst>
              <a:ext uri="{FF2B5EF4-FFF2-40B4-BE49-F238E27FC236}">
                <a16:creationId xmlns:a16="http://schemas.microsoft.com/office/drawing/2014/main" id="{5F364E71-D2F0-4988-AF09-B96CB22762DA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APERTURA</a:t>
            </a:r>
          </a:p>
        </p:txBody>
      </p:sp>
      <p:sp>
        <p:nvSpPr>
          <p:cNvPr id="29" name="U03-006_caption">
            <a:extLst>
              <a:ext uri="{FF2B5EF4-FFF2-40B4-BE49-F238E27FC236}">
                <a16:creationId xmlns:a16="http://schemas.microsoft.com/office/drawing/2014/main" id="{709741AF-6CB9-466C-A576-57FA457239EC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La clase avanza de un oscilador a una descripción temporal y espacial de la propagación.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1271479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BB930E3-E4A7-44EF-B08A-F7893EAB5591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838200" y="2238375"/>
            <a:ext cx="9334500" cy="1047750"/>
          </a:xfrm>
        </p:spPr>
        <p:txBody>
          <a:bodyPr wrap="square" lIns="0" tIns="0" rIns="0" bIns="0" anchor="ctr">
            <a:noAutofit/>
          </a:bodyPr>
          <a:lstStyle/>
          <a:p>
            <a:pPr>
              <a:defRPr sz="43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3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Una parte oscila; la perturbación avanza</a:t>
            </a:r>
          </a:p>
        </p:txBody>
      </p:sp>
      <p:sp>
        <p:nvSpPr>
          <p:cNvPr id="8" name="Subtítulo 7">
            <a:extLst>
              <a:ext uri="{FF2B5EF4-FFF2-40B4-BE49-F238E27FC236}">
                <a16:creationId xmlns:a16="http://schemas.microsoft.com/office/drawing/2014/main" id="{8E526FA8-359B-79C7-0914-E7D02BA2B41C}"/>
              </a:ext>
            </a:extLst>
          </p:cNvPr>
          <p:cNvSpPr>
            <a:spLocks noGrp="1"/>
          </p:cNvSpPr>
          <p:nvPr>
            <p:ph type="subTitle" idx="11"/>
          </p:nvPr>
        </p:nvSpPr>
        <p:spPr>
          <a:xfrm>
            <a:off x="838200" y="3429000"/>
            <a:ext cx="9334500" cy="723900"/>
          </a:xfrm>
        </p:spPr>
        <p:txBody>
          <a:bodyPr wrap="square" lIns="0" tIns="0" rIns="0" bIns="0">
            <a:noAutofit/>
          </a:bodyPr>
          <a:lstStyle/>
          <a:p>
            <a:r>
              <a:t>Movimiento local y propagación son descripciones diferentes del mismo fenómeno ondulatorio.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08C11FF-1310-C67B-A471-A3573013EA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fld id="{D3D7D1C8-AE23-AA48-DF65-C742588DBE47}" type="slidenum">
              <a:rPr sz="112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fld>
            <a:endParaRPr sz="1125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u03_U03-007_eyebrow">
            <a:extLst>
              <a:ext uri="{FF2B5EF4-FFF2-40B4-BE49-F238E27FC236}">
                <a16:creationId xmlns:a16="http://schemas.microsoft.com/office/drawing/2014/main" id="{463C8724-2788-48F9-B1B5-1C68D9639F07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3 · OSCILACIÓN Y ONDA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03-S008" descr="Diagrama conceptual con título «Oscilar es ir y volver alrededor de un equilibrio». Equilibrio, elongación, extremos y retorno; ejemplo de masa–resorte.">
            <a:extLst>
              <a:ext uri="{FF2B5EF4-FFF2-40B4-BE49-F238E27FC236}">
                <a16:creationId xmlns:a16="http://schemas.microsoft.com/office/drawing/2014/main" id="{64698802-02BF-223D-9E5E-E5AEB7BF4FC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F05217D6-0CEE-3D64-7AC1-D204B82D9C46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Oscilar es ir y volver alrededor de un equilibrio</a:t>
            </a:r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12BF3667-16D3-B7A0-EF76-B375EF898D79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BA58DA2A-B818-18A9-29C1-B697728D5BCE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8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u03_U03-008_eyebrow">
            <a:extLst>
              <a:ext uri="{FF2B5EF4-FFF2-40B4-BE49-F238E27FC236}">
                <a16:creationId xmlns:a16="http://schemas.microsoft.com/office/drawing/2014/main" id="{4404AE2B-C1BD-4C16-BA6A-58FE2503B7FC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OSCILACIÓN Y ONDA</a:t>
            </a:r>
          </a:p>
        </p:txBody>
      </p:sp>
      <p:sp>
        <p:nvSpPr>
          <p:cNvPr id="16" name="U03-008_caption">
            <a:extLst>
              <a:ext uri="{FF2B5EF4-FFF2-40B4-BE49-F238E27FC236}">
                <a16:creationId xmlns:a16="http://schemas.microsoft.com/office/drawing/2014/main" id="{C73FEBB8-9F1A-4C35-AC75-AFEEE1395A69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La posición cambia repetidamente alrededor de una referencia; no toda oscilación es armónica.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04-S009" descr="Diagrama conceptual con título «Una interacción vecina transmite la perturbación». Cinco instantes de una cadena de partículas o resortes; frente de perturbación y movimientos locales.">
            <a:extLst>
              <a:ext uri="{FF2B5EF4-FFF2-40B4-BE49-F238E27FC236}">
                <a16:creationId xmlns:a16="http://schemas.microsoft.com/office/drawing/2014/main" id="{891B7D52-AA55-5126-ECCE-5A1312267AC5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25" name="Título 24">
            <a:extLst>
              <a:ext uri="{FF2B5EF4-FFF2-40B4-BE49-F238E27FC236}">
                <a16:creationId xmlns:a16="http://schemas.microsoft.com/office/drawing/2014/main" id="{525270E9-184E-ECA2-9137-57B8EE525650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interacción vecina transmite la perturbación</a:t>
            </a:r>
          </a:p>
        </p:txBody>
      </p:sp>
      <p:sp>
        <p:nvSpPr>
          <p:cNvPr id="28" name="Marcador de número de diapositiva 27">
            <a:extLst>
              <a:ext uri="{FF2B5EF4-FFF2-40B4-BE49-F238E27FC236}">
                <a16:creationId xmlns:a16="http://schemas.microsoft.com/office/drawing/2014/main" id="{7D464FDA-53EB-4C28-9BB9-7238405ABEB4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388657AE-30A1-5A7A-6A7F-315D84436430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9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u03_U03-009_eyebrow">
            <a:extLst>
              <a:ext uri="{FF2B5EF4-FFF2-40B4-BE49-F238E27FC236}">
                <a16:creationId xmlns:a16="http://schemas.microsoft.com/office/drawing/2014/main" id="{18E0BCE1-461F-420F-AAFC-2DD36CAFD428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OSCILACIÓN Y ONDA</a:t>
            </a:r>
          </a:p>
        </p:txBody>
      </p:sp>
      <p:sp>
        <p:nvSpPr>
          <p:cNvPr id="31" name="U03-009_caption">
            <a:extLst>
              <a:ext uri="{FF2B5EF4-FFF2-40B4-BE49-F238E27FC236}">
                <a16:creationId xmlns:a16="http://schemas.microsoft.com/office/drawing/2014/main" id="{1124B970-9090-42FC-8312-0C5033D1856A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Cada región mueve a la siguiente sin trasladarse con el frente.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04-S010" descr="Diagrama conceptual con título «Materia, perturbación y energía no recorren lo mismo». Comparación por trayectoria, alcance y ejemplo; límite explícito sobre transporte neto de materia.">
            <a:extLst>
              <a:ext uri="{FF2B5EF4-FFF2-40B4-BE49-F238E27FC236}">
                <a16:creationId xmlns:a16="http://schemas.microsoft.com/office/drawing/2014/main" id="{4F0A281D-CE1E-9CE9-84AC-82D5F14CA31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6" name="Título 15">
            <a:extLst>
              <a:ext uri="{FF2B5EF4-FFF2-40B4-BE49-F238E27FC236}">
                <a16:creationId xmlns:a16="http://schemas.microsoft.com/office/drawing/2014/main" id="{3F400882-E536-6293-8F25-E1201F15D0EE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Materia, perturbación y energía no recorren lo mismo</a:t>
            </a:r>
          </a:p>
        </p:txBody>
      </p:sp>
      <p:sp>
        <p:nvSpPr>
          <p:cNvPr id="19" name="Marcador de número de diapositiva 18">
            <a:extLst>
              <a:ext uri="{FF2B5EF4-FFF2-40B4-BE49-F238E27FC236}">
                <a16:creationId xmlns:a16="http://schemas.microsoft.com/office/drawing/2014/main" id="{3701E013-5363-F7F5-9233-7CB612036904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DB7BEEEC-A170-5376-2B6E-CB54687B0CB1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10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u03_U03-010_eyebrow">
            <a:extLst>
              <a:ext uri="{FF2B5EF4-FFF2-40B4-BE49-F238E27FC236}">
                <a16:creationId xmlns:a16="http://schemas.microsoft.com/office/drawing/2014/main" id="{7C541FF3-3FB9-4DA5-BE97-151460244F77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OSCILACIÓN Y ONDA</a:t>
            </a:r>
          </a:p>
        </p:txBody>
      </p:sp>
      <p:sp>
        <p:nvSpPr>
          <p:cNvPr id="22" name="U03-010_caption">
            <a:extLst>
              <a:ext uri="{FF2B5EF4-FFF2-40B4-BE49-F238E27FC236}">
                <a16:creationId xmlns:a16="http://schemas.microsoft.com/office/drawing/2014/main" id="{6FCBE09D-9953-4586-8118-BD7595573901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En una onda mecánica la materia oscila localmente mientras la perturbación y la energía se propagan.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05-S011" descr="Diagrama conceptual con título «Una onda mecánica necesita medio e interacción». Definición, tres condiciones y contraste mínimo con el vacío.">
            <a:extLst>
              <a:ext uri="{FF2B5EF4-FFF2-40B4-BE49-F238E27FC236}">
                <a16:creationId xmlns:a16="http://schemas.microsoft.com/office/drawing/2014/main" id="{4EBFCE57-A597-8922-A830-679FA82C679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F05217D6-0CEE-3D64-7AC1-D204B82D9C46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onda mecánica necesita medio e interacción</a:t>
            </a:r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12BF3667-16D3-B7A0-EF76-B375EF898D79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30394428-F1DC-E5F6-DB0C-7DE31F3D8A23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11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u03_U03-011_eyebrow">
            <a:extLst>
              <a:ext uri="{FF2B5EF4-FFF2-40B4-BE49-F238E27FC236}">
                <a16:creationId xmlns:a16="http://schemas.microsoft.com/office/drawing/2014/main" id="{5AE8234A-DAFD-4C88-AA41-9CB9E03708F2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OSCILACIÓN Y ONDA</a:t>
            </a:r>
          </a:p>
        </p:txBody>
      </p:sp>
      <p:sp>
        <p:nvSpPr>
          <p:cNvPr id="16" name="U03-011_caption">
            <a:extLst>
              <a:ext uri="{FF2B5EF4-FFF2-40B4-BE49-F238E27FC236}">
                <a16:creationId xmlns:a16="http://schemas.microsoft.com/office/drawing/2014/main" id="{3FEDBEB4-E3EC-4966-B597-E756A32BECBF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Sin medio material no hay onda sonora mecánica.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05-S012" descr="Diagrama conceptual con título «Longitudinal y transversal: dos direcciones para comparar». Dos casos con flecha de propagación y flechas de desplazamiento; aire y cuerda como ejemplos.">
            <a:extLst>
              <a:ext uri="{FF2B5EF4-FFF2-40B4-BE49-F238E27FC236}">
                <a16:creationId xmlns:a16="http://schemas.microsoft.com/office/drawing/2014/main" id="{BEBD5795-8E7A-D445-2535-16D922971A3D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6" name="Título 15">
            <a:extLst>
              <a:ext uri="{FF2B5EF4-FFF2-40B4-BE49-F238E27FC236}">
                <a16:creationId xmlns:a16="http://schemas.microsoft.com/office/drawing/2014/main" id="{3F400882-E536-6293-8F25-E1201F15D0EE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Longitudinal y transversal: dos direcciones</a:t>
            </a:r>
          </a:p>
        </p:txBody>
      </p:sp>
      <p:sp>
        <p:nvSpPr>
          <p:cNvPr id="19" name="Marcador de número de diapositiva 18">
            <a:extLst>
              <a:ext uri="{FF2B5EF4-FFF2-40B4-BE49-F238E27FC236}">
                <a16:creationId xmlns:a16="http://schemas.microsoft.com/office/drawing/2014/main" id="{3701E013-5363-F7F5-9233-7CB612036904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4DB16885-0D3F-A391-B669-3211DB3B26E8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12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u03_U03-012_eyebrow">
            <a:extLst>
              <a:ext uri="{FF2B5EF4-FFF2-40B4-BE49-F238E27FC236}">
                <a16:creationId xmlns:a16="http://schemas.microsoft.com/office/drawing/2014/main" id="{C2A24AE8-85B0-4174-B294-DA73CD0AD4EB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OSCILACIÓN Y ONDA</a:t>
            </a:r>
          </a:p>
        </p:txBody>
      </p:sp>
      <p:sp>
        <p:nvSpPr>
          <p:cNvPr id="22" name="U03-012_caption">
            <a:extLst>
              <a:ext uri="{FF2B5EF4-FFF2-40B4-BE49-F238E27FC236}">
                <a16:creationId xmlns:a16="http://schemas.microsoft.com/office/drawing/2014/main" id="{6D1EB02D-5E1C-4F4B-A4E3-9EF6FEE269D7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La clasificación depende de la orientación del movimiento local respecto del avance.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FDEFA639-BD38-F6AB-B29B-B977F08744DD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resorte permite ver movimiento local y frente</a:t>
            </a:r>
          </a:p>
        </p:txBody>
      </p:sp>
      <p:sp>
        <p:nvSpPr>
          <p:cNvPr id="15" name="Marcador de número de diapositiva 14">
            <a:extLst>
              <a:ext uri="{FF2B5EF4-FFF2-40B4-BE49-F238E27FC236}">
                <a16:creationId xmlns:a16="http://schemas.microsoft.com/office/drawing/2014/main" id="{817719D9-501B-28AD-B78E-917C652F4997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2DD23107-4986-8758-3A93-3D74F35908CC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13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u03_U03-013_eyebrow">
            <a:extLst>
              <a:ext uri="{FF2B5EF4-FFF2-40B4-BE49-F238E27FC236}">
                <a16:creationId xmlns:a16="http://schemas.microsoft.com/office/drawing/2014/main" id="{5445D89D-F6AB-4D8A-B475-20A3954596BD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OSCILACIÓN Y ONDA</a:t>
            </a:r>
          </a:p>
        </p:txBody>
      </p:sp>
      <p:sp>
        <p:nvSpPr>
          <p:cNvPr id="17" name="U03-013_media_fallback">
            <a:extLst>
              <a:ext uri="{FF2B5EF4-FFF2-40B4-BE49-F238E27FC236}">
                <a16:creationId xmlns:a16="http://schemas.microsoft.com/office/drawing/2014/main" id="{8F89B155-71CF-40C5-AB99-36B1FB014E95}"/>
              </a:ext>
            </a:extLst>
          </p:cNvPr>
          <p:cNvSpPr>
            <a:spLocks noGrp="1"/>
          </p:cNvSpPr>
          <p:nvPr/>
        </p:nvSpPr>
        <p:spPr>
          <a:xfrm>
            <a:off x="1143000" y="1666875"/>
            <a:ext cx="9906000" cy="3143250"/>
          </a:xfrm>
          <a:prstGeom prst="rect">
            <a:avLst/>
          </a:prstGeom>
          <a:solidFill>
            <a:srgbClr val="E8F3F3"/>
          </a:solidFill>
          <a:ln w="19050">
            <a:solidFill>
              <a:srgbClr val="2F7E83"/>
            </a:solidFill>
            <a:prstDash val="solid"/>
          </a:ln>
        </p:spPr>
        <p:txBody>
          <a:bodyPr wrap="square" lIns="304800" tIns="228600" rIns="304800" bIns="228600" anchor="ctr">
            <a:noAutofit/>
          </a:bodyPr>
          <a:lstStyle/>
          <a:p>
            <a:pPr algn="ctr">
              <a:defRPr sz="23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lang="es-MX" sz="23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Demostración con resorte y una espira marcada</a:t>
            </a:r>
          </a:p>
          <a:p>
            <a:pPr algn="ctr">
              <a:defRPr sz="23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endParaRPr lang="es-MX" sz="2325" b="0">
              <a:solidFill>
                <a:srgbClr val="3D3D3D"/>
              </a:solidFill>
              <a:latin typeface="Calibri"/>
              <a:ea typeface="Calibri"/>
              <a:cs typeface="Calibri"/>
            </a:endParaRPr>
          </a:p>
          <a:p>
            <a:pPr algn="ctr">
              <a:defRPr sz="23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lang="es-MX" sz="23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Observe qué se desplaza y qué regresa. Compare el movimiento local con el avance de la perturbación.</a:t>
            </a:r>
            <a:endParaRPr sz="2325" b="0">
              <a:solidFill>
                <a:srgbClr val="3D3D3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U03-013_media_status">
            <a:extLst>
              <a:ext uri="{FF2B5EF4-FFF2-40B4-BE49-F238E27FC236}">
                <a16:creationId xmlns:a16="http://schemas.microsoft.com/office/drawing/2014/main" id="{7D5EECDF-7277-461B-9381-FE348CD2CE95}"/>
              </a:ext>
            </a:extLst>
          </p:cNvPr>
          <p:cNvSpPr>
            <a:spLocks noGrp="1"/>
          </p:cNvSpPr>
          <p:nvPr/>
        </p:nvSpPr>
        <p:spPr>
          <a:xfrm>
            <a:off x="1524000" y="5048250"/>
            <a:ext cx="914400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38100" rIns="76200" bIns="38100" anchor="ctr">
            <a:noAutofit/>
          </a:bodyPr>
          <a:lstStyle/>
          <a:p>
            <a:pPr algn="ctr">
              <a:defRPr sz="1650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lang="es-MX" sz="1650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Si no se dispone del resorte, use la secuencia estática y siga por separado la marca y el frente.</a:t>
            </a:r>
            <a:endParaRPr sz="1650" b="0">
              <a:solidFill>
                <a:srgbClr val="68737D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46213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04-S014" descr="Diagrama conceptual con título «Si la marca vuelve, ¿la onda también volvió?». Secuencia de cuatro estados y opciones razonadas sobre marca, frente y energía.">
            <a:extLst>
              <a:ext uri="{FF2B5EF4-FFF2-40B4-BE49-F238E27FC236}">
                <a16:creationId xmlns:a16="http://schemas.microsoft.com/office/drawing/2014/main" id="{1F92B709-9956-4E33-3A96-59AB2B578E6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1" name="Título 10">
            <a:extLst>
              <a:ext uri="{FF2B5EF4-FFF2-40B4-BE49-F238E27FC236}">
                <a16:creationId xmlns:a16="http://schemas.microsoft.com/office/drawing/2014/main" id="{8518341A-3BB2-613E-8B5C-0FCDB876E026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Si la marca vuelve, ¿la onda también volvió?</a:t>
            </a:r>
          </a:p>
        </p:txBody>
      </p:sp>
      <p:sp>
        <p:nvSpPr>
          <p:cNvPr id="14" name="Marcador de número de diapositiva 13">
            <a:extLst>
              <a:ext uri="{FF2B5EF4-FFF2-40B4-BE49-F238E27FC236}">
                <a16:creationId xmlns:a16="http://schemas.microsoft.com/office/drawing/2014/main" id="{6F0E431F-4E1E-5064-2E0C-9F4C713D3097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327921A4-25C4-3DB4-06B1-32693CEE2241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14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u03_U03-014_eyebrow">
            <a:extLst>
              <a:ext uri="{FF2B5EF4-FFF2-40B4-BE49-F238E27FC236}">
                <a16:creationId xmlns:a16="http://schemas.microsoft.com/office/drawing/2014/main" id="{F6D154B6-B9D3-45C7-BA83-353961CA392B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OSCILACIÓN Y ONDA</a:t>
            </a:r>
          </a:p>
        </p:txBody>
      </p:sp>
      <p:sp>
        <p:nvSpPr>
          <p:cNvPr id="17" name="U03-014_caption">
            <a:extLst>
              <a:ext uri="{FF2B5EF4-FFF2-40B4-BE49-F238E27FC236}">
                <a16:creationId xmlns:a16="http://schemas.microsoft.com/office/drawing/2014/main" id="{077B9379-E2BC-4277-A48B-1B75C7A69A20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La posición final de una región no informa por sí sola la posición del frente.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01-S015" descr="Diagrama conceptual con título «Fuente y receptor también oscilan localmente». Esquema fuente–medio–receptor con movimiento local en extremos y propagación en el medio; límites del modelo.">
            <a:extLst>
              <a:ext uri="{FF2B5EF4-FFF2-40B4-BE49-F238E27FC236}">
                <a16:creationId xmlns:a16="http://schemas.microsoft.com/office/drawing/2014/main" id="{21A19D67-3222-4C09-2119-80D14B8AC49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2" name="Título 11">
            <a:extLst>
              <a:ext uri="{FF2B5EF4-FFF2-40B4-BE49-F238E27FC236}">
                <a16:creationId xmlns:a16="http://schemas.microsoft.com/office/drawing/2014/main" id="{52D556C6-6749-974D-FE00-053FCFC91002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Fuente y receptor también oscilan localmente</a:t>
            </a:r>
          </a:p>
        </p:txBody>
      </p:sp>
      <p:sp>
        <p:nvSpPr>
          <p:cNvPr id="15" name="Marcador de número de diapositiva 14">
            <a:extLst>
              <a:ext uri="{FF2B5EF4-FFF2-40B4-BE49-F238E27FC236}">
                <a16:creationId xmlns:a16="http://schemas.microsoft.com/office/drawing/2014/main" id="{8DADC982-ECBE-DC77-CD69-BF0C0D93F5BB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EA83FA91-883A-0168-8075-96CEB9DCA3C2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15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u03_U03-015_eyebrow">
            <a:extLst>
              <a:ext uri="{FF2B5EF4-FFF2-40B4-BE49-F238E27FC236}">
                <a16:creationId xmlns:a16="http://schemas.microsoft.com/office/drawing/2014/main" id="{FDCC5D9E-1548-4BEC-A29B-F5EF430A07A8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OSCILACIÓN Y ONDA</a:t>
            </a:r>
          </a:p>
        </p:txBody>
      </p:sp>
      <p:sp>
        <p:nvSpPr>
          <p:cNvPr id="18" name="U03-015_caption">
            <a:extLst>
              <a:ext uri="{FF2B5EF4-FFF2-40B4-BE49-F238E27FC236}">
                <a16:creationId xmlns:a16="http://schemas.microsoft.com/office/drawing/2014/main" id="{C7921A4D-7627-45AC-A482-7F82367A7C63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Pliegues vocales, aire y estructuras receptoras cumplen funciones distintas dentro de una cadena.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02-S016" descr="Diagrama conceptual con título «Hasta acá: qué oscila y qué se propaga». Cuatro preguntas de lectura y retorno al mapa de clase.">
            <a:extLst>
              <a:ext uri="{FF2B5EF4-FFF2-40B4-BE49-F238E27FC236}">
                <a16:creationId xmlns:a16="http://schemas.microsoft.com/office/drawing/2014/main" id="{4F4FAD0A-1122-38D4-DB62-E5A56C1323E4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7" name="Título 16">
            <a:extLst>
              <a:ext uri="{FF2B5EF4-FFF2-40B4-BE49-F238E27FC236}">
                <a16:creationId xmlns:a16="http://schemas.microsoft.com/office/drawing/2014/main" id="{C12ACA3A-68E6-5C6E-E9AB-8D78B9E1C4FD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Hasta acá: qué oscila y qué se propaga</a:t>
            </a:r>
          </a:p>
        </p:txBody>
      </p:sp>
      <p:sp>
        <p:nvSpPr>
          <p:cNvPr id="20" name="Marcador de número de diapositiva 19">
            <a:extLst>
              <a:ext uri="{FF2B5EF4-FFF2-40B4-BE49-F238E27FC236}">
                <a16:creationId xmlns:a16="http://schemas.microsoft.com/office/drawing/2014/main" id="{18081493-A553-AC13-4BA5-17CFA71BB2B5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DC9C7607-4BA3-B4DC-A00F-2E67A9FCFF7E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16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u03_U03-016_eyebrow">
            <a:extLst>
              <a:ext uri="{FF2B5EF4-FFF2-40B4-BE49-F238E27FC236}">
                <a16:creationId xmlns:a16="http://schemas.microsoft.com/office/drawing/2014/main" id="{7C6AC4DA-55E4-463E-B759-8BAF2FA460D3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OSCILACIÓN Y ONDA</a:t>
            </a:r>
          </a:p>
        </p:txBody>
      </p:sp>
      <p:sp>
        <p:nvSpPr>
          <p:cNvPr id="23" name="U03-016_caption">
            <a:extLst>
              <a:ext uri="{FF2B5EF4-FFF2-40B4-BE49-F238E27FC236}">
                <a16:creationId xmlns:a16="http://schemas.microsoft.com/office/drawing/2014/main" id="{CF51F21E-9043-482A-B9BA-5F238FB0D20C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Antes de usar fórmulas hay que identificar sistema, variable local, medio y dirección de avance.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BB930E3-E4A7-44EF-B08A-F7893EAB5591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838200" y="2238375"/>
            <a:ext cx="9334500" cy="1047750"/>
          </a:xfrm>
        </p:spPr>
        <p:txBody>
          <a:bodyPr wrap="square" lIns="0" tIns="0" rIns="0" bIns="0" anchor="ctr">
            <a:noAutofit/>
          </a:bodyPr>
          <a:lstStyle/>
          <a:p>
            <a:pPr>
              <a:defRPr sz="43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3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Un modelo simple para una oscilación regular</a:t>
            </a:r>
          </a:p>
        </p:txBody>
      </p:sp>
      <p:sp>
        <p:nvSpPr>
          <p:cNvPr id="8" name="Subtítulo 7">
            <a:extLst>
              <a:ext uri="{FF2B5EF4-FFF2-40B4-BE49-F238E27FC236}">
                <a16:creationId xmlns:a16="http://schemas.microsoft.com/office/drawing/2014/main" id="{8E526FA8-359B-79C7-0914-E7D02BA2B41C}"/>
              </a:ext>
            </a:extLst>
          </p:cNvPr>
          <p:cNvSpPr>
            <a:spLocks noGrp="1"/>
          </p:cNvSpPr>
          <p:nvPr>
            <p:ph type="subTitle" idx="11"/>
          </p:nvPr>
        </p:nvSpPr>
        <p:spPr>
          <a:xfrm>
            <a:off x="838200" y="3429000"/>
            <a:ext cx="9334500" cy="723900"/>
          </a:xfrm>
        </p:spPr>
        <p:txBody>
          <a:bodyPr wrap="square" lIns="0" tIns="0" rIns="0" bIns="0">
            <a:noAutofit/>
          </a:bodyPr>
          <a:lstStyle/>
          <a:p>
            <a:r>
              <a:t>El MAS idealiza el retorno al equilibrio y permite predecir la evolución.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08C11FF-1310-C67B-A471-A3573013EA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fld id="{90F7333B-44AC-F7E9-D49D-FE92F45E0477}" type="slidenum">
              <a:rPr sz="112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17</a:t>
            </a:fld>
            <a:endParaRPr sz="1125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u03_U03-017_eyebrow">
            <a:extLst>
              <a:ext uri="{FF2B5EF4-FFF2-40B4-BE49-F238E27FC236}">
                <a16:creationId xmlns:a16="http://schemas.microsoft.com/office/drawing/2014/main" id="{E153372D-3C77-4FEB-AA5E-EE3DEF864CFF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3 · MOVIMIENTO ARMÓNICO SIMPLE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06-S018" descr="Diagrama conceptual con título «El MAS combina inercia y fuerza restauradora lineal». Sistema masa–resorte, equilibrio, desplazamiento y condiciones: linealidad, sin rozamiento y sin excitación externa.">
            <a:extLst>
              <a:ext uri="{FF2B5EF4-FFF2-40B4-BE49-F238E27FC236}">
                <a16:creationId xmlns:a16="http://schemas.microsoft.com/office/drawing/2014/main" id="{E9AC3CC6-E77B-5A5B-472D-544F2CA7CBE0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F05217D6-0CEE-3D64-7AC1-D204B82D9C46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MAS combina inercia y fuerza restauradora lineal</a:t>
            </a:r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12BF3667-16D3-B7A0-EF76-B375EF898D79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B1C6C81E-38B9-7560-621D-5A151A79DF9B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18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u03_U03-018_eyebrow">
            <a:extLst>
              <a:ext uri="{FF2B5EF4-FFF2-40B4-BE49-F238E27FC236}">
                <a16:creationId xmlns:a16="http://schemas.microsoft.com/office/drawing/2014/main" id="{A8967BB4-54EE-461E-A45F-C4ACADDD34C0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MOVIMIENTO ARMÓNICO SIMPLE</a:t>
            </a:r>
          </a:p>
        </p:txBody>
      </p:sp>
      <p:sp>
        <p:nvSpPr>
          <p:cNvPr id="16" name="U03-018_caption">
            <a:extLst>
              <a:ext uri="{FF2B5EF4-FFF2-40B4-BE49-F238E27FC236}">
                <a16:creationId xmlns:a16="http://schemas.microsoft.com/office/drawing/2014/main" id="{F30D113D-4C2E-4FED-9055-6FCEA4ACE778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Un cuerpo oscila armónicamente cuando la fuerza neta es proporcional y opuesta a su desplazamiento, bajo hipótesis ideales.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06-S019" descr="Ecuación anotada con título «La fuerza restauradora apunta hacia el equilibrio». ma=-k_s x; símbolos, unidades y dos posiciones con aceleraciones opuestas.">
            <a:extLst>
              <a:ext uri="{FF2B5EF4-FFF2-40B4-BE49-F238E27FC236}">
                <a16:creationId xmlns:a16="http://schemas.microsoft.com/office/drawing/2014/main" id="{913882D7-547B-EB9A-EC28-6FABA2CB9F5F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FAF2A3BF-104E-8B53-38D4-5730F463E9CC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fuerza restauradora apunta hacia el equilibrio</a:t>
            </a:r>
          </a:p>
        </p:txBody>
      </p:sp>
      <p:sp>
        <p:nvSpPr>
          <p:cNvPr id="18" name="Marcador de número de diapositiva 17">
            <a:extLst>
              <a:ext uri="{FF2B5EF4-FFF2-40B4-BE49-F238E27FC236}">
                <a16:creationId xmlns:a16="http://schemas.microsoft.com/office/drawing/2014/main" id="{FA71A55B-B389-7001-A9E1-319E4426EE2D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CCF91274-D221-1BB4-3BF9-836E3AD31EBE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19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u03_U03-019_eyebrow">
            <a:extLst>
              <a:ext uri="{FF2B5EF4-FFF2-40B4-BE49-F238E27FC236}">
                <a16:creationId xmlns:a16="http://schemas.microsoft.com/office/drawing/2014/main" id="{EBAE50BE-90FE-45A8-84E9-A71AA1C6F116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MOVIMIENTO ARMÓNICO SIMPLE</a:t>
            </a:r>
          </a:p>
        </p:txBody>
      </p:sp>
      <p:sp>
        <p:nvSpPr>
          <p:cNvPr id="21" name="U03-019_caption">
            <a:extLst>
              <a:ext uri="{FF2B5EF4-FFF2-40B4-BE49-F238E27FC236}">
                <a16:creationId xmlns:a16="http://schemas.microsoft.com/office/drawing/2014/main" id="{1BAADE99-C93A-4531-A61B-14BD3AD9B9F2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El signo menos expresa dirección de retorno, no una fuerza “negativa” en valor absoluto.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03-S020" descr="Diagrama conceptual con título «Un ciclo recorre extremos, equilibrio y regreso». Cinco estados: extremo positivo, equilibrio, extremo negativo, equilibrio y retorno; flechas de velocidad y aceleración cualitativas.">
            <a:extLst>
              <a:ext uri="{FF2B5EF4-FFF2-40B4-BE49-F238E27FC236}">
                <a16:creationId xmlns:a16="http://schemas.microsoft.com/office/drawing/2014/main" id="{4C1C7958-912E-FA24-EBDA-3276023F3301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25" name="Título 24">
            <a:extLst>
              <a:ext uri="{FF2B5EF4-FFF2-40B4-BE49-F238E27FC236}">
                <a16:creationId xmlns:a16="http://schemas.microsoft.com/office/drawing/2014/main" id="{525270E9-184E-ECA2-9137-57B8EE525650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ciclo recorre extremos, equilibrio y regreso</a:t>
            </a:r>
          </a:p>
        </p:txBody>
      </p:sp>
      <p:sp>
        <p:nvSpPr>
          <p:cNvPr id="28" name="Marcador de número de diapositiva 27">
            <a:extLst>
              <a:ext uri="{FF2B5EF4-FFF2-40B4-BE49-F238E27FC236}">
                <a16:creationId xmlns:a16="http://schemas.microsoft.com/office/drawing/2014/main" id="{7D464FDA-53EB-4C28-9BB9-7238405ABEB4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844E025A-983C-6D44-79C6-4612AACD43FC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20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u03_U03-020_eyebrow">
            <a:extLst>
              <a:ext uri="{FF2B5EF4-FFF2-40B4-BE49-F238E27FC236}">
                <a16:creationId xmlns:a16="http://schemas.microsoft.com/office/drawing/2014/main" id="{12983856-0C39-4428-AD31-52959056A5AE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MOVIMIENTO ARMÓNICO SIMPLE</a:t>
            </a:r>
          </a:p>
        </p:txBody>
      </p:sp>
      <p:sp>
        <p:nvSpPr>
          <p:cNvPr id="31" name="U03-020_caption">
            <a:extLst>
              <a:ext uri="{FF2B5EF4-FFF2-40B4-BE49-F238E27FC236}">
                <a16:creationId xmlns:a16="http://schemas.microsoft.com/office/drawing/2014/main" id="{40649448-FB28-4A75-AB05-487B5DA21E26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El estado se repite solo después de recuperar posición y sentido de movimiento.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03-S021" descr="Diagrama conceptual con título «La amplitud mide el máximo alejamiento». A_x como máximo del valor absoluto de x; equilibrio, extremos, unidad de desplazamiento; distinción de valor instantáneo.">
            <a:extLst>
              <a:ext uri="{FF2B5EF4-FFF2-40B4-BE49-F238E27FC236}">
                <a16:creationId xmlns:a16="http://schemas.microsoft.com/office/drawing/2014/main" id="{4F8A8490-A094-7899-75A9-6AB767A020B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F05217D6-0CEE-3D64-7AC1-D204B82D9C46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amplitud mide el máximo alejamiento</a:t>
            </a:r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12BF3667-16D3-B7A0-EF76-B375EF898D79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F6DF2BE2-2DFA-1C03-677D-BDC2260D6D92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21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u03_U03-021_eyebrow">
            <a:extLst>
              <a:ext uri="{FF2B5EF4-FFF2-40B4-BE49-F238E27FC236}">
                <a16:creationId xmlns:a16="http://schemas.microsoft.com/office/drawing/2014/main" id="{8243BA32-21A6-446A-899F-2AEE6C2574F1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MOVIMIENTO ARMÓNICO SIMPLE</a:t>
            </a:r>
          </a:p>
        </p:txBody>
      </p:sp>
      <p:sp>
        <p:nvSpPr>
          <p:cNvPr id="16" name="U03-021_caption">
            <a:extLst>
              <a:ext uri="{FF2B5EF4-FFF2-40B4-BE49-F238E27FC236}">
                <a16:creationId xmlns:a16="http://schemas.microsoft.com/office/drawing/2014/main" id="{D4E12D2E-2078-4513-AD4B-C0DAD982355B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La amplitud pertenece a una magnitud concreta y es no negativa.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CH001" descr="Gráfico cuantitativo con título «El período es el tiempo de un ciclo completo». Definición, unidad s y marcas correctas/incorrectas sobre una señal temporal.">
            <a:extLst>
              <a:ext uri="{FF2B5EF4-FFF2-40B4-BE49-F238E27FC236}">
                <a16:creationId xmlns:a16="http://schemas.microsoft.com/office/drawing/2014/main" id="{8C81ADC8-7FE2-5ABB-A45A-F5437FC741D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F05217D6-0CEE-3D64-7AC1-D204B82D9C46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período es el tiempo de un ciclo completo</a:t>
            </a:r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12BF3667-16D3-B7A0-EF76-B375EF898D79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0BB18BA8-60F4-C50D-CD9B-1BB87D3E8506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22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u03_U03-022_eyebrow">
            <a:extLst>
              <a:ext uri="{FF2B5EF4-FFF2-40B4-BE49-F238E27FC236}">
                <a16:creationId xmlns:a16="http://schemas.microsoft.com/office/drawing/2014/main" id="{F3D44542-2A02-4F1D-9EE8-6C7240BFF610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MOVIMIENTO ARMÓNICO SIMPLE</a:t>
            </a:r>
          </a:p>
        </p:txBody>
      </p:sp>
      <p:sp>
        <p:nvSpPr>
          <p:cNvPr id="16" name="U03-022_caption">
            <a:extLst>
              <a:ext uri="{FF2B5EF4-FFF2-40B4-BE49-F238E27FC236}">
                <a16:creationId xmlns:a16="http://schemas.microsoft.com/office/drawing/2014/main" id="{01EC95D5-F436-4305-AFCD-80FB0341EABB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El período se mide entre dos estados equivalentes consecutivos. · Gráfico propio reproducible.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CH001" descr="Gráfico cuantitativo con título «La frecuencia cuenta ciclos por unidad de tiempo». Definición, unidad Hz = s⁻¹ y comparación visual de igual duración con distinto número de ciclos.">
            <a:extLst>
              <a:ext uri="{FF2B5EF4-FFF2-40B4-BE49-F238E27FC236}">
                <a16:creationId xmlns:a16="http://schemas.microsoft.com/office/drawing/2014/main" id="{1BC67699-F04C-7334-F8B1-1A5B5F2B8A85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6" name="Título 15">
            <a:extLst>
              <a:ext uri="{FF2B5EF4-FFF2-40B4-BE49-F238E27FC236}">
                <a16:creationId xmlns:a16="http://schemas.microsoft.com/office/drawing/2014/main" id="{3F400882-E536-6293-8F25-E1201F15D0EE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frecuencia cuenta ciclos por unidad de tiempo</a:t>
            </a:r>
          </a:p>
        </p:txBody>
      </p:sp>
      <p:sp>
        <p:nvSpPr>
          <p:cNvPr id="19" name="Marcador de número de diapositiva 18">
            <a:extLst>
              <a:ext uri="{FF2B5EF4-FFF2-40B4-BE49-F238E27FC236}">
                <a16:creationId xmlns:a16="http://schemas.microsoft.com/office/drawing/2014/main" id="{3701E013-5363-F7F5-9233-7CB612036904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A4E99CEF-AF55-BA3C-ADF8-4E52E186DD8F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23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u03_U03-023_eyebrow">
            <a:extLst>
              <a:ext uri="{FF2B5EF4-FFF2-40B4-BE49-F238E27FC236}">
                <a16:creationId xmlns:a16="http://schemas.microsoft.com/office/drawing/2014/main" id="{B1CC6E5B-0BC7-44CB-9D7A-6F58DA23CC1B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MOVIMIENTO ARMÓNICO SIMPLE</a:t>
            </a:r>
          </a:p>
        </p:txBody>
      </p:sp>
      <p:sp>
        <p:nvSpPr>
          <p:cNvPr id="22" name="U03-023_caption">
            <a:extLst>
              <a:ext uri="{FF2B5EF4-FFF2-40B4-BE49-F238E27FC236}">
                <a16:creationId xmlns:a16="http://schemas.microsoft.com/office/drawing/2014/main" id="{ACEF0E74-8052-4459-8BBA-C4D0188CD61D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1 Hz equivale a un ciclo por segundo. · Gráfico propio reproducible.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25-S024" descr="Ecuación anotada con título «Frecuencia y período son recíprocos». f=1/T y T=1/f; símbolos, unidades y lectura causal limitada.">
            <a:extLst>
              <a:ext uri="{FF2B5EF4-FFF2-40B4-BE49-F238E27FC236}">
                <a16:creationId xmlns:a16="http://schemas.microsoft.com/office/drawing/2014/main" id="{6D13F137-B072-EACD-6A29-CC0DB97734E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FAF2A3BF-104E-8B53-38D4-5730F463E9CC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Frecuencia y período son recíprocos</a:t>
            </a:r>
          </a:p>
        </p:txBody>
      </p:sp>
      <p:sp>
        <p:nvSpPr>
          <p:cNvPr id="18" name="Marcador de número de diapositiva 17">
            <a:extLst>
              <a:ext uri="{FF2B5EF4-FFF2-40B4-BE49-F238E27FC236}">
                <a16:creationId xmlns:a16="http://schemas.microsoft.com/office/drawing/2014/main" id="{FA71A55B-B389-7001-A9E1-319E4426EE2D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4A59AF09-D197-0193-A7DE-FAAF0B691058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24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u03_U03-024_eyebrow">
            <a:extLst>
              <a:ext uri="{FF2B5EF4-FFF2-40B4-BE49-F238E27FC236}">
                <a16:creationId xmlns:a16="http://schemas.microsoft.com/office/drawing/2014/main" id="{4B3AA737-F7E5-4E46-A56B-543F20A40D32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MOVIMIENTO ARMÓNICO SIMPLE</a:t>
            </a:r>
          </a:p>
        </p:txBody>
      </p:sp>
      <p:sp>
        <p:nvSpPr>
          <p:cNvPr id="21" name="U03-024_caption">
            <a:extLst>
              <a:ext uri="{FF2B5EF4-FFF2-40B4-BE49-F238E27FC236}">
                <a16:creationId xmlns:a16="http://schemas.microsoft.com/office/drawing/2014/main" id="{62FB573F-21F8-45AB-B35A-3FD63F8E1DF1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Más ciclos por segundo implican menos tiempo por ciclo.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ítulo 20">
            <a:extLst>
              <a:ext uri="{FF2B5EF4-FFF2-40B4-BE49-F238E27FC236}">
                <a16:creationId xmlns:a16="http://schemas.microsoft.com/office/drawing/2014/main" id="{BFAACB0A-B001-9EF5-E20D-72DCFAB8AD76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2 ms por ciclo a 500 Hz</a:t>
            </a:r>
          </a:p>
        </p:txBody>
      </p:sp>
      <p:sp>
        <p:nvSpPr>
          <p:cNvPr id="24" name="Marcador de número de diapositiva 23">
            <a:extLst>
              <a:ext uri="{FF2B5EF4-FFF2-40B4-BE49-F238E27FC236}">
                <a16:creationId xmlns:a16="http://schemas.microsoft.com/office/drawing/2014/main" id="{D4631810-29E2-3802-8D4E-7DEAB08103EF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F3AE1AE4-D79E-94D6-E825-3FC6C21A77D2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25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" name="u03_U03-025_eyebrow">
            <a:extLst>
              <a:ext uri="{FF2B5EF4-FFF2-40B4-BE49-F238E27FC236}">
                <a16:creationId xmlns:a16="http://schemas.microsoft.com/office/drawing/2014/main" id="{C939F02B-C0E0-498B-8F75-67FFBD841C9C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MOVIMIENTO ARMÓNICO SIMPLE</a:t>
            </a:r>
          </a:p>
        </p:txBody>
      </p:sp>
      <p:sp>
        <p:nvSpPr>
          <p:cNvPr id="26" name="U03-025_equation">
            <a:extLst>
              <a:ext uri="{FF2B5EF4-FFF2-40B4-BE49-F238E27FC236}">
                <a16:creationId xmlns:a16="http://schemas.microsoft.com/office/drawing/2014/main" id="{8C1C4AA6-6630-44FD-B5E4-572982E8A55F}"/>
              </a:ext>
            </a:extLst>
          </p:cNvPr>
          <p:cNvSpPr>
            <a:spLocks noGrp="1"/>
          </p:cNvSpPr>
          <p:nvPr/>
        </p:nvSpPr>
        <p:spPr>
          <a:xfrm>
            <a:off x="762000" y="1504950"/>
            <a:ext cx="10668000" cy="914400"/>
          </a:xfrm>
          <a:prstGeom prst="rect">
            <a:avLst/>
          </a:prstGeom>
          <a:solidFill>
            <a:srgbClr val="F7F6F2"/>
          </a:solidFill>
          <a:ln w="9525">
            <a:solidFill>
              <a:srgbClr val="D9DDE0"/>
            </a:solidFill>
            <a:prstDash val="solid"/>
          </a:ln>
        </p:spPr>
        <p:txBody>
          <a:bodyPr wrap="square" lIns="171450" tIns="95250" rIns="171450" bIns="95250" anchor="ctr">
            <a:noAutofit/>
          </a:bodyPr>
          <a:lstStyle/>
          <a:p>
            <a:pPr algn="ctr">
              <a:defRPr sz="31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defRPr>
            </a:pPr>
            <a:r>
              <a:rPr sz="3150" b="0">
                <a:solidFill>
                  <a:srgbClr val="4D1434"/>
                </a:solidFill>
                <a:latin typeface="Cambria Math"/>
                <a:ea typeface="Cambria Math"/>
                <a:cs typeface="Cambria Math"/>
              </a:rPr>
              <a:t>T=2 ms=2×10⁻³ s; f=1/T=500 Hz.</a:t>
            </a:r>
          </a:p>
        </p:txBody>
      </p:sp>
      <p:sp>
        <p:nvSpPr>
          <p:cNvPr id="27" name="U03-025_body">
            <a:extLst>
              <a:ext uri="{FF2B5EF4-FFF2-40B4-BE49-F238E27FC236}">
                <a16:creationId xmlns:a16="http://schemas.microsoft.com/office/drawing/2014/main" id="{21A70A94-DBEF-4BED-BF5C-643D581275C0}"/>
              </a:ext>
            </a:extLst>
          </p:cNvPr>
          <p:cNvSpPr>
            <a:spLocks noGrp="1"/>
          </p:cNvSpPr>
          <p:nvPr/>
        </p:nvSpPr>
        <p:spPr>
          <a:xfrm>
            <a:off x="838200" y="2609850"/>
            <a:ext cx="10515600" cy="33432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228600" tIns="171450" rIns="228600" bIns="171450" anchor="ctr">
            <a:noAutofit/>
          </a:bodyPr>
          <a:lstStyle/>
          <a:p>
            <a:pPr algn="l"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Datos: T=2 ms. </a:t>
            </a:r>
          </a:p>
          <a:p>
            <a:pPr algn="l"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Paso 1: convertir a segundos. </a:t>
            </a:r>
          </a:p>
          <a:p>
            <a:pPr algn="l"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Paso 2: aplicar f=1/T. </a:t>
            </a:r>
          </a:p>
          <a:p>
            <a:pPr algn="l">
              <a:defRPr sz="24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Resultado: f=500 Hz.</a:t>
            </a:r>
          </a:p>
        </p:txBody>
      </p:sp>
      <p:sp>
        <p:nvSpPr>
          <p:cNvPr id="28" name="U03-025_example">
            <a:extLst>
              <a:ext uri="{FF2B5EF4-FFF2-40B4-BE49-F238E27FC236}">
                <a16:creationId xmlns:a16="http://schemas.microsoft.com/office/drawing/2014/main" id="{0E157BB1-1B95-4D11-BB56-06C665DE7E36}"/>
              </a:ext>
            </a:extLst>
          </p:cNvPr>
          <p:cNvSpPr>
            <a:spLocks noGrp="1"/>
          </p:cNvSpPr>
          <p:nvPr/>
        </p:nvSpPr>
        <p:spPr>
          <a:xfrm>
            <a:off x="1047750" y="5095875"/>
            <a:ext cx="10096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l">
              <a:defRPr sz="1725" b="1">
                <a:solidFill>
                  <a:srgbClr val="2F7E83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F7E83"/>
                </a:solidFill>
                <a:latin typeface="Calibri"/>
                <a:ea typeface="Calibri"/>
                <a:cs typeface="Calibri"/>
              </a:rPr>
              <a:t>Ejemplo: Conversión y cálculo completo de T=2 ms a f=500 Hz.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07-S026" descr="Diagrama conceptual con título «La fase ubica un estado dentro del ciclo». Ciclo circular y señal temporal con cuatro estados equivalentes; φ₀ como estado inicial.">
            <a:extLst>
              <a:ext uri="{FF2B5EF4-FFF2-40B4-BE49-F238E27FC236}">
                <a16:creationId xmlns:a16="http://schemas.microsoft.com/office/drawing/2014/main" id="{1D27B721-804A-0764-2957-C41EBF75617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2" name="Título 11">
            <a:extLst>
              <a:ext uri="{FF2B5EF4-FFF2-40B4-BE49-F238E27FC236}">
                <a16:creationId xmlns:a16="http://schemas.microsoft.com/office/drawing/2014/main" id="{53A7E32D-E9D3-CD27-D20F-F7494F6CCA2B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fase ubica un estado dentro del ciclo</a:t>
            </a:r>
          </a:p>
        </p:txBody>
      </p:sp>
      <p:sp>
        <p:nvSpPr>
          <p:cNvPr id="18" name="Marcador de número de diapositiva 17">
            <a:extLst>
              <a:ext uri="{FF2B5EF4-FFF2-40B4-BE49-F238E27FC236}">
                <a16:creationId xmlns:a16="http://schemas.microsoft.com/office/drawing/2014/main" id="{2630458C-F90C-62F1-3891-6CBC98AF2192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5AB55966-FA28-BC73-EA9E-53DF014DF033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26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u03_U03-026_eyebrow">
            <a:extLst>
              <a:ext uri="{FF2B5EF4-FFF2-40B4-BE49-F238E27FC236}">
                <a16:creationId xmlns:a16="http://schemas.microsoft.com/office/drawing/2014/main" id="{CA27A279-071A-4204-96BE-01DF0CAC67BB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MOVIMIENTO ARMÓNICO SIMPLE</a:t>
            </a:r>
          </a:p>
        </p:txBody>
      </p:sp>
      <p:sp>
        <p:nvSpPr>
          <p:cNvPr id="21" name="U03-026_caption">
            <a:extLst>
              <a:ext uri="{FF2B5EF4-FFF2-40B4-BE49-F238E27FC236}">
                <a16:creationId xmlns:a16="http://schemas.microsoft.com/office/drawing/2014/main" id="{EC9D05B1-F79B-4B50-BAAC-AEE7EF516EE2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Dos oscilaciones pueden compartir amplitud y frecuencia y estar en estados distintos del ciclo.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08-S027" descr="Diagrama conceptual con título «Cuatro preguntas describen una oscilación». Matriz de cuatro magnitudes con pregunta, símbolo y unidad; mini chequeo sobre una señal.">
            <a:extLst>
              <a:ext uri="{FF2B5EF4-FFF2-40B4-BE49-F238E27FC236}">
                <a16:creationId xmlns:a16="http://schemas.microsoft.com/office/drawing/2014/main" id="{2E4BF13C-B4DB-E2A6-83E5-633317B5370A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7" name="Título 16">
            <a:extLst>
              <a:ext uri="{FF2B5EF4-FFF2-40B4-BE49-F238E27FC236}">
                <a16:creationId xmlns:a16="http://schemas.microsoft.com/office/drawing/2014/main" id="{C12ACA3A-68E6-5C6E-E9AB-8D78B9E1C4FD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Cuatro preguntas describen una oscilación</a:t>
            </a:r>
          </a:p>
        </p:txBody>
      </p:sp>
      <p:sp>
        <p:nvSpPr>
          <p:cNvPr id="20" name="Marcador de número de diapositiva 19">
            <a:extLst>
              <a:ext uri="{FF2B5EF4-FFF2-40B4-BE49-F238E27FC236}">
                <a16:creationId xmlns:a16="http://schemas.microsoft.com/office/drawing/2014/main" id="{18081493-A553-AC13-4BA5-17CFA71BB2B5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02F15020-66A7-620A-7B7A-C05C4312DEAE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27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u03_U03-027_eyebrow">
            <a:extLst>
              <a:ext uri="{FF2B5EF4-FFF2-40B4-BE49-F238E27FC236}">
                <a16:creationId xmlns:a16="http://schemas.microsoft.com/office/drawing/2014/main" id="{8291A868-A264-49AD-84B1-6610666B8691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MOVIMIENTO ARMÓNICO SIMPLE</a:t>
            </a:r>
          </a:p>
        </p:txBody>
      </p:sp>
      <p:sp>
        <p:nvSpPr>
          <p:cNvPr id="23" name="U03-027_caption">
            <a:extLst>
              <a:ext uri="{FF2B5EF4-FFF2-40B4-BE49-F238E27FC236}">
                <a16:creationId xmlns:a16="http://schemas.microsoft.com/office/drawing/2014/main" id="{3D042E89-8EDD-49EF-BAEA-F884C0FF5382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Cuánto se aleja, cuánto tarda, cuántos ciclos ocurren y en qué estado comienza son preguntas distintas.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BB930E3-E4A7-44EF-B08A-F7893EAB5591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838200" y="2238375"/>
            <a:ext cx="9334500" cy="1047750"/>
          </a:xfrm>
        </p:spPr>
        <p:txBody>
          <a:bodyPr wrap="square" lIns="0" tIns="0" rIns="0" bIns="0" anchor="ctr">
            <a:noAutofit/>
          </a:bodyPr>
          <a:lstStyle/>
          <a:p>
            <a:pPr>
              <a:defRPr sz="43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3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La curva no es el fenómeno: es una representación</a:t>
            </a:r>
          </a:p>
        </p:txBody>
      </p:sp>
      <p:sp>
        <p:nvSpPr>
          <p:cNvPr id="8" name="Subtítulo 7">
            <a:extLst>
              <a:ext uri="{FF2B5EF4-FFF2-40B4-BE49-F238E27FC236}">
                <a16:creationId xmlns:a16="http://schemas.microsoft.com/office/drawing/2014/main" id="{8E526FA8-359B-79C7-0914-E7D02BA2B41C}"/>
              </a:ext>
            </a:extLst>
          </p:cNvPr>
          <p:cNvSpPr>
            <a:spLocks noGrp="1"/>
          </p:cNvSpPr>
          <p:nvPr>
            <p:ph type="subTitle" idx="11"/>
          </p:nvPr>
        </p:nvSpPr>
        <p:spPr>
          <a:xfrm>
            <a:off x="838200" y="3429000"/>
            <a:ext cx="9334500" cy="723900"/>
          </a:xfrm>
        </p:spPr>
        <p:txBody>
          <a:bodyPr wrap="square" lIns="0" tIns="0" rIns="0" bIns="0">
            <a:noAutofit/>
          </a:bodyPr>
          <a:lstStyle/>
          <a:p>
            <a:r>
              <a:t>Una sinusoide solo cobra sentido cuando se nombran variable, ejes, unidades y condiciones.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08C11FF-1310-C67B-A471-A3573013EA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fld id="{68AD4375-9F50-F53A-6F9F-DD8473067C05}" type="slidenum">
              <a:rPr sz="112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28</a:t>
            </a:fld>
            <a:endParaRPr sz="1125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u03_U03-028_eyebrow">
            <a:extLst>
              <a:ext uri="{FF2B5EF4-FFF2-40B4-BE49-F238E27FC236}">
                <a16:creationId xmlns:a16="http://schemas.microsoft.com/office/drawing/2014/main" id="{5A640F19-638A-450D-882E-4D74038CBB0D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3 · SINUSOIDES Y REPRESENTACIONES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09-S029" descr="Ecuación anotada con título «`x(t)` describe una posición que cambia en el tiempo». x(t)=A_x cos(2πft+φ₀); variable dependiente, tiempo, amplitud, frecuencia y fase inicial; unidades.">
            <a:extLst>
              <a:ext uri="{FF2B5EF4-FFF2-40B4-BE49-F238E27FC236}">
                <a16:creationId xmlns:a16="http://schemas.microsoft.com/office/drawing/2014/main" id="{517BA567-AC05-A84B-1544-7DD71DF356F1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FAF2A3BF-104E-8B53-38D4-5730F463E9CC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x(t) describe una posición que cambia en el tiempo</a:t>
            </a:r>
          </a:p>
        </p:txBody>
      </p:sp>
      <p:sp>
        <p:nvSpPr>
          <p:cNvPr id="18" name="Marcador de número de diapositiva 17">
            <a:extLst>
              <a:ext uri="{FF2B5EF4-FFF2-40B4-BE49-F238E27FC236}">
                <a16:creationId xmlns:a16="http://schemas.microsoft.com/office/drawing/2014/main" id="{FA71A55B-B389-7001-A9E1-319E4426EE2D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41680313-6E64-04FF-399A-57B7CADE95A9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29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u03_U03-029_eyebrow">
            <a:extLst>
              <a:ext uri="{FF2B5EF4-FFF2-40B4-BE49-F238E27FC236}">
                <a16:creationId xmlns:a16="http://schemas.microsoft.com/office/drawing/2014/main" id="{208D7646-9572-48A8-AC4E-9B500140F4D1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SINUSOIDES Y REPRESENTACIONES</a:t>
            </a:r>
          </a:p>
        </p:txBody>
      </p:sp>
      <p:sp>
        <p:nvSpPr>
          <p:cNvPr id="21" name="U03-029_caption">
            <a:extLst>
              <a:ext uri="{FF2B5EF4-FFF2-40B4-BE49-F238E27FC236}">
                <a16:creationId xmlns:a16="http://schemas.microsoft.com/office/drawing/2014/main" id="{AAABEB44-A881-4369-9414-A9503102DC16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Cada símbolo conecta una característica visible con una magnitud física.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CH002" descr="Esquema mixto con título «El cono de un parlante puede moverse micrómetros». Caso A_x=0,010 mm, f=500 Hz; conversión de amplitud, período y lectura de la expresión sin desarrollar toda la cuenta.">
            <a:extLst>
              <a:ext uri="{FF2B5EF4-FFF2-40B4-BE49-F238E27FC236}">
                <a16:creationId xmlns:a16="http://schemas.microsoft.com/office/drawing/2014/main" id="{785E99EE-1C9E-79F3-0A8D-4D0A6F481014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21" name="Título 20">
            <a:extLst>
              <a:ext uri="{FF2B5EF4-FFF2-40B4-BE49-F238E27FC236}">
                <a16:creationId xmlns:a16="http://schemas.microsoft.com/office/drawing/2014/main" id="{BFAACB0A-B001-9EF5-E20D-72DCFAB8AD76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cono de un parlante puede moverse micrómetros</a:t>
            </a:r>
          </a:p>
        </p:txBody>
      </p:sp>
      <p:sp>
        <p:nvSpPr>
          <p:cNvPr id="24" name="Marcador de número de diapositiva 23">
            <a:extLst>
              <a:ext uri="{FF2B5EF4-FFF2-40B4-BE49-F238E27FC236}">
                <a16:creationId xmlns:a16="http://schemas.microsoft.com/office/drawing/2014/main" id="{D4631810-29E2-3802-8D4E-7DEAB08103EF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5FEBBBCE-9E16-527A-0EE3-E5839422D847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30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" name="u03_U03-030_eyebrow">
            <a:extLst>
              <a:ext uri="{FF2B5EF4-FFF2-40B4-BE49-F238E27FC236}">
                <a16:creationId xmlns:a16="http://schemas.microsoft.com/office/drawing/2014/main" id="{FCB0B163-51FB-414E-ACF2-6748D1739D01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SINUSOIDES Y REPRESENTACIONES</a:t>
            </a:r>
          </a:p>
        </p:txBody>
      </p:sp>
      <p:sp>
        <p:nvSpPr>
          <p:cNvPr id="27" name="U03-030_caption">
            <a:extLst>
              <a:ext uri="{FF2B5EF4-FFF2-40B4-BE49-F238E27FC236}">
                <a16:creationId xmlns:a16="http://schemas.microsoft.com/office/drawing/2014/main" id="{AFDFB557-5564-4FB8-94EB-1159DD05FA09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Una oscilación de alta frecuencia puede tener un desplazamiento extremadamente pequeño. Esquema conceptual; no está a escala. · Gráfico propio reproducible.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10-S031" descr="Diagrama conceptual con título «En los extremos la velocidad se anula». Cuatro estados del oscilador con signos de x y v; sin fórmula derivada como foco.">
            <a:extLst>
              <a:ext uri="{FF2B5EF4-FFF2-40B4-BE49-F238E27FC236}">
                <a16:creationId xmlns:a16="http://schemas.microsoft.com/office/drawing/2014/main" id="{F44788BE-736F-9CD5-8EDB-D3238B2206B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25" name="Título 24">
            <a:extLst>
              <a:ext uri="{FF2B5EF4-FFF2-40B4-BE49-F238E27FC236}">
                <a16:creationId xmlns:a16="http://schemas.microsoft.com/office/drawing/2014/main" id="{525270E9-184E-ECA2-9137-57B8EE525650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En los extremos la velocidad se anula</a:t>
            </a:r>
          </a:p>
        </p:txBody>
      </p:sp>
      <p:sp>
        <p:nvSpPr>
          <p:cNvPr id="28" name="Marcador de número de diapositiva 27">
            <a:extLst>
              <a:ext uri="{FF2B5EF4-FFF2-40B4-BE49-F238E27FC236}">
                <a16:creationId xmlns:a16="http://schemas.microsoft.com/office/drawing/2014/main" id="{7D464FDA-53EB-4C28-9BB9-7238405ABEB4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D172A7C5-A0CC-7B36-F236-345181E6AD72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31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u03_U03-031_eyebrow">
            <a:extLst>
              <a:ext uri="{FF2B5EF4-FFF2-40B4-BE49-F238E27FC236}">
                <a16:creationId xmlns:a16="http://schemas.microsoft.com/office/drawing/2014/main" id="{36428780-26E7-4C24-B4FD-641CCC6CA9A7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SINUSOIDES Y REPRESENTACIONES</a:t>
            </a:r>
          </a:p>
        </p:txBody>
      </p:sp>
      <p:sp>
        <p:nvSpPr>
          <p:cNvPr id="31" name="U03-031_caption">
            <a:extLst>
              <a:ext uri="{FF2B5EF4-FFF2-40B4-BE49-F238E27FC236}">
                <a16:creationId xmlns:a16="http://schemas.microsoft.com/office/drawing/2014/main" id="{A6CB0E21-FED5-4007-9015-47EED313A486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La rapidez es máxima al pasar por el equilibrio y cero en los extremos.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10-S032" descr="Diagrama conceptual con título «La aceleración siempre apunta hacia el equilibrio». Cuatro estados del oscilador con x y a; contraste explícito con velocidad.">
            <a:extLst>
              <a:ext uri="{FF2B5EF4-FFF2-40B4-BE49-F238E27FC236}">
                <a16:creationId xmlns:a16="http://schemas.microsoft.com/office/drawing/2014/main" id="{2AE0235F-5553-04E2-5260-D73AE75761D0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25" name="Título 24">
            <a:extLst>
              <a:ext uri="{FF2B5EF4-FFF2-40B4-BE49-F238E27FC236}">
                <a16:creationId xmlns:a16="http://schemas.microsoft.com/office/drawing/2014/main" id="{525270E9-184E-ECA2-9137-57B8EE525650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aceleración siempre apunta hacia el equilibrio</a:t>
            </a:r>
          </a:p>
        </p:txBody>
      </p:sp>
      <p:sp>
        <p:nvSpPr>
          <p:cNvPr id="28" name="Marcador de número de diapositiva 27">
            <a:extLst>
              <a:ext uri="{FF2B5EF4-FFF2-40B4-BE49-F238E27FC236}">
                <a16:creationId xmlns:a16="http://schemas.microsoft.com/office/drawing/2014/main" id="{7D464FDA-53EB-4C28-9BB9-7238405ABEB4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66C3428B-053E-6B4E-39FF-75B44F3F33F6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32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u03_U03-032_eyebrow">
            <a:extLst>
              <a:ext uri="{FF2B5EF4-FFF2-40B4-BE49-F238E27FC236}">
                <a16:creationId xmlns:a16="http://schemas.microsoft.com/office/drawing/2014/main" id="{BC08E451-1CA4-4B1A-B670-E124AFC52263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SINUSOIDES Y REPRESENTACIONES</a:t>
            </a:r>
          </a:p>
        </p:txBody>
      </p:sp>
      <p:sp>
        <p:nvSpPr>
          <p:cNvPr id="31" name="U03-032_caption">
            <a:extLst>
              <a:ext uri="{FF2B5EF4-FFF2-40B4-BE49-F238E27FC236}">
                <a16:creationId xmlns:a16="http://schemas.microsoft.com/office/drawing/2014/main" id="{E3D8A8B7-788F-429E-9B31-18847441AA04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En los extremos el módulo de a es máximo y en el equilibrio a=0.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CH003" descr="Gráfico cuantitativo con título «Posición, velocidad y aceleración no alcanzan sus máximos juntas». Tres gráficos temporales alineados, mismos marcadores verticales y escalas normalizadas; notas de signo.">
            <a:extLst>
              <a:ext uri="{FF2B5EF4-FFF2-40B4-BE49-F238E27FC236}">
                <a16:creationId xmlns:a16="http://schemas.microsoft.com/office/drawing/2014/main" id="{0469C5D0-D747-002D-8D9E-BD6402965B3A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2EF821FB-EFFC-EF41-BABC-394083512C25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Posición, velocidad y aceleración no coinciden</a:t>
            </a:r>
          </a:p>
        </p:txBody>
      </p:sp>
      <p:sp>
        <p:nvSpPr>
          <p:cNvPr id="18" name="Marcador de número de diapositiva 17">
            <a:extLst>
              <a:ext uri="{FF2B5EF4-FFF2-40B4-BE49-F238E27FC236}">
                <a16:creationId xmlns:a16="http://schemas.microsoft.com/office/drawing/2014/main" id="{7BC74996-1398-61FE-9DC2-28F79E0C2E8F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59F9B2FD-F323-2D0A-D581-D6E61055F9A8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33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u03_U03-033_eyebrow">
            <a:extLst>
              <a:ext uri="{FF2B5EF4-FFF2-40B4-BE49-F238E27FC236}">
                <a16:creationId xmlns:a16="http://schemas.microsoft.com/office/drawing/2014/main" id="{416B9FEB-522D-4776-A675-2C9FD9321863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SINUSOIDES Y REPRESENTACIONES</a:t>
            </a:r>
          </a:p>
        </p:txBody>
      </p:sp>
      <p:sp>
        <p:nvSpPr>
          <p:cNvPr id="21" name="U03-033_caption">
            <a:extLst>
              <a:ext uri="{FF2B5EF4-FFF2-40B4-BE49-F238E27FC236}">
                <a16:creationId xmlns:a16="http://schemas.microsoft.com/office/drawing/2014/main" id="{3EFDC22E-AFF6-4692-8AD1-04C2931D2D8C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Las tres curvas comparten frecuencia, pero sus máximos ocurren en momentos diferentes. · Gráfico propio reproducible.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CH003" descr="Gráfico cuantitativo con título «En este instante, ¿hacia dónde se mueve y acelera?». Punto marcado en x(t) y opciones de signo para v y a, con justificación.">
            <a:extLst>
              <a:ext uri="{FF2B5EF4-FFF2-40B4-BE49-F238E27FC236}">
                <a16:creationId xmlns:a16="http://schemas.microsoft.com/office/drawing/2014/main" id="{93E78C84-5327-B233-34AD-F7DE7EF7FA51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1" name="Título 10">
            <a:extLst>
              <a:ext uri="{FF2B5EF4-FFF2-40B4-BE49-F238E27FC236}">
                <a16:creationId xmlns:a16="http://schemas.microsoft.com/office/drawing/2014/main" id="{8518341A-3BB2-613E-8B5C-0FCDB876E026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En este instante, ¿hacia dónde se mueve y acelera?</a:t>
            </a:r>
          </a:p>
        </p:txBody>
      </p:sp>
      <p:sp>
        <p:nvSpPr>
          <p:cNvPr id="14" name="Marcador de número de diapositiva 13">
            <a:extLst>
              <a:ext uri="{FF2B5EF4-FFF2-40B4-BE49-F238E27FC236}">
                <a16:creationId xmlns:a16="http://schemas.microsoft.com/office/drawing/2014/main" id="{6F0E431F-4E1E-5064-2E0C-9F4C713D3097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D6C2EC43-E3B9-C9B0-67FF-5447EB7F3925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34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u03_U03-034_eyebrow">
            <a:extLst>
              <a:ext uri="{FF2B5EF4-FFF2-40B4-BE49-F238E27FC236}">
                <a16:creationId xmlns:a16="http://schemas.microsoft.com/office/drawing/2014/main" id="{BE05FF58-4369-4BCC-9EAF-38DAC90A3E83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SINUSOIDES Y REPRESENTACIONES</a:t>
            </a:r>
          </a:p>
        </p:txBody>
      </p:sp>
      <p:sp>
        <p:nvSpPr>
          <p:cNvPr id="17" name="U03-034_caption">
            <a:extLst>
              <a:ext uri="{FF2B5EF4-FFF2-40B4-BE49-F238E27FC236}">
                <a16:creationId xmlns:a16="http://schemas.microsoft.com/office/drawing/2014/main" id="{33AFEB29-168E-438F-9E60-62D36DE4CA49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La posición por sí sola no determina el sentido de movimiento; hace falta la pendiente o el estado de ciclo. · Gráfico propio reproducible.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CH004" descr="Gráfico cuantitativo con título «La misma forma puede representar magnitudes distintas». Cuatro mini gráficos con el mismo perfil y ejes verticales distintos; pregunta “¿qué representa cada uno?”.">
            <a:extLst>
              <a:ext uri="{FF2B5EF4-FFF2-40B4-BE49-F238E27FC236}">
                <a16:creationId xmlns:a16="http://schemas.microsoft.com/office/drawing/2014/main" id="{E83F0755-C0AA-F961-9743-3A3463A1F1FB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6" name="Título 15">
            <a:extLst>
              <a:ext uri="{FF2B5EF4-FFF2-40B4-BE49-F238E27FC236}">
                <a16:creationId xmlns:a16="http://schemas.microsoft.com/office/drawing/2014/main" id="{3F400882-E536-6293-8F25-E1201F15D0EE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misma forma puede representar magnitudes distintas</a:t>
            </a:r>
          </a:p>
        </p:txBody>
      </p:sp>
      <p:sp>
        <p:nvSpPr>
          <p:cNvPr id="19" name="Marcador de número de diapositiva 18">
            <a:extLst>
              <a:ext uri="{FF2B5EF4-FFF2-40B4-BE49-F238E27FC236}">
                <a16:creationId xmlns:a16="http://schemas.microsoft.com/office/drawing/2014/main" id="{3701E013-5363-F7F5-9233-7CB612036904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4A4FA566-8B12-6DD2-DDB5-FA6393938FB6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35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u03_U03-035_eyebrow">
            <a:extLst>
              <a:ext uri="{FF2B5EF4-FFF2-40B4-BE49-F238E27FC236}">
                <a16:creationId xmlns:a16="http://schemas.microsoft.com/office/drawing/2014/main" id="{300A287B-106F-44C8-A3B7-92ED6F9A0997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SINUSOIDES Y REPRESENTACIONES</a:t>
            </a:r>
          </a:p>
        </p:txBody>
      </p:sp>
      <p:sp>
        <p:nvSpPr>
          <p:cNvPr id="22" name="U03-035_caption">
            <a:extLst>
              <a:ext uri="{FF2B5EF4-FFF2-40B4-BE49-F238E27FC236}">
                <a16:creationId xmlns:a16="http://schemas.microsoft.com/office/drawing/2014/main" id="{9B9DAB46-C0CB-45F0-B465-630E4EEFF13C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x(t), ξ(t), p(t) y V(t) pueden ser sinusoidales, pero no comparten variable ni unidad. · Gráfico propio reproducible.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11-S036" descr="Esquema mixto con título «Una sinusoide no es automáticamente la trayectoria de una partícula». Error, corrección y dos casos: x(t) temporal frente a perfil espacial; eje y unidad como criterio.">
            <a:extLst>
              <a:ext uri="{FF2B5EF4-FFF2-40B4-BE49-F238E27FC236}">
                <a16:creationId xmlns:a16="http://schemas.microsoft.com/office/drawing/2014/main" id="{AFE97BE0-A4E9-B730-F43D-1A4B007032F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3" name="Título 12">
            <a:extLst>
              <a:ext uri="{FF2B5EF4-FFF2-40B4-BE49-F238E27FC236}">
                <a16:creationId xmlns:a16="http://schemas.microsoft.com/office/drawing/2014/main" id="{44CFAA6A-E4FB-BA96-3ED4-B652EF96F62F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sinusoide no es la trayectoria de una partícula</a:t>
            </a:r>
          </a:p>
        </p:txBody>
      </p:sp>
      <p:sp>
        <p:nvSpPr>
          <p:cNvPr id="16" name="Marcador de número de diapositiva 15">
            <a:extLst>
              <a:ext uri="{FF2B5EF4-FFF2-40B4-BE49-F238E27FC236}">
                <a16:creationId xmlns:a16="http://schemas.microsoft.com/office/drawing/2014/main" id="{A3B291B6-2F9F-F87F-EE7A-EE2204EF18D2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E39A338D-B192-3127-EB9A-53A2665A0BB7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36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u03_U03-036_eyebrow">
            <a:extLst>
              <a:ext uri="{FF2B5EF4-FFF2-40B4-BE49-F238E27FC236}">
                <a16:creationId xmlns:a16="http://schemas.microsoft.com/office/drawing/2014/main" id="{67419242-3F97-4C39-A15B-AAEA2810B89D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SINUSOIDES Y REPRESENTACIONES</a:t>
            </a:r>
          </a:p>
        </p:txBody>
      </p:sp>
      <p:sp>
        <p:nvSpPr>
          <p:cNvPr id="19" name="U03-036_caption">
            <a:extLst>
              <a:ext uri="{FF2B5EF4-FFF2-40B4-BE49-F238E27FC236}">
                <a16:creationId xmlns:a16="http://schemas.microsoft.com/office/drawing/2014/main" id="{DE07A81C-336A-44A0-A804-477A1F6E7DF8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La forma del gráfico depende de los ejes, no de la forma geométrica que recorre el objeto.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12-S037" descr="Esquema mixto con título «Una curva sin escala no entrega un valor físico». Tres versiones: esquema cualitativo, señal normalizada y registro calibrado; qué se puede concluir en cada una.">
            <a:extLst>
              <a:ext uri="{FF2B5EF4-FFF2-40B4-BE49-F238E27FC236}">
                <a16:creationId xmlns:a16="http://schemas.microsoft.com/office/drawing/2014/main" id="{2C4EB15B-E7DF-4AD4-AC13-0389D01D793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3" name="Título 12">
            <a:extLst>
              <a:ext uri="{FF2B5EF4-FFF2-40B4-BE49-F238E27FC236}">
                <a16:creationId xmlns:a16="http://schemas.microsoft.com/office/drawing/2014/main" id="{44CFAA6A-E4FB-BA96-3ED4-B652EF96F62F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curva sin escala no entrega un valor físico</a:t>
            </a:r>
          </a:p>
        </p:txBody>
      </p:sp>
      <p:sp>
        <p:nvSpPr>
          <p:cNvPr id="16" name="Marcador de número de diapositiva 15">
            <a:extLst>
              <a:ext uri="{FF2B5EF4-FFF2-40B4-BE49-F238E27FC236}">
                <a16:creationId xmlns:a16="http://schemas.microsoft.com/office/drawing/2014/main" id="{A3B291B6-2F9F-F87F-EE7A-EE2204EF18D2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8D334276-4C85-190E-BA41-5CA1CBB04E4E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37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u03_U03-037_eyebrow">
            <a:extLst>
              <a:ext uri="{FF2B5EF4-FFF2-40B4-BE49-F238E27FC236}">
                <a16:creationId xmlns:a16="http://schemas.microsoft.com/office/drawing/2014/main" id="{8D24A06D-8ADA-4793-BB49-4D4C80A57414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SINUSOIDES Y REPRESENTACIONES</a:t>
            </a:r>
          </a:p>
        </p:txBody>
      </p:sp>
      <p:sp>
        <p:nvSpPr>
          <p:cNvPr id="19" name="U03-037_caption">
            <a:extLst>
              <a:ext uri="{FF2B5EF4-FFF2-40B4-BE49-F238E27FC236}">
                <a16:creationId xmlns:a16="http://schemas.microsoft.com/office/drawing/2014/main" id="{98CAD7EA-2243-4D78-87A8-BDC0F1BA3CAB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Sin ejes, unidades y calibración se reconoce un patrón, pero no una magnitud física.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12-S038" descr="Diagrama conceptual con título «Antes de interpretar una señal, haga cuatro preguntas». Checklist de cuatro preguntas y retorno al diagnóstico sobre amplitud–sonoridad y frecuencia–pitch.">
            <a:extLst>
              <a:ext uri="{FF2B5EF4-FFF2-40B4-BE49-F238E27FC236}">
                <a16:creationId xmlns:a16="http://schemas.microsoft.com/office/drawing/2014/main" id="{3F7D3E98-F4AB-DE2F-9E5D-09CC613900B5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7" name="Título 16">
            <a:extLst>
              <a:ext uri="{FF2B5EF4-FFF2-40B4-BE49-F238E27FC236}">
                <a16:creationId xmlns:a16="http://schemas.microsoft.com/office/drawing/2014/main" id="{C12ACA3A-68E6-5C6E-E9AB-8D78B9E1C4FD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Antes de interpretar una señal, haga cuatro preguntas</a:t>
            </a:r>
          </a:p>
        </p:txBody>
      </p:sp>
      <p:sp>
        <p:nvSpPr>
          <p:cNvPr id="20" name="Marcador de número de diapositiva 19">
            <a:extLst>
              <a:ext uri="{FF2B5EF4-FFF2-40B4-BE49-F238E27FC236}">
                <a16:creationId xmlns:a16="http://schemas.microsoft.com/office/drawing/2014/main" id="{18081493-A553-AC13-4BA5-17CFA71BB2B5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855A7F00-3259-A23D-D734-A322A9F9DD63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38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u03_U03-038_eyebrow">
            <a:extLst>
              <a:ext uri="{FF2B5EF4-FFF2-40B4-BE49-F238E27FC236}">
                <a16:creationId xmlns:a16="http://schemas.microsoft.com/office/drawing/2014/main" id="{DC7996B4-B533-4487-BE70-626A0882EF4A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SINUSOIDES Y REPRESENTACIONES</a:t>
            </a:r>
          </a:p>
        </p:txBody>
      </p:sp>
      <p:sp>
        <p:nvSpPr>
          <p:cNvPr id="23" name="U03-038_caption">
            <a:extLst>
              <a:ext uri="{FF2B5EF4-FFF2-40B4-BE49-F238E27FC236}">
                <a16:creationId xmlns:a16="http://schemas.microsoft.com/office/drawing/2014/main" id="{0FB1836B-34CE-4898-BE1A-3E4BD8F76778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Variable, eje horizontal, unidad y calibración preceden a cualquier conclusión.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BB930E3-E4A7-44EF-B08A-F7893EAB5591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838200" y="2238375"/>
            <a:ext cx="9334500" cy="1047750"/>
          </a:xfrm>
        </p:spPr>
        <p:txBody>
          <a:bodyPr wrap="square" lIns="0" tIns="0" rIns="0" bIns="0" anchor="ctr">
            <a:noAutofit/>
          </a:bodyPr>
          <a:lstStyle/>
          <a:p>
            <a:pPr>
              <a:defRPr sz="43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3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De una señal ideal a una perturbación acústica</a:t>
            </a:r>
          </a:p>
        </p:txBody>
      </p:sp>
      <p:sp>
        <p:nvSpPr>
          <p:cNvPr id="8" name="Subtítulo 7">
            <a:extLst>
              <a:ext uri="{FF2B5EF4-FFF2-40B4-BE49-F238E27FC236}">
                <a16:creationId xmlns:a16="http://schemas.microsoft.com/office/drawing/2014/main" id="{8E526FA8-359B-79C7-0914-E7D02BA2B41C}"/>
              </a:ext>
            </a:extLst>
          </p:cNvPr>
          <p:cNvSpPr>
            <a:spLocks noGrp="1"/>
          </p:cNvSpPr>
          <p:nvPr>
            <p:ph type="subTitle" idx="11"/>
          </p:nvPr>
        </p:nvSpPr>
        <p:spPr>
          <a:xfrm>
            <a:off x="838200" y="3429000"/>
            <a:ext cx="9334500" cy="723900"/>
          </a:xfrm>
        </p:spPr>
        <p:txBody>
          <a:bodyPr wrap="square" lIns="0" tIns="0" rIns="0" bIns="0">
            <a:noAutofit/>
          </a:bodyPr>
          <a:lstStyle/>
          <a:p>
            <a:r>
              <a:t>El tono puro es un modelo sinusoidal; el parlante conecta dominios físicos.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08C11FF-1310-C67B-A471-A3573013EA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fld id="{6166C477-A387-35CF-F492-F54B4FA4FEC9}" type="slidenum">
              <a:rPr sz="112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39</a:t>
            </a:fld>
            <a:endParaRPr sz="1125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u03_U03-039_eyebrow">
            <a:extLst>
              <a:ext uri="{FF2B5EF4-FFF2-40B4-BE49-F238E27FC236}">
                <a16:creationId xmlns:a16="http://schemas.microsoft.com/office/drawing/2014/main" id="{5930368A-6FDA-440F-B88A-495FC70A5EF8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3 · TONO PURO Y PARLANTE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13-S040" descr="Ecuación anotada con título «Un tono puro ideal tiene una sola frecuencia». Definición, s(t)=A_s cos(2πft+φ₀) y condiciones ideales; s como variable genérica declarada.">
            <a:extLst>
              <a:ext uri="{FF2B5EF4-FFF2-40B4-BE49-F238E27FC236}">
                <a16:creationId xmlns:a16="http://schemas.microsoft.com/office/drawing/2014/main" id="{D8AFBEA0-A36A-4D6F-393B-AA06BDA9CF2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F05217D6-0CEE-3D64-7AC1-D204B82D9C46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tono puro ideal tiene una sola frecuencia</a:t>
            </a:r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12BF3667-16D3-B7A0-EF76-B375EF898D79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C0C89EF0-BE71-8D92-BDDF-FF7D05F0AC04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40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u03_U03-040_eyebrow">
            <a:extLst>
              <a:ext uri="{FF2B5EF4-FFF2-40B4-BE49-F238E27FC236}">
                <a16:creationId xmlns:a16="http://schemas.microsoft.com/office/drawing/2014/main" id="{DA687123-F658-45AA-BD4D-884F4DAF2ED7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TONO PURO Y PARLANTE</a:t>
            </a:r>
          </a:p>
        </p:txBody>
      </p:sp>
      <p:sp>
        <p:nvSpPr>
          <p:cNvPr id="16" name="U03-040_caption">
            <a:extLst>
              <a:ext uri="{FF2B5EF4-FFF2-40B4-BE49-F238E27FC236}">
                <a16:creationId xmlns:a16="http://schemas.microsoft.com/office/drawing/2014/main" id="{58AE5EB8-783E-46F4-B58D-5846745D45E7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El modelo ideal es sinusoidal, estable e infinitamente prolongado; una realización física solo lo aproxima.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CH005" descr="Gráfico cuantitativo con título «Un tono real comienza y termina». Tres zonas: ataque, tramo estable y caída; límite explícito “su espectro se estudiará en U5”.">
            <a:extLst>
              <a:ext uri="{FF2B5EF4-FFF2-40B4-BE49-F238E27FC236}">
                <a16:creationId xmlns:a16="http://schemas.microsoft.com/office/drawing/2014/main" id="{91A81881-DEED-3D42-4573-752B36E174A0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6" name="Título 15">
            <a:extLst>
              <a:ext uri="{FF2B5EF4-FFF2-40B4-BE49-F238E27FC236}">
                <a16:creationId xmlns:a16="http://schemas.microsoft.com/office/drawing/2014/main" id="{3F400882-E536-6293-8F25-E1201F15D0EE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tono real comienza y termina</a:t>
            </a:r>
          </a:p>
        </p:txBody>
      </p:sp>
      <p:sp>
        <p:nvSpPr>
          <p:cNvPr id="19" name="Marcador de número de diapositiva 18">
            <a:extLst>
              <a:ext uri="{FF2B5EF4-FFF2-40B4-BE49-F238E27FC236}">
                <a16:creationId xmlns:a16="http://schemas.microsoft.com/office/drawing/2014/main" id="{3701E013-5363-F7F5-9233-7CB612036904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9CAEC632-A9E6-82AB-6034-3014BC3905A0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41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u03_U03-041_eyebrow">
            <a:extLst>
              <a:ext uri="{FF2B5EF4-FFF2-40B4-BE49-F238E27FC236}">
                <a16:creationId xmlns:a16="http://schemas.microsoft.com/office/drawing/2014/main" id="{650FCCB0-72E1-43A3-BE63-C9A90923EBFB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TONO PURO Y PARLANTE</a:t>
            </a:r>
          </a:p>
        </p:txBody>
      </p:sp>
      <p:sp>
        <p:nvSpPr>
          <p:cNvPr id="22" name="U03-041_caption">
            <a:extLst>
              <a:ext uri="{FF2B5EF4-FFF2-40B4-BE49-F238E27FC236}">
                <a16:creationId xmlns:a16="http://schemas.microsoft.com/office/drawing/2014/main" id="{30B6B42E-53DD-4D9E-9582-40437A4A0F6D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El encendido y apagado rompen la idealidad temporal aunque el tramo sostenido sea casi sinusoidal. · Gráfico propio reproducible.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14-S042" descr="Diagrama conceptual con título «Señal eléctrica, cono, aire y presión forman una cadena». V(t) → x_cono(t) → ξ_aire(t) → p(t); variable y unidad en cada etapa; flechas rotuladas como conversión física.">
            <a:extLst>
              <a:ext uri="{FF2B5EF4-FFF2-40B4-BE49-F238E27FC236}">
                <a16:creationId xmlns:a16="http://schemas.microsoft.com/office/drawing/2014/main" id="{6787F3AA-3CC4-D832-299C-F172867EC96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25" name="Título 24">
            <a:extLst>
              <a:ext uri="{FF2B5EF4-FFF2-40B4-BE49-F238E27FC236}">
                <a16:creationId xmlns:a16="http://schemas.microsoft.com/office/drawing/2014/main" id="{525270E9-184E-ECA2-9137-57B8EE525650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Señal eléctrica, cono, aire y presión: una cadena</a:t>
            </a:r>
          </a:p>
        </p:txBody>
      </p:sp>
      <p:sp>
        <p:nvSpPr>
          <p:cNvPr id="28" name="Marcador de número de diapositiva 27">
            <a:extLst>
              <a:ext uri="{FF2B5EF4-FFF2-40B4-BE49-F238E27FC236}">
                <a16:creationId xmlns:a16="http://schemas.microsoft.com/office/drawing/2014/main" id="{7D464FDA-53EB-4C28-9BB9-7238405ABEB4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675CE1F1-F8E2-E359-8FD1-A9FA98B3A676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42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u03_U03-042_eyebrow">
            <a:extLst>
              <a:ext uri="{FF2B5EF4-FFF2-40B4-BE49-F238E27FC236}">
                <a16:creationId xmlns:a16="http://schemas.microsoft.com/office/drawing/2014/main" id="{BDAB7CFE-526E-45E1-ABE6-DE67B0BB3A45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TONO PURO Y PARLANTE</a:t>
            </a:r>
          </a:p>
        </p:txBody>
      </p:sp>
      <p:sp>
        <p:nvSpPr>
          <p:cNvPr id="31" name="U03-042_caption">
            <a:extLst>
              <a:ext uri="{FF2B5EF4-FFF2-40B4-BE49-F238E27FC236}">
                <a16:creationId xmlns:a16="http://schemas.microsoft.com/office/drawing/2014/main" id="{7E1D90E7-F82F-4DDE-9F6B-C2D99A219EC7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Una forma sinusoidal puede conservarse aproximadamente mientras cambia la magnitud representada.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15-S043" descr="Diagrama conceptual con título «El cono oscila alrededor de una posición media». Tres posiciones del cono con eje, amplitud de desplazamiento y dirección instantánea.">
            <a:extLst>
              <a:ext uri="{FF2B5EF4-FFF2-40B4-BE49-F238E27FC236}">
                <a16:creationId xmlns:a16="http://schemas.microsoft.com/office/drawing/2014/main" id="{D79D8459-0E85-DD3D-AD40-D74F024B714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2" name="Título 11">
            <a:extLst>
              <a:ext uri="{FF2B5EF4-FFF2-40B4-BE49-F238E27FC236}">
                <a16:creationId xmlns:a16="http://schemas.microsoft.com/office/drawing/2014/main" id="{53A7E32D-E9D3-CD27-D20F-F7494F6CCA2B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cono oscila alrededor de una posición media</a:t>
            </a:r>
          </a:p>
        </p:txBody>
      </p:sp>
      <p:sp>
        <p:nvSpPr>
          <p:cNvPr id="18" name="Marcador de número de diapositiva 17">
            <a:extLst>
              <a:ext uri="{FF2B5EF4-FFF2-40B4-BE49-F238E27FC236}">
                <a16:creationId xmlns:a16="http://schemas.microsoft.com/office/drawing/2014/main" id="{2630458C-F90C-62F1-3891-6CBC98AF2192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270EE3B2-1325-F8E9-D276-8EA80C32ED19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43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u03_U03-043_eyebrow">
            <a:extLst>
              <a:ext uri="{FF2B5EF4-FFF2-40B4-BE49-F238E27FC236}">
                <a16:creationId xmlns:a16="http://schemas.microsoft.com/office/drawing/2014/main" id="{46A5AD7A-D767-4589-A393-A8B1B8480586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TONO PURO Y PARLANTE</a:t>
            </a:r>
          </a:p>
        </p:txBody>
      </p:sp>
      <p:sp>
        <p:nvSpPr>
          <p:cNvPr id="21" name="U03-043_caption">
            <a:extLst>
              <a:ext uri="{FF2B5EF4-FFF2-40B4-BE49-F238E27FC236}">
                <a16:creationId xmlns:a16="http://schemas.microsoft.com/office/drawing/2014/main" id="{FE5D7488-0B0C-48E3-B09A-AF7A0A2A7423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El parlante no “envía el cono” hacia el oyente; alterna desplazamientos que perturban el aire vecino.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15-S044" descr="Diagrama conceptual con título «El aire vecino alterna compresiones y rarefacciones». Secuencia cono hacia afuera/hacia adentro, partículas, compresión y rarefacción; flecha de propagación separada.">
            <a:extLst>
              <a:ext uri="{FF2B5EF4-FFF2-40B4-BE49-F238E27FC236}">
                <a16:creationId xmlns:a16="http://schemas.microsoft.com/office/drawing/2014/main" id="{E186996E-4A1E-FA98-F5DB-8297F28BA22F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24" name="Título 23">
            <a:extLst>
              <a:ext uri="{FF2B5EF4-FFF2-40B4-BE49-F238E27FC236}">
                <a16:creationId xmlns:a16="http://schemas.microsoft.com/office/drawing/2014/main" id="{6430AFA8-9094-1DB6-842A-986076FB7B38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aire vecino alterna compresiones y rarefacciones</a:t>
            </a:r>
          </a:p>
        </p:txBody>
      </p:sp>
      <p:sp>
        <p:nvSpPr>
          <p:cNvPr id="26" name="Marcador de número de diapositiva 25">
            <a:extLst>
              <a:ext uri="{FF2B5EF4-FFF2-40B4-BE49-F238E27FC236}">
                <a16:creationId xmlns:a16="http://schemas.microsoft.com/office/drawing/2014/main" id="{E82CC427-17D1-D7E7-6008-F7922268FB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1110800D-D5E6-B48B-B335-F070B0EAA3B9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44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u03_U03-044_eyebrow">
            <a:extLst>
              <a:ext uri="{FF2B5EF4-FFF2-40B4-BE49-F238E27FC236}">
                <a16:creationId xmlns:a16="http://schemas.microsoft.com/office/drawing/2014/main" id="{12B386F8-BF44-4247-947D-65052A76D691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TONO PURO Y PARLANTE</a:t>
            </a:r>
          </a:p>
        </p:txBody>
      </p:sp>
      <p:sp>
        <p:nvSpPr>
          <p:cNvPr id="29" name="U03-044_caption">
            <a:extLst>
              <a:ext uri="{FF2B5EF4-FFF2-40B4-BE49-F238E27FC236}">
                <a16:creationId xmlns:a16="http://schemas.microsoft.com/office/drawing/2014/main" id="{7A93916C-C68C-4AF5-9455-A4CA1FF8EF6B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El movimiento local del aire modifica separación y presión; la perturbación pasa a regiones vecinas.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CH006" descr="Esquema mixto con título «En un punto del aire, la presión también puede oscilar». Esquema del punto de observación y gráfico de presión acústica relativa con línea de equilibrio; sin introducir nivel sonoro.">
            <a:extLst>
              <a:ext uri="{FF2B5EF4-FFF2-40B4-BE49-F238E27FC236}">
                <a16:creationId xmlns:a16="http://schemas.microsoft.com/office/drawing/2014/main" id="{CDE34886-7C6E-38A5-BC8C-EB8AF4EDD3D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2EF821FB-EFFC-EF41-BABC-394083512C25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En un punto del aire, la presión también puede oscilar</a:t>
            </a:r>
          </a:p>
        </p:txBody>
      </p:sp>
      <p:sp>
        <p:nvSpPr>
          <p:cNvPr id="18" name="Marcador de número de diapositiva 17">
            <a:extLst>
              <a:ext uri="{FF2B5EF4-FFF2-40B4-BE49-F238E27FC236}">
                <a16:creationId xmlns:a16="http://schemas.microsoft.com/office/drawing/2014/main" id="{7BC74996-1398-61FE-9DC2-28F79E0C2E8F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AE060EEA-E29B-CF3D-E7B7-BE01DFE3A2D2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45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u03_U03-045_eyebrow">
            <a:extLst>
              <a:ext uri="{FF2B5EF4-FFF2-40B4-BE49-F238E27FC236}">
                <a16:creationId xmlns:a16="http://schemas.microsoft.com/office/drawing/2014/main" id="{1C7F31BA-7535-4EFE-85E3-33389BA0254B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TONO PURO Y PARLANTE</a:t>
            </a:r>
          </a:p>
        </p:txBody>
      </p:sp>
      <p:sp>
        <p:nvSpPr>
          <p:cNvPr id="21" name="U03-045_caption">
            <a:extLst>
              <a:ext uri="{FF2B5EF4-FFF2-40B4-BE49-F238E27FC236}">
                <a16:creationId xmlns:a16="http://schemas.microsoft.com/office/drawing/2014/main" id="{F0397705-95EA-4373-97AB-5B1DD443355B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Un micrófono en posición fija puede registrar p(t) sinusoidal alrededor de la presión ambiente. Esquema conceptual; no está a escala. · Gráfico propio reproducible.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16-S046" descr="Esquema mixto con título «Un tono audiométrico exige frecuencia, nivel y calibración». Cadena generador–transductor–acoplador u oído; parámetros físicos frente a ajuste instrumental; anticipación de U4/U8.">
            <a:extLst>
              <a:ext uri="{FF2B5EF4-FFF2-40B4-BE49-F238E27FC236}">
                <a16:creationId xmlns:a16="http://schemas.microsoft.com/office/drawing/2014/main" id="{D5DB69F7-E162-2C8E-4944-51FFC5BAEB7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2" name="Título 11">
            <a:extLst>
              <a:ext uri="{FF2B5EF4-FFF2-40B4-BE49-F238E27FC236}">
                <a16:creationId xmlns:a16="http://schemas.microsoft.com/office/drawing/2014/main" id="{52D556C6-6749-974D-FE00-053FCFC91002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tono audiométrico exige nivel y calibración</a:t>
            </a:r>
          </a:p>
        </p:txBody>
      </p:sp>
      <p:sp>
        <p:nvSpPr>
          <p:cNvPr id="15" name="Marcador de número de diapositiva 14">
            <a:extLst>
              <a:ext uri="{FF2B5EF4-FFF2-40B4-BE49-F238E27FC236}">
                <a16:creationId xmlns:a16="http://schemas.microsoft.com/office/drawing/2014/main" id="{8DADC982-ECBE-DC77-CD69-BF0C0D93F5BB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472DB7CE-501A-BBF4-0CAD-B084CE0A592C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46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u03_U03-046_eyebrow">
            <a:extLst>
              <a:ext uri="{FF2B5EF4-FFF2-40B4-BE49-F238E27FC236}">
                <a16:creationId xmlns:a16="http://schemas.microsoft.com/office/drawing/2014/main" id="{DEA6E8CE-1FE7-4D7B-A801-19F7FD3E7AC1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TONO PURO Y PARLANTE</a:t>
            </a:r>
          </a:p>
        </p:txBody>
      </p:sp>
      <p:sp>
        <p:nvSpPr>
          <p:cNvPr id="18" name="U03-046_caption">
            <a:extLst>
              <a:ext uri="{FF2B5EF4-FFF2-40B4-BE49-F238E27FC236}">
                <a16:creationId xmlns:a16="http://schemas.microsoft.com/office/drawing/2014/main" id="{570ED518-C196-4174-8DD3-43D63C6B12F1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La forma sinusoidal y la frecuencia no bastan para garantizar el estímulo entregado al paciente.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14-S047" descr="Diagrama conceptual con título «Un mismo patrón, cuatro variables físicas». Cadena reducida con una pregunta por etapa: variable, unidad, qué oscila y qué se propaga.">
            <a:extLst>
              <a:ext uri="{FF2B5EF4-FFF2-40B4-BE49-F238E27FC236}">
                <a16:creationId xmlns:a16="http://schemas.microsoft.com/office/drawing/2014/main" id="{E554ECE4-6782-AE81-9796-04129CE19954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7" name="Título 16">
            <a:extLst>
              <a:ext uri="{FF2B5EF4-FFF2-40B4-BE49-F238E27FC236}">
                <a16:creationId xmlns:a16="http://schemas.microsoft.com/office/drawing/2014/main" id="{C12ACA3A-68E6-5C6E-E9AB-8D78B9E1C4FD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mismo patrón, cuatro variables físicas</a:t>
            </a:r>
          </a:p>
        </p:txBody>
      </p:sp>
      <p:sp>
        <p:nvSpPr>
          <p:cNvPr id="20" name="Marcador de número de diapositiva 19">
            <a:extLst>
              <a:ext uri="{FF2B5EF4-FFF2-40B4-BE49-F238E27FC236}">
                <a16:creationId xmlns:a16="http://schemas.microsoft.com/office/drawing/2014/main" id="{18081493-A553-AC13-4BA5-17CFA71BB2B5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F766E625-45F0-7FC0-7206-B9D4780D3461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47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u03_U03-047_eyebrow">
            <a:extLst>
              <a:ext uri="{FF2B5EF4-FFF2-40B4-BE49-F238E27FC236}">
                <a16:creationId xmlns:a16="http://schemas.microsoft.com/office/drawing/2014/main" id="{45BE036B-E0C8-4689-A4E7-D2ACEEE7CFF7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TONO PURO Y PARLANTE</a:t>
            </a:r>
          </a:p>
        </p:txBody>
      </p:sp>
      <p:sp>
        <p:nvSpPr>
          <p:cNvPr id="23" name="U03-047_caption">
            <a:extLst>
              <a:ext uri="{FF2B5EF4-FFF2-40B4-BE49-F238E27FC236}">
                <a16:creationId xmlns:a16="http://schemas.microsoft.com/office/drawing/2014/main" id="{DF0708AF-DFDC-4640-851D-7C2273245501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La sinusoidalidad puede repetirse en tensión, desplazamiento y presión sin volverlas la misma magnitud.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BB930E3-E4A7-44EF-B08A-F7893EAB5591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838200" y="2238375"/>
            <a:ext cx="9334500" cy="1047750"/>
          </a:xfrm>
        </p:spPr>
        <p:txBody>
          <a:bodyPr wrap="square" lIns="0" tIns="0" rIns="0" bIns="0" anchor="ctr">
            <a:noAutofit/>
          </a:bodyPr>
          <a:lstStyle/>
          <a:p>
            <a:pPr>
              <a:defRPr sz="43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3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La onda depende del tiempo y del lugar</a:t>
            </a:r>
          </a:p>
        </p:txBody>
      </p:sp>
      <p:sp>
        <p:nvSpPr>
          <p:cNvPr id="8" name="Subtítulo 7">
            <a:extLst>
              <a:ext uri="{FF2B5EF4-FFF2-40B4-BE49-F238E27FC236}">
                <a16:creationId xmlns:a16="http://schemas.microsoft.com/office/drawing/2014/main" id="{8E526FA8-359B-79C7-0914-E7D02BA2B41C}"/>
              </a:ext>
            </a:extLst>
          </p:cNvPr>
          <p:cNvSpPr>
            <a:spLocks noGrp="1"/>
          </p:cNvSpPr>
          <p:nvPr>
            <p:ph type="subTitle" idx="11"/>
          </p:nvPr>
        </p:nvSpPr>
        <p:spPr>
          <a:xfrm>
            <a:off x="838200" y="3429000"/>
            <a:ext cx="9334500" cy="723900"/>
          </a:xfrm>
        </p:spPr>
        <p:txBody>
          <a:bodyPr wrap="square" lIns="0" tIns="0" rIns="0" bIns="0">
            <a:noAutofit/>
          </a:bodyPr>
          <a:lstStyle/>
          <a:p>
            <a:r>
              <a:t>Una onda viajera requiere dos coordenadas independientes.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08C11FF-1310-C67B-A471-A3573013EA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fld id="{79CF87E8-8F71-04A5-6F3A-BEE8F630D5E2}" type="slidenum">
              <a:rPr sz="112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48</a:t>
            </a:fld>
            <a:endParaRPr sz="1125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u03_U03-048_eyebrow">
            <a:extLst>
              <a:ext uri="{FF2B5EF4-FFF2-40B4-BE49-F238E27FC236}">
                <a16:creationId xmlns:a16="http://schemas.microsoft.com/office/drawing/2014/main" id="{92B28F41-61CD-468C-A384-1EAD7A128115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3 · ONDA VIAJERA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17-S049" descr="Diagrama conceptual con título «`ξ(x,t)` asigna un estado a cada lugar y cada instante». Tabla mínima de tres posiciones y tres instantes; notación ξ(x,t) y pregunta asociada a cada argumento.">
            <a:extLst>
              <a:ext uri="{FF2B5EF4-FFF2-40B4-BE49-F238E27FC236}">
                <a16:creationId xmlns:a16="http://schemas.microsoft.com/office/drawing/2014/main" id="{77ABF810-E362-88B6-CAA6-FED5B27B800F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F05217D6-0CEE-3D64-7AC1-D204B82D9C46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ξ(x,t) asigna un estado a cada lugar y cada instante</a:t>
            </a:r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12BF3667-16D3-B7A0-EF76-B375EF898D79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AD74175A-4E66-87FD-D56A-AAD4D4BBF877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49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u03_U03-049_eyebrow">
            <a:extLst>
              <a:ext uri="{FF2B5EF4-FFF2-40B4-BE49-F238E27FC236}">
                <a16:creationId xmlns:a16="http://schemas.microsoft.com/office/drawing/2014/main" id="{ADA00602-9224-4C16-8408-47378F48AD60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ONDA VIAJERA</a:t>
            </a:r>
          </a:p>
        </p:txBody>
      </p:sp>
      <p:sp>
        <p:nvSpPr>
          <p:cNvPr id="16" name="U03-049_caption">
            <a:extLst>
              <a:ext uri="{FF2B5EF4-FFF2-40B4-BE49-F238E27FC236}">
                <a16:creationId xmlns:a16="http://schemas.microsoft.com/office/drawing/2014/main" id="{E510B1EE-E846-4355-AF76-F19B41247206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Para describir la propagación hay que indicar dónde y cuándo se observa.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CH007" descr="Gráfico cuantitativo con título «Un mapa espacio–tiempo muestra el avance». Mapa de color o superficie 2D de ξ(x,t) con ejes, unidades y dos líneas de corte.">
            <a:extLst>
              <a:ext uri="{FF2B5EF4-FFF2-40B4-BE49-F238E27FC236}">
                <a16:creationId xmlns:a16="http://schemas.microsoft.com/office/drawing/2014/main" id="{42D04A12-4E9F-F83D-8A98-9D7D9F81F47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24" name="Título 23">
            <a:extLst>
              <a:ext uri="{FF2B5EF4-FFF2-40B4-BE49-F238E27FC236}">
                <a16:creationId xmlns:a16="http://schemas.microsoft.com/office/drawing/2014/main" id="{6430AFA8-9094-1DB6-842A-986076FB7B38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 mapa espacio–tiempo muestra el avance</a:t>
            </a:r>
          </a:p>
        </p:txBody>
      </p:sp>
      <p:sp>
        <p:nvSpPr>
          <p:cNvPr id="26" name="Marcador de número de diapositiva 25">
            <a:extLst>
              <a:ext uri="{FF2B5EF4-FFF2-40B4-BE49-F238E27FC236}">
                <a16:creationId xmlns:a16="http://schemas.microsoft.com/office/drawing/2014/main" id="{E82CC427-17D1-D7E7-6008-F7922268FB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3491E0C6-B3E9-2F0E-6F4F-4638278C4AE4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50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u03_U03-050_eyebrow">
            <a:extLst>
              <a:ext uri="{FF2B5EF4-FFF2-40B4-BE49-F238E27FC236}">
                <a16:creationId xmlns:a16="http://schemas.microsoft.com/office/drawing/2014/main" id="{B203CCBC-6C1A-41C4-B596-A61C726B0488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ONDA VIAJERA</a:t>
            </a:r>
          </a:p>
        </p:txBody>
      </p:sp>
      <p:sp>
        <p:nvSpPr>
          <p:cNvPr id="29" name="U03-050_caption">
            <a:extLst>
              <a:ext uri="{FF2B5EF4-FFF2-40B4-BE49-F238E27FC236}">
                <a16:creationId xmlns:a16="http://schemas.microsoft.com/office/drawing/2014/main" id="{6C33A6E9-F6B4-443C-95F4-BA797F9B7558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Las crestas y estados de fase se desplazan con una pendiente que representa rapidez. · Gráfico propio reproducible.</a:t>
            </a:r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CH007" descr="Gráfico cuantitativo con título «En un punto fijo leemos un registro temporal». Punto fijo en el medio, señal ξ(x₀,t), marcas de período y unidad temporal.">
            <a:extLst>
              <a:ext uri="{FF2B5EF4-FFF2-40B4-BE49-F238E27FC236}">
                <a16:creationId xmlns:a16="http://schemas.microsoft.com/office/drawing/2014/main" id="{AEB5D796-0C0A-F293-98EE-8B67017F2C2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2EF821FB-EFFC-EF41-BABC-394083512C25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En un punto fijo leemos un registro temporal</a:t>
            </a:r>
          </a:p>
        </p:txBody>
      </p:sp>
      <p:sp>
        <p:nvSpPr>
          <p:cNvPr id="18" name="Marcador de número de diapositiva 17">
            <a:extLst>
              <a:ext uri="{FF2B5EF4-FFF2-40B4-BE49-F238E27FC236}">
                <a16:creationId xmlns:a16="http://schemas.microsoft.com/office/drawing/2014/main" id="{7BC74996-1398-61FE-9DC2-28F79E0C2E8F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6043A58D-60CA-DFB2-80EC-B65AE4CB9481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51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u03_U03-051_eyebrow">
            <a:extLst>
              <a:ext uri="{FF2B5EF4-FFF2-40B4-BE49-F238E27FC236}">
                <a16:creationId xmlns:a16="http://schemas.microsoft.com/office/drawing/2014/main" id="{A9862E0C-24A8-4F38-8E51-FFB4218F250F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ONDA VIAJERA</a:t>
            </a:r>
          </a:p>
        </p:txBody>
      </p:sp>
      <p:sp>
        <p:nvSpPr>
          <p:cNvPr id="21" name="U03-051_caption">
            <a:extLst>
              <a:ext uri="{FF2B5EF4-FFF2-40B4-BE49-F238E27FC236}">
                <a16:creationId xmlns:a16="http://schemas.microsoft.com/office/drawing/2014/main" id="{EE45756D-E691-46B7-B92F-A5F2202B2AB2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Un observador inmóvil mide repetición en el tiempo y obtiene T y f. · Gráfico propio reproducible.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CH007" descr="Gráfico cuantitativo con título «En un instante fijo leemos un perfil espacial». Medio en un instante, gráfico ξ(x,t₀), marcas de longitud de onda y unidad espacial.">
            <a:extLst>
              <a:ext uri="{FF2B5EF4-FFF2-40B4-BE49-F238E27FC236}">
                <a16:creationId xmlns:a16="http://schemas.microsoft.com/office/drawing/2014/main" id="{EE473640-6196-186F-0215-880C8CBA650A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2EF821FB-EFFC-EF41-BABC-394083512C25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En un instante fijo leemos un perfil espacial</a:t>
            </a:r>
          </a:p>
        </p:txBody>
      </p:sp>
      <p:sp>
        <p:nvSpPr>
          <p:cNvPr id="18" name="Marcador de número de diapositiva 17">
            <a:extLst>
              <a:ext uri="{FF2B5EF4-FFF2-40B4-BE49-F238E27FC236}">
                <a16:creationId xmlns:a16="http://schemas.microsoft.com/office/drawing/2014/main" id="{7BC74996-1398-61FE-9DC2-28F79E0C2E8F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E633A456-5465-3671-5B0B-A8DFBB753E5A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52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u03_U03-052_eyebrow">
            <a:extLst>
              <a:ext uri="{FF2B5EF4-FFF2-40B4-BE49-F238E27FC236}">
                <a16:creationId xmlns:a16="http://schemas.microsoft.com/office/drawing/2014/main" id="{B0FBD5AD-3905-4577-9E78-7BDC3E8D182B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ONDA VIAJERA</a:t>
            </a:r>
          </a:p>
        </p:txBody>
      </p:sp>
      <p:sp>
        <p:nvSpPr>
          <p:cNvPr id="21" name="U03-052_caption">
            <a:extLst>
              <a:ext uri="{FF2B5EF4-FFF2-40B4-BE49-F238E27FC236}">
                <a16:creationId xmlns:a16="http://schemas.microsoft.com/office/drawing/2014/main" id="{60C2444F-6404-4D94-839D-626703A5E179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Una fotografía instantánea permite medir repetición en el espacio y obtener λ. · Gráfico propio reproducible.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18-S053" descr="Esquema mixto con título «Período y longitud de onda repiten estados en ejes distintos». Dos gráficos coordinados con mismo código de fase; tabla de símbolo, eje, unidad y condición de lectura.">
            <a:extLst>
              <a:ext uri="{FF2B5EF4-FFF2-40B4-BE49-F238E27FC236}">
                <a16:creationId xmlns:a16="http://schemas.microsoft.com/office/drawing/2014/main" id="{3E40EF73-3599-411F-4699-EE9704D64234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6" name="Título 15">
            <a:extLst>
              <a:ext uri="{FF2B5EF4-FFF2-40B4-BE49-F238E27FC236}">
                <a16:creationId xmlns:a16="http://schemas.microsoft.com/office/drawing/2014/main" id="{3F400882-E536-6293-8F25-E1201F15D0EE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Período y longitud de onda: tiempo y espacio</a:t>
            </a:r>
          </a:p>
        </p:txBody>
      </p:sp>
      <p:sp>
        <p:nvSpPr>
          <p:cNvPr id="19" name="Marcador de número de diapositiva 18">
            <a:extLst>
              <a:ext uri="{FF2B5EF4-FFF2-40B4-BE49-F238E27FC236}">
                <a16:creationId xmlns:a16="http://schemas.microsoft.com/office/drawing/2014/main" id="{3701E013-5363-F7F5-9233-7CB612036904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4477B42F-3A06-F812-16D6-7080D8A12563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53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u03_U03-053_eyebrow">
            <a:extLst>
              <a:ext uri="{FF2B5EF4-FFF2-40B4-BE49-F238E27FC236}">
                <a16:creationId xmlns:a16="http://schemas.microsoft.com/office/drawing/2014/main" id="{27075E51-A5FD-40AA-BA8E-C9866D6F686B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ONDA VIAJERA</a:t>
            </a:r>
          </a:p>
        </p:txBody>
      </p:sp>
      <p:sp>
        <p:nvSpPr>
          <p:cNvPr id="22" name="U03-053_caption">
            <a:extLst>
              <a:ext uri="{FF2B5EF4-FFF2-40B4-BE49-F238E27FC236}">
                <a16:creationId xmlns:a16="http://schemas.microsoft.com/office/drawing/2014/main" id="{84C40B9D-1387-45D5-8615-B6847DD9166A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T es una separación temporal; λ es una separación espacial entre estados de fase equivalentes.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CH007" descr="Gráfico cuantitativo con título «La longitud de onda mide repetición espacial». Definición, unidad m, ejemplos cresta–cresta y cruce equivalente; contraejemplo cresta–valle.">
            <a:extLst>
              <a:ext uri="{FF2B5EF4-FFF2-40B4-BE49-F238E27FC236}">
                <a16:creationId xmlns:a16="http://schemas.microsoft.com/office/drawing/2014/main" id="{54402EBB-77D7-C86D-BDD7-CA27940E4BB4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F05217D6-0CEE-3D64-7AC1-D204B82D9C46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longitud de onda mide repetición espacial</a:t>
            </a:r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12BF3667-16D3-B7A0-EF76-B375EF898D79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2FFCF489-DFD6-64BD-BCB3-4D97AF36B1FB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54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u03_U03-054_eyebrow">
            <a:extLst>
              <a:ext uri="{FF2B5EF4-FFF2-40B4-BE49-F238E27FC236}">
                <a16:creationId xmlns:a16="http://schemas.microsoft.com/office/drawing/2014/main" id="{8C623C3C-9834-4BE7-9548-3C02817FE36C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ONDA VIAJERA</a:t>
            </a:r>
          </a:p>
        </p:txBody>
      </p:sp>
      <p:sp>
        <p:nvSpPr>
          <p:cNvPr id="16" name="U03-054_caption">
            <a:extLst>
              <a:ext uri="{FF2B5EF4-FFF2-40B4-BE49-F238E27FC236}">
                <a16:creationId xmlns:a16="http://schemas.microsoft.com/office/drawing/2014/main" id="{8CC56291-FF88-48FC-8BD4-305C53764FC4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Se mide entre dos puntos espaciales consecutivos que están en el mismo estado de ciclo. · Gráfico propio reproducible.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19-S055" descr="Ecuación anotada con título «Una expresión viajera combina fase espacial y temporal». ξ(x,t)=A_ξ cos(2πft-2πx/λ+φ₀); grupos temporal, espacial e inicial; límites del modelo.">
            <a:extLst>
              <a:ext uri="{FF2B5EF4-FFF2-40B4-BE49-F238E27FC236}">
                <a16:creationId xmlns:a16="http://schemas.microsoft.com/office/drawing/2014/main" id="{5B8D1566-BF90-E47E-FC90-BC6F7AD7BD3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FAF2A3BF-104E-8B53-38D4-5730F463E9CC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Una expresión viajera combina fase espacial y temporal</a:t>
            </a:r>
          </a:p>
        </p:txBody>
      </p:sp>
      <p:sp>
        <p:nvSpPr>
          <p:cNvPr id="18" name="Marcador de número de diapositiva 17">
            <a:extLst>
              <a:ext uri="{FF2B5EF4-FFF2-40B4-BE49-F238E27FC236}">
                <a16:creationId xmlns:a16="http://schemas.microsoft.com/office/drawing/2014/main" id="{FA71A55B-B389-7001-A9E1-319E4426EE2D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4C0BC6D5-207B-F838-F994-CD836D38A6B0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55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u03_U03-055_eyebrow">
            <a:extLst>
              <a:ext uri="{FF2B5EF4-FFF2-40B4-BE49-F238E27FC236}">
                <a16:creationId xmlns:a16="http://schemas.microsoft.com/office/drawing/2014/main" id="{1D883F79-8EF7-4743-B454-5DB22572A6FC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ONDA VIAJERA</a:t>
            </a:r>
          </a:p>
        </p:txBody>
      </p:sp>
      <p:sp>
        <p:nvSpPr>
          <p:cNvPr id="21" name="U03-055_caption">
            <a:extLst>
              <a:ext uri="{FF2B5EF4-FFF2-40B4-BE49-F238E27FC236}">
                <a16:creationId xmlns:a16="http://schemas.microsoft.com/office/drawing/2014/main" id="{147CAAC1-D6BE-4D0F-A7BE-6737E7348596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El argumento cambia con x y t; el signo determina la dirección de avance según la convención.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19-S056" descr="Esquema mixto con título «En un período la onda avanza una longitud de onda». Razonamiento c=λ/T, sustitución f=1/T, resultado c=λf; símbolos, unidades y condiciones de medio.">
            <a:extLst>
              <a:ext uri="{FF2B5EF4-FFF2-40B4-BE49-F238E27FC236}">
                <a16:creationId xmlns:a16="http://schemas.microsoft.com/office/drawing/2014/main" id="{3ADBA696-87E9-7A91-55D6-2B836B8269D0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FAF2A3BF-104E-8B53-38D4-5730F463E9CC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En un período la onda avanza una longitud de onda</a:t>
            </a:r>
          </a:p>
        </p:txBody>
      </p:sp>
      <p:sp>
        <p:nvSpPr>
          <p:cNvPr id="18" name="Marcador de número de diapositiva 17">
            <a:extLst>
              <a:ext uri="{FF2B5EF4-FFF2-40B4-BE49-F238E27FC236}">
                <a16:creationId xmlns:a16="http://schemas.microsoft.com/office/drawing/2014/main" id="{FA71A55B-B389-7001-A9E1-319E4426EE2D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53265AEE-4D99-0673-12C8-99EFF695690A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56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u03_U03-056_eyebrow">
            <a:extLst>
              <a:ext uri="{FF2B5EF4-FFF2-40B4-BE49-F238E27FC236}">
                <a16:creationId xmlns:a16="http://schemas.microsoft.com/office/drawing/2014/main" id="{0809417A-A201-4BA9-8B5D-E2AD62C97B14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ONDA VIAJERA</a:t>
            </a:r>
          </a:p>
        </p:txBody>
      </p:sp>
      <p:sp>
        <p:nvSpPr>
          <p:cNvPr id="21" name="U03-056_caption">
            <a:extLst>
              <a:ext uri="{FF2B5EF4-FFF2-40B4-BE49-F238E27FC236}">
                <a16:creationId xmlns:a16="http://schemas.microsoft.com/office/drawing/2014/main" id="{331089F7-A490-4494-A142-FEFA2335F81D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La rapidez de propagación enlaza repetición espacial y temporal.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19-S057" descr="Esquema mixto con título «A 1000 Hz, una onda recorre 34 cm por ciclo». Datos, despeje, sustitución, λ=0,34 m, conversión a cm e interpretación; condición del valor de c.">
            <a:extLst>
              <a:ext uri="{FF2B5EF4-FFF2-40B4-BE49-F238E27FC236}">
                <a16:creationId xmlns:a16="http://schemas.microsoft.com/office/drawing/2014/main" id="{15CF9AF6-71B0-D83A-8AB0-7CB074B61065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21" name="Título 20">
            <a:extLst>
              <a:ext uri="{FF2B5EF4-FFF2-40B4-BE49-F238E27FC236}">
                <a16:creationId xmlns:a16="http://schemas.microsoft.com/office/drawing/2014/main" id="{BFAACB0A-B001-9EF5-E20D-72DCFAB8AD76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 1000 Hz, una onda recorre 34 cm por ciclo</a:t>
            </a:r>
          </a:p>
        </p:txBody>
      </p:sp>
      <p:sp>
        <p:nvSpPr>
          <p:cNvPr id="24" name="Marcador de número de diapositiva 23">
            <a:extLst>
              <a:ext uri="{FF2B5EF4-FFF2-40B4-BE49-F238E27FC236}">
                <a16:creationId xmlns:a16="http://schemas.microsoft.com/office/drawing/2014/main" id="{D4631810-29E2-3802-8D4E-7DEAB08103EF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8F0DF58B-F0CC-EE04-B3E8-87EC24B7009F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57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" name="u03_U03-057_eyebrow">
            <a:extLst>
              <a:ext uri="{FF2B5EF4-FFF2-40B4-BE49-F238E27FC236}">
                <a16:creationId xmlns:a16="http://schemas.microsoft.com/office/drawing/2014/main" id="{B151A332-05FF-4934-91EC-6BCFCA01BAB3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ONDA VIAJERA</a:t>
            </a:r>
          </a:p>
        </p:txBody>
      </p:sp>
      <p:sp>
        <p:nvSpPr>
          <p:cNvPr id="27" name="U03-057_caption">
            <a:extLst>
              <a:ext uri="{FF2B5EF4-FFF2-40B4-BE49-F238E27FC236}">
                <a16:creationId xmlns:a16="http://schemas.microsoft.com/office/drawing/2014/main" id="{AD9619F4-4E13-4A20-A4BC-BF7073B3DBCB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En aire a c≈340 m/s, una frecuencia mayor corresponde a una longitud de onda menor bajo las mismas condiciones.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CH008" descr="Gráfico cuantitativo con título «Lea `T` y `λ`; luego calcule `c`». Dos gráficos coordinados, espacios para T, f, λ, c y unidades; datos diseñados para números simples.">
            <a:extLst>
              <a:ext uri="{FF2B5EF4-FFF2-40B4-BE49-F238E27FC236}">
                <a16:creationId xmlns:a16="http://schemas.microsoft.com/office/drawing/2014/main" id="{59CA3830-9880-9F37-92BD-3517432BCE4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1" name="Título 10">
            <a:extLst>
              <a:ext uri="{FF2B5EF4-FFF2-40B4-BE49-F238E27FC236}">
                <a16:creationId xmlns:a16="http://schemas.microsoft.com/office/drawing/2014/main" id="{8518341A-3BB2-613E-8B5C-0FCDB876E026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Lea T y λ; luego calcule c</a:t>
            </a:r>
          </a:p>
        </p:txBody>
      </p:sp>
      <p:sp>
        <p:nvSpPr>
          <p:cNvPr id="14" name="Marcador de número de diapositiva 13">
            <a:extLst>
              <a:ext uri="{FF2B5EF4-FFF2-40B4-BE49-F238E27FC236}">
                <a16:creationId xmlns:a16="http://schemas.microsoft.com/office/drawing/2014/main" id="{6F0E431F-4E1E-5064-2E0C-9F4C713D3097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AC5D86DB-0D22-4F3A-B798-73C3EACC87D6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58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u03_U03-058_eyebrow">
            <a:extLst>
              <a:ext uri="{FF2B5EF4-FFF2-40B4-BE49-F238E27FC236}">
                <a16:creationId xmlns:a16="http://schemas.microsoft.com/office/drawing/2014/main" id="{986B6361-C543-4F8A-AD5D-E5AC57B72D96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ONDA VIAJERA</a:t>
            </a:r>
          </a:p>
        </p:txBody>
      </p:sp>
      <p:sp>
        <p:nvSpPr>
          <p:cNvPr id="17" name="U03-058_caption">
            <a:extLst>
              <a:ext uri="{FF2B5EF4-FFF2-40B4-BE49-F238E27FC236}">
                <a16:creationId xmlns:a16="http://schemas.microsoft.com/office/drawing/2014/main" id="{982DFF17-60BE-460B-9E78-8FC708D5DB1B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El cálculo correcto exige leer cada repetición en su eje correspondiente. · Gráfico propio reproducible.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19-S059" descr="Esquema mixto con título «Mismo fenómeno, dos cortes y una relación». Mapa ξ(x,t) → corte temporal → corte espacial → c=λf; pregunta de salida del bloque.">
            <a:extLst>
              <a:ext uri="{FF2B5EF4-FFF2-40B4-BE49-F238E27FC236}">
                <a16:creationId xmlns:a16="http://schemas.microsoft.com/office/drawing/2014/main" id="{1A922457-D018-5571-46C2-6CFA56FE93DB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7" name="Título 16">
            <a:extLst>
              <a:ext uri="{FF2B5EF4-FFF2-40B4-BE49-F238E27FC236}">
                <a16:creationId xmlns:a16="http://schemas.microsoft.com/office/drawing/2014/main" id="{C12ACA3A-68E6-5C6E-E9AB-8D78B9E1C4FD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Mismo fenómeno, dos cortes y una relación</a:t>
            </a:r>
          </a:p>
        </p:txBody>
      </p:sp>
      <p:sp>
        <p:nvSpPr>
          <p:cNvPr id="20" name="Marcador de número de diapositiva 19">
            <a:extLst>
              <a:ext uri="{FF2B5EF4-FFF2-40B4-BE49-F238E27FC236}">
                <a16:creationId xmlns:a16="http://schemas.microsoft.com/office/drawing/2014/main" id="{18081493-A553-AC13-4BA5-17CFA71BB2B5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39F1FA4F-5E1D-6DD7-8899-DB45C4C32C6E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59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u03_U03-059_eyebrow">
            <a:extLst>
              <a:ext uri="{FF2B5EF4-FFF2-40B4-BE49-F238E27FC236}">
                <a16:creationId xmlns:a16="http://schemas.microsoft.com/office/drawing/2014/main" id="{50F12C06-74BA-47E6-A75C-2BD42BDE9B22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ONDA VIAJERA</a:t>
            </a:r>
          </a:p>
        </p:txBody>
      </p:sp>
      <p:sp>
        <p:nvSpPr>
          <p:cNvPr id="23" name="U03-059_caption">
            <a:extLst>
              <a:ext uri="{FF2B5EF4-FFF2-40B4-BE49-F238E27FC236}">
                <a16:creationId xmlns:a16="http://schemas.microsoft.com/office/drawing/2014/main" id="{FFB43DF7-C21B-4ED4-8E5B-DDA221BA0E96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T se lee en tiempo, λ en espacio y c conecta ambas escalas.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BB930E3-E4A7-44EF-B08A-F7893EAB5591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838200" y="2238375"/>
            <a:ext cx="9334500" cy="1047750"/>
          </a:xfrm>
        </p:spPr>
        <p:txBody>
          <a:bodyPr wrap="square" lIns="0" tIns="0" rIns="0" bIns="0" anchor="ctr">
            <a:noAutofit/>
          </a:bodyPr>
          <a:lstStyle/>
          <a:p>
            <a:pPr>
              <a:defRPr sz="43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3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La partícula se mueve; la onda avanza</a:t>
            </a:r>
          </a:p>
        </p:txBody>
      </p:sp>
      <p:sp>
        <p:nvSpPr>
          <p:cNvPr id="8" name="Subtítulo 7">
            <a:extLst>
              <a:ext uri="{FF2B5EF4-FFF2-40B4-BE49-F238E27FC236}">
                <a16:creationId xmlns:a16="http://schemas.microsoft.com/office/drawing/2014/main" id="{8E526FA8-359B-79C7-0914-E7D02BA2B41C}"/>
              </a:ext>
            </a:extLst>
          </p:cNvPr>
          <p:cNvSpPr>
            <a:spLocks noGrp="1"/>
          </p:cNvSpPr>
          <p:nvPr>
            <p:ph type="subTitle" idx="11"/>
          </p:nvPr>
        </p:nvSpPr>
        <p:spPr>
          <a:xfrm>
            <a:off x="838200" y="3429000"/>
            <a:ext cx="9334500" cy="723900"/>
          </a:xfrm>
        </p:spPr>
        <p:txBody>
          <a:bodyPr wrap="square" lIns="0" tIns="0" rIns="0" bIns="0">
            <a:noAutofit/>
          </a:bodyPr>
          <a:lstStyle/>
          <a:p>
            <a:r>
              <a:t>Velocidad local y velocidad de propagación responden preguntas distintas.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08C11FF-1310-C67B-A471-A3573013EA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fld id="{28F55584-BE3A-83D9-FA7F-21221C333295}" type="slidenum">
              <a:rPr sz="112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60</a:t>
            </a:fld>
            <a:endParaRPr sz="1125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u03_U03-060_eyebrow">
            <a:extLst>
              <a:ext uri="{FF2B5EF4-FFF2-40B4-BE49-F238E27FC236}">
                <a16:creationId xmlns:a16="http://schemas.microsoft.com/office/drawing/2014/main" id="{57F4EF5A-41DC-42FA-95B5-9991E127EB82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3 · VELOCIDADES Y FASE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20-S062" descr="Secuencia animada con alternativa estática con título «Siga una partícula y siga una cresta». Dos consignas de seguimiento sobre la misma animación; marcadores distintos.">
            <a:extLst>
              <a:ext uri="{FF2B5EF4-FFF2-40B4-BE49-F238E27FC236}">
                <a16:creationId xmlns:a16="http://schemas.microsoft.com/office/drawing/2014/main" id="{8C85A4A3-D847-EFFD-0464-4BAB9C979ECE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FDEFA639-BD38-F6AB-B29B-B977F08744DD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Siga una partícula y siga una cresta</a:t>
            </a:r>
          </a:p>
        </p:txBody>
      </p:sp>
      <p:sp>
        <p:nvSpPr>
          <p:cNvPr id="15" name="Marcador de número de diapositiva 14">
            <a:extLst>
              <a:ext uri="{FF2B5EF4-FFF2-40B4-BE49-F238E27FC236}">
                <a16:creationId xmlns:a16="http://schemas.microsoft.com/office/drawing/2014/main" id="{817719D9-501B-28AD-B78E-917C652F4997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F1E013D6-0C4B-FE2D-855A-F1342FCB0974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61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u03_U03-061_eyebrow">
            <a:extLst>
              <a:ext uri="{FF2B5EF4-FFF2-40B4-BE49-F238E27FC236}">
                <a16:creationId xmlns:a16="http://schemas.microsoft.com/office/drawing/2014/main" id="{0E48EC9B-18F1-42A5-9C77-11F519BABE49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VELOCIDADES Y FASE</a:t>
            </a:r>
          </a:p>
        </p:txBody>
      </p:sp>
      <p:sp>
        <p:nvSpPr>
          <p:cNvPr id="18" name="U03-061_caption">
            <a:extLst>
              <a:ext uri="{FF2B5EF4-FFF2-40B4-BE49-F238E27FC236}">
                <a16:creationId xmlns:a16="http://schemas.microsoft.com/office/drawing/2014/main" id="{04426F51-40C7-4DDE-9CB0-674C54817A60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lang="es-MX"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Una partícula invierte su sentido localmente mientras una cresta puede seguir avanzando. · Diagrama propio validado; no está a escala.</a:t>
            </a:r>
            <a:endParaRPr sz="1275" b="0">
              <a:solidFill>
                <a:srgbClr val="68737D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4621338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20-S062" descr="Diagrama conceptual con título «`u` describe movimiento local; `c` describe propagación». Tabla de referente, dirección, variación, unidad y cómo se mide; notación conforme a la guía.">
            <a:extLst>
              <a:ext uri="{FF2B5EF4-FFF2-40B4-BE49-F238E27FC236}">
                <a16:creationId xmlns:a16="http://schemas.microsoft.com/office/drawing/2014/main" id="{8D2CA48C-A9DA-33F4-A066-1C2D046F3CC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6" name="Título 15">
            <a:extLst>
              <a:ext uri="{FF2B5EF4-FFF2-40B4-BE49-F238E27FC236}">
                <a16:creationId xmlns:a16="http://schemas.microsoft.com/office/drawing/2014/main" id="{3F400882-E536-6293-8F25-E1201F15D0EE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u es movimiento local; c, propagación</a:t>
            </a:r>
          </a:p>
        </p:txBody>
      </p:sp>
      <p:sp>
        <p:nvSpPr>
          <p:cNvPr id="19" name="Marcador de número de diapositiva 18">
            <a:extLst>
              <a:ext uri="{FF2B5EF4-FFF2-40B4-BE49-F238E27FC236}">
                <a16:creationId xmlns:a16="http://schemas.microsoft.com/office/drawing/2014/main" id="{3701E013-5363-F7F5-9233-7CB612036904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E71E1DC6-F89D-8D69-6333-36D980A4F9DD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62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u03_U03-062_eyebrow">
            <a:extLst>
              <a:ext uri="{FF2B5EF4-FFF2-40B4-BE49-F238E27FC236}">
                <a16:creationId xmlns:a16="http://schemas.microsoft.com/office/drawing/2014/main" id="{7219E214-A06C-4CFC-B881-4EBDA75EAE1C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VELOCIDADES Y FASE</a:t>
            </a:r>
          </a:p>
        </p:txBody>
      </p:sp>
      <p:sp>
        <p:nvSpPr>
          <p:cNvPr id="22" name="U03-062_caption">
            <a:extLst>
              <a:ext uri="{FF2B5EF4-FFF2-40B4-BE49-F238E27FC236}">
                <a16:creationId xmlns:a16="http://schemas.microsoft.com/office/drawing/2014/main" id="{1224D358-F99A-43DC-A1C5-17471B862A96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u cambia durante el ciclo; c caracteriza el avance de una fase en el medio.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CH009" descr="Esquema mixto con título «Aumentar la frecuencia no obliga a aumentar `c`». Error, condición del medio y comparación de dos frecuencias con longitudes de onda inversas.">
            <a:extLst>
              <a:ext uri="{FF2B5EF4-FFF2-40B4-BE49-F238E27FC236}">
                <a16:creationId xmlns:a16="http://schemas.microsoft.com/office/drawing/2014/main" id="{076FF68B-92D0-E104-235C-DEF1A66F60F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3" name="Título 12">
            <a:extLst>
              <a:ext uri="{FF2B5EF4-FFF2-40B4-BE49-F238E27FC236}">
                <a16:creationId xmlns:a16="http://schemas.microsoft.com/office/drawing/2014/main" id="{44CFAA6A-E4FB-BA96-3ED4-B652EF96F62F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Aumentar la frecuencia no obliga a aumentar c</a:t>
            </a:r>
          </a:p>
        </p:txBody>
      </p:sp>
      <p:sp>
        <p:nvSpPr>
          <p:cNvPr id="16" name="Marcador de número de diapositiva 15">
            <a:extLst>
              <a:ext uri="{FF2B5EF4-FFF2-40B4-BE49-F238E27FC236}">
                <a16:creationId xmlns:a16="http://schemas.microsoft.com/office/drawing/2014/main" id="{A3B291B6-2F9F-F87F-EE7A-EE2204EF18D2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E8BECC1C-8AF1-E14F-B384-26C5966C006A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63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u03_U03-063_eyebrow">
            <a:extLst>
              <a:ext uri="{FF2B5EF4-FFF2-40B4-BE49-F238E27FC236}">
                <a16:creationId xmlns:a16="http://schemas.microsoft.com/office/drawing/2014/main" id="{D1023B0C-1D1B-4E8F-88B4-41F6C0C9912A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VELOCIDADES Y FASE</a:t>
            </a:r>
          </a:p>
        </p:txBody>
      </p:sp>
      <p:sp>
        <p:nvSpPr>
          <p:cNvPr id="19" name="U03-063_caption">
            <a:extLst>
              <a:ext uri="{FF2B5EF4-FFF2-40B4-BE49-F238E27FC236}">
                <a16:creationId xmlns:a16="http://schemas.microsoft.com/office/drawing/2014/main" id="{23777D7C-D5DC-4D1D-AAAE-6A3F5420D69C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En un mismo medio, si c permanece aproximadamente fija, cambia λ cuando cambia f. Esquema conceptual; no está a escala. · Gráfico propio reproducible.</a:t>
            </a:r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CH010" descr="Gráfico cuantitativo con título «La fase permite comparar estados de ciclo». Dos señales con mismo f y distinta fase; estados equivalentes y diferencia de fase cualitativa.">
            <a:extLst>
              <a:ext uri="{FF2B5EF4-FFF2-40B4-BE49-F238E27FC236}">
                <a16:creationId xmlns:a16="http://schemas.microsoft.com/office/drawing/2014/main" id="{2D5C4D1A-C9E7-4FB2-B989-ACD94E16652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F05217D6-0CEE-3D64-7AC1-D204B82D9C46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fase permite comparar estados de ciclo</a:t>
            </a:r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12BF3667-16D3-B7A0-EF76-B375EF898D79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E0266C08-4012-4EBF-30A1-86DAD603F97A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64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u03_U03-064_eyebrow">
            <a:extLst>
              <a:ext uri="{FF2B5EF4-FFF2-40B4-BE49-F238E27FC236}">
                <a16:creationId xmlns:a16="http://schemas.microsoft.com/office/drawing/2014/main" id="{C284367B-487C-477B-A9DE-192C3046B14A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VELOCIDADES Y FASE</a:t>
            </a:r>
          </a:p>
        </p:txBody>
      </p:sp>
      <p:sp>
        <p:nvSpPr>
          <p:cNvPr id="16" name="U03-064_caption">
            <a:extLst>
              <a:ext uri="{FF2B5EF4-FFF2-40B4-BE49-F238E27FC236}">
                <a16:creationId xmlns:a16="http://schemas.microsoft.com/office/drawing/2014/main" id="{534DF604-D5B6-4865-8305-C9CC5FD81760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La fase no solo ubica un oscilador: permite comparar dos señales o dos puntos de una onda. · Gráfico propio reproducible.</a:t>
            </a:r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07-S065" descr="Esquema mixto con título «La diferencia de fase mide cuánto se desplaza un ciclo». Δφ=φ₂-φ₁; correspondencia grados–radianes–fracción de ciclo; signo según orden declarado.">
            <a:extLst>
              <a:ext uri="{FF2B5EF4-FFF2-40B4-BE49-F238E27FC236}">
                <a16:creationId xmlns:a16="http://schemas.microsoft.com/office/drawing/2014/main" id="{A22854BD-3276-4FC3-6422-4CBD481EC42A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FAF2A3BF-104E-8B53-38D4-5730F463E9CC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diferencia de fase mide cuánto se desplaza un ciclo</a:t>
            </a:r>
          </a:p>
        </p:txBody>
      </p:sp>
      <p:sp>
        <p:nvSpPr>
          <p:cNvPr id="18" name="Marcador de número de diapositiva 17">
            <a:extLst>
              <a:ext uri="{FF2B5EF4-FFF2-40B4-BE49-F238E27FC236}">
                <a16:creationId xmlns:a16="http://schemas.microsoft.com/office/drawing/2014/main" id="{FA71A55B-B389-7001-A9E1-319E4426EE2D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82FF3517-0353-38FD-111C-6706FB0AABA9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65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u03_U03-065_eyebrow">
            <a:extLst>
              <a:ext uri="{FF2B5EF4-FFF2-40B4-BE49-F238E27FC236}">
                <a16:creationId xmlns:a16="http://schemas.microsoft.com/office/drawing/2014/main" id="{7809FAAB-F51C-4846-B40E-E415BCF317DB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VELOCIDADES Y FASE</a:t>
            </a:r>
          </a:p>
        </p:txBody>
      </p:sp>
      <p:sp>
        <p:nvSpPr>
          <p:cNvPr id="21" name="U03-065_caption">
            <a:extLst>
              <a:ext uri="{FF2B5EF4-FFF2-40B4-BE49-F238E27FC236}">
                <a16:creationId xmlns:a16="http://schemas.microsoft.com/office/drawing/2014/main" id="{B3D448C9-9144-49CF-90FA-01A26445E0F6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0, π/2, π y 2π representan coincidencia o desplazamientos fraccionarios del ciclo.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CH011" descr="Gráfico cuantitativo con título «Separarse una longitud de onda repite la fase». Perfil espacial con pares de puntos a λ/4, λ/2 y λ; lectura de estados.">
            <a:extLst>
              <a:ext uri="{FF2B5EF4-FFF2-40B4-BE49-F238E27FC236}">
                <a16:creationId xmlns:a16="http://schemas.microsoft.com/office/drawing/2014/main" id="{A0AF19F9-9076-DF11-1EEB-FAFE0CBF38E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2EF821FB-EFFC-EF41-BABC-394083512C25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Separarse una longitud de onda repite la fase</a:t>
            </a:r>
          </a:p>
        </p:txBody>
      </p:sp>
      <p:sp>
        <p:nvSpPr>
          <p:cNvPr id="18" name="Marcador de número de diapositiva 17">
            <a:extLst>
              <a:ext uri="{FF2B5EF4-FFF2-40B4-BE49-F238E27FC236}">
                <a16:creationId xmlns:a16="http://schemas.microsoft.com/office/drawing/2014/main" id="{7BC74996-1398-61FE-9DC2-28F79E0C2E8F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2D0572CC-9AC8-F369-D684-34788CEC1F0F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66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u03_U03-066_eyebrow">
            <a:extLst>
              <a:ext uri="{FF2B5EF4-FFF2-40B4-BE49-F238E27FC236}">
                <a16:creationId xmlns:a16="http://schemas.microsoft.com/office/drawing/2014/main" id="{3DF23D38-D3F9-4585-BB35-A049D4A1FD06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VELOCIDADES Y FASE</a:t>
            </a:r>
          </a:p>
        </p:txBody>
      </p:sp>
      <p:sp>
        <p:nvSpPr>
          <p:cNvPr id="21" name="U03-066_caption">
            <a:extLst>
              <a:ext uri="{FF2B5EF4-FFF2-40B4-BE49-F238E27FC236}">
                <a16:creationId xmlns:a16="http://schemas.microsoft.com/office/drawing/2014/main" id="{7D5B1D04-F1E6-47A2-8847-300ED0DAB5B0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Dos puntos separados por λ están en fase; por λ/2, en oposición de fase para una sinusoide. · Gráfico propio reproducible.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25-S067" descr="Ecuación anotada con título «Un retraso temporal equivale a fase solo si conocemos `f`». Δφ=2πfΔt; unidades y dos ejemplos cualitativos con el mismo Δt.">
            <a:extLst>
              <a:ext uri="{FF2B5EF4-FFF2-40B4-BE49-F238E27FC236}">
                <a16:creationId xmlns:a16="http://schemas.microsoft.com/office/drawing/2014/main" id="{27B4DAF0-411C-A8D4-FA57-15D8C8189E8D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FAF2A3BF-104E-8B53-38D4-5730F463E9CC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retraso se vuelve fase si conocemos f</a:t>
            </a:r>
          </a:p>
        </p:txBody>
      </p:sp>
      <p:sp>
        <p:nvSpPr>
          <p:cNvPr id="18" name="Marcador de número de diapositiva 17">
            <a:extLst>
              <a:ext uri="{FF2B5EF4-FFF2-40B4-BE49-F238E27FC236}">
                <a16:creationId xmlns:a16="http://schemas.microsoft.com/office/drawing/2014/main" id="{FA71A55B-B389-7001-A9E1-319E4426EE2D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A9DAD1FF-0708-FB06-41A3-EFFD1902CB65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67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u03_U03-067_eyebrow">
            <a:extLst>
              <a:ext uri="{FF2B5EF4-FFF2-40B4-BE49-F238E27FC236}">
                <a16:creationId xmlns:a16="http://schemas.microsoft.com/office/drawing/2014/main" id="{9A70D1A1-4908-42E0-BEB9-20DC04188BE3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VELOCIDADES Y FASE</a:t>
            </a:r>
          </a:p>
        </p:txBody>
      </p:sp>
      <p:sp>
        <p:nvSpPr>
          <p:cNvPr id="21" name="U03-067_caption">
            <a:extLst>
              <a:ext uri="{FF2B5EF4-FFF2-40B4-BE49-F238E27FC236}">
                <a16:creationId xmlns:a16="http://schemas.microsoft.com/office/drawing/2014/main" id="{28E79A4A-76B2-4B99-9F73-567FD444C48F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El mismo retraso representa distinto desfase a frecuencias diferentes.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CH010" descr="Gráfico cuantitativo con título «¿En fase, adelantadas o en oposición?». Tres pares de señales o puntos espaciales; clasificar 0, π/2 o π y justificar.">
            <a:extLst>
              <a:ext uri="{FF2B5EF4-FFF2-40B4-BE49-F238E27FC236}">
                <a16:creationId xmlns:a16="http://schemas.microsoft.com/office/drawing/2014/main" id="{6980D13B-64C3-75EA-411A-2102F0B28320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1" name="Título 10">
            <a:extLst>
              <a:ext uri="{FF2B5EF4-FFF2-40B4-BE49-F238E27FC236}">
                <a16:creationId xmlns:a16="http://schemas.microsoft.com/office/drawing/2014/main" id="{8518341A-3BB2-613E-8B5C-0FCDB876E026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¿En fase, adelantadas o en oposición?</a:t>
            </a:r>
          </a:p>
        </p:txBody>
      </p:sp>
      <p:sp>
        <p:nvSpPr>
          <p:cNvPr id="14" name="Marcador de número de diapositiva 13">
            <a:extLst>
              <a:ext uri="{FF2B5EF4-FFF2-40B4-BE49-F238E27FC236}">
                <a16:creationId xmlns:a16="http://schemas.microsoft.com/office/drawing/2014/main" id="{6F0E431F-4E1E-5064-2E0C-9F4C713D3097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F22EA31E-2FA5-E9C8-EB93-8FED021F82AB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68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u03_U03-068_eyebrow">
            <a:extLst>
              <a:ext uri="{FF2B5EF4-FFF2-40B4-BE49-F238E27FC236}">
                <a16:creationId xmlns:a16="http://schemas.microsoft.com/office/drawing/2014/main" id="{E258802D-FD46-4F8C-AAC3-2305276DA4BD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VELOCIDADES Y FASE</a:t>
            </a:r>
          </a:p>
        </p:txBody>
      </p:sp>
      <p:sp>
        <p:nvSpPr>
          <p:cNvPr id="17" name="U03-068_caption">
            <a:extLst>
              <a:ext uri="{FF2B5EF4-FFF2-40B4-BE49-F238E27FC236}">
                <a16:creationId xmlns:a16="http://schemas.microsoft.com/office/drawing/2014/main" id="{4F305FA7-29B3-42DF-B378-CB7B2D49D7AB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La comparación debe usar puntos equivalentes y una referencia declarada. · Gráfico propio reproducible.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20-S069" descr="Diagrama conceptual con título «Dos preguntas evitan cuatro confusiones». Matriz de dos preguntas con cuatro símbolos; retorno al mapa.">
            <a:extLst>
              <a:ext uri="{FF2B5EF4-FFF2-40B4-BE49-F238E27FC236}">
                <a16:creationId xmlns:a16="http://schemas.microsoft.com/office/drawing/2014/main" id="{E008E16C-07E7-7BDE-7CD8-8A1A4A2AE6D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7" name="Título 16">
            <a:extLst>
              <a:ext uri="{FF2B5EF4-FFF2-40B4-BE49-F238E27FC236}">
                <a16:creationId xmlns:a16="http://schemas.microsoft.com/office/drawing/2014/main" id="{C12ACA3A-68E6-5C6E-E9AB-8D78B9E1C4FD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Dos preguntas evitan cuatro confusiones</a:t>
            </a:r>
          </a:p>
        </p:txBody>
      </p:sp>
      <p:sp>
        <p:nvSpPr>
          <p:cNvPr id="20" name="Marcador de número de diapositiva 19">
            <a:extLst>
              <a:ext uri="{FF2B5EF4-FFF2-40B4-BE49-F238E27FC236}">
                <a16:creationId xmlns:a16="http://schemas.microsoft.com/office/drawing/2014/main" id="{18081493-A553-AC13-4BA5-17CFA71BB2B5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EF9EABC7-5C80-1540-9810-371589B4C2E2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69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u03_U03-069_eyebrow">
            <a:extLst>
              <a:ext uri="{FF2B5EF4-FFF2-40B4-BE49-F238E27FC236}">
                <a16:creationId xmlns:a16="http://schemas.microsoft.com/office/drawing/2014/main" id="{8CBDF102-BA11-4C7D-98B0-AE4064E02589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VELOCIDADES Y FASE</a:t>
            </a:r>
          </a:p>
        </p:txBody>
      </p:sp>
      <p:sp>
        <p:nvSpPr>
          <p:cNvPr id="23" name="U03-069_caption">
            <a:extLst>
              <a:ext uri="{FF2B5EF4-FFF2-40B4-BE49-F238E27FC236}">
                <a16:creationId xmlns:a16="http://schemas.microsoft.com/office/drawing/2014/main" id="{23B9046F-0C5D-478A-BDAD-8C2DAA26206B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Preguntar “¿velocidad de qué?” y “¿fase respecto de qué?” evita mezclar u, c, φ₀ y Δφ.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BB930E3-E4A7-44EF-B08A-F7893EAB5591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838200" y="2238375"/>
            <a:ext cx="9334500" cy="1047750"/>
          </a:xfrm>
        </p:spPr>
        <p:txBody>
          <a:bodyPr wrap="square" lIns="0" tIns="0" rIns="0" bIns="0" anchor="ctr">
            <a:noAutofit/>
          </a:bodyPr>
          <a:lstStyle/>
          <a:p>
            <a:pPr>
              <a:defRPr sz="43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3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Cuando dos perturbaciones coinciden, se suman</a:t>
            </a:r>
          </a:p>
        </p:txBody>
      </p:sp>
      <p:sp>
        <p:nvSpPr>
          <p:cNvPr id="8" name="Subtítulo 7">
            <a:extLst>
              <a:ext uri="{FF2B5EF4-FFF2-40B4-BE49-F238E27FC236}">
                <a16:creationId xmlns:a16="http://schemas.microsoft.com/office/drawing/2014/main" id="{8E526FA8-359B-79C7-0914-E7D02BA2B41C}"/>
              </a:ext>
            </a:extLst>
          </p:cNvPr>
          <p:cNvSpPr>
            <a:spLocks noGrp="1"/>
          </p:cNvSpPr>
          <p:nvPr>
            <p:ph type="subTitle" idx="11"/>
          </p:nvPr>
        </p:nvSpPr>
        <p:spPr>
          <a:xfrm>
            <a:off x="838200" y="3429000"/>
            <a:ext cx="9334500" cy="723900"/>
          </a:xfrm>
        </p:spPr>
        <p:txBody>
          <a:bodyPr wrap="square" lIns="0" tIns="0" rIns="0" bIns="0">
            <a:noAutofit/>
          </a:bodyPr>
          <a:lstStyle/>
          <a:p>
            <a:r>
              <a:t>La respuesta resultante se obtiene punto a punto y en cada instante.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08C11FF-1310-C67B-A471-A3573013EA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fld id="{5A6072AD-BB8C-D3CF-DBF4-F438AF6C7F9D}" type="slidenum">
              <a:rPr sz="112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70</a:t>
            </a:fld>
            <a:endParaRPr sz="1125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u03_U03-070_eyebrow">
            <a:extLst>
              <a:ext uri="{FF2B5EF4-FFF2-40B4-BE49-F238E27FC236}">
                <a16:creationId xmlns:a16="http://schemas.microsoft.com/office/drawing/2014/main" id="{16362059-6186-4D79-B2AF-0D493848FAE4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3 · SUPERPOSICIÓN</a:t>
            </a:r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21-S071" descr="Ecuación anotada con título «La superposición suma desplazamientos instantáneos». Ecuación, lectura punto a punto y tres instantes de ejemplo; condiciones de linealidad como límite.">
            <a:extLst>
              <a:ext uri="{FF2B5EF4-FFF2-40B4-BE49-F238E27FC236}">
                <a16:creationId xmlns:a16="http://schemas.microsoft.com/office/drawing/2014/main" id="{FAB4A49D-6B96-0F65-28E5-400970E57F6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FAF2A3BF-104E-8B53-38D4-5730F463E9CC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superposición suma desplazamientos instantáneos</a:t>
            </a:r>
          </a:p>
        </p:txBody>
      </p:sp>
      <p:sp>
        <p:nvSpPr>
          <p:cNvPr id="18" name="Marcador de número de diapositiva 17">
            <a:extLst>
              <a:ext uri="{FF2B5EF4-FFF2-40B4-BE49-F238E27FC236}">
                <a16:creationId xmlns:a16="http://schemas.microsoft.com/office/drawing/2014/main" id="{FA71A55B-B389-7001-A9E1-319E4426EE2D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5729EB1E-22A9-C7DF-64B8-0F3C191F1744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71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u03_U03-071_eyebrow">
            <a:extLst>
              <a:ext uri="{FF2B5EF4-FFF2-40B4-BE49-F238E27FC236}">
                <a16:creationId xmlns:a16="http://schemas.microsoft.com/office/drawing/2014/main" id="{D56FE6C5-C745-48DB-B4BE-C93E4DF28D5D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SUPERPOSICIÓN</a:t>
            </a:r>
          </a:p>
        </p:txBody>
      </p:sp>
      <p:sp>
        <p:nvSpPr>
          <p:cNvPr id="21" name="U03-071_caption">
            <a:extLst>
              <a:ext uri="{FF2B5EF4-FFF2-40B4-BE49-F238E27FC236}">
                <a16:creationId xmlns:a16="http://schemas.microsoft.com/office/drawing/2014/main" id="{E588839B-93E1-484F-8689-549EDD8DA23B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Se suman valores con signo, no amplitudes de forma automática.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CH012" descr="Gráfico cuantitativo con título «En fase, las contribuciones se refuerzan». y₁, y₂ y y_R en gráficos alineados; suma en dos instantes marcados.">
            <a:extLst>
              <a:ext uri="{FF2B5EF4-FFF2-40B4-BE49-F238E27FC236}">
                <a16:creationId xmlns:a16="http://schemas.microsoft.com/office/drawing/2014/main" id="{C4F7899D-F377-B6C0-1E6B-3B5D8EB23D9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2EF821FB-EFFC-EF41-BABC-394083512C25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En fase, las contribuciones se refuerzan</a:t>
            </a:r>
          </a:p>
        </p:txBody>
      </p:sp>
      <p:sp>
        <p:nvSpPr>
          <p:cNvPr id="18" name="Marcador de número de diapositiva 17">
            <a:extLst>
              <a:ext uri="{FF2B5EF4-FFF2-40B4-BE49-F238E27FC236}">
                <a16:creationId xmlns:a16="http://schemas.microsoft.com/office/drawing/2014/main" id="{7BC74996-1398-61FE-9DC2-28F79E0C2E8F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8776987F-56AD-7B55-62F3-0CC641828052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72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u03_U03-072_eyebrow">
            <a:extLst>
              <a:ext uri="{FF2B5EF4-FFF2-40B4-BE49-F238E27FC236}">
                <a16:creationId xmlns:a16="http://schemas.microsoft.com/office/drawing/2014/main" id="{27418C56-0C5B-43BF-BF20-0FBFB6DB1EBB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SUPERPOSICIÓN</a:t>
            </a:r>
          </a:p>
        </p:txBody>
      </p:sp>
      <p:sp>
        <p:nvSpPr>
          <p:cNvPr id="21" name="U03-072_caption">
            <a:extLst>
              <a:ext uri="{FF2B5EF4-FFF2-40B4-BE49-F238E27FC236}">
                <a16:creationId xmlns:a16="http://schemas.microsoft.com/office/drawing/2014/main" id="{BF4F9E8B-BF9B-4379-BA3F-1AE5D0E0BD6F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Dos sinusoides iguales en fase producen una resultante de mayor amplitud. · Gráfico propio reproducible.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CH012" descr="Gráfico cuantitativo con título «En oposición de fase, las contribuciones pueden cancelarse». Dos señales iguales y opuestas, resultante nula y lista de tres condiciones.">
            <a:extLst>
              <a:ext uri="{FF2B5EF4-FFF2-40B4-BE49-F238E27FC236}">
                <a16:creationId xmlns:a16="http://schemas.microsoft.com/office/drawing/2014/main" id="{0170C183-4241-02DC-E490-26D8938E70E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2EF821FB-EFFC-EF41-BABC-394083512C25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oposición de fase puede cancelar</a:t>
            </a:r>
          </a:p>
        </p:txBody>
      </p:sp>
      <p:sp>
        <p:nvSpPr>
          <p:cNvPr id="18" name="Marcador de número de diapositiva 17">
            <a:extLst>
              <a:ext uri="{FF2B5EF4-FFF2-40B4-BE49-F238E27FC236}">
                <a16:creationId xmlns:a16="http://schemas.microsoft.com/office/drawing/2014/main" id="{7BC74996-1398-61FE-9DC2-28F79E0C2E8F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79ACACBC-23A9-0259-8853-3D40A2922B53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73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u03_U03-073_eyebrow">
            <a:extLst>
              <a:ext uri="{FF2B5EF4-FFF2-40B4-BE49-F238E27FC236}">
                <a16:creationId xmlns:a16="http://schemas.microsoft.com/office/drawing/2014/main" id="{38C05754-C697-47D9-9C99-C23B89580E80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SUPERPOSICIÓN</a:t>
            </a:r>
          </a:p>
        </p:txBody>
      </p:sp>
      <p:sp>
        <p:nvSpPr>
          <p:cNvPr id="21" name="U03-073_caption">
            <a:extLst>
              <a:ext uri="{FF2B5EF4-FFF2-40B4-BE49-F238E27FC236}">
                <a16:creationId xmlns:a16="http://schemas.microsoft.com/office/drawing/2014/main" id="{B10E225D-F676-4C57-BD95-5BD6D4ED754D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La cancelación total exige misma amplitud, misma frecuencia y oposición de fase en el punto considerado. · Gráfico propio reproducible.</a:t>
            </a:r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CH012" descr="Gráfico cuantitativo con título «Un desfase intermedio produce refuerzo o cancelación parcial». Tres casos π/3, π/2, 2π/3 con señales y resultante; sin fórmula general visible.">
            <a:extLst>
              <a:ext uri="{FF2B5EF4-FFF2-40B4-BE49-F238E27FC236}">
                <a16:creationId xmlns:a16="http://schemas.microsoft.com/office/drawing/2014/main" id="{B2556D4F-6352-9F70-A05B-E480EBD2C0A4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6" name="Título 15">
            <a:extLst>
              <a:ext uri="{FF2B5EF4-FFF2-40B4-BE49-F238E27FC236}">
                <a16:creationId xmlns:a16="http://schemas.microsoft.com/office/drawing/2014/main" id="{3F400882-E536-6293-8F25-E1201F15D0EE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El desfase intermedio produce suma parcial</a:t>
            </a:r>
          </a:p>
        </p:txBody>
      </p:sp>
      <p:sp>
        <p:nvSpPr>
          <p:cNvPr id="19" name="Marcador de número de diapositiva 18">
            <a:extLst>
              <a:ext uri="{FF2B5EF4-FFF2-40B4-BE49-F238E27FC236}">
                <a16:creationId xmlns:a16="http://schemas.microsoft.com/office/drawing/2014/main" id="{3701E013-5363-F7F5-9233-7CB612036904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BD7CAEA5-FC9E-B891-9738-7871F1F765A5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74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u03_U03-074_eyebrow">
            <a:extLst>
              <a:ext uri="{FF2B5EF4-FFF2-40B4-BE49-F238E27FC236}">
                <a16:creationId xmlns:a16="http://schemas.microsoft.com/office/drawing/2014/main" id="{027A52F0-199B-4495-B546-0E3152F7112F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SUPERPOSICIÓN</a:t>
            </a:r>
          </a:p>
        </p:txBody>
      </p:sp>
      <p:sp>
        <p:nvSpPr>
          <p:cNvPr id="22" name="U03-074_caption">
            <a:extLst>
              <a:ext uri="{FF2B5EF4-FFF2-40B4-BE49-F238E27FC236}">
                <a16:creationId xmlns:a16="http://schemas.microsoft.com/office/drawing/2014/main" id="{20D6784D-02D3-4BCB-9B2C-3261F56BA59A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La amplitud resultante depende continuamente de Δφ. · Gráfico propio reproducible.</a:t>
            </a:r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CH012" descr="Gráfico cuantitativo con título «Antes de sumar, prediga la resultante». Cuatro pares de señales; elegir refuerzo, cancelación parcial o total y ordenar amplitudes resultantes.">
            <a:extLst>
              <a:ext uri="{FF2B5EF4-FFF2-40B4-BE49-F238E27FC236}">
                <a16:creationId xmlns:a16="http://schemas.microsoft.com/office/drawing/2014/main" id="{F6B97AEC-9EE3-6415-C820-6126E2413BF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1" name="Título 10">
            <a:extLst>
              <a:ext uri="{FF2B5EF4-FFF2-40B4-BE49-F238E27FC236}">
                <a16:creationId xmlns:a16="http://schemas.microsoft.com/office/drawing/2014/main" id="{8518341A-3BB2-613E-8B5C-0FCDB876E026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Antes de sumar, prediga la resultante</a:t>
            </a:r>
          </a:p>
        </p:txBody>
      </p:sp>
      <p:sp>
        <p:nvSpPr>
          <p:cNvPr id="14" name="Marcador de número de diapositiva 13">
            <a:extLst>
              <a:ext uri="{FF2B5EF4-FFF2-40B4-BE49-F238E27FC236}">
                <a16:creationId xmlns:a16="http://schemas.microsoft.com/office/drawing/2014/main" id="{6F0E431F-4E1E-5064-2E0C-9F4C713D3097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EB457202-512A-0979-41CD-3DF3572B5B0D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75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u03_U03-075_eyebrow">
            <a:extLst>
              <a:ext uri="{FF2B5EF4-FFF2-40B4-BE49-F238E27FC236}">
                <a16:creationId xmlns:a16="http://schemas.microsoft.com/office/drawing/2014/main" id="{FDE9BC61-6EFF-4AA4-921A-F93AC8EF1BBE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SUPERPOSICIÓN</a:t>
            </a:r>
          </a:p>
        </p:txBody>
      </p:sp>
      <p:sp>
        <p:nvSpPr>
          <p:cNvPr id="17" name="U03-075_caption">
            <a:extLst>
              <a:ext uri="{FF2B5EF4-FFF2-40B4-BE49-F238E27FC236}">
                <a16:creationId xmlns:a16="http://schemas.microsoft.com/office/drawing/2014/main" id="{FC2B7D61-74F0-41E7-B27D-6453A3C2B497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La predicción cualitativa debe preceder al cálculo o al gráfico. · Gráfico propio reproducible.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22-S076" descr="Diagrama conceptual con título «La cancelación activa funciona en condiciones controladas». Cadena sensor–control–fuente secundaria–zona de reducción; lista breve de límites.">
            <a:extLst>
              <a:ext uri="{FF2B5EF4-FFF2-40B4-BE49-F238E27FC236}">
                <a16:creationId xmlns:a16="http://schemas.microsoft.com/office/drawing/2014/main" id="{785FEEAA-95B0-4AA2-8A2E-7246E8DF866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2" name="Título 11">
            <a:extLst>
              <a:ext uri="{FF2B5EF4-FFF2-40B4-BE49-F238E27FC236}">
                <a16:creationId xmlns:a16="http://schemas.microsoft.com/office/drawing/2014/main" id="{52D556C6-6749-974D-FE00-053FCFC91002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La cancelación activa exige control</a:t>
            </a:r>
          </a:p>
        </p:txBody>
      </p:sp>
      <p:sp>
        <p:nvSpPr>
          <p:cNvPr id="15" name="Marcador de número de diapositiva 14">
            <a:extLst>
              <a:ext uri="{FF2B5EF4-FFF2-40B4-BE49-F238E27FC236}">
                <a16:creationId xmlns:a16="http://schemas.microsoft.com/office/drawing/2014/main" id="{8DADC982-ECBE-DC77-CD69-BF0C0D93F5BB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C4577F63-6B95-799D-E400-1CB1B221750D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76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u03_U03-076_eyebrow">
            <a:extLst>
              <a:ext uri="{FF2B5EF4-FFF2-40B4-BE49-F238E27FC236}">
                <a16:creationId xmlns:a16="http://schemas.microsoft.com/office/drawing/2014/main" id="{0E787BB5-F4D3-4552-96A8-C4B83588DB8D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SUPERPOSICIÓN</a:t>
            </a:r>
          </a:p>
        </p:txBody>
      </p:sp>
      <p:sp>
        <p:nvSpPr>
          <p:cNvPr id="18" name="U03-076_caption">
            <a:extLst>
              <a:ext uri="{FF2B5EF4-FFF2-40B4-BE49-F238E27FC236}">
                <a16:creationId xmlns:a16="http://schemas.microsoft.com/office/drawing/2014/main" id="{1F7837A1-1758-48E0-9C4F-2BA90EC102B0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Una señal opuesta puede reducir presión en una región, pero el resultado depende de fase, amplitud, frecuencia, geometría y posición.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23-S077" descr="Diagrama conceptual con título «En el oído y la voz también coinciden perturbaciones». Dos contextos: sonidos simultáneos en el oído y contribuciones en el tracto vocal; límite “análisis frecuencial en U5”.">
            <a:extLst>
              <a:ext uri="{FF2B5EF4-FFF2-40B4-BE49-F238E27FC236}">
                <a16:creationId xmlns:a16="http://schemas.microsoft.com/office/drawing/2014/main" id="{F2C012C3-E1BD-87C8-5D13-8ADCCF2554E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2" name="Título 11">
            <a:extLst>
              <a:ext uri="{FF2B5EF4-FFF2-40B4-BE49-F238E27FC236}">
                <a16:creationId xmlns:a16="http://schemas.microsoft.com/office/drawing/2014/main" id="{52D556C6-6749-974D-FE00-053FCFC91002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En el oído y la voz también coinciden perturbaciones</a:t>
            </a:r>
          </a:p>
        </p:txBody>
      </p:sp>
      <p:sp>
        <p:nvSpPr>
          <p:cNvPr id="15" name="Marcador de número de diapositiva 14">
            <a:extLst>
              <a:ext uri="{FF2B5EF4-FFF2-40B4-BE49-F238E27FC236}">
                <a16:creationId xmlns:a16="http://schemas.microsoft.com/office/drawing/2014/main" id="{8DADC982-ECBE-DC77-CD69-BF0C0D93F5BB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A745F4A9-739A-E4F3-B534-ADC362278112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77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u03_U03-077_eyebrow">
            <a:extLst>
              <a:ext uri="{FF2B5EF4-FFF2-40B4-BE49-F238E27FC236}">
                <a16:creationId xmlns:a16="http://schemas.microsoft.com/office/drawing/2014/main" id="{4787CBF1-E3E7-4975-9CF1-0566ED1CA77C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SUPERPOSICIÓN</a:t>
            </a:r>
          </a:p>
        </p:txBody>
      </p:sp>
      <p:sp>
        <p:nvSpPr>
          <p:cNvPr id="18" name="U03-077_caption">
            <a:extLst>
              <a:ext uri="{FF2B5EF4-FFF2-40B4-BE49-F238E27FC236}">
                <a16:creationId xmlns:a16="http://schemas.microsoft.com/office/drawing/2014/main" id="{24A21888-2010-4C23-9E7C-6AFFE71576DB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Las estructuras reciben combinaciones de perturbaciones; identificar componentes exige herramientas posteriores.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02-S078" descr="Diagrama conceptual con título «Sumar no significa sumar amplitudes sin mirar la fase». Cuatro reglas y una pregunta de transferencia a cancelación activa.">
            <a:extLst>
              <a:ext uri="{FF2B5EF4-FFF2-40B4-BE49-F238E27FC236}">
                <a16:creationId xmlns:a16="http://schemas.microsoft.com/office/drawing/2014/main" id="{B6C96CC0-1524-87FA-DE1F-73636064F14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7" name="Título 16">
            <a:extLst>
              <a:ext uri="{FF2B5EF4-FFF2-40B4-BE49-F238E27FC236}">
                <a16:creationId xmlns:a16="http://schemas.microsoft.com/office/drawing/2014/main" id="{C12ACA3A-68E6-5C6E-E9AB-8D78B9E1C4FD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Sumar no significa sumar amplitudes sin mirar la fase</a:t>
            </a:r>
          </a:p>
        </p:txBody>
      </p:sp>
      <p:sp>
        <p:nvSpPr>
          <p:cNvPr id="20" name="Marcador de número de diapositiva 19">
            <a:extLst>
              <a:ext uri="{FF2B5EF4-FFF2-40B4-BE49-F238E27FC236}">
                <a16:creationId xmlns:a16="http://schemas.microsoft.com/office/drawing/2014/main" id="{18081493-A553-AC13-4BA5-17CFA71BB2B5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860E46EB-B72F-C12D-87AC-B941D4FF3915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78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u03_U03-078_eyebrow">
            <a:extLst>
              <a:ext uri="{FF2B5EF4-FFF2-40B4-BE49-F238E27FC236}">
                <a16:creationId xmlns:a16="http://schemas.microsoft.com/office/drawing/2014/main" id="{6B4B50A4-3613-4AFD-A2FE-233D0918CFF4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SUPERPOSICIÓN</a:t>
            </a:r>
          </a:p>
        </p:txBody>
      </p:sp>
      <p:sp>
        <p:nvSpPr>
          <p:cNvPr id="23" name="U03-078_caption">
            <a:extLst>
              <a:ext uri="{FF2B5EF4-FFF2-40B4-BE49-F238E27FC236}">
                <a16:creationId xmlns:a16="http://schemas.microsoft.com/office/drawing/2014/main" id="{B2A0D9DB-F1A0-4F09-A186-8E9726A0EDB9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Valor instantáneo, amplitud, fase y lugar de observación determinan la resultante.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01-S079" descr="Diagrama conceptual con título «Producción, propagación y recepción usan el mismo lenguaje». Pliegues vocales o parlante → medio → oído/micrófono; variable local, variable propagada y medición.">
            <a:extLst>
              <a:ext uri="{FF2B5EF4-FFF2-40B4-BE49-F238E27FC236}">
                <a16:creationId xmlns:a16="http://schemas.microsoft.com/office/drawing/2014/main" id="{0C2FB468-0940-B680-4408-8723AD198B5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2" name="Título 11">
            <a:extLst>
              <a:ext uri="{FF2B5EF4-FFF2-40B4-BE49-F238E27FC236}">
                <a16:creationId xmlns:a16="http://schemas.microsoft.com/office/drawing/2014/main" id="{52D556C6-6749-974D-FE00-053FCFC91002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Producción, propagación y recepción</a:t>
            </a:r>
          </a:p>
        </p:txBody>
      </p:sp>
      <p:sp>
        <p:nvSpPr>
          <p:cNvPr id="15" name="Marcador de número de diapositiva 14">
            <a:extLst>
              <a:ext uri="{FF2B5EF4-FFF2-40B4-BE49-F238E27FC236}">
                <a16:creationId xmlns:a16="http://schemas.microsoft.com/office/drawing/2014/main" id="{8DADC982-ECBE-DC77-CD69-BF0C0D93F5BB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DDC342D8-64E7-3045-4428-844537067040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79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u03_U03-079_eyebrow">
            <a:extLst>
              <a:ext uri="{FF2B5EF4-FFF2-40B4-BE49-F238E27FC236}">
                <a16:creationId xmlns:a16="http://schemas.microsoft.com/office/drawing/2014/main" id="{0720DC44-7084-4089-9AD3-3FB95EFE5490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INTEGRACIÓN Y CIERRE</a:t>
            </a:r>
          </a:p>
        </p:txBody>
      </p:sp>
      <p:sp>
        <p:nvSpPr>
          <p:cNvPr id="18" name="U03-079_caption">
            <a:extLst>
              <a:ext uri="{FF2B5EF4-FFF2-40B4-BE49-F238E27FC236}">
                <a16:creationId xmlns:a16="http://schemas.microsoft.com/office/drawing/2014/main" id="{ED179B5D-9C3D-435B-B557-135CCBAA6B3F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En cada etapa cambian sistema y variable, pero amplitud, frecuencia, fase y propagación siguen siendo herramientas de descripción.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24-S080" descr="Esquema mixto con título «Caso integrador: de la señal al punto de observación». Caso de parlante a 500 Hz, registro temporal y perfil espacial; cinco preguntas encadenadas, sin solución visible.">
            <a:extLst>
              <a:ext uri="{FF2B5EF4-FFF2-40B4-BE49-F238E27FC236}">
                <a16:creationId xmlns:a16="http://schemas.microsoft.com/office/drawing/2014/main" id="{C468159A-D2FC-6F17-0593-698692E03F8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1" name="Título 10">
            <a:extLst>
              <a:ext uri="{FF2B5EF4-FFF2-40B4-BE49-F238E27FC236}">
                <a16:creationId xmlns:a16="http://schemas.microsoft.com/office/drawing/2014/main" id="{8518341A-3BB2-613E-8B5C-0FCDB876E026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Caso integrador: de la señal al punto de observación</a:t>
            </a:r>
          </a:p>
        </p:txBody>
      </p:sp>
      <p:sp>
        <p:nvSpPr>
          <p:cNvPr id="14" name="Marcador de número de diapositiva 13">
            <a:extLst>
              <a:ext uri="{FF2B5EF4-FFF2-40B4-BE49-F238E27FC236}">
                <a16:creationId xmlns:a16="http://schemas.microsoft.com/office/drawing/2014/main" id="{6F0E431F-4E1E-5064-2E0C-9F4C713D3097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33D57995-3DFA-DF16-0E49-A4D4112E1203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80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u03_U03-080_eyebrow">
            <a:extLst>
              <a:ext uri="{FF2B5EF4-FFF2-40B4-BE49-F238E27FC236}">
                <a16:creationId xmlns:a16="http://schemas.microsoft.com/office/drawing/2014/main" id="{0D5FCBD9-CAA9-4B5A-804A-93583916D40D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INTEGRACIÓN Y CIERRE</a:t>
            </a:r>
          </a:p>
        </p:txBody>
      </p:sp>
      <p:sp>
        <p:nvSpPr>
          <p:cNvPr id="17" name="U03-080_caption">
            <a:extLst>
              <a:ext uri="{FF2B5EF4-FFF2-40B4-BE49-F238E27FC236}">
                <a16:creationId xmlns:a16="http://schemas.microsoft.com/office/drawing/2014/main" id="{902595F8-074D-40E3-A718-E40114A7A324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Una descripción completa identifica variable, sistema, f, T, λ, fase y condición del medio.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24-S081" descr="Diagrama conceptual con título «De una fuerza restauradora a una perturbación que llega». Mapa final: equilibrio → MAS → parámetros → tono → parlante → onda → cortes → fase/suma → aplicación.">
            <a:extLst>
              <a:ext uri="{FF2B5EF4-FFF2-40B4-BE49-F238E27FC236}">
                <a16:creationId xmlns:a16="http://schemas.microsoft.com/office/drawing/2014/main" id="{35EC9184-61B3-1EC6-4432-504BCA3FFD3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4" name="Título 13">
            <a:extLst>
              <a:ext uri="{FF2B5EF4-FFF2-40B4-BE49-F238E27FC236}">
                <a16:creationId xmlns:a16="http://schemas.microsoft.com/office/drawing/2014/main" id="{9CD2C2F8-E628-CA76-D686-BB4806CA8400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De la fuerza restauradora a la onda</a:t>
            </a:r>
          </a:p>
        </p:txBody>
      </p:sp>
      <p:sp>
        <p:nvSpPr>
          <p:cNvPr id="16" name="Marcador de número de diapositiva 15">
            <a:extLst>
              <a:ext uri="{FF2B5EF4-FFF2-40B4-BE49-F238E27FC236}">
                <a16:creationId xmlns:a16="http://schemas.microsoft.com/office/drawing/2014/main" id="{48DCF458-710D-5FD6-E1A6-D16CA392E9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B3D85474-CC96-761E-A5A0-35F7821F8C3F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81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u03_U03-081_eyebrow">
            <a:extLst>
              <a:ext uri="{FF2B5EF4-FFF2-40B4-BE49-F238E27FC236}">
                <a16:creationId xmlns:a16="http://schemas.microsoft.com/office/drawing/2014/main" id="{FC4417A0-BABD-41F3-8E25-B5A425E5F26A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INTEGRACIÓN Y CIERRE</a:t>
            </a:r>
          </a:p>
        </p:txBody>
      </p:sp>
      <p:sp>
        <p:nvSpPr>
          <p:cNvPr id="19" name="U03-081_caption">
            <a:extLst>
              <a:ext uri="{FF2B5EF4-FFF2-40B4-BE49-F238E27FC236}">
                <a16:creationId xmlns:a16="http://schemas.microsoft.com/office/drawing/2014/main" id="{A04B310B-59AA-47D3-B272-3AE0255414C6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El oscilador genera cambios locales; el medio transmite la perturbación; las representaciones permiten medirla e interpretarla.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95153027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0">
            <a:extLst>
              <a:ext uri="{FF2B5EF4-FFF2-40B4-BE49-F238E27FC236}">
                <a16:creationId xmlns:a16="http://schemas.microsoft.com/office/drawing/2014/main" id="{8518341A-3BB2-613E-8B5C-0FCDB876E026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Cuatro afirmaciones, ahora con evidencia</a:t>
            </a:r>
          </a:p>
        </p:txBody>
      </p:sp>
      <p:sp>
        <p:nvSpPr>
          <p:cNvPr id="14" name="Marcador de número de diapositiva 13">
            <a:extLst>
              <a:ext uri="{FF2B5EF4-FFF2-40B4-BE49-F238E27FC236}">
                <a16:creationId xmlns:a16="http://schemas.microsoft.com/office/drawing/2014/main" id="{6F0E431F-4E1E-5064-2E0C-9F4C713D3097}"/>
              </a:ext>
            </a:extLst>
          </p:cNvPr>
          <p:cNvSpPr>
            <a:spLocks noGrp="1"/>
          </p:cNvSpPr>
          <p:nvPr>
            <p:ph type="sldNum" idx="13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C64ABC67-38DD-FC88-F2B3-FD29FD14CB50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82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u03_U03-082_eyebrow">
            <a:extLst>
              <a:ext uri="{FF2B5EF4-FFF2-40B4-BE49-F238E27FC236}">
                <a16:creationId xmlns:a16="http://schemas.microsoft.com/office/drawing/2014/main" id="{7A37DB0D-BA9F-43F0-A26A-F379915A8F7A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INTEGRACIÓN Y CIERRE</a:t>
            </a:r>
          </a:p>
        </p:txBody>
      </p:sp>
      <p:sp>
        <p:nvSpPr>
          <p:cNvPr id="16" name="U03-082_question">
            <a:extLst>
              <a:ext uri="{FF2B5EF4-FFF2-40B4-BE49-F238E27FC236}">
                <a16:creationId xmlns:a16="http://schemas.microsoft.com/office/drawing/2014/main" id="{40977BCC-FC9A-4B44-B288-3934A3CF210B}"/>
              </a:ext>
            </a:extLst>
          </p:cNvPr>
          <p:cNvSpPr>
            <a:spLocks noGrp="1"/>
          </p:cNvSpPr>
          <p:nvPr/>
        </p:nvSpPr>
        <p:spPr>
          <a:xfrm>
            <a:off x="952500" y="1695450"/>
            <a:ext cx="10287000" cy="2952750"/>
          </a:xfrm>
          <a:prstGeom prst="rect">
            <a:avLst/>
          </a:prstGeom>
          <a:solidFill>
            <a:srgbClr val="F7F6F2"/>
          </a:solidFill>
          <a:ln w="19050">
            <a:solidFill>
              <a:srgbClr val="4D1434"/>
            </a:solidFill>
            <a:prstDash val="solid"/>
          </a:ln>
        </p:spPr>
        <p:txBody>
          <a:bodyPr wrap="square" lIns="266700" tIns="209550" rIns="266700" bIns="209550" anchor="ctr">
            <a:noAutofit/>
          </a:bodyPr>
          <a:lstStyle/>
          <a:p>
            <a:pPr algn="l">
              <a:defRPr sz="2625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lang="es-MX" sz="2625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Revise las cuatro afirmaciones iniciales. Para cada una, escriba V/F, una razón física y la diapositiva que aporta evidencia.</a:t>
            </a:r>
            <a:endParaRPr sz="2625" b="0">
              <a:solidFill>
                <a:srgbClr val="3D3D3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U03-082_consigna">
            <a:extLst>
              <a:ext uri="{FF2B5EF4-FFF2-40B4-BE49-F238E27FC236}">
                <a16:creationId xmlns:a16="http://schemas.microsoft.com/office/drawing/2014/main" id="{BFDB84D5-BF9D-40AC-AA80-4053A829666F}"/>
              </a:ext>
            </a:extLst>
          </p:cNvPr>
          <p:cNvSpPr>
            <a:spLocks noGrp="1"/>
          </p:cNvSpPr>
          <p:nvPr/>
        </p:nvSpPr>
        <p:spPr>
          <a:xfrm>
            <a:off x="1714500" y="4905375"/>
            <a:ext cx="87630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114300" tIns="76200" rIns="114300" bIns="76200" anchor="ctr">
            <a:noAutofit/>
          </a:bodyPr>
          <a:lstStyle/>
          <a:p>
            <a:pPr algn="ctr">
              <a:defRPr sz="18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lang="es-MX" sz="18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Revisión final de las cuatro afirmaciones iniciales.</a:t>
            </a:r>
            <a:endParaRPr sz="1800" b="1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C75C1836-AD8F-B1B2-2E21-85E743D6B8C8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838200" y="2238375"/>
            <a:ext cx="9334500" cy="1047750"/>
          </a:xfrm>
        </p:spPr>
        <p:txBody>
          <a:bodyPr wrap="square" lIns="0" tIns="0" rIns="0" bIns="0" anchor="ctr">
            <a:noAutofit/>
          </a:bodyPr>
          <a:lstStyle/>
          <a:p>
            <a:pPr>
              <a:defRPr sz="43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35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Describimos la onda; ahora mediremos el sonido</a:t>
            </a:r>
          </a:p>
        </p:txBody>
      </p:sp>
      <p:sp>
        <p:nvSpPr>
          <p:cNvPr id="8" name="Subtítulo 7">
            <a:extLst>
              <a:ext uri="{FF2B5EF4-FFF2-40B4-BE49-F238E27FC236}">
                <a16:creationId xmlns:a16="http://schemas.microsoft.com/office/drawing/2014/main" id="{A4E332E6-ECA1-6D49-09AD-EDA7C7F20FED}"/>
              </a:ext>
            </a:extLst>
          </p:cNvPr>
          <p:cNvSpPr>
            <a:spLocks noGrp="1"/>
          </p:cNvSpPr>
          <p:nvPr>
            <p:ph type="subTitle" idx="11"/>
          </p:nvPr>
        </p:nvSpPr>
        <p:spPr>
          <a:xfrm>
            <a:off x="838200" y="3429000"/>
            <a:ext cx="9334500" cy="723900"/>
          </a:xfrm>
        </p:spPr>
        <p:txBody>
          <a:bodyPr wrap="square" lIns="0" tIns="0" rIns="0" bIns="0">
            <a:noAutofit/>
          </a:bodyPr>
          <a:lstStyle/>
          <a:p>
            <a:r>
              <a:t>La mecánica ondulatoria entrega el lenguaje; las próximas unidades cuantifican magnitudes acústicas y separan componentes frecuenciales.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E2046D0-504B-93BA-A56B-3D44A8F389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fld id="{7DD74841-24FE-7EE8-22BB-4DC45FDF28A3}" type="slidenum">
              <a:rPr sz="112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83</a:t>
            </a:fld>
            <a:endParaRPr sz="1125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u03_U03-083_eyebrow">
            <a:extLst>
              <a:ext uri="{FF2B5EF4-FFF2-40B4-BE49-F238E27FC236}">
                <a16:creationId xmlns:a16="http://schemas.microsoft.com/office/drawing/2014/main" id="{7D173433-90D6-4326-B0A3-E0AC55ABE385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UNIDAD 3 · INTEGRACIÓN Y CIERRE</a:t>
            </a:r>
          </a:p>
        </p:txBody>
      </p:sp>
    </p:spTree>
    <p:extLst>
      <p:ext uri="{BB962C8B-B14F-4D97-AF65-F5344CB8AC3E}">
        <p14:creationId xmlns:p14="http://schemas.microsoft.com/office/powerpoint/2010/main" val="88011290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07-S084" descr="Diagrama conceptual con título «Recordatorio trigonométrico para leer sinusoides». Círculo unitario mínimo, valores notables y correspondencia con una sinusoide.">
            <a:extLst>
              <a:ext uri="{FF2B5EF4-FFF2-40B4-BE49-F238E27FC236}">
                <a16:creationId xmlns:a16="http://schemas.microsoft.com/office/drawing/2014/main" id="{43462F1B-B8D0-2EC8-C64C-6C14157E025E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8" name="Título 17">
            <a:extLst>
              <a:ext uri="{FF2B5EF4-FFF2-40B4-BE49-F238E27FC236}">
                <a16:creationId xmlns:a16="http://schemas.microsoft.com/office/drawing/2014/main" id="{F613D4BA-B0F3-11A8-2052-FB40C2DBA091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Recordatorio trigonométrico para leer sinusoides</a:t>
            </a:r>
          </a:p>
        </p:txBody>
      </p:sp>
      <p:sp>
        <p:nvSpPr>
          <p:cNvPr id="20" name="Marcador de número de diapositiva 19">
            <a:extLst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AA4C4240-6F12-7F09-5904-52FC212F0821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84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u03_U03-084_eyebrow">
            <a:extLst>
              <a:ext uri="{FF2B5EF4-FFF2-40B4-BE49-F238E27FC236}">
                <a16:creationId xmlns:a16="http://schemas.microsoft.com/office/drawing/2014/main" id="{C93DD355-4C7C-4D8D-A463-A290E8600F78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MATERIAL DE RESPALDO</a:t>
            </a:r>
          </a:p>
        </p:txBody>
      </p:sp>
      <p:sp>
        <p:nvSpPr>
          <p:cNvPr id="23" name="U03-084_caption">
            <a:extLst>
              <a:ext uri="{FF2B5EF4-FFF2-40B4-BE49-F238E27FC236}">
                <a16:creationId xmlns:a16="http://schemas.microsoft.com/office/drawing/2014/main" id="{07FF11BA-7120-4C1B-B32B-862D879B721B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La equivalencia 2π rad = 360° = 1 ciclo organiza la fase.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25-S085" descr="Ecuación anotada con título «Frecuencia angular: otra forma de contar el ciclo». Ecuaciones, unidad rad/s, relación con f y un ejemplo breve.">
            <a:extLst>
              <a:ext uri="{FF2B5EF4-FFF2-40B4-BE49-F238E27FC236}">
                <a16:creationId xmlns:a16="http://schemas.microsoft.com/office/drawing/2014/main" id="{A22B45C5-7A29-A22B-47EE-51852AE13CF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8" name="Título 17">
            <a:extLst>
              <a:ext uri="{FF2B5EF4-FFF2-40B4-BE49-F238E27FC236}">
                <a16:creationId xmlns:a16="http://schemas.microsoft.com/office/drawing/2014/main" id="{F613D4BA-B0F3-11A8-2052-FB40C2DBA091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Frecuencia angular: otra forma de contar el ciclo</a:t>
            </a:r>
          </a:p>
        </p:txBody>
      </p:sp>
      <p:sp>
        <p:nvSpPr>
          <p:cNvPr id="20" name="Marcador de número de diapositiva 19">
            <a:extLst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F48AFE98-E9CF-3A34-C20C-6A6243E55E64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85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u03_U03-085_eyebrow">
            <a:extLst>
              <a:ext uri="{FF2B5EF4-FFF2-40B4-BE49-F238E27FC236}">
                <a16:creationId xmlns:a16="http://schemas.microsoft.com/office/drawing/2014/main" id="{025F5D6F-7611-4D7F-BB2F-A7A8ADA9CC83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MATERIAL DE RESPALDO</a:t>
            </a:r>
          </a:p>
        </p:txBody>
      </p:sp>
      <p:sp>
        <p:nvSpPr>
          <p:cNvPr id="23" name="U03-085_caption">
            <a:extLst>
              <a:ext uri="{FF2B5EF4-FFF2-40B4-BE49-F238E27FC236}">
                <a16:creationId xmlns:a16="http://schemas.microsoft.com/office/drawing/2014/main" id="{243E9567-78A3-472A-BA6E-8F8BF520E8B5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ω=2πf=2π/T expresa radianes de fase por segundo.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25-S086" descr="Ecuación anotada con título «La elasticidad y la masa fijan la frecuencia natural ideal». Relación, símbolos, unidades y dos comparaciones cualitativas; hipótesis del MAS.">
            <a:extLst>
              <a:ext uri="{FF2B5EF4-FFF2-40B4-BE49-F238E27FC236}">
                <a16:creationId xmlns:a16="http://schemas.microsoft.com/office/drawing/2014/main" id="{4AEAB477-EF4C-4139-8566-77CB27B6E1F4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8" name="Título 17">
            <a:extLst>
              <a:ext uri="{FF2B5EF4-FFF2-40B4-BE49-F238E27FC236}">
                <a16:creationId xmlns:a16="http://schemas.microsoft.com/office/drawing/2014/main" id="{F613D4BA-B0F3-11A8-2052-FB40C2DBA091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Masa y elasticidad fijan la frecuencia ideal</a:t>
            </a:r>
          </a:p>
        </p:txBody>
      </p:sp>
      <p:sp>
        <p:nvSpPr>
          <p:cNvPr id="20" name="Marcador de número de diapositiva 19">
            <a:extLst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231AC35B-B5C2-36EF-1CB3-8BED41B6A46D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86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u03_U03-086_eyebrow">
            <a:extLst>
              <a:ext uri="{FF2B5EF4-FFF2-40B4-BE49-F238E27FC236}">
                <a16:creationId xmlns:a16="http://schemas.microsoft.com/office/drawing/2014/main" id="{23F057F3-8733-4346-A824-28D64881F94B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MATERIAL DE RESPALDO</a:t>
            </a:r>
          </a:p>
        </p:txBody>
      </p:sp>
      <p:sp>
        <p:nvSpPr>
          <p:cNvPr id="23" name="U03-086_caption">
            <a:extLst>
              <a:ext uri="{FF2B5EF4-FFF2-40B4-BE49-F238E27FC236}">
                <a16:creationId xmlns:a16="http://schemas.microsoft.com/office/drawing/2014/main" id="{EBB03E14-8630-4B87-98CA-FFA393CAE899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Mayor rigidez eleva la frecuencia natural; mayor masa la reduce, en el modelo ideal.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ítulo 17">
            <a:extLst>
              <a:ext uri="{FF2B5EF4-FFF2-40B4-BE49-F238E27FC236}">
                <a16:creationId xmlns:a16="http://schemas.microsoft.com/office/drawing/2014/main" id="{F613D4BA-B0F3-11A8-2052-FB40C2DBA091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Soluciones del diagnóstico inicial</a:t>
            </a:r>
          </a:p>
        </p:txBody>
      </p:sp>
      <p:sp>
        <p:nvSpPr>
          <p:cNvPr id="20" name="Marcador de número de diapositiva 19">
            <a:extLst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B66BFED3-8D00-65E7-CBC4-2668E3295A52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87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u03_U03-087_eyebrow">
            <a:extLst>
              <a:ext uri="{FF2B5EF4-FFF2-40B4-BE49-F238E27FC236}">
                <a16:creationId xmlns:a16="http://schemas.microsoft.com/office/drawing/2014/main" id="{9291781D-A4FC-4CF3-B42C-6B75361A53C9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MATERIAL DE RESPALDO</a:t>
            </a:r>
          </a:p>
        </p:txBody>
      </p:sp>
      <p:sp>
        <p:nvSpPr>
          <p:cNvPr id="22" name="U03-087_row_1_key">
            <a:extLst>
              <a:ext uri="{FF2B5EF4-FFF2-40B4-BE49-F238E27FC236}">
                <a16:creationId xmlns:a16="http://schemas.microsoft.com/office/drawing/2014/main" id="{22502B92-4E98-4DAC-8D46-4DDB16DDC521}"/>
              </a:ext>
            </a:extLst>
          </p:cNvPr>
          <p:cNvSpPr>
            <a:spLocks noGrp="1"/>
          </p:cNvSpPr>
          <p:nvPr/>
        </p:nvSpPr>
        <p:spPr>
          <a:xfrm>
            <a:off x="762000" y="1524000"/>
            <a:ext cx="666750" cy="519113"/>
          </a:xfrm>
          <a:prstGeom prst="rect">
            <a:avLst/>
          </a:prstGeom>
          <a:solidFill>
            <a:srgbClr val="F7F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15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23" name="U03-087_row_1_value">
            <a:extLst>
              <a:ext uri="{FF2B5EF4-FFF2-40B4-BE49-F238E27FC236}">
                <a16:creationId xmlns:a16="http://schemas.microsoft.com/office/drawing/2014/main" id="{072A7484-7A64-449E-8B95-F74437B71B5C}"/>
              </a:ext>
            </a:extLst>
          </p:cNvPr>
          <p:cNvSpPr>
            <a:spLocks noGrp="1"/>
          </p:cNvSpPr>
          <p:nvPr/>
        </p:nvSpPr>
        <p:spPr>
          <a:xfrm>
            <a:off x="1428750" y="1524000"/>
            <a:ext cx="10001250" cy="519113"/>
          </a:xfrm>
          <a:prstGeom prst="rect">
            <a:avLst/>
          </a:prstGeom>
          <a:solidFill>
            <a:srgbClr val="F7F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133350" tIns="47625" rIns="133350" bIns="47625" anchor="ctr">
            <a:noAutofit/>
          </a:bodyPr>
          <a:lstStyle/>
          <a:p>
            <a:pPr algn="l"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1.</a:t>
            </a:r>
          </a:p>
        </p:txBody>
      </p:sp>
      <p:sp>
        <p:nvSpPr>
          <p:cNvPr id="24" name="U03-087_row_2_key">
            <a:extLst>
              <a:ext uri="{FF2B5EF4-FFF2-40B4-BE49-F238E27FC236}">
                <a16:creationId xmlns:a16="http://schemas.microsoft.com/office/drawing/2014/main" id="{A186B8DC-BB2A-408E-88AB-EB131B57CE45}"/>
              </a:ext>
            </a:extLst>
          </p:cNvPr>
          <p:cNvSpPr>
            <a:spLocks noGrp="1"/>
          </p:cNvSpPr>
          <p:nvPr/>
        </p:nvSpPr>
        <p:spPr>
          <a:xfrm>
            <a:off x="762000" y="2081213"/>
            <a:ext cx="666750" cy="519113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15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25" name="U03-087_row_2_value">
            <a:extLst>
              <a:ext uri="{FF2B5EF4-FFF2-40B4-BE49-F238E27FC236}">
                <a16:creationId xmlns:a16="http://schemas.microsoft.com/office/drawing/2014/main" id="{B9CB272E-B4E8-4818-ABF2-3AD815DD1F58}"/>
              </a:ext>
            </a:extLst>
          </p:cNvPr>
          <p:cNvSpPr>
            <a:spLocks noGrp="1"/>
          </p:cNvSpPr>
          <p:nvPr/>
        </p:nvSpPr>
        <p:spPr>
          <a:xfrm>
            <a:off x="1428750" y="2081213"/>
            <a:ext cx="10001250" cy="519113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133350" tIns="47625" rIns="133350" bIns="47625" anchor="ctr">
            <a:noAutofit/>
          </a:bodyPr>
          <a:lstStyle/>
          <a:p>
            <a:pPr algn="l"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F: la materia oscila localmente.</a:t>
            </a:r>
          </a:p>
        </p:txBody>
      </p:sp>
      <p:sp>
        <p:nvSpPr>
          <p:cNvPr id="26" name="U03-087_row_3_key">
            <a:extLst>
              <a:ext uri="{FF2B5EF4-FFF2-40B4-BE49-F238E27FC236}">
                <a16:creationId xmlns:a16="http://schemas.microsoft.com/office/drawing/2014/main" id="{49C9D2F2-B6F3-4FF5-86AF-3AC14605549C}"/>
              </a:ext>
            </a:extLst>
          </p:cNvPr>
          <p:cNvSpPr>
            <a:spLocks noGrp="1"/>
          </p:cNvSpPr>
          <p:nvPr/>
        </p:nvSpPr>
        <p:spPr>
          <a:xfrm>
            <a:off x="762000" y="2638425"/>
            <a:ext cx="666750" cy="519113"/>
          </a:xfrm>
          <a:prstGeom prst="rect">
            <a:avLst/>
          </a:prstGeom>
          <a:solidFill>
            <a:srgbClr val="F7F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15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7" name="U03-087_row_3_value">
            <a:extLst>
              <a:ext uri="{FF2B5EF4-FFF2-40B4-BE49-F238E27FC236}">
                <a16:creationId xmlns:a16="http://schemas.microsoft.com/office/drawing/2014/main" id="{6FF24088-4A87-48AB-8859-16F09FE22288}"/>
              </a:ext>
            </a:extLst>
          </p:cNvPr>
          <p:cNvSpPr>
            <a:spLocks noGrp="1"/>
          </p:cNvSpPr>
          <p:nvPr/>
        </p:nvSpPr>
        <p:spPr>
          <a:xfrm>
            <a:off x="1428750" y="2638425"/>
            <a:ext cx="10001250" cy="519113"/>
          </a:xfrm>
          <a:prstGeom prst="rect">
            <a:avLst/>
          </a:prstGeom>
          <a:solidFill>
            <a:srgbClr val="F7F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133350" tIns="47625" rIns="133350" bIns="47625" anchor="ctr">
            <a:noAutofit/>
          </a:bodyPr>
          <a:lstStyle/>
          <a:p>
            <a:pPr algn="l"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2.</a:t>
            </a:r>
          </a:p>
        </p:txBody>
      </p:sp>
      <p:sp>
        <p:nvSpPr>
          <p:cNvPr id="28" name="U03-087_row_4_key">
            <a:extLst>
              <a:ext uri="{FF2B5EF4-FFF2-40B4-BE49-F238E27FC236}">
                <a16:creationId xmlns:a16="http://schemas.microsoft.com/office/drawing/2014/main" id="{009CF76E-D5AC-47FA-97E8-A246969B0668}"/>
              </a:ext>
            </a:extLst>
          </p:cNvPr>
          <p:cNvSpPr>
            <a:spLocks noGrp="1"/>
          </p:cNvSpPr>
          <p:nvPr/>
        </p:nvSpPr>
        <p:spPr>
          <a:xfrm>
            <a:off x="762000" y="3195638"/>
            <a:ext cx="666750" cy="519113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15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9" name="U03-087_row_4_value">
            <a:extLst>
              <a:ext uri="{FF2B5EF4-FFF2-40B4-BE49-F238E27FC236}">
                <a16:creationId xmlns:a16="http://schemas.microsoft.com/office/drawing/2014/main" id="{B8BD0FC9-C266-4510-B8D2-4D314DD38033}"/>
              </a:ext>
            </a:extLst>
          </p:cNvPr>
          <p:cNvSpPr>
            <a:spLocks noGrp="1"/>
          </p:cNvSpPr>
          <p:nvPr/>
        </p:nvSpPr>
        <p:spPr>
          <a:xfrm>
            <a:off x="1428750" y="3195638"/>
            <a:ext cx="10001250" cy="519113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133350" tIns="47625" rIns="133350" bIns="47625" anchor="ctr">
            <a:noAutofit/>
          </a:bodyPr>
          <a:lstStyle/>
          <a:p>
            <a:pPr algn="l"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F: c depende principalmente del medio.</a:t>
            </a:r>
          </a:p>
        </p:txBody>
      </p:sp>
      <p:sp>
        <p:nvSpPr>
          <p:cNvPr id="30" name="U03-087_row_5_key">
            <a:extLst>
              <a:ext uri="{FF2B5EF4-FFF2-40B4-BE49-F238E27FC236}">
                <a16:creationId xmlns:a16="http://schemas.microsoft.com/office/drawing/2014/main" id="{69A000DD-1319-47FD-8DAE-EEB7D2F21DD5}"/>
              </a:ext>
            </a:extLst>
          </p:cNvPr>
          <p:cNvSpPr>
            <a:spLocks noGrp="1"/>
          </p:cNvSpPr>
          <p:nvPr/>
        </p:nvSpPr>
        <p:spPr>
          <a:xfrm>
            <a:off x="762000" y="3752850"/>
            <a:ext cx="666750" cy="519113"/>
          </a:xfrm>
          <a:prstGeom prst="rect">
            <a:avLst/>
          </a:prstGeom>
          <a:solidFill>
            <a:srgbClr val="F7F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15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31" name="U03-087_row_5_value">
            <a:extLst>
              <a:ext uri="{FF2B5EF4-FFF2-40B4-BE49-F238E27FC236}">
                <a16:creationId xmlns:a16="http://schemas.microsoft.com/office/drawing/2014/main" id="{C08ADAE2-381F-4DFA-94D6-0BC73D225896}"/>
              </a:ext>
            </a:extLst>
          </p:cNvPr>
          <p:cNvSpPr>
            <a:spLocks noGrp="1"/>
          </p:cNvSpPr>
          <p:nvPr/>
        </p:nvSpPr>
        <p:spPr>
          <a:xfrm>
            <a:off x="1428750" y="3752850"/>
            <a:ext cx="10001250" cy="519113"/>
          </a:xfrm>
          <a:prstGeom prst="rect">
            <a:avLst/>
          </a:prstGeom>
          <a:solidFill>
            <a:srgbClr val="F7F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133350" tIns="47625" rIns="133350" bIns="47625" anchor="ctr">
            <a:noAutofit/>
          </a:bodyPr>
          <a:lstStyle/>
          <a:p>
            <a:pPr algn="l"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3.</a:t>
            </a:r>
          </a:p>
        </p:txBody>
      </p:sp>
      <p:sp>
        <p:nvSpPr>
          <p:cNvPr id="32" name="U03-087_row_6_key">
            <a:extLst>
              <a:ext uri="{FF2B5EF4-FFF2-40B4-BE49-F238E27FC236}">
                <a16:creationId xmlns:a16="http://schemas.microsoft.com/office/drawing/2014/main" id="{EC42D721-EA54-4134-962A-45E22F50C7B2}"/>
              </a:ext>
            </a:extLst>
          </p:cNvPr>
          <p:cNvSpPr>
            <a:spLocks noGrp="1"/>
          </p:cNvSpPr>
          <p:nvPr/>
        </p:nvSpPr>
        <p:spPr>
          <a:xfrm>
            <a:off x="762000" y="4310063"/>
            <a:ext cx="666750" cy="519113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15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33" name="U03-087_row_6_value">
            <a:extLst>
              <a:ext uri="{FF2B5EF4-FFF2-40B4-BE49-F238E27FC236}">
                <a16:creationId xmlns:a16="http://schemas.microsoft.com/office/drawing/2014/main" id="{70BA6D86-4370-45F5-A789-31743AA6B5B5}"/>
              </a:ext>
            </a:extLst>
          </p:cNvPr>
          <p:cNvSpPr>
            <a:spLocks noGrp="1"/>
          </p:cNvSpPr>
          <p:nvPr/>
        </p:nvSpPr>
        <p:spPr>
          <a:xfrm>
            <a:off x="1428750" y="4310063"/>
            <a:ext cx="10001250" cy="519113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133350" tIns="47625" rIns="133350" bIns="47625" anchor="ctr">
            <a:noAutofit/>
          </a:bodyPr>
          <a:lstStyle/>
          <a:p>
            <a:pPr algn="l"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F: la sonoridad no se deduce solo de una amplitud no calibrada.</a:t>
            </a:r>
          </a:p>
        </p:txBody>
      </p:sp>
      <p:sp>
        <p:nvSpPr>
          <p:cNvPr id="34" name="U03-087_row_7_key">
            <a:extLst>
              <a:ext uri="{FF2B5EF4-FFF2-40B4-BE49-F238E27FC236}">
                <a16:creationId xmlns:a16="http://schemas.microsoft.com/office/drawing/2014/main" id="{9437CC0B-E8C0-47D8-95F7-791125AAFEFD}"/>
              </a:ext>
            </a:extLst>
          </p:cNvPr>
          <p:cNvSpPr>
            <a:spLocks noGrp="1"/>
          </p:cNvSpPr>
          <p:nvPr/>
        </p:nvSpPr>
        <p:spPr>
          <a:xfrm>
            <a:off x="762000" y="4867275"/>
            <a:ext cx="666750" cy="519113"/>
          </a:xfrm>
          <a:prstGeom prst="rect">
            <a:avLst/>
          </a:prstGeom>
          <a:solidFill>
            <a:srgbClr val="F7F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15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35" name="U03-087_row_7_value">
            <a:extLst>
              <a:ext uri="{FF2B5EF4-FFF2-40B4-BE49-F238E27FC236}">
                <a16:creationId xmlns:a16="http://schemas.microsoft.com/office/drawing/2014/main" id="{BEBE0FA9-29CA-47FC-8774-29E2F525886D}"/>
              </a:ext>
            </a:extLst>
          </p:cNvPr>
          <p:cNvSpPr>
            <a:spLocks noGrp="1"/>
          </p:cNvSpPr>
          <p:nvPr/>
        </p:nvSpPr>
        <p:spPr>
          <a:xfrm>
            <a:off x="1428750" y="4867275"/>
            <a:ext cx="10001250" cy="519113"/>
          </a:xfrm>
          <a:prstGeom prst="rect">
            <a:avLst/>
          </a:prstGeom>
          <a:solidFill>
            <a:srgbClr val="F7F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133350" tIns="47625" rIns="133350" bIns="47625" anchor="ctr">
            <a:noAutofit/>
          </a:bodyPr>
          <a:lstStyle/>
          <a:p>
            <a:pPr algn="l"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4.</a:t>
            </a:r>
          </a:p>
        </p:txBody>
      </p:sp>
      <p:sp>
        <p:nvSpPr>
          <p:cNvPr id="36" name="U03-087_row_8_key">
            <a:extLst>
              <a:ext uri="{FF2B5EF4-FFF2-40B4-BE49-F238E27FC236}">
                <a16:creationId xmlns:a16="http://schemas.microsoft.com/office/drawing/2014/main" id="{7B86D740-B614-41F9-8EFD-DE78D9856C75}"/>
              </a:ext>
            </a:extLst>
          </p:cNvPr>
          <p:cNvSpPr>
            <a:spLocks noGrp="1"/>
          </p:cNvSpPr>
          <p:nvPr/>
        </p:nvSpPr>
        <p:spPr>
          <a:xfrm>
            <a:off x="762000" y="5424488"/>
            <a:ext cx="666750" cy="519113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15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37" name="U03-087_row_8_value">
            <a:extLst>
              <a:ext uri="{FF2B5EF4-FFF2-40B4-BE49-F238E27FC236}">
                <a16:creationId xmlns:a16="http://schemas.microsoft.com/office/drawing/2014/main" id="{086A2E76-333C-49F7-B021-EE5E95533843}"/>
              </a:ext>
            </a:extLst>
          </p:cNvPr>
          <p:cNvSpPr>
            <a:spLocks noGrp="1"/>
          </p:cNvSpPr>
          <p:nvPr/>
        </p:nvSpPr>
        <p:spPr>
          <a:xfrm>
            <a:off x="1428750" y="5424488"/>
            <a:ext cx="10001250" cy="519113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133350" tIns="47625" rIns="133350" bIns="47625" anchor="ctr">
            <a:noAutofit/>
          </a:bodyPr>
          <a:lstStyle/>
          <a:p>
            <a:pPr algn="l"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F: la sinusoide no es una trayectoria espacial.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25-S088" descr="Ecuación anotada con título «Posición, velocidad y aceleración del MAS». x(t), v(t) y a(t) con amplitudes, unidades y correspondencia con el gráfico U03-033.">
            <a:extLst>
              <a:ext uri="{FF2B5EF4-FFF2-40B4-BE49-F238E27FC236}">
                <a16:creationId xmlns:a16="http://schemas.microsoft.com/office/drawing/2014/main" id="{92263392-89E2-D56E-AA3C-D9B4318A0CA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8" name="Título 17">
            <a:extLst>
              <a:ext uri="{FF2B5EF4-FFF2-40B4-BE49-F238E27FC236}">
                <a16:creationId xmlns:a16="http://schemas.microsoft.com/office/drawing/2014/main" id="{F613D4BA-B0F3-11A8-2052-FB40C2DBA091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Posición, velocidad y aceleración del MAS</a:t>
            </a:r>
          </a:p>
        </p:txBody>
      </p:sp>
      <p:sp>
        <p:nvSpPr>
          <p:cNvPr id="20" name="Marcador de número de diapositiva 19">
            <a:extLst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A9C38CC3-51DE-E4B0-CCEB-BA581457C9D2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88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u03_U03-088_eyebrow">
            <a:extLst>
              <a:ext uri="{FF2B5EF4-FFF2-40B4-BE49-F238E27FC236}">
                <a16:creationId xmlns:a16="http://schemas.microsoft.com/office/drawing/2014/main" id="{E9DCF059-ABB3-4DF2-A96A-83071A1D2B27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MATERIAL DE RESPALDO</a:t>
            </a:r>
          </a:p>
        </p:txBody>
      </p:sp>
      <p:sp>
        <p:nvSpPr>
          <p:cNvPr id="23" name="U03-088_caption">
            <a:extLst>
              <a:ext uri="{FF2B5EF4-FFF2-40B4-BE49-F238E27FC236}">
                <a16:creationId xmlns:a16="http://schemas.microsoft.com/office/drawing/2014/main" id="{E375F219-DDF1-4A17-880D-B6EAFB48063A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Las tres variables comparten frecuencia y presentan relaciones de fase específicas.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25-S089" descr="Ecuación anotada con título «Número de onda: fase acumulada por distancia». Ecuación, unidad rad/m, comparación explícita k_s frente a k_onda y ejemplo mínimo.">
            <a:extLst>
              <a:ext uri="{FF2B5EF4-FFF2-40B4-BE49-F238E27FC236}">
                <a16:creationId xmlns:a16="http://schemas.microsoft.com/office/drawing/2014/main" id="{2374497F-D96C-27B2-6124-521E2EFCAC4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8" name="Título 17">
            <a:extLst>
              <a:ext uri="{FF2B5EF4-FFF2-40B4-BE49-F238E27FC236}">
                <a16:creationId xmlns:a16="http://schemas.microsoft.com/office/drawing/2014/main" id="{F613D4BA-B0F3-11A8-2052-FB40C2DBA091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Número de onda: fase acumulada por distancia</a:t>
            </a:r>
          </a:p>
        </p:txBody>
      </p:sp>
      <p:sp>
        <p:nvSpPr>
          <p:cNvPr id="20" name="Marcador de número de diapositiva 19">
            <a:extLst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1AD500FE-C17C-C2F1-CE87-18DB040F0B31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89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u03_U03-089_eyebrow">
            <a:extLst>
              <a:ext uri="{FF2B5EF4-FFF2-40B4-BE49-F238E27FC236}">
                <a16:creationId xmlns:a16="http://schemas.microsoft.com/office/drawing/2014/main" id="{80CD7C51-818F-4985-81BE-E9D0CE19867B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MATERIAL DE RESPALDO</a:t>
            </a:r>
          </a:p>
        </p:txBody>
      </p:sp>
      <p:sp>
        <p:nvSpPr>
          <p:cNvPr id="23" name="U03-089_caption">
            <a:extLst>
              <a:ext uri="{FF2B5EF4-FFF2-40B4-BE49-F238E27FC236}">
                <a16:creationId xmlns:a16="http://schemas.microsoft.com/office/drawing/2014/main" id="{44693E1F-726E-4F56-B60B-9C5086AA0BE2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k_onda=2π/λ mide cambio de fase espacial y no es la constante del resorte.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25-S090" descr="Ecuación anotada con título «Forma compacta de la onda viajera». Ambas expresiones en paralelo, correspondencias ω=2πf, k_onda=2π/λ y dirección según signo.">
            <a:extLst>
              <a:ext uri="{FF2B5EF4-FFF2-40B4-BE49-F238E27FC236}">
                <a16:creationId xmlns:a16="http://schemas.microsoft.com/office/drawing/2014/main" id="{C57EEF13-E6BC-1272-F1B8-A1E0EC2CE1F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8" name="Título 17">
            <a:extLst>
              <a:ext uri="{FF2B5EF4-FFF2-40B4-BE49-F238E27FC236}">
                <a16:creationId xmlns:a16="http://schemas.microsoft.com/office/drawing/2014/main" id="{F613D4BA-B0F3-11A8-2052-FB40C2DBA091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Forma compacta de la onda viajera</a:t>
            </a:r>
          </a:p>
        </p:txBody>
      </p:sp>
      <p:sp>
        <p:nvSpPr>
          <p:cNvPr id="20" name="Marcador de número de diapositiva 19">
            <a:extLst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95C82590-C3E9-676B-72FC-E707471DCF64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90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u03_U03-090_eyebrow">
            <a:extLst>
              <a:ext uri="{FF2B5EF4-FFF2-40B4-BE49-F238E27FC236}">
                <a16:creationId xmlns:a16="http://schemas.microsoft.com/office/drawing/2014/main" id="{DDE1316F-5776-4417-A0A5-75C39EF065E1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MATERIAL DE RESPALDO</a:t>
            </a:r>
          </a:p>
        </p:txBody>
      </p:sp>
      <p:sp>
        <p:nvSpPr>
          <p:cNvPr id="23" name="U03-090_caption">
            <a:extLst>
              <a:ext uri="{FF2B5EF4-FFF2-40B4-BE49-F238E27FC236}">
                <a16:creationId xmlns:a16="http://schemas.microsoft.com/office/drawing/2014/main" id="{CBA72737-6510-4494-BE9A-CD937A296820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ξ=A_ξ cos(ωt-k_onda x+φ₀) es equivalente a la forma con f y λ.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25-S091" descr="Ecuación anotada con título «`c=ω/k_onda` expresa la misma rapidez». Sustitución en un renglón, unidades y equivalencia con λf.">
            <a:extLst>
              <a:ext uri="{FF2B5EF4-FFF2-40B4-BE49-F238E27FC236}">
                <a16:creationId xmlns:a16="http://schemas.microsoft.com/office/drawing/2014/main" id="{C923F569-7AB8-1801-74BC-A3BCA02A6585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8" name="Título 17">
            <a:extLst>
              <a:ext uri="{FF2B5EF4-FFF2-40B4-BE49-F238E27FC236}">
                <a16:creationId xmlns:a16="http://schemas.microsoft.com/office/drawing/2014/main" id="{F613D4BA-B0F3-11A8-2052-FB40C2DBA091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c=ω/k_onda expresa la misma rapidez</a:t>
            </a:r>
          </a:p>
        </p:txBody>
      </p:sp>
      <p:sp>
        <p:nvSpPr>
          <p:cNvPr id="20" name="Marcador de número de diapositiva 19">
            <a:extLst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7CDC1A55-D8DD-A0BA-A0EC-BEB674726ECD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91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u03_U03-091_eyebrow">
            <a:extLst>
              <a:ext uri="{FF2B5EF4-FFF2-40B4-BE49-F238E27FC236}">
                <a16:creationId xmlns:a16="http://schemas.microsoft.com/office/drawing/2014/main" id="{03CAF82B-54DA-489A-83D8-AC6B3D7FBD5F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MATERIAL DE RESPALDO</a:t>
            </a:r>
          </a:p>
        </p:txBody>
      </p:sp>
      <p:sp>
        <p:nvSpPr>
          <p:cNvPr id="23" name="U03-091_caption">
            <a:extLst>
              <a:ext uri="{FF2B5EF4-FFF2-40B4-BE49-F238E27FC236}">
                <a16:creationId xmlns:a16="http://schemas.microsoft.com/office/drawing/2014/main" id="{797E303C-1458-4E0A-AFC8-CCEBFA6F8836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La forma angular no agrega otra velocidad; reexpresa c=λf.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25-S092" descr="Ecuación anotada con título «Amplitud resultante de dos sinusoides». A_R=√(A₁²+A₂²+2A₁A₂ cosΔφ); comprobación de casos 0 y π; condiciones.">
            <a:extLst>
              <a:ext uri="{FF2B5EF4-FFF2-40B4-BE49-F238E27FC236}">
                <a16:creationId xmlns:a16="http://schemas.microsoft.com/office/drawing/2014/main" id="{1A2566D0-540A-3AAC-1398-543C1DEAA4D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8" name="Título 17">
            <a:extLst>
              <a:ext uri="{FF2B5EF4-FFF2-40B4-BE49-F238E27FC236}">
                <a16:creationId xmlns:a16="http://schemas.microsoft.com/office/drawing/2014/main" id="{F613D4BA-B0F3-11A8-2052-FB40C2DBA091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Amplitud resultante de dos sinusoides</a:t>
            </a:r>
          </a:p>
        </p:txBody>
      </p:sp>
      <p:sp>
        <p:nvSpPr>
          <p:cNvPr id="20" name="Marcador de número de diapositiva 19">
            <a:extLst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FF7B4941-8669-5809-F8BD-80CECECCC165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92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u03_U03-092_eyebrow">
            <a:extLst>
              <a:ext uri="{FF2B5EF4-FFF2-40B4-BE49-F238E27FC236}">
                <a16:creationId xmlns:a16="http://schemas.microsoft.com/office/drawing/2014/main" id="{F6BAD4C0-81C0-4C38-BFE7-B097A5C7FD58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MATERIAL DE RESPALDO</a:t>
            </a:r>
          </a:p>
        </p:txBody>
      </p:sp>
      <p:sp>
        <p:nvSpPr>
          <p:cNvPr id="23" name="U03-092_caption">
            <a:extLst>
              <a:ext uri="{FF2B5EF4-FFF2-40B4-BE49-F238E27FC236}">
                <a16:creationId xmlns:a16="http://schemas.microsoft.com/office/drawing/2014/main" id="{EB1B0B53-1A6C-4901-BB75-2980DE084AFD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La amplitud resultante depende de ambas amplitudes y de cos(Δφ).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CH013" descr="Gráfico cuantitativo con título «Cómo cambia la amplitud resultante con la fase». Curva normalizada A_R/A frente a Δφ de 0 a 2π; puntos notables.">
            <a:extLst>
              <a:ext uri="{FF2B5EF4-FFF2-40B4-BE49-F238E27FC236}">
                <a16:creationId xmlns:a16="http://schemas.microsoft.com/office/drawing/2014/main" id="{485B61E3-8FA8-F9A7-CD89-403792C0065E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8" name="Título 17">
            <a:extLst>
              <a:ext uri="{FF2B5EF4-FFF2-40B4-BE49-F238E27FC236}">
                <a16:creationId xmlns:a16="http://schemas.microsoft.com/office/drawing/2014/main" id="{F613D4BA-B0F3-11A8-2052-FB40C2DBA091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Cómo cambia la amplitud resultante con la fase</a:t>
            </a:r>
          </a:p>
        </p:txBody>
      </p:sp>
      <p:sp>
        <p:nvSpPr>
          <p:cNvPr id="20" name="Marcador de número de diapositiva 19">
            <a:extLst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63AB093C-C8AD-64A1-C003-5C0032800228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93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u03_U03-093_eyebrow">
            <a:extLst>
              <a:ext uri="{FF2B5EF4-FFF2-40B4-BE49-F238E27FC236}">
                <a16:creationId xmlns:a16="http://schemas.microsoft.com/office/drawing/2014/main" id="{5F47FF79-62E4-48AB-BEB1-35F7AE73DF6F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MATERIAL DE RESPALDO</a:t>
            </a:r>
          </a:p>
        </p:txBody>
      </p:sp>
      <p:sp>
        <p:nvSpPr>
          <p:cNvPr id="23" name="U03-093_caption">
            <a:extLst>
              <a:ext uri="{FF2B5EF4-FFF2-40B4-BE49-F238E27FC236}">
                <a16:creationId xmlns:a16="http://schemas.microsoft.com/office/drawing/2014/main" id="{477BF1EF-DB23-4F24-B693-C95479955D0A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La transición entre refuerzo y cancelación es continua. · Gráfico propio reproducible.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CH008" descr="Esquema mixto con título «Solución del ejercicio de tiempo y espacio». Marcas correctas de T y λ, cálculo de f y c, unidades y dos errores típicos.">
            <a:extLst>
              <a:ext uri="{FF2B5EF4-FFF2-40B4-BE49-F238E27FC236}">
                <a16:creationId xmlns:a16="http://schemas.microsoft.com/office/drawing/2014/main" id="{00241F56-1F3C-6A0E-F3C9-52C74F04CA5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8" name="Título 17">
            <a:extLst>
              <a:ext uri="{FF2B5EF4-FFF2-40B4-BE49-F238E27FC236}">
                <a16:creationId xmlns:a16="http://schemas.microsoft.com/office/drawing/2014/main" id="{F613D4BA-B0F3-11A8-2052-FB40C2DBA091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Solución del ejercicio de tiempo y espacio</a:t>
            </a:r>
          </a:p>
        </p:txBody>
      </p:sp>
      <p:sp>
        <p:nvSpPr>
          <p:cNvPr id="20" name="Marcador de número de diapositiva 19">
            <a:extLst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49AF0B80-E256-531F-19DB-D59497554B57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94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u03_U03-094_eyebrow">
            <a:extLst>
              <a:ext uri="{FF2B5EF4-FFF2-40B4-BE49-F238E27FC236}">
                <a16:creationId xmlns:a16="http://schemas.microsoft.com/office/drawing/2014/main" id="{9E473650-A185-4167-A46D-CF36C4D60FFC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MATERIAL DE RESPALDO</a:t>
            </a:r>
          </a:p>
        </p:txBody>
      </p:sp>
      <p:sp>
        <p:nvSpPr>
          <p:cNvPr id="23" name="U03-094_caption">
            <a:extLst>
              <a:ext uri="{FF2B5EF4-FFF2-40B4-BE49-F238E27FC236}">
                <a16:creationId xmlns:a16="http://schemas.microsoft.com/office/drawing/2014/main" id="{5720AC54-C30D-4841-A1B6-AF02F3854C0B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Cada magnitud se obtiene de su eje antes de usar c=λf. Esquema conceptual; no está a escala. · Gráfico propio reproducible.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U03-DG024-S095" descr="Esquema mixto con título «Solución del caso integrador». Cinco pasos que corresponden a U03-080; resultados y justificaciones breves.">
            <a:extLst>
              <a:ext uri="{FF2B5EF4-FFF2-40B4-BE49-F238E27FC236}">
                <a16:creationId xmlns:a16="http://schemas.microsoft.com/office/drawing/2014/main" id="{7FDC2FCF-D40D-A0D3-74C0-3D89B767255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200150"/>
            <a:ext cx="10972800" cy="5029200"/>
          </a:xfrm>
          <a:prstGeom prst="rect">
            <a:avLst/>
          </a:prstGeom>
        </p:spPr>
      </p:pic>
      <p:sp>
        <p:nvSpPr>
          <p:cNvPr id="18" name="Título 17">
            <a:extLst>
              <a:ext uri="{FF2B5EF4-FFF2-40B4-BE49-F238E27FC236}">
                <a16:creationId xmlns:a16="http://schemas.microsoft.com/office/drawing/2014/main" id="{F613D4BA-B0F3-11A8-2052-FB40C2DBA091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Solución del caso integrador</a:t>
            </a:r>
          </a:p>
        </p:txBody>
      </p:sp>
      <p:sp>
        <p:nvSpPr>
          <p:cNvPr id="20" name="Marcador de número de diapositiva 19">
            <a:extLst>
              <a:ext uri="{FF2B5EF4-FFF2-40B4-BE49-F238E27FC236}">
                <a16:creationId xmlns:a16="http://schemas.microsoft.com/office/drawing/2014/main" id="{2BD418A6-9462-5656-3C46-A62864F5F6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4674AA88-74FE-9C49-CBB6-FCC52CBADF85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95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u03_U03-095_eyebrow">
            <a:extLst>
              <a:ext uri="{FF2B5EF4-FFF2-40B4-BE49-F238E27FC236}">
                <a16:creationId xmlns:a16="http://schemas.microsoft.com/office/drawing/2014/main" id="{BC2EB2F9-EC82-4297-879A-BE5443B23213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MATERIAL DE RESPALDO</a:t>
            </a:r>
          </a:p>
        </p:txBody>
      </p:sp>
      <p:sp>
        <p:nvSpPr>
          <p:cNvPr id="23" name="U03-095_caption">
            <a:extLst>
              <a:ext uri="{FF2B5EF4-FFF2-40B4-BE49-F238E27FC236}">
                <a16:creationId xmlns:a16="http://schemas.microsoft.com/office/drawing/2014/main" id="{88B96F76-4D17-4CB7-8098-4C877E476C73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7150" tIns="19050" rIns="57150" bIns="19050" anchor="ctr">
            <a:noAutofit/>
          </a:bodyPr>
          <a:lstStyle/>
          <a:p>
            <a:pPr algn="l">
              <a:defRPr sz="1275" b="0">
                <a:solidFill>
                  <a:srgbClr val="68737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8737D"/>
                </a:solidFill>
                <a:latin typeface="Calibri"/>
                <a:ea typeface="Calibri"/>
                <a:cs typeface="Calibri"/>
              </a:rPr>
              <a:t>Una respuesta sólida combina mecanismo, variable, representación, cálculo y límites. Esquema conceptual; no está a escala. · Diagrama propio validado; no está a escala.</a:t>
            </a:r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4">
            <a:extLst>
              <a:ext uri="{FF2B5EF4-FFF2-40B4-BE49-F238E27FC236}">
                <a16:creationId xmlns:a16="http://schemas.microsoft.com/office/drawing/2014/main" id="{D93D457B-A092-5BC9-06E0-5FA99CC63C9F}"/>
              </a:ext>
            </a:extLst>
          </p:cNvPr>
          <p:cNvSpPr>
            <a:spLocks noGrp="1"/>
          </p:cNvSpPr>
          <p:nvPr>
            <p:ph type="title" idx="10"/>
          </p:nvPr>
        </p:nvSpPr>
        <p:spPr>
          <a:xfrm>
            <a:off x="609600" y="647700"/>
            <a:ext cx="10972800" cy="609600"/>
          </a:xfrm>
        </p:spPr>
        <p:txBody>
          <a:bodyPr wrap="none" lIns="0" tIns="0" rIns="0" bIns="0" anchor="ctr">
            <a:noAutofit/>
          </a:bodyPr>
          <a:lstStyle/>
          <a:p>
            <a:pPr>
              <a:def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pPr>
            <a:r>
              <a:rPr sz="3525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rPr>
              <a:t>Notación, glosario y fuentes de consulta</a:t>
            </a:r>
          </a:p>
        </p:txBody>
      </p:sp>
      <p:sp>
        <p:nvSpPr>
          <p:cNvPr id="17" name="Marcador de número de diapositiva 16">
            <a:extLst>
              <a:ext uri="{FF2B5EF4-FFF2-40B4-BE49-F238E27FC236}">
                <a16:creationId xmlns:a16="http://schemas.microsoft.com/office/drawing/2014/main" id="{E2D13425-3C5C-B26C-019E-A4D5E1FF74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pPr algn="r">
              <a:buNone/>
              <a:defRPr sz="1125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fld id="{70483BBF-0FAF-C292-EB03-F731E615EDA9}" type="slidenum">
              <a:rPr sz="1125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96</a:t>
            </a:fld>
            <a:endParaRPr sz="1125">
              <a:solidFill>
                <a:srgbClr val="90316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u03_U03-096_eyebrow">
            <a:extLst>
              <a:ext uri="{FF2B5EF4-FFF2-40B4-BE49-F238E27FC236}">
                <a16:creationId xmlns:a16="http://schemas.microsoft.com/office/drawing/2014/main" id="{248DCD9E-B6BC-4E04-B6D1-D5FB010849D5}"/>
              </a:ext>
            </a:extLst>
          </p:cNvPr>
          <p:cNvSpPr>
            <a:spLocks noGrp="1"/>
          </p:cNvSpPr>
          <p:nvPr/>
        </p:nvSpPr>
        <p:spPr>
          <a:xfrm>
            <a:off x="609600" y="390525"/>
            <a:ext cx="5905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UNIDAD 3 · MATERIAL DE RESPALDO</a:t>
            </a:r>
          </a:p>
        </p:txBody>
      </p:sp>
      <p:sp>
        <p:nvSpPr>
          <p:cNvPr id="19" name="U03-096_row_1_key">
            <a:extLst>
              <a:ext uri="{FF2B5EF4-FFF2-40B4-BE49-F238E27FC236}">
                <a16:creationId xmlns:a16="http://schemas.microsoft.com/office/drawing/2014/main" id="{4AA1E09E-A720-4A04-B285-1BAD1A630CDE}"/>
              </a:ext>
            </a:extLst>
          </p:cNvPr>
          <p:cNvSpPr>
            <a:spLocks noGrp="1"/>
          </p:cNvSpPr>
          <p:nvPr/>
        </p:nvSpPr>
        <p:spPr>
          <a:xfrm>
            <a:off x="762000" y="1524000"/>
            <a:ext cx="666750" cy="457200"/>
          </a:xfrm>
          <a:prstGeom prst="rect">
            <a:avLst/>
          </a:prstGeom>
          <a:solidFill>
            <a:srgbClr val="F7F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15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20" name="U03-096_row_1_value">
            <a:extLst>
              <a:ext uri="{FF2B5EF4-FFF2-40B4-BE49-F238E27FC236}">
                <a16:creationId xmlns:a16="http://schemas.microsoft.com/office/drawing/2014/main" id="{0E30214B-19A3-4F5A-8E92-89FDE33FCA84}"/>
              </a:ext>
            </a:extLst>
          </p:cNvPr>
          <p:cNvSpPr>
            <a:spLocks noGrp="1"/>
          </p:cNvSpPr>
          <p:nvPr/>
        </p:nvSpPr>
        <p:spPr>
          <a:xfrm>
            <a:off x="1428750" y="1524000"/>
            <a:ext cx="10001250" cy="457200"/>
          </a:xfrm>
          <a:prstGeom prst="rect">
            <a:avLst/>
          </a:prstGeom>
          <a:solidFill>
            <a:srgbClr val="F7F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133350" tIns="47625" rIns="133350" bIns="47625" anchor="ctr">
            <a:noAutofit/>
          </a:bodyPr>
          <a:lstStyle/>
          <a:p>
            <a:pPr algn="l"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A_x, A_ξ: amplitudes</a:t>
            </a:r>
          </a:p>
        </p:txBody>
      </p:sp>
      <p:sp>
        <p:nvSpPr>
          <p:cNvPr id="21" name="U03-096_row_2_key">
            <a:extLst>
              <a:ext uri="{FF2B5EF4-FFF2-40B4-BE49-F238E27FC236}">
                <a16:creationId xmlns:a16="http://schemas.microsoft.com/office/drawing/2014/main" id="{15F3B00E-0257-4C2A-8816-8EFE8BDF9D32}"/>
              </a:ext>
            </a:extLst>
          </p:cNvPr>
          <p:cNvSpPr>
            <a:spLocks noGrp="1"/>
          </p:cNvSpPr>
          <p:nvPr/>
        </p:nvSpPr>
        <p:spPr>
          <a:xfrm>
            <a:off x="762000" y="2019300"/>
            <a:ext cx="666750" cy="4572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15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22" name="U03-096_row_2_value">
            <a:extLst>
              <a:ext uri="{FF2B5EF4-FFF2-40B4-BE49-F238E27FC236}">
                <a16:creationId xmlns:a16="http://schemas.microsoft.com/office/drawing/2014/main" id="{AB937C26-4517-4A77-8729-B61CEC0CA49C}"/>
              </a:ext>
            </a:extLst>
          </p:cNvPr>
          <p:cNvSpPr>
            <a:spLocks noGrp="1"/>
          </p:cNvSpPr>
          <p:nvPr/>
        </p:nvSpPr>
        <p:spPr>
          <a:xfrm>
            <a:off x="1428750" y="2019300"/>
            <a:ext cx="10001250" cy="4572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133350" tIns="47625" rIns="133350" bIns="47625" anchor="ctr">
            <a:noAutofit/>
          </a:bodyPr>
          <a:lstStyle/>
          <a:p>
            <a:pPr algn="l"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f: frecuencia</a:t>
            </a:r>
          </a:p>
        </p:txBody>
      </p:sp>
      <p:sp>
        <p:nvSpPr>
          <p:cNvPr id="23" name="U03-096_row_3_key">
            <a:extLst>
              <a:ext uri="{FF2B5EF4-FFF2-40B4-BE49-F238E27FC236}">
                <a16:creationId xmlns:a16="http://schemas.microsoft.com/office/drawing/2014/main" id="{5B2710AB-1BD2-4F60-95E4-AB2633FB1D21}"/>
              </a:ext>
            </a:extLst>
          </p:cNvPr>
          <p:cNvSpPr>
            <a:spLocks noGrp="1"/>
          </p:cNvSpPr>
          <p:nvPr/>
        </p:nvSpPr>
        <p:spPr>
          <a:xfrm>
            <a:off x="762000" y="2514600"/>
            <a:ext cx="666750" cy="457200"/>
          </a:xfrm>
          <a:prstGeom prst="rect">
            <a:avLst/>
          </a:prstGeom>
          <a:solidFill>
            <a:srgbClr val="F7F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15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4" name="U03-096_row_3_value">
            <a:extLst>
              <a:ext uri="{FF2B5EF4-FFF2-40B4-BE49-F238E27FC236}">
                <a16:creationId xmlns:a16="http://schemas.microsoft.com/office/drawing/2014/main" id="{A3BB885B-DCD0-4EB0-AECA-FA84BAE480A2}"/>
              </a:ext>
            </a:extLst>
          </p:cNvPr>
          <p:cNvSpPr>
            <a:spLocks noGrp="1"/>
          </p:cNvSpPr>
          <p:nvPr/>
        </p:nvSpPr>
        <p:spPr>
          <a:xfrm>
            <a:off x="1428750" y="2514600"/>
            <a:ext cx="10001250" cy="457200"/>
          </a:xfrm>
          <a:prstGeom prst="rect">
            <a:avLst/>
          </a:prstGeom>
          <a:solidFill>
            <a:srgbClr val="F7F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133350" tIns="47625" rIns="133350" bIns="47625" anchor="ctr">
            <a:noAutofit/>
          </a:bodyPr>
          <a:lstStyle/>
          <a:p>
            <a:pPr algn="l"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T: período</a:t>
            </a:r>
          </a:p>
        </p:txBody>
      </p:sp>
      <p:sp>
        <p:nvSpPr>
          <p:cNvPr id="25" name="U03-096_row_4_key">
            <a:extLst>
              <a:ext uri="{FF2B5EF4-FFF2-40B4-BE49-F238E27FC236}">
                <a16:creationId xmlns:a16="http://schemas.microsoft.com/office/drawing/2014/main" id="{6FB5327E-8F08-48FD-B12C-74D8975793AB}"/>
              </a:ext>
            </a:extLst>
          </p:cNvPr>
          <p:cNvSpPr>
            <a:spLocks noGrp="1"/>
          </p:cNvSpPr>
          <p:nvPr/>
        </p:nvSpPr>
        <p:spPr>
          <a:xfrm>
            <a:off x="762000" y="3009900"/>
            <a:ext cx="666750" cy="4572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15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6" name="U03-096_row_4_value">
            <a:extLst>
              <a:ext uri="{FF2B5EF4-FFF2-40B4-BE49-F238E27FC236}">
                <a16:creationId xmlns:a16="http://schemas.microsoft.com/office/drawing/2014/main" id="{0F547FD4-3CF6-449D-806B-33398B1EB31E}"/>
              </a:ext>
            </a:extLst>
          </p:cNvPr>
          <p:cNvSpPr>
            <a:spLocks noGrp="1"/>
          </p:cNvSpPr>
          <p:nvPr/>
        </p:nvSpPr>
        <p:spPr>
          <a:xfrm>
            <a:off x="1428750" y="3009900"/>
            <a:ext cx="10001250" cy="4572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133350" tIns="47625" rIns="133350" bIns="47625" anchor="ctr">
            <a:noAutofit/>
          </a:bodyPr>
          <a:lstStyle/>
          <a:p>
            <a:pPr algn="l"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φ₀, Δφ: fases</a:t>
            </a:r>
          </a:p>
        </p:txBody>
      </p:sp>
      <p:sp>
        <p:nvSpPr>
          <p:cNvPr id="27" name="U03-096_row_5_key">
            <a:extLst>
              <a:ext uri="{FF2B5EF4-FFF2-40B4-BE49-F238E27FC236}">
                <a16:creationId xmlns:a16="http://schemas.microsoft.com/office/drawing/2014/main" id="{444ACDEB-24A6-489C-B6C0-60841043556B}"/>
              </a:ext>
            </a:extLst>
          </p:cNvPr>
          <p:cNvSpPr>
            <a:spLocks noGrp="1"/>
          </p:cNvSpPr>
          <p:nvPr/>
        </p:nvSpPr>
        <p:spPr>
          <a:xfrm>
            <a:off x="762000" y="3505200"/>
            <a:ext cx="666750" cy="457200"/>
          </a:xfrm>
          <a:prstGeom prst="rect">
            <a:avLst/>
          </a:prstGeom>
          <a:solidFill>
            <a:srgbClr val="F7F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15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28" name="U03-096_row_5_value">
            <a:extLst>
              <a:ext uri="{FF2B5EF4-FFF2-40B4-BE49-F238E27FC236}">
                <a16:creationId xmlns:a16="http://schemas.microsoft.com/office/drawing/2014/main" id="{E5C71E30-D811-46C1-A7D5-636D3BF384FB}"/>
              </a:ext>
            </a:extLst>
          </p:cNvPr>
          <p:cNvSpPr>
            <a:spLocks noGrp="1"/>
          </p:cNvSpPr>
          <p:nvPr/>
        </p:nvSpPr>
        <p:spPr>
          <a:xfrm>
            <a:off x="1428750" y="3505200"/>
            <a:ext cx="10001250" cy="457200"/>
          </a:xfrm>
          <a:prstGeom prst="rect">
            <a:avLst/>
          </a:prstGeom>
          <a:solidFill>
            <a:srgbClr val="F7F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133350" tIns="47625" rIns="133350" bIns="47625" anchor="ctr">
            <a:noAutofit/>
          </a:bodyPr>
          <a:lstStyle/>
          <a:p>
            <a:pPr algn="l"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λ: longitud de onda</a:t>
            </a:r>
          </a:p>
        </p:txBody>
      </p:sp>
      <p:sp>
        <p:nvSpPr>
          <p:cNvPr id="29" name="U03-096_row_6_key">
            <a:extLst>
              <a:ext uri="{FF2B5EF4-FFF2-40B4-BE49-F238E27FC236}">
                <a16:creationId xmlns:a16="http://schemas.microsoft.com/office/drawing/2014/main" id="{67CB19A3-F828-49D3-8BA6-A91691ECC5CA}"/>
              </a:ext>
            </a:extLst>
          </p:cNvPr>
          <p:cNvSpPr>
            <a:spLocks noGrp="1"/>
          </p:cNvSpPr>
          <p:nvPr/>
        </p:nvSpPr>
        <p:spPr>
          <a:xfrm>
            <a:off x="762000" y="4000500"/>
            <a:ext cx="666750" cy="4572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15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30" name="U03-096_row_6_value">
            <a:extLst>
              <a:ext uri="{FF2B5EF4-FFF2-40B4-BE49-F238E27FC236}">
                <a16:creationId xmlns:a16="http://schemas.microsoft.com/office/drawing/2014/main" id="{4188581C-E2F0-4F08-9714-8D7395DDD943}"/>
              </a:ext>
            </a:extLst>
          </p:cNvPr>
          <p:cNvSpPr>
            <a:spLocks noGrp="1"/>
          </p:cNvSpPr>
          <p:nvPr/>
        </p:nvSpPr>
        <p:spPr>
          <a:xfrm>
            <a:off x="1428750" y="4000500"/>
            <a:ext cx="10001250" cy="4572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133350" tIns="47625" rIns="133350" bIns="47625" anchor="ctr">
            <a:noAutofit/>
          </a:bodyPr>
          <a:lstStyle/>
          <a:p>
            <a:pPr algn="l"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u: velocidad local</a:t>
            </a:r>
          </a:p>
        </p:txBody>
      </p:sp>
      <p:sp>
        <p:nvSpPr>
          <p:cNvPr id="31" name="U03-096_row_7_key">
            <a:extLst>
              <a:ext uri="{FF2B5EF4-FFF2-40B4-BE49-F238E27FC236}">
                <a16:creationId xmlns:a16="http://schemas.microsoft.com/office/drawing/2014/main" id="{F9C593C5-AC5B-40EC-BF76-4C996E17BA44}"/>
              </a:ext>
            </a:extLst>
          </p:cNvPr>
          <p:cNvSpPr>
            <a:spLocks noGrp="1"/>
          </p:cNvSpPr>
          <p:nvPr/>
        </p:nvSpPr>
        <p:spPr>
          <a:xfrm>
            <a:off x="762000" y="4495800"/>
            <a:ext cx="666750" cy="457200"/>
          </a:xfrm>
          <a:prstGeom prst="rect">
            <a:avLst/>
          </a:prstGeom>
          <a:solidFill>
            <a:srgbClr val="F7F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15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32" name="U03-096_row_7_value">
            <a:extLst>
              <a:ext uri="{FF2B5EF4-FFF2-40B4-BE49-F238E27FC236}">
                <a16:creationId xmlns:a16="http://schemas.microsoft.com/office/drawing/2014/main" id="{B8287481-285A-4E37-91AC-60FCB459BBC5}"/>
              </a:ext>
            </a:extLst>
          </p:cNvPr>
          <p:cNvSpPr>
            <a:spLocks noGrp="1"/>
          </p:cNvSpPr>
          <p:nvPr/>
        </p:nvSpPr>
        <p:spPr>
          <a:xfrm>
            <a:off x="1428750" y="4495800"/>
            <a:ext cx="10001250" cy="457200"/>
          </a:xfrm>
          <a:prstGeom prst="rect">
            <a:avLst/>
          </a:prstGeom>
          <a:solidFill>
            <a:srgbClr val="F7F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133350" tIns="47625" rIns="133350" bIns="47625" anchor="ctr">
            <a:noAutofit/>
          </a:bodyPr>
          <a:lstStyle/>
          <a:p>
            <a:pPr algn="l"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c: propagación</a:t>
            </a:r>
          </a:p>
        </p:txBody>
      </p:sp>
      <p:sp>
        <p:nvSpPr>
          <p:cNvPr id="33" name="U03-096_row_8_key">
            <a:extLst>
              <a:ext uri="{FF2B5EF4-FFF2-40B4-BE49-F238E27FC236}">
                <a16:creationId xmlns:a16="http://schemas.microsoft.com/office/drawing/2014/main" id="{33D1BF30-A3B2-40DF-90F7-49A2EBBE1790}"/>
              </a:ext>
            </a:extLst>
          </p:cNvPr>
          <p:cNvSpPr>
            <a:spLocks noGrp="1"/>
          </p:cNvSpPr>
          <p:nvPr/>
        </p:nvSpPr>
        <p:spPr>
          <a:xfrm>
            <a:off x="762000" y="4991100"/>
            <a:ext cx="666750" cy="4572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15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34" name="U03-096_row_8_value">
            <a:extLst>
              <a:ext uri="{FF2B5EF4-FFF2-40B4-BE49-F238E27FC236}">
                <a16:creationId xmlns:a16="http://schemas.microsoft.com/office/drawing/2014/main" id="{AC8013A2-F008-437A-BAB8-A4F4D6762E6B}"/>
              </a:ext>
            </a:extLst>
          </p:cNvPr>
          <p:cNvSpPr>
            <a:spLocks noGrp="1"/>
          </p:cNvSpPr>
          <p:nvPr/>
        </p:nvSpPr>
        <p:spPr>
          <a:xfrm>
            <a:off x="1428750" y="4991100"/>
            <a:ext cx="10001250" cy="4572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133350" tIns="47625" rIns="133350" bIns="47625" anchor="ctr">
            <a:noAutofit/>
          </a:bodyPr>
          <a:lstStyle/>
          <a:p>
            <a:pPr algn="l"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k_s: rigidez</a:t>
            </a:r>
          </a:p>
        </p:txBody>
      </p:sp>
      <p:sp>
        <p:nvSpPr>
          <p:cNvPr id="35" name="U03-096_row_9_key">
            <a:extLst>
              <a:ext uri="{FF2B5EF4-FFF2-40B4-BE49-F238E27FC236}">
                <a16:creationId xmlns:a16="http://schemas.microsoft.com/office/drawing/2014/main" id="{0B239AB9-8087-46A9-ABD2-DDD99BDBA847}"/>
              </a:ext>
            </a:extLst>
          </p:cNvPr>
          <p:cNvSpPr>
            <a:spLocks noGrp="1"/>
          </p:cNvSpPr>
          <p:nvPr/>
        </p:nvSpPr>
        <p:spPr>
          <a:xfrm>
            <a:off x="762000" y="5486400"/>
            <a:ext cx="666750" cy="457200"/>
          </a:xfrm>
          <a:prstGeom prst="rect">
            <a:avLst/>
          </a:prstGeom>
          <a:solidFill>
            <a:srgbClr val="F7F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1500" b="1">
                <a:solidFill>
                  <a:srgbClr val="90316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903163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  <p:sp>
        <p:nvSpPr>
          <p:cNvPr id="36" name="U03-096_row_9_value">
            <a:extLst>
              <a:ext uri="{FF2B5EF4-FFF2-40B4-BE49-F238E27FC236}">
                <a16:creationId xmlns:a16="http://schemas.microsoft.com/office/drawing/2014/main" id="{62CECC05-5C8A-40BB-8953-38B612567352}"/>
              </a:ext>
            </a:extLst>
          </p:cNvPr>
          <p:cNvSpPr>
            <a:spLocks noGrp="1"/>
          </p:cNvSpPr>
          <p:nvPr/>
        </p:nvSpPr>
        <p:spPr>
          <a:xfrm>
            <a:off x="1428750" y="5486400"/>
            <a:ext cx="10001250" cy="457200"/>
          </a:xfrm>
          <a:prstGeom prst="rect">
            <a:avLst/>
          </a:prstGeom>
          <a:solidFill>
            <a:srgbClr val="F7F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133350" tIns="47625" rIns="133350" bIns="47625" anchor="ctr">
            <a:noAutofit/>
          </a:bodyPr>
          <a:lstStyle/>
          <a:p>
            <a:pPr algn="l">
              <a:defRPr sz="210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3D3D3D"/>
                </a:solidFill>
                <a:latin typeface="Calibri"/>
                <a:ea typeface="Calibri"/>
                <a:cs typeface="Calibri"/>
              </a:rPr>
              <a:t>k_onda: número de onda.</a:t>
            </a:r>
          </a:p>
        </p:txBody>
      </p:sp>
    </p:spTree>
    <p:extLst>
      <p:ext uri="{BB962C8B-B14F-4D97-AF65-F5344CB8AC3E}">
        <p14:creationId xmlns:p14="http://schemas.microsoft.com/office/powerpoint/2010/main" val="235601764"/>
      </p:ext>
    </p:extLst>
  </p:cSld>
  <p:clrMapOvr>
    <a:masterClrMapping/>
  </p:clrMapOvr>
</p:sld>
</file>

<file path=ppt/theme/theme1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A_MASTER_BORDO">
  <a:themeElements>
    <a:clrScheme name="Office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27144</Words>
  <Application>Microsoft Office PowerPoint</Application>
  <DocSecurity>0</DocSecurity>
  <PresentationFormat>Panorámica</PresentationFormat>
  <Paragraphs>1489</Paragraphs>
  <Slides>96</Slides>
  <Notes>96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96</vt:i4>
      </vt:variant>
    </vt:vector>
  </HeadingPairs>
  <TitlesOfParts>
    <vt:vector size="102" baseType="lpstr">
      <vt:lpstr>Aptos</vt:lpstr>
      <vt:lpstr>Calibri</vt:lpstr>
      <vt:lpstr>Calibri Light</vt:lpstr>
      <vt:lpstr>Cambria Math</vt:lpstr>
      <vt:lpstr>FA_MASTER_CLARO</vt:lpstr>
      <vt:lpstr>FA_MASTER_BORDO</vt:lpstr>
      <vt:lpstr>Fundamentos de la mecánica ondulatoria</vt:lpstr>
      <vt:lpstr>Un parlante vibra: ¿qué llega hasta el oído?</vt:lpstr>
      <vt:lpstr>Cuatro afirmaciones para empezar</vt:lpstr>
      <vt:lpstr>Equilibrio, elasticidad y gráficos: lo que ya sabemos</vt:lpstr>
      <vt:lpstr>Qué podremos explicar, leer y calcular</vt:lpstr>
      <vt:lpstr>Del movimiento local a la onda que llega</vt:lpstr>
      <vt:lpstr>Una parte oscila; la perturbación avanza</vt:lpstr>
      <vt:lpstr>Oscilar es ir y volver alrededor de un equilibrio</vt:lpstr>
      <vt:lpstr>Una interacción vecina transmite la perturbación</vt:lpstr>
      <vt:lpstr>Materia, perturbación y energía no recorren lo mismo</vt:lpstr>
      <vt:lpstr>Una onda mecánica necesita medio e interacción</vt:lpstr>
      <vt:lpstr>Longitudinal y transversal: dos direcciones</vt:lpstr>
      <vt:lpstr>Un resorte permite ver movimiento local y frente</vt:lpstr>
      <vt:lpstr>Si la marca vuelve, ¿la onda también volvió?</vt:lpstr>
      <vt:lpstr>Fuente y receptor también oscilan localmente</vt:lpstr>
      <vt:lpstr>Hasta acá: qué oscila y qué se propaga</vt:lpstr>
      <vt:lpstr>Un modelo simple para una oscilación regular</vt:lpstr>
      <vt:lpstr>El MAS combina inercia y fuerza restauradora lineal</vt:lpstr>
      <vt:lpstr>La fuerza restauradora apunta hacia el equilibrio</vt:lpstr>
      <vt:lpstr>Un ciclo recorre extremos, equilibrio y regreso</vt:lpstr>
      <vt:lpstr>La amplitud mide el máximo alejamiento</vt:lpstr>
      <vt:lpstr>El período es el tiempo de un ciclo completo</vt:lpstr>
      <vt:lpstr>La frecuencia cuenta ciclos por unidad de tiempo</vt:lpstr>
      <vt:lpstr>Frecuencia y período son recíprocos</vt:lpstr>
      <vt:lpstr>De 2 ms por ciclo a 500 Hz</vt:lpstr>
      <vt:lpstr>La fase ubica un estado dentro del ciclo</vt:lpstr>
      <vt:lpstr>Cuatro preguntas describen una oscilación</vt:lpstr>
      <vt:lpstr>La curva no es el fenómeno: es una representación</vt:lpstr>
      <vt:lpstr>x(t) describe una posición que cambia en el tiempo</vt:lpstr>
      <vt:lpstr>El cono de un parlante puede moverse micrómetros</vt:lpstr>
      <vt:lpstr>En los extremos la velocidad se anula</vt:lpstr>
      <vt:lpstr>La aceleración siempre apunta hacia el equilibrio</vt:lpstr>
      <vt:lpstr>Posición, velocidad y aceleración no coinciden</vt:lpstr>
      <vt:lpstr>En este instante, ¿hacia dónde se mueve y acelera?</vt:lpstr>
      <vt:lpstr>La misma forma puede representar magnitudes distintas</vt:lpstr>
      <vt:lpstr>La sinusoide no es la trayectoria de una partícula</vt:lpstr>
      <vt:lpstr>Una curva sin escala no entrega un valor físico</vt:lpstr>
      <vt:lpstr>Antes de interpretar una señal, haga cuatro preguntas</vt:lpstr>
      <vt:lpstr>De una señal ideal a una perturbación acústica</vt:lpstr>
      <vt:lpstr>Un tono puro ideal tiene una sola frecuencia</vt:lpstr>
      <vt:lpstr>Un tono real comienza y termina</vt:lpstr>
      <vt:lpstr>Señal eléctrica, cono, aire y presión: una cadena</vt:lpstr>
      <vt:lpstr>El cono oscila alrededor de una posición media</vt:lpstr>
      <vt:lpstr>El aire vecino alterna compresiones y rarefacciones</vt:lpstr>
      <vt:lpstr>En un punto del aire, la presión también puede oscilar</vt:lpstr>
      <vt:lpstr>Un tono audiométrico exige nivel y calibración</vt:lpstr>
      <vt:lpstr>Un mismo patrón, cuatro variables físicas</vt:lpstr>
      <vt:lpstr>La onda depende del tiempo y del lugar</vt:lpstr>
      <vt:lpstr>ξ(x,t) asigna un estado a cada lugar y cada instante</vt:lpstr>
      <vt:lpstr>Un mapa espacio–tiempo muestra el avance</vt:lpstr>
      <vt:lpstr>En un punto fijo leemos un registro temporal</vt:lpstr>
      <vt:lpstr>En un instante fijo leemos un perfil espacial</vt:lpstr>
      <vt:lpstr>Período y longitud de onda: tiempo y espacio</vt:lpstr>
      <vt:lpstr>La longitud de onda mide repetición espacial</vt:lpstr>
      <vt:lpstr>Una expresión viajera combina fase espacial y temporal</vt:lpstr>
      <vt:lpstr>En un período la onda avanza una longitud de onda</vt:lpstr>
      <vt:lpstr>A 1000 Hz, una onda recorre 34 cm por ciclo</vt:lpstr>
      <vt:lpstr>Lea T y λ; luego calcule c</vt:lpstr>
      <vt:lpstr>Mismo fenómeno, dos cortes y una relación</vt:lpstr>
      <vt:lpstr>La partícula se mueve; la onda avanza</vt:lpstr>
      <vt:lpstr>Siga una partícula y siga una cresta</vt:lpstr>
      <vt:lpstr>u es movimiento local; c, propagación</vt:lpstr>
      <vt:lpstr>Aumentar la frecuencia no obliga a aumentar c</vt:lpstr>
      <vt:lpstr>La fase permite comparar estados de ciclo</vt:lpstr>
      <vt:lpstr>La diferencia de fase mide cuánto se desplaza un ciclo</vt:lpstr>
      <vt:lpstr>Separarse una longitud de onda repite la fase</vt:lpstr>
      <vt:lpstr>El retraso se vuelve fase si conocemos f</vt:lpstr>
      <vt:lpstr>¿En fase, adelantadas o en oposición?</vt:lpstr>
      <vt:lpstr>Dos preguntas evitan cuatro confusiones</vt:lpstr>
      <vt:lpstr>Cuando dos perturbaciones coinciden, se suman</vt:lpstr>
      <vt:lpstr>La superposición suma desplazamientos instantáneos</vt:lpstr>
      <vt:lpstr>En fase, las contribuciones se refuerzan</vt:lpstr>
      <vt:lpstr>La oposición de fase puede cancelar</vt:lpstr>
      <vt:lpstr>El desfase intermedio produce suma parcial</vt:lpstr>
      <vt:lpstr>Antes de sumar, prediga la resultante</vt:lpstr>
      <vt:lpstr>La cancelación activa exige control</vt:lpstr>
      <vt:lpstr>En el oído y la voz también coinciden perturbaciones</vt:lpstr>
      <vt:lpstr>Sumar no significa sumar amplitudes sin mirar la fase</vt:lpstr>
      <vt:lpstr>Producción, propagación y recepción</vt:lpstr>
      <vt:lpstr>Caso integrador: de la señal al punto de observación</vt:lpstr>
      <vt:lpstr>De la fuerza restauradora a la onda</vt:lpstr>
      <vt:lpstr>Cuatro afirmaciones, ahora con evidencia</vt:lpstr>
      <vt:lpstr>Describimos la onda; ahora mediremos el sonido</vt:lpstr>
      <vt:lpstr>Recordatorio trigonométrico para leer sinusoides</vt:lpstr>
      <vt:lpstr>Frecuencia angular: otra forma de contar el ciclo</vt:lpstr>
      <vt:lpstr>Masa y elasticidad fijan la frecuencia ideal</vt:lpstr>
      <vt:lpstr>Soluciones del diagnóstico inicial</vt:lpstr>
      <vt:lpstr>Posición, velocidad y aceleración del MAS</vt:lpstr>
      <vt:lpstr>Número de onda: fase acumulada por distancia</vt:lpstr>
      <vt:lpstr>Forma compacta de la onda viajera</vt:lpstr>
      <vt:lpstr>c=ω/k_onda expresa la misma rapidez</vt:lpstr>
      <vt:lpstr>Amplitud resultante de dos sinusoides</vt:lpstr>
      <vt:lpstr>Cómo cambia la amplitud resultante con la fase</vt:lpstr>
      <vt:lpstr>Solución del ejercicio de tiempo y espacio</vt:lpstr>
      <vt:lpstr>Solución del caso integrador</vt:lpstr>
      <vt:lpstr>Notación, glosario y fuentes de consulta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Maximiliano Ortiz</cp:lastModifiedBy>
  <cp:revision>1</cp:revision>
  <dcterms:created xsi:type="dcterms:W3CDTF">2026-07-31T00:55:46Z</dcterms:created>
  <dcterms:modified xsi:type="dcterms:W3CDTF">2026-07-31T01:56:38Z</dcterms:modified>
</cp:coreProperties>
</file>