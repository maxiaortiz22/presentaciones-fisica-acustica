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a631fb4e0842d0" /><Relationship Type="http://schemas.openxmlformats.org/officeDocument/2006/relationships/extended-properties" Target="/docProps/app.xml" Id="Ra78ad45b55f94286" /><Relationship Type="http://schemas.openxmlformats.org/officeDocument/2006/relationships/officeDocument" Target="/ppt/presentation.xml" Id="R6a3a455c325047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6cf9c74844a49"/>
    <p:sldMasterId xmlns:r="http://schemas.openxmlformats.org/officeDocument/2006/relationships" id="2147483673" r:id="Rbb412d77730a44fd"/>
  </p:sldMasterIdLst>
  <p:notesMasterIdLst>
    <p:notesMasterId xmlns:r="http://schemas.openxmlformats.org/officeDocument/2006/relationships" r:id="R4d5a4c30347c4430"/>
  </p:notesMasterIdLst>
  <p:sldIdLst>
    <p:sldId xmlns:r="http://schemas.openxmlformats.org/officeDocument/2006/relationships" id="256" r:id="Re1ccfa8d0b8645df"/>
    <p:sldId xmlns:r="http://schemas.openxmlformats.org/officeDocument/2006/relationships" id="257" r:id="Rc44dd175894c47ff"/>
    <p:sldId xmlns:r="http://schemas.openxmlformats.org/officeDocument/2006/relationships" id="258" r:id="R9e6eea1d98d64f04"/>
    <p:sldId xmlns:r="http://schemas.openxmlformats.org/officeDocument/2006/relationships" id="259" r:id="Rf83ea38bf1e34c4c"/>
    <p:sldId xmlns:r="http://schemas.openxmlformats.org/officeDocument/2006/relationships" id="260" r:id="Rd46531cbc2654a90"/>
    <p:sldId xmlns:r="http://schemas.openxmlformats.org/officeDocument/2006/relationships" id="261" r:id="Rd6c67606bcee4464"/>
    <p:sldId xmlns:r="http://schemas.openxmlformats.org/officeDocument/2006/relationships" id="262" r:id="R0640f568ddba43c7"/>
    <p:sldId xmlns:r="http://schemas.openxmlformats.org/officeDocument/2006/relationships" id="263" r:id="R82867b3f50a84ec8"/>
    <p:sldId xmlns:r="http://schemas.openxmlformats.org/officeDocument/2006/relationships" id="264" r:id="R675ead288edb4e23"/>
    <p:sldId xmlns:r="http://schemas.openxmlformats.org/officeDocument/2006/relationships" id="265" r:id="R1cdd42ae63284153"/>
    <p:sldId xmlns:r="http://schemas.openxmlformats.org/officeDocument/2006/relationships" id="266" r:id="R430c80b52e2b49e5"/>
    <p:sldId xmlns:r="http://schemas.openxmlformats.org/officeDocument/2006/relationships" id="267" r:id="R7995ce10c62e4de8"/>
    <p:sldId xmlns:r="http://schemas.openxmlformats.org/officeDocument/2006/relationships" id="268" r:id="R567c106a5c1a4351"/>
    <p:sldId xmlns:r="http://schemas.openxmlformats.org/officeDocument/2006/relationships" id="269" r:id="R22a28dd91b574989"/>
    <p:sldId xmlns:r="http://schemas.openxmlformats.org/officeDocument/2006/relationships" id="270" r:id="Ra0c5dde21bdf4bf2"/>
    <p:sldId xmlns:r="http://schemas.openxmlformats.org/officeDocument/2006/relationships" id="271" r:id="R2cdb7a28de134855"/>
    <p:sldId xmlns:r="http://schemas.openxmlformats.org/officeDocument/2006/relationships" id="272" r:id="Rc6dc5435663f49d1"/>
    <p:sldId xmlns:r="http://schemas.openxmlformats.org/officeDocument/2006/relationships" id="273" r:id="Rb747b9e9b0f14638"/>
    <p:sldId xmlns:r="http://schemas.openxmlformats.org/officeDocument/2006/relationships" id="274" r:id="Re560a7e7a37d4050"/>
    <p:sldId xmlns:r="http://schemas.openxmlformats.org/officeDocument/2006/relationships" id="275" r:id="R2abfebce21014e00"/>
    <p:sldId xmlns:r="http://schemas.openxmlformats.org/officeDocument/2006/relationships" id="276" r:id="R874a250233ee4ffd"/>
    <p:sldId xmlns:r="http://schemas.openxmlformats.org/officeDocument/2006/relationships" id="277" r:id="Rddf869fbfb8b461e"/>
    <p:sldId xmlns:r="http://schemas.openxmlformats.org/officeDocument/2006/relationships" id="278" r:id="Rc5b7c437d3d94f1d"/>
    <p:sldId xmlns:r="http://schemas.openxmlformats.org/officeDocument/2006/relationships" id="279" r:id="Ra9a9ec56c27a4f6f"/>
    <p:sldId xmlns:r="http://schemas.openxmlformats.org/officeDocument/2006/relationships" id="280" r:id="Rf75c3af59b0f4332"/>
    <p:sldId xmlns:r="http://schemas.openxmlformats.org/officeDocument/2006/relationships" id="281" r:id="Rbc9b20354ebf45af"/>
    <p:sldId xmlns:r="http://schemas.openxmlformats.org/officeDocument/2006/relationships" id="282" r:id="R297675c0e38d412b"/>
    <p:sldId xmlns:r="http://schemas.openxmlformats.org/officeDocument/2006/relationships" id="283" r:id="Re6616bea2b484504"/>
    <p:sldId xmlns:r="http://schemas.openxmlformats.org/officeDocument/2006/relationships" id="284" r:id="Rbac96d7f4ee64036"/>
    <p:sldId xmlns:r="http://schemas.openxmlformats.org/officeDocument/2006/relationships" id="285" r:id="R70ac753eede84d87"/>
    <p:sldId xmlns:r="http://schemas.openxmlformats.org/officeDocument/2006/relationships" id="286" r:id="R93542d97e0bb44ab"/>
    <p:sldId xmlns:r="http://schemas.openxmlformats.org/officeDocument/2006/relationships" id="287" r:id="R80893bcb01d446d9"/>
    <p:sldId xmlns:r="http://schemas.openxmlformats.org/officeDocument/2006/relationships" id="288" r:id="R28c33446757147ae"/>
    <p:sldId xmlns:r="http://schemas.openxmlformats.org/officeDocument/2006/relationships" id="289" r:id="R79007e884c2a4aa2"/>
    <p:sldId xmlns:r="http://schemas.openxmlformats.org/officeDocument/2006/relationships" id="290" r:id="R4ce2bfb0717146a4"/>
    <p:sldId xmlns:r="http://schemas.openxmlformats.org/officeDocument/2006/relationships" id="291" r:id="R9f956abe2a6543ba"/>
    <p:sldId xmlns:r="http://schemas.openxmlformats.org/officeDocument/2006/relationships" id="292" r:id="Rc110614b5cad4567"/>
    <p:sldId xmlns:r="http://schemas.openxmlformats.org/officeDocument/2006/relationships" id="293" r:id="R9eed7a440e6042d0"/>
    <p:sldId xmlns:r="http://schemas.openxmlformats.org/officeDocument/2006/relationships" id="294" r:id="R82d937f21adb4f88"/>
    <p:sldId xmlns:r="http://schemas.openxmlformats.org/officeDocument/2006/relationships" id="295" r:id="R91d7e6521dc54b5d"/>
    <p:sldId xmlns:r="http://schemas.openxmlformats.org/officeDocument/2006/relationships" id="296" r:id="R6c70fbaeab0a467c"/>
    <p:sldId xmlns:r="http://schemas.openxmlformats.org/officeDocument/2006/relationships" id="297" r:id="R03d49b432cd74cac"/>
    <p:sldId xmlns:r="http://schemas.openxmlformats.org/officeDocument/2006/relationships" id="298" r:id="R4702a018ac464028"/>
    <p:sldId xmlns:r="http://schemas.openxmlformats.org/officeDocument/2006/relationships" id="299" r:id="R51f97b9044774e65"/>
    <p:sldId xmlns:r="http://schemas.openxmlformats.org/officeDocument/2006/relationships" id="300" r:id="Rb4d654ce93f9467a"/>
    <p:sldId xmlns:r="http://schemas.openxmlformats.org/officeDocument/2006/relationships" id="301" r:id="Rb31d3e20565144fd"/>
    <p:sldId xmlns:r="http://schemas.openxmlformats.org/officeDocument/2006/relationships" id="302" r:id="Raaf07b27c8814446"/>
    <p:sldId xmlns:r="http://schemas.openxmlformats.org/officeDocument/2006/relationships" id="303" r:id="Rb6631e8bc58c4807"/>
    <p:sldId xmlns:r="http://schemas.openxmlformats.org/officeDocument/2006/relationships" id="304" r:id="R619f0f21212e4d2e"/>
    <p:sldId xmlns:r="http://schemas.openxmlformats.org/officeDocument/2006/relationships" id="305" r:id="Raa078689d28443f8"/>
    <p:sldId xmlns:r="http://schemas.openxmlformats.org/officeDocument/2006/relationships" id="306" r:id="R38f12966217e47ea"/>
    <p:sldId xmlns:r="http://schemas.openxmlformats.org/officeDocument/2006/relationships" id="307" r:id="R93993ac596d54f01"/>
    <p:sldId xmlns:r="http://schemas.openxmlformats.org/officeDocument/2006/relationships" id="308" r:id="Re5284149a160409e"/>
    <p:sldId xmlns:r="http://schemas.openxmlformats.org/officeDocument/2006/relationships" id="309" r:id="R4fd3b0f99c2340a4"/>
    <p:sldId xmlns:r="http://schemas.openxmlformats.org/officeDocument/2006/relationships" id="310" r:id="R0af4a25cb7164efb"/>
    <p:sldId xmlns:r="http://schemas.openxmlformats.org/officeDocument/2006/relationships" id="311" r:id="Rb89a524c07e54230"/>
    <p:sldId xmlns:r="http://schemas.openxmlformats.org/officeDocument/2006/relationships" id="312" r:id="Rface8be4fa0f4f8b"/>
    <p:sldId xmlns:r="http://schemas.openxmlformats.org/officeDocument/2006/relationships" id="313" r:id="Rfc374037778845be"/>
    <p:sldId xmlns:r="http://schemas.openxmlformats.org/officeDocument/2006/relationships" id="314" r:id="R4158a67bbf074bff"/>
    <p:sldId xmlns:r="http://schemas.openxmlformats.org/officeDocument/2006/relationships" id="315" r:id="R8cd0c95b75224d03"/>
    <p:sldId xmlns:r="http://schemas.openxmlformats.org/officeDocument/2006/relationships" id="316" r:id="Rd0632329c20c4bd2"/>
    <p:sldId xmlns:r="http://schemas.openxmlformats.org/officeDocument/2006/relationships" id="317" r:id="Rd98d26a8bcaa416e"/>
    <p:sldId xmlns:r="http://schemas.openxmlformats.org/officeDocument/2006/relationships" id="318" r:id="R5f95d2199df1452c"/>
    <p:sldId xmlns:r="http://schemas.openxmlformats.org/officeDocument/2006/relationships" id="319" r:id="R5bdafd370c084d9c"/>
    <p:sldId xmlns:r="http://schemas.openxmlformats.org/officeDocument/2006/relationships" id="320" r:id="R66b712957094407b"/>
    <p:sldId xmlns:r="http://schemas.openxmlformats.org/officeDocument/2006/relationships" id="321" r:id="R1952b7325c00460f"/>
    <p:sldId xmlns:r="http://schemas.openxmlformats.org/officeDocument/2006/relationships" id="322" r:id="R6de777088b7747d8"/>
    <p:sldId xmlns:r="http://schemas.openxmlformats.org/officeDocument/2006/relationships" id="323" r:id="Racf28217ab934bc6"/>
    <p:sldId xmlns:r="http://schemas.openxmlformats.org/officeDocument/2006/relationships" id="324" r:id="Ra8e9909cb9d94fdc"/>
    <p:sldId xmlns:r="http://schemas.openxmlformats.org/officeDocument/2006/relationships" id="325" r:id="R98d622671a994241"/>
    <p:sldId xmlns:r="http://schemas.openxmlformats.org/officeDocument/2006/relationships" id="326" r:id="R6964e2c571d4418d"/>
    <p:sldId xmlns:r="http://schemas.openxmlformats.org/officeDocument/2006/relationships" id="327" r:id="R1c311f8c13544395"/>
    <p:sldId xmlns:r="http://schemas.openxmlformats.org/officeDocument/2006/relationships" id="328" r:id="Rb1a08b7e39a5482d"/>
    <p:sldId xmlns:r="http://schemas.openxmlformats.org/officeDocument/2006/relationships" id="329" r:id="R6f83f814860b43d3"/>
    <p:sldId xmlns:r="http://schemas.openxmlformats.org/officeDocument/2006/relationships" id="330" r:id="R1a608a51de204d58"/>
    <p:sldId xmlns:r="http://schemas.openxmlformats.org/officeDocument/2006/relationships" id="331" r:id="Ra1a87580ec0c4f4b"/>
    <p:sldId xmlns:r="http://schemas.openxmlformats.org/officeDocument/2006/relationships" id="332" r:id="R5528a46748384942"/>
    <p:sldId xmlns:r="http://schemas.openxmlformats.org/officeDocument/2006/relationships" id="333" r:id="Ra89579b0e8014907"/>
    <p:sldId xmlns:r="http://schemas.openxmlformats.org/officeDocument/2006/relationships" id="334" r:id="R9e55a30e06f7497e"/>
    <p:sldId xmlns:r="http://schemas.openxmlformats.org/officeDocument/2006/relationships" id="335" r:id="R895fde4ed42c4159"/>
    <p:sldId xmlns:r="http://schemas.openxmlformats.org/officeDocument/2006/relationships" id="336" r:id="Rd9a60b61ea5c4ced"/>
    <p:sldId xmlns:r="http://schemas.openxmlformats.org/officeDocument/2006/relationships" id="337" r:id="R487ee4f04d8540c7"/>
    <p:sldId xmlns:r="http://schemas.openxmlformats.org/officeDocument/2006/relationships" id="338" r:id="R641f03e6bfeb4170"/>
    <p:sldId xmlns:r="http://schemas.openxmlformats.org/officeDocument/2006/relationships" id="339" r:id="Rb676fdc667b245e5"/>
    <p:sldId xmlns:r="http://schemas.openxmlformats.org/officeDocument/2006/relationships" id="340" r:id="R8494594bd7124d61"/>
    <p:sldId xmlns:r="http://schemas.openxmlformats.org/officeDocument/2006/relationships" id="341" r:id="R93843ba6733542e1"/>
    <p:sldId xmlns:r="http://schemas.openxmlformats.org/officeDocument/2006/relationships" id="342" r:id="R958827b533c54bff"/>
    <p:sldId xmlns:r="http://schemas.openxmlformats.org/officeDocument/2006/relationships" id="343" r:id="R18938934da7f45ac"/>
    <p:sldId xmlns:r="http://schemas.openxmlformats.org/officeDocument/2006/relationships" id="344" r:id="R3088639399e84c14"/>
    <p:sldId xmlns:r="http://schemas.openxmlformats.org/officeDocument/2006/relationships" id="345" r:id="R9260d77f10d94923"/>
    <p:sldId xmlns:r="http://schemas.openxmlformats.org/officeDocument/2006/relationships" id="346" r:id="Rb5da32afdd6c4b65"/>
    <p:sldId xmlns:r="http://schemas.openxmlformats.org/officeDocument/2006/relationships" id="347" r:id="R2fc8851bc0d54f25"/>
    <p:sldId xmlns:r="http://schemas.openxmlformats.org/officeDocument/2006/relationships" id="348" r:id="R7633fab97ac644bd"/>
    <p:sldId xmlns:r="http://schemas.openxmlformats.org/officeDocument/2006/relationships" id="349" r:id="R3890b9d7e8e24ef6"/>
    <p:sldId xmlns:r="http://schemas.openxmlformats.org/officeDocument/2006/relationships" id="350" r:id="R5dde8835adef4fd1"/>
    <p:sldId xmlns:r="http://schemas.openxmlformats.org/officeDocument/2006/relationships" id="351" r:id="R5b4a97d3c83040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f9d2516244b9b" /><Relationship Type="http://schemas.openxmlformats.org/officeDocument/2006/relationships/slideMaster" Target="/ppt/slideMasters/slideMaster1.xml" Id="R0676cf9c74844a49" /><Relationship Type="http://schemas.openxmlformats.org/officeDocument/2006/relationships/slideMaster" Target="/ppt/slideMasters/slideMaster2.xml" Id="Rbb412d77730a44fd" /><Relationship Type="http://schemas.openxmlformats.org/officeDocument/2006/relationships/notesMaster" Target="/ppt/notesMasters/notesMaster1.xml" Id="R4d5a4c30347c4430" /><Relationship Type="http://schemas.openxmlformats.org/officeDocument/2006/relationships/presProps" Target="/ppt/presProps.xml" Id="Rb652776ed1024b4a" /><Relationship Type="http://schemas.openxmlformats.org/officeDocument/2006/relationships/tableStyles" Target="/ppt/tableStyles.xml" Id="Rf8c65581ee5b4115" /><Relationship Type="http://schemas.openxmlformats.org/officeDocument/2006/relationships/slide" Target="/ppt/slides/slide1.xml" Id="Re1ccfa8d0b8645df" /><Relationship Type="http://schemas.openxmlformats.org/officeDocument/2006/relationships/slide" Target="/ppt/slides/slide2.xml" Id="Rc44dd175894c47ff" /><Relationship Type="http://schemas.openxmlformats.org/officeDocument/2006/relationships/slide" Target="/ppt/slides/slide3.xml" Id="R9e6eea1d98d64f04" /><Relationship Type="http://schemas.openxmlformats.org/officeDocument/2006/relationships/slide" Target="/ppt/slides/slide4.xml" Id="Rf83ea38bf1e34c4c" /><Relationship Type="http://schemas.openxmlformats.org/officeDocument/2006/relationships/slide" Target="/ppt/slides/slide5.xml" Id="Rd46531cbc2654a90" /><Relationship Type="http://schemas.openxmlformats.org/officeDocument/2006/relationships/slide" Target="/ppt/slides/slide6.xml" Id="Rd6c67606bcee4464" /><Relationship Type="http://schemas.openxmlformats.org/officeDocument/2006/relationships/slide" Target="/ppt/slides/slide7.xml" Id="R0640f568ddba43c7" /><Relationship Type="http://schemas.openxmlformats.org/officeDocument/2006/relationships/slide" Target="/ppt/slides/slide8.xml" Id="R82867b3f50a84ec8" /><Relationship Type="http://schemas.openxmlformats.org/officeDocument/2006/relationships/slide" Target="/ppt/slides/slide9.xml" Id="R675ead288edb4e23" /><Relationship Type="http://schemas.openxmlformats.org/officeDocument/2006/relationships/slide" Target="/ppt/slides/slide10.xml" Id="R1cdd42ae63284153" /><Relationship Type="http://schemas.openxmlformats.org/officeDocument/2006/relationships/slide" Target="/ppt/slides/slide11.xml" Id="R430c80b52e2b49e5" /><Relationship Type="http://schemas.openxmlformats.org/officeDocument/2006/relationships/slide" Target="/ppt/slides/slide12.xml" Id="R7995ce10c62e4de8" /><Relationship Type="http://schemas.openxmlformats.org/officeDocument/2006/relationships/slide" Target="/ppt/slides/slide13.xml" Id="R567c106a5c1a4351" /><Relationship Type="http://schemas.openxmlformats.org/officeDocument/2006/relationships/slide" Target="/ppt/slides/slide14.xml" Id="R22a28dd91b574989" /><Relationship Type="http://schemas.openxmlformats.org/officeDocument/2006/relationships/slide" Target="/ppt/slides/slide15.xml" Id="Ra0c5dde21bdf4bf2" /><Relationship Type="http://schemas.openxmlformats.org/officeDocument/2006/relationships/slide" Target="/ppt/slides/slide16.xml" Id="R2cdb7a28de134855" /><Relationship Type="http://schemas.openxmlformats.org/officeDocument/2006/relationships/slide" Target="/ppt/slides/slide17.xml" Id="Rc6dc5435663f49d1" /><Relationship Type="http://schemas.openxmlformats.org/officeDocument/2006/relationships/slide" Target="/ppt/slides/slide18.xml" Id="Rb747b9e9b0f14638" /><Relationship Type="http://schemas.openxmlformats.org/officeDocument/2006/relationships/slide" Target="/ppt/slides/slide19.xml" Id="Re560a7e7a37d4050" /><Relationship Type="http://schemas.openxmlformats.org/officeDocument/2006/relationships/slide" Target="/ppt/slides/slide20.xml" Id="R2abfebce21014e00" /><Relationship Type="http://schemas.openxmlformats.org/officeDocument/2006/relationships/slide" Target="/ppt/slides/slide21.xml" Id="R874a250233ee4ffd" /><Relationship Type="http://schemas.openxmlformats.org/officeDocument/2006/relationships/slide" Target="/ppt/slides/slide22.xml" Id="Rddf869fbfb8b461e" /><Relationship Type="http://schemas.openxmlformats.org/officeDocument/2006/relationships/slide" Target="/ppt/slides/slide23.xml" Id="Rc5b7c437d3d94f1d" /><Relationship Type="http://schemas.openxmlformats.org/officeDocument/2006/relationships/slide" Target="/ppt/slides/slide24.xml" Id="Ra9a9ec56c27a4f6f" /><Relationship Type="http://schemas.openxmlformats.org/officeDocument/2006/relationships/slide" Target="/ppt/slides/slide25.xml" Id="Rf75c3af59b0f4332" /><Relationship Type="http://schemas.openxmlformats.org/officeDocument/2006/relationships/slide" Target="/ppt/slides/slide26.xml" Id="Rbc9b20354ebf45af" /><Relationship Type="http://schemas.openxmlformats.org/officeDocument/2006/relationships/slide" Target="/ppt/slides/slide27.xml" Id="R297675c0e38d412b" /><Relationship Type="http://schemas.openxmlformats.org/officeDocument/2006/relationships/slide" Target="/ppt/slides/slide28.xml" Id="Re6616bea2b484504" /><Relationship Type="http://schemas.openxmlformats.org/officeDocument/2006/relationships/slide" Target="/ppt/slides/slide29.xml" Id="Rbac96d7f4ee64036" /><Relationship Type="http://schemas.openxmlformats.org/officeDocument/2006/relationships/slide" Target="/ppt/slides/slide30.xml" Id="R70ac753eede84d87" /><Relationship Type="http://schemas.openxmlformats.org/officeDocument/2006/relationships/slide" Target="/ppt/slides/slide31.xml" Id="R93542d97e0bb44ab" /><Relationship Type="http://schemas.openxmlformats.org/officeDocument/2006/relationships/slide" Target="/ppt/slides/slide32.xml" Id="R80893bcb01d446d9" /><Relationship Type="http://schemas.openxmlformats.org/officeDocument/2006/relationships/slide" Target="/ppt/slides/slide33.xml" Id="R28c33446757147ae" /><Relationship Type="http://schemas.openxmlformats.org/officeDocument/2006/relationships/slide" Target="/ppt/slides/slide34.xml" Id="R79007e884c2a4aa2" /><Relationship Type="http://schemas.openxmlformats.org/officeDocument/2006/relationships/slide" Target="/ppt/slides/slide35.xml" Id="R4ce2bfb0717146a4" /><Relationship Type="http://schemas.openxmlformats.org/officeDocument/2006/relationships/slide" Target="/ppt/slides/slide36.xml" Id="R9f956abe2a6543ba" /><Relationship Type="http://schemas.openxmlformats.org/officeDocument/2006/relationships/slide" Target="/ppt/slides/slide37.xml" Id="Rc110614b5cad4567" /><Relationship Type="http://schemas.openxmlformats.org/officeDocument/2006/relationships/slide" Target="/ppt/slides/slide38.xml" Id="R9eed7a440e6042d0" /><Relationship Type="http://schemas.openxmlformats.org/officeDocument/2006/relationships/slide" Target="/ppt/slides/slide39.xml" Id="R82d937f21adb4f88" /><Relationship Type="http://schemas.openxmlformats.org/officeDocument/2006/relationships/slide" Target="/ppt/slides/slide40.xml" Id="R91d7e6521dc54b5d" /><Relationship Type="http://schemas.openxmlformats.org/officeDocument/2006/relationships/slide" Target="/ppt/slides/slide41.xml" Id="R6c70fbaeab0a467c" /><Relationship Type="http://schemas.openxmlformats.org/officeDocument/2006/relationships/slide" Target="/ppt/slides/slide42.xml" Id="R03d49b432cd74cac" /><Relationship Type="http://schemas.openxmlformats.org/officeDocument/2006/relationships/slide" Target="/ppt/slides/slide43.xml" Id="R4702a018ac464028" /><Relationship Type="http://schemas.openxmlformats.org/officeDocument/2006/relationships/slide" Target="/ppt/slides/slide44.xml" Id="R51f97b9044774e65" /><Relationship Type="http://schemas.openxmlformats.org/officeDocument/2006/relationships/slide" Target="/ppt/slides/slide45.xml" Id="Rb4d654ce93f9467a" /><Relationship Type="http://schemas.openxmlformats.org/officeDocument/2006/relationships/slide" Target="/ppt/slides/slide46.xml" Id="Rb31d3e20565144fd" /><Relationship Type="http://schemas.openxmlformats.org/officeDocument/2006/relationships/slide" Target="/ppt/slides/slide47.xml" Id="Raaf07b27c8814446" /><Relationship Type="http://schemas.openxmlformats.org/officeDocument/2006/relationships/slide" Target="/ppt/slides/slide48.xml" Id="Rb6631e8bc58c4807" /><Relationship Type="http://schemas.openxmlformats.org/officeDocument/2006/relationships/slide" Target="/ppt/slides/slide49.xml" Id="R619f0f21212e4d2e" /><Relationship Type="http://schemas.openxmlformats.org/officeDocument/2006/relationships/slide" Target="/ppt/slides/slide50.xml" Id="Raa078689d28443f8" /><Relationship Type="http://schemas.openxmlformats.org/officeDocument/2006/relationships/slide" Target="/ppt/slides/slide51.xml" Id="R38f12966217e47ea" /><Relationship Type="http://schemas.openxmlformats.org/officeDocument/2006/relationships/slide" Target="/ppt/slides/slide52.xml" Id="R93993ac596d54f01" /><Relationship Type="http://schemas.openxmlformats.org/officeDocument/2006/relationships/slide" Target="/ppt/slides/slide53.xml" Id="Re5284149a160409e" /><Relationship Type="http://schemas.openxmlformats.org/officeDocument/2006/relationships/slide" Target="/ppt/slides/slide54.xml" Id="R4fd3b0f99c2340a4" /><Relationship Type="http://schemas.openxmlformats.org/officeDocument/2006/relationships/slide" Target="/ppt/slides/slide55.xml" Id="R0af4a25cb7164efb" /><Relationship Type="http://schemas.openxmlformats.org/officeDocument/2006/relationships/slide" Target="/ppt/slides/slide56.xml" Id="Rb89a524c07e54230" /><Relationship Type="http://schemas.openxmlformats.org/officeDocument/2006/relationships/slide" Target="/ppt/slides/slide57.xml" Id="Rface8be4fa0f4f8b" /><Relationship Type="http://schemas.openxmlformats.org/officeDocument/2006/relationships/slide" Target="/ppt/slides/slide58.xml" Id="Rfc374037778845be" /><Relationship Type="http://schemas.openxmlformats.org/officeDocument/2006/relationships/slide" Target="/ppt/slides/slide59.xml" Id="R4158a67bbf074bff" /><Relationship Type="http://schemas.openxmlformats.org/officeDocument/2006/relationships/slide" Target="/ppt/slides/slide60.xml" Id="R8cd0c95b75224d03" /><Relationship Type="http://schemas.openxmlformats.org/officeDocument/2006/relationships/slide" Target="/ppt/slides/slide61.xml" Id="Rd0632329c20c4bd2" /><Relationship Type="http://schemas.openxmlformats.org/officeDocument/2006/relationships/slide" Target="/ppt/slides/slide62.xml" Id="Rd98d26a8bcaa416e" /><Relationship Type="http://schemas.openxmlformats.org/officeDocument/2006/relationships/slide" Target="/ppt/slides/slide63.xml" Id="R5f95d2199df1452c" /><Relationship Type="http://schemas.openxmlformats.org/officeDocument/2006/relationships/slide" Target="/ppt/slides/slide64.xml" Id="R5bdafd370c084d9c" /><Relationship Type="http://schemas.openxmlformats.org/officeDocument/2006/relationships/slide" Target="/ppt/slides/slide65.xml" Id="R66b712957094407b" /><Relationship Type="http://schemas.openxmlformats.org/officeDocument/2006/relationships/slide" Target="/ppt/slides/slide66.xml" Id="R1952b7325c00460f" /><Relationship Type="http://schemas.openxmlformats.org/officeDocument/2006/relationships/slide" Target="/ppt/slides/slide67.xml" Id="R6de777088b7747d8" /><Relationship Type="http://schemas.openxmlformats.org/officeDocument/2006/relationships/slide" Target="/ppt/slides/slide68.xml" Id="Racf28217ab934bc6" /><Relationship Type="http://schemas.openxmlformats.org/officeDocument/2006/relationships/slide" Target="/ppt/slides/slide69.xml" Id="Ra8e9909cb9d94fdc" /><Relationship Type="http://schemas.openxmlformats.org/officeDocument/2006/relationships/slide" Target="/ppt/slides/slide70.xml" Id="R98d622671a994241" /><Relationship Type="http://schemas.openxmlformats.org/officeDocument/2006/relationships/slide" Target="/ppt/slides/slide71.xml" Id="R6964e2c571d4418d" /><Relationship Type="http://schemas.openxmlformats.org/officeDocument/2006/relationships/slide" Target="/ppt/slides/slide72.xml" Id="R1c311f8c13544395" /><Relationship Type="http://schemas.openxmlformats.org/officeDocument/2006/relationships/slide" Target="/ppt/slides/slide73.xml" Id="Rb1a08b7e39a5482d" /><Relationship Type="http://schemas.openxmlformats.org/officeDocument/2006/relationships/slide" Target="/ppt/slides/slide74.xml" Id="R6f83f814860b43d3" /><Relationship Type="http://schemas.openxmlformats.org/officeDocument/2006/relationships/slide" Target="/ppt/slides/slide75.xml" Id="R1a608a51de204d58" /><Relationship Type="http://schemas.openxmlformats.org/officeDocument/2006/relationships/slide" Target="/ppt/slides/slide76.xml" Id="Ra1a87580ec0c4f4b" /><Relationship Type="http://schemas.openxmlformats.org/officeDocument/2006/relationships/slide" Target="/ppt/slides/slide77.xml" Id="R5528a46748384942" /><Relationship Type="http://schemas.openxmlformats.org/officeDocument/2006/relationships/slide" Target="/ppt/slides/slide78.xml" Id="Ra89579b0e8014907" /><Relationship Type="http://schemas.openxmlformats.org/officeDocument/2006/relationships/slide" Target="/ppt/slides/slide79.xml" Id="R9e55a30e06f7497e" /><Relationship Type="http://schemas.openxmlformats.org/officeDocument/2006/relationships/slide" Target="/ppt/slides/slide80.xml" Id="R895fde4ed42c4159" /><Relationship Type="http://schemas.openxmlformats.org/officeDocument/2006/relationships/slide" Target="/ppt/slides/slide81.xml" Id="Rd9a60b61ea5c4ced" /><Relationship Type="http://schemas.openxmlformats.org/officeDocument/2006/relationships/slide" Target="/ppt/slides/slide82.xml" Id="R487ee4f04d8540c7" /><Relationship Type="http://schemas.openxmlformats.org/officeDocument/2006/relationships/slide" Target="/ppt/slides/slide83.xml" Id="R641f03e6bfeb4170" /><Relationship Type="http://schemas.openxmlformats.org/officeDocument/2006/relationships/slide" Target="/ppt/slides/slide84.xml" Id="Rb676fdc667b245e5" /><Relationship Type="http://schemas.openxmlformats.org/officeDocument/2006/relationships/slide" Target="/ppt/slides/slide85.xml" Id="R8494594bd7124d61" /><Relationship Type="http://schemas.openxmlformats.org/officeDocument/2006/relationships/slide" Target="/ppt/slides/slide86.xml" Id="R93843ba6733542e1" /><Relationship Type="http://schemas.openxmlformats.org/officeDocument/2006/relationships/slide" Target="/ppt/slides/slide87.xml" Id="R958827b533c54bff" /><Relationship Type="http://schemas.openxmlformats.org/officeDocument/2006/relationships/slide" Target="/ppt/slides/slide88.xml" Id="R18938934da7f45ac" /><Relationship Type="http://schemas.openxmlformats.org/officeDocument/2006/relationships/slide" Target="/ppt/slides/slide89.xml" Id="R3088639399e84c14" /><Relationship Type="http://schemas.openxmlformats.org/officeDocument/2006/relationships/slide" Target="/ppt/slides/slide90.xml" Id="R9260d77f10d94923" /><Relationship Type="http://schemas.openxmlformats.org/officeDocument/2006/relationships/slide" Target="/ppt/slides/slide91.xml" Id="Rb5da32afdd6c4b65" /><Relationship Type="http://schemas.openxmlformats.org/officeDocument/2006/relationships/slide" Target="/ppt/slides/slide92.xml" Id="R2fc8851bc0d54f25" /><Relationship Type="http://schemas.openxmlformats.org/officeDocument/2006/relationships/slide" Target="/ppt/slides/slide93.xml" Id="R7633fab97ac644bd" /><Relationship Type="http://schemas.openxmlformats.org/officeDocument/2006/relationships/slide" Target="/ppt/slides/slide94.xml" Id="R3890b9d7e8e24ef6" /><Relationship Type="http://schemas.openxmlformats.org/officeDocument/2006/relationships/slide" Target="/ppt/slides/slide95.xml" Id="R5dde8835adef4fd1" /><Relationship Type="http://schemas.openxmlformats.org/officeDocument/2006/relationships/slide" Target="/ppt/slides/slide96.xml" Id="R5b4a97d3c83040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28959d35f714a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4d041ec6ad483f" /><Relationship Type="http://schemas.openxmlformats.org/officeDocument/2006/relationships/notesMaster" Target="/ppt/notesMasters/notesMaster1.xml" Id="Rf34a4a837cac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07b75cbbca45e4" /><Relationship Type="http://schemas.openxmlformats.org/officeDocument/2006/relationships/notesMaster" Target="/ppt/notesMasters/notesMaster1.xml" Id="R10e8466fb73c4c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1d5926b5fa43b2" /><Relationship Type="http://schemas.openxmlformats.org/officeDocument/2006/relationships/notesMaster" Target="/ppt/notesMasters/notesMaster1.xml" Id="R24af6e7b16934a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a215df5b514118" /><Relationship Type="http://schemas.openxmlformats.org/officeDocument/2006/relationships/notesMaster" Target="/ppt/notesMasters/notesMaster1.xml" Id="R0fe851835a9b4e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33b15ecd714cd7" /><Relationship Type="http://schemas.openxmlformats.org/officeDocument/2006/relationships/notesMaster" Target="/ppt/notesMasters/notesMaster1.xml" Id="R8d1c52c07662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383bd3fe8540aa" /><Relationship Type="http://schemas.openxmlformats.org/officeDocument/2006/relationships/notesMaster" Target="/ppt/notesMasters/notesMaster1.xml" Id="R74d5c4b12f8045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f1cb8b1e84cfe" /><Relationship Type="http://schemas.openxmlformats.org/officeDocument/2006/relationships/notesMaster" Target="/ppt/notesMasters/notesMaster1.xml" Id="R3d5aa6fd5c05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56acabb6214b9b" /><Relationship Type="http://schemas.openxmlformats.org/officeDocument/2006/relationships/notesMaster" Target="/ppt/notesMasters/notesMaster1.xml" Id="R38f4991271484e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54eb9205924ad9" /><Relationship Type="http://schemas.openxmlformats.org/officeDocument/2006/relationships/notesMaster" Target="/ppt/notesMasters/notesMaster1.xml" Id="R7fdf1c7c5e1046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ccb399384a43f6" /><Relationship Type="http://schemas.openxmlformats.org/officeDocument/2006/relationships/notesMaster" Target="/ppt/notesMasters/notesMaster1.xml" Id="R63ad6757cd8741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ed7b32911a43f8" /><Relationship Type="http://schemas.openxmlformats.org/officeDocument/2006/relationships/notesMaster" Target="/ppt/notesMasters/notesMaster1.xml" Id="R79f3cb3bcf1344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98d156ffc74ed4" /><Relationship Type="http://schemas.openxmlformats.org/officeDocument/2006/relationships/notesMaster" Target="/ppt/notesMasters/notesMaster1.xml" Id="R6618bc55af4144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92a13b30094d30" /><Relationship Type="http://schemas.openxmlformats.org/officeDocument/2006/relationships/notesMaster" Target="/ppt/notesMasters/notesMaster1.xml" Id="Ref4c70827ad84c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ab34b7f90e4953" /><Relationship Type="http://schemas.openxmlformats.org/officeDocument/2006/relationships/notesMaster" Target="/ppt/notesMasters/notesMaster1.xml" Id="R024e3367199f46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2408cce99846b7" /><Relationship Type="http://schemas.openxmlformats.org/officeDocument/2006/relationships/notesMaster" Target="/ppt/notesMasters/notesMaster1.xml" Id="R6adcf32d626e42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3b112769a24272" /><Relationship Type="http://schemas.openxmlformats.org/officeDocument/2006/relationships/notesMaster" Target="/ppt/notesMasters/notesMaster1.xml" Id="Rd3e163bc18b14a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c31f9d00964cc7" /><Relationship Type="http://schemas.openxmlformats.org/officeDocument/2006/relationships/notesMaster" Target="/ppt/notesMasters/notesMaster1.xml" Id="Rab42ba5532ff40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a8a16679564da7" /><Relationship Type="http://schemas.openxmlformats.org/officeDocument/2006/relationships/notesMaster" Target="/ppt/notesMasters/notesMaster1.xml" Id="R14def1e3612649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34efd222944121" /><Relationship Type="http://schemas.openxmlformats.org/officeDocument/2006/relationships/notesMaster" Target="/ppt/notesMasters/notesMaster1.xml" Id="R0f2aa565c93a49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15ec847fdb4cc4" /><Relationship Type="http://schemas.openxmlformats.org/officeDocument/2006/relationships/notesMaster" Target="/ppt/notesMasters/notesMaster1.xml" Id="R5a65bb9959bb4e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fd5662fceb4987" /><Relationship Type="http://schemas.openxmlformats.org/officeDocument/2006/relationships/notesMaster" Target="/ppt/notesMasters/notesMaster1.xml" Id="R33e7b101f07649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29f95d34ce4409" /><Relationship Type="http://schemas.openxmlformats.org/officeDocument/2006/relationships/notesMaster" Target="/ppt/notesMasters/notesMaster1.xml" Id="Rc3cfffacf45f47a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d429c603840469f" /><Relationship Type="http://schemas.openxmlformats.org/officeDocument/2006/relationships/notesMaster" Target="/ppt/notesMasters/notesMaster1.xml" Id="R5185472509864d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6d0f80730f4923" /><Relationship Type="http://schemas.openxmlformats.org/officeDocument/2006/relationships/notesMaster" Target="/ppt/notesMasters/notesMaster1.xml" Id="R9158d1de4ea148f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82af3c3315499c" /><Relationship Type="http://schemas.openxmlformats.org/officeDocument/2006/relationships/notesMaster" Target="/ppt/notesMasters/notesMaster1.xml" Id="R59f56d22175f41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95cd639618c4aa4" /><Relationship Type="http://schemas.openxmlformats.org/officeDocument/2006/relationships/notesMaster" Target="/ppt/notesMasters/notesMaster1.xml" Id="Radbffe7fd52447e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9e783c65d54d21" /><Relationship Type="http://schemas.openxmlformats.org/officeDocument/2006/relationships/notesMaster" Target="/ppt/notesMasters/notesMaster1.xml" Id="Rdfaccc6ec9084cc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ba9653858a14db8" /><Relationship Type="http://schemas.openxmlformats.org/officeDocument/2006/relationships/notesMaster" Target="/ppt/notesMasters/notesMaster1.xml" Id="Rbcee31ff1208472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7540a4a60d6493a" /><Relationship Type="http://schemas.openxmlformats.org/officeDocument/2006/relationships/notesMaster" Target="/ppt/notesMasters/notesMaster1.xml" Id="Re1f8ac5710f045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f8d9cd01e94e2c" /><Relationship Type="http://schemas.openxmlformats.org/officeDocument/2006/relationships/notesMaster" Target="/ppt/notesMasters/notesMaster1.xml" Id="Rf5de8864614a40b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1351ac921884098" /><Relationship Type="http://schemas.openxmlformats.org/officeDocument/2006/relationships/notesMaster" Target="/ppt/notesMasters/notesMaster1.xml" Id="Rd680e133509e49e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55e2d848ee248fb" /><Relationship Type="http://schemas.openxmlformats.org/officeDocument/2006/relationships/notesMaster" Target="/ppt/notesMasters/notesMaster1.xml" Id="R29296f5f401e4c6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1223dbbc5b64c6b" /><Relationship Type="http://schemas.openxmlformats.org/officeDocument/2006/relationships/notesMaster" Target="/ppt/notesMasters/notesMaster1.xml" Id="Rcd64ed6f8ece47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6593a710296451b" /><Relationship Type="http://schemas.openxmlformats.org/officeDocument/2006/relationships/notesMaster" Target="/ppt/notesMasters/notesMaster1.xml" Id="R3d3870f90b55411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046ca2d1ee74106" /><Relationship Type="http://schemas.openxmlformats.org/officeDocument/2006/relationships/notesMaster" Target="/ppt/notesMasters/notesMaster1.xml" Id="Re314a1c26b194d6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8560cbdd79b4c30" /><Relationship Type="http://schemas.openxmlformats.org/officeDocument/2006/relationships/notesMaster" Target="/ppt/notesMasters/notesMaster1.xml" Id="R90f534b1ecc7430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679ea5a19ea40c6" /><Relationship Type="http://schemas.openxmlformats.org/officeDocument/2006/relationships/notesMaster" Target="/ppt/notesMasters/notesMaster1.xml" Id="R2805e93b43c143d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1afd38283c490d" /><Relationship Type="http://schemas.openxmlformats.org/officeDocument/2006/relationships/notesMaster" Target="/ppt/notesMasters/notesMaster1.xml" Id="Re75e6f08223b4af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1c220f8d526422b" /><Relationship Type="http://schemas.openxmlformats.org/officeDocument/2006/relationships/notesMaster" Target="/ppt/notesMasters/notesMaster1.xml" Id="R9a635b3a199d450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ad7ace96ac74d77" /><Relationship Type="http://schemas.openxmlformats.org/officeDocument/2006/relationships/notesMaster" Target="/ppt/notesMasters/notesMaster1.xml" Id="Rc6eeb2e82bf7484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4d146232edc426b" /><Relationship Type="http://schemas.openxmlformats.org/officeDocument/2006/relationships/notesMaster" Target="/ppt/notesMasters/notesMaster1.xml" Id="Rcd2eb61f47b449c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71e7580af1c4d24" /><Relationship Type="http://schemas.openxmlformats.org/officeDocument/2006/relationships/notesMaster" Target="/ppt/notesMasters/notesMaster1.xml" Id="R2292be65779b4b2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cb410010b9042e8" /><Relationship Type="http://schemas.openxmlformats.org/officeDocument/2006/relationships/notesMaster" Target="/ppt/notesMasters/notesMaster1.xml" Id="R09544deb7aaf4b4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48b5e7ef42a4d5a" /><Relationship Type="http://schemas.openxmlformats.org/officeDocument/2006/relationships/notesMaster" Target="/ppt/notesMasters/notesMaster1.xml" Id="Ra96d85dc5f244c7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68a75747b034534" /><Relationship Type="http://schemas.openxmlformats.org/officeDocument/2006/relationships/notesMaster" Target="/ppt/notesMasters/notesMaster1.xml" Id="Ra87e13f40e5a4d7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9bc18e936b94ee7" /><Relationship Type="http://schemas.openxmlformats.org/officeDocument/2006/relationships/notesMaster" Target="/ppt/notesMasters/notesMaster1.xml" Id="R373dab28219d450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df5496ce3de47a4" /><Relationship Type="http://schemas.openxmlformats.org/officeDocument/2006/relationships/notesMaster" Target="/ppt/notesMasters/notesMaster1.xml" Id="R8bc28d551e5e494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d97dca6b9de4165" /><Relationship Type="http://schemas.openxmlformats.org/officeDocument/2006/relationships/notesMaster" Target="/ppt/notesMasters/notesMaster1.xml" Id="R635f4aae974a46c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f4774f60e034b63" /><Relationship Type="http://schemas.openxmlformats.org/officeDocument/2006/relationships/notesMaster" Target="/ppt/notesMasters/notesMaster1.xml" Id="R29a5eab08161450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655d67ae8954036" /><Relationship Type="http://schemas.openxmlformats.org/officeDocument/2006/relationships/notesMaster" Target="/ppt/notesMasters/notesMaster1.xml" Id="Rf55bad9c3e444b4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8b76eee59a244b3" /><Relationship Type="http://schemas.openxmlformats.org/officeDocument/2006/relationships/notesMaster" Target="/ppt/notesMasters/notesMaster1.xml" Id="R1e72a47ff0fe468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d704c6fa8604c24" /><Relationship Type="http://schemas.openxmlformats.org/officeDocument/2006/relationships/notesMaster" Target="/ppt/notesMasters/notesMaster1.xml" Id="R93514706d27c434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a39e31eab484a01" /><Relationship Type="http://schemas.openxmlformats.org/officeDocument/2006/relationships/notesMaster" Target="/ppt/notesMasters/notesMaster1.xml" Id="R20568bc2666c489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0e65da6167d4ffd" /><Relationship Type="http://schemas.openxmlformats.org/officeDocument/2006/relationships/notesMaster" Target="/ppt/notesMasters/notesMaster1.xml" Id="R95a8bfe4c424420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22731bb932d4d18" /><Relationship Type="http://schemas.openxmlformats.org/officeDocument/2006/relationships/notesMaster" Target="/ppt/notesMasters/notesMaster1.xml" Id="R0936dd33bae8405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29bd8e791914b1c" /><Relationship Type="http://schemas.openxmlformats.org/officeDocument/2006/relationships/notesMaster" Target="/ppt/notesMasters/notesMaster1.xml" Id="R68c0e8fc75824f5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9f381105feb430c" /><Relationship Type="http://schemas.openxmlformats.org/officeDocument/2006/relationships/notesMaster" Target="/ppt/notesMasters/notesMaster1.xml" Id="Ra0dfd10e5dbf443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e57541a6fe74e8a" /><Relationship Type="http://schemas.openxmlformats.org/officeDocument/2006/relationships/notesMaster" Target="/ppt/notesMasters/notesMaster1.xml" Id="Rcfdb5411537d4df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8e525cf80564fed" /><Relationship Type="http://schemas.openxmlformats.org/officeDocument/2006/relationships/notesMaster" Target="/ppt/notesMasters/notesMaster1.xml" Id="R1f1bbae9e82a4d3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18b6a602d3d4a1f" /><Relationship Type="http://schemas.openxmlformats.org/officeDocument/2006/relationships/notesMaster" Target="/ppt/notesMasters/notesMaster1.xml" Id="Rbed717d87b9244c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893c22fe0d34d25" /><Relationship Type="http://schemas.openxmlformats.org/officeDocument/2006/relationships/notesMaster" Target="/ppt/notesMasters/notesMaster1.xml" Id="R0ca0563a7570413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edcceb7dad446f5" /><Relationship Type="http://schemas.openxmlformats.org/officeDocument/2006/relationships/notesMaster" Target="/ppt/notesMasters/notesMaster1.xml" Id="R37818ab2bed945c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756e120748c444b" /><Relationship Type="http://schemas.openxmlformats.org/officeDocument/2006/relationships/notesMaster" Target="/ppt/notesMasters/notesMaster1.xml" Id="R904259482bdd446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ca0b780a8824792" /><Relationship Type="http://schemas.openxmlformats.org/officeDocument/2006/relationships/notesMaster" Target="/ppt/notesMasters/notesMaster1.xml" Id="Rf170fc351fc5458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8b0bcd722e64aa0" /><Relationship Type="http://schemas.openxmlformats.org/officeDocument/2006/relationships/notesMaster" Target="/ppt/notesMasters/notesMaster1.xml" Id="R036fa26705a34ae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60b4bc328844c3c" /><Relationship Type="http://schemas.openxmlformats.org/officeDocument/2006/relationships/notesMaster" Target="/ppt/notesMasters/notesMaster1.xml" Id="R425609594be84e93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2da7600060b4cc1" /><Relationship Type="http://schemas.openxmlformats.org/officeDocument/2006/relationships/notesMaster" Target="/ppt/notesMasters/notesMaster1.xml" Id="Re9703c9567284de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627fc8670f54db4" /><Relationship Type="http://schemas.openxmlformats.org/officeDocument/2006/relationships/notesMaster" Target="/ppt/notesMasters/notesMaster1.xml" Id="Rf0de19a2e3694d7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8b151528f0145c5" /><Relationship Type="http://schemas.openxmlformats.org/officeDocument/2006/relationships/notesMaster" Target="/ppt/notesMasters/notesMaster1.xml" Id="Rb6b7a342ef4848a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36068cc2f9c40ca" /><Relationship Type="http://schemas.openxmlformats.org/officeDocument/2006/relationships/notesMaster" Target="/ppt/notesMasters/notesMaster1.xml" Id="Rfc5773fa547f408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6afdf59f68fa442d" /><Relationship Type="http://schemas.openxmlformats.org/officeDocument/2006/relationships/notesMaster" Target="/ppt/notesMasters/notesMaster1.xml" Id="Rdf7a1d6ea3294bc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c284b9eb98a34815" /><Relationship Type="http://schemas.openxmlformats.org/officeDocument/2006/relationships/notesMaster" Target="/ppt/notesMasters/notesMaster1.xml" Id="R2104e110e11646f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c90daceede6451b" /><Relationship Type="http://schemas.openxmlformats.org/officeDocument/2006/relationships/notesMaster" Target="/ppt/notesMasters/notesMaster1.xml" Id="R449a257617784a8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313714823d5c4522" /><Relationship Type="http://schemas.openxmlformats.org/officeDocument/2006/relationships/notesMaster" Target="/ppt/notesMasters/notesMaster1.xml" Id="Rbadcaa5e88e24ca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16b8757f24841d5" /><Relationship Type="http://schemas.openxmlformats.org/officeDocument/2006/relationships/notesMaster" Target="/ppt/notesMasters/notesMaster1.xml" Id="R21e7052d65f14ae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e07a3d93ab884753" /><Relationship Type="http://schemas.openxmlformats.org/officeDocument/2006/relationships/notesMaster" Target="/ppt/notesMasters/notesMaster1.xml" Id="R2e699e6ecc0f4ff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bd565e2d8ed40d4" /><Relationship Type="http://schemas.openxmlformats.org/officeDocument/2006/relationships/notesMaster" Target="/ppt/notesMasters/notesMaster1.xml" Id="R21176b06d03c4d03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ee8a53b41b44b81" /><Relationship Type="http://schemas.openxmlformats.org/officeDocument/2006/relationships/notesMaster" Target="/ppt/notesMasters/notesMaster1.xml" Id="Rc52810e688024125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a6a46cf553e643b2" /><Relationship Type="http://schemas.openxmlformats.org/officeDocument/2006/relationships/notesMaster" Target="/ppt/notesMasters/notesMaster1.xml" Id="Rdb7e6b3746b146c9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bbcd62c4a914f50" /><Relationship Type="http://schemas.openxmlformats.org/officeDocument/2006/relationships/notesMaster" Target="/ppt/notesMasters/notesMaster1.xml" Id="R9a3e4b36231644d4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45baf61308a34cf4" /><Relationship Type="http://schemas.openxmlformats.org/officeDocument/2006/relationships/notesMaster" Target="/ppt/notesMasters/notesMaster1.xml" Id="R8343107f19b44d9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1343a53b9bb47cb" /><Relationship Type="http://schemas.openxmlformats.org/officeDocument/2006/relationships/notesMaster" Target="/ppt/notesMasters/notesMaster1.xml" Id="R221526503edc4c5d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c095d5f3aac74cda" /><Relationship Type="http://schemas.openxmlformats.org/officeDocument/2006/relationships/notesMaster" Target="/ppt/notesMasters/notesMaster1.xml" Id="Rff76b8d75ae74f1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d0180f63b9d4809" /><Relationship Type="http://schemas.openxmlformats.org/officeDocument/2006/relationships/notesMaster" Target="/ppt/notesMasters/notesMaster1.xml" Id="Rc7b576e9ad22437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3d4f8b0f18b44670" /><Relationship Type="http://schemas.openxmlformats.org/officeDocument/2006/relationships/notesMaster" Target="/ppt/notesMasters/notesMaster1.xml" Id="Rfa9dfa20a7cb48f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61dfde30af104db2" /><Relationship Type="http://schemas.openxmlformats.org/officeDocument/2006/relationships/notesMaster" Target="/ppt/notesMasters/notesMaster1.xml" Id="R2e9d3be1ac0047c0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3a5ddb41f1e8466d" /><Relationship Type="http://schemas.openxmlformats.org/officeDocument/2006/relationships/notesMaster" Target="/ppt/notesMasters/notesMaster1.xml" Id="R9fee58daaecd47a4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2811f333761e4792" /><Relationship Type="http://schemas.openxmlformats.org/officeDocument/2006/relationships/notesMaster" Target="/ppt/notesMasters/notesMaster1.xml" Id="R614d15a91e6f44af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8c2007145244049" /><Relationship Type="http://schemas.openxmlformats.org/officeDocument/2006/relationships/notesMaster" Target="/ppt/notesMasters/notesMaster1.xml" Id="R61a98b488b2d4c55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75566c06830145e0" /><Relationship Type="http://schemas.openxmlformats.org/officeDocument/2006/relationships/notesMaster" Target="/ppt/notesMasters/notesMaster1.xml" Id="Rfd147e884e7743a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87268b5c7df4856" /><Relationship Type="http://schemas.openxmlformats.org/officeDocument/2006/relationships/notesMaster" Target="/ppt/notesMasters/notesMaster1.xml" Id="R04102b7988944243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c26643c0137f4849" /><Relationship Type="http://schemas.openxmlformats.org/officeDocument/2006/relationships/notesMaster" Target="/ppt/notesMasters/notesMaster1.xml" Id="R62a03af031984026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f661b5dedca4ae2" /><Relationship Type="http://schemas.openxmlformats.org/officeDocument/2006/relationships/notesMaster" Target="/ppt/notesMasters/notesMaster1.xml" Id="Rf0a935b65ec44db2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dbaa7b2dad584d9d" /><Relationship Type="http://schemas.openxmlformats.org/officeDocument/2006/relationships/notesMaster" Target="/ppt/notesMasters/notesMaster1.xml" Id="Rf177a502134b4e18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48868a10d49f4140" /><Relationship Type="http://schemas.openxmlformats.org/officeDocument/2006/relationships/notesMaster" Target="/ppt/notesMasters/notesMaster1.xml" Id="Rb6333d4104d643aa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5955ab646504516" /><Relationship Type="http://schemas.openxmlformats.org/officeDocument/2006/relationships/notesMaster" Target="/ppt/notesMasters/notesMaster1.xml" Id="Rc0779bb3274042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U03-001 — Fundamentos de la mecánica ondulatoria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Abrir con la pregunta “si oímos un tono a distancia, ¿viajó el aire desde el parlante hasta el oído?”. Cierre conceptual: El sonido exige distinguir movimiento local, representación y propagación.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Si oímos un tono a distancia, ¿viajó el aire desde el parlante hasta el oído?</a:t>
            </a:r>
          </a:p>
          <a:p xmlns:a="http://schemas.openxmlformats.org/drawingml/2006/main">
            <a:r>
              <a:t>- **Respuesta esperada:** No; las partículas de aire oscilan localmente y la perturbación se propaga.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“Presentar un fenómeno que obligue a separar qué se mueve de qué avanza.”</a:t>
            </a:r>
          </a:p>
          <a:p xmlns:a="http://schemas.openxmlformats.org/drawingml/2006/main">
            <a:r>
              <a:t>- **Duración aproximada:** 1 min.</a:t>
            </a:r>
          </a:p>
          <a:p xmlns:a="http://schemas.openxmlformats.org/drawingml/2006/main">
            <a:r>
              <a:t>- **[Sources]:** PO; TEX 3.1; PDF p. 61;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U03-002 — Un parlante vibra: ¿qué llega hasta el oído?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Recoger explicaciones sin corregir; escuchar si aparece “el aire viaja”, “la onda es la curva” o “más frecuencia viaja más rápido”. Escuchar una justificación antes de validar o corregir. Cierre conceptual: El cono se mueve localmente y la perturbación se transmite por el medio.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Secuencia incompleta parlante–aire–oído con tres preguntas de predicción. 3. Distinguir conectores de movimiento local y propagación cuando corresponda. 4. Cerrar con una sola idea: El cono se mueve localmente y la perturbación se transmite por el medio. El esquema es conceptual y no está a escala.</a:t>
            </a:r>
          </a:p>
          <a:p xmlns:a="http://schemas.openxmlformats.org/drawingml/2006/main">
            <a:r>
              <a:t>- **Pregunta al grupo:** ¿Qué elemento creen que recorre toda la distancia?</a:t>
            </a:r>
          </a:p>
          <a:p xmlns:a="http://schemas.openxmlformats.org/drawingml/2006/main">
            <a:r>
              <a:t>- **Respuesta esperada:** Respuesta diagnóstica abierta; se espera distinguir al menos cono, aire y perturbación.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“Usar las respuestas para un diagnóstico breve.”</a:t>
            </a:r>
          </a:p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**[Sources]:** TEX 3.3 y 3.6; PDF pp. 62–64, 70–72;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U03-003 — Cuatro afirmaciones para empezar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Registrar patrones y anunciar que cada afirmación se retomará en un bloque distinto. Escuchar una justificación antes de validar o corregir. Cierre conceptual: Las razones importan más que acertar por intuición.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afirmación les genera más duda y por qué?</a:t>
            </a:r>
          </a:p>
          <a:p xmlns:a="http://schemas.openxmlformats.org/drawingml/2006/main">
            <a:r>
              <a:t>- **Respuesta esperada:** No se corrige todavía; se registra la justificación para retomarla.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“Recuperar herramientas de U1 y U2 antes de avanzar.”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3.5 y 3.10; PDF pp. 68–70, 79–80; INV errores.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U03-004 — Equilibrio, elasticidad y gráficos: lo que ya sabemos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Verificar que el signo depende del eje y que una fuerza hacia el equilibrio no implica velocidad hacia el equilibrio. Cierre conceptual: El eje, las unidades, la fuerza restauradora y la lectura de gráficos sostienen toda la unidad.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Dos columnas: “ya podemos usar” y “conviene recuperar” → seno/coseno, `f=1/T`, equilibrio, `F_el=-k_s x`, unidades. 3. Distinguir conectores de movimiento local y propagación cuando corresponda. 4. Cerrar con una sola idea: El eje, las unidades, la fuerza restauradora y la lectura de gráficos sostienen toda la unidad. El esquema es conceptual y no está a escala.</a:t>
            </a:r>
          </a:p>
          <a:p xmlns:a="http://schemas.openxmlformats.org/drawingml/2006/main">
            <a:r>
              <a:t>- **Pregunta al grupo:** Si `x&gt;0`, ¿qué signo tiene `F_el`?</a:t>
            </a:r>
          </a:p>
          <a:p xmlns:a="http://schemas.openxmlformats.org/drawingml/2006/main">
            <a:r>
              <a:t>- **Respuesta esperada:** Negativo, porque la fuerza restauradora apunta hacia el equilibrio.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Una fuerza hacia el equilibrio no implica que la velocidad también apunte hacia el equilibrio en ese instante.</a:t>
            </a:r>
          </a:p>
          <a:p xmlns:a="http://schemas.openxmlformats.org/drawingml/2006/main">
            <a:r>
              <a:t>- **Transición oral:** “Convertir los prerrequisitos en resultados observables.”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3.2; PDF p. 62; CDM; U2;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U03-005 — Qué podremos explicar, leer y calcular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Parafrasear los objetivos sin leerlos como lista administrativa; señalar la evidencia esperada. Cierre conceptual: La unidad combina interpretación física, lectura gráfica, cálculo simple y aplicación.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La unidad combina interpretación física, lectura gráfica, cálculo simple y aplicación.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“Mostrar el itinerario que construye esas capacidades.”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BR, objetivos;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U03-006 — Del movimiento local a la onda que llega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Explicar que el mapa volverá en cada recapitulación y que no equivale al índice del capítulo. Señalar la etapa activa sin convertir el mapa en una lista para memorizar. Cierre conceptual: La clase avanza de un oscilador a una descripción temporal y espacial de la propagación.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Nueve etapas: oscilación → MAS → parámetros → sinusoide. 3. Distinguir conectores de movimiento local y propagación cuando corresponda. 4. Cerrar con una sola idea: La clase avanza de un oscilador a una descripción temporal y espacial de la propagación. El esquema es conceptual y no está a escala.</a:t>
            </a:r>
          </a:p>
          <a:p xmlns:a="http://schemas.openxmlformats.org/drawingml/2006/main">
            <a:r>
              <a:t>- **Pregunta al grupo:** ¿En qué etapa del recorrido estamos y qué conexión sigue?</a:t>
            </a:r>
          </a:p>
          <a:p xmlns:a="http://schemas.openxmlformats.org/drawingml/2006/main">
            <a:r>
              <a:t>- **Respuesta esperada:** La clase avanza de un oscilador a una descripción temporal y espacial de la propagación.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“Abrir el primer contraste: movimiento local frente a propagación.”</a:t>
            </a:r>
          </a:p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**[Sources]:** BR;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U03-007 — Una parte oscila; la perturbación avanza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Volver al parlante y pedir qué objeto permanece cerca de su posición de equilibrio. Cierre conceptual: Movimiento local y propagación son descripciones diferentes del mismo fenómeno ondulatorio.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pregunta física organiza este bloque?</a:t>
            </a:r>
          </a:p>
          <a:p xmlns:a="http://schemas.openxmlformats.org/drawingml/2006/main">
            <a:r>
              <a:t>- **Respuesta esperada:** Movimiento local y propagación son descripciones diferentes del mismo fenómeno ondulatorio.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“Definir primero una oscilación local.”</a:t>
            </a:r>
          </a:p>
          <a:p xmlns:a="http://schemas.openxmlformats.org/drawingml/2006/main">
            <a:r>
              <a:t>- **Duración aproximada:** 1 min.</a:t>
            </a:r>
          </a:p>
          <a:p xmlns:a="http://schemas.openxmlformats.org/drawingml/2006/main">
            <a:r>
              <a:t>- **[Sources]:** TEX 3.3; PDF pp. 62–65.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U03-008 — Oscilar es ir y volver alrededor de un equilibrio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Diferenciar oscilatorio, periódico y armónico; no introducir aún la ecuación completa. Comenzar con el fenómeno y un contraejemplo; fijar el término después. Cierre conceptual: La posición cambia repetidamente alrededor de una referencia; no toda oscilación es armónica.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Equilibrio, elongación, extremos y retorno → ejemplo de masa–resorte. 3. Distinguir conectores de movimiento local y propagación cuando corresponda. 4. Cerrar con una sola idea: La posición cambia repetidamente alrededor de una referencia; no toda oscilación es armónica. El esquema es conceptual y no está a escala.</a:t>
            </a:r>
          </a:p>
          <a:p xmlns:a="http://schemas.openxmlformats.org/drawingml/2006/main">
            <a:r>
              <a:t>- **Pregunta al grupo:** ¿Toda oscilación repetitiva es armónica?</a:t>
            </a:r>
          </a:p>
          <a:p xmlns:a="http://schemas.openxmlformats.org/drawingml/2006/main">
            <a:r>
              <a:t>- **Respuesta esperada:** No; el MAS exige una relación restauradora lineal específica.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usar oscilatorio, periódico y armónico como sinónimos.</a:t>
            </a:r>
          </a:p>
          <a:p xmlns:a="http://schemas.openxmlformats.org/drawingml/2006/main">
            <a:r>
              <a:t>- **Transición oral:** “Preguntar qué cambia cuando el movimiento de una región afecta a la siguiente.”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3.3.1; PDF p. 62; INV U03-C01–C03.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U03-009 — Una interacción vecina transmite la perturbación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Narrar causa local, retraso y transferencia; evitar decir que “la forma material viaja”. Cierre conceptual: Cada región mueve a la siguiente sin trasladarse con el frente.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Cinco instantes de una cadena de partículas o resortes → frente de perturbación y movimientos locales. 3. Distinguir conectores de movimiento local y propagación cuando corresponda. 4. Cerrar con una sola idea: Cada región mueve a la siguiente sin trasladarse con el frente. El esquema es conceptual y no está a escala.</a:t>
            </a:r>
          </a:p>
          <a:p xmlns:a="http://schemas.openxmlformats.org/drawingml/2006/main">
            <a:r>
              <a:t>- **Pregunta al grupo:** ¿Qué evidencia muestra que la perturbación avanza?</a:t>
            </a:r>
          </a:p>
          <a:p xmlns:a="http://schemas.openxmlformats.org/drawingml/2006/main">
            <a:r>
              <a:t>- **Respuesta esperada:** Regiones cada vez más alejadas comienzan a responder con retraso.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decir que una forma material viaja de partícula en partícula.</a:t>
            </a:r>
          </a:p>
          <a:p xmlns:a="http://schemas.openxmlformats.org/drawingml/2006/main">
            <a:r>
              <a:t>- **Transición oral:** “Nombrar qué sí se transporta y qué no.”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3.3.2; PDF pp. 63–64; INV U03-C04–C06.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U03-010 — Materia, perturbación y energía no recorren lo mismo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Usar una marca de corcho o una espira para mostrar movimiento local; aclarar el alcance idealizado. Nombrar primero lo común y luego la diferencia que cambia la interpretación. Cierre conceptual: En una onda mecánica la materia oscila localmente mientras la perturbación y la energía se propagan.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Comparación por trayectoria, alcance y ejemplo → límite explícito sobre transporte neto de materia. 3. Distinguir conectores de movimiento local y propagación cuando corresponda. 4. Cerrar con una sola idea: En una onda mecánica la materia oscila localmente mientras la perturbación y la energía se propagan. El esquema es conceptual y no está a escala.</a:t>
            </a:r>
          </a:p>
          <a:p xmlns:a="http://schemas.openxmlformats.org/drawingml/2006/main">
            <a:r>
              <a:t>- **Pregunta al grupo:** ¿Qué se transporta sin que la materia recorra toda la distancia?</a:t>
            </a:r>
          </a:p>
          <a:p xmlns:a="http://schemas.openxmlformats.org/drawingml/2006/main">
            <a:r>
              <a:t>- **Respuesta esperada:** La perturbación y la energía pueden propagarse; la materia oscila localmente.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afirmar transporte neto de materia en el modelo ideal.</a:t>
            </a:r>
          </a:p>
          <a:p xmlns:a="http://schemas.openxmlformats.org/drawingml/2006/main">
            <a:r>
              <a:t>- **Transición oral:** “Definir qué necesita una onda mecánica para existir.”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3.3.2 y 3.10; PDF pp. 63–64, 79.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U03-011 — Una onda mecánica necesita medio e interacción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Evitar generalizar a todas las ondas; indicar que aquí se estudian ondas mecánicas. Comenzar con el fenómeno y un contraejemplo; fijar el término después. Cierre conceptual: Sin medio material no hay onda sonora mecánica.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Definición, tres condiciones y contraste mínimo con el vacío. 3. Distinguir conectores de movimiento local y propagación cuando corresponda. 4. Cerrar con una sola idea: Sin medio material no hay onda sonora mecánica. El esquema es conceptual y no está a escala.</a:t>
            </a:r>
          </a:p>
          <a:p xmlns:a="http://schemas.openxmlformats.org/drawingml/2006/main">
            <a:r>
              <a:t>- **Pregunta al grupo:** ¿Puede propagarse sonido en el vacío?</a:t>
            </a:r>
          </a:p>
          <a:p xmlns:a="http://schemas.openxmlformats.org/drawingml/2006/main">
            <a:r>
              <a:t>- **Respuesta esperada:** No, porque es una onda mecánica y necesita medio material.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necesidad de medio se refiere a ondas mecánicas; no a toda clase de onda.</a:t>
            </a:r>
          </a:p>
          <a:p xmlns:a="http://schemas.openxmlformats.org/drawingml/2006/main">
            <a:r>
              <a:t>- **Transición oral:** “Clasificar el movimiento local respecto de la dirección de propagación.”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3.3.2; PDF pp. 63–64;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U03-012 — Longitudinal y transversal: dos direcciones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Subrayar que el sonido en fluidos se modela principalmente como longitudinal; no confundir el dibujo sinusoidal con movimiento transversal del aire. Nombrar primero lo común y luego la diferencia que cambia la interpretación. Cierre conceptual: La clasificación depende de la orientación del movimiento local respecto del avance.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Dos casos con flecha de propagación y flechas de desplazamiento → aire y cuerda como ejemplos. 3. Distinguir conectores de movimiento local y propagación cuando corresponda. 4. Cerrar con una sola idea: La clasificación depende de la orientación del movimiento local respecto del avance. El esquema es conceptual y no está a escala.</a:t>
            </a:r>
          </a:p>
          <a:p xmlns:a="http://schemas.openxmlformats.org/drawingml/2006/main">
            <a:r>
              <a:t>- **Pregunta al grupo:** ¿Qué dos direcciones hay que comparar?</a:t>
            </a:r>
          </a:p>
          <a:p xmlns:a="http://schemas.openxmlformats.org/drawingml/2006/main">
            <a:r>
              <a:t>- **Respuesta esperada:** El movimiento local de las partículas y la dirección de propagación.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clasificar por la orientación del dibujo, sino por las dos direcciones físicas.</a:t>
            </a:r>
          </a:p>
          <a:p xmlns:a="http://schemas.openxmlformats.org/drawingml/2006/main">
            <a:r>
              <a:t>- **Transición oral:** “Observar el mecanismo en una demostración concreta.”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3.3.3; PDF pp. 64–65; INV U03-C07–C08.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U03-013 — Un resorte permite ver movimiento local y frente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predicción, observar y volver a formular con “partícula”, “perturbación” y “propagación”. Cierre conceptual: Una marca del medio puede volver casi al mismo lugar mientras el pulso avanza.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Una marca del medio puede volver casi al mismo lugar mientras el pulso avanza.</a:t>
            </a:r>
          </a:p>
          <a:p xmlns:a="http://schemas.openxmlformats.org/drawingml/2006/main">
            <a:r>
              <a:t>- **Demostración/audio/video/GIF:** Reproducir: MEDIA: demostración propia con resorte o GIF técnico; alternativa estática en 4 fotogramas. Mostrar primero sin narración y luego seguir la marca o el frente. Si el recurso no se reproduce, usar la secuencia estática incluida.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“Comprobar la distinción sin apoyarse solo en vocabulario.”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3.3.4; PDF p. 65;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U03-014 — Si la marca vuelve, ¿la onda también volvió?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Exigir que la respuesta nombre dos referentes distintos. Escuchar una justificación antes de validar o corregir. Cierre conceptual: La posición final de una región no informa por sí sola la posición del frente.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Secuencia de cuatro estados y opciones razonadas sobre marca, frente y energía. 3. Distinguir conectores de movimiento local y propagación cuando corresponda. 4. Cerrar con una sola idea: La posición final de una región no informa por sí sola la posición del frente. El esquema es conceptual y no está a escala.</a:t>
            </a:r>
          </a:p>
          <a:p xmlns:a="http://schemas.openxmlformats.org/drawingml/2006/main">
            <a:r>
              <a:t>- **Pregunta al grupo:** ¿Por qué la marca vuelve pero la onda no?</a:t>
            </a:r>
          </a:p>
          <a:p xmlns:a="http://schemas.openxmlformats.org/drawingml/2006/main">
            <a:r>
              <a:t>- **Respuesta esperada:** La marca representa materia local; el estado de perturbación se transmite a vecinos.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“Aplicar la distinción al aparato fonador y al oído.”</a:t>
            </a:r>
          </a:p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**[Sources]:** TEX ejercicios C1 y G1; PDF pp. 80–82.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U03-015 — Fuente y receptor también oscilan localmente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Evitar afirmar que toda anatomía se comporta como resorte ideal; usar la cadena como función, no como copia anatómica. Separar utilidad física, condiciones del modelo y límite clínico. Cierre conceptual: Pliegues vocales, aire y estructuras receptoras cumplen funciones distintas dentro de una cadena.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Esquema fuente–medio–receptor con movimiento local en extremos y propagación en el medio → límites del modelo. 3. Distinguir conectores de movimiento local y propagación cuando corresponda. 4. Cerrar con una sola idea: Pliegues vocales, aire y estructuras receptoras cumplen funciones distintas dentro de una cadena. El esquema es conceptual y no está a escala.</a:t>
            </a:r>
          </a:p>
          <a:p xmlns:a="http://schemas.openxmlformats.org/drawingml/2006/main">
            <a:r>
              <a:t>- **Pregunta al grupo:** ¿Qué permite afirmar el modelo y qué queda fuera de su alcance?</a:t>
            </a:r>
          </a:p>
          <a:p xmlns:a="http://schemas.openxmlformats.org/drawingml/2006/main">
            <a:r>
              <a:t>- **Respuesta esperada:** Pliegues vocales, aire y estructuras receptoras cumplen funciones distintas dentro de una cadena.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“Cerrar el bloque con una regla de decisión.”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3.9.1; PDF pp. 77–78; BR aplicaciones.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U03-016 — Hasta acá: qué oscila y qué se propaga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reformular la distinción en un contexto biológico; evitar repetir definiciones literales. Reconstruir relaciones; evitar una enumeración de palabras. Cierre conceptual: Antes de usar fórmulas hay que identificar sistema, variable local, medio y dirección de avance.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Cuatro preguntas de lectura y retorno al mapa de clase. 3. Distinguir conectores de movimiento local y propagación cuando corresponda. 4. Cerrar con una sola idea: Antes de usar fórmulas hay que identificar sistema, variable local, medio y dirección de avance. El esquema es conceptual y no está a escala.</a:t>
            </a:r>
          </a:p>
          <a:p xmlns:a="http://schemas.openxmlformats.org/drawingml/2006/main">
            <a:r>
              <a:t>- **Pregunta al grupo:** ¿Qué oscila y qué se propaga en el aire?</a:t>
            </a:r>
          </a:p>
          <a:p xmlns:a="http://schemas.openxmlformats.org/drawingml/2006/main">
            <a:r>
              <a:t>- **Respuesta esperada:** Las partículas oscilan localmente; se propagan la perturbación y la energía.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“Pasar de cualquier oscilación a un modelo ideal especialmente útil.”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3.3;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U03-017 — Un modelo simple para una oscilación regular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Recuperar masa, elasticidad y amortiguamiento de U2; anunciar qué se idealiza. Cierre conceptual: El MAS idealiza el retorno al equilibrio y permite predecir la evolución.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pregunta física organiza este bloque?</a:t>
            </a:r>
          </a:p>
          <a:p xmlns:a="http://schemas.openxmlformats.org/drawingml/2006/main">
            <a:r>
              <a:t>- **Respuesta esperada:** El MAS idealiza el retorno al equilibrio y permite predecir la evolución.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“Declarar condiciones y límites antes de la ecuación.”</a:t>
            </a:r>
          </a:p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**[Sources]:** PO; TEX 3.4; PDF pp. 65–68; U2.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U03-018 — El MAS combina inercia y fuerza restauradora lineal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Separar modelo de objeto real y recordar que el amortiguamiento se dejó fuera para estudiar el caso base. Comenzar con el fenómeno y un contraejemplo; fijar el término después. Cierre conceptual: Un cuerpo oscila armónicamente cuando la fuerza neta es proporcional y opuesta a su desplazamiento, bajo hipótesis ideales.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Sistema masa–resorte, equilibrio, desplazamiento y condiciones: linealidad, sin rozamiento y sin excitación externa. 3. Distinguir conectores de movimiento local y propagación cuando corresponda. 4. Cerrar con una sola idea: Un cuerpo oscila armónicamente cuando la fuerza neta es proporcional y opuesta a su desplazamiento, bajo hipótesis ideales. El esquema es conceptual y no está a escala.</a:t>
            </a:r>
          </a:p>
          <a:p xmlns:a="http://schemas.openxmlformats.org/drawingml/2006/main">
            <a:r>
              <a:t>- **Pregunta al grupo:** ¿Qué condición distingue al MAS de una oscilación cualquiera?</a:t>
            </a:r>
          </a:p>
          <a:p xmlns:a="http://schemas.openxmlformats.org/drawingml/2006/main">
            <a:r>
              <a:t>- **Respuesta esperada:** La fuerza neta es proporcional y opuesta a la elongación.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confundir MAS con cualquier movimiento que se repite.</a:t>
            </a:r>
          </a:p>
          <a:p xmlns:a="http://schemas.openxmlformats.org/drawingml/2006/main">
            <a:r>
              <a:t>- **Transición oral:** “Relacionar signo de posición y dirección de aceleración.”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3.4.1; PDF pp. 65–66; INV U03-C10–C11.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U03-019 — La fuerza restauradora apunta hacia el equilibrio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Leer físicamente cada factor; controlar `N = kg·m·s⁻²`; no derivar la ecuación diferencial. Definir símbolos, unidades, signo y condiciones antes de sustituir valores. Cierre conceptual: El signo menos expresa dirección de retorno, no una fuerza “negativa” en valor absoluto.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`ma=-k_s x` → símbolos, unidades y dos posiciones con aceleraciones opuestas. 3. Distinguir conectores de movimiento local y propagación cuando corresponda. 4. Cerrar con una sola idea: El signo menos expresa dirección de retorno, no una fuerza “negativa” en valor absoluto. El esquema es conceptual y no está a escala.</a:t>
            </a:r>
          </a:p>
          <a:p xmlns:a="http://schemas.openxmlformats.org/drawingml/2006/main">
            <a:r>
              <a:t>- **Pregunta al grupo:** En `x&gt;0`, ¿hacia dónde apunta `a`?</a:t>
            </a:r>
          </a:p>
          <a:p xmlns:a="http://schemas.openxmlformats.org/drawingml/2006/main">
            <a:r>
              <a:t>- **Respuesta esperada:** Hacia el equilibrio; con el eje elegido, `a&lt;0`.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El signo negativo expresa dirección restauradora, no módulo negativo.</a:t>
            </a:r>
          </a:p>
          <a:p xmlns:a="http://schemas.openxmlformats.org/drawingml/2006/main">
            <a:r>
              <a:t>- **Transición oral:** “Observar cómo el signo cambia durante un ciclo.”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3.4.1; PDF p. 66; NOT; INV U03-E01.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U03-020 — Un ciclo recorre extremos, equilibrio y regreso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Insistir en que pasar dos veces por la misma posición no significa estar en la misma fase. Cierre conceptual: El estado se repite solo después de recuperar posición y sentido de movimiento.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Cinco estados: extremo positivo, equilibrio, extremo negativo, equilibrio y retorno → flechas de velocidad y aceleración cualitativas. 3. Distinguir conectores de movimiento local y propagación cuando corresponda. 4. Cerrar con una sola idea: El estado se repite solo después de recuperar posición y sentido de movimiento. El esquema es conceptual y no está a escala.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El estado se repite solo después de recuperar posición y sentido de movimiento.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“Definir una magnitud por slide sobre este ciclo.”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3.4.2–3.4.4; PDF pp. 66–68; GLO.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U03-021 — La amplitud mide el máximo alejamiento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Usar `A_x` para evitar amplitud sin referente; anticipar que presión tendrá otra amplitud. Comenzar con el fenómeno y un contraejemplo; fijar el término después. Cierre conceptual: La amplitud pertenece a una magnitud concreta y es no negativa.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`A_x` como máximo del valor absoluto de `x` → equilibrio, extremos, unidad de desplazamiento → distinción de valor instantáneo. 3. Distinguir conectores de movimiento local y propagación cuando corresponda. 4. Cerrar con una sola idea: La amplitud pertenece a una magnitud concreta y es no negativa. El esquema es conceptual y no está a escala.</a:t>
            </a:r>
          </a:p>
          <a:p xmlns:a="http://schemas.openxmlformats.org/drawingml/2006/main">
            <a:r>
              <a:t>- **Pregunta al grupo:** ¿La amplitud puede ser negativa?</a:t>
            </a:r>
          </a:p>
          <a:p xmlns:a="http://schemas.openxmlformats.org/drawingml/2006/main">
            <a:r>
              <a:t>- **Respuesta esperada:** No como magnitud; `A_x` es un máximo de `|x|` y es no negativa.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amplitud no es la distancia entre máximo y mínimo; esa distancia es `2A_x`.</a:t>
            </a:r>
          </a:p>
          <a:p xmlns:a="http://schemas.openxmlformats.org/drawingml/2006/main">
            <a:r>
              <a:t>- **Transición oral:** “Medir cuánto tarda en repetirse el estado.”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3.4.2; PDF p. 66; NOT; INV U03-C13.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U03-022 — El período es el tiempo de un ciclo completo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Señalar por qué máximo–mínimo es medio período y por qué dos cruces de cero pueden no ser estados equivalentes. Comenzar con el fenómeno y un contraejemplo; fijar el término después. Cierre conceptual: El período se mide entre dos estados equivalentes consecutivos.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El período se mide entre dos estados equivalentes consecutivos.</a:t>
            </a:r>
          </a:p>
          <a:p xmlns:a="http://schemas.openxmlformats.org/drawingml/2006/main">
            <a:r>
              <a:t>- **Pregunta al grupo:** ¿Qué condición o diferencia forma parte de esta definición?</a:t>
            </a:r>
          </a:p>
          <a:p xmlns:a="http://schemas.openxmlformats.org/drawingml/2006/main">
            <a:r>
              <a:t>- **Respuesta esperada:** El período se mide entre dos estados equivalentes consecutivos.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“Contar cuántos ciclos ocurren por segundo.”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3.4.2; PDF p. 66; INV U03-C15.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U03-023 — La frecuencia cuenta ciclos por unidad de tiempo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Evitar asociar todavía frecuencia con rapidez de propagación o pitch percibido. Comenzar con el fenómeno y un contraejemplo; fijar el término después. Cierre conceptual: `1 Hz` equivale a un ciclo por segundo.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`1 Hz` equivale a un ciclo por segundo.</a:t>
            </a:r>
          </a:p>
          <a:p xmlns:a="http://schemas.openxmlformats.org/drawingml/2006/main">
            <a:r>
              <a:t>- **Pregunta al grupo:** ¿Qué condición o diferencia forma parte de esta definición?</a:t>
            </a:r>
          </a:p>
          <a:p xmlns:a="http://schemas.openxmlformats.org/drawingml/2006/main">
            <a:r>
              <a:t>- **Respuesta esperada:** `1 Hz` equivale a un ciclo por segundo.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“Relacionar cuantitativamente las dos medidas.”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3.4.2; PDF p. 66; INV U03-C14.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U03-024 — Frecuencia y período son recíprocos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Hacer el control dimensional y evitar lenguaje de causa física entre `f` y `T`: son dos descripciones del mismo patrón. Definir símbolos, unidades, signo y condiciones antes de sustituir valores. Cierre conceptual: Más ciclos por segundo implican menos tiempo por ciclo.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`f=1/T` y `T=1/f` → símbolos, unidades y lectura causal limitada. 3. Distinguir conectores de movimiento local y propagación cuando corresponda. 4. Cerrar con una sola idea: Más ciclos por segundo implican menos tiempo por ciclo. El esquema es conceptual y no está a escala.</a:t>
            </a:r>
          </a:p>
          <a:p xmlns:a="http://schemas.openxmlformats.org/drawingml/2006/main">
            <a:r>
              <a:t>- **Pregunta al grupo:** Si el período se duplica, ¿qué ocurre con la frecuencia?</a:t>
            </a:r>
          </a:p>
          <a:p xmlns:a="http://schemas.openxmlformats.org/drawingml/2006/main">
            <a:r>
              <a:t>- **Respuesta esperada:** Se reduce a la mitad.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Frecuencia y período son inversos, no directamente proporcionales.</a:t>
            </a:r>
          </a:p>
          <a:p xmlns:a="http://schemas.openxmlformats.org/drawingml/2006/main">
            <a:r>
              <a:t>- **Transición oral:** “Modelar un cálculo mínimo.”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3.4.2; PDF p. 66; NOT; INV U03-E02.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U03-025 — De 2 ms por ciclo a 500 Hz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una estimación antes del cálculo y verificar que el resultado tenga sentido. Cierre conceptual: La unidad debe convertirse antes de invertir.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Datos, `2 ms = 0,002 s`, aplicación de `f=1/T`, resultado con unidad y comprobación por ciclos. 3. Distinguir conectores de movimiento local y propagación cuando corresponda. 4. Cerrar con una sola idea: La unidad debe convertirse antes de invertir. El esquema es conceptual y no está a escala.</a:t>
            </a:r>
          </a:p>
          <a:p xmlns:a="http://schemas.openxmlformats.org/drawingml/2006/main">
            <a:r>
              <a:t>- **Pregunta al grupo:** ¿Por qué hay que convertir milisegundos a segundos?</a:t>
            </a:r>
          </a:p>
          <a:p xmlns:a="http://schemas.openxmlformats.org/drawingml/2006/main">
            <a:r>
              <a:t>- **Respuesta esperada:** Para obtener la frecuencia en s⁻¹, es decir, hertz.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reemplazar `2 ms` por `2 s`.</a:t>
            </a:r>
          </a:p>
          <a:p xmlns:a="http://schemas.openxmlformats.org/drawingml/2006/main">
            <a:r>
              <a:t>- **Transición oral:** “Introducir fase como posición dentro del ciclo, no como otra duración.”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ejemplo 3.4.5; PDF p. 68;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U03-026 — La fase ubica un estado dentro del ciclo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Definir fase antes de operar con radianes; aclarar que no es “retraso” sin especificar frecuencia. Comenzar con el fenómeno y un contraejemplo; fijar el término después. Cierre conceptual: Dos oscilaciones pueden compartir amplitud y frecuencia y estar en estados distintos del ciclo.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Ciclo circular y señal temporal con cuatro estados equivalentes → `φ₀` como estado inicial. 3. Distinguir conectores de movimiento local y propagación cuando corresponda. 4. Cerrar con una sola idea: Dos oscilaciones pueden compartir amplitud y frecuencia y estar en estados distintos del ciclo. El esquema es conceptual y no está a escala.</a:t>
            </a:r>
          </a:p>
          <a:p xmlns:a="http://schemas.openxmlformats.org/drawingml/2006/main">
            <a:r>
              <a:t>- **Pregunta al grupo:** ¿Dos puntos con igual elongación tienen siempre igual fase?</a:t>
            </a:r>
          </a:p>
          <a:p xmlns:a="http://schemas.openxmlformats.org/drawingml/2006/main">
            <a:r>
              <a:t>- **Respuesta esperada:** No; también importa el sentido del movimiento dentro del ciclo.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Fase no es una distancia ni un instante absoluto.</a:t>
            </a:r>
          </a:p>
          <a:p xmlns:a="http://schemas.openxmlformats.org/drawingml/2006/main">
            <a:r>
              <a:t>- **Transición oral:** “Integrar los cuatro parámetros sin añadir cinemática.”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PO; TEX 3.4.2; PDF pp. 66–67; NOT; INV U03-C17.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U03-027 — Cuatro preguntas describen una oscilación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cambiar de definición verbal a herramienta de lectura; detectar confusión entre fase y posición. Reconstruir relaciones; evitar una enumeración de palabras. Cierre conceptual: Cuánto se aleja, cuánto tarda, cuántos ciclos ocurren y en qué estado comienza son preguntas distintas.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Matriz de cuatro magnitudes con pregunta, símbolo y unidad → mini chequeo sobre una señal. 3. Distinguir conectores de movimiento local y propagación cuando corresponda. 4. Cerrar con una sola idea: Cuánto se aleja, cuánto tarda, cuántos ciclos ocurren y en qué estado comienza son preguntas distintas. El esquema es conceptual y no está a escala.</a:t>
            </a:r>
          </a:p>
          <a:p xmlns:a="http://schemas.openxmlformats.org/drawingml/2006/main">
            <a:r>
              <a:t>- **Pregunta al grupo:** ¿Cómo se conectan las ideas principales del bloque?</a:t>
            </a:r>
          </a:p>
          <a:p xmlns:a="http://schemas.openxmlformats.org/drawingml/2006/main">
            <a:r>
              <a:t>- **Respuesta esperada:** Cuánto se aleja, cuánto tarda, cuántos ciclos ocurren y en qué estado comienza son preguntas distintas.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“Pasar de parámetros aislados a una expresión temporal completa.”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3.4.2;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U03-028 — La curva no es el fenómeno: es una representación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Mostrar una curva sin ejes durante pocos segundos y preguntar qué puede afirmarse con rigor. Cierre conceptual: Una sinusoide solo cobra sentido cuando se nombran variable, ejes, unidades y condiciones.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pregunta física organiza este bloque?</a:t>
            </a:r>
          </a:p>
          <a:p xmlns:a="http://schemas.openxmlformats.org/drawingml/2006/main">
            <a:r>
              <a:t>- **Respuesta esperada:** Una sinusoide solo cobra sentido cuando se nombran variable, ejes, unidades y condiciones.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“Dar significado a la expresión temporal.”</a:t>
            </a:r>
          </a:p>
          <a:p xmlns:a="http://schemas.openxmlformats.org/drawingml/2006/main">
            <a:r>
              <a:t>- **Duración aproximada:** 1 min.</a:t>
            </a:r>
          </a:p>
          <a:p xmlns:a="http://schemas.openxmlformats.org/drawingml/2006/main">
            <a:r>
              <a:t>- **[Sources]:** TEX 3.5; PDF pp. 68–70.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U03-029 — x(t) describe una posición que cambia en el tiempo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Leer la ecuación de izquierda a derecha; vincular símbolo y rasgo del gráfico sin derivar. Definir símbolos, unidades, signo y condiciones antes de sustituir valores. Cierre conceptual: Cada símbolo conecta una característica visible con una magnitud física.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`x(t)=A_x cos(2πft+φ₀)` → variable dependiente, tiempo, amplitud, frecuencia y fase inicial → unidades. 3. Distinguir conectores de movimiento local y propagación cuando corresponda. 4. Cerrar con una sola idea: Cada símbolo conecta una característica visible con una magnitud física. El esquema es conceptual y no está a escala.</a:t>
            </a:r>
          </a:p>
          <a:p xmlns:a="http://schemas.openxmlformats.org/drawingml/2006/main">
            <a:r>
              <a:t>- **Pregunta al grupo:** ¿Qué representa el eje horizontal?</a:t>
            </a:r>
          </a:p>
          <a:p xmlns:a="http://schemas.openxmlformats.org/drawingml/2006/main">
            <a:r>
              <a:t>- **Respuesta esperada:** Tiempo, no una coordenada espacial.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curva no es una trayectoria espacial.</a:t>
            </a:r>
          </a:p>
          <a:p xmlns:a="http://schemas.openxmlformats.org/drawingml/2006/main">
            <a:r>
              <a:t>- **Transición oral:** “Aplicar el modelo a un desplazamiento pequeño de parlante.”</a:t>
            </a:r>
          </a:p>
          <a:p xmlns:a="http://schemas.openxmlformats.org/drawingml/2006/main">
            <a:r>
              <a:t>- **Duración aproximada:** 6 min.</a:t>
            </a:r>
          </a:p>
          <a:p xmlns:a="http://schemas.openxmlformats.org/drawingml/2006/main">
            <a:r>
              <a:t>- **[Sources]:** PO; TEX 3.4.3; PDF p. 67; NOT; INV U03-E04.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U03-030 — El cono de un parlante puede moverse micrómetros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Destacar órdenes de magnitud y no inferir presión ni sonoridad desde el desplazamiento solo. Cierre conceptual: Una oscilación de alta frecuencia puede tener un desplazamiento extremadamente pequeño.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Caso `A_x=0,010 mm`, `f=500 Hz` → conversión de amplitud, período y lectura de la expresión sin desarrollar toda la cuenta. 3. Distinguir conectores de movimiento local y propagación cuando corresponda. 4. Cerrar con una sola idea: Una oscilación de alta frecuencia puede tener un desplazamiento extremadamente pequeño. El esquema es conceptual y no está a escala.</a:t>
            </a:r>
          </a:p>
          <a:p xmlns:a="http://schemas.openxmlformats.org/drawingml/2006/main">
            <a:r>
              <a:t>- **Pregunta al grupo:** ¿Qué sí permite afirmar el modelo y qué no?</a:t>
            </a:r>
          </a:p>
          <a:p xmlns:a="http://schemas.openxmlformats.org/drawingml/2006/main">
            <a:r>
              <a:t>- **Respuesta esperada:** Permite describir desplazamiento y frecuencia del cono; no fija presión ni sonoridad.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deducir presión o sonoridad desde desplazamiento sin una relación y calibración adicionales.</a:t>
            </a:r>
          </a:p>
          <a:p xmlns:a="http://schemas.openxmlformats.org/drawingml/2006/main">
            <a:r>
              <a:t>- **Transición oral:** “Preguntar cómo cambian velocidad y aceleración dentro del mismo ciclo.”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ejemplo 3.4.5; PDF p. 68; INV U03-X03.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U03-031 — En los extremos la velocidad se anula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Usar razonamiento cinemático y no cálculo diferencial; distinguir velocidad cero de aceleración cero. Cierre conceptual: La rapidez es máxima al pasar por el equilibrio y cero en los extremos.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Cuatro estados del oscilador con signos de `x` y `v` → sin fórmula derivada como foco. 3. Distinguir conectores de movimiento local y propagación cuando corresponda. 4. Cerrar con una sola idea: La rapidez es máxima al pasar por el equilibrio y cero en los extremos. El esquema es conceptual y no está a escala.</a:t>
            </a:r>
          </a:p>
          <a:p xmlns:a="http://schemas.openxmlformats.org/drawingml/2006/main">
            <a:r>
              <a:t>- **Pregunta al grupo:** ¿Dónde es cero la velocidad instantánea?</a:t>
            </a:r>
          </a:p>
          <a:p xmlns:a="http://schemas.openxmlformats.org/drawingml/2006/main">
            <a:r>
              <a:t>- **Respuesta esperada:** En los extremos de la oscilación.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Velocidad cero no implica aceleración cero en los extremos.</a:t>
            </a:r>
          </a:p>
          <a:p xmlns:a="http://schemas.openxmlformats.org/drawingml/2006/main">
            <a:r>
              <a:t>- **Transición oral:** “Incorporar la aceleración restauradora en una slide separada.”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3.4.4; PDF pp. 67–68; INV U03-C20.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U03-032 — La aceleración siempre apunta hacia el equilibrio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 deliberada: mismo ciclo, nueva variable; decir por qué no es redundancia. Cierre conceptual: En los extremos el módulo de `a` es máximo y en el equilibrio `a=0`.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Cuatro estados del oscilador con `x` y `a` → contraste explícito con velocidad. 3. Distinguir conectores de movimiento local y propagación cuando corresponda. 4. Cerrar con una sola idea: En los extremos el módulo de `a` es máximo y en el equilibrio `a=0`. El esquema es conceptual y no está a escala.</a:t>
            </a:r>
          </a:p>
          <a:p xmlns:a="http://schemas.openxmlformats.org/drawingml/2006/main">
            <a:r>
              <a:t>- **Pregunta al grupo:** ¿Dónde es cero la aceleración?</a:t>
            </a:r>
          </a:p>
          <a:p xmlns:a="http://schemas.openxmlformats.org/drawingml/2006/main">
            <a:r>
              <a:t>- **Respuesta esperada:** En el equilibrio, para el MAS ideal.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Aceleración cero al pasar por el equilibrio no implica velocidad cero.</a:t>
            </a:r>
          </a:p>
          <a:p xmlns:a="http://schemas.openxmlformats.org/drawingml/2006/main">
            <a:r>
              <a:t>- **Transición oral:** “Coordinar las tres variables en una representación cuantitativa.”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3.4.1 y 3.4.4; PDF pp. 66–68.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U03-033 — Posición, velocidad y aceleración no coinciden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Leer primero estados concretos y recién después mencionar desfases de un cuarto o medio ciclo. Nombrar variable, ejes, unidades y escala antes de describir la forma. Cierre conceptual: Las tres curvas comparten frecuencia, pero sus máximos ocurren en momentos diferentes.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Las tres curvas comparten frecuencia, pero sus máximos ocurren en momentos diferentes.</a:t>
            </a:r>
          </a:p>
          <a:p xmlns:a="http://schemas.openxmlformats.org/drawingml/2006/main">
            <a:r>
              <a:t>- **Pregunta al grupo:** ¿Qué indican los ejes, las unidades y la escala?</a:t>
            </a:r>
          </a:p>
          <a:p xmlns:a="http://schemas.openxmlformats.org/drawingml/2006/main">
            <a:r>
              <a:t>- **Respuesta esperada:** Las tres curvas comparten frecuencia, pero sus máximos ocurren en momentos diferentes.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“Comprobar la lectura en un instante marcado.”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figura 3.3; PDF p. 68; INV U03-R07.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U03-034 — En este instante, ¿hacia dónde se mueve y acelera?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que separen información leída de información inferida mediante el modelo. Escuchar una justificación antes de validar o corregir. Cierre conceptual: La posición por sí sola no determina el sentido de movimiento; hace falta la pendiente o el estado de ciclo.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 posición por sí sola no determina el sentido de movimiento; hace falta la pendiente o el estado de ciclo.</a:t>
            </a:r>
          </a:p>
          <a:p xmlns:a="http://schemas.openxmlformats.org/drawingml/2006/main">
            <a:r>
              <a:t>- **Pregunta al grupo:** ¿Cómo se obtiene el signo de `v` desde `x(t)`?</a:t>
            </a:r>
          </a:p>
          <a:p xmlns:a="http://schemas.openxmlformats.org/drawingml/2006/main">
            <a:r>
              <a:t>- **Respuesta esperada:** Por el signo de la pendiente de la curva de posición.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“Ampliar la pregunta: una sinusoide puede representar otras magnitudes.”</a:t>
            </a:r>
          </a:p>
          <a:p xmlns:a="http://schemas.openxmlformats.org/drawingml/2006/main">
            <a:r>
              <a:t>- **Duración aproximada:** 6 min.</a:t>
            </a:r>
          </a:p>
          <a:p xmlns:a="http://schemas.openxmlformats.org/drawingml/2006/main">
            <a:r>
              <a:t>- **[Sources]:** TEX ejercicios G2 y R2; PDF pp. 81–82.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U03-035 — La misma forma puede representar magnitudes distintas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Introducir desplazamiento de partícula, presión y tensión como representaciones futuras; no desarrollar aún sus magnitudes. Nombrar primero lo común y luego la diferencia que cambia la interpretación. Cierre conceptual: `x(t)`, `ξ(t)`, `p(t)` y `V(t)` pueden ser sinusoidales, pero no comparten variable ni unidad.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`x(t)`, `ξ(t)`, `p(t)` y `V(t)` pueden ser sinusoidales, pero no comparten variable ni unidad.</a:t>
            </a:r>
          </a:p>
          <a:p xmlns:a="http://schemas.openxmlformats.org/drawingml/2006/main">
            <a:r>
              <a:t>- **Pregunta al grupo:** ¿Qué dato cambia el significado físico de una misma forma?</a:t>
            </a:r>
          </a:p>
          <a:p xmlns:a="http://schemas.openxmlformats.org/drawingml/2006/main">
            <a:r>
              <a:t>- **Respuesta esperada:** Los rótulos de variable, ejes, unidades y calibración.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atribuir significado físico por la forma sin leer ejes y unidades.</a:t>
            </a:r>
          </a:p>
          <a:p xmlns:a="http://schemas.openxmlformats.org/drawingml/2006/main">
            <a:r>
              <a:t>- **Transición oral:** “Corregir la interpretación de la curva como dibujo del recorrido espacial.”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3.5.1; PDF pp. 68–69; INV U03-R05.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U03-036 — La sinusoide no es la trayectoria de una partícula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que nombren los ejes antes de aceptar cualquier lectura. Cierre conceptual: La forma del gráfico depende de los ejes, no de la forma geométrica que recorre el objeto.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Error, corrección y dos casos: `x(t)` temporal frente a perfil espacial → eje y unidad como criterio. 3. Distinguir conectores de movimiento local y propagación cuando corresponda. 4. Cerrar con una sola idea: La forma del gráfico depende de los ejes, no de la forma geométrica que recorre el objeto. El esquema es conceptual y no está a escala.</a:t>
            </a:r>
          </a:p>
          <a:p xmlns:a="http://schemas.openxmlformats.org/drawingml/2006/main">
            <a:r>
              <a:t>- **Pregunta al grupo:** ¿La sinusoide muestra el camino de la partícula?</a:t>
            </a:r>
          </a:p>
          <a:p xmlns:a="http://schemas.openxmlformats.org/drawingml/2006/main">
            <a:r>
              <a:t>- **Respuesta esperada:** No; muestra cómo una variable cambia respecto del eje horizontal.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“Señalar otros límites: forma normalizada y calibración.”</a:t>
            </a:r>
          </a:p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**[Sources]:** TEX 3.5.2 y 3.10; PDF pp. 69, 79–80.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U03-037 — Una curva sin escala no entrega un valor físico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Preparar la lectura responsable de registros audiométricos y evitar convertir pixeles en pascales. Cierre conceptual: Sin ejes, unidades y calibración se reconoce un patrón, pero no una magnitud física.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Tres versiones: esquema cualitativo, señal normalizada y registro calibrado → qué se puede concluir en cada una. 3. Distinguir conectores de movimiento local y propagación cuando corresponda. 4. Cerrar con una sola idea: Sin ejes, unidades y calibración se reconoce un patrón, pero no una magnitud física. El esquema es conceptual y no está a escala.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Sin ejes, unidades y calibración se reconoce un patrón, pero no una magnitud física.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Normalizado no significa calibrado.</a:t>
            </a:r>
          </a:p>
          <a:p xmlns:a="http://schemas.openxmlformats.org/drawingml/2006/main">
            <a:r>
              <a:t>- **Transición oral:** “Diferenciar finalmente magnitud física y atributo perceptual.”</a:t>
            </a:r>
          </a:p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**[Sources]:** TEX 3.5.2; PDF pp. 69–70; INV U03-C23.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U03-038 — Antes de interpretar una señal, haga cuatro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convertir errores dispersos en una rutina transferible a U4–U5. Reconstruir relaciones; evitar una enumeración de palabras. Cierre conceptual: Variable, eje horizontal, unidad y calibración preceden a cualquier conclusión.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Checklist de cuatro preguntas y retorno al diagnóstico sobre amplitud–sonoridad y frecuencia–pitch. 3. Distinguir conectores de movimiento local y propagación cuando corresponda. 4. Cerrar con una sola idea: Variable, eje horizontal, unidad y calibración preceden a cualquier conclusión. El esquema es conceptual y no está a escala.</a:t>
            </a:r>
          </a:p>
          <a:p xmlns:a="http://schemas.openxmlformats.org/drawingml/2006/main">
            <a:r>
              <a:t>- **Pregunta al grupo:** ¿Qué conclusión puede sostenerse si faltan unidades?</a:t>
            </a:r>
          </a:p>
          <a:p xmlns:a="http://schemas.openxmlformats.org/drawingml/2006/main">
            <a:r>
              <a:t>- **Respuesta esperada:** Solo relaciones cualitativas o normalizadas, no valores físicos absolutos.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“Usar la rutina para estudiar un tono puro y su producción.”</a:t>
            </a:r>
          </a:p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**[Sources]:** TEX 3.5 y 3.10;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U03-039 — De una señal ideal a una perturbación acústica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Recordar que forma matemática y variable no son lo mismo. Cierre conceptual: El tono puro es un modelo sinusoidal; el parlante conecta dominios físicos.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pregunta física organiza este bloque?</a:t>
            </a:r>
          </a:p>
          <a:p xmlns:a="http://schemas.openxmlformats.org/drawingml/2006/main">
            <a:r>
              <a:t>- **Respuesta esperada:** El tono puro es un modelo sinusoidal; el parlante conecta dominios físicos.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“Definir el modelo antes de seguir la cadena física.”</a:t>
            </a:r>
          </a:p>
          <a:p xmlns:a="http://schemas.openxmlformats.org/drawingml/2006/main">
            <a:r>
              <a:t>- **Duración aproximada:** 1 min.</a:t>
            </a:r>
          </a:p>
          <a:p xmlns:a="http://schemas.openxmlformats.org/drawingml/2006/main">
            <a:r>
              <a:t>- **[Sources]:** PO; TEX 3.6; PDF pp. 70–72.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U03-040 — Un tono puro ideal tiene una sola frecuencia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Evitar identificar tono puro con cualquier sonido “simple”; separar modelo físico de percepción de pureza. Comenzar con el fenómeno y un contraejemplo; fijar el término después. Cierre conceptual: El modelo ideal es sinusoidal, estable e infinitamente prolongado; una realización física solo lo aproxima.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Definición, `s(t)=A_s cos(2πft+φ₀)` y condiciones ideales → `s` como variable genérica declarada. 3. Distinguir conectores de movimiento local y propagación cuando corresponda. 4. Cerrar con una sola idea: El modelo ideal es sinusoidal, estable e infinitamente prolongado; una realización física solo lo aproxima. El esquema es conceptual y no está a escala.</a:t>
            </a:r>
          </a:p>
          <a:p xmlns:a="http://schemas.openxmlformats.org/drawingml/2006/main">
            <a:r>
              <a:t>- **Pregunta al grupo:** ¿Qué idealización define al tono puro?</a:t>
            </a:r>
          </a:p>
          <a:p xmlns:a="http://schemas.openxmlformats.org/drawingml/2006/main">
            <a:r>
              <a:t>- **Respuesta esperada:** Una sola frecuencia y comportamiento sinusoidal estable.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Un tono real no tiene duración infinita ni comienzo instantáneo.</a:t>
            </a:r>
          </a:p>
          <a:p xmlns:a="http://schemas.openxmlformats.org/drawingml/2006/main">
            <a:r>
              <a:t>- **Transición oral:** “Comparar idealización con una señal tonal real.”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3.6.1; PDF p. 70; NOT; INV U03-C24.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U03-041 — Un tono real comienza y termina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Explicar por qué un tono infinito no puede producirse; no introducir ventanas ni Fourier. Nombrar primero lo común y luego la diferencia que cambia la interpretación. Cierre conceptual: El encendido y apagado rompen la idealidad temporal aunque el tramo sostenido sea casi sinusoidal.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El encendido y apagado rompen la idealidad temporal aunque el tramo sostenido sea casi sinusoidal.</a:t>
            </a:r>
          </a:p>
          <a:p xmlns:a="http://schemas.openxmlformats.org/drawingml/2006/main">
            <a:r>
              <a:t>- **Pregunta al grupo:** ¿Cuál es la diferencia esencial entre los casos?</a:t>
            </a:r>
          </a:p>
          <a:p xmlns:a="http://schemas.openxmlformats.org/drawingml/2006/main">
            <a:r>
              <a:t>- **Respuesta esperada:** El encendido y apagado rompen la idealidad temporal aunque el tramo sostenido sea casi sinusoidal.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“Seguir el recorrido desde la entrada eléctrica al medio.”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3.6.1; PDF pp. 70–71;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U03-042 — Señal eléctrica, cono, aire y presión: una cadena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Leer la cadena sin afirmar amplitudes equivalentes ni conversión perfecta; señalar que cada eslabón exige calibración. Cierre conceptual: Una forma sinusoidal puede conservarse aproximadamente mientras cambia la magnitud representada.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`V(t) → x_cono(t) → ξ_aire(t) → p(t)` → variable y unidad en cada etapa → flechas rotuladas como conversión física. 3. Distinguir conectores de movimiento local y propagación cuando corresponda. 4. Cerrar con una sola idea: Una forma sinusoidal puede conservarse aproximadamente mientras cambia la magnitud representada. El esquema es conceptual y no está a escala.</a:t>
            </a:r>
          </a:p>
          <a:p xmlns:a="http://schemas.openxmlformats.org/drawingml/2006/main">
            <a:r>
              <a:t>- **Pregunta al grupo:** ¿En qué etapa cambia la variable física representada?</a:t>
            </a:r>
          </a:p>
          <a:p xmlns:a="http://schemas.openxmlformats.org/drawingml/2006/main">
            <a:r>
              <a:t>- **Respuesta esperada:** En cada transformación: eléctrica, mecánica del cono, mecánica del aire y presión.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“Acercar la mirada al movimiento del cono.”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3.6.2; figura 3.4; PDF pp. 71–72; INV U03-C25–C28.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U03-043 — El cono oscila alrededor de una posición media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Recuperar MAS como modelo local y aclarar límites del parlante real. Cierre conceptual: El parlante no “envía el cono” hacia el oyente; alterna desplazamientos que perturban el aire vecino.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Tres posiciones del cono con eje, amplitud de desplazamiento y dirección instantánea. 3. Distinguir conectores de movimiento local y propagación cuando corresponda. 4. Cerrar con una sola idea: El parlante no “envía el cono” hacia el oyente; alterna desplazamientos que perturban el aire vecino. El esquema es conceptual y no está a escala.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El parlante no “envía el cono” hacia el oyente; alterna desplazamientos que perturban el aire vecino.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“Mostrar cómo ese movimiento afecta a la primera capa de aire.”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3.4.5 y 3.6.2; PDF pp. 68, 71; BR.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U03-044 — El aire vecino alterna compresiones y rarefacciones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Diferenciar desplazamiento de partícula y presión; evitar dibujar moléculas recorriendo toda la sala. Cierre conceptual: El movimiento local del aire modifica separación y presión; la perturbación pasa a regiones vecinas.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Secuencia cono hacia afuera/hacia adentro, partículas, compresión y rarefacción → flecha de propagación separada. 3. Distinguir conectores de movimiento local y propagación cuando corresponda. 4. Cerrar con una sola idea: El movimiento local del aire modifica separación y presión; la perturbación pasa a regiones vecinas. El esquema es conceptual y no está a escala.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El movimiento local del aire modifica separación y presión; la perturbación pasa a regiones vecinas.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“Representar la variable de presión en un punto fijo.”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3.3.3 y 3.6.2; PDF pp. 64–65, 71–72; INV U03-C09.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U03-045 — En un punto del aire, la presión también puede oscilar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Aclarar que la presión acústica es una variación sobre la presión estática y que U4 formalizará sus magnitudes. Nombrar variable, ejes, unidades y escala antes de describir la forma. Cierre conceptual: Un micrófono en posición fija puede registrar `p(t)` sinusoidal alrededor de la presión ambiente.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Esquema del punto de observación y gráfico de presión acústica relativa con línea de equilibrio → sin introducir nivel sonoro. 3. Distinguir conectores de movimiento local y propagación cuando corresponda. 4. Cerrar con una sola idea: Un micrófono en posición fija puede registrar `p(t)` sinusoidal alrededor de la presión ambiente. El esquema es conceptual y no está a escala.</a:t>
            </a:r>
          </a:p>
          <a:p xmlns:a="http://schemas.openxmlformats.org/drawingml/2006/main">
            <a:r>
              <a:t>- **Pregunta al grupo:** ¿La curva permite conocer nivel sonoro?</a:t>
            </a:r>
          </a:p>
          <a:p xmlns:a="http://schemas.openxmlformats.org/drawingml/2006/main">
            <a:r>
              <a:t>- **Respuesta esperada:** No si no se especifican amplitud calibrada, referencia y condiciones.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Presión acústica no es presión ambiente total.</a:t>
            </a:r>
          </a:p>
          <a:p xmlns:a="http://schemas.openxmlformats.org/drawingml/2006/main">
            <a:r>
              <a:t>- **Transición oral:** “Vincular el modelo con una medición audiológica.”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3.5.1 y 3.6.2; PDF pp. 69, 71–72;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U03-046 — Un tono audiométrico exige nivel y calibración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No interpretar resultados clínicos; concentrarse en producción, entrega y trazabilidad del estímulo. Separar utilidad física, condiciones del modelo y límite clínico. Cierre conceptual: La forma sinusoidal y la frecuencia no bastan para garantizar el estímulo entregado al paciente.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Cadena generador–transductor–acoplador u oído → parámetros físicos frente a ajuste instrumental → anticipación de U4/U8. 3. Distinguir conectores de movimiento local y propagación cuando corresponda. 4. Cerrar con una sola idea: La forma sinusoidal y la frecuencia no bastan para garantizar el estímulo entregado al paciente. El esquema es conceptual y no está a escala.</a:t>
            </a:r>
          </a:p>
          <a:p xmlns:a="http://schemas.openxmlformats.org/drawingml/2006/main">
            <a:r>
              <a:t>- **Pregunta al grupo:** ¿Qué permite afirmar el modelo y qué queda fuera de su alcance?</a:t>
            </a:r>
          </a:p>
          <a:p xmlns:a="http://schemas.openxmlformats.org/drawingml/2006/main">
            <a:r>
              <a:t>- **Respuesta esperada:** La forma sinusoidal y la frecuencia no bastan para garantizar el estímulo entregado al paciente.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convertir una descripción física en diagnóstico o pronóstico.</a:t>
            </a:r>
          </a:p>
          <a:p xmlns:a="http://schemas.openxmlformats.org/drawingml/2006/main">
            <a:r>
              <a:t>- **Transición oral:** “Revisar la cadena completa con una pregunta de comprobación.”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3.9.3–3.9.4; PDF pp. 78–79; BR;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U03-047 — Un mismo patrón, cuatro variables físicas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volver a la cadena para cambiar de nivel —de mecanismo a lectura de variables—, no para copiarla. Reconstruir relaciones; evitar una enumeración de palabras. Cierre conceptual: La sinusoidalidad puede repetirse en tensión, desplazamiento y presión sin volverlas la misma magnitud.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Cadena reducida con una pregunta por etapa: variable, unidad, qué oscila y qué se propaga. 3. Distinguir conectores de movimiento local y propagación cuando corresponda. 4. Cerrar con una sola idea: La sinusoidalidad puede repetirse en tensión, desplazamiento y presión sin volverlas la misma magnitud. El esquema es conceptual y no está a escala.</a:t>
            </a:r>
          </a:p>
          <a:p xmlns:a="http://schemas.openxmlformats.org/drawingml/2006/main">
            <a:r>
              <a:t>- **Pregunta al grupo:** ¿Cómo se conectan las ideas principales del bloque?</a:t>
            </a:r>
          </a:p>
          <a:p xmlns:a="http://schemas.openxmlformats.org/drawingml/2006/main">
            <a:r>
              <a:t>- **Respuesta esperada:** La sinusoidalidad puede repetirse en tensión, desplazamiento y presión sin volverlas la misma magnitud.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“Ampliar la descripción desde un punto fijo a todos los puntos del medio.”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3.5–3.6;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U03-048 — La onda depende del tiempo y del lugar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Anunciar que se trabajará despacio con dos cortes del mismo fenómeno. Cierre conceptual: Una onda viajera requiere dos coordenadas independientes.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pregunta física organiza este bloque?</a:t>
            </a:r>
          </a:p>
          <a:p xmlns:a="http://schemas.openxmlformats.org/drawingml/2006/main">
            <a:r>
              <a:t>- **Respuesta esperada:** Una onda viajera requiere dos coordenadas independientes.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“Definir una variable de campo sin formalismo excesivo.”</a:t>
            </a:r>
          </a:p>
          <a:p xmlns:a="http://schemas.openxmlformats.org/drawingml/2006/main">
            <a:r>
              <a:t>- **Duración aproximada:** 2 min.</a:t>
            </a:r>
          </a:p>
          <a:p xmlns:a="http://schemas.openxmlformats.org/drawingml/2006/main">
            <a:r>
              <a:t>- **[Sources]:** PO; TEX 3.7; PDF pp. 72–76; BR carga cognitiva.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U03-049 — ξ(x,t) asigna un estado a cada lugar y cada instante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Pronunciar “desplazamiento de partícula en la posición x y el instante t”; evitar tratar `x` como desplazamiento local. Cierre conceptual: Para describir la propagación hay que indicar dónde y cuándo se observa.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Tabla mínima de tres posiciones y tres instantes → notación `ξ(x,t)` y pregunta asociada a cada argumento. 3. Distinguir conectores de movimiento local y propagación cuando corresponda. 4. Cerrar con una sola idea: Para describir la propagación hay que indicar dónde y cuándo se observa. El esquema es conceptual y no está a escala.</a:t>
            </a:r>
          </a:p>
          <a:p xmlns:a="http://schemas.openxmlformats.org/drawingml/2006/main">
            <a:r>
              <a:t>- **Pregunta al grupo:** ¿Por qué hacen falta dos variables independientes?</a:t>
            </a:r>
          </a:p>
          <a:p xmlns:a="http://schemas.openxmlformats.org/drawingml/2006/main">
            <a:r>
              <a:t>- **Respuesta esperada:** Porque el estado puede cambiar tanto con la posición como con el tiempo.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`ξ(x,t)` como producto de `x` por `t`.</a:t>
            </a:r>
          </a:p>
          <a:p xmlns:a="http://schemas.openxmlformats.org/drawingml/2006/main">
            <a:r>
              <a:t>- **Transición oral:** “Visualizar el fenómeno completo antes de tomar cortes.”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3.7.1; PDF p. 72; NOT; INV U03-C29.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U03-050 — Un mapa espacio–tiempo muestra el avance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Recorrer primero una fila y luego una columna; no introducir aún derivadas ni ecuación de onda. Nombrar variable, ejes, unidades y escala antes de describir la forma. Cierre conceptual: Las crestas y estados de fase se desplazan con una pendiente que representa rapidez.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Las crestas y estados de fase se desplazan con una pendiente que representa rapidez.</a:t>
            </a:r>
          </a:p>
          <a:p xmlns:a="http://schemas.openxmlformats.org/drawingml/2006/main">
            <a:r>
              <a:t>- **Pregunta al grupo:** ¿Qué indican los ejes, las unidades y la escala?</a:t>
            </a:r>
          </a:p>
          <a:p xmlns:a="http://schemas.openxmlformats.org/drawingml/2006/main">
            <a:r>
              <a:t>- **Respuesta esperada:** Las crestas y estados de fase se desplazan con una pendiente que representa rapidez.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“Fijar una posición y dejar pasar el tiempo.”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3.7.1–3.7.2; figura 3.5; PDF pp. 72–74;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U03-051 — En un punto fijo leemos un registro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Nombrar qué permanece fijo y qué varía; pedir al curso que señale un período correcto. Nombrar variable, ejes, unidades y escala antes de describir la forma. Cierre conceptual: Un observador inmóvil mide repetición en el tiempo y obtiene `T` y `f`.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Un observador inmóvil mide repetición en el tiempo y obtiene `T` y `f`.</a:t>
            </a:r>
          </a:p>
          <a:p xmlns:a="http://schemas.openxmlformats.org/drawingml/2006/main">
            <a:r>
              <a:t>- **Pregunta al grupo:** ¿Qué magnitud se lee en un corte temporal?</a:t>
            </a:r>
          </a:p>
          <a:p xmlns:a="http://schemas.openxmlformats.org/drawingml/2006/main">
            <a:r>
              <a:t>- **Respuesta esperada:** El período `T`, y de él la frecuencia `f`.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“Congelar el tiempo y recorrer el espacio.”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3.7.2; PDF pp. 73–74; INV U03-R09.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U03-052 — En un instante fijo leemos un perfil espacial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Nombrar qué permanece fijo y evitar llamar “período” a una distancia. Nombrar variable, ejes, unidades y escala antes de describir la forma. Cierre conceptual: Una fotografía instantánea permite medir repetición en el espacio y obtener `λ`.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Una fotografía instantánea permite medir repetición en el espacio y obtener `λ`.</a:t>
            </a:r>
          </a:p>
          <a:p xmlns:a="http://schemas.openxmlformats.org/drawingml/2006/main">
            <a:r>
              <a:t>- **Pregunta al grupo:** ¿Qué magnitud se lee en un perfil espacial?</a:t>
            </a:r>
          </a:p>
          <a:p xmlns:a="http://schemas.openxmlformats.org/drawingml/2006/main">
            <a:r>
              <a:t>- **Respuesta esperada:** La longitud de onda `λ`.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“Comparar ambos cortes sin cambiar el fenómeno.”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3.7.2; PDF pp. 73–74; INV U03-C31.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U03-053 — Período y longitud de onda: tiempo y espacio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Hacer que cada estudiante complete verbalmente “mismo lugar, distintos instantes” y “mismo instante, distintos lugares”. Nombrar primero lo común y luego la diferencia que cambia la interpretación. Cierre conceptual: `T` es una separación temporal; `λ` es una separación espacial entre estados de fase equivalentes.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Dos gráficos coordinados con mismo código de fase → tabla de símbolo, eje, unidad y condición de lectura. 3. Distinguir conectores de movimiento local y propagación cuando corresponda. 4. Cerrar con una sola idea: `T` es una separación temporal; `λ` es una separación espacial entre estados de fase equivalentes. El esquema es conceptual y no está a escala.</a:t>
            </a:r>
          </a:p>
          <a:p xmlns:a="http://schemas.openxmlformats.org/drawingml/2006/main">
            <a:r>
              <a:t>- **Pregunta al grupo:** ¿Por qué `T` y `λ` no pueden intercambiarse?</a:t>
            </a:r>
          </a:p>
          <a:p xmlns:a="http://schemas.openxmlformats.org/drawingml/2006/main">
            <a:r>
              <a:t>- **Respuesta esperada:** Uno es tiempo en segundos y el otro distancia en metros.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confundir segundos con metros.</a:t>
            </a:r>
          </a:p>
          <a:p xmlns:a="http://schemas.openxmlformats.org/drawingml/2006/main">
            <a:r>
              <a:t>- **Transición oral:** “Definir formalmente longitud de onda.”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3.7.2; PDF pp. 73–74; CM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U03-054 — La longitud de onda mide repetición espacial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Aclarar que `λ` no es “el largo de la onda completa” ni la distancia recorrida en un tiempo arbitrario. Comenzar con el fenómeno y un contraejemplo; fijar el término después. Cierre conceptual: Se mide entre dos puntos espaciales consecutivos que están en el mismo estado de ciclo.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Se mide entre dos puntos espaciales consecutivos que están en el mismo estado de ciclo.</a:t>
            </a:r>
          </a:p>
          <a:p xmlns:a="http://schemas.openxmlformats.org/drawingml/2006/main">
            <a:r>
              <a:t>- **Pregunta al grupo:** ¿Qué condición o diferencia forma parte de esta definición?</a:t>
            </a:r>
          </a:p>
          <a:p xmlns:a="http://schemas.openxmlformats.org/drawingml/2006/main">
            <a:r>
              <a:t>- **Respuesta esperada:** Se mide entre dos puntos espaciales consecutivos que están en el mismo estado de ciclo.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“Mostrar una expresión que codifica el desplazamiento en tiempo y espacio.”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3.7.2; PDF p. 74; INV U03-C31.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U03-055 — Una expresión viajera combina fase espacial y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Leer componentes, no resolver derivaciones; dejar `k_onda` y `ω` para respaldo. Definir símbolos, unidades, signo y condiciones antes de sustituir valores. Cierre conceptual: El argumento cambia con `x` y `t`; el signo determina la dirección de avance según la convención.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`ξ(x,t)=A_ξ cos(2πft-2πx/λ+φ₀)` → grupos temporal, espacial e inicial → límites del modelo. 3. Distinguir conectores de movimiento local y propagación cuando corresponda. 4. Cerrar con una sola idea: El argumento cambia con `x` y `t`; el signo determina la dirección de avance según la convención. El esquema es conceptual y no está a escala.</a:t>
            </a:r>
          </a:p>
          <a:p xmlns:a="http://schemas.openxmlformats.org/drawingml/2006/main">
            <a:r>
              <a:t>- **Pregunta al grupo:** ¿Qué relación física expresa la ecuación y qué unidades deben ser compatibles?</a:t>
            </a:r>
          </a:p>
          <a:p xmlns:a="http://schemas.openxmlformats.org/drawingml/2006/main">
            <a:r>
              <a:t>- **Respuesta esperada:** El argumento cambia con `x` y `t`; el signo determina la dirección de avance según la convención.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dirección depende del signo espacial y de la convención adoptada.</a:t>
            </a:r>
          </a:p>
          <a:p xmlns:a="http://schemas.openxmlformats.org/drawingml/2006/main">
            <a:r>
              <a:t>- **Transición oral:** “Relacionar cuánto avanza un ciclo con cuánto dura.”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3.7.3; PDF pp. 74–75; NOT; INV U03-E08.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U03-056 — En un período la onda avanza una longitud de onda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Controlar `m·s⁻¹`; señalar que la relación no afirma que aumentar la frecuencia cambie `c` si el medio fija la rapidez. Definir símbolos, unidades, signo y condiciones antes de sustituir valores. Cierre conceptual: La rapidez de propagación enlaza repetición espacial y temporal.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Razonamiento `c=λ/T`, sustitución `f=1/T`, resultado `c=λf` → símbolos, unidades y condiciones de medio. 3. Distinguir conectores de movimiento local y propagación cuando corresponda. 4. Cerrar con una sola idea: La rapidez de propagación enlaza repetición espacial y temporal. El esquema es conceptual y no está a escala.</a:t>
            </a:r>
          </a:p>
          <a:p xmlns:a="http://schemas.openxmlformats.org/drawingml/2006/main">
            <a:r>
              <a:t>- **Pregunta al grupo:** ¿Qué distancia avanza la fase en un período?</a:t>
            </a:r>
          </a:p>
          <a:p xmlns:a="http://schemas.openxmlformats.org/drawingml/2006/main">
            <a:r>
              <a:t>- **Respuesta esperada:** Una longitud de onda.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relación no afirma que una partícula recorra `λ` en un período.</a:t>
            </a:r>
          </a:p>
          <a:p xmlns:a="http://schemas.openxmlformats.org/drawingml/2006/main">
            <a:r>
              <a:t>- **Transición oral:** “Resolver un caso acústico sencillo.”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3.7.4; PDF p. 75; NOT; INV U03-E10.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U03-057 — A 1000 Hz, una onda recorre 34 cm por ciclo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No presentar `340 m/s` como universal; enlazar con U2 y reservar dependencia ambiental para U9. Cierre conceptual: En aire a `c≈340 m/s`, una frecuencia mayor corresponde a una longitud de onda menor bajo las mismas condiciones.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Datos, despeje, sustitución, `λ=0,34 m`, conversión a cm e interpretación → condición del valor de `c`. 3. Distinguir conectores de movimiento local y propagación cuando corresponda. 4. Cerrar con una sola idea: En aire a `c≈340 m/s`, una frecuencia mayor corresponde a una longitud de onda menor bajo las mismas condiciones. El esquema es conceptual y no está a escala.</a:t>
            </a:r>
          </a:p>
          <a:p xmlns:a="http://schemas.openxmlformats.org/drawingml/2006/main">
            <a:r>
              <a:t>- **Pregunta al grupo:** ¿Qué significa físicamente `λ=0,34 m`?</a:t>
            </a:r>
          </a:p>
          <a:p xmlns:a="http://schemas.openxmlformats.org/drawingml/2006/main">
            <a:r>
              <a:t>- **Respuesta esperada:** Puntos separados 0,34 m pueden estar en el mismo estado de fase.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“Comprobar lectura y cálculo con un caso nuevo.”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ejemplo 3.7.4; PDF p. 75; U2; BR decisión U3-D06.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U03-058 — Lea T y λ; luego calcule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primero que marquen visualmente intervalos equivalentes y luego calculen; observar errores de eje. Dar tiempo individual. Resolver en el orden lectura → datos → ecuación → unidad → interpretación. Cierre conceptual: El cálculo correcto exige leer cada repetición en su eje correspondiente.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El cálculo correcto exige leer cada repetición en su eje correspondiente.</a:t>
            </a:r>
          </a:p>
          <a:p xmlns:a="http://schemas.openxmlformats.org/drawingml/2006/main">
            <a:r>
              <a:t>- **Pregunta al grupo:** ¿Qué se lee antes de calcular?</a:t>
            </a:r>
          </a:p>
          <a:p xmlns:a="http://schemas.openxmlformats.org/drawingml/2006/main">
            <a:r>
              <a:t>- **Respuesta esperada:** `T` y `λ`, cada uno en el eje correspondiente.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“Convertir el procedimiento en una regla de lectura estable.”</a:t>
            </a:r>
          </a:p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**[Sources]:** CM checkpoint; TEX ejercicios G3 y N3; PDF pp. 82–84;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U03-059 — Mismo fenómeno, dos cortes y una relación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integrar representaciones antes de agregar velocidad de partícula y fase. Reconstruir relaciones; evitar una enumeración de palabras. Cierre conceptual: `T` se lee en tiempo, `λ` en espacio y `c` conecta ambas escalas.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Mapa `ξ(x,t)` → corte temporal → corte espacial → `c=λf` → pregunta de salida del bloque. 3. Distinguir conectores de movimiento local y propagación cuando corresponda. 4. Cerrar con una sola idea: `T` se lee en tiempo, `λ` en espacio y `c` conecta ambas escalas. El esquema es conceptual y no está a escala.</a:t>
            </a:r>
          </a:p>
          <a:p xmlns:a="http://schemas.openxmlformats.org/drawingml/2006/main">
            <a:r>
              <a:t>- **Pregunta al grupo:** ¿Cómo se conectan las ideas principales del bloque?</a:t>
            </a:r>
          </a:p>
          <a:p xmlns:a="http://schemas.openxmlformats.org/drawingml/2006/main">
            <a:r>
              <a:t>- **Respuesta esperada:** `T` se lee en tiempo, `λ` en espacio y `c` conecta ambas escalas.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“Preguntar qué velocidad representa realmente `c`.”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3.7.1–3.7.4;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U03-060 — La partícula se mueve; la onda avanza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Recuperar la demostración del resorte y el mapa espacio–tiempo. Cierre conceptual: Velocidad local y velocidad de propagación responden preguntas distintas.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pregunta física organiza este bloque?</a:t>
            </a:r>
          </a:p>
          <a:p xmlns:a="http://schemas.openxmlformats.org/drawingml/2006/main">
            <a:r>
              <a:t>- **Respuesta esperada:** Velocidad local y velocidad de propagación responden preguntas distintas.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“Observar simultáneamente frente y partícula.”</a:t>
            </a:r>
          </a:p>
          <a:p xmlns:a="http://schemas.openxmlformats.org/drawingml/2006/main">
            <a:r>
              <a:t>- **Duración aproximada:** 1 min.</a:t>
            </a:r>
          </a:p>
          <a:p xmlns:a="http://schemas.openxmlformats.org/drawingml/2006/main">
            <a:r>
              <a:t>- **[Sources]:** TEX 3.7.5 y 3.8; PDF pp. 75–77.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U03-061 — Siga una partícula y siga una cresta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Pausar en extremos y cruces; evitar que la animación transversal se interprete como aire moviéndose verticalmente. Cierre conceptual: Una partícula invierte su sentido localmente mientras una cresta puede seguir avanzando.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¿La partícula y la cresta recorren la misma trayectoria?</a:t>
            </a:r>
          </a:p>
          <a:p xmlns:a="http://schemas.openxmlformats.org/drawingml/2006/main">
            <a:r>
              <a:t>- **Respuesta esperada:** No; la partícula oscila localmente y la cresta representa fase que avanza.</a:t>
            </a:r>
          </a:p>
          <a:p xmlns:a="http://schemas.openxmlformats.org/drawingml/2006/main">
            <a:r>
              <a:t>- **Demostración/audio/video/GIF:** Reproducir: MEDIA: animación propia de onda longitudinal o transversal; alternativa estática en 6 fotogramas. Mostrar primero sin narración y luego seguir la marca o el frente. Si el recurso no se reproduce, usar la secuencia estática incluida.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“Nombrar y definir ambas velocidades.”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3.7.5; PDF pp. 75–76;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U03-062 — u es movimiento local; c, propagación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Indicar que ambas usan m/s pero no son intercambiables; no introducir velocidad de grupo. Nombrar primero lo común y luego la diferencia que cambia la interpretación. Cierre conceptual: `u` cambia durante el ciclo; `c` caracteriza el avance de una fase en el medio.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Tabla de referente, dirección, variación, unidad y cómo se mide → notación conforme a la guía. 3. Distinguir conectores de movimiento local y propagación cuando corresponda. 4. Cerrar con una sola idea: `u` cambia durante el ciclo; `c` caracteriza el avance de una fase en el medio. El esquema es conceptual y no está a escala.</a:t>
            </a:r>
          </a:p>
          <a:p xmlns:a="http://schemas.openxmlformats.org/drawingml/2006/main">
            <a:r>
              <a:t>- **Pregunta al grupo:** ¿Cuál velocidad usaría para describir el avance del tono?</a:t>
            </a:r>
          </a:p>
          <a:p xmlns:a="http://schemas.openxmlformats.org/drawingml/2006/main">
            <a:r>
              <a:t>- **Respuesta esperada:** `c`, no la velocidad local `u`.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confundir velocidad local de partícula con rapidez de propagación.</a:t>
            </a:r>
          </a:p>
          <a:p xmlns:a="http://schemas.openxmlformats.org/drawingml/2006/main">
            <a:r>
              <a:t>- **Transición oral:** “Confrontar el error “más frecuencia, mayor rapidez”.”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3.7.5; PDF pp. 75–76; NOT; INV U03-C34–C35.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U03-063 — Aumentar la frecuencia no obliga a aumentar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Explicitar qué variable se mantiene; recuperar el diagnóstico inicial. Cierre conceptual: En un mismo medio, si `c` permanece aproximadamente fija, cambia `λ` cuando cambia `f`.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Error, condición del medio y comparación de dos frecuencias con longitudes de onda inversas. 3. Distinguir conectores de movimiento local y propagación cuando corresponda. 4. Cerrar con una sola idea: En un mismo medio, si `c` permanece aproximadamente fija, cambia `λ` cuando cambia `f`. El esquema es conceptual y no está a escala.</a:t>
            </a:r>
          </a:p>
          <a:p xmlns:a="http://schemas.openxmlformats.org/drawingml/2006/main">
            <a:r>
              <a:t>- **Pregunta al grupo:** Si `f` se duplica y `c` permanece constante, ¿qué ocurre con `λ`?</a:t>
            </a:r>
          </a:p>
          <a:p xmlns:a="http://schemas.openxmlformats.org/drawingml/2006/main">
            <a:r>
              <a:t>- **Respuesta esperada:** Se reduce a la mitad.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Mayor frecuencia no implica necesariamente mayor rapidez de propagación.</a:t>
            </a:r>
          </a:p>
          <a:p xmlns:a="http://schemas.openxmlformats.org/drawingml/2006/main">
            <a:r>
              <a:t>- **Transición oral:** “Volver al ciclo para comparar estados entre oscilaciones.”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3.7.4 y 3.10; PDF pp. 75, 79; U2.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U03-064 — La fase permite comparar estados de ciclo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en U03-026 fase ubicó un estado; ahora sirve para comparar dos estados. Comenzar con el fenómeno y un contraejemplo; fijar el término después. Cierre conceptual: La fase no solo ubica un oscilador: permite comparar dos señales o dos puntos de una onda.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 fase no solo ubica un oscilador: permite comparar dos señales o dos puntos de una onda.</a:t>
            </a:r>
          </a:p>
          <a:p xmlns:a="http://schemas.openxmlformats.org/drawingml/2006/main">
            <a:r>
              <a:t>- **Pregunta al grupo:** ¿Qué condición o diferencia forma parte de esta definición?</a:t>
            </a:r>
          </a:p>
          <a:p xmlns:a="http://schemas.openxmlformats.org/drawingml/2006/main">
            <a:r>
              <a:t>- **Respuesta esperada:** La fase no solo ubica un oscilador: permite comparar dos señales o dos puntos de una onda.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“Expresar la comparación como diferencia angular.”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3.8.1; PDF p. 76; INV U03-C36.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U03-065 — La diferencia de fase mide cuánto se desplaza un ciclo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Mantener una sola convención; no confundir `φ₀` con `Δφ`. Definir símbolos, unidades, signo y condiciones antes de sustituir valores. Cierre conceptual: `0`, `π/2`, `π` y `2π` representan coincidencia o desplazamientos fraccionarios del ciclo.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`Δφ=φ₂-φ₁` → correspondencia grados–radianes–fracción de ciclo → signo según orden declarado. 3. Distinguir conectores de movimiento local y propagación cuando corresponda. 4. Cerrar con una sola idea: `0`, `π/2`, `π` y `2π` representan coincidencia o desplazamientos fraccionarios del ciclo. El esquema es conceptual y no está a escala.</a:t>
            </a:r>
          </a:p>
          <a:p xmlns:a="http://schemas.openxmlformats.org/drawingml/2006/main">
            <a:r>
              <a:t>- **Pregunta al grupo:** ¿`2π` representa un estado distinto de `0`?</a:t>
            </a:r>
          </a:p>
          <a:p xmlns:a="http://schemas.openxmlformats.org/drawingml/2006/main">
            <a:r>
              <a:t>- **Respuesta esperada:** Es un ciclo completo después y corresponde a fase equivalente.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Comparar fases exige una referencia común.</a:t>
            </a:r>
          </a:p>
          <a:p xmlns:a="http://schemas.openxmlformats.org/drawingml/2006/main">
            <a:r>
              <a:t>- **Transición oral:** “Vincular fase temporal y separación espacial sin desarrollar `k_onda`.”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3.8.1; PDF pp. 76–77; NOT; INV U03-E12.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U03-066 — Separarse una longitud de onda repite la fase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Hacer la correspondencia cualitativa antes de usar fórmulas; señalar que se compara en el mismo instante. Cierre conceptual: Dos puntos separados por `λ` están en fase; por `λ/2`, en oposición de fase para una sinusoide.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Dos puntos separados por `λ` están en fase; por `λ/2`, en oposición de fase para una sinusoide.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Dos puntos separados por `λ` están en fase; por `λ/2`, en oposición de fase para una sinusoide.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“Mostrar una relación útil entre desfase y retraso.”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3.8.1; PDF pp. 76–77; INV U03-C36.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U03-067 — El retraso se vuelve fase si conocemos 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Presentar como ampliación útil; evitar llamar fase a cualquier retraso sin frecuencia. Definir símbolos, unidades, signo y condiciones antes de sustituir valores. Cierre conceptual: El mismo retraso representa distinto desfase a frecuencias diferentes.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`Δφ=2πfΔt` → unidades y dos ejemplos cualitativos con el mismo `Δt`. 3. Distinguir conectores de movimiento local y propagación cuando corresponda. 4. Cerrar con una sola idea: El mismo retraso representa distinto desfase a frecuencias diferentes. El esquema es conceptual y no está a escala.</a:t>
            </a:r>
          </a:p>
          <a:p xmlns:a="http://schemas.openxmlformats.org/drawingml/2006/main">
            <a:r>
              <a:t>- **Pregunta al grupo:** ¿Qué desfase produce un retraso de `T/4`?</a:t>
            </a:r>
          </a:p>
          <a:p xmlns:a="http://schemas.openxmlformats.org/drawingml/2006/main">
            <a:r>
              <a:t>- **Respuesta esperada:** `π/2 rad`.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“Practicar la comparación en una representación.”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3.8.1; ED; INV U03-E12.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U03-068 — ¿En fase, adelantadas o en oposición?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primero lenguaje de ciclo y luego notación angular. Escuchar una justificación antes de validar o corregir. Cierre conceptual: La comparación debe usar puntos equivalentes y una referencia declarada.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 comparación debe usar puntos equivalentes y una referencia declarada.</a:t>
            </a:r>
          </a:p>
          <a:p xmlns:a="http://schemas.openxmlformats.org/drawingml/2006/main">
            <a:r>
              <a:t>- **Pregunta al grupo:** ¿Qué evidencia física sostiene su respuesta?</a:t>
            </a:r>
          </a:p>
          <a:p xmlns:a="http://schemas.openxmlformats.org/drawingml/2006/main">
            <a:r>
              <a:t>- **Respuesta esperada:** La comparación debe usar puntos equivalentes y una referencia declarada.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“Consolidar velocidades y fase antes de sumar perturbaciones.”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ejercicios C4, G4 y R4; PDF pp. 80–83.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U03-069 — Dos preguntas evitan cuatro confusiones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transformar notación en preguntas de control verbal. Reconstruir relaciones; evitar una enumeración de palabras. Cierre conceptual: Preguntar “¿velocidad de qué?” y “¿fase respecto de qué?” evita mezclar `u`, `c`, `φ₀` y `Δφ`.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Matriz de dos preguntas con cuatro símbolos → retorno al mapa. 3. Distinguir conectores de movimiento local y propagación cuando corresponda. 4. Cerrar con una sola idea: Preguntar “¿velocidad de qué?” y “¿fase respecto de qué?” evita mezclar `u`, `c`, `φ₀` y `Δφ`. El esquema es conceptual y no está a escala.</a:t>
            </a:r>
          </a:p>
          <a:p xmlns:a="http://schemas.openxmlformats.org/drawingml/2006/main">
            <a:r>
              <a:t>- **Pregunta al grupo:** ¿Cómo se conectan las ideas principales del bloque?</a:t>
            </a:r>
          </a:p>
          <a:p xmlns:a="http://schemas.openxmlformats.org/drawingml/2006/main">
            <a:r>
              <a:t>- **Respuesta esperada:** Preguntar “¿velocidad de qué?” y “¿fase respecto de qué?” evita mezclar `u`, `c`, `φ₀` y `Δφ`.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“Plantear qué ocurre cuando dos perturbaciones llegan juntas.”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3.7.5–3.8.1; NOT;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U03-070 — Cuando dos perturbaciones coinciden, se suman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Aclarar que este bloque prepara U4–U5 y no expande todo el análisis de interferencia. Cierre conceptual: La respuesta resultante se obtiene punto a punto y en cada instante.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pregunta física organiza este bloque?</a:t>
            </a:r>
          </a:p>
          <a:p xmlns:a="http://schemas.openxmlformats.org/drawingml/2006/main">
            <a:r>
              <a:t>- **Respuesta esperada:** La respuesta resultante se obtiene punto a punto y en cada instante.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“Formular el principio con dos señales simples.”</a:t>
            </a:r>
          </a:p>
          <a:p xmlns:a="http://schemas.openxmlformats.org/drawingml/2006/main">
            <a:r>
              <a:t>- **Duración aproximada:** 1 min.</a:t>
            </a:r>
          </a:p>
          <a:p xmlns:a="http://schemas.openxmlformats.org/drawingml/2006/main">
            <a:r>
              <a:t>- **[Sources]:** TEX 3.8.2–3.8.5; PDF pp. 77–78; CCM U03-X2.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U03-071 — La superposición suma desplazamientos instantáneos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Diferenciar valor instantáneo, amplitud y percepción; no prometer validez fuera del régimen lineal. Definir símbolos, unidades, signo y condiciones antes de sustituir valores. Cierre conceptual: Se suman valores con signo, no amplitudes de forma automática.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Ecuación, lectura punto a punto y tres instantes de ejemplo → condiciones de linealidad como límite. 3. Distinguir conectores de movimiento local y propagación cuando corresponda. 4. Cerrar con una sola idea: Se suman valores con signo, no amplitudes de forma automática. El esquema es conceptual y no está a escala.</a:t>
            </a:r>
          </a:p>
          <a:p xmlns:a="http://schemas.openxmlformats.org/drawingml/2006/main">
            <a:r>
              <a:t>- **Pregunta al grupo:** ¿La superposición suma amplitudes o valores instantáneos?</a:t>
            </a:r>
          </a:p>
          <a:p xmlns:a="http://schemas.openxmlformats.org/drawingml/2006/main">
            <a:r>
              <a:t>- **Respuesta esperada:** Suma valores instantáneos punto a punto; la amplitud resultante depende de la fase.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superposición lineal suma valores instantáneos, no etiquetas globales.</a:t>
            </a:r>
          </a:p>
          <a:p xmlns:a="http://schemas.openxmlformats.org/drawingml/2006/main">
            <a:r>
              <a:t>- **Transición oral:** “Estudiar primero el caso más simple: señales en fase.”</a:t>
            </a:r>
          </a:p>
          <a:p xmlns:a="http://schemas.openxmlformats.org/drawingml/2006/main">
            <a:r>
              <a:t>- **Duración aproximada:** 5 min.</a:t>
            </a:r>
          </a:p>
          <a:p xmlns:a="http://schemas.openxmlformats.org/drawingml/2006/main">
            <a:r>
              <a:t>- **[Sources]:** TEX 3.8.2; PDF p. 77; INV U03-E13.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U03-072 — En fase, las contribuciones se refuerzan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Evitar “crear energía de la nada”; limitarse a la suma local del modelo y condiciones de las fuentes. Nombrar variable, ejes, unidades y escala antes de describir la forma. Cierre conceptual: Dos sinusoides iguales en fase producen una resultante de mayor amplitud.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Dos sinusoides iguales en fase producen una resultante de mayor amplitud.</a:t>
            </a:r>
          </a:p>
          <a:p xmlns:a="http://schemas.openxmlformats.org/drawingml/2006/main">
            <a:r>
              <a:t>- **Pregunta al grupo:** ¿Qué ocurre si los máximos coinciden?</a:t>
            </a:r>
          </a:p>
          <a:p xmlns:a="http://schemas.openxmlformats.org/drawingml/2006/main">
            <a:r>
              <a:t>- **Respuesta esperada:** Hay refuerzo; con amplitudes iguales, la amplitud resultante es `2A`.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“Contrastar con oposición de fase.”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3.8.3; PDF p. 77; figura 3.6.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U03-073 — La oposición de fase puede cancelar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Subrayar “en el punto considerado” y “condiciones ideales”; no equiparar silencio perceptual universal. Nombrar variable, ejes, unidades y escala antes de describir la forma. Cierre conceptual: La cancelación total exige misma amplitud, misma frecuencia y oposición de fase en el punto considerado.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 cancelación total exige misma amplitud, misma frecuencia y oposición de fase en el punto considerado.</a:t>
            </a:r>
          </a:p>
          <a:p xmlns:a="http://schemas.openxmlformats.org/drawingml/2006/main">
            <a:r>
              <a:t>- **Pregunta al grupo:** ¿Cuándo puede haber cancelación completa?</a:t>
            </a:r>
          </a:p>
          <a:p xmlns:a="http://schemas.openxmlformats.org/drawingml/2006/main">
            <a:r>
              <a:t>- **Respuesta esperada:** Con igual frecuencia y amplitud, oposición de fase y en el punto considerado.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cancelación completa exige condiciones simultáneas y es local.</a:t>
            </a:r>
          </a:p>
          <a:p xmlns:a="http://schemas.openxmlformats.org/drawingml/2006/main">
            <a:r>
              <a:t>- **Transición oral:** “Explorar el caso general de desfase intermedio.”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3.8.3–3.8.4; PDF pp. 77–78; INV U03-C39.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U03-074 — El desfase intermedio produce suma parcial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Leer patrones cualitativos y reservar la fórmula de amplitud resultante para respaldo. Nombrar variable, ejes, unidades y escala antes de describir la forma. Cierre conceptual: La amplitud resultante depende continuamente de `Δφ`.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 amplitud resultante depende continuamente de `Δφ`.</a:t>
            </a:r>
          </a:p>
          <a:p xmlns:a="http://schemas.openxmlformats.org/drawingml/2006/main">
            <a:r>
              <a:t>- **Pregunta al grupo:** ¿Qué indican los ejes, las unidades y la escala?</a:t>
            </a:r>
          </a:p>
          <a:p xmlns:a="http://schemas.openxmlformats.org/drawingml/2006/main">
            <a:r>
              <a:t>- **Respuesta esperada:** La amplitud resultante depende continuamente de `Δφ`.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“Comprobar predicción antes de aplicar.”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3.8.3; PDF p. 77; INV U03-C38.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U03-075 — Antes de sumar, prediga la resultante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una razón basada en fase y amplitud; revelar después la suma. Escuchar una justificación antes de validar o corregir. Cierre conceptual: La predicción cualitativa debe preceder al cálculo o al gráfico.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 predicción cualitativa debe preceder al cálculo o al gráfico.</a:t>
            </a:r>
          </a:p>
          <a:p xmlns:a="http://schemas.openxmlformats.org/drawingml/2006/main">
            <a:r>
              <a:t>- **Pregunta al grupo:** ¿Qué evidencia física sostiene su respuesta?</a:t>
            </a:r>
          </a:p>
          <a:p xmlns:a="http://schemas.openxmlformats.org/drawingml/2006/main">
            <a:r>
              <a:t>- **Respuesta esperada:** La predicción cualitativa debe preceder al cálculo o al gráfico.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“Llevar el principio a una aplicación tecnológica con límites.”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ejercicios C5 y G4; PDF pp. 80–82;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U03-076 — La cancelación activa exige 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Distinguir principio físico de eficacia práctica; no usar “elimina todo el ruido”. Separar utilidad física, condiciones del modelo y límite clínico. Cierre conceptual: Una señal opuesta puede reducir presión en una región, pero el resultado depende de fase, amplitud, frecuencia, geometría y posición.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Cadena sensor–control–fuente secundaria–zona de reducción → lista breve de límites. 3. Distinguir conectores de movimiento local y propagación cuando corresponda. 4. Cerrar con una sola idea: Una señal opuesta puede reducir presión en una región, pero el resultado depende de fase, amplitud, frecuencia, geometría y posición. El esquema es conceptual y no está a escala.</a:t>
            </a:r>
          </a:p>
          <a:p xmlns:a="http://schemas.openxmlformats.org/drawingml/2006/main">
            <a:r>
              <a:t>- **Pregunta al grupo:** ¿La cancelación activa produce silencio en toda una sala?</a:t>
            </a:r>
          </a:p>
          <a:p xmlns:a="http://schemas.openxmlformats.org/drawingml/2006/main">
            <a:r>
              <a:t>- **Respuesta esperada:** No; depende de posición, geometría y control de amplitud y fase.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Evitar prometer cancelación perfecta en todo el espacio.</a:t>
            </a:r>
          </a:p>
          <a:p xmlns:a="http://schemas.openxmlformats.org/drawingml/2006/main">
            <a:r>
              <a:t>- **Transición oral:** “Recuperar una aplicación biológica directa.”</a:t>
            </a:r>
          </a:p>
          <a:p xmlns:a="http://schemas.openxmlformats.org/drawingml/2006/main">
            <a:r>
              <a:t>- **Duración aproximada:** 3–5 min si se selecciona.</a:t>
            </a:r>
          </a:p>
          <a:p xmlns:a="http://schemas.openxmlformats.org/drawingml/2006/main">
            <a:r>
              <a:t>- **[Sources]:** TEX 3.8.5; PDF p. 78; INV U03-A06.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U03-077 — En el oído y la voz también coinciden perturbaciones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Mantener la afirmación en nivel de superposición; no explicar resonancias, filtros ni percepción compleja. Separar utilidad física, condiciones del modelo y límite clínico. Cierre conceptual: Las estructuras reciben combinaciones de perturbaciones; identificar componentes exige herramientas posteriores.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Dos contextos: sonidos simultáneos en el oído y contribuciones en el tracto vocal → límite “análisis frecuencial en U5”. 3. Distinguir conectores de movimiento local y propagación cuando corresponda. 4. Cerrar con una sola idea: Las estructuras reciben combinaciones de perturbaciones; identificar componentes exige herramientas posteriores. El esquema es conceptual y no está a escala.</a:t>
            </a:r>
          </a:p>
          <a:p xmlns:a="http://schemas.openxmlformats.org/drawingml/2006/main">
            <a:r>
              <a:t>- **Pregunta al grupo:** ¿Qué permite afirmar el modelo y qué queda fuera de su alcance?</a:t>
            </a:r>
          </a:p>
          <a:p xmlns:a="http://schemas.openxmlformats.org/drawingml/2006/main">
            <a:r>
              <a:t>- **Respuesta esperada:** Las estructuras reciben combinaciones de perturbaciones; identificar componentes exige herramientas posteriores.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“Cerrar el bloque con una síntesis de condiciones.”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3.9.1–3.9.2; PDF pp. 78–79;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U03-078 — Sumar no significa sumar amplitudes sin mirar la fase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pedagógica: pasar de gráficos particulares a un procedimiento general; evitar repetir los tres casos completos. Reconstruir relaciones; evitar una enumeración de palabras. Cierre conceptual: Valor instantáneo, amplitud, fase y lugar de observación determinan la resultante.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Cuatro reglas y una pregunta de transferencia a cancelación activa. 3. Distinguir conectores de movimiento local y propagación cuando corresponda. 4. Cerrar con una sola idea: Valor instantáneo, amplitud, fase y lugar de observación determinan la resultante. El esquema es conceptual y no está a escala.</a:t>
            </a:r>
          </a:p>
          <a:p xmlns:a="http://schemas.openxmlformats.org/drawingml/2006/main">
            <a:r>
              <a:t>- **Pregunta al grupo:** ¿Cómo se conectan las ideas principales del bloque?</a:t>
            </a:r>
          </a:p>
          <a:p xmlns:a="http://schemas.openxmlformats.org/drawingml/2006/main">
            <a:r>
              <a:t>- **Respuesta esperada:** Valor instantáneo, amplitud, fase y lugar de observación determinan la resultante.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“Integrar la unidad desde producción hasta recepción.”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TEX 3.8; PDF pp. 76–78.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U03-079 — Producción, propagación y recepción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Pedir que el curso nombre qué oscila y qué se propaga en cada tramo; declarar límites de los modelos. Separar utilidad física, condiciones del modelo y límite clínico. Cierre conceptual: En cada etapa cambian sistema y variable, pero amplitud, frecuencia, fase y propagación siguen siendo herramientas de descripción.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Pliegues vocales o parlante → medio → oído/micrófono → variable local, variable propagada y medición. 3. Distinguir conectores de movimiento local y propagación cuando corresponda. 4. Cerrar con una sola idea: En cada etapa cambian sistema y variable, pero amplitud, frecuencia, fase y propagación siguen siendo herramientas de descripción. El esquema es conceptual y no está a escala.</a:t>
            </a:r>
          </a:p>
          <a:p xmlns:a="http://schemas.openxmlformats.org/drawingml/2006/main">
            <a:r>
              <a:t>- **Pregunta al grupo:** ¿Qué permite afirmar el modelo y qué queda fuera de su alcance?</a:t>
            </a:r>
          </a:p>
          <a:p xmlns:a="http://schemas.openxmlformats.org/drawingml/2006/main">
            <a:r>
              <a:t>- **Respuesta esperada:** En cada etapa cambian sistema y variable, pero amplitud, frecuencia, fase y propagación siguen siendo herramientas de descripción.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“Resolver un caso integrador con evidencia.”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3.9; PDF pp. 77–79; BR aplicaciones.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U03-080 — Caso integrador: de la señal al punto de observación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Dar 5–7 minutos en parejas; pedir justificar ejes y unidades; solución ampliada en U03-095. Dar tiempo individual. Resolver en el orden lectura → datos → ecuación → unidad → interpretación. Cierre conceptual: Una descripción completa identifica variable, sistema, `f`, `T`, `λ`, fase y condición del medio.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Caso de parlante a 500 Hz, registro temporal y perfil espacial → cinco preguntas encadenadas, sin solución visible. 3. Distinguir conectores de movimiento local y propagación cuando corresponda. 4. Cerrar con una sola idea: Una descripción completa identifica variable, sistema, `f`, `T`, `λ`, fase y condición del medio. El esquema es conceptual y no está a escala.</a:t>
            </a:r>
          </a:p>
          <a:p xmlns:a="http://schemas.openxmlformats.org/drawingml/2006/main">
            <a:r>
              <a:t>- **Pregunta al grupo:** ¿Qué dato adicional hace falta para calcular `λ`?</a:t>
            </a:r>
          </a:p>
          <a:p xmlns:a="http://schemas.openxmlformats.org/drawingml/2006/main">
            <a:r>
              <a:t>- **Respuesta esperada:** La rapidez de propagación `c` o las condiciones del medio que la determinan.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calcular `λ` sin declarar `c` o las condiciones del medio.</a:t>
            </a:r>
          </a:p>
          <a:p xmlns:a="http://schemas.openxmlformats.org/drawingml/2006/main">
            <a:r>
              <a:t>- **Transición oral:** “Comparar la resolución con el mapa conceptual final.”</a:t>
            </a:r>
          </a:p>
          <a:p xmlns:a="http://schemas.openxmlformats.org/drawingml/2006/main">
            <a:r>
              <a:t>- **Duración aproximada:** 6 min.</a:t>
            </a:r>
          </a:p>
          <a:p xmlns:a="http://schemas.openxmlformats.org/drawingml/2006/main">
            <a:r>
              <a:t>- **[Sources]:** TEX ejercicio integrador; PDF pp. 84–85; CM;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U03-081 — De la fuerza restauradora a la onda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Recorrer el mapa usando una sola frase por conexión; no volver a enseñar cada definición. Reconstruir relaciones; evitar una enumeración de palabras. Cierre conceptual: El oscilador genera cambios locales; el medio transmite la perturbación; las representaciones permiten medirla e interpretarla.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Mapa final: equilibrio → MAS → parámetros → tono → parlante → onda → cortes → fase/suma → aplicación. 3. Distinguir conectores de movimiento local y propagación cuando corresponda. 4. Cerrar con una sola idea: El oscilador genera cambios locales; el medio transmite la perturbación; las representaciones permiten medirla e interpretarla. El esquema es conceptual y no está a escala.</a:t>
            </a:r>
          </a:p>
          <a:p xmlns:a="http://schemas.openxmlformats.org/drawingml/2006/main">
            <a:r>
              <a:t>- **Pregunta al grupo:** ¿Cómo se conectan las ideas principales del bloque?</a:t>
            </a:r>
          </a:p>
          <a:p xmlns:a="http://schemas.openxmlformats.org/drawingml/2006/main">
            <a:r>
              <a:t>- **Respuesta esperada:** El oscilador genera cambios locales; el medio transmite la perturbación; las representaciones permiten medirla e interpretarla.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“Verificar los errores del diagnóstico inicial.”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PO; TEX 3.11; PDF pp. 80; CM; CDM.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U03-082 — Cuatro afirmaciones, ahora con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Repetición pedagógica deliberada: mismo estímulo para comparar razonamiento inicial y final; no añadir ítems nuevos. Escuchar una justificación antes de validar o corregir. Cierre conceptual: Las respuestas finales deben justificarse con modelo, representación o condición física.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cambió entre la primera respuesta y la final?</a:t>
            </a:r>
          </a:p>
          <a:p xmlns:a="http://schemas.openxmlformats.org/drawingml/2006/main">
            <a:r>
              <a:t>- **Respuesta esperada:** La respuesta final distingue variable, medio, propagación, escala y condiciones.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“Cerrar con el puente a las próximas unidades.”</a:t>
            </a:r>
          </a:p>
          <a:p xmlns:a="http://schemas.openxmlformats.org/drawingml/2006/main">
            <a:r>
              <a:t>- **Duración aproximada:** 4 min.</a:t>
            </a:r>
          </a:p>
          <a:p xmlns:a="http://schemas.openxmlformats.org/drawingml/2006/main">
            <a:r>
              <a:t>- **[Sources]:** TEX 3.10; PDF pp. 79–80; INV errores.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U03-083 — Describimos la onda; ahora mediremos el sonido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Recoger una respuesta breve: “¿qué dato falta para pasar de una curva normalizada a una presión física?”. Cierre conceptual: La mecánica ondulatoria entrega el lenguaje; las próximas unidades cuantifican magnitudes acústicas y separan componentes frecuenciales.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¿Qué falta para convertir una forma normalizada en una magnitud acústica?</a:t>
            </a:r>
          </a:p>
          <a:p xmlns:a="http://schemas.openxmlformats.org/drawingml/2006/main">
            <a:r>
              <a:t>- **Respuesta esperada:** Variable, unidad, escala, calibración y referencia.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“Final de la ruta principal; el respaldo queda para consulta.”</a:t>
            </a:r>
          </a:p>
          <a:p xmlns:a="http://schemas.openxmlformats.org/drawingml/2006/main">
            <a:r>
              <a:t>- **Duración aproximada:** 3 min.</a:t>
            </a:r>
          </a:p>
          <a:p xmlns:a="http://schemas.openxmlformats.org/drawingml/2006/main">
            <a:r>
              <a:t>- **[Sources]:** CM; CDM; TEX 3.11; PDF p. 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U03-084 — Recordatorio trigonométrico para leer sinusoides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Usar solo ante dudas; no transformar la unidad en una clase de trigonometría. Cierre conceptual: La equivalencia `2π rad = 360° = 1 ciclo` organiza la fase.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Círculo unitario mínimo, valores notables y correspondencia con una sinusoide. 3. Distinguir conectores de movimiento local y propagación cuando corresponda. 4. Cerrar con una sola idea: La equivalencia `2π rad = 360° = 1 ciclo` organiza la fase. El esquema es conceptual y no está a escala.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La equivalencia `2π rad = 360° = 1 ciclo` organiza la fase.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“Volver a la slide que requirió el recordatorio.”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3.2 y apéndice implícito; CDM; U1.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U03-085 — Frecuencia angular: otra forma de contar el ciclo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Mantener `ω` como formalismo de consulta; no reemplazar `f` en la ruta principal. Definir símbolos, unidades, signo y condiciones antes de sustituir valores. Cierre conceptual: `ω=2πf=2π/T` expresa radianes de fase por segundo.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Ecuaciones, unidad `rad/s`, relación con `f` y un ejemplo breve. 3. Distinguir conectores de movimiento local y propagación cuando corresponda. 4. Cerrar con una sola idea: `ω=2πf=2π/T` expresa radianes de fase por segundo. El esquema es conceptual y no está a escala.</a:t>
            </a:r>
          </a:p>
          <a:p xmlns:a="http://schemas.openxmlformats.org/drawingml/2006/main">
            <a:r>
              <a:t>- **Pregunta al grupo:** ¿Qué unidad distingue a `ω` de `f`?</a:t>
            </a:r>
          </a:p>
          <a:p xmlns:a="http://schemas.openxmlformats.org/drawingml/2006/main">
            <a:r>
              <a:t>- **Respuesta esperada:** `ω` se expresa en rad/s y `f` en Hz.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confundir hertz con radianes por segundo.</a:t>
            </a:r>
          </a:p>
          <a:p xmlns:a="http://schemas.openxmlformats.org/drawingml/2006/main">
            <a:r>
              <a:t>- **Transición oral:** “Regresar a la expresión temporal o profundizar la dinámica del MAS.”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3.4.2; PDF p. 66; NOT; CCM U03-X1.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U03-086 — Masa y elasticidad fijan la frecuencia ideal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Conectar con U2 y advertir que sistemas biológicos reales incluyen amortiguamiento, geometría y excitación. Definir símbolos, unidades, signo y condiciones antes de sustituir valores. Cierre conceptual: Mayor rigidez eleva la frecuencia natural; mayor masa la reduce, en el modelo ideal.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Relación, símbolos, unidades y dos comparaciones cualitativas → hipótesis del MAS. 3. Distinguir conectores de movimiento local y propagación cuando corresponda. 4. Cerrar con una sola idea: Mayor rigidez eleva la frecuencia natural; mayor masa la reduce, en el modelo ideal. El esquema es conceptual y no está a escala.</a:t>
            </a:r>
          </a:p>
          <a:p xmlns:a="http://schemas.openxmlformats.org/drawingml/2006/main">
            <a:r>
              <a:t>- **Pregunta al grupo:** ¿Cómo cambia `ω` si aumenta la masa y `k_s` permanece fija?</a:t>
            </a:r>
          </a:p>
          <a:p xmlns:a="http://schemas.openxmlformats.org/drawingml/2006/main">
            <a:r>
              <a:t>- **Respuesta esperada:** Disminuye como la raíz inversa de la masa.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fórmula corresponde al modelo ideal no amortiguado.</a:t>
            </a:r>
          </a:p>
          <a:p xmlns:a="http://schemas.openxmlformats.org/drawingml/2006/main">
            <a:r>
              <a:t>- **Transición oral:** “Volver al modelo o consultar cinemática completa.”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3.4.1; PDF p. 66; NOT; INV U03-E03.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U03-087 — Soluciones del diagnóstico inicial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No mostrar antes de U03-082; usar para discusión posterior o estudio autónomo. Cierre conceptual: Cada corrección requiere nombrar la condición física que invalida la afirmación.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Cada corrección requiere nombrar la condición física que invalida la afirmación.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“Retornar al bloque correspondiente según el error.”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3.5, 3.7.4 y 3.10; PDF pp. 69, 75, 79–80.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U03-088 — Posición, velocidad y aceleración del MAS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Responder preguntas avanzadas y sostener estudio autónomo; no exigir memorización en la ruta central. Definir símbolos, unidades, signo y condiciones antes de sustituir valores. Cierre conceptual: Las tres variables comparten frecuencia y presentan relaciones de fase específicas.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`x(t)`, `v(t)` y `a(t)` con amplitudes, unidades y correspondencia con el gráfico U03-033. 3. Distinguir conectores de movimiento local y propagación cuando corresponda. 4. Cerrar con una sola idea: Las tres variables comparten frecuencia y presentan relaciones de fase específicas. El esquema es conceptual y no está a escala.</a:t>
            </a:r>
          </a:p>
          <a:p xmlns:a="http://schemas.openxmlformats.org/drawingml/2006/main">
            <a:r>
              <a:t>- **Pregunta al grupo:** ¿Qué relación física expresa la ecuación y qué unidades deben ser compatibles?</a:t>
            </a:r>
          </a:p>
          <a:p xmlns:a="http://schemas.openxmlformats.org/drawingml/2006/main">
            <a:r>
              <a:t>- **Respuesta esperada:** Las tres variables comparten frecuencia y presentan relaciones de fase específicas.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“Regresar a lectura cualitativa o profundizar onda viajera.”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3.4.4; PDF pp. 67–68; NOT; INV U03-E05–E07.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U03-089 — Número de onda: fase acumulada por distancia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Aplicar la notación oficial del repositorio; señalar por qué el subíndice es obligatorio. Definir símbolos, unidades, signo y condiciones antes de sustituir valores. Cierre conceptual: `k_onda=2π/λ` mide cambio de fase espacial y no es la constante del resorte.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Ecuación, unidad `rad/m`, comparación explícita `k_s` frente a `k_onda` y ejemplo mínimo. 3. Distinguir conectores de movimiento local y propagación cuando corresponda. 4. Cerrar con una sola idea: `k_onda=2π/λ` mide cambio de fase espacial y no es la constante del resorte. El esquema es conceptual y no está a escala.</a:t>
            </a:r>
          </a:p>
          <a:p xmlns:a="http://schemas.openxmlformats.org/drawingml/2006/main">
            <a:r>
              <a:t>- **Pregunta al grupo:** ¿Por qué no conviene escribir ambos parámetros como `k`?</a:t>
            </a:r>
          </a:p>
          <a:p xmlns:a="http://schemas.openxmlformats.org/drawingml/2006/main">
            <a:r>
              <a:t>- **Respuesta esperada:** Porque describen magnitudes distintas y tienen unidades distintas.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`k_onda` y `k_s` no son intercambiables.</a:t>
            </a:r>
          </a:p>
          <a:p xmlns:a="http://schemas.openxmlformats.org/drawingml/2006/main">
            <a:r>
              <a:t>- **Transición oral:** “Reescribir la onda viajera en forma compacta.”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3.7.3; PDF p. 74; NOT; CCM U03-X1.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U03-090 — Forma compacta de la onda viajera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Usar para lectura del libro o continuidad académica, no como nuevo requisito de cálculo. Definir símbolos, unidades, signo y condiciones antes de sustituir valores. Cierre conceptual: `ξ=A_ξ cos(ωt-k_onda x+φ₀)` es equivalente a la forma con `f` y `λ`.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Ambas expresiones en paralelo, correspondencias `ω=2πf`, `k_onda=2π/λ` y dirección según signo. 3. Distinguir conectores de movimiento local y propagación cuando corresponda. 4. Cerrar con una sola idea: `ξ=A_ξ cos(ωt-k_onda x+φ₀)` es equivalente a la forma con `f` y `λ`. El esquema es conceptual y no está a escala.</a:t>
            </a:r>
          </a:p>
          <a:p xmlns:a="http://schemas.openxmlformats.org/drawingml/2006/main">
            <a:r>
              <a:t>- **Pregunta al grupo:** ¿Qué relación física expresa la ecuación y qué unidades deben ser compatibles?</a:t>
            </a:r>
          </a:p>
          <a:p xmlns:a="http://schemas.openxmlformats.org/drawingml/2006/main">
            <a:r>
              <a:t>- **Respuesta esperada:** `ξ=A_ξ cos(ωt-k_onda x+φ₀)` es equivalente a la forma con `f` y `λ`.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“Regresar al bloque B05 o consultar relación de rapidez.”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3.7.3; PDF pp. 74–75;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U03-091 — c=ω/k_onda expresa la misma rapidez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Evitar manipulación simbólica sin interpretación; pedir que identifiquen qué depende del medio. Definir símbolos, unidades, signo y condiciones antes de sustituir valores. Cierre conceptual: La forma angular no agrega otra velocidad; reexpresa `c=λf`.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Sustitución en un renglón, unidades y equivalencia con `λf`. 3. Distinguir conectores de movimiento local y propagación cuando corresponda. 4. Cerrar con una sola idea: La forma angular no agrega otra velocidad; reexpresa `c=λf`. El esquema es conceptual y no está a escala.</a:t>
            </a:r>
          </a:p>
          <a:p xmlns:a="http://schemas.openxmlformats.org/drawingml/2006/main">
            <a:r>
              <a:t>- **Pregunta al grupo:** ¿Qué factor se cancela al demostrar la equivalencia?</a:t>
            </a:r>
          </a:p>
          <a:p xmlns:a="http://schemas.openxmlformats.org/drawingml/2006/main">
            <a:r>
              <a:t>- **Respuesta esperada:** `2π`.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leer el esquema como representación anatómica o geométrica a escala.</a:t>
            </a:r>
          </a:p>
          <a:p xmlns:a="http://schemas.openxmlformats.org/drawingml/2006/main">
            <a:r>
              <a:t>- **Transición oral:** “Volver a rapidez de propagación o pasar a superposición.”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3.7.4; PDF p. 75;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U03-092 — Amplitud resultante de dos sinusoides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Presentar solo si el grupo necesita formalización; no desplazar la lectura gráfica central. Definir símbolos, unidades, signo y condiciones antes de sustituir valores. Cierre conceptual: La amplitud resultante depende de ambas amplitudes y de `cos(Δφ)`.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`A_R=√(A₁²+A₂²+2A₁A₂ cosΔφ)` → comprobación de casos `0` y `π` → condiciones. 3. Distinguir conectores de movimiento local y propagación cuando corresponda. 4. Cerrar con una sola idea: La amplitud resultante depende de ambas amplitudes y de `cos(Δφ)`. El esquema es conceptual y no está a escala.</a:t>
            </a:r>
          </a:p>
          <a:p xmlns:a="http://schemas.openxmlformats.org/drawingml/2006/main">
            <a:r>
              <a:t>- **Pregunta al grupo:** ¿Qué resultados se obtienen para `Δφ=0` y `π` con amplitudes iguales?</a:t>
            </a:r>
          </a:p>
          <a:p xmlns:a="http://schemas.openxmlformats.org/drawingml/2006/main">
            <a:r>
              <a:t>- **Respuesta esperada:** `2A` y `0`, respectivamente.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La fórmula supone sinusoides coherentes de igual frecuencia en el punto comparado.</a:t>
            </a:r>
          </a:p>
          <a:p xmlns:a="http://schemas.openxmlformats.org/drawingml/2006/main">
            <a:r>
              <a:t>- **Transición oral:** “Regresar a interferencia o usar el gráfico paramétrico siguiente.”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3.8.3; PDF p. 77; INV U03-E14.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U03-093 — Cómo cambia la amplitud resultante con la fase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Conectar la curva con U03-072–074; no extender a coherencia temporal o espacial. Nombrar variable, ejes, unidades y escala antes de describir la forma. Cierre conceptual: La transición entre refuerzo y cancelación es continua.</a:t>
            </a:r>
          </a:p>
          <a:p xmlns:a="http://schemas.openxmlformats.org/drawingml/2006/main">
            <a:r>
              <a:t>- **Guía del visual/diagrama:** 1. Nombrar ejes, variable, unidad y escala. 2. Leer los puntos o intervalos señalados. 3. Formular la conclusión sin extenderla más allá del modelo: La transición entre refuerzo y cancelación es continua.</a:t>
            </a:r>
          </a:p>
          <a:p xmlns:a="http://schemas.openxmlformats.org/drawingml/2006/main">
            <a:r>
              <a:t>- **Pregunta al grupo:** ¿Qué indican los ejes, las unidades y la escala?</a:t>
            </a:r>
          </a:p>
          <a:p xmlns:a="http://schemas.openxmlformats.org/drawingml/2006/main">
            <a:r>
              <a:t>- **Respuesta esperada:** La transición entre refuerzo y cancelación es continua.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presentar curvas del modelo como datos medidos; explicitar ejes, unidades y escala.</a:t>
            </a:r>
          </a:p>
          <a:p xmlns:a="http://schemas.openxmlformats.org/drawingml/2006/main">
            <a:r>
              <a:t>- **Transición oral:** “Volver a la comparación cualitativa.”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3.8.3; ED derivada de U03-E14.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U03-094 — Solución del ejercicio de tiempo y espacio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Mostrar el orden de decisión, no solo el resultado numérico. Cierre conceptual: Cada magnitud se obtiene de su eje antes de usar `c=λf`.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Marcas correctas de `T` y `λ`, cálculo de `f` y `c`, unidades y dos errores típicos. 3. Distinguir conectores de movimiento local y propagación cuando corresponda. 4. Cerrar con una sola idea: Cada magnitud se obtiene de su eje antes de usar `c=λf`. El esquema es conceptual y no está a escala.</a:t>
            </a:r>
          </a:p>
          <a:p xmlns:a="http://schemas.openxmlformats.org/drawingml/2006/main">
            <a:r>
              <a:t>- **Pregunta al grupo:** ¿Cuál es el primer dato que debe leerse en cada gráfico?</a:t>
            </a:r>
          </a:p>
          <a:p xmlns:a="http://schemas.openxmlformats.org/drawingml/2006/main">
            <a:r>
              <a:t>- **Respuesta esperada:** `T` en el temporal y `λ` en el espacial; después se calculan `f` y `c`.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No mezclar el eje temporal con el espacial ni omitir la conversión de ms a s.</a:t>
            </a:r>
          </a:p>
          <a:p xmlns:a="http://schemas.openxmlformats.org/drawingml/2006/main">
            <a:r>
              <a:t>- **Transición oral:** “Volver a B05 o continuar al caso integrador.”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CM; TEX ejercicios G3 y N3;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U03-095 — Solución del caso integrador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Reservar para devolución posterior; no usar como lectura pasiva inmediata. Cierre conceptual: Una respuesta sólida combina mecanismo, variable, representación, cálculo y límites.</a:t>
            </a:r>
          </a:p>
          <a:p xmlns:a="http://schemas.openxmlformats.org/drawingml/2006/main">
            <a:r>
              <a:t>- **Guía del visual/diagrama:** 1. Señalar el objeto, sistema o ecuación central. 2. Recorrer el esquema en este orden: Cinco pasos que corresponden a U03-080 → resultados y justificaciones breves. 3. Distinguir conectores de movimiento local y propagación cuando corresponda. 4. Cerrar con una sola idea: Una respuesta sólida combina mecanismo, variable, representación, cálculo y límites. El esquema es conceptual y no está a escala.</a:t>
            </a:r>
          </a:p>
          <a:p xmlns:a="http://schemas.openxmlformats.org/drawingml/2006/main">
            <a:r>
              <a:t>- **Pregunta al grupo:** ¿Qué límite evita convertir el modelo en una conclusión clínica?</a:t>
            </a:r>
          </a:p>
          <a:p xmlns:a="http://schemas.openxmlformats.org/drawingml/2006/main">
            <a:r>
              <a:t>- **Respuesta esperada:** No se conocen nivel, calibración, anatomía individual ni respuesta perceptual.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El caso no determina nivel ni respuesta auditiva individual.</a:t>
            </a:r>
          </a:p>
          <a:p xmlns:a="http://schemas.openxmlformats.org/drawingml/2006/main">
            <a:r>
              <a:t>- **Transición oral:** “Retornar al mapa final y objetivos.”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TEX ejercicio integrador; PDF pp. 84–85;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U03-096 — Notación, glosario y fuentes de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**Explicación extendida:** Usar como control de consistencia durante producción y como consulta del estudiante. Cierre conceptual: Símbolos y términos deben conservar significado estable entre unidades.</a:t>
            </a:r>
          </a:p>
          <a:p xmlns:a="http://schemas.openxmlformats.org/drawingml/2006/main">
            <a:r>
              <a:t>- **Guía del visual/diagrama:** —</a:t>
            </a:r>
          </a:p>
          <a:p xmlns:a="http://schemas.openxmlformats.org/drawingml/2006/main">
            <a:r>
              <a:t>- **Pregunta al grupo:** ¿Cómo justificaría la idea central con variables, unidades o relaciones físicas?</a:t>
            </a:r>
          </a:p>
          <a:p xmlns:a="http://schemas.openxmlformats.org/drawingml/2006/main">
            <a:r>
              <a:t>- **Respuesta esperada:** Símbolos y términos deben conservar significado estable entre unidades.</a:t>
            </a:r>
          </a:p>
          <a:p xmlns:a="http://schemas.openxmlformats.org/drawingml/2006/main">
            <a:r>
              <a:t>- **Demostración/audio/video/GIF:** —</a:t>
            </a:r>
          </a:p>
          <a:p xmlns:a="http://schemas.openxmlformats.org/drawingml/2006/main">
            <a:r>
              <a:t>- **Error frecuente o énfasis:** Mantener consistentes variable, referencia, signo y unidad.</a:t>
            </a:r>
          </a:p>
          <a:p xmlns:a="http://schemas.openxmlformats.org/drawingml/2006/main">
            <a:r>
              <a:t>- **Transición oral:** “Fin del respaldo.”</a:t>
            </a:r>
          </a:p>
          <a:p xmlns:a="http://schemas.openxmlformats.org/drawingml/2006/main">
            <a:r>
              <a:t>- **Duración aproximada:** A demanda.</a:t>
            </a:r>
          </a:p>
          <a:p xmlns:a="http://schemas.openxmlformats.org/drawingml/2006/main">
            <a:r>
              <a:t>- **[Sources]:** PO; TEX 3; PDF pp. 61–88; NOT; GLO; CCM.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f848273a24d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c8678763046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fd24b6a5549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c89105e544f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dc0b92cda46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04f25afa042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15dc879a0400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cc8fe0f7b456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e35df21764d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0bf3be76846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807dfd7a9411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4b06dd59d49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383aa13624a1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f34b84806452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37e1717fa418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4945eef9545d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1231d7d2c47d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7efdd9ba140f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05907ced242b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dea81dd7545d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35252ffa146b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35930f13a4be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a3283d699486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33fbb48114c26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f118caa3fa4ec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2b97917954416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33526e4a4f4667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c97ceb201514af2" /><Relationship Type="http://schemas.openxmlformats.org/officeDocument/2006/relationships/theme" Target="/ppt/slideMasters/theme/theme2.xml" Id="R5121712034da45fe" /><Relationship Type="http://schemas.openxmlformats.org/officeDocument/2006/relationships/slideLayout" Target="/ppt/slideLayouts/slideLayout1.xml" Id="Re35173e862c64cac" /><Relationship Type="http://schemas.openxmlformats.org/officeDocument/2006/relationships/slideLayout" Target="/ppt/slideLayouts/slideLayout2.xml" Id="Rad03ec9e478e4f2d" /><Relationship Type="http://schemas.openxmlformats.org/officeDocument/2006/relationships/slideLayout" Target="/ppt/slideLayouts/slideLayout3.xml" Id="R14645262ff2d41a5" /><Relationship Type="http://schemas.openxmlformats.org/officeDocument/2006/relationships/slideLayout" Target="/ppt/slideLayouts/slideLayout4.xml" Id="R5eb6afac42224eeb" /><Relationship Type="http://schemas.openxmlformats.org/officeDocument/2006/relationships/slideLayout" Target="/ppt/slideLayouts/slideLayout5.xml" Id="R02a8b390e17a4665" /><Relationship Type="http://schemas.openxmlformats.org/officeDocument/2006/relationships/slideLayout" Target="/ppt/slideLayouts/slideLayout6.xml" Id="Rb11f44d6755347b7" /><Relationship Type="http://schemas.openxmlformats.org/officeDocument/2006/relationships/slideLayout" Target="/ppt/slideLayouts/slideLayout7.xml" Id="R4a26aeb93dbb4f5a" /><Relationship Type="http://schemas.openxmlformats.org/officeDocument/2006/relationships/slideLayout" Target="/ppt/slideLayouts/slideLayout8.xml" Id="R6acf9cd75c944d72" /><Relationship Type="http://schemas.openxmlformats.org/officeDocument/2006/relationships/slideLayout" Target="/ppt/slideLayouts/slideLayout9.xml" Id="R0495269562c24901" /><Relationship Type="http://schemas.openxmlformats.org/officeDocument/2006/relationships/slideLayout" Target="/ppt/slideLayouts/slideLayout10.xml" Id="Rf0b93ea1614a4ef4" /><Relationship Type="http://schemas.openxmlformats.org/officeDocument/2006/relationships/slideLayout" Target="/ppt/slideLayouts/slideLayout11.xml" Id="R06a666e5429a49e7" /><Relationship Type="http://schemas.openxmlformats.org/officeDocument/2006/relationships/slideLayout" Target="/ppt/slideLayouts/slideLayout12.xml" Id="Rb2e856681cb741d1" /><Relationship Type="http://schemas.openxmlformats.org/officeDocument/2006/relationships/slideLayout" Target="/ppt/slideLayouts/slideLayout13.xml" Id="R0a0c50ea21234a06" /><Relationship Type="http://schemas.openxmlformats.org/officeDocument/2006/relationships/slideLayout" Target="/ppt/slideLayouts/slideLayout14.xml" Id="Rf8a9d69982b94121" /><Relationship Type="http://schemas.openxmlformats.org/officeDocument/2006/relationships/slideLayout" Target="/ppt/slideLayouts/slideLayout15.xml" Id="Rb002e24239ab406c" /><Relationship Type="http://schemas.openxmlformats.org/officeDocument/2006/relationships/slideLayout" Target="/ppt/slideLayouts/slideLayout16.xml" Id="R64ad453260554d15" /><Relationship Type="http://schemas.openxmlformats.org/officeDocument/2006/relationships/slideLayout" Target="/ppt/slideLayouts/slideLayout17.xml" Id="R99f746937b1d4c13" /><Relationship Type="http://schemas.openxmlformats.org/officeDocument/2006/relationships/slideLayout" Target="/ppt/slideLayouts/slideLayout18.xml" Id="Rf374e282cc6a4654" /><Relationship Type="http://schemas.openxmlformats.org/officeDocument/2006/relationships/slideLayout" Target="/ppt/slideLayouts/slideLayout19.xml" Id="R1a476307f30541ca" /><Relationship Type="http://schemas.openxmlformats.org/officeDocument/2006/relationships/slideLayout" Target="/ppt/slideLayouts/slideLayout20.xml" Id="Rfa5291fe966b4e51" /><Relationship Type="http://schemas.openxmlformats.org/officeDocument/2006/relationships/slideLayout" Target="/ppt/slideLayouts/slideLayout21.xml" Id="Rb4e6e9bd9c874e5d" /><Relationship Type="http://schemas.openxmlformats.org/officeDocument/2006/relationships/slideLayout" Target="/ppt/slideLayouts/slideLayout22.xml" Id="R27079d72c33e458b" /><Relationship Type="http://schemas.openxmlformats.org/officeDocument/2006/relationships/slideLayout" Target="/ppt/slideLayouts/slideLayout23.xml" Id="R8977e2e1401a4df3" /><Relationship Type="http://schemas.openxmlformats.org/officeDocument/2006/relationships/slideLayout" Target="/ppt/slideLayouts/slideLayout24.xml" Id="Rf43a3b42032b445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5cb563026a9f456a" /><Relationship Type="http://schemas.openxmlformats.org/officeDocument/2006/relationships/theme" Target="/ppt/slideMasters/theme/theme3.xml" Id="Rb9c39704702f42b7" /><Relationship Type="http://schemas.openxmlformats.org/officeDocument/2006/relationships/slideLayout" Target="/ppt/slideLayouts/slideLayout25.xml" Id="R085cec799f484432" /><Relationship Type="http://schemas.openxmlformats.org/officeDocument/2006/relationships/slideLayout" Target="/ppt/slideLayouts/slideLayout26.xml" Id="Recc982170b0c412b" /><Relationship Type="http://schemas.openxmlformats.org/officeDocument/2006/relationships/slideLayout" Target="/ppt/slideLayouts/slideLayout27.xml" Id="Rd328631e8b214c1a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7ceb201514a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173e862c64cac"/>
    <p:sldLayoutId xmlns:r="http://schemas.openxmlformats.org/officeDocument/2006/relationships" id="2147483650" r:id="Rad03ec9e478e4f2d"/>
    <p:sldLayoutId xmlns:r="http://schemas.openxmlformats.org/officeDocument/2006/relationships" id="2147483651" r:id="R14645262ff2d41a5"/>
    <p:sldLayoutId xmlns:r="http://schemas.openxmlformats.org/officeDocument/2006/relationships" id="2147483652" r:id="R5eb6afac42224eeb"/>
    <p:sldLayoutId xmlns:r="http://schemas.openxmlformats.org/officeDocument/2006/relationships" id="2147483653" r:id="R02a8b390e17a4665"/>
    <p:sldLayoutId xmlns:r="http://schemas.openxmlformats.org/officeDocument/2006/relationships" id="2147483654" r:id="Rb11f44d6755347b7"/>
    <p:sldLayoutId xmlns:r="http://schemas.openxmlformats.org/officeDocument/2006/relationships" id="2147483655" r:id="R4a26aeb93dbb4f5a"/>
    <p:sldLayoutId xmlns:r="http://schemas.openxmlformats.org/officeDocument/2006/relationships" id="2147483656" r:id="R6acf9cd75c944d72"/>
    <p:sldLayoutId xmlns:r="http://schemas.openxmlformats.org/officeDocument/2006/relationships" id="2147483657" r:id="R0495269562c24901"/>
    <p:sldLayoutId xmlns:r="http://schemas.openxmlformats.org/officeDocument/2006/relationships" id="2147483658" r:id="Rf0b93ea1614a4ef4"/>
    <p:sldLayoutId xmlns:r="http://schemas.openxmlformats.org/officeDocument/2006/relationships" id="2147483659" r:id="R06a666e5429a49e7"/>
    <p:sldLayoutId xmlns:r="http://schemas.openxmlformats.org/officeDocument/2006/relationships" id="2147483660" r:id="Rb2e856681cb741d1"/>
    <p:sldLayoutId xmlns:r="http://schemas.openxmlformats.org/officeDocument/2006/relationships" id="2147483661" r:id="R0a0c50ea21234a06"/>
    <p:sldLayoutId xmlns:r="http://schemas.openxmlformats.org/officeDocument/2006/relationships" id="2147483662" r:id="Rf8a9d69982b94121"/>
    <p:sldLayoutId xmlns:r="http://schemas.openxmlformats.org/officeDocument/2006/relationships" id="2147483663" r:id="Rb002e24239ab406c"/>
    <p:sldLayoutId xmlns:r="http://schemas.openxmlformats.org/officeDocument/2006/relationships" id="2147483664" r:id="R64ad453260554d15"/>
    <p:sldLayoutId xmlns:r="http://schemas.openxmlformats.org/officeDocument/2006/relationships" id="2147483665" r:id="R99f746937b1d4c13"/>
    <p:sldLayoutId xmlns:r="http://schemas.openxmlformats.org/officeDocument/2006/relationships" id="2147483666" r:id="Rf374e282cc6a4654"/>
    <p:sldLayoutId xmlns:r="http://schemas.openxmlformats.org/officeDocument/2006/relationships" id="2147483667" r:id="R1a476307f30541ca"/>
    <p:sldLayoutId xmlns:r="http://schemas.openxmlformats.org/officeDocument/2006/relationships" id="2147483668" r:id="Rfa5291fe966b4e51"/>
    <p:sldLayoutId xmlns:r="http://schemas.openxmlformats.org/officeDocument/2006/relationships" id="2147483669" r:id="Rb4e6e9bd9c874e5d"/>
    <p:sldLayoutId xmlns:r="http://schemas.openxmlformats.org/officeDocument/2006/relationships" id="2147483670" r:id="R27079d72c33e458b"/>
    <p:sldLayoutId xmlns:r="http://schemas.openxmlformats.org/officeDocument/2006/relationships" id="2147483671" r:id="R8977e2e1401a4df3"/>
    <p:sldLayoutId xmlns:r="http://schemas.openxmlformats.org/officeDocument/2006/relationships" id="2147483672" r:id="Rf43a3b42032b4459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563026a9f45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085cec799f484432"/>
    <p:sldLayoutId xmlns:r="http://schemas.openxmlformats.org/officeDocument/2006/relationships" id="2147483675" r:id="Recc982170b0c412b"/>
    <p:sldLayoutId xmlns:r="http://schemas.openxmlformats.org/officeDocument/2006/relationships" id="2147483676" r:id="Rd328631e8b214c1a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882579941a2542d7" /><Relationship Type="http://schemas.openxmlformats.org/officeDocument/2006/relationships/notesSlide" Target="/ppt/notesSlides/notesSlide1.xml" Id="R92394c8e0dff49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08189e7bba423b" /><Relationship Type="http://schemas.openxmlformats.org/officeDocument/2006/relationships/image" Target="/ppt/media/image2.png" Id="R50b1e578be1c4caf" /><Relationship Type="http://schemas.openxmlformats.org/officeDocument/2006/relationships/image" Target="/ppt/media/image.svg" Id="R47f6fcb78b374d23" /><Relationship Type="http://schemas.openxmlformats.org/officeDocument/2006/relationships/notesSlide" Target="/ppt/notesSlides/notesSlide2.xml" Id="Rf74f9640c5e8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f86b533f8c54845" /><Relationship Type="http://schemas.openxmlformats.org/officeDocument/2006/relationships/notesSlide" Target="/ppt/notesSlides/notesSlide3.xml" Id="R15615434deb54a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4d00a4f486b4774" /><Relationship Type="http://schemas.openxmlformats.org/officeDocument/2006/relationships/image" Target="/ppt/media/image3.png" Id="R8eb91030053c43c5" /><Relationship Type="http://schemas.openxmlformats.org/officeDocument/2006/relationships/image" Target="/ppt/media/image2.svg" Id="Re0706753ae074450" /><Relationship Type="http://schemas.openxmlformats.org/officeDocument/2006/relationships/notesSlide" Target="/ppt/notesSlides/notesSlide4.xml" Id="Rbd2ed23a951e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772818bfc4017" /><Relationship Type="http://schemas.openxmlformats.org/officeDocument/2006/relationships/notesSlide" Target="/ppt/notesSlides/notesSlide5.xml" Id="R9096f38e6ad045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5d632e16621647a9" /><Relationship Type="http://schemas.openxmlformats.org/officeDocument/2006/relationships/image" Target="/ppt/media/image4.png" Id="R4a3da4f5c0504cb5" /><Relationship Type="http://schemas.openxmlformats.org/officeDocument/2006/relationships/image" Target="/ppt/media/image3.svg" Id="R80e0fadf3ee6414b" /><Relationship Type="http://schemas.openxmlformats.org/officeDocument/2006/relationships/notesSlide" Target="/ppt/notesSlides/notesSlide6.xml" Id="R46ab117960614c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0777c5203f5469a" /><Relationship Type="http://schemas.openxmlformats.org/officeDocument/2006/relationships/notesSlide" Target="/ppt/notesSlides/notesSlide7.xml" Id="R36734190eb7b4c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9ab6ccfa5d8451a" /><Relationship Type="http://schemas.openxmlformats.org/officeDocument/2006/relationships/image" Target="/ppt/media/image5.png" Id="Rb4eea727bf0d45a2" /><Relationship Type="http://schemas.openxmlformats.org/officeDocument/2006/relationships/image" Target="/ppt/media/image4.svg" Id="R80986c7111ad4f58" /><Relationship Type="http://schemas.openxmlformats.org/officeDocument/2006/relationships/notesSlide" Target="/ppt/notesSlides/notesSlide8.xml" Id="R8db5f9fde7f24f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e2d15077c3248d3" /><Relationship Type="http://schemas.openxmlformats.org/officeDocument/2006/relationships/image" Target="/ppt/media/image6.png" Id="Rc7a911d7e0a947ad" /><Relationship Type="http://schemas.openxmlformats.org/officeDocument/2006/relationships/image" Target="/ppt/media/image5.svg" Id="Rc33a4c9b633f4e8d" /><Relationship Type="http://schemas.openxmlformats.org/officeDocument/2006/relationships/notesSlide" Target="/ppt/notesSlides/notesSlide9.xml" Id="Rf33c86e5d9b044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dcba8ffee8f4f18" /><Relationship Type="http://schemas.openxmlformats.org/officeDocument/2006/relationships/image" Target="/ppt/media/image7.png" Id="Rf46f8cc9f1674bb2" /><Relationship Type="http://schemas.openxmlformats.org/officeDocument/2006/relationships/image" Target="/ppt/media/image6.svg" Id="Ra54b9dab7ac94e47" /><Relationship Type="http://schemas.openxmlformats.org/officeDocument/2006/relationships/notesSlide" Target="/ppt/notesSlides/notesSlide10.xml" Id="Rb3a3152030e944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2ff038fbcaa4c86" /><Relationship Type="http://schemas.openxmlformats.org/officeDocument/2006/relationships/image" Target="/ppt/media/image8.png" Id="R1c48a58ed0b5425c" /><Relationship Type="http://schemas.openxmlformats.org/officeDocument/2006/relationships/image" Target="/ppt/media/image7.svg" Id="R02192e0a9d8247cb" /><Relationship Type="http://schemas.openxmlformats.org/officeDocument/2006/relationships/notesSlide" Target="/ppt/notesSlides/notesSlide11.xml" Id="Re7febf4f54bb4b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b7068f362f94d20" /><Relationship Type="http://schemas.openxmlformats.org/officeDocument/2006/relationships/image" Target="/ppt/media/image9.png" Id="Ra9e50e58328045ad" /><Relationship Type="http://schemas.openxmlformats.org/officeDocument/2006/relationships/image" Target="/ppt/media/image8.svg" Id="Rd3cfbec545034a27" /><Relationship Type="http://schemas.openxmlformats.org/officeDocument/2006/relationships/notesSlide" Target="/ppt/notesSlides/notesSlide12.xml" Id="Re54b3d902e444a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335f8b8cce9424a" /><Relationship Type="http://schemas.openxmlformats.org/officeDocument/2006/relationships/notesSlide" Target="/ppt/notesSlides/notesSlide13.xml" Id="R768e0045bf7a46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8dd66e683394bcf" /><Relationship Type="http://schemas.openxmlformats.org/officeDocument/2006/relationships/image" Target="/ppt/media/image10.png" Id="R227e94a9bdab4cd3" /><Relationship Type="http://schemas.openxmlformats.org/officeDocument/2006/relationships/image" Target="/ppt/media/image9.svg" Id="Rdb7ed3efb3ac4a64" /><Relationship Type="http://schemas.openxmlformats.org/officeDocument/2006/relationships/notesSlide" Target="/ppt/notesSlides/notesSlide14.xml" Id="Rf462f2ebb00e41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7530630baa46ba" /><Relationship Type="http://schemas.openxmlformats.org/officeDocument/2006/relationships/image" Target="/ppt/media/image11.png" Id="R9025120eb2ac4720" /><Relationship Type="http://schemas.openxmlformats.org/officeDocument/2006/relationships/image" Target="/ppt/media/image10.svg" Id="R34ff43bee3b9406b" /><Relationship Type="http://schemas.openxmlformats.org/officeDocument/2006/relationships/notesSlide" Target="/ppt/notesSlides/notesSlide15.xml" Id="R88dda604ba384d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23bf5dc2a4b453c" /><Relationship Type="http://schemas.openxmlformats.org/officeDocument/2006/relationships/image" Target="/ppt/media/image12.png" Id="R980c3d11c4f948b4" /><Relationship Type="http://schemas.openxmlformats.org/officeDocument/2006/relationships/image" Target="/ppt/media/image11.svg" Id="R75237d3d122c4649" /><Relationship Type="http://schemas.openxmlformats.org/officeDocument/2006/relationships/notesSlide" Target="/ppt/notesSlides/notesSlide16.xml" Id="Rb9b188279bb842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4181185671a14a29" /><Relationship Type="http://schemas.openxmlformats.org/officeDocument/2006/relationships/notesSlide" Target="/ppt/notesSlides/notesSlide17.xml" Id="Rdc5e44983f0445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60c763e69b74a32" /><Relationship Type="http://schemas.openxmlformats.org/officeDocument/2006/relationships/image" Target="/ppt/media/image13.png" Id="R159edca39b6f483a" /><Relationship Type="http://schemas.openxmlformats.org/officeDocument/2006/relationships/image" Target="/ppt/media/image12.svg" Id="Rb0a2210ffd044842" /><Relationship Type="http://schemas.openxmlformats.org/officeDocument/2006/relationships/notesSlide" Target="/ppt/notesSlides/notesSlide18.xml" Id="R6e9bb7aeaf754d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00520c007e4469c" /><Relationship Type="http://schemas.openxmlformats.org/officeDocument/2006/relationships/image" Target="/ppt/media/image14.png" Id="R47093cbd580b4471" /><Relationship Type="http://schemas.openxmlformats.org/officeDocument/2006/relationships/image" Target="/ppt/media/image13.svg" Id="R0c41fae8232948d8" /><Relationship Type="http://schemas.openxmlformats.org/officeDocument/2006/relationships/notesSlide" Target="/ppt/notesSlides/notesSlide19.xml" Id="R003f06581bc648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d0c1f444fcc44e5" /><Relationship Type="http://schemas.openxmlformats.org/officeDocument/2006/relationships/image" Target="/ppt/media/image15.png" Id="R2fd5be669ba9466a" /><Relationship Type="http://schemas.openxmlformats.org/officeDocument/2006/relationships/image" Target="/ppt/media/image14.svg" Id="R4f134108e1494af5" /><Relationship Type="http://schemas.openxmlformats.org/officeDocument/2006/relationships/notesSlide" Target="/ppt/notesSlides/notesSlide20.xml" Id="R0d997993b10e4b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41c6c674cbd4c06" /><Relationship Type="http://schemas.openxmlformats.org/officeDocument/2006/relationships/image" Target="/ppt/media/image16.png" Id="Rddb053fe72124044" /><Relationship Type="http://schemas.openxmlformats.org/officeDocument/2006/relationships/image" Target="/ppt/media/image15.svg" Id="Rec92bd0fd2624dac" /><Relationship Type="http://schemas.openxmlformats.org/officeDocument/2006/relationships/notesSlide" Target="/ppt/notesSlides/notesSlide21.xml" Id="Rd091550f25a048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518d0ae59be4657" /><Relationship Type="http://schemas.openxmlformats.org/officeDocument/2006/relationships/image" Target="/ppt/media/image17.png" Id="Rd3ad8ba3bf174ce4" /><Relationship Type="http://schemas.openxmlformats.org/officeDocument/2006/relationships/image" Target="/ppt/media/image16.svg" Id="R89636cbfe3dd4715" /><Relationship Type="http://schemas.openxmlformats.org/officeDocument/2006/relationships/notesSlide" Target="/ppt/notesSlides/notesSlide22.xml" Id="R06f1e08d6cc347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10b46fb496645c0" /><Relationship Type="http://schemas.openxmlformats.org/officeDocument/2006/relationships/image" Target="/ppt/media/image18.png" Id="R443392ea849e4743" /><Relationship Type="http://schemas.openxmlformats.org/officeDocument/2006/relationships/image" Target="/ppt/media/image17.svg" Id="R0d2e1b952ca9470e" /><Relationship Type="http://schemas.openxmlformats.org/officeDocument/2006/relationships/notesSlide" Target="/ppt/notesSlides/notesSlide23.xml" Id="R2654001881384e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1054a3a6b064a9c" /><Relationship Type="http://schemas.openxmlformats.org/officeDocument/2006/relationships/image" Target="/ppt/media/image19.png" Id="R9a888838ec024b7e" /><Relationship Type="http://schemas.openxmlformats.org/officeDocument/2006/relationships/image" Target="/ppt/media/image18.svg" Id="R0d87c4b63e8141f5" /><Relationship Type="http://schemas.openxmlformats.org/officeDocument/2006/relationships/notesSlide" Target="/ppt/notesSlides/notesSlide24.xml" Id="Rebf0d35a2fd642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5572fcbbf654db2" /><Relationship Type="http://schemas.openxmlformats.org/officeDocument/2006/relationships/notesSlide" Target="/ppt/notesSlides/notesSlide25.xml" Id="Rd9b1f65dc48045b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dd8348d3448340f4" /><Relationship Type="http://schemas.openxmlformats.org/officeDocument/2006/relationships/image" Target="/ppt/media/image20.png" Id="R3962d054a7924f22" /><Relationship Type="http://schemas.openxmlformats.org/officeDocument/2006/relationships/image" Target="/ppt/media/image19.svg" Id="Rdb7ba013dd0c43c6" /><Relationship Type="http://schemas.openxmlformats.org/officeDocument/2006/relationships/notesSlide" Target="/ppt/notesSlides/notesSlide26.xml" Id="R6abd8cc6c92c4c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10f85d088004e83" /><Relationship Type="http://schemas.openxmlformats.org/officeDocument/2006/relationships/image" Target="/ppt/media/image21.png" Id="R7f19dd21093d4bfe" /><Relationship Type="http://schemas.openxmlformats.org/officeDocument/2006/relationships/image" Target="/ppt/media/image20.svg" Id="R2bbe18a87e49427a" /><Relationship Type="http://schemas.openxmlformats.org/officeDocument/2006/relationships/notesSlide" Target="/ppt/notesSlides/notesSlide27.xml" Id="R9f999216182240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c38670cde7ae4115" /><Relationship Type="http://schemas.openxmlformats.org/officeDocument/2006/relationships/notesSlide" Target="/ppt/notesSlides/notesSlide28.xml" Id="R39f6e8066b8844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99c9199b6d441f7" /><Relationship Type="http://schemas.openxmlformats.org/officeDocument/2006/relationships/image" Target="/ppt/media/image22.png" Id="R729c1ed1dabc4c4a" /><Relationship Type="http://schemas.openxmlformats.org/officeDocument/2006/relationships/image" Target="/ppt/media/image21.svg" Id="R92bb9b12e4444bfc" /><Relationship Type="http://schemas.openxmlformats.org/officeDocument/2006/relationships/notesSlide" Target="/ppt/notesSlides/notesSlide29.xml" Id="R9dfeca609aa440c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c7d937af7544156" /><Relationship Type="http://schemas.openxmlformats.org/officeDocument/2006/relationships/image" Target="/ppt/media/image23.png" Id="Re01174b3355c45e9" /><Relationship Type="http://schemas.openxmlformats.org/officeDocument/2006/relationships/image" Target="/ppt/media/image22.svg" Id="R253abcd7d524447d" /><Relationship Type="http://schemas.openxmlformats.org/officeDocument/2006/relationships/notesSlide" Target="/ppt/notesSlides/notesSlide30.xml" Id="R57559fb79ac843f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4ad5295a8d64ee3" /><Relationship Type="http://schemas.openxmlformats.org/officeDocument/2006/relationships/image" Target="/ppt/media/image24.png" Id="R10b0ae1a2cd442d0" /><Relationship Type="http://schemas.openxmlformats.org/officeDocument/2006/relationships/image" Target="/ppt/media/image23.svg" Id="Rdeebd3c6c09a4c19" /><Relationship Type="http://schemas.openxmlformats.org/officeDocument/2006/relationships/notesSlide" Target="/ppt/notesSlides/notesSlide31.xml" Id="Rc340a35fd2e249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3ea92e86b944d50" /><Relationship Type="http://schemas.openxmlformats.org/officeDocument/2006/relationships/image" Target="/ppt/media/image25.png" Id="Rdbb55f76c4464f65" /><Relationship Type="http://schemas.openxmlformats.org/officeDocument/2006/relationships/image" Target="/ppt/media/image24.svg" Id="R559400d0d7704e5f" /><Relationship Type="http://schemas.openxmlformats.org/officeDocument/2006/relationships/notesSlide" Target="/ppt/notesSlides/notesSlide32.xml" Id="Rcca7ddf9b18f493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d7c639384e843ce" /><Relationship Type="http://schemas.openxmlformats.org/officeDocument/2006/relationships/image" Target="/ppt/media/image26.png" Id="R2558d9317b714da2" /><Relationship Type="http://schemas.openxmlformats.org/officeDocument/2006/relationships/image" Target="/ppt/media/image25.svg" Id="R9c901c1175fb497e" /><Relationship Type="http://schemas.openxmlformats.org/officeDocument/2006/relationships/notesSlide" Target="/ppt/notesSlides/notesSlide33.xml" Id="R272a8e7329c74bf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6584624264f40ca" /><Relationship Type="http://schemas.openxmlformats.org/officeDocument/2006/relationships/image" Target="/ppt/media/image27.png" Id="R7afa782fb68f47ad" /><Relationship Type="http://schemas.openxmlformats.org/officeDocument/2006/relationships/image" Target="/ppt/media/image26.svg" Id="R047b51fcfb1f4411" /><Relationship Type="http://schemas.openxmlformats.org/officeDocument/2006/relationships/notesSlide" Target="/ppt/notesSlides/notesSlide34.xml" Id="R8cd7a24589f4424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c41fbc67bb54b81" /><Relationship Type="http://schemas.openxmlformats.org/officeDocument/2006/relationships/image" Target="/ppt/media/image28.png" Id="R27182d9279f143c5" /><Relationship Type="http://schemas.openxmlformats.org/officeDocument/2006/relationships/image" Target="/ppt/media/image27.svg" Id="Rfc20dad9e63444dc" /><Relationship Type="http://schemas.openxmlformats.org/officeDocument/2006/relationships/notesSlide" Target="/ppt/notesSlides/notesSlide35.xml" Id="R665a634183af40e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610da7adeb24eac" /><Relationship Type="http://schemas.openxmlformats.org/officeDocument/2006/relationships/image" Target="/ppt/media/image29.png" Id="R941bde7d2f6c40e8" /><Relationship Type="http://schemas.openxmlformats.org/officeDocument/2006/relationships/image" Target="/ppt/media/image28.svg" Id="Ra893ddfe8b1a455a" /><Relationship Type="http://schemas.openxmlformats.org/officeDocument/2006/relationships/notesSlide" Target="/ppt/notesSlides/notesSlide36.xml" Id="Re72000d8d63e444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c0e132772534c6b" /><Relationship Type="http://schemas.openxmlformats.org/officeDocument/2006/relationships/image" Target="/ppt/media/image30.png" Id="Rd9c5c17d75974d4c" /><Relationship Type="http://schemas.openxmlformats.org/officeDocument/2006/relationships/image" Target="/ppt/media/image29.svg" Id="R7b85058ca79e49d3" /><Relationship Type="http://schemas.openxmlformats.org/officeDocument/2006/relationships/notesSlide" Target="/ppt/notesSlides/notesSlide37.xml" Id="R062a06aeaa3a4ef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c80adcca4514f96" /><Relationship Type="http://schemas.openxmlformats.org/officeDocument/2006/relationships/image" Target="/ppt/media/image31.png" Id="R008d8adf507e4a1d" /><Relationship Type="http://schemas.openxmlformats.org/officeDocument/2006/relationships/image" Target="/ppt/media/image30.svg" Id="Rc95f59abe17c4858" /><Relationship Type="http://schemas.openxmlformats.org/officeDocument/2006/relationships/notesSlide" Target="/ppt/notesSlides/notesSlide38.xml" Id="Ra1d32148a1db4d5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9602b85022f41a5" /><Relationship Type="http://schemas.openxmlformats.org/officeDocument/2006/relationships/notesSlide" Target="/ppt/notesSlides/notesSlide39.xml" Id="R4e379d41bfb84d2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e02e7d64bd04e24" /><Relationship Type="http://schemas.openxmlformats.org/officeDocument/2006/relationships/image" Target="/ppt/media/image32.png" Id="R809d9dddc0e24433" /><Relationship Type="http://schemas.openxmlformats.org/officeDocument/2006/relationships/image" Target="/ppt/media/image31.svg" Id="Rabacda164fe84124" /><Relationship Type="http://schemas.openxmlformats.org/officeDocument/2006/relationships/notesSlide" Target="/ppt/notesSlides/notesSlide40.xml" Id="Re107d651845446a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09b4f29757947f6" /><Relationship Type="http://schemas.openxmlformats.org/officeDocument/2006/relationships/image" Target="/ppt/media/image33.png" Id="Rdf1d89921b7249bc" /><Relationship Type="http://schemas.openxmlformats.org/officeDocument/2006/relationships/image" Target="/ppt/media/image32.svg" Id="Ref0d0d0d46a3463f" /><Relationship Type="http://schemas.openxmlformats.org/officeDocument/2006/relationships/notesSlide" Target="/ppt/notesSlides/notesSlide41.xml" Id="R5baa29b3d9354c9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cb06e6e9d0741e0" /><Relationship Type="http://schemas.openxmlformats.org/officeDocument/2006/relationships/image" Target="/ppt/media/image34.png" Id="Rfa52db2e95794d96" /><Relationship Type="http://schemas.openxmlformats.org/officeDocument/2006/relationships/image" Target="/ppt/media/image33.svg" Id="Re156840f69f1409b" /><Relationship Type="http://schemas.openxmlformats.org/officeDocument/2006/relationships/notesSlide" Target="/ppt/notesSlides/notesSlide42.xml" Id="R2c2c829df5824e3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4f06f42a5f1d4887" /><Relationship Type="http://schemas.openxmlformats.org/officeDocument/2006/relationships/image" Target="/ppt/media/image35.png" Id="R121b98db52c54267" /><Relationship Type="http://schemas.openxmlformats.org/officeDocument/2006/relationships/image" Target="/ppt/media/image34.svg" Id="R54270b1e22ec4c66" /><Relationship Type="http://schemas.openxmlformats.org/officeDocument/2006/relationships/notesSlide" Target="/ppt/notesSlides/notesSlide43.xml" Id="Ra002e84c868b4d1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242bde770142a4" /><Relationship Type="http://schemas.openxmlformats.org/officeDocument/2006/relationships/image" Target="/ppt/media/image36.png" Id="Rd8fb850137cc4c3c" /><Relationship Type="http://schemas.openxmlformats.org/officeDocument/2006/relationships/image" Target="/ppt/media/image35.svg" Id="R406cbe3a2a724550" /><Relationship Type="http://schemas.openxmlformats.org/officeDocument/2006/relationships/notesSlide" Target="/ppt/notesSlides/notesSlide44.xml" Id="R1c833108a4eb439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5f1517665b94e93" /><Relationship Type="http://schemas.openxmlformats.org/officeDocument/2006/relationships/image" Target="/ppt/media/image37.png" Id="Rad83de2ae7364c11" /><Relationship Type="http://schemas.openxmlformats.org/officeDocument/2006/relationships/image" Target="/ppt/media/image36.svg" Id="R84dd99d51bbe4dab" /><Relationship Type="http://schemas.openxmlformats.org/officeDocument/2006/relationships/notesSlide" Target="/ppt/notesSlides/notesSlide45.xml" Id="R43bc8d51d4f347f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d4843f4c5044e1" /><Relationship Type="http://schemas.openxmlformats.org/officeDocument/2006/relationships/image" Target="/ppt/media/image38.png" Id="Ra454a6d2722d4a45" /><Relationship Type="http://schemas.openxmlformats.org/officeDocument/2006/relationships/image" Target="/ppt/media/image37.svg" Id="R5f294d6babd14df7" /><Relationship Type="http://schemas.openxmlformats.org/officeDocument/2006/relationships/notesSlide" Target="/ppt/notesSlides/notesSlide46.xml" Id="R87ade40effd944b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565b5a6cf464f50" /><Relationship Type="http://schemas.openxmlformats.org/officeDocument/2006/relationships/image" Target="/ppt/media/image39.png" Id="R2f1df5dc7cef4f83" /><Relationship Type="http://schemas.openxmlformats.org/officeDocument/2006/relationships/image" Target="/ppt/media/image38.svg" Id="R441788da0a14412c" /><Relationship Type="http://schemas.openxmlformats.org/officeDocument/2006/relationships/notesSlide" Target="/ppt/notesSlides/notesSlide47.xml" Id="R9183ebd5ab3b417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00bb3691edc498f" /><Relationship Type="http://schemas.openxmlformats.org/officeDocument/2006/relationships/notesSlide" Target="/ppt/notesSlides/notesSlide48.xml" Id="Ra942423fb715489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b83d25c6d9a47db" /><Relationship Type="http://schemas.openxmlformats.org/officeDocument/2006/relationships/image" Target="/ppt/media/image40.png" Id="R096aabe929204fe7" /><Relationship Type="http://schemas.openxmlformats.org/officeDocument/2006/relationships/image" Target="/ppt/media/image39.svg" Id="R144b85d21cce4e0f" /><Relationship Type="http://schemas.openxmlformats.org/officeDocument/2006/relationships/notesSlide" Target="/ppt/notesSlides/notesSlide49.xml" Id="Re312f2e3f2044f9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3a4d1361f44072" /><Relationship Type="http://schemas.openxmlformats.org/officeDocument/2006/relationships/image" Target="/ppt/media/image41.png" Id="Re9dc2f078e42485f" /><Relationship Type="http://schemas.openxmlformats.org/officeDocument/2006/relationships/image" Target="/ppt/media/image40.svg" Id="R046a428a9ade4846" /><Relationship Type="http://schemas.openxmlformats.org/officeDocument/2006/relationships/notesSlide" Target="/ppt/notesSlides/notesSlide50.xml" Id="Rcd10a2c03977480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86ef75b6e6a4c3e" /><Relationship Type="http://schemas.openxmlformats.org/officeDocument/2006/relationships/image" Target="/ppt/media/image42.png" Id="R42a29c085ec549ee" /><Relationship Type="http://schemas.openxmlformats.org/officeDocument/2006/relationships/image" Target="/ppt/media/image41.svg" Id="R41a4ed3e562e4a95" /><Relationship Type="http://schemas.openxmlformats.org/officeDocument/2006/relationships/notesSlide" Target="/ppt/notesSlides/notesSlide51.xml" Id="R1e077c9bcb79451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723819c0af44936" /><Relationship Type="http://schemas.openxmlformats.org/officeDocument/2006/relationships/image" Target="/ppt/media/image43.png" Id="R01dfdba258284366" /><Relationship Type="http://schemas.openxmlformats.org/officeDocument/2006/relationships/image" Target="/ppt/media/image42.svg" Id="Re07c63caa73549b5" /><Relationship Type="http://schemas.openxmlformats.org/officeDocument/2006/relationships/notesSlide" Target="/ppt/notesSlides/notesSlide52.xml" Id="Rf141cdc4f71c4fb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e3dd643797145eb" /><Relationship Type="http://schemas.openxmlformats.org/officeDocument/2006/relationships/image" Target="/ppt/media/image44.png" Id="R0d9633b4c10847e2" /><Relationship Type="http://schemas.openxmlformats.org/officeDocument/2006/relationships/image" Target="/ppt/media/image43.svg" Id="R84ecee4b84434046" /><Relationship Type="http://schemas.openxmlformats.org/officeDocument/2006/relationships/notesSlide" Target="/ppt/notesSlides/notesSlide53.xml" Id="Reccdae0e18fa4e6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1c08bda0239456f" /><Relationship Type="http://schemas.openxmlformats.org/officeDocument/2006/relationships/image" Target="/ppt/media/image45.png" Id="R5314336c51b74660" /><Relationship Type="http://schemas.openxmlformats.org/officeDocument/2006/relationships/image" Target="/ppt/media/image44.svg" Id="Rb36b8220eea1471c" /><Relationship Type="http://schemas.openxmlformats.org/officeDocument/2006/relationships/notesSlide" Target="/ppt/notesSlides/notesSlide54.xml" Id="R539a27083365447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d13787678884a8d" /><Relationship Type="http://schemas.openxmlformats.org/officeDocument/2006/relationships/image" Target="/ppt/media/image46.png" Id="Rfd4ce18a8d5f44d7" /><Relationship Type="http://schemas.openxmlformats.org/officeDocument/2006/relationships/image" Target="/ppt/media/image45.svg" Id="Rb158550d781541e7" /><Relationship Type="http://schemas.openxmlformats.org/officeDocument/2006/relationships/notesSlide" Target="/ppt/notesSlides/notesSlide55.xml" Id="Raa2ae39238514cc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170281ed6514b16" /><Relationship Type="http://schemas.openxmlformats.org/officeDocument/2006/relationships/image" Target="/ppt/media/image47.png" Id="R87adc7bd04634301" /><Relationship Type="http://schemas.openxmlformats.org/officeDocument/2006/relationships/image" Target="/ppt/media/image46.svg" Id="R3c03ec1783f64044" /><Relationship Type="http://schemas.openxmlformats.org/officeDocument/2006/relationships/notesSlide" Target="/ppt/notesSlides/notesSlide56.xml" Id="R258b8d0a3f2b49b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c2a673450b6d4ca9" /><Relationship Type="http://schemas.openxmlformats.org/officeDocument/2006/relationships/image" Target="/ppt/media/image48.png" Id="R969f96cfa71548ab" /><Relationship Type="http://schemas.openxmlformats.org/officeDocument/2006/relationships/image" Target="/ppt/media/image47.svg" Id="Ra22330ac548c4642" /><Relationship Type="http://schemas.openxmlformats.org/officeDocument/2006/relationships/notesSlide" Target="/ppt/notesSlides/notesSlide57.xml" Id="Rb278711888bf4f4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a849978e117460e" /><Relationship Type="http://schemas.openxmlformats.org/officeDocument/2006/relationships/image" Target="/ppt/media/image49.png" Id="R84cf47a4c0a74233" /><Relationship Type="http://schemas.openxmlformats.org/officeDocument/2006/relationships/image" Target="/ppt/media/image48.svg" Id="R75c302eb57dd499f" /><Relationship Type="http://schemas.openxmlformats.org/officeDocument/2006/relationships/notesSlide" Target="/ppt/notesSlides/notesSlide58.xml" Id="Rbd06632324d646f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08c27cd2b4d4fcf" /><Relationship Type="http://schemas.openxmlformats.org/officeDocument/2006/relationships/image" Target="/ppt/media/image50.png" Id="R7d3ec0a4012d414c" /><Relationship Type="http://schemas.openxmlformats.org/officeDocument/2006/relationships/image" Target="/ppt/media/image49.svg" Id="R8e7645af087e4d05" /><Relationship Type="http://schemas.openxmlformats.org/officeDocument/2006/relationships/notesSlide" Target="/ppt/notesSlides/notesSlide59.xml" Id="R47c9b122dd4143c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b1faf5b01b4473d" /><Relationship Type="http://schemas.openxmlformats.org/officeDocument/2006/relationships/notesSlide" Target="/ppt/notesSlides/notesSlide60.xml" Id="R7c5cce96ce2041d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638703e2c9437b" /><Relationship Type="http://schemas.openxmlformats.org/officeDocument/2006/relationships/image" Target="/ppt/media/image51.png" Id="R216b9dcde61743a1" /><Relationship Type="http://schemas.openxmlformats.org/officeDocument/2006/relationships/image" Target="/ppt/media/image50.svg" Id="Rcce7430e09794500" /><Relationship Type="http://schemas.openxmlformats.org/officeDocument/2006/relationships/notesSlide" Target="/ppt/notesSlides/notesSlide61.xml" Id="R5f396a9ae176451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2f425d915b44813" /><Relationship Type="http://schemas.openxmlformats.org/officeDocument/2006/relationships/image" Target="/ppt/media/image52.png" Id="R344c7bd0569448af" /><Relationship Type="http://schemas.openxmlformats.org/officeDocument/2006/relationships/image" Target="/ppt/media/image51.svg" Id="R4c75aa5298854f27" /><Relationship Type="http://schemas.openxmlformats.org/officeDocument/2006/relationships/notesSlide" Target="/ppt/notesSlides/notesSlide62.xml" Id="R5efb78d364504cb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2715bbda8314e38" /><Relationship Type="http://schemas.openxmlformats.org/officeDocument/2006/relationships/image" Target="/ppt/media/image53.png" Id="Ra390ee7bf35d4300" /><Relationship Type="http://schemas.openxmlformats.org/officeDocument/2006/relationships/image" Target="/ppt/media/image52.svg" Id="Reb0251e347d0480a" /><Relationship Type="http://schemas.openxmlformats.org/officeDocument/2006/relationships/notesSlide" Target="/ppt/notesSlides/notesSlide63.xml" Id="Rf8ab4265166f4a4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bbd098f30684422" /><Relationship Type="http://schemas.openxmlformats.org/officeDocument/2006/relationships/image" Target="/ppt/media/image54.png" Id="R22366df6c3d541e4" /><Relationship Type="http://schemas.openxmlformats.org/officeDocument/2006/relationships/image" Target="/ppt/media/image53.svg" Id="Ra72016c56f804e95" /><Relationship Type="http://schemas.openxmlformats.org/officeDocument/2006/relationships/notesSlide" Target="/ppt/notesSlides/notesSlide64.xml" Id="Rf7f44fb2282148c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524743a0ccf4732" /><Relationship Type="http://schemas.openxmlformats.org/officeDocument/2006/relationships/image" Target="/ppt/media/image55.png" Id="Rb015654da7d44453" /><Relationship Type="http://schemas.openxmlformats.org/officeDocument/2006/relationships/image" Target="/ppt/media/image54.svg" Id="Rd5b94c38448c4d16" /><Relationship Type="http://schemas.openxmlformats.org/officeDocument/2006/relationships/notesSlide" Target="/ppt/notesSlides/notesSlide65.xml" Id="R2cd2ad45e19b44f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b619c7f2321425c" /><Relationship Type="http://schemas.openxmlformats.org/officeDocument/2006/relationships/image" Target="/ppt/media/image56.png" Id="Re100cc7af29d4d3c" /><Relationship Type="http://schemas.openxmlformats.org/officeDocument/2006/relationships/image" Target="/ppt/media/image55.svg" Id="R9091e87a7bc64e47" /><Relationship Type="http://schemas.openxmlformats.org/officeDocument/2006/relationships/notesSlide" Target="/ppt/notesSlides/notesSlide66.xml" Id="Rab9f3f4c83024453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bc582a96fbd4fe1" /><Relationship Type="http://schemas.openxmlformats.org/officeDocument/2006/relationships/image" Target="/ppt/media/image57.png" Id="Rc65b8105a9964e18" /><Relationship Type="http://schemas.openxmlformats.org/officeDocument/2006/relationships/image" Target="/ppt/media/image56.svg" Id="R7a424cef4f944eca" /><Relationship Type="http://schemas.openxmlformats.org/officeDocument/2006/relationships/notesSlide" Target="/ppt/notesSlides/notesSlide67.xml" Id="R6f455d614db74415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ece82f49ca2415a" /><Relationship Type="http://schemas.openxmlformats.org/officeDocument/2006/relationships/image" Target="/ppt/media/image58.png" Id="R0737a91216bc47a5" /><Relationship Type="http://schemas.openxmlformats.org/officeDocument/2006/relationships/image" Target="/ppt/media/image57.svg" Id="R75e186299ab44829" /><Relationship Type="http://schemas.openxmlformats.org/officeDocument/2006/relationships/notesSlide" Target="/ppt/notesSlides/notesSlide68.xml" Id="Rba59a54baebd467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91ca97578b746cc" /><Relationship Type="http://schemas.openxmlformats.org/officeDocument/2006/relationships/image" Target="/ppt/media/image59.png" Id="R75d66a8188854562" /><Relationship Type="http://schemas.openxmlformats.org/officeDocument/2006/relationships/image" Target="/ppt/media/image58.svg" Id="R9ba2fc6dec214e33" /><Relationship Type="http://schemas.openxmlformats.org/officeDocument/2006/relationships/notesSlide" Target="/ppt/notesSlides/notesSlide69.xml" Id="R77668e55c0aa42c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4f875b4749f4940" /><Relationship Type="http://schemas.openxmlformats.org/officeDocument/2006/relationships/notesSlide" Target="/ppt/notesSlides/notesSlide70.xml" Id="R9b8be3b3750340d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a19c441b525497f" /><Relationship Type="http://schemas.openxmlformats.org/officeDocument/2006/relationships/image" Target="/ppt/media/image60.png" Id="R78d03f23da564cde" /><Relationship Type="http://schemas.openxmlformats.org/officeDocument/2006/relationships/image" Target="/ppt/media/image59.svg" Id="Rd28ae0d0b13040fb" /><Relationship Type="http://schemas.openxmlformats.org/officeDocument/2006/relationships/notesSlide" Target="/ppt/notesSlides/notesSlide71.xml" Id="R79df5b4b752c492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50cbe4d13614d66" /><Relationship Type="http://schemas.openxmlformats.org/officeDocument/2006/relationships/image" Target="/ppt/media/image61.png" Id="R87b5250a641542fd" /><Relationship Type="http://schemas.openxmlformats.org/officeDocument/2006/relationships/image" Target="/ppt/media/image60.svg" Id="R10a4c2ec300848c9" /><Relationship Type="http://schemas.openxmlformats.org/officeDocument/2006/relationships/notesSlide" Target="/ppt/notesSlides/notesSlide72.xml" Id="Rac45b31e75d94d5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5a6e91eb32f46d5" /><Relationship Type="http://schemas.openxmlformats.org/officeDocument/2006/relationships/image" Target="/ppt/media/image62.png" Id="Ra85b9530fd874ed5" /><Relationship Type="http://schemas.openxmlformats.org/officeDocument/2006/relationships/image" Target="/ppt/media/image61.svg" Id="R82a4fe554db34a52" /><Relationship Type="http://schemas.openxmlformats.org/officeDocument/2006/relationships/notesSlide" Target="/ppt/notesSlides/notesSlide73.xml" Id="Ra813f1881efd4529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51f72b2b67e4df0" /><Relationship Type="http://schemas.openxmlformats.org/officeDocument/2006/relationships/image" Target="/ppt/media/image63.png" Id="Rfd9d72bf50484a52" /><Relationship Type="http://schemas.openxmlformats.org/officeDocument/2006/relationships/image" Target="/ppt/media/image62.svg" Id="R3c1c78c5993c46c7" /><Relationship Type="http://schemas.openxmlformats.org/officeDocument/2006/relationships/notesSlide" Target="/ppt/notesSlides/notesSlide74.xml" Id="Rd8a42055d05a4457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9ced5fe4774477e" /><Relationship Type="http://schemas.openxmlformats.org/officeDocument/2006/relationships/image" Target="/ppt/media/image64.png" Id="R58e347595e2c4d09" /><Relationship Type="http://schemas.openxmlformats.org/officeDocument/2006/relationships/image" Target="/ppt/media/image63.svg" Id="R98e9998924034d32" /><Relationship Type="http://schemas.openxmlformats.org/officeDocument/2006/relationships/notesSlide" Target="/ppt/notesSlides/notesSlide75.xml" Id="Reb43465daf0543fe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7983dc6d8f5431c" /><Relationship Type="http://schemas.openxmlformats.org/officeDocument/2006/relationships/image" Target="/ppt/media/image65.png" Id="Raca787d8c99c4f98" /><Relationship Type="http://schemas.openxmlformats.org/officeDocument/2006/relationships/image" Target="/ppt/media/image64.svg" Id="Rfa5b55f070d94938" /><Relationship Type="http://schemas.openxmlformats.org/officeDocument/2006/relationships/notesSlide" Target="/ppt/notesSlides/notesSlide76.xml" Id="R5e93beffbb1d491e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18240116634509" /><Relationship Type="http://schemas.openxmlformats.org/officeDocument/2006/relationships/image" Target="/ppt/media/image66.png" Id="R943a641090df4bde" /><Relationship Type="http://schemas.openxmlformats.org/officeDocument/2006/relationships/image" Target="/ppt/media/image65.svg" Id="R84f764450303401d" /><Relationship Type="http://schemas.openxmlformats.org/officeDocument/2006/relationships/notesSlide" Target="/ppt/notesSlides/notesSlide77.xml" Id="R87c3874bafed4c19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a4240e3e1704730" /><Relationship Type="http://schemas.openxmlformats.org/officeDocument/2006/relationships/image" Target="/ppt/media/image67.png" Id="Rd791284a90df4bb1" /><Relationship Type="http://schemas.openxmlformats.org/officeDocument/2006/relationships/image" Target="/ppt/media/image66.svg" Id="Rbd0e2d0d467b4fd1" /><Relationship Type="http://schemas.openxmlformats.org/officeDocument/2006/relationships/notesSlide" Target="/ppt/notesSlides/notesSlide78.xml" Id="Rdab348c20443449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310ae68d124d22" /><Relationship Type="http://schemas.openxmlformats.org/officeDocument/2006/relationships/image" Target="/ppt/media/image68.png" Id="Rf2d1fefa6d244eb9" /><Relationship Type="http://schemas.openxmlformats.org/officeDocument/2006/relationships/image" Target="/ppt/media/image67.svg" Id="R68720b6e333b46fc" /><Relationship Type="http://schemas.openxmlformats.org/officeDocument/2006/relationships/notesSlide" Target="/ppt/notesSlides/notesSlide79.xml" Id="R8956b5b85540461f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a167773abdd4094" /><Relationship Type="http://schemas.openxmlformats.org/officeDocument/2006/relationships/image" Target="/ppt/media/image69.png" Id="R9a8d0861a1a140a6" /><Relationship Type="http://schemas.openxmlformats.org/officeDocument/2006/relationships/image" Target="/ppt/media/image68.svg" Id="Rb8d6af977b0f417d" /><Relationship Type="http://schemas.openxmlformats.org/officeDocument/2006/relationships/notesSlide" Target="/ppt/notesSlides/notesSlide80.xml" Id="Rfbb8189fb2fb4ce7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56a86ebb114e46" /><Relationship Type="http://schemas.openxmlformats.org/officeDocument/2006/relationships/image" Target="/ppt/media/image70.png" Id="R16bd110ed5884ff1" /><Relationship Type="http://schemas.openxmlformats.org/officeDocument/2006/relationships/image" Target="/ppt/media/image69.svg" Id="Rf0c2ea51a40844ae" /><Relationship Type="http://schemas.openxmlformats.org/officeDocument/2006/relationships/notesSlide" Target="/ppt/notesSlides/notesSlide81.xml" Id="R7c2a8cebf86d497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8963f044fd84395" /><Relationship Type="http://schemas.openxmlformats.org/officeDocument/2006/relationships/notesSlide" Target="/ppt/notesSlides/notesSlide82.xml" Id="R2590d5ae1d75431b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35c85e69dc14fe3" /><Relationship Type="http://schemas.openxmlformats.org/officeDocument/2006/relationships/notesSlide" Target="/ppt/notesSlides/notesSlide83.xml" Id="R1a7807f439a944f7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d6a0658f84be2" /><Relationship Type="http://schemas.openxmlformats.org/officeDocument/2006/relationships/image" Target="/ppt/media/image71.png" Id="R4531d91e4d1b4539" /><Relationship Type="http://schemas.openxmlformats.org/officeDocument/2006/relationships/image" Target="/ppt/media/image70.svg" Id="Re38691a033304f60" /><Relationship Type="http://schemas.openxmlformats.org/officeDocument/2006/relationships/notesSlide" Target="/ppt/notesSlides/notesSlide84.xml" Id="R9bb74f8b79f94572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4d8fc46c6c49ee" /><Relationship Type="http://schemas.openxmlformats.org/officeDocument/2006/relationships/image" Target="/ppt/media/image72.png" Id="R6daa877e9d87452d" /><Relationship Type="http://schemas.openxmlformats.org/officeDocument/2006/relationships/image" Target="/ppt/media/image71.svg" Id="R37e9c06701104e99" /><Relationship Type="http://schemas.openxmlformats.org/officeDocument/2006/relationships/notesSlide" Target="/ppt/notesSlides/notesSlide85.xml" Id="R2813c61cea0e497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20134789cb4e55" /><Relationship Type="http://schemas.openxmlformats.org/officeDocument/2006/relationships/image" Target="/ppt/media/image73.png" Id="R3d3128d0dee143bf" /><Relationship Type="http://schemas.openxmlformats.org/officeDocument/2006/relationships/image" Target="/ppt/media/image72.svg" Id="R8bfacc421d99492a" /><Relationship Type="http://schemas.openxmlformats.org/officeDocument/2006/relationships/notesSlide" Target="/ppt/notesSlides/notesSlide86.xml" Id="Rf7b21eb957524298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d99804367145fa" /><Relationship Type="http://schemas.openxmlformats.org/officeDocument/2006/relationships/notesSlide" Target="/ppt/notesSlides/notesSlide87.xml" Id="R15f638043cb64159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99441e5d1428e" /><Relationship Type="http://schemas.openxmlformats.org/officeDocument/2006/relationships/image" Target="/ppt/media/image74.png" Id="R7ff309f98d9f4266" /><Relationship Type="http://schemas.openxmlformats.org/officeDocument/2006/relationships/image" Target="/ppt/media/image73.svg" Id="Re7be3df6dfad4658" /><Relationship Type="http://schemas.openxmlformats.org/officeDocument/2006/relationships/notesSlide" Target="/ppt/notesSlides/notesSlide88.xml" Id="Rf21fd50ebf7e442c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4e11cee9574d32" /><Relationship Type="http://schemas.openxmlformats.org/officeDocument/2006/relationships/image" Target="/ppt/media/image75.png" Id="R38c1b9401d674863" /><Relationship Type="http://schemas.openxmlformats.org/officeDocument/2006/relationships/image" Target="/ppt/media/image74.svg" Id="Rd4a3aa82473a4b89" /><Relationship Type="http://schemas.openxmlformats.org/officeDocument/2006/relationships/notesSlide" Target="/ppt/notesSlides/notesSlide89.xml" Id="R6c6215fafc2149d7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7f9d21cc6e409c" /><Relationship Type="http://schemas.openxmlformats.org/officeDocument/2006/relationships/image" Target="/ppt/media/image76.png" Id="Rb35e00375c574723" /><Relationship Type="http://schemas.openxmlformats.org/officeDocument/2006/relationships/image" Target="/ppt/media/image75.svg" Id="Re7c2379f4da14f44" /><Relationship Type="http://schemas.openxmlformats.org/officeDocument/2006/relationships/notesSlide" Target="/ppt/notesSlides/notesSlide90.xml" Id="R8a696e92f0d94ae9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3a64f5ae554711" /><Relationship Type="http://schemas.openxmlformats.org/officeDocument/2006/relationships/image" Target="/ppt/media/image77.png" Id="R3647f45a94e9487e" /><Relationship Type="http://schemas.openxmlformats.org/officeDocument/2006/relationships/image" Target="/ppt/media/image76.svg" Id="R46dac5c2e41c4f81" /><Relationship Type="http://schemas.openxmlformats.org/officeDocument/2006/relationships/notesSlide" Target="/ppt/notesSlides/notesSlide91.xml" Id="R06e57112bebe4fdc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582be5de414172" /><Relationship Type="http://schemas.openxmlformats.org/officeDocument/2006/relationships/image" Target="/ppt/media/image78.png" Id="R94f0f4e92e4746f1" /><Relationship Type="http://schemas.openxmlformats.org/officeDocument/2006/relationships/image" Target="/ppt/media/image77.svg" Id="R0a2bf1b5cc6f4e3a" /><Relationship Type="http://schemas.openxmlformats.org/officeDocument/2006/relationships/notesSlide" Target="/ppt/notesSlides/notesSlide92.xml" Id="R875d1bf60a4d46a1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2b693a15e44ac0" /><Relationship Type="http://schemas.openxmlformats.org/officeDocument/2006/relationships/image" Target="/ppt/media/image79.png" Id="Rd17fdf6ce4a34a6c" /><Relationship Type="http://schemas.openxmlformats.org/officeDocument/2006/relationships/image" Target="/ppt/media/image78.svg" Id="Ra124ed2415d54a11" /><Relationship Type="http://schemas.openxmlformats.org/officeDocument/2006/relationships/notesSlide" Target="/ppt/notesSlides/notesSlide93.xml" Id="Rf9a25da0962d492e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9d53350a404fc5" /><Relationship Type="http://schemas.openxmlformats.org/officeDocument/2006/relationships/image" Target="/ppt/media/image80.png" Id="R70eefcefb62a40d6" /><Relationship Type="http://schemas.openxmlformats.org/officeDocument/2006/relationships/image" Target="/ppt/media/image79.svg" Id="R956b297315194b33" /><Relationship Type="http://schemas.openxmlformats.org/officeDocument/2006/relationships/notesSlide" Target="/ppt/notesSlides/notesSlide94.xml" Id="Rfb946787ae2a468c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6e788dfd884ff6" /><Relationship Type="http://schemas.openxmlformats.org/officeDocument/2006/relationships/image" Target="/ppt/media/image81.png" Id="R4cc128f4875a4ef7" /><Relationship Type="http://schemas.openxmlformats.org/officeDocument/2006/relationships/image" Target="/ppt/media/image80.svg" Id="R3ae2638db82d4a5b" /><Relationship Type="http://schemas.openxmlformats.org/officeDocument/2006/relationships/notesSlide" Target="/ppt/notesSlides/notesSlide95.xml" Id="R1643c906643b43ee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28bc4191b67487a" /><Relationship Type="http://schemas.openxmlformats.org/officeDocument/2006/relationships/notesSlide" Target="/ppt/notesSlides/notesSlide96.xml" Id="R72717a0903f541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_wave_line">
            <a:extLst xmlns:a="http://schemas.openxmlformats.org/drawingml/2006/main"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476500" cy="1809750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6209043E-FF99-0424-F0A1-6DD300A34E4B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1504950"/>
            <a:ext cx="7810500" cy="1571625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9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Fundamentos de la mecánica ondulatoria</a:t>
            </a:r>
          </a:p>
        </p:txBody>
      </p:sp>
      <p:sp>
        <p:nvSpPr>
          <p:cNvPr id="11" name="Subtítulo 10">
            <a:extLst xmlns:a="http://schemas.openxmlformats.org/drawingml/2006/main">
              <a:ext uri="{FF2B5EF4-FFF2-40B4-BE49-F238E27FC236}">
                <a16:creationId xmlns:a16="http://schemas.microsoft.com/office/drawing/2014/main" id="{D87FD449-A608-9EC9-BE8C-850EE9907EE1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162300"/>
            <a:ext cx="7239000" cy="7620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Oscilaciones, ondas y tonos</a:t>
            </a:r>
          </a:p>
        </p:txBody>
      </p:sp>
      <p:sp>
        <p:nvSpPr>
          <p:cNvPr id="12" name="Marcador de número de diapositiva 11">
            <a:extLst xmlns:a="http://schemas.openxmlformats.org/drawingml/2006/main">
              <a:ext uri="{FF2B5EF4-FFF2-40B4-BE49-F238E27FC236}">
                <a16:creationId xmlns:a16="http://schemas.microsoft.com/office/drawing/2014/main" id="{0B44733C-D931-3240-C8D6-A74952D40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AD75FED6-38D0-DE9C-92C0-6E7FA635581C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fld>
          </a:p>
        </p:txBody>
      </p:sp>
      <p:sp>
        <p:nvSpPr>
          <p:cNvPr id="13" name="u03_U03-001_eyebrow">
            <a:extLst xmlns:a="http://schemas.openxmlformats.org/drawingml/2006/main">
              <a:ext uri="{FF2B5EF4-FFF2-40B4-BE49-F238E27FC236}">
                <a16:creationId xmlns:a16="http://schemas.microsoft.com/office/drawing/2014/main" id="{7FEA2301-FA0C-46B9-AC40-EDB00EC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ítulo 23">
            <a:extLst xmlns:a="http://schemas.openxmlformats.org/drawingml/2006/main">
              <a:ext uri="{FF2B5EF4-FFF2-40B4-BE49-F238E27FC236}">
                <a16:creationId xmlns:a16="http://schemas.microsoft.com/office/drawing/2014/main" id="{6430AFA8-9094-1DB6-842A-986076FB7B38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parlante vibra: ¿qué llega hasta el oído?</a:t>
            </a:r>
          </a:p>
        </p:txBody>
      </p:sp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</a:t>
            </a:fld>
          </a:p>
        </p:txBody>
      </p:sp>
      <p:sp>
        <p:nvSpPr>
          <p:cNvPr id="27" name="u03_U03-002_eyebrow">
            <a:extLst xmlns:a="http://schemas.openxmlformats.org/drawingml/2006/main">
              <a:ext uri="{FF2B5EF4-FFF2-40B4-BE49-F238E27FC236}">
                <a16:creationId xmlns:a16="http://schemas.microsoft.com/office/drawing/2014/main" id="{7C3E88D4-88CB-4C54-9B9B-F1E202B0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pic>
        <p:nvPicPr>
          <p:cNvPr id="33" name="U03-DG001-S002" descr="Diagrama conceptual con título «Un parlante vibra: ¿qué llega hasta el oído?». Secuencia incompleta parlante–aire–oído con tres preguntas de predic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1e578be1c4caf">
            <a:extLst>
              <a:ext uri="{96DAC541-7B7A-43D3-8B79-37D633B846F1}">
                <asvg:svgBlip xmlns:asvg="http://schemas.microsoft.com/office/drawing/2016/SVG/main" r:embed="R47f6fcb78b374d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9" name="U03-002_caption">
            <a:extLst xmlns:a="http://schemas.openxmlformats.org/drawingml/2006/main">
              <a:ext uri="{FF2B5EF4-FFF2-40B4-BE49-F238E27FC236}">
                <a16:creationId xmlns:a16="http://schemas.microsoft.com/office/drawing/2014/main" id="{86D23CEF-CB64-4575-8286-BFEC47CD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Predicción inicial sobre fuente, medio y receptor.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afirmaciones para empezar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02359C0-8A7A-196E-DD58-8E6569619F0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</a:t>
            </a:fld>
          </a:p>
        </p:txBody>
      </p:sp>
      <p:sp>
        <p:nvSpPr>
          <p:cNvPr id="15" name="u03_U03-003_eyebrow">
            <a:extLst xmlns:a="http://schemas.openxmlformats.org/drawingml/2006/main">
              <a:ext uri="{FF2B5EF4-FFF2-40B4-BE49-F238E27FC236}">
                <a16:creationId xmlns:a16="http://schemas.microsoft.com/office/drawing/2014/main" id="{B6E50B4D-01A8-497A-8FE6-A15FB7B6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sp>
        <p:nvSpPr>
          <p:cNvPr id="16" name="U03-003_question">
            <a:extLst xmlns:a="http://schemas.openxmlformats.org/drawingml/2006/main">
              <a:ext uri="{FF2B5EF4-FFF2-40B4-BE49-F238E27FC236}">
                <a16:creationId xmlns:a16="http://schemas.microsoft.com/office/drawing/2014/main" id="{09E5ED3A-EFF9-4CD8-A48C-38CB995F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0287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  <p:txBody>
          <a:bodyPr xmlns:a="http://schemas.openxmlformats.org/drawingml/2006/main" wrap="square" lIns="266700" tIns="209550" rIns="266700" b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Decida verdadero o falso y justifique:</a:t>
            </a:r>
          </a:p>
          <a:p xmlns:a="http://schemas.openxmlformats.org/drawingml/2006/main"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La materia viaja con la onda.</a:t>
            </a:r>
          </a:p>
          <a:p xmlns:a="http://schemas.openxmlformats.org/drawingml/2006/main"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Una frecuencia mayor siempre se propaga más rápido.</a:t>
            </a:r>
          </a:p>
          <a:p xmlns:a="http://schemas.openxmlformats.org/drawingml/2006/main"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Mayor amplitud siempre significa mayor sonoridad.</a:t>
            </a:r>
          </a:p>
          <a:p xmlns:a="http://schemas.openxmlformats.org/drawingml/2006/main"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La sinusoide dibuja la trayectoria de una partícula.</a:t>
            </a:r>
          </a:p>
        </p:txBody>
      </p:sp>
      <p:sp>
        <p:nvSpPr>
          <p:cNvPr id="17" name="U03-003_consigna">
            <a:extLst xmlns:a="http://schemas.openxmlformats.org/drawingml/2006/main">
              <a:ext uri="{FF2B5EF4-FFF2-40B4-BE49-F238E27FC236}">
                <a16:creationId xmlns:a16="http://schemas.microsoft.com/office/drawing/2014/main" id="{15B1D9DD-F412-479E-9903-FF866104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Cuatro afirmaciones diagnósticas; la solución queda en U03-087.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Equilibrio, elasticidad y gráficos: lo que ya sabemos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FD6AB9A-5F9E-5F59-51AB-3C873413096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</a:t>
            </a:fld>
          </a:p>
        </p:txBody>
      </p:sp>
      <p:sp>
        <p:nvSpPr>
          <p:cNvPr id="20" name="u03_U03-004_eyebrow">
            <a:extLst xmlns:a="http://schemas.openxmlformats.org/drawingml/2006/main">
              <a:ext uri="{FF2B5EF4-FFF2-40B4-BE49-F238E27FC236}">
                <a16:creationId xmlns:a16="http://schemas.microsoft.com/office/drawing/2014/main" id="{50057479-894E-41EB-8887-9B28644C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pic>
        <p:nvPicPr>
          <p:cNvPr id="26" name="U03-DG006-S004" descr="Esquema mixto con título «Lo que ya sabemos sobre equilibrio, elasticidad y gráficos». Dos columnas: “ya podemos usar” y “conviene recuperar”; seno/coseno, f=1/T, equilibrio, F_el=-k_s x, unidad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91030053c43c5">
            <a:extLst>
              <a:ext uri="{96DAC541-7B7A-43D3-8B79-37D633B846F1}">
                <asvg:svgBlip xmlns:asvg="http://schemas.microsoft.com/office/drawing/2016/SVG/main" r:embed="Re0706753ae0744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04_caption">
            <a:extLst xmlns:a="http://schemas.openxmlformats.org/drawingml/2006/main">
              <a:ext uri="{FF2B5EF4-FFF2-40B4-BE49-F238E27FC236}">
                <a16:creationId xmlns:a16="http://schemas.microsoft.com/office/drawing/2014/main" id="{27D3DBE3-102F-4C9D-892E-1F942350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eje, las unidades, la fuerza restauradora y la lectura de gráficos sostienen toda la unidad.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E1B20C0-2CF5-2A6D-C1F9-26F0F97A3547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explicar, leer y calcular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DADB7A0-DAED-ABD0-4D66-53387251834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E5B3003-2C54-13C6-9832-7637201064D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</a:t>
            </a:fld>
          </a:p>
        </p:txBody>
      </p:sp>
      <p:sp>
        <p:nvSpPr>
          <p:cNvPr id="19" name="u03_U03-005_eyebrow">
            <a:extLst xmlns:a="http://schemas.openxmlformats.org/drawingml/2006/main">
              <a:ext uri="{FF2B5EF4-FFF2-40B4-BE49-F238E27FC236}">
                <a16:creationId xmlns:a16="http://schemas.microsoft.com/office/drawing/2014/main" id="{2AAB96DD-D50B-497A-B8D0-F0E30EC4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sp>
        <p:nvSpPr>
          <p:cNvPr id="20" name="U03-005_body">
            <a:extLst xmlns:a="http://schemas.openxmlformats.org/drawingml/2006/main">
              <a:ext uri="{FF2B5EF4-FFF2-40B4-BE49-F238E27FC236}">
                <a16:creationId xmlns:a16="http://schemas.microsoft.com/office/drawing/2014/main" id="{2829E6E9-54FA-4FA4-B1CF-FFCF6C8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0515600" cy="444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228600" tIns="171450" rIns="228600" b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Distinguir: oscilación y propagación. </a:t>
            </a:r>
          </a:p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Representar: amplitud, período, frecuencia, fase y longitud de onda. </a:t>
            </a:r>
          </a:p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Calcular: relaciones simples con unidades. </a:t>
            </a:r>
          </a:p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Aplicar: describir un tono desde la fuente hasta el receptor.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ítulo 23">
            <a:extLst xmlns:a="http://schemas.openxmlformats.org/drawingml/2006/main">
              <a:ext uri="{FF2B5EF4-FFF2-40B4-BE49-F238E27FC236}">
                <a16:creationId xmlns:a16="http://schemas.microsoft.com/office/drawing/2014/main" id="{5328DB21-AD69-BA7D-188D-F8CF0A67A58A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movimiento local a la onda que llega</a:t>
            </a:r>
          </a:p>
        </p:txBody>
      </p:sp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C630A04-5A25-9E0C-9436-126091DB86B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</a:t>
            </a:fld>
          </a:p>
        </p:txBody>
      </p:sp>
      <p:sp>
        <p:nvSpPr>
          <p:cNvPr id="27" name="u03_U03-006_eyebrow">
            <a:extLst xmlns:a="http://schemas.openxmlformats.org/drawingml/2006/main">
              <a:ext uri="{FF2B5EF4-FFF2-40B4-BE49-F238E27FC236}">
                <a16:creationId xmlns:a16="http://schemas.microsoft.com/office/drawing/2014/main" id="{5F364E71-D2F0-4988-AF09-B96CB22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pic>
        <p:nvPicPr>
          <p:cNvPr id="33" name="U03-DG002-S006" descr="Diagrama conceptual con título «Del movimiento local a la onda que llega». Nueve etapas: oscilación; MAS; parámetros; sinusoide; parlante; onda viajera; fase; superposición; aplic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da4f5c0504cb5">
            <a:extLst>
              <a:ext uri="{96DAC541-7B7A-43D3-8B79-37D633B846F1}">
                <asvg:svgBlip xmlns:asvg="http://schemas.microsoft.com/office/drawing/2016/SVG/main" r:embed="R80e0fadf3ee641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9" name="U03-006_caption">
            <a:extLst xmlns:a="http://schemas.openxmlformats.org/drawingml/2006/main">
              <a:ext uri="{FF2B5EF4-FFF2-40B4-BE49-F238E27FC236}">
                <a16:creationId xmlns:a16="http://schemas.microsoft.com/office/drawing/2014/main" id="{709741AF-6CB9-466C-A576-57FA457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clase avanza de un oscilador a una descripción temporal y espacial de la propagación.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parte oscila; la perturbación avanza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Movimiento local y propagación son descripciones diferentes del mismo fenómeno ondulatorio.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D3D7D1C8-AE23-AA48-DF65-C742588DBE47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fld>
          </a:p>
        </p:txBody>
      </p:sp>
      <p:sp>
        <p:nvSpPr>
          <p:cNvPr id="10" name="u03_U03-007_eyebrow">
            <a:extLst xmlns:a="http://schemas.openxmlformats.org/drawingml/2006/main">
              <a:ext uri="{FF2B5EF4-FFF2-40B4-BE49-F238E27FC236}">
                <a16:creationId xmlns:a16="http://schemas.microsoft.com/office/drawing/2014/main" id="{463C8724-2788-48F9-B1B5-1C68D96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Oscilar es ir y volver alrededor de un equilibrio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A58DA2A-B818-18A9-29C1-B697728D5BC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</a:t>
            </a:fld>
          </a:p>
        </p:txBody>
      </p:sp>
      <p:sp>
        <p:nvSpPr>
          <p:cNvPr id="14" name="u03_U03-008_eyebrow">
            <a:extLst xmlns:a="http://schemas.openxmlformats.org/drawingml/2006/main">
              <a:ext uri="{FF2B5EF4-FFF2-40B4-BE49-F238E27FC236}">
                <a16:creationId xmlns:a16="http://schemas.microsoft.com/office/drawing/2014/main" id="{4404AE2B-C1BD-4C16-BA6A-58FE2503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20" name="U03-DG003-S008" descr="Diagrama conceptual con título «Oscilar es ir y volver alrededor de un equilibrio». Equilibrio, elongación, extremos y retorno; ejemplo de masa–resor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ea727bf0d45a2">
            <a:extLst>
              <a:ext uri="{96DAC541-7B7A-43D3-8B79-37D633B846F1}">
                <asvg:svgBlip xmlns:asvg="http://schemas.microsoft.com/office/drawing/2016/SVG/main" r:embed="R80986c7111ad4f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08_caption">
            <a:extLst xmlns:a="http://schemas.openxmlformats.org/drawingml/2006/main">
              <a:ext uri="{FF2B5EF4-FFF2-40B4-BE49-F238E27FC236}">
                <a16:creationId xmlns:a16="http://schemas.microsoft.com/office/drawing/2014/main" id="{C73FEBB8-9F1A-4C35-AC75-AFEEE139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posición cambia repetidamente alrededor de una referencia; no toda oscilación es armónica.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ítulo 24">
            <a:extLst xmlns:a="http://schemas.openxmlformats.org/drawingml/2006/main"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interacción vecina transmite la perturbación</a:t>
            </a:r>
          </a:p>
        </p:txBody>
      </p:sp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88657AE-30A1-5A7A-6A7F-315D8443643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</a:t>
            </a:fld>
          </a:p>
        </p:txBody>
      </p:sp>
      <p:sp>
        <p:nvSpPr>
          <p:cNvPr id="29" name="u03_U03-009_eyebrow">
            <a:extLst xmlns:a="http://schemas.openxmlformats.org/drawingml/2006/main">
              <a:ext uri="{FF2B5EF4-FFF2-40B4-BE49-F238E27FC236}">
                <a16:creationId xmlns:a16="http://schemas.microsoft.com/office/drawing/2014/main" id="{18E0BCE1-461F-420F-AAFC-2DD36CA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35" name="U03-DG004-S009" descr="Diagrama conceptual con título «Una interacción vecina transmite la perturbación». Cinco instantes de una cadena de partículas o resortes; frente de perturbación y movimientos local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911d7e0a947ad">
            <a:extLst>
              <a:ext uri="{96DAC541-7B7A-43D3-8B79-37D633B846F1}">
                <asvg:svgBlip xmlns:asvg="http://schemas.microsoft.com/office/drawing/2016/SVG/main" r:embed="Rc33a4c9b633f4e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31" name="U03-009_caption">
            <a:extLst xmlns:a="http://schemas.openxmlformats.org/drawingml/2006/main">
              <a:ext uri="{FF2B5EF4-FFF2-40B4-BE49-F238E27FC236}">
                <a16:creationId xmlns:a16="http://schemas.microsoft.com/office/drawing/2014/main" id="{1124B970-9090-42FC-8312-0C5033D1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Cada región mueve a la siguiente sin trasladarse con el frente.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Materia, perturbación y energía no recorren lo mismo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B7BEEEC-A170-5376-2B6E-CB54687B0CB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10</a:t>
            </a:fld>
          </a:p>
        </p:txBody>
      </p:sp>
      <p:sp>
        <p:nvSpPr>
          <p:cNvPr id="20" name="u03_U03-010_eyebrow">
            <a:extLst xmlns:a="http://schemas.openxmlformats.org/drawingml/2006/main">
              <a:ext uri="{FF2B5EF4-FFF2-40B4-BE49-F238E27FC236}">
                <a16:creationId xmlns:a16="http://schemas.microsoft.com/office/drawing/2014/main" id="{7C541FF3-3FB9-4DA5-BE97-15146024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26" name="U03-DG004-S010" descr="Diagrama conceptual con título «Materia, perturbación y energía no recorren lo mismo». Comparación por trayectoria, alcance y ejemplo; límite explícito sobre transporte neto de materi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f8cc9f1674bb2">
            <a:extLst>
              <a:ext uri="{96DAC541-7B7A-43D3-8B79-37D633B846F1}">
                <asvg:svgBlip xmlns:asvg="http://schemas.microsoft.com/office/drawing/2016/SVG/main" r:embed="Ra54b9dab7ac94e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10_caption">
            <a:extLst xmlns:a="http://schemas.openxmlformats.org/drawingml/2006/main">
              <a:ext uri="{FF2B5EF4-FFF2-40B4-BE49-F238E27FC236}">
                <a16:creationId xmlns:a16="http://schemas.microsoft.com/office/drawing/2014/main" id="{6FCBE09D-9953-4586-8118-BD75955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una onda mecánica la materia oscila localmente mientras la perturbación y la energía se propagan.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onda mecánica necesita medio e interacción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0394428-F1DC-E5F6-DB0C-7DE31F3D8A2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11</a:t>
            </a:fld>
          </a:p>
        </p:txBody>
      </p:sp>
      <p:sp>
        <p:nvSpPr>
          <p:cNvPr id="14" name="u03_U03-011_eyebrow">
            <a:extLst xmlns:a="http://schemas.openxmlformats.org/drawingml/2006/main">
              <a:ext uri="{FF2B5EF4-FFF2-40B4-BE49-F238E27FC236}">
                <a16:creationId xmlns:a16="http://schemas.microsoft.com/office/drawing/2014/main" id="{5AE8234A-DAFD-4C88-AA41-9CB9E037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20" name="U03-DG005-S011" descr="Diagrama conceptual con título «Una onda mecánica necesita medio e interacción». Definición, tres condiciones y contraste mínimo con el vací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8a58ed0b5425c">
            <a:extLst>
              <a:ext uri="{96DAC541-7B7A-43D3-8B79-37D633B846F1}">
                <asvg:svgBlip xmlns:asvg="http://schemas.microsoft.com/office/drawing/2016/SVG/main" r:embed="R02192e0a9d8247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11_caption">
            <a:extLst xmlns:a="http://schemas.openxmlformats.org/drawingml/2006/main">
              <a:ext uri="{FF2B5EF4-FFF2-40B4-BE49-F238E27FC236}">
                <a16:creationId xmlns:a16="http://schemas.microsoft.com/office/drawing/2014/main" id="{3FEDBEB4-E3EC-4966-B597-E756A32B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Sin medio material no hay onda sonora mecánica.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Longitudinal y transversal: dos direcciones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DB16885-0D3F-A391-B669-3211DB3B26E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12</a:t>
            </a:fld>
          </a:p>
        </p:txBody>
      </p:sp>
      <p:sp>
        <p:nvSpPr>
          <p:cNvPr id="20" name="u03_U03-012_eyebrow">
            <a:extLst xmlns:a="http://schemas.openxmlformats.org/drawingml/2006/main">
              <a:ext uri="{FF2B5EF4-FFF2-40B4-BE49-F238E27FC236}">
                <a16:creationId xmlns:a16="http://schemas.microsoft.com/office/drawing/2014/main" id="{C2A24AE8-85B0-4174-B294-DA73CD0A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26" name="U03-DG005-S012" descr="Diagrama conceptual con título «Longitudinal y transversal: dos direcciones para comparar». Dos casos con flecha de propagación y flechas de desplazamiento; aire y cuerda como ejempl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50e58328045ad">
            <a:extLst>
              <a:ext uri="{96DAC541-7B7A-43D3-8B79-37D633B846F1}">
                <asvg:svgBlip xmlns:asvg="http://schemas.microsoft.com/office/drawing/2016/SVG/main" r:embed="Rd3cfbec545034a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12_caption">
            <a:extLst xmlns:a="http://schemas.openxmlformats.org/drawingml/2006/main">
              <a:ext uri="{FF2B5EF4-FFF2-40B4-BE49-F238E27FC236}">
                <a16:creationId xmlns:a16="http://schemas.microsoft.com/office/drawing/2014/main" id="{6D1EB02D-5E1C-4F4B-A4E3-9EF6FEE2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clasificación depende de la orientación del movimiento local respecto del avance.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4">
            <a:extLst xmlns:a="http://schemas.openxmlformats.org/drawingml/2006/main">
              <a:ext uri="{FF2B5EF4-FFF2-40B4-BE49-F238E27FC236}">
                <a16:creationId xmlns:a16="http://schemas.microsoft.com/office/drawing/2014/main" id="{FDEFA639-BD38-F6AB-B29B-B977F08744D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resorte permite ver movimiento local y frente</a:t>
            </a:r>
          </a:p>
        </p:txBody>
      </p:sp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DD23107-4986-8758-3A93-3D74F35908CC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13</a:t>
            </a:fld>
          </a:p>
        </p:txBody>
      </p:sp>
      <p:sp>
        <p:nvSpPr>
          <p:cNvPr id="16" name="u03_U03-013_eyebrow">
            <a:extLst xmlns:a="http://schemas.openxmlformats.org/drawingml/2006/main">
              <a:ext uri="{FF2B5EF4-FFF2-40B4-BE49-F238E27FC236}">
                <a16:creationId xmlns:a16="http://schemas.microsoft.com/office/drawing/2014/main" id="{5445D89D-F6AB-4D8A-B475-20A3954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17" name="U03-013_media_fallback">
            <a:extLst xmlns:a="http://schemas.openxmlformats.org/drawingml/2006/main">
              <a:ext uri="{FF2B5EF4-FFF2-40B4-BE49-F238E27FC236}">
                <a16:creationId xmlns:a16="http://schemas.microsoft.com/office/drawing/2014/main" id="{8F89B155-71CF-40C5-AB99-36B1FB01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3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304800" tIns="228600" rIns="304800" bIns="228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U03-MEDIA001</a:t>
            </a:r>
          </a:p>
          <a:p xmlns:a="http://schemas.openxmlformats.org/drawingml/2006/main">
            <a:pPr algn="ctr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Demostración prevista con resorte y una espira marcada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Alternativa estática: seguir la consigna y comparar movimiento local con propagación.</a:t>
            </a:r>
          </a:p>
        </p:txBody>
      </p:sp>
      <p:sp>
        <p:nvSpPr>
          <p:cNvPr id="18" name="U03-013_media_status">
            <a:extLst xmlns:a="http://schemas.openxmlformats.org/drawingml/2006/main">
              <a:ext uri="{FF2B5EF4-FFF2-40B4-BE49-F238E27FC236}">
                <a16:creationId xmlns:a16="http://schemas.microsoft.com/office/drawing/2014/main" id="{7D5EECDF-7277-461B-9381-FE348CD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914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Recurso identificado; archivo multimedia no incrustado porque aún no está aprobado.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 la marca vuelve, ¿la onda también volvió?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27921A4-25C4-3DB4-06B1-32693CEE224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14</a:t>
            </a:fld>
          </a:p>
        </p:txBody>
      </p:sp>
      <p:sp>
        <p:nvSpPr>
          <p:cNvPr id="15" name="u03_U03-014_eyebrow">
            <a:extLst xmlns:a="http://schemas.openxmlformats.org/drawingml/2006/main">
              <a:ext uri="{FF2B5EF4-FFF2-40B4-BE49-F238E27FC236}">
                <a16:creationId xmlns:a16="http://schemas.microsoft.com/office/drawing/2014/main" id="{F6D154B6-B9D3-45C7-BA83-353961CA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21" name="U03-DG004-S014" descr="Diagrama conceptual con título «Si la marca vuelve, ¿la onda también volvió?». Secuencia de cuatro estados y opciones razonadas sobre marca, frente y energí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e94a9bdab4cd3">
            <a:extLst>
              <a:ext uri="{96DAC541-7B7A-43D3-8B79-37D633B846F1}">
                <asvg:svgBlip xmlns:asvg="http://schemas.microsoft.com/office/drawing/2016/SVG/main" r:embed="Rdb7ed3efb3ac4a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7" name="U03-014_caption">
            <a:extLst xmlns:a="http://schemas.openxmlformats.org/drawingml/2006/main">
              <a:ext uri="{FF2B5EF4-FFF2-40B4-BE49-F238E27FC236}">
                <a16:creationId xmlns:a16="http://schemas.microsoft.com/office/drawing/2014/main" id="{077B9379-E2BC-4277-A48B-1B75C7A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posición final de una región no informa por sí sola la posición del frente.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ítulo 11">
            <a:extLst xmlns:a="http://schemas.openxmlformats.org/drawingml/2006/main"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 y receptor también oscilan localmente</a:t>
            </a:r>
          </a:p>
        </p:txBody>
      </p:sp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A83FA91-883A-0168-8075-96CEB9DCA3C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15</a:t>
            </a:fld>
          </a:p>
        </p:txBody>
      </p:sp>
      <p:sp>
        <p:nvSpPr>
          <p:cNvPr id="16" name="u03_U03-015_eyebrow">
            <a:extLst xmlns:a="http://schemas.openxmlformats.org/drawingml/2006/main">
              <a:ext uri="{FF2B5EF4-FFF2-40B4-BE49-F238E27FC236}">
                <a16:creationId xmlns:a16="http://schemas.microsoft.com/office/drawing/2014/main" id="{FDCC5D9E-1548-4BEC-A29B-F5EF430A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22" name="U03-DG001-S015" descr="Diagrama conceptual con título «Fuente y receptor también oscilan localmente». Esquema fuente–medio–receptor con movimiento local en extremos y propagación en el medio; límites del model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5120eb2ac4720">
            <a:extLst>
              <a:ext uri="{96DAC541-7B7A-43D3-8B79-37D633B846F1}">
                <asvg:svgBlip xmlns:asvg="http://schemas.microsoft.com/office/drawing/2016/SVG/main" r:embed="R34ff43bee3b940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8" name="U03-015_caption">
            <a:extLst xmlns:a="http://schemas.openxmlformats.org/drawingml/2006/main">
              <a:ext uri="{FF2B5EF4-FFF2-40B4-BE49-F238E27FC236}">
                <a16:creationId xmlns:a16="http://schemas.microsoft.com/office/drawing/2014/main" id="{C7921A4D-7627-45AC-A482-7F82367A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Pliegues vocales, aire y estructuras receptoras cumplen funciones distintas dentro de una cadena.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ítulo 16">
            <a:extLst xmlns:a="http://schemas.openxmlformats.org/drawingml/2006/main"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qué oscila y qué se propaga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C9C7607-4BA3-B4DC-A00F-2E67A9FCFF7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16</a:t>
            </a:fld>
          </a:p>
        </p:txBody>
      </p:sp>
      <p:sp>
        <p:nvSpPr>
          <p:cNvPr id="21" name="u03_U03-016_eyebrow">
            <a:extLst xmlns:a="http://schemas.openxmlformats.org/drawingml/2006/main">
              <a:ext uri="{FF2B5EF4-FFF2-40B4-BE49-F238E27FC236}">
                <a16:creationId xmlns:a16="http://schemas.microsoft.com/office/drawing/2014/main" id="{7C6AC4DA-55E4-463E-B759-8BAF2FA4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pic>
        <p:nvPicPr>
          <p:cNvPr id="27" name="U03-DG002-S016" descr="Diagrama conceptual con título «Hasta acá: qué oscila y qué se propaga». Cuatro preguntas de lectura y retorno al mapa de clas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c3d11c4f948b4">
            <a:extLst>
              <a:ext uri="{96DAC541-7B7A-43D3-8B79-37D633B846F1}">
                <asvg:svgBlip xmlns:asvg="http://schemas.microsoft.com/office/drawing/2016/SVG/main" r:embed="R75237d3d122c46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16_caption">
            <a:extLst xmlns:a="http://schemas.openxmlformats.org/drawingml/2006/main">
              <a:ext uri="{FF2B5EF4-FFF2-40B4-BE49-F238E27FC236}">
                <a16:creationId xmlns:a16="http://schemas.microsoft.com/office/drawing/2014/main" id="{CF51F21E-9043-482A-B9BA-5F238FB0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Antes de usar fórmulas hay que identificar sistema, variable local, medio y dirección de avance.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modelo simple para una oscilación regular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El MAS idealiza el retorno al equilibrio y permite predecir la evolución.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90F7333B-44AC-F7E9-D49D-FE92F45E0477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fld>
          </a:p>
        </p:txBody>
      </p:sp>
      <p:sp>
        <p:nvSpPr>
          <p:cNvPr id="10" name="u03_U03-017_eyebrow">
            <a:extLst xmlns:a="http://schemas.openxmlformats.org/drawingml/2006/main">
              <a:ext uri="{FF2B5EF4-FFF2-40B4-BE49-F238E27FC236}">
                <a16:creationId xmlns:a16="http://schemas.microsoft.com/office/drawing/2014/main" id="{E153372D-3C77-4FEB-AA5E-EE3DEF86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MAS combina inercia y fuerza restauradora lineal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1C6C81E-38B9-7560-621D-5A151A79DF9B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18</a:t>
            </a:fld>
          </a:p>
        </p:txBody>
      </p:sp>
      <p:sp>
        <p:nvSpPr>
          <p:cNvPr id="14" name="u03_U03-018_eyebrow">
            <a:extLst xmlns:a="http://schemas.openxmlformats.org/drawingml/2006/main">
              <a:ext uri="{FF2B5EF4-FFF2-40B4-BE49-F238E27FC236}">
                <a16:creationId xmlns:a16="http://schemas.microsoft.com/office/drawing/2014/main" id="{A8967BB4-54EE-461E-A45F-C4ACADDD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0" name="U03-DG006-S018" descr="Diagrama conceptual con título «El MAS combina inercia y fuerza restauradora lineal». Sistema masa–resorte, equilibrio, desplazamiento y condiciones: linealidad, sin rozamiento y sin excitación extern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edca39b6f483a">
            <a:extLst>
              <a:ext uri="{96DAC541-7B7A-43D3-8B79-37D633B846F1}">
                <asvg:svgBlip xmlns:asvg="http://schemas.microsoft.com/office/drawing/2016/SVG/main" r:embed="Rb0a2210ffd0448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18_caption">
            <a:extLst xmlns:a="http://schemas.openxmlformats.org/drawingml/2006/main">
              <a:ext uri="{FF2B5EF4-FFF2-40B4-BE49-F238E27FC236}">
                <a16:creationId xmlns:a16="http://schemas.microsoft.com/office/drawing/2014/main" id="{F30D113D-4C2E-4FED-9055-6FCEA4AC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 cuerpo oscila armónicamente cuando la fuerza neta es proporcional y opuesta a su desplazamiento, bajo hipótesis ideales.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restauradora apunta hacia el equilibrio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CF91274-D221-1BB4-3BF9-836E3AD31EB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19</a:t>
            </a:fld>
          </a:p>
        </p:txBody>
      </p:sp>
      <p:sp>
        <p:nvSpPr>
          <p:cNvPr id="19" name="u03_U03-019_eyebrow">
            <a:extLst xmlns:a="http://schemas.openxmlformats.org/drawingml/2006/main">
              <a:ext uri="{FF2B5EF4-FFF2-40B4-BE49-F238E27FC236}">
                <a16:creationId xmlns:a16="http://schemas.microsoft.com/office/drawing/2014/main" id="{EBAE50BE-90FE-45A8-84E9-A71AA1C6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5" name="U03-DG006-S019" descr="Ecuación anotada con título «La fuerza restauradora apunta hacia el equilibrio». ma=-k_s x; símbolos, unidades y dos posiciones con aceleraciones opues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93cbd580b4471">
            <a:extLst>
              <a:ext uri="{96DAC541-7B7A-43D3-8B79-37D633B846F1}">
                <asvg:svgBlip xmlns:asvg="http://schemas.microsoft.com/office/drawing/2016/SVG/main" r:embed="R0c41fae8232948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19_caption">
            <a:extLst xmlns:a="http://schemas.openxmlformats.org/drawingml/2006/main">
              <a:ext uri="{FF2B5EF4-FFF2-40B4-BE49-F238E27FC236}">
                <a16:creationId xmlns:a16="http://schemas.microsoft.com/office/drawing/2014/main" id="{1BAADE99-C93A-4531-A61B-14BD3AD9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signo menos expresa dirección de retorno, no una fuerza “negativa” en valor absoluto.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ítulo 24">
            <a:extLst xmlns:a="http://schemas.openxmlformats.org/drawingml/2006/main"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ciclo recorre extremos, equilibrio y regreso</a:t>
            </a:r>
          </a:p>
        </p:txBody>
      </p:sp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44E025A-983C-6D44-79C6-4612AACD43FC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20</a:t>
            </a:fld>
          </a:p>
        </p:txBody>
      </p:sp>
      <p:sp>
        <p:nvSpPr>
          <p:cNvPr id="29" name="u03_U03-020_eyebrow">
            <a:extLst xmlns:a="http://schemas.openxmlformats.org/drawingml/2006/main">
              <a:ext uri="{FF2B5EF4-FFF2-40B4-BE49-F238E27FC236}">
                <a16:creationId xmlns:a16="http://schemas.microsoft.com/office/drawing/2014/main" id="{12983856-0C39-4428-AD31-5295905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35" name="U03-DG003-S020" descr="Diagrama conceptual con título «Un ciclo recorre extremos, equilibrio y regreso». Cinco estados: extremo positivo, equilibrio, extremo negativo, equilibrio y retorno; flechas de velocidad y aceleración cualitativ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5be669ba9466a">
            <a:extLst>
              <a:ext uri="{96DAC541-7B7A-43D3-8B79-37D633B846F1}">
                <asvg:svgBlip xmlns:asvg="http://schemas.microsoft.com/office/drawing/2016/SVG/main" r:embed="R4f134108e1494a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31" name="U03-020_caption">
            <a:extLst xmlns:a="http://schemas.openxmlformats.org/drawingml/2006/main">
              <a:ext uri="{FF2B5EF4-FFF2-40B4-BE49-F238E27FC236}">
                <a16:creationId xmlns:a16="http://schemas.microsoft.com/office/drawing/2014/main" id="{40649448-FB28-4A75-AB05-487B5DA2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estado se repite solo después de recuperar posición y sentido de movimiento.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amplitud mide el máximo alejamiento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6DF2BE2-2DFA-1C03-677D-BDC2260D6D9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21</a:t>
            </a:fld>
          </a:p>
        </p:txBody>
      </p:sp>
      <p:sp>
        <p:nvSpPr>
          <p:cNvPr id="14" name="u03_U03-021_eyebrow">
            <a:extLst xmlns:a="http://schemas.openxmlformats.org/drawingml/2006/main">
              <a:ext uri="{FF2B5EF4-FFF2-40B4-BE49-F238E27FC236}">
                <a16:creationId xmlns:a16="http://schemas.microsoft.com/office/drawing/2014/main" id="{8243BA32-21A6-446A-899F-2AEE6C2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0" name="U03-DG003-S021" descr="Diagrama conceptual con título «La amplitud mide el máximo alejamiento». A_x como máximo del valor absoluto de x; equilibrio, extremos, unidad de desplazamiento; distinción de valor instantáne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053fe72124044">
            <a:extLst>
              <a:ext uri="{96DAC541-7B7A-43D3-8B79-37D633B846F1}">
                <asvg:svgBlip xmlns:asvg="http://schemas.microsoft.com/office/drawing/2016/SVG/main" r:embed="Rec92bd0fd2624d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21_caption">
            <a:extLst xmlns:a="http://schemas.openxmlformats.org/drawingml/2006/main">
              <a:ext uri="{FF2B5EF4-FFF2-40B4-BE49-F238E27FC236}">
                <a16:creationId xmlns:a16="http://schemas.microsoft.com/office/drawing/2014/main" id="{D4E12D2E-2078-4513-AD4B-C0DAD98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amplitud pertenece a una magnitud concreta y es no negativa.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período es el tiempo de un ciclo completo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0BB18BA8-60F4-C50D-CD9B-1BB87D3E850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22</a:t>
            </a:fld>
          </a:p>
        </p:txBody>
      </p:sp>
      <p:sp>
        <p:nvSpPr>
          <p:cNvPr id="14" name="u03_U03-022_eyebrow">
            <a:extLst xmlns:a="http://schemas.openxmlformats.org/drawingml/2006/main">
              <a:ext uri="{FF2B5EF4-FFF2-40B4-BE49-F238E27FC236}">
                <a16:creationId xmlns:a16="http://schemas.microsoft.com/office/drawing/2014/main" id="{F3D44542-2A02-4F1D-9EE8-6C7240B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0" name="U03-CH001" descr="Gráfico cuantitativo con título «El período es el tiempo de un ciclo completo». Definición, unidad s y marcas correctas/incorrectas sobre una señal tempor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d8ba3bf174ce4">
            <a:extLst>
              <a:ext uri="{96DAC541-7B7A-43D3-8B79-37D633B846F1}">
                <asvg:svgBlip xmlns:asvg="http://schemas.microsoft.com/office/drawing/2016/SVG/main" r:embed="R89636cbfe3dd47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22_caption">
            <a:extLst xmlns:a="http://schemas.openxmlformats.org/drawingml/2006/main">
              <a:ext uri="{FF2B5EF4-FFF2-40B4-BE49-F238E27FC236}">
                <a16:creationId xmlns:a16="http://schemas.microsoft.com/office/drawing/2014/main" id="{01EC95D5-F436-4305-AFCD-80FB034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período se mide entre dos estados equivalentes consecutivos.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frecuencia cuenta ciclos por unidad de tiempo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4E99CEF-AF55-BA3C-ADF8-4E52E186DD8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23</a:t>
            </a:fld>
          </a:p>
        </p:txBody>
      </p:sp>
      <p:sp>
        <p:nvSpPr>
          <p:cNvPr id="20" name="u03_U03-023_eyebrow">
            <a:extLst xmlns:a="http://schemas.openxmlformats.org/drawingml/2006/main">
              <a:ext uri="{FF2B5EF4-FFF2-40B4-BE49-F238E27FC236}">
                <a16:creationId xmlns:a16="http://schemas.microsoft.com/office/drawing/2014/main" id="{B1CC6E5B-0BC7-44CB-9D7A-6F58DA23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6" name="U03-CH001" descr="Gráfico cuantitativo con título «La frecuencia cuenta ciclos por unidad de tiempo». Definición, unidad Hz = s⁻¹ y comparación visual de igual duración con distinto número de cicl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392ea849e4743">
            <a:extLst>
              <a:ext uri="{96DAC541-7B7A-43D3-8B79-37D633B846F1}">
                <asvg:svgBlip xmlns:asvg="http://schemas.microsoft.com/office/drawing/2016/SVG/main" r:embed="R0d2e1b952ca9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23_caption">
            <a:extLst xmlns:a="http://schemas.openxmlformats.org/drawingml/2006/main">
              <a:ext uri="{FF2B5EF4-FFF2-40B4-BE49-F238E27FC236}">
                <a16:creationId xmlns:a16="http://schemas.microsoft.com/office/drawing/2014/main" id="{ACEF0E74-8052-4459-8BBA-C4D0188C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1 Hz equivale a un ciclo por segundo.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período son recíprocos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A59AF09-D197-0193-A7DE-FAAF0B69105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24</a:t>
            </a:fld>
          </a:p>
        </p:txBody>
      </p:sp>
      <p:sp>
        <p:nvSpPr>
          <p:cNvPr id="19" name="u03_U03-024_eyebrow">
            <a:extLst xmlns:a="http://schemas.openxmlformats.org/drawingml/2006/main">
              <a:ext uri="{FF2B5EF4-FFF2-40B4-BE49-F238E27FC236}">
                <a16:creationId xmlns:a16="http://schemas.microsoft.com/office/drawing/2014/main" id="{4B3AA737-F7E5-4E46-A56B-543F20A4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5" name="U03-DG025-S024" descr="Ecuación anotada con título «Frecuencia y período son recíprocos». f=1/T y T=1/f; símbolos, unidades y lectura causal limitad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88838ec024b7e">
            <a:extLst>
              <a:ext uri="{96DAC541-7B7A-43D3-8B79-37D633B846F1}">
                <asvg:svgBlip xmlns:asvg="http://schemas.microsoft.com/office/drawing/2016/SVG/main" r:embed="R0d87c4b63e8141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24_caption">
            <a:extLst xmlns:a="http://schemas.openxmlformats.org/drawingml/2006/main">
              <a:ext uri="{FF2B5EF4-FFF2-40B4-BE49-F238E27FC236}">
                <a16:creationId xmlns:a16="http://schemas.microsoft.com/office/drawing/2014/main" id="{62FB573F-21F8-45AB-B35A-3FD63F8E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Más ciclos por segundo implican menos tiempo por ciclo.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ítulo 20">
            <a:extLst xmlns:a="http://schemas.openxmlformats.org/drawingml/2006/main">
              <a:ext uri="{FF2B5EF4-FFF2-40B4-BE49-F238E27FC236}">
                <a16:creationId xmlns:a16="http://schemas.microsoft.com/office/drawing/2014/main" id="{BFAACB0A-B001-9EF5-E20D-72DCFAB8AD7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2 ms por ciclo a 500 Hz</a:t>
            </a:r>
          </a:p>
        </p:txBody>
      </p:sp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3AE1AE4-D79E-94D6-E825-3FC6C21A77D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25</a:t>
            </a:fld>
          </a:p>
        </p:txBody>
      </p:sp>
      <p:sp>
        <p:nvSpPr>
          <p:cNvPr id="25" name="u03_U03-025_eyebrow">
            <a:extLst xmlns:a="http://schemas.openxmlformats.org/drawingml/2006/main">
              <a:ext uri="{FF2B5EF4-FFF2-40B4-BE49-F238E27FC236}">
                <a16:creationId xmlns:a16="http://schemas.microsoft.com/office/drawing/2014/main" id="{C939F02B-C0E0-498B-8F75-67FFBD8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26" name="U03-025_equation">
            <a:extLst xmlns:a="http://schemas.openxmlformats.org/drawingml/2006/main">
              <a:ext uri="{FF2B5EF4-FFF2-40B4-BE49-F238E27FC236}">
                <a16:creationId xmlns:a16="http://schemas.microsoft.com/office/drawing/2014/main" id="{8C1C4AA6-6630-44FD-B5E4-572982E8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DE0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T=2 ms=2×10⁻³ s; f=1/T=500 Hz.</a:t>
            </a:r>
          </a:p>
        </p:txBody>
      </p:sp>
      <p:sp>
        <p:nvSpPr>
          <p:cNvPr id="27" name="U03-025_body">
            <a:extLst xmlns:a="http://schemas.openxmlformats.org/drawingml/2006/main">
              <a:ext uri="{FF2B5EF4-FFF2-40B4-BE49-F238E27FC236}">
                <a16:creationId xmlns:a16="http://schemas.microsoft.com/office/drawing/2014/main" id="{21A70A94-DBEF-4BED-BF5C-643D5812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0515600" cy="3343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228600" tIns="171450" rIns="228600" bIns="1714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Datos: T=2 ms. </a:t>
            </a:r>
          </a:p>
          <a:p xmlns:a="http://schemas.openxmlformats.org/drawingml/2006/main"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1: convertir a segundos. </a:t>
            </a:r>
          </a:p>
          <a:p xmlns:a="http://schemas.openxmlformats.org/drawingml/2006/main"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2: aplicar f=1/T. </a:t>
            </a:r>
          </a:p>
          <a:p xmlns:a="http://schemas.openxmlformats.org/drawingml/2006/main"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 f=500 Hz.</a:t>
            </a:r>
          </a:p>
        </p:txBody>
      </p:sp>
      <p:sp>
        <p:nvSpPr>
          <p:cNvPr id="28" name="U03-025_example">
            <a:extLst xmlns:a="http://schemas.openxmlformats.org/drawingml/2006/main">
              <a:ext uri="{FF2B5EF4-FFF2-40B4-BE49-F238E27FC236}">
                <a16:creationId xmlns:a16="http://schemas.microsoft.com/office/drawing/2014/main" id="{0E157BB1-1B95-4D11-BB56-06C665DE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Ejemplo: Conversión y cálculo completo de T=2 ms a f=500 Hz.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ítulo 11">
            <a:extLst xmlns:a="http://schemas.openxmlformats.org/drawingml/2006/main">
              <a:ext uri="{FF2B5EF4-FFF2-40B4-BE49-F238E27FC236}">
                <a16:creationId xmlns:a16="http://schemas.microsoft.com/office/drawing/2014/main" id="{53A7E32D-E9D3-CD27-D20F-F7494F6CCA2B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fase ubica un estado dentro del ciclo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AB55966-FA28-BC73-EA9E-53DF014DF03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26</a:t>
            </a:fld>
          </a:p>
        </p:txBody>
      </p:sp>
      <p:sp>
        <p:nvSpPr>
          <p:cNvPr id="19" name="u03_U03-026_eyebrow">
            <a:extLst xmlns:a="http://schemas.openxmlformats.org/drawingml/2006/main">
              <a:ext uri="{FF2B5EF4-FFF2-40B4-BE49-F238E27FC236}">
                <a16:creationId xmlns:a16="http://schemas.microsoft.com/office/drawing/2014/main" id="{CA27A279-071A-4204-96BE-01DF0CAC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5" name="U03-DG007-S026" descr="Diagrama conceptual con título «La fase ubica un estado dentro del ciclo». Ciclo circular y señal temporal con cuatro estados equivalentes; φ₀ como estado inici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2d054a7924f22">
            <a:extLst>
              <a:ext uri="{96DAC541-7B7A-43D3-8B79-37D633B846F1}">
                <asvg:svgBlip xmlns:asvg="http://schemas.microsoft.com/office/drawing/2016/SVG/main" r:embed="Rdb7ba013dd0c43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26_caption">
            <a:extLst xmlns:a="http://schemas.openxmlformats.org/drawingml/2006/main">
              <a:ext uri="{FF2B5EF4-FFF2-40B4-BE49-F238E27FC236}">
                <a16:creationId xmlns:a16="http://schemas.microsoft.com/office/drawing/2014/main" id="{EC9D05B1-F79B-4B50-BAAC-AEE7EF51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Dos oscilaciones pueden compartir amplitud y frecuencia y estar en estados distintos del ciclo.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ítulo 16">
            <a:extLst xmlns:a="http://schemas.openxmlformats.org/drawingml/2006/main"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preguntas describen una oscilación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02F15020-66A7-620A-7B7A-C05C4312DEA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27</a:t>
            </a:fld>
          </a:p>
        </p:txBody>
      </p:sp>
      <p:sp>
        <p:nvSpPr>
          <p:cNvPr id="21" name="u03_U03-027_eyebrow">
            <a:extLst xmlns:a="http://schemas.openxmlformats.org/drawingml/2006/main">
              <a:ext uri="{FF2B5EF4-FFF2-40B4-BE49-F238E27FC236}">
                <a16:creationId xmlns:a16="http://schemas.microsoft.com/office/drawing/2014/main" id="{8291A868-A264-49AD-84B1-6610666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pic>
        <p:nvPicPr>
          <p:cNvPr id="27" name="U03-DG008-S027" descr="Diagrama conceptual con título «Cuatro preguntas describen una oscilación». Matriz de cuatro magnitudes con pregunta, símbolo y unidad; mini chequeo sobre una señ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9dd21093d4bfe">
            <a:extLst>
              <a:ext uri="{96DAC541-7B7A-43D3-8B79-37D633B846F1}">
                <asvg:svgBlip xmlns:asvg="http://schemas.microsoft.com/office/drawing/2016/SVG/main" r:embed="R2bbe18a87e4942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27_caption">
            <a:extLst xmlns:a="http://schemas.openxmlformats.org/drawingml/2006/main">
              <a:ext uri="{FF2B5EF4-FFF2-40B4-BE49-F238E27FC236}">
                <a16:creationId xmlns:a16="http://schemas.microsoft.com/office/drawing/2014/main" id="{3D042E89-8EDD-49EF-BAEA-F884C0F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Cuánto se aleja, cuánto tarda, cuántos ciclos ocurren y en qué estado comienza son preguntas distintas.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curva no es el fenómeno: es una representación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Una sinusoide solo cobra sentido cuando se nombran variable, ejes, unidades y condiciones.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68AD4375-9F50-F53A-6F9F-DD8473067C05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fld>
          </a:p>
        </p:txBody>
      </p:sp>
      <p:sp>
        <p:nvSpPr>
          <p:cNvPr id="10" name="u03_U03-028_eyebrow">
            <a:extLst xmlns:a="http://schemas.openxmlformats.org/drawingml/2006/main">
              <a:ext uri="{FF2B5EF4-FFF2-40B4-BE49-F238E27FC236}">
                <a16:creationId xmlns:a16="http://schemas.microsoft.com/office/drawing/2014/main" id="{5A640F19-638A-450D-882E-4D74038C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x(t) describe una posición que cambia en el tiempo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1680313-6E64-04FF-399A-57B7CADE95A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29</a:t>
            </a:fld>
          </a:p>
        </p:txBody>
      </p:sp>
      <p:sp>
        <p:nvSpPr>
          <p:cNvPr id="19" name="u03_U03-029_eyebrow">
            <a:extLst xmlns:a="http://schemas.openxmlformats.org/drawingml/2006/main">
              <a:ext uri="{FF2B5EF4-FFF2-40B4-BE49-F238E27FC236}">
                <a16:creationId xmlns:a16="http://schemas.microsoft.com/office/drawing/2014/main" id="{208D7646-9572-48A8-AC4E-9B50014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25" name="U03-DG009-S029" descr="Ecuación anotada con título «`x(t)` describe una posición que cambia en el tiempo». x(t)=A_x cos(2πft+φ₀); variable dependiente, tiempo, amplitud, frecuencia y fase inicial; unidad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c1ed1dabc4c4a">
            <a:extLst>
              <a:ext uri="{96DAC541-7B7A-43D3-8B79-37D633B846F1}">
                <asvg:svgBlip xmlns:asvg="http://schemas.microsoft.com/office/drawing/2016/SVG/main" r:embed="R92bb9b12e4444b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29_caption">
            <a:extLst xmlns:a="http://schemas.openxmlformats.org/drawingml/2006/main">
              <a:ext uri="{FF2B5EF4-FFF2-40B4-BE49-F238E27FC236}">
                <a16:creationId xmlns:a16="http://schemas.microsoft.com/office/drawing/2014/main" id="{AAABEB44-A881-4369-9414-A9503102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Cada símbolo conecta una característica visible con una magnitud física.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ítulo 20">
            <a:extLst xmlns:a="http://schemas.openxmlformats.org/drawingml/2006/main">
              <a:ext uri="{FF2B5EF4-FFF2-40B4-BE49-F238E27FC236}">
                <a16:creationId xmlns:a16="http://schemas.microsoft.com/office/drawing/2014/main" id="{BFAACB0A-B001-9EF5-E20D-72DCFAB8AD7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cono de un parlante puede moverse micrómetros</a:t>
            </a:r>
          </a:p>
        </p:txBody>
      </p:sp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FEBBBCE-9E16-527A-0EE3-E5839422D84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30</a:t>
            </a:fld>
          </a:p>
        </p:txBody>
      </p:sp>
      <p:sp>
        <p:nvSpPr>
          <p:cNvPr id="25" name="u03_U03-030_eyebrow">
            <a:extLst xmlns:a="http://schemas.openxmlformats.org/drawingml/2006/main">
              <a:ext uri="{FF2B5EF4-FFF2-40B4-BE49-F238E27FC236}">
                <a16:creationId xmlns:a16="http://schemas.microsoft.com/office/drawing/2014/main" id="{FCB0B163-51FB-414E-ACF2-6748D17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31" name="U03-CH002" descr="Esquema mixto con título «El cono de un parlante puede moverse micrómetros». Caso A_x=0,010 mm, f=500 Hz; conversión de amplitud, período y lectura de la expresión sin desarrollar toda la cuen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174b3355c45e9">
            <a:extLst>
              <a:ext uri="{96DAC541-7B7A-43D3-8B79-37D633B846F1}">
                <asvg:svgBlip xmlns:asvg="http://schemas.microsoft.com/office/drawing/2016/SVG/main" r:embed="R253abcd7d52444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7" name="U03-030_caption">
            <a:extLst xmlns:a="http://schemas.openxmlformats.org/drawingml/2006/main">
              <a:ext uri="{FF2B5EF4-FFF2-40B4-BE49-F238E27FC236}">
                <a16:creationId xmlns:a16="http://schemas.microsoft.com/office/drawing/2014/main" id="{AFDFB557-5564-4FB8-94EB-1159DD0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oscilación de alta frecuencia puede tener un desplazamiento extremadamente pequeño.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ítulo 24">
            <a:extLst xmlns:a="http://schemas.openxmlformats.org/drawingml/2006/main"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los extremos la velocidad se anula</a:t>
            </a:r>
          </a:p>
        </p:txBody>
      </p:sp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172A7C5-A0CC-7B36-F236-345181E6AD7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31</a:t>
            </a:fld>
          </a:p>
        </p:txBody>
      </p:sp>
      <p:sp>
        <p:nvSpPr>
          <p:cNvPr id="29" name="u03_U03-031_eyebrow">
            <a:extLst xmlns:a="http://schemas.openxmlformats.org/drawingml/2006/main">
              <a:ext uri="{FF2B5EF4-FFF2-40B4-BE49-F238E27FC236}">
                <a16:creationId xmlns:a16="http://schemas.microsoft.com/office/drawing/2014/main" id="{36428780-26E7-4C24-B4FD-641CCC6C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35" name="U03-DG010-S031" descr="Diagrama conceptual con título «En los extremos la velocidad se anula». Cuatro estados del oscilador con signos de x y v; sin fórmula derivada como foc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0ae1a2cd442d0">
            <a:extLst>
              <a:ext uri="{96DAC541-7B7A-43D3-8B79-37D633B846F1}">
                <asvg:svgBlip xmlns:asvg="http://schemas.microsoft.com/office/drawing/2016/SVG/main" r:embed="Rdeebd3c6c09a4c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31" name="U03-031_caption">
            <a:extLst xmlns:a="http://schemas.openxmlformats.org/drawingml/2006/main">
              <a:ext uri="{FF2B5EF4-FFF2-40B4-BE49-F238E27FC236}">
                <a16:creationId xmlns:a16="http://schemas.microsoft.com/office/drawing/2014/main" id="{A6CB0E21-FED5-4007-9015-47EED313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rapidez es máxima al pasar por el equilibrio y cero en los extremos.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ítulo 24">
            <a:extLst xmlns:a="http://schemas.openxmlformats.org/drawingml/2006/main"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aceleración siempre apunta hacia el equilibrio</a:t>
            </a:r>
          </a:p>
        </p:txBody>
      </p:sp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6C3428B-053E-6B4E-39FF-75B44F3F33F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32</a:t>
            </a:fld>
          </a:p>
        </p:txBody>
      </p:sp>
      <p:sp>
        <p:nvSpPr>
          <p:cNvPr id="29" name="u03_U03-032_eyebrow">
            <a:extLst xmlns:a="http://schemas.openxmlformats.org/drawingml/2006/main">
              <a:ext uri="{FF2B5EF4-FFF2-40B4-BE49-F238E27FC236}">
                <a16:creationId xmlns:a16="http://schemas.microsoft.com/office/drawing/2014/main" id="{BC08E451-1CA4-4B1A-B670-E124AFC5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35" name="U03-DG010-S032" descr="Diagrama conceptual con título «La aceleración siempre apunta hacia el equilibrio». Cuatro estados del oscilador con x y a; contraste explícito con velocida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55f76c4464f65">
            <a:extLst>
              <a:ext uri="{96DAC541-7B7A-43D3-8B79-37D633B846F1}">
                <asvg:svgBlip xmlns:asvg="http://schemas.microsoft.com/office/drawing/2016/SVG/main" r:embed="R559400d0d7704e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31" name="U03-032_caption">
            <a:extLst xmlns:a="http://schemas.openxmlformats.org/drawingml/2006/main">
              <a:ext uri="{FF2B5EF4-FFF2-40B4-BE49-F238E27FC236}">
                <a16:creationId xmlns:a16="http://schemas.microsoft.com/office/drawing/2014/main" id="{E3D8A8B7-788F-429E-9B31-18847441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los extremos el módulo de a es máximo y en el equilibrio a=0.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ítulo 3">
            <a:extLst xmlns:a="http://schemas.openxmlformats.org/drawingml/2006/main"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Posición, velocidad y aceleración no coinciden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9F9B2FD-F323-2D0A-D581-D6E61055F9A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33</a:t>
            </a:fld>
          </a:p>
        </p:txBody>
      </p:sp>
      <p:sp>
        <p:nvSpPr>
          <p:cNvPr id="19" name="u03_U03-033_eyebrow">
            <a:extLst xmlns:a="http://schemas.openxmlformats.org/drawingml/2006/main">
              <a:ext uri="{FF2B5EF4-FFF2-40B4-BE49-F238E27FC236}">
                <a16:creationId xmlns:a16="http://schemas.microsoft.com/office/drawing/2014/main" id="{416B9FEB-522D-4776-A675-2C9FD93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25" name="U03-CH003" descr="Gráfico cuantitativo con título «Posición, velocidad y aceleración no alcanzan sus máximos juntas». Tres gráficos temporales alineados, mismos marcadores verticales y escalas normalizadas; notas de sig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8d9317b714da2">
            <a:extLst>
              <a:ext uri="{96DAC541-7B7A-43D3-8B79-37D633B846F1}">
                <asvg:svgBlip xmlns:asvg="http://schemas.microsoft.com/office/drawing/2016/SVG/main" r:embed="R9c901c1175fb49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33_caption">
            <a:extLst xmlns:a="http://schemas.openxmlformats.org/drawingml/2006/main">
              <a:ext uri="{FF2B5EF4-FFF2-40B4-BE49-F238E27FC236}">
                <a16:creationId xmlns:a16="http://schemas.microsoft.com/office/drawing/2014/main" id="{3EFDC22E-AFF6-4692-8AD1-04C2931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tres curvas comparten frecuencia, pero sus máximos ocurren en momentos diferentes.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este instante, ¿hacia dónde se mueve y acelera?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6C2EC43-E3B9-C9B0-67FF-5447EB7F392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34</a:t>
            </a:fld>
          </a:p>
        </p:txBody>
      </p:sp>
      <p:sp>
        <p:nvSpPr>
          <p:cNvPr id="15" name="u03_U03-034_eyebrow">
            <a:extLst xmlns:a="http://schemas.openxmlformats.org/drawingml/2006/main">
              <a:ext uri="{FF2B5EF4-FFF2-40B4-BE49-F238E27FC236}">
                <a16:creationId xmlns:a16="http://schemas.microsoft.com/office/drawing/2014/main" id="{BE05FF58-4369-4BCC-9EAF-38DAC90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21" name="U03-CH003" descr="Gráfico cuantitativo con título «En este instante, ¿hacia dónde se mueve y acelera?». Punto marcado en x(t) y opciones de signo para v y a, con justific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a782fb68f47ad">
            <a:extLst>
              <a:ext uri="{96DAC541-7B7A-43D3-8B79-37D633B846F1}">
                <asvg:svgBlip xmlns:asvg="http://schemas.microsoft.com/office/drawing/2016/SVG/main" r:embed="R047b51fcfb1f44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7" name="U03-034_caption">
            <a:extLst xmlns:a="http://schemas.openxmlformats.org/drawingml/2006/main">
              <a:ext uri="{FF2B5EF4-FFF2-40B4-BE49-F238E27FC236}">
                <a16:creationId xmlns:a16="http://schemas.microsoft.com/office/drawing/2014/main" id="{33AFEB29-168E-438F-9E60-62D36DE4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posición por sí sola no determina el sentido de movimiento; hace falta la pendiente o el estado de ciclo.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forma puede representar magnitudes distintas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A4FA566-8B12-6DD2-DDB5-FA6393938FB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35</a:t>
            </a:fld>
          </a:p>
        </p:txBody>
      </p:sp>
      <p:sp>
        <p:nvSpPr>
          <p:cNvPr id="20" name="u03_U03-035_eyebrow">
            <a:extLst xmlns:a="http://schemas.openxmlformats.org/drawingml/2006/main">
              <a:ext uri="{FF2B5EF4-FFF2-40B4-BE49-F238E27FC236}">
                <a16:creationId xmlns:a16="http://schemas.microsoft.com/office/drawing/2014/main" id="{300A287B-106F-44C8-A3B7-92ED6F9A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26" name="U03-CH004" descr="Gráfico cuantitativo con título «La misma forma puede representar magnitudes distintas». Cuatro mini gráficos con el mismo perfil y ejes verticales distintos; pregunta “¿qué representa cada uno?”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82d9279f143c5">
            <a:extLst>
              <a:ext uri="{96DAC541-7B7A-43D3-8B79-37D633B846F1}">
                <asvg:svgBlip xmlns:asvg="http://schemas.microsoft.com/office/drawing/2016/SVG/main" r:embed="Rfc20dad9e63444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35_caption">
            <a:extLst xmlns:a="http://schemas.openxmlformats.org/drawingml/2006/main">
              <a:ext uri="{FF2B5EF4-FFF2-40B4-BE49-F238E27FC236}">
                <a16:creationId xmlns:a16="http://schemas.microsoft.com/office/drawing/2014/main" id="{9B9DAB46-C0CB-45F0-B465-630E4EEF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x(t), ξ(t), p(t) y V(t) pueden ser sinusoidales, pero no comparten variable ni unidad.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ítulo 12">
            <a:extLst xmlns:a="http://schemas.openxmlformats.org/drawingml/2006/main">
              <a:ext uri="{FF2B5EF4-FFF2-40B4-BE49-F238E27FC236}">
                <a16:creationId xmlns:a16="http://schemas.microsoft.com/office/drawing/2014/main" id="{44CFAA6A-E4FB-BA96-3ED4-B652EF96F62F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sinusoide no es la trayectoria de una partícula</a:t>
            </a:r>
          </a:p>
        </p:txBody>
      </p:sp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39A338D-B192-3127-EB9A-53A2665A0BB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36</a:t>
            </a:fld>
          </a:p>
        </p:txBody>
      </p:sp>
      <p:sp>
        <p:nvSpPr>
          <p:cNvPr id="17" name="u03_U03-036_eyebrow">
            <a:extLst xmlns:a="http://schemas.openxmlformats.org/drawingml/2006/main">
              <a:ext uri="{FF2B5EF4-FFF2-40B4-BE49-F238E27FC236}">
                <a16:creationId xmlns:a16="http://schemas.microsoft.com/office/drawing/2014/main" id="{67419242-3F97-4C39-A15B-AAEA2810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23" name="U03-DG011-S036" descr="Esquema mixto con título «Una sinusoide no es automáticamente la trayectoria de una partícula». Error, corrección y dos casos: x(t) temporal frente a perfil espacial; eje y unidad como criteri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bde7d2f6c40e8">
            <a:extLst>
              <a:ext uri="{96DAC541-7B7A-43D3-8B79-37D633B846F1}">
                <asvg:svgBlip xmlns:asvg="http://schemas.microsoft.com/office/drawing/2016/SVG/main" r:embed="Ra893ddfe8b1a45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9" name="U03-036_caption">
            <a:extLst xmlns:a="http://schemas.openxmlformats.org/drawingml/2006/main">
              <a:ext uri="{FF2B5EF4-FFF2-40B4-BE49-F238E27FC236}">
                <a16:creationId xmlns:a16="http://schemas.microsoft.com/office/drawing/2014/main" id="{DE07A81C-336A-44A0-A804-477A1F6E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forma del gráfico depende de los ejes, no de la forma geométrica que recorre el objeto.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ítulo 12">
            <a:extLst xmlns:a="http://schemas.openxmlformats.org/drawingml/2006/main">
              <a:ext uri="{FF2B5EF4-FFF2-40B4-BE49-F238E27FC236}">
                <a16:creationId xmlns:a16="http://schemas.microsoft.com/office/drawing/2014/main" id="{44CFAA6A-E4FB-BA96-3ED4-B652EF96F62F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sin escala no entrega un valor físico</a:t>
            </a:r>
          </a:p>
        </p:txBody>
      </p:sp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D334276-4C85-190E-BA41-5CA1CBB04E4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37</a:t>
            </a:fld>
          </a:p>
        </p:txBody>
      </p:sp>
      <p:sp>
        <p:nvSpPr>
          <p:cNvPr id="17" name="u03_U03-037_eyebrow">
            <a:extLst xmlns:a="http://schemas.openxmlformats.org/drawingml/2006/main">
              <a:ext uri="{FF2B5EF4-FFF2-40B4-BE49-F238E27FC236}">
                <a16:creationId xmlns:a16="http://schemas.microsoft.com/office/drawing/2014/main" id="{8D24A06D-8ADA-4793-BB49-4D4C80A5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23" name="U03-DG012-S037" descr="Esquema mixto con título «Una curva sin escala no entrega un valor físico». Tres versiones: esquema cualitativo, señal normalizada y registro calibrado; qué se puede concluir en cada un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5c17d75974d4c">
            <a:extLst>
              <a:ext uri="{96DAC541-7B7A-43D3-8B79-37D633B846F1}">
                <asvg:svgBlip xmlns:asvg="http://schemas.microsoft.com/office/drawing/2016/SVG/main" r:embed="R7b85058ca79e49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9" name="U03-037_caption">
            <a:extLst xmlns:a="http://schemas.openxmlformats.org/drawingml/2006/main">
              <a:ext uri="{FF2B5EF4-FFF2-40B4-BE49-F238E27FC236}">
                <a16:creationId xmlns:a16="http://schemas.microsoft.com/office/drawing/2014/main" id="{98CAD7EA-2243-4D78-87A8-BDC0F1BA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Sin ejes, unidades y calibración se reconoce un patrón, pero no una magnitud física.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ítulo 16">
            <a:extLst xmlns:a="http://schemas.openxmlformats.org/drawingml/2006/main"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interpretar una señal, haga cuatro preguntas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55A7F00-3259-A23D-D734-A322A9F9DD6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38</a:t>
            </a:fld>
          </a:p>
        </p:txBody>
      </p:sp>
      <p:sp>
        <p:nvSpPr>
          <p:cNvPr id="21" name="u03_U03-038_eyebrow">
            <a:extLst xmlns:a="http://schemas.openxmlformats.org/drawingml/2006/main">
              <a:ext uri="{FF2B5EF4-FFF2-40B4-BE49-F238E27FC236}">
                <a16:creationId xmlns:a16="http://schemas.microsoft.com/office/drawing/2014/main" id="{DC7996B4-B533-4487-BE70-626A0882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pic>
        <p:nvPicPr>
          <p:cNvPr id="27" name="U03-DG012-S038" descr="Diagrama conceptual con título «Antes de interpretar una señal, haga cuatro preguntas». Checklist de cuatro preguntas y retorno al diagnóstico sobre amplitud–sonoridad y frecuencia–pitch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d8adf507e4a1d">
            <a:extLst>
              <a:ext uri="{96DAC541-7B7A-43D3-8B79-37D633B846F1}">
                <asvg:svgBlip xmlns:asvg="http://schemas.microsoft.com/office/drawing/2016/SVG/main" r:embed="Rc95f59abe17c48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38_caption">
            <a:extLst xmlns:a="http://schemas.openxmlformats.org/drawingml/2006/main">
              <a:ext uri="{FF2B5EF4-FFF2-40B4-BE49-F238E27FC236}">
                <a16:creationId xmlns:a16="http://schemas.microsoft.com/office/drawing/2014/main" id="{0FB1836B-34CE-4898-BE1A-3E4BD8F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Variable, eje horizontal, unidad y calibración preceden a cualquier conclusión.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una señal ideal a una perturbación acústica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El tono puro es un modelo sinusoidal; el parlante conecta dominios físicos.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6166C477-A387-35CF-F492-F54B4FA4FEC9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fld>
          </a:p>
        </p:txBody>
      </p:sp>
      <p:sp>
        <p:nvSpPr>
          <p:cNvPr id="10" name="u03_U03-039_eyebrow">
            <a:extLst xmlns:a="http://schemas.openxmlformats.org/drawingml/2006/main">
              <a:ext uri="{FF2B5EF4-FFF2-40B4-BE49-F238E27FC236}">
                <a16:creationId xmlns:a16="http://schemas.microsoft.com/office/drawing/2014/main" id="{5930368A-6FDA-440F-B88A-495FC70A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tono puro ideal tiene una sola frecuencia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0C89EF0-BE71-8D92-BDDF-FF7D05F0AC0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40</a:t>
            </a:fld>
          </a:p>
        </p:txBody>
      </p:sp>
      <p:sp>
        <p:nvSpPr>
          <p:cNvPr id="14" name="u03_U03-040_eyebrow">
            <a:extLst xmlns:a="http://schemas.openxmlformats.org/drawingml/2006/main">
              <a:ext uri="{FF2B5EF4-FFF2-40B4-BE49-F238E27FC236}">
                <a16:creationId xmlns:a16="http://schemas.microsoft.com/office/drawing/2014/main" id="{DA687123-F658-45AA-BD4D-884F4DAF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20" name="U03-DG013-S040" descr="Ecuación anotada con título «Un tono puro ideal tiene una sola frecuencia». Definición, s(t)=A_s cos(2πft+φ₀) y condiciones ideales; s como variable genérica declarad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d9dddc0e24433">
            <a:extLst>
              <a:ext uri="{96DAC541-7B7A-43D3-8B79-37D633B846F1}">
                <asvg:svgBlip xmlns:asvg="http://schemas.microsoft.com/office/drawing/2016/SVG/main" r:embed="Rabacda164fe841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40_caption">
            <a:extLst xmlns:a="http://schemas.openxmlformats.org/drawingml/2006/main">
              <a:ext uri="{FF2B5EF4-FFF2-40B4-BE49-F238E27FC236}">
                <a16:creationId xmlns:a16="http://schemas.microsoft.com/office/drawing/2014/main" id="{58AE5EB8-783E-46F4-B58D-5846745D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modelo ideal es sinusoidal, estable e infinitamente prolongado; una realización física solo lo aproxima.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tono real comienza y termina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9CAEC632-A9E6-82AB-6034-3014BC3905A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41</a:t>
            </a:fld>
          </a:p>
        </p:txBody>
      </p:sp>
      <p:sp>
        <p:nvSpPr>
          <p:cNvPr id="20" name="u03_U03-041_eyebrow">
            <a:extLst xmlns:a="http://schemas.openxmlformats.org/drawingml/2006/main">
              <a:ext uri="{FF2B5EF4-FFF2-40B4-BE49-F238E27FC236}">
                <a16:creationId xmlns:a16="http://schemas.microsoft.com/office/drawing/2014/main" id="{650FCCB0-72E1-43A3-BE63-C9A90923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26" name="U03-CH005" descr="Gráfico cuantitativo con título «Un tono real comienza y termina». Tres zonas: ataque, tramo estable y caída; límite explícito “su espectro se estudiará en U5”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d89921b7249bc">
            <a:extLst>
              <a:ext uri="{96DAC541-7B7A-43D3-8B79-37D633B846F1}">
                <asvg:svgBlip xmlns:asvg="http://schemas.microsoft.com/office/drawing/2016/SVG/main" r:embed="Ref0d0d0d46a346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41_caption">
            <a:extLst xmlns:a="http://schemas.openxmlformats.org/drawingml/2006/main">
              <a:ext uri="{FF2B5EF4-FFF2-40B4-BE49-F238E27FC236}">
                <a16:creationId xmlns:a16="http://schemas.microsoft.com/office/drawing/2014/main" id="{30B6B42E-53DD-4D9E-9582-40437A4A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encendido y apagado rompen la idealidad temporal aunque el tramo sostenido sea casi sinusoidal.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ítulo 24">
            <a:extLst xmlns:a="http://schemas.openxmlformats.org/drawingml/2006/main"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Señal eléctrica, cono, aire y presión: una cadena</a:t>
            </a:r>
          </a:p>
        </p:txBody>
      </p:sp>
      <p:sp>
        <p:nvSpPr>
          <p:cNvPr id="28" name="Marcador de número de diapositiva 27">
            <a:extLst xmlns:a="http://schemas.openxmlformats.org/drawingml/2006/main"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75CE1F1-F8E2-E359-8FD1-A9FA98B3A67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42</a:t>
            </a:fld>
          </a:p>
        </p:txBody>
      </p:sp>
      <p:sp>
        <p:nvSpPr>
          <p:cNvPr id="29" name="u03_U03-042_eyebrow">
            <a:extLst xmlns:a="http://schemas.openxmlformats.org/drawingml/2006/main">
              <a:ext uri="{FF2B5EF4-FFF2-40B4-BE49-F238E27FC236}">
                <a16:creationId xmlns:a16="http://schemas.microsoft.com/office/drawing/2014/main" id="{BDAB7CFE-526E-45E1-ABE6-DE67B0B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35" name="U03-DG014-S042" descr="Diagrama conceptual con título «Señal eléctrica, cono, aire y presión forman una cadena». V(t) → x_cono(t) → ξ_aire(t) → p(t); variable y unidad en cada etapa; flechas rotuladas como conversión físic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2db2e95794d96">
            <a:extLst>
              <a:ext uri="{96DAC541-7B7A-43D3-8B79-37D633B846F1}">
                <asvg:svgBlip xmlns:asvg="http://schemas.microsoft.com/office/drawing/2016/SVG/main" r:embed="Re156840f69f140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31" name="U03-042_caption">
            <a:extLst xmlns:a="http://schemas.openxmlformats.org/drawingml/2006/main">
              <a:ext uri="{FF2B5EF4-FFF2-40B4-BE49-F238E27FC236}">
                <a16:creationId xmlns:a16="http://schemas.microsoft.com/office/drawing/2014/main" id="{7E1D90E7-F82F-4DDE-9F6B-C2D99A21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forma sinusoidal puede conservarse aproximadamente mientras cambia la magnitud representada.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ítulo 11">
            <a:extLst xmlns:a="http://schemas.openxmlformats.org/drawingml/2006/main">
              <a:ext uri="{FF2B5EF4-FFF2-40B4-BE49-F238E27FC236}">
                <a16:creationId xmlns:a16="http://schemas.microsoft.com/office/drawing/2014/main" id="{53A7E32D-E9D3-CD27-D20F-F7494F6CCA2B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cono oscila alrededor de una posición media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70EE3B2-1325-F8E9-D276-8EA80C32ED1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43</a:t>
            </a:fld>
          </a:p>
        </p:txBody>
      </p:sp>
      <p:sp>
        <p:nvSpPr>
          <p:cNvPr id="19" name="u03_U03-043_eyebrow">
            <a:extLst xmlns:a="http://schemas.openxmlformats.org/drawingml/2006/main">
              <a:ext uri="{FF2B5EF4-FFF2-40B4-BE49-F238E27FC236}">
                <a16:creationId xmlns:a16="http://schemas.microsoft.com/office/drawing/2014/main" id="{46A5AD7A-D767-4589-A393-A8B1B84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25" name="U03-DG015-S043" descr="Diagrama conceptual con título «El cono oscila alrededor de una posición media». Tres posiciones del cono con eje, amplitud de desplazamiento y dirección instantáne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b98db52c54267">
            <a:extLst>
              <a:ext uri="{96DAC541-7B7A-43D3-8B79-37D633B846F1}">
                <asvg:svgBlip xmlns:asvg="http://schemas.microsoft.com/office/drawing/2016/SVG/main" r:embed="R54270b1e22ec4c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43_caption">
            <a:extLst xmlns:a="http://schemas.openxmlformats.org/drawingml/2006/main">
              <a:ext uri="{FF2B5EF4-FFF2-40B4-BE49-F238E27FC236}">
                <a16:creationId xmlns:a16="http://schemas.microsoft.com/office/drawing/2014/main" id="{FE5D7488-0B0C-48E3-B09A-AF7A0A2A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parlante no “envía el cono” hacia el oyente; alterna desplazamientos que perturban el aire vecino.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ítulo 23">
            <a:extLst xmlns:a="http://schemas.openxmlformats.org/drawingml/2006/main">
              <a:ext uri="{FF2B5EF4-FFF2-40B4-BE49-F238E27FC236}">
                <a16:creationId xmlns:a16="http://schemas.microsoft.com/office/drawing/2014/main" id="{6430AFA8-9094-1DB6-842A-986076FB7B38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aire vecino alterna compresiones y rarefacciones</a:t>
            </a:r>
          </a:p>
        </p:txBody>
      </p:sp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1110800D-D5E6-B48B-B335-F070B0EAA3B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44</a:t>
            </a:fld>
          </a:p>
        </p:txBody>
      </p:sp>
      <p:sp>
        <p:nvSpPr>
          <p:cNvPr id="27" name="u03_U03-044_eyebrow">
            <a:extLst xmlns:a="http://schemas.openxmlformats.org/drawingml/2006/main">
              <a:ext uri="{FF2B5EF4-FFF2-40B4-BE49-F238E27FC236}">
                <a16:creationId xmlns:a16="http://schemas.microsoft.com/office/drawing/2014/main" id="{12B386F8-BF44-4247-947D-65052A76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33" name="U03-DG015-S044" descr="Diagrama conceptual con título «El aire vecino alterna compresiones y rarefacciones». Secuencia cono hacia afuera/hacia adentro, partículas, compresión y rarefacción; flecha de propagación separad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b850137cc4c3c">
            <a:extLst>
              <a:ext uri="{96DAC541-7B7A-43D3-8B79-37D633B846F1}">
                <asvg:svgBlip xmlns:asvg="http://schemas.microsoft.com/office/drawing/2016/SVG/main" r:embed="R406cbe3a2a7245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9" name="U03-044_caption">
            <a:extLst xmlns:a="http://schemas.openxmlformats.org/drawingml/2006/main">
              <a:ext uri="{FF2B5EF4-FFF2-40B4-BE49-F238E27FC236}">
                <a16:creationId xmlns:a16="http://schemas.microsoft.com/office/drawing/2014/main" id="{7A93916C-C68C-4AF5-9455-A4CA1FF8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movimiento local del aire modifica separación y presión; la perturbación pasa a regiones vecinas.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ítulo 3">
            <a:extLst xmlns:a="http://schemas.openxmlformats.org/drawingml/2006/main"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punto del aire, la presión también puede oscilar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E060EEA-E29B-CF3D-E7B7-BE01DFE3A2D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45</a:t>
            </a:fld>
          </a:p>
        </p:txBody>
      </p:sp>
      <p:sp>
        <p:nvSpPr>
          <p:cNvPr id="19" name="u03_U03-045_eyebrow">
            <a:extLst xmlns:a="http://schemas.openxmlformats.org/drawingml/2006/main">
              <a:ext uri="{FF2B5EF4-FFF2-40B4-BE49-F238E27FC236}">
                <a16:creationId xmlns:a16="http://schemas.microsoft.com/office/drawing/2014/main" id="{1C7F31BA-7535-4EFE-85E3-33389BA0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25" name="U03-CH006" descr="Esquema mixto con título «En un punto del aire, la presión también puede oscilar». Esquema del punto de observación y gráfico de presión acústica relativa con línea de equilibrio; sin introducir nivel sonor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3de2ae7364c11">
            <a:extLst>
              <a:ext uri="{96DAC541-7B7A-43D3-8B79-37D633B846F1}">
                <asvg:svgBlip xmlns:asvg="http://schemas.microsoft.com/office/drawing/2016/SVG/main" r:embed="R84dd99d51bbe4d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45_caption">
            <a:extLst xmlns:a="http://schemas.openxmlformats.org/drawingml/2006/main">
              <a:ext uri="{FF2B5EF4-FFF2-40B4-BE49-F238E27FC236}">
                <a16:creationId xmlns:a16="http://schemas.microsoft.com/office/drawing/2014/main" id="{F0397705-95EA-4373-97AB-5B1DD443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 micrófono en posición fija puede registrar p(t) sinusoidal alrededor de la presión ambiente.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ítulo 11">
            <a:extLst xmlns:a="http://schemas.openxmlformats.org/drawingml/2006/main"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tono audiométrico exige nivel y calibración</a:t>
            </a:r>
          </a:p>
        </p:txBody>
      </p:sp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72DB7CE-501A-BBF4-0CAD-B084CE0A592C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46</a:t>
            </a:fld>
          </a:p>
        </p:txBody>
      </p:sp>
      <p:sp>
        <p:nvSpPr>
          <p:cNvPr id="16" name="u03_U03-046_eyebrow">
            <a:extLst xmlns:a="http://schemas.openxmlformats.org/drawingml/2006/main">
              <a:ext uri="{FF2B5EF4-FFF2-40B4-BE49-F238E27FC236}">
                <a16:creationId xmlns:a16="http://schemas.microsoft.com/office/drawing/2014/main" id="{DEA6E8CE-1FE7-4D7B-A801-19F7FD3E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22" name="U03-DG016-S046" descr="Esquema mixto con título «Un tono audiométrico exige frecuencia, nivel y calibración». Cadena generador–transductor–acoplador u oído; parámetros físicos frente a ajuste instrumental; anticipación de U4/U8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4a6d2722d4a45">
            <a:extLst>
              <a:ext uri="{96DAC541-7B7A-43D3-8B79-37D633B846F1}">
                <asvg:svgBlip xmlns:asvg="http://schemas.microsoft.com/office/drawing/2016/SVG/main" r:embed="R5f294d6babd14d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8" name="U03-046_caption">
            <a:extLst xmlns:a="http://schemas.openxmlformats.org/drawingml/2006/main">
              <a:ext uri="{FF2B5EF4-FFF2-40B4-BE49-F238E27FC236}">
                <a16:creationId xmlns:a16="http://schemas.microsoft.com/office/drawing/2014/main" id="{570ED518-C196-4174-8DD3-43D63C6B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forma sinusoidal y la frecuencia no bastan para garantizar el estímulo entregado al paciente.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ítulo 16">
            <a:extLst xmlns:a="http://schemas.openxmlformats.org/drawingml/2006/main"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patrón, cuatro variables físicas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766E625-45F0-7FC0-7206-B9D4780D346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47</a:t>
            </a:fld>
          </a:p>
        </p:txBody>
      </p:sp>
      <p:sp>
        <p:nvSpPr>
          <p:cNvPr id="21" name="u03_U03-047_eyebrow">
            <a:extLst xmlns:a="http://schemas.openxmlformats.org/drawingml/2006/main">
              <a:ext uri="{FF2B5EF4-FFF2-40B4-BE49-F238E27FC236}">
                <a16:creationId xmlns:a16="http://schemas.microsoft.com/office/drawing/2014/main" id="{45BE036B-E0C8-4689-A4E7-D2ACEEE7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pic>
        <p:nvPicPr>
          <p:cNvPr id="27" name="U03-DG014-S047" descr="Diagrama conceptual con título «Un mismo patrón, cuatro variables físicas». Cadena reducida con una pregunta por etapa: variable, unidad, qué oscila y qué se propag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df5dc7cef4f83">
            <a:extLst>
              <a:ext uri="{96DAC541-7B7A-43D3-8B79-37D633B846F1}">
                <asvg:svgBlip xmlns:asvg="http://schemas.microsoft.com/office/drawing/2016/SVG/main" r:embed="R441788da0a1441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47_caption">
            <a:extLst xmlns:a="http://schemas.openxmlformats.org/drawingml/2006/main">
              <a:ext uri="{FF2B5EF4-FFF2-40B4-BE49-F238E27FC236}">
                <a16:creationId xmlns:a16="http://schemas.microsoft.com/office/drawing/2014/main" id="{DF0708AF-DFDC-4640-851D-7C227324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sinusoidalidad puede repetirse en tensión, desplazamiento y presión sin volverlas la misma magnitud.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onda depende del tiempo y del lugar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Una onda viajera requiere dos coordenadas independientes.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79CF87E8-8F71-04A5-6F3A-BEE8F630D5E2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48</a:t>
            </a:fld>
          </a:p>
        </p:txBody>
      </p:sp>
      <p:sp>
        <p:nvSpPr>
          <p:cNvPr id="10" name="u03_U03-048_eyebrow">
            <a:extLst xmlns:a="http://schemas.openxmlformats.org/drawingml/2006/main">
              <a:ext uri="{FF2B5EF4-FFF2-40B4-BE49-F238E27FC236}">
                <a16:creationId xmlns:a16="http://schemas.microsoft.com/office/drawing/2014/main" id="{92B28F41-61CD-468C-A384-1EAD7A1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ξ(x,t) asigna un estado a cada lugar y cada instante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D74175A-4E66-87FD-D56A-AAD4D4BBF87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49</a:t>
            </a:fld>
          </a:p>
        </p:txBody>
      </p:sp>
      <p:sp>
        <p:nvSpPr>
          <p:cNvPr id="14" name="u03_U03-049_eyebrow">
            <a:extLst xmlns:a="http://schemas.openxmlformats.org/drawingml/2006/main">
              <a:ext uri="{FF2B5EF4-FFF2-40B4-BE49-F238E27FC236}">
                <a16:creationId xmlns:a16="http://schemas.microsoft.com/office/drawing/2014/main" id="{ADA00602-9224-4C16-8408-47378F48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0" name="U03-DG017-S049" descr="Diagrama conceptual con título «`ξ(x,t)` asigna un estado a cada lugar y cada instante». Tabla mínima de tres posiciones y tres instantes; notación ξ(x,t) y pregunta asociada a cada argument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aabe929204fe7">
            <a:extLst>
              <a:ext uri="{96DAC541-7B7A-43D3-8B79-37D633B846F1}">
                <asvg:svgBlip xmlns:asvg="http://schemas.microsoft.com/office/drawing/2016/SVG/main" r:embed="R144b85d21cce4e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49_caption">
            <a:extLst xmlns:a="http://schemas.openxmlformats.org/drawingml/2006/main">
              <a:ext uri="{FF2B5EF4-FFF2-40B4-BE49-F238E27FC236}">
                <a16:creationId xmlns:a16="http://schemas.microsoft.com/office/drawing/2014/main" id="{E510B1EE-E846-4355-AF76-F19B412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Para describir la propagación hay que indicar dónde y cuándo se observa.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ítulo 23">
            <a:extLst xmlns:a="http://schemas.openxmlformats.org/drawingml/2006/main">
              <a:ext uri="{FF2B5EF4-FFF2-40B4-BE49-F238E27FC236}">
                <a16:creationId xmlns:a16="http://schemas.microsoft.com/office/drawing/2014/main" id="{6430AFA8-9094-1DB6-842A-986076FB7B38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mapa espacio–tiempo muestra el avance</a:t>
            </a:r>
          </a:p>
        </p:txBody>
      </p:sp>
      <p:sp>
        <p:nvSpPr>
          <p:cNvPr id="26" name="Marcador de número de diapositiva 25">
            <a:extLst xmlns:a="http://schemas.openxmlformats.org/drawingml/2006/main"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491E0C6-B3E9-2F0E-6F4F-4638278C4AE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50</a:t>
            </a:fld>
          </a:p>
        </p:txBody>
      </p:sp>
      <p:sp>
        <p:nvSpPr>
          <p:cNvPr id="27" name="u03_U03-050_eyebrow">
            <a:extLst xmlns:a="http://schemas.openxmlformats.org/drawingml/2006/main">
              <a:ext uri="{FF2B5EF4-FFF2-40B4-BE49-F238E27FC236}">
                <a16:creationId xmlns:a16="http://schemas.microsoft.com/office/drawing/2014/main" id="{B203CCBC-6C1A-41C4-B596-A61C726B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33" name="U03-CH007" descr="Gráfico cuantitativo con título «Un mapa espacio–tiempo muestra el avance». Mapa de color o superficie 2D de ξ(x,t) con ejes, unidades y dos líneas de cor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c2f078e42485f">
            <a:extLst>
              <a:ext uri="{96DAC541-7B7A-43D3-8B79-37D633B846F1}">
                <asvg:svgBlip xmlns:asvg="http://schemas.microsoft.com/office/drawing/2016/SVG/main" r:embed="R046a428a9ade48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9" name="U03-050_caption">
            <a:extLst xmlns:a="http://schemas.openxmlformats.org/drawingml/2006/main">
              <a:ext uri="{FF2B5EF4-FFF2-40B4-BE49-F238E27FC236}">
                <a16:creationId xmlns:a16="http://schemas.microsoft.com/office/drawing/2014/main" id="{6C33A6E9-F6B4-443C-95F4-BA797F9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crestas y estados de fase se desplazan con una pendiente que representa rapidez.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ítulo 3">
            <a:extLst xmlns:a="http://schemas.openxmlformats.org/drawingml/2006/main"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punto fijo leemos un registro temporal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043A58D-60CA-DFB2-80EC-B65AE4CB948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51</a:t>
            </a:fld>
          </a:p>
        </p:txBody>
      </p:sp>
      <p:sp>
        <p:nvSpPr>
          <p:cNvPr id="19" name="u03_U03-051_eyebrow">
            <a:extLst xmlns:a="http://schemas.openxmlformats.org/drawingml/2006/main">
              <a:ext uri="{FF2B5EF4-FFF2-40B4-BE49-F238E27FC236}">
                <a16:creationId xmlns:a16="http://schemas.microsoft.com/office/drawing/2014/main" id="{A9862E0C-24A8-4F38-8E51-FFB4218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5" name="U03-CH007" descr="Gráfico cuantitativo con título «En un punto fijo leemos un registro temporal». Punto fijo en el medio, señal ξ(x₀,t), marcas de período y unidad tempor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29c085ec549ee">
            <a:extLst>
              <a:ext uri="{96DAC541-7B7A-43D3-8B79-37D633B846F1}">
                <asvg:svgBlip xmlns:asvg="http://schemas.microsoft.com/office/drawing/2016/SVG/main" r:embed="R41a4ed3e562e4a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51_caption">
            <a:extLst xmlns:a="http://schemas.openxmlformats.org/drawingml/2006/main">
              <a:ext uri="{FF2B5EF4-FFF2-40B4-BE49-F238E27FC236}">
                <a16:creationId xmlns:a16="http://schemas.microsoft.com/office/drawing/2014/main" id="{EE45756D-E691-46B7-B92F-A5F2202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 observador inmóvil mide repetición en el tiempo y obtiene T y f.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ítulo 3">
            <a:extLst xmlns:a="http://schemas.openxmlformats.org/drawingml/2006/main"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instante fijo leemos un perfil espacial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633A456-5465-3671-5B0B-A8DFBB753E5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52</a:t>
            </a:fld>
          </a:p>
        </p:txBody>
      </p:sp>
      <p:sp>
        <p:nvSpPr>
          <p:cNvPr id="19" name="u03_U03-052_eyebrow">
            <a:extLst xmlns:a="http://schemas.openxmlformats.org/drawingml/2006/main">
              <a:ext uri="{FF2B5EF4-FFF2-40B4-BE49-F238E27FC236}">
                <a16:creationId xmlns:a16="http://schemas.microsoft.com/office/drawing/2014/main" id="{B0FBD5AD-3905-4577-9E78-7BDC3E8D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5" name="U03-CH007" descr="Gráfico cuantitativo con título «En un instante fijo leemos un perfil espacial». Medio en un instante, gráfico ξ(x,t₀), marcas de longitud de onda y unidad espacial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fdba258284366">
            <a:extLst>
              <a:ext uri="{96DAC541-7B7A-43D3-8B79-37D633B846F1}">
                <asvg:svgBlip xmlns:asvg="http://schemas.microsoft.com/office/drawing/2016/SVG/main" r:embed="Re07c63caa73549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52_caption">
            <a:extLst xmlns:a="http://schemas.openxmlformats.org/drawingml/2006/main">
              <a:ext uri="{FF2B5EF4-FFF2-40B4-BE49-F238E27FC236}">
                <a16:creationId xmlns:a16="http://schemas.microsoft.com/office/drawing/2014/main" id="{60C2444F-6404-4D94-839D-626703A5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fotografía instantánea permite medir repetición en el espacio y obtener λ.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Período y longitud de onda: tiempo y espacio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477B42F-3A06-F812-16D6-7080D8A1256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53</a:t>
            </a:fld>
          </a:p>
        </p:txBody>
      </p:sp>
      <p:sp>
        <p:nvSpPr>
          <p:cNvPr id="20" name="u03_U03-053_eyebrow">
            <a:extLst xmlns:a="http://schemas.openxmlformats.org/drawingml/2006/main">
              <a:ext uri="{FF2B5EF4-FFF2-40B4-BE49-F238E27FC236}">
                <a16:creationId xmlns:a16="http://schemas.microsoft.com/office/drawing/2014/main" id="{27075E51-A5FD-40AA-BA8E-C9866D6F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6" name="U03-DG018-S053" descr="Esquema mixto con título «Período y longitud de onda repiten estados en ejes distintos». Dos gráficos coordinados con mismo código de fase; tabla de símbolo, eje, unidad y condición de lectur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633b4c10847e2">
            <a:extLst>
              <a:ext uri="{96DAC541-7B7A-43D3-8B79-37D633B846F1}">
                <asvg:svgBlip xmlns:asvg="http://schemas.microsoft.com/office/drawing/2016/SVG/main" r:embed="R84ecee4b844340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53_caption">
            <a:extLst xmlns:a="http://schemas.openxmlformats.org/drawingml/2006/main">
              <a:ext uri="{FF2B5EF4-FFF2-40B4-BE49-F238E27FC236}">
                <a16:creationId xmlns:a16="http://schemas.microsoft.com/office/drawing/2014/main" id="{84C40B9D-1387-45D5-8615-B6847DD9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T es una separación temporal; λ es una separación espacial entre estados de fase equivalentes.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longitud de onda mide repetición espacial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FFCF489-DFD6-64BD-BCB3-4D97AF36B1FB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54</a:t>
            </a:fld>
          </a:p>
        </p:txBody>
      </p:sp>
      <p:sp>
        <p:nvSpPr>
          <p:cNvPr id="14" name="u03_U03-054_eyebrow">
            <a:extLst xmlns:a="http://schemas.openxmlformats.org/drawingml/2006/main">
              <a:ext uri="{FF2B5EF4-FFF2-40B4-BE49-F238E27FC236}">
                <a16:creationId xmlns:a16="http://schemas.microsoft.com/office/drawing/2014/main" id="{8C623C3C-9834-4BE7-9548-3C02817F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0" name="U03-CH007" descr="Gráfico cuantitativo con título «La longitud de onda mide repetición espacial». Definición, unidad m, ejemplos cresta–cresta y cruce equivalente; contraejemplo cresta–val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4336c51b74660">
            <a:extLst>
              <a:ext uri="{96DAC541-7B7A-43D3-8B79-37D633B846F1}">
                <asvg:svgBlip xmlns:asvg="http://schemas.microsoft.com/office/drawing/2016/SVG/main" r:embed="Rb36b8220eea147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54_caption">
            <a:extLst xmlns:a="http://schemas.openxmlformats.org/drawingml/2006/main">
              <a:ext uri="{FF2B5EF4-FFF2-40B4-BE49-F238E27FC236}">
                <a16:creationId xmlns:a16="http://schemas.microsoft.com/office/drawing/2014/main" id="{8CC56291-FF88-48FC-8BD4-305C5376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Se mide entre dos puntos espaciales consecutivos que están en el mismo estado de ciclo.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expresión viajera combina fase espacial y temporal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C0BC6D5-207B-F838-F994-CD836D38A6B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55</a:t>
            </a:fld>
          </a:p>
        </p:txBody>
      </p:sp>
      <p:sp>
        <p:nvSpPr>
          <p:cNvPr id="19" name="u03_U03-055_eyebrow">
            <a:extLst xmlns:a="http://schemas.openxmlformats.org/drawingml/2006/main">
              <a:ext uri="{FF2B5EF4-FFF2-40B4-BE49-F238E27FC236}">
                <a16:creationId xmlns:a16="http://schemas.microsoft.com/office/drawing/2014/main" id="{1D883F79-8EF7-4743-B454-5DB22572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5" name="U03-DG019-S055" descr="Ecuación anotada con título «Una expresión viajera combina fase espacial y temporal». ξ(x,t)=A_ξ cos(2πft-2πx/λ+φ₀); grupos temporal, espacial e inicial; límites del model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ce18a8d5f44d7">
            <a:extLst>
              <a:ext uri="{96DAC541-7B7A-43D3-8B79-37D633B846F1}">
                <asvg:svgBlip xmlns:asvg="http://schemas.microsoft.com/office/drawing/2016/SVG/main" r:embed="Rb158550d781541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55_caption">
            <a:extLst xmlns:a="http://schemas.openxmlformats.org/drawingml/2006/main">
              <a:ext uri="{FF2B5EF4-FFF2-40B4-BE49-F238E27FC236}">
                <a16:creationId xmlns:a16="http://schemas.microsoft.com/office/drawing/2014/main" id="{147CAAC1-D6BE-4D0F-A7BE-6737E734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argumento cambia con x y t; el signo determina la dirección de avance según la convención.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período la onda avanza una longitud de onda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3265AEE-4D99-0673-12C8-99EFF695690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56</a:t>
            </a:fld>
          </a:p>
        </p:txBody>
      </p:sp>
      <p:sp>
        <p:nvSpPr>
          <p:cNvPr id="19" name="u03_U03-056_eyebrow">
            <a:extLst xmlns:a="http://schemas.openxmlformats.org/drawingml/2006/main">
              <a:ext uri="{FF2B5EF4-FFF2-40B4-BE49-F238E27FC236}">
                <a16:creationId xmlns:a16="http://schemas.microsoft.com/office/drawing/2014/main" id="{0809417A-A201-4BA9-8B5D-E2AD62C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5" name="U03-DG019-S056" descr="Esquema mixto con título «En un período la onda avanza una longitud de onda». Razonamiento c=λ/T, sustitución f=1/T, resultado c=λf; símbolos, unidades y condiciones de medi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dc7bd04634301">
            <a:extLst>
              <a:ext uri="{96DAC541-7B7A-43D3-8B79-37D633B846F1}">
                <asvg:svgBlip xmlns:asvg="http://schemas.microsoft.com/office/drawing/2016/SVG/main" r:embed="R3c03ec1783f640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56_caption">
            <a:extLst xmlns:a="http://schemas.openxmlformats.org/drawingml/2006/main">
              <a:ext uri="{FF2B5EF4-FFF2-40B4-BE49-F238E27FC236}">
                <a16:creationId xmlns:a16="http://schemas.microsoft.com/office/drawing/2014/main" id="{331089F7-A490-4494-A142-FEFA233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rapidez de propagación enlaza repetición espacial y temporal.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ítulo 20">
            <a:extLst xmlns:a="http://schemas.openxmlformats.org/drawingml/2006/main">
              <a:ext uri="{FF2B5EF4-FFF2-40B4-BE49-F238E27FC236}">
                <a16:creationId xmlns:a16="http://schemas.microsoft.com/office/drawing/2014/main" id="{BFAACB0A-B001-9EF5-E20D-72DCFAB8AD7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1000 Hz, una onda recorre 34 cm por ciclo</a:t>
            </a:r>
          </a:p>
        </p:txBody>
      </p:sp>
      <p:sp>
        <p:nvSpPr>
          <p:cNvPr id="24" name="Marcador de número de diapositiva 23">
            <a:extLst xmlns:a="http://schemas.openxmlformats.org/drawingml/2006/main"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F0DF58B-F0CC-EE04-B3E8-87EC24B7009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57</a:t>
            </a:fld>
          </a:p>
        </p:txBody>
      </p:sp>
      <p:sp>
        <p:nvSpPr>
          <p:cNvPr id="25" name="u03_U03-057_eyebrow">
            <a:extLst xmlns:a="http://schemas.openxmlformats.org/drawingml/2006/main">
              <a:ext uri="{FF2B5EF4-FFF2-40B4-BE49-F238E27FC236}">
                <a16:creationId xmlns:a16="http://schemas.microsoft.com/office/drawing/2014/main" id="{B151A332-05FF-4934-91EC-6BCFCA01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31" name="U03-DG019-S057" descr="Esquema mixto con título «A 1000 Hz, una onda recorre 34 cm por ciclo». Datos, despeje, sustitución, λ=0,34 m, conversión a cm e interpretación; condición del valor de c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f96cfa71548ab">
            <a:extLst>
              <a:ext uri="{96DAC541-7B7A-43D3-8B79-37D633B846F1}">
                <asvg:svgBlip xmlns:asvg="http://schemas.microsoft.com/office/drawing/2016/SVG/main" r:embed="Ra22330ac548c46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7" name="U03-057_caption">
            <a:extLst xmlns:a="http://schemas.openxmlformats.org/drawingml/2006/main">
              <a:ext uri="{FF2B5EF4-FFF2-40B4-BE49-F238E27FC236}">
                <a16:creationId xmlns:a16="http://schemas.microsoft.com/office/drawing/2014/main" id="{AD9619F4-4E13-4A20-A4BC-BF7073B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aire a c≈340 m/s, una frecuencia mayor corresponde a una longitud de onda menor bajo las mismas condiciones.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Lea T y λ; luego calcule c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C5D86DB-0D22-4F3A-B798-73C3EACC87D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58</a:t>
            </a:fld>
          </a:p>
        </p:txBody>
      </p:sp>
      <p:sp>
        <p:nvSpPr>
          <p:cNvPr id="15" name="u03_U03-058_eyebrow">
            <a:extLst xmlns:a="http://schemas.openxmlformats.org/drawingml/2006/main">
              <a:ext uri="{FF2B5EF4-FFF2-40B4-BE49-F238E27FC236}">
                <a16:creationId xmlns:a16="http://schemas.microsoft.com/office/drawing/2014/main" id="{986B6361-C543-4F8A-AD5D-E5AC57B7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1" name="U03-CH008" descr="Gráfico cuantitativo con título «Lea `T` y `λ`; luego calcule `c`». Dos gráficos coordinados, espacios para T, f, λ, c y unidades; datos diseñados para números simpl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f47a4c0a74233">
            <a:extLst>
              <a:ext uri="{96DAC541-7B7A-43D3-8B79-37D633B846F1}">
                <asvg:svgBlip xmlns:asvg="http://schemas.microsoft.com/office/drawing/2016/SVG/main" r:embed="R75c302eb57dd49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7" name="U03-058_caption">
            <a:extLst xmlns:a="http://schemas.openxmlformats.org/drawingml/2006/main">
              <a:ext uri="{FF2B5EF4-FFF2-40B4-BE49-F238E27FC236}">
                <a16:creationId xmlns:a16="http://schemas.microsoft.com/office/drawing/2014/main" id="{982DFF17-60BE-460B-9E78-8FC708D5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cálculo correcto exige leer cada repetición en su eje correspondiente.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ítulo 16">
            <a:extLst xmlns:a="http://schemas.openxmlformats.org/drawingml/2006/main"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Mismo fenómeno, dos cortes y una relación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9F1FA4F-5E1D-6DD7-8899-DB45C4C32C6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59</a:t>
            </a:fld>
          </a:p>
        </p:txBody>
      </p:sp>
      <p:sp>
        <p:nvSpPr>
          <p:cNvPr id="21" name="u03_U03-059_eyebrow">
            <a:extLst xmlns:a="http://schemas.openxmlformats.org/drawingml/2006/main">
              <a:ext uri="{FF2B5EF4-FFF2-40B4-BE49-F238E27FC236}">
                <a16:creationId xmlns:a16="http://schemas.microsoft.com/office/drawing/2014/main" id="{50F12C06-74BA-47E6-A75C-2BD42BDE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pic>
        <p:nvPicPr>
          <p:cNvPr id="27" name="U03-DG019-S059" descr="Esquema mixto con título «Mismo fenómeno, dos cortes y una relación». Mapa ξ(x,t) → corte temporal → corte espacial → c=λf; pregunta de salida del bloqu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ec0a4012d414c">
            <a:extLst>
              <a:ext uri="{96DAC541-7B7A-43D3-8B79-37D633B846F1}">
                <asvg:svgBlip xmlns:asvg="http://schemas.microsoft.com/office/drawing/2016/SVG/main" r:embed="R8e7645af087e4d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59_caption">
            <a:extLst xmlns:a="http://schemas.openxmlformats.org/drawingml/2006/main">
              <a:ext uri="{FF2B5EF4-FFF2-40B4-BE49-F238E27FC236}">
                <a16:creationId xmlns:a16="http://schemas.microsoft.com/office/drawing/2014/main" id="{FFB43DF7-C21B-4ED4-8E5B-DDA221BA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T se lee en tiempo, λ en espacio y c conecta ambas escalas.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partícula se mueve; la onda avanza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Velocidad local y velocidad de propagación responden preguntas distintas.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28F55584-BE3A-83D9-FA7F-21221C333295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60</a:t>
            </a:fld>
          </a:p>
        </p:txBody>
      </p:sp>
      <p:sp>
        <p:nvSpPr>
          <p:cNvPr id="10" name="u03_U03-060_eyebrow">
            <a:extLst xmlns:a="http://schemas.openxmlformats.org/drawingml/2006/main">
              <a:ext uri="{FF2B5EF4-FFF2-40B4-BE49-F238E27FC236}">
                <a16:creationId xmlns:a16="http://schemas.microsoft.com/office/drawing/2014/main" id="{57F4EF5A-41DC-42FA-95B5-9991E127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ítulo 4">
            <a:extLst xmlns:a="http://schemas.openxmlformats.org/drawingml/2006/main">
              <a:ext uri="{FF2B5EF4-FFF2-40B4-BE49-F238E27FC236}">
                <a16:creationId xmlns:a16="http://schemas.microsoft.com/office/drawing/2014/main" id="{FDEFA639-BD38-F6AB-B29B-B977F08744D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Siga una partícula y siga una cresta</a:t>
            </a:r>
          </a:p>
        </p:txBody>
      </p:sp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1E013D6-0C4B-FE2D-855A-F1342FCB097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61</a:t>
            </a:fld>
          </a:p>
        </p:txBody>
      </p:sp>
      <p:sp>
        <p:nvSpPr>
          <p:cNvPr id="16" name="u03_U03-061_eyebrow">
            <a:extLst xmlns:a="http://schemas.openxmlformats.org/drawingml/2006/main">
              <a:ext uri="{FF2B5EF4-FFF2-40B4-BE49-F238E27FC236}">
                <a16:creationId xmlns:a16="http://schemas.microsoft.com/office/drawing/2014/main" id="{0E48EC9B-18F1-42A5-9C77-11F519BA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2" name="U03-DG020-S062" descr="Secuencia animada con alternativa estática con título «Siga una partícula y siga una cresta». Dos consignas de seguimiento sobre la misma animación; marcadores distint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b9dcde61743a1">
            <a:extLst>
              <a:ext uri="{96DAC541-7B7A-43D3-8B79-37D633B846F1}">
                <asvg:svgBlip xmlns:asvg="http://schemas.microsoft.com/office/drawing/2016/SVG/main" r:embed="Rcce7430e097945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8" name="U03-061_caption">
            <a:extLst xmlns:a="http://schemas.openxmlformats.org/drawingml/2006/main">
              <a:ext uri="{FF2B5EF4-FFF2-40B4-BE49-F238E27FC236}">
                <a16:creationId xmlns:a16="http://schemas.microsoft.com/office/drawing/2014/main" id="{04426F51-40C7-4DDE-9CB0-674C5481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Alternativa estática de U03-MEDIA003. Una partícula invierte su sentido localmente mientras una cresta puede seguir avanzando.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 es movimiento local; c, propagación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71E1DC6-F89D-8D69-6333-36D980A4F9D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62</a:t>
            </a:fld>
          </a:p>
        </p:txBody>
      </p:sp>
      <p:sp>
        <p:nvSpPr>
          <p:cNvPr id="20" name="u03_U03-062_eyebrow">
            <a:extLst xmlns:a="http://schemas.openxmlformats.org/drawingml/2006/main">
              <a:ext uri="{FF2B5EF4-FFF2-40B4-BE49-F238E27FC236}">
                <a16:creationId xmlns:a16="http://schemas.microsoft.com/office/drawing/2014/main" id="{7219E214-A06C-4CFC-B881-4EBDA75E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6" name="U03-DG020-S062" descr="Diagrama conceptual con título «`u` describe movimiento local; `c` describe propagación». Tabla de referente, dirección, variación, unidad y cómo se mide; notación conforme a la guí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c7bd0569448af">
            <a:extLst>
              <a:ext uri="{96DAC541-7B7A-43D3-8B79-37D633B846F1}">
                <asvg:svgBlip xmlns:asvg="http://schemas.microsoft.com/office/drawing/2016/SVG/main" r:embed="R4c75aa5298854f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62_caption">
            <a:extLst xmlns:a="http://schemas.openxmlformats.org/drawingml/2006/main">
              <a:ext uri="{FF2B5EF4-FFF2-40B4-BE49-F238E27FC236}">
                <a16:creationId xmlns:a16="http://schemas.microsoft.com/office/drawing/2014/main" id="{1224D358-F99A-43DC-A1C5-17471B86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 cambia durante el ciclo; c caracteriza el avance de una fase en el medio.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ítulo 12">
            <a:extLst xmlns:a="http://schemas.openxmlformats.org/drawingml/2006/main">
              <a:ext uri="{FF2B5EF4-FFF2-40B4-BE49-F238E27FC236}">
                <a16:creationId xmlns:a16="http://schemas.microsoft.com/office/drawing/2014/main" id="{44CFAA6A-E4FB-BA96-3ED4-B652EF96F62F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Aumentar la frecuencia no obliga a aumentar c</a:t>
            </a:r>
          </a:p>
        </p:txBody>
      </p:sp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8BECC1C-8AF1-E14F-B384-26C5966C006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63</a:t>
            </a:fld>
          </a:p>
        </p:txBody>
      </p:sp>
      <p:sp>
        <p:nvSpPr>
          <p:cNvPr id="17" name="u03_U03-063_eyebrow">
            <a:extLst xmlns:a="http://schemas.openxmlformats.org/drawingml/2006/main">
              <a:ext uri="{FF2B5EF4-FFF2-40B4-BE49-F238E27FC236}">
                <a16:creationId xmlns:a16="http://schemas.microsoft.com/office/drawing/2014/main" id="{D1023B0C-1D1B-4E8F-88B4-41F6C0C9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3" name="U03-CH009" descr="Esquema mixto con título «Aumentar la frecuencia no obliga a aumentar `c`». Error, condición del medio y comparación de dos frecuencias con longitudes de onda invers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0ee7bf35d4300">
            <a:extLst>
              <a:ext uri="{96DAC541-7B7A-43D3-8B79-37D633B846F1}">
                <asvg:svgBlip xmlns:asvg="http://schemas.microsoft.com/office/drawing/2016/SVG/main" r:embed="Reb0251e347d048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9" name="U03-063_caption">
            <a:extLst xmlns:a="http://schemas.openxmlformats.org/drawingml/2006/main">
              <a:ext uri="{FF2B5EF4-FFF2-40B4-BE49-F238E27FC236}">
                <a16:creationId xmlns:a16="http://schemas.microsoft.com/office/drawing/2014/main" id="{23777D7C-D5DC-4D1D-AAAE-6A3F5420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un mismo medio, si c permanece aproximadamente fija, cambia λ cuando cambia f.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ítulo 9">
            <a:extLst xmlns:a="http://schemas.openxmlformats.org/drawingml/2006/main"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fase permite comparar estados de ciclo</a:t>
            </a:r>
          </a:p>
        </p:txBody>
      </p:sp>
      <p:sp>
        <p:nvSpPr>
          <p:cNvPr id="13" name="Marcador de número de diapositiva 12">
            <a:extLst xmlns:a="http://schemas.openxmlformats.org/drawingml/2006/main"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0266C08-4012-4EBF-30A1-86DAD603F97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64</a:t>
            </a:fld>
          </a:p>
        </p:txBody>
      </p:sp>
      <p:sp>
        <p:nvSpPr>
          <p:cNvPr id="14" name="u03_U03-064_eyebrow">
            <a:extLst xmlns:a="http://schemas.openxmlformats.org/drawingml/2006/main">
              <a:ext uri="{FF2B5EF4-FFF2-40B4-BE49-F238E27FC236}">
                <a16:creationId xmlns:a16="http://schemas.microsoft.com/office/drawing/2014/main" id="{C284367B-487C-477B-A9DE-192C3046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0" name="U03-CH010" descr="Gráfico cuantitativo con título «La fase permite comparar estados de ciclo». Dos señales con mismo f y distinta fase; estados equivalentes y diferencia de fase cualitativ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66df6c3d541e4">
            <a:extLst>
              <a:ext uri="{96DAC541-7B7A-43D3-8B79-37D633B846F1}">
                <asvg:svgBlip xmlns:asvg="http://schemas.microsoft.com/office/drawing/2016/SVG/main" r:embed="Ra72016c56f804e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6" name="U03-064_caption">
            <a:extLst xmlns:a="http://schemas.openxmlformats.org/drawingml/2006/main">
              <a:ext uri="{FF2B5EF4-FFF2-40B4-BE49-F238E27FC236}">
                <a16:creationId xmlns:a16="http://schemas.microsoft.com/office/drawing/2014/main" id="{534DF604-D5B6-4865-8305-C9CC5FD8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fase no solo ubica un oscilador: permite comparar dos señales o dos puntos de una onda.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diferencia de fase mide cuánto se desplaza un ciclo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2FF3517-0353-38FD-111C-6706FB0AABA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65</a:t>
            </a:fld>
          </a:p>
        </p:txBody>
      </p:sp>
      <p:sp>
        <p:nvSpPr>
          <p:cNvPr id="19" name="u03_U03-065_eyebrow">
            <a:extLst xmlns:a="http://schemas.openxmlformats.org/drawingml/2006/main">
              <a:ext uri="{FF2B5EF4-FFF2-40B4-BE49-F238E27FC236}">
                <a16:creationId xmlns:a16="http://schemas.microsoft.com/office/drawing/2014/main" id="{7809FAAB-F51C-4846-B40E-E415BCF3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5" name="U03-DG007-S065" descr="Esquema mixto con título «La diferencia de fase mide cuánto se desplaza un ciclo». Δφ=φ₂-φ₁; correspondencia grados–radianes–fracción de ciclo; signo según orden declarad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5654da7d44453">
            <a:extLst>
              <a:ext uri="{96DAC541-7B7A-43D3-8B79-37D633B846F1}">
                <asvg:svgBlip xmlns:asvg="http://schemas.microsoft.com/office/drawing/2016/SVG/main" r:embed="Rd5b94c38448c4d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65_caption">
            <a:extLst xmlns:a="http://schemas.openxmlformats.org/drawingml/2006/main">
              <a:ext uri="{FF2B5EF4-FFF2-40B4-BE49-F238E27FC236}">
                <a16:creationId xmlns:a16="http://schemas.microsoft.com/office/drawing/2014/main" id="{B3D448C9-9144-49CF-90FA-01A26445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0, π/2, π y 2π representan coincidencia o desplazamientos fraccionarios del ciclo.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ítulo 3">
            <a:extLst xmlns:a="http://schemas.openxmlformats.org/drawingml/2006/main"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Separarse una longitud de onda repite la fase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D0572CC-9AC8-F369-D684-34788CEC1F0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66</a:t>
            </a:fld>
          </a:p>
        </p:txBody>
      </p:sp>
      <p:sp>
        <p:nvSpPr>
          <p:cNvPr id="19" name="u03_U03-066_eyebrow">
            <a:extLst xmlns:a="http://schemas.openxmlformats.org/drawingml/2006/main">
              <a:ext uri="{FF2B5EF4-FFF2-40B4-BE49-F238E27FC236}">
                <a16:creationId xmlns:a16="http://schemas.microsoft.com/office/drawing/2014/main" id="{3DF23D38-D3F9-4585-BB35-A049D4A1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5" name="U03-CH011" descr="Gráfico cuantitativo con título «Separarse una longitud de onda repite la fase». Perfil espacial con pares de puntos a λ/4, λ/2 y λ; lectura de estad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0cc7af29d4d3c">
            <a:extLst>
              <a:ext uri="{96DAC541-7B7A-43D3-8B79-37D633B846F1}">
                <asvg:svgBlip xmlns:asvg="http://schemas.microsoft.com/office/drawing/2016/SVG/main" r:embed="R9091e87a7bc64e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66_caption">
            <a:extLst xmlns:a="http://schemas.openxmlformats.org/drawingml/2006/main">
              <a:ext uri="{FF2B5EF4-FFF2-40B4-BE49-F238E27FC236}">
                <a16:creationId xmlns:a16="http://schemas.microsoft.com/office/drawing/2014/main" id="{7D5B1D04-F1E6-47A2-8847-300ED0DA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Dos puntos separados por λ están en fase; por λ/2, en oposición de fase para una sinusoide.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retraso se vuelve fase si conocemos f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9DAD1FF-0708-FB06-41A3-EFFD1902CB6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67</a:t>
            </a:fld>
          </a:p>
        </p:txBody>
      </p:sp>
      <p:sp>
        <p:nvSpPr>
          <p:cNvPr id="19" name="u03_U03-067_eyebrow">
            <a:extLst xmlns:a="http://schemas.openxmlformats.org/drawingml/2006/main">
              <a:ext uri="{FF2B5EF4-FFF2-40B4-BE49-F238E27FC236}">
                <a16:creationId xmlns:a16="http://schemas.microsoft.com/office/drawing/2014/main" id="{9A70D1A1-4908-42E0-BEB9-20DC0418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5" name="U03-DG025-S067" descr="Ecuación anotada con título «Un retraso temporal equivale a fase solo si conocemos `f`». Δφ=2πfΔt; unidades y dos ejemplos cualitativos con el mismo Δ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b8105a9964e18">
            <a:extLst>
              <a:ext uri="{96DAC541-7B7A-43D3-8B79-37D633B846F1}">
                <asvg:svgBlip xmlns:asvg="http://schemas.microsoft.com/office/drawing/2016/SVG/main" r:embed="R7a424cef4f944e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67_caption">
            <a:extLst xmlns:a="http://schemas.openxmlformats.org/drawingml/2006/main">
              <a:ext uri="{FF2B5EF4-FFF2-40B4-BE49-F238E27FC236}">
                <a16:creationId xmlns:a16="http://schemas.microsoft.com/office/drawing/2014/main" id="{28E79A4A-76B2-4B99-9F73-567FD444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mismo retraso representa distinto desfase a frecuencias diferentes.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¿En fase, adelantadas o en oposición?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22EA31E-2FA5-E9C8-EB93-8FED021F82AB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68</a:t>
            </a:fld>
          </a:p>
        </p:txBody>
      </p:sp>
      <p:sp>
        <p:nvSpPr>
          <p:cNvPr id="15" name="u03_U03-068_eyebrow">
            <a:extLst xmlns:a="http://schemas.openxmlformats.org/drawingml/2006/main">
              <a:ext uri="{FF2B5EF4-FFF2-40B4-BE49-F238E27FC236}">
                <a16:creationId xmlns:a16="http://schemas.microsoft.com/office/drawing/2014/main" id="{E258802D-FD46-4F8C-AAC3-2305276D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1" name="U03-CH010" descr="Gráfico cuantitativo con título «¿En fase, adelantadas o en oposición?». Tres pares de señales o puntos espaciales; clasificar 0, π/2 o π y justifica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7a91216bc47a5">
            <a:extLst>
              <a:ext uri="{96DAC541-7B7A-43D3-8B79-37D633B846F1}">
                <asvg:svgBlip xmlns:asvg="http://schemas.microsoft.com/office/drawing/2016/SVG/main" r:embed="R75e186299ab448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7" name="U03-068_caption">
            <a:extLst xmlns:a="http://schemas.openxmlformats.org/drawingml/2006/main">
              <a:ext uri="{FF2B5EF4-FFF2-40B4-BE49-F238E27FC236}">
                <a16:creationId xmlns:a16="http://schemas.microsoft.com/office/drawing/2014/main" id="{4F305FA7-29B3-42DF-B378-CB7B2D49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comparación debe usar puntos equivalentes y una referencia declarada.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ítulo 16">
            <a:extLst xmlns:a="http://schemas.openxmlformats.org/drawingml/2006/main"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preguntas evitan cuatro confusiones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F9EABC7-5C80-1540-9810-371589B4C2E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69</a:t>
            </a:fld>
          </a:p>
        </p:txBody>
      </p:sp>
      <p:sp>
        <p:nvSpPr>
          <p:cNvPr id="21" name="u03_U03-069_eyebrow">
            <a:extLst xmlns:a="http://schemas.openxmlformats.org/drawingml/2006/main">
              <a:ext uri="{FF2B5EF4-FFF2-40B4-BE49-F238E27FC236}">
                <a16:creationId xmlns:a16="http://schemas.microsoft.com/office/drawing/2014/main" id="{8CBDF102-BA11-4C7D-98B0-AE4064E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pic>
        <p:nvPicPr>
          <p:cNvPr id="27" name="U03-DG020-S069" descr="Diagrama conceptual con título «Dos preguntas evitan cuatro confusiones». Matriz de dos preguntas con cuatro símbolos; retorno al map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66a8188854562">
            <a:extLst>
              <a:ext uri="{96DAC541-7B7A-43D3-8B79-37D633B846F1}">
                <asvg:svgBlip xmlns:asvg="http://schemas.microsoft.com/office/drawing/2016/SVG/main" r:embed="R9ba2fc6dec214e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69_caption">
            <a:extLst xmlns:a="http://schemas.openxmlformats.org/drawingml/2006/main">
              <a:ext uri="{FF2B5EF4-FFF2-40B4-BE49-F238E27FC236}">
                <a16:creationId xmlns:a16="http://schemas.microsoft.com/office/drawing/2014/main" id="{23B9046F-0C5D-478A-BDAD-8C2DAA2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Preguntar “¿velocidad de qué?” y “¿fase respecto de qué?” evita mezclar u, c, φ₀ y Δφ.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Cuando dos perturbaciones coinciden, se suman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La respuesta resultante se obtiene punto a punto y en cada instante.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5A6072AD-BB8C-D3CF-DBF4-F438AF6C7F9D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70</a:t>
            </a:fld>
          </a:p>
        </p:txBody>
      </p:sp>
      <p:sp>
        <p:nvSpPr>
          <p:cNvPr id="10" name="u03_U03-070_eyebrow">
            <a:extLst xmlns:a="http://schemas.openxmlformats.org/drawingml/2006/main">
              <a:ext uri="{FF2B5EF4-FFF2-40B4-BE49-F238E27FC236}">
                <a16:creationId xmlns:a16="http://schemas.microsoft.com/office/drawing/2014/main" id="{16362059-6186-4D79-B2AF-0D49384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superposición suma desplazamientos instantáneos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729EB1E-22A9-C7DF-64B8-0F3C191F174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71</a:t>
            </a:fld>
          </a:p>
        </p:txBody>
      </p:sp>
      <p:sp>
        <p:nvSpPr>
          <p:cNvPr id="19" name="u03_U03-071_eyebrow">
            <a:extLst xmlns:a="http://schemas.openxmlformats.org/drawingml/2006/main">
              <a:ext uri="{FF2B5EF4-FFF2-40B4-BE49-F238E27FC236}">
                <a16:creationId xmlns:a16="http://schemas.microsoft.com/office/drawing/2014/main" id="{D56FE6C5-C745-48DB-B4BE-C93E4DF2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5" name="U03-DG021-S071" descr="Ecuación anotada con título «La superposición suma desplazamientos instantáneos». Ecuación, lectura punto a punto y tres instantes de ejemplo; condiciones de linealidad como lími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03f23da564cde">
            <a:extLst>
              <a:ext uri="{96DAC541-7B7A-43D3-8B79-37D633B846F1}">
                <asvg:svgBlip xmlns:asvg="http://schemas.microsoft.com/office/drawing/2016/SVG/main" r:embed="Rd28ae0d0b13040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71_caption">
            <a:extLst xmlns:a="http://schemas.openxmlformats.org/drawingml/2006/main">
              <a:ext uri="{FF2B5EF4-FFF2-40B4-BE49-F238E27FC236}">
                <a16:creationId xmlns:a16="http://schemas.microsoft.com/office/drawing/2014/main" id="{E588839B-93E1-484F-8689-549EDD8D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Se suman valores con signo, no amplitudes de forma automática.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ítulo 3">
            <a:extLst xmlns:a="http://schemas.openxmlformats.org/drawingml/2006/main"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fase, las contribuciones se refuerzan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776987F-56AD-7B55-62F3-0CC64182805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72</a:t>
            </a:fld>
          </a:p>
        </p:txBody>
      </p:sp>
      <p:sp>
        <p:nvSpPr>
          <p:cNvPr id="19" name="u03_U03-072_eyebrow">
            <a:extLst xmlns:a="http://schemas.openxmlformats.org/drawingml/2006/main">
              <a:ext uri="{FF2B5EF4-FFF2-40B4-BE49-F238E27FC236}">
                <a16:creationId xmlns:a16="http://schemas.microsoft.com/office/drawing/2014/main" id="{27418C56-0C5B-43BF-BF20-0FBFB6D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5" name="U03-CH012" descr="Gráfico cuantitativo con título «En fase, las contribuciones se refuerzan». y₁, y₂ y y_R en gráficos alineados; suma en dos instantes marcad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5250a641542fd">
            <a:extLst>
              <a:ext uri="{96DAC541-7B7A-43D3-8B79-37D633B846F1}">
                <asvg:svgBlip xmlns:asvg="http://schemas.microsoft.com/office/drawing/2016/SVG/main" r:embed="R10a4c2ec300848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72_caption">
            <a:extLst xmlns:a="http://schemas.openxmlformats.org/drawingml/2006/main">
              <a:ext uri="{FF2B5EF4-FFF2-40B4-BE49-F238E27FC236}">
                <a16:creationId xmlns:a16="http://schemas.microsoft.com/office/drawing/2014/main" id="{BF4F9E8B-BF9B-4379-BA3F-1AE5D0E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Dos sinusoides iguales en fase producen una resultante de mayor amplitud.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ítulo 3">
            <a:extLst xmlns:a="http://schemas.openxmlformats.org/drawingml/2006/main"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oposición de fase puede cancelar</a:t>
            </a:r>
          </a:p>
        </p:txBody>
      </p:sp>
      <p:sp>
        <p:nvSpPr>
          <p:cNvPr id="18" name="Marcador de número de diapositiva 17">
            <a:extLst xmlns:a="http://schemas.openxmlformats.org/drawingml/2006/main"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79ACACBC-23A9-0259-8853-3D40A2922B5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73</a:t>
            </a:fld>
          </a:p>
        </p:txBody>
      </p:sp>
      <p:sp>
        <p:nvSpPr>
          <p:cNvPr id="19" name="u03_U03-073_eyebrow">
            <a:extLst xmlns:a="http://schemas.openxmlformats.org/drawingml/2006/main">
              <a:ext uri="{FF2B5EF4-FFF2-40B4-BE49-F238E27FC236}">
                <a16:creationId xmlns:a16="http://schemas.microsoft.com/office/drawing/2014/main" id="{38C05754-C697-47D9-9C99-C23B8958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5" name="U03-CH012" descr="Gráfico cuantitativo con título «En oposición de fase, las contribuciones pueden cancelarse». Dos señales iguales y opuestas, resultante nula y lista de tres condicion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b9530fd874ed5">
            <a:extLst>
              <a:ext uri="{96DAC541-7B7A-43D3-8B79-37D633B846F1}">
                <asvg:svgBlip xmlns:asvg="http://schemas.microsoft.com/office/drawing/2016/SVG/main" r:embed="R82a4fe554db34a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1" name="U03-073_caption">
            <a:extLst xmlns:a="http://schemas.openxmlformats.org/drawingml/2006/main">
              <a:ext uri="{FF2B5EF4-FFF2-40B4-BE49-F238E27FC236}">
                <a16:creationId xmlns:a16="http://schemas.microsoft.com/office/drawing/2014/main" id="{B10E225D-F676-4C57-BD95-5BD6D4E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cancelación total exige misma amplitud, misma frecuencia y oposición de fase en el punto considerado.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ítulo 15">
            <a:extLst xmlns:a="http://schemas.openxmlformats.org/drawingml/2006/main"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desfase intermedio produce suma parcial</a:t>
            </a:r>
          </a:p>
        </p:txBody>
      </p:sp>
      <p:sp>
        <p:nvSpPr>
          <p:cNvPr id="19" name="Marcador de número de diapositiva 18">
            <a:extLst xmlns:a="http://schemas.openxmlformats.org/drawingml/2006/main"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D7CAEA5-FC9E-B891-9738-7871F1F765A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74</a:t>
            </a:fld>
          </a:p>
        </p:txBody>
      </p:sp>
      <p:sp>
        <p:nvSpPr>
          <p:cNvPr id="20" name="u03_U03-074_eyebrow">
            <a:extLst xmlns:a="http://schemas.openxmlformats.org/drawingml/2006/main">
              <a:ext uri="{FF2B5EF4-FFF2-40B4-BE49-F238E27FC236}">
                <a16:creationId xmlns:a16="http://schemas.microsoft.com/office/drawing/2014/main" id="{027A52F0-199B-4495-B546-0E3152F7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6" name="U03-CH012" descr="Gráfico cuantitativo con título «Un desfase intermedio produce refuerzo o cancelación parcial». Tres casos π/3, π/2, 2π/3 con señales y resultante; sin fórmula general visib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d72bf50484a52">
            <a:extLst>
              <a:ext uri="{96DAC541-7B7A-43D3-8B79-37D633B846F1}">
                <asvg:svgBlip xmlns:asvg="http://schemas.microsoft.com/office/drawing/2016/SVG/main" r:embed="R3c1c78c5993c46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2" name="U03-074_caption">
            <a:extLst xmlns:a="http://schemas.openxmlformats.org/drawingml/2006/main">
              <a:ext uri="{FF2B5EF4-FFF2-40B4-BE49-F238E27FC236}">
                <a16:creationId xmlns:a16="http://schemas.microsoft.com/office/drawing/2014/main" id="{20D6784D-02D3-4BCB-9B2C-3261F56B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amplitud resultante depende continuamente de Δφ.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sumar, prediga la resultante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B457202-512A-0979-41CD-3DF3572B5B0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75</a:t>
            </a:fld>
          </a:p>
        </p:txBody>
      </p:sp>
      <p:sp>
        <p:nvSpPr>
          <p:cNvPr id="15" name="u03_U03-075_eyebrow">
            <a:extLst xmlns:a="http://schemas.openxmlformats.org/drawingml/2006/main">
              <a:ext uri="{FF2B5EF4-FFF2-40B4-BE49-F238E27FC236}">
                <a16:creationId xmlns:a16="http://schemas.microsoft.com/office/drawing/2014/main" id="{FDE9BC61-6EFF-4AA4-921A-F93AC8EF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1" name="U03-CH012" descr="Gráfico cuantitativo con título «Antes de sumar, prediga la resultante». Cuatro pares de señales; elegir refuerzo, cancelación parcial o total y ordenar amplitudes resultant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347595e2c4d09">
            <a:extLst>
              <a:ext uri="{96DAC541-7B7A-43D3-8B79-37D633B846F1}">
                <asvg:svgBlip xmlns:asvg="http://schemas.microsoft.com/office/drawing/2016/SVG/main" r:embed="R98e9998924034d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7" name="U03-075_caption">
            <a:extLst xmlns:a="http://schemas.openxmlformats.org/drawingml/2006/main">
              <a:ext uri="{FF2B5EF4-FFF2-40B4-BE49-F238E27FC236}">
                <a16:creationId xmlns:a16="http://schemas.microsoft.com/office/drawing/2014/main" id="{FC2B7D61-74F0-41E7-B27D-6453A3C2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predicción cualitativa debe preceder al cálculo o al gráfico.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ítulo 11">
            <a:extLst xmlns:a="http://schemas.openxmlformats.org/drawingml/2006/main"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cancelación activa exige control</a:t>
            </a:r>
          </a:p>
        </p:txBody>
      </p:sp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4577F63-6B95-799D-E400-1CB1B221750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76</a:t>
            </a:fld>
          </a:p>
        </p:txBody>
      </p:sp>
      <p:sp>
        <p:nvSpPr>
          <p:cNvPr id="16" name="u03_U03-076_eyebrow">
            <a:extLst xmlns:a="http://schemas.openxmlformats.org/drawingml/2006/main">
              <a:ext uri="{FF2B5EF4-FFF2-40B4-BE49-F238E27FC236}">
                <a16:creationId xmlns:a16="http://schemas.microsoft.com/office/drawing/2014/main" id="{0E787BB5-F4D3-4552-96A8-C4B83588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2" name="U03-DG022-S076" descr="Diagrama conceptual con título «La cancelación activa funciona en condiciones controladas». Cadena sensor–control–fuente secundaria–zona de reducción; lista breve de límit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787d8c99c4f98">
            <a:extLst>
              <a:ext uri="{96DAC541-7B7A-43D3-8B79-37D633B846F1}">
                <asvg:svgBlip xmlns:asvg="http://schemas.microsoft.com/office/drawing/2016/SVG/main" r:embed="Rfa5b55f070d949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8" name="U03-076_caption">
            <a:extLst xmlns:a="http://schemas.openxmlformats.org/drawingml/2006/main">
              <a:ext uri="{FF2B5EF4-FFF2-40B4-BE49-F238E27FC236}">
                <a16:creationId xmlns:a16="http://schemas.microsoft.com/office/drawing/2014/main" id="{1F7837A1-1758-48E0-9C4F-2BA90EC1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señal opuesta puede reducir presión en una región, pero el resultado depende de fase, amplitud, frecuencia, geometría y posición.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ítulo 11">
            <a:extLst xmlns:a="http://schemas.openxmlformats.org/drawingml/2006/main"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el oído y la voz también coinciden perturbaciones</a:t>
            </a:r>
          </a:p>
        </p:txBody>
      </p:sp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745F4A9-739A-E4F3-B534-ADC36227811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77</a:t>
            </a:fld>
          </a:p>
        </p:txBody>
      </p:sp>
      <p:sp>
        <p:nvSpPr>
          <p:cNvPr id="16" name="u03_U03-077_eyebrow">
            <a:extLst xmlns:a="http://schemas.openxmlformats.org/drawingml/2006/main">
              <a:ext uri="{FF2B5EF4-FFF2-40B4-BE49-F238E27FC236}">
                <a16:creationId xmlns:a16="http://schemas.microsoft.com/office/drawing/2014/main" id="{4787CBF1-E3E7-4975-9CF1-0566ED1C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2" name="U03-DG023-S077" descr="Diagrama conceptual con título «En el oído y la voz también coinciden perturbaciones». Dos contextos: sonidos simultáneos en el oído y contribuciones en el tracto vocal; límite “análisis frecuencial en U5”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a641090df4bde">
            <a:extLst>
              <a:ext uri="{96DAC541-7B7A-43D3-8B79-37D633B846F1}">
                <asvg:svgBlip xmlns:asvg="http://schemas.microsoft.com/office/drawing/2016/SVG/main" r:embed="R84f76445030340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8" name="U03-077_caption">
            <a:extLst xmlns:a="http://schemas.openxmlformats.org/drawingml/2006/main">
              <a:ext uri="{FF2B5EF4-FFF2-40B4-BE49-F238E27FC236}">
                <a16:creationId xmlns:a16="http://schemas.microsoft.com/office/drawing/2014/main" id="{24A21888-2010-4C23-9E7C-6AFFE71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estructuras reciben combinaciones de perturbaciones; identificar componentes exige herramientas posteriores.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ítulo 16">
            <a:extLst xmlns:a="http://schemas.openxmlformats.org/drawingml/2006/main"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Sumar no significa sumar amplitudes sin mirar la fase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60E46EB-B72F-C12D-87AC-B941D4FF391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78</a:t>
            </a:fld>
          </a:p>
        </p:txBody>
      </p:sp>
      <p:sp>
        <p:nvSpPr>
          <p:cNvPr id="21" name="u03_U03-078_eyebrow">
            <a:extLst xmlns:a="http://schemas.openxmlformats.org/drawingml/2006/main">
              <a:ext uri="{FF2B5EF4-FFF2-40B4-BE49-F238E27FC236}">
                <a16:creationId xmlns:a16="http://schemas.microsoft.com/office/drawing/2014/main" id="{6B4B50A4-3613-4AFD-A2FE-233D0918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pic>
        <p:nvPicPr>
          <p:cNvPr id="27" name="U03-DG002-S078" descr="Diagrama conceptual con título «Sumar no significa sumar amplitudes sin mirar la fase». Cuatro reglas y una pregunta de transferencia a cancelación activ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1284a90df4bb1">
            <a:extLst>
              <a:ext uri="{96DAC541-7B7A-43D3-8B79-37D633B846F1}">
                <asvg:svgBlip xmlns:asvg="http://schemas.microsoft.com/office/drawing/2016/SVG/main" r:embed="Rbd0e2d0d467b4f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78_caption">
            <a:extLst xmlns:a="http://schemas.openxmlformats.org/drawingml/2006/main">
              <a:ext uri="{FF2B5EF4-FFF2-40B4-BE49-F238E27FC236}">
                <a16:creationId xmlns:a16="http://schemas.microsoft.com/office/drawing/2014/main" id="{B2A0D9DB-F1A0-4F09-A186-8E9726A0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Valor instantáneo, amplitud, fase y lugar de observación determinan la resultante.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ítulo 11">
            <a:extLst xmlns:a="http://schemas.openxmlformats.org/drawingml/2006/main"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Producción, propagación y recepción</a:t>
            </a:r>
          </a:p>
        </p:txBody>
      </p:sp>
      <p:sp>
        <p:nvSpPr>
          <p:cNvPr id="15" name="Marcador de número de diapositiva 14">
            <a:extLst xmlns:a="http://schemas.openxmlformats.org/drawingml/2006/main"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DC342D8-64E7-3045-4428-84453706704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79</a:t>
            </a:fld>
          </a:p>
        </p:txBody>
      </p:sp>
      <p:sp>
        <p:nvSpPr>
          <p:cNvPr id="16" name="u03_U03-079_eyebrow">
            <a:extLst xmlns:a="http://schemas.openxmlformats.org/drawingml/2006/main">
              <a:ext uri="{FF2B5EF4-FFF2-40B4-BE49-F238E27FC236}">
                <a16:creationId xmlns:a16="http://schemas.microsoft.com/office/drawing/2014/main" id="{0720DC44-7084-4089-9AD3-3FB95EFE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pic>
        <p:nvPicPr>
          <p:cNvPr id="22" name="U03-DG001-S079" descr="Diagrama conceptual con título «Producción, propagación y recepción usan el mismo lenguaje». Pliegues vocales o parlante → medio → oído/micrófono; variable local, variable propagada y medi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1fefa6d244eb9">
            <a:extLst>
              <a:ext uri="{96DAC541-7B7A-43D3-8B79-37D633B846F1}">
                <asvg:svgBlip xmlns:asvg="http://schemas.microsoft.com/office/drawing/2016/SVG/main" r:embed="R68720b6e333b46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8" name="U03-079_caption">
            <a:extLst xmlns:a="http://schemas.openxmlformats.org/drawingml/2006/main">
              <a:ext uri="{FF2B5EF4-FFF2-40B4-BE49-F238E27FC236}">
                <a16:creationId xmlns:a16="http://schemas.microsoft.com/office/drawing/2014/main" id="{ED179B5D-9C3D-435B-B557-135CCBAA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cada etapa cambian sistema y variable, pero amplitud, frecuencia, fase y propagación siguen siendo herramientas de descripción.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de la señal al punto de observación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3D57995-3DFA-DF16-0E49-A4D4112E120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80</a:t>
            </a:fld>
          </a:p>
        </p:txBody>
      </p:sp>
      <p:sp>
        <p:nvSpPr>
          <p:cNvPr id="15" name="u03_U03-080_eyebrow">
            <a:extLst xmlns:a="http://schemas.openxmlformats.org/drawingml/2006/main">
              <a:ext uri="{FF2B5EF4-FFF2-40B4-BE49-F238E27FC236}">
                <a16:creationId xmlns:a16="http://schemas.microsoft.com/office/drawing/2014/main" id="{0D5FCBD9-CAA9-4B5A-804A-93583916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pic>
        <p:nvPicPr>
          <p:cNvPr id="21" name="U03-DG024-S080" descr="Esquema mixto con título «Caso integrador: de la señal al punto de observación». Caso de parlante a 500 Hz, registro temporal y perfil espacial; cinco preguntas encadenadas, sin solución visib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d0861a1a140a6">
            <a:extLst>
              <a:ext uri="{96DAC541-7B7A-43D3-8B79-37D633B846F1}">
                <asvg:svgBlip xmlns:asvg="http://schemas.microsoft.com/office/drawing/2016/SVG/main" r:embed="Rb8d6af977b0f41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7" name="U03-080_caption">
            <a:extLst xmlns:a="http://schemas.openxmlformats.org/drawingml/2006/main">
              <a:ext uri="{FF2B5EF4-FFF2-40B4-BE49-F238E27FC236}">
                <a16:creationId xmlns:a16="http://schemas.microsoft.com/office/drawing/2014/main" id="{902595F8-074D-40E3-A718-E40114A7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descripción completa identifica variable, sistema, f, T, λ, fase y condición del medio.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ítulo 13">
            <a:extLst xmlns:a="http://schemas.openxmlformats.org/drawingml/2006/main">
              <a:ext uri="{FF2B5EF4-FFF2-40B4-BE49-F238E27FC236}">
                <a16:creationId xmlns:a16="http://schemas.microsoft.com/office/drawing/2014/main" id="{9CD2C2F8-E628-CA76-D686-BB4806CA8400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fuerza restauradora a la onda</a:t>
            </a:r>
          </a:p>
        </p:txBody>
      </p:sp>
      <p:sp>
        <p:nvSpPr>
          <p:cNvPr id="16" name="Marcador de número de diapositiva 15">
            <a:extLst xmlns:a="http://schemas.openxmlformats.org/drawingml/2006/main">
              <a:ext uri="{FF2B5EF4-FFF2-40B4-BE49-F238E27FC236}">
                <a16:creationId xmlns:a16="http://schemas.microsoft.com/office/drawing/2014/main" id="{48DCF458-710D-5FD6-E1A6-D16CA392E9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3D85474-CC96-761E-A5A0-35F7821F8C3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81</a:t>
            </a:fld>
          </a:p>
        </p:txBody>
      </p:sp>
      <p:sp>
        <p:nvSpPr>
          <p:cNvPr id="17" name="u03_U03-081_eyebrow">
            <a:extLst xmlns:a="http://schemas.openxmlformats.org/drawingml/2006/main">
              <a:ext uri="{FF2B5EF4-FFF2-40B4-BE49-F238E27FC236}">
                <a16:creationId xmlns:a16="http://schemas.microsoft.com/office/drawing/2014/main" id="{FC4417A0-BABD-41F3-8E25-B5A425E5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pic>
        <p:nvPicPr>
          <p:cNvPr id="23" name="U03-DG024-S081" descr="Diagrama conceptual con título «De una fuerza restauradora a una perturbación que llega». Mapa final: equilibrio → MAS → parámetros → tono → parlante → onda → cortes → fase/suma → aplicació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d110ed5884ff1">
            <a:extLst>
              <a:ext uri="{96DAC541-7B7A-43D3-8B79-37D633B846F1}">
                <asvg:svgBlip xmlns:asvg="http://schemas.microsoft.com/office/drawing/2016/SVG/main" r:embed="Rf0c2ea51a40844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19" name="U03-081_caption">
            <a:extLst xmlns:a="http://schemas.openxmlformats.org/drawingml/2006/main">
              <a:ext uri="{FF2B5EF4-FFF2-40B4-BE49-F238E27FC236}">
                <a16:creationId xmlns:a16="http://schemas.microsoft.com/office/drawing/2014/main" id="{A04B310B-59AA-47D3-B272-3AE0255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oscilador genera cambios locales; el medio transmite la perturbación; las representaciones permiten medirla e interpretarla.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ítulo 10">
            <a:extLst xmlns:a="http://schemas.openxmlformats.org/drawingml/2006/main"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afirmaciones, ahora con evidencia</a:t>
            </a:r>
          </a:p>
        </p:txBody>
      </p:sp>
      <p:sp>
        <p:nvSpPr>
          <p:cNvPr id="14" name="Marcador de número de diapositiva 13">
            <a:extLst xmlns:a="http://schemas.openxmlformats.org/drawingml/2006/main"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64ABC67-38DD-FC88-F2B3-FD29FD14CB5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82</a:t>
            </a:fld>
          </a:p>
        </p:txBody>
      </p:sp>
      <p:sp>
        <p:nvSpPr>
          <p:cNvPr id="15" name="u03_U03-082_eyebrow">
            <a:extLst xmlns:a="http://schemas.openxmlformats.org/drawingml/2006/main">
              <a:ext uri="{FF2B5EF4-FFF2-40B4-BE49-F238E27FC236}">
                <a16:creationId xmlns:a16="http://schemas.microsoft.com/office/drawing/2014/main" id="{7A37DB0D-BA9F-43F0-A26A-F379915A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sp>
        <p:nvSpPr>
          <p:cNvPr id="16" name="U03-082_question">
            <a:extLst xmlns:a="http://schemas.openxmlformats.org/drawingml/2006/main">
              <a:ext uri="{FF2B5EF4-FFF2-40B4-BE49-F238E27FC236}">
                <a16:creationId xmlns:a16="http://schemas.microsoft.com/office/drawing/2014/main" id="{40977BCC-FC9A-4B44-B288-3934A3C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0287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  <p:txBody>
          <a:bodyPr xmlns:a="http://schemas.openxmlformats.org/drawingml/2006/main" wrap="square" lIns="266700" tIns="209550" rIns="266700" bIns="2095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Revise las cuatro afirmaciones iniciales. Para cada una, escriba V/F, una razón física y la slide que aporta evidencia.</a:t>
            </a:r>
          </a:p>
        </p:txBody>
      </p:sp>
      <p:sp>
        <p:nvSpPr>
          <p:cNvPr id="17" name="U03-082_consigna">
            <a:extLst xmlns:a="http://schemas.openxmlformats.org/drawingml/2006/main">
              <a:ext uri="{FF2B5EF4-FFF2-40B4-BE49-F238E27FC236}">
                <a16:creationId xmlns:a16="http://schemas.microsoft.com/office/drawing/2014/main" id="{BFDB84D5-BF9D-40AC-AA80-4053A829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Revisión final de las cuatro afirmaciones de U03-003.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ítulo 6">
            <a:extLst xmlns:a="http://schemas.openxmlformats.org/drawingml/2006/main">
              <a:ext uri="{FF2B5EF4-FFF2-40B4-BE49-F238E27FC236}">
                <a16:creationId xmlns:a16="http://schemas.microsoft.com/office/drawing/2014/main" id="{C75C1836-AD8F-B1B2-2E21-85E743D6B8C8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838200" y="2238375"/>
            <a:ext cx="9334500" cy="1047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Describimos la onda; ahora mediremos el sonido</a:t>
            </a:r>
          </a:p>
        </p:txBody>
      </p:sp>
      <p:sp>
        <p:nvSpPr>
          <p:cNvPr id="8" name="Subtítulo 7">
            <a:extLst xmlns:a="http://schemas.openxmlformats.org/drawingml/2006/main">
              <a:ext uri="{FF2B5EF4-FFF2-40B4-BE49-F238E27FC236}">
                <a16:creationId xmlns:a16="http://schemas.microsoft.com/office/drawing/2014/main" id="{A4E332E6-ECA1-6D49-09AD-EDA7C7F20FED}"/>
              </a:ext>
            </a:extLst>
          </p:cNvPr>
          <p:cNvSpPr>
            <a:spLocks xmlns:a="http://schemas.openxmlformats.org/drawingml/2006/main" noGrp="1"/>
          </p:cNvSpPr>
          <p:nvPr>
            <p:ph type="subTitle" idx="11"/>
          </p:nvPr>
        </p:nvSpPr>
        <p:spPr>
          <a:xfrm xmlns:a="http://schemas.openxmlformats.org/drawingml/2006/main">
            <a:off x="838200" y="3429000"/>
            <a:ext cx="9334500" cy="723900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La mecánica ondulatoria entrega el lenguaje; las próximas unidades cuantifican magnitudes acústicas y separan componentes frecuenciales.</a:t>
            </a:r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1E2046D0-504B-93BA-A56B-3D44A8F38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7DD74841-24FE-7EE8-22BB-4DC45FDF28A3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83</a:t>
            </a:fld>
          </a:p>
        </p:txBody>
      </p:sp>
      <p:sp>
        <p:nvSpPr>
          <p:cNvPr id="10" name="u03_U03-083_eyebrow">
            <a:extLst xmlns:a="http://schemas.openxmlformats.org/drawingml/2006/main">
              <a:ext uri="{FF2B5EF4-FFF2-40B4-BE49-F238E27FC236}">
                <a16:creationId xmlns:a16="http://schemas.microsoft.com/office/drawing/2014/main" id="{7D173433-90D6-4326-B0A3-E0AC55AB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Recordatorio trigonométrico para leer sinusoides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A4C4240-6F12-7F09-5904-52FC212F082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84</a:t>
            </a:fld>
          </a:p>
        </p:txBody>
      </p:sp>
      <p:sp>
        <p:nvSpPr>
          <p:cNvPr id="21" name="u03_U03-084_eyebrow">
            <a:extLst xmlns:a="http://schemas.openxmlformats.org/drawingml/2006/main">
              <a:ext uri="{FF2B5EF4-FFF2-40B4-BE49-F238E27FC236}">
                <a16:creationId xmlns:a16="http://schemas.microsoft.com/office/drawing/2014/main" id="{C93DD355-4C7C-4D8D-A463-A290E86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07-S084" descr="Diagrama conceptual con título «Recordatorio trigonométrico para leer sinusoides». Círculo unitario mínimo, valores notables y correspondencia con una sinusoid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1d91e4d1b4539">
            <a:extLst>
              <a:ext uri="{96DAC541-7B7A-43D3-8B79-37D633B846F1}">
                <asvg:svgBlip xmlns:asvg="http://schemas.microsoft.com/office/drawing/2016/SVG/main" r:embed="Re38691a033304f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84_caption">
            <a:extLst xmlns:a="http://schemas.openxmlformats.org/drawingml/2006/main">
              <a:ext uri="{FF2B5EF4-FFF2-40B4-BE49-F238E27FC236}">
                <a16:creationId xmlns:a16="http://schemas.microsoft.com/office/drawing/2014/main" id="{07FF11BA-7120-4C1B-B32B-862D879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equivalencia 2π rad = 360° = 1 ciclo organiza la fase.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angular: otra forma de contar el ciclo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48AFE98-E9CF-3A34-C20C-6A6243E55E6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85</a:t>
            </a:fld>
          </a:p>
        </p:txBody>
      </p:sp>
      <p:sp>
        <p:nvSpPr>
          <p:cNvPr id="21" name="u03_U03-085_eyebrow">
            <a:extLst xmlns:a="http://schemas.openxmlformats.org/drawingml/2006/main">
              <a:ext uri="{FF2B5EF4-FFF2-40B4-BE49-F238E27FC236}">
                <a16:creationId xmlns:a16="http://schemas.microsoft.com/office/drawing/2014/main" id="{025F5D6F-7611-4D7F-BB2F-A7A8ADA9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5-S085" descr="Ecuación anotada con título «Frecuencia angular: otra forma de contar el ciclo». Ecuaciones, unidad rad/s, relación con f y un ejemplo brev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a877e9d87452d">
            <a:extLst>
              <a:ext uri="{96DAC541-7B7A-43D3-8B79-37D633B846F1}">
                <asvg:svgBlip xmlns:asvg="http://schemas.microsoft.com/office/drawing/2016/SVG/main" r:embed="R37e9c06701104e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85_caption">
            <a:extLst xmlns:a="http://schemas.openxmlformats.org/drawingml/2006/main">
              <a:ext uri="{FF2B5EF4-FFF2-40B4-BE49-F238E27FC236}">
                <a16:creationId xmlns:a16="http://schemas.microsoft.com/office/drawing/2014/main" id="{243E9567-78A3-472A-BA6E-8F8BF52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ω=2πf=2π/T expresa radianes de fase por segundo.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y elasticidad fijan la frecuencia ideal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31AC35B-B5C2-36EF-1CB3-8BED41B6A46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86</a:t>
            </a:fld>
          </a:p>
        </p:txBody>
      </p:sp>
      <p:sp>
        <p:nvSpPr>
          <p:cNvPr id="21" name="u03_U03-086_eyebrow">
            <a:extLst xmlns:a="http://schemas.openxmlformats.org/drawingml/2006/main">
              <a:ext uri="{FF2B5EF4-FFF2-40B4-BE49-F238E27FC236}">
                <a16:creationId xmlns:a16="http://schemas.microsoft.com/office/drawing/2014/main" id="{23F057F3-8733-4346-A824-28D64881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5-S086" descr="Ecuación anotada con título «La elasticidad y la masa fijan la frecuencia natural ideal». Relación, símbolos, unidades y dos comparaciones cualitativas; hipótesis del M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128d0dee143bf">
            <a:extLst>
              <a:ext uri="{96DAC541-7B7A-43D3-8B79-37D633B846F1}">
                <asvg:svgBlip xmlns:asvg="http://schemas.microsoft.com/office/drawing/2016/SVG/main" r:embed="R8bfacc421d9949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86_caption">
            <a:extLst xmlns:a="http://schemas.openxmlformats.org/drawingml/2006/main">
              <a:ext uri="{FF2B5EF4-FFF2-40B4-BE49-F238E27FC236}">
                <a16:creationId xmlns:a16="http://schemas.microsoft.com/office/drawing/2014/main" id="{EBB03E14-8630-4B87-98CA-FFA393C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Mayor rigidez eleva la frecuencia natural; mayor masa la reduce, en el modelo ideal.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inicial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66BFED3-8D00-65E7-CBC4-2668E3295A5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87</a:t>
            </a:fld>
          </a:p>
        </p:txBody>
      </p:sp>
      <p:sp>
        <p:nvSpPr>
          <p:cNvPr id="21" name="u03_U03-087_eyebrow">
            <a:extLst xmlns:a="http://schemas.openxmlformats.org/drawingml/2006/main">
              <a:ext uri="{FF2B5EF4-FFF2-40B4-BE49-F238E27FC236}">
                <a16:creationId xmlns:a16="http://schemas.microsoft.com/office/drawing/2014/main" id="{9291781D-A4FC-4CF3-B42C-6B75361A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2" name="U03-087_row_1_key">
            <a:extLst xmlns:a="http://schemas.openxmlformats.org/drawingml/2006/main">
              <a:ext uri="{FF2B5EF4-FFF2-40B4-BE49-F238E27FC236}">
                <a16:creationId xmlns:a16="http://schemas.microsoft.com/office/drawing/2014/main" id="{22502B92-4E98-4DAC-8D46-4DDB16DD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23" name="U03-087_row_1_value">
            <a:extLst xmlns:a="http://schemas.openxmlformats.org/drawingml/2006/main">
              <a:ext uri="{FF2B5EF4-FFF2-40B4-BE49-F238E27FC236}">
                <a16:creationId xmlns:a16="http://schemas.microsoft.com/office/drawing/2014/main" id="{072A7484-7A64-449E-8B95-F74437B7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24" name="U03-087_row_2_key">
            <a:extLst xmlns:a="http://schemas.openxmlformats.org/drawingml/2006/main">
              <a:ext uri="{FF2B5EF4-FFF2-40B4-BE49-F238E27FC236}">
                <a16:creationId xmlns:a16="http://schemas.microsoft.com/office/drawing/2014/main" id="{A186B8DC-BB2A-408E-88AB-EB131B57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1213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5" name="U03-087_row_2_value">
            <a:extLst xmlns:a="http://schemas.openxmlformats.org/drawingml/2006/main">
              <a:ext uri="{FF2B5EF4-FFF2-40B4-BE49-F238E27FC236}">
                <a16:creationId xmlns:a16="http://schemas.microsoft.com/office/drawing/2014/main" id="{B9CB272E-B4E8-4818-ABF2-3AD815D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81213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la materia oscila localmente.</a:t>
            </a:r>
          </a:p>
        </p:txBody>
      </p:sp>
      <p:sp>
        <p:nvSpPr>
          <p:cNvPr id="26" name="U03-087_row_3_key">
            <a:extLst xmlns:a="http://schemas.openxmlformats.org/drawingml/2006/main">
              <a:ext uri="{FF2B5EF4-FFF2-40B4-BE49-F238E27FC236}">
                <a16:creationId xmlns:a16="http://schemas.microsoft.com/office/drawing/2014/main" id="{49C9D2F2-B6F3-4FF5-86AF-3AC14605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7" name="U03-087_row_3_value">
            <a:extLst xmlns:a="http://schemas.openxmlformats.org/drawingml/2006/main">
              <a:ext uri="{FF2B5EF4-FFF2-40B4-BE49-F238E27FC236}">
                <a16:creationId xmlns:a16="http://schemas.microsoft.com/office/drawing/2014/main" id="{6FF24088-4A87-48AB-8859-16F09FE2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38425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28" name="U03-087_row_4_key">
            <a:extLst xmlns:a="http://schemas.openxmlformats.org/drawingml/2006/main">
              <a:ext uri="{FF2B5EF4-FFF2-40B4-BE49-F238E27FC236}">
                <a16:creationId xmlns:a16="http://schemas.microsoft.com/office/drawing/2014/main" id="{009CF76E-D5AC-47FA-97E8-A246969B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5638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9" name="U03-087_row_4_value">
            <a:extLst xmlns:a="http://schemas.openxmlformats.org/drawingml/2006/main">
              <a:ext uri="{FF2B5EF4-FFF2-40B4-BE49-F238E27FC236}">
                <a16:creationId xmlns:a16="http://schemas.microsoft.com/office/drawing/2014/main" id="{B8BD0FC9-C266-4510-B8D2-4D314DD3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5638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c depende principalmente del medio.</a:t>
            </a:r>
          </a:p>
        </p:txBody>
      </p:sp>
      <p:sp>
        <p:nvSpPr>
          <p:cNvPr id="30" name="U03-087_row_5_key">
            <a:extLst xmlns:a="http://schemas.openxmlformats.org/drawingml/2006/main">
              <a:ext uri="{FF2B5EF4-FFF2-40B4-BE49-F238E27FC236}">
                <a16:creationId xmlns:a16="http://schemas.microsoft.com/office/drawing/2014/main" id="{69A000DD-1319-47FD-8DAE-EEB7D2F2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1" name="U03-087_row_5_value">
            <a:extLst xmlns:a="http://schemas.openxmlformats.org/drawingml/2006/main">
              <a:ext uri="{FF2B5EF4-FFF2-40B4-BE49-F238E27FC236}">
                <a16:creationId xmlns:a16="http://schemas.microsoft.com/office/drawing/2014/main" id="{C08ADAE2-381F-4DFA-94D6-0BC73D22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</a:t>
            </a:r>
          </a:p>
        </p:txBody>
      </p:sp>
      <p:sp>
        <p:nvSpPr>
          <p:cNvPr id="32" name="U03-087_row_6_key">
            <a:extLst xmlns:a="http://schemas.openxmlformats.org/drawingml/2006/main">
              <a:ext uri="{FF2B5EF4-FFF2-40B4-BE49-F238E27FC236}">
                <a16:creationId xmlns:a16="http://schemas.microsoft.com/office/drawing/2014/main" id="{EC42D721-EA54-4134-962A-45E22F50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0063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3" name="U03-087_row_6_value">
            <a:extLst xmlns:a="http://schemas.openxmlformats.org/drawingml/2006/main">
              <a:ext uri="{FF2B5EF4-FFF2-40B4-BE49-F238E27FC236}">
                <a16:creationId xmlns:a16="http://schemas.microsoft.com/office/drawing/2014/main" id="{70BA6D86-4370-45F5-A789-31743AA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0063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la sonoridad no se deduce solo de una amplitud no calibrada.</a:t>
            </a:r>
          </a:p>
        </p:txBody>
      </p:sp>
      <p:sp>
        <p:nvSpPr>
          <p:cNvPr id="34" name="U03-087_row_7_key">
            <a:extLst xmlns:a="http://schemas.openxmlformats.org/drawingml/2006/main">
              <a:ext uri="{FF2B5EF4-FFF2-40B4-BE49-F238E27FC236}">
                <a16:creationId xmlns:a16="http://schemas.microsoft.com/office/drawing/2014/main" id="{9437CC0B-E8C0-47D8-95F7-791125AA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5" name="U03-087_row_7_value">
            <a:extLst xmlns:a="http://schemas.openxmlformats.org/drawingml/2006/main">
              <a:ext uri="{FF2B5EF4-FFF2-40B4-BE49-F238E27FC236}">
                <a16:creationId xmlns:a16="http://schemas.microsoft.com/office/drawing/2014/main" id="{BEBE0FA9-29CA-47FC-8774-29E2F525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</a:t>
            </a:r>
          </a:p>
        </p:txBody>
      </p:sp>
      <p:sp>
        <p:nvSpPr>
          <p:cNvPr id="36" name="U03-087_row_8_key">
            <a:extLst xmlns:a="http://schemas.openxmlformats.org/drawingml/2006/main">
              <a:ext uri="{FF2B5EF4-FFF2-40B4-BE49-F238E27FC236}">
                <a16:creationId xmlns:a16="http://schemas.microsoft.com/office/drawing/2014/main" id="{7B86D740-B614-41F9-8EFD-DE78D985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4488"/>
            <a:ext cx="6667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7" name="U03-087_row_8_value">
            <a:extLst xmlns:a="http://schemas.openxmlformats.org/drawingml/2006/main">
              <a:ext uri="{FF2B5EF4-FFF2-40B4-BE49-F238E27FC236}">
                <a16:creationId xmlns:a16="http://schemas.microsoft.com/office/drawing/2014/main" id="{086A2E76-333C-49F7-B021-EE5E9553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4488"/>
            <a:ext cx="10001250" cy="519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la sinusoide no es una trayectoria espacial.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Posición, velocidad y aceleración del MAS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9C38CC3-51DE-E4B0-CCEB-BA581457C9D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88</a:t>
            </a:fld>
          </a:p>
        </p:txBody>
      </p:sp>
      <p:sp>
        <p:nvSpPr>
          <p:cNvPr id="21" name="u03_U03-088_eyebrow">
            <a:extLst xmlns:a="http://schemas.openxmlformats.org/drawingml/2006/main">
              <a:ext uri="{FF2B5EF4-FFF2-40B4-BE49-F238E27FC236}">
                <a16:creationId xmlns:a16="http://schemas.microsoft.com/office/drawing/2014/main" id="{E9DCF059-ABB3-4DF2-A96A-83071A1D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5-S088" descr="Ecuación anotada con título «Posición, velocidad y aceleración del MAS». x(t), v(t) y a(t) con amplitudes, unidades y correspondencia con el gráfico U03-033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309f98d9f4266">
            <a:extLst>
              <a:ext uri="{96DAC541-7B7A-43D3-8B79-37D633B846F1}">
                <asvg:svgBlip xmlns:asvg="http://schemas.microsoft.com/office/drawing/2016/SVG/main" r:embed="Re7be3df6dfad46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88_caption">
            <a:extLst xmlns:a="http://schemas.openxmlformats.org/drawingml/2006/main">
              <a:ext uri="{FF2B5EF4-FFF2-40B4-BE49-F238E27FC236}">
                <a16:creationId xmlns:a16="http://schemas.microsoft.com/office/drawing/2014/main" id="{E375F219-DDF1-4A17-880D-B6EAFB48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tres variables comparten frecuencia y presentan relaciones de fase específicas.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Número de onda: fase acumulada por distancia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1AD500FE-C17C-C2F1-CE87-18DB040F0B3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89</a:t>
            </a:fld>
          </a:p>
        </p:txBody>
      </p:sp>
      <p:sp>
        <p:nvSpPr>
          <p:cNvPr id="21" name="u03_U03-089_eyebrow">
            <a:extLst xmlns:a="http://schemas.openxmlformats.org/drawingml/2006/main">
              <a:ext uri="{FF2B5EF4-FFF2-40B4-BE49-F238E27FC236}">
                <a16:creationId xmlns:a16="http://schemas.microsoft.com/office/drawing/2014/main" id="{80CD7C51-818F-4985-81BE-E9D0CE19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5-S089" descr="Ecuación anotada con título «Número de onda: fase acumulada por distancia». Ecuación, unidad rad/m, comparación explícita k_s frente a k_onda y ejemplo mínim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1b9401d674863">
            <a:extLst>
              <a:ext uri="{96DAC541-7B7A-43D3-8B79-37D633B846F1}">
                <asvg:svgBlip xmlns:asvg="http://schemas.microsoft.com/office/drawing/2016/SVG/main" r:embed="Rd4a3aa82473a4b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89_caption">
            <a:extLst xmlns:a="http://schemas.openxmlformats.org/drawingml/2006/main">
              <a:ext uri="{FF2B5EF4-FFF2-40B4-BE49-F238E27FC236}">
                <a16:creationId xmlns:a16="http://schemas.microsoft.com/office/drawing/2014/main" id="{44693E1F-726E-4F56-B60B-9C5086AA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k_onda=2π/λ mide cambio de fase espacial y no es la constante del resorte.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Forma compacta de la onda viajera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95C82590-C3E9-676B-72FC-E707471DCF6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90</a:t>
            </a:fld>
          </a:p>
        </p:txBody>
      </p:sp>
      <p:sp>
        <p:nvSpPr>
          <p:cNvPr id="21" name="u03_U03-090_eyebrow">
            <a:extLst xmlns:a="http://schemas.openxmlformats.org/drawingml/2006/main">
              <a:ext uri="{FF2B5EF4-FFF2-40B4-BE49-F238E27FC236}">
                <a16:creationId xmlns:a16="http://schemas.microsoft.com/office/drawing/2014/main" id="{DDE1316F-5776-4417-A0A5-75C39EF0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5-S090" descr="Ecuación anotada con título «Forma compacta de la onda viajera». Ambas expresiones en paralelo, correspondencias ω=2πf, k_onda=2π/λ y dirección según sign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e00375c574723">
            <a:extLst>
              <a:ext uri="{96DAC541-7B7A-43D3-8B79-37D633B846F1}">
                <asvg:svgBlip xmlns:asvg="http://schemas.microsoft.com/office/drawing/2016/SVG/main" r:embed="Re7c2379f4da14f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90_caption">
            <a:extLst xmlns:a="http://schemas.openxmlformats.org/drawingml/2006/main">
              <a:ext uri="{FF2B5EF4-FFF2-40B4-BE49-F238E27FC236}">
                <a16:creationId xmlns:a16="http://schemas.microsoft.com/office/drawing/2014/main" id="{CBA72737-6510-4494-BE9A-CD937A29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ξ=A_ξ cos(ωt-k_onda x+φ₀) es equivalente a la forma con f y λ.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c=ω/k_onda expresa la misma rapidez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7CDC1A55-D8DD-A0BA-A0EC-BEB674726EC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91</a:t>
            </a:fld>
          </a:p>
        </p:txBody>
      </p:sp>
      <p:sp>
        <p:nvSpPr>
          <p:cNvPr id="21" name="u03_U03-091_eyebrow">
            <a:extLst xmlns:a="http://schemas.openxmlformats.org/drawingml/2006/main">
              <a:ext uri="{FF2B5EF4-FFF2-40B4-BE49-F238E27FC236}">
                <a16:creationId xmlns:a16="http://schemas.microsoft.com/office/drawing/2014/main" id="{03CAF82B-54DA-489A-83D8-AC6B3D7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5-S091" descr="Ecuación anotada con título «`c=ω/k_onda` expresa la misma rapidez». Sustitución en un renglón, unidades y equivalencia con λf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7f45a94e9487e">
            <a:extLst>
              <a:ext uri="{96DAC541-7B7A-43D3-8B79-37D633B846F1}">
                <asvg:svgBlip xmlns:asvg="http://schemas.microsoft.com/office/drawing/2016/SVG/main" r:embed="R46dac5c2e41c4f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91_caption">
            <a:extLst xmlns:a="http://schemas.openxmlformats.org/drawingml/2006/main">
              <a:ext uri="{FF2B5EF4-FFF2-40B4-BE49-F238E27FC236}">
                <a16:creationId xmlns:a16="http://schemas.microsoft.com/office/drawing/2014/main" id="{797E303C-1458-4E0A-AFC8-CCEBFA6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forma angular no agrega otra velocidad; reexpresa c=λf.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Amplitud resultante de dos sinusoides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F7B4941-8669-5809-F8BD-80CECECCC16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92</a:t>
            </a:fld>
          </a:p>
        </p:txBody>
      </p:sp>
      <p:sp>
        <p:nvSpPr>
          <p:cNvPr id="21" name="u03_U03-092_eyebrow">
            <a:extLst xmlns:a="http://schemas.openxmlformats.org/drawingml/2006/main">
              <a:ext uri="{FF2B5EF4-FFF2-40B4-BE49-F238E27FC236}">
                <a16:creationId xmlns:a16="http://schemas.microsoft.com/office/drawing/2014/main" id="{F6BAD4C0-81C0-4C38-BFE7-B097A5C7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5-S092" descr="Ecuación anotada con título «Amplitud resultante de dos sinusoides». A_R=√(A₁²+A₂²+2A₁A₂ cosΔφ); comprobación de casos 0 y π; condicion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0f4e92e4746f1">
            <a:extLst>
              <a:ext uri="{96DAC541-7B7A-43D3-8B79-37D633B846F1}">
                <asvg:svgBlip xmlns:asvg="http://schemas.microsoft.com/office/drawing/2016/SVG/main" r:embed="R0a2bf1b5cc6f4e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92_caption">
            <a:extLst xmlns:a="http://schemas.openxmlformats.org/drawingml/2006/main">
              <a:ext uri="{FF2B5EF4-FFF2-40B4-BE49-F238E27FC236}">
                <a16:creationId xmlns:a16="http://schemas.microsoft.com/office/drawing/2014/main" id="{EB1B0B53-1A6C-4901-BB75-2980DE08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amplitud resultante depende de ambas amplitudes y de cos(Δφ).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cambia la amplitud resultante con la fase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3AB093C-C8AD-64A1-C003-5C003280022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93</a:t>
            </a:fld>
          </a:p>
        </p:txBody>
      </p:sp>
      <p:sp>
        <p:nvSpPr>
          <p:cNvPr id="21" name="u03_U03-093_eyebrow">
            <a:extLst xmlns:a="http://schemas.openxmlformats.org/drawingml/2006/main">
              <a:ext uri="{FF2B5EF4-FFF2-40B4-BE49-F238E27FC236}">
                <a16:creationId xmlns:a16="http://schemas.microsoft.com/office/drawing/2014/main" id="{5F47FF79-62E4-48AB-BEB1-35F7AE73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CH013" descr="Gráfico cuantitativo con título «Cómo cambia la amplitud resultante con la fase». Curva normalizada A_R/A frente a Δφ de 0 a 2π; puntos notabl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fdf6ce4a34a6c">
            <a:extLst>
              <a:ext uri="{96DAC541-7B7A-43D3-8B79-37D633B846F1}">
                <asvg:svgBlip xmlns:asvg="http://schemas.microsoft.com/office/drawing/2016/SVG/main" r:embed="Ra124ed2415d54a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93_caption">
            <a:extLst xmlns:a="http://schemas.openxmlformats.org/drawingml/2006/main">
              <a:ext uri="{FF2B5EF4-FFF2-40B4-BE49-F238E27FC236}">
                <a16:creationId xmlns:a16="http://schemas.microsoft.com/office/drawing/2014/main" id="{477BF1EF-DB23-4F24-B693-C954799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transición entre refuerzo y cancelación es continua.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del ejercicio de tiempo y espacio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9AF0B80-E256-531F-19DB-D59497554B5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94</a:t>
            </a:fld>
          </a:p>
        </p:txBody>
      </p:sp>
      <p:sp>
        <p:nvSpPr>
          <p:cNvPr id="21" name="u03_U03-094_eyebrow">
            <a:extLst xmlns:a="http://schemas.openxmlformats.org/drawingml/2006/main">
              <a:ext uri="{FF2B5EF4-FFF2-40B4-BE49-F238E27FC236}">
                <a16:creationId xmlns:a16="http://schemas.microsoft.com/office/drawing/2014/main" id="{9E473650-A185-4167-A46D-CF36C4D6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CH008" descr="Esquema mixto con título «Solución del ejercicio de tiempo y espacio». Marcas correctas de T y λ, cálculo de f y c, unidades y dos errores típico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efcefb62a40d6">
            <a:extLst>
              <a:ext uri="{96DAC541-7B7A-43D3-8B79-37D633B846F1}">
                <asvg:svgBlip xmlns:asvg="http://schemas.microsoft.com/office/drawing/2016/SVG/main" r:embed="R956b297315194b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94_caption">
            <a:extLst xmlns:a="http://schemas.openxmlformats.org/drawingml/2006/main">
              <a:ext uri="{FF2B5EF4-FFF2-40B4-BE49-F238E27FC236}">
                <a16:creationId xmlns:a16="http://schemas.microsoft.com/office/drawing/2014/main" id="{5720AC54-C30D-4841-A1B6-AF02F385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Cada magnitud se obtiene de su eje antes de usar c=λf.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ítulo 17">
            <a:extLst xmlns:a="http://schemas.openxmlformats.org/drawingml/2006/main"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del caso integrador</a:t>
            </a:r>
          </a:p>
        </p:txBody>
      </p:sp>
      <p:sp>
        <p:nvSpPr>
          <p:cNvPr id="20" name="Marcador de número de diapositiva 19">
            <a:extLst xmlns:a="http://schemas.openxmlformats.org/drawingml/2006/main"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674AA88-74FE-9C49-CBB6-FCC52CBADF8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95</a:t>
            </a:fld>
          </a:p>
        </p:txBody>
      </p:sp>
      <p:sp>
        <p:nvSpPr>
          <p:cNvPr id="21" name="u03_U03-095_eyebrow">
            <a:extLst xmlns:a="http://schemas.openxmlformats.org/drawingml/2006/main">
              <a:ext uri="{FF2B5EF4-FFF2-40B4-BE49-F238E27FC236}">
                <a16:creationId xmlns:a16="http://schemas.microsoft.com/office/drawing/2014/main" id="{BC2EB2F9-EC82-4297-879A-BE5443B2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pic>
        <p:nvPicPr>
          <p:cNvPr id="27" name="U03-DG024-S095" descr="Esquema mixto con título «Solución del caso integrador». Cinco pasos que corresponden a U03-080; resultados y justificaciones brev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128f4875a4ef7">
            <a:extLst>
              <a:ext uri="{96DAC541-7B7A-43D3-8B79-37D633B846F1}">
                <asvg:svgBlip xmlns:asvg="http://schemas.microsoft.com/office/drawing/2016/SVG/main" r:embed="R3ae2638db82d4a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1200150"/>
            <a:ext cx="10972800" cy="5029200"/>
          </a:xfrm>
          <a:prstGeom xmlns:a="http://schemas.openxmlformats.org/drawingml/2006/main" prst="rect">
            <a:avLst/>
          </a:prstGeom>
        </p:spPr>
      </p:pic>
      <p:sp>
        <p:nvSpPr>
          <p:cNvPr id="23" name="U03-095_caption">
            <a:extLst xmlns:a="http://schemas.openxmlformats.org/drawingml/2006/main">
              <a:ext uri="{FF2B5EF4-FFF2-40B4-BE49-F238E27FC236}">
                <a16:creationId xmlns:a16="http://schemas.microsoft.com/office/drawing/2014/main" id="{88B96F76-4D17-4CB7-8098-4C877E47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respuesta sólida combina mecanismo, variable, representación, cálculo y límites.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ítulo 14">
            <a:extLst xmlns:a="http://schemas.openxmlformats.org/drawingml/2006/main">
              <a:ext uri="{FF2B5EF4-FFF2-40B4-BE49-F238E27FC236}">
                <a16:creationId xmlns:a16="http://schemas.microsoft.com/office/drawing/2014/main" id="{D93D457B-A092-5BC9-06E0-5FA99CC63C9F}"/>
              </a:ext>
            </a:extLst>
          </p:cNvPr>
          <p:cNvSpPr>
            <a:spLocks xmlns:a="http://schemas.openxmlformats.org/drawingml/2006/main" noGrp="1"/>
          </p:cNvSpPr>
          <p:nvPr>
            <p:ph type="title" idx="10"/>
          </p:nvPr>
        </p:nvSpPr>
        <p:spPr>
          <a:xfrm xmlns:a="http://schemas.openxmlformats.org/drawingml/2006/main">
            <a:off x="609600" y="647700"/>
            <a:ext cx="10972800" cy="609600"/>
          </a:xfr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Notación, glosario y fuentes de consulta</a:t>
            </a:r>
          </a:p>
        </p:txBody>
      </p:sp>
      <p:sp>
        <p:nvSpPr>
          <p:cNvPr id="17" name="Marcador de número de diapositiva 16">
            <a:extLst xmlns:a="http://schemas.openxmlformats.org/drawingml/2006/main">
              <a:ext uri="{FF2B5EF4-FFF2-40B4-BE49-F238E27FC236}">
                <a16:creationId xmlns:a16="http://schemas.microsoft.com/office/drawing/2014/main" id="{E2D13425-3C5C-B26C-019E-A4D5E1FF74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70483BBF-0FAF-C292-EB03-F731E615EDA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96</a:t>
            </a:fld>
          </a:p>
        </p:txBody>
      </p:sp>
      <p:sp>
        <p:nvSpPr>
          <p:cNvPr id="18" name="u03_U03-096_eyebrow">
            <a:extLst xmlns:a="http://schemas.openxmlformats.org/drawingml/2006/main">
              <a:ext uri="{FF2B5EF4-FFF2-40B4-BE49-F238E27FC236}">
                <a16:creationId xmlns:a16="http://schemas.microsoft.com/office/drawing/2014/main" id="{248DCD9E-B6BC-4E04-B6D1-D5FB0108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590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19" name="U03-096_row_1_key">
            <a:extLst xmlns:a="http://schemas.openxmlformats.org/drawingml/2006/main">
              <a:ext uri="{FF2B5EF4-FFF2-40B4-BE49-F238E27FC236}">
                <a16:creationId xmlns:a16="http://schemas.microsoft.com/office/drawing/2014/main" id="{4AA1E09E-A720-4A04-B285-1BAD1A6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20" name="U03-096_row_1_value">
            <a:extLst xmlns:a="http://schemas.openxmlformats.org/drawingml/2006/main">
              <a:ext uri="{FF2B5EF4-FFF2-40B4-BE49-F238E27FC236}">
                <a16:creationId xmlns:a16="http://schemas.microsoft.com/office/drawing/2014/main" id="{0E30214B-19A3-4F5A-8E92-89FDE33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A_x, A_ξ: amplitudes</a:t>
            </a:r>
          </a:p>
        </p:txBody>
      </p:sp>
      <p:sp>
        <p:nvSpPr>
          <p:cNvPr id="21" name="U03-096_row_2_key">
            <a:extLst xmlns:a="http://schemas.openxmlformats.org/drawingml/2006/main">
              <a:ext uri="{FF2B5EF4-FFF2-40B4-BE49-F238E27FC236}">
                <a16:creationId xmlns:a16="http://schemas.microsoft.com/office/drawing/2014/main" id="{15F3B00E-0257-4C2A-8816-8EFE8BDF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2" name="U03-096_row_2_value">
            <a:extLst xmlns:a="http://schemas.openxmlformats.org/drawingml/2006/main">
              <a:ext uri="{FF2B5EF4-FFF2-40B4-BE49-F238E27FC236}">
                <a16:creationId xmlns:a16="http://schemas.microsoft.com/office/drawing/2014/main" id="{AB937C26-4517-4A77-8729-B61CEC0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193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frecuencia</a:t>
            </a:r>
          </a:p>
        </p:txBody>
      </p:sp>
      <p:sp>
        <p:nvSpPr>
          <p:cNvPr id="23" name="U03-096_row_3_key">
            <a:extLst xmlns:a="http://schemas.openxmlformats.org/drawingml/2006/main">
              <a:ext uri="{FF2B5EF4-FFF2-40B4-BE49-F238E27FC236}">
                <a16:creationId xmlns:a16="http://schemas.microsoft.com/office/drawing/2014/main" id="{5B2710AB-1BD2-4F60-95E4-AB2633F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U03-096_row_3_value">
            <a:extLst xmlns:a="http://schemas.openxmlformats.org/drawingml/2006/main">
              <a:ext uri="{FF2B5EF4-FFF2-40B4-BE49-F238E27FC236}">
                <a16:creationId xmlns:a16="http://schemas.microsoft.com/office/drawing/2014/main" id="{A3BB885B-DCD0-4EB0-AECA-FA84BAE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T: período</a:t>
            </a:r>
          </a:p>
        </p:txBody>
      </p:sp>
      <p:sp>
        <p:nvSpPr>
          <p:cNvPr id="25" name="U03-096_row_4_key">
            <a:extLst xmlns:a="http://schemas.openxmlformats.org/drawingml/2006/main">
              <a:ext uri="{FF2B5EF4-FFF2-40B4-BE49-F238E27FC236}">
                <a16:creationId xmlns:a16="http://schemas.microsoft.com/office/drawing/2014/main" id="{6FB5327E-8F08-48FD-B12C-74D89757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U03-096_row_4_value">
            <a:extLst xmlns:a="http://schemas.openxmlformats.org/drawingml/2006/main">
              <a:ext uri="{FF2B5EF4-FFF2-40B4-BE49-F238E27FC236}">
                <a16:creationId xmlns:a16="http://schemas.microsoft.com/office/drawing/2014/main" id="{0F547FD4-3CF6-449D-806B-33398B1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φ₀, Δφ: fases</a:t>
            </a:r>
          </a:p>
        </p:txBody>
      </p:sp>
      <p:sp>
        <p:nvSpPr>
          <p:cNvPr id="27" name="U03-096_row_5_key">
            <a:extLst xmlns:a="http://schemas.openxmlformats.org/drawingml/2006/main">
              <a:ext uri="{FF2B5EF4-FFF2-40B4-BE49-F238E27FC236}">
                <a16:creationId xmlns:a16="http://schemas.microsoft.com/office/drawing/2014/main" id="{444ACDEB-24A6-489C-B6C0-6084104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8" name="U03-096_row_5_value">
            <a:extLst xmlns:a="http://schemas.openxmlformats.org/drawingml/2006/main">
              <a:ext uri="{FF2B5EF4-FFF2-40B4-BE49-F238E27FC236}">
                <a16:creationId xmlns:a16="http://schemas.microsoft.com/office/drawing/2014/main" id="{E5C71E30-D811-46C1-A7D5-636D3BF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λ: longitud de onda</a:t>
            </a:r>
          </a:p>
        </p:txBody>
      </p:sp>
      <p:sp>
        <p:nvSpPr>
          <p:cNvPr id="29" name="U03-096_row_6_key">
            <a:extLst xmlns:a="http://schemas.openxmlformats.org/drawingml/2006/main">
              <a:ext uri="{FF2B5EF4-FFF2-40B4-BE49-F238E27FC236}">
                <a16:creationId xmlns:a16="http://schemas.microsoft.com/office/drawing/2014/main" id="{67CB19A3-F828-49D3-8BA6-A91691EC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0" name="U03-096_row_6_value">
            <a:extLst xmlns:a="http://schemas.openxmlformats.org/drawingml/2006/main">
              <a:ext uri="{FF2B5EF4-FFF2-40B4-BE49-F238E27FC236}">
                <a16:creationId xmlns:a16="http://schemas.microsoft.com/office/drawing/2014/main" id="{4188581C-E2F0-4F08-9714-8D7395DD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u: velocidad local</a:t>
            </a:r>
          </a:p>
        </p:txBody>
      </p:sp>
      <p:sp>
        <p:nvSpPr>
          <p:cNvPr id="31" name="U03-096_row_7_key">
            <a:extLst xmlns:a="http://schemas.openxmlformats.org/drawingml/2006/main">
              <a:ext uri="{FF2B5EF4-FFF2-40B4-BE49-F238E27FC236}">
                <a16:creationId xmlns:a16="http://schemas.microsoft.com/office/drawing/2014/main" id="{F9C593C5-AC5B-40EC-BF76-4C996E17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2" name="U03-096_row_7_value">
            <a:extLst xmlns:a="http://schemas.openxmlformats.org/drawingml/2006/main">
              <a:ext uri="{FF2B5EF4-FFF2-40B4-BE49-F238E27FC236}">
                <a16:creationId xmlns:a16="http://schemas.microsoft.com/office/drawing/2014/main" id="{B8287481-285A-4E37-91AC-60FCB45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c: propagación</a:t>
            </a:r>
          </a:p>
        </p:txBody>
      </p:sp>
      <p:sp>
        <p:nvSpPr>
          <p:cNvPr id="33" name="U03-096_row_8_key">
            <a:extLst xmlns:a="http://schemas.openxmlformats.org/drawingml/2006/main">
              <a:ext uri="{FF2B5EF4-FFF2-40B4-BE49-F238E27FC236}">
                <a16:creationId xmlns:a16="http://schemas.microsoft.com/office/drawing/2014/main" id="{33D1BF30-A3B2-40DF-90F7-49A2EBBE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4" name="U03-096_row_8_value">
            <a:extLst xmlns:a="http://schemas.openxmlformats.org/drawingml/2006/main">
              <a:ext uri="{FF2B5EF4-FFF2-40B4-BE49-F238E27FC236}">
                <a16:creationId xmlns:a16="http://schemas.microsoft.com/office/drawing/2014/main" id="{AC8013A2-F008-437A-BAB8-A4F4D676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k_s: rigidez</a:t>
            </a:r>
          </a:p>
        </p:txBody>
      </p:sp>
      <p:sp>
        <p:nvSpPr>
          <p:cNvPr id="35" name="U03-096_row_9_key">
            <a:extLst xmlns:a="http://schemas.openxmlformats.org/drawingml/2006/main">
              <a:ext uri="{FF2B5EF4-FFF2-40B4-BE49-F238E27FC236}">
                <a16:creationId xmlns:a16="http://schemas.microsoft.com/office/drawing/2014/main" id="{0B239AB9-8087-46A9-ABD2-DDD99BDB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6" name="U03-096_row_9_value">
            <a:extLst xmlns:a="http://schemas.openxmlformats.org/drawingml/2006/main">
              <a:ext uri="{FF2B5EF4-FFF2-40B4-BE49-F238E27FC236}">
                <a16:creationId xmlns:a16="http://schemas.microsoft.com/office/drawing/2014/main" id="{62CECC05-5C8A-40BB-8953-38B6125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864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k_onda: número de onda.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2026-07-31T00:55:46.4500000Z</dcterms:created>
  <dcterms:modified xsi:type="dcterms:W3CDTF">2026-07-31T00:55:46.4500000Z</dcterms:modified>
</coreProperties>
</file>