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20df6491674683" /><Relationship Type="http://schemas.openxmlformats.org/officeDocument/2006/relationships/extended-properties" Target="/docProps/app.xml" Id="Rcbf50b1316fb4f5d" /><Relationship Type="http://schemas.openxmlformats.org/officeDocument/2006/relationships/officeDocument" Target="/ppt/presentation.xml" Id="Rd5e8cbf389df4a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05304d8a7743cb"/>
    <p:sldMasterId xmlns:r="http://schemas.openxmlformats.org/officeDocument/2006/relationships" id="2147483673" r:id="R91d89c707b5e4a00"/>
  </p:sldMasterIdLst>
  <p:notesMasterIdLst>
    <p:notesMasterId xmlns:r="http://schemas.openxmlformats.org/officeDocument/2006/relationships" r:id="R0dcb9bd1218245bb"/>
  </p:notesMasterIdLst>
  <p:sldIdLst>
    <p:sldId xmlns:r="http://schemas.openxmlformats.org/officeDocument/2006/relationships" id="256" r:id="R449d95567a0c4b91"/>
    <p:sldId xmlns:r="http://schemas.openxmlformats.org/officeDocument/2006/relationships" id="257" r:id="Re461a6b12f294f2b"/>
    <p:sldId xmlns:r="http://schemas.openxmlformats.org/officeDocument/2006/relationships" id="258" r:id="R78712f0d20824fb9"/>
    <p:sldId xmlns:r="http://schemas.openxmlformats.org/officeDocument/2006/relationships" id="259" r:id="R2179808b9b424407"/>
    <p:sldId xmlns:r="http://schemas.openxmlformats.org/officeDocument/2006/relationships" id="260" r:id="R44d3e4fdbee84186"/>
    <p:sldId xmlns:r="http://schemas.openxmlformats.org/officeDocument/2006/relationships" id="261" r:id="R847fa62ea4dd4d40"/>
    <p:sldId xmlns:r="http://schemas.openxmlformats.org/officeDocument/2006/relationships" id="262" r:id="Rcca48dfc8a6c4a8b"/>
    <p:sldId xmlns:r="http://schemas.openxmlformats.org/officeDocument/2006/relationships" id="263" r:id="R2284b3f6fbaa4f34"/>
    <p:sldId xmlns:r="http://schemas.openxmlformats.org/officeDocument/2006/relationships" id="264" r:id="R02c55f62a44a4893"/>
    <p:sldId xmlns:r="http://schemas.openxmlformats.org/officeDocument/2006/relationships" id="265" r:id="R749921d9b5fa4c7d"/>
    <p:sldId xmlns:r="http://schemas.openxmlformats.org/officeDocument/2006/relationships" id="266" r:id="Rccc5c6dc27bf40e4"/>
    <p:sldId xmlns:r="http://schemas.openxmlformats.org/officeDocument/2006/relationships" id="267" r:id="R2b60a234f9c648d8"/>
    <p:sldId xmlns:r="http://schemas.openxmlformats.org/officeDocument/2006/relationships" id="268" r:id="R0d2d0e1f5342433e"/>
    <p:sldId xmlns:r="http://schemas.openxmlformats.org/officeDocument/2006/relationships" id="269" r:id="Rc3831507066c4180"/>
    <p:sldId xmlns:r="http://schemas.openxmlformats.org/officeDocument/2006/relationships" id="270" r:id="Rf6c6ce4ea7e74589"/>
    <p:sldId xmlns:r="http://schemas.openxmlformats.org/officeDocument/2006/relationships" id="271" r:id="R15167215ea1547da"/>
    <p:sldId xmlns:r="http://schemas.openxmlformats.org/officeDocument/2006/relationships" id="272" r:id="Rd4fcf6e1a76d4e27"/>
    <p:sldId xmlns:r="http://schemas.openxmlformats.org/officeDocument/2006/relationships" id="273" r:id="Ra17f1480f8ff4f0b"/>
    <p:sldId xmlns:r="http://schemas.openxmlformats.org/officeDocument/2006/relationships" id="274" r:id="Rf9784e84fe434b01"/>
    <p:sldId xmlns:r="http://schemas.openxmlformats.org/officeDocument/2006/relationships" id="275" r:id="Rb50c68bae47f4883"/>
    <p:sldId xmlns:r="http://schemas.openxmlformats.org/officeDocument/2006/relationships" id="276" r:id="R2389b243870d4c20"/>
    <p:sldId xmlns:r="http://schemas.openxmlformats.org/officeDocument/2006/relationships" id="277" r:id="Re5b231e0ba014f66"/>
    <p:sldId xmlns:r="http://schemas.openxmlformats.org/officeDocument/2006/relationships" id="278" r:id="Re8f463854a4c43ae"/>
    <p:sldId xmlns:r="http://schemas.openxmlformats.org/officeDocument/2006/relationships" id="279" r:id="R90f2ebd437014265"/>
    <p:sldId xmlns:r="http://schemas.openxmlformats.org/officeDocument/2006/relationships" id="280" r:id="R46e042036d2c47fb"/>
    <p:sldId xmlns:r="http://schemas.openxmlformats.org/officeDocument/2006/relationships" id="281" r:id="R89e419917a224338"/>
    <p:sldId xmlns:r="http://schemas.openxmlformats.org/officeDocument/2006/relationships" id="282" r:id="R24239b5782644bc9"/>
    <p:sldId xmlns:r="http://schemas.openxmlformats.org/officeDocument/2006/relationships" id="283" r:id="R4531f9f188a74af1"/>
    <p:sldId xmlns:r="http://schemas.openxmlformats.org/officeDocument/2006/relationships" id="284" r:id="R013e7a9b85aa46a1"/>
    <p:sldId xmlns:r="http://schemas.openxmlformats.org/officeDocument/2006/relationships" id="285" r:id="Re975a455de6543a9"/>
    <p:sldId xmlns:r="http://schemas.openxmlformats.org/officeDocument/2006/relationships" id="286" r:id="Ra60a0f5a73d14b80"/>
    <p:sldId xmlns:r="http://schemas.openxmlformats.org/officeDocument/2006/relationships" id="287" r:id="Rb4d885387d9a47be"/>
    <p:sldId xmlns:r="http://schemas.openxmlformats.org/officeDocument/2006/relationships" id="288" r:id="Rd92cf08ae458484c"/>
    <p:sldId xmlns:r="http://schemas.openxmlformats.org/officeDocument/2006/relationships" id="289" r:id="R0b705b64f66440b4"/>
    <p:sldId xmlns:r="http://schemas.openxmlformats.org/officeDocument/2006/relationships" id="290" r:id="Rceea9282355b47d6"/>
    <p:sldId xmlns:r="http://schemas.openxmlformats.org/officeDocument/2006/relationships" id="291" r:id="R60ba39d68c5f4db0"/>
    <p:sldId xmlns:r="http://schemas.openxmlformats.org/officeDocument/2006/relationships" id="292" r:id="R9545ecc555364031"/>
    <p:sldId xmlns:r="http://schemas.openxmlformats.org/officeDocument/2006/relationships" id="293" r:id="R7a220b13af7a452f"/>
    <p:sldId xmlns:r="http://schemas.openxmlformats.org/officeDocument/2006/relationships" id="294" r:id="R05f670ceed064807"/>
    <p:sldId xmlns:r="http://schemas.openxmlformats.org/officeDocument/2006/relationships" id="295" r:id="Rfb96c6d589f943d9"/>
    <p:sldId xmlns:r="http://schemas.openxmlformats.org/officeDocument/2006/relationships" id="296" r:id="R6ea9ec1e42134070"/>
    <p:sldId xmlns:r="http://schemas.openxmlformats.org/officeDocument/2006/relationships" id="297" r:id="R96ef9311c8c4491f"/>
    <p:sldId xmlns:r="http://schemas.openxmlformats.org/officeDocument/2006/relationships" id="298" r:id="R201648f8bf9a4a84"/>
    <p:sldId xmlns:r="http://schemas.openxmlformats.org/officeDocument/2006/relationships" id="299" r:id="Rd1e10c2c288a44c6"/>
    <p:sldId xmlns:r="http://schemas.openxmlformats.org/officeDocument/2006/relationships" id="300" r:id="R18c29499139344b1"/>
    <p:sldId xmlns:r="http://schemas.openxmlformats.org/officeDocument/2006/relationships" id="301" r:id="R3a1fdcfdc16045e3"/>
    <p:sldId xmlns:r="http://schemas.openxmlformats.org/officeDocument/2006/relationships" id="302" r:id="R3f9b948fda8f4ee3"/>
    <p:sldId xmlns:r="http://schemas.openxmlformats.org/officeDocument/2006/relationships" id="303" r:id="Ra60d4b0c10f442ab"/>
    <p:sldId xmlns:r="http://schemas.openxmlformats.org/officeDocument/2006/relationships" id="304" r:id="R1eb4e88af07641ab"/>
    <p:sldId xmlns:r="http://schemas.openxmlformats.org/officeDocument/2006/relationships" id="305" r:id="R4f145da5d7e34738"/>
    <p:sldId xmlns:r="http://schemas.openxmlformats.org/officeDocument/2006/relationships" id="306" r:id="R51087013e6fe4193"/>
    <p:sldId xmlns:r="http://schemas.openxmlformats.org/officeDocument/2006/relationships" id="307" r:id="R81cd6cd3c3194d5d"/>
    <p:sldId xmlns:r="http://schemas.openxmlformats.org/officeDocument/2006/relationships" id="308" r:id="Ra88b6f0fb88541dd"/>
    <p:sldId xmlns:r="http://schemas.openxmlformats.org/officeDocument/2006/relationships" id="309" r:id="Rf15c35ae3d464505"/>
    <p:sldId xmlns:r="http://schemas.openxmlformats.org/officeDocument/2006/relationships" id="310" r:id="R94a689d138df44fe"/>
    <p:sldId xmlns:r="http://schemas.openxmlformats.org/officeDocument/2006/relationships" id="311" r:id="R41e9c0ddd74c41ea"/>
    <p:sldId xmlns:r="http://schemas.openxmlformats.org/officeDocument/2006/relationships" id="312" r:id="Rc75c79fd6fc54bed"/>
    <p:sldId xmlns:r="http://schemas.openxmlformats.org/officeDocument/2006/relationships" id="313" r:id="Rebafdb2311c94e1d"/>
    <p:sldId xmlns:r="http://schemas.openxmlformats.org/officeDocument/2006/relationships" id="314" r:id="R380e506bfd4c419e"/>
    <p:sldId xmlns:r="http://schemas.openxmlformats.org/officeDocument/2006/relationships" id="315" r:id="R522947ec2e3f4b58"/>
    <p:sldId xmlns:r="http://schemas.openxmlformats.org/officeDocument/2006/relationships" id="316" r:id="R868ec5f6100144c8"/>
    <p:sldId xmlns:r="http://schemas.openxmlformats.org/officeDocument/2006/relationships" id="317" r:id="R8d49230941ce491c"/>
    <p:sldId xmlns:r="http://schemas.openxmlformats.org/officeDocument/2006/relationships" id="318" r:id="Rc38c2b5e0e9b44ca"/>
    <p:sldId xmlns:r="http://schemas.openxmlformats.org/officeDocument/2006/relationships" id="319" r:id="R40bb286a62ff49a4"/>
    <p:sldId xmlns:r="http://schemas.openxmlformats.org/officeDocument/2006/relationships" id="320" r:id="R6bea11a0526a4722"/>
    <p:sldId xmlns:r="http://schemas.openxmlformats.org/officeDocument/2006/relationships" id="321" r:id="R2adb608af27a48df"/>
    <p:sldId xmlns:r="http://schemas.openxmlformats.org/officeDocument/2006/relationships" id="322" r:id="R069dfc805c804ed2"/>
    <p:sldId xmlns:r="http://schemas.openxmlformats.org/officeDocument/2006/relationships" id="323" r:id="R48c92390033b4ca7"/>
    <p:sldId xmlns:r="http://schemas.openxmlformats.org/officeDocument/2006/relationships" id="324" r:id="R1bd9286ed4504c77"/>
    <p:sldId xmlns:r="http://schemas.openxmlformats.org/officeDocument/2006/relationships" id="325" r:id="R36adca13fa73436b"/>
    <p:sldId xmlns:r="http://schemas.openxmlformats.org/officeDocument/2006/relationships" id="326" r:id="Rbd74a2113c7548b6"/>
    <p:sldId xmlns:r="http://schemas.openxmlformats.org/officeDocument/2006/relationships" id="327" r:id="R8a48c0f5919a4904"/>
    <p:sldId xmlns:r="http://schemas.openxmlformats.org/officeDocument/2006/relationships" id="328" r:id="Rade12725813143a7"/>
    <p:sldId xmlns:r="http://schemas.openxmlformats.org/officeDocument/2006/relationships" id="329" r:id="R939ad00c5069460b"/>
    <p:sldId xmlns:r="http://schemas.openxmlformats.org/officeDocument/2006/relationships" id="330" r:id="R2b1bbd2ba93b4b26"/>
    <p:sldId xmlns:r="http://schemas.openxmlformats.org/officeDocument/2006/relationships" id="331" r:id="R452730bcc1044298"/>
    <p:sldId xmlns:r="http://schemas.openxmlformats.org/officeDocument/2006/relationships" id="332" r:id="R0464d21060574c22"/>
    <p:sldId xmlns:r="http://schemas.openxmlformats.org/officeDocument/2006/relationships" id="333" r:id="R3012b4ce29e3478c"/>
    <p:sldId xmlns:r="http://schemas.openxmlformats.org/officeDocument/2006/relationships" id="334" r:id="Ra1afd29b54864d19"/>
    <p:sldId xmlns:r="http://schemas.openxmlformats.org/officeDocument/2006/relationships" id="335" r:id="R8f7cde3a1d4c4224"/>
    <p:sldId xmlns:r="http://schemas.openxmlformats.org/officeDocument/2006/relationships" id="336" r:id="R695b37de0fc64597"/>
    <p:sldId xmlns:r="http://schemas.openxmlformats.org/officeDocument/2006/relationships" id="337" r:id="Rab5cbbe196914c49"/>
    <p:sldId xmlns:r="http://schemas.openxmlformats.org/officeDocument/2006/relationships" id="338" r:id="R2f39c7e4c7134e95"/>
    <p:sldId xmlns:r="http://schemas.openxmlformats.org/officeDocument/2006/relationships" id="339" r:id="R22ab8f08121e4807"/>
    <p:sldId xmlns:r="http://schemas.openxmlformats.org/officeDocument/2006/relationships" id="340" r:id="R89b3c16da5e74a4e"/>
    <p:sldId xmlns:r="http://schemas.openxmlformats.org/officeDocument/2006/relationships" id="341" r:id="Rdf8f1060e9ff4b56"/>
    <p:sldId xmlns:r="http://schemas.openxmlformats.org/officeDocument/2006/relationships" id="342" r:id="Rb7d7cb2013ab436e"/>
    <p:sldId xmlns:r="http://schemas.openxmlformats.org/officeDocument/2006/relationships" id="343" r:id="Ra08cc100a3054c92"/>
    <p:sldId xmlns:r="http://schemas.openxmlformats.org/officeDocument/2006/relationships" id="344" r:id="R49ec9d6cd4b54bbf"/>
    <p:sldId xmlns:r="http://schemas.openxmlformats.org/officeDocument/2006/relationships" id="345" r:id="R36b3e703e02c4b5c"/>
    <p:sldId xmlns:r="http://schemas.openxmlformats.org/officeDocument/2006/relationships" id="346" r:id="R983d11b983f944ad"/>
    <p:sldId xmlns:r="http://schemas.openxmlformats.org/officeDocument/2006/relationships" id="347" r:id="R522e00b654b14fcd"/>
    <p:sldId xmlns:r="http://schemas.openxmlformats.org/officeDocument/2006/relationships" id="348" r:id="R3c7dbd5711e74afc"/>
    <p:sldId xmlns:r="http://schemas.openxmlformats.org/officeDocument/2006/relationships" id="349" r:id="Rb96135c32fe74417"/>
    <p:sldId xmlns:r="http://schemas.openxmlformats.org/officeDocument/2006/relationships" id="350" r:id="R4db93f2e07774ef2"/>
    <p:sldId xmlns:r="http://schemas.openxmlformats.org/officeDocument/2006/relationships" id="351" r:id="R430d0d4c2871490e"/>
    <p:sldId xmlns:r="http://schemas.openxmlformats.org/officeDocument/2006/relationships" id="352" r:id="R25fc456e1b22495e"/>
    <p:sldId xmlns:r="http://schemas.openxmlformats.org/officeDocument/2006/relationships" id="353" r:id="R4982424dde3444b7"/>
    <p:sldId xmlns:r="http://schemas.openxmlformats.org/officeDocument/2006/relationships" id="354" r:id="R4d96c58b4b6f4331"/>
    <p:sldId xmlns:r="http://schemas.openxmlformats.org/officeDocument/2006/relationships" id="355" r:id="R0fc888c269c64ca3"/>
    <p:sldId xmlns:r="http://schemas.openxmlformats.org/officeDocument/2006/relationships" id="356" r:id="R532b614c66f44f3a"/>
    <p:sldId xmlns:r="http://schemas.openxmlformats.org/officeDocument/2006/relationships" id="357" r:id="R887fbf315b864ac5"/>
    <p:sldId xmlns:r="http://schemas.openxmlformats.org/officeDocument/2006/relationships" id="358" r:id="Rbb1f099880564960"/>
    <p:sldId xmlns:r="http://schemas.openxmlformats.org/officeDocument/2006/relationships" id="359" r:id="R49f2db970d534915"/>
    <p:sldId xmlns:r="http://schemas.openxmlformats.org/officeDocument/2006/relationships" id="360" r:id="Rd4c509359d924d06"/>
    <p:sldId xmlns:r="http://schemas.openxmlformats.org/officeDocument/2006/relationships" id="361" r:id="R3ad730f1023841fa"/>
    <p:sldId xmlns:r="http://schemas.openxmlformats.org/officeDocument/2006/relationships" id="362" r:id="Rebcedb9f56994941"/>
    <p:sldId xmlns:r="http://schemas.openxmlformats.org/officeDocument/2006/relationships" id="363" r:id="Rb43277f6bd894b57"/>
    <p:sldId xmlns:r="http://schemas.openxmlformats.org/officeDocument/2006/relationships" id="364" r:id="Re1d3aa981f194a05"/>
    <p:sldId xmlns:r="http://schemas.openxmlformats.org/officeDocument/2006/relationships" id="365" r:id="Re841289c62ae468e"/>
    <p:sldId xmlns:r="http://schemas.openxmlformats.org/officeDocument/2006/relationships" id="366" r:id="R4020515b4da64682"/>
    <p:sldId xmlns:r="http://schemas.openxmlformats.org/officeDocument/2006/relationships" id="367" r:id="R33f4f15f44be448a"/>
    <p:sldId xmlns:r="http://schemas.openxmlformats.org/officeDocument/2006/relationships" id="368" r:id="Re68c4428806a4dd4"/>
    <p:sldId xmlns:r="http://schemas.openxmlformats.org/officeDocument/2006/relationships" id="369" r:id="Rfc77099f76c044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0c3b23218c4faa" /><Relationship Type="http://schemas.openxmlformats.org/officeDocument/2006/relationships/slideMaster" Target="/ppt/slideMasters/slideMaster1.xml" Id="R9205304d8a7743cb" /><Relationship Type="http://schemas.openxmlformats.org/officeDocument/2006/relationships/slideMaster" Target="/ppt/slideMasters/slideMaster2.xml" Id="R91d89c707b5e4a00" /><Relationship Type="http://schemas.openxmlformats.org/officeDocument/2006/relationships/notesMaster" Target="/ppt/notesMasters/notesMaster1.xml" Id="R0dcb9bd1218245bb" /><Relationship Type="http://schemas.openxmlformats.org/officeDocument/2006/relationships/presProps" Target="/ppt/presProps.xml" Id="Rc8145d9062d74193" /><Relationship Type="http://schemas.openxmlformats.org/officeDocument/2006/relationships/viewProps" Target="/ppt/viewProps.xml" Id="Rc2118c21299042ea" /><Relationship Type="http://schemas.openxmlformats.org/officeDocument/2006/relationships/tableStyles" Target="/ppt/tableStyles.xml" Id="R33bbec1bd7fe487f" /><Relationship Type="http://schemas.openxmlformats.org/officeDocument/2006/relationships/slide" Target="/ppt/slides/slide1.xml" Id="R449d95567a0c4b91" /><Relationship Type="http://schemas.openxmlformats.org/officeDocument/2006/relationships/slide" Target="/ppt/slides/slide2.xml" Id="Re461a6b12f294f2b" /><Relationship Type="http://schemas.openxmlformats.org/officeDocument/2006/relationships/slide" Target="/ppt/slides/slide3.xml" Id="R78712f0d20824fb9" /><Relationship Type="http://schemas.openxmlformats.org/officeDocument/2006/relationships/slide" Target="/ppt/slides/slide4.xml" Id="R2179808b9b424407" /><Relationship Type="http://schemas.openxmlformats.org/officeDocument/2006/relationships/slide" Target="/ppt/slides/slide5.xml" Id="R44d3e4fdbee84186" /><Relationship Type="http://schemas.openxmlformats.org/officeDocument/2006/relationships/slide" Target="/ppt/slides/slide6.xml" Id="R847fa62ea4dd4d40" /><Relationship Type="http://schemas.openxmlformats.org/officeDocument/2006/relationships/slide" Target="/ppt/slides/slide7.xml" Id="Rcca48dfc8a6c4a8b" /><Relationship Type="http://schemas.openxmlformats.org/officeDocument/2006/relationships/slide" Target="/ppt/slides/slide8.xml" Id="R2284b3f6fbaa4f34" /><Relationship Type="http://schemas.openxmlformats.org/officeDocument/2006/relationships/slide" Target="/ppt/slides/slide9.xml" Id="R02c55f62a44a4893" /><Relationship Type="http://schemas.openxmlformats.org/officeDocument/2006/relationships/slide" Target="/ppt/slides/slide10.xml" Id="R749921d9b5fa4c7d" /><Relationship Type="http://schemas.openxmlformats.org/officeDocument/2006/relationships/slide" Target="/ppt/slides/slide11.xml" Id="Rccc5c6dc27bf40e4" /><Relationship Type="http://schemas.openxmlformats.org/officeDocument/2006/relationships/slide" Target="/ppt/slides/slide12.xml" Id="R2b60a234f9c648d8" /><Relationship Type="http://schemas.openxmlformats.org/officeDocument/2006/relationships/slide" Target="/ppt/slides/slide13.xml" Id="R0d2d0e1f5342433e" /><Relationship Type="http://schemas.openxmlformats.org/officeDocument/2006/relationships/slide" Target="/ppt/slides/slide14.xml" Id="Rc3831507066c4180" /><Relationship Type="http://schemas.openxmlformats.org/officeDocument/2006/relationships/slide" Target="/ppt/slides/slide15.xml" Id="Rf6c6ce4ea7e74589" /><Relationship Type="http://schemas.openxmlformats.org/officeDocument/2006/relationships/slide" Target="/ppt/slides/slide16.xml" Id="R15167215ea1547da" /><Relationship Type="http://schemas.openxmlformats.org/officeDocument/2006/relationships/slide" Target="/ppt/slides/slide17.xml" Id="Rd4fcf6e1a76d4e27" /><Relationship Type="http://schemas.openxmlformats.org/officeDocument/2006/relationships/slide" Target="/ppt/slides/slide18.xml" Id="Ra17f1480f8ff4f0b" /><Relationship Type="http://schemas.openxmlformats.org/officeDocument/2006/relationships/slide" Target="/ppt/slides/slide19.xml" Id="Rf9784e84fe434b01" /><Relationship Type="http://schemas.openxmlformats.org/officeDocument/2006/relationships/slide" Target="/ppt/slides/slide20.xml" Id="Rb50c68bae47f4883" /><Relationship Type="http://schemas.openxmlformats.org/officeDocument/2006/relationships/slide" Target="/ppt/slides/slide21.xml" Id="R2389b243870d4c20" /><Relationship Type="http://schemas.openxmlformats.org/officeDocument/2006/relationships/slide" Target="/ppt/slides/slide22.xml" Id="Re5b231e0ba014f66" /><Relationship Type="http://schemas.openxmlformats.org/officeDocument/2006/relationships/slide" Target="/ppt/slides/slide23.xml" Id="Re8f463854a4c43ae" /><Relationship Type="http://schemas.openxmlformats.org/officeDocument/2006/relationships/slide" Target="/ppt/slides/slide24.xml" Id="R90f2ebd437014265" /><Relationship Type="http://schemas.openxmlformats.org/officeDocument/2006/relationships/slide" Target="/ppt/slides/slide25.xml" Id="R46e042036d2c47fb" /><Relationship Type="http://schemas.openxmlformats.org/officeDocument/2006/relationships/slide" Target="/ppt/slides/slide26.xml" Id="R89e419917a224338" /><Relationship Type="http://schemas.openxmlformats.org/officeDocument/2006/relationships/slide" Target="/ppt/slides/slide27.xml" Id="R24239b5782644bc9" /><Relationship Type="http://schemas.openxmlformats.org/officeDocument/2006/relationships/slide" Target="/ppt/slides/slide28.xml" Id="R4531f9f188a74af1" /><Relationship Type="http://schemas.openxmlformats.org/officeDocument/2006/relationships/slide" Target="/ppt/slides/slide29.xml" Id="R013e7a9b85aa46a1" /><Relationship Type="http://schemas.openxmlformats.org/officeDocument/2006/relationships/slide" Target="/ppt/slides/slide30.xml" Id="Re975a455de6543a9" /><Relationship Type="http://schemas.openxmlformats.org/officeDocument/2006/relationships/slide" Target="/ppt/slides/slide31.xml" Id="Ra60a0f5a73d14b80" /><Relationship Type="http://schemas.openxmlformats.org/officeDocument/2006/relationships/slide" Target="/ppt/slides/slide32.xml" Id="Rb4d885387d9a47be" /><Relationship Type="http://schemas.openxmlformats.org/officeDocument/2006/relationships/slide" Target="/ppt/slides/slide33.xml" Id="Rd92cf08ae458484c" /><Relationship Type="http://schemas.openxmlformats.org/officeDocument/2006/relationships/slide" Target="/ppt/slides/slide34.xml" Id="R0b705b64f66440b4" /><Relationship Type="http://schemas.openxmlformats.org/officeDocument/2006/relationships/slide" Target="/ppt/slides/slide35.xml" Id="Rceea9282355b47d6" /><Relationship Type="http://schemas.openxmlformats.org/officeDocument/2006/relationships/slide" Target="/ppt/slides/slide36.xml" Id="R60ba39d68c5f4db0" /><Relationship Type="http://schemas.openxmlformats.org/officeDocument/2006/relationships/slide" Target="/ppt/slides/slide37.xml" Id="R9545ecc555364031" /><Relationship Type="http://schemas.openxmlformats.org/officeDocument/2006/relationships/slide" Target="/ppt/slides/slide38.xml" Id="R7a220b13af7a452f" /><Relationship Type="http://schemas.openxmlformats.org/officeDocument/2006/relationships/slide" Target="/ppt/slides/slide39.xml" Id="R05f670ceed064807" /><Relationship Type="http://schemas.openxmlformats.org/officeDocument/2006/relationships/slide" Target="/ppt/slides/slide40.xml" Id="Rfb96c6d589f943d9" /><Relationship Type="http://schemas.openxmlformats.org/officeDocument/2006/relationships/slide" Target="/ppt/slides/slide41.xml" Id="R6ea9ec1e42134070" /><Relationship Type="http://schemas.openxmlformats.org/officeDocument/2006/relationships/slide" Target="/ppt/slides/slide42.xml" Id="R96ef9311c8c4491f" /><Relationship Type="http://schemas.openxmlformats.org/officeDocument/2006/relationships/slide" Target="/ppt/slides/slide43.xml" Id="R201648f8bf9a4a84" /><Relationship Type="http://schemas.openxmlformats.org/officeDocument/2006/relationships/slide" Target="/ppt/slides/slide44.xml" Id="Rd1e10c2c288a44c6" /><Relationship Type="http://schemas.openxmlformats.org/officeDocument/2006/relationships/slide" Target="/ppt/slides/slide45.xml" Id="R18c29499139344b1" /><Relationship Type="http://schemas.openxmlformats.org/officeDocument/2006/relationships/slide" Target="/ppt/slides/slide46.xml" Id="R3a1fdcfdc16045e3" /><Relationship Type="http://schemas.openxmlformats.org/officeDocument/2006/relationships/slide" Target="/ppt/slides/slide47.xml" Id="R3f9b948fda8f4ee3" /><Relationship Type="http://schemas.openxmlformats.org/officeDocument/2006/relationships/slide" Target="/ppt/slides/slide48.xml" Id="Ra60d4b0c10f442ab" /><Relationship Type="http://schemas.openxmlformats.org/officeDocument/2006/relationships/slide" Target="/ppt/slides/slide49.xml" Id="R1eb4e88af07641ab" /><Relationship Type="http://schemas.openxmlformats.org/officeDocument/2006/relationships/slide" Target="/ppt/slides/slide50.xml" Id="R4f145da5d7e34738" /><Relationship Type="http://schemas.openxmlformats.org/officeDocument/2006/relationships/slide" Target="/ppt/slides/slide51.xml" Id="R51087013e6fe4193" /><Relationship Type="http://schemas.openxmlformats.org/officeDocument/2006/relationships/slide" Target="/ppt/slides/slide52.xml" Id="R81cd6cd3c3194d5d" /><Relationship Type="http://schemas.openxmlformats.org/officeDocument/2006/relationships/slide" Target="/ppt/slides/slide53.xml" Id="Ra88b6f0fb88541dd" /><Relationship Type="http://schemas.openxmlformats.org/officeDocument/2006/relationships/slide" Target="/ppt/slides/slide54.xml" Id="Rf15c35ae3d464505" /><Relationship Type="http://schemas.openxmlformats.org/officeDocument/2006/relationships/slide" Target="/ppt/slides/slide55.xml" Id="R94a689d138df44fe" /><Relationship Type="http://schemas.openxmlformats.org/officeDocument/2006/relationships/slide" Target="/ppt/slides/slide56.xml" Id="R41e9c0ddd74c41ea" /><Relationship Type="http://schemas.openxmlformats.org/officeDocument/2006/relationships/slide" Target="/ppt/slides/slide57.xml" Id="Rc75c79fd6fc54bed" /><Relationship Type="http://schemas.openxmlformats.org/officeDocument/2006/relationships/slide" Target="/ppt/slides/slide58.xml" Id="Rebafdb2311c94e1d" /><Relationship Type="http://schemas.openxmlformats.org/officeDocument/2006/relationships/slide" Target="/ppt/slides/slide59.xml" Id="R380e506bfd4c419e" /><Relationship Type="http://schemas.openxmlformats.org/officeDocument/2006/relationships/slide" Target="/ppt/slides/slide60.xml" Id="R522947ec2e3f4b58" /><Relationship Type="http://schemas.openxmlformats.org/officeDocument/2006/relationships/slide" Target="/ppt/slides/slide61.xml" Id="R868ec5f6100144c8" /><Relationship Type="http://schemas.openxmlformats.org/officeDocument/2006/relationships/slide" Target="/ppt/slides/slide62.xml" Id="R8d49230941ce491c" /><Relationship Type="http://schemas.openxmlformats.org/officeDocument/2006/relationships/slide" Target="/ppt/slides/slide63.xml" Id="Rc38c2b5e0e9b44ca" /><Relationship Type="http://schemas.openxmlformats.org/officeDocument/2006/relationships/slide" Target="/ppt/slides/slide64.xml" Id="R40bb286a62ff49a4" /><Relationship Type="http://schemas.openxmlformats.org/officeDocument/2006/relationships/slide" Target="/ppt/slides/slide65.xml" Id="R6bea11a0526a4722" /><Relationship Type="http://schemas.openxmlformats.org/officeDocument/2006/relationships/slide" Target="/ppt/slides/slide66.xml" Id="R2adb608af27a48df" /><Relationship Type="http://schemas.openxmlformats.org/officeDocument/2006/relationships/slide" Target="/ppt/slides/slide67.xml" Id="R069dfc805c804ed2" /><Relationship Type="http://schemas.openxmlformats.org/officeDocument/2006/relationships/slide" Target="/ppt/slides/slide68.xml" Id="R48c92390033b4ca7" /><Relationship Type="http://schemas.openxmlformats.org/officeDocument/2006/relationships/slide" Target="/ppt/slides/slide69.xml" Id="R1bd9286ed4504c77" /><Relationship Type="http://schemas.openxmlformats.org/officeDocument/2006/relationships/slide" Target="/ppt/slides/slide70.xml" Id="R36adca13fa73436b" /><Relationship Type="http://schemas.openxmlformats.org/officeDocument/2006/relationships/slide" Target="/ppt/slides/slide71.xml" Id="Rbd74a2113c7548b6" /><Relationship Type="http://schemas.openxmlformats.org/officeDocument/2006/relationships/slide" Target="/ppt/slides/slide72.xml" Id="R8a48c0f5919a4904" /><Relationship Type="http://schemas.openxmlformats.org/officeDocument/2006/relationships/slide" Target="/ppt/slides/slide73.xml" Id="Rade12725813143a7" /><Relationship Type="http://schemas.openxmlformats.org/officeDocument/2006/relationships/slide" Target="/ppt/slides/slide74.xml" Id="R939ad00c5069460b" /><Relationship Type="http://schemas.openxmlformats.org/officeDocument/2006/relationships/slide" Target="/ppt/slides/slide75.xml" Id="R2b1bbd2ba93b4b26" /><Relationship Type="http://schemas.openxmlformats.org/officeDocument/2006/relationships/slide" Target="/ppt/slides/slide76.xml" Id="R452730bcc1044298" /><Relationship Type="http://schemas.openxmlformats.org/officeDocument/2006/relationships/slide" Target="/ppt/slides/slide77.xml" Id="R0464d21060574c22" /><Relationship Type="http://schemas.openxmlformats.org/officeDocument/2006/relationships/slide" Target="/ppt/slides/slide78.xml" Id="R3012b4ce29e3478c" /><Relationship Type="http://schemas.openxmlformats.org/officeDocument/2006/relationships/slide" Target="/ppt/slides/slide79.xml" Id="Ra1afd29b54864d19" /><Relationship Type="http://schemas.openxmlformats.org/officeDocument/2006/relationships/slide" Target="/ppt/slides/slide80.xml" Id="R8f7cde3a1d4c4224" /><Relationship Type="http://schemas.openxmlformats.org/officeDocument/2006/relationships/slide" Target="/ppt/slides/slide81.xml" Id="R695b37de0fc64597" /><Relationship Type="http://schemas.openxmlformats.org/officeDocument/2006/relationships/slide" Target="/ppt/slides/slide82.xml" Id="Rab5cbbe196914c49" /><Relationship Type="http://schemas.openxmlformats.org/officeDocument/2006/relationships/slide" Target="/ppt/slides/slide83.xml" Id="R2f39c7e4c7134e95" /><Relationship Type="http://schemas.openxmlformats.org/officeDocument/2006/relationships/slide" Target="/ppt/slides/slide84.xml" Id="R22ab8f08121e4807" /><Relationship Type="http://schemas.openxmlformats.org/officeDocument/2006/relationships/slide" Target="/ppt/slides/slide85.xml" Id="R89b3c16da5e74a4e" /><Relationship Type="http://schemas.openxmlformats.org/officeDocument/2006/relationships/slide" Target="/ppt/slides/slide86.xml" Id="Rdf8f1060e9ff4b56" /><Relationship Type="http://schemas.openxmlformats.org/officeDocument/2006/relationships/slide" Target="/ppt/slides/slide87.xml" Id="Rb7d7cb2013ab436e" /><Relationship Type="http://schemas.openxmlformats.org/officeDocument/2006/relationships/slide" Target="/ppt/slides/slide88.xml" Id="Ra08cc100a3054c92" /><Relationship Type="http://schemas.openxmlformats.org/officeDocument/2006/relationships/slide" Target="/ppt/slides/slide89.xml" Id="R49ec9d6cd4b54bbf" /><Relationship Type="http://schemas.openxmlformats.org/officeDocument/2006/relationships/slide" Target="/ppt/slides/slide90.xml" Id="R36b3e703e02c4b5c" /><Relationship Type="http://schemas.openxmlformats.org/officeDocument/2006/relationships/slide" Target="/ppt/slides/slide91.xml" Id="R983d11b983f944ad" /><Relationship Type="http://schemas.openxmlformats.org/officeDocument/2006/relationships/slide" Target="/ppt/slides/slide92.xml" Id="R522e00b654b14fcd" /><Relationship Type="http://schemas.openxmlformats.org/officeDocument/2006/relationships/slide" Target="/ppt/slides/slide93.xml" Id="R3c7dbd5711e74afc" /><Relationship Type="http://schemas.openxmlformats.org/officeDocument/2006/relationships/slide" Target="/ppt/slides/slide94.xml" Id="Rb96135c32fe74417" /><Relationship Type="http://schemas.openxmlformats.org/officeDocument/2006/relationships/slide" Target="/ppt/slides/slide95.xml" Id="R4db93f2e07774ef2" /><Relationship Type="http://schemas.openxmlformats.org/officeDocument/2006/relationships/slide" Target="/ppt/slides/slide96.xml" Id="R430d0d4c2871490e" /><Relationship Type="http://schemas.openxmlformats.org/officeDocument/2006/relationships/slide" Target="/ppt/slides/slide97.xml" Id="R25fc456e1b22495e" /><Relationship Type="http://schemas.openxmlformats.org/officeDocument/2006/relationships/slide" Target="/ppt/slides/slide98.xml" Id="R4982424dde3444b7" /><Relationship Type="http://schemas.openxmlformats.org/officeDocument/2006/relationships/slide" Target="/ppt/slides/slide99.xml" Id="R4d96c58b4b6f4331" /><Relationship Type="http://schemas.openxmlformats.org/officeDocument/2006/relationships/slide" Target="/ppt/slides/slide100.xml" Id="R0fc888c269c64ca3" /><Relationship Type="http://schemas.openxmlformats.org/officeDocument/2006/relationships/slide" Target="/ppt/slides/slide101.xml" Id="R532b614c66f44f3a" /><Relationship Type="http://schemas.openxmlformats.org/officeDocument/2006/relationships/slide" Target="/ppt/slides/slide102.xml" Id="R887fbf315b864ac5" /><Relationship Type="http://schemas.openxmlformats.org/officeDocument/2006/relationships/slide" Target="/ppt/slides/slide103.xml" Id="Rbb1f099880564960" /><Relationship Type="http://schemas.openxmlformats.org/officeDocument/2006/relationships/slide" Target="/ppt/slides/slide104.xml" Id="R49f2db970d534915" /><Relationship Type="http://schemas.openxmlformats.org/officeDocument/2006/relationships/slide" Target="/ppt/slides/slide105.xml" Id="Rd4c509359d924d06" /><Relationship Type="http://schemas.openxmlformats.org/officeDocument/2006/relationships/slide" Target="/ppt/slides/slide106.xml" Id="R3ad730f1023841fa" /><Relationship Type="http://schemas.openxmlformats.org/officeDocument/2006/relationships/slide" Target="/ppt/slides/slide107.xml" Id="Rebcedb9f56994941" /><Relationship Type="http://schemas.openxmlformats.org/officeDocument/2006/relationships/slide" Target="/ppt/slides/slide108.xml" Id="Rb43277f6bd894b57" /><Relationship Type="http://schemas.openxmlformats.org/officeDocument/2006/relationships/slide" Target="/ppt/slides/slide109.xml" Id="Re1d3aa981f194a05" /><Relationship Type="http://schemas.openxmlformats.org/officeDocument/2006/relationships/slide" Target="/ppt/slides/slide110.xml" Id="Re841289c62ae468e" /><Relationship Type="http://schemas.openxmlformats.org/officeDocument/2006/relationships/slide" Target="/ppt/slides/slide111.xml" Id="R4020515b4da64682" /><Relationship Type="http://schemas.openxmlformats.org/officeDocument/2006/relationships/slide" Target="/ppt/slides/slide112.xml" Id="R33f4f15f44be448a" /><Relationship Type="http://schemas.openxmlformats.org/officeDocument/2006/relationships/slide" Target="/ppt/slides/slide113.xml" Id="Re68c4428806a4dd4" /><Relationship Type="http://schemas.openxmlformats.org/officeDocument/2006/relationships/slide" Target="/ppt/slides/slide114.xml" Id="Rfc77099f76c044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24b962d11ea46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942deded794e89" /><Relationship Type="http://schemas.openxmlformats.org/officeDocument/2006/relationships/notesMaster" Target="/ppt/notesMasters/notesMaster1.xml" Id="R010a9484e8bd49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bffb501ec94350" /><Relationship Type="http://schemas.openxmlformats.org/officeDocument/2006/relationships/notesMaster" Target="/ppt/notesMasters/notesMaster1.xml" Id="Re5c2cbdb2a8e49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5f89c7cd6e4298" /><Relationship Type="http://schemas.openxmlformats.org/officeDocument/2006/relationships/notesMaster" Target="/ppt/notesMasters/notesMaster1.xml" Id="R43cdca60bde543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cb79fbd2d542aa" /><Relationship Type="http://schemas.openxmlformats.org/officeDocument/2006/relationships/notesMaster" Target="/ppt/notesMasters/notesMaster1.xml" Id="Rce01dcbe5b9343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c206f5221b42bf" /><Relationship Type="http://schemas.openxmlformats.org/officeDocument/2006/relationships/notesMaster" Target="/ppt/notesMasters/notesMaster1.xml" Id="R40f120bbb2c148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ee4354d7884b7a" /><Relationship Type="http://schemas.openxmlformats.org/officeDocument/2006/relationships/notesMaster" Target="/ppt/notesMasters/notesMaster1.xml" Id="R5987caf4ebeb4c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699e09b85345e3" /><Relationship Type="http://schemas.openxmlformats.org/officeDocument/2006/relationships/notesMaster" Target="/ppt/notesMasters/notesMaster1.xml" Id="Ra4b96268dddf41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c40a1d616b4788" /><Relationship Type="http://schemas.openxmlformats.org/officeDocument/2006/relationships/notesMaster" Target="/ppt/notesMasters/notesMaster1.xml" Id="R904c6ac5a5744c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c5bbb4b3b84743" /><Relationship Type="http://schemas.openxmlformats.org/officeDocument/2006/relationships/notesMaster" Target="/ppt/notesMasters/notesMaster1.xml" Id="Rce75db22780249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c8855755774f7a" /><Relationship Type="http://schemas.openxmlformats.org/officeDocument/2006/relationships/notesMaster" Target="/ppt/notesMasters/notesMaster1.xml" Id="Ra598b6477db743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686351ec9e4a66" /><Relationship Type="http://schemas.openxmlformats.org/officeDocument/2006/relationships/notesMaster" Target="/ppt/notesMasters/notesMaster1.xml" Id="R888a50c4ee3549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24e6d5270b488d" /><Relationship Type="http://schemas.openxmlformats.org/officeDocument/2006/relationships/notesMaster" Target="/ppt/notesMasters/notesMaster1.xml" Id="R278ea2c4c2464b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39c9409bf14fcc" /><Relationship Type="http://schemas.openxmlformats.org/officeDocument/2006/relationships/notesMaster" Target="/ppt/notesMasters/notesMaster1.xml" Id="Rde2ca45259bc4b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a8ce7870e84ed8" /><Relationship Type="http://schemas.openxmlformats.org/officeDocument/2006/relationships/notesMaster" Target="/ppt/notesMasters/notesMaster1.xml" Id="R3049cdf6aa2b492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7df8cc72eb4808" /><Relationship Type="http://schemas.openxmlformats.org/officeDocument/2006/relationships/notesMaster" Target="/ppt/notesMasters/notesMaster1.xml" Id="R6ec02c2a14a544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6cf292ca594e86" /><Relationship Type="http://schemas.openxmlformats.org/officeDocument/2006/relationships/notesMaster" Target="/ppt/notesMasters/notesMaster1.xml" Id="Rfdcd3483c6f1425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09edf8b4a1643a3" /><Relationship Type="http://schemas.openxmlformats.org/officeDocument/2006/relationships/notesMaster" Target="/ppt/notesMasters/notesMaster1.xml" Id="Rd83e86625de44b3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8c6ba8600d044e9" /><Relationship Type="http://schemas.openxmlformats.org/officeDocument/2006/relationships/notesMaster" Target="/ppt/notesMasters/notesMaster1.xml" Id="R0b9f7d946d894d5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8122ef7de3f4233" /><Relationship Type="http://schemas.openxmlformats.org/officeDocument/2006/relationships/notesMaster" Target="/ppt/notesMasters/notesMaster1.xml" Id="R82e13f24abe0484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fdbe8b381114850" /><Relationship Type="http://schemas.openxmlformats.org/officeDocument/2006/relationships/notesMaster" Target="/ppt/notesMasters/notesMaster1.xml" Id="Rd1f75fd71bcb485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da1ef2632924469" /><Relationship Type="http://schemas.openxmlformats.org/officeDocument/2006/relationships/notesMaster" Target="/ppt/notesMasters/notesMaster1.xml" Id="Rf7eeab59cf4740e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7f50509b06448a8" /><Relationship Type="http://schemas.openxmlformats.org/officeDocument/2006/relationships/notesMaster" Target="/ppt/notesMasters/notesMaster1.xml" Id="R7e372f9f64ea454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33640487cd940dc" /><Relationship Type="http://schemas.openxmlformats.org/officeDocument/2006/relationships/notesMaster" Target="/ppt/notesMasters/notesMaster1.xml" Id="R9b63bfea367a4d4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39d31896ec34996" /><Relationship Type="http://schemas.openxmlformats.org/officeDocument/2006/relationships/notesMaster" Target="/ppt/notesMasters/notesMaster1.xml" Id="R0090f01ee71b489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c1065740255472d" /><Relationship Type="http://schemas.openxmlformats.org/officeDocument/2006/relationships/notesMaster" Target="/ppt/notesMasters/notesMaster1.xml" Id="Re45d165d6057467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76760c2410b4eaf" /><Relationship Type="http://schemas.openxmlformats.org/officeDocument/2006/relationships/notesMaster" Target="/ppt/notesMasters/notesMaster1.xml" Id="R9882351dfae141f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01437b8369f4393" /><Relationship Type="http://schemas.openxmlformats.org/officeDocument/2006/relationships/notesMaster" Target="/ppt/notesMasters/notesMaster1.xml" Id="R81ec047a7367484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4fe99860eb74efe" /><Relationship Type="http://schemas.openxmlformats.org/officeDocument/2006/relationships/notesMaster" Target="/ppt/notesMasters/notesMaster1.xml" Id="Rba0e1c2e870c4fd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0dcee3177934e99" /><Relationship Type="http://schemas.openxmlformats.org/officeDocument/2006/relationships/notesMaster" Target="/ppt/notesMasters/notesMaster1.xml" Id="R15b82c500aab491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db60f9a228940cf" /><Relationship Type="http://schemas.openxmlformats.org/officeDocument/2006/relationships/notesMaster" Target="/ppt/notesMasters/notesMaster1.xml" Id="R941cd46a4e1342f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163818d9ba94207" /><Relationship Type="http://schemas.openxmlformats.org/officeDocument/2006/relationships/notesMaster" Target="/ppt/notesMasters/notesMaster1.xml" Id="R1d1472c49a8d4ab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ba0b652f0b8487e" /><Relationship Type="http://schemas.openxmlformats.org/officeDocument/2006/relationships/notesMaster" Target="/ppt/notesMasters/notesMaster1.xml" Id="R77f0b03a839a422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b8ffa89f6d74536" /><Relationship Type="http://schemas.openxmlformats.org/officeDocument/2006/relationships/notesMaster" Target="/ppt/notesMasters/notesMaster1.xml" Id="R74fa3cd365814a6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58574a7c9654f7a" /><Relationship Type="http://schemas.openxmlformats.org/officeDocument/2006/relationships/notesMaster" Target="/ppt/notesMasters/notesMaster1.xml" Id="R2b934c11ff2e4a6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59a89f8b17d464e" /><Relationship Type="http://schemas.openxmlformats.org/officeDocument/2006/relationships/notesMaster" Target="/ppt/notesMasters/notesMaster1.xml" Id="Rdce0831346c14cb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8a421f007834042" /><Relationship Type="http://schemas.openxmlformats.org/officeDocument/2006/relationships/notesMaster" Target="/ppt/notesMasters/notesMaster1.xml" Id="R09e9b5eb60404dd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63b750b86754317" /><Relationship Type="http://schemas.openxmlformats.org/officeDocument/2006/relationships/notesMaster" Target="/ppt/notesMasters/notesMaster1.xml" Id="R442b9667e93d45b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9fc7c2410f94784" /><Relationship Type="http://schemas.openxmlformats.org/officeDocument/2006/relationships/notesMaster" Target="/ppt/notesMasters/notesMaster1.xml" Id="Re5da43d7d3244ec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02cf89bab074259" /><Relationship Type="http://schemas.openxmlformats.org/officeDocument/2006/relationships/notesMaster" Target="/ppt/notesMasters/notesMaster1.xml" Id="R4641549415e9456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9083588346a4ce7" /><Relationship Type="http://schemas.openxmlformats.org/officeDocument/2006/relationships/notesMaster" Target="/ppt/notesMasters/notesMaster1.xml" Id="Rce5720fe830242f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a7e6721192248f9" /><Relationship Type="http://schemas.openxmlformats.org/officeDocument/2006/relationships/notesMaster" Target="/ppt/notesMasters/notesMaster1.xml" Id="R8fa9731d940f439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a75fe393a2a4be9" /><Relationship Type="http://schemas.openxmlformats.org/officeDocument/2006/relationships/notesMaster" Target="/ppt/notesMasters/notesMaster1.xml" Id="Rdac82ae7c5a746c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e1bd0b42d454375" /><Relationship Type="http://schemas.openxmlformats.org/officeDocument/2006/relationships/notesMaster" Target="/ppt/notesMasters/notesMaster1.xml" Id="Raa96b00027a948d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c8d942e9f33427c" /><Relationship Type="http://schemas.openxmlformats.org/officeDocument/2006/relationships/notesMaster" Target="/ppt/notesMasters/notesMaster1.xml" Id="Re14a54f060294c6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c47ea72551b429c" /><Relationship Type="http://schemas.openxmlformats.org/officeDocument/2006/relationships/notesMaster" Target="/ppt/notesMasters/notesMaster1.xml" Id="R79fe5e67bb7e4ed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2c0f10070cb4d49" /><Relationship Type="http://schemas.openxmlformats.org/officeDocument/2006/relationships/notesMaster" Target="/ppt/notesMasters/notesMaster1.xml" Id="Re3cf4da3200541b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374fefcfaba492d" /><Relationship Type="http://schemas.openxmlformats.org/officeDocument/2006/relationships/notesMaster" Target="/ppt/notesMasters/notesMaster1.xml" Id="R6c607cd5fb194c3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5b0b54e77e94e7e" /><Relationship Type="http://schemas.openxmlformats.org/officeDocument/2006/relationships/notesMaster" Target="/ppt/notesMasters/notesMaster1.xml" Id="R5ce99dbe36674c4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bdaa42546454c46" /><Relationship Type="http://schemas.openxmlformats.org/officeDocument/2006/relationships/notesMaster" Target="/ppt/notesMasters/notesMaster1.xml" Id="Rc3063764d51245d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a1c239a488a4d02" /><Relationship Type="http://schemas.openxmlformats.org/officeDocument/2006/relationships/notesMaster" Target="/ppt/notesMasters/notesMaster1.xml" Id="Ra41c50aa6488461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4b1b15f0a1d42c6" /><Relationship Type="http://schemas.openxmlformats.org/officeDocument/2006/relationships/notesMaster" Target="/ppt/notesMasters/notesMaster1.xml" Id="Rf843fe8033f54335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50a7bfe8639045c9" /><Relationship Type="http://schemas.openxmlformats.org/officeDocument/2006/relationships/notesMaster" Target="/ppt/notesMasters/notesMaster1.xml" Id="R258ebbde2f4f429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2918b58a0f47444e" /><Relationship Type="http://schemas.openxmlformats.org/officeDocument/2006/relationships/notesMaster" Target="/ppt/notesMasters/notesMaster1.xml" Id="R6b1047c424804aa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346606cc991d4932" /><Relationship Type="http://schemas.openxmlformats.org/officeDocument/2006/relationships/notesMaster" Target="/ppt/notesMasters/notesMaster1.xml" Id="Rfc16a8b69597435e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4f5dc3717ec64061" /><Relationship Type="http://schemas.openxmlformats.org/officeDocument/2006/relationships/notesMaster" Target="/ppt/notesMasters/notesMaster1.xml" Id="Rafd1595911f044bb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9618a87c1ad34455" /><Relationship Type="http://schemas.openxmlformats.org/officeDocument/2006/relationships/notesMaster" Target="/ppt/notesMasters/notesMaster1.xml" Id="Rd0debd2054564311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1e9c92980a534339" /><Relationship Type="http://schemas.openxmlformats.org/officeDocument/2006/relationships/notesMaster" Target="/ppt/notesMasters/notesMaster1.xml" Id="Refc35c001c3d484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9fb033f6b60f4a5c" /><Relationship Type="http://schemas.openxmlformats.org/officeDocument/2006/relationships/notesMaster" Target="/ppt/notesMasters/notesMaster1.xml" Id="Rda7be03cddf14a9c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33d9c437571488b" /><Relationship Type="http://schemas.openxmlformats.org/officeDocument/2006/relationships/notesMaster" Target="/ppt/notesMasters/notesMaster1.xml" Id="R507725011c1945a1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b798de25d6024aed" /><Relationship Type="http://schemas.openxmlformats.org/officeDocument/2006/relationships/notesMaster" Target="/ppt/notesMasters/notesMaster1.xml" Id="R29052302f33f4b24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ee3f9e2af1664a92" /><Relationship Type="http://schemas.openxmlformats.org/officeDocument/2006/relationships/notesMaster" Target="/ppt/notesMasters/notesMaster1.xml" Id="R1281a452cb244550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0f9a3c41fc564ec1" /><Relationship Type="http://schemas.openxmlformats.org/officeDocument/2006/relationships/notesMaster" Target="/ppt/notesMasters/notesMaster1.xml" Id="R449325e821864a5f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e63ef6d22a314f27" /><Relationship Type="http://schemas.openxmlformats.org/officeDocument/2006/relationships/notesMaster" Target="/ppt/notesMasters/notesMaster1.xml" Id="R1e22c25f1f5142a6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e3417712e57840fd" /><Relationship Type="http://schemas.openxmlformats.org/officeDocument/2006/relationships/notesMaster" Target="/ppt/notesMasters/notesMaster1.xml" Id="R32649e9c4a8e4c67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f66a9de1d68f41b8" /><Relationship Type="http://schemas.openxmlformats.org/officeDocument/2006/relationships/notesMaster" Target="/ppt/notesMasters/notesMaster1.xml" Id="Rfb7ae3a4a0b14051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eb0073c2b78d440c" /><Relationship Type="http://schemas.openxmlformats.org/officeDocument/2006/relationships/notesMaster" Target="/ppt/notesMasters/notesMaster1.xml" Id="Rb9a522d5b1ef4c16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5a39004f3558490e" /><Relationship Type="http://schemas.openxmlformats.org/officeDocument/2006/relationships/notesMaster" Target="/ppt/notesMasters/notesMaster1.xml" Id="R1707a06f607c4fca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27b167e26e9d4c22" /><Relationship Type="http://schemas.openxmlformats.org/officeDocument/2006/relationships/notesMaster" Target="/ppt/notesMasters/notesMaster1.xml" Id="R6a10641eeb1f4eab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5e098285cec14f10" /><Relationship Type="http://schemas.openxmlformats.org/officeDocument/2006/relationships/notesMaster" Target="/ppt/notesMasters/notesMaster1.xml" Id="R25a5d324e6a649b8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5cd857611daa4a17" /><Relationship Type="http://schemas.openxmlformats.org/officeDocument/2006/relationships/notesMaster" Target="/ppt/notesMasters/notesMaster1.xml" Id="Red602136a1894f18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397523897fae4a8f" /><Relationship Type="http://schemas.openxmlformats.org/officeDocument/2006/relationships/notesMaster" Target="/ppt/notesMasters/notesMaster1.xml" Id="R6cbd3742e6e84e13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db67887f557d4353" /><Relationship Type="http://schemas.openxmlformats.org/officeDocument/2006/relationships/notesMaster" Target="/ppt/notesMasters/notesMaster1.xml" Id="Rc3c262c0a3e44d31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64af14d262f14631" /><Relationship Type="http://schemas.openxmlformats.org/officeDocument/2006/relationships/notesMaster" Target="/ppt/notesMasters/notesMaster1.xml" Id="Rdcc02d51b1cf4936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e9e57e2b3e1349a7" /><Relationship Type="http://schemas.openxmlformats.org/officeDocument/2006/relationships/notesMaster" Target="/ppt/notesMasters/notesMaster1.xml" Id="R5342f90fe25a4966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7b4469e3a66d4d6e" /><Relationship Type="http://schemas.openxmlformats.org/officeDocument/2006/relationships/notesMaster" Target="/ppt/notesMasters/notesMaster1.xml" Id="R47ffbe30ac5b43f9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c9ebe677def7459d" /><Relationship Type="http://schemas.openxmlformats.org/officeDocument/2006/relationships/notesMaster" Target="/ppt/notesMasters/notesMaster1.xml" Id="R8b2172168fcc4804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18990b803ca846fe" /><Relationship Type="http://schemas.openxmlformats.org/officeDocument/2006/relationships/notesMaster" Target="/ppt/notesMasters/notesMaster1.xml" Id="R0cf6d69a123b45d8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ce02fdf2ed554338" /><Relationship Type="http://schemas.openxmlformats.org/officeDocument/2006/relationships/notesMaster" Target="/ppt/notesMasters/notesMaster1.xml" Id="Rd1c57d9363e7474d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1a610e222b224e63" /><Relationship Type="http://schemas.openxmlformats.org/officeDocument/2006/relationships/notesMaster" Target="/ppt/notesMasters/notesMaster1.xml" Id="Rb2997213078d4ffe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6fcef26d778c4c5a" /><Relationship Type="http://schemas.openxmlformats.org/officeDocument/2006/relationships/notesMaster" Target="/ppt/notesMasters/notesMaster1.xml" Id="Rc0c4f4c652b24a99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7d1ea6e4c09c4437" /><Relationship Type="http://schemas.openxmlformats.org/officeDocument/2006/relationships/notesMaster" Target="/ppt/notesMasters/notesMaster1.xml" Id="Rc800865abc0b4e45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27013d32c39a4558" /><Relationship Type="http://schemas.openxmlformats.org/officeDocument/2006/relationships/notesMaster" Target="/ppt/notesMasters/notesMaster1.xml" Id="R3b60a4cdf223439f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4804d78bb4244b63" /><Relationship Type="http://schemas.openxmlformats.org/officeDocument/2006/relationships/notesMaster" Target="/ppt/notesMasters/notesMaster1.xml" Id="Rc3f4616424624370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2d5e9f81432f44df" /><Relationship Type="http://schemas.openxmlformats.org/officeDocument/2006/relationships/notesMaster" Target="/ppt/notesMasters/notesMaster1.xml" Id="R3890b233bee14d57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3c01b679d1df422b" /><Relationship Type="http://schemas.openxmlformats.org/officeDocument/2006/relationships/notesMaster" Target="/ppt/notesMasters/notesMaster1.xml" Id="R78b3c5935a28451f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b97f586a02604178" /><Relationship Type="http://schemas.openxmlformats.org/officeDocument/2006/relationships/notesMaster" Target="/ppt/notesMasters/notesMaster1.xml" Id="R801aaafa16b1467a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0063ae4a1f6f4998" /><Relationship Type="http://schemas.openxmlformats.org/officeDocument/2006/relationships/notesMaster" Target="/ppt/notesMasters/notesMaster1.xml" Id="R99bdb46112cb406b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1a22e7e72ea0444c" /><Relationship Type="http://schemas.openxmlformats.org/officeDocument/2006/relationships/notesMaster" Target="/ppt/notesMasters/notesMaster1.xml" Id="Readdb58fa1da422d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c61742e53e8544d2" /><Relationship Type="http://schemas.openxmlformats.org/officeDocument/2006/relationships/notesMaster" Target="/ppt/notesMasters/notesMaster1.xml" Id="R9f7a2fcc420d45be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9e6c9b512ae24906" /><Relationship Type="http://schemas.openxmlformats.org/officeDocument/2006/relationships/notesMaster" Target="/ppt/notesMasters/notesMaster1.xml" Id="R49de29b13ec84aea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70c74a53abe0411d" /><Relationship Type="http://schemas.openxmlformats.org/officeDocument/2006/relationships/notesMaster" Target="/ppt/notesMasters/notesMaster1.xml" Id="R574d6777b4da435c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7d3a3b46fd584e3c" /><Relationship Type="http://schemas.openxmlformats.org/officeDocument/2006/relationships/notesMaster" Target="/ppt/notesMasters/notesMaster1.xml" Id="R0a3f7be1a88a4435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7deb957082544c1b" /><Relationship Type="http://schemas.openxmlformats.org/officeDocument/2006/relationships/notesMaster" Target="/ppt/notesMasters/notesMaster1.xml" Id="R412b74dccd6e4e14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542b103f6e494c17" /><Relationship Type="http://schemas.openxmlformats.org/officeDocument/2006/relationships/notesMaster" Target="/ppt/notesMasters/notesMaster1.xml" Id="R4f54d6a811614a53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5583dc2b973a4167" /><Relationship Type="http://schemas.openxmlformats.org/officeDocument/2006/relationships/notesMaster" Target="/ppt/notesMasters/notesMaster1.xml" Id="Ra18573aa17534539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917487342d974327" /><Relationship Type="http://schemas.openxmlformats.org/officeDocument/2006/relationships/notesMaster" Target="/ppt/notesMasters/notesMaster1.xml" Id="R7aa492cec47e43e4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a663cde927374e94" /><Relationship Type="http://schemas.openxmlformats.org/officeDocument/2006/relationships/notesMaster" Target="/ppt/notesMasters/notesMaster1.xml" Id="Re12882993c5340c7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761db2a41506460f" /><Relationship Type="http://schemas.openxmlformats.org/officeDocument/2006/relationships/notesMaster" Target="/ppt/notesMasters/notesMaster1.xml" Id="R52293d9ad5504bc3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f8c6369f34b948fb" /><Relationship Type="http://schemas.openxmlformats.org/officeDocument/2006/relationships/notesMaster" Target="/ppt/notesMasters/notesMaster1.xml" Id="R4d15e1614ac04fa9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7522840a4e8744f8" /><Relationship Type="http://schemas.openxmlformats.org/officeDocument/2006/relationships/notesMaster" Target="/ppt/notesMasters/notesMaster1.xml" Id="Ra3e76fde54814f03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574bba0497c84759" /><Relationship Type="http://schemas.openxmlformats.org/officeDocument/2006/relationships/notesMaster" Target="/ppt/notesMasters/notesMaster1.xml" Id="R9978353066604c1c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de8f5127a2884eca" /><Relationship Type="http://schemas.openxmlformats.org/officeDocument/2006/relationships/notesMaster" Target="/ppt/notesMasters/notesMaster1.xml" Id="R69d1ee274f3b452a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da3f7e35fda14946" /><Relationship Type="http://schemas.openxmlformats.org/officeDocument/2006/relationships/notesMaster" Target="/ppt/notesMasters/notesMaster1.xml" Id="R1eee803135e54456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865c4f79afe5457b" /><Relationship Type="http://schemas.openxmlformats.org/officeDocument/2006/relationships/notesMaster" Target="/ppt/notesMasters/notesMaster1.xml" Id="Rf9696f0ee4054bdb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f04bea32b6b74371" /><Relationship Type="http://schemas.openxmlformats.org/officeDocument/2006/relationships/notesMaster" Target="/ppt/notesMasters/notesMaster1.xml" Id="R7bd97ddc7f2c41d8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fd9043d04ee642a6" /><Relationship Type="http://schemas.openxmlformats.org/officeDocument/2006/relationships/notesMaster" Target="/ppt/notesMasters/notesMaster1.xml" Id="R85d67b5872ab4219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5767c2d51c3742dc" /><Relationship Type="http://schemas.openxmlformats.org/officeDocument/2006/relationships/notesMaster" Target="/ppt/notesMasters/notesMaster1.xml" Id="R9f8be2a7db9f480b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1e8a4a7a21ac4130" /><Relationship Type="http://schemas.openxmlformats.org/officeDocument/2006/relationships/notesMaster" Target="/ppt/notesMasters/notesMaster1.xml" Id="R2cf3fa99d98a48ad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c8520d603b4c4369" /><Relationship Type="http://schemas.openxmlformats.org/officeDocument/2006/relationships/notesMaster" Target="/ppt/notesMasters/notesMaster1.xml" Id="Raecb5d7396ce4d19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6682a0e588fe4d79" /><Relationship Type="http://schemas.openxmlformats.org/officeDocument/2006/relationships/notesMaster" Target="/ppt/notesMasters/notesMaster1.xml" Id="Rf1a164ab550d44f3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e5c89abada7141e0" /><Relationship Type="http://schemas.openxmlformats.org/officeDocument/2006/relationships/notesMaster" Target="/ppt/notesMasters/notesMaster1.xml" Id="R9806340ec4ea45f9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dd0f92a5711e4b8c" /><Relationship Type="http://schemas.openxmlformats.org/officeDocument/2006/relationships/notesMaster" Target="/ppt/notesMasters/notesMaster1.xml" Id="Rfe8d5637a0ae4626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e063a91ef6a845d9" /><Relationship Type="http://schemas.openxmlformats.org/officeDocument/2006/relationships/notesMaster" Target="/ppt/notesMasters/notesMaster1.xml" Id="R3d6b1cd5fb1345e1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43f25fdf76174e5f" /><Relationship Type="http://schemas.openxmlformats.org/officeDocument/2006/relationships/notesMaster" Target="/ppt/notesMasters/notesMaster1.xml" Id="R9069623c7c8f44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Identificar la unidad y su alcance.</a:t>
            </a:r>
          </a:p>
          <a:p xmlns:a="http://schemas.openxmlformats.org/drawingml/2006/main">
            <a:r>
              <a:t>- **Explicación extendida:** La física ayuda a separar preguntas de exposición, medición e intervención. Aclarar que la unidad no es una guía de diagnóstico ni tratamiento.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La física ayuda a separar preguntas de exposición, medición e intervención.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Abrir con una queja cotidiana.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Unidad 8 · Alteraciones y enfermedades auditivas, estudios y rehabilitación. Esquema mixto: Título, subtítulo breve y pertenencia al curso. La física ayuda a separar preguntas de exposición, medición e intervención.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8.1; PDF p. 207; BR; TPL.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Crear necesidad de distinguir evidencias.</a:t>
            </a:r>
          </a:p>
          <a:p xmlns:a="http://schemas.openxmlformats.org/drawingml/2006/main">
            <a:r>
              <a:t>- **Explicación extendida:** Subir el televisor, comprender peor en ruido y percibir tinnitus no describen el mismo fenómeno. Recoger hipótesis sin corregir todavía; evitar que el grupo diagnostique.</a:t>
            </a:r>
          </a:p>
          <a:p xmlns:a="http://schemas.openxmlformats.org/drawingml/2006/main">
            <a:r>
              <a:t>- **Guía del visual/diagrama:** Revelar y explicar en el orden previsto: Caso breve con tres observaciones y consigna “¿qué mediría primero?”. Cerrar con esta idea: Subir el televisor, comprender peor en ruido y percibir tinnitus no describen el mismo fenómeno.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Subir el televisor, comprender peor en ruido y percibir tinnitus no describen el mismo fenómeno.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Interpretar la correspondencia con un tono externo como medición de una fuente o intensidad sonora interna.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Pedir que clasifiquen los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queja, varias preguntas. Diagrama conceptual: Caso breve con tres observaciones y consigna “¿qué mediría primero?”. Subir el televisor, comprender peor en ruido y percibir tinnitus no describen el mismo fenómeno.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8.3; PDF pp. 208–209; BR.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Diagnosticar concepciones iniciales.</a:t>
            </a:r>
          </a:p>
          <a:p xmlns:a="http://schemas.openxmlformats.org/drawingml/2006/main">
            <a:r>
              <a:t>- **Explicación extendida:** `95 dB(A) durante 1 h`, tinnitus referido y `40 dB HL a 4000 Hz` son datos de clases distintas. Usar las respuestas para decidir cuánto repasar de niveles y umbral.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Clasifique cada dato: exposición, síntoma o resultado.</a:t>
            </a:r>
          </a:p>
          <a:p xmlns:a="http://schemas.openxmlformats.org/drawingml/2006/main">
            <a:r>
              <a:t>- **Respuesta esperada:** 95 dB(A) durante 1 h: exposición; tinnitus referido: síntoma; 40 dB HL a 4000 Hz: resultado audiométrico.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Interpretar la correspondencia con un tono externo como medición de una fuente o intensidad sonora interna.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Mostrar qué conocimientos vuelven a aparecer.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¿Exposición, síntoma o resultado? Composición textual: Tres datos ficticios y tres categorías provisionales. 95 dB(A) durante 1 h, tinnitus referido y 40 dB HL a 4000 Hz son datos de clases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C2; PDF p. 223; INV;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Reactivar prerrequisitos sin reteoría extensa.</a:t>
            </a:r>
          </a:p>
          <a:p xmlns:a="http://schemas.openxmlformats.org/drawingml/2006/main">
            <a:r>
              <a:t>- **Explicación extendida:** Escalas, señal–sistema, vías auditivas y tarea perceptual reaparecen con una pregunta nueva. Formular una pregunta breve por unidad y no volver a derivar contenidos previos.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Escalas, señal–sistema, vías auditivas y tarea perceptual reaparecen con una pregunta nueva.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Operar con valores en decibelios sin comprobar referencia, frecuencia, transductor y condición de medición.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Declarar qué podrán hacer.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¿Qué necesitamos recuperar? Diagrama conceptual: U4: niveles; U5: señal/sistema y L_Aeq,T; U6: vías/transducción; U7: umbral/tarea. Escalas, señal–sistema, vías auditivas y tarea perceptual reaparecen con una pregunta nueva.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CM; CDM; BR; PREV.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Presentar los primeros resultados observables.</a:t>
            </a:r>
          </a:p>
          <a:p xmlns:a="http://schemas.openxmlformats.org/drawingml/2006/main">
            <a:r>
              <a:t>- **Explicación extendida:** La unidad exige clasificar evidencia y comparar pruebas, no memorizar nombres. Dar ejemplos del tipo de evidencia que demostrará cada objetivo.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La unidad exige clasificar evidencia y comparar pruebas, no memorizar nombres.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Completar con cálculo, dispositivos e integración.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Objetivos: distinguir, explicar y comparar. Composición textual: Objetivos 1–4 agrupados: clasificar datos; explicar alteraciones; comparar estudios; interpretar representaciones. La unidad exige clasificar evidencia y comparar pruebas, no memorizar nombres.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BR; CM; TEX 8.1.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Completar expectativas sin saturar una sola slide.</a:t>
            </a:r>
          </a:p>
          <a:p xmlns:a="http://schemas.openxmlformats.org/drawingml/2006/main">
            <a:r>
              <a:t>- **Explicación extendida:** Los cálculos se interpretan y los dispositivos se comparan por su transformación física. Subrayar que “integrar” no significa diagnosticar en clase.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Los cálculos se interpretan y los dispositivos se comparan por su transformación física.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Presentar el mapa de cuatro encuentros.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Objetivos: calcular, relacionar e integrar. Esquema mixto: Objetivos 5–7: calcular diferencias compatibles; comparar dispositivos; justificar batería y evaluación integrada. Los cálculos se interpretan y los dispositivos se comparan por su transformación física.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BR; CM; TEX 8.1.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Orientar una unidad larga.</a:t>
            </a:r>
          </a:p>
          <a:p xmlns:a="http://schemas.openxmlformats.org/drawingml/2006/main">
            <a:r>
              <a:t>- **Explicación extendida:** El recorrido va de la clase de dato a la pregunta que una prueba o dispositivo puede responder. Mostrar la etapa actual en cada divisor posterior; no usar como agenda corporativa.</a:t>
            </a:r>
          </a:p>
          <a:p xmlns:a="http://schemas.openxmlformats.org/drawingml/2006/main">
            <a:r>
              <a:t>- **Guía del visual/diagrama:** Revelar y explicar en el orden previsto: Once bloques centrales agrupados en cuatro encuentros y un respaldo no lineal. Cerrar con esta idea: El recorrido va de la clase de dato a la pregunta que una prueba o dispositivo puede responder.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El recorrido va de la clase de dato a la pregunta que una prueba o dispositivo puede responder.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Iniciar por la naturaleza de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Mapa de la clase: evidencia, estudios, dispositivos e integración. Diagrama conceptual: Once bloques centrales agrupados en cuatro encuentros y un respaldo no lineal. El recorrido va de la clase de dato a la pregunta que una prueba o dispositivo puede responder.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BR; EP; TPL.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Formular la pregunta del bloque.</a:t>
            </a:r>
          </a:p>
          <a:p xmlns:a="http://schemas.openxmlformats.org/drawingml/2006/main">
            <a:r>
              <a:t>- **Explicación extendida:** Una categoría mal asignada conduce a una conclusión incorrecta. Recuperar respuestas de U08-003 sin resolverlas todavía.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Una categoría mal asignada conduce a una conclusión incorrecta.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Construir las cinco categorías.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¿Qué clase de dato tenemos? Esquema mixto: Pregunta guía y cinco palabras: exposición, alteración, síntoma, resultado, limitación. Una categoría mal asignada conduce a una conclusión incorrecta.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8.4.1; PDF p. 209; BR.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Fijar el organizador principal.</a:t>
            </a:r>
          </a:p>
          <a:p xmlns:a="http://schemas.openxmlformats.org/drawingml/2006/main">
            <a:r>
              <a:t>- **Explicación extendida:** Exposición, alteración, síntoma, resultado y limitación pueden relacionarse, pero no son equivalentes. Evitar una flecha lineal inevitable; usar conexiones posibles con rótulo “puede relacionarse”.</a:t>
            </a:r>
          </a:p>
          <a:p xmlns:a="http://schemas.openxmlformats.org/drawingml/2006/main">
            <a:r>
              <a:t>- **Guía del visual/diagrama:** Revelar y explicar en el orden previsto: Definición breve y ejemplo por categoría. Cerrar con esta idea: Exposición, alteración, síntoma, resultado y limitación pueden relacionarse, pero no son equivalentes.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Exposición, alteración, síntoma, resultado y limitación pueden relacionarse, pero no son equivalentes.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Saltar desde la entrada al resultado e ignorar la transformación, el sensor o tarea y las condiciones del protocolo.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Aplicar el mapa al caso.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Cinco categorías separan lo que ocurrió de lo que se midió. Diagrama conceptual: Definición breve y ejemplo por categoría. Exposición, alteración, síntoma, resultado y limitación pueden relacionarse, pero no son equivalentes.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8.1, 8.4.1; PDF pp. 207, 209;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Mostrar que cada pregunta requiere evidencia diferente.</a:t>
            </a:r>
          </a:p>
          <a:p xmlns:a="http://schemas.openxmlformats.org/drawingml/2006/main">
            <a:r>
              <a:t>- **Explicación extendida:** Exposición, umbral, oído medio, respuesta coclear/neural, comunicación y dispositivo no se reemplazan. Presentar primero tres preguntas y luego las otras tres; no convertir el diagrama en diagnóstico.</a:t>
            </a:r>
          </a:p>
          <a:p xmlns:a="http://schemas.openxmlformats.org/drawingml/2006/main">
            <a:r>
              <a:t>- **Guía del visual/diagrama:** Revelar y explicar en el orden previsto: Seis preguntas del caso, divididas en dos etapas para no usar letra pequeña. Cerrar con esta idea: Exposición, umbral, oído medio, respuesta coclear/neural, comunicación y dispositivo no se reemplazan.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Exposición, umbral, oído medio, respuesta coclear/neural, comunicación y dispositivo no se reemplazan.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Pedir una clasificación guiada.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misma consulta abre seis preguntas distintas. Diagrama conceptual: Seis preguntas del caso, divididas en dos etapas para no usar letra pequeña. Exposición, umbral, oído medio, respuesta coclear/neural, comunicación y dispositivo no se reemplazan.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8.3; PDF pp. 208–209.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Practicar la distinción organizadora.</a:t>
            </a:r>
          </a:p>
          <a:p xmlns:a="http://schemas.openxmlformats.org/drawingml/2006/main">
            <a:r>
              <a:t>- **Explicación extendida:** Nombrar la clase de dato precede a explicar su causa. Aceptar que algunos datos requieran más contexto; justificar y no adivinar diagnóstico.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Clasifique las seis tarjetas y señale qué contexto falta.</a:t>
            </a:r>
          </a:p>
          <a:p xmlns:a="http://schemas.openxmlformats.org/drawingml/2006/main">
            <a:r>
              <a:t>- **Respuesta esperada:** Nivel/duración: exposición; escotadura, porcentaje verbal y OEA ‘derivar’: resultados; tinnitus: síntoma; dificultad en ruido: limitación referida. Ninguna tarjeta aislada autoriza diagnóstico.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Interpretar la correspondencia con un tono externo como medición de una fuente o intensidad sonora interna.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Ubicar partes del sistema sin nombrar enfermedades.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Clasifique cada dato antes de interpretarlo. Esquema mixto: Seis tarjetas: nivel/duración, escotadura, tinnitus, porcentaje verbal, OEA “derivar”, dificultad en ruido. Nombrar la clase de dato precede a explicar su causa.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ejercicios C1–C3; PDF pp. 223, 228;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Introducir clasificación funcional acotada.</a:t>
            </a:r>
          </a:p>
          <a:p xmlns:a="http://schemas.openxmlformats.org/drawingml/2006/main">
            <a:r>
              <a:t>- **Explicación extendida:** La clasificación orienta qué partes de la cadena considerar; no surge de un único dato. No desarrollar diagnóstico diferencial ni listas de patologías.</a:t>
            </a:r>
          </a:p>
          <a:p xmlns:a="http://schemas.openxmlformats.org/drawingml/2006/main">
            <a:r>
              <a:t>- **Guía del visual/diagrama:** Revelar y explicar en el orden previsto: Tres columnas breves: transmisión, cóclea/neural, combinación → batería necesaria. Cerrar con esta idea: La clasificación orienta qué partes de la cadena considerar; no surge de un único dato. No repetir las cajas como párrafos.</a:t>
            </a:r>
          </a:p>
          <a:p xmlns:a="http://schemas.openxmlformats.org/drawingml/2006/main">
            <a:r>
              <a:t>- **Pregunta al grupo:** ¿Cuál es la diferencia que organiza esta comparación?</a:t>
            </a:r>
          </a:p>
          <a:p xmlns:a="http://schemas.openxmlformats.org/drawingml/2006/main">
            <a:r>
              <a:t>- **Respuesta esperada:** La clasificación orienta qué partes de la cadena considerar; no surge de un único dato.</a:t>
            </a:r>
          </a:p>
          <a:p xmlns:a="http://schemas.openxmlformats.org/drawingml/2006/main">
            <a:r>
              <a:t>- **Demostración o dinámica:** Recorrer una misma fila o criterio entre columnas; evitar leer cada columna como una lista aislada.</a:t>
            </a:r>
          </a:p>
          <a:p xmlns:a="http://schemas.openxmlformats.org/drawingml/2006/main">
            <a:r>
              <a:t>- **Error frecuente a anticipar:** Comparar categorías con criterios distintos o convertir una diferencia descriptiva en una jerarquía clínica.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Separar forma observada de causa.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Conductivo, sensorioneural y mixto describen componentes comprometidos. Diagrama conceptual: Tres columnas breves: transmisión, cóclea/neural, combinación; batería necesaria. La clasificación orienta qué partes de la cadena considerar; no surge de un único dato.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8.4.1; PDF p. 209; REF ashaHearingAdults; BR.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Prevenir la inferencia central errónea.</a:t>
            </a:r>
          </a:p>
          <a:p xmlns:a="http://schemas.openxmlformats.org/drawingml/2006/main">
            <a:r>
              <a:t>- **Explicación extendida:** La forma de un audiograma o timpanograma es un resultado, no una etiología. Anticipar que la misma advertencia reaparecerá con cada estudio.</a:t>
            </a:r>
          </a:p>
          <a:p xmlns:a="http://schemas.openxmlformats.org/drawingml/2006/main">
            <a:r>
              <a:t>- **Guía del visual/diagrama:** Revelar y explicar en el orden previsto: “Es frecuente pensar…” + “En realidad…” + datos que faltan. Cerrar con esta idea: La forma de un audiograma o timpanograma es un resultado, no una etiología. No repetir las cajas como párrafos.</a:t>
            </a:r>
          </a:p>
          <a:p xmlns:a="http://schemas.openxmlformats.org/drawingml/2006/main">
            <a:r>
              <a:t>- **Pregunta al grupo:** ¿Qué información falta para corregir esta conclusión?</a:t>
            </a:r>
          </a:p>
          <a:p xmlns:a="http://schemas.openxmlformats.org/drawingml/2006/main">
            <a:r>
              <a:t>- **Respuesta esperada:** “Es frecuente pensar…” + “En realidad…” + datos que faltan.</a:t>
            </a:r>
          </a:p>
          <a:p xmlns:a="http://schemas.openxmlformats.org/drawingml/2006/main">
            <a:r>
              <a:t>- **Demostración o dinámica:** Mostrar primero la afirmación problemática, pedir que identifiquen el salto lógico y revelar después la corrección.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Comparar dos términos que suelen confundirse.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 patrón compatible no demuestra una causa. Diagrama conceptual: “Es frecuente pensar…” + “En realidad…” + datos que faltan. La forma de un audiograma o timpanograma es un resultado, no una etiología.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8.4.2, 8.8; PDF pp. 210, 222; 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Distinguir resultado conductual y experiencia perceptual.</a:t>
            </a:r>
          </a:p>
          <a:p xmlns:a="http://schemas.openxmlformats.org/drawingml/2006/main">
            <a:r>
              <a:t>- **Explicación extendida:** TTS compara umbrales; tinnitus es una percepción referida. No adelantar todavía la ecuación ni la acufenometría.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¿Cuál es la diferencia que organiza esta comparación?</a:t>
            </a:r>
          </a:p>
          <a:p xmlns:a="http://schemas.openxmlformats.org/drawingml/2006/main">
            <a:r>
              <a:t>- **Respuesta esperada:** TTS compara umbrales; tinnitus es una percepción referida.</a:t>
            </a:r>
          </a:p>
          <a:p xmlns:a="http://schemas.openxmlformats.org/drawingml/2006/main">
            <a:r>
              <a:t>- **Demostración o dinámica:** Recorrer una misma fila o criterio entre columnas; evitar leer cada columna como una lista aislada.</a:t>
            </a:r>
          </a:p>
          <a:p xmlns:a="http://schemas.openxmlformats.org/drawingml/2006/main">
            <a:r>
              <a:t>- **Error frecuente a anticipar:** Confundir una diferencia temporal de umbral con tinnitus, daño permanente o pronóstico individual.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Mostrar por qué una sola prueba no alcanza.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TTS y tinnitus no son el mismo fenómeno. Esquema mixto: Dos columnas con definición, dato requerido y conclusión no permitida. TTS compara umbrales; tinnitus es una percepción referida.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8.4.2, 8.4.4; PDF pp. 209–211;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Introducir el principio de integración.</a:t>
            </a:r>
          </a:p>
          <a:p xmlns:a="http://schemas.openxmlformats.org/drawingml/2006/main">
            <a:r>
              <a:t>- **Explicación extendida:** Cada prueba aporta una pieza y también tiene límites técnicos e interpretativos. Aclarar que la selección real depende de consulta, edad y protocolo.</a:t>
            </a:r>
          </a:p>
          <a:p xmlns:a="http://schemas.openxmlformats.org/drawingml/2006/main">
            <a:r>
              <a:t>- **Guía del visual/diagrama:** Revelar y explicar en el orden previsto: Pregunta clínica general rodeada por antecedentes, prueba conductual y registros fisiológicos. Cerrar con esta idea: Cada prueba aporta una pieza y también tiene límites técnicos e interpretativos.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Cada prueba aporta una pieza y también tiene límites técnicos e interpretativos.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Consolidar las cinco categorías.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batería responde preguntas complementarias. Diagrama conceptual: Pregunta clínica general rodeada por antecedentes, prueba conductual y registros fisiológicos. Cada prueba aporta una pieza y también tiene límites técnicos e interpretativos.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8.5.1, 8.7; PDF pp. 211–212, 221–222; REF ashaHearingAdults.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Consolidar el primer marco.</a:t>
            </a:r>
          </a:p>
          <a:p xmlns:a="http://schemas.openxmlformats.org/drawingml/2006/main">
            <a:r>
              <a:t>- **Explicación extendida:** Preguntar “¿qué clase de dato es?” evita confundir exposición, síntoma, medición y diagnóstico. Repetición pedagógica: usar ejemplos nuevos; no copiar las definiciones de U08-009.</a:t>
            </a:r>
          </a:p>
          <a:p xmlns:a="http://schemas.openxmlformats.org/drawingml/2006/main">
            <a:r>
              <a:t>- **Guía del visual/diagrama:** Revelar y explicar en el orden previsto: Cinco categorías, un ejemplo corregido y una pregunta de control. Cerrar con esta idea: Preguntar “¿qué clase de dato es?” evita confundir exposición, síntoma, medición y diagnóstico. No repetir las cajas como párrafos.</a:t>
            </a:r>
          </a:p>
          <a:p xmlns:a="http://schemas.openxmlformats.org/drawingml/2006/main">
            <a:r>
              <a:t>- **Pregunta al grupo:** ¿Qué regla de este bloque usaría primero ante un dato nuevo?</a:t>
            </a:r>
          </a:p>
          <a:p xmlns:a="http://schemas.openxmlformats.org/drawingml/2006/main">
            <a:r>
              <a:t>- **Respuesta esperada:** Preguntar “¿qué clase de dato es?” evita confundir exposición, síntoma, medición y diagnóstico.</a:t>
            </a:r>
          </a:p>
          <a:p xmlns:a="http://schemas.openxmlformats.org/drawingml/2006/main">
            <a:r>
              <a:t>- **Demostración o dinámica:** Pedir una regla de decisión en una frase y conectarla con una situación de práctica fonoaudiológica.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Pasar de categorías a cambio temporal del umbral.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Hasta acá: primero clasificar, después interpretar. Diagrama conceptual: Cinco categorías, un ejemplo corregido y una pregunta de control. Preguntar “¿qué clase de dato es?” evita confundir exposición, síntoma, medición y diagnóstico.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8.4.1; BR;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Formular la pregunta temporal.</a:t>
            </a:r>
          </a:p>
          <a:p xmlns:a="http://schemas.openxmlformats.org/drawingml/2006/main">
            <a:r>
              <a:t>- **Explicación extendida:** Un cambio entre mediciones necesita frecuencia, tiempo y condiciones comparables. No usar todavía palabras como recuperación completa o daño.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Un cambio entre mediciones necesita frecuencia, tiempo y condiciones comparables.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Caracterizar primero la exposición.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¿Qué significa que un umbral cambie después de una exposición? Gráfico: Pregunta guía y dos mediciones separadas en el tiempo. Un cambio entre mediciones necesita frecuencia, tiempo y condiciones comparables.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8.4.2; PDF p. 209.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Recuperar descriptores físicos relevantes.</a:t>
            </a:r>
          </a:p>
          <a:p xmlns:a="http://schemas.openxmlformats.org/drawingml/2006/main">
            <a:r>
              <a:t>- **Explicación extendida:** Nivel, descriptor, ponderación, duración, espectro e impulsividad condicionan la interpretación. Diferenciar lo medido de un juicio normativo o sanitario.</a:t>
            </a:r>
          </a:p>
          <a:p xmlns:a="http://schemas.openxmlformats.org/drawingml/2006/main">
            <a:r>
              <a:t>- **Guía del visual/diagrama:** Revelar y explicar en el orden previsto: Seis preguntas mínimas para describir una exposición. Cerrar con esta idea: Nivel, descriptor, ponderación, duración, espectro e impulsividad condicionan la interpretación.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Nivel, descriptor, ponderación, duración, espectro e impulsividad condicionan la interpretación.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Definir el resultado que se comparará.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exposición no se resume en “muchos decibeles”. Diagrama conceptual: Seis preguntas mínimas para describir una exposición. Nivel, descriptor, ponderación, duración, espectro e impulsividad condicionan la interpretación.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8.4.2; PDF p. 210; U5;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Fijar el concepto antes de la fórmula.</a:t>
            </a:r>
          </a:p>
          <a:p xmlns:a="http://schemas.openxmlformats.org/drawingml/2006/main">
            <a:r>
              <a:t>- **Explicación extendida:** Deben coincidir frecuencia, escala, vía y procedimiento; también debe constar el tiempo postexposición. Usar “desplazamiento temporal del umbral”; desarrollar TTS.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condición debe acompañar esta definición para poder usarla?</a:t>
            </a:r>
          </a:p>
          <a:p xmlns:a="http://schemas.openxmlformats.org/drawingml/2006/main">
            <a:r>
              <a:t>- **Respuesta esperada:** Definición completa, datos requeridos y contraejemplo tinnitus.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Confundir una diferencia temporal de umbral con tinnitus, daño permanente o pronóstico individual.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Escribir la diferencia.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TTS es una diferencia entre dos umbrales comparables. Esquema mixto: Definición completa, datos requeridos y contraejemplo tinnitus. Deben coincidir frecuencia, escala, vía y procedimiento; también debe constar el tiempo postexposición.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8.4.2; PDF p. 209; GLO;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Introducir símbolos, unidades y signo.</a:t>
            </a:r>
          </a:p>
          <a:p xmlns:a="http://schemas.openxmlformats.org/drawingml/2006/main">
            <a:r>
              <a:t>- **Explicación extendida:** Un valor positivo indica mayor nivel de audición requerido en la segunda medición; no identifica mecanismo ni permanencia. Verificar compatibilidad de dB HL y definir el orden de la resta.</a:t>
            </a:r>
          </a:p>
          <a:p xmlns:a="http://schemas.openxmlformats.org/drawingml/2006/main">
            <a:r>
              <a:t>- **Guía del visual/diagrama:** Revelar y explicar en el orden previsto: Ecuación central, `f`, `Δt`, `L_U,0`, `L_U,1`, unidad dB y condiciones. Cerrar con esta idea: Un valor positivo indica mayor nivel de audición requerido en la segunda medición; no identifica mecanismo ni permanencia. No repetir las cajas como párrafos.</a:t>
            </a:r>
          </a:p>
          <a:p xmlns:a="http://schemas.openxmlformats.org/drawingml/2006/main">
            <a:r>
              <a:t>- **Pregunta al grupo:** ¿Son compatibles las magnitudes y unidades antes de operar?</a:t>
            </a:r>
          </a:p>
          <a:p xmlns:a="http://schemas.openxmlformats.org/drawingml/2006/main">
            <a:r>
              <a:t>- **Respuesta esperada:** Sí solo si coinciden frecuencia, referencia y condiciones indicadas; después se interpreta el resultado con su límite.</a:t>
            </a:r>
          </a:p>
          <a:p xmlns:a="http://schemas.openxmlformats.org/drawingml/2006/main">
            <a:r>
              <a:t>- **Demostración o dinámica:** Señalar datos y unidades antes de operar; resolver un paso por vez y separar el resultado matemático de su interpretación física o clínica.</a:t>
            </a:r>
          </a:p>
          <a:p xmlns:a="http://schemas.openxmlformats.org/drawingml/2006/main">
            <a:r>
              <a:t>- **Error frecuente a anticipar:** Operar con valores en decibelios sin comprobar referencia, frecuencia, transductor y condición de medición.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Modelar un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ΔL_T(f,Δt) compara el umbral posterior con el de referencia. Ecuación anotada: Ecuación central, f, Δt, L_U,0, L_U,1, unidad dB y condiciones. Un valor positivo indica mayor nivel de audición requerido en la segunda medición; no identifica mecanismo ni permanencia.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ec. 8.1; PDF pp. 209–210; NOT; INV.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Separar operación e interpretación.</a:t>
            </a:r>
          </a:p>
          <a:p xmlns:a="http://schemas.openxmlformats.org/drawingml/2006/main">
            <a:r>
              <a:t>- **Explicación extendida:** `27 dB HL - 12 dB HL = 15 dB`; el resultado no prueba causa ni permanencia. Explicar por qué la diferencia queda en dB y no dB HL.</a:t>
            </a:r>
          </a:p>
          <a:p xmlns:a="http://schemas.openxmlformats.org/drawingml/2006/main">
            <a:r>
              <a:t>- **Guía del visual/diagrama:** Revelar y explicar en el orden previsto: Datos → compatibilidad → sustitución → resultado → límite. Cerrar con esta idea: `27 dB HL - 12 dB HL = 15 dB`; el resultado no prueba causa ni permanencia. No repetir las cajas como párrafos.</a:t>
            </a:r>
          </a:p>
          <a:p xmlns:a="http://schemas.openxmlformats.org/drawingml/2006/main">
            <a:r>
              <a:t>- **Pregunta al grupo:** ¿Son compatibles las magnitudes y unidades antes de operar?</a:t>
            </a:r>
          </a:p>
          <a:p xmlns:a="http://schemas.openxmlformats.org/drawingml/2006/main">
            <a:r>
              <a:t>- **Respuesta esperada:** Sí solo si coinciden frecuencia, referencia y condiciones indicadas; después se interpreta el resultado con su límite.</a:t>
            </a:r>
          </a:p>
          <a:p xmlns:a="http://schemas.openxmlformats.org/drawingml/2006/main">
            <a:r>
              <a:t>- **Demostración o dinámica:** Señalar datos y unidades antes de operar; resolver un paso por vez y separar el resultado matemático de su interpretación física o clínica.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Pasar de dos puntos a una serie temporal.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A 4000 Hz, el umbral aumenta 15 dB en la segunda medición. Ecuación anotada: Datos → compatibilidad → sustitución → resultado → límite. 27 dB HL - 12 dB HL = 15 dB; el resultado no prueba causa ni permanencia.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NG1/respuesta; PDF pp. 224, 229–230.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Preparar la lectura de recuperación.</a:t>
            </a:r>
          </a:p>
          <a:p xmlns:a="http://schemas.openxmlformats.org/drawingml/2006/main">
            <a:r>
              <a:t>- **Explicación extendida:** Cada punto requiere frecuencia de prueba, tiempo, procedimiento y variabilidad; una forma conceptual no aporta tiempos universales. Distinguir explícitamente esquema pedagógico de datos experimentales.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muestran los ejes o variables, y qué conclusión no autoriza la figura?</a:t>
            </a:r>
          </a:p>
          <a:p xmlns:a="http://schemas.openxmlformats.org/drawingml/2006/main">
            <a:r>
              <a:t>- **Respuesta esperada:** Cada punto requiere frecuencia de prueba, tiempo, procedimiento y variabilidad; una forma conceptual no aporta tiempos universales.</a:t>
            </a:r>
          </a:p>
          <a:p xmlns:a="http://schemas.openxmlformats.org/drawingml/2006/main">
            <a:r>
              <a:t>- **Demostración o dinámica:** Leer en este orden: ejes, unidades, escala, condición o muestra y tendencia. Recién después formular una conclusión y un límite.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Contrastar con una curva cuantitativa trazable.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curva temporal reúne varias mediciones, no un pronóstico universal. Gráfico: Ejes Δt y ΔL_T, puntos seriados y banda/variabilidad sin números normativos. Cada punto requiere frecuencia de prueba, tiempo, procedimiento y variabilidad; una forma conceptual no aporta tiempos universales.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8.4.2; SA; OD-U08-02/04; EP.</a:t>
            </a:r>
          </a:p>
          <a:p xmlns:a="http://schemas.openxmlformats.org/drawingml/2006/main">
            <a:r>
              <a:t>- Asset propio aprobado: U08-CH-001.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Cubrir el tema obligatorio con trazabilidad.</a:t>
            </a:r>
          </a:p>
          <a:p xmlns:a="http://schemas.openxmlformats.org/drawingml/2006/main">
            <a:r>
              <a:t>- **Explicación extendida:** Sin fuente primaria y condiciones, no existe una curva de recuperación interpretable. Explicar denominador, dispersión y alcance de la fuente seleccionada.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muestran los ejes o variables, y qué conclusión no autoriza la figura?</a:t>
            </a:r>
          </a:p>
          <a:p xmlns:a="http://schemas.openxmlformats.org/drawingml/2006/main">
            <a:r>
              <a:t>- **Respuesta esperada:** Sin fuente primaria y condiciones, no existe una curva de recuperación interpretable.</a:t>
            </a:r>
          </a:p>
          <a:p xmlns:a="http://schemas.openxmlformats.org/drawingml/2006/main">
            <a:r>
              <a:t>- **Demostración o dinámica:** Leer en este orden: ejes, unidades, escala, condición o muestra y tendencia. Recién después formular una conclusión y un límite.</a:t>
            </a:r>
          </a:p>
          <a:p xmlns:a="http://schemas.openxmlformats.org/drawingml/2006/main">
            <a:r>
              <a:t>- **Error frecuente a anticipar:** Completar una cifra o regla faltante por memoria o intuición y perder la trazabilidad de la afirmación.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**Condición de producción:** Usar esta ficha como control de trazabilidad. La curva conceptual de U08-022 no reemplaza una fuente primaria ni autoriza tiempos universales.</a:t>
            </a:r>
          </a:p>
          <a:p xmlns:a="http://schemas.openxmlformats.org/drawingml/2006/main">
            <a:r>
              <a:t>- **Transición:** Pedir una lectura crítica.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curva cuantitativa necesita exposición, población y tiempos definidos. Gráfico: Curva documentada con nivel/espectro/duración, frecuencia de prueba, tiempos, muestra y variabilidad. Sin fuente primaria y condiciones, no existe una curva de recuperación interpretable.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COV U08-01; SA; OD-U08-03/04; REF por seleccionar.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Practicar interpretación con límites.</a:t>
            </a:r>
          </a:p>
          <a:p xmlns:a="http://schemas.openxmlformats.org/drawingml/2006/main">
            <a:r>
              <a:t>- **Explicación extendida:** Leer tendencia y condiciones no autoriza a predecir la recuperación individual. Aceptar como respuesta válida señalar que faltan metadatos.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Identifique ejes, frecuencia de prueba, tiempos, grupo y variabilidad. Luego escriba una conclusión permitida y una no permitida.</a:t>
            </a:r>
          </a:p>
          <a:p xmlns:a="http://schemas.openxmlformats.org/drawingml/2006/main">
            <a:r>
              <a:t>- **Respuesta esperada:** Permitida: describir la tendencia bajo las condiciones informadas. No permitida: predecir la recuperación de una persona o extrapolar a otra exposición.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Diferenciar temporal de permanente.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¿Qué permite afirmar esta curva y qué queda abierto? Gráfico: Preguntas sobre ejes, frecuencia, tiempo, grupo, variabilidad y conclusiones no permitidas. Leer tendencia y condiciones no autoriza a predecir la recuperación individual.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ejercicios gráficos; SA;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Delimitar TTS frente a PAIR.</a:t>
            </a:r>
          </a:p>
          <a:p xmlns:a="http://schemas.openxmlformats.org/drawingml/2006/main">
            <a:r>
              <a:t>- **Explicación extendida:** Repetir una medición permite describir evolución; la atribución causal requiere más evidencia. No afirmar que todo TTS se resuelve sin consecuencias ni que predice PAIR.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¿Cuál es la diferencia que organiza esta comparación?</a:t>
            </a:r>
          </a:p>
          <a:p xmlns:a="http://schemas.openxmlformats.org/drawingml/2006/main">
            <a:r>
              <a:t>- **Respuesta esperada:** Repetir una medición permite describir evolución; la atribución causal requiere más evidencia.</a:t>
            </a:r>
          </a:p>
          <a:p xmlns:a="http://schemas.openxmlformats.org/drawingml/2006/main">
            <a:r>
              <a:t>- **Demostración o dinámica:** Recorrer una misma fila o criterio entre columnas; evitar leer cada columna como una lista aislada.</a:t>
            </a:r>
          </a:p>
          <a:p xmlns:a="http://schemas.openxmlformats.org/drawingml/2006/main">
            <a:r>
              <a:t>- **Error frecuente a anticipar:** Comparar categorías con criterios distintos o convertir una diferencia descriptiva en una jerarquía clínica.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Recuperar un descriptor energético opcional.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Temporal y permanente describen cursos distintos, no causas automáticas. Gráfico: Dos columnas: diferencia temporal y cambio permanente, con datos necesarios. Repetir una medición permite describir evolución; la atribución causal requiere más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8.4.2; PDF pp. 209–210; REF ryan2016.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Recuperar `L_Aeq,T` sin convertirlo en norma.</a:t>
            </a:r>
          </a:p>
          <a:p xmlns:a="http://schemas.openxmlformats.org/drawingml/2006/main">
            <a:r>
              <a:t>- **Explicación extendida:** El cociente temporal es adimensional y el resultado no establece seguridad ni cumplimiento legal. Hacer visible la contribución despreciable fuera de la hora activa.</a:t>
            </a:r>
          </a:p>
          <a:p xmlns:a="http://schemas.openxmlformats.org/drawingml/2006/main">
            <a:r>
              <a:t>- **Guía del visual/diagrama:** Señalar el cociente temporal adimensional, la sustitución y la hipótesis de contribución despreciable fuera de la hora activa.</a:t>
            </a:r>
          </a:p>
          <a:p xmlns:a="http://schemas.openxmlformats.org/drawingml/2006/main">
            <a:r>
              <a:t>- **Pregunta al grupo:** ¿Son compatibles las magnitudes y unidades antes de operar?</a:t>
            </a:r>
          </a:p>
          <a:p xmlns:a="http://schemas.openxmlformats.org/drawingml/2006/main">
            <a:r>
              <a:t>- **Respuesta esperada:** Sí solo si coinciden frecuencia, referencia y condiciones indicadas; después se interpreta el resultado con su límite.</a:t>
            </a:r>
          </a:p>
          <a:p xmlns:a="http://schemas.openxmlformats.org/drawingml/2006/main">
            <a:r>
              <a:t>- **Demostración o dinámica:** Señalar datos y unidades antes de operar; resolver un paso por vez y separar el resultado matemático de su interpretación física o clínica.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**Condición de producción:** Ejemplo validado contra TEX ec. 8.2 y PDF p. 210; mantener visible que no constituye una norma de exposición.</a:t>
            </a:r>
          </a:p>
          <a:p xmlns:a="http://schemas.openxmlformats.org/drawingml/2006/main">
            <a:r>
              <a:t>- **Transición:** Recapitular exposición y TTS.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Normalizar una exposición a 8 h compara energía promedio. Ecuación anotada: Ecuación y ejemplo 95 dB(A), 1 h → 86,0 dB(A), 8 h, con hipótesis. El cociente temporal es adimensional y el resultado no establece seguridad ni cumplimiento legal.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ec. 8.2; PDF p. 210; U5;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Consolidar tiempo, magnitud y límite.</a:t>
            </a:r>
          </a:p>
          <a:p xmlns:a="http://schemas.openxmlformats.org/drawingml/2006/main">
            <a:r>
              <a:t>- **Explicación extendida:** TTS exige comparación; la curva exige condiciones; `L_Aeq,T` describe energía promedio, no riesgo universal. Repetir la cadena dato–condiciones–límite, no los pasos numéricos.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regla de este bloque usaría primero ante un dato nuevo?</a:t>
            </a:r>
          </a:p>
          <a:p xmlns:a="http://schemas.openxmlformats.org/drawingml/2006/main">
            <a:r>
              <a:t>- **Respuesta esperada:** TTS exige comparación; la curva exige condiciones; `L_Aeq,T` describe energía promedio, no riesgo universal.</a:t>
            </a:r>
          </a:p>
          <a:p xmlns:a="http://schemas.openxmlformats.org/drawingml/2006/main">
            <a:r>
              <a:t>- **Demostración o dinámica:** Pedir una regla de decisión en una frase y conectarla con una situación de práctica fonoaudiológica.</a:t>
            </a:r>
          </a:p>
          <a:p xmlns:a="http://schemas.openxmlformats.org/drawingml/2006/main">
            <a:r>
              <a:t>- **Error frecuente a anticipar:** Confundir una diferencia temporal de umbral con tinnitus, daño permanente o pronóstico individual.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Abrir alteraciones y atribución causal.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Hasta acá: medir un cambio no explica por sí solo su causa ni su futuro. Esquema mixto: Tres afirmaciones y una pregunta de control con signo de ΔL_T. TTS exige comparación; la curva exige condiciones; L_Aeq,T describe energía promedio, no riesgo universal.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8.4.2; BR;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Formular la pregunta causal.</a:t>
            </a:r>
          </a:p>
          <a:p xmlns:a="http://schemas.openxmlformats.org/drawingml/2006/main">
            <a:r>
              <a:t>- **Explicación extendida:** Una forma, una edad o una exposición aislada no determinan etiología. Recuperar el error de U08-013 y elevarlo al nivel etiológico.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Una forma, una edad o una exposición aislada no determinan etiología.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Definir pérdida inducida por ruido.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¿Qué relaciones son compatibles y cuáles no prueban una causa? Esquema mixto: Pregunta guía con tres pistas: exposición, patrón, historia. Una forma, una edad o una exposición aislada no determinan etiología.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8.4; PDF pp. 209–211.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Presentar la alteración sin receta diagnóstica.</a:t>
            </a:r>
          </a:p>
          <a:p xmlns:a="http://schemas.openxmlformats.org/drawingml/2006/main">
            <a:r>
              <a:t>- **Explicación extendida:** La asociación con ruido se construye con evidencia convergente, no con una escotadura aislada. Indicar que la sigla española definitiva sigue pendiente.</a:t>
            </a:r>
          </a:p>
          <a:p xmlns:a="http://schemas.openxmlformats.org/drawingml/2006/main">
            <a:r>
              <a:t>- **Guía del visual/diagrama:** Revelar y explicar en el orden previsto: Definición, evidencia necesaria y límite. Cerrar con esta idea: La asociación con ruido se construye con evidencia convergente, no con una escotadura aislada. No repetir las cajas como párrafos.</a:t>
            </a:r>
          </a:p>
          <a:p xmlns:a="http://schemas.openxmlformats.org/drawingml/2006/main">
            <a:r>
              <a:t>- **Pregunta al grupo:** ¿Qué condición debe acompañar esta definición para poder usarla?</a:t>
            </a:r>
          </a:p>
          <a:p xmlns:a="http://schemas.openxmlformats.org/drawingml/2006/main">
            <a:r>
              <a:t>- **Respuesta esperada:** Definición, evidencia necesaria y límite.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Mostrar el patrón como descripción.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PAIR/NIHL requiere historia, patrón y causas alternativas. Diagrama conceptual: Definición, evidencia necesaria y límite. La asociación con ruido se construye con evidencia convergente, no con una escotadura aislada.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8.4.2; PDF p. 210; REF ryan2016; NOT; OD-U08-07.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Enseñar lectura geométrica prudente.</a:t>
            </a:r>
          </a:p>
          <a:p xmlns:a="http://schemas.openxmlformats.org/drawingml/2006/main">
            <a:r>
              <a:t>- **Explicación extendida:** El gráfico puede ser compatible con exposición a ruido, pero no demuestra origen laboral ni excluye otras causas. Pedir dos datos adicionales antes de cualquier atribución.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muestran los ejes o variables, y qué conclusión no autoriza la figura?</a:t>
            </a:r>
          </a:p>
          <a:p xmlns:a="http://schemas.openxmlformats.org/drawingml/2006/main">
            <a:r>
              <a:t>- **Respuesta esperada:** El gráfico puede ser compatible con exposición a ruido, pero no demuestra origen laboral ni excluye otras causas.</a:t>
            </a:r>
          </a:p>
          <a:p xmlns:a="http://schemas.openxmlformats.org/drawingml/2006/main">
            <a:r>
              <a:t>- **Demostración o dinámica:** Leer en este orden: ejes, unidades, escala, condición o muestra y tendencia. Recién después formular una conclusión y un límite.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Comparar otros mecanismos o contextos.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escotadura describe una forma, no una etiología. Gráfico: Audiograma conceptual con escotadura, ejes y rótulo “patrón ficticio”. El gráfico puede ser compatible con exposición a ruido, pero no demuestra origen laboral ni excluye otras causas.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8.4.2, 8.8; PDF pp. 210, 222; REF ryan2016, ashaHearingAdults.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Ampliar causas sin invadir clínica.</a:t>
            </a:r>
          </a:p>
          <a:p xmlns:a="http://schemas.openxmlformats.org/drawingml/2006/main">
            <a:r>
              <a:t>- **Explicación extendida:** Un episodio acústico abrupto y un agente químico requieren descriptores e historias diferentes. No indicar tratamientos ni fármacos; mencionar evaluación sanitaria oportuna ante síntomas súbitos.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¿Cuál es la diferencia que organiza esta comparación?</a:t>
            </a:r>
          </a:p>
          <a:p xmlns:a="http://schemas.openxmlformats.org/drawingml/2006/main">
            <a:r>
              <a:t>- **Respuesta esperada:** Un episodio acústico abrupto y un agente químico requieren descriptores e historias diferentes.</a:t>
            </a:r>
          </a:p>
          <a:p xmlns:a="http://schemas.openxmlformats.org/drawingml/2006/main">
            <a:r>
              <a:t>- **Demostración o dinámica:** Recorrer una misma fila o criterio entre columnas; evitar leer cada columna como una lista aislada.</a:t>
            </a:r>
          </a:p>
          <a:p xmlns:a="http://schemas.openxmlformats.org/drawingml/2006/main">
            <a:r>
              <a:t>- **Error frecuente a anticipar:** Comparar categorías con criterios distintos o convertir una diferencia descriptiva en una jerarquía clínica.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Volver a experiencias perceptuales.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Trauma acústico y ototoxicidad no describen la misma exposición. Esquema mixto: Dos columnas: agente, temporalidad, sistema posible, dato que falta y conducta de derivación general. Un episodio acústico abrupto y un agente químico requieren descriptores e historias diferentes.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8.4.3; PDF pp. 210–211; REF kurabi2017, nioshOtotoxic2018.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Fijar el concepto y su heterogeneidad.</a:t>
            </a:r>
          </a:p>
          <a:p xmlns:a="http://schemas.openxmlformats.org/drawingml/2006/main">
            <a:r>
              <a:t>- **Explicación extendida:** Puede coexistir con umbrales diversos y no se reduce a una frecuencia o nivel. Evitar representaciones que materialicen el tinnitus como tono físico interno.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condición debe acompañar esta definición para poder usarla?</a:t>
            </a:r>
          </a:p>
          <a:p xmlns:a="http://schemas.openxmlformats.org/drawingml/2006/main">
            <a:r>
              <a:t>- **Respuesta esperada:** Definición, tinnitus subjetivo/sonido corporal detectable como distinción acotada y límites.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Interpretar la correspondencia con un tono externo como medición de una fuente o intensidad sonora interna.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Contrastar con cambios asociados a edad.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Tinnitus es una percepción referida, no una fuente acústica externa. Diagrama conceptual: Definición, tinnitus subjetivo/sonido corporal detectable como distinción acotada y límites. Puede coexistir con umbrales diversos y no se reduce a una frecuencia o nivel.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8.4.4; PDF p. 211; REF ashaTinnitus;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Evitar un patrón único por edad.</a:t>
            </a:r>
          </a:p>
          <a:p xmlns:a="http://schemas.openxmlformats.org/drawingml/2006/main">
            <a:r>
              <a:t>- **Explicación extendida:** Suele describirse compromiso bilateral de altas frecuencias, pero edad y pendiente no bastan para definir todos los casos. Distinguir descripción poblacional de interpretación individual.</a:t>
            </a:r>
          </a:p>
          <a:p xmlns:a="http://schemas.openxmlformats.org/drawingml/2006/main">
            <a:r>
              <a:t>- **Guía del visual/diagrama:** Revelar y explicar en el orden previsto: Factores cocleares, neurales, metabólicos, exposición, enfermedades y medicamentos. Cerrar con esta idea: Suele describirse compromiso bilateral de altas frecuencias, pero edad y pendiente no bastan para definir todos los casos.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Suele describirse compromiso bilateral de altas frecuencias, pero edad y pendiente no bastan para definir todos los casos.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Preguntar qué hace interpretable un porcentaje.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Presbiacusia es heterogénea y multifactorial. Diagrama conceptual: Factores cocleares, neurales, metabólicos, exposición, enfermedades y medicamentos. Suele describirse compromiso bilateral de altas frecuencias, pero edad y pendiente no bastan para definir todos los casos.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8.4.5; PDF p. 211; REF gatesMills2005.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Preparar la representación obligatoria.</a:t>
            </a:r>
          </a:p>
          <a:p xmlns:a="http://schemas.openxmlformats.org/drawingml/2006/main">
            <a:r>
              <a:t>- **Explicación extendida:** La edad sola no convierte una tasa grupal en pronóstico individual. Definir numerador y denominador antes de mostrar cifras.</a:t>
            </a:r>
          </a:p>
          <a:p xmlns:a="http://schemas.openxmlformats.org/drawingml/2006/main">
            <a:r>
              <a:t>- **Guía del visual/diagrama:** Revelar y explicar en el orden previsto: Población, edad, exposición, duración, caso, comparación y período. Cerrar con esta idea: La edad sola no convierte una tasa grupal en pronóstico individual.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La edad sola no convierte una tasa grupal en pronóstico individual.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Trasladar un porcentaje poblacional a una persona sin conservar población, período, comparador e incertidumbre.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Mostrar datos solo con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 porcentaje de riesgo necesita población, exposición y definición de caso. Diagrama conceptual: Población, edad, exposición, duración, caso, comparación y período. La edad sola no convierte una tasa grupal en pronóstico individual.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COV U08-06; SA; OD-U08-05/06.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Cubrir el requisito cuantitativo sin universalizar.</a:t>
            </a:r>
          </a:p>
          <a:p xmlns:a="http://schemas.openxmlformats.org/drawingml/2006/main">
            <a:r>
              <a:t>- **Explicación extendida:** Una curva o tabla solo vale para la población, definición de caso y modelo declarados. Separar riesgo atribuible, prevalencia o exceso de riesgo según lo que realmente reporte la fuente.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muestran los ejes o variables, y qué conclusión no autoriza la figura?</a:t>
            </a:r>
          </a:p>
          <a:p xmlns:a="http://schemas.openxmlformats.org/drawingml/2006/main">
            <a:r>
              <a:t>- **Respuesta esperada:** Una curva o tabla solo vale para la población, definición de caso y modelo declarados.</a:t>
            </a:r>
          </a:p>
          <a:p xmlns:a="http://schemas.openxmlformats.org/drawingml/2006/main">
            <a:r>
              <a:t>- **Demostración o dinámica:** Leer en este orden: ejes, unidades, escala, condición o muestra y tendencia. Recién después formular una conclusión y un límite.</a:t>
            </a:r>
          </a:p>
          <a:p xmlns:a="http://schemas.openxmlformats.org/drawingml/2006/main">
            <a:r>
              <a:t>- **Error frecuente a anticipar:** Trasladar un porcentaje poblacional a una persona sin conservar población, período, comparador e incertidumbre.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**Condición de producción:** Tabla completada con el modelo NIOSH 1997 (tabla 3-3), definición 1–2–3–4 kHz y más de 10 años de exposición. Conservar fuente e incertidumbre en notas.</a:t>
            </a:r>
          </a:p>
          <a:p xmlns:a="http://schemas.openxmlformats.org/drawingml/2006/main">
            <a:r>
              <a:t>- **Transición:** Pedir una interpretación crítica.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Edad y exposición pueden modificar un riesgo poblacional documentado. Gráfico: Riesgo porcentual por edad y categorías de exposición, con intervalos/incertidumbre si la fuente los ofrece. Una curva o tabla solo vale para la población, definición de caso y modelo declarados.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COV U08-06; NIOSH 98-126 tabla 3-3; modelo NIOSH 1997; SA.</a:t>
            </a:r>
          </a:p>
          <a:p xmlns:a="http://schemas.openxmlformats.org/drawingml/2006/main">
            <a:r>
              <a:t>- NIOSH. Criteria for a Recommended Standard: Occupational Noise Exposure, DHHS (NIOSH) Publication 98-126 (1998): https://www.cdc.gov/niosh/docs/98-126/</a:t>
            </a:r>
          </a:p>
          <a:p xmlns:a="http://schemas.openxmlformats.org/drawingml/2006/main">
            <a:r>
              <a:t>- Datos de la tabla 3-3: modelo NIOSH 1997 para la definición 1–2–3–4 kHz; exceso de riesgo por edad, nivel diario y duración de exposición, con IC 95 %.</a:t>
            </a:r>
          </a:p>
          <a:p xmlns:a="http://schemas.openxmlformats.org/drawingml/2006/main">
            <a:r>
              <a:t>- NIOSH HHE 2019-0106-3378: definición de deterioro auditivo material y estimaciones de 8 % a 85 dBA y 25 % a 90 dBA para una vida laboral de 40 años: https://www.cdc.gov/niosh/hhe/reports/pdfs/2019-0106-3378.pdf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Consolidar lectura de riesgo y cerrar el bloque.</a:t>
            </a:r>
          </a:p>
          <a:p xmlns:a="http://schemas.openxmlformats.org/drawingml/2006/main">
            <a:r>
              <a:t>- **Explicación extendida:** Antes de aplicar un porcentaje hay que identificar grupo, caso, período y comparación. Usar la tabla NIOSH de la slide anterior para practicar sin convertir el exceso de riesgo en pronóstico individual.</a:t>
            </a:r>
          </a:p>
          <a:p xmlns:a="http://schemas.openxmlformats.org/drawingml/2006/main">
            <a:r>
              <a:t>- **Guía del visual/diagrama:** Recorrer evento, población, exposición, período y comparador; cerrar con el límite de inferencia individual.</a:t>
            </a:r>
          </a:p>
          <a:p xmlns:a="http://schemas.openxmlformats.org/drawingml/2006/main">
            <a:r>
              <a:t>- **Pregunta al grupo:** ¿Cuál es el evento, la población, el período, la exposición y el comparador?</a:t>
            </a:r>
          </a:p>
          <a:p xmlns:a="http://schemas.openxmlformats.org/drawingml/2006/main">
            <a:r>
              <a:t>- **Respuesta esperada:** Si alguno falta, el porcentaje no puede interpretarse ni aplicarse a un caso individual.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Pasar de alteraciones a preguntas de evaluación.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¿A quién representa este porcentaje? Esquema mixto: Preguntas sobre denominador, edad, exposición, incertidumbre y conclusión individual no permitida. Antes de aplicar un porcentaje hay que identificar grupo, caso, período y comparación.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SA;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Formular el método del bloque.</a:t>
            </a:r>
          </a:p>
          <a:p xmlns:a="http://schemas.openxmlformats.org/drawingml/2006/main">
            <a:r>
              <a:t>- **Explicación extendida:** Toda prueba puede analizarse con la misma cadena y preguntas. Señalar que el marco se repetirá con una función nueva en cada estudio.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Toda prueba puede analizarse con la misma cadena y preguntas.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Construir la cadena general.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¿Cómo se compara una prueba sin memorizar una lista? Diagrama conceptual: Pregunta guía y palabras estímulo, sistema, respuesta, sensor, dato y límite. Toda prueba puede analizarse con la misma cadena y preguntas.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8.5.1; PDF pp. 211–212; BR; CDM.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Instalar la cadena común.</a:t>
            </a:r>
          </a:p>
          <a:p xmlns:a="http://schemas.openxmlformats.org/drawingml/2006/main">
            <a:r>
              <a:t>- **Explicación extendida:** Estímulo controlado → sistema auditivo → sensor o tarea → dato → interpretación condicionada. Evitar una flecha final directa a “diagnóstico”.</a:t>
            </a:r>
          </a:p>
          <a:p xmlns:a="http://schemas.openxmlformats.org/drawingml/2006/main">
            <a:r>
              <a:t>- **Guía del visual/diagrama:** Revelar y explicar en el orden previsto: Cinco etapas y bucle de control técnico/protocolo. Cerrar con esta idea: Estímulo controlado → sistema auditivo → sensor o tarea → dato → interpretación condicionada.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Estímulo controlado → sistema auditivo → sensor o tarea → dato → interpretación condicionada.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Saltar desde la entrada al resultado e ignorar la transformación, el sensor o tarea y las condiciones del protocolo.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Convertir la cadena en preguntas.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prueba transforma una pregunta en un dato interpretable. Diagrama conceptual: Cinco etapas y bucle de control técnico/protocolo. Estímulo controlado → sistema auditivo → sensor o tarea → dato → interpretación condicionada.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8.5.1; PDF p. 211; REF ashaHearingAdults.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Dar una herramienta estable de lectura.</a:t>
            </a:r>
          </a:p>
          <a:p xmlns:a="http://schemas.openxmlformats.org/drawingml/2006/main">
            <a:r>
              <a:t>- **Explicación extendida:** Estímulo, magnitud, sistema, conducta, resultado y limitaciones evitan memorizar descripciones aisladas. Usar este marco como repetición pedagógica en B05–B08.</a:t>
            </a:r>
          </a:p>
          <a:p xmlns:a="http://schemas.openxmlformats.org/drawingml/2006/main">
            <a:r>
              <a:t>- **Guía del visual/diagrama:** Revelar y explicar en el orden previsto: Seis preguntas con rótulos de 2–5 palabras y un ejemplo mínimo. Cerrar con esta idea: Estímulo, magnitud, sistema, conducta, resultado y limitaciones evitan memorizar descripciones aisladas.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Estímulo, magnitud, sistema, conducta, resultado y limitaciones evitan memorizar descripciones aisladas.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Saltar desde la entrada al resultado e ignorar la transformación, el sensor o tarea y las condiciones del protocolo.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Distinguir dos modos de respuesta.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Seis preguntas permiten comparar cualquier estudio. Diagrama conceptual: Seis preguntas con rótulos de 2–5 palabras y un ejemplo mínimo. Estímulo, magnitud, sistema, conducta, resultado y limitaciones evitan memorizar descripciones aisladas.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8.5.1; BR; CDM;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Separar participación voluntaria de magnitud registrada.</a:t>
            </a:r>
          </a:p>
          <a:p xmlns:a="http://schemas.openxmlformats.org/drawingml/2006/main">
            <a:r>
              <a:t>- **Explicación extendida:** “Fisiológica” no significa automática, infalible ni libre de condiciones. Evitar el par “subjetiva/objetiva” como sinónimo de poco/muy confiable.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¿Cuál es la diferencia que organiza esta comparación?</a:t>
            </a:r>
          </a:p>
          <a:p xmlns:a="http://schemas.openxmlformats.org/drawingml/2006/main">
            <a:r>
              <a:t>- **Respuesta esperada:** “Fisiológica” no significa automática, infalible ni libre de condiciones.</a:t>
            </a:r>
          </a:p>
          <a:p xmlns:a="http://schemas.openxmlformats.org/drawingml/2006/main">
            <a:r>
              <a:t>- **Demostración o dinámica:** Recorrer una misma fila o criterio entre columnas; evitar leer cada columna como una lista aislada.</a:t>
            </a:r>
          </a:p>
          <a:p xmlns:a="http://schemas.openxmlformats.org/drawingml/2006/main">
            <a:r>
              <a:t>- **Error frecuente a anticipar:** Comparar categorías con criterios distintos o convertir una diferencia descriptiva en una jerarquía clínica.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Ubicar pruebas en la cadena auditiva.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Conductual y fisiológica describen respuestas diferentes. Esquema mixto: Dos columnas con respuesta, sensor, fortalezas, dependencias y ejemplo. “Fisiológica” no significa automática, infalible ni libre de condiciones.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8.5.1; PDF p. 211; REF ashaHearingAdults.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Relacionar pruebas con anatomía funcional.</a:t>
            </a:r>
          </a:p>
          <a:p xmlns:a="http://schemas.openxmlformats.org/drawingml/2006/main">
            <a:r>
              <a:t>- **Explicación extendida:** Oído externo/medio, cóclea, nervio/tronco y respuesta integrada se exploran con información complementaria. No dibujar fronteras exclusivas; mostrar dependencias compartidas, especialmente OEA y vía aérea.</a:t>
            </a:r>
          </a:p>
          <a:p xmlns:a="http://schemas.openxmlformats.org/drawingml/2006/main">
            <a:r>
              <a:t>- **Guía del visual/diagrama:** Revelar y explicar en el orden previsto: Cuatro regiones/funciones y estudios relacionados, con precaución interpretativa. Cerrar con esta idea: Oído externo/medio, cóclea, nervio/tronco y respuesta integrada se exploran con información complementaria.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Oído externo/medio, cóclea, nervio/tronco y respuesta integrada se exploran con información complementaria.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Saltar desde la entrada al resultado e ignorar la transformación, el sensor o tarea y las condiciones del protocolo.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Añadir condiciones de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Cada estudio ilumina una parte o función, no un oído aislado. Diagrama conceptual: Cuatro regiones/funciones y estudios relacionados, con precaución interpretativa. Oído externo/medio, cóclea, nervio/tronco y respuesta integrada se exploran con información complementaria.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tabla 8.1; PDF p. 212; U6.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Hacer visibles condiciones técnicas.</a:t>
            </a:r>
          </a:p>
          <a:p xmlns:a="http://schemas.openxmlformats.org/drawingml/2006/main">
            <a:r>
              <a:t>- **Explicación extendida:** Un dato no existe separado del transductor, sensor, ruido, preparación y criterio. Conectar con U9 sin desarrollar cabinas ni límites de ruido.</a:t>
            </a:r>
          </a:p>
          <a:p xmlns:a="http://schemas.openxmlformats.org/drawingml/2006/main">
            <a:r>
              <a:t>- **Guía del visual/diagrama:** Revelar y explicar en el orden previsto: Cinco condiciones comunes y ejemplo de cómo alteran una medición. Cerrar con esta idea: Un dato no existe separado del transductor, sensor, ruido, preparación y criterio.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Un dato no existe separado del transductor, sensor, ruido, preparación y criterio.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Explicar por qué se combinan pruebas.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Calibración, ambiente, colocación y consigna forman parte del resultado. Diagrama conceptual: Cinco condiciones comunes y ejemplo de cómo alteran una medición. Un dato no existe separado del transductor, sensor, ruido, preparación y criterio.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8.5; PDF pp. 212–219; U5; CM; CDM.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Integrar fuentes de evidencia.</a:t>
            </a:r>
          </a:p>
          <a:p xmlns:a="http://schemas.openxmlformats.org/drawingml/2006/main">
            <a:r>
              <a:t>- **Explicación extendida:** Antecedentes, conducta y registros fisiológicos se controlan entre sí bajo una pregunta clínica. Usar “reduce preguntas” y “aporta evidencia”; no prometer certeza.</a:t>
            </a:r>
          </a:p>
          <a:p xmlns:a="http://schemas.openxmlformats.org/drawingml/2006/main">
            <a:r>
              <a:t>- **Guía del visual/diagrama:** Revelar y explicar en el orden previsto: Tres fuentes de evidencia y ejemplos de coherencia/discrepancia. Cerrar con esta idea: Antecedentes, conducta y registros fisiológicos se controlan entre sí bajo una pregunta clínica. No repetir las cajas como párrafos.</a:t>
            </a:r>
          </a:p>
          <a:p xmlns:a="http://schemas.openxmlformats.org/drawingml/2006/main">
            <a:r>
              <a:t>- **Pregunta al grupo:** Si dos pruebas discrepan, ¿qué revisaría antes de elegir una como ‘correcta’?</a:t>
            </a:r>
          </a:p>
          <a:p xmlns:a="http://schemas.openxmlformats.org/drawingml/2006/main">
            <a:r>
              <a:t>- **Respuesta esperada:** Pregunta inicial, generador, sensor o tarea, condiciones técnicas, ruido, protocolo y antecedentes.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Completar una cifra o regla faltante por memoria o intuición y perder la trazabilidad de la afirmación.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Resumir el método antes de la primera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batería reduce preguntas abiertas, no produce certeza automática. Diagrama conceptual: Tres fuentes de evidencia y ejemplos de coherencia/discrepancia. Antecedentes, conducta y registros fisiológicos se controlan entre sí bajo una pregunta clínica.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8.5.1, 8.7; PDF pp. 211–212, 221–222.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Consolidar el organizador.</a:t>
            </a:r>
          </a:p>
          <a:p xmlns:a="http://schemas.openxmlformats.org/drawingml/2006/main">
            <a:r>
              <a:t>- **Explicación extendida:** La misma matriz se aplicará a estudios conductuales, mecanoacústicos y fisiológicos. Repetición pedagógica: pedir completar campos faltantes, no recitar seis preguntas.</a:t>
            </a:r>
          </a:p>
          <a:p xmlns:a="http://schemas.openxmlformats.org/drawingml/2006/main">
            <a:r>
              <a:t>- **Guía del visual/diagrama:** Revelar y explicar en el orden previsto: Seis preguntas, un ejemplo de audiometría incompleto y una pregunta de control. Cerrar con esta idea: La misma matriz se aplicará a estudios conductuales, mecanoacústicos y fisiológicos. No repetir las cajas como párrafos.</a:t>
            </a:r>
          </a:p>
          <a:p xmlns:a="http://schemas.openxmlformats.org/drawingml/2006/main">
            <a:r>
              <a:t>- **Pregunta al grupo:** ¿Qué regla de este bloque usaría primero ante un dato nuevo?</a:t>
            </a:r>
          </a:p>
          <a:p xmlns:a="http://schemas.openxmlformats.org/drawingml/2006/main">
            <a:r>
              <a:t>- **Respuesta esperada:** La misma matriz se aplicará a estudios conductuales, mecanoacústicos y fisiológicos.</a:t>
            </a:r>
          </a:p>
          <a:p xmlns:a="http://schemas.openxmlformats.org/drawingml/2006/main">
            <a:r>
              <a:t>- **Demostración o dinámica:** Pedir una regla de decisión en una frase y conectarla con una situación de práctica fonoaudiológica.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Aplicar el marco a audiometría tonal.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Hasta acá: comparar una prueba es reconstruir su cadena. Diagrama conceptual: Seis preguntas, un ejemplo de audiometría incompleto y una pregunta de control. La misma matriz se aplicará a estudios conductuales, mecanoacústicos y fisiológicos.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8.5.1; BR;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Formular la pregunta del bloque.</a:t>
            </a:r>
          </a:p>
          <a:p xmlns:a="http://schemas.openxmlformats.org/drawingml/2006/main">
            <a:r>
              <a:t>- **Explicación extendida:** El audiograma organiza umbrales por frecuencia, oído y vía; no muestra una enfermedad. Preguntar qué creen que aumenta hacia abajo.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El audiograma organiza umbrales por frecuencia, oído y vía; no muestra una enfermedad.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Describir estímulo y vías.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¿Qué representa un audiograma y hasta dónde permite interpretar? Gráfico: Pregunta guía, ejes vacíos y dos símbolos de vía. El audiograma organiza umbrales por frecuencia, oído y vía; no muestra una enfermedad.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8.5.2; PDF pp. 212–213.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Relacionar transductor y trayecto.</a:t>
            </a:r>
          </a:p>
          <a:p xmlns:a="http://schemas.openxmlformats.org/drawingml/2006/main">
            <a:r>
              <a:t>- **Explicación extendida:** Auricular y vibrador óseo estimulan mediante mecanismos diferentes, pero ninguna vía aísla una sola estructura. Recuperar conducción ósea multimecanismo de U6; no usar “bypass completo”.</a:t>
            </a:r>
          </a:p>
          <a:p xmlns:a="http://schemas.openxmlformats.org/drawingml/2006/main">
            <a:r>
              <a:t>- **Guía del visual/diagrama:** Revelar y explicar en el orden previsto: Estímulo tonal → transductor → trayecto → respuesta conductual. Cerrar con esta idea: Auricular y vibrador óseo estimulan mediante mecanismos diferentes, pero ninguna vía aísla una sola estructura.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Auricular y vibrador óseo estimulan mediante mecanismos diferentes, pero ninguna vía aísla una sola estructura.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Aclarar las escalas de nivel.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Vía aérea y vía ósea cambian cómo se presenta el estímulo. Esquema mixto: Estímulo tonal → transductor → trayecto → respuesta conductual. Auricular y vibrador óseo estimulan mediante mecanismos diferentes, pero ninguna vía aísla una sola estructura.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8.5.2; PDF p. 212; REF ashaPureTone2005, iso8253₁_2010; U6.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Prevenir operaciones incompatibles.</a:t>
            </a:r>
          </a:p>
          <a:p xmlns:a="http://schemas.openxmlformats.org/drawingml/2006/main">
            <a:r>
              <a:t>- **Explicación extendida:** Cada escala responde una pregunta y exige una referencia distinta. Dar un contraejemplo explícito: no restar dB SPL y dB HL sin conversión/procedimiento.</a:t>
            </a:r>
          </a:p>
          <a:p xmlns:a="http://schemas.openxmlformats.org/drawingml/2006/main">
            <a:r>
              <a:t>- **Guía del visual/diagrama:** Revelar y explicar en el orden previsto: Tres filas: qué refiere, uso típico, operación permitida y error común. Cerrar con esta idea: Cada escala responde una pregunta y exige una referencia distinta. No repetir las cajas como párrafos.</a:t>
            </a:r>
          </a:p>
          <a:p xmlns:a="http://schemas.openxmlformats.org/drawingml/2006/main">
            <a:r>
              <a:t>- **Pregunta al grupo:** ¿Cuál es la diferencia que organiza esta comparación?</a:t>
            </a:r>
          </a:p>
          <a:p xmlns:a="http://schemas.openxmlformats.org/drawingml/2006/main">
            <a:r>
              <a:t>- **Respuesta esperada:** Cada escala responde una pregunta y exige una referencia distinta.</a:t>
            </a:r>
          </a:p>
          <a:p xmlns:a="http://schemas.openxmlformats.org/drawingml/2006/main">
            <a:r>
              <a:t>- **Demostración o dinámica:** Recorrer una misma fila o criterio entre columnas; evitar leer cada columna como una lista aislada.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Leer los ejes del audiograma.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dB SPL, dB HL y dB SL comparten decibel, no referencia. Diagrama conceptual: Tres filas: qué refiere, uso típico, operación permitida y error común. Cada escala responde una pregunta y exige una referencia distinta.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8.5.2–8.5.5, 8.8; PDF pp. 212–216, 222; NOT;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Enseñar la representación antes de interpretar datos.</a:t>
            </a:r>
          </a:p>
          <a:p xmlns:a="http://schemas.openxmlformats.org/drawingml/2006/main">
            <a:r>
              <a:t>- **Explicación extendida:** Frecuencia ocupa el eje horizontal y nivel de audición el vertical invertido; símbolos distinguen oído, vía y condición. No enseñar toda la simbología normativa en la ruta central.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Frecuencia ocupa el eje horizontal y nivel de audición el vertical invertido; símbolos distinguen oído, vía y condición.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Incorporar datos ficticios.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El eje de dB HL aumenta hacia abajo por convención audiométrica. Gráfico: Ejes, octavas, sentido, unidad y leyenda mínima. Frecuencia ocupa el eje horizontal y nivel de audición el vertical invertido; símbolos distinguen oído, vía y condición.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8.5.2; PDF pp. 212–213; NOT; OD-U08-19.</a:t>
            </a:r>
          </a:p>
          <a:p xmlns:a="http://schemas.openxmlformats.org/drawingml/2006/main">
            <a:r>
              <a:t>- Asset propio aprobado: U08-CH-005A.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Modelar lectura completa.</a:t>
            </a:r>
          </a:p>
          <a:p xmlns:a="http://schemas.openxmlformats.org/drawingml/2006/main">
            <a:r>
              <a:t>- **Explicación extendida:** El patrón ficticio muestra relaciones entre puntos; no representa una patología ni un límite normativo. Señalar tres lecturas: eje, valor, diferencia; reservar etiología.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muestran los ejes o variables, y qué conclusión no autoriza la figura?</a:t>
            </a:r>
          </a:p>
          <a:p xmlns:a="http://schemas.openxmlformats.org/drawingml/2006/main">
            <a:r>
              <a:t>- **Respuesta esperada:** El patrón ficticio muestra relaciones entre puntos; no representa una patología ni un límite normativo.</a:t>
            </a:r>
          </a:p>
          <a:p xmlns:a="http://schemas.openxmlformats.org/drawingml/2006/main">
            <a:r>
              <a:t>- **Demostración o dinámica:** Leer en este orden: ejes, unidades, escala, condición o muestra y tendencia. Recién después formular una conclusión y un límite.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Pedir lectura activa.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 audiograma permite comparar umbrales por frecuencia y vía. Gráfico: Curvas aérea/ósea, leyenda, dato de 1000 Hz y rótulo de alcance. El patrón ficticio muestra relaciones entre puntos; no representa una patología ni un límite normativo.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8.1; PDF p. 213; INV.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Practicar lectura sin diagnóstico.</a:t>
            </a:r>
          </a:p>
          <a:p xmlns:a="http://schemas.openxmlformats.org/drawingml/2006/main">
            <a:r>
              <a:t>- **Explicación extendida:** Identificar frecuencia, vía y valor precede a calcular una diferencia. Solicitar una frase de conclusión prudente.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Lea el punto de 1000 Hz: frecuencia, vía, valor y dato faltante. ¿Qué conclusión está prohibida?</a:t>
            </a:r>
          </a:p>
          <a:p xmlns:a="http://schemas.openxmlformats.org/drawingml/2006/main">
            <a:r>
              <a:t>- **Respuesta esperada:** Primero se describe el registro; falta contexto del procedimiento y de la otra vía. No se nombra una enfermedad a partir de un punto.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Definir la diferencia aérea–ósea.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Lea primero; interprete después. Gráfico: Preguntas: valores a 1000 Hz, sentido del eje, dato faltante y conclusión prohibida. Identificar frecuencia, vía y valor precede a calcular una diferencia.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G1; PDF p. 224; INV.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Introducir relación, símbolos y unidad.</a:t>
            </a:r>
          </a:p>
          <a:p xmlns:a="http://schemas.openxmlformats.org/drawingml/2006/main">
            <a:r>
              <a:t>- **Explicación extendida:** La diferencia describe dos registros en dB HL; no nombra una enfermedad. Validar el nombre/símbolo definitivo antes de redacción.</a:t>
            </a:r>
          </a:p>
          <a:p xmlns:a="http://schemas.openxmlformats.org/drawingml/2006/main">
            <a:r>
              <a:t>- **Guía del visual/diagrama:** Revelar y explicar en el orden previsto: Ecuación, `L_VA`, `L_VO`, `f`, unidad dB y condiciones. Cerrar con esta idea: La diferencia describe dos registros en dB HL; no nombra una enfermedad. No repetir las cajas como párrafos.</a:t>
            </a:r>
          </a:p>
          <a:p xmlns:a="http://schemas.openxmlformats.org/drawingml/2006/main">
            <a:r>
              <a:t>- **Pregunta al grupo:** ¿Son compatibles las magnitudes y unidades antes de operar?</a:t>
            </a:r>
          </a:p>
          <a:p xmlns:a="http://schemas.openxmlformats.org/drawingml/2006/main">
            <a:r>
              <a:t>- **Respuesta esperada:** Sí solo si coinciden frecuencia, referencia y condiciones indicadas; después se interpreta el resultado con su límite.</a:t>
            </a:r>
          </a:p>
          <a:p xmlns:a="http://schemas.openxmlformats.org/drawingml/2006/main">
            <a:r>
              <a:t>- **Demostración o dinámica:** Señalar datos y unidades antes de operar; resolver un paso por vez y separar el resultado matemático de su interpretación física o clínica.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Resolver el ejemplo.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G_AO(f) resta umbrales compatibles a la misma frecuencia. Ecuación anotada: Ecuación, L_VA, L_VO, f, unidad dB y condiciones. La diferencia describe dos registros en dB HL; no nombra una enfermedad.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ec. 8.3; PDF p. 213; NOT; OD-U08-16.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Modelar sustitución y límite.</a:t>
            </a:r>
          </a:p>
          <a:p xmlns:a="http://schemas.openxmlformats.org/drawingml/2006/main">
            <a:r>
              <a:t>- **Explicación extendida:** `40 dB HL - 15 dB HL = 25 dB`; el resultado no autoriza un diagnóstico. Diferenciar resultado matemático de interpretación de batería.</a:t>
            </a:r>
          </a:p>
          <a:p xmlns:a="http://schemas.openxmlformats.org/drawingml/2006/main">
            <a:r>
              <a:t>- **Guía del visual/diagrama:** Revelar y explicar en el orden previsto: Datos → escala/frecuencia común → sustitución → resultado → límite. Cerrar con esta idea: `40 dB HL - 15 dB HL = 25 dB`; el resultado no autoriza un diagnóstico. No repetir las cajas como párrafos.</a:t>
            </a:r>
          </a:p>
          <a:p xmlns:a="http://schemas.openxmlformats.org/drawingml/2006/main">
            <a:r>
              <a:t>- **Pregunta al grupo:** ¿Son compatibles las magnitudes y unidades antes de operar?</a:t>
            </a:r>
          </a:p>
          <a:p xmlns:a="http://schemas.openxmlformats.org/drawingml/2006/main">
            <a:r>
              <a:t>- **Respuesta esperada:** Sí solo si coinciden frecuencia, referencia y condiciones indicadas; después se interpreta el resultado con su límite.</a:t>
            </a:r>
          </a:p>
          <a:p xmlns:a="http://schemas.openxmlformats.org/drawingml/2006/main">
            <a:r>
              <a:t>- **Demostración o dinámica:** Señalar datos y unidades antes de operar; resolver un paso por vez y separar el resultado matemático de su interpretación física o clínica.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Incorporar condiciones y limitaciones.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A 1000 Hz, la diferencia entre vías es 25 dB. Ecuación anotada: Datos → escala/frecuencia común → sustitución → resultado → límite. 40 dB HL - 15 dB HL = 25 dB; el resultado no autoriza un diagnóstico.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8.5.2; PDF p. 213; TEX G1/NG3.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Delimitar calidad y alcance.</a:t>
            </a:r>
          </a:p>
          <a:p xmlns:a="http://schemas.openxmlformats.org/drawingml/2006/main">
            <a:r>
              <a:t>- **Explicación extendida:** La fiabilidad no pertenece solo a la persona; es propiedad del procedimiento completo. Mencionar el enmascaramiento como necesidad de protocolo, sin enseñar la técnica completa.</a:t>
            </a:r>
          </a:p>
          <a:p xmlns:a="http://schemas.openxmlformats.org/drawingml/2006/main">
            <a:r>
              <a:t>- **Guía del visual/diagrama:** Revelar y explicar en el orden previsto: Calibración, ruido ambiente, colocación, consigna, respuesta y cruce entre oídos. Cerrar con esta idea: La fiabilidad no pertenece solo a la persona; es propiedad del procedimiento completo.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La fiabilidad no pertenece solo a la persona; es propiedad del procedimiento completo.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Consolidar lo que sí permite.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El audiograma depende de ambiente, transductor, consigna y enmascaramiento. Diagrama conceptual: Calibración, ruido ambiente, colocación, consigna, respuesta y cruce entre oídos. La fiabilidad no pertenece solo a la persona; es propiedad del procedimiento completo.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8.5.2; PDF pp. 212–213; REF ashaPureTone2005, iso8253₁_2010; U10 puente.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Consolidar escalas, vías y límites.</a:t>
            </a:r>
          </a:p>
          <a:p xmlns:a="http://schemas.openxmlformats.org/drawingml/2006/main">
            <a:r>
              <a:t>- **Explicación extendida:** Leer ejes, comparar niveles compatibles y declarar condiciones son tres operaciones distintas. Repetición pedagógica: reconstruir el procedimiento, no repetir la definición de umbral.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regla de este bloque usaría primero ante un dato nuevo?</a:t>
            </a:r>
          </a:p>
          <a:p xmlns:a="http://schemas.openxmlformats.org/drawingml/2006/main">
            <a:r>
              <a:t>- **Respuesta esperada:** Leer ejes, comparar niveles compatibles y declarar condiciones son tres operaciones distintas.</a:t>
            </a:r>
          </a:p>
          <a:p xmlns:a="http://schemas.openxmlformats.org/drawingml/2006/main">
            <a:r>
              <a:t>- **Demostración o dinámica:** Pedir una regla de decisión en una frase y conectarla con una situación de práctica fonoaudiológica.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Preguntar qué agrega el habla.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Hasta acá: el audiograma organiza umbrales, no diagnósticos. Esquema mixto: Tres pasos y una pregunta de control sobre una operación inválida. Leer ejes, comparar niveles compatibles y declarar condiciones son tres operaciones distintas.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8.5.2, 8.8; BR;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Formular la pregunta del bloque.</a:t>
            </a:r>
          </a:p>
          <a:p xmlns:a="http://schemas.openxmlformats.org/drawingml/2006/main">
            <a:r>
              <a:t>- **Explicación extendida:** Detectar un tono, reconocer habla y comparar tinnitus son tareas diferentes. Recuperar U7: el resultado depende de la tarea.</a:t>
            </a:r>
          </a:p>
          <a:p xmlns:a="http://schemas.openxmlformats.org/drawingml/2006/main">
            <a:r>
              <a:t>- **Guía del visual/diagrama:** Revelar y explicar en el orden previsto: Tres tareas conductuales con el mismo marco de seis preguntas. Cerrar con esta idea: Detectar un tono, reconocer habla y comparar tinnitus son tareas diferentes.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Detectar un tono, reconocer habla y comparar tinnitus son tareas diferentes.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Interpretar la correspondencia con un tono externo como medición de una fuente o intensidad sonora interna.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Construir la tarea verbal.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¿Qué agrega una tarea verbal o una comparación perceptual? Diagrama conceptual: Tres tareas conductuales con el mismo marco de seis preguntas. Detectar un tono, reconocer habla y comparar tinnitus son tareas diferentes.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8.5.3, 8.5.5; PDF pp. 213–217; PREV.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Reconstruir la cadena de la prueba.</a:t>
            </a:r>
          </a:p>
          <a:p xmlns:a="http://schemas.openxmlformats.org/drawingml/2006/main">
            <a:r>
              <a:t>- **Explicación extendida:** Material, idioma, modo, nivel, oído, consigna y puntuación condicionan el resultado. Si se propone audio, usar `MED U08-MEDIA-001` seguro y una transcripción visual equivalente.</a:t>
            </a:r>
          </a:p>
          <a:p xmlns:a="http://schemas.openxmlformats.org/drawingml/2006/main">
            <a:r>
              <a:t>- **Guía del visual/diagrama:** Revelar y explicar en el orden previsto: Estímulo verbal → presentación → persona/tarea → respuesta → porcentaje o umbral. Cerrar con esta idea: Material, idioma, modo, nivel, oído, consigna y puntuación condicionan el resultado.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Material, idioma, modo, nivel, oído, consigna y puntuación condicionan el resultado.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Leer una función desempeño–nivel.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La logoaudiometría evalúa respuestas a material verbal controlado. Diagrama conceptual: Estímulo verbal → presentación → persona/tarea → respuesta → porcentaje o umbral. Material, idioma, modo, nivel, oído, consigna y puntuación condicionan el resultado.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8.5.3; PDF pp. 213–214; REF ashaHearingAdults; INV.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Enseñar ejes y dependencia de protocolo.</a:t>
            </a:r>
          </a:p>
          <a:p xmlns:a="http://schemas.openxmlformats.org/drawingml/2006/main">
            <a:r>
              <a:t>- **Explicación extendida:** El eje horizontal necesita escala declarada; la forma no localiza una lesión. No fijar una curva universal ni leer valores absolutos si falta HL/SL/SPL.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muestran los ejes o variables, y qué conclusión no autoriza la figura?</a:t>
            </a:r>
          </a:p>
          <a:p xmlns:a="http://schemas.openxmlformats.org/drawingml/2006/main">
            <a:r>
              <a:t>- **Respuesta esperada:** El eje horizontal necesita escala declarada; la forma no localiza una lesión.</a:t>
            </a:r>
          </a:p>
          <a:p xmlns:a="http://schemas.openxmlformats.org/drawingml/2006/main">
            <a:r>
              <a:t>- **Demostración o dinámica:** Leer en este orden: ejes, unidades, escala, condición o muestra y tendencia. Recién después formular una conclusión y un límite.</a:t>
            </a:r>
          </a:p>
          <a:p xmlns:a="http://schemas.openxmlformats.org/drawingml/2006/main">
            <a:r>
              <a:t>- **Error frecuente a anticipar:** Comparar porcentajes sin declarar material, idioma, nivel, escala, oído, consigna y criterio.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Mostrar por qué un porcentaje aislado es insuficiente.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curva desempeño–nivel relaciona presentación y respuestas correctas. Gráfico: Nivel de presentación frente a porcentaje, puntos y curva conceptual. El eje horizontal necesita escala declarada; la forma no localiza una lesión.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8.2; PDF pp. 214–215; INV.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Enseñar metadatos mínimos.</a:t>
            </a:r>
          </a:p>
          <a:p xmlns:a="http://schemas.openxmlformats.org/drawingml/2006/main">
            <a:r>
              <a:t>- **Explicación extendida:** Material, idioma, modo, nivel, escala, oído y criterio acompañan el porcentaje. Evitar sugerir una lista o criterio universal; el ejemplo es de estructura.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información falta para corregir esta conclusión?</a:t>
            </a:r>
          </a:p>
          <a:p xmlns:a="http://schemas.openxmlformats.org/drawingml/2006/main">
            <a:r>
              <a:t>- **Respuesta esperada:** Informe incompleto y versión completada con campos resaltados.</a:t>
            </a:r>
          </a:p>
          <a:p xmlns:a="http://schemas.openxmlformats.org/drawingml/2006/main">
            <a:r>
              <a:t>- **Demostración o dinámica:** Mostrar primero la afirmación problemática, pedir que identifiquen el salto lógico y revelar después la corrección.</a:t>
            </a:r>
          </a:p>
          <a:p xmlns:a="http://schemas.openxmlformats.org/drawingml/2006/main">
            <a:r>
              <a:t>- **Error frecuente a anticipar:** Operar con valores en decibelios sin comprobar referencia, frecuencia, transductor y condición de medición.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Convertir el error en actividad.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“72 % correcto” no es un resultado completo. Esquema mixto: Informe incompleto y versión completada con campos resaltados. Material, idioma, modo, nivel, escala, oído y criterio acompañan el porcentaje.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A2; PDF p. 226; 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Practicar lectura crítica.</a:t>
            </a:r>
          </a:p>
          <a:p xmlns:a="http://schemas.openxmlformats.org/drawingml/2006/main">
            <a:r>
              <a:t>- **Explicación extendida:** El porcentaje pertenece a una prueba definida, no a la persona en abstracto. Pedir que distingan dato técnico, lingüístico y conductual.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Complete al menos cinco campos del informe verbal ficticio.</a:t>
            </a:r>
          </a:p>
          <a:p xmlns:a="http://schemas.openxmlformats.org/drawingml/2006/main">
            <a:r>
              <a:t>- **Respuesta esperada:** Material, idioma, modo de presentación, nivel y escala, oído, consigna y criterio de puntuación.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Comparar tono y habla.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¿Qué datos faltan para interpretar el porcentaje? Composición textual: Informe ficticio y consigna de completar al menos cinco campos. El porcentaje pertenece a una prueba definida, no a la persona en abstracto.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A2/respuesta; PDF pp. 226, 231;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Evitar equivalencia detección–comprensión.</a:t>
            </a:r>
          </a:p>
          <a:p xmlns:a="http://schemas.openxmlformats.org/drawingml/2006/main">
            <a:r>
              <a:t>- **Explicación extendida:** Detectar tonos y reconocer habla pueden controlarse entre sí, pero no miden lo mismo. Recuperar inteligibilidad U7 sin reenseñar SNR o reverberación.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¿Cuál es la diferencia que organiza esta comparación?</a:t>
            </a:r>
          </a:p>
          <a:p xmlns:a="http://schemas.openxmlformats.org/drawingml/2006/main">
            <a:r>
              <a:t>- **Respuesta esperada:** Detectar tonos y reconocer habla pueden controlarse entre sí, pero no miden lo mismo.</a:t>
            </a:r>
          </a:p>
          <a:p xmlns:a="http://schemas.openxmlformats.org/drawingml/2006/main">
            <a:r>
              <a:t>- **Demostración o dinámica:** Recorrer una misma fila o criterio entre columnas; evitar leer cada columna como una lista aislada.</a:t>
            </a:r>
          </a:p>
          <a:p xmlns:a="http://schemas.openxmlformats.org/drawingml/2006/main">
            <a:r>
              <a:t>- **Error frecuente a anticipar:** Comparar categorías con criterios distintos o convertir una diferencia descriptiva en una jerarquía clínica.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Introducir una comparación perceptual distinta.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Umbral tonal y desempeño verbal responden preguntas distintas. Esquema mixto: Dos columnas: estímulo, tarea, resultado, fortaleza y límite. Detectar tonos y reconocer habla pueden controlarse entre sí, pero no miden lo mismo.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8.5.2–8.5.3; PDF pp. 212–215; PREV U7.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Definir la prueba sin materializar el percepto.</a:t>
            </a:r>
          </a:p>
          <a:p xmlns:a="http://schemas.openxmlformats.org/drawingml/2006/main">
            <a:r>
              <a:t>- **Explicación extendida:** La persona elige correspondencias; el equipo no mide una fuente física interna. Desarrollar dB SL y frecuencia de correspondencia como propiedades del estímulo externo.</a:t>
            </a:r>
          </a:p>
          <a:p xmlns:a="http://schemas.openxmlformats.org/drawingml/2006/main">
            <a:r>
              <a:t>- **Guía del visual/diagrama:** Revelar y explicar en el orden previsto: Estímulos posibles, tarea, resultados y limitaciones. Cerrar con esta idea: La persona elige correspondencias; el equipo no mide una fuente física interna. No repetir las cajas como párrafos.</a:t>
            </a:r>
          </a:p>
          <a:p xmlns:a="http://schemas.openxmlformats.org/drawingml/2006/main">
            <a:r>
              <a:t>- **Pregunta al grupo:** ¿Qué condición debe acompañar esta definición para poder usarla?</a:t>
            </a:r>
          </a:p>
          <a:p xmlns:a="http://schemas.openxmlformats.org/drawingml/2006/main">
            <a:r>
              <a:t>- **Respuesta esperada:** Estímulos posibles, tarea, resultados y limitaciones.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Interpretar la correspondencia con un tono externo como medición de una fuente o intensidad sonora interna.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Separar frecuencia elegida de oscilación interna.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La acufenometría compara un tinnitus referido con sonidos externos. Diagrama conceptual: Estímulos posibles, tarea, resultados y limitaciones. La persona elige correspondencias; el equipo no mide una fuente física interna.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8.5.5; PDF pp. 216–217; REF ashaTinnitus;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Corregir una equivalencia frecuente.</a:t>
            </a:r>
          </a:p>
          <a:p xmlns:a="http://schemas.openxmlformats.org/drawingml/2006/main">
            <a:r>
              <a:t>- **Explicación extendida:** Hz describe el tono externo seleccionado; la relación con el percepto es un juicio. Recordar frecuencia/pitch de U7 y aclarar límites de la analogía tonal.</a:t>
            </a:r>
          </a:p>
          <a:p xmlns:a="http://schemas.openxmlformats.org/drawingml/2006/main">
            <a:r>
              <a:t>- **Guía del visual/diagrama:** Revelar y explicar en el orden previsto: Estímulo externo físico frente a experiencia perceptual. Cerrar con esta idea: Hz describe el tono externo seleccionado; la relación con el percepto es un juicio. No repetir las cajas como párrafos.</a:t>
            </a:r>
          </a:p>
          <a:p xmlns:a="http://schemas.openxmlformats.org/drawingml/2006/main">
            <a:r>
              <a:t>- **Pregunta al grupo:** ¿Cuál es la diferencia que organiza esta comparación?</a:t>
            </a:r>
          </a:p>
          <a:p xmlns:a="http://schemas.openxmlformats.org/drawingml/2006/main">
            <a:r>
              <a:t>- **Respuesta esperada:** Hz describe el tono externo seleccionado; la relación con el percepto es un juicio.</a:t>
            </a:r>
          </a:p>
          <a:p xmlns:a="http://schemas.openxmlformats.org/drawingml/2006/main">
            <a:r>
              <a:t>- **Demostración o dinámica:** Recorrer una misma fila o criterio entre columnas; evitar leer cada columna como una lista aislada.</a:t>
            </a:r>
          </a:p>
          <a:p xmlns:a="http://schemas.openxmlformats.org/drawingml/2006/main">
            <a:r>
              <a:t>- **Error frecuente a anticipar:** Interpretar la correspondencia con un tono externo como medición de una fuente o intensidad sonora interna.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Añadir nivel de correspondencia y variabilidad.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La frecuencia de correspondencia no es la “frecuencia física del tinnitus”. Diagrama conceptual: Estímulo externo físico frente a experiencia perceptual. Hz describe el tono externo seleccionado; la relación con el percepto es un juicio.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8.4.4, 8.5.5, 8.8; PDF pp. 211, 216, 222; PREV;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Aplicar la tercera escala y delimitar variabilidad.</a:t>
            </a:r>
          </a:p>
          <a:p xmlns:a="http://schemas.openxmlformats.org/drawingml/2006/main">
            <a:r>
              <a:t>- **Explicación extendida:** El nivel de correspondencia no es intensidad interna ni cuantifica impacto funcional. No realizar acufenometría de aula; cualquier audio debe ser supraliminal y no diagnóstico.</a:t>
            </a:r>
          </a:p>
          <a:p xmlns:a="http://schemas.openxmlformats.org/drawingml/2006/main">
            <a:r>
              <a:t>- **Guía del visual/diagrama:** Señalar presentación, umbral individual y diferencia en dB SL; separar la magnitud externa de una supuesta intensidad interna.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El nivel de correspondencia no es intensidad interna ni cuantifica impacto funcional.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Operar con valores en decibelios sin comprobar referencia, frecuencia, transductor y condición de medición.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**Condición de producción:** Ecuación y límite revisados contra TEX 8.4.4 y 8.5.5; no presentar dB SL como medida de una fuente interna.</a:t>
            </a:r>
          </a:p>
          <a:p xmlns:a="http://schemas.openxmlformats.org/drawingml/2006/main">
            <a:r>
              <a:t>- **Transición:** Comparar tres estudios conductuales.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dB SL expresa nivel respecto de un umbral definido. Ecuación anotada: Umbral individual, tono de comparación, diferencia en dB SL y variabilidad entre sesiones. El nivel de correspondencia no es intensidad interna ni cuantifica impacto funcional.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8.4.4, 8.5.5; PDF pp. 211, 216–217; NOT; OD-U08-21/32.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Consolidar audiometría, logoaudiometría y acufenometría.</a:t>
            </a:r>
          </a:p>
          <a:p xmlns:a="http://schemas.openxmlformats.org/drawingml/2006/main">
            <a:r>
              <a:t>- **Explicación extendida:** Tono, habla y correspondencia perceptual comparten participación, pero no estímulo, resultado ni alcance. Repetición pedagógica por comparación transversal, no por repetir cada definición.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regla de este bloque usaría primero ante un dato nuevo?</a:t>
            </a:r>
          </a:p>
          <a:p xmlns:a="http://schemas.openxmlformats.org/drawingml/2006/main">
            <a:r>
              <a:t>- **Respuesta esperada:** Tono, habla y correspondencia perceptual comparten participación, pero no estímulo, resultado ni alcance.</a:t>
            </a:r>
          </a:p>
          <a:p xmlns:a="http://schemas.openxmlformats.org/drawingml/2006/main">
            <a:r>
              <a:t>- **Demostración o dinámica:** Pedir una regla de decisión en una frase y conectarla con una situación de práctica fonoaudiológica.</a:t>
            </a:r>
          </a:p>
          <a:p xmlns:a="http://schemas.openxmlformats.org/drawingml/2006/main">
            <a:r>
              <a:t>- **Error frecuente a anticipar:** Operar con valores en decibelios sin comprobar referencia, frecuencia, transductor y condición de medición.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Pasar a una prueba sin respuesta voluntaria.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Tres tareas conductuales producen tres clases de resultado. Composición textual: Tabla de tres filas con estímulo, tarea, resultado, escala y límite. Tono, habla y correspondencia perceptual comparten participación, pero no estímulo, resultado ni alcance.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8.5.2–8.5.5; BR; INV;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Formular la pregunta del bloque.</a:t>
            </a:r>
          </a:p>
          <a:p xmlns:a="http://schemas.openxmlformats.org/drawingml/2006/main">
            <a:r>
              <a:t>- **Explicación extendida:** Un timpanograma describe transferencia mecanoacústica; no es un audiograma. Preguntar qué magnitud creen que ocupa cada eje.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Un timpanograma describe transferencia mecanoacústica; no es un audiograma.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Presentar el estímulo y el barrido.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¿Qué mide un barrido de presión y qué no mide? Esquema mixto: Pregunta guía, sonda y curva vacía. Un timpanograma describe transferencia mecanoacústica; no es un audiograma.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8.5.4; PDF pp. 215–216.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Reconstruir el procedimiento físico.</a:t>
            </a:r>
          </a:p>
          <a:p xmlns:a="http://schemas.openxmlformats.org/drawingml/2006/main">
            <a:r>
              <a:t>- **Explicación extendida:** La curva surge de medir una magnitud de inmitancia bajo diferentes presiones. Diferenciar presión estática del barrido y presión acústica del tono.</a:t>
            </a:r>
          </a:p>
          <a:p xmlns:a="http://schemas.openxmlformats.org/drawingml/2006/main">
            <a:r>
              <a:t>- **Guía del visual/diagrama:** Revelar y explicar en el orden previsto: Sonda, sellado, tono, bomba/control de presión, micrófono y dato. Cerrar con esta idea: La curva surge de medir una magnitud de inmitancia bajo diferentes presiones.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La curva surge de medir una magnitud de inmitancia bajo diferentes presiones.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Usar la forma de una curva como sinónimo exclusivo de patología o como medida directa de cuánto oye la persona.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Definir la magnitud del eje vertical.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La sonda presenta un tono mientras cambia la presión del conducto. Esquema mixto: Sonda, sellado, tono, bomba/control de presión, micrófono y dato. La curva surge de medir una magnitud de inmitancia bajo diferentes presiones.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8.5.4; PDF p. 215; REF ashaHearingAdults; U6.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Preparar la lectura sin fijar una unidad universal.</a:t>
            </a:r>
          </a:p>
          <a:p xmlns:a="http://schemas.openxmlformats.org/drawingml/2006/main">
            <a:r>
              <a:t>- **Explicación extendida:** El equipo debe declarar qué magnitud y unidad muestra; `Y/Y_max` es una normalización conceptual. Evitar enseñar la curva normalizada del libro como salida clínica estándar.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condición debe acompañar esta definición para poder usarla?</a:t>
            </a:r>
          </a:p>
          <a:p xmlns:a="http://schemas.openxmlformats.org/drawingml/2006/main">
            <a:r>
              <a:t>- **Respuesta esperada:** Término, símbolo posible, presión en daPa y advertencia de equipo/protocolo.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Usar la forma de una curva como sinónimo exclusivo de patología o como medida directa de cuánto oye la persona.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Mostrar cómo se construye la curva.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Inmitancia es la categoría; admitancia es una magnitud habitual. Composición textual: Término, símbolo posible, presión en daPa y advertencia de equipo/protocolo. El equipo debe declarar qué magnitud y unidad muestra; Y/Y_max es una normalización conceptual.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8.5.4; PDF p. 215; SA;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Hacer visible el proceso oculto por la curva final.</a:t>
            </a:r>
          </a:p>
          <a:p xmlns:a="http://schemas.openxmlformats.org/drawingml/2006/main">
            <a:r>
              <a:t>- **Explicación extendida:** Cada presión aporta una medición; la morfología resume el conjunto. La alternativa estática debe permitir reconstruir el proceso completo.</a:t>
            </a:r>
          </a:p>
          <a:p xmlns:a="http://schemas.openxmlformats.org/drawingml/2006/main">
            <a:r>
              <a:t>- **Guía del visual/diagrama:** Revelar y explicar en el orden previsto: Animación presión → medición → punto → curva, con alternativa de cuatro cuadros. Cerrar con esta idea: Cada presión aporta una medición; la morfología resume el conjunto.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Cada presión aporta una medición; la morfología resume el conjunto.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Usar la forma de una curva como sinónimo exclusivo de patología o como medida directa de cuánto oye la persona.</a:t>
            </a:r>
          </a:p>
          <a:p xmlns:a="http://schemas.openxmlformats.org/drawingml/2006/main">
            <a:r>
              <a:t>- **Multimedia:** Recurso opcional: reproducir solo si está disponible y verificado. Presentar antes la consigna de observación y ofrecer la alternativa estática; no usarlo como prueba diagnóstica.</a:t>
            </a:r>
          </a:p>
          <a:p xmlns:a="http://schemas.openxmlformats.org/drawingml/2006/main">
            <a:r>
              <a:t>- **Transición:** Comparar morfologías.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El timpanograma se construye punto por punto durante el barrido. Secuencia audiovisual con alternativa estática: Animación presión → medición → punto → curva, con alternativa de cuatro cuadros. Cada presión aporta una medición; la morfología resume el conjunto.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8.5.4; PDF pp. 215–216;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Enseñar lectura visual prudente.</a:t>
            </a:r>
          </a:p>
          <a:p xmlns:a="http://schemas.openxmlformats.org/drawingml/2006/main">
            <a:r>
              <a:t>- **Explicación extendida:** Pico centrado, trazado plano y pico desplazado son descripciones dependientes del protocolo. Evitar rotular A/B/C en el primer encuentro con la figura.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muestran los ejes o variables, y qué conclusión no autoriza la figura?</a:t>
            </a:r>
          </a:p>
          <a:p xmlns:a="http://schemas.openxmlformats.org/drawingml/2006/main">
            <a:r>
              <a:t>- **Respuesta esperada:** Pico centrado, trazado plano y pico desplazado son descripciones dependientes del protocolo.</a:t>
            </a:r>
          </a:p>
          <a:p xmlns:a="http://schemas.openxmlformats.org/drawingml/2006/main">
            <a:r>
              <a:t>- **Demostración o dinámica:** Leer en este orden: ejes, unidades, escala, condición o muestra y tendencia. Recién después formular una conclusión y un límite.</a:t>
            </a:r>
          </a:p>
          <a:p xmlns:a="http://schemas.openxmlformats.org/drawingml/2006/main">
            <a:r>
              <a:t>- **Error frecuente a anticipar:** Usar la forma de una curva como sinónimo exclusivo de patología o como medida directa de cuánto oye la persona.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Pedir identificar forma y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Tres morfologías describen curvas, no enfermedades. Gráfico: Tres paneles con presión, admitancia normalizada y rótulo de alcance. Pico centrado, trazado plano y pico desplazado son descripciones dependientes del protocolo.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8.3; PDF p. 216; INV.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Practicar lenguaje de resultado.</a:t>
            </a:r>
          </a:p>
          <a:p xmlns:a="http://schemas.openxmlformats.org/drawingml/2006/main">
            <a:r>
              <a:t>- **Explicación extendida:** La interpretación inicial identifica pico/planitud/desplazamiento y revisa condiciones antes de inferir. Pedir dos condiciones técnicas que deben verificarse.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Describa eje, unidad, presencia/posición de pico y condición que revisaría.</a:t>
            </a:r>
          </a:p>
          <a:p xmlns:a="http://schemas.openxmlformats.org/drawingml/2006/main">
            <a:r>
              <a:t>- **Respuesta esperada:** Se describe la forma y el protocolo; no se asigna una patología ni se estima cuánto oye la persona.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Hacer explícitas las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Describa la forma sin nombrar una patología. Gráfico: Preguntas sobre ejes, Y/Y_max, presión, forma y conclusión no permitida. La interpretación inicial identifica pico/planitud/desplazamiento y revisa condiciones antes de inferir.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G3, A3; PDF pp. 224, 226;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Corregir forma = diagnóstico/umbral.</a:t>
            </a:r>
          </a:p>
          <a:p xmlns:a="http://schemas.openxmlformats.org/drawingml/2006/main">
            <a:r>
              <a:t>- **Explicación extendida:** Sellado, sonda, movimiento y volumen estimado del conducto forman parte de la interpretación. No enumerar diagnósticos diferenciales; mantener el foco en medición.</a:t>
            </a:r>
          </a:p>
          <a:p xmlns:a="http://schemas.openxmlformats.org/drawingml/2006/main">
            <a:r>
              <a:t>- **Guía del visual/diagrama:** Revelar y explicar en el orden previsto: Error, corrección y lista breve de verificaciones. Cerrar con esta idea: Sellado, sonda, movimiento y volumen estimado del conducto forman parte de la interpretación. No repetir las cajas como párrafos.</a:t>
            </a:r>
          </a:p>
          <a:p xmlns:a="http://schemas.openxmlformats.org/drawingml/2006/main">
            <a:r>
              <a:t>- **Pregunta al grupo:** ¿Qué información falta para corregir esta conclusión?</a:t>
            </a:r>
          </a:p>
          <a:p xmlns:a="http://schemas.openxmlformats.org/drawingml/2006/main">
            <a:r>
              <a:t>- **Respuesta esperada:** Error, corrección y lista breve de verificaciones.</a:t>
            </a:r>
          </a:p>
          <a:p xmlns:a="http://schemas.openxmlformats.org/drawingml/2006/main">
            <a:r>
              <a:t>- **Demostración o dinámica:** Mostrar primero la afirmación problemática, pedir que identifiquen el salto lógico y revelar después la corrección.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Consolidar y pasar a sensores fisiológicos.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 trazado plano no mide cuánto oye la persona. Diagrama conceptual: Error, corrección y lista breve de verificaciones. Sellado, sonda, movimiento y volumen estimado del conducto forman parte de la interpretación.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8.5.4, 8.8, A3; PDF pp. 215, 222, 226.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Consolidar estímulo, magnitud y límite.</a:t>
            </a:r>
          </a:p>
          <a:p xmlns:a="http://schemas.openxmlformats.org/drawingml/2006/main">
            <a:r>
              <a:t>- **Explicación extendida:** Tono y presión son entradas; inmitancia es el dato; audición y patología requieren otras pruebas. Repetición pedagógica: reconstruir la cadena desde la curva hacia el procedimiento.</a:t>
            </a:r>
          </a:p>
          <a:p xmlns:a="http://schemas.openxmlformats.org/drawingml/2006/main">
            <a:r>
              <a:t>- **Guía del visual/diagrama:** Revelar y explicar en el orden previsto: Cadena de cuatro pasos y una pregunta de control. Cerrar con esta idea: Tono y presión son entradas; inmitancia es el dato; audición y patología requieren otras pruebas. No repetir las cajas como párrafos.</a:t>
            </a:r>
          </a:p>
          <a:p xmlns:a="http://schemas.openxmlformats.org/drawingml/2006/main">
            <a:r>
              <a:t>- **Pregunta al grupo:** ¿Qué regla de este bloque usaría primero ante un dato nuevo?</a:t>
            </a:r>
          </a:p>
          <a:p xmlns:a="http://schemas.openxmlformats.org/drawingml/2006/main">
            <a:r>
              <a:t>- **Respuesta esperada:** Tono y presión son entradas; inmitancia es el dato; audición y patología requieren otras pruebas.</a:t>
            </a:r>
          </a:p>
          <a:p xmlns:a="http://schemas.openxmlformats.org/drawingml/2006/main">
            <a:r>
              <a:t>- **Demostración o dinámica:** Pedir una regla de decisión en una frase y conectarla con una situación de práctica fonoaudiológica.</a:t>
            </a:r>
          </a:p>
          <a:p xmlns:a="http://schemas.openxmlformats.org/drawingml/2006/main">
            <a:r>
              <a:t>- **Error frecuente a anticipar:** Usar la forma de una curva como sinónimo exclusivo de patología o como medida directa de cuánto oye la persona.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Preguntar qué registra una sonda o un electrodo sin respuesta voluntaria.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Hasta acá: la curva resume transferencia bajo un barrido controlado. Diagrama conceptual: Cadena de cuatro pasos y una pregunta de control. Tono y presión son entradas; inmitancia es el dato; audición y patología requieren otras pruebas.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8.5.4; BR;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Formular la comparación fisiológica.</a:t>
            </a:r>
          </a:p>
          <a:p xmlns:a="http://schemas.openxmlformats.org/drawingml/2006/main">
            <a:r>
              <a:t>- **Explicación extendida:** OEA, PEAT y electrococleografía comparten estímulos acústicos generales, pero no generador, sensor ni magnitud. Evitar llamar a las tres “pruebas objetivas” sin especificar qué registran.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OEA, PEAT y electrococleografía comparten estímulos acústicos generales, pero no generador, sensor ni magnitud.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Leer ‘presente’, ‘ausente’ o ‘derivar’ como diagnóstico, sin revisar ruido, sonda, transmisión y protocolo.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Seguir la cadena de OEA.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¿Qué señal registra cada sensor? Esquema mixto: Pregunta guía y tres salidas: acústica, bioeléctrica superficial y coclear/neural distal. OEA, PEAT y electrococleografía comparten estímulos acústicos generales, pero no generador, sensor ni magnitud.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8.5.6–8.5.8; PDF pp. 216–219.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Reconstruir ida, generador y retorno.</a:t>
            </a:r>
          </a:p>
          <a:p xmlns:a="http://schemas.openxmlformats.org/drawingml/2006/main">
            <a:r>
              <a:t>- **Explicación extendida:** El registro se asocia principalmente con CCE y depende también de oído externo y medio. Marcar con flechas distintas trayecto de ida y retorno, sin cruzar texto.</a:t>
            </a:r>
          </a:p>
          <a:p xmlns:a="http://schemas.openxmlformats.org/drawingml/2006/main">
            <a:r>
              <a:t>- **Guía del visual/diagrama:** Revelar y explicar en el orden previsto: Estímulo → oído externo/medio → cóclea/CCE → retorno → micrófono. Cerrar con esta idea: El registro se asocia principalmente con CCE y depende también de oído externo y medio.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El registro se asocia principalmente con CCE y depende también de oído externo y medio.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Leer ‘presente’, ‘ausente’ o ‘derivar’ como diagnóstico, sin revisar ruido, sonda, transmisión y protocolo.</a:t>
            </a:r>
          </a:p>
          <a:p xmlns:a="http://schemas.openxmlformats.org/drawingml/2006/main">
            <a:r>
              <a:t>- **Multimedia:** Recurso opcional: reproducir solo si está disponible y verificado. Presentar antes la consigna de observación y ofrecer la alternativa estática; no usarlo como prueba diagnóstica.</a:t>
            </a:r>
          </a:p>
          <a:p xmlns:a="http://schemas.openxmlformats.org/drawingml/2006/main">
            <a:r>
              <a:t>- **Transición:** Nombrar magnitudes y 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En OEA, la sonda presenta sonido y registra presión de retorno. Esquema mixto: Estímulo → oído externo/medio → cóclea/CCE → retorno → micrófono. El registro se asocia principalmente con CCE y depende también de oído externo y medio.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8.5.6; PDF pp. 216–217, 219; REF ashaHearingAdults; U6.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Relacionar sensor, unidad y resultado.</a:t>
            </a:r>
          </a:p>
          <a:p xmlns:a="http://schemas.openxmlformats.org/drawingml/2006/main">
            <a:r>
              <a:t>- **Explicación extendida:** “Presente”, “ausente” o “derivar” depende de señal, ruido, sonda y transmisión. No fijar umbrales de pasa/derivar ni valores de SNR sin protocolo.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“Presente”, “ausente” o “derivar” depende de señal, ruido, sonda y transmisión.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Leer ‘presente’, ‘ausente’ o ‘derivar’ como diagnóstico, sin revisar ruido, sonda, transmisión y protocolo.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Corregir la inferencia “presente = normal”.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OEA registra Pa, dB SPL y SNR bajo criterios del protocolo. Gráfico: Presión acústica, nivel, ruido, SNR, banda y salida operativa. “Presente”, “ausente” o “derivar” depende de señal, ruido, sonda y transmisión.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8.5.6; PDF p. 217; NOT; REF ashaHearingAdults.</a:t>
            </a:r>
          </a:p>
          <a:p xmlns:a="http://schemas.openxmlformats.org/drawingml/2006/main">
            <a:r>
              <a:t>- Asset propio aprobado: U08-CH-010.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Delimitar qué parte de la cadena informa.</a:t>
            </a:r>
          </a:p>
          <a:p xmlns:a="http://schemas.openxmlformats.org/drawingml/2006/main">
            <a:r>
              <a:t>- **Explicación extendida:** OEA no evalúa por sí sola respuesta neural, percepción, lenguaje ni todas las frecuencias. Incluir también que una OEA ausente no localiza por sí sola una lesión.</a:t>
            </a:r>
          </a:p>
          <a:p xmlns:a="http://schemas.openxmlformats.org/drawingml/2006/main">
            <a:r>
              <a:t>- **Guía del visual/diagrama:** Revelar y explicar en el orden previsto: Error, corrección y cuatro preguntas que permanecen abiertas. Cerrar con esta idea: OEA no evalúa por sí sola respuesta neural, percepción, lenguaje ni todas las frecuencias. No repetir las cajas como párrafos.</a:t>
            </a:r>
          </a:p>
          <a:p xmlns:a="http://schemas.openxmlformats.org/drawingml/2006/main">
            <a:r>
              <a:t>- **Pregunta al grupo:** ¿Qué información falta para corregir esta conclusión?</a:t>
            </a:r>
          </a:p>
          <a:p xmlns:a="http://schemas.openxmlformats.org/drawingml/2006/main">
            <a:r>
              <a:t>- **Respuesta esperada:** Error, corrección y cuatro preguntas que permanecen abiertas.</a:t>
            </a:r>
          </a:p>
          <a:p xmlns:a="http://schemas.openxmlformats.org/drawingml/2006/main">
            <a:r>
              <a:t>- **Demostración o dinámica:** Mostrar primero la afirmación problemática, pedir que identifiquen el salto lógico y revelar después la corrección.</a:t>
            </a:r>
          </a:p>
          <a:p xmlns:a="http://schemas.openxmlformats.org/drawingml/2006/main">
            <a:r>
              <a:t>- **Error frecuente a anticipar:** Leer ‘presente’, ‘ausente’ o ‘derivar’ como diagnóstico, sin revisar ruido, sonda, transmisión y protocolo.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Seguir una respuesta bioeléctrica.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OEA presente no demuestra audición normal. Diagrama conceptual: Error, corrección y cuatro preguntas que permanecen abiertas. OEA no evalúa por sí sola respuesta neural, percepción, lenguaje ni todas las frecuencias.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8.5.6, 8.8; PDF pp. 217, 222.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Reconstruir estímulo, generador y sensor.</a:t>
            </a:r>
          </a:p>
          <a:p xmlns:a="http://schemas.openxmlformats.org/drawingml/2006/main">
            <a:r>
              <a:t>- **Explicación extendida:** La señal es acústica hasta la transducción; el registro es una diferencia de potencial en función del tiempo. Diferenciar potencial registrado de presión acústica y de respuesta voluntaria.</a:t>
            </a:r>
          </a:p>
          <a:p xmlns:a="http://schemas.openxmlformats.org/drawingml/2006/main">
            <a:r>
              <a:t>- **Guía del visual/diagrama:** Revelar y explicar en el orden previsto: Estímulo → transductor → vía auditiva → electrodos → `V(t)` en µV y ms. Cerrar con esta idea: La señal es acústica hasta la transducción; el registro es una diferencia de potencial en función del tiempo.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La señal es acústica hasta la transducción; el registro es una diferencia de potencial en función del tiempo.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Equiparar una respuesta eléctrica registrada con audición normal, comprensión o localización diagnóstica automática.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Leer una forma de onda con cautela.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En PEAT, electrodos registran una respuesta neural sincronizada. Esquema mixto: Estímulo → transductor → vía auditiva → electrodos → V(t) en µV y ms. La señal es acústica hasta la transducción; el registro es una diferencia de potencial en función del tiempo.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8.5.7; PDF pp. 217–219; REF skinnerGlattke1977, ashaHearingAdults.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Introducir la representación sin criterios clínicos universales.</a:t>
            </a:r>
          </a:p>
          <a:p xmlns:a="http://schemas.openxmlformats.org/drawingml/2006/main">
            <a:r>
              <a:t>- **Explicación extendida:** Componentes, latencias y amplitudes dependen de estímulo, nivel, tasa, estado y promedio. No enseñar latencias normales ni localizar lesiones en esta slide.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muestran los ejes o variables, y qué conclusión no autoriza la figura?</a:t>
            </a:r>
          </a:p>
          <a:p xmlns:a="http://schemas.openxmlformats.org/drawingml/2006/main">
            <a:r>
              <a:t>- **Respuesta esperada:** Componentes, latencias y amplitudes dependen de estímulo, nivel, tasa, estado y promedio.</a:t>
            </a:r>
          </a:p>
          <a:p xmlns:a="http://schemas.openxmlformats.org/drawingml/2006/main">
            <a:r>
              <a:t>- **Demostración o dinámica:** Leer en este orden: ejes, unidades, escala, condición o muestra y tendencia. Recién después formular una conclusión y un límite.</a:t>
            </a:r>
          </a:p>
          <a:p xmlns:a="http://schemas.openxmlformats.org/drawingml/2006/main">
            <a:r>
              <a:t>- **Error frecuente a anticipar:** Equiparar una respuesta eléctrica registrada con audición normal, comprensión o localización diagnóstica automática.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Delimitar qué no mide.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forma de onda PEAT organiza amplitud y latencia. Gráfico: Forma de onda conceptual V(t); eje µV, eje ms y componentes sin valores normativos. Componentes, latencias y amplitudes dependen de estímulo, nivel, tasa, estado y promedio.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8.5.7; PDF pp. 217–218; SA; OD-U08-23.</a:t>
            </a:r>
          </a:p>
          <a:p xmlns:a="http://schemas.openxmlformats.org/drawingml/2006/main">
            <a:r>
              <a:t>- Asset propio aprobado: U08-CH-008.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Separar registro neural y desempeño comunicativo.</a:t>
            </a:r>
          </a:p>
          <a:p xmlns:a="http://schemas.openxmlformats.org/drawingml/2006/main">
            <a:r>
              <a:t>- **Explicación extendida:** Una respuesta bioeléctrica y una tarea verbal pertenecen a niveles diferentes de la cadena. Aclarar que una estimación electrofisiológica tampoco es idéntica a un umbral conductual.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información falta para corregir esta conclusión?</a:t>
            </a:r>
          </a:p>
          <a:p xmlns:a="http://schemas.openxmlformats.org/drawingml/2006/main">
            <a:r>
              <a:t>- **Respuesta esperada:** PEAT frente a logoaudiometría: señal, respuesta y conclusión.</a:t>
            </a:r>
          </a:p>
          <a:p xmlns:a="http://schemas.openxmlformats.org/drawingml/2006/main">
            <a:r>
              <a:t>- **Demostración o dinámica:** Mostrar primero la afirmación problemática, pedir que identifiquen el salto lógico y revelar después la corrección.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Introducir un registro más próximo a cóclea/nervio distal.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 potencial evocado no mide comprensión del habla. Esquema mixto: PEAT frente a logoaudiometría: señal, respuesta y conclusión. Una respuesta bioeléctrica y una tarea verbal pertenecen a niveles diferentes de la cadena.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8.5.7, 8.8; PDF pp. 218, 222.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Ubicar la tercera cadena fisiológica.</a:t>
            </a:r>
          </a:p>
          <a:p xmlns:a="http://schemas.openxmlformats.org/drawingml/2006/main">
            <a:r>
              <a:t>- **Explicación extendida:** Electrodo, invasividad, amplitud y componentes dependen del montaje y del protocolo. No detallar técnica invasiva ni criterios diagnósticos; mostrar solo la pregunta funcional.</a:t>
            </a:r>
          </a:p>
          <a:p xmlns:a="http://schemas.openxmlformats.org/drawingml/2006/main">
            <a:r>
              <a:t>- **Guía del visual/diagrama:** Revelar y explicar en el orden previsto: Estímulo → cóclea/nervio distal → electrodo extra/transtimpánico → potenciales. Cerrar con esta idea: Electrodo, invasividad, amplitud y componentes dependen del montaje y del protocolo.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Electrodo, invasividad, amplitud y componentes dependen del montaje y del protocolo.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Equiparar una respuesta eléctrica registrada con audición normal, comprensión o localización diagnóstica automática.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Nombrar componentes como ampliación.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La electrococleografía registra potenciales cocleares y neurales distales. Diagrama conceptual: Estímulo → cóclea/nervio distal → electrodo extra/transtimpánico → potenciales. Electrodo, invasividad, amplitud y componentes dependen del montaje y del protocolo.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8.5.8; PDF p. 218; REF simpson2020.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Dar vocabulario mínimo para leer una ECoG.</a:t>
            </a:r>
          </a:p>
          <a:p xmlns:a="http://schemas.openxmlformats.org/drawingml/2006/main">
            <a:r>
              <a:t>- **Explicación extendida:** Los componentes tienen generadores y comportamientos distintos; sus relaciones dependen del protocolo. Mantenerlo en ampliación; no presentar criterios o razones diagnósticas universales.</a:t>
            </a:r>
          </a:p>
          <a:p xmlns:a="http://schemas.openxmlformats.org/drawingml/2006/main">
            <a:r>
              <a:t>- **Guía del visual/diagrama:** Revelar y explicar en el orden previsto: CM, SP y AP desarrollados, ubicación general y unidad común. Cerrar con esta idea: Los componentes tienen generadores y comportamientos distintos; sus relaciones dependen del protocolo.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Los componentes tienen generadores y comportamientos distintos; sus relaciones dependen del protocolo.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Comparar las tres pruebas.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Microfónico, sumación y acción compuesto no son el mismo componente. Diagrama conceptual: CM, SP y AP desarrollados, ubicación general y unidad común. Los componentes tienen generadores y comportamientos distintos; sus relaciones dependen del protocolo.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8.5.8; PDF p. 218; REF simpson2020.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Integrar estudios fisiológicos con criterios comunes.</a:t>
            </a:r>
          </a:p>
          <a:p xmlns:a="http://schemas.openxmlformats.org/drawingml/2006/main">
            <a:r>
              <a:t>- **Explicación extendida:** Compartir una entrada acústica no vuelve equivalentes sus resultados. Dividir en dos slides durante producción si la tipografía baja de 20–22 pt.</a:t>
            </a:r>
          </a:p>
          <a:p xmlns:a="http://schemas.openxmlformats.org/drawingml/2006/main">
            <a:r>
              <a:t>- **Guía del visual/diagrama:** Revelar y explicar en el orden previsto: Tabla: estímulo, generador, sensor, magnitud, respuesta voluntaria y límite. Cerrar con esta idea: Compartir una entrada acústica no vuelve equivalentes sus resultados. No repetir las cajas como párrafos.</a:t>
            </a:r>
          </a:p>
          <a:p xmlns:a="http://schemas.openxmlformats.org/drawingml/2006/main">
            <a:r>
              <a:t>- **Pregunta al grupo:** ¿Cuál es la diferencia que organiza esta comparación?</a:t>
            </a:r>
          </a:p>
          <a:p xmlns:a="http://schemas.openxmlformats.org/drawingml/2006/main">
            <a:r>
              <a:t>- **Respuesta esperada:** Compartir una entrada acústica no vuelve equivalentes sus resultados.</a:t>
            </a:r>
          </a:p>
          <a:p xmlns:a="http://schemas.openxmlformats.org/drawingml/2006/main">
            <a:r>
              <a:t>- **Demostración o dinámica:** Recorrer una misma fila o criterio entre columnas; evitar leer cada columna como una lista aislada.</a:t>
            </a:r>
          </a:p>
          <a:p xmlns:a="http://schemas.openxmlformats.org/drawingml/2006/main">
            <a:r>
              <a:t>- **Error frecuente a anticipar:** Leer ‘presente’, ‘ausente’ o ‘derivar’ como diagnóstico, sin revisar ruido, sonda, transmisión y protocolo.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Probar complementariedad con un caso.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OEA, PEAT y ECoG registran magnitudes y generadores diferentes. Diagrama conceptual: Tabla: estímulo, generador, sensor, magnitud, respuesta voluntaria y límite. Compartir una entrada acústica no vuelve equivalentes sus resultados.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8.5.6–8.5.8; PDF pp. 216–219; fig. 8.4; INV.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Comprobar razonamiento de cadena.</a:t>
            </a:r>
          </a:p>
          <a:p xmlns:a="http://schemas.openxmlformats.org/drawingml/2006/main">
            <a:r>
              <a:t>- **Explicación extendida:** Para decidir coherencia hay que preguntar qué generador, sensor y parte del trayecto intervienen. Aceptar varias explicaciones compatibles; no pedir una etiología única.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OEA ausente y PEAT presente: proponga dos preguntas antes de hablar de contradicción.</a:t>
            </a:r>
          </a:p>
          <a:p xmlns:a="http://schemas.openxmlformats.org/drawingml/2006/main">
            <a:r>
              <a:t>- **Respuesta esperada:** Revisar transmisión por oído externo/medio, colocación y ruido de la sonda; recordar que OEA y PEAT tienen generadores y sensores diferentes.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Leer ‘presente’, ‘ausente’ o ‘derivar’ como diagnóstico, sin revisar ruido, sonda, transmisión y protocolo.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Pasar de medición a transformación de señal.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Dos resultados distintos no son necesariamente contradictorios. Diagrama conceptual: Caso OEA ausente/PEAT presente y preguntas sobre transmisión, ruido y generador. Para decidir coherencia hay que preguntar qué generador, sensor y parte del trayecto intervienen.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C5; PDF pp. 223, 228;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Formular la comparación tecnológica.</a:t>
            </a:r>
          </a:p>
          <a:p xmlns:a="http://schemas.openxmlformats.org/drawingml/2006/main">
            <a:r>
              <a:t>- **Explicación extendida:** Un dispositivo transforma una señal; no borra la alteración ni garantiza comprensión. No comenzar por “para quién sirve”; comenzar por qué transforma.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Un dispositivo transforma una señal; no borra la alteración ni garantiza comprensión.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Instalar una cadena común de dispositivos.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¿Cómo cambia la naturaleza física de la señal en cada dispositivo? Esquema mixto: Pregunta guía y salidas acústica, eléctrica y mecánica. Un dispositivo transforma una señal; no borra la alteración ni garantiza comprensión.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8.6; PDF pp. 219–221; BR.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Instalar el marco tecnológico.</a:t>
            </a:r>
          </a:p>
          <a:p xmlns:a="http://schemas.openxmlformats.org/drawingml/2006/main">
            <a:r>
              <a:t>- **Explicación extendida:** La salida física y el punto de entrega distinguen estrategias que no son intercambiables. Separar transformación técnica de beneficio medido y selección clínica.</a:t>
            </a:r>
          </a:p>
          <a:p xmlns:a="http://schemas.openxmlformats.org/drawingml/2006/main">
            <a:r>
              <a:t>- **Guía del visual/diagrama:** Revelar y explicar en el orden previsto: Sonido de entrada → transducción/procesamiento → salida → sistema auditivo → resultado funcional a evaluar. Cerrar con esta idea: La salida física y el punto de entrega distinguen estrategias que no son intercambiables.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La salida física y el punto de entrega distinguen estrategias que no son intercambiables.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Aplicar al audífono.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Entrada, procesamiento, salida y acoplamiento permiten comparar dispositivos. Diagrama conceptual: Sonido de entrada → transducción/procesamiento → salida → sistema auditivo → resultado funcional a evaluar. La salida física y el punto de entrega distinguen estrategias que no son intercambiables.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8.6–8.7; PDF pp. 219–222; REF whoHearing2021.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Reconstruir su cadena física.</a:t>
            </a:r>
          </a:p>
          <a:p xmlns:a="http://schemas.openxmlformats.org/drawingml/2006/main">
            <a:r>
              <a:t>- **Explicación extendida:** Micrófono → señal eléctrica procesada → receptor → salida acústica. No representar el procesamiento como una ganancia fija lineal universal.</a:t>
            </a:r>
          </a:p>
          <a:p xmlns:a="http://schemas.openxmlformats.org/drawingml/2006/main">
            <a:r>
              <a:t>- **Guía del visual/diagrama:** Revelar y explicar en el orden previsto: Entrada en Pa/dB SPL, procesamiento dependiente de `f`, nivel y tiempo, salida acústica. Cerrar con esta idea: Micrófono → señal eléctrica procesada → receptor → salida acústica.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Micrófono → señal eléctrica procesada → receptor → salida acústica.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Definir ganancia compatible.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El audífono vuelve a producir presión acústica cerca del oído. Esquema mixto: Entrada en Pa/dB SPL, procesamiento dependiente de f, nivel y tiempo, salida acústica. Micrófono → señal eléctrica procesada → receptor → salida acústica.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8.6.1; PDF p. 219; REF whoHearing2021; U5.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Introducir ganancia electroacústica.</a:t>
            </a:r>
          </a:p>
          <a:p xmlns:a="http://schemas.openxmlformats.org/drawingml/2006/main">
            <a:r>
              <a:t>- **Explicación extendida:** Entrada y salida en dB SPL bajo la misma condición permiten una diferencia en dB. Diferenciar ganancia de sonoridad, beneficio o prescripción.</a:t>
            </a:r>
          </a:p>
          <a:p xmlns:a="http://schemas.openxmlformats.org/drawingml/2006/main">
            <a:r>
              <a:t>- **Guía del visual/diagrama:** Revelar y explicar en el orden previsto: Ecuación, símbolos, unidades, frecuencia y condición de medición. Cerrar con esta idea: Entrada y salida en dB SPL bajo la misma condición permiten una diferencia en dB. No repetir las cajas como párrafos.</a:t>
            </a:r>
          </a:p>
          <a:p xmlns:a="http://schemas.openxmlformats.org/drawingml/2006/main">
            <a:r>
              <a:t>- **Pregunta al grupo:** ¿Son compatibles las magnitudes y unidades antes de operar?</a:t>
            </a:r>
          </a:p>
          <a:p xmlns:a="http://schemas.openxmlformats.org/drawingml/2006/main">
            <a:r>
              <a:t>- **Respuesta esperada:** Sí solo si coinciden frecuencia, referencia y condiciones indicadas; después se interpreta el resultado con su límite.</a:t>
            </a:r>
          </a:p>
          <a:p xmlns:a="http://schemas.openxmlformats.org/drawingml/2006/main">
            <a:r>
              <a:t>- **Demostración o dinámica:** Señalar datos y unidades antes de operar; resolver un paso por vez y separar el resultado matemático de su interpretación física o clínica.</a:t>
            </a:r>
          </a:p>
          <a:p xmlns:a="http://schemas.openxmlformats.org/drawingml/2006/main">
            <a:r>
              <a:t>- **Error frecuente a anticipar:** Operar con valores en decibelios sin comprobar referencia, frecuencia, transductor y condición de medición.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Resolver un ejemplo.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G(f) compara salida y entrada en la misma escala. Ecuación anotada: Ecuación, símbolos, unidades, frecuencia y condición de medición. Entrada y salida en dB SPL bajo la misma condición permiten una diferencia en dB.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ec. 8.4; PDF p. 219; NOT; INV.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Modelar cálculo y límite.</a:t>
            </a:r>
          </a:p>
          <a:p xmlns:a="http://schemas.openxmlformats.org/drawingml/2006/main">
            <a:r>
              <a:t>- **Explicación extendida:** `70 dB SPL - 52 dB SPL = 18 dB`; el dato no informa comprensión ni comodidad. Pedir qué medición adicional sería necesaria para hablar de desempeño.</a:t>
            </a:r>
          </a:p>
          <a:p xmlns:a="http://schemas.openxmlformats.org/drawingml/2006/main">
            <a:r>
              <a:t>- **Guía del visual/diagrama:** Explicar en orden: entrada 52 dB SPL → salida 70 dB SPL → resta de magnitudes compatibles → ganancia 18 dB → límite: la ganancia no equivale por sí sola a beneficio clínico. No usar las cifras actuales del asset U08-DG-042 hasta corregirlo.</a:t>
            </a:r>
          </a:p>
          <a:p xmlns:a="http://schemas.openxmlformats.org/drawingml/2006/main">
            <a:r>
              <a:t>- **Pregunta al grupo:** ¿Son compatibles las magnitudes y unidades antes de operar?</a:t>
            </a:r>
          </a:p>
          <a:p xmlns:a="http://schemas.openxmlformats.org/drawingml/2006/main">
            <a:r>
              <a:t>- **Respuesta esperada:** Sí solo si coinciden frecuencia, referencia y condiciones indicadas; después se interpreta el resultado con su límite.</a:t>
            </a:r>
          </a:p>
          <a:p xmlns:a="http://schemas.openxmlformats.org/drawingml/2006/main">
            <a:r>
              <a:t>- **Demostración o dinámica:** Señalar datos y unidades antes de operar; resolver un paso por vez y separar el resultado matemático de su interpretación física o clínica.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**Control de consistencia:** Usar 70−52=18 dB según el storyboard. El asset U08-DG-042 actual usa 82−60=22 dB y debe alinearse antes de construir el deck.</a:t>
            </a:r>
          </a:p>
          <a:p xmlns:a="http://schemas.openxmlformats.org/drawingml/2006/main">
            <a:r>
              <a:t>- **Transición:** Mostrar procesamiento no lineal/dependiente de señal.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Esquema del cálculo de ganancia a 2000 Hz. La entrada es 52 dB SPL, la salida es 70 dB SPL y la diferencia es 18 dB. Un aviso aclara que esta ganancia no equivale a beneficio clínico.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8.6.1; PDF p. 219; TEX NG4.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Evitar reducir audífono a “subir volumen”.</a:t>
            </a:r>
          </a:p>
          <a:p xmlns:a="http://schemas.openxmlformats.org/drawingml/2006/main">
            <a:r>
              <a:t>- **Explicación extendida:** Compresión, direccionalidad, reducción de ruido y control de realimentación modifican aspectos distintos. No prometer beneficio ni comparar marcas; mantener el foco físico.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muestran los ejes o variables, y qué conclusión no autoriza la figura?</a:t>
            </a:r>
          </a:p>
          <a:p xmlns:a="http://schemas.openxmlformats.org/drawingml/2006/main">
            <a:r>
              <a:t>- **Respuesta esperada:** Compresión, direccionalidad, reducción de ruido y control de realimentación modifican aspectos distintos.</a:t>
            </a:r>
          </a:p>
          <a:p xmlns:a="http://schemas.openxmlformats.org/drawingml/2006/main">
            <a:r>
              <a:t>- **Demostración o dinámica:** Leer en este orden: ejes, unidades, escala, condición o muestra y tendencia. Recién después formular una conclusión y un límite.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Cambiar de salida acústica a eléctrica.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El procesamiento puede depender de frecuencia, nivel y tiempo. Esquema mixto: Cuatro funciones con un gráfico entrada–salida o respuesta conceptual y límites. Compresión, direccionalidad, reducción de ruido y control de realimentación modifican aspectos distintos.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8.6.1; PDF p. 219; REF whoHearing2021; U5.</a:t>
            </a:r>
          </a:p>
          <a:p xmlns:a="http://schemas.openxmlformats.org/drawingml/2006/main">
            <a:r>
              <a:t>- Asset propio aprobado: U08-CH-009.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Reconstruir una cadena de naturaleza distinta.</a:t>
            </a:r>
          </a:p>
          <a:p xmlns:a="http://schemas.openxmlformats.org/drawingml/2006/main">
            <a:r>
              <a:t>- **Explicación extendida:** Micrófono y procesador codifican; el receptor–estimulador y los electrodos producen estimulación eléctrica. No sugerir que el implante restituye una cóclea habitual ni mostrar cirugía.</a:t>
            </a:r>
          </a:p>
          <a:p xmlns:a="http://schemas.openxmlformats.org/drawingml/2006/main">
            <a:r>
              <a:t>- **Guía del visual/diagrama:** Revelar y explicar en el orden previsto: Sonido → procesador → enlace → receptor–estimulador → guía de electrodos. Cerrar con esta idea: Micrófono y procesador codifican; el receptor–estimulador y los electrodos producen estimulación eléctrica.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Micrófono y procesador codifican; el receptor–estimulador y los electrodos producen estimulación eléctrica.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Distinguir cantidades que suelen igualarse.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El implante coclear entrega pulsos eléctricos en la cóclea. Esquema mixto: Sonido → procesador → enlace → receptor–estimulador → guía de electrodos. Micrófono y procesador codifican; el receptor–estimulador y los electrodos producen estimulación eléctrica.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8.6.2; PDF pp. 219–220; REF nidcdCI2024.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Corregir una cuantificación simplista.</a:t>
            </a:r>
          </a:p>
          <a:p xmlns:a="http://schemas.openxmlformats.org/drawingml/2006/main">
            <a:r>
              <a:t>- **Explicación extendida:** La interacción eléctrica, programación y sistema neural limitan la independencia perceptual. No fijar cifras comerciales ni resultados universales.</a:t>
            </a:r>
          </a:p>
          <a:p xmlns:a="http://schemas.openxmlformats.org/drawingml/2006/main">
            <a:r>
              <a:t>- **Guía del visual/diagrama:** Revelar y explicar en el orden previsto: Tres cantidades, relaciones no uno-a-uno y conclusión no permitida. Cerrar con esta idea: La interacción eléctrica, programación y sistema neural limitan la independencia perceptual. No repetir las cajas como párrafos.</a:t>
            </a:r>
          </a:p>
          <a:p xmlns:a="http://schemas.openxmlformats.org/drawingml/2006/main">
            <a:r>
              <a:t>- **Pregunta al grupo:** ¿Qué información falta para corregir esta conclusión?</a:t>
            </a:r>
          </a:p>
          <a:p xmlns:a="http://schemas.openxmlformats.org/drawingml/2006/main">
            <a:r>
              <a:t>- **Respuesta esperada:** Tres cantidades, relaciones no uno-a-uno y conclusión no permitida.</a:t>
            </a:r>
          </a:p>
          <a:p xmlns:a="http://schemas.openxmlformats.org/drawingml/2006/main">
            <a:r>
              <a:t>- **Demostración o dinámica:** Mostrar primero la afirmación problemática, pedir que identifiquen el salto lógico y revelar después la corrección.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Recurso opcional: reproducir solo si está disponible y verificado. Presentar antes la consigna de observación y ofrecer la alternativa estática; no usarlo como prueba diagnóstica.</a:t>
            </a:r>
          </a:p>
          <a:p xmlns:a="http://schemas.openxmlformats.org/drawingml/2006/main">
            <a:r>
              <a:t>- **Transición:** Comparar audífono e implante.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Electrodos, canales y perceptos independientes no son equivalentes. Esquema mixto: Tres cantidades, relaciones no uno-a-uno y conclusión no permitida. La interacción eléctrica, programación y sistema neural limitan la independencia perceptual.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8.6.2, 8.8; PDF pp. 220, 222; REF nidcdCI2024.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Distinguir salida y punto de entrega.</a:t>
            </a:r>
          </a:p>
          <a:p xmlns:a="http://schemas.openxmlformats.org/drawingml/2006/main">
            <a:r>
              <a:t>- **Explicación extendida:** Audífono mantiene una salida acústica; implante produce estimulación eléctrica intracoclear. Evitar adjudicar indicaciones; la selección depende de evaluación individual.</a:t>
            </a:r>
          </a:p>
          <a:p xmlns:a="http://schemas.openxmlformats.org/drawingml/2006/main">
            <a:r>
              <a:t>- **Guía del visual/diagrama:** Revelar y explicar en el orden previsto: Entrada, procesamiento, salida, acoplamiento y límite en dos columnas. Cerrar con esta idea: Audífono mantiene una salida acústica; implante produce estimulación eléctrica intracoclear. No repetir las cajas como párrafos.</a:t>
            </a:r>
          </a:p>
          <a:p xmlns:a="http://schemas.openxmlformats.org/drawingml/2006/main">
            <a:r>
              <a:t>- **Pregunta al grupo:** ¿Cuál es la diferencia que organiza esta comparación?</a:t>
            </a:r>
          </a:p>
          <a:p xmlns:a="http://schemas.openxmlformats.org/drawingml/2006/main">
            <a:r>
              <a:t>- **Respuesta esperada:** Audífono mantiene una salida acústica; implante produce estimulación eléctrica intracoclear.</a:t>
            </a:r>
          </a:p>
          <a:p xmlns:a="http://schemas.openxmlformats.org/drawingml/2006/main">
            <a:r>
              <a:t>- **Demostración o dinámica:** Recorrer una misma fila o criterio entre columnas; evitar leer cada columna como una lista aislada.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Presentar alternativas como complemento.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 implante coclear no es un audífono más potente. Diagrama conceptual: Entrada, procesamiento, salida, acoplamiento y límite en dos columnas. Audífono mantiene una salida acústica; implante produce estimulación eléctrica intracoclear.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8.6.1–8.6.2; PDF pp. 219–220; REF nidcdCI2024.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Ubicar ampliaciones sin desplazar el núcleo.</a:t>
            </a:r>
          </a:p>
          <a:p xmlns:a="http://schemas.openxmlformats.org/drawingml/2006/main">
            <a:r>
              <a:t>- **Explicación extendida:** Vibración del cráneo y salida acústica+eléctrica son estrategias físicas diferentes y no universales. No listar indicaciones ni fijar frecuencia de separación.</a:t>
            </a:r>
          </a:p>
          <a:p xmlns:a="http://schemas.openxmlformats.org/drawingml/2006/main">
            <a:r>
              <a:t>- **Guía del visual/diagrama:** Revelar y explicar en el orden previsto: Dispositivo óseo: salida mecánica y ambas cócleas → EAS: bandas acústicas y eléctricas individualizadas. Cerrar con esta idea: Vibración del cráneo y salida acústica+eléctrica son estrategias físicas diferentes y no universales. No repetir las cajas como párrafos.</a:t>
            </a:r>
          </a:p>
          <a:p xmlns:a="http://schemas.openxmlformats.org/drawingml/2006/main">
            <a:r>
              <a:t>- **Pregunta al grupo:** ¿Cuál es la diferencia que organiza esta comparación?</a:t>
            </a:r>
          </a:p>
          <a:p xmlns:a="http://schemas.openxmlformats.org/drawingml/2006/main">
            <a:r>
              <a:t>- **Respuesta esperada:** Vibración del cráneo y salida acústica+eléctrica son estrategias físicas diferentes y no universales.</a:t>
            </a:r>
          </a:p>
          <a:p xmlns:a="http://schemas.openxmlformats.org/drawingml/2006/main">
            <a:r>
              <a:t>- **Demostración o dinámica:** Recorrer una misma fila o criterio entre columnas; evitar leer cada columna como una lista aislada.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Recapitular dispositivos y selección.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Conducción ósea y electroacústica agregan otras salidas o combinaciones. Esquema mixto: Dispositivo óseo: salida mecánica y ambas cócleas; EAS: bandas acústicas y eléctricas individualizadas. Vibración del cráneo y salida acústica+eléctrica son estrategias físicas diferentes y no universales.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8.6.3–8.6.4; PDF pp. 220–221; REF stenfeltGoode2005, whoHearing2021.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Consolidar transformación y límites.</a:t>
            </a:r>
          </a:p>
          <a:p xmlns:a="http://schemas.openxmlformats.org/drawingml/2006/main">
            <a:r>
              <a:t>- **Explicación extendida:** Sonido, pulsos eléctricos y vibración mecánica deben relacionarse con evaluación, necesidades y seguimiento. Repetición pedagógica: comparar puntos de cambio de dominio, no volver a describir componentes.</a:t>
            </a:r>
          </a:p>
          <a:p xmlns:a="http://schemas.openxmlformats.org/drawingml/2006/main">
            <a:r>
              <a:t>- **Guía del visual/diagrama:** Revelar y explicar en el orden previsto: Tabla de tres dispositivos + “qué transforma / qué no permite decidir”. Cerrar con esta idea: Sonido, pulsos eléctricos y vibración mecánica deben relacionarse con evaluación, necesidades y seguimiento. No repetir las cajas como párrafos.</a:t>
            </a:r>
          </a:p>
          <a:p xmlns:a="http://schemas.openxmlformats.org/drawingml/2006/main">
            <a:r>
              <a:t>- **Pregunta al grupo:** ¿Qué regla de este bloque usaría primero ante un dato nuevo?</a:t>
            </a:r>
          </a:p>
          <a:p xmlns:a="http://schemas.openxmlformats.org/drawingml/2006/main">
            <a:r>
              <a:t>- **Respuesta esperada:** Sonido, pulsos eléctricos y vibración mecánica deben relacionarse con evaluación, necesidades y seguimiento.</a:t>
            </a:r>
          </a:p>
          <a:p xmlns:a="http://schemas.openxmlformats.org/drawingml/2006/main">
            <a:r>
              <a:t>- **Demostración o dinámica:** Pedir una regla de decisión en una frase y conectarla con una situación de práctica fonoaudiológica.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Retomar el caso inicial.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Hasta acá: la salida física distingue dispositivos, no decide la indicación. Diagrama conceptual: Tabla de tres dispositivos + “qué transforma / qué no permite decidir”. Sonido, pulsos eléctricos y vibración mecánica deben relacionarse con evaluación, necesidades y seguimiento.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tabla 8.2, fig. 8.5; PDF p. 221; BR.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Reabrir el caso con herramientas completas.</a:t>
            </a:r>
          </a:p>
          <a:p xmlns:a="http://schemas.openxmlformats.org/drawingml/2006/main">
            <a:r>
              <a:t>- **Explicación extendida:** La pregunta profesional guía qué dato buscar y cómo limitar la conclusión. Pedir qué cambió en la forma de razonar desde el inicio.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La pregunta profesional guía qué dato buscar y cómo limitar la conclusión.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Organizar datos y preguntas.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¿Cómo se construye una respuesta sin exceder la evidencia? Esquema mixto: Caso inicial y cuatro tipos de evidencia ya disponibles. La pregunta profesional guía qué dato buscar y cómo limitar la conclusión.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8.3, 8.7; PDF pp. 208–209, 221–222.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Integrar categorías sin diagnosticar.</a:t>
            </a:r>
          </a:p>
          <a:p xmlns:a="http://schemas.openxmlformats.org/drawingml/2006/main">
            <a:r>
              <a:t>- **Explicación extendida:** Cada dato responde una pregunta y deja otras abiertas. Usar los valores ficticios del ejercicio integrador y no agregar resultados clínicos.</a:t>
            </a:r>
          </a:p>
          <a:p xmlns:a="http://schemas.openxmlformats.org/drawingml/2006/main">
            <a:r>
              <a:t>- **Guía del visual/diagrama:** Revelar y explicar en el orden previsto: `L_Aeq,T`, tinnitus/dB SL, umbral/dB HL y OEA “derivar” clasificados. Cerrar con esta idea: Cada dato responde una pregunta y deja otras abiertas.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Cada dato responde una pregunta y deja otras abiertas.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Interpretar la correspondencia con un tono externo como medición de una fuente o intensidad sonora interna.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Pedir seleccionar estudios complementarios.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El mismo caso reúne exposición, percepción, conducta y fisiología. Diagrama conceptual: L_Aeq,T, tinnitus/dB SL, umbral/dB HL y OEA “derivar” clasificados. Cada dato responde una pregunta y deja otras abiertas.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INT1; PDF pp. 226–227, 231–232.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Transferir el marco a decisión razonada.</a:t>
            </a:r>
          </a:p>
          <a:p xmlns:a="http://schemas.openxmlformats.org/drawingml/2006/main">
            <a:r>
              <a:t>- **Explicación extendida:** Timpanometría, audiometría, logoaudiometría, OEA o PEAT aportan información diferente. Aceptar varias combinaciones justificadas; no pedir un diagnóstico final.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Asigne una prueba a cada pregunta y justifique magnitud y límite.</a:t>
            </a:r>
          </a:p>
          <a:p xmlns:a="http://schemas.openxmlformats.org/drawingml/2006/main">
            <a:r>
              <a:t>- **Respuesta esperada:** Se aceptan combinaciones distintas si la prueba responde la pregunta, se identifica qué registra y se declara qué queda abierto.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Mostrar qué conclusiones siguen abiertas.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Elija una prueba para cada pregunta, no una batería automática. Composición textual: Cinco preguntas abiertas, estudio propuesto, magnitud y limitación. Timpanometría, audiometría, logoaudiometría, OEA o PEAT aportan información diferente.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A1, INT1; PDF pp. 226–227; BR;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Enseñar integración no binaria.</a:t>
            </a:r>
          </a:p>
          <a:p xmlns:a="http://schemas.openxmlformats.org/drawingml/2006/main">
            <a:r>
              <a:t>- **Explicación extendida:** Una batería no “vota” un diagnóstico: verifica trayectos, tareas y condiciones. Evitar ejemplos que permitan inferir una enfermedad concreta.</a:t>
            </a:r>
          </a:p>
          <a:p xmlns:a="http://schemas.openxmlformats.org/drawingml/2006/main">
            <a:r>
              <a:t>- **Guía del visual/diagrama:** Revelar y explicar en el orden previsto: Dos escenarios: convergencia parcial y discrepancia técnica/funcional. Cerrar con esta idea: Una batería no “vota” un diagnóstico: verifica trayectos, tareas y condiciones.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Una batería no “vota” un diagnóstico: verifica trayectos, tareas y condiciones.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Aplicar el mismo límite a dispositivos.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Resultados coherentes reducen incertidumbre; discrepancias abren nuevas preguntas. Diagrama conceptual: Dos escenarios: convergencia parcial y discrepancia técnica/funcional. Una batería no “vota” un diagnóstico: verifica trayectos, tareas y condiciones.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8.5.1, 8.7; PDF pp. 211–212, 221–222; REF ashaHearingAdults.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Comprobar comparación tecnológica.</a:t>
            </a:r>
          </a:p>
          <a:p xmlns:a="http://schemas.openxmlformats.org/drawingml/2006/main">
            <a:r>
              <a:t>- **Explicación extendida:** Pa cerca del oído, corriente en electrodos y desplazamiento del cráneo distinguen audífono, implante y conducción ósea. Pedir explícitamente por qué la identificación no basta para indicar.</a:t>
            </a:r>
          </a:p>
          <a:p xmlns:a="http://schemas.openxmlformats.org/drawingml/2006/main">
            <a:r>
              <a:t>- **Guía del visual/diagrama:** Revelar y explicar en el orden previsto: Tres salidas, tres dispositivos y pregunta sobre qué falta para seleccionar. Cerrar con esta idea: Pa cerca del oído, corriente en electrodos y desplazamiento del cráneo distinguen audífono, implante y conducción ósea. No repetir las cajas como párrafos.</a:t>
            </a:r>
          </a:p>
          <a:p xmlns:a="http://schemas.openxmlformats.org/drawingml/2006/main">
            <a:r>
              <a:t>- **Pregunta al grupo:** Relacione presión acústica, corriente eléctrica y vibración mecánica con un dispositivo.</a:t>
            </a:r>
          </a:p>
          <a:p xmlns:a="http://schemas.openxmlformats.org/drawingml/2006/main">
            <a:r>
              <a:t>- **Respuesta esperada:** Presión: audífono; corriente en electrodos: implante coclear; vibración del cráneo: conducción ósea. Falta evaluación individual para seleccionar.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Ubicar la decisión en el equipo profesional.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Identifique el dispositivo por su salida física. Diagrama conceptual: Tres salidas, tres dispositivos y pregunta sobre qué falta para seleccionar. Pa cerca del oído, corriente en electrodos y desplazamiento del cráneo distinguen audífono, implante y conducción ósea.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A5; PDF p. 226; INV.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Conectar el marco físico con la práctica profesional.</a:t>
            </a:r>
          </a:p>
          <a:p xmlns:a="http://schemas.openxmlformats.org/drawingml/2006/main">
            <a:r>
              <a:t>- **Explicación extendida:** La física hace explícita la cadena; la interpretación e intervención integran antecedentes, necesidades y protocolos. Reconocer incumbencias sin convertir la slide en protocolo clínico.</a:t>
            </a:r>
          </a:p>
          <a:p xmlns:a="http://schemas.openxmlformats.org/drawingml/2006/main">
            <a:r>
              <a:t>- **Guía del visual/diagrama:** Revelar y explicar en el orden previsto: Cinco acciones: identificar entrada, transformación, sensor/respuesta, dato y límite. Cerrar con esta idea: La física hace explícita la cadena; la interpretación e intervención integran antecedentes, necesidades y protocolos.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La física hace explícita la cadena; la interpretación e intervención integran antecedentes, necesidades y protocolos.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Convertir el proceso en herramienta de repaso.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La Fonoaudiología integra medición, comunicación y seguimiento. Diagrama conceptual: Cinco acciones: identificar entrada, transformación, sensor/respuesta, dato y límite. La física hace explícita la cadena; la interpretación e intervención integran antecedentes, necesidades y protocolos.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 objetivos; TEX 8.7; PDF pp. 221–222; BR.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Dar una herramienta durable.</a:t>
            </a:r>
          </a:p>
          <a:p xmlns:a="http://schemas.openxmlformats.org/drawingml/2006/main">
            <a:r>
              <a:t>- **Explicación extendida:** ¿Qué entra?, ¿qué sistema?, ¿qué se transforma?, ¿qué se registra/entrega?, ¿en qué unidad?, ¿qué no concluye? Repetición pedagógica final: ampliar la matriz de pruebas para incluir dispositivos, no copiar U08-039.</a:t>
            </a:r>
          </a:p>
          <a:p xmlns:a="http://schemas.openxmlformats.org/drawingml/2006/main">
            <a:r>
              <a:t>- **Guía del visual/diagrama:** Revelar y explicar en el orden previsto: Seis preguntas con un ejemplo de prueba y uno de dispositivo. Cerrar con esta idea: ¿Qué entra?, ¿qué sistema?, ¿qué se transforma?, ¿qué se registra/entrega?, ¿en qué unidad?, ¿qué no concluye? No repetir las cajas como párrafos.</a:t>
            </a:r>
          </a:p>
          <a:p xmlns:a="http://schemas.openxmlformats.org/drawingml/2006/main">
            <a:r>
              <a:t>- **Pregunta al grupo:** ¿Qué regla de este bloque usaría primero ante un dato nuevo?</a:t>
            </a:r>
          </a:p>
          <a:p xmlns:a="http://schemas.openxmlformats.org/drawingml/2006/main">
            <a:r>
              <a:t>- **Respuesta esperada:** ¿Qué entra?, ¿qué sistema?, ¿qué se transforma?, ¿qué se registra/entrega?, ¿en qué unidad?, ¿qué no concluye?</a:t>
            </a:r>
          </a:p>
          <a:p xmlns:a="http://schemas.openxmlformats.org/drawingml/2006/main">
            <a:r>
              <a:t>- **Demostración o dinámica:** Pedir una regla de decisión en una frase y conectarla con una situación de práctica fonoaudiológica.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Cerrar con puente hacia ruido.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Seis preguntas permiten revisar cualquier estudio o dispositivo. Diagrama conceptual: Seis preguntas con un ejemplo de prueba y uno de dispositivo. ¿Qué entra?, ¿qué sistema?, ¿qué se transforma?, ¿qué se registra/entrega?, ¿en qué unidad?, ¿qué no concluye?.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BR; TEX cap. 8;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Cerrar y anticipar U10.</a:t>
            </a:r>
          </a:p>
          <a:p xmlns:a="http://schemas.openxmlformats.org/drawingml/2006/main">
            <a:r>
              <a:t>- **Explicación extendida:** U10 profundizará tipos de ruido, SNR, exposición y enmascaramiento aplicado. No adelantar taxonomía de ruido ni técnica completa de enmascaramiento.</a:t>
            </a:r>
          </a:p>
          <a:p xmlns:a="http://schemas.openxmlformats.org/drawingml/2006/main">
            <a:r>
              <a:t>- **Guía del visual/diagrama:** Revelar y explicar en el orden previsto: Tres ideas que U8 entrega y tres preguntas que quedan abiertas. Cerrar con esta idea: U10 profundizará tipos de ruido, SNR, exposición y enmascaramiento aplicado.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U10 profundizará tipos de ruido, SNR, exposición y enmascaramiento aplicado.</a:t>
            </a:r>
          </a:p>
          <a:p xmlns:a="http://schemas.openxmlformats.org/drawingml/2006/main">
            <a:r>
              <a:t>- **Demostración o dinámica:** Pedir una regla de decisión en una frase y conectarla con una situación de práctica fonoaudiológica.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Fin central; abrir respaldo solo según necesidad.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De la evaluación auditiva a la exposición y el ruido. Diagrama conceptual: Tres ideas que U8 entrega y tres preguntas que quedan abiertas. U10 profundizará tipos de ruido, SNR, exposición y enmascaramiento aplicado.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CM; CDM; COV; PO U10.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Orientar el uso no lineal.</a:t>
            </a:r>
          </a:p>
          <a:p xmlns:a="http://schemas.openxmlformats.org/drawingml/2006/main">
            <a:r>
              <a:t>- **Explicación extendida:** Estas slides responden dudas sin interrumpir la secuencia central. Aclarar que el respaldo no es un quinto encuentro obligatorio.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Estas slides responden dudas sin interrumpir la secuencia central.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Navegar según la duda.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Respaldo: escalas, tablas, cálculos y fuentes. Composición textual: Índice por escalas, estudios, dispositivos, ejercicios y brechas documentales. Estas slides responden dudas sin interrumpir la secuencia central.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BR; INV; 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Consolidar notación y operaciones.</a:t>
            </a:r>
          </a:p>
          <a:p xmlns:a="http://schemas.openxmlformats.org/drawingml/2006/main">
            <a:r>
              <a:t>- **Explicación extendida:** Compartir dB no habilita sumas o restas entre escalas distintas. Mantener la forma desarrollada de cada escala.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Compartir dB no habilita sumas o restas entre escalas distintas.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Consultar la matriz completa de estudios.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dB SPL, dB HL y dB SL: referencia rápida. Composición textual: Tabla de referencia, uso, ejemplo y operación válida. Compartir dB no habilita sumas o restas entre escalas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NOT; GLO; TEX cap.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Ofrecer consulta comparativa.</a:t>
            </a:r>
          </a:p>
          <a:p xmlns:a="http://schemas.openxmlformats.org/drawingml/2006/main">
            <a:r>
              <a:t>- **Explicación extendida:** Las siete pruebas se distinguen por estímulo, magnitud, sensor/tarea, resultado y límite. Si no entra, duplicar en dos slides durante producción y actualizar numeración.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Las siete pruebas se distinguen por estímulo, magnitud, sensor/tarea, resultado y límite.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Interpretar la correspondencia con un tono externo como medición de una fuente o intensidad sonora interna.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Consultar dispositivos.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Matriz completa de estudios auditivos. Composición textual: Audiometría, logoaudiometría, timpanometría, acufenometría, OEA, PEAT y ECoG. Las siete pruebas se distinguen por estímulo, magnitud, sensor/tarea, resultado y límite.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8.5; PDF pp. 211–219; INV.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Ofrecer consulta tecnológica.</a:t>
            </a:r>
          </a:p>
          <a:p xmlns:a="http://schemas.openxmlformats.org/drawingml/2006/main">
            <a:r>
              <a:t>- **Explicación extendida:** Entrada, procesamiento, salida y límite permiten comparación sin indicación clínica. Mantener una frase de lectura y separar criterios clínicos.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Entrada, procesamiento, salida y límite permiten comparación sin indicación clínica.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Abrir ejercicios alternativos.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Matriz completa de dispositivos. Composición textual: Audífono, implante, conducción ósea y electroacústica. Entrada, procesamiento, salida y límite permiten comparación sin indicación clínica.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tabla 8.2; PDF p. 221; INV.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Reforzar cálculo vectorial simple.</a:t>
            </a:r>
          </a:p>
          <a:p xmlns:a="http://schemas.openxmlformats.org/drawingml/2006/main">
            <a:r>
              <a:t>- **Explicación extendida:** La mayor diferencia medida no determina causa ni evolución. Solución completa en notas futuras.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Calcule ΔL_T en cada frecuencia y señale la mayor diferencia.</a:t>
            </a:r>
          </a:p>
          <a:p xmlns:a="http://schemas.openxmlformats.org/drawingml/2006/main">
            <a:r>
              <a:t>- **Respuesta esperada:** Restar posterior menos referencia frecuencia por frecuencia; la mayor diferencia no explica causa ni evolución.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Confundir una diferencia temporal de umbral con tinnitus, daño permanente o pronóstico individual.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Ofrecer exposición alternativa.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TTS: diferencias en tres frecuencias. Ecuación anotada: Tabla de umbrales antes/después, cálculo de ΔL_T y conclusión limitada. La mayor diferencia medida no determina causa ni evolución.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NA1; PDF pp. 225, 230.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Reforzar logaritmo y condiciones.</a:t>
            </a:r>
          </a:p>
          <a:p xmlns:a="http://schemas.openxmlformats.org/drawingml/2006/main">
            <a:r>
              <a:t>- **Explicación extendida:** El resultado energético no prueba seguridad ni cumplimiento. Verificar descriptor normativo antes de producción.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Normalice la exposición de 0,5 h al intervalo de 8 h y declare las hipótesis.</a:t>
            </a:r>
          </a:p>
          <a:p xmlns:a="http://schemas.openxmlformats.org/drawingml/2006/main">
            <a:r>
              <a:t>- **Respuesta esperada:** Aplicar el cociente temporal dentro del logaritmo. El resultado energético no demuestra seguridad ni cumplimiento.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Ofrecer diferencia entre vías.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L_Aeq,T: normalización temporal alternativa. Ecuación anotada: 96 dB(A) durante 0,5 h → intervalo de 8 h, con hipótesis. El resultado energético no prueba seguridad ni cumplimiento.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NA2; PDF pp. 225, 230; OD-U08-14.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Reforzar compatibilidad y lectura.</a:t>
            </a:r>
          </a:p>
          <a:p xmlns:a="http://schemas.openxmlformats.org/drawingml/2006/main">
            <a:r>
              <a:t>- **Explicación extendida:** Una diferencia máxima puede repetirse y sigue sin identificar una enfermedad. No incluir categorías diagnósticas en la respuesta.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Calcule G_AO(f) en cada frecuencia y compare los resultados.</a:t>
            </a:r>
          </a:p>
          <a:p xmlns:a="http://schemas.openxmlformats.org/drawingml/2006/main">
            <a:r>
              <a:t>- **Respuesta esperada:** Restar vía ósea a vía aérea en la misma frecuencia y escala; no convertir la diferencia en diagnóstico.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Ofrecer ganancia por frecuencia.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Diferencia aérea–ósea en varias frecuencias. Ecuación anotada: Tabla VA/VO, cálculo por frecuencia y pregunta de interpretación. Una diferencia máxima puede repetirse y sigue sin identificar una enfermedad.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NA4; PDF pp. 225–226, 230.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Relacionar respuesta en frecuencia y cálculo.</a:t>
            </a:r>
          </a:p>
          <a:p xmlns:a="http://schemas.openxmlformats.org/drawingml/2006/main">
            <a:r>
              <a:t>- **Explicación extendida:** Mayor ganancia en una frecuencia no implica mayor sonoridad, comodidad o comprensión. Mantener datos ficticios y escalas compatibles.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Calcule G(f) para las tres frecuencias e identifique el máximo.</a:t>
            </a:r>
          </a:p>
          <a:p xmlns:a="http://schemas.openxmlformats.org/drawingml/2006/main">
            <a:r>
              <a:t>- **Respuesta esperada:** Restar entrada a salida en cada frecuencia. El máximo de ganancia no equivale a mayor sonoridad, comodidad o comprensión.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Documentar la curva pos-exposición.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Ganancia de audífono en tres frecuencias. Gráfico: Tabla entrada/salida, cálculo de G(f) y pregunta de límite. Mayor ganancia en una frecuencia no implica mayor sonoridad, comodidad o comprensión.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NA3; PDF pp. 225, 230; U5.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Documentar la brecha obligatoria.</a:t>
            </a:r>
          </a:p>
          <a:p xmlns:a="http://schemas.openxmlformats.org/drawingml/2006/main">
            <a:r>
              <a:t>- **Explicación extendida:** Ninguna curva se usa sin exposición, frecuencia, tiempos, muestra, variabilidad y fuente. Esta ficha explicita los campos requeridos para evaluar una fuente primaria.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Ninguna curva se usa sin exposición, frecuencia, tiempos, muestra, variabilidad y fuente.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Confundir una diferencia temporal de umbral con tinnitus, daño permanente o pronóstico individual.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**Condición de producción:** Ficha aprobada como respaldo metodológico; no contiene cifras inventadas ni reemplaza una curva experimental.</a:t>
            </a:r>
          </a:p>
          <a:p xmlns:a="http://schemas.openxmlformats.org/drawingml/2006/main">
            <a:r>
              <a:t>- **Transición:** Documentar el riesgo.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Curvas pos-exposición: ficha de trazabilidad. Gráfico: Checklist, cita completa y miniatura de CH U08-CH-002 cuando exista. Ninguna curva se usa sin exposición, frecuencia, tiempos, muestra, variabilidad y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COV U08-01; SA; OD-U08-02/03/04.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Documentar la segunda brecha obligatoria.</a:t>
            </a:r>
          </a:p>
          <a:p xmlns:a="http://schemas.openxmlformats.org/drawingml/2006/main">
            <a:r>
              <a:t>- **Explicación extendida:** El porcentaje debe nombrar exactamente qué riesgo, para quién y en qué período. No mezclar prevalencia, riesgo atribuible, exceso de riesgo o probabilidad individual.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El porcentaje debe nombrar exactamente qué riesgo, para quién y en qué período.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Trasladar un porcentaje poblacional a una persona sin conservar población, período, comparador e incertidumbre.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**Condición de producción:** Ejemplo NIOSH 1997 validado con intervalos de confianza. Conservar definición de caso, comparador y límite poblacional.</a:t>
            </a:r>
          </a:p>
          <a:p xmlns:a="http://schemas.openxmlformats.org/drawingml/2006/main">
            <a:r>
              <a:t>- **Transición:** Consolidar siglas.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Riesgo porcentual: población, caso y modelo. Gráfico: Definiciones, denominador, grupo comparador, edad, exposición e incertidumbre. El porcentaje debe nombrar exactamente qué riesgo, para quién y en qué período.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COV U08-06; NIOSH 98-126 tabla 3-3; modelo NIOSH 1997; SA.</a:t>
            </a:r>
          </a:p>
          <a:p xmlns:a="http://schemas.openxmlformats.org/drawingml/2006/main">
            <a:r>
              <a:t>- NIOSH. Criteria for a Recommended Standard: Occupational Noise Exposure, DHHS (NIOSH) Publication 98-126 (1998): https://www.cdc.gov/niosh/docs/98-126/</a:t>
            </a:r>
          </a:p>
          <a:p xmlns:a="http://schemas.openxmlformats.org/drawingml/2006/main">
            <a:r>
              <a:t>- Datos de la tabla 3-3: modelo NIOSH 1997 para la definición 1–2–3–4 kHz; exceso de riesgo por edad, nivel diario y duración de exposición, con IC 95 %.</a:t>
            </a:r>
          </a:p>
          <a:p xmlns:a="http://schemas.openxmlformats.org/drawingml/2006/main">
            <a:r>
              <a:t>- NIOSH HHE 2019-0106-3378: definición de deterioro auditivo material y estimaciones de 8 % a 85 dBA y 25 % a 90 dBA para una vida laboral de 40 años: https://www.cdc.gov/niosh/hhe/reports/pdfs/2019-0106-3378.pdf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Servir de referencia rápida.</a:t>
            </a:r>
          </a:p>
          <a:p xmlns:a="http://schemas.openxmlformats.org/drawingml/2006/main">
            <a:r>
              <a:t>- **Explicación extendida:** TTS, PAIR/HIR/NIHL, OEA, PEAT/PEATC y ECoG deben desarrollarse y mantenerse consistentes. Actualizar cuando la cátedra resuelva OD-U08-07–09.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TTS, PAIR/HIR/NIHL, OEA, PEAT/PEATC y ECoG deben desarrollarse y mantenerse consistentes.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Confundir una diferencia temporal de umbral con tinnitus, daño permanente o pronóstico individual.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Cerrar con trazabilidad.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Siglas y términos de la unidad. Composición textual: Tabla término español, sigla, magnitud asociada y decisión pendiente. TTS, PAIR/HIR/NIHL, OEA, PEAT/PEATC y ECoG deben desarrollarse y mantenerse consistentes.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NOT; GLO; OD; TEX glosario.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Centralizar trazabilidad.</a:t>
            </a:r>
          </a:p>
          <a:p xmlns:a="http://schemas.openxmlformats.org/drawingml/2006/main">
            <a:r>
              <a:t>- **Explicación extendida:** Programa y libro fijan alcance; normas y fuentes externas solo amplían o verifican bajo condiciones. Distinguir fuente primaria, guía profesional, norma y elaboración pedagógica.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Programa y libro fijan alcance; normas y fuentes externas solo amplían o verifican bajo condiciones.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Operar con valores en decibelios sin comprobar referencia, frecuencia, transductor y condición de medición.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Fin.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Fuentes y límites de uso de la unidad. Composición textual: Programa, capítulo, PDF, referencias principales, normas por validar y decisiones abiertas. Programa y libro fijan alcance; normas y fuentes externas solo amplían o verifican bajo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TEX; PDF; SA; REF; 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ce59f6b1cb42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7ed1a5325d44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e7a20a227b4ca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8561cac98542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5beb6743be41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c38832476a40a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30725be80480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5902a1be7481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8b42b5435478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b97f2a0da7408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9c8032c614b0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a3fd6c4927471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bed782a95c44f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e3b684d6f4da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8e51745668477a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34269f70f34ddc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7cd88ddc6a4f7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f730b4025c4e7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045e22b134d6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f951e30e214e35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86101320cc47d9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f0e8c0ccc948e2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4204b0a9b54099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f20f0d93b04289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485bb8e0764b57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e074f2dbd9740b6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a6279fec2b4247" /></Relationships>
</file>

<file path=ppt/slideLayouts/slideLayout1.xml><?xml version="1.0" encoding="utf-8"?>
<p:sldLayout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Objetivos de aprendizaje</a:t>
            </a:r>
          </a:p>
        </p:txBody>
      </p:sp>
      <p:sp>
        <p:nvSpPr>
          <p:cNvPr id="3" name="ph_body_0">
            <a:extLst xmlns:a="http://schemas.openxmlformats.org/drawingml/2006/main"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00100" y="1733550"/>
            <a:ext cx="8001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9144000" y="1752600"/>
            <a:ext cx="2286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93598C6-FC0D-4EB0-AFF4-EF34A4827315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.xml><?xml version="1.0" encoding="utf-8"?>
<p:sldLayout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Apéndice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9BA0A7D-AABB-4192-B838-2BA5BB3178BC}" type="slidenum">
              <a:t>‹Nº›</a:t>
            </a:fld>
            <a:endParaRPr/>
          </a:p>
        </p:txBody>
      </p:sp>
    </p:spTree>
  </p:cSld>
  <p:hf hdr="0" ftr="0" dt="0"/>
</p:sldLayout>
</file>

<file path=ppt/slideLayouts/slideLayout3.xml><?xml version="1.0" encoding="utf-8"?>
<p:sldLayout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562100"/>
            <a:ext cx="10668000" cy="421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Visual principal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BBF5632-20E4-4D54-B3A4-92C990DA26EE}" type="slidenum">
              <a:t>‹Nº›</a:t>
            </a:fld>
            <a:endParaRPr/>
          </a:p>
        </p:txBody>
      </p:sp>
    </p:spTree>
  </p:cSld>
  <p:hf hdr="0" ftr="0" dt="0"/>
</p:sldLayout>
</file>

<file path=ppt/slideLayouts/slideLayout4.xml><?xml version="1.0" encoding="utf-8"?>
<p:sldLayout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Bibliografía y recursos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8732B64-9C97-4971-8B5F-42781D28760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5.xml><?xml version="1.0" encoding="utf-8"?>
<p:sldLayout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7" name="ph_media_0">
            <a:extLst xmlns:a="http://schemas.openxmlformats.org/drawingml/2006/main"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xmlns:a="http://schemas.openxmlformats.org/drawingml/2006/main" noGrp="1"/>
          </p:cNvSpPr>
          <p:nvPr>
            <p:ph type="media" idx="11" hasCustomPrompt="1"/>
          </p:nvPr>
        </p:nvSpPr>
        <p:spPr>
          <a:xfrm xmlns:a="http://schemas.openxmlformats.org/drawingml/2006/main">
            <a:off x="762000" y="1657350"/>
            <a:ext cx="7239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382000" y="1657350"/>
            <a:ext cx="304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076EB7A8-105E-44D9-AF9B-E4B002172AD7}" type="slidenum">
              <a:t>‹Nº›</a:t>
            </a:fld>
            <a:endParaRPr/>
          </a:p>
        </p:txBody>
      </p:sp>
    </p:spTree>
  </p:cSld>
  <p:hf hdr="0" ftr="0" dt="0"/>
</p:sldLayout>
</file>

<file path=ppt/slideLayouts/slideLayout6.xml><?xml version="1.0" encoding="utf-8"?>
<p:sldLayout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Tabla o datos</a:t>
            </a:r>
          </a:p>
        </p:txBody>
      </p:sp>
      <p:sp>
        <p:nvSpPr>
          <p:cNvPr id="7" name="ph_table_0">
            <a:extLst xmlns:a="http://schemas.openxmlformats.org/drawingml/2006/main"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xmlns:a="http://schemas.openxmlformats.org/drawingml/2006/main" noGrp="1"/>
          </p:cNvSpPr>
          <p:nvPr>
            <p:ph type="tbl" idx="11" hasCustomPrompt="1"/>
          </p:nvPr>
        </p:nvSpPr>
        <p:spPr>
          <a:xfrm xmlns:a="http://schemas.openxmlformats.org/drawingml/2006/main">
            <a:off x="762000" y="167640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Tabla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558165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FEE56A1-BB6C-438D-8886-FF44760C7C6B}" type="slidenum">
              <a:t>‹Nº›</a:t>
            </a:fld>
            <a:endParaRPr/>
          </a:p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Recapitulación final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69545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56A0307-F779-4344-B886-D9280EB668B3}" type="slidenum">
              <a:t>‹Nº›</a:t>
            </a:fld>
            <a:endParaRPr/>
          </a:p>
        </p:txBody>
      </p:sp>
    </p:spTree>
  </p:cSld>
  <p:hf hdr="0" ftr="0" dt="0"/>
</p:sldLayout>
</file>

<file path=ppt/slideLayouts/slideLayout8.xml><?xml version="1.0" encoding="utf-8"?>
<p:sldLayout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Resumen parcial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858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01000" y="1676400"/>
            <a:ext cx="34290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687D1-4041-4057-AFDA-E8313599D529}" type="slidenum">
              <a:t>‹Nº›</a:t>
            </a:fld>
            <a:endParaRPr/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Error frecuente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952500" y="1809750"/>
            <a:ext cx="10287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incorrecta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143000" y="3905250"/>
            <a:ext cx="9906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DAFD395-8463-4588-B260-79B86AAD3E5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Mini ejercicio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6477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y datos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7620000" y="1695450"/>
            <a:ext cx="3810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1336448-9F7A-438A-9B1D-8F6491D87475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1.xml><?xml version="1.0" encoding="utf-8"?>
<p:sldLayout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Pregunta al curso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333500" y="2000250"/>
            <a:ext cx="9525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Pregunta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524000" y="4457700"/>
            <a:ext cx="9144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CFE78DF-3976-48C8-961D-AA1C8CA99F09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2.xml><?xml version="1.0" encoding="utf-8"?>
<p:sldLayout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Aplicación a Fonoaudiología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5715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Concepto físico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6858000" y="1714500"/>
            <a:ext cx="4572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0D82D-5740-4471-AF56-8696EEE2E4B5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3.xml><?xml version="1.0" encoding="utf-8"?>
<p:sldLayout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Proceso secuencial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924050"/>
            <a:ext cx="106680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14400" y="5219700"/>
            <a:ext cx="10363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9CA5DB51-531C-4AFB-9FB5-87CA9A3111B8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4.xml><?xml version="1.0" encoding="utf-8"?>
<p:sldLayout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Comparación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B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5DBCCD25-7213-4B32-B316-993301A5099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5.xml><?xml version="1.0" encoding="utf-8"?>
<p:sldLayout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Ejemplo resuelto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57350"/>
            <a:ext cx="4000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Datos y pregunta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143500" y="1657350"/>
            <a:ext cx="6286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685110A-6086-4FE8-8F00-9DEAECCAACBB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6.xml><?xml version="1.0" encoding="utf-8"?>
<p:sldLayout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52600"/>
            <a:ext cx="10668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Ecuación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3638550"/>
            <a:ext cx="10668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4E3DF21-1703-4AF3-A758-2190B581AEE3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7.xml><?xml version="1.0" encoding="utf-8"?>
<p:sldLayout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Concepto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143000" y="1981200"/>
            <a:ext cx="9906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333500" y="4686300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F7231C5-674D-43AF-A7BF-A95F7B1AC02E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8.xml><?xml version="1.0" encoding="utf-8"?>
<p:sldLayout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hart_0">
            <a:extLst xmlns:a="http://schemas.openxmlformats.org/drawingml/2006/main"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xmlns:a="http://schemas.openxmlformats.org/drawingml/2006/main" noGrp="1"/>
          </p:cNvSpPr>
          <p:nvPr>
            <p:ph type="chart" idx="11" hasCustomPrompt="1"/>
          </p:nvPr>
        </p:nvSpPr>
        <p:spPr>
          <a:xfrm xmlns:a="http://schemas.openxmlformats.org/drawingml/2006/main">
            <a:off x="762000" y="1676400"/>
            <a:ext cx="685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Gráfico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039100" y="1676400"/>
            <a:ext cx="33909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F56D38C4-B1D5-4C8E-BE72-930FD8BDBC8E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9.xml><?xml version="1.0" encoding="utf-8"?>
<p:sldLayout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izquierda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2F4707-DF6D-4294-BB93-51F5AE613322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0.xml><?xml version="1.0" encoding="utf-8"?>
<p:sldLayout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23875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A6B0A21-BCB8-4A3F-B261-5C6ED3AE236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1.xml><?xml version="1.0" encoding="utf-8"?>
<p:sldLayout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8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733425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060B985-A0D6-43B6-9BE3-5D6CD61324BB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2.xml><?xml version="1.0" encoding="utf-8"?>
<p:sldLayout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10668000" cy="411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113A982-D864-4714-BC0D-F64786B8C006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3.xml><?xml version="1.0" encoding="utf-8"?>
<p:sldLayout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Mapa de la clase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90700"/>
            <a:ext cx="1066800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4F5DA17-0689-46E4-8362-81AB21D91399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4.xml><?xml version="1.0" encoding="utf-8"?>
<p:sldLayout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Conocimientos previos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Ya conocemos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C017E5F8-CA14-4AD9-9C34-2654E5F0D860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5.xml><?xml version="1.0" encoding="utf-8"?>
<p:sldLayout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h_title_0">
            <a:extLst xmlns:a="http://schemas.openxmlformats.org/drawingml/2006/main"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1543049"/>
            <a:ext cx="8572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 la unidad</a:t>
            </a:r>
          </a:p>
        </p:txBody>
      </p:sp>
      <p:sp>
        <p:nvSpPr>
          <p:cNvPr id="8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143250"/>
            <a:ext cx="723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Subtítulo o alcance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FBD13B0-F1EE-46B2-9204-54BDCC94E2F7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6.xml><?xml version="1.0" encoding="utf-8"?>
<p:sldLayout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19300"/>
            <a:ext cx="8953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Cierre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314700"/>
            <a:ext cx="8191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Puente hacia la próxima clase</a:t>
            </a:r>
            <a:endParaRPr/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551B1DD-AE22-4797-A41E-B58F85D9714A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7.xml><?xml version="1.0" encoding="utf-8"?>
<p:sldLayout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95500"/>
            <a:ext cx="9334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del bloque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29565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Pregunta guía o propósito</a:t>
            </a:r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E8974C-1134-48A5-94B6-2428CCBD93A5}" type="slidenum">
              <a:t>‹Nº›</a:t>
            </a:fld>
            <a:endParaRPr/>
          </a:p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ca2df6d2093c409b" /><Relationship Type="http://schemas.openxmlformats.org/officeDocument/2006/relationships/theme" Target="/ppt/slideMasters/theme/theme2.xml" Id="R69d2a7ac9ff94f0e" /><Relationship Type="http://schemas.openxmlformats.org/officeDocument/2006/relationships/slideLayout" Target="/ppt/slideLayouts/slideLayout1.xml" Id="R95b25583d5704c5c" /><Relationship Type="http://schemas.openxmlformats.org/officeDocument/2006/relationships/slideLayout" Target="/ppt/slideLayouts/slideLayout2.xml" Id="Rd38831ba8d4c4e92" /><Relationship Type="http://schemas.openxmlformats.org/officeDocument/2006/relationships/slideLayout" Target="/ppt/slideLayouts/slideLayout3.xml" Id="R5530f9636bc8402f" /><Relationship Type="http://schemas.openxmlformats.org/officeDocument/2006/relationships/slideLayout" Target="/ppt/slideLayouts/slideLayout4.xml" Id="Rdc32369aa0ad48c6" /><Relationship Type="http://schemas.openxmlformats.org/officeDocument/2006/relationships/slideLayout" Target="/ppt/slideLayouts/slideLayout5.xml" Id="R2e7b31347f604d0d" /><Relationship Type="http://schemas.openxmlformats.org/officeDocument/2006/relationships/slideLayout" Target="/ppt/slideLayouts/slideLayout6.xml" Id="R340d5e0634a64b83" /><Relationship Type="http://schemas.openxmlformats.org/officeDocument/2006/relationships/slideLayout" Target="/ppt/slideLayouts/slideLayout7.xml" Id="Rb30fdaa6a57e4c7c" /><Relationship Type="http://schemas.openxmlformats.org/officeDocument/2006/relationships/slideLayout" Target="/ppt/slideLayouts/slideLayout8.xml" Id="Rc6e658b871e9482e" /><Relationship Type="http://schemas.openxmlformats.org/officeDocument/2006/relationships/slideLayout" Target="/ppt/slideLayouts/slideLayout9.xml" Id="R11b808185e784817" /><Relationship Type="http://schemas.openxmlformats.org/officeDocument/2006/relationships/slideLayout" Target="/ppt/slideLayouts/slideLayout10.xml" Id="R57b3fbc95de046fe" /><Relationship Type="http://schemas.openxmlformats.org/officeDocument/2006/relationships/slideLayout" Target="/ppt/slideLayouts/slideLayout11.xml" Id="R9a9e05fd28474a88" /><Relationship Type="http://schemas.openxmlformats.org/officeDocument/2006/relationships/slideLayout" Target="/ppt/slideLayouts/slideLayout12.xml" Id="Rf3034901510740a1" /><Relationship Type="http://schemas.openxmlformats.org/officeDocument/2006/relationships/slideLayout" Target="/ppt/slideLayouts/slideLayout13.xml" Id="R233784e7fe9747f7" /><Relationship Type="http://schemas.openxmlformats.org/officeDocument/2006/relationships/slideLayout" Target="/ppt/slideLayouts/slideLayout14.xml" Id="R9aee9e627ba34822" /><Relationship Type="http://schemas.openxmlformats.org/officeDocument/2006/relationships/slideLayout" Target="/ppt/slideLayouts/slideLayout15.xml" Id="R9b5844587f1446c9" /><Relationship Type="http://schemas.openxmlformats.org/officeDocument/2006/relationships/slideLayout" Target="/ppt/slideLayouts/slideLayout16.xml" Id="R1846dafdecee4692" /><Relationship Type="http://schemas.openxmlformats.org/officeDocument/2006/relationships/slideLayout" Target="/ppt/slideLayouts/slideLayout17.xml" Id="R5c9864ed52a24b43" /><Relationship Type="http://schemas.openxmlformats.org/officeDocument/2006/relationships/slideLayout" Target="/ppt/slideLayouts/slideLayout18.xml" Id="Rf7bbc14b51534ff9" /><Relationship Type="http://schemas.openxmlformats.org/officeDocument/2006/relationships/slideLayout" Target="/ppt/slideLayouts/slideLayout19.xml" Id="Ra18cadb382b84286" /><Relationship Type="http://schemas.openxmlformats.org/officeDocument/2006/relationships/slideLayout" Target="/ppt/slideLayouts/slideLayout20.xml" Id="Rd3039ca985d64fc0" /><Relationship Type="http://schemas.openxmlformats.org/officeDocument/2006/relationships/slideLayout" Target="/ppt/slideLayouts/slideLayout21.xml" Id="R149426648e2a4d4a" /><Relationship Type="http://schemas.openxmlformats.org/officeDocument/2006/relationships/slideLayout" Target="/ppt/slideLayouts/slideLayout22.xml" Id="R5fb45e917b4b4c54" /><Relationship Type="http://schemas.openxmlformats.org/officeDocument/2006/relationships/slideLayout" Target="/ppt/slideLayouts/slideLayout23.xml" Id="R5f755634100140bb" /><Relationship Type="http://schemas.openxmlformats.org/officeDocument/2006/relationships/slideLayout" Target="/ppt/slideLayouts/slideLayout24.xml" Id="R66cc989432af432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a0784ab5d0b0437a" /><Relationship Type="http://schemas.openxmlformats.org/officeDocument/2006/relationships/theme" Target="/ppt/slideMasters/theme/theme3.xml" Id="R7b5f728f850e4ab1" /><Relationship Type="http://schemas.openxmlformats.org/officeDocument/2006/relationships/slideLayout" Target="/ppt/slideLayouts/slideLayout25.xml" Id="R202bb39eb5b64d9b" /><Relationship Type="http://schemas.openxmlformats.org/officeDocument/2006/relationships/slideLayout" Target="/ppt/slideLayouts/slideLayout26.xml" Id="R9e56731752654970" /><Relationship Type="http://schemas.openxmlformats.org/officeDocument/2006/relationships/slideLayout" Target="/ppt/slideLayouts/slideLayout27.xml" Id="R1065f67cb0044e7a" /></Relationships>
</file>

<file path=ppt/slideMasters/slideMaster1.xml><?xml version="1.0" encoding="utf-8"?>
<p:sldMaster xmlns:p="http://schemas.openxmlformats.org/presentationml/2006/main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le_maroon">
            <a:extLst xmlns:a="http://schemas.openxmlformats.org/drawingml/2006/main"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ule_berry">
            <a:extLst xmlns:a="http://schemas.openxmlformats.org/drawingml/2006/main"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ule_gray">
            <a:extLst xmlns:a="http://schemas.openxmlformats.org/drawingml/2006/main"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0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4" name="ucasal_logo_master_ligh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df6d2093c40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429375"/>
            <a:ext cx="1028700" cy="304800"/>
          </a:xfrm>
          <a:prstGeom xmlns:a="http://schemas.openxmlformats.org/drawingml/2006/main" prst="rect">
            <a:avLst/>
          </a:prstGeom>
        </p:spPr>
      </p:pic>
      <p:sp>
        <p:nvSpPr>
          <p:cNvPr id="8" name="footer_course_light">
            <a:extLst xmlns:a="http://schemas.openxmlformats.org/drawingml/2006/main"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  <a:endParaRPr sz="1050" b="0">
              <a:solidFill>
                <a:srgbClr val="667079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b25583d5704c5c"/>
    <p:sldLayoutId xmlns:r="http://schemas.openxmlformats.org/officeDocument/2006/relationships" id="2147483650" r:id="Rd38831ba8d4c4e92"/>
    <p:sldLayoutId xmlns:r="http://schemas.openxmlformats.org/officeDocument/2006/relationships" id="2147483651" r:id="R5530f9636bc8402f"/>
    <p:sldLayoutId xmlns:r="http://schemas.openxmlformats.org/officeDocument/2006/relationships" id="2147483652" r:id="Rdc32369aa0ad48c6"/>
    <p:sldLayoutId xmlns:r="http://schemas.openxmlformats.org/officeDocument/2006/relationships" id="2147483653" r:id="R2e7b31347f604d0d"/>
    <p:sldLayoutId xmlns:r="http://schemas.openxmlformats.org/officeDocument/2006/relationships" id="2147483654" r:id="R340d5e0634a64b83"/>
    <p:sldLayoutId xmlns:r="http://schemas.openxmlformats.org/officeDocument/2006/relationships" id="2147483655" r:id="Rb30fdaa6a57e4c7c"/>
    <p:sldLayoutId xmlns:r="http://schemas.openxmlformats.org/officeDocument/2006/relationships" id="2147483656" r:id="Rc6e658b871e9482e"/>
    <p:sldLayoutId xmlns:r="http://schemas.openxmlformats.org/officeDocument/2006/relationships" id="2147483657" r:id="R11b808185e784817"/>
    <p:sldLayoutId xmlns:r="http://schemas.openxmlformats.org/officeDocument/2006/relationships" id="2147483658" r:id="R57b3fbc95de046fe"/>
    <p:sldLayoutId xmlns:r="http://schemas.openxmlformats.org/officeDocument/2006/relationships" id="2147483659" r:id="R9a9e05fd28474a88"/>
    <p:sldLayoutId xmlns:r="http://schemas.openxmlformats.org/officeDocument/2006/relationships" id="2147483660" r:id="Rf3034901510740a1"/>
    <p:sldLayoutId xmlns:r="http://schemas.openxmlformats.org/officeDocument/2006/relationships" id="2147483661" r:id="R233784e7fe9747f7"/>
    <p:sldLayoutId xmlns:r="http://schemas.openxmlformats.org/officeDocument/2006/relationships" id="2147483662" r:id="R9aee9e627ba34822"/>
    <p:sldLayoutId xmlns:r="http://schemas.openxmlformats.org/officeDocument/2006/relationships" id="2147483663" r:id="R9b5844587f1446c9"/>
    <p:sldLayoutId xmlns:r="http://schemas.openxmlformats.org/officeDocument/2006/relationships" id="2147483664" r:id="R1846dafdecee4692"/>
    <p:sldLayoutId xmlns:r="http://schemas.openxmlformats.org/officeDocument/2006/relationships" id="2147483665" r:id="R5c9864ed52a24b43"/>
    <p:sldLayoutId xmlns:r="http://schemas.openxmlformats.org/officeDocument/2006/relationships" id="2147483666" r:id="Rf7bbc14b51534ff9"/>
    <p:sldLayoutId xmlns:r="http://schemas.openxmlformats.org/officeDocument/2006/relationships" id="2147483667" r:id="Ra18cadb382b84286"/>
    <p:sldLayoutId xmlns:r="http://schemas.openxmlformats.org/officeDocument/2006/relationships" id="2147483668" r:id="Rd3039ca985d64fc0"/>
    <p:sldLayoutId xmlns:r="http://schemas.openxmlformats.org/officeDocument/2006/relationships" id="2147483669" r:id="R149426648e2a4d4a"/>
    <p:sldLayoutId xmlns:r="http://schemas.openxmlformats.org/officeDocument/2006/relationships" id="2147483670" r:id="R5fb45e917b4b4c54"/>
    <p:sldLayoutId xmlns:r="http://schemas.openxmlformats.org/officeDocument/2006/relationships" id="2147483671" r:id="R5f755634100140bb"/>
    <p:sldLayoutId xmlns:r="http://schemas.openxmlformats.org/officeDocument/2006/relationships" id="2147483672" r:id="R66cc989432af4320"/>
  </p:sldLayoutIdLst>
  <p:hf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ule_berry">
            <a:extLst xmlns:a="http://schemas.openxmlformats.org/drawingml/2006/main"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ule_white">
            <a:extLst xmlns:a="http://schemas.openxmlformats.org/drawingml/2006/main"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ule_gray">
            <a:extLst xmlns:a="http://schemas.openxmlformats.org/drawingml/2006/main"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logo_backing">
            <a:extLst xmlns:a="http://schemas.openxmlformats.org/drawingml/2006/main"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ucasal_logo_master_d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84ab5d0b043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6467475"/>
            <a:ext cx="990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footer_course_dark">
            <a:extLst xmlns:a="http://schemas.openxmlformats.org/drawingml/2006/main"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  <a:endParaRPr sz="1050" b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202bb39eb5b64d9b"/>
    <p:sldLayoutId xmlns:r="http://schemas.openxmlformats.org/officeDocument/2006/relationships" id="2147483675" r:id="R9e56731752654970"/>
    <p:sldLayoutId xmlns:r="http://schemas.openxmlformats.org/officeDocument/2006/relationships" id="2147483676" r:id="R1065f67cb0044e7a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a96f4039281942de" /><Relationship Type="http://schemas.openxmlformats.org/officeDocument/2006/relationships/notesSlide" Target="/ppt/notesSlides/notesSlide1.xml" Id="R9adc5530c7ee40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3683c081dc74201" /><Relationship Type="http://schemas.openxmlformats.org/officeDocument/2006/relationships/notesSlide" Target="/ppt/notesSlides/notesSlide2.xml" Id="R339c0387fa3445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3d8ea60c061404d" /><Relationship Type="http://schemas.openxmlformats.org/officeDocument/2006/relationships/notesSlide" Target="/ppt/notesSlides/notesSlide3.xml" Id="Rfbc555559bf64b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64f1ad69b93b436f" /><Relationship Type="http://schemas.openxmlformats.org/officeDocument/2006/relationships/notesSlide" Target="/ppt/notesSlides/notesSlide4.xml" Id="R2a63745ee9d245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2ddeb8bc14ab4" /><Relationship Type="http://schemas.openxmlformats.org/officeDocument/2006/relationships/notesSlide" Target="/ppt/notesSlides/notesSlide5.xml" Id="R2620a177eaa249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de981dd944b37" /><Relationship Type="http://schemas.openxmlformats.org/officeDocument/2006/relationships/notesSlide" Target="/ppt/notesSlides/notesSlide6.xml" Id="Rfe364172b4094b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19e3c6dacc1e4c35" /><Relationship Type="http://schemas.openxmlformats.org/officeDocument/2006/relationships/notesSlide" Target="/ppt/notesSlides/notesSlide7.xml" Id="R531e138cd0f244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c407d4386b2542c6" /><Relationship Type="http://schemas.openxmlformats.org/officeDocument/2006/relationships/notesSlide" Target="/ppt/notesSlides/notesSlide8.xml" Id="R688f503b3b9b40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d131ae5681e4662" /><Relationship Type="http://schemas.openxmlformats.org/officeDocument/2006/relationships/notesSlide" Target="/ppt/notesSlides/notesSlide9.xml" Id="R8d7fc55f3efe43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8fe58ebefed4987" /><Relationship Type="http://schemas.openxmlformats.org/officeDocument/2006/relationships/notesSlide" Target="/ppt/notesSlides/notesSlide10.xml" Id="R12e43fcaa0314d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424f92cfdfb4882" /><Relationship Type="http://schemas.openxmlformats.org/officeDocument/2006/relationships/notesSlide" Target="/ppt/notesSlides/notesSlide11.xml" Id="R8f6960f5dfe146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787994398f46a1" /><Relationship Type="http://schemas.openxmlformats.org/officeDocument/2006/relationships/notesSlide" Target="/ppt/notesSlides/notesSlide12.xml" Id="R2f9cfcc7d2254a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c2c18b7b1aca46e9" /><Relationship Type="http://schemas.openxmlformats.org/officeDocument/2006/relationships/notesSlide" Target="/ppt/notesSlides/notesSlide13.xml" Id="R30d5e1618f364c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48ddf461e3c4255" /><Relationship Type="http://schemas.openxmlformats.org/officeDocument/2006/relationships/notesSlide" Target="/ppt/notesSlides/notesSlide14.xml" Id="R3013493e01e4467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69e707c70814908" /><Relationship Type="http://schemas.openxmlformats.org/officeDocument/2006/relationships/notesSlide" Target="/ppt/notesSlides/notesSlide15.xml" Id="R843f2cff588b4a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a47e6351f3740bc" /><Relationship Type="http://schemas.openxmlformats.org/officeDocument/2006/relationships/notesSlide" Target="/ppt/notesSlides/notesSlide16.xml" Id="R2ab46563bbeb463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d63d9ed7de8345f3" /><Relationship Type="http://schemas.openxmlformats.org/officeDocument/2006/relationships/notesSlide" Target="/ppt/notesSlides/notesSlide17.xml" Id="R6550f1545dd9491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410c87da30b24512" /><Relationship Type="http://schemas.openxmlformats.org/officeDocument/2006/relationships/notesSlide" Target="/ppt/notesSlides/notesSlide18.xml" Id="R0d0091202d9c4ef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152ce95cc81143f0" /><Relationship Type="http://schemas.openxmlformats.org/officeDocument/2006/relationships/notesSlide" Target="/ppt/notesSlides/notesSlide19.xml" Id="Rfa39fafcff0a48d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14cc0589a1cf46e6" /><Relationship Type="http://schemas.openxmlformats.org/officeDocument/2006/relationships/notesSlide" Target="/ppt/notesSlides/notesSlide20.xml" Id="Rea6319a7ddc149f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e62ff170216f4b73" /><Relationship Type="http://schemas.openxmlformats.org/officeDocument/2006/relationships/notesSlide" Target="/ppt/notesSlides/notesSlide21.xml" Id="R7c753dae9835445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2b72e0fe0804bb2" /><Relationship Type="http://schemas.openxmlformats.org/officeDocument/2006/relationships/image" Target="/ppt/media/image2.png" Id="R346ed2f47f014365" /><Relationship Type="http://schemas.openxmlformats.org/officeDocument/2006/relationships/image" Target="/ppt/media/image.svg" Id="Ra608109e938b4807" /><Relationship Type="http://schemas.openxmlformats.org/officeDocument/2006/relationships/notesSlide" Target="/ppt/notesSlides/notesSlide22.xml" Id="R4afc35b4816b44e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d53c0619e4a46e4" /><Relationship Type="http://schemas.openxmlformats.org/officeDocument/2006/relationships/notesSlide" Target="/ppt/notesSlides/notesSlide23.xml" Id="R5a44c7659ad0400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e53b4bedf464225" /><Relationship Type="http://schemas.openxmlformats.org/officeDocument/2006/relationships/notesSlide" Target="/ppt/notesSlides/notesSlide24.xml" Id="R3aa20437bb8d4d8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3a2efbe70404147" /><Relationship Type="http://schemas.openxmlformats.org/officeDocument/2006/relationships/notesSlide" Target="/ppt/notesSlides/notesSlide25.xml" Id="Rdd4dad5e3eac416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46a7a866df674ea8" /><Relationship Type="http://schemas.openxmlformats.org/officeDocument/2006/relationships/notesSlide" Target="/ppt/notesSlides/notesSlide26.xml" Id="Re7bd08ba56be4f3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39e0bb7fc6140c1" /><Relationship Type="http://schemas.openxmlformats.org/officeDocument/2006/relationships/notesSlide" Target="/ppt/notesSlides/notesSlide27.xml" Id="Rd77a194846dc442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41953e6717274c2c" /><Relationship Type="http://schemas.openxmlformats.org/officeDocument/2006/relationships/notesSlide" Target="/ppt/notesSlides/notesSlide28.xml" Id="R91e17a32018e4c8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562deff579704d52" /><Relationship Type="http://schemas.openxmlformats.org/officeDocument/2006/relationships/notesSlide" Target="/ppt/notesSlides/notesSlide29.xml" Id="R6fdf8acbdb6a469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2f164fd32154956" /><Relationship Type="http://schemas.openxmlformats.org/officeDocument/2006/relationships/notesSlide" Target="/ppt/notesSlides/notesSlide30.xml" Id="Rb668ed834dd743b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06ec4a008fb40f3" /><Relationship Type="http://schemas.openxmlformats.org/officeDocument/2006/relationships/notesSlide" Target="/ppt/notesSlides/notesSlide31.xml" Id="Rdabc4ce1f3144ad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5e7df85fbd124e82" /><Relationship Type="http://schemas.openxmlformats.org/officeDocument/2006/relationships/notesSlide" Target="/ppt/notesSlides/notesSlide32.xml" Id="Rb6fa49bf3d5544c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4938516674f14e0a" /><Relationship Type="http://schemas.openxmlformats.org/officeDocument/2006/relationships/notesSlide" Target="/ppt/notesSlides/notesSlide33.xml" Id="R589da274ca1b460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242c5036266848af" /><Relationship Type="http://schemas.openxmlformats.org/officeDocument/2006/relationships/notesSlide" Target="/ppt/notesSlides/notesSlide34.xml" Id="Rd5c408c39e40455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9a21e371c704f7e" /><Relationship Type="http://schemas.openxmlformats.org/officeDocument/2006/relationships/notesSlide" Target="/ppt/notesSlides/notesSlide35.xml" Id="R4ba7c291a5404e6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e3743af62804c34" /><Relationship Type="http://schemas.openxmlformats.org/officeDocument/2006/relationships/notesSlide" Target="/ppt/notesSlides/notesSlide36.xml" Id="R8ad3a41232e746d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986b640acc1e4225" /><Relationship Type="http://schemas.openxmlformats.org/officeDocument/2006/relationships/notesSlide" Target="/ppt/notesSlides/notesSlide37.xml" Id="R1123b671c36f449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e3cfbc481134cdc" /><Relationship Type="http://schemas.openxmlformats.org/officeDocument/2006/relationships/notesSlide" Target="/ppt/notesSlides/notesSlide38.xml" Id="R2b1c2069163243c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604f92c80c2549d3" /><Relationship Type="http://schemas.openxmlformats.org/officeDocument/2006/relationships/notesSlide" Target="/ppt/notesSlides/notesSlide39.xml" Id="Rc69d277ec4194b3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1cc07662af641f4" /><Relationship Type="http://schemas.openxmlformats.org/officeDocument/2006/relationships/notesSlide" Target="/ppt/notesSlides/notesSlide40.xml" Id="Rbe793eec6f77483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f45e989b275460d" /><Relationship Type="http://schemas.openxmlformats.org/officeDocument/2006/relationships/notesSlide" Target="/ppt/notesSlides/notesSlide41.xml" Id="R59fdd390dc5c49d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20479143ec3947ac" /><Relationship Type="http://schemas.openxmlformats.org/officeDocument/2006/relationships/notesSlide" Target="/ppt/notesSlides/notesSlide42.xml" Id="R61417fbd9159436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643e2182b344c53" /><Relationship Type="http://schemas.openxmlformats.org/officeDocument/2006/relationships/notesSlide" Target="/ppt/notesSlides/notesSlide43.xml" Id="Raf3f6046eaf7406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c157aa8d1344559" /><Relationship Type="http://schemas.openxmlformats.org/officeDocument/2006/relationships/notesSlide" Target="/ppt/notesSlides/notesSlide44.xml" Id="R33f2ac4f822e419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77935a9c20b94c45" /><Relationship Type="http://schemas.openxmlformats.org/officeDocument/2006/relationships/notesSlide" Target="/ppt/notesSlides/notesSlide45.xml" Id="Re7bf6f7490564e0c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cd75df76dd294506" /><Relationship Type="http://schemas.openxmlformats.org/officeDocument/2006/relationships/notesSlide" Target="/ppt/notesSlides/notesSlide46.xml" Id="R0ea5b797255a482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c245d54c564fa0" /><Relationship Type="http://schemas.openxmlformats.org/officeDocument/2006/relationships/notesSlide" Target="/ppt/notesSlides/notesSlide47.xml" Id="Rd2f743e3e67f480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8903f78e17d4a78" /><Relationship Type="http://schemas.openxmlformats.org/officeDocument/2006/relationships/image" Target="/ppt/media/image3.png" Id="Rabdeb8ee37ba49dc" /><Relationship Type="http://schemas.openxmlformats.org/officeDocument/2006/relationships/image" Target="/ppt/media/image2.svg" Id="R170109f8f74a49ed" /><Relationship Type="http://schemas.openxmlformats.org/officeDocument/2006/relationships/notesSlide" Target="/ppt/notesSlides/notesSlide48.xml" Id="R6f0ad3b425c54c7b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61bb77c014e49b6" /><Relationship Type="http://schemas.openxmlformats.org/officeDocument/2006/relationships/notesSlide" Target="/ppt/notesSlides/notesSlide49.xml" Id="R548d177abb494f9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83fcc0fa1a445b1" /><Relationship Type="http://schemas.openxmlformats.org/officeDocument/2006/relationships/notesSlide" Target="/ppt/notesSlides/notesSlide50.xml" Id="R412e723eeba5491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5b5eb2df9bf64b09" /><Relationship Type="http://schemas.openxmlformats.org/officeDocument/2006/relationships/notesSlide" Target="/ppt/notesSlides/notesSlide51.xml" Id="R63c8563ce7e148d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979b9d2a467248d6" /><Relationship Type="http://schemas.openxmlformats.org/officeDocument/2006/relationships/notesSlide" Target="/ppt/notesSlides/notesSlide52.xml" Id="R24d82b36a92e4cd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e25c629fdea4483e" /><Relationship Type="http://schemas.openxmlformats.org/officeDocument/2006/relationships/notesSlide" Target="/ppt/notesSlides/notesSlide53.xml" Id="R26e72d12dfb0468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e24d46e7b4244c0" /><Relationship Type="http://schemas.openxmlformats.org/officeDocument/2006/relationships/notesSlide" Target="/ppt/notesSlides/notesSlide54.xml" Id="R9c53e89ff7d34a76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ab6ae2e3f191485f" /><Relationship Type="http://schemas.openxmlformats.org/officeDocument/2006/relationships/notesSlide" Target="/ppt/notesSlides/notesSlide55.xml" Id="R3ff54ca89fd046f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40e15734206418f" /><Relationship Type="http://schemas.openxmlformats.org/officeDocument/2006/relationships/notesSlide" Target="/ppt/notesSlides/notesSlide56.xml" Id="R9d4f4d31593e4498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471b39e6e9c4094" /><Relationship Type="http://schemas.openxmlformats.org/officeDocument/2006/relationships/notesSlide" Target="/ppt/notesSlides/notesSlide57.xml" Id="R369395ee1f984a56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ce383ce8109425f" /><Relationship Type="http://schemas.openxmlformats.org/officeDocument/2006/relationships/notesSlide" Target="/ppt/notesSlides/notesSlide58.xml" Id="Rbcbf9274cd884706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ba0310647a044fd" /><Relationship Type="http://schemas.openxmlformats.org/officeDocument/2006/relationships/notesSlide" Target="/ppt/notesSlides/notesSlide59.xml" Id="R19bc0b41f5664026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7bfc165d5bb436c" /><Relationship Type="http://schemas.openxmlformats.org/officeDocument/2006/relationships/notesSlide" Target="/ppt/notesSlides/notesSlide60.xml" Id="R12abe577a01249f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5d7acab81f034e0e" /><Relationship Type="http://schemas.openxmlformats.org/officeDocument/2006/relationships/notesSlide" Target="/ppt/notesSlides/notesSlide61.xml" Id="Ra87622cf03614fc3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c7c150628dc49ec" /><Relationship Type="http://schemas.openxmlformats.org/officeDocument/2006/relationships/notesSlide" Target="/ppt/notesSlides/notesSlide62.xml" Id="R2ebcec51ba2a410f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b435fffcd9174b44" /><Relationship Type="http://schemas.openxmlformats.org/officeDocument/2006/relationships/notesSlide" Target="/ppt/notesSlides/notesSlide63.xml" Id="Rff2e76090ddb4f36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3fa5d6085e94f23" /><Relationship Type="http://schemas.openxmlformats.org/officeDocument/2006/relationships/notesSlide" Target="/ppt/notesSlides/notesSlide64.xml" Id="Rfb0ec524907c419e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9f8ccc2047354901" /><Relationship Type="http://schemas.openxmlformats.org/officeDocument/2006/relationships/notesSlide" Target="/ppt/notesSlides/notesSlide65.xml" Id="Rd78797970ef74458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6c84cec098f4ea3" /><Relationship Type="http://schemas.openxmlformats.org/officeDocument/2006/relationships/notesSlide" Target="/ppt/notesSlides/notesSlide66.xml" Id="R21963441617d4dcc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59e6ca32cffd4a00" /><Relationship Type="http://schemas.openxmlformats.org/officeDocument/2006/relationships/notesSlide" Target="/ppt/notesSlides/notesSlide67.xml" Id="R8991feabd3284cf5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582f146b53d4af9" /><Relationship Type="http://schemas.openxmlformats.org/officeDocument/2006/relationships/notesSlide" Target="/ppt/notesSlides/notesSlide68.xml" Id="R5cbc1f0e722e4047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be309d94c734697" /><Relationship Type="http://schemas.openxmlformats.org/officeDocument/2006/relationships/notesSlide" Target="/ppt/notesSlides/notesSlide69.xml" Id="R252561bf2d454b80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4ba9ab73f7141f5" /><Relationship Type="http://schemas.openxmlformats.org/officeDocument/2006/relationships/notesSlide" Target="/ppt/notesSlides/notesSlide70.xml" Id="Re1bb0ca328a840cc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55e63cb3c8614060" /><Relationship Type="http://schemas.openxmlformats.org/officeDocument/2006/relationships/notesSlide" Target="/ppt/notesSlides/notesSlide71.xml" Id="Reef1c713bec84a69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27156ba23b1401f" /><Relationship Type="http://schemas.openxmlformats.org/officeDocument/2006/relationships/notesSlide" Target="/ppt/notesSlides/notesSlide72.xml" Id="Re8e553a4eeb843b8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c91b5ffcee2549d0" /><Relationship Type="http://schemas.openxmlformats.org/officeDocument/2006/relationships/notesSlide" Target="/ppt/notesSlides/notesSlide73.xml" Id="R87d9bb7a50ac4551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5c61e8aa17c4608" /><Relationship Type="http://schemas.openxmlformats.org/officeDocument/2006/relationships/notesSlide" Target="/ppt/notesSlides/notesSlide74.xml" Id="Rf8deb8164b544426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f622988a29e4760" /><Relationship Type="http://schemas.openxmlformats.org/officeDocument/2006/relationships/image" Target="/ppt/media/image4.png" Id="R643b8e39b534481b" /><Relationship Type="http://schemas.openxmlformats.org/officeDocument/2006/relationships/image" Target="/ppt/media/image3.svg" Id="Rc645c63a7ef64968" /><Relationship Type="http://schemas.openxmlformats.org/officeDocument/2006/relationships/notesSlide" Target="/ppt/notesSlides/notesSlide75.xml" Id="Ra088a1c178e04beb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b047b4fc1bc645a2" /><Relationship Type="http://schemas.openxmlformats.org/officeDocument/2006/relationships/notesSlide" Target="/ppt/notesSlides/notesSlide76.xml" Id="R83d1cbdf14b6426a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6ec8718a06a049ea" /><Relationship Type="http://schemas.openxmlformats.org/officeDocument/2006/relationships/notesSlide" Target="/ppt/notesSlides/notesSlide77.xml" Id="R8c87b29b03824e17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81151bf3d2944b4" /><Relationship Type="http://schemas.openxmlformats.org/officeDocument/2006/relationships/image" Target="/ppt/media/image5.png" Id="Rbf2dc3f565cd4875" /><Relationship Type="http://schemas.openxmlformats.org/officeDocument/2006/relationships/image" Target="/ppt/media/image4.svg" Id="R0a40ddb544294fab" /><Relationship Type="http://schemas.openxmlformats.org/officeDocument/2006/relationships/notesSlide" Target="/ppt/notesSlides/notesSlide78.xml" Id="R52307414199f411b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c3a6cec57750457a" /><Relationship Type="http://schemas.openxmlformats.org/officeDocument/2006/relationships/notesSlide" Target="/ppt/notesSlides/notesSlide79.xml" Id="Ra985268c3d4d4e3f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bb1cc86666f34243" /><Relationship Type="http://schemas.openxmlformats.org/officeDocument/2006/relationships/notesSlide" Target="/ppt/notesSlides/notesSlide80.xml" Id="Reca9b32971954dff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f17cd4fd09db4a24" /><Relationship Type="http://schemas.openxmlformats.org/officeDocument/2006/relationships/notesSlide" Target="/ppt/notesSlides/notesSlide81.xml" Id="Rd8399785352d4c0c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8d5000934e4b32" /><Relationship Type="http://schemas.openxmlformats.org/officeDocument/2006/relationships/notesSlide" Target="/ppt/notesSlides/notesSlide82.xml" Id="Rd96e4b10dd3144b1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12571709cdb4295" /><Relationship Type="http://schemas.openxmlformats.org/officeDocument/2006/relationships/notesSlide" Target="/ppt/notesSlides/notesSlide83.xml" Id="R988529b476974bf1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a839e76dbf4d4498" /><Relationship Type="http://schemas.openxmlformats.org/officeDocument/2006/relationships/notesSlide" Target="/ppt/notesSlides/notesSlide84.xml" Id="Raec93d2a18994810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63cc53c389bd4035" /><Relationship Type="http://schemas.openxmlformats.org/officeDocument/2006/relationships/notesSlide" Target="/ppt/notesSlides/notesSlide85.xml" Id="R07e34e11d72342ef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362caabeb9f4d03" /><Relationship Type="http://schemas.openxmlformats.org/officeDocument/2006/relationships/notesSlide" Target="/ppt/notesSlides/notesSlide86.xml" Id="R92e493756a794f77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6c9ca0880804291" /><Relationship Type="http://schemas.openxmlformats.org/officeDocument/2006/relationships/notesSlide" Target="/ppt/notesSlides/notesSlide87.xml" Id="R0aef027c48b94697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75340d5ee3ca4a8b" /><Relationship Type="http://schemas.openxmlformats.org/officeDocument/2006/relationships/notesSlide" Target="/ppt/notesSlides/notesSlide88.xml" Id="R7cca5179e71d4064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1dcece99b594e6f" /><Relationship Type="http://schemas.openxmlformats.org/officeDocument/2006/relationships/image" Target="/ppt/media/image6.png" Id="R6db5c792dc294355" /><Relationship Type="http://schemas.openxmlformats.org/officeDocument/2006/relationships/image" Target="/ppt/media/image5.svg" Id="R484c79029f2a4367" /><Relationship Type="http://schemas.openxmlformats.org/officeDocument/2006/relationships/notesSlide" Target="/ppt/notesSlides/notesSlide89.xml" Id="R24da3429799f492e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93a48b23ba14feb" /><Relationship Type="http://schemas.openxmlformats.org/officeDocument/2006/relationships/notesSlide" Target="/ppt/notesSlides/notesSlide90.xml" Id="R79dd9c7b6f0b43eb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71610a049174184" /><Relationship Type="http://schemas.openxmlformats.org/officeDocument/2006/relationships/notesSlide" Target="/ppt/notesSlides/notesSlide91.xml" Id="R8644c4764e5649c5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157c221e57449eb" /><Relationship Type="http://schemas.openxmlformats.org/officeDocument/2006/relationships/notesSlide" Target="/ppt/notesSlides/notesSlide92.xml" Id="Rb0123d64fce2457f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4d3e25c38a54cb0" /><Relationship Type="http://schemas.openxmlformats.org/officeDocument/2006/relationships/notesSlide" Target="/ppt/notesSlides/notesSlide93.xml" Id="Rb1d6314950d847df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d4763ba2f254735" /><Relationship Type="http://schemas.openxmlformats.org/officeDocument/2006/relationships/notesSlide" Target="/ppt/notesSlides/notesSlide94.xml" Id="R0e40c00de72240aa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5f970a83c3f74357" /><Relationship Type="http://schemas.openxmlformats.org/officeDocument/2006/relationships/notesSlide" Target="/ppt/notesSlides/notesSlide95.xml" Id="R7d385b3600f04bce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d2c13658fba4905" /><Relationship Type="http://schemas.openxmlformats.org/officeDocument/2006/relationships/notesSlide" Target="/ppt/notesSlides/notesSlide96.xml" Id="R17f5403a29874843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4dd6997fb6c42d8" /><Relationship Type="http://schemas.openxmlformats.org/officeDocument/2006/relationships/notesSlide" Target="/ppt/notesSlides/notesSlide97.xml" Id="R0ef8fd8dd9b1435a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9da27f190d6240fe" /><Relationship Type="http://schemas.openxmlformats.org/officeDocument/2006/relationships/notesSlide" Target="/ppt/notesSlides/notesSlide98.xml" Id="Rbcceffe3b17b46a5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473db2699814639" /><Relationship Type="http://schemas.openxmlformats.org/officeDocument/2006/relationships/notesSlide" Target="/ppt/notesSlides/notesSlide99.xml" Id="R97a1c072eeac4946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0327cf515ee40f8" /><Relationship Type="http://schemas.openxmlformats.org/officeDocument/2006/relationships/notesSlide" Target="/ppt/notesSlides/notesSlide100.xml" Id="R5d1c1915b6a64dfd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eda7740ce24a61" /><Relationship Type="http://schemas.openxmlformats.org/officeDocument/2006/relationships/notesSlide" Target="/ppt/notesSlides/notesSlide101.xml" Id="R3125c9ae638b4312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3dfbd30aa1ba44a3" /><Relationship Type="http://schemas.openxmlformats.org/officeDocument/2006/relationships/notesSlide" Target="/ppt/notesSlides/notesSlide102.xml" Id="R9bcfcb54e8384d13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6d76bc37ba944b04" /><Relationship Type="http://schemas.openxmlformats.org/officeDocument/2006/relationships/notesSlide" Target="/ppt/notesSlides/notesSlide103.xml" Id="Rf44175514465421b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c0ea3b0ea541a7" /><Relationship Type="http://schemas.openxmlformats.org/officeDocument/2006/relationships/notesSlide" Target="/ppt/notesSlides/notesSlide104.xml" Id="Rf068541b829248d8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b078c703164b21" /><Relationship Type="http://schemas.openxmlformats.org/officeDocument/2006/relationships/notesSlide" Target="/ppt/notesSlides/notesSlide105.xml" Id="Rc134660417b34d78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fbaf5618254cb8" /><Relationship Type="http://schemas.openxmlformats.org/officeDocument/2006/relationships/notesSlide" Target="/ppt/notesSlides/notesSlide106.xml" Id="R15292d3c90ad4556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e9f6588e2be4340" /><Relationship Type="http://schemas.openxmlformats.org/officeDocument/2006/relationships/notesSlide" Target="/ppt/notesSlides/notesSlide107.xml" Id="R3ee13fa8afa840f4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294ea932e9d4c4c" /><Relationship Type="http://schemas.openxmlformats.org/officeDocument/2006/relationships/notesSlide" Target="/ppt/notesSlides/notesSlide108.xml" Id="Rba639006bd104dcc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cddb55c65bf4ad1" /><Relationship Type="http://schemas.openxmlformats.org/officeDocument/2006/relationships/notesSlide" Target="/ppt/notesSlides/notesSlide109.xml" Id="Rd382059a366b4151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b2d2bf74fcc43ae" /><Relationship Type="http://schemas.openxmlformats.org/officeDocument/2006/relationships/notesSlide" Target="/ppt/notesSlides/notesSlide110.xml" Id="R23ab58e158154f6a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ca73a52f894460" /><Relationship Type="http://schemas.openxmlformats.org/officeDocument/2006/relationships/notesSlide" Target="/ppt/notesSlides/notesSlide111.xml" Id="R3eafae800cb94ad5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a1552f433e42e6" /><Relationship Type="http://schemas.openxmlformats.org/officeDocument/2006/relationships/notesSlide" Target="/ppt/notesSlides/notesSlide112.xml" Id="R7f1a7a42d68f4a7e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ac9b05ea7742a4" /><Relationship Type="http://schemas.openxmlformats.org/officeDocument/2006/relationships/notesSlide" Target="/ppt/notesSlides/notesSlide113.xml" Id="R5e2848a2c220457a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5a941993a3f4583" /><Relationship Type="http://schemas.openxmlformats.org/officeDocument/2006/relationships/notesSlide" Target="/ppt/notesSlides/notesSlide114.xml" Id="R933833603b3c40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16E3027A-6909-4255-867C-71CEE243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8 · FÍSICA ACÚSTICA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61DBC82-3F8D-4176-9424-286D497F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90625"/>
            <a:ext cx="6191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7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7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Unidad 8 · Alteraciones y enfermedades auditivas, estudios y rehabilitación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5CF7936-8F0C-441C-AF27-65CBC635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EADDE4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EADDE4"/>
                </a:solidFill>
                <a:latin typeface="Calibri"/>
                <a:ea typeface="Calibri"/>
                <a:cs typeface="Calibri"/>
              </a:rPr>
              <a:t>De la exposición y la medición a una interpretación con límites</a:t>
            </a:r>
          </a:p>
        </p:txBody>
      </p:sp>
      <p:sp>
        <p:nvSpPr>
          <p:cNvPr id="4" name="cover-step-1-anchor">
            <a:extLst xmlns:a="http://schemas.openxmlformats.org/drawingml/2006/main">
              <a:ext uri="{FF2B5EF4-FFF2-40B4-BE49-F238E27FC236}">
                <a16:creationId xmlns:a16="http://schemas.microsoft.com/office/drawing/2014/main" id="{D9738AAF-E18F-4CD7-A9E7-C7096E92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1619250" cy="1047750"/>
          </a:xfrm>
          <a:prstGeom xmlns:a="http://schemas.openxmlformats.org/drawingml/2006/main" prst="roundRect">
            <a:avLst>
              <a:gd name="adj" fmla="val 90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cover-step-2-anchor">
            <a:extLst xmlns:a="http://schemas.openxmlformats.org/drawingml/2006/main">
              <a:ext uri="{FF2B5EF4-FFF2-40B4-BE49-F238E27FC236}">
                <a16:creationId xmlns:a16="http://schemas.microsoft.com/office/drawing/2014/main" id="{E2BDFFE6-2765-46E3-945E-2982025C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62125"/>
            <a:ext cx="1619250" cy="1047750"/>
          </a:xfrm>
          <a:prstGeom xmlns:a="http://schemas.openxmlformats.org/drawingml/2006/main" prst="roundRect">
            <a:avLst>
              <a:gd name="adj" fmla="val 90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cover-step-3-anchor">
            <a:extLst xmlns:a="http://schemas.openxmlformats.org/drawingml/2006/main">
              <a:ext uri="{FF2B5EF4-FFF2-40B4-BE49-F238E27FC236}">
                <a16:creationId xmlns:a16="http://schemas.microsoft.com/office/drawing/2014/main" id="{760DBFF2-6CC0-4D06-B5FB-CD1768B0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81375"/>
            <a:ext cx="1619250" cy="1047750"/>
          </a:xfrm>
          <a:prstGeom xmlns:a="http://schemas.openxmlformats.org/drawingml/2006/main" prst="roundRect">
            <a:avLst>
              <a:gd name="adj" fmla="val 90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ver-step-4-anchor">
            <a:extLst xmlns:a="http://schemas.openxmlformats.org/drawingml/2006/main">
              <a:ext uri="{FF2B5EF4-FFF2-40B4-BE49-F238E27FC236}">
                <a16:creationId xmlns:a16="http://schemas.microsoft.com/office/drawing/2014/main" id="{62BA2CD2-3DC6-4EDC-95CE-F11206FD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81375"/>
            <a:ext cx="1619250" cy="1047750"/>
          </a:xfrm>
          <a:prstGeom xmlns:a="http://schemas.openxmlformats.org/drawingml/2006/main" prst="roundRect">
            <a:avLst>
              <a:gd name="adj" fmla="val 90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9048750" y="2286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0B9CB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8239125" y="2809875"/>
            <a:ext cx="1952625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0B9CB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048750" y="3905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0B9CB"/>
            </a:solidFill>
            <a:prstDash val="solid"/>
            <a:tailEnd type="arrow" w="med" len="med"/>
          </a:ln>
        </p:spPr>
      </p:cxnSp>
      <p:sp>
        <p:nvSpPr>
          <p:cNvPr id="11" name="cover-step-1">
            <a:extLst xmlns:a="http://schemas.openxmlformats.org/drawingml/2006/main">
              <a:ext uri="{FF2B5EF4-FFF2-40B4-BE49-F238E27FC236}">
                <a16:creationId xmlns:a16="http://schemas.microsoft.com/office/drawing/2014/main" id="{1E92EB15-28E4-42F2-94A0-21E6265D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161925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6A2447"/>
          </a:solidFill>
          <a:ln xmlns:a="http://schemas.openxmlformats.org/drawingml/2006/main" w="14288">
            <a:solidFill>
              <a:srgbClr val="CFA7BA"/>
            </a:solidFill>
            <a:prstDash val="solid"/>
          </a:ln>
        </p:spPr>
      </p:sp>
      <p:sp>
        <p:nvSpPr>
          <p:cNvPr id="12" name="cover-step-1-text">
            <a:extLst xmlns:a="http://schemas.openxmlformats.org/drawingml/2006/main">
              <a:ext uri="{FF2B5EF4-FFF2-40B4-BE49-F238E27FC236}">
                <a16:creationId xmlns:a16="http://schemas.microsoft.com/office/drawing/2014/main" id="{986A67CD-763A-47BC-8523-F7347197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4787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exposición</a:t>
            </a:r>
          </a:p>
        </p:txBody>
      </p:sp>
      <p:sp>
        <p:nvSpPr>
          <p:cNvPr id="13" name="cover-step-2">
            <a:extLst xmlns:a="http://schemas.openxmlformats.org/drawingml/2006/main">
              <a:ext uri="{FF2B5EF4-FFF2-40B4-BE49-F238E27FC236}">
                <a16:creationId xmlns:a16="http://schemas.microsoft.com/office/drawing/2014/main" id="{147B257B-31B5-4A39-A7EC-A14C36F4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62125"/>
            <a:ext cx="161925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6A2447"/>
          </a:solidFill>
          <a:ln xmlns:a="http://schemas.openxmlformats.org/drawingml/2006/main" w="14288">
            <a:solidFill>
              <a:srgbClr val="CFA7BA"/>
            </a:solidFill>
            <a:prstDash val="solid"/>
          </a:ln>
        </p:spPr>
      </p:sp>
      <p:sp>
        <p:nvSpPr>
          <p:cNvPr id="14" name="cover-step-2-text">
            <a:extLst xmlns:a="http://schemas.openxmlformats.org/drawingml/2006/main">
              <a:ext uri="{FF2B5EF4-FFF2-40B4-BE49-F238E27FC236}">
                <a16:creationId xmlns:a16="http://schemas.microsoft.com/office/drawing/2014/main" id="{513E843E-9A3C-41D4-89B6-23FD532D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4787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estudio</a:t>
            </a:r>
          </a:p>
        </p:txBody>
      </p:sp>
      <p:sp>
        <p:nvSpPr>
          <p:cNvPr id="15" name="cover-step-3">
            <a:extLst xmlns:a="http://schemas.openxmlformats.org/drawingml/2006/main">
              <a:ext uri="{FF2B5EF4-FFF2-40B4-BE49-F238E27FC236}">
                <a16:creationId xmlns:a16="http://schemas.microsoft.com/office/drawing/2014/main" id="{73200135-DF5E-4EA4-86B7-90272E17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81375"/>
            <a:ext cx="161925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77384F"/>
          </a:solidFill>
          <a:ln xmlns:a="http://schemas.openxmlformats.org/drawingml/2006/main" w="14288">
            <a:solidFill>
              <a:srgbClr val="CFA7BA"/>
            </a:solidFill>
            <a:prstDash val="solid"/>
          </a:ln>
        </p:spPr>
      </p:sp>
      <p:sp>
        <p:nvSpPr>
          <p:cNvPr id="16" name="cover-step-3-text">
            <a:extLst xmlns:a="http://schemas.openxmlformats.org/drawingml/2006/main">
              <a:ext uri="{FF2B5EF4-FFF2-40B4-BE49-F238E27FC236}">
                <a16:creationId xmlns:a16="http://schemas.microsoft.com/office/drawing/2014/main" id="{B058F683-2B7E-4651-9EEB-9B9DE8A2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671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dato</a:t>
            </a:r>
          </a:p>
        </p:txBody>
      </p:sp>
      <p:sp>
        <p:nvSpPr>
          <p:cNvPr id="17" name="cover-step-4">
            <a:extLst xmlns:a="http://schemas.openxmlformats.org/drawingml/2006/main">
              <a:ext uri="{FF2B5EF4-FFF2-40B4-BE49-F238E27FC236}">
                <a16:creationId xmlns:a16="http://schemas.microsoft.com/office/drawing/2014/main" id="{E99E4BF1-4F1B-4639-B505-B66533ED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81375"/>
            <a:ext cx="161925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77384F"/>
          </a:solidFill>
          <a:ln xmlns:a="http://schemas.openxmlformats.org/drawingml/2006/main" w="14288">
            <a:solidFill>
              <a:srgbClr val="CFA7BA"/>
            </a:solidFill>
            <a:prstDash val="solid"/>
          </a:ln>
        </p:spPr>
      </p:sp>
      <p:sp>
        <p:nvSpPr>
          <p:cNvPr id="18" name="cover-step-4-text">
            <a:extLst xmlns:a="http://schemas.openxmlformats.org/drawingml/2006/main">
              <a:ext uri="{FF2B5EF4-FFF2-40B4-BE49-F238E27FC236}">
                <a16:creationId xmlns:a16="http://schemas.microsoft.com/office/drawing/2014/main" id="{544B19AA-74FC-4BCD-A33C-0DB67A0E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671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intervención</a:t>
            </a:r>
          </a:p>
        </p:txBody>
      </p:sp>
      <p:sp>
        <p:nvSpPr>
          <p:cNvPr id="19" name="cover-route">
            <a:extLst xmlns:a="http://schemas.openxmlformats.org/drawingml/2006/main">
              <a:ext uri="{FF2B5EF4-FFF2-40B4-BE49-F238E27FC236}">
                <a16:creationId xmlns:a16="http://schemas.microsoft.com/office/drawing/2014/main" id="{A68E357E-6AAB-4BEE-9412-2F1A72D1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EADDE4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ADDE4"/>
                </a:solidFill>
                <a:latin typeface="Calibri"/>
                <a:ea typeface="Calibri"/>
                <a:cs typeface="Calibri"/>
              </a:rPr>
              <a:t>4 encuentros · ruta central + ampliaciones + respaldo</a:t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4E790AC-A8F7-475F-B5AD-70355909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76F4FA-B853-46BB-B515-D46EE049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queja, varias preguntas</a:t>
            </a:r>
          </a:p>
        </p:txBody>
      </p:sp>
      <p:sp>
        <p:nvSpPr>
          <p:cNvPr id="2" name="u08-002-a-box">
            <a:extLst xmlns:a="http://schemas.openxmlformats.org/drawingml/2006/main">
              <a:ext uri="{FF2B5EF4-FFF2-40B4-BE49-F238E27FC236}">
                <a16:creationId xmlns:a16="http://schemas.microsoft.com/office/drawing/2014/main" id="{9718A0AB-5879-498F-9DFD-3EDBB102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3238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002-a-title">
            <a:extLst xmlns:a="http://schemas.openxmlformats.org/drawingml/2006/main">
              <a:ext uri="{FF2B5EF4-FFF2-40B4-BE49-F238E27FC236}">
                <a16:creationId xmlns:a16="http://schemas.microsoft.com/office/drawing/2014/main" id="{BD2F09CD-E732-447F-AB5D-F3FF3FDD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526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Después del trabajo</a:t>
            </a:r>
          </a:p>
        </p:txBody>
      </p:sp>
      <p:sp>
        <p:nvSpPr>
          <p:cNvPr id="4" name="u08-002-a-body">
            <a:extLst xmlns:a="http://schemas.openxmlformats.org/drawingml/2006/main">
              <a:ext uri="{FF2B5EF4-FFF2-40B4-BE49-F238E27FC236}">
                <a16:creationId xmlns:a16="http://schemas.microsoft.com/office/drawing/2014/main" id="{298A9722-C651-45CB-9D76-4A906A15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52650"/>
            <a:ext cx="2895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Necesita aumentar el nivel del televisor.</a:t>
            </a:r>
          </a:p>
        </p:txBody>
      </p:sp>
      <p:sp>
        <p:nvSpPr>
          <p:cNvPr id="5" name="u08-002-b-box">
            <a:extLst xmlns:a="http://schemas.openxmlformats.org/drawingml/2006/main">
              <a:ext uri="{FF2B5EF4-FFF2-40B4-BE49-F238E27FC236}">
                <a16:creationId xmlns:a16="http://schemas.microsoft.com/office/drawing/2014/main" id="{CD922210-95DE-47A8-A1F2-AB57976D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38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u08-002-b-title">
            <a:extLst xmlns:a="http://schemas.openxmlformats.org/drawingml/2006/main">
              <a:ext uri="{FF2B5EF4-FFF2-40B4-BE49-F238E27FC236}">
                <a16:creationId xmlns:a16="http://schemas.microsoft.com/office/drawing/2014/main" id="{3C7BC410-AB5E-40B3-AEC8-B7112E5D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526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conversación</a:t>
            </a:r>
          </a:p>
        </p:txBody>
      </p:sp>
      <p:sp>
        <p:nvSpPr>
          <p:cNvPr id="7" name="u08-002-b-body">
            <a:extLst xmlns:a="http://schemas.openxmlformats.org/drawingml/2006/main">
              <a:ext uri="{FF2B5EF4-FFF2-40B4-BE49-F238E27FC236}">
                <a16:creationId xmlns:a16="http://schemas.microsoft.com/office/drawing/2014/main" id="{530CD60C-975F-4F72-A871-0F617FE9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2895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Le cuesta seguir el habla cuando hay ruido.</a:t>
            </a:r>
          </a:p>
        </p:txBody>
      </p:sp>
      <p:sp>
        <p:nvSpPr>
          <p:cNvPr id="8" name="u08-002-c-box">
            <a:extLst xmlns:a="http://schemas.openxmlformats.org/drawingml/2006/main">
              <a:ext uri="{FF2B5EF4-FFF2-40B4-BE49-F238E27FC236}">
                <a16:creationId xmlns:a16="http://schemas.microsoft.com/office/drawing/2014/main" id="{9FA815D4-5C86-4127-9802-D7E070D0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3238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u08-002-c-title">
            <a:extLst xmlns:a="http://schemas.openxmlformats.org/drawingml/2006/main">
              <a:ext uri="{FF2B5EF4-FFF2-40B4-BE49-F238E27FC236}">
                <a16:creationId xmlns:a16="http://schemas.microsoft.com/office/drawing/2014/main" id="{2EB54D47-E637-4EA2-85D2-AC45D578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7526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Sin fuente externa</a:t>
            </a:r>
          </a:p>
        </p:txBody>
      </p:sp>
      <p:sp>
        <p:nvSpPr>
          <p:cNvPr id="10" name="u08-002-c-body">
            <a:extLst xmlns:a="http://schemas.openxmlformats.org/drawingml/2006/main">
              <a:ext uri="{FF2B5EF4-FFF2-40B4-BE49-F238E27FC236}">
                <a16:creationId xmlns:a16="http://schemas.microsoft.com/office/drawing/2014/main" id="{9C9FCBAA-8B5C-486B-AD9B-62C549BD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152650"/>
            <a:ext cx="2895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Refiere un sonido o zumbido.</a:t>
            </a:r>
          </a:p>
        </p:txBody>
      </p:sp>
      <p:sp>
        <p:nvSpPr>
          <p:cNvPr id="11" name="u08-002-question-box">
            <a:extLst xmlns:a="http://schemas.openxmlformats.org/drawingml/2006/main">
              <a:ext uri="{FF2B5EF4-FFF2-40B4-BE49-F238E27FC236}">
                <a16:creationId xmlns:a16="http://schemas.microsoft.com/office/drawing/2014/main" id="{05D7990F-782B-4F99-86F7-C5F985C5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43375"/>
            <a:ext cx="7429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2" name="u08-002-question-title">
            <a:extLst xmlns:a="http://schemas.openxmlformats.org/drawingml/2006/main">
              <a:ext uri="{FF2B5EF4-FFF2-40B4-BE49-F238E27FC236}">
                <a16:creationId xmlns:a16="http://schemas.microsoft.com/office/drawing/2014/main" id="{A27EA32A-6A9D-4D4B-8E14-40A7E813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76725"/>
            <a:ext cx="708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Pregunta de apertura</a:t>
            </a:r>
          </a:p>
        </p:txBody>
      </p:sp>
      <p:sp>
        <p:nvSpPr>
          <p:cNvPr id="13" name="u08-002-question-body">
            <a:extLst xmlns:a="http://schemas.openxmlformats.org/drawingml/2006/main">
              <a:ext uri="{FF2B5EF4-FFF2-40B4-BE49-F238E27FC236}">
                <a16:creationId xmlns:a16="http://schemas.microsoft.com/office/drawing/2014/main" id="{44B332C0-8C8C-45D6-AA67-3CB05596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76775"/>
            <a:ext cx="7086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mediría primero y qué pregunta concreta respondería esa medición?</a:t>
            </a:r>
          </a:p>
        </p:txBody>
      </p:sp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E0729111-0107-46E3-8534-68B7289C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 xmlns:a="http://schemas.openxmlformats.org/drawingml/2006/main">
              <a:ext uri="{FF2B5EF4-FFF2-40B4-BE49-F238E27FC236}">
                <a16:creationId xmlns:a16="http://schemas.microsoft.com/office/drawing/2014/main" id="{FE056C1E-2F5D-41E5-80EB-FB997BB8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 xmlns:a="http://schemas.openxmlformats.org/drawingml/2006/main">
              <a:ext uri="{FF2B5EF4-FFF2-40B4-BE49-F238E27FC236}">
                <a16:creationId xmlns:a16="http://schemas.microsoft.com/office/drawing/2014/main" id="{3F1F81D8-2968-4A9C-B181-C0C24CEE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4E420E54-A309-4C8A-9F8B-8C45A7A0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EB6B18F-022B-4F71-AE1B-EADEC852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549C8A-6ED9-49F5-A921-4D4F00F2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¿Exposición, síntoma o resultado?</a:t>
            </a:r>
          </a:p>
        </p:txBody>
      </p:sp>
      <p:sp>
        <p:nvSpPr>
          <p:cNvPr id="2" name="U08-003-question-box">
            <a:extLst xmlns:a="http://schemas.openxmlformats.org/drawingml/2006/main">
              <a:ext uri="{FF2B5EF4-FFF2-40B4-BE49-F238E27FC236}">
                <a16:creationId xmlns:a16="http://schemas.microsoft.com/office/drawing/2014/main" id="{7561C9DE-48CC-4B28-95CD-BFA95613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6572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8-003-question-title">
            <a:extLst xmlns:a="http://schemas.openxmlformats.org/drawingml/2006/main">
              <a:ext uri="{FF2B5EF4-FFF2-40B4-BE49-F238E27FC236}">
                <a16:creationId xmlns:a16="http://schemas.microsoft.com/office/drawing/2014/main" id="{5940F527-E4DD-47C7-B033-E2288F01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04975"/>
            <a:ext cx="622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U08-003-question-body">
            <a:extLst xmlns:a="http://schemas.openxmlformats.org/drawingml/2006/main">
              <a:ext uri="{FF2B5EF4-FFF2-40B4-BE49-F238E27FC236}">
                <a16:creationId xmlns:a16="http://schemas.microsoft.com/office/drawing/2014/main" id="{6A2B7C05-8550-450A-82CB-AC9B8A0F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05025"/>
            <a:ext cx="62293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Clasifique cada dato: exposición, síntoma o resultado. Justifique con la magnitud, la unidad y el límite de la conclusión.</a:t>
            </a:r>
          </a:p>
        </p:txBody>
      </p:sp>
      <p:sp>
        <p:nvSpPr>
          <p:cNvPr id="5" name="U08-003-guide-1-box">
            <a:extLst xmlns:a="http://schemas.openxmlformats.org/drawingml/2006/main">
              <a:ext uri="{FF2B5EF4-FFF2-40B4-BE49-F238E27FC236}">
                <a16:creationId xmlns:a16="http://schemas.microsoft.com/office/drawing/2014/main" id="{5DF51E32-7EBF-40E4-9C49-D2ABD601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716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U08-003-guide-1-title">
            <a:extLst xmlns:a="http://schemas.openxmlformats.org/drawingml/2006/main">
              <a:ext uri="{FF2B5EF4-FFF2-40B4-BE49-F238E27FC236}">
                <a16:creationId xmlns:a16="http://schemas.microsoft.com/office/drawing/2014/main" id="{FF8610AD-B685-4E6D-8DD8-C4E72ED6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049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U08-003-guide-1-body">
            <a:extLst xmlns:a="http://schemas.openxmlformats.org/drawingml/2006/main">
              <a:ext uri="{FF2B5EF4-FFF2-40B4-BE49-F238E27FC236}">
                <a16:creationId xmlns:a16="http://schemas.microsoft.com/office/drawing/2014/main" id="{C036AE60-6609-4FEE-BFEA-35554E4A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050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Clasifique el dato</a:t>
            </a:r>
          </a:p>
        </p:txBody>
      </p:sp>
      <p:sp>
        <p:nvSpPr>
          <p:cNvPr id="8" name="U08-003-guide-2-box">
            <a:extLst xmlns:a="http://schemas.openxmlformats.org/drawingml/2006/main">
              <a:ext uri="{FF2B5EF4-FFF2-40B4-BE49-F238E27FC236}">
                <a16:creationId xmlns:a16="http://schemas.microsoft.com/office/drawing/2014/main" id="{F83EFA2B-5DEE-45F2-AC5B-CACA0745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908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U08-003-guide-2-title">
            <a:extLst xmlns:a="http://schemas.openxmlformats.org/drawingml/2006/main">
              <a:ext uri="{FF2B5EF4-FFF2-40B4-BE49-F238E27FC236}">
                <a16:creationId xmlns:a16="http://schemas.microsoft.com/office/drawing/2014/main" id="{141ECFB2-DF71-4393-8A8E-ED63536E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241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U08-003-guide-2-body">
            <a:extLst xmlns:a="http://schemas.openxmlformats.org/drawingml/2006/main">
              <a:ext uri="{FF2B5EF4-FFF2-40B4-BE49-F238E27FC236}">
                <a16:creationId xmlns:a16="http://schemas.microsoft.com/office/drawing/2014/main" id="{227AFBB8-7600-4055-AEF5-AC74F445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242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Nombre magnitud y unidad</a:t>
            </a:r>
          </a:p>
        </p:txBody>
      </p:sp>
      <p:sp>
        <p:nvSpPr>
          <p:cNvPr id="11" name="U08-003-guide-3-box">
            <a:extLst xmlns:a="http://schemas.openxmlformats.org/drawingml/2006/main">
              <a:ext uri="{FF2B5EF4-FFF2-40B4-BE49-F238E27FC236}">
                <a16:creationId xmlns:a16="http://schemas.microsoft.com/office/drawing/2014/main" id="{B04BE806-6FAB-4476-B1BF-074DC345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100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2" name="U08-003-guide-3-title">
            <a:extLst xmlns:a="http://schemas.openxmlformats.org/drawingml/2006/main">
              <a:ext uri="{FF2B5EF4-FFF2-40B4-BE49-F238E27FC236}">
                <a16:creationId xmlns:a16="http://schemas.microsoft.com/office/drawing/2014/main" id="{161ECF58-F690-4A73-9EF2-2705D439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433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U08-003-guide-3-body">
            <a:extLst xmlns:a="http://schemas.openxmlformats.org/drawingml/2006/main">
              <a:ext uri="{FF2B5EF4-FFF2-40B4-BE49-F238E27FC236}">
                <a16:creationId xmlns:a16="http://schemas.microsoft.com/office/drawing/2014/main" id="{7F29C989-DAB8-4569-A708-765FBC92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434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Declare qué queda abierto</a:t>
            </a:r>
          </a:p>
        </p:txBody>
      </p:sp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29B49508-A0C9-4BE3-BEA9-DE1D112E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 xmlns:a="http://schemas.openxmlformats.org/drawingml/2006/main">
              <a:ext uri="{FF2B5EF4-FFF2-40B4-BE49-F238E27FC236}">
                <a16:creationId xmlns:a16="http://schemas.microsoft.com/office/drawing/2014/main" id="{57003B6D-C17E-4D74-B93A-D2EB0374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 xmlns:a="http://schemas.openxmlformats.org/drawingml/2006/main">
              <a:ext uri="{FF2B5EF4-FFF2-40B4-BE49-F238E27FC236}">
                <a16:creationId xmlns:a16="http://schemas.microsoft.com/office/drawing/2014/main" id="{AF2DCDF4-3105-4899-966D-19BD2F09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E6AC0C85-7A10-4CB4-8492-75FA93DA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9AEF684-6F84-4166-9915-9D92D962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8A9740-FEC1-4BD7-9877-8BC777FD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necesitamos recuperar?</a:t>
            </a:r>
          </a:p>
        </p:txBody>
      </p:sp>
      <p:sp>
        <p:nvSpPr>
          <p:cNvPr id="2" name="U08-004-map-anchor-1">
            <a:extLst xmlns:a="http://schemas.openxmlformats.org/drawingml/2006/main">
              <a:ext uri="{FF2B5EF4-FFF2-40B4-BE49-F238E27FC236}">
                <a16:creationId xmlns:a16="http://schemas.microsoft.com/office/drawing/2014/main" id="{19AD0C30-20C7-4139-9CFD-3B845AAD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2643188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U08-004-map-anchor-2">
            <a:extLst xmlns:a="http://schemas.openxmlformats.org/drawingml/2006/main">
              <a:ext uri="{FF2B5EF4-FFF2-40B4-BE49-F238E27FC236}">
                <a16:creationId xmlns:a16="http://schemas.microsoft.com/office/drawing/2014/main" id="{EF21DD72-C267-4488-A241-8527A879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2143125"/>
            <a:ext cx="2643188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U08-004-map-anchor-3">
            <a:extLst xmlns:a="http://schemas.openxmlformats.org/drawingml/2006/main">
              <a:ext uri="{FF2B5EF4-FFF2-40B4-BE49-F238E27FC236}">
                <a16:creationId xmlns:a16="http://schemas.microsoft.com/office/drawing/2014/main" id="{BFA337A1-C474-478D-8D39-61A3B734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2643188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U08-004-map-anchor-4">
            <a:extLst xmlns:a="http://schemas.openxmlformats.org/drawingml/2006/main">
              <a:ext uri="{FF2B5EF4-FFF2-40B4-BE49-F238E27FC236}">
                <a16:creationId xmlns:a16="http://schemas.microsoft.com/office/drawing/2014/main" id="{F57112C3-C9A6-41B3-98E9-D4D7E1E3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143125"/>
            <a:ext cx="2643188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167063" y="31432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6000751" y="3143250"/>
            <a:ext cx="190499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834438" y="31432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9" name="U08-004-map-1-box">
            <a:extLst xmlns:a="http://schemas.openxmlformats.org/drawingml/2006/main">
              <a:ext uri="{FF2B5EF4-FFF2-40B4-BE49-F238E27FC236}">
                <a16:creationId xmlns:a16="http://schemas.microsoft.com/office/drawing/2014/main" id="{3FD9F00E-C461-42EA-ACF3-5FD390ED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2643188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U08-004-map-1-title">
            <a:extLst xmlns:a="http://schemas.openxmlformats.org/drawingml/2006/main">
              <a:ext uri="{FF2B5EF4-FFF2-40B4-BE49-F238E27FC236}">
                <a16:creationId xmlns:a16="http://schemas.microsoft.com/office/drawing/2014/main" id="{80E16856-6936-4EA5-A359-3B7B451B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76475"/>
            <a:ext cx="230028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U4</a:t>
            </a:r>
          </a:p>
        </p:txBody>
      </p:sp>
      <p:sp>
        <p:nvSpPr>
          <p:cNvPr id="11" name="U08-004-map-1-body">
            <a:extLst xmlns:a="http://schemas.openxmlformats.org/drawingml/2006/main">
              <a:ext uri="{FF2B5EF4-FFF2-40B4-BE49-F238E27FC236}">
                <a16:creationId xmlns:a16="http://schemas.microsoft.com/office/drawing/2014/main" id="{13A59466-F1DB-462C-AAD7-68817709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76525"/>
            <a:ext cx="23002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Niveles y referencias</a:t>
            </a:r>
          </a:p>
        </p:txBody>
      </p:sp>
      <p:sp>
        <p:nvSpPr>
          <p:cNvPr id="12" name="U08-004-map-2-box">
            <a:extLst xmlns:a="http://schemas.openxmlformats.org/drawingml/2006/main">
              <a:ext uri="{FF2B5EF4-FFF2-40B4-BE49-F238E27FC236}">
                <a16:creationId xmlns:a16="http://schemas.microsoft.com/office/drawing/2014/main" id="{92C61A01-993E-4E2A-A677-15A44D2E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2143125"/>
            <a:ext cx="2643188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3" name="U08-004-map-2-title">
            <a:extLst xmlns:a="http://schemas.openxmlformats.org/drawingml/2006/main">
              <a:ext uri="{FF2B5EF4-FFF2-40B4-BE49-F238E27FC236}">
                <a16:creationId xmlns:a16="http://schemas.microsoft.com/office/drawing/2014/main" id="{377C6547-0385-4734-9F31-C9B12CFA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276475"/>
            <a:ext cx="230028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U5</a:t>
            </a:r>
          </a:p>
        </p:txBody>
      </p:sp>
      <p:sp>
        <p:nvSpPr>
          <p:cNvPr id="14" name="U08-004-map-2-body">
            <a:extLst xmlns:a="http://schemas.openxmlformats.org/drawingml/2006/main">
              <a:ext uri="{FF2B5EF4-FFF2-40B4-BE49-F238E27FC236}">
                <a16:creationId xmlns:a16="http://schemas.microsoft.com/office/drawing/2014/main" id="{8DF3B232-DB3E-428A-9F1A-A63B810A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676525"/>
            <a:ext cx="23002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Señal, sistema y L_Aeq,T</a:t>
            </a:r>
          </a:p>
        </p:txBody>
      </p:sp>
      <p:sp>
        <p:nvSpPr>
          <p:cNvPr id="15" name="U08-004-map-3-box">
            <a:extLst xmlns:a="http://schemas.openxmlformats.org/drawingml/2006/main">
              <a:ext uri="{FF2B5EF4-FFF2-40B4-BE49-F238E27FC236}">
                <a16:creationId xmlns:a16="http://schemas.microsoft.com/office/drawing/2014/main" id="{D3CBD5D8-FE77-4835-947E-84D9B821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2643188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6" name="U08-004-map-3-title">
            <a:extLst xmlns:a="http://schemas.openxmlformats.org/drawingml/2006/main">
              <a:ext uri="{FF2B5EF4-FFF2-40B4-BE49-F238E27FC236}">
                <a16:creationId xmlns:a16="http://schemas.microsoft.com/office/drawing/2014/main" id="{F140D0B5-0B8C-43ED-B4C7-CAE33039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76475"/>
            <a:ext cx="230028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U6</a:t>
            </a:r>
          </a:p>
        </p:txBody>
      </p:sp>
      <p:sp>
        <p:nvSpPr>
          <p:cNvPr id="17" name="U08-004-map-3-body">
            <a:extLst xmlns:a="http://schemas.openxmlformats.org/drawingml/2006/main">
              <a:ext uri="{FF2B5EF4-FFF2-40B4-BE49-F238E27FC236}">
                <a16:creationId xmlns:a16="http://schemas.microsoft.com/office/drawing/2014/main" id="{6290A7CF-8FAC-49C0-8B3A-B601A765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76525"/>
            <a:ext cx="23002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Vías y transducción</a:t>
            </a:r>
          </a:p>
        </p:txBody>
      </p:sp>
      <p:sp>
        <p:nvSpPr>
          <p:cNvPr id="18" name="U08-004-map-4-box">
            <a:extLst xmlns:a="http://schemas.openxmlformats.org/drawingml/2006/main">
              <a:ext uri="{FF2B5EF4-FFF2-40B4-BE49-F238E27FC236}">
                <a16:creationId xmlns:a16="http://schemas.microsoft.com/office/drawing/2014/main" id="{20CE5951-BE97-4B40-A82C-845BF1B1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143125"/>
            <a:ext cx="2643188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9" name="U08-004-map-4-title">
            <a:extLst xmlns:a="http://schemas.openxmlformats.org/drawingml/2006/main">
              <a:ext uri="{FF2B5EF4-FFF2-40B4-BE49-F238E27FC236}">
                <a16:creationId xmlns:a16="http://schemas.microsoft.com/office/drawing/2014/main" id="{A480DE44-E6AE-413E-A121-189BC950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2276475"/>
            <a:ext cx="230028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U7</a:t>
            </a:r>
          </a:p>
        </p:txBody>
      </p:sp>
      <p:sp>
        <p:nvSpPr>
          <p:cNvPr id="20" name="U08-004-map-4-body">
            <a:extLst xmlns:a="http://schemas.openxmlformats.org/drawingml/2006/main">
              <a:ext uri="{FF2B5EF4-FFF2-40B4-BE49-F238E27FC236}">
                <a16:creationId xmlns:a16="http://schemas.microsoft.com/office/drawing/2014/main" id="{B62EAE51-EC02-4FF8-B586-7D1788FF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2676525"/>
            <a:ext cx="23002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Umbral y tarea perceptual</a:t>
            </a:r>
          </a:p>
        </p:txBody>
      </p:sp>
      <p:sp>
        <p:nvSpPr>
          <p:cNvPr id="21" name="top-rail-1">
            <a:extLst xmlns:a="http://schemas.openxmlformats.org/drawingml/2006/main">
              <a:ext uri="{FF2B5EF4-FFF2-40B4-BE49-F238E27FC236}">
                <a16:creationId xmlns:a16="http://schemas.microsoft.com/office/drawing/2014/main" id="{EE3ADEEC-7529-45FF-B6C4-90CBDF04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F53814E-E8D5-48AF-BDA9-71FDF175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2CEAD3D-9235-42A4-9960-5FDB191D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B769692A-DD36-4621-9E69-D1FD38FC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3810A6D-8406-4F0E-ABA5-206652EB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95D732-465C-476D-ADD6-AEB1CE00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Objetivos: distinguir, explicar y comparar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5692CFF-70F6-4BFC-B2CD-66D97618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Resultados de aprendizaje observables</a:t>
            </a:r>
          </a:p>
        </p:txBody>
      </p:sp>
      <p:sp>
        <p:nvSpPr>
          <p:cNvPr id="3" name="main-ideas">
            <a:extLst xmlns:a="http://schemas.openxmlformats.org/drawingml/2006/main">
              <a:ext uri="{FF2B5EF4-FFF2-40B4-BE49-F238E27FC236}">
                <a16:creationId xmlns:a16="http://schemas.microsoft.com/office/drawing/2014/main" id="{ED4F3FFE-1371-4DE2-9E0D-4F901D64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Clasificar exposición, alteración, síntoma, resultado y limitación.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Explicar TTS, pérdida inducida por ruido, tinnitus y presbiacusia con alcance introductorio.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Comparar estudios por estímulo, sistema, sensor o tarea, magnitud y límite.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Interpretar audiogramas, curvas y registros sin convertirlos en diagnósticos.</a:t>
            </a:r>
          </a:p>
        </p:txBody>
      </p:sp>
      <p:sp>
        <p:nvSpPr>
          <p:cNvPr id="4" name="top-rail-1">
            <a:extLst xmlns:a="http://schemas.openxmlformats.org/drawingml/2006/main">
              <a:ext uri="{FF2B5EF4-FFF2-40B4-BE49-F238E27FC236}">
                <a16:creationId xmlns:a16="http://schemas.microsoft.com/office/drawing/2014/main" id="{6649CAEC-44CA-4664-8AA9-98A2E832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 xmlns:a="http://schemas.openxmlformats.org/drawingml/2006/main">
              <a:ext uri="{FF2B5EF4-FFF2-40B4-BE49-F238E27FC236}">
                <a16:creationId xmlns:a16="http://schemas.microsoft.com/office/drawing/2014/main" id="{6312BABC-B89C-4812-9D85-28A34FF3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 xmlns:a="http://schemas.openxmlformats.org/drawingml/2006/main">
              <a:ext uri="{FF2B5EF4-FFF2-40B4-BE49-F238E27FC236}">
                <a16:creationId xmlns:a16="http://schemas.microsoft.com/office/drawing/2014/main" id="{7A6C2EFA-7DB3-4EB6-BFDE-FC58F946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626F2435-B7BF-4AF9-8B13-4049782D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161886A-7902-4A1A-A1BE-E2F1D8BD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0E3484-5E87-4605-8548-FDD86849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Objetivos: calcular, relacionar e integrar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23F9DED-D3D6-431B-B0A6-497C2303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Resultados de aprendizaje observables</a:t>
            </a:r>
          </a:p>
        </p:txBody>
      </p:sp>
      <p:sp>
        <p:nvSpPr>
          <p:cNvPr id="3" name="main-ideas">
            <a:extLst xmlns:a="http://schemas.openxmlformats.org/drawingml/2006/main">
              <a:ext uri="{FF2B5EF4-FFF2-40B4-BE49-F238E27FC236}">
                <a16:creationId xmlns:a16="http://schemas.microsoft.com/office/drawing/2014/main" id="{F51115EB-B997-4596-B98F-C7E0FC86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Calcular diferencias entre mediciones compatibles y explicar sus unidades.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Comparar dispositivos por entrada, procesamiento, salida y punto de entrega.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Justificar por qué una batería integra evidencia sin producir certeza automática.</a:t>
            </a:r>
          </a:p>
        </p:txBody>
      </p:sp>
      <p:sp>
        <p:nvSpPr>
          <p:cNvPr id="4" name="top-rail-1">
            <a:extLst xmlns:a="http://schemas.openxmlformats.org/drawingml/2006/main">
              <a:ext uri="{FF2B5EF4-FFF2-40B4-BE49-F238E27FC236}">
                <a16:creationId xmlns:a16="http://schemas.microsoft.com/office/drawing/2014/main" id="{FD571CCD-2339-4431-BD48-D5864EDE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 xmlns:a="http://schemas.openxmlformats.org/drawingml/2006/main">
              <a:ext uri="{FF2B5EF4-FFF2-40B4-BE49-F238E27FC236}">
                <a16:creationId xmlns:a16="http://schemas.microsoft.com/office/drawing/2014/main" id="{078C792D-0265-463F-95B7-AF5CFE8A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 xmlns:a="http://schemas.openxmlformats.org/drawingml/2006/main">
              <a:ext uri="{FF2B5EF4-FFF2-40B4-BE49-F238E27FC236}">
                <a16:creationId xmlns:a16="http://schemas.microsoft.com/office/drawing/2014/main" id="{AD9EEAC4-5848-4FC6-85C7-BBDF4B20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68EB47E1-FC8D-4BB9-A431-615C5555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0D6AF0F-44F6-4DFB-A5A0-DC80A683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8C14C5-8F26-4525-A766-F24148BD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Mapa de la clase: evidencia, estudios, dispositivos e integración</a:t>
            </a:r>
          </a:p>
        </p:txBody>
      </p:sp>
      <p:sp>
        <p:nvSpPr>
          <p:cNvPr id="2" name="U08-007-map-anchor-1">
            <a:extLst xmlns:a="http://schemas.openxmlformats.org/drawingml/2006/main">
              <a:ext uri="{FF2B5EF4-FFF2-40B4-BE49-F238E27FC236}">
                <a16:creationId xmlns:a16="http://schemas.microsoft.com/office/drawing/2014/main" id="{931A9F0D-C9E4-45F3-9CCE-73B2FE79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2643188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U08-007-map-anchor-2">
            <a:extLst xmlns:a="http://schemas.openxmlformats.org/drawingml/2006/main">
              <a:ext uri="{FF2B5EF4-FFF2-40B4-BE49-F238E27FC236}">
                <a16:creationId xmlns:a16="http://schemas.microsoft.com/office/drawing/2014/main" id="{42B2345D-CE6C-4B51-A344-E8AFAB20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2143125"/>
            <a:ext cx="2643188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U08-007-map-anchor-3">
            <a:extLst xmlns:a="http://schemas.openxmlformats.org/drawingml/2006/main">
              <a:ext uri="{FF2B5EF4-FFF2-40B4-BE49-F238E27FC236}">
                <a16:creationId xmlns:a16="http://schemas.microsoft.com/office/drawing/2014/main" id="{C2FFBCAB-1640-47BA-9FDE-E4065407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2643188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U08-007-map-anchor-4">
            <a:extLst xmlns:a="http://schemas.openxmlformats.org/drawingml/2006/main">
              <a:ext uri="{FF2B5EF4-FFF2-40B4-BE49-F238E27FC236}">
                <a16:creationId xmlns:a16="http://schemas.microsoft.com/office/drawing/2014/main" id="{73DA4C9E-7448-465C-A5E7-D78A9CE7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143125"/>
            <a:ext cx="2643188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167063" y="31432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6000751" y="3143250"/>
            <a:ext cx="190499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834438" y="31432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9" name="U08-007-map-1-box">
            <a:extLst xmlns:a="http://schemas.openxmlformats.org/drawingml/2006/main">
              <a:ext uri="{FF2B5EF4-FFF2-40B4-BE49-F238E27FC236}">
                <a16:creationId xmlns:a16="http://schemas.microsoft.com/office/drawing/2014/main" id="{95FCE97F-CA38-4FAB-B561-E3A9D9A3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2643188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U08-007-map-1-title">
            <a:extLst xmlns:a="http://schemas.openxmlformats.org/drawingml/2006/main">
              <a:ext uri="{FF2B5EF4-FFF2-40B4-BE49-F238E27FC236}">
                <a16:creationId xmlns:a16="http://schemas.microsoft.com/office/drawing/2014/main" id="{CA1088F8-6667-4622-A111-DD7AA1D0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76475"/>
            <a:ext cx="230028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Encuentro 1</a:t>
            </a:r>
          </a:p>
        </p:txBody>
      </p:sp>
      <p:sp>
        <p:nvSpPr>
          <p:cNvPr id="11" name="U08-007-map-1-body">
            <a:extLst xmlns:a="http://schemas.openxmlformats.org/drawingml/2006/main">
              <a:ext uri="{FF2B5EF4-FFF2-40B4-BE49-F238E27FC236}">
                <a16:creationId xmlns:a16="http://schemas.microsoft.com/office/drawing/2014/main" id="{55907C3C-1CFC-4D68-8516-BAC67986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76525"/>
            <a:ext cx="23002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Datos, exposición y alteraciones</a:t>
            </a:r>
          </a:p>
        </p:txBody>
      </p:sp>
      <p:sp>
        <p:nvSpPr>
          <p:cNvPr id="12" name="U08-007-map-2-box">
            <a:extLst xmlns:a="http://schemas.openxmlformats.org/drawingml/2006/main">
              <a:ext uri="{FF2B5EF4-FFF2-40B4-BE49-F238E27FC236}">
                <a16:creationId xmlns:a16="http://schemas.microsoft.com/office/drawing/2014/main" id="{55ED4F8E-8D2A-4B70-BC62-EA741806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2143125"/>
            <a:ext cx="2643188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3" name="U08-007-map-2-title">
            <a:extLst xmlns:a="http://schemas.openxmlformats.org/drawingml/2006/main">
              <a:ext uri="{FF2B5EF4-FFF2-40B4-BE49-F238E27FC236}">
                <a16:creationId xmlns:a16="http://schemas.microsoft.com/office/drawing/2014/main" id="{303E0225-A53B-4149-B12C-087DBBD0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276475"/>
            <a:ext cx="230028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Encuentro 2</a:t>
            </a:r>
          </a:p>
        </p:txBody>
      </p:sp>
      <p:sp>
        <p:nvSpPr>
          <p:cNvPr id="14" name="U08-007-map-2-body">
            <a:extLst xmlns:a="http://schemas.openxmlformats.org/drawingml/2006/main">
              <a:ext uri="{FF2B5EF4-FFF2-40B4-BE49-F238E27FC236}">
                <a16:creationId xmlns:a16="http://schemas.microsoft.com/office/drawing/2014/main" id="{B70D6DF7-428B-41A2-8A33-F6719248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676525"/>
            <a:ext cx="23002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Pruebas conductuales y oído medio</a:t>
            </a:r>
          </a:p>
        </p:txBody>
      </p:sp>
      <p:sp>
        <p:nvSpPr>
          <p:cNvPr id="15" name="U08-007-map-3-box">
            <a:extLst xmlns:a="http://schemas.openxmlformats.org/drawingml/2006/main">
              <a:ext uri="{FF2B5EF4-FFF2-40B4-BE49-F238E27FC236}">
                <a16:creationId xmlns:a16="http://schemas.microsoft.com/office/drawing/2014/main" id="{D908CF66-4956-4DA7-A68B-CCDA21B8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2643188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6" name="U08-007-map-3-title">
            <a:extLst xmlns:a="http://schemas.openxmlformats.org/drawingml/2006/main">
              <a:ext uri="{FF2B5EF4-FFF2-40B4-BE49-F238E27FC236}">
                <a16:creationId xmlns:a16="http://schemas.microsoft.com/office/drawing/2014/main" id="{19AC94F4-FFF7-4B35-BC44-4E9B723D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76475"/>
            <a:ext cx="230028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Encuentro 3</a:t>
            </a:r>
          </a:p>
        </p:txBody>
      </p:sp>
      <p:sp>
        <p:nvSpPr>
          <p:cNvPr id="17" name="U08-007-map-3-body">
            <a:extLst xmlns:a="http://schemas.openxmlformats.org/drawingml/2006/main">
              <a:ext uri="{FF2B5EF4-FFF2-40B4-BE49-F238E27FC236}">
                <a16:creationId xmlns:a16="http://schemas.microsoft.com/office/drawing/2014/main" id="{E09C7241-37BB-406F-8576-72E2488F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76525"/>
            <a:ext cx="23002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OEA, PEAT, ECoG y dispositivos</a:t>
            </a:r>
          </a:p>
        </p:txBody>
      </p:sp>
      <p:sp>
        <p:nvSpPr>
          <p:cNvPr id="18" name="U08-007-map-4-box">
            <a:extLst xmlns:a="http://schemas.openxmlformats.org/drawingml/2006/main">
              <a:ext uri="{FF2B5EF4-FFF2-40B4-BE49-F238E27FC236}">
                <a16:creationId xmlns:a16="http://schemas.microsoft.com/office/drawing/2014/main" id="{C1003CAF-5117-4495-8B21-B19F01F2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143125"/>
            <a:ext cx="2643188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9" name="U08-007-map-4-title">
            <a:extLst xmlns:a="http://schemas.openxmlformats.org/drawingml/2006/main">
              <a:ext uri="{FF2B5EF4-FFF2-40B4-BE49-F238E27FC236}">
                <a16:creationId xmlns:a16="http://schemas.microsoft.com/office/drawing/2014/main" id="{199CFE33-5076-411A-887C-195FAD29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2276475"/>
            <a:ext cx="230028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Encuentro 4</a:t>
            </a:r>
          </a:p>
        </p:txBody>
      </p:sp>
      <p:sp>
        <p:nvSpPr>
          <p:cNvPr id="20" name="U08-007-map-4-body">
            <a:extLst xmlns:a="http://schemas.openxmlformats.org/drawingml/2006/main">
              <a:ext uri="{FF2B5EF4-FFF2-40B4-BE49-F238E27FC236}">
                <a16:creationId xmlns:a16="http://schemas.microsoft.com/office/drawing/2014/main" id="{3AB23837-346F-4002-87A8-DE276365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2676525"/>
            <a:ext cx="23002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Integración, práctica y transferencia</a:t>
            </a:r>
          </a:p>
        </p:txBody>
      </p:sp>
      <p:sp>
        <p:nvSpPr>
          <p:cNvPr id="21" name="top-rail-1">
            <a:extLst xmlns:a="http://schemas.openxmlformats.org/drawingml/2006/main">
              <a:ext uri="{FF2B5EF4-FFF2-40B4-BE49-F238E27FC236}">
                <a16:creationId xmlns:a16="http://schemas.microsoft.com/office/drawing/2014/main" id="{D4328CF8-9237-4C81-AFE9-89FDF605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2" name="top-rail-2">
            <a:extLst xmlns:a="http://schemas.openxmlformats.org/drawingml/2006/main">
              <a:ext uri="{FF2B5EF4-FFF2-40B4-BE49-F238E27FC236}">
                <a16:creationId xmlns:a16="http://schemas.microsoft.com/office/drawing/2014/main" id="{C55677C8-6912-4AE9-96AA-D87BBD88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5C59DEB-3E7F-497E-8951-02C483B8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1E64B80-3FDA-464A-90AA-1EB42F71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3F38970-33C7-493C-AACD-C6F46D5B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A5BE7610-AFFA-4B02-9A06-2BF4BE4D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B3F28540-F495-40F1-8FE9-5DB4727A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clase de dato tenemos?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5A12B575-E997-41E1-923C-B277AD46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 del bloque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13866AF-8BDC-491E-9C32-C50CB496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F37569-B1BA-4D62-A0DD-FAE5B39C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Cinco categorías separan lo que ocurrió de lo que se midió</a:t>
            </a:r>
          </a:p>
        </p:txBody>
      </p:sp>
      <p:sp>
        <p:nvSpPr>
          <p:cNvPr id="2" name="u08-009-0-box">
            <a:extLst xmlns:a="http://schemas.openxmlformats.org/drawingml/2006/main">
              <a:ext uri="{FF2B5EF4-FFF2-40B4-BE49-F238E27FC236}">
                <a16:creationId xmlns:a16="http://schemas.microsoft.com/office/drawing/2014/main" id="{C79AAEA0-BF28-459B-8511-7814881D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52625"/>
            <a:ext cx="2095500" cy="2571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009-0-title">
            <a:extLst xmlns:a="http://schemas.openxmlformats.org/drawingml/2006/main">
              <a:ext uri="{FF2B5EF4-FFF2-40B4-BE49-F238E27FC236}">
                <a16:creationId xmlns:a16="http://schemas.microsoft.com/office/drawing/2014/main" id="{86AE0D1B-83F5-45F1-8310-30535F4F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8597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Exposición</a:t>
            </a:r>
          </a:p>
        </p:txBody>
      </p:sp>
      <p:sp>
        <p:nvSpPr>
          <p:cNvPr id="4" name="u08-009-0-body">
            <a:extLst xmlns:a="http://schemas.openxmlformats.org/drawingml/2006/main">
              <a:ext uri="{FF2B5EF4-FFF2-40B4-BE49-F238E27FC236}">
                <a16:creationId xmlns:a16="http://schemas.microsoft.com/office/drawing/2014/main" id="{130832B2-BFB4-4BC7-A411-49D3DC25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86025"/>
            <a:ext cx="17526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Qué actuó y durante cuánto</a:t>
            </a:r>
          </a:p>
        </p:txBody>
      </p:sp>
      <p:sp>
        <p:nvSpPr>
          <p:cNvPr id="5" name="u08-009-1-box">
            <a:extLst xmlns:a="http://schemas.openxmlformats.org/drawingml/2006/main">
              <a:ext uri="{FF2B5EF4-FFF2-40B4-BE49-F238E27FC236}">
                <a16:creationId xmlns:a16="http://schemas.microsoft.com/office/drawing/2014/main" id="{CB24CA9B-932B-4CD8-820E-408753D4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952625"/>
            <a:ext cx="2095500" cy="2571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u08-009-1-title">
            <a:extLst xmlns:a="http://schemas.openxmlformats.org/drawingml/2006/main">
              <a:ext uri="{FF2B5EF4-FFF2-40B4-BE49-F238E27FC236}">
                <a16:creationId xmlns:a16="http://schemas.microsoft.com/office/drawing/2014/main" id="{DFE453CC-754D-4FE7-9264-69FB51E6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8597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Alteración</a:t>
            </a:r>
          </a:p>
        </p:txBody>
      </p:sp>
      <p:sp>
        <p:nvSpPr>
          <p:cNvPr id="7" name="u08-009-1-body">
            <a:extLst xmlns:a="http://schemas.openxmlformats.org/drawingml/2006/main">
              <a:ext uri="{FF2B5EF4-FFF2-40B4-BE49-F238E27FC236}">
                <a16:creationId xmlns:a16="http://schemas.microsoft.com/office/drawing/2014/main" id="{5114248E-0177-4B05-B3C3-182CEC20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486025"/>
            <a:ext cx="17526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Cambio físico o funcional</a:t>
            </a:r>
          </a:p>
        </p:txBody>
      </p:sp>
      <p:sp>
        <p:nvSpPr>
          <p:cNvPr id="8" name="u08-009-2-box">
            <a:extLst xmlns:a="http://schemas.openxmlformats.org/drawingml/2006/main">
              <a:ext uri="{FF2B5EF4-FFF2-40B4-BE49-F238E27FC236}">
                <a16:creationId xmlns:a16="http://schemas.microsoft.com/office/drawing/2014/main" id="{72A2296C-0919-4FB8-99C9-A0706527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952625"/>
            <a:ext cx="2095500" cy="2571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u08-009-2-title">
            <a:extLst xmlns:a="http://schemas.openxmlformats.org/drawingml/2006/main">
              <a:ext uri="{FF2B5EF4-FFF2-40B4-BE49-F238E27FC236}">
                <a16:creationId xmlns:a16="http://schemas.microsoft.com/office/drawing/2014/main" id="{8D0BC2B1-2C8C-427D-9355-9686EDB9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8597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Síntoma</a:t>
            </a:r>
          </a:p>
        </p:txBody>
      </p:sp>
      <p:sp>
        <p:nvSpPr>
          <p:cNvPr id="10" name="u08-009-2-body">
            <a:extLst xmlns:a="http://schemas.openxmlformats.org/drawingml/2006/main">
              <a:ext uri="{FF2B5EF4-FFF2-40B4-BE49-F238E27FC236}">
                <a16:creationId xmlns:a16="http://schemas.microsoft.com/office/drawing/2014/main" id="{AFA46694-333D-4ECD-99C7-7E7083D1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86025"/>
            <a:ext cx="17526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Experiencia referida</a:t>
            </a:r>
          </a:p>
        </p:txBody>
      </p:sp>
      <p:sp>
        <p:nvSpPr>
          <p:cNvPr id="11" name="u08-009-3-box">
            <a:extLst xmlns:a="http://schemas.openxmlformats.org/drawingml/2006/main">
              <a:ext uri="{FF2B5EF4-FFF2-40B4-BE49-F238E27FC236}">
                <a16:creationId xmlns:a16="http://schemas.microsoft.com/office/drawing/2014/main" id="{B5D0CC76-79BA-4A71-9D5A-00F65C71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952625"/>
            <a:ext cx="2095500" cy="2571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2" name="u08-009-3-title">
            <a:extLst xmlns:a="http://schemas.openxmlformats.org/drawingml/2006/main">
              <a:ext uri="{FF2B5EF4-FFF2-40B4-BE49-F238E27FC236}">
                <a16:creationId xmlns:a16="http://schemas.microsoft.com/office/drawing/2014/main" id="{6DBA8820-1DDB-436A-891A-6BA25839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08597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</a:t>
            </a:r>
          </a:p>
        </p:txBody>
      </p:sp>
      <p:sp>
        <p:nvSpPr>
          <p:cNvPr id="13" name="u08-009-3-body">
            <a:extLst xmlns:a="http://schemas.openxmlformats.org/drawingml/2006/main">
              <a:ext uri="{FF2B5EF4-FFF2-40B4-BE49-F238E27FC236}">
                <a16:creationId xmlns:a16="http://schemas.microsoft.com/office/drawing/2014/main" id="{8A73FDD2-DA5A-4C0B-9EF1-6A584275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486025"/>
            <a:ext cx="17526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 de una prueba</a:t>
            </a:r>
          </a:p>
        </p:txBody>
      </p:sp>
      <p:sp>
        <p:nvSpPr>
          <p:cNvPr id="14" name="u08-009-4-box">
            <a:extLst xmlns:a="http://schemas.openxmlformats.org/drawingml/2006/main">
              <a:ext uri="{FF2B5EF4-FFF2-40B4-BE49-F238E27FC236}">
                <a16:creationId xmlns:a16="http://schemas.microsoft.com/office/drawing/2014/main" id="{FC2F9CD7-8AB1-4169-8565-BDF3A678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952625"/>
            <a:ext cx="2095500" cy="2571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5" name="u08-009-4-title">
            <a:extLst xmlns:a="http://schemas.openxmlformats.org/drawingml/2006/main">
              <a:ext uri="{FF2B5EF4-FFF2-40B4-BE49-F238E27FC236}">
                <a16:creationId xmlns:a16="http://schemas.microsoft.com/office/drawing/2014/main" id="{B2D80820-8676-4C72-9C50-88628179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08597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Limitación</a:t>
            </a:r>
          </a:p>
        </p:txBody>
      </p:sp>
      <p:sp>
        <p:nvSpPr>
          <p:cNvPr id="16" name="u08-009-4-body">
            <a:extLst xmlns:a="http://schemas.openxmlformats.org/drawingml/2006/main">
              <a:ext uri="{FF2B5EF4-FFF2-40B4-BE49-F238E27FC236}">
                <a16:creationId xmlns:a16="http://schemas.microsoft.com/office/drawing/2014/main" id="{92D2A2CC-C844-4D43-8CCF-183FDFD0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486025"/>
            <a:ext cx="17526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Dificultad en una actividad</a:t>
            </a:r>
          </a:p>
        </p:txBody>
      </p:sp>
      <p:sp>
        <p:nvSpPr>
          <p:cNvPr id="17" name="top-rail-1">
            <a:extLst xmlns:a="http://schemas.openxmlformats.org/drawingml/2006/main">
              <a:ext uri="{FF2B5EF4-FFF2-40B4-BE49-F238E27FC236}">
                <a16:creationId xmlns:a16="http://schemas.microsoft.com/office/drawing/2014/main" id="{CA05DE72-CE3E-4246-A79A-D51250E4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8" name="top-rail-2">
            <a:extLst xmlns:a="http://schemas.openxmlformats.org/drawingml/2006/main">
              <a:ext uri="{FF2B5EF4-FFF2-40B4-BE49-F238E27FC236}">
                <a16:creationId xmlns:a16="http://schemas.microsoft.com/office/drawing/2014/main" id="{A82CDAB7-51B2-46BA-8914-5D265665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9" name="top-rail-3">
            <a:extLst xmlns:a="http://schemas.openxmlformats.org/drawingml/2006/main">
              <a:ext uri="{FF2B5EF4-FFF2-40B4-BE49-F238E27FC236}">
                <a16:creationId xmlns:a16="http://schemas.microsoft.com/office/drawing/2014/main" id="{287200B2-0A1D-4B87-A025-61252D11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FD54ADD-7D8F-47FE-8FA4-B2A31073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2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724A284-141A-4AC4-A904-CA7196C9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625A00-321C-49E6-B893-4EC57B7E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misma consulta abre seis preguntas distintas</a:t>
            </a:r>
          </a:p>
        </p:txBody>
      </p:sp>
      <p:sp>
        <p:nvSpPr>
          <p:cNvPr id="2" name="U08-010-process-anchor-1">
            <a:extLst xmlns:a="http://schemas.openxmlformats.org/drawingml/2006/main">
              <a:ext uri="{FF2B5EF4-FFF2-40B4-BE49-F238E27FC236}">
                <a16:creationId xmlns:a16="http://schemas.microsoft.com/office/drawing/2014/main" id="{F9E6DED9-EB19-4F80-BB0E-F3FC71EE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1746250" cy="2000250"/>
          </a:xfrm>
          <a:prstGeom xmlns:a="http://schemas.openxmlformats.org/drawingml/2006/main" prst="roundRect">
            <a:avLst>
              <a:gd name="adj" fmla="val 654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U08-010-process-anchor-2">
            <a:extLst xmlns:a="http://schemas.openxmlformats.org/drawingml/2006/main">
              <a:ext uri="{FF2B5EF4-FFF2-40B4-BE49-F238E27FC236}">
                <a16:creationId xmlns:a16="http://schemas.microsoft.com/office/drawing/2014/main" id="{F75EEFF0-B979-4D94-BB4B-8B608001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2095500"/>
            <a:ext cx="1746250" cy="2000250"/>
          </a:xfrm>
          <a:prstGeom xmlns:a="http://schemas.openxmlformats.org/drawingml/2006/main" prst="roundRect">
            <a:avLst>
              <a:gd name="adj" fmla="val 654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U08-010-process-anchor-3">
            <a:extLst xmlns:a="http://schemas.openxmlformats.org/drawingml/2006/main">
              <a:ext uri="{FF2B5EF4-FFF2-40B4-BE49-F238E27FC236}">
                <a16:creationId xmlns:a16="http://schemas.microsoft.com/office/drawing/2014/main" id="{A6EE12FC-99CD-419A-BED6-2FD731A0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3075" y="2095500"/>
            <a:ext cx="1746250" cy="2000250"/>
          </a:xfrm>
          <a:prstGeom xmlns:a="http://schemas.openxmlformats.org/drawingml/2006/main" prst="roundRect">
            <a:avLst>
              <a:gd name="adj" fmla="val 654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U08-010-process-anchor-4">
            <a:extLst xmlns:a="http://schemas.openxmlformats.org/drawingml/2006/main">
              <a:ext uri="{FF2B5EF4-FFF2-40B4-BE49-F238E27FC236}">
                <a16:creationId xmlns:a16="http://schemas.microsoft.com/office/drawing/2014/main" id="{4885D9A8-654C-472A-BFF4-77992CFC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1746250" cy="2000250"/>
          </a:xfrm>
          <a:prstGeom xmlns:a="http://schemas.openxmlformats.org/drawingml/2006/main" prst="roundRect">
            <a:avLst>
              <a:gd name="adj" fmla="val 654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U08-010-process-anchor-5">
            <a:extLst xmlns:a="http://schemas.openxmlformats.org/drawingml/2006/main">
              <a:ext uri="{FF2B5EF4-FFF2-40B4-BE49-F238E27FC236}">
                <a16:creationId xmlns:a16="http://schemas.microsoft.com/office/drawing/2014/main" id="{13757332-2E74-47F0-AFDA-828C63F0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275" y="2095500"/>
            <a:ext cx="1746250" cy="2000250"/>
          </a:xfrm>
          <a:prstGeom xmlns:a="http://schemas.openxmlformats.org/drawingml/2006/main" prst="roundRect">
            <a:avLst>
              <a:gd name="adj" fmla="val 654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08-010-process-anchor-6">
            <a:extLst xmlns:a="http://schemas.openxmlformats.org/drawingml/2006/main">
              <a:ext uri="{FF2B5EF4-FFF2-40B4-BE49-F238E27FC236}">
                <a16:creationId xmlns:a16="http://schemas.microsoft.com/office/drawing/2014/main" id="{7FC79CB5-8939-4408-92E5-E4959BC1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875" y="2095500"/>
            <a:ext cx="1746250" cy="2000250"/>
          </a:xfrm>
          <a:prstGeom xmlns:a="http://schemas.openxmlformats.org/drawingml/2006/main" prst="roundRect">
            <a:avLst>
              <a:gd name="adj" fmla="val 654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3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270125" y="30956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149725" y="30956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029325" y="30956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908925" y="30956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788525" y="30956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3" name="U08-010-process-1-box">
            <a:extLst xmlns:a="http://schemas.openxmlformats.org/drawingml/2006/main">
              <a:ext uri="{FF2B5EF4-FFF2-40B4-BE49-F238E27FC236}">
                <a16:creationId xmlns:a16="http://schemas.microsoft.com/office/drawing/2014/main" id="{88583EDE-D5F0-4F9B-9558-9D8F1569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1746250" cy="2000250"/>
          </a:xfrm>
          <a:prstGeom xmlns:a="http://schemas.openxmlformats.org/drawingml/2006/main" prst="roundRect">
            <a:avLst>
              <a:gd name="adj" fmla="val 654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4" name="U08-010-process-1-title">
            <a:extLst xmlns:a="http://schemas.openxmlformats.org/drawingml/2006/main">
              <a:ext uri="{FF2B5EF4-FFF2-40B4-BE49-F238E27FC236}">
                <a16:creationId xmlns:a16="http://schemas.microsoft.com/office/drawing/2014/main" id="{5D3D68F5-8702-41C9-81A4-9483C6CB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28850"/>
            <a:ext cx="140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5" name="U08-010-process-1-body">
            <a:extLst xmlns:a="http://schemas.openxmlformats.org/drawingml/2006/main">
              <a:ext uri="{FF2B5EF4-FFF2-40B4-BE49-F238E27FC236}">
                <a16:creationId xmlns:a16="http://schemas.microsoft.com/office/drawing/2014/main" id="{84178F85-1533-49B5-AFF3-9451B2A1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28900"/>
            <a:ext cx="1403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¿Cómo fue la exposición?</a:t>
            </a:r>
          </a:p>
        </p:txBody>
      </p:sp>
      <p:sp>
        <p:nvSpPr>
          <p:cNvPr id="16" name="U08-010-process-2-box">
            <a:extLst xmlns:a="http://schemas.openxmlformats.org/drawingml/2006/main">
              <a:ext uri="{FF2B5EF4-FFF2-40B4-BE49-F238E27FC236}">
                <a16:creationId xmlns:a16="http://schemas.microsoft.com/office/drawing/2014/main" id="{AB3A6E7E-8330-4968-B4C7-A6ACFD9E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2095500"/>
            <a:ext cx="1746250" cy="2000250"/>
          </a:xfrm>
          <a:prstGeom xmlns:a="http://schemas.openxmlformats.org/drawingml/2006/main" prst="roundRect">
            <a:avLst>
              <a:gd name="adj" fmla="val 654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7" name="U08-010-process-2-title">
            <a:extLst xmlns:a="http://schemas.openxmlformats.org/drawingml/2006/main">
              <a:ext uri="{FF2B5EF4-FFF2-40B4-BE49-F238E27FC236}">
                <a16:creationId xmlns:a16="http://schemas.microsoft.com/office/drawing/2014/main" id="{93CD0F1C-1B07-45E3-B4B3-6DBBBF3F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925" y="2228850"/>
            <a:ext cx="140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U08-010-process-2-body">
            <a:extLst xmlns:a="http://schemas.openxmlformats.org/drawingml/2006/main">
              <a:ext uri="{FF2B5EF4-FFF2-40B4-BE49-F238E27FC236}">
                <a16:creationId xmlns:a16="http://schemas.microsoft.com/office/drawing/2014/main" id="{1F0C86C2-108D-420A-81F9-9488C7ED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925" y="2628900"/>
            <a:ext cx="1403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umbral se obtuvo?</a:t>
            </a:r>
          </a:p>
        </p:txBody>
      </p:sp>
      <p:sp>
        <p:nvSpPr>
          <p:cNvPr id="19" name="U08-010-process-3-box">
            <a:extLst xmlns:a="http://schemas.openxmlformats.org/drawingml/2006/main">
              <a:ext uri="{FF2B5EF4-FFF2-40B4-BE49-F238E27FC236}">
                <a16:creationId xmlns:a16="http://schemas.microsoft.com/office/drawing/2014/main" id="{0354A331-191C-4C41-B3CC-457A961B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3075" y="2095500"/>
            <a:ext cx="1746250" cy="2000250"/>
          </a:xfrm>
          <a:prstGeom xmlns:a="http://schemas.openxmlformats.org/drawingml/2006/main" prst="roundRect">
            <a:avLst>
              <a:gd name="adj" fmla="val 654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0" name="U08-010-process-3-title">
            <a:extLst xmlns:a="http://schemas.openxmlformats.org/drawingml/2006/main">
              <a:ext uri="{FF2B5EF4-FFF2-40B4-BE49-F238E27FC236}">
                <a16:creationId xmlns:a16="http://schemas.microsoft.com/office/drawing/2014/main" id="{68519CA5-AEA0-4DDE-8BA7-32DD1238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525" y="2228850"/>
            <a:ext cx="140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1" name="U08-010-process-3-body">
            <a:extLst xmlns:a="http://schemas.openxmlformats.org/drawingml/2006/main">
              <a:ext uri="{FF2B5EF4-FFF2-40B4-BE49-F238E27FC236}">
                <a16:creationId xmlns:a16="http://schemas.microsoft.com/office/drawing/2014/main" id="{D1E19E1D-837C-4C5E-A752-7235EEA4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525" y="2628900"/>
            <a:ext cx="1403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informa el oído medio?</a:t>
            </a:r>
          </a:p>
        </p:txBody>
      </p:sp>
      <p:sp>
        <p:nvSpPr>
          <p:cNvPr id="22" name="U08-010-process-4-box">
            <a:extLst xmlns:a="http://schemas.openxmlformats.org/drawingml/2006/main">
              <a:ext uri="{FF2B5EF4-FFF2-40B4-BE49-F238E27FC236}">
                <a16:creationId xmlns:a16="http://schemas.microsoft.com/office/drawing/2014/main" id="{724476A2-43C9-4B2D-A74C-EC504C1B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1746250" cy="2000250"/>
          </a:xfrm>
          <a:prstGeom xmlns:a="http://schemas.openxmlformats.org/drawingml/2006/main" prst="roundRect">
            <a:avLst>
              <a:gd name="adj" fmla="val 654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23" name="U08-010-process-4-title">
            <a:extLst xmlns:a="http://schemas.openxmlformats.org/drawingml/2006/main">
              <a:ext uri="{FF2B5EF4-FFF2-40B4-BE49-F238E27FC236}">
                <a16:creationId xmlns:a16="http://schemas.microsoft.com/office/drawing/2014/main" id="{94FDF1DF-9822-4EC8-9DDA-49DB0C06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28850"/>
            <a:ext cx="140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4" name="U08-010-process-4-body">
            <a:extLst xmlns:a="http://schemas.openxmlformats.org/drawingml/2006/main">
              <a:ext uri="{FF2B5EF4-FFF2-40B4-BE49-F238E27FC236}">
                <a16:creationId xmlns:a16="http://schemas.microsoft.com/office/drawing/2014/main" id="{58E122D2-9E0D-4DD6-8DDE-FE18D6D5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28900"/>
            <a:ext cx="1403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respuesta coclear o neural se registró?</a:t>
            </a:r>
          </a:p>
        </p:txBody>
      </p:sp>
      <p:sp>
        <p:nvSpPr>
          <p:cNvPr id="25" name="U08-010-process-5-box">
            <a:extLst xmlns:a="http://schemas.openxmlformats.org/drawingml/2006/main">
              <a:ext uri="{FF2B5EF4-FFF2-40B4-BE49-F238E27FC236}">
                <a16:creationId xmlns:a16="http://schemas.microsoft.com/office/drawing/2014/main" id="{D1FBB17E-BFF0-401E-B393-EEF4D2A1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275" y="2095500"/>
            <a:ext cx="1746250" cy="2000250"/>
          </a:xfrm>
          <a:prstGeom xmlns:a="http://schemas.openxmlformats.org/drawingml/2006/main" prst="roundRect">
            <a:avLst>
              <a:gd name="adj" fmla="val 654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6" name="U08-010-process-5-title">
            <a:extLst xmlns:a="http://schemas.openxmlformats.org/drawingml/2006/main">
              <a:ext uri="{FF2B5EF4-FFF2-40B4-BE49-F238E27FC236}">
                <a16:creationId xmlns:a16="http://schemas.microsoft.com/office/drawing/2014/main" id="{DF066003-C59E-475A-8C01-E1BC40C9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2228850"/>
            <a:ext cx="140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7" name="U08-010-process-5-body">
            <a:extLst xmlns:a="http://schemas.openxmlformats.org/drawingml/2006/main">
              <a:ext uri="{FF2B5EF4-FFF2-40B4-BE49-F238E27FC236}">
                <a16:creationId xmlns:a16="http://schemas.microsoft.com/office/drawing/2014/main" id="{D53165E8-A6D8-48C5-9602-9CB03407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2628900"/>
            <a:ext cx="1403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¿Cómo se desempeña la persona al comunicarse?</a:t>
            </a:r>
          </a:p>
        </p:txBody>
      </p:sp>
      <p:sp>
        <p:nvSpPr>
          <p:cNvPr id="28" name="U08-010-process-6-box">
            <a:extLst xmlns:a="http://schemas.openxmlformats.org/drawingml/2006/main">
              <a:ext uri="{FF2B5EF4-FFF2-40B4-BE49-F238E27FC236}">
                <a16:creationId xmlns:a16="http://schemas.microsoft.com/office/drawing/2014/main" id="{F6FA8304-C052-4A5D-AB25-1AA5C0C3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875" y="2095500"/>
            <a:ext cx="1746250" cy="2000250"/>
          </a:xfrm>
          <a:prstGeom xmlns:a="http://schemas.openxmlformats.org/drawingml/2006/main" prst="roundRect">
            <a:avLst>
              <a:gd name="adj" fmla="val 654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29" name="U08-010-process-6-title">
            <a:extLst xmlns:a="http://schemas.openxmlformats.org/drawingml/2006/main">
              <a:ext uri="{FF2B5EF4-FFF2-40B4-BE49-F238E27FC236}">
                <a16:creationId xmlns:a16="http://schemas.microsoft.com/office/drawing/2014/main" id="{E2582B01-4B9E-4B10-9227-E9E4172E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3325" y="2228850"/>
            <a:ext cx="140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0" name="U08-010-process-6-body">
            <a:extLst xmlns:a="http://schemas.openxmlformats.org/drawingml/2006/main">
              <a:ext uri="{FF2B5EF4-FFF2-40B4-BE49-F238E27FC236}">
                <a16:creationId xmlns:a16="http://schemas.microsoft.com/office/drawing/2014/main" id="{40BF3F41-763F-4F2A-90E9-532BEB25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3325" y="2628900"/>
            <a:ext cx="1403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transforma y entrega un dispositivo?</a:t>
            </a:r>
          </a:p>
        </p:txBody>
      </p:sp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71256BD8-48B0-4ACA-BF4F-0A5967AD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3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1939957-B2E6-4314-9BB4-75135447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3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231820A-958E-4664-8397-5E4CD554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9F237278-5A18-43C8-AC6E-F00A12B6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3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2DF4BAA-75B4-4C44-9F88-9142DE1F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05913A-CB1E-49B5-B566-CDB75BD0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Clasifique cada dato antes de interpretarlo</a:t>
            </a:r>
          </a:p>
        </p:txBody>
      </p:sp>
      <p:sp>
        <p:nvSpPr>
          <p:cNvPr id="2" name="U08-011-question-box">
            <a:extLst xmlns:a="http://schemas.openxmlformats.org/drawingml/2006/main">
              <a:ext uri="{FF2B5EF4-FFF2-40B4-BE49-F238E27FC236}">
                <a16:creationId xmlns:a16="http://schemas.microsoft.com/office/drawing/2014/main" id="{4C2F8D37-9D6F-44BD-AE39-6F16AF28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6572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8-011-question-title">
            <a:extLst xmlns:a="http://schemas.openxmlformats.org/drawingml/2006/main">
              <a:ext uri="{FF2B5EF4-FFF2-40B4-BE49-F238E27FC236}">
                <a16:creationId xmlns:a16="http://schemas.microsoft.com/office/drawing/2014/main" id="{06B82ADD-2695-45D9-815C-EA25D0D3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04975"/>
            <a:ext cx="622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U08-011-question-body">
            <a:extLst xmlns:a="http://schemas.openxmlformats.org/drawingml/2006/main">
              <a:ext uri="{FF2B5EF4-FFF2-40B4-BE49-F238E27FC236}">
                <a16:creationId xmlns:a16="http://schemas.microsoft.com/office/drawing/2014/main" id="{799ACD5A-8ED7-42B1-875F-7DE557BD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05025"/>
            <a:ext cx="62293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Clasifique las seis tarjetas y señale qué contexto falta. Justifique con la magnitud, la unidad y el límite de la conclusión.</a:t>
            </a:r>
          </a:p>
        </p:txBody>
      </p:sp>
      <p:sp>
        <p:nvSpPr>
          <p:cNvPr id="5" name="U08-011-guide-1-box">
            <a:extLst xmlns:a="http://schemas.openxmlformats.org/drawingml/2006/main">
              <a:ext uri="{FF2B5EF4-FFF2-40B4-BE49-F238E27FC236}">
                <a16:creationId xmlns:a16="http://schemas.microsoft.com/office/drawing/2014/main" id="{F8C890B6-B507-480F-9C77-BF0B2E22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716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U08-011-guide-1-title">
            <a:extLst xmlns:a="http://schemas.openxmlformats.org/drawingml/2006/main">
              <a:ext uri="{FF2B5EF4-FFF2-40B4-BE49-F238E27FC236}">
                <a16:creationId xmlns:a16="http://schemas.microsoft.com/office/drawing/2014/main" id="{C500EC2D-CE35-4C1D-A145-C8DD2A87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049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U08-011-guide-1-body">
            <a:extLst xmlns:a="http://schemas.openxmlformats.org/drawingml/2006/main">
              <a:ext uri="{FF2B5EF4-FFF2-40B4-BE49-F238E27FC236}">
                <a16:creationId xmlns:a16="http://schemas.microsoft.com/office/drawing/2014/main" id="{16755445-728B-4D0A-B72E-CB974DF7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050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Separe seis datos</a:t>
            </a:r>
          </a:p>
        </p:txBody>
      </p:sp>
      <p:sp>
        <p:nvSpPr>
          <p:cNvPr id="8" name="U08-011-guide-2-box">
            <a:extLst xmlns:a="http://schemas.openxmlformats.org/drawingml/2006/main">
              <a:ext uri="{FF2B5EF4-FFF2-40B4-BE49-F238E27FC236}">
                <a16:creationId xmlns:a16="http://schemas.microsoft.com/office/drawing/2014/main" id="{E28E3CD3-8B72-4234-9761-B62A7B73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908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U08-011-guide-2-title">
            <a:extLst xmlns:a="http://schemas.openxmlformats.org/drawingml/2006/main">
              <a:ext uri="{FF2B5EF4-FFF2-40B4-BE49-F238E27FC236}">
                <a16:creationId xmlns:a16="http://schemas.microsoft.com/office/drawing/2014/main" id="{72845162-5C3D-4842-AF7E-3233FC04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241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U08-011-guide-2-body">
            <a:extLst xmlns:a="http://schemas.openxmlformats.org/drawingml/2006/main">
              <a:ext uri="{FF2B5EF4-FFF2-40B4-BE49-F238E27FC236}">
                <a16:creationId xmlns:a16="http://schemas.microsoft.com/office/drawing/2014/main" id="{E2A5D5A3-B0D4-42B6-9314-DAEAA06C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242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Justifique la categoría</a:t>
            </a:r>
          </a:p>
        </p:txBody>
      </p:sp>
      <p:sp>
        <p:nvSpPr>
          <p:cNvPr id="11" name="U08-011-guide-3-box">
            <a:extLst xmlns:a="http://schemas.openxmlformats.org/drawingml/2006/main">
              <a:ext uri="{FF2B5EF4-FFF2-40B4-BE49-F238E27FC236}">
                <a16:creationId xmlns:a16="http://schemas.microsoft.com/office/drawing/2014/main" id="{3B6896B6-BF22-4E0C-9EC0-86390AB7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100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2" name="U08-011-guide-3-title">
            <a:extLst xmlns:a="http://schemas.openxmlformats.org/drawingml/2006/main">
              <a:ext uri="{FF2B5EF4-FFF2-40B4-BE49-F238E27FC236}">
                <a16:creationId xmlns:a16="http://schemas.microsoft.com/office/drawing/2014/main" id="{9A8D7F20-B0C2-49E1-8BF6-1F64D113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433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U08-011-guide-3-body">
            <a:extLst xmlns:a="http://schemas.openxmlformats.org/drawingml/2006/main">
              <a:ext uri="{FF2B5EF4-FFF2-40B4-BE49-F238E27FC236}">
                <a16:creationId xmlns:a16="http://schemas.microsoft.com/office/drawing/2014/main" id="{1740440A-B336-41FB-AE41-1B28E371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434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Evite inferir una causa</a:t>
            </a:r>
          </a:p>
        </p:txBody>
      </p:sp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061EF0F3-80F2-4186-AA1A-BE3C05EA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 xmlns:a="http://schemas.openxmlformats.org/drawingml/2006/main">
              <a:ext uri="{FF2B5EF4-FFF2-40B4-BE49-F238E27FC236}">
                <a16:creationId xmlns:a16="http://schemas.microsoft.com/office/drawing/2014/main" id="{A956C126-FC59-44B5-BEA4-3B4D7D7E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 xmlns:a="http://schemas.openxmlformats.org/drawingml/2006/main">
              <a:ext uri="{FF2B5EF4-FFF2-40B4-BE49-F238E27FC236}">
                <a16:creationId xmlns:a16="http://schemas.microsoft.com/office/drawing/2014/main" id="{2CF9ECCD-7812-449C-964F-BE71C61A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C109FF8A-EE1F-42C8-A8F0-13F1C5AB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1FB38E4-80D5-4287-A9C0-0D6B383F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E39F0B-C871-4EFE-9580-A36ACCD7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Conductivo, sensorioneural y mixto describen componentes comprometidos</a:t>
            </a:r>
          </a:p>
        </p:txBody>
      </p:sp>
      <p:sp>
        <p:nvSpPr>
          <p:cNvPr id="2" name="u08-012-table-0-0-box">
            <a:extLst xmlns:a="http://schemas.openxmlformats.org/drawingml/2006/main">
              <a:ext uri="{FF2B5EF4-FFF2-40B4-BE49-F238E27FC236}">
                <a16:creationId xmlns:a16="http://schemas.microsoft.com/office/drawing/2014/main" id="{68B9D393-D43E-4C95-92C8-6D49224B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467841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3" name="u08-012-table-0-0-text">
            <a:extLst xmlns:a="http://schemas.openxmlformats.org/drawingml/2006/main">
              <a:ext uri="{FF2B5EF4-FFF2-40B4-BE49-F238E27FC236}">
                <a16:creationId xmlns:a16="http://schemas.microsoft.com/office/drawing/2014/main" id="{1D22FAEA-A80E-4EFD-8A28-0C65C501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2315441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Componente</a:t>
            </a:r>
          </a:p>
        </p:txBody>
      </p:sp>
      <p:sp>
        <p:nvSpPr>
          <p:cNvPr id="4" name="u08-012-table-0-1-box">
            <a:extLst xmlns:a="http://schemas.openxmlformats.org/drawingml/2006/main">
              <a:ext uri="{FF2B5EF4-FFF2-40B4-BE49-F238E27FC236}">
                <a16:creationId xmlns:a16="http://schemas.microsoft.com/office/drawing/2014/main" id="{16E0F3DC-370B-430A-9AB6-5F9EE6F0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591" y="1619250"/>
            <a:ext cx="419533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5" name="u08-012-table-0-1-text">
            <a:extLst xmlns:a="http://schemas.openxmlformats.org/drawingml/2006/main">
              <a:ext uri="{FF2B5EF4-FFF2-40B4-BE49-F238E27FC236}">
                <a16:creationId xmlns:a16="http://schemas.microsoft.com/office/drawing/2014/main" id="{B526DA7A-5DAB-40C6-971E-2C2B4A26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791" y="1676400"/>
            <a:ext cx="404293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Dónde mirar</a:t>
            </a:r>
          </a:p>
        </p:txBody>
      </p:sp>
      <p:sp>
        <p:nvSpPr>
          <p:cNvPr id="6" name="u08-012-table-0-2-box">
            <a:extLst xmlns:a="http://schemas.openxmlformats.org/drawingml/2006/main">
              <a:ext uri="{FF2B5EF4-FFF2-40B4-BE49-F238E27FC236}">
                <a16:creationId xmlns:a16="http://schemas.microsoft.com/office/drawing/2014/main" id="{77D8FE80-4E81-4FAA-88FF-1EFF8F98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920" y="1619250"/>
            <a:ext cx="419533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7" name="u08-012-table-0-2-text">
            <a:extLst xmlns:a="http://schemas.openxmlformats.org/drawingml/2006/main">
              <a:ext uri="{FF2B5EF4-FFF2-40B4-BE49-F238E27FC236}">
                <a16:creationId xmlns:a16="http://schemas.microsoft.com/office/drawing/2014/main" id="{7604AA6A-AE69-41FF-80ED-FED25BB4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120" y="1676400"/>
            <a:ext cx="404293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Qué no permite concluir</a:t>
            </a:r>
          </a:p>
        </p:txBody>
      </p:sp>
      <p:sp>
        <p:nvSpPr>
          <p:cNvPr id="8" name="u08-012-table-1-0-box">
            <a:extLst xmlns:a="http://schemas.openxmlformats.org/drawingml/2006/main">
              <a:ext uri="{FF2B5EF4-FFF2-40B4-BE49-F238E27FC236}">
                <a16:creationId xmlns:a16="http://schemas.microsoft.com/office/drawing/2014/main" id="{709810D2-A60B-465A-9DAA-EF00E1F6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2467841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9" name="u08-012-table-1-0-text">
            <a:extLst xmlns:a="http://schemas.openxmlformats.org/drawingml/2006/main">
              <a:ext uri="{FF2B5EF4-FFF2-40B4-BE49-F238E27FC236}">
                <a16:creationId xmlns:a16="http://schemas.microsoft.com/office/drawing/2014/main" id="{30F739E5-6728-4D70-BAC5-D318B424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62225"/>
            <a:ext cx="2315441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Conductivo</a:t>
            </a:r>
          </a:p>
        </p:txBody>
      </p:sp>
      <p:sp>
        <p:nvSpPr>
          <p:cNvPr id="10" name="u08-012-table-1-1-box">
            <a:extLst xmlns:a="http://schemas.openxmlformats.org/drawingml/2006/main">
              <a:ext uri="{FF2B5EF4-FFF2-40B4-BE49-F238E27FC236}">
                <a16:creationId xmlns:a16="http://schemas.microsoft.com/office/drawing/2014/main" id="{77D59919-31D9-4979-B18F-18D77BA3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591" y="2505075"/>
            <a:ext cx="419533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1" name="u08-012-table-1-1-text">
            <a:extLst xmlns:a="http://schemas.openxmlformats.org/drawingml/2006/main">
              <a:ext uri="{FF2B5EF4-FFF2-40B4-BE49-F238E27FC236}">
                <a16:creationId xmlns:a16="http://schemas.microsoft.com/office/drawing/2014/main" id="{89720811-41F0-4AE0-ACCE-AEBA0BF3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791" y="2562225"/>
            <a:ext cx="404293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Transmisión por oído externo y medio</a:t>
            </a:r>
          </a:p>
        </p:txBody>
      </p:sp>
      <p:sp>
        <p:nvSpPr>
          <p:cNvPr id="12" name="u08-012-table-1-2-box">
            <a:extLst xmlns:a="http://schemas.openxmlformats.org/drawingml/2006/main">
              <a:ext uri="{FF2B5EF4-FFF2-40B4-BE49-F238E27FC236}">
                <a16:creationId xmlns:a16="http://schemas.microsoft.com/office/drawing/2014/main" id="{C5CE1A59-62A3-492B-99C6-D19BB38B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920" y="2505075"/>
            <a:ext cx="419533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3" name="u08-012-table-1-2-text">
            <a:extLst xmlns:a="http://schemas.openxmlformats.org/drawingml/2006/main">
              <a:ext uri="{FF2B5EF4-FFF2-40B4-BE49-F238E27FC236}">
                <a16:creationId xmlns:a16="http://schemas.microsoft.com/office/drawing/2014/main" id="{A550D318-59D3-44D1-AF66-DFB85451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120" y="2562225"/>
            <a:ext cx="404293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se infiere de un dato aislado</a:t>
            </a:r>
          </a:p>
        </p:txBody>
      </p:sp>
      <p:sp>
        <p:nvSpPr>
          <p:cNvPr id="14" name="u08-012-table-2-0-box">
            <a:extLst xmlns:a="http://schemas.openxmlformats.org/drawingml/2006/main">
              <a:ext uri="{FF2B5EF4-FFF2-40B4-BE49-F238E27FC236}">
                <a16:creationId xmlns:a16="http://schemas.microsoft.com/office/drawing/2014/main" id="{3EB52A3E-CD82-41E2-BEFB-37FD0226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2467841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5" name="u08-012-table-2-0-text">
            <a:extLst xmlns:a="http://schemas.openxmlformats.org/drawingml/2006/main">
              <a:ext uri="{FF2B5EF4-FFF2-40B4-BE49-F238E27FC236}">
                <a16:creationId xmlns:a16="http://schemas.microsoft.com/office/drawing/2014/main" id="{FC178E4B-D620-49C3-8A90-AA2D9EE6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2315441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Sensorioneural</a:t>
            </a:r>
          </a:p>
        </p:txBody>
      </p:sp>
      <p:sp>
        <p:nvSpPr>
          <p:cNvPr id="16" name="u08-012-table-2-1-box">
            <a:extLst xmlns:a="http://schemas.openxmlformats.org/drawingml/2006/main">
              <a:ext uri="{FF2B5EF4-FFF2-40B4-BE49-F238E27FC236}">
                <a16:creationId xmlns:a16="http://schemas.microsoft.com/office/drawing/2014/main" id="{BADB126A-8468-4D03-9ABA-D7806152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591" y="3390900"/>
            <a:ext cx="419533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7" name="u08-012-table-2-1-text">
            <a:extLst xmlns:a="http://schemas.openxmlformats.org/drawingml/2006/main">
              <a:ext uri="{FF2B5EF4-FFF2-40B4-BE49-F238E27FC236}">
                <a16:creationId xmlns:a16="http://schemas.microsoft.com/office/drawing/2014/main" id="{C72D50DC-9844-4AB7-8169-7FECB326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791" y="3448050"/>
            <a:ext cx="404293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Cóclea y/o vía neural</a:t>
            </a:r>
          </a:p>
        </p:txBody>
      </p:sp>
      <p:sp>
        <p:nvSpPr>
          <p:cNvPr id="18" name="u08-012-table-2-2-box">
            <a:extLst xmlns:a="http://schemas.openxmlformats.org/drawingml/2006/main">
              <a:ext uri="{FF2B5EF4-FFF2-40B4-BE49-F238E27FC236}">
                <a16:creationId xmlns:a16="http://schemas.microsoft.com/office/drawing/2014/main" id="{50347B78-75A4-435A-824F-BE02A8C2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920" y="3390900"/>
            <a:ext cx="419533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9" name="u08-012-table-2-2-text">
            <a:extLst xmlns:a="http://schemas.openxmlformats.org/drawingml/2006/main">
              <a:ext uri="{FF2B5EF4-FFF2-40B4-BE49-F238E27FC236}">
                <a16:creationId xmlns:a16="http://schemas.microsoft.com/office/drawing/2014/main" id="{16AF3C5B-7E67-433D-A905-0A179CBB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120" y="3448050"/>
            <a:ext cx="404293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identifica por sí solo etiología</a:t>
            </a:r>
          </a:p>
        </p:txBody>
      </p:sp>
      <p:sp>
        <p:nvSpPr>
          <p:cNvPr id="20" name="u08-012-table-3-0-box">
            <a:extLst xmlns:a="http://schemas.openxmlformats.org/drawingml/2006/main">
              <a:ext uri="{FF2B5EF4-FFF2-40B4-BE49-F238E27FC236}">
                <a16:creationId xmlns:a16="http://schemas.microsoft.com/office/drawing/2014/main" id="{0DAB95A2-CCD1-4940-8947-561A591D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2467841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1" name="u08-012-table-3-0-text">
            <a:extLst xmlns:a="http://schemas.openxmlformats.org/drawingml/2006/main">
              <a:ext uri="{FF2B5EF4-FFF2-40B4-BE49-F238E27FC236}">
                <a16:creationId xmlns:a16="http://schemas.microsoft.com/office/drawing/2014/main" id="{1129B0CD-9B54-4FC4-A440-01DCB87B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2315441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Mixto</a:t>
            </a:r>
          </a:p>
        </p:txBody>
      </p:sp>
      <p:sp>
        <p:nvSpPr>
          <p:cNvPr id="22" name="u08-012-table-3-1-box">
            <a:extLst xmlns:a="http://schemas.openxmlformats.org/drawingml/2006/main">
              <a:ext uri="{FF2B5EF4-FFF2-40B4-BE49-F238E27FC236}">
                <a16:creationId xmlns:a16="http://schemas.microsoft.com/office/drawing/2014/main" id="{7CD63F94-8E5D-418B-B81D-41D022E1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591" y="4276725"/>
            <a:ext cx="419533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8-012-table-3-1-text">
            <a:extLst xmlns:a="http://schemas.openxmlformats.org/drawingml/2006/main">
              <a:ext uri="{FF2B5EF4-FFF2-40B4-BE49-F238E27FC236}">
                <a16:creationId xmlns:a16="http://schemas.microsoft.com/office/drawing/2014/main" id="{CB6C9E13-2E9D-4D9B-BD2C-FB93187E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791" y="4333875"/>
            <a:ext cx="404293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Combinación de componentes</a:t>
            </a:r>
          </a:p>
        </p:txBody>
      </p:sp>
      <p:sp>
        <p:nvSpPr>
          <p:cNvPr id="24" name="u08-012-table-3-2-box">
            <a:extLst xmlns:a="http://schemas.openxmlformats.org/drawingml/2006/main">
              <a:ext uri="{FF2B5EF4-FFF2-40B4-BE49-F238E27FC236}">
                <a16:creationId xmlns:a16="http://schemas.microsoft.com/office/drawing/2014/main" id="{9D5AF3EB-9449-43D1-B20D-BE5AD00D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920" y="4276725"/>
            <a:ext cx="419533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5" name="u08-012-table-3-2-text">
            <a:extLst xmlns:a="http://schemas.openxmlformats.org/drawingml/2006/main">
              <a:ext uri="{FF2B5EF4-FFF2-40B4-BE49-F238E27FC236}">
                <a16:creationId xmlns:a16="http://schemas.microsoft.com/office/drawing/2014/main" id="{584CF17C-8F77-46B9-BB70-135532A5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120" y="4333875"/>
            <a:ext cx="404293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Requiere integrar una batería</a:t>
            </a:r>
          </a:p>
        </p:txBody>
      </p:sp>
      <p:sp>
        <p:nvSpPr>
          <p:cNvPr id="26" name="top-rail-1">
            <a:extLst xmlns:a="http://schemas.openxmlformats.org/drawingml/2006/main">
              <a:ext uri="{FF2B5EF4-FFF2-40B4-BE49-F238E27FC236}">
                <a16:creationId xmlns:a16="http://schemas.microsoft.com/office/drawing/2014/main" id="{7E98EC22-1163-4CBF-949D-4B25617A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7" name="top-rail-2">
            <a:extLst xmlns:a="http://schemas.openxmlformats.org/drawingml/2006/main">
              <a:ext uri="{FF2B5EF4-FFF2-40B4-BE49-F238E27FC236}">
                <a16:creationId xmlns:a16="http://schemas.microsoft.com/office/drawing/2014/main" id="{6112AE08-CAB5-43D6-B708-A30C0DCF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8" name="top-rail-3">
            <a:extLst xmlns:a="http://schemas.openxmlformats.org/drawingml/2006/main">
              <a:ext uri="{FF2B5EF4-FFF2-40B4-BE49-F238E27FC236}">
                <a16:creationId xmlns:a16="http://schemas.microsoft.com/office/drawing/2014/main" id="{5BE741AC-AB22-4C17-AA03-E2AAF0B5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891D8EB5-D851-4B69-96B0-B58BDD76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AMPLIACIÓN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873103-4BA1-4A13-B0A0-884AC75F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0A9DC0-8CA1-46DD-83DE-B78A844C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patrón compatible no demuestra una causa</a:t>
            </a:r>
          </a:p>
        </p:txBody>
      </p:sp>
      <p:sp>
        <p:nvSpPr>
          <p:cNvPr id="2" name="U08-013-problem-box">
            <a:extLst xmlns:a="http://schemas.openxmlformats.org/drawingml/2006/main">
              <a:ext uri="{FF2B5EF4-FFF2-40B4-BE49-F238E27FC236}">
                <a16:creationId xmlns:a16="http://schemas.microsoft.com/office/drawing/2014/main" id="{2871FA66-295F-4AB6-A240-67AA8F80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4762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3" name="U08-013-problem-title">
            <a:extLst xmlns:a="http://schemas.openxmlformats.org/drawingml/2006/main">
              <a:ext uri="{FF2B5EF4-FFF2-40B4-BE49-F238E27FC236}">
                <a16:creationId xmlns:a16="http://schemas.microsoft.com/office/drawing/2014/main" id="{A6AB82CE-AEA6-4234-B9F2-C88B049E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0225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Afirmación problemática</a:t>
            </a:r>
          </a:p>
        </p:txBody>
      </p:sp>
      <p:sp>
        <p:nvSpPr>
          <p:cNvPr id="4" name="U08-013-problem-body">
            <a:extLst xmlns:a="http://schemas.openxmlformats.org/drawingml/2006/main">
              <a:ext uri="{FF2B5EF4-FFF2-40B4-BE49-F238E27FC236}">
                <a16:creationId xmlns:a16="http://schemas.microsoft.com/office/drawing/2014/main" id="{57CB4555-72A5-4374-B448-5B561D03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00275"/>
            <a:ext cx="44196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“Si el patrón es compatible, ya conocemos la causa”.</a:t>
            </a:r>
          </a:p>
        </p:txBody>
      </p:sp>
      <p:sp>
        <p:nvSpPr>
          <p:cNvPr id="5" name="U08-013-correction-box">
            <a:extLst xmlns:a="http://schemas.openxmlformats.org/drawingml/2006/main">
              <a:ext uri="{FF2B5EF4-FFF2-40B4-BE49-F238E27FC236}">
                <a16:creationId xmlns:a16="http://schemas.microsoft.com/office/drawing/2014/main" id="{C7915568-B782-4AB6-959C-0FE64F71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66875"/>
            <a:ext cx="5715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U08-013-correction-title">
            <a:extLst xmlns:a="http://schemas.openxmlformats.org/drawingml/2006/main">
              <a:ext uri="{FF2B5EF4-FFF2-40B4-BE49-F238E27FC236}">
                <a16:creationId xmlns:a16="http://schemas.microsoft.com/office/drawing/2014/main" id="{7C016694-B01D-46FB-9366-B914036E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0225"/>
            <a:ext cx="537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7" name="U08-013-correction-body">
            <a:extLst xmlns:a="http://schemas.openxmlformats.org/drawingml/2006/main">
              <a:ext uri="{FF2B5EF4-FFF2-40B4-BE49-F238E27FC236}">
                <a16:creationId xmlns:a16="http://schemas.microsoft.com/office/drawing/2014/main" id="{BA559B06-4FF6-4D4D-BF84-53600363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0275"/>
            <a:ext cx="53721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forma de un audiograma o timpanograma es un resultado. Para atribuir una causa hacen falta historia, condiciones de medición y evidencia complementaria.</a:t>
            </a:r>
          </a:p>
        </p:txBody>
      </p:sp>
      <p:sp>
        <p:nvSpPr>
          <p:cNvPr id="8" name="U08-013-rule">
            <a:extLst xmlns:a="http://schemas.openxmlformats.org/drawingml/2006/main">
              <a:ext uri="{FF2B5EF4-FFF2-40B4-BE49-F238E27FC236}">
                <a16:creationId xmlns:a16="http://schemas.microsoft.com/office/drawing/2014/main" id="{8692BF89-1E66-4D0C-86A6-E11BFF8D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Regla de control: describir primero el dato y sus condiciones; recién después integrar hipótesis.</a:t>
            </a:r>
          </a:p>
        </p:txBody>
      </p:sp>
      <p:sp>
        <p:nvSpPr>
          <p:cNvPr id="9" name="top-rail-1">
            <a:extLst xmlns:a="http://schemas.openxmlformats.org/drawingml/2006/main">
              <a:ext uri="{FF2B5EF4-FFF2-40B4-BE49-F238E27FC236}">
                <a16:creationId xmlns:a16="http://schemas.microsoft.com/office/drawing/2014/main" id="{A2A0AD63-5C9A-4A99-936A-093B8685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0" name="top-rail-2">
            <a:extLst xmlns:a="http://schemas.openxmlformats.org/drawingml/2006/main">
              <a:ext uri="{FF2B5EF4-FFF2-40B4-BE49-F238E27FC236}">
                <a16:creationId xmlns:a16="http://schemas.microsoft.com/office/drawing/2014/main" id="{0CDB955E-B09C-48F4-A64E-C31F0353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1" name="top-rail-3">
            <a:extLst xmlns:a="http://schemas.openxmlformats.org/drawingml/2006/main">
              <a:ext uri="{FF2B5EF4-FFF2-40B4-BE49-F238E27FC236}">
                <a16:creationId xmlns:a16="http://schemas.microsoft.com/office/drawing/2014/main" id="{B0C4E105-30CF-4CCE-830A-4F6BB47F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3D3F7BFA-6367-4DCF-9601-7D0DD8EA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AE92A63-A082-4598-8AA0-A75CCC41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23F969-8CFF-4FEE-B12A-57DE0A43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TTS y tinnitus no son el mismo fenómeno</a:t>
            </a:r>
          </a:p>
        </p:txBody>
      </p:sp>
      <p:sp>
        <p:nvSpPr>
          <p:cNvPr id="2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5D125325-2F31-4887-9616-A7207026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87A99318-2C40-4B35-B7D4-22EE0768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TTS: medición</a:t>
            </a:r>
          </a:p>
        </p:txBody>
      </p:sp>
      <p:sp>
        <p:nvSpPr>
          <p:cNvPr id="4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2E1784ED-742D-46E7-99EA-5E4C35A0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TTS: diferencia entre umbrales comparables, con frecuencia y tiempo declarados. Tinnitus: percepción referida</a:t>
            </a:r>
          </a:p>
        </p:txBody>
      </p:sp>
      <p:sp>
        <p:nvSpPr>
          <p:cNvPr id="5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DA69EBC8-59C6-4236-A4EE-C3CB8F3C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38016D65-FCD0-446F-B4C0-42F98E34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Tinnitus: percepción</a:t>
            </a:r>
          </a:p>
        </p:txBody>
      </p:sp>
      <p:sp>
        <p:nvSpPr>
          <p:cNvPr id="7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41B35E8A-0990-4F10-849B-FCA11AE8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necesita una fuente acústica externa. No intercambiar: un resultado conductual no describe por sí solo una experiencia perceptual.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E3FBC1C4-DAC4-42E9-B368-C003C12D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8788ED75-404D-4D56-8D0A-9676D22C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30C935BF-586F-49CC-97C0-58B80DA4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78ED6645-A421-4FA0-A1C2-65582C02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D6DC86E-03A1-4228-B24F-D59A514F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A1769A-2BF9-4D7A-83B1-2EAFC5B9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batería responde preguntas complementarias</a:t>
            </a:r>
          </a:p>
        </p:txBody>
      </p:sp>
      <p:sp>
        <p:nvSpPr>
          <p:cNvPr id="2" name="u08-015-battery-anchor-1">
            <a:extLst xmlns:a="http://schemas.openxmlformats.org/drawingml/2006/main">
              <a:ext uri="{FF2B5EF4-FFF2-40B4-BE49-F238E27FC236}">
                <a16:creationId xmlns:a16="http://schemas.microsoft.com/office/drawing/2014/main" id="{AF955423-F45D-4ED7-8A8D-F6A2F099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2657475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u08-015-battery-anchor-2">
            <a:extLst xmlns:a="http://schemas.openxmlformats.org/drawingml/2006/main">
              <a:ext uri="{FF2B5EF4-FFF2-40B4-BE49-F238E27FC236}">
                <a16:creationId xmlns:a16="http://schemas.microsoft.com/office/drawing/2014/main" id="{ECF667DC-5277-45BA-98E1-0EB5FD9D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47875"/>
            <a:ext cx="2657475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u08-015-battery-anchor-3">
            <a:extLst xmlns:a="http://schemas.openxmlformats.org/drawingml/2006/main">
              <a:ext uri="{FF2B5EF4-FFF2-40B4-BE49-F238E27FC236}">
                <a16:creationId xmlns:a16="http://schemas.microsoft.com/office/drawing/2014/main" id="{5E60D792-6105-49ED-8DE9-A9391D43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47875"/>
            <a:ext cx="2657475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u08-015-battery-anchor-4">
            <a:extLst xmlns:a="http://schemas.openxmlformats.org/drawingml/2006/main">
              <a:ext uri="{FF2B5EF4-FFF2-40B4-BE49-F238E27FC236}">
                <a16:creationId xmlns:a16="http://schemas.microsoft.com/office/drawing/2014/main" id="{2E8E8E7C-45C4-43EC-8E59-B53C2B86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47875"/>
            <a:ext cx="2657475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181350" y="31432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6010275" y="31432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839200" y="31432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9" name="u08-015-battery-1-box">
            <a:extLst xmlns:a="http://schemas.openxmlformats.org/drawingml/2006/main">
              <a:ext uri="{FF2B5EF4-FFF2-40B4-BE49-F238E27FC236}">
                <a16:creationId xmlns:a16="http://schemas.microsoft.com/office/drawing/2014/main" id="{588D2F7E-19C7-460D-B180-966F9908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26574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u08-015-battery-1-title">
            <a:extLst xmlns:a="http://schemas.openxmlformats.org/drawingml/2006/main">
              <a:ext uri="{FF2B5EF4-FFF2-40B4-BE49-F238E27FC236}">
                <a16:creationId xmlns:a16="http://schemas.microsoft.com/office/drawing/2014/main" id="{956D18B9-4A74-49E9-B828-2F415D4F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81225"/>
            <a:ext cx="2314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Historia</a:t>
            </a:r>
          </a:p>
        </p:txBody>
      </p:sp>
      <p:sp>
        <p:nvSpPr>
          <p:cNvPr id="11" name="u08-015-battery-1-body">
            <a:extLst xmlns:a="http://schemas.openxmlformats.org/drawingml/2006/main">
              <a:ext uri="{FF2B5EF4-FFF2-40B4-BE49-F238E27FC236}">
                <a16:creationId xmlns:a16="http://schemas.microsoft.com/office/drawing/2014/main" id="{0445738D-03EF-4E51-92D5-4A6DD9F4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81275"/>
            <a:ext cx="23145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Antecedentes y exposición</a:t>
            </a:r>
          </a:p>
        </p:txBody>
      </p:sp>
      <p:sp>
        <p:nvSpPr>
          <p:cNvPr id="12" name="u08-015-battery-2-box">
            <a:extLst xmlns:a="http://schemas.openxmlformats.org/drawingml/2006/main">
              <a:ext uri="{FF2B5EF4-FFF2-40B4-BE49-F238E27FC236}">
                <a16:creationId xmlns:a16="http://schemas.microsoft.com/office/drawing/2014/main" id="{F2CE95FC-C819-4838-90CC-29E9A8B7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47875"/>
            <a:ext cx="26574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3" name="u08-015-battery-2-title">
            <a:extLst xmlns:a="http://schemas.openxmlformats.org/drawingml/2006/main">
              <a:ext uri="{FF2B5EF4-FFF2-40B4-BE49-F238E27FC236}">
                <a16:creationId xmlns:a16="http://schemas.microsoft.com/office/drawing/2014/main" id="{52223652-E56C-4420-B815-B4327194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81225"/>
            <a:ext cx="2314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Conducta</a:t>
            </a:r>
          </a:p>
        </p:txBody>
      </p:sp>
      <p:sp>
        <p:nvSpPr>
          <p:cNvPr id="14" name="u08-015-battery-2-body">
            <a:extLst xmlns:a="http://schemas.openxmlformats.org/drawingml/2006/main">
              <a:ext uri="{FF2B5EF4-FFF2-40B4-BE49-F238E27FC236}">
                <a16:creationId xmlns:a16="http://schemas.microsoft.com/office/drawing/2014/main" id="{BDEEF362-CBA3-42D8-BD65-E670CFC8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81275"/>
            <a:ext cx="23145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Umbrales y tareas</a:t>
            </a:r>
          </a:p>
        </p:txBody>
      </p:sp>
      <p:sp>
        <p:nvSpPr>
          <p:cNvPr id="15" name="u08-015-battery-3-box">
            <a:extLst xmlns:a="http://schemas.openxmlformats.org/drawingml/2006/main">
              <a:ext uri="{FF2B5EF4-FFF2-40B4-BE49-F238E27FC236}">
                <a16:creationId xmlns:a16="http://schemas.microsoft.com/office/drawing/2014/main" id="{41279DF0-48F3-47AF-94AD-05944578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47875"/>
            <a:ext cx="26574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6" name="u08-015-battery-3-title">
            <a:extLst xmlns:a="http://schemas.openxmlformats.org/drawingml/2006/main">
              <a:ext uri="{FF2B5EF4-FFF2-40B4-BE49-F238E27FC236}">
                <a16:creationId xmlns:a16="http://schemas.microsoft.com/office/drawing/2014/main" id="{99E424FA-E947-4688-BA1C-CE5C8FD9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81225"/>
            <a:ext cx="2314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Fisiología</a:t>
            </a:r>
          </a:p>
        </p:txBody>
      </p:sp>
      <p:sp>
        <p:nvSpPr>
          <p:cNvPr id="17" name="u08-015-battery-3-body">
            <a:extLst xmlns:a="http://schemas.openxmlformats.org/drawingml/2006/main">
              <a:ext uri="{FF2B5EF4-FFF2-40B4-BE49-F238E27FC236}">
                <a16:creationId xmlns:a16="http://schemas.microsoft.com/office/drawing/2014/main" id="{695CA725-EF52-4816-8EE5-F4FFF1A6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81275"/>
            <a:ext cx="23145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Respuestas acústicas o eléctricas</a:t>
            </a:r>
          </a:p>
        </p:txBody>
      </p:sp>
      <p:sp>
        <p:nvSpPr>
          <p:cNvPr id="18" name="u08-015-battery-4-box">
            <a:extLst xmlns:a="http://schemas.openxmlformats.org/drawingml/2006/main">
              <a:ext uri="{FF2B5EF4-FFF2-40B4-BE49-F238E27FC236}">
                <a16:creationId xmlns:a16="http://schemas.microsoft.com/office/drawing/2014/main" id="{7DD21FA5-41A1-4550-8F1B-AF54689B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47875"/>
            <a:ext cx="26574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9" name="u08-015-battery-4-title">
            <a:extLst xmlns:a="http://schemas.openxmlformats.org/drawingml/2006/main">
              <a:ext uri="{FF2B5EF4-FFF2-40B4-BE49-F238E27FC236}">
                <a16:creationId xmlns:a16="http://schemas.microsoft.com/office/drawing/2014/main" id="{181C36FB-102A-4E45-8B31-8A717295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81225"/>
            <a:ext cx="2314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Integración</a:t>
            </a:r>
          </a:p>
        </p:txBody>
      </p:sp>
      <p:sp>
        <p:nvSpPr>
          <p:cNvPr id="20" name="u08-015-battery-4-body">
            <a:extLst xmlns:a="http://schemas.openxmlformats.org/drawingml/2006/main">
              <a:ext uri="{FF2B5EF4-FFF2-40B4-BE49-F238E27FC236}">
                <a16:creationId xmlns:a16="http://schemas.microsoft.com/office/drawing/2014/main" id="{9CC6179B-70C6-4922-9E60-D005936D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81275"/>
            <a:ext cx="23145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Coincidencias, límites y nuevas preguntas</a:t>
            </a:r>
          </a:p>
        </p:txBody>
      </p:sp>
      <p:sp>
        <p:nvSpPr>
          <p:cNvPr id="21" name="top-rail-1">
            <a:extLst xmlns:a="http://schemas.openxmlformats.org/drawingml/2006/main">
              <a:ext uri="{FF2B5EF4-FFF2-40B4-BE49-F238E27FC236}">
                <a16:creationId xmlns:a16="http://schemas.microsoft.com/office/drawing/2014/main" id="{A3E53DBF-1B9E-4975-A11D-80CF55D0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979E5D0-0927-4F77-A9BD-6841DEF7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B628E77-0511-4A95-A92D-60493573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CE6C656C-A2B3-4C87-84C6-5D2047CE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DD695A6-51B8-435B-8539-B3373EE4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DA5917-925D-412B-8708-256A38A6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primero clasificar, después interpretar</a:t>
            </a:r>
          </a:p>
        </p:txBody>
      </p:sp>
      <p:sp>
        <p:nvSpPr>
          <p:cNvPr id="2" name="U08-016-recap-0-box">
            <a:extLst xmlns:a="http://schemas.openxmlformats.org/drawingml/2006/main">
              <a:ext uri="{FF2B5EF4-FFF2-40B4-BE49-F238E27FC236}">
                <a16:creationId xmlns:a16="http://schemas.microsoft.com/office/drawing/2014/main" id="{42DA5420-0106-46BE-B90E-704642AD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016-recap-0-title">
            <a:extLst xmlns:a="http://schemas.openxmlformats.org/drawingml/2006/main">
              <a:ext uri="{FF2B5EF4-FFF2-40B4-BE49-F238E27FC236}">
                <a16:creationId xmlns:a16="http://schemas.microsoft.com/office/drawing/2014/main" id="{2437B209-2AC9-4F36-B3A6-B887A2F5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U08-016-recap-0-body">
            <a:extLst xmlns:a="http://schemas.openxmlformats.org/drawingml/2006/main">
              <a:ext uri="{FF2B5EF4-FFF2-40B4-BE49-F238E27FC236}">
                <a16:creationId xmlns:a16="http://schemas.microsoft.com/office/drawing/2014/main" id="{5311BC50-507A-4A47-B7B1-E7608E06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Clasifique el dato</a:t>
            </a:r>
          </a:p>
        </p:txBody>
      </p:sp>
      <p:sp>
        <p:nvSpPr>
          <p:cNvPr id="5" name="U08-016-recap-1-box">
            <a:extLst xmlns:a="http://schemas.openxmlformats.org/drawingml/2006/main">
              <a:ext uri="{FF2B5EF4-FFF2-40B4-BE49-F238E27FC236}">
                <a16:creationId xmlns:a16="http://schemas.microsoft.com/office/drawing/2014/main" id="{851A816E-40DE-4485-AA07-2F4C9EC6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U08-016-recap-1-title">
            <a:extLst xmlns:a="http://schemas.openxmlformats.org/drawingml/2006/main">
              <a:ext uri="{FF2B5EF4-FFF2-40B4-BE49-F238E27FC236}">
                <a16:creationId xmlns:a16="http://schemas.microsoft.com/office/drawing/2014/main" id="{2FB5EFA2-AE31-4CE4-809E-72329BD2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U08-016-recap-1-body">
            <a:extLst xmlns:a="http://schemas.openxmlformats.org/drawingml/2006/main">
              <a:ext uri="{FF2B5EF4-FFF2-40B4-BE49-F238E27FC236}">
                <a16:creationId xmlns:a16="http://schemas.microsoft.com/office/drawing/2014/main" id="{778023D9-466F-4729-8264-30E4FECD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Nombre magnitud y unidad</a:t>
            </a:r>
          </a:p>
        </p:txBody>
      </p:sp>
      <p:sp>
        <p:nvSpPr>
          <p:cNvPr id="8" name="U08-016-recap-2-box">
            <a:extLst xmlns:a="http://schemas.openxmlformats.org/drawingml/2006/main">
              <a:ext uri="{FF2B5EF4-FFF2-40B4-BE49-F238E27FC236}">
                <a16:creationId xmlns:a16="http://schemas.microsoft.com/office/drawing/2014/main" id="{BA9F17E6-75E2-4CB1-989C-8568334B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U08-016-recap-2-title">
            <a:extLst xmlns:a="http://schemas.openxmlformats.org/drawingml/2006/main">
              <a:ext uri="{FF2B5EF4-FFF2-40B4-BE49-F238E27FC236}">
                <a16:creationId xmlns:a16="http://schemas.microsoft.com/office/drawing/2014/main" id="{318F4DC9-605D-49C5-98E5-2A02EA4B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0" name="U08-016-recap-2-body">
            <a:extLst xmlns:a="http://schemas.openxmlformats.org/drawingml/2006/main">
              <a:ext uri="{FF2B5EF4-FFF2-40B4-BE49-F238E27FC236}">
                <a16:creationId xmlns:a16="http://schemas.microsoft.com/office/drawing/2014/main" id="{AE8D86B2-B64A-4F5F-A345-33B32D54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Separe medición de causa</a:t>
            </a:r>
          </a:p>
        </p:txBody>
      </p:sp>
      <p:sp>
        <p:nvSpPr>
          <p:cNvPr id="11" name="U08-016-recap-3-box">
            <a:extLst xmlns:a="http://schemas.openxmlformats.org/drawingml/2006/main">
              <a:ext uri="{FF2B5EF4-FFF2-40B4-BE49-F238E27FC236}">
                <a16:creationId xmlns:a16="http://schemas.microsoft.com/office/drawing/2014/main" id="{A428BF22-438B-4C7F-9E12-C20D37A3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2" name="U08-016-recap-3-title">
            <a:extLst xmlns:a="http://schemas.openxmlformats.org/drawingml/2006/main">
              <a:ext uri="{FF2B5EF4-FFF2-40B4-BE49-F238E27FC236}">
                <a16:creationId xmlns:a16="http://schemas.microsoft.com/office/drawing/2014/main" id="{A2DF141D-84DD-4CBE-B5E0-08338045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3" name="U08-016-recap-3-body">
            <a:extLst xmlns:a="http://schemas.openxmlformats.org/drawingml/2006/main">
              <a:ext uri="{FF2B5EF4-FFF2-40B4-BE49-F238E27FC236}">
                <a16:creationId xmlns:a16="http://schemas.microsoft.com/office/drawing/2014/main" id="{C0FE779A-B00C-494B-ACED-B0331366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Integre antes de diagnosticar</a:t>
            </a:r>
          </a:p>
        </p:txBody>
      </p:sp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F0036CB4-4E11-45CB-93AC-544095C2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 xmlns:a="http://schemas.openxmlformats.org/drawingml/2006/main">
              <a:ext uri="{FF2B5EF4-FFF2-40B4-BE49-F238E27FC236}">
                <a16:creationId xmlns:a16="http://schemas.microsoft.com/office/drawing/2014/main" id="{7B25AB59-C8FA-4279-9E94-6C6BB925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 xmlns:a="http://schemas.openxmlformats.org/drawingml/2006/main">
              <a:ext uri="{FF2B5EF4-FFF2-40B4-BE49-F238E27FC236}">
                <a16:creationId xmlns:a16="http://schemas.microsoft.com/office/drawing/2014/main" id="{8F8E8C83-B4BA-48F0-ADC6-EA189D3F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5F7E294B-5CA9-46C3-99D2-5F120809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CC88FA-C6D6-4F0B-9870-0CB01536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459B1212-B98E-457A-879A-054A2A3A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5EF9B667-89A1-4B8A-BFC2-CF715634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significa que un umbral cambie después de una exposición?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57E7C0E6-7A75-4F62-AA19-9311FF68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 del bloque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94033E4-DF5D-4EDF-81E2-F5DD1FF9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BEADF8-6905-4041-B967-AE42A043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exposición no se resume en “muchos decibeles”</a:t>
            </a:r>
          </a:p>
        </p:txBody>
      </p:sp>
      <p:sp>
        <p:nvSpPr>
          <p:cNvPr id="2" name="U08-018-card-1-box">
            <a:extLst xmlns:a="http://schemas.openxmlformats.org/drawingml/2006/main">
              <a:ext uri="{FF2B5EF4-FFF2-40B4-BE49-F238E27FC236}">
                <a16:creationId xmlns:a16="http://schemas.microsoft.com/office/drawing/2014/main" id="{26576009-B76A-4AA7-8FFB-EA67FD8F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047875" cy="2571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018-card-1-title">
            <a:extLst xmlns:a="http://schemas.openxmlformats.org/drawingml/2006/main">
              <a:ext uri="{FF2B5EF4-FFF2-40B4-BE49-F238E27FC236}">
                <a16:creationId xmlns:a16="http://schemas.microsoft.com/office/drawing/2014/main" id="{EDDF10A6-AF25-4DE9-B01C-C656E156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859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Nivel</a:t>
            </a:r>
          </a:p>
        </p:txBody>
      </p:sp>
      <p:sp>
        <p:nvSpPr>
          <p:cNvPr id="4" name="U08-018-card-1-body">
            <a:extLst xmlns:a="http://schemas.openxmlformats.org/drawingml/2006/main">
              <a:ext uri="{FF2B5EF4-FFF2-40B4-BE49-F238E27FC236}">
                <a16:creationId xmlns:a16="http://schemas.microsoft.com/office/drawing/2014/main" id="{888DDAAF-7F9B-4D6B-B2B2-3BBDCDB2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86025"/>
            <a:ext cx="1704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Magnitud y descriptor</a:t>
            </a:r>
          </a:p>
        </p:txBody>
      </p:sp>
      <p:sp>
        <p:nvSpPr>
          <p:cNvPr id="5" name="U08-018-card-2-box">
            <a:extLst xmlns:a="http://schemas.openxmlformats.org/drawingml/2006/main">
              <a:ext uri="{FF2B5EF4-FFF2-40B4-BE49-F238E27FC236}">
                <a16:creationId xmlns:a16="http://schemas.microsoft.com/office/drawing/2014/main" id="{6EBB4AB3-08AF-4005-BB8D-629FD31D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52625"/>
            <a:ext cx="2047875" cy="2571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U08-018-card-2-title">
            <a:extLst xmlns:a="http://schemas.openxmlformats.org/drawingml/2006/main">
              <a:ext uri="{FF2B5EF4-FFF2-40B4-BE49-F238E27FC236}">
                <a16:creationId xmlns:a16="http://schemas.microsoft.com/office/drawing/2014/main" id="{0DD22834-F469-426C-942E-7A70D3FC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859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Ponderación</a:t>
            </a:r>
          </a:p>
        </p:txBody>
      </p:sp>
      <p:sp>
        <p:nvSpPr>
          <p:cNvPr id="7" name="U08-018-card-2-body">
            <a:extLst xmlns:a="http://schemas.openxmlformats.org/drawingml/2006/main">
              <a:ext uri="{FF2B5EF4-FFF2-40B4-BE49-F238E27FC236}">
                <a16:creationId xmlns:a16="http://schemas.microsoft.com/office/drawing/2014/main" id="{C9887051-280C-440F-8002-DF82CC14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86025"/>
            <a:ext cx="1704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 u otra respuesta</a:t>
            </a:r>
          </a:p>
        </p:txBody>
      </p:sp>
      <p:sp>
        <p:nvSpPr>
          <p:cNvPr id="8" name="U08-018-card-3-box">
            <a:extLst xmlns:a="http://schemas.openxmlformats.org/drawingml/2006/main">
              <a:ext uri="{FF2B5EF4-FFF2-40B4-BE49-F238E27FC236}">
                <a16:creationId xmlns:a16="http://schemas.microsoft.com/office/drawing/2014/main" id="{37BD6B57-5ECF-419D-A3DD-B00C490C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52625"/>
            <a:ext cx="2047875" cy="2571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U08-018-card-3-title">
            <a:extLst xmlns:a="http://schemas.openxmlformats.org/drawingml/2006/main">
              <a:ext uri="{FF2B5EF4-FFF2-40B4-BE49-F238E27FC236}">
                <a16:creationId xmlns:a16="http://schemas.microsoft.com/office/drawing/2014/main" id="{E9D653BD-1D1F-421C-8892-A369A722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0859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Duración</a:t>
            </a:r>
          </a:p>
        </p:txBody>
      </p:sp>
      <p:sp>
        <p:nvSpPr>
          <p:cNvPr id="10" name="U08-018-card-3-body">
            <a:extLst xmlns:a="http://schemas.openxmlformats.org/drawingml/2006/main">
              <a:ext uri="{FF2B5EF4-FFF2-40B4-BE49-F238E27FC236}">
                <a16:creationId xmlns:a16="http://schemas.microsoft.com/office/drawing/2014/main" id="{1CCF5325-0156-499A-AF79-0A65101D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486025"/>
            <a:ext cx="1704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Intervalo de medida</a:t>
            </a:r>
          </a:p>
        </p:txBody>
      </p:sp>
      <p:sp>
        <p:nvSpPr>
          <p:cNvPr id="11" name="U08-018-card-4-box">
            <a:extLst xmlns:a="http://schemas.openxmlformats.org/drawingml/2006/main">
              <a:ext uri="{FF2B5EF4-FFF2-40B4-BE49-F238E27FC236}">
                <a16:creationId xmlns:a16="http://schemas.microsoft.com/office/drawing/2014/main" id="{B28EB440-9172-4A26-92D7-96EBC69F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2047875" cy="2571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2" name="U08-018-card-4-title">
            <a:extLst xmlns:a="http://schemas.openxmlformats.org/drawingml/2006/main">
              <a:ext uri="{FF2B5EF4-FFF2-40B4-BE49-F238E27FC236}">
                <a16:creationId xmlns:a16="http://schemas.microsoft.com/office/drawing/2014/main" id="{EAA1F349-F725-4F95-BBC3-C6885510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859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Espectro</a:t>
            </a:r>
          </a:p>
        </p:txBody>
      </p:sp>
      <p:sp>
        <p:nvSpPr>
          <p:cNvPr id="13" name="U08-018-card-4-body">
            <a:extLst xmlns:a="http://schemas.openxmlformats.org/drawingml/2006/main">
              <a:ext uri="{FF2B5EF4-FFF2-40B4-BE49-F238E27FC236}">
                <a16:creationId xmlns:a16="http://schemas.microsoft.com/office/drawing/2014/main" id="{B4CFAE5C-C8DA-45EF-B572-88192A88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86025"/>
            <a:ext cx="1704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Distribución en frecuencia</a:t>
            </a:r>
          </a:p>
        </p:txBody>
      </p:sp>
      <p:sp>
        <p:nvSpPr>
          <p:cNvPr id="14" name="U08-018-card-5-box">
            <a:extLst xmlns:a="http://schemas.openxmlformats.org/drawingml/2006/main">
              <a:ext uri="{FF2B5EF4-FFF2-40B4-BE49-F238E27FC236}">
                <a16:creationId xmlns:a16="http://schemas.microsoft.com/office/drawing/2014/main" id="{E0007C8D-B09B-49E0-946E-F71CEC00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52625"/>
            <a:ext cx="2047875" cy="2571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5" name="U08-018-card-5-title">
            <a:extLst xmlns:a="http://schemas.openxmlformats.org/drawingml/2006/main">
              <a:ext uri="{FF2B5EF4-FFF2-40B4-BE49-F238E27FC236}">
                <a16:creationId xmlns:a16="http://schemas.microsoft.com/office/drawing/2014/main" id="{336D5876-4291-4676-852E-F0B3746F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0859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Temporalidad</a:t>
            </a:r>
          </a:p>
        </p:txBody>
      </p:sp>
      <p:sp>
        <p:nvSpPr>
          <p:cNvPr id="16" name="U08-018-card-5-body">
            <a:extLst xmlns:a="http://schemas.openxmlformats.org/drawingml/2006/main">
              <a:ext uri="{FF2B5EF4-FFF2-40B4-BE49-F238E27FC236}">
                <a16:creationId xmlns:a16="http://schemas.microsoft.com/office/drawing/2014/main" id="{9A2AB75D-00DE-47CA-BB4A-11DB8FBA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86025"/>
            <a:ext cx="1704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Continuo, variable o impulsivo</a:t>
            </a:r>
          </a:p>
        </p:txBody>
      </p:sp>
      <p:sp>
        <p:nvSpPr>
          <p:cNvPr id="17" name="top-rail-1">
            <a:extLst xmlns:a="http://schemas.openxmlformats.org/drawingml/2006/main">
              <a:ext uri="{FF2B5EF4-FFF2-40B4-BE49-F238E27FC236}">
                <a16:creationId xmlns:a16="http://schemas.microsoft.com/office/drawing/2014/main" id="{8D62B0D2-F6A4-4C5E-A1CE-C8D69FFD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8" name="top-rail-2">
            <a:extLst xmlns:a="http://schemas.openxmlformats.org/drawingml/2006/main">
              <a:ext uri="{FF2B5EF4-FFF2-40B4-BE49-F238E27FC236}">
                <a16:creationId xmlns:a16="http://schemas.microsoft.com/office/drawing/2014/main" id="{E0B36205-0B0C-4172-9FB8-C214FD0E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9" name="top-rail-3">
            <a:extLst xmlns:a="http://schemas.openxmlformats.org/drawingml/2006/main">
              <a:ext uri="{FF2B5EF4-FFF2-40B4-BE49-F238E27FC236}">
                <a16:creationId xmlns:a16="http://schemas.microsoft.com/office/drawing/2014/main" id="{DCB11D98-F22C-4E78-88F2-3E37A4B8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97E62F4D-D979-47AB-BA9E-BCAFB029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2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BD2DD34-1A8E-4B3D-B77C-80A1FBEE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6AAED4-E703-4541-8989-9D2E7B1A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TTS es una diferencia entre dos umbrales comparables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3BB05310-1E19-4AF8-BCCC-BBC4159E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Definición: el desplazamiento temporal del umbral (TTS) es la diferencia entre un umbral posterior y uno de referencia.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Condiciones: misma frecuencia, escala, vía y procedimiento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tiempo postexposición explícito.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confundir con tinnitus ni usar como pronóstico individual.</a:t>
            </a:r>
          </a:p>
        </p:txBody>
      </p:sp>
      <p:sp>
        <p:nvSpPr>
          <p:cNvPr id="3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806701D0-5A02-48F1-8A39-5A999C5E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571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3B0BB527-7256-4B70-B292-CB058A05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228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5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587679C6-C5EF-47BC-BE01-C9CFE6AB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2289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Deben coincidir frecuencia, escala, vía y procedimiento también debe constar el tiempo postexposición.</a:t>
            </a:r>
          </a:p>
        </p:txBody>
      </p:sp>
      <p:sp>
        <p:nvSpPr>
          <p:cNvPr id="6" name="top-rail-1">
            <a:extLst xmlns:a="http://schemas.openxmlformats.org/drawingml/2006/main">
              <a:ext uri="{FF2B5EF4-FFF2-40B4-BE49-F238E27FC236}">
                <a16:creationId xmlns:a16="http://schemas.microsoft.com/office/drawing/2014/main" id="{44AA4B2D-5220-479A-A58B-EB8A28F1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7" name="top-rail-2">
            <a:extLst xmlns:a="http://schemas.openxmlformats.org/drawingml/2006/main">
              <a:ext uri="{FF2B5EF4-FFF2-40B4-BE49-F238E27FC236}">
                <a16:creationId xmlns:a16="http://schemas.microsoft.com/office/drawing/2014/main" id="{284D1301-A8A1-44A5-A846-DC69219C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8" name="top-rail-3">
            <a:extLst xmlns:a="http://schemas.openxmlformats.org/drawingml/2006/main">
              <a:ext uri="{FF2B5EF4-FFF2-40B4-BE49-F238E27FC236}">
                <a16:creationId xmlns:a16="http://schemas.microsoft.com/office/drawing/2014/main" id="{5C2BC1D6-52E7-4A48-BD33-6F9F8670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EC254522-C713-4285-917B-5ADC0BB1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18ACF79-24F5-40D0-99E3-79FC9D37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64235E-AE51-4DA4-8989-3F4D63B7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ΔL_T(f,Δt) compara el umbral posterior con el de referencia</a:t>
            </a:r>
          </a:p>
        </p:txBody>
      </p:sp>
      <p:sp>
        <p:nvSpPr>
          <p:cNvPr id="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DC905F89-FCF9-4769-B8B4-9EE87D5B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33550"/>
            <a:ext cx="962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3" name="equation">
            <a:extLst xmlns:a="http://schemas.openxmlformats.org/drawingml/2006/main">
              <a:ext uri="{FF2B5EF4-FFF2-40B4-BE49-F238E27FC236}">
                <a16:creationId xmlns:a16="http://schemas.microsoft.com/office/drawing/2014/main" id="{580ED191-59C8-49EB-8473-559D996A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847850"/>
            <a:ext cx="9163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ΔL_T(f, Δt) = L_U,1(f, Δt) − L_U,0(f)</a:t>
            </a:r>
          </a:p>
        </p:txBody>
      </p:sp>
      <p:sp>
        <p:nvSpPr>
          <p:cNvPr id="4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2BF7674A-8601-4E7C-AC9E-1299B2C8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7543F274-8696-4FDB-B338-9850E698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6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91C15C6F-38B2-4FBF-A811-2D1FC9B6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 valor positivo indica mayor nivel de audición requerido en la segunda medición no identifica mecanismo ni permanencia.</a:t>
            </a:r>
          </a:p>
        </p:txBody>
      </p:sp>
      <p:sp>
        <p:nvSpPr>
          <p:cNvPr id="7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C4334242-D3F0-4BB0-A1AD-18EDB700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02A0F01A-FC01-49A8-B86A-D49274C3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9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634F70AC-AD58-468F-8113-C578D286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 valor positivo indica que en la segunda medición se necesitó un nivel de audición mayor. No identifica por sí solo mecanismo, permanencia ni significación clínica.</a:t>
            </a:r>
          </a:p>
        </p:txBody>
      </p:sp>
      <p:sp>
        <p:nvSpPr>
          <p:cNvPr id="10" name="top-rail-1">
            <a:extLst xmlns:a="http://schemas.openxmlformats.org/drawingml/2006/main">
              <a:ext uri="{FF2B5EF4-FFF2-40B4-BE49-F238E27FC236}">
                <a16:creationId xmlns:a16="http://schemas.microsoft.com/office/drawing/2014/main" id="{B3F13F63-5C84-45D2-A5D7-B73F6B76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 xmlns:a="http://schemas.openxmlformats.org/drawingml/2006/main">
              <a:ext uri="{FF2B5EF4-FFF2-40B4-BE49-F238E27FC236}">
                <a16:creationId xmlns:a16="http://schemas.microsoft.com/office/drawing/2014/main" id="{761006E1-A6DA-4BE1-962B-1E55358D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 xmlns:a="http://schemas.openxmlformats.org/drawingml/2006/main">
              <a:ext uri="{FF2B5EF4-FFF2-40B4-BE49-F238E27FC236}">
                <a16:creationId xmlns:a16="http://schemas.microsoft.com/office/drawing/2014/main" id="{8926CF38-F681-4014-9E50-D63B9691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DD781E1-CF33-48D6-A874-B5B260B3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73D7BAF-D620-4162-9C74-B6CA3A6F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7C7AF6-19BD-4FE6-B820-A112364E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 4000 Hz, el umbral aumenta 15 dB en la segunda medición</a:t>
            </a:r>
          </a:p>
        </p:txBody>
      </p:sp>
      <p:sp>
        <p:nvSpPr>
          <p:cNvPr id="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29B64916-23F6-4FDA-9FDF-221BBFEA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33550"/>
            <a:ext cx="962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3" name="equation">
            <a:extLst xmlns:a="http://schemas.openxmlformats.org/drawingml/2006/main">
              <a:ext uri="{FF2B5EF4-FFF2-40B4-BE49-F238E27FC236}">
                <a16:creationId xmlns:a16="http://schemas.microsoft.com/office/drawing/2014/main" id="{14A1E83D-2006-46F7-B38B-4810BE28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847850"/>
            <a:ext cx="9163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ΔL_T(4000 Hz, Δt) = 27 dB HL − 12 dB HL = 15 dB</a:t>
            </a:r>
          </a:p>
        </p:txBody>
      </p:sp>
      <p:sp>
        <p:nvSpPr>
          <p:cNvPr id="4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E2B98E63-4228-4A48-BF49-01D773EC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11734DCB-F8EE-462E-9BEF-203DA268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6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CFB0244A-A201-4342-8ADB-0F4D8391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27 dB HL - 12 dB HL = 15 dB el resultado no prueba causa ni permanencia. Datos compatibilidad sustitución resultado límite</a:t>
            </a:r>
          </a:p>
        </p:txBody>
      </p:sp>
      <p:sp>
        <p:nvSpPr>
          <p:cNvPr id="7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ABA9A9EF-8905-41B4-BE7E-E647DC36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BCC1A390-AE94-4E0C-A1A8-DD3251A6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9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72E6F380-A1BF-405B-BE1A-AB4D328D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ΔL_T(4000 Hz, Δt) = 27 dB HL − 12 dB HL = 15 dB. Interpretar el resultado por separado del cálculo.</a:t>
            </a:r>
          </a:p>
        </p:txBody>
      </p:sp>
      <p:sp>
        <p:nvSpPr>
          <p:cNvPr id="10" name="top-rail-1">
            <a:extLst xmlns:a="http://schemas.openxmlformats.org/drawingml/2006/main">
              <a:ext uri="{FF2B5EF4-FFF2-40B4-BE49-F238E27FC236}">
                <a16:creationId xmlns:a16="http://schemas.microsoft.com/office/drawing/2014/main" id="{B311A2B7-A11B-4277-A047-601C90D3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 xmlns:a="http://schemas.openxmlformats.org/drawingml/2006/main">
              <a:ext uri="{FF2B5EF4-FFF2-40B4-BE49-F238E27FC236}">
                <a16:creationId xmlns:a16="http://schemas.microsoft.com/office/drawing/2014/main" id="{37620174-2875-418B-9BDD-740B4655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 xmlns:a="http://schemas.openxmlformats.org/drawingml/2006/main">
              <a:ext uri="{FF2B5EF4-FFF2-40B4-BE49-F238E27FC236}">
                <a16:creationId xmlns:a16="http://schemas.microsoft.com/office/drawing/2014/main" id="{045A1B19-2CFD-417E-98CA-257927F7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E0948377-3697-41D6-A639-98DF4A58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E978B12-E0F7-45A3-A7A1-4669C82D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75C9C1-1059-4D7D-B35B-AF884BE5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curva temporal reúne varias mediciones, no un pronóstico universal</a:t>
            </a:r>
          </a:p>
        </p:txBody>
      </p:sp>
      <p:pic>
        <p:nvPicPr>
          <p:cNvPr id="10" name="U08-022-U08-CH-001" descr="Una curva temporal reúne varias mediciones, no un pronóstico universal. Gráfico: Ejes Δt y ΔL_T, puntos seriados y banda/variabilidad sin números normativos. Cada punto requiere frecuencia de prueba, tiempo, procedimiento y variabilidad; una forma conceptual no aporta tiempos universal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6ed2f47f014365">
            <a:extLst>
              <a:ext uri="{96DAC541-7B7A-43D3-8B79-37D633B846F1}">
                <asvg:svgBlip xmlns:asvg="http://schemas.microsoft.com/office/drawing/2016/SVG/main" r:embed="Ra608109e938b48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" y="1524000"/>
            <a:ext cx="11334750" cy="4381500"/>
          </a:xfrm>
          <a:prstGeom xmlns:a="http://schemas.openxmlformats.org/drawingml/2006/main" prst="rect">
            <a:avLst/>
          </a:prstGeom>
        </p:spPr>
      </p:pic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DC4D547F-C4D3-4D81-876E-A863348A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Cada punto requiere frecuencia de prueba, tiempo, procedimiento y variabilidad; una forma conceptual no aporta tiempo… · Producción propia UCASAL · U08-CH-001</a:t>
            </a:r>
          </a:p>
        </p:txBody>
      </p:sp>
      <p:sp>
        <p:nvSpPr>
          <p:cNvPr id="4" name="top-rail-1">
            <a:extLst xmlns:a="http://schemas.openxmlformats.org/drawingml/2006/main">
              <a:ext uri="{FF2B5EF4-FFF2-40B4-BE49-F238E27FC236}">
                <a16:creationId xmlns:a16="http://schemas.microsoft.com/office/drawing/2014/main" id="{AF7EB54F-C273-42C3-AC75-99C50B61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 xmlns:a="http://schemas.openxmlformats.org/drawingml/2006/main">
              <a:ext uri="{FF2B5EF4-FFF2-40B4-BE49-F238E27FC236}">
                <a16:creationId xmlns:a16="http://schemas.microsoft.com/office/drawing/2014/main" id="{62C8B58D-49A5-44C3-AD1A-1625B87F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 xmlns:a="http://schemas.openxmlformats.org/drawingml/2006/main">
              <a:ext uri="{FF2B5EF4-FFF2-40B4-BE49-F238E27FC236}">
                <a16:creationId xmlns:a16="http://schemas.microsoft.com/office/drawing/2014/main" id="{52206C93-935F-41B1-9C0C-7D8CA583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C2F201AD-FF11-4EED-B418-C8606005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496199C-F53D-4351-AC74-E687E542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F8B00C-40AB-4808-9187-5515ED84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curva cuantitativa necesita exposición, población y tiempos definidos</a:t>
            </a:r>
          </a:p>
        </p:txBody>
      </p:sp>
      <p:sp>
        <p:nvSpPr>
          <p:cNvPr id="2" name="u08-023-1-box">
            <a:extLst xmlns:a="http://schemas.openxmlformats.org/drawingml/2006/main">
              <a:ext uri="{FF2B5EF4-FFF2-40B4-BE49-F238E27FC236}">
                <a16:creationId xmlns:a16="http://schemas.microsoft.com/office/drawing/2014/main" id="{D6EEE538-0EF4-4FE1-B47B-5720BD57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333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023-1-title">
            <a:extLst xmlns:a="http://schemas.openxmlformats.org/drawingml/2006/main">
              <a:ext uri="{FF2B5EF4-FFF2-40B4-BE49-F238E27FC236}">
                <a16:creationId xmlns:a16="http://schemas.microsoft.com/office/drawing/2014/main" id="{405D9FA6-B291-4CEB-9948-15482644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0497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" name="u08-023-1-body">
            <a:extLst xmlns:a="http://schemas.openxmlformats.org/drawingml/2006/main">
              <a:ext uri="{FF2B5EF4-FFF2-40B4-BE49-F238E27FC236}">
                <a16:creationId xmlns:a16="http://schemas.microsoft.com/office/drawing/2014/main" id="{9D62296C-5BAA-43FF-B7FC-36C1725F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05025"/>
            <a:ext cx="2990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Exposición: nivel, espectro y duración</a:t>
            </a:r>
          </a:p>
        </p:txBody>
      </p:sp>
      <p:sp>
        <p:nvSpPr>
          <p:cNvPr id="5" name="u08-023-2-box">
            <a:extLst xmlns:a="http://schemas.openxmlformats.org/drawingml/2006/main">
              <a:ext uri="{FF2B5EF4-FFF2-40B4-BE49-F238E27FC236}">
                <a16:creationId xmlns:a16="http://schemas.microsoft.com/office/drawing/2014/main" id="{4186A5E8-F7F0-4A33-ACD4-24ACB2A6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71625"/>
            <a:ext cx="3333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u08-023-2-title">
            <a:extLst xmlns:a="http://schemas.openxmlformats.org/drawingml/2006/main">
              <a:ext uri="{FF2B5EF4-FFF2-40B4-BE49-F238E27FC236}">
                <a16:creationId xmlns:a16="http://schemas.microsoft.com/office/drawing/2014/main" id="{99A65890-84FC-425D-8FD1-522808A5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0497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7" name="u08-023-2-body">
            <a:extLst xmlns:a="http://schemas.openxmlformats.org/drawingml/2006/main">
              <a:ext uri="{FF2B5EF4-FFF2-40B4-BE49-F238E27FC236}">
                <a16:creationId xmlns:a16="http://schemas.microsoft.com/office/drawing/2014/main" id="{4009AC08-BE21-4EA3-89AA-A9C27872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05025"/>
            <a:ext cx="2990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Frecuencia y procedimiento de prueba</a:t>
            </a:r>
          </a:p>
        </p:txBody>
      </p:sp>
      <p:sp>
        <p:nvSpPr>
          <p:cNvPr id="8" name="u08-023-3-box">
            <a:extLst xmlns:a="http://schemas.openxmlformats.org/drawingml/2006/main">
              <a:ext uri="{FF2B5EF4-FFF2-40B4-BE49-F238E27FC236}">
                <a16:creationId xmlns:a16="http://schemas.microsoft.com/office/drawing/2014/main" id="{AC438EA9-1517-4CD9-B79C-6557EDEA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333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u08-023-3-title">
            <a:extLst xmlns:a="http://schemas.openxmlformats.org/drawingml/2006/main">
              <a:ext uri="{FF2B5EF4-FFF2-40B4-BE49-F238E27FC236}">
                <a16:creationId xmlns:a16="http://schemas.microsoft.com/office/drawing/2014/main" id="{217FDC98-8C38-4401-B5D6-922EE9A8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0" name="u08-023-3-body">
            <a:extLst xmlns:a="http://schemas.openxmlformats.org/drawingml/2006/main">
              <a:ext uri="{FF2B5EF4-FFF2-40B4-BE49-F238E27FC236}">
                <a16:creationId xmlns:a16="http://schemas.microsoft.com/office/drawing/2014/main" id="{6C1E9432-9EEC-4836-88FF-30800DE0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05025"/>
            <a:ext cx="2990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Tiempos pos-exposición</a:t>
            </a:r>
          </a:p>
        </p:txBody>
      </p:sp>
      <p:sp>
        <p:nvSpPr>
          <p:cNvPr id="11" name="u08-023-4-box">
            <a:extLst xmlns:a="http://schemas.openxmlformats.org/drawingml/2006/main">
              <a:ext uri="{FF2B5EF4-FFF2-40B4-BE49-F238E27FC236}">
                <a16:creationId xmlns:a16="http://schemas.microsoft.com/office/drawing/2014/main" id="{EC593740-6F5A-4234-8426-1D813BFF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3333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2" name="u08-023-4-title">
            <a:extLst xmlns:a="http://schemas.openxmlformats.org/drawingml/2006/main">
              <a:ext uri="{FF2B5EF4-FFF2-40B4-BE49-F238E27FC236}">
                <a16:creationId xmlns:a16="http://schemas.microsoft.com/office/drawing/2014/main" id="{F2B17B87-C227-40E7-861B-E6B93CBD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0522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u08-023-4-body">
            <a:extLst xmlns:a="http://schemas.openxmlformats.org/drawingml/2006/main">
              <a:ext uri="{FF2B5EF4-FFF2-40B4-BE49-F238E27FC236}">
                <a16:creationId xmlns:a16="http://schemas.microsoft.com/office/drawing/2014/main" id="{961D5CC8-9163-4244-ADB4-E0EC77FD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05275"/>
            <a:ext cx="2990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Muestra y variabilidad</a:t>
            </a:r>
          </a:p>
        </p:txBody>
      </p:sp>
      <p:sp>
        <p:nvSpPr>
          <p:cNvPr id="14" name="u08-023-5-box">
            <a:extLst xmlns:a="http://schemas.openxmlformats.org/drawingml/2006/main">
              <a:ext uri="{FF2B5EF4-FFF2-40B4-BE49-F238E27FC236}">
                <a16:creationId xmlns:a16="http://schemas.microsoft.com/office/drawing/2014/main" id="{9CADF626-7699-4447-9D6A-C2960EE7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71875"/>
            <a:ext cx="3333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5" name="u08-023-5-title">
            <a:extLst xmlns:a="http://schemas.openxmlformats.org/drawingml/2006/main">
              <a:ext uri="{FF2B5EF4-FFF2-40B4-BE49-F238E27FC236}">
                <a16:creationId xmlns:a16="http://schemas.microsoft.com/office/drawing/2014/main" id="{90F9AEA7-0337-434B-9F00-29B5A00C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0522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6" name="u08-023-5-body">
            <a:extLst xmlns:a="http://schemas.openxmlformats.org/drawingml/2006/main">
              <a:ext uri="{FF2B5EF4-FFF2-40B4-BE49-F238E27FC236}">
                <a16:creationId xmlns:a16="http://schemas.microsoft.com/office/drawing/2014/main" id="{7FCEB141-48C6-49C6-8E22-758E616C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05275"/>
            <a:ext cx="2990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Fuente primaria y límites</a:t>
            </a:r>
          </a:p>
        </p:txBody>
      </p:sp>
      <p:sp>
        <p:nvSpPr>
          <p:cNvPr id="17" name="u08-023-limit">
            <a:extLst xmlns:a="http://schemas.openxmlformats.org/drawingml/2006/main">
              <a:ext uri="{FF2B5EF4-FFF2-40B4-BE49-F238E27FC236}">
                <a16:creationId xmlns:a16="http://schemas.microsoft.com/office/drawing/2014/main" id="{6509E3BF-20C8-43A1-850B-BC7D1972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Sin estos campos, una curva temporal no puede interpretarse ni extrapolarse.</a:t>
            </a:r>
          </a:p>
        </p:txBody>
      </p:sp>
      <p:sp>
        <p:nvSpPr>
          <p:cNvPr id="18" name="top-rail-1">
            <a:extLst xmlns:a="http://schemas.openxmlformats.org/drawingml/2006/main">
              <a:ext uri="{FF2B5EF4-FFF2-40B4-BE49-F238E27FC236}">
                <a16:creationId xmlns:a16="http://schemas.microsoft.com/office/drawing/2014/main" id="{9560A983-86FC-4DB3-88CD-14BAA1C7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9" name="top-rail-2">
            <a:extLst xmlns:a="http://schemas.openxmlformats.org/drawingml/2006/main">
              <a:ext uri="{FF2B5EF4-FFF2-40B4-BE49-F238E27FC236}">
                <a16:creationId xmlns:a16="http://schemas.microsoft.com/office/drawing/2014/main" id="{1C2403C5-C182-4707-B93A-45784B2E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0" name="top-rail-3">
            <a:extLst xmlns:a="http://schemas.openxmlformats.org/drawingml/2006/main">
              <a:ext uri="{FF2B5EF4-FFF2-40B4-BE49-F238E27FC236}">
                <a16:creationId xmlns:a16="http://schemas.microsoft.com/office/drawing/2014/main" id="{DB0B6D78-4ADA-404F-9C4D-F546AB5B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636B0C80-3B1B-4F67-A94C-B8A652BB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3E6FB05-4645-4AF8-AC8A-34314A56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C7C5E5-8B3C-44A5-A7A9-9210C4BC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permite afirmar esta curva y qué queda abierto?</a:t>
            </a:r>
          </a:p>
        </p:txBody>
      </p:sp>
      <p:sp>
        <p:nvSpPr>
          <p:cNvPr id="2" name="U08-024-question-box">
            <a:extLst xmlns:a="http://schemas.openxmlformats.org/drawingml/2006/main">
              <a:ext uri="{FF2B5EF4-FFF2-40B4-BE49-F238E27FC236}">
                <a16:creationId xmlns:a16="http://schemas.microsoft.com/office/drawing/2014/main" id="{E388AED0-10D4-4982-A1BA-84F87E0C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6572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8-024-question-title">
            <a:extLst xmlns:a="http://schemas.openxmlformats.org/drawingml/2006/main">
              <a:ext uri="{FF2B5EF4-FFF2-40B4-BE49-F238E27FC236}">
                <a16:creationId xmlns:a16="http://schemas.microsoft.com/office/drawing/2014/main" id="{0419603A-CDE4-4EA9-9B8A-70514778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04975"/>
            <a:ext cx="622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U08-024-question-body">
            <a:extLst xmlns:a="http://schemas.openxmlformats.org/drawingml/2006/main">
              <a:ext uri="{FF2B5EF4-FFF2-40B4-BE49-F238E27FC236}">
                <a16:creationId xmlns:a16="http://schemas.microsoft.com/office/drawing/2014/main" id="{27A3ED3C-9EF8-41DD-AB45-FFA69A3A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05025"/>
            <a:ext cx="62293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Identifique ejes, frecuencia de prueba, tiempos, grupo y variabilidad. Luego escriba una conclusión permitida y una no permitida. Justifique con la magnitud, la unidad y el límite de la conclusión.</a:t>
            </a:r>
          </a:p>
        </p:txBody>
      </p:sp>
      <p:sp>
        <p:nvSpPr>
          <p:cNvPr id="5" name="U08-024-guide-1-box">
            <a:extLst xmlns:a="http://schemas.openxmlformats.org/drawingml/2006/main">
              <a:ext uri="{FF2B5EF4-FFF2-40B4-BE49-F238E27FC236}">
                <a16:creationId xmlns:a16="http://schemas.microsoft.com/office/drawing/2014/main" id="{ABF9E9C8-4490-4F3D-A0DF-DC0086BE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716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U08-024-guide-1-title">
            <a:extLst xmlns:a="http://schemas.openxmlformats.org/drawingml/2006/main">
              <a:ext uri="{FF2B5EF4-FFF2-40B4-BE49-F238E27FC236}">
                <a16:creationId xmlns:a16="http://schemas.microsoft.com/office/drawing/2014/main" id="{34662039-036B-4C69-8148-3CBF8AB5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049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U08-024-guide-1-body">
            <a:extLst xmlns:a="http://schemas.openxmlformats.org/drawingml/2006/main">
              <a:ext uri="{FF2B5EF4-FFF2-40B4-BE49-F238E27FC236}">
                <a16:creationId xmlns:a16="http://schemas.microsoft.com/office/drawing/2014/main" id="{50296801-C86B-474C-B651-1BF6BB17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050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Lea ejes y tiempos</a:t>
            </a:r>
          </a:p>
        </p:txBody>
      </p:sp>
      <p:sp>
        <p:nvSpPr>
          <p:cNvPr id="8" name="U08-024-guide-2-box">
            <a:extLst xmlns:a="http://schemas.openxmlformats.org/drawingml/2006/main">
              <a:ext uri="{FF2B5EF4-FFF2-40B4-BE49-F238E27FC236}">
                <a16:creationId xmlns:a16="http://schemas.microsoft.com/office/drawing/2014/main" id="{B3EEF68F-BB00-45B6-8009-81147DD4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908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U08-024-guide-2-title">
            <a:extLst xmlns:a="http://schemas.openxmlformats.org/drawingml/2006/main">
              <a:ext uri="{FF2B5EF4-FFF2-40B4-BE49-F238E27FC236}">
                <a16:creationId xmlns:a16="http://schemas.microsoft.com/office/drawing/2014/main" id="{29E28AD7-316F-44C3-8BD5-54FD4035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241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U08-024-guide-2-body">
            <a:extLst xmlns:a="http://schemas.openxmlformats.org/drawingml/2006/main">
              <a:ext uri="{FF2B5EF4-FFF2-40B4-BE49-F238E27FC236}">
                <a16:creationId xmlns:a16="http://schemas.microsoft.com/office/drawing/2014/main" id="{678BEA7E-C025-417A-A81A-27F3BA29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242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Describa la tendencia</a:t>
            </a:r>
          </a:p>
        </p:txBody>
      </p:sp>
      <p:sp>
        <p:nvSpPr>
          <p:cNvPr id="11" name="U08-024-guide-3-box">
            <a:extLst xmlns:a="http://schemas.openxmlformats.org/drawingml/2006/main">
              <a:ext uri="{FF2B5EF4-FFF2-40B4-BE49-F238E27FC236}">
                <a16:creationId xmlns:a16="http://schemas.microsoft.com/office/drawing/2014/main" id="{5FBD3A27-3322-4D5B-8626-B4BB5219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100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2" name="U08-024-guide-3-title">
            <a:extLst xmlns:a="http://schemas.openxmlformats.org/drawingml/2006/main">
              <a:ext uri="{FF2B5EF4-FFF2-40B4-BE49-F238E27FC236}">
                <a16:creationId xmlns:a16="http://schemas.microsoft.com/office/drawing/2014/main" id="{8F07A498-1E91-474A-A17D-D4BE6A77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433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U08-024-guide-3-body">
            <a:extLst xmlns:a="http://schemas.openxmlformats.org/drawingml/2006/main">
              <a:ext uri="{FF2B5EF4-FFF2-40B4-BE49-F238E27FC236}">
                <a16:creationId xmlns:a16="http://schemas.microsoft.com/office/drawing/2014/main" id="{F5C6C14D-A0A9-477B-9A0C-433F62E2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434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prediga recuperación</a:t>
            </a:r>
          </a:p>
        </p:txBody>
      </p:sp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1FFD64D6-87E1-4CF8-A707-64C8ED34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 xmlns:a="http://schemas.openxmlformats.org/drawingml/2006/main">
              <a:ext uri="{FF2B5EF4-FFF2-40B4-BE49-F238E27FC236}">
                <a16:creationId xmlns:a16="http://schemas.microsoft.com/office/drawing/2014/main" id="{321FF420-E25A-44ED-942D-DDCB832B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 xmlns:a="http://schemas.openxmlformats.org/drawingml/2006/main">
              <a:ext uri="{FF2B5EF4-FFF2-40B4-BE49-F238E27FC236}">
                <a16:creationId xmlns:a16="http://schemas.microsoft.com/office/drawing/2014/main" id="{A1880E11-FC2D-493F-A8E1-DE770CE2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3EAA01ED-7659-40F6-8A96-6D9B9634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D5591EF-E66D-466E-A584-9FBFA2BE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2DF897-7F40-4EFB-A0C8-07230B56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Temporal y permanente describen cursos distintos, no causas automáticas</a:t>
            </a:r>
          </a:p>
        </p:txBody>
      </p:sp>
      <p:sp>
        <p:nvSpPr>
          <p:cNvPr id="2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A3BAC01B-5C98-4314-8285-7EF4E010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4F72A9DB-1FBD-477E-91C7-5C4DE69F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Temporal</a:t>
            </a:r>
          </a:p>
        </p:txBody>
      </p:sp>
      <p:sp>
        <p:nvSpPr>
          <p:cNvPr id="4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50A47DB0-CB1C-4121-9A9F-24AE339E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Temporal: se describe mediante mediciones seriadas y tiempos postexposición. Permanente: requiere evidencia de persistencia y condiciones comparables.</a:t>
            </a:r>
          </a:p>
        </p:txBody>
      </p:sp>
      <p:sp>
        <p:nvSpPr>
          <p:cNvPr id="5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B22D37F0-CD56-4E3B-8CF3-D16FF02F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EC1D769C-D90C-4FBE-82D1-DBA773D8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Permanente</a:t>
            </a:r>
          </a:p>
        </p:txBody>
      </p:sp>
      <p:sp>
        <p:nvSpPr>
          <p:cNvPr id="7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96495732-B82B-4BBB-9ADB-BD01699E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ambos casos, el curso medido no identifica por sí solo la causa.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91EE57D6-C9B7-4D0F-84D9-F84D0996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6728166C-8BEE-478A-BAD6-6AD694B0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3E365A47-70C6-4C49-B386-DB57F564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B6AAB6E3-D538-44A0-8E9E-62682E0D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992254D-DE38-44B5-BFED-4F62AC48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6CB650-9A3A-4C56-A09E-AD18AF73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Normalizar una exposición a 8 h compara energía promedio</a:t>
            </a:r>
          </a:p>
        </p:txBody>
      </p:sp>
      <p:sp>
        <p:nvSpPr>
          <p:cNvPr id="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3014B506-7E25-4761-9F09-B1E4A724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33550"/>
            <a:ext cx="962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3" name="equation">
            <a:extLst xmlns:a="http://schemas.openxmlformats.org/drawingml/2006/main">
              <a:ext uri="{FF2B5EF4-FFF2-40B4-BE49-F238E27FC236}">
                <a16:creationId xmlns:a16="http://schemas.microsoft.com/office/drawing/2014/main" id="{5EB908CF-3CCE-4041-9807-7ECEAC94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847850"/>
            <a:ext cx="9163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L_Aeq,8h = 95 dB(A) + 10 log₁₀(1 h / 8 h) ≈ 86,0 dB(A)</a:t>
            </a:r>
          </a:p>
        </p:txBody>
      </p:sp>
      <p:sp>
        <p:nvSpPr>
          <p:cNvPr id="4" name="equation-interpretation-box">
            <a:extLst xmlns:a="http://schemas.openxmlformats.org/drawingml/2006/main">
              <a:ext uri="{FF2B5EF4-FFF2-40B4-BE49-F238E27FC236}">
                <a16:creationId xmlns:a16="http://schemas.microsoft.com/office/drawing/2014/main" id="{9716E007-0FBA-4DB0-9885-E03B66AE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95625"/>
            <a:ext cx="8953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equation-interpretation-title">
            <a:extLst xmlns:a="http://schemas.openxmlformats.org/drawingml/2006/main">
              <a:ext uri="{FF2B5EF4-FFF2-40B4-BE49-F238E27FC236}">
                <a16:creationId xmlns:a16="http://schemas.microsoft.com/office/drawing/2014/main" id="{AAE1CDF6-C337-434E-91EF-C503B7F1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28975"/>
            <a:ext cx="861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Interpretación</a:t>
            </a:r>
          </a:p>
        </p:txBody>
      </p:sp>
      <p:sp>
        <p:nvSpPr>
          <p:cNvPr id="6" name="equation-interpretation-body">
            <a:extLst xmlns:a="http://schemas.openxmlformats.org/drawingml/2006/main">
              <a:ext uri="{FF2B5EF4-FFF2-40B4-BE49-F238E27FC236}">
                <a16:creationId xmlns:a16="http://schemas.microsoft.com/office/drawing/2014/main" id="{05E9E9B6-B290-45FC-AE67-D42A523D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29025"/>
            <a:ext cx="86106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cociente temporal es adimensional y el resultado no establece seguridad ni cumplimiento legal. Ecuación y ejemplo 95 dB(A), 1 h 86,0 dB(A), 8 h, con hipótesis</a:t>
            </a:r>
          </a:p>
        </p:txBody>
      </p:sp>
      <p:sp>
        <p:nvSpPr>
          <p:cNvPr id="7" name="top-rail-1">
            <a:extLst xmlns:a="http://schemas.openxmlformats.org/drawingml/2006/main">
              <a:ext uri="{FF2B5EF4-FFF2-40B4-BE49-F238E27FC236}">
                <a16:creationId xmlns:a16="http://schemas.microsoft.com/office/drawing/2014/main" id="{A0F7E4BB-7A3D-4D3B-AEC4-21B2043E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8" name="top-rail-2">
            <a:extLst xmlns:a="http://schemas.openxmlformats.org/drawingml/2006/main">
              <a:ext uri="{FF2B5EF4-FFF2-40B4-BE49-F238E27FC236}">
                <a16:creationId xmlns:a16="http://schemas.microsoft.com/office/drawing/2014/main" id="{C0E25010-EF9A-42B9-B4EB-CA7A5DBA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9" name="top-rail-3">
            <a:extLst xmlns:a="http://schemas.openxmlformats.org/drawingml/2006/main">
              <a:ext uri="{FF2B5EF4-FFF2-40B4-BE49-F238E27FC236}">
                <a16:creationId xmlns:a16="http://schemas.microsoft.com/office/drawing/2014/main" id="{CE5B64D6-6ADA-49B3-9B2C-E30D38DB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4E56DF4A-1482-4AFC-A86E-6179AF5E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AMPLIACIÓN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B6EC197-D904-4047-B40C-67CBD74C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4DE685-C628-4CAF-AB5A-06209CB4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medir un cambio no explica por sí solo su causa ni su futuro</a:t>
            </a:r>
          </a:p>
        </p:txBody>
      </p:sp>
      <p:sp>
        <p:nvSpPr>
          <p:cNvPr id="2" name="U08-027-recap-0-box">
            <a:extLst xmlns:a="http://schemas.openxmlformats.org/drawingml/2006/main">
              <a:ext uri="{FF2B5EF4-FFF2-40B4-BE49-F238E27FC236}">
                <a16:creationId xmlns:a16="http://schemas.microsoft.com/office/drawing/2014/main" id="{E980F021-B27D-4F66-B6C5-5C4960CD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027-recap-0-title">
            <a:extLst xmlns:a="http://schemas.openxmlformats.org/drawingml/2006/main">
              <a:ext uri="{FF2B5EF4-FFF2-40B4-BE49-F238E27FC236}">
                <a16:creationId xmlns:a16="http://schemas.microsoft.com/office/drawing/2014/main" id="{712E9093-A539-4BD8-8343-213DA693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U08-027-recap-0-body">
            <a:extLst xmlns:a="http://schemas.openxmlformats.org/drawingml/2006/main">
              <a:ext uri="{FF2B5EF4-FFF2-40B4-BE49-F238E27FC236}">
                <a16:creationId xmlns:a16="http://schemas.microsoft.com/office/drawing/2014/main" id="{BEB3F1FA-5B43-4BF0-8312-84DDA7C3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TTS exige comparación</a:t>
            </a:r>
          </a:p>
        </p:txBody>
      </p:sp>
      <p:sp>
        <p:nvSpPr>
          <p:cNvPr id="5" name="U08-027-recap-1-box">
            <a:extLst xmlns:a="http://schemas.openxmlformats.org/drawingml/2006/main">
              <a:ext uri="{FF2B5EF4-FFF2-40B4-BE49-F238E27FC236}">
                <a16:creationId xmlns:a16="http://schemas.microsoft.com/office/drawing/2014/main" id="{996BFAF7-DAB1-41CF-8364-550AB5C0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U08-027-recap-1-title">
            <a:extLst xmlns:a="http://schemas.openxmlformats.org/drawingml/2006/main">
              <a:ext uri="{FF2B5EF4-FFF2-40B4-BE49-F238E27FC236}">
                <a16:creationId xmlns:a16="http://schemas.microsoft.com/office/drawing/2014/main" id="{988CC5EF-0E3B-45B5-932E-96B7AEE1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U08-027-recap-1-body">
            <a:extLst xmlns:a="http://schemas.openxmlformats.org/drawingml/2006/main">
              <a:ext uri="{FF2B5EF4-FFF2-40B4-BE49-F238E27FC236}">
                <a16:creationId xmlns:a16="http://schemas.microsoft.com/office/drawing/2014/main" id="{FEEEE4CF-DD30-4CF7-B51D-70B68FCD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curva exige condiciones</a:t>
            </a:r>
          </a:p>
        </p:txBody>
      </p:sp>
      <p:sp>
        <p:nvSpPr>
          <p:cNvPr id="8" name="U08-027-recap-2-box">
            <a:extLst xmlns:a="http://schemas.openxmlformats.org/drawingml/2006/main">
              <a:ext uri="{FF2B5EF4-FFF2-40B4-BE49-F238E27FC236}">
                <a16:creationId xmlns:a16="http://schemas.microsoft.com/office/drawing/2014/main" id="{761BDE93-DFF2-4EDB-BE40-23FB34F3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U08-027-recap-2-title">
            <a:extLst xmlns:a="http://schemas.openxmlformats.org/drawingml/2006/main">
              <a:ext uri="{FF2B5EF4-FFF2-40B4-BE49-F238E27FC236}">
                <a16:creationId xmlns:a16="http://schemas.microsoft.com/office/drawing/2014/main" id="{CE32FFA1-2308-44D4-8A92-58EAC24B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0" name="U08-027-recap-2-body">
            <a:extLst xmlns:a="http://schemas.openxmlformats.org/drawingml/2006/main">
              <a:ext uri="{FF2B5EF4-FFF2-40B4-BE49-F238E27FC236}">
                <a16:creationId xmlns:a16="http://schemas.microsoft.com/office/drawing/2014/main" id="{F553E376-CB5F-428A-9C48-88481173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L_Aeq,T describe energía promedio</a:t>
            </a:r>
          </a:p>
        </p:txBody>
      </p:sp>
      <p:sp>
        <p:nvSpPr>
          <p:cNvPr id="11" name="U08-027-recap-3-box">
            <a:extLst xmlns:a="http://schemas.openxmlformats.org/drawingml/2006/main">
              <a:ext uri="{FF2B5EF4-FFF2-40B4-BE49-F238E27FC236}">
                <a16:creationId xmlns:a16="http://schemas.microsoft.com/office/drawing/2014/main" id="{DC20C92A-6208-4DF1-8930-56B38258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2" name="U08-027-recap-3-title">
            <a:extLst xmlns:a="http://schemas.openxmlformats.org/drawingml/2006/main">
              <a:ext uri="{FF2B5EF4-FFF2-40B4-BE49-F238E27FC236}">
                <a16:creationId xmlns:a16="http://schemas.microsoft.com/office/drawing/2014/main" id="{8F1ADB1A-E88A-4B24-933C-679418ED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3" name="U08-027-recap-3-body">
            <a:extLst xmlns:a="http://schemas.openxmlformats.org/drawingml/2006/main">
              <a:ext uri="{FF2B5EF4-FFF2-40B4-BE49-F238E27FC236}">
                <a16:creationId xmlns:a16="http://schemas.microsoft.com/office/drawing/2014/main" id="{1ED1C0A6-6FAA-4ADF-8B71-6E1C8DA9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signo no predice evolución</a:t>
            </a:r>
          </a:p>
        </p:txBody>
      </p:sp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4EB53DA7-7EAE-43FA-81BE-66E010E6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 xmlns:a="http://schemas.openxmlformats.org/drawingml/2006/main">
              <a:ext uri="{FF2B5EF4-FFF2-40B4-BE49-F238E27FC236}">
                <a16:creationId xmlns:a16="http://schemas.microsoft.com/office/drawing/2014/main" id="{2241BD8B-6242-4C6F-915D-7002E629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 xmlns:a="http://schemas.openxmlformats.org/drawingml/2006/main">
              <a:ext uri="{FF2B5EF4-FFF2-40B4-BE49-F238E27FC236}">
                <a16:creationId xmlns:a16="http://schemas.microsoft.com/office/drawing/2014/main" id="{26F05FDD-C873-445D-9A8A-75473908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3368B19B-A721-4C47-8F5E-4E589C17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D8113C2-9AF1-4671-B2AF-5E4E555D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33C3B6C8-D93F-4A69-8C29-6F8F3692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74E3C311-D4BE-45EA-B0B5-95D0AD97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relaciones son compatibles y cuáles no prueban una causa?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4A400C18-6E3D-489A-A8D1-1B6EEC01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 del bloque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2FF6A23-74F4-41B3-8C59-C228C0E7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3C1321-5D6D-4088-8C13-5E886E1B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PAIR/NIHL requiere historia, patrón y causas alternativas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1FE6EFF5-25D4-4788-927B-FF6992C4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PAIR/NIHL: pérdida auditiva asociada con exposición a ruido, evaluada mediante evidencia convergente.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necesita: historia de exposición, patrón medido, antecedentes y consideración de causas alternativas.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escotadura aislada solo describe una forma compatible.</a:t>
            </a:r>
          </a:p>
        </p:txBody>
      </p:sp>
      <p:sp>
        <p:nvSpPr>
          <p:cNvPr id="3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2246EB88-FCAE-49B3-BD5E-153096BD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571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4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3DA139E7-7166-44E6-BCE1-9C4471BE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228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5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A4AD86E3-13EE-4B9F-99E1-60E16DDA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2289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asociación con ruido se construye con evidencia convergente, no con una escotadura aislada.</a:t>
            </a:r>
          </a:p>
        </p:txBody>
      </p:sp>
      <p:sp>
        <p:nvSpPr>
          <p:cNvPr id="6" name="top-rail-1">
            <a:extLst xmlns:a="http://schemas.openxmlformats.org/drawingml/2006/main">
              <a:ext uri="{FF2B5EF4-FFF2-40B4-BE49-F238E27FC236}">
                <a16:creationId xmlns:a16="http://schemas.microsoft.com/office/drawing/2014/main" id="{A38FE308-C43B-4959-A9FC-449F3C35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7" name="top-rail-2">
            <a:extLst xmlns:a="http://schemas.openxmlformats.org/drawingml/2006/main">
              <a:ext uri="{FF2B5EF4-FFF2-40B4-BE49-F238E27FC236}">
                <a16:creationId xmlns:a16="http://schemas.microsoft.com/office/drawing/2014/main" id="{686098FD-BA4E-4C50-B66A-26FA7441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8" name="top-rail-3">
            <a:extLst xmlns:a="http://schemas.openxmlformats.org/drawingml/2006/main">
              <a:ext uri="{FF2B5EF4-FFF2-40B4-BE49-F238E27FC236}">
                <a16:creationId xmlns:a16="http://schemas.microsoft.com/office/drawing/2014/main" id="{71C0A48E-8C1C-4C30-B0BF-EF682328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19D9C37A-062A-478F-9FD7-384808C4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641BA29-5A9A-40EC-B8C4-3827B9E0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F1AB77-6BE7-4584-8A9C-822FDB65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escotadura describe una forma, no una etiología</a:t>
            </a:r>
          </a:p>
        </p:txBody>
      </p:sp>
      <p:sp>
        <p:nvSpPr>
          <p:cNvPr id="2" name="u08-030-notch-frame">
            <a:extLst xmlns:a="http://schemas.openxmlformats.org/drawingml/2006/main">
              <a:ext uri="{FF2B5EF4-FFF2-40B4-BE49-F238E27FC236}">
                <a16:creationId xmlns:a16="http://schemas.microsoft.com/office/drawing/2014/main" id="{23B17B3B-2205-4D1F-85B1-4FAFBA8C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800100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</p:sp>
      <p:sp>
        <p:nvSpPr>
          <p:cNvPr id="3" name="u08-030-notch-x-a-0">
            <a:extLst xmlns:a="http://schemas.openxmlformats.org/drawingml/2006/main">
              <a:ext uri="{FF2B5EF4-FFF2-40B4-BE49-F238E27FC236}">
                <a16:creationId xmlns:a16="http://schemas.microsoft.com/office/drawing/2014/main" id="{93A966A5-BB8E-43BC-AFB6-81A6A061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u08-030-notch-x-b-0">
            <a:extLst xmlns:a="http://schemas.openxmlformats.org/drawingml/2006/main">
              <a:ext uri="{FF2B5EF4-FFF2-40B4-BE49-F238E27FC236}">
                <a16:creationId xmlns:a16="http://schemas.microsoft.com/office/drawing/2014/main" id="{10CB1AA9-70D8-44FB-B9A0-C9E55053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1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276350" y="5081588"/>
            <a:ext cx="7010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6" name="u08-030-notch-y-a-1">
            <a:extLst xmlns:a="http://schemas.openxmlformats.org/drawingml/2006/main">
              <a:ext uri="{FF2B5EF4-FFF2-40B4-BE49-F238E27FC236}">
                <a16:creationId xmlns:a16="http://schemas.microsoft.com/office/drawing/2014/main" id="{AD3C7D79-3281-49B7-8441-87BA5A27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08-030-notch-y-b-1">
            <a:extLst xmlns:a="http://schemas.openxmlformats.org/drawingml/2006/main">
              <a:ext uri="{FF2B5EF4-FFF2-40B4-BE49-F238E27FC236}">
                <a16:creationId xmlns:a16="http://schemas.microsoft.com/office/drawing/2014/main" id="{0661F647-E51A-428F-98AC-D2A8854C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H="1" flipV="1">
            <a:off x="1266825" y="1700213"/>
            <a:ext cx="9525" cy="3381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9" name="u08-030-notch-grid-y-a-2">
            <a:extLst xmlns:a="http://schemas.openxmlformats.org/drawingml/2006/main">
              <a:ext uri="{FF2B5EF4-FFF2-40B4-BE49-F238E27FC236}">
                <a16:creationId xmlns:a16="http://schemas.microsoft.com/office/drawing/2014/main" id="{18187D78-AF99-47E0-AC06-21F0D22C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8-030-notch-grid-y-b-2">
            <a:extLst xmlns:a="http://schemas.openxmlformats.org/drawingml/2006/main">
              <a:ext uri="{FF2B5EF4-FFF2-40B4-BE49-F238E27FC236}">
                <a16:creationId xmlns:a16="http://schemas.microsoft.com/office/drawing/2014/main" id="{EA488BE8-669A-4CC4-A839-E6131428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276350" y="5081588"/>
            <a:ext cx="701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CE0"/>
            </a:solidFill>
            <a:prstDash val="solid"/>
          </a:ln>
        </p:spPr>
      </p:cxnSp>
      <p:sp>
        <p:nvSpPr>
          <p:cNvPr id="12" name="u08-030-notch-ytick">
            <a:extLst xmlns:a="http://schemas.openxmlformats.org/drawingml/2006/main">
              <a:ext uri="{FF2B5EF4-FFF2-40B4-BE49-F238E27FC236}">
                <a16:creationId xmlns:a16="http://schemas.microsoft.com/office/drawing/2014/main" id="{B2B44D63-38F1-480C-8FB4-3436690F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9625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70</a:t>
            </a:r>
          </a:p>
        </p:txBody>
      </p:sp>
      <p:sp>
        <p:nvSpPr>
          <p:cNvPr id="13" name="u08-030-notch-grid-y-a-3">
            <a:extLst xmlns:a="http://schemas.openxmlformats.org/drawingml/2006/main">
              <a:ext uri="{FF2B5EF4-FFF2-40B4-BE49-F238E27FC236}">
                <a16:creationId xmlns:a16="http://schemas.microsoft.com/office/drawing/2014/main" id="{E0909273-B352-4279-93BB-EB7060B3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231481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u08-030-notch-grid-y-b-3">
            <a:extLst xmlns:a="http://schemas.openxmlformats.org/drawingml/2006/main">
              <a:ext uri="{FF2B5EF4-FFF2-40B4-BE49-F238E27FC236}">
                <a16:creationId xmlns:a16="http://schemas.microsoft.com/office/drawing/2014/main" id="{F44F8997-AA6E-49ED-A0B8-3807C7CA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1481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1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276350" y="4236244"/>
            <a:ext cx="701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CE0"/>
            </a:solidFill>
            <a:prstDash val="solid"/>
          </a:ln>
        </p:spPr>
      </p:cxnSp>
      <p:sp>
        <p:nvSpPr>
          <p:cNvPr id="16" name="u08-030-notch-ytick">
            <a:extLst xmlns:a="http://schemas.openxmlformats.org/drawingml/2006/main">
              <a:ext uri="{FF2B5EF4-FFF2-40B4-BE49-F238E27FC236}">
                <a16:creationId xmlns:a16="http://schemas.microsoft.com/office/drawing/2014/main" id="{50C41A53-7121-4B64-BD50-CE1EA800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117181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  <p:sp>
        <p:nvSpPr>
          <p:cNvPr id="17" name="u08-030-notch-grid-y-a-4">
            <a:extLst xmlns:a="http://schemas.openxmlformats.org/drawingml/2006/main">
              <a:ext uri="{FF2B5EF4-FFF2-40B4-BE49-F238E27FC236}">
                <a16:creationId xmlns:a16="http://schemas.microsoft.com/office/drawing/2014/main" id="{D4EE7907-13DF-4E9D-80C0-F3480355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3861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u08-030-notch-grid-y-b-4">
            <a:extLst xmlns:a="http://schemas.openxmlformats.org/drawingml/2006/main">
              <a:ext uri="{FF2B5EF4-FFF2-40B4-BE49-F238E27FC236}">
                <a16:creationId xmlns:a16="http://schemas.microsoft.com/office/drawing/2014/main" id="{25207B0D-A275-4E3C-9C69-016B7908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861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5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276350" y="3390901"/>
            <a:ext cx="701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CE0"/>
            </a:solidFill>
            <a:prstDash val="solid"/>
          </a:ln>
        </p:spPr>
      </p:cxnSp>
      <p:sp>
        <p:nvSpPr>
          <p:cNvPr id="20" name="u08-030-notch-ytick">
            <a:extLst xmlns:a="http://schemas.openxmlformats.org/drawingml/2006/main">
              <a:ext uri="{FF2B5EF4-FFF2-40B4-BE49-F238E27FC236}">
                <a16:creationId xmlns:a16="http://schemas.microsoft.com/office/drawing/2014/main" id="{0658908A-C91F-470B-9BC9-EBAD9840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271838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21" name="u08-030-notch-grid-y-a-5">
            <a:extLst xmlns:a="http://schemas.openxmlformats.org/drawingml/2006/main">
              <a:ext uri="{FF2B5EF4-FFF2-40B4-BE49-F238E27FC236}">
                <a16:creationId xmlns:a16="http://schemas.microsoft.com/office/drawing/2014/main" id="{B2FC0FB1-2857-4638-8EDF-BFCC86C9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540794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u08-030-notch-grid-y-b-5">
            <a:extLst xmlns:a="http://schemas.openxmlformats.org/drawingml/2006/main">
              <a:ext uri="{FF2B5EF4-FFF2-40B4-BE49-F238E27FC236}">
                <a16:creationId xmlns:a16="http://schemas.microsoft.com/office/drawing/2014/main" id="{EBD8684D-9DF9-4489-9A92-3BE98490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0794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9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276350" y="2545557"/>
            <a:ext cx="701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CE0"/>
            </a:solidFill>
            <a:prstDash val="solid"/>
          </a:ln>
        </p:spPr>
      </p:cxnSp>
      <p:sp>
        <p:nvSpPr>
          <p:cNvPr id="24" name="u08-030-notch-ytick">
            <a:extLst xmlns:a="http://schemas.openxmlformats.org/drawingml/2006/main">
              <a:ext uri="{FF2B5EF4-FFF2-40B4-BE49-F238E27FC236}">
                <a16:creationId xmlns:a16="http://schemas.microsoft.com/office/drawing/2014/main" id="{A54B16F0-2164-4D6F-B5D5-2464A0EF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426494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25" name="u08-030-notch-grid-y-a-6">
            <a:extLst xmlns:a="http://schemas.openxmlformats.org/drawingml/2006/main">
              <a:ext uri="{FF2B5EF4-FFF2-40B4-BE49-F238E27FC236}">
                <a16:creationId xmlns:a16="http://schemas.microsoft.com/office/drawing/2014/main" id="{3FE94ED0-162A-44C6-B373-E945561D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u08-030-notch-grid-y-b-6">
            <a:extLst xmlns:a="http://schemas.openxmlformats.org/drawingml/2006/main">
              <a:ext uri="{FF2B5EF4-FFF2-40B4-BE49-F238E27FC236}">
                <a16:creationId xmlns:a16="http://schemas.microsoft.com/office/drawing/2014/main" id="{198DEB86-1821-4921-9057-B14CA0F0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3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276350" y="1700213"/>
            <a:ext cx="701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CE0"/>
            </a:solidFill>
            <a:prstDash val="solid"/>
          </a:ln>
        </p:spPr>
      </p:cxnSp>
      <p:sp>
        <p:nvSpPr>
          <p:cNvPr id="28" name="u08-030-notch-ytick">
            <a:extLst xmlns:a="http://schemas.openxmlformats.org/drawingml/2006/main">
              <a:ext uri="{FF2B5EF4-FFF2-40B4-BE49-F238E27FC236}">
                <a16:creationId xmlns:a16="http://schemas.microsoft.com/office/drawing/2014/main" id="{52D6E173-F2BE-422D-9D63-4A144477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811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−10</a:t>
            </a:r>
          </a:p>
        </p:txBody>
      </p:sp>
      <p:sp>
        <p:nvSpPr>
          <p:cNvPr id="29" name="u08-030-notch-grid-x-a-7">
            <a:extLst xmlns:a="http://schemas.openxmlformats.org/drawingml/2006/main">
              <a:ext uri="{FF2B5EF4-FFF2-40B4-BE49-F238E27FC236}">
                <a16:creationId xmlns:a16="http://schemas.microsoft.com/office/drawing/2014/main" id="{1625ABE4-FFAB-4679-95D5-71FD6B4E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u08-030-notch-grid-x-b-7">
            <a:extLst xmlns:a="http://schemas.openxmlformats.org/drawingml/2006/main">
              <a:ext uri="{FF2B5EF4-FFF2-40B4-BE49-F238E27FC236}">
                <a16:creationId xmlns:a16="http://schemas.microsoft.com/office/drawing/2014/main" id="{EAC447E2-192B-496B-B81C-E6A99039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7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 flipV="1">
            <a:off x="1266825" y="1700213"/>
            <a:ext cx="9525" cy="3381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32" name="u08-030-notch-xtick">
            <a:extLst xmlns:a="http://schemas.openxmlformats.org/drawingml/2006/main">
              <a:ext uri="{FF2B5EF4-FFF2-40B4-BE49-F238E27FC236}">
                <a16:creationId xmlns:a16="http://schemas.microsoft.com/office/drawing/2014/main" id="{94482C43-19D4-4D87-8829-6D7BB288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53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250</a:t>
            </a:r>
          </a:p>
        </p:txBody>
      </p:sp>
      <p:sp>
        <p:nvSpPr>
          <p:cNvPr id="33" name="u08-030-notch-grid-x-a-8">
            <a:extLst xmlns:a="http://schemas.openxmlformats.org/drawingml/2006/main">
              <a:ext uri="{FF2B5EF4-FFF2-40B4-BE49-F238E27FC236}">
                <a16:creationId xmlns:a16="http://schemas.microsoft.com/office/drawing/2014/main" id="{ECE4A296-24ED-48D4-894B-5C21F641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212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u08-030-notch-grid-x-b-8">
            <a:extLst xmlns:a="http://schemas.openxmlformats.org/drawingml/2006/main">
              <a:ext uri="{FF2B5EF4-FFF2-40B4-BE49-F238E27FC236}">
                <a16:creationId xmlns:a16="http://schemas.microsoft.com/office/drawing/2014/main" id="{015C4177-2C9F-4935-AA03-722BCAFD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212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1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H="1" flipV="1">
            <a:off x="2460212" y="1700213"/>
            <a:ext cx="9525" cy="3381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36" name="u08-030-notch-xtick">
            <a:extLst xmlns:a="http://schemas.openxmlformats.org/drawingml/2006/main">
              <a:ext uri="{FF2B5EF4-FFF2-40B4-BE49-F238E27FC236}">
                <a16:creationId xmlns:a16="http://schemas.microsoft.com/office/drawing/2014/main" id="{F94CBAD8-7CEF-4BA1-ABB2-C90AA39A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837" y="5153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500</a:t>
            </a:r>
          </a:p>
        </p:txBody>
      </p:sp>
      <p:sp>
        <p:nvSpPr>
          <p:cNvPr id="37" name="u08-030-notch-grid-x-a-9">
            <a:extLst xmlns:a="http://schemas.openxmlformats.org/drawingml/2006/main">
              <a:ext uri="{FF2B5EF4-FFF2-40B4-BE49-F238E27FC236}">
                <a16:creationId xmlns:a16="http://schemas.microsoft.com/office/drawing/2014/main" id="{97802DE9-0301-4BF2-8F14-6D4211E3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600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u08-030-notch-grid-x-b-9">
            <a:extLst xmlns:a="http://schemas.openxmlformats.org/drawingml/2006/main">
              <a:ext uri="{FF2B5EF4-FFF2-40B4-BE49-F238E27FC236}">
                <a16:creationId xmlns:a16="http://schemas.microsoft.com/office/drawing/2014/main" id="{72F3DD55-501E-41C5-8FAB-40DFA1B6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600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5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 flipV="1">
            <a:off x="3653600" y="1700213"/>
            <a:ext cx="9525" cy="3381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40" name="u08-030-notch-xtick">
            <a:extLst xmlns:a="http://schemas.openxmlformats.org/drawingml/2006/main">
              <a:ext uri="{FF2B5EF4-FFF2-40B4-BE49-F238E27FC236}">
                <a16:creationId xmlns:a16="http://schemas.microsoft.com/office/drawing/2014/main" id="{80D2914A-AE84-4DD7-8717-2DB6C3F0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225" y="5153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1000</a:t>
            </a:r>
          </a:p>
        </p:txBody>
      </p:sp>
      <p:sp>
        <p:nvSpPr>
          <p:cNvPr id="41" name="u08-030-notch-grid-x-a-10">
            <a:extLst xmlns:a="http://schemas.openxmlformats.org/drawingml/2006/main">
              <a:ext uri="{FF2B5EF4-FFF2-40B4-BE49-F238E27FC236}">
                <a16:creationId xmlns:a16="http://schemas.microsoft.com/office/drawing/2014/main" id="{F2EB475B-AEB6-4C96-82D0-B205CBCC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987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u08-030-notch-grid-x-b-10">
            <a:extLst xmlns:a="http://schemas.openxmlformats.org/drawingml/2006/main">
              <a:ext uri="{FF2B5EF4-FFF2-40B4-BE49-F238E27FC236}">
                <a16:creationId xmlns:a16="http://schemas.microsoft.com/office/drawing/2014/main" id="{BEB229D7-33C8-4122-A118-F8DDECC7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987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9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H="1" flipV="1">
            <a:off x="4846987" y="1700213"/>
            <a:ext cx="9525" cy="3381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44" name="u08-030-notch-xtick">
            <a:extLst xmlns:a="http://schemas.openxmlformats.org/drawingml/2006/main">
              <a:ext uri="{FF2B5EF4-FFF2-40B4-BE49-F238E27FC236}">
                <a16:creationId xmlns:a16="http://schemas.microsoft.com/office/drawing/2014/main" id="{E0C8B7F1-FFEB-49D2-855B-A011901B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3612" y="5153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2000</a:t>
            </a:r>
          </a:p>
        </p:txBody>
      </p:sp>
      <p:sp>
        <p:nvSpPr>
          <p:cNvPr id="45" name="u08-030-notch-grid-x-a-11">
            <a:extLst xmlns:a="http://schemas.openxmlformats.org/drawingml/2006/main">
              <a:ext uri="{FF2B5EF4-FFF2-40B4-BE49-F238E27FC236}">
                <a16:creationId xmlns:a16="http://schemas.microsoft.com/office/drawing/2014/main" id="{13272CAC-0CBE-48DE-AD4D-18987466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374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u08-030-notch-grid-x-b-11">
            <a:extLst xmlns:a="http://schemas.openxmlformats.org/drawingml/2006/main">
              <a:ext uri="{FF2B5EF4-FFF2-40B4-BE49-F238E27FC236}">
                <a16:creationId xmlns:a16="http://schemas.microsoft.com/office/drawing/2014/main" id="{063BA319-1C93-46B8-98A4-F2005C56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374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3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 flipH="1" flipV="1">
            <a:off x="6040374" y="1700213"/>
            <a:ext cx="9525" cy="3381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48" name="u08-030-notch-xtick">
            <a:extLst xmlns:a="http://schemas.openxmlformats.org/drawingml/2006/main">
              <a:ext uri="{FF2B5EF4-FFF2-40B4-BE49-F238E27FC236}">
                <a16:creationId xmlns:a16="http://schemas.microsoft.com/office/drawing/2014/main" id="{E5A4A08E-8855-4868-9A44-BA28DAB9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999" y="5153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4000</a:t>
            </a:r>
          </a:p>
        </p:txBody>
      </p:sp>
      <p:sp>
        <p:nvSpPr>
          <p:cNvPr id="49" name="u08-030-notch-grid-x-a-12">
            <a:extLst xmlns:a="http://schemas.openxmlformats.org/drawingml/2006/main">
              <a:ext uri="{FF2B5EF4-FFF2-40B4-BE49-F238E27FC236}">
                <a16:creationId xmlns:a16="http://schemas.microsoft.com/office/drawing/2014/main" id="{E41608CD-31A1-43A4-8062-CA8DB897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761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u08-030-notch-grid-x-b-12">
            <a:extLst xmlns:a="http://schemas.openxmlformats.org/drawingml/2006/main">
              <a:ext uri="{FF2B5EF4-FFF2-40B4-BE49-F238E27FC236}">
                <a16:creationId xmlns:a16="http://schemas.microsoft.com/office/drawing/2014/main" id="{2337BB2B-FFF7-42F5-92F9-D7626971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761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7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 flipH="1" flipV="1">
            <a:off x="7233761" y="1700213"/>
            <a:ext cx="9525" cy="3381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52" name="u08-030-notch-xtick">
            <a:extLst xmlns:a="http://schemas.openxmlformats.org/drawingml/2006/main">
              <a:ext uri="{FF2B5EF4-FFF2-40B4-BE49-F238E27FC236}">
                <a16:creationId xmlns:a16="http://schemas.microsoft.com/office/drawing/2014/main" id="{37DF2F17-DD03-4B7F-98B9-38C894F3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386" y="5153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6000</a:t>
            </a:r>
          </a:p>
        </p:txBody>
      </p:sp>
      <p:sp>
        <p:nvSpPr>
          <p:cNvPr id="53" name="u08-030-notch-grid-x-a-13">
            <a:extLst xmlns:a="http://schemas.openxmlformats.org/drawingml/2006/main">
              <a:ext uri="{FF2B5EF4-FFF2-40B4-BE49-F238E27FC236}">
                <a16:creationId xmlns:a16="http://schemas.microsoft.com/office/drawing/2014/main" id="{C6C7B2FF-AFBA-484B-BB63-7B94337C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u08-030-notch-grid-x-b-13">
            <a:extLst xmlns:a="http://schemas.openxmlformats.org/drawingml/2006/main">
              <a:ext uri="{FF2B5EF4-FFF2-40B4-BE49-F238E27FC236}">
                <a16:creationId xmlns:a16="http://schemas.microsoft.com/office/drawing/2014/main" id="{0E99D007-A296-4B70-8335-A888E015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1" name=""/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H="1" flipV="1">
            <a:off x="8286750" y="1700213"/>
            <a:ext cx="9525" cy="3381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56" name="u08-030-notch-xtick">
            <a:extLst xmlns:a="http://schemas.openxmlformats.org/drawingml/2006/main">
              <a:ext uri="{FF2B5EF4-FFF2-40B4-BE49-F238E27FC236}">
                <a16:creationId xmlns:a16="http://schemas.microsoft.com/office/drawing/2014/main" id="{FFDAAB5C-0FE9-4CF8-95D8-9608ADE0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53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8000</a:t>
            </a:r>
          </a:p>
        </p:txBody>
      </p:sp>
      <p:sp>
        <p:nvSpPr>
          <p:cNvPr id="57" name="u08-030-notch-0-line-a-14">
            <a:extLst xmlns:a="http://schemas.openxmlformats.org/drawingml/2006/main">
              <a:ext uri="{FF2B5EF4-FFF2-40B4-BE49-F238E27FC236}">
                <a16:creationId xmlns:a16="http://schemas.microsoft.com/office/drawing/2014/main" id="{AE533AA8-3D48-4E4C-819B-3532268D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39352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u08-030-notch-0-line-b-14">
            <a:extLst xmlns:a="http://schemas.openxmlformats.org/drawingml/2006/main">
              <a:ext uri="{FF2B5EF4-FFF2-40B4-BE49-F238E27FC236}">
                <a16:creationId xmlns:a16="http://schemas.microsoft.com/office/drawing/2014/main" id="{85A5CF0E-312A-40B1-B025-4CD97BFC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212" y="250698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5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1276350" y="2444115"/>
            <a:ext cx="1183862" cy="6762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903163"/>
            </a:solidFill>
            <a:prstDash val="solid"/>
          </a:ln>
        </p:spPr>
      </p:cxnSp>
      <p:sp>
        <p:nvSpPr>
          <p:cNvPr id="60" name="u08-030-notch-0-line-a-15">
            <a:extLst xmlns:a="http://schemas.openxmlformats.org/drawingml/2006/main">
              <a:ext uri="{FF2B5EF4-FFF2-40B4-BE49-F238E27FC236}">
                <a16:creationId xmlns:a16="http://schemas.microsoft.com/office/drawing/2014/main" id="{BD2E7BAE-A323-4E13-AC0B-49AC3EA9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212" y="250698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1" name="u08-030-notch-0-line-b-15">
            <a:extLst xmlns:a="http://schemas.openxmlformats.org/drawingml/2006/main">
              <a:ext uri="{FF2B5EF4-FFF2-40B4-BE49-F238E27FC236}">
                <a16:creationId xmlns:a16="http://schemas.microsoft.com/office/drawing/2014/main" id="{01B96122-ED86-45D4-823D-C2C9044C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600" y="264223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8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2469737" y="2511743"/>
            <a:ext cx="1183863" cy="135255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903163"/>
            </a:solidFill>
            <a:prstDash val="solid"/>
          </a:ln>
        </p:spPr>
      </p:cxnSp>
      <p:sp>
        <p:nvSpPr>
          <p:cNvPr id="63" name="u08-030-notch-0-line-a-16">
            <a:extLst xmlns:a="http://schemas.openxmlformats.org/drawingml/2006/main">
              <a:ext uri="{FF2B5EF4-FFF2-40B4-BE49-F238E27FC236}">
                <a16:creationId xmlns:a16="http://schemas.microsoft.com/office/drawing/2014/main" id="{BED320DD-FE02-4A9D-A772-A6B65E69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600" y="264223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u08-030-notch-0-line-b-16">
            <a:extLst xmlns:a="http://schemas.openxmlformats.org/drawingml/2006/main">
              <a:ext uri="{FF2B5EF4-FFF2-40B4-BE49-F238E27FC236}">
                <a16:creationId xmlns:a16="http://schemas.microsoft.com/office/drawing/2014/main" id="{CA7E895D-FA4B-4053-A2E1-DED9E58F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987" y="298037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1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3663125" y="2646998"/>
            <a:ext cx="1183862" cy="33813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903163"/>
            </a:solidFill>
            <a:prstDash val="solid"/>
          </a:ln>
        </p:spPr>
      </p:cxnSp>
      <p:sp>
        <p:nvSpPr>
          <p:cNvPr id="66" name="u08-030-notch-0-line-a-17">
            <a:extLst xmlns:a="http://schemas.openxmlformats.org/drawingml/2006/main">
              <a:ext uri="{FF2B5EF4-FFF2-40B4-BE49-F238E27FC236}">
                <a16:creationId xmlns:a16="http://schemas.microsoft.com/office/drawing/2014/main" id="{51196D7A-F0BB-4101-8B65-135D42BA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987" y="298037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7" name="u08-030-notch-0-line-b-17">
            <a:extLst xmlns:a="http://schemas.openxmlformats.org/drawingml/2006/main">
              <a:ext uri="{FF2B5EF4-FFF2-40B4-BE49-F238E27FC236}">
                <a16:creationId xmlns:a16="http://schemas.microsoft.com/office/drawing/2014/main" id="{8DDB0E8F-918F-4332-AC37-3C31B4DA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374" y="40624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4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856512" y="2985136"/>
            <a:ext cx="1183862" cy="108204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903163"/>
            </a:solidFill>
            <a:prstDash val="solid"/>
          </a:ln>
        </p:spPr>
      </p:cxnSp>
      <p:sp>
        <p:nvSpPr>
          <p:cNvPr id="69" name="u08-030-notch-0-line-a-18">
            <a:extLst xmlns:a="http://schemas.openxmlformats.org/drawingml/2006/main">
              <a:ext uri="{FF2B5EF4-FFF2-40B4-BE49-F238E27FC236}">
                <a16:creationId xmlns:a16="http://schemas.microsoft.com/office/drawing/2014/main" id="{0100BC1C-F849-427F-A8C0-9723758C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374" y="40624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u08-030-notch-0-line-b-18">
            <a:extLst xmlns:a="http://schemas.openxmlformats.org/drawingml/2006/main">
              <a:ext uri="{FF2B5EF4-FFF2-40B4-BE49-F238E27FC236}">
                <a16:creationId xmlns:a16="http://schemas.microsoft.com/office/drawing/2014/main" id="{66D4190D-E759-4E48-86FF-0377F0CC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761" y="318325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7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 flipV="1">
            <a:off x="6049899" y="3188018"/>
            <a:ext cx="1183862" cy="87915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903163"/>
            </a:solidFill>
            <a:prstDash val="solid"/>
          </a:ln>
        </p:spPr>
      </p:cxnSp>
      <p:sp>
        <p:nvSpPr>
          <p:cNvPr id="72" name="u08-030-notch-0-line-a-19">
            <a:extLst xmlns:a="http://schemas.openxmlformats.org/drawingml/2006/main">
              <a:ext uri="{FF2B5EF4-FFF2-40B4-BE49-F238E27FC236}">
                <a16:creationId xmlns:a16="http://schemas.microsoft.com/office/drawing/2014/main" id="{CCEF83DF-D3D8-4669-8BB9-6E2E9E99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761" y="318325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u08-030-notch-0-line-b-19">
            <a:extLst xmlns:a="http://schemas.openxmlformats.org/drawingml/2006/main">
              <a:ext uri="{FF2B5EF4-FFF2-40B4-BE49-F238E27FC236}">
                <a16:creationId xmlns:a16="http://schemas.microsoft.com/office/drawing/2014/main" id="{1CF7135C-CAB7-4B63-9DF6-64FF25C6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7749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0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 flipV="1">
            <a:off x="7243286" y="2782253"/>
            <a:ext cx="1043464" cy="405765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903163"/>
            </a:solidFill>
            <a:prstDash val="solid"/>
          </a:ln>
        </p:spPr>
      </p:cxnSp>
      <p:sp>
        <p:nvSpPr>
          <p:cNvPr id="75" name="u08-030-notch-0-point-0">
            <a:extLst xmlns:a="http://schemas.openxmlformats.org/drawingml/2006/main">
              <a:ext uri="{FF2B5EF4-FFF2-40B4-BE49-F238E27FC236}">
                <a16:creationId xmlns:a16="http://schemas.microsoft.com/office/drawing/2014/main" id="{8B900DF5-35F7-4B03-8701-996F95CD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382202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u08-030-notch-0-point-1">
            <a:extLst xmlns:a="http://schemas.openxmlformats.org/drawingml/2006/main">
              <a:ext uri="{FF2B5EF4-FFF2-40B4-BE49-F238E27FC236}">
                <a16:creationId xmlns:a16="http://schemas.microsoft.com/office/drawing/2014/main" id="{B719B0FD-C55A-4009-B0C6-E8F12A9D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062" y="244983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7" name="u08-030-notch-0-point-2">
            <a:extLst xmlns:a="http://schemas.openxmlformats.org/drawingml/2006/main">
              <a:ext uri="{FF2B5EF4-FFF2-40B4-BE49-F238E27FC236}">
                <a16:creationId xmlns:a16="http://schemas.microsoft.com/office/drawing/2014/main" id="{2970EC42-DCE0-4503-BCF3-343B27B6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450" y="258508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8" name="u08-030-notch-0-point-3">
            <a:extLst xmlns:a="http://schemas.openxmlformats.org/drawingml/2006/main">
              <a:ext uri="{FF2B5EF4-FFF2-40B4-BE49-F238E27FC236}">
                <a16:creationId xmlns:a16="http://schemas.microsoft.com/office/drawing/2014/main" id="{CDF6C53B-99CC-496D-B89A-49F801B9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837" y="292322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" name="u08-030-notch-0-point-4">
            <a:extLst xmlns:a="http://schemas.openxmlformats.org/drawingml/2006/main">
              <a:ext uri="{FF2B5EF4-FFF2-40B4-BE49-F238E27FC236}">
                <a16:creationId xmlns:a16="http://schemas.microsoft.com/office/drawing/2014/main" id="{D869F411-9B20-4542-9A82-40F05AC2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224" y="400526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0" name="u08-030-notch-0-point-5">
            <a:extLst xmlns:a="http://schemas.openxmlformats.org/drawingml/2006/main">
              <a:ext uri="{FF2B5EF4-FFF2-40B4-BE49-F238E27FC236}">
                <a16:creationId xmlns:a16="http://schemas.microsoft.com/office/drawing/2014/main" id="{1F24940A-275A-438A-B0A7-E05AC3F6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611" y="312610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1" name="u08-030-notch-0-point-6">
            <a:extLst xmlns:a="http://schemas.openxmlformats.org/drawingml/2006/main">
              <a:ext uri="{FF2B5EF4-FFF2-40B4-BE49-F238E27FC236}">
                <a16:creationId xmlns:a16="http://schemas.microsoft.com/office/drawing/2014/main" id="{845A86DE-132A-44AA-8260-69298DF6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034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2" name="u08-030-notch-0-label">
            <a:extLst xmlns:a="http://schemas.openxmlformats.org/drawingml/2006/main">
              <a:ext uri="{FF2B5EF4-FFF2-40B4-BE49-F238E27FC236}">
                <a16:creationId xmlns:a16="http://schemas.microsoft.com/office/drawing/2014/main" id="{173EC7AC-8FF0-4AD6-BD84-19DA5822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95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50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patrón ficticio</a:t>
            </a:r>
          </a:p>
        </p:txBody>
      </p:sp>
      <p:sp>
        <p:nvSpPr>
          <p:cNvPr id="83" name="u08-030-notch-xlabel">
            <a:extLst xmlns:a="http://schemas.openxmlformats.org/drawingml/2006/main">
              <a:ext uri="{FF2B5EF4-FFF2-40B4-BE49-F238E27FC236}">
                <a16:creationId xmlns:a16="http://schemas.microsoft.com/office/drawing/2014/main" id="{C6CA4F82-37F9-43CC-9A77-3AF8803E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362575"/>
            <a:ext cx="549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Frecuencia f (Hz)</a:t>
            </a:r>
          </a:p>
        </p:txBody>
      </p:sp>
      <p:sp>
        <p:nvSpPr>
          <p:cNvPr id="84" name="u08-030-notch-ylabel">
            <a:extLst xmlns:a="http://schemas.openxmlformats.org/drawingml/2006/main">
              <a:ext uri="{FF2B5EF4-FFF2-40B4-BE49-F238E27FC236}">
                <a16:creationId xmlns:a16="http://schemas.microsoft.com/office/drawing/2014/main" id="{26B5D748-C04D-4BCA-ABA8-3CBA3E29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85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HL</a:t>
            </a:r>
          </a:p>
        </p:txBody>
      </p:sp>
      <p:sp>
        <p:nvSpPr>
          <p:cNvPr id="85" name="u08-030-notch-note">
            <a:extLst xmlns:a="http://schemas.openxmlformats.org/drawingml/2006/main">
              <a:ext uri="{FF2B5EF4-FFF2-40B4-BE49-F238E27FC236}">
                <a16:creationId xmlns:a16="http://schemas.microsoft.com/office/drawing/2014/main" id="{5D9EDCE9-E364-409E-9F2B-2B75DF15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733925"/>
            <a:ext cx="6448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Escotadura conceptual: describe una forma; no establece etiología.</a:t>
            </a:r>
          </a:p>
        </p:txBody>
      </p:sp>
      <p:sp>
        <p:nvSpPr>
          <p:cNvPr id="86" name="u08-030-allowed-box">
            <a:extLst xmlns:a="http://schemas.openxmlformats.org/drawingml/2006/main">
              <a:ext uri="{FF2B5EF4-FFF2-40B4-BE49-F238E27FC236}">
                <a16:creationId xmlns:a16="http://schemas.microsoft.com/office/drawing/2014/main" id="{25477E4F-CD68-4C20-AE14-CAE457E9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7146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7" name="u08-030-allowed-title">
            <a:extLst xmlns:a="http://schemas.openxmlformats.org/drawingml/2006/main">
              <a:ext uri="{FF2B5EF4-FFF2-40B4-BE49-F238E27FC236}">
                <a16:creationId xmlns:a16="http://schemas.microsoft.com/office/drawing/2014/main" id="{F0D7C9BF-B109-43DD-A1BB-F837FD66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52600"/>
            <a:ext cx="2371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Lectura permitida</a:t>
            </a:r>
          </a:p>
        </p:txBody>
      </p:sp>
      <p:sp>
        <p:nvSpPr>
          <p:cNvPr id="88" name="u08-030-allowed-body">
            <a:extLst xmlns:a="http://schemas.openxmlformats.org/drawingml/2006/main">
              <a:ext uri="{FF2B5EF4-FFF2-40B4-BE49-F238E27FC236}">
                <a16:creationId xmlns:a16="http://schemas.microsoft.com/office/drawing/2014/main" id="{88B33C71-A6F0-4686-A77D-8812AD8D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52650"/>
            <a:ext cx="23717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Hay mayor nivel de audición registrado alrededor de 4000 Hz en este ejemplo ficticio.</a:t>
            </a:r>
          </a:p>
        </p:txBody>
      </p:sp>
      <p:sp>
        <p:nvSpPr>
          <p:cNvPr id="89" name="u08-030-forbidden-box">
            <a:extLst xmlns:a="http://schemas.openxmlformats.org/drawingml/2006/main">
              <a:ext uri="{FF2B5EF4-FFF2-40B4-BE49-F238E27FC236}">
                <a16:creationId xmlns:a16="http://schemas.microsoft.com/office/drawing/2014/main" id="{188A7515-65ED-417C-B4D2-89AC6911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27146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0" name="u08-030-forbidden-title">
            <a:extLst xmlns:a="http://schemas.openxmlformats.org/drawingml/2006/main">
              <a:ext uri="{FF2B5EF4-FFF2-40B4-BE49-F238E27FC236}">
                <a16:creationId xmlns:a16="http://schemas.microsoft.com/office/drawing/2014/main" id="{8121BD45-B146-494A-821A-02E82CDE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52850"/>
            <a:ext cx="2371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Conclusión prohibida</a:t>
            </a:r>
          </a:p>
        </p:txBody>
      </p:sp>
      <p:sp>
        <p:nvSpPr>
          <p:cNvPr id="91" name="u08-030-forbidden-body">
            <a:extLst xmlns:a="http://schemas.openxmlformats.org/drawingml/2006/main">
              <a:ext uri="{FF2B5EF4-FFF2-40B4-BE49-F238E27FC236}">
                <a16:creationId xmlns:a16="http://schemas.microsoft.com/office/drawing/2014/main" id="{22EB4757-AC81-4A09-8874-53F6CB4C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52900"/>
            <a:ext cx="23717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forma aislada no demuestra origen laboral ni excluye otras causas.</a:t>
            </a:r>
          </a:p>
        </p:txBody>
      </p:sp>
      <p:sp>
        <p:nvSpPr>
          <p:cNvPr id="92" name="top-rail-1">
            <a:extLst xmlns:a="http://schemas.openxmlformats.org/drawingml/2006/main">
              <a:ext uri="{FF2B5EF4-FFF2-40B4-BE49-F238E27FC236}">
                <a16:creationId xmlns:a16="http://schemas.microsoft.com/office/drawing/2014/main" id="{BC3A73B0-65E3-476C-88AC-049623BF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3" name="top-rail-2">
            <a:extLst xmlns:a="http://schemas.openxmlformats.org/drawingml/2006/main">
              <a:ext uri="{FF2B5EF4-FFF2-40B4-BE49-F238E27FC236}">
                <a16:creationId xmlns:a16="http://schemas.microsoft.com/office/drawing/2014/main" id="{3039A668-2DE6-4DD8-AA35-FB111772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94" name="top-rail-3">
            <a:extLst xmlns:a="http://schemas.openxmlformats.org/drawingml/2006/main">
              <a:ext uri="{FF2B5EF4-FFF2-40B4-BE49-F238E27FC236}">
                <a16:creationId xmlns:a16="http://schemas.microsoft.com/office/drawing/2014/main" id="{D52FCC33-1E13-4C98-BB9B-14A78F01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95" name="eyebrow">
            <a:extLst xmlns:a="http://schemas.openxmlformats.org/drawingml/2006/main">
              <a:ext uri="{FF2B5EF4-FFF2-40B4-BE49-F238E27FC236}">
                <a16:creationId xmlns:a16="http://schemas.microsoft.com/office/drawing/2014/main" id="{2D5F8948-52D8-4229-8E4A-E6816B84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9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441983E-4612-4E60-AF77-4F18F568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844199-D079-48B0-93E9-E9D2886E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Trauma acústico y ototoxicidad no describen la misma exposición</a:t>
            </a:r>
          </a:p>
        </p:txBody>
      </p:sp>
      <p:sp>
        <p:nvSpPr>
          <p:cNvPr id="2" name="u08-031-trauma-box">
            <a:extLst xmlns:a="http://schemas.openxmlformats.org/drawingml/2006/main">
              <a:ext uri="{FF2B5EF4-FFF2-40B4-BE49-F238E27FC236}">
                <a16:creationId xmlns:a16="http://schemas.microsoft.com/office/drawing/2014/main" id="{D9C13D51-F37C-4819-8B82-0E63A94C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143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031-trauma-title">
            <a:extLst xmlns:a="http://schemas.openxmlformats.org/drawingml/2006/main">
              <a:ext uri="{FF2B5EF4-FFF2-40B4-BE49-F238E27FC236}">
                <a16:creationId xmlns:a16="http://schemas.microsoft.com/office/drawing/2014/main" id="{F6750A29-9EA2-4669-8FF4-FB265BFA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480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Trauma acústico</a:t>
            </a:r>
          </a:p>
        </p:txBody>
      </p:sp>
      <p:sp>
        <p:nvSpPr>
          <p:cNvPr id="4" name="u08-031-trauma-body">
            <a:extLst xmlns:a="http://schemas.openxmlformats.org/drawingml/2006/main">
              <a:ext uri="{FF2B5EF4-FFF2-40B4-BE49-F238E27FC236}">
                <a16:creationId xmlns:a16="http://schemas.microsoft.com/office/drawing/2014/main" id="{55A10C1C-6E22-4F7F-B991-D70D03D4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48006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Episodio acústico abrupto. Registrar: nivel o pico con su referencia, duración, distancia, protección y síntomas temporales.</a:t>
            </a:r>
          </a:p>
        </p:txBody>
      </p:sp>
      <p:sp>
        <p:nvSpPr>
          <p:cNvPr id="5" name="u08-031-ototoxicity-box">
            <a:extLst xmlns:a="http://schemas.openxmlformats.org/drawingml/2006/main">
              <a:ext uri="{FF2B5EF4-FFF2-40B4-BE49-F238E27FC236}">
                <a16:creationId xmlns:a16="http://schemas.microsoft.com/office/drawing/2014/main" id="{C0F56C97-5D8F-4B7B-AF1F-90059944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5143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u08-031-ototoxicity-title">
            <a:extLst xmlns:a="http://schemas.openxmlformats.org/drawingml/2006/main">
              <a:ext uri="{FF2B5EF4-FFF2-40B4-BE49-F238E27FC236}">
                <a16:creationId xmlns:a16="http://schemas.microsoft.com/office/drawing/2014/main" id="{55CB466E-8E60-4C3B-B1D5-80F264F7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480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Ototoxicidad</a:t>
            </a:r>
          </a:p>
        </p:txBody>
      </p:sp>
      <p:sp>
        <p:nvSpPr>
          <p:cNvPr id="7" name="u08-031-ototoxicity-body">
            <a:extLst xmlns:a="http://schemas.openxmlformats.org/drawingml/2006/main">
              <a:ext uri="{FF2B5EF4-FFF2-40B4-BE49-F238E27FC236}">
                <a16:creationId xmlns:a16="http://schemas.microsoft.com/office/drawing/2014/main" id="{3BE776D1-4F0B-44E5-BF89-4225FE5C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47900"/>
            <a:ext cx="48006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Exposición farmacológica o química. Registrar: agente, dosis, duración, vía, función renal y posibles coexposiciones.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95C70F2B-9E4A-40CD-BDE4-9A771CBA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CC968D25-0005-4F2F-B74D-C422D76D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896385DF-A368-4FD0-97D0-BBB5EA86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9DE588BD-1D25-48F5-BDD3-D809BB3A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AMPLIACIÓN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CC0FA10-AB07-4C4A-98EA-59233637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D3754-A7F7-44FE-9782-4DB4DEA3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Tinnitus es una percepción referida, no una fuente acústica externa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F6831057-5063-4378-8F0E-7BA1F176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Tinnitus o acúfeno: percepción sonora referida sin una fuente acústica externa correspondiente.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Puede coexistir con umbrales diferentes entre personas y situaciones.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frecuencia o un nivel de correspondencia describe una tarea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materializa una fuente interna.</a:t>
            </a:r>
          </a:p>
        </p:txBody>
      </p:sp>
      <p:sp>
        <p:nvSpPr>
          <p:cNvPr id="3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CA7BBA54-2FA4-4792-A75B-899FF760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571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512B2266-CDA4-45C5-8C29-36E265A0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228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5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F8461A0D-FC1F-4789-B816-231AC6E1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2289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Puede coexistir con umbrales diversos y no se reduce a una frecuencia o nivel.</a:t>
            </a:r>
          </a:p>
        </p:txBody>
      </p:sp>
      <p:sp>
        <p:nvSpPr>
          <p:cNvPr id="6" name="top-rail-1">
            <a:extLst xmlns:a="http://schemas.openxmlformats.org/drawingml/2006/main">
              <a:ext uri="{FF2B5EF4-FFF2-40B4-BE49-F238E27FC236}">
                <a16:creationId xmlns:a16="http://schemas.microsoft.com/office/drawing/2014/main" id="{846557FA-E567-4C46-902E-1F58EA67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7" name="top-rail-2">
            <a:extLst xmlns:a="http://schemas.openxmlformats.org/drawingml/2006/main">
              <a:ext uri="{FF2B5EF4-FFF2-40B4-BE49-F238E27FC236}">
                <a16:creationId xmlns:a16="http://schemas.microsoft.com/office/drawing/2014/main" id="{4875E1D1-881E-4170-BC06-3D1A4865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8" name="top-rail-3">
            <a:extLst xmlns:a="http://schemas.openxmlformats.org/drawingml/2006/main">
              <a:ext uri="{FF2B5EF4-FFF2-40B4-BE49-F238E27FC236}">
                <a16:creationId xmlns:a16="http://schemas.microsoft.com/office/drawing/2014/main" id="{C87BD985-8998-4220-9B4E-64806709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28808946-CECB-4339-B43A-19CB3767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6F4E916-74EA-4677-BFBD-CACB2F88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3C6FA8-6957-4942-BA5A-D7DFCA82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Presbiacusia es heterogénea y multifactorial</a:t>
            </a:r>
          </a:p>
        </p:txBody>
      </p:sp>
      <p:sp>
        <p:nvSpPr>
          <p:cNvPr id="2" name="U08-033-card-1-box">
            <a:extLst xmlns:a="http://schemas.openxmlformats.org/drawingml/2006/main">
              <a:ext uri="{FF2B5EF4-FFF2-40B4-BE49-F238E27FC236}">
                <a16:creationId xmlns:a16="http://schemas.microsoft.com/office/drawing/2014/main" id="{59F265B1-5199-4A51-BC37-BF4DAF7A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047875" cy="2571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033-card-1-title">
            <a:extLst xmlns:a="http://schemas.openxmlformats.org/drawingml/2006/main">
              <a:ext uri="{FF2B5EF4-FFF2-40B4-BE49-F238E27FC236}">
                <a16:creationId xmlns:a16="http://schemas.microsoft.com/office/drawing/2014/main" id="{4B5A48AA-E123-48FA-BBAA-2B797DC7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859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Edad</a:t>
            </a:r>
          </a:p>
        </p:txBody>
      </p:sp>
      <p:sp>
        <p:nvSpPr>
          <p:cNvPr id="4" name="U08-033-card-1-body">
            <a:extLst xmlns:a="http://schemas.openxmlformats.org/drawingml/2006/main">
              <a:ext uri="{FF2B5EF4-FFF2-40B4-BE49-F238E27FC236}">
                <a16:creationId xmlns:a16="http://schemas.microsoft.com/office/drawing/2014/main" id="{62B4308F-90CC-4187-AFD6-F3132414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86025"/>
            <a:ext cx="1704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Cambios asociados</a:t>
            </a:r>
          </a:p>
        </p:txBody>
      </p:sp>
      <p:sp>
        <p:nvSpPr>
          <p:cNvPr id="5" name="U08-033-card-2-box">
            <a:extLst xmlns:a="http://schemas.openxmlformats.org/drawingml/2006/main">
              <a:ext uri="{FF2B5EF4-FFF2-40B4-BE49-F238E27FC236}">
                <a16:creationId xmlns:a16="http://schemas.microsoft.com/office/drawing/2014/main" id="{61422366-DD3F-4968-8E4C-C9AACA67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52625"/>
            <a:ext cx="2047875" cy="2571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U08-033-card-2-title">
            <a:extLst xmlns:a="http://schemas.openxmlformats.org/drawingml/2006/main">
              <a:ext uri="{FF2B5EF4-FFF2-40B4-BE49-F238E27FC236}">
                <a16:creationId xmlns:a16="http://schemas.microsoft.com/office/drawing/2014/main" id="{05FCA8D3-1028-42FC-92C1-093800A1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859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Sistema neural</a:t>
            </a:r>
          </a:p>
        </p:txBody>
      </p:sp>
      <p:sp>
        <p:nvSpPr>
          <p:cNvPr id="7" name="U08-033-card-2-body">
            <a:extLst xmlns:a="http://schemas.openxmlformats.org/drawingml/2006/main">
              <a:ext uri="{FF2B5EF4-FFF2-40B4-BE49-F238E27FC236}">
                <a16:creationId xmlns:a16="http://schemas.microsoft.com/office/drawing/2014/main" id="{93B8F519-7A28-427C-AF39-53CCB414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86025"/>
            <a:ext cx="1704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Cóclea y vía: mecanismos heterogéneos</a:t>
            </a:r>
          </a:p>
        </p:txBody>
      </p:sp>
      <p:sp>
        <p:nvSpPr>
          <p:cNvPr id="8" name="U08-033-card-3-box">
            <a:extLst xmlns:a="http://schemas.openxmlformats.org/drawingml/2006/main">
              <a:ext uri="{FF2B5EF4-FFF2-40B4-BE49-F238E27FC236}">
                <a16:creationId xmlns:a16="http://schemas.microsoft.com/office/drawing/2014/main" id="{766F0B2D-DB5F-4F94-9BE3-1D82C460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52625"/>
            <a:ext cx="2047875" cy="2571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U08-033-card-3-title">
            <a:extLst xmlns:a="http://schemas.openxmlformats.org/drawingml/2006/main">
              <a:ext uri="{FF2B5EF4-FFF2-40B4-BE49-F238E27FC236}">
                <a16:creationId xmlns:a16="http://schemas.microsoft.com/office/drawing/2014/main" id="{C2D36391-7F27-4066-924B-4AE0D2B1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0859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Exposición</a:t>
            </a:r>
          </a:p>
        </p:txBody>
      </p:sp>
      <p:sp>
        <p:nvSpPr>
          <p:cNvPr id="10" name="U08-033-card-3-body">
            <a:extLst xmlns:a="http://schemas.openxmlformats.org/drawingml/2006/main">
              <a:ext uri="{FF2B5EF4-FFF2-40B4-BE49-F238E27FC236}">
                <a16:creationId xmlns:a16="http://schemas.microsoft.com/office/drawing/2014/main" id="{7BDBC255-58E1-4844-8F42-45DD4421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486025"/>
            <a:ext cx="1704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Historia acústica</a:t>
            </a:r>
          </a:p>
        </p:txBody>
      </p:sp>
      <p:sp>
        <p:nvSpPr>
          <p:cNvPr id="11" name="U08-033-card-4-box">
            <a:extLst xmlns:a="http://schemas.openxmlformats.org/drawingml/2006/main">
              <a:ext uri="{FF2B5EF4-FFF2-40B4-BE49-F238E27FC236}">
                <a16:creationId xmlns:a16="http://schemas.microsoft.com/office/drawing/2014/main" id="{48D3E23A-8027-4271-B389-A2F2B14A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2047875" cy="2571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2" name="U08-033-card-4-title">
            <a:extLst xmlns:a="http://schemas.openxmlformats.org/drawingml/2006/main">
              <a:ext uri="{FF2B5EF4-FFF2-40B4-BE49-F238E27FC236}">
                <a16:creationId xmlns:a16="http://schemas.microsoft.com/office/drawing/2014/main" id="{598C5324-AF13-4751-8CF1-BB10E9E5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859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Salud y fármacos</a:t>
            </a:r>
          </a:p>
        </p:txBody>
      </p:sp>
      <p:sp>
        <p:nvSpPr>
          <p:cNvPr id="13" name="U08-033-card-4-body">
            <a:extLst xmlns:a="http://schemas.openxmlformats.org/drawingml/2006/main">
              <a:ext uri="{FF2B5EF4-FFF2-40B4-BE49-F238E27FC236}">
                <a16:creationId xmlns:a16="http://schemas.microsoft.com/office/drawing/2014/main" id="{9C116514-3074-4F8B-B96E-FCA8AA01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86025"/>
            <a:ext cx="1704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Factores concurrentes</a:t>
            </a:r>
          </a:p>
        </p:txBody>
      </p:sp>
      <p:sp>
        <p:nvSpPr>
          <p:cNvPr id="14" name="U08-033-card-5-box">
            <a:extLst xmlns:a="http://schemas.openxmlformats.org/drawingml/2006/main">
              <a:ext uri="{FF2B5EF4-FFF2-40B4-BE49-F238E27FC236}">
                <a16:creationId xmlns:a16="http://schemas.microsoft.com/office/drawing/2014/main" id="{3B42C878-F41D-4B62-B77B-DC6ED424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52625"/>
            <a:ext cx="2047875" cy="2571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5" name="U08-033-card-5-title">
            <a:extLst xmlns:a="http://schemas.openxmlformats.org/drawingml/2006/main">
              <a:ext uri="{FF2B5EF4-FFF2-40B4-BE49-F238E27FC236}">
                <a16:creationId xmlns:a16="http://schemas.microsoft.com/office/drawing/2014/main" id="{CBA0B745-2091-448E-8158-2334183B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0859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Variabilidad</a:t>
            </a:r>
          </a:p>
        </p:txBody>
      </p:sp>
      <p:sp>
        <p:nvSpPr>
          <p:cNvPr id="16" name="U08-033-card-5-body">
            <a:extLst xmlns:a="http://schemas.openxmlformats.org/drawingml/2006/main">
              <a:ext uri="{FF2B5EF4-FFF2-40B4-BE49-F238E27FC236}">
                <a16:creationId xmlns:a16="http://schemas.microsoft.com/office/drawing/2014/main" id="{D8DC4D91-8879-42A0-8630-165D36E2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86025"/>
            <a:ext cx="1704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existe una pendiente única</a:t>
            </a:r>
          </a:p>
        </p:txBody>
      </p:sp>
      <p:sp>
        <p:nvSpPr>
          <p:cNvPr id="17" name="top-rail-1">
            <a:extLst xmlns:a="http://schemas.openxmlformats.org/drawingml/2006/main">
              <a:ext uri="{FF2B5EF4-FFF2-40B4-BE49-F238E27FC236}">
                <a16:creationId xmlns:a16="http://schemas.microsoft.com/office/drawing/2014/main" id="{CC8F123F-34D0-48FA-8FF6-3E72EB6F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8" name="top-rail-2">
            <a:extLst xmlns:a="http://schemas.openxmlformats.org/drawingml/2006/main">
              <a:ext uri="{FF2B5EF4-FFF2-40B4-BE49-F238E27FC236}">
                <a16:creationId xmlns:a16="http://schemas.microsoft.com/office/drawing/2014/main" id="{22F4839A-18DC-4DCF-90D9-612BEDA2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9" name="top-rail-3">
            <a:extLst xmlns:a="http://schemas.openxmlformats.org/drawingml/2006/main">
              <a:ext uri="{FF2B5EF4-FFF2-40B4-BE49-F238E27FC236}">
                <a16:creationId xmlns:a16="http://schemas.microsoft.com/office/drawing/2014/main" id="{5EBE59C7-07A9-433B-AA49-AFB407A7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221E4A88-FE87-4C7C-BF05-2DF8258E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2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04B46A0-AEC7-4208-87E0-6D5AEBA0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B25D31-36F1-44D4-91C1-BCF391D8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porcentaje de riesgo necesita población, exposición y definición de caso</a:t>
            </a:r>
          </a:p>
        </p:txBody>
      </p:sp>
      <p:sp>
        <p:nvSpPr>
          <p:cNvPr id="2" name="U08-034-process-anchor-1">
            <a:extLst xmlns:a="http://schemas.openxmlformats.org/drawingml/2006/main">
              <a:ext uri="{FF2B5EF4-FFF2-40B4-BE49-F238E27FC236}">
                <a16:creationId xmlns:a16="http://schemas.microsoft.com/office/drawing/2014/main" id="{BA90D725-1AC6-4C8F-958D-6BFEE628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5457825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U08-034-process-anchor-2">
            <a:extLst xmlns:a="http://schemas.openxmlformats.org/drawingml/2006/main">
              <a:ext uri="{FF2B5EF4-FFF2-40B4-BE49-F238E27FC236}">
                <a16:creationId xmlns:a16="http://schemas.microsoft.com/office/drawing/2014/main" id="{C905C7B6-2E51-41A7-8612-C5658296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5457825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5981700" y="3095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5" name="U08-034-process-1-box">
            <a:extLst xmlns:a="http://schemas.openxmlformats.org/drawingml/2006/main">
              <a:ext uri="{FF2B5EF4-FFF2-40B4-BE49-F238E27FC236}">
                <a16:creationId xmlns:a16="http://schemas.microsoft.com/office/drawing/2014/main" id="{16BA84DE-DF30-469E-8561-D514D480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54578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U08-034-process-1-title">
            <a:extLst xmlns:a="http://schemas.openxmlformats.org/drawingml/2006/main">
              <a:ext uri="{FF2B5EF4-FFF2-40B4-BE49-F238E27FC236}">
                <a16:creationId xmlns:a16="http://schemas.microsoft.com/office/drawing/2014/main" id="{52B911F8-8022-4191-A694-08806719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28850"/>
            <a:ext cx="511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U08-034-process-1-body">
            <a:extLst xmlns:a="http://schemas.openxmlformats.org/drawingml/2006/main">
              <a:ext uri="{FF2B5EF4-FFF2-40B4-BE49-F238E27FC236}">
                <a16:creationId xmlns:a16="http://schemas.microsoft.com/office/drawing/2014/main" id="{800DA6DB-C5CE-45E8-800D-CF1E5C3E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28900"/>
            <a:ext cx="51149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edad sola no convierte una tasa grupal en pronóstico individual.</a:t>
            </a:r>
          </a:p>
        </p:txBody>
      </p:sp>
      <p:sp>
        <p:nvSpPr>
          <p:cNvPr id="8" name="U08-034-process-2-box">
            <a:extLst xmlns:a="http://schemas.openxmlformats.org/drawingml/2006/main">
              <a:ext uri="{FF2B5EF4-FFF2-40B4-BE49-F238E27FC236}">
                <a16:creationId xmlns:a16="http://schemas.microsoft.com/office/drawing/2014/main" id="{FEE69E86-258C-4688-9514-5E750DF6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54578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U08-034-process-2-title">
            <a:extLst xmlns:a="http://schemas.openxmlformats.org/drawingml/2006/main">
              <a:ext uri="{FF2B5EF4-FFF2-40B4-BE49-F238E27FC236}">
                <a16:creationId xmlns:a16="http://schemas.microsoft.com/office/drawing/2014/main" id="{5D08AC4A-E8AA-4F1B-8371-BF4D7469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28850"/>
            <a:ext cx="511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U08-034-process-2-body">
            <a:extLst xmlns:a="http://schemas.openxmlformats.org/drawingml/2006/main">
              <a:ext uri="{FF2B5EF4-FFF2-40B4-BE49-F238E27FC236}">
                <a16:creationId xmlns:a16="http://schemas.microsoft.com/office/drawing/2014/main" id="{BA150565-4E5A-469C-833E-D9A793F6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51149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Población, edad, exposición, duración, caso, comparación y período</a:t>
            </a:r>
          </a:p>
        </p:txBody>
      </p:sp>
      <p:sp>
        <p:nvSpPr>
          <p:cNvPr id="11" name="top-rail-1">
            <a:extLst xmlns:a="http://schemas.openxmlformats.org/drawingml/2006/main">
              <a:ext uri="{FF2B5EF4-FFF2-40B4-BE49-F238E27FC236}">
                <a16:creationId xmlns:a16="http://schemas.microsoft.com/office/drawing/2014/main" id="{99CB96FB-0F24-43A0-A535-81843178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82A55E5-AB0B-4E11-9332-8F76CD34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3" name="top-rail-3">
            <a:extLst xmlns:a="http://schemas.openxmlformats.org/drawingml/2006/main">
              <a:ext uri="{FF2B5EF4-FFF2-40B4-BE49-F238E27FC236}">
                <a16:creationId xmlns:a16="http://schemas.microsoft.com/office/drawing/2014/main" id="{A3F6B7A1-BAA0-44C0-B64C-49078E74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E002251D-A384-4067-B041-00B171CD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331B567-3D98-48A2-93C5-BB3E0C8F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BAA343-6668-43C7-B979-205683DA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Edad y exposición pueden modificar un riesgo poblacional documentado</a:t>
            </a:r>
          </a:p>
        </p:txBody>
      </p:sp>
      <p:sp>
        <p:nvSpPr>
          <p:cNvPr id="2" name="u08-035-heading">
            <a:extLst xmlns:a="http://schemas.openxmlformats.org/drawingml/2006/main">
              <a:ext uri="{FF2B5EF4-FFF2-40B4-BE49-F238E27FC236}">
                <a16:creationId xmlns:a16="http://schemas.microsoft.com/office/drawing/2014/main" id="{83ED085C-B0F4-4D39-ABB0-6A803A20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Exceso de riesgo estimado por edad · más de 10 años de exposición</a:t>
            </a:r>
          </a:p>
        </p:txBody>
      </p:sp>
      <p:sp>
        <p:nvSpPr>
          <p:cNvPr id="3" name="u08-035-risk-0-0-box">
            <a:extLst xmlns:a="http://schemas.openxmlformats.org/drawingml/2006/main">
              <a:ext uri="{FF2B5EF4-FFF2-40B4-BE49-F238E27FC236}">
                <a16:creationId xmlns:a16="http://schemas.microsoft.com/office/drawing/2014/main" id="{C82F0A54-606D-4067-B15B-D7D92FDF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78759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4" name="u08-035-risk-0-0-text">
            <a:extLst xmlns:a="http://schemas.openxmlformats.org/drawingml/2006/main">
              <a:ext uri="{FF2B5EF4-FFF2-40B4-BE49-F238E27FC236}">
                <a16:creationId xmlns:a16="http://schemas.microsoft.com/office/drawing/2014/main" id="{7602378B-DBD9-456E-9541-46A55F9B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2635192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Exposición diaria</a:t>
            </a:r>
          </a:p>
        </p:txBody>
      </p:sp>
      <p:sp>
        <p:nvSpPr>
          <p:cNvPr id="5" name="u08-035-risk-0-1-box">
            <a:extLst xmlns:a="http://schemas.openxmlformats.org/drawingml/2006/main">
              <a:ext uri="{FF2B5EF4-FFF2-40B4-BE49-F238E27FC236}">
                <a16:creationId xmlns:a16="http://schemas.microsoft.com/office/drawing/2014/main" id="{425996D5-2AC5-4268-99D3-086CC038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842" y="2000250"/>
            <a:ext cx="1922477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6" name="u08-035-risk-0-1-text">
            <a:extLst xmlns:a="http://schemas.openxmlformats.org/drawingml/2006/main">
              <a:ext uri="{FF2B5EF4-FFF2-40B4-BE49-F238E27FC236}">
                <a16:creationId xmlns:a16="http://schemas.microsoft.com/office/drawing/2014/main" id="{6109F670-7D7C-4B66-9B92-88361965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42" y="2057400"/>
            <a:ext cx="1770077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 años</a:t>
            </a:r>
          </a:p>
        </p:txBody>
      </p:sp>
      <p:sp>
        <p:nvSpPr>
          <p:cNvPr id="7" name="u08-035-risk-0-2-box">
            <a:extLst xmlns:a="http://schemas.openxmlformats.org/drawingml/2006/main">
              <a:ext uri="{FF2B5EF4-FFF2-40B4-BE49-F238E27FC236}">
                <a16:creationId xmlns:a16="http://schemas.microsoft.com/office/drawing/2014/main" id="{9A567BAE-6B6B-4C7A-86D1-A638522C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7319" y="2000250"/>
            <a:ext cx="1922477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8" name="u08-035-risk-0-2-text">
            <a:extLst xmlns:a="http://schemas.openxmlformats.org/drawingml/2006/main">
              <a:ext uri="{FF2B5EF4-FFF2-40B4-BE49-F238E27FC236}">
                <a16:creationId xmlns:a16="http://schemas.microsoft.com/office/drawing/2014/main" id="{06C61E91-5251-4581-ACD3-20AE5517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519" y="2057400"/>
            <a:ext cx="1770077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40 años</a:t>
            </a:r>
          </a:p>
        </p:txBody>
      </p:sp>
      <p:sp>
        <p:nvSpPr>
          <p:cNvPr id="9" name="u08-035-risk-0-3-box">
            <a:extLst xmlns:a="http://schemas.openxmlformats.org/drawingml/2006/main">
              <a:ext uri="{FF2B5EF4-FFF2-40B4-BE49-F238E27FC236}">
                <a16:creationId xmlns:a16="http://schemas.microsoft.com/office/drawing/2014/main" id="{332CD559-A9A2-46FE-978A-8990DE26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796" y="2000250"/>
            <a:ext cx="1922477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10" name="u08-035-risk-0-3-text">
            <a:extLst xmlns:a="http://schemas.openxmlformats.org/drawingml/2006/main">
              <a:ext uri="{FF2B5EF4-FFF2-40B4-BE49-F238E27FC236}">
                <a16:creationId xmlns:a16="http://schemas.microsoft.com/office/drawing/2014/main" id="{2E446DCB-B6C1-4B9F-A790-C4018C03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996" y="2057400"/>
            <a:ext cx="1770077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50 años</a:t>
            </a:r>
          </a:p>
        </p:txBody>
      </p:sp>
      <p:sp>
        <p:nvSpPr>
          <p:cNvPr id="11" name="u08-035-risk-0-4-box">
            <a:extLst xmlns:a="http://schemas.openxmlformats.org/drawingml/2006/main">
              <a:ext uri="{FF2B5EF4-FFF2-40B4-BE49-F238E27FC236}">
                <a16:creationId xmlns:a16="http://schemas.microsoft.com/office/drawing/2014/main" id="{58E0A0F0-FAF2-4C5B-A9B7-D3F8EE3A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2273" y="2000250"/>
            <a:ext cx="1922477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12" name="u08-035-risk-0-4-text">
            <a:extLst xmlns:a="http://schemas.openxmlformats.org/drawingml/2006/main">
              <a:ext uri="{FF2B5EF4-FFF2-40B4-BE49-F238E27FC236}">
                <a16:creationId xmlns:a16="http://schemas.microsoft.com/office/drawing/2014/main" id="{FF5CB92C-8525-407E-8AAA-540BD99D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473" y="2057400"/>
            <a:ext cx="1770077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60 años</a:t>
            </a:r>
          </a:p>
        </p:txBody>
      </p:sp>
      <p:sp>
        <p:nvSpPr>
          <p:cNvPr id="13" name="u08-035-risk-1-0-box">
            <a:extLst xmlns:a="http://schemas.openxmlformats.org/drawingml/2006/main">
              <a:ext uri="{FF2B5EF4-FFF2-40B4-BE49-F238E27FC236}">
                <a16:creationId xmlns:a16="http://schemas.microsoft.com/office/drawing/2014/main" id="{E34B9B6F-9ADE-4E0A-965F-25223CA4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78759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4" name="u08-035-risk-1-0-text">
            <a:extLst xmlns:a="http://schemas.openxmlformats.org/drawingml/2006/main">
              <a:ext uri="{FF2B5EF4-FFF2-40B4-BE49-F238E27FC236}">
                <a16:creationId xmlns:a16="http://schemas.microsoft.com/office/drawing/2014/main" id="{B34F4747-8877-4C42-8CDC-97F32FA0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2635192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80 dBA</a:t>
            </a:r>
          </a:p>
        </p:txBody>
      </p:sp>
      <p:sp>
        <p:nvSpPr>
          <p:cNvPr id="15" name="u08-035-risk-1-1-box">
            <a:extLst xmlns:a="http://schemas.openxmlformats.org/drawingml/2006/main">
              <a:ext uri="{FF2B5EF4-FFF2-40B4-BE49-F238E27FC236}">
                <a16:creationId xmlns:a16="http://schemas.microsoft.com/office/drawing/2014/main" id="{5379DDFF-1808-4270-B5C9-9C53EBEE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842" y="2686050"/>
            <a:ext cx="1922477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6" name="u08-035-risk-1-1-text">
            <a:extLst xmlns:a="http://schemas.openxmlformats.org/drawingml/2006/main">
              <a:ext uri="{FF2B5EF4-FFF2-40B4-BE49-F238E27FC236}">
                <a16:creationId xmlns:a16="http://schemas.microsoft.com/office/drawing/2014/main" id="{EE9C94C4-1852-411F-9DF8-627B2893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42" y="2743200"/>
            <a:ext cx="1770077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0,3 %</a:t>
            </a:r>
          </a:p>
        </p:txBody>
      </p:sp>
      <p:sp>
        <p:nvSpPr>
          <p:cNvPr id="17" name="u08-035-risk-1-2-box">
            <a:extLst xmlns:a="http://schemas.openxmlformats.org/drawingml/2006/main">
              <a:ext uri="{FF2B5EF4-FFF2-40B4-BE49-F238E27FC236}">
                <a16:creationId xmlns:a16="http://schemas.microsoft.com/office/drawing/2014/main" id="{8C8E5EDA-718C-4732-9749-8FBAD47C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7319" y="2686050"/>
            <a:ext cx="1922477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8" name="u08-035-risk-1-2-text">
            <a:extLst xmlns:a="http://schemas.openxmlformats.org/drawingml/2006/main">
              <a:ext uri="{FF2B5EF4-FFF2-40B4-BE49-F238E27FC236}">
                <a16:creationId xmlns:a16="http://schemas.microsoft.com/office/drawing/2014/main" id="{6276737A-E42B-4B15-9BA9-0FB12434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519" y="2743200"/>
            <a:ext cx="1770077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0,6 %</a:t>
            </a:r>
          </a:p>
        </p:txBody>
      </p:sp>
      <p:sp>
        <p:nvSpPr>
          <p:cNvPr id="19" name="u08-035-risk-1-3-box">
            <a:extLst xmlns:a="http://schemas.openxmlformats.org/drawingml/2006/main">
              <a:ext uri="{FF2B5EF4-FFF2-40B4-BE49-F238E27FC236}">
                <a16:creationId xmlns:a16="http://schemas.microsoft.com/office/drawing/2014/main" id="{79EEE7F6-9FD7-457F-BAC5-6B3310F7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796" y="2686050"/>
            <a:ext cx="1922477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0" name="u08-035-risk-1-3-text">
            <a:extLst xmlns:a="http://schemas.openxmlformats.org/drawingml/2006/main">
              <a:ext uri="{FF2B5EF4-FFF2-40B4-BE49-F238E27FC236}">
                <a16:creationId xmlns:a16="http://schemas.microsoft.com/office/drawing/2014/main" id="{9168D078-96FF-465A-906B-7046EA6F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996" y="2743200"/>
            <a:ext cx="1770077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1,0 %</a:t>
            </a:r>
          </a:p>
        </p:txBody>
      </p:sp>
      <p:sp>
        <p:nvSpPr>
          <p:cNvPr id="21" name="u08-035-risk-1-4-box">
            <a:extLst xmlns:a="http://schemas.openxmlformats.org/drawingml/2006/main">
              <a:ext uri="{FF2B5EF4-FFF2-40B4-BE49-F238E27FC236}">
                <a16:creationId xmlns:a16="http://schemas.microsoft.com/office/drawing/2014/main" id="{E26C2B21-398D-48E8-A740-E88FA94E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2273" y="2686050"/>
            <a:ext cx="1922477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2" name="u08-035-risk-1-4-text">
            <a:extLst xmlns:a="http://schemas.openxmlformats.org/drawingml/2006/main">
              <a:ext uri="{FF2B5EF4-FFF2-40B4-BE49-F238E27FC236}">
                <a16:creationId xmlns:a16="http://schemas.microsoft.com/office/drawing/2014/main" id="{001AF8CD-75CA-40F3-A4D9-0FFDB902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473" y="2743200"/>
            <a:ext cx="1770077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1,3 %</a:t>
            </a:r>
          </a:p>
        </p:txBody>
      </p:sp>
      <p:sp>
        <p:nvSpPr>
          <p:cNvPr id="23" name="u08-035-risk-2-0-box">
            <a:extLst xmlns:a="http://schemas.openxmlformats.org/drawingml/2006/main">
              <a:ext uri="{FF2B5EF4-FFF2-40B4-BE49-F238E27FC236}">
                <a16:creationId xmlns:a16="http://schemas.microsoft.com/office/drawing/2014/main" id="{1748DFF9-DCB9-44FD-85E3-23EFA024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78759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4" name="u08-035-risk-2-0-text">
            <a:extLst xmlns:a="http://schemas.openxmlformats.org/drawingml/2006/main">
              <a:ext uri="{FF2B5EF4-FFF2-40B4-BE49-F238E27FC236}">
                <a16:creationId xmlns:a16="http://schemas.microsoft.com/office/drawing/2014/main" id="{EC5251F1-A589-488B-A2A2-347E1F6C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2635192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85 dBA</a:t>
            </a:r>
          </a:p>
        </p:txBody>
      </p:sp>
      <p:sp>
        <p:nvSpPr>
          <p:cNvPr id="25" name="u08-035-risk-2-1-box">
            <a:extLst xmlns:a="http://schemas.openxmlformats.org/drawingml/2006/main">
              <a:ext uri="{FF2B5EF4-FFF2-40B4-BE49-F238E27FC236}">
                <a16:creationId xmlns:a16="http://schemas.microsoft.com/office/drawing/2014/main" id="{FED370E2-FAFE-4F3F-B82D-C76AF355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842" y="3371850"/>
            <a:ext cx="1922477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6" name="u08-035-risk-2-1-text">
            <a:extLst xmlns:a="http://schemas.openxmlformats.org/drawingml/2006/main">
              <a:ext uri="{FF2B5EF4-FFF2-40B4-BE49-F238E27FC236}">
                <a16:creationId xmlns:a16="http://schemas.microsoft.com/office/drawing/2014/main" id="{C02D0F73-9B56-49FB-9256-01D4173F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42" y="3429000"/>
            <a:ext cx="1770077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2,3 %</a:t>
            </a:r>
          </a:p>
        </p:txBody>
      </p:sp>
      <p:sp>
        <p:nvSpPr>
          <p:cNvPr id="27" name="u08-035-risk-2-2-box">
            <a:extLst xmlns:a="http://schemas.openxmlformats.org/drawingml/2006/main">
              <a:ext uri="{FF2B5EF4-FFF2-40B4-BE49-F238E27FC236}">
                <a16:creationId xmlns:a16="http://schemas.microsoft.com/office/drawing/2014/main" id="{F6733A79-FB03-4C3B-8AF9-7CA30220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7319" y="3371850"/>
            <a:ext cx="1922477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8" name="u08-035-risk-2-2-text">
            <a:extLst xmlns:a="http://schemas.openxmlformats.org/drawingml/2006/main">
              <a:ext uri="{FF2B5EF4-FFF2-40B4-BE49-F238E27FC236}">
                <a16:creationId xmlns:a16="http://schemas.microsoft.com/office/drawing/2014/main" id="{5033595E-0F53-4CD3-A62E-1503F286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519" y="3429000"/>
            <a:ext cx="1770077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4,3 %</a:t>
            </a:r>
          </a:p>
        </p:txBody>
      </p:sp>
      <p:sp>
        <p:nvSpPr>
          <p:cNvPr id="29" name="u08-035-risk-2-3-box">
            <a:extLst xmlns:a="http://schemas.openxmlformats.org/drawingml/2006/main">
              <a:ext uri="{FF2B5EF4-FFF2-40B4-BE49-F238E27FC236}">
                <a16:creationId xmlns:a16="http://schemas.microsoft.com/office/drawing/2014/main" id="{0250D308-D0D1-426B-BD62-4ED1BE11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796" y="3371850"/>
            <a:ext cx="1922477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30" name="u08-035-risk-2-3-text">
            <a:extLst xmlns:a="http://schemas.openxmlformats.org/drawingml/2006/main">
              <a:ext uri="{FF2B5EF4-FFF2-40B4-BE49-F238E27FC236}">
                <a16:creationId xmlns:a16="http://schemas.microsoft.com/office/drawing/2014/main" id="{1969D80B-33F6-4055-8FB4-7B5CDD6B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996" y="3429000"/>
            <a:ext cx="1770077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6,7 %</a:t>
            </a:r>
          </a:p>
        </p:txBody>
      </p:sp>
      <p:sp>
        <p:nvSpPr>
          <p:cNvPr id="31" name="u08-035-risk-2-4-box">
            <a:extLst xmlns:a="http://schemas.openxmlformats.org/drawingml/2006/main">
              <a:ext uri="{FF2B5EF4-FFF2-40B4-BE49-F238E27FC236}">
                <a16:creationId xmlns:a16="http://schemas.microsoft.com/office/drawing/2014/main" id="{25A9F137-1C16-43B3-95ED-9D0DB9DF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2273" y="3371850"/>
            <a:ext cx="1922477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32" name="u08-035-risk-2-4-text">
            <a:extLst xmlns:a="http://schemas.openxmlformats.org/drawingml/2006/main">
              <a:ext uri="{FF2B5EF4-FFF2-40B4-BE49-F238E27FC236}">
                <a16:creationId xmlns:a16="http://schemas.microsoft.com/office/drawing/2014/main" id="{A6326D9B-E77D-411C-AFD3-4460C176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473" y="3429000"/>
            <a:ext cx="1770077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7,9 %</a:t>
            </a:r>
          </a:p>
        </p:txBody>
      </p:sp>
      <p:sp>
        <p:nvSpPr>
          <p:cNvPr id="33" name="u08-035-risk-3-0-box">
            <a:extLst xmlns:a="http://schemas.openxmlformats.org/drawingml/2006/main">
              <a:ext uri="{FF2B5EF4-FFF2-40B4-BE49-F238E27FC236}">
                <a16:creationId xmlns:a16="http://schemas.microsoft.com/office/drawing/2014/main" id="{DA7B7652-5C48-4467-AA13-7A0F566B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278759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34" name="u08-035-risk-3-0-text">
            <a:extLst xmlns:a="http://schemas.openxmlformats.org/drawingml/2006/main">
              <a:ext uri="{FF2B5EF4-FFF2-40B4-BE49-F238E27FC236}">
                <a16:creationId xmlns:a16="http://schemas.microsoft.com/office/drawing/2014/main" id="{3A427A06-8BC1-453A-8B93-8FE80D8A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2635192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90 dBA</a:t>
            </a:r>
          </a:p>
        </p:txBody>
      </p:sp>
      <p:sp>
        <p:nvSpPr>
          <p:cNvPr id="35" name="u08-035-risk-3-1-box">
            <a:extLst xmlns:a="http://schemas.openxmlformats.org/drawingml/2006/main">
              <a:ext uri="{FF2B5EF4-FFF2-40B4-BE49-F238E27FC236}">
                <a16:creationId xmlns:a16="http://schemas.microsoft.com/office/drawing/2014/main" id="{2C9DB3FB-AF4C-4C96-9B1D-53AB62A8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842" y="4057650"/>
            <a:ext cx="1922477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36" name="u08-035-risk-3-1-text">
            <a:extLst xmlns:a="http://schemas.openxmlformats.org/drawingml/2006/main">
              <a:ext uri="{FF2B5EF4-FFF2-40B4-BE49-F238E27FC236}">
                <a16:creationId xmlns:a16="http://schemas.microsoft.com/office/drawing/2014/main" id="{73F987C6-9C49-4803-A2C8-900BCD4D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42" y="4114800"/>
            <a:ext cx="1770077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10,3 %</a:t>
            </a:r>
          </a:p>
        </p:txBody>
      </p:sp>
      <p:sp>
        <p:nvSpPr>
          <p:cNvPr id="37" name="u08-035-risk-3-2-box">
            <a:extLst xmlns:a="http://schemas.openxmlformats.org/drawingml/2006/main">
              <a:ext uri="{FF2B5EF4-FFF2-40B4-BE49-F238E27FC236}">
                <a16:creationId xmlns:a16="http://schemas.microsoft.com/office/drawing/2014/main" id="{F8795D17-AAD0-4AE7-B744-17D26A00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7319" y="4057650"/>
            <a:ext cx="1922477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38" name="u08-035-risk-3-2-text">
            <a:extLst xmlns:a="http://schemas.openxmlformats.org/drawingml/2006/main">
              <a:ext uri="{FF2B5EF4-FFF2-40B4-BE49-F238E27FC236}">
                <a16:creationId xmlns:a16="http://schemas.microsoft.com/office/drawing/2014/main" id="{D2A9F139-20A7-4DA5-B3BC-DAB425F5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519" y="4114800"/>
            <a:ext cx="1770077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17,5 %</a:t>
            </a:r>
          </a:p>
        </p:txBody>
      </p:sp>
      <p:sp>
        <p:nvSpPr>
          <p:cNvPr id="39" name="u08-035-risk-3-3-box">
            <a:extLst xmlns:a="http://schemas.openxmlformats.org/drawingml/2006/main">
              <a:ext uri="{FF2B5EF4-FFF2-40B4-BE49-F238E27FC236}">
                <a16:creationId xmlns:a16="http://schemas.microsoft.com/office/drawing/2014/main" id="{E23C7B52-0929-47D7-9B93-C459C947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796" y="4057650"/>
            <a:ext cx="1922477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40" name="u08-035-risk-3-3-text">
            <a:extLst xmlns:a="http://schemas.openxmlformats.org/drawingml/2006/main">
              <a:ext uri="{FF2B5EF4-FFF2-40B4-BE49-F238E27FC236}">
                <a16:creationId xmlns:a16="http://schemas.microsoft.com/office/drawing/2014/main" id="{FEB9D155-E53E-4E1D-A17F-5FC140C1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996" y="4114800"/>
            <a:ext cx="1770077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24,1 %</a:t>
            </a:r>
          </a:p>
        </p:txBody>
      </p:sp>
      <p:sp>
        <p:nvSpPr>
          <p:cNvPr id="41" name="u08-035-risk-3-4-box">
            <a:extLst xmlns:a="http://schemas.openxmlformats.org/drawingml/2006/main">
              <a:ext uri="{FF2B5EF4-FFF2-40B4-BE49-F238E27FC236}">
                <a16:creationId xmlns:a16="http://schemas.microsoft.com/office/drawing/2014/main" id="{FD1472D1-1E95-4131-9569-0F20AB70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2273" y="4057650"/>
            <a:ext cx="1922477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42" name="u08-035-risk-3-4-text">
            <a:extLst xmlns:a="http://schemas.openxmlformats.org/drawingml/2006/main">
              <a:ext uri="{FF2B5EF4-FFF2-40B4-BE49-F238E27FC236}">
                <a16:creationId xmlns:a16="http://schemas.microsoft.com/office/drawing/2014/main" id="{3C01EDF7-E8AF-4AEE-AF86-1B0BC646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473" y="4114800"/>
            <a:ext cx="1770077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24,7 %</a:t>
            </a:r>
          </a:p>
        </p:txBody>
      </p:sp>
      <p:sp>
        <p:nvSpPr>
          <p:cNvPr id="43" name="u08-035-reading-box">
            <a:extLst xmlns:a="http://schemas.openxmlformats.org/drawingml/2006/main">
              <a:ext uri="{FF2B5EF4-FFF2-40B4-BE49-F238E27FC236}">
                <a16:creationId xmlns:a16="http://schemas.microsoft.com/office/drawing/2014/main" id="{D0CF47D5-C14D-4323-9288-D54E48AD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0125"/>
            <a:ext cx="971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44" name="u08-035-reading-title">
            <a:extLst xmlns:a="http://schemas.openxmlformats.org/drawingml/2006/main">
              <a:ext uri="{FF2B5EF4-FFF2-40B4-BE49-F238E27FC236}">
                <a16:creationId xmlns:a16="http://schemas.microsoft.com/office/drawing/2014/main" id="{570F0850-D2BD-4ECD-90B2-913FEACA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43475"/>
            <a:ext cx="937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leerlo</a:t>
            </a:r>
          </a:p>
        </p:txBody>
      </p:sp>
      <p:sp>
        <p:nvSpPr>
          <p:cNvPr id="45" name="u08-035-reading-body">
            <a:extLst xmlns:a="http://schemas.openxmlformats.org/drawingml/2006/main">
              <a:ext uri="{FF2B5EF4-FFF2-40B4-BE49-F238E27FC236}">
                <a16:creationId xmlns:a16="http://schemas.microsoft.com/office/drawing/2014/main" id="{8779D3CD-681C-4E77-A9AA-5FE9DE0C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43525"/>
            <a:ext cx="937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Modelo NIOSH 1997, definición 1–2–3–4 kHz. “Exceso” compara población expuesta y no expuesta. Los IC 95 % son amplios; no es un pronóstico individual.</a:t>
            </a:r>
          </a:p>
        </p:txBody>
      </p:sp>
      <p:sp>
        <p:nvSpPr>
          <p:cNvPr id="46" name="top-rail-1">
            <a:extLst xmlns:a="http://schemas.openxmlformats.org/drawingml/2006/main">
              <a:ext uri="{FF2B5EF4-FFF2-40B4-BE49-F238E27FC236}">
                <a16:creationId xmlns:a16="http://schemas.microsoft.com/office/drawing/2014/main" id="{A5EEC46D-CA09-44BD-ACAA-7E094208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7" name="top-rail-2">
            <a:extLst xmlns:a="http://schemas.openxmlformats.org/drawingml/2006/main">
              <a:ext uri="{FF2B5EF4-FFF2-40B4-BE49-F238E27FC236}">
                <a16:creationId xmlns:a16="http://schemas.microsoft.com/office/drawing/2014/main" id="{2977C165-4EC5-4E10-875E-52FA0A2F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48" name="top-rail-3">
            <a:extLst xmlns:a="http://schemas.openxmlformats.org/drawingml/2006/main">
              <a:ext uri="{FF2B5EF4-FFF2-40B4-BE49-F238E27FC236}">
                <a16:creationId xmlns:a16="http://schemas.microsoft.com/office/drawing/2014/main" id="{AA5F4D75-27C7-49C9-872E-981D8221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49" name="eyebrow">
            <a:extLst xmlns:a="http://schemas.openxmlformats.org/drawingml/2006/main">
              <a:ext uri="{FF2B5EF4-FFF2-40B4-BE49-F238E27FC236}">
                <a16:creationId xmlns:a16="http://schemas.microsoft.com/office/drawing/2014/main" id="{4EF5DECA-248E-4E6F-88C2-263148DC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5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FC16D03-F77E-4715-978C-68DF950E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68C7CC-6092-4364-86F3-AD511EC8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¿A quién representa este porcentaje?</a:t>
            </a:r>
          </a:p>
        </p:txBody>
      </p:sp>
      <p:sp>
        <p:nvSpPr>
          <p:cNvPr id="2" name="U08-036-question-box">
            <a:extLst xmlns:a="http://schemas.openxmlformats.org/drawingml/2006/main">
              <a:ext uri="{FF2B5EF4-FFF2-40B4-BE49-F238E27FC236}">
                <a16:creationId xmlns:a16="http://schemas.microsoft.com/office/drawing/2014/main" id="{17A96829-A58E-4D61-9712-B3B9F4ED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6572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8-036-question-title">
            <a:extLst xmlns:a="http://schemas.openxmlformats.org/drawingml/2006/main">
              <a:ext uri="{FF2B5EF4-FFF2-40B4-BE49-F238E27FC236}">
                <a16:creationId xmlns:a16="http://schemas.microsoft.com/office/drawing/2014/main" id="{EB1F3172-3945-4EC7-91BD-D67AFFEA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04975"/>
            <a:ext cx="622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U08-036-question-body">
            <a:extLst xmlns:a="http://schemas.openxmlformats.org/drawingml/2006/main">
              <a:ext uri="{FF2B5EF4-FFF2-40B4-BE49-F238E27FC236}">
                <a16:creationId xmlns:a16="http://schemas.microsoft.com/office/drawing/2014/main" id="{FAB61ACF-08DE-46F1-9B29-77796271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05025"/>
            <a:ext cx="62293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¿Cuál es el evento, la población, el período, la exposición y el comparador? Justifique con la magnitud, la unidad y el límite de la conclusión.</a:t>
            </a:r>
          </a:p>
        </p:txBody>
      </p:sp>
      <p:sp>
        <p:nvSpPr>
          <p:cNvPr id="5" name="U08-036-guide-1-box">
            <a:extLst xmlns:a="http://schemas.openxmlformats.org/drawingml/2006/main">
              <a:ext uri="{FF2B5EF4-FFF2-40B4-BE49-F238E27FC236}">
                <a16:creationId xmlns:a16="http://schemas.microsoft.com/office/drawing/2014/main" id="{CA7E5D7E-D6BC-40BD-AD27-96D17074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716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U08-036-guide-1-title">
            <a:extLst xmlns:a="http://schemas.openxmlformats.org/drawingml/2006/main">
              <a:ext uri="{FF2B5EF4-FFF2-40B4-BE49-F238E27FC236}">
                <a16:creationId xmlns:a16="http://schemas.microsoft.com/office/drawing/2014/main" id="{232EB3E1-D556-4BBC-B7C4-4E4C9A11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049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U08-036-guide-1-body">
            <a:extLst xmlns:a="http://schemas.openxmlformats.org/drawingml/2006/main">
              <a:ext uri="{FF2B5EF4-FFF2-40B4-BE49-F238E27FC236}">
                <a16:creationId xmlns:a16="http://schemas.microsoft.com/office/drawing/2014/main" id="{161FEC81-6135-48E9-851D-431008D9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050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Defina población y caso</a:t>
            </a:r>
          </a:p>
        </p:txBody>
      </p:sp>
      <p:sp>
        <p:nvSpPr>
          <p:cNvPr id="8" name="U08-036-guide-2-box">
            <a:extLst xmlns:a="http://schemas.openxmlformats.org/drawingml/2006/main">
              <a:ext uri="{FF2B5EF4-FFF2-40B4-BE49-F238E27FC236}">
                <a16:creationId xmlns:a16="http://schemas.microsoft.com/office/drawing/2014/main" id="{9DFC741F-1321-42AB-BF25-71E8AB01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908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U08-036-guide-2-title">
            <a:extLst xmlns:a="http://schemas.openxmlformats.org/drawingml/2006/main">
              <a:ext uri="{FF2B5EF4-FFF2-40B4-BE49-F238E27FC236}">
                <a16:creationId xmlns:a16="http://schemas.microsoft.com/office/drawing/2014/main" id="{3A99D20B-D45D-45A8-9E92-3E5F24D3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241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U08-036-guide-2-body">
            <a:extLst xmlns:a="http://schemas.openxmlformats.org/drawingml/2006/main">
              <a:ext uri="{FF2B5EF4-FFF2-40B4-BE49-F238E27FC236}">
                <a16:creationId xmlns:a16="http://schemas.microsoft.com/office/drawing/2014/main" id="{72D844B7-E481-43B3-82E4-D38C644C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242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Identifique exposición y período</a:t>
            </a:r>
          </a:p>
        </p:txBody>
      </p:sp>
      <p:sp>
        <p:nvSpPr>
          <p:cNvPr id="11" name="U08-036-guide-3-box">
            <a:extLst xmlns:a="http://schemas.openxmlformats.org/drawingml/2006/main">
              <a:ext uri="{FF2B5EF4-FFF2-40B4-BE49-F238E27FC236}">
                <a16:creationId xmlns:a16="http://schemas.microsoft.com/office/drawing/2014/main" id="{C1658442-2180-4399-A41E-B389D05A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100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2" name="U08-036-guide-3-title">
            <a:extLst xmlns:a="http://schemas.openxmlformats.org/drawingml/2006/main">
              <a:ext uri="{FF2B5EF4-FFF2-40B4-BE49-F238E27FC236}">
                <a16:creationId xmlns:a16="http://schemas.microsoft.com/office/drawing/2014/main" id="{A2FF6377-7303-4739-AFD9-7E3974B8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433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U08-036-guide-3-body">
            <a:extLst xmlns:a="http://schemas.openxmlformats.org/drawingml/2006/main">
              <a:ext uri="{FF2B5EF4-FFF2-40B4-BE49-F238E27FC236}">
                <a16:creationId xmlns:a16="http://schemas.microsoft.com/office/drawing/2014/main" id="{5B975C67-DE7F-405B-888D-1AD42C97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434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individualice el porcentaje</a:t>
            </a:r>
          </a:p>
        </p:txBody>
      </p:sp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2E82A62D-20BA-4203-AB0E-6C7352FC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 xmlns:a="http://schemas.openxmlformats.org/drawingml/2006/main">
              <a:ext uri="{FF2B5EF4-FFF2-40B4-BE49-F238E27FC236}">
                <a16:creationId xmlns:a16="http://schemas.microsoft.com/office/drawing/2014/main" id="{E085AA61-A5F5-4212-B273-573B8299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 xmlns:a="http://schemas.openxmlformats.org/drawingml/2006/main">
              <a:ext uri="{FF2B5EF4-FFF2-40B4-BE49-F238E27FC236}">
                <a16:creationId xmlns:a16="http://schemas.microsoft.com/office/drawing/2014/main" id="{2332F667-DAF9-4636-B1FE-64BBE200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590B8611-0139-4911-B215-9B10AA0B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00607B-9B2D-42C8-A00E-79CD69CE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61841FC0-D7A5-433E-971B-4E4BB2D5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2EF9294F-0886-4742-BEAC-653DB7D4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¿Cómo se compara una prueba sin memorizar una lista?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9FA90117-1465-47D3-B0BC-B8CF5698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 del bloque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CA296C5-B647-4A7E-A253-553659E3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21061E-24CA-44E5-80B3-60C01893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prueba transforma una pregunta en un dato interpretable</a:t>
            </a:r>
          </a:p>
        </p:txBody>
      </p:sp>
      <p:sp>
        <p:nvSpPr>
          <p:cNvPr id="2" name="u08-038-process-anchor-1">
            <a:extLst xmlns:a="http://schemas.openxmlformats.org/drawingml/2006/main">
              <a:ext uri="{FF2B5EF4-FFF2-40B4-BE49-F238E27FC236}">
                <a16:creationId xmlns:a16="http://schemas.microsoft.com/office/drawing/2014/main" id="{6346AF37-FB70-4B2D-93CE-6A504FB0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2122170" cy="2143125"/>
          </a:xfrm>
          <a:prstGeom xmlns:a="http://schemas.openxmlformats.org/drawingml/2006/main" prst="roundRect">
            <a:avLst>
              <a:gd name="adj" fmla="val 53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u08-038-process-anchor-2">
            <a:extLst xmlns:a="http://schemas.openxmlformats.org/drawingml/2006/main">
              <a:ext uri="{FF2B5EF4-FFF2-40B4-BE49-F238E27FC236}">
                <a16:creationId xmlns:a16="http://schemas.microsoft.com/office/drawing/2014/main" id="{60F38E04-6AB0-4B2E-811A-9A3EC9AB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395" y="2047875"/>
            <a:ext cx="2122170" cy="2143125"/>
          </a:xfrm>
          <a:prstGeom xmlns:a="http://schemas.openxmlformats.org/drawingml/2006/main" prst="roundRect">
            <a:avLst>
              <a:gd name="adj" fmla="val 53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u08-038-process-anchor-3">
            <a:extLst xmlns:a="http://schemas.openxmlformats.org/drawingml/2006/main">
              <a:ext uri="{FF2B5EF4-FFF2-40B4-BE49-F238E27FC236}">
                <a16:creationId xmlns:a16="http://schemas.microsoft.com/office/drawing/2014/main" id="{6EB07692-2FDC-4B1F-9F86-10EE03E7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2047875"/>
            <a:ext cx="2122170" cy="2143125"/>
          </a:xfrm>
          <a:prstGeom xmlns:a="http://schemas.openxmlformats.org/drawingml/2006/main" prst="roundRect">
            <a:avLst>
              <a:gd name="adj" fmla="val 53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u08-038-process-anchor-4">
            <a:extLst xmlns:a="http://schemas.openxmlformats.org/drawingml/2006/main">
              <a:ext uri="{FF2B5EF4-FFF2-40B4-BE49-F238E27FC236}">
                <a16:creationId xmlns:a16="http://schemas.microsoft.com/office/drawing/2014/main" id="{B8485726-22D8-4DE7-A7B2-AD861823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435" y="2047875"/>
            <a:ext cx="2122170" cy="2143125"/>
          </a:xfrm>
          <a:prstGeom xmlns:a="http://schemas.openxmlformats.org/drawingml/2006/main" prst="roundRect">
            <a:avLst>
              <a:gd name="adj" fmla="val 53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u08-038-process-anchor-5">
            <a:extLst xmlns:a="http://schemas.openxmlformats.org/drawingml/2006/main">
              <a:ext uri="{FF2B5EF4-FFF2-40B4-BE49-F238E27FC236}">
                <a16:creationId xmlns:a16="http://schemas.microsoft.com/office/drawing/2014/main" id="{F80B8D2E-1D47-484E-B5FC-9112B688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955" y="2047875"/>
            <a:ext cx="2122170" cy="2143125"/>
          </a:xfrm>
          <a:prstGeom xmlns:a="http://schemas.openxmlformats.org/drawingml/2006/main" prst="roundRect">
            <a:avLst>
              <a:gd name="adj" fmla="val 53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8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646045" y="3119438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901565" y="3119438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157085" y="3119438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412605" y="3119438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1" name="u08-038-process-1-box">
            <a:extLst xmlns:a="http://schemas.openxmlformats.org/drawingml/2006/main">
              <a:ext uri="{FF2B5EF4-FFF2-40B4-BE49-F238E27FC236}">
                <a16:creationId xmlns:a16="http://schemas.microsoft.com/office/drawing/2014/main" id="{7312740A-437D-41A4-A0F3-9C27BBC9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2122170" cy="2143125"/>
          </a:xfrm>
          <a:prstGeom xmlns:a="http://schemas.openxmlformats.org/drawingml/2006/main" prst="roundRect">
            <a:avLst>
              <a:gd name="adj" fmla="val 538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2" name="u08-038-process-1-title">
            <a:extLst xmlns:a="http://schemas.openxmlformats.org/drawingml/2006/main">
              <a:ext uri="{FF2B5EF4-FFF2-40B4-BE49-F238E27FC236}">
                <a16:creationId xmlns:a16="http://schemas.microsoft.com/office/drawing/2014/main" id="{7835EE73-9647-4663-8E31-77E8E31B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81225"/>
            <a:ext cx="17792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Presentación</a:t>
            </a:r>
          </a:p>
        </p:txBody>
      </p:sp>
      <p:sp>
        <p:nvSpPr>
          <p:cNvPr id="13" name="u08-038-process-1-body">
            <a:extLst xmlns:a="http://schemas.openxmlformats.org/drawingml/2006/main">
              <a:ext uri="{FF2B5EF4-FFF2-40B4-BE49-F238E27FC236}">
                <a16:creationId xmlns:a16="http://schemas.microsoft.com/office/drawing/2014/main" id="{34AC7863-63A5-4D3E-A161-0EB74237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81275"/>
            <a:ext cx="177927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Estímulo controlado</a:t>
            </a:r>
          </a:p>
        </p:txBody>
      </p:sp>
      <p:sp>
        <p:nvSpPr>
          <p:cNvPr id="14" name="u08-038-process-2-box">
            <a:extLst xmlns:a="http://schemas.openxmlformats.org/drawingml/2006/main">
              <a:ext uri="{FF2B5EF4-FFF2-40B4-BE49-F238E27FC236}">
                <a16:creationId xmlns:a16="http://schemas.microsoft.com/office/drawing/2014/main" id="{DDEEF188-1740-4ECE-B0A8-7627E0BA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395" y="2047875"/>
            <a:ext cx="2122170" cy="2143125"/>
          </a:xfrm>
          <a:prstGeom xmlns:a="http://schemas.openxmlformats.org/drawingml/2006/main" prst="roundRect">
            <a:avLst>
              <a:gd name="adj" fmla="val 538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5" name="u08-038-process-2-title">
            <a:extLst xmlns:a="http://schemas.openxmlformats.org/drawingml/2006/main">
              <a:ext uri="{FF2B5EF4-FFF2-40B4-BE49-F238E27FC236}">
                <a16:creationId xmlns:a16="http://schemas.microsoft.com/office/drawing/2014/main" id="{3FDC1AEF-138A-4E60-B1A4-0248F2B3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845" y="2181225"/>
            <a:ext cx="17792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Interacción</a:t>
            </a:r>
          </a:p>
        </p:txBody>
      </p:sp>
      <p:sp>
        <p:nvSpPr>
          <p:cNvPr id="16" name="u08-038-process-2-body">
            <a:extLst xmlns:a="http://schemas.openxmlformats.org/drawingml/2006/main">
              <a:ext uri="{FF2B5EF4-FFF2-40B4-BE49-F238E27FC236}">
                <a16:creationId xmlns:a16="http://schemas.microsoft.com/office/drawing/2014/main" id="{B6751D3B-B7E7-4AA0-8273-BBB22E12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845" y="2581275"/>
            <a:ext cx="177927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Sistema auditivo</a:t>
            </a:r>
          </a:p>
        </p:txBody>
      </p:sp>
      <p:sp>
        <p:nvSpPr>
          <p:cNvPr id="17" name="u08-038-process-3-box">
            <a:extLst xmlns:a="http://schemas.openxmlformats.org/drawingml/2006/main">
              <a:ext uri="{FF2B5EF4-FFF2-40B4-BE49-F238E27FC236}">
                <a16:creationId xmlns:a16="http://schemas.microsoft.com/office/drawing/2014/main" id="{71B4DCA1-E5A7-4626-93B2-5DC2C0AD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2047875"/>
            <a:ext cx="2122170" cy="2143125"/>
          </a:xfrm>
          <a:prstGeom xmlns:a="http://schemas.openxmlformats.org/drawingml/2006/main" prst="roundRect">
            <a:avLst>
              <a:gd name="adj" fmla="val 538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8" name="u08-038-process-3-title">
            <a:extLst xmlns:a="http://schemas.openxmlformats.org/drawingml/2006/main">
              <a:ext uri="{FF2B5EF4-FFF2-40B4-BE49-F238E27FC236}">
                <a16:creationId xmlns:a16="http://schemas.microsoft.com/office/drawing/2014/main" id="{A44D4581-7ECD-4577-86BA-8F1B7FF0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365" y="2181225"/>
            <a:ext cx="17792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Registro</a:t>
            </a:r>
          </a:p>
        </p:txBody>
      </p:sp>
      <p:sp>
        <p:nvSpPr>
          <p:cNvPr id="19" name="u08-038-process-3-body">
            <a:extLst xmlns:a="http://schemas.openxmlformats.org/drawingml/2006/main">
              <a:ext uri="{FF2B5EF4-FFF2-40B4-BE49-F238E27FC236}">
                <a16:creationId xmlns:a16="http://schemas.microsoft.com/office/drawing/2014/main" id="{541D7110-5ED4-475C-91E0-7D559990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365" y="2581275"/>
            <a:ext cx="177927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Sensor o tarea</a:t>
            </a:r>
          </a:p>
        </p:txBody>
      </p:sp>
      <p:sp>
        <p:nvSpPr>
          <p:cNvPr id="20" name="u08-038-process-4-box">
            <a:extLst xmlns:a="http://schemas.openxmlformats.org/drawingml/2006/main">
              <a:ext uri="{FF2B5EF4-FFF2-40B4-BE49-F238E27FC236}">
                <a16:creationId xmlns:a16="http://schemas.microsoft.com/office/drawing/2014/main" id="{76F85BCE-C5CC-4DFD-988F-F1AC7786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435" y="2047875"/>
            <a:ext cx="2122170" cy="2143125"/>
          </a:xfrm>
          <a:prstGeom xmlns:a="http://schemas.openxmlformats.org/drawingml/2006/main" prst="roundRect">
            <a:avLst>
              <a:gd name="adj" fmla="val 538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21" name="u08-038-process-4-title">
            <a:extLst xmlns:a="http://schemas.openxmlformats.org/drawingml/2006/main">
              <a:ext uri="{FF2B5EF4-FFF2-40B4-BE49-F238E27FC236}">
                <a16:creationId xmlns:a16="http://schemas.microsoft.com/office/drawing/2014/main" id="{6295ACA5-E92B-4CFD-9DBB-305072F2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885" y="2181225"/>
            <a:ext cx="17792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Representación</a:t>
            </a:r>
          </a:p>
        </p:txBody>
      </p:sp>
      <p:sp>
        <p:nvSpPr>
          <p:cNvPr id="22" name="u08-038-process-4-body">
            <a:extLst xmlns:a="http://schemas.openxmlformats.org/drawingml/2006/main">
              <a:ext uri="{FF2B5EF4-FFF2-40B4-BE49-F238E27FC236}">
                <a16:creationId xmlns:a16="http://schemas.microsoft.com/office/drawing/2014/main" id="{49EB51BD-D9BD-4DF2-8923-51D3FB3C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885" y="2581275"/>
            <a:ext cx="177927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Magnitud y unidad</a:t>
            </a:r>
          </a:p>
        </p:txBody>
      </p:sp>
      <p:sp>
        <p:nvSpPr>
          <p:cNvPr id="23" name="u08-038-process-5-box">
            <a:extLst xmlns:a="http://schemas.openxmlformats.org/drawingml/2006/main">
              <a:ext uri="{FF2B5EF4-FFF2-40B4-BE49-F238E27FC236}">
                <a16:creationId xmlns:a16="http://schemas.microsoft.com/office/drawing/2014/main" id="{C4AFE1F8-6AB5-4EA0-894C-983141AB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955" y="2047875"/>
            <a:ext cx="2122170" cy="2143125"/>
          </a:xfrm>
          <a:prstGeom xmlns:a="http://schemas.openxmlformats.org/drawingml/2006/main" prst="roundRect">
            <a:avLst>
              <a:gd name="adj" fmla="val 538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24" name="u08-038-process-5-title">
            <a:extLst xmlns:a="http://schemas.openxmlformats.org/drawingml/2006/main">
              <a:ext uri="{FF2B5EF4-FFF2-40B4-BE49-F238E27FC236}">
                <a16:creationId xmlns:a16="http://schemas.microsoft.com/office/drawing/2014/main" id="{1B315EF7-2D5C-40FF-A5CB-1145C459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05" y="2181225"/>
            <a:ext cx="17792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Interpretación</a:t>
            </a:r>
          </a:p>
        </p:txBody>
      </p:sp>
      <p:sp>
        <p:nvSpPr>
          <p:cNvPr id="25" name="u08-038-process-5-body">
            <a:extLst xmlns:a="http://schemas.openxmlformats.org/drawingml/2006/main">
              <a:ext uri="{FF2B5EF4-FFF2-40B4-BE49-F238E27FC236}">
                <a16:creationId xmlns:a16="http://schemas.microsoft.com/office/drawing/2014/main" id="{26021488-7AA0-43D5-A9FD-B7E510EB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05" y="2581275"/>
            <a:ext cx="177927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Condiciones y protocolo</a:t>
            </a:r>
          </a:p>
        </p:txBody>
      </p:sp>
      <p:sp>
        <p:nvSpPr>
          <p:cNvPr id="26" name="u08-038-limit">
            <a:extLst xmlns:a="http://schemas.openxmlformats.org/drawingml/2006/main">
              <a:ext uri="{FF2B5EF4-FFF2-40B4-BE49-F238E27FC236}">
                <a16:creationId xmlns:a16="http://schemas.microsoft.com/office/drawing/2014/main" id="{55DE615B-2AB4-4D88-B8F6-FA4E8233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Cada etapa condiciona qué pregunta puede responder el dato final.</a:t>
            </a:r>
          </a:p>
        </p:txBody>
      </p:sp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1196EEA8-5730-4F3C-A4F3-1D78D3A5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8" name="top-rail-2">
            <a:extLst xmlns:a="http://schemas.openxmlformats.org/drawingml/2006/main">
              <a:ext uri="{FF2B5EF4-FFF2-40B4-BE49-F238E27FC236}">
                <a16:creationId xmlns:a16="http://schemas.microsoft.com/office/drawing/2014/main" id="{74986FDB-8F10-447E-B6B9-23DFFF77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9" name="top-rail-3">
            <a:extLst xmlns:a="http://schemas.openxmlformats.org/drawingml/2006/main">
              <a:ext uri="{FF2B5EF4-FFF2-40B4-BE49-F238E27FC236}">
                <a16:creationId xmlns:a16="http://schemas.microsoft.com/office/drawing/2014/main" id="{3CD1C0DA-C603-4B79-AB08-A5F0D092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3A834802-B6CE-4CBC-9AA0-7B7CC136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5B00521-2067-487E-B059-D6ADAC03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348386-EDBF-457C-B12D-7AA5EA24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Seis preguntas permiten comparar cualquier estudio</a:t>
            </a:r>
          </a:p>
        </p:txBody>
      </p:sp>
      <p:sp>
        <p:nvSpPr>
          <p:cNvPr id="2" name="U08-039-map-1-box">
            <a:extLst xmlns:a="http://schemas.openxmlformats.org/drawingml/2006/main">
              <a:ext uri="{FF2B5EF4-FFF2-40B4-BE49-F238E27FC236}">
                <a16:creationId xmlns:a16="http://schemas.microsoft.com/office/drawing/2014/main" id="{1E132F13-F5C8-4C50-84CC-01837274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039-map-1-title">
            <a:extLst xmlns:a="http://schemas.openxmlformats.org/drawingml/2006/main">
              <a:ext uri="{FF2B5EF4-FFF2-40B4-BE49-F238E27FC236}">
                <a16:creationId xmlns:a16="http://schemas.microsoft.com/office/drawing/2014/main" id="{F6076435-795C-479A-8CE1-5766381A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022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" name="U08-039-map-1-body">
            <a:extLst xmlns:a="http://schemas.openxmlformats.org/drawingml/2006/main">
              <a:ext uri="{FF2B5EF4-FFF2-40B4-BE49-F238E27FC236}">
                <a16:creationId xmlns:a16="http://schemas.microsoft.com/office/drawing/2014/main" id="{0DE49473-747B-426B-BF11-CBD3C816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0275"/>
            <a:ext cx="2990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Estímulo</a:t>
            </a:r>
          </a:p>
        </p:txBody>
      </p:sp>
      <p:sp>
        <p:nvSpPr>
          <p:cNvPr id="5" name="U08-039-map-2-box">
            <a:extLst xmlns:a="http://schemas.openxmlformats.org/drawingml/2006/main">
              <a:ext uri="{FF2B5EF4-FFF2-40B4-BE49-F238E27FC236}">
                <a16:creationId xmlns:a16="http://schemas.microsoft.com/office/drawing/2014/main" id="{16F6AF59-FCBD-42F7-8C41-246CA77F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U08-039-map-2-title">
            <a:extLst xmlns:a="http://schemas.openxmlformats.org/drawingml/2006/main">
              <a:ext uri="{FF2B5EF4-FFF2-40B4-BE49-F238E27FC236}">
                <a16:creationId xmlns:a16="http://schemas.microsoft.com/office/drawing/2014/main" id="{2F035319-661E-4DDE-B39D-F373B61B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80022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7" name="U08-039-map-2-body">
            <a:extLst xmlns:a="http://schemas.openxmlformats.org/drawingml/2006/main">
              <a:ext uri="{FF2B5EF4-FFF2-40B4-BE49-F238E27FC236}">
                <a16:creationId xmlns:a16="http://schemas.microsoft.com/office/drawing/2014/main" id="{1B755611-B5C3-453B-AB2B-5F4E3E14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00275"/>
            <a:ext cx="2990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Sistema o función</a:t>
            </a:r>
          </a:p>
        </p:txBody>
      </p:sp>
      <p:sp>
        <p:nvSpPr>
          <p:cNvPr id="8" name="U08-039-map-3-box">
            <a:extLst xmlns:a="http://schemas.openxmlformats.org/drawingml/2006/main">
              <a:ext uri="{FF2B5EF4-FFF2-40B4-BE49-F238E27FC236}">
                <a16:creationId xmlns:a16="http://schemas.microsoft.com/office/drawing/2014/main" id="{C7D12DA9-56FD-4F85-A215-843A4A44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U08-039-map-3-title">
            <a:extLst xmlns:a="http://schemas.openxmlformats.org/drawingml/2006/main">
              <a:ext uri="{FF2B5EF4-FFF2-40B4-BE49-F238E27FC236}">
                <a16:creationId xmlns:a16="http://schemas.microsoft.com/office/drawing/2014/main" id="{D89A6682-3B16-49CE-B2AB-8D42975B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022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0" name="U08-039-map-3-body">
            <a:extLst xmlns:a="http://schemas.openxmlformats.org/drawingml/2006/main">
              <a:ext uri="{FF2B5EF4-FFF2-40B4-BE49-F238E27FC236}">
                <a16:creationId xmlns:a16="http://schemas.microsoft.com/office/drawing/2014/main" id="{846E22E5-1377-4507-AE6A-282AE548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0275"/>
            <a:ext cx="2990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Sensor o tarea</a:t>
            </a:r>
          </a:p>
        </p:txBody>
      </p:sp>
      <p:sp>
        <p:nvSpPr>
          <p:cNvPr id="11" name="U08-039-map-4-box">
            <a:extLst xmlns:a="http://schemas.openxmlformats.org/drawingml/2006/main">
              <a:ext uri="{FF2B5EF4-FFF2-40B4-BE49-F238E27FC236}">
                <a16:creationId xmlns:a16="http://schemas.microsoft.com/office/drawing/2014/main" id="{67C88E53-B703-408D-AEB8-6183361A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2" name="U08-039-map-4-title">
            <a:extLst xmlns:a="http://schemas.openxmlformats.org/drawingml/2006/main">
              <a:ext uri="{FF2B5EF4-FFF2-40B4-BE49-F238E27FC236}">
                <a16:creationId xmlns:a16="http://schemas.microsoft.com/office/drawing/2014/main" id="{B65F64EB-8FD8-493F-ADD4-6BAA6E0A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0047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U08-039-map-4-body">
            <a:extLst xmlns:a="http://schemas.openxmlformats.org/drawingml/2006/main">
              <a:ext uri="{FF2B5EF4-FFF2-40B4-BE49-F238E27FC236}">
                <a16:creationId xmlns:a16="http://schemas.microsoft.com/office/drawing/2014/main" id="{CE936C45-C2B6-42CC-8382-34E06B16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00525"/>
            <a:ext cx="2990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Magnitud y unidad</a:t>
            </a:r>
          </a:p>
        </p:txBody>
      </p:sp>
      <p:sp>
        <p:nvSpPr>
          <p:cNvPr id="14" name="U08-039-map-5-box">
            <a:extLst xmlns:a="http://schemas.openxmlformats.org/drawingml/2006/main">
              <a:ext uri="{FF2B5EF4-FFF2-40B4-BE49-F238E27FC236}">
                <a16:creationId xmlns:a16="http://schemas.microsoft.com/office/drawing/2014/main" id="{F5C29473-F490-450F-9C02-8C02C204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67125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5" name="U08-039-map-5-title">
            <a:extLst xmlns:a="http://schemas.openxmlformats.org/drawingml/2006/main">
              <a:ext uri="{FF2B5EF4-FFF2-40B4-BE49-F238E27FC236}">
                <a16:creationId xmlns:a16="http://schemas.microsoft.com/office/drawing/2014/main" id="{245BF34F-DC67-479B-9041-8B578742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80047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6" name="U08-039-map-5-body">
            <a:extLst xmlns:a="http://schemas.openxmlformats.org/drawingml/2006/main">
              <a:ext uri="{FF2B5EF4-FFF2-40B4-BE49-F238E27FC236}">
                <a16:creationId xmlns:a16="http://schemas.microsoft.com/office/drawing/2014/main" id="{F20C6BBD-E69F-4D54-8AF7-CC8AD23A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200525"/>
            <a:ext cx="2990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</a:t>
            </a:r>
          </a:p>
        </p:txBody>
      </p:sp>
      <p:sp>
        <p:nvSpPr>
          <p:cNvPr id="17" name="U08-039-map-6-box">
            <a:extLst xmlns:a="http://schemas.openxmlformats.org/drawingml/2006/main">
              <a:ext uri="{FF2B5EF4-FFF2-40B4-BE49-F238E27FC236}">
                <a16:creationId xmlns:a16="http://schemas.microsoft.com/office/drawing/2014/main" id="{353E62FD-2E89-46EC-91C6-BD63D48B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8" name="U08-039-map-6-title">
            <a:extLst xmlns:a="http://schemas.openxmlformats.org/drawingml/2006/main">
              <a:ext uri="{FF2B5EF4-FFF2-40B4-BE49-F238E27FC236}">
                <a16:creationId xmlns:a16="http://schemas.microsoft.com/office/drawing/2014/main" id="{52588BF5-AE44-4DC4-B6AC-4A8B588B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0047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19" name="U08-039-map-6-body">
            <a:extLst xmlns:a="http://schemas.openxmlformats.org/drawingml/2006/main">
              <a:ext uri="{FF2B5EF4-FFF2-40B4-BE49-F238E27FC236}">
                <a16:creationId xmlns:a16="http://schemas.microsoft.com/office/drawing/2014/main" id="{472BFE30-8735-4346-A936-A068C8D3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00525"/>
            <a:ext cx="2990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20" name="top-rail-1">
            <a:extLst xmlns:a="http://schemas.openxmlformats.org/drawingml/2006/main">
              <a:ext uri="{FF2B5EF4-FFF2-40B4-BE49-F238E27FC236}">
                <a16:creationId xmlns:a16="http://schemas.microsoft.com/office/drawing/2014/main" id="{583475D1-44F4-4A4D-BEF2-75FA4A00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1" name="top-rail-2">
            <a:extLst xmlns:a="http://schemas.openxmlformats.org/drawingml/2006/main">
              <a:ext uri="{FF2B5EF4-FFF2-40B4-BE49-F238E27FC236}">
                <a16:creationId xmlns:a16="http://schemas.microsoft.com/office/drawing/2014/main" id="{0C595F66-9DF2-46A1-B121-8BDA1146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2" name="top-rail-3">
            <a:extLst xmlns:a="http://schemas.openxmlformats.org/drawingml/2006/main">
              <a:ext uri="{FF2B5EF4-FFF2-40B4-BE49-F238E27FC236}">
                <a16:creationId xmlns:a16="http://schemas.microsoft.com/office/drawing/2014/main" id="{73D03D22-0C47-4A9D-886E-7ED9493E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9811456B-2ACA-4BEB-B961-2F4034BF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2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90E846E-7853-42D9-9417-DC6004A4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1D51BF-3902-49FB-9607-6ED4141D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Conductual y fisiológica describen respuestas diferentes</a:t>
            </a:r>
          </a:p>
        </p:txBody>
      </p:sp>
      <p:sp>
        <p:nvSpPr>
          <p:cNvPr id="2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22CDF0D1-ED46-4C04-9C97-91877056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80A2CE8C-7661-46BD-A62F-4604E6B2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Prueba conductual</a:t>
            </a:r>
          </a:p>
        </p:txBody>
      </p:sp>
      <p:sp>
        <p:nvSpPr>
          <p:cNvPr id="4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5B623DEA-79F1-4368-B4AA-4EA56F06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Conductual: requiere una tarea y una respuesta de la persona. Fisiológica: usa un sensor para registrar una respuesta del sistema.</a:t>
            </a:r>
          </a:p>
        </p:txBody>
      </p:sp>
      <p:sp>
        <p:nvSpPr>
          <p:cNvPr id="5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4AE59211-12AF-453A-B309-023BC87C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3501800E-E333-4AF8-B157-31E80A03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Prueba fisiológica</a:t>
            </a:r>
          </a:p>
        </p:txBody>
      </p:sp>
      <p:sp>
        <p:nvSpPr>
          <p:cNvPr id="7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6C7B64CE-0D6F-4935-9B73-5EC1B00D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Ambas dependen de estímulo, condiciones, protocolo y criterio ninguna es infalible.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056D2B16-EB65-40B8-BF23-02EC9D8F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F8D4659A-E6EC-4028-B2E8-21E2810F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AF4178C8-8D4E-4E2D-9EAA-B9556A73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473267E4-CAE4-4D8E-ABF1-53EF2183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B9665A6-40E6-4005-94D8-3E1ECEF5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FC6B0F-0BAF-4E37-B8DE-EA3487C5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Cada estudio ilumina una parte o función, no un oído aislado</a:t>
            </a:r>
          </a:p>
        </p:txBody>
      </p:sp>
      <p:sp>
        <p:nvSpPr>
          <p:cNvPr id="2" name="u08-041-0-box">
            <a:extLst xmlns:a="http://schemas.openxmlformats.org/drawingml/2006/main">
              <a:ext uri="{FF2B5EF4-FFF2-40B4-BE49-F238E27FC236}">
                <a16:creationId xmlns:a16="http://schemas.microsoft.com/office/drawing/2014/main" id="{7065489C-27A8-479C-AB1B-28EFDD4B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51435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041-0-title">
            <a:extLst xmlns:a="http://schemas.openxmlformats.org/drawingml/2006/main">
              <a:ext uri="{FF2B5EF4-FFF2-40B4-BE49-F238E27FC236}">
                <a16:creationId xmlns:a16="http://schemas.microsoft.com/office/drawing/2014/main" id="{825E4AFB-2FF3-49B6-B5BF-B1282681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04975"/>
            <a:ext cx="480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Oído externo y medio</a:t>
            </a:r>
          </a:p>
        </p:txBody>
      </p:sp>
      <p:sp>
        <p:nvSpPr>
          <p:cNvPr id="4" name="u08-041-0-body">
            <a:extLst xmlns:a="http://schemas.openxmlformats.org/drawingml/2006/main">
              <a:ext uri="{FF2B5EF4-FFF2-40B4-BE49-F238E27FC236}">
                <a16:creationId xmlns:a16="http://schemas.microsoft.com/office/drawing/2014/main" id="{60FCBF43-9F59-422C-B119-93698F3C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105025"/>
            <a:ext cx="48006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Audiometría aérea · timpanometría · OEA</a:t>
            </a:r>
          </a:p>
        </p:txBody>
      </p:sp>
      <p:sp>
        <p:nvSpPr>
          <p:cNvPr id="5" name="u08-041-1-box">
            <a:extLst xmlns:a="http://schemas.openxmlformats.org/drawingml/2006/main">
              <a:ext uri="{FF2B5EF4-FFF2-40B4-BE49-F238E27FC236}">
                <a16:creationId xmlns:a16="http://schemas.microsoft.com/office/drawing/2014/main" id="{1EE20D08-6C08-4272-BFB9-8751F1CE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51435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u08-041-1-title">
            <a:extLst xmlns:a="http://schemas.openxmlformats.org/drawingml/2006/main">
              <a:ext uri="{FF2B5EF4-FFF2-40B4-BE49-F238E27FC236}">
                <a16:creationId xmlns:a16="http://schemas.microsoft.com/office/drawing/2014/main" id="{DED2EEE7-2EF1-4271-8DCB-4278C877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704975"/>
            <a:ext cx="480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7" name="u08-041-1-body">
            <a:extLst xmlns:a="http://schemas.openxmlformats.org/drawingml/2006/main">
              <a:ext uri="{FF2B5EF4-FFF2-40B4-BE49-F238E27FC236}">
                <a16:creationId xmlns:a16="http://schemas.microsoft.com/office/drawing/2014/main" id="{5F462366-31F2-405F-8245-8CDCBEE1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05025"/>
            <a:ext cx="48006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Audiometría tonal · OEA · ECoG</a:t>
            </a:r>
          </a:p>
        </p:txBody>
      </p:sp>
      <p:sp>
        <p:nvSpPr>
          <p:cNvPr id="8" name="u08-041-2-box">
            <a:extLst xmlns:a="http://schemas.openxmlformats.org/drawingml/2006/main">
              <a:ext uri="{FF2B5EF4-FFF2-40B4-BE49-F238E27FC236}">
                <a16:creationId xmlns:a16="http://schemas.microsoft.com/office/drawing/2014/main" id="{CABE5E8B-5C19-4A4A-8936-233AB230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51435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u08-041-2-title">
            <a:extLst xmlns:a="http://schemas.openxmlformats.org/drawingml/2006/main">
              <a:ext uri="{FF2B5EF4-FFF2-40B4-BE49-F238E27FC236}">
                <a16:creationId xmlns:a16="http://schemas.microsoft.com/office/drawing/2014/main" id="{031715AC-BA8A-4BD6-BCB7-F0807378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752850"/>
            <a:ext cx="480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Nervio y tronco</a:t>
            </a:r>
          </a:p>
        </p:txBody>
      </p:sp>
      <p:sp>
        <p:nvSpPr>
          <p:cNvPr id="10" name="u08-041-2-body">
            <a:extLst xmlns:a="http://schemas.openxmlformats.org/drawingml/2006/main">
              <a:ext uri="{FF2B5EF4-FFF2-40B4-BE49-F238E27FC236}">
                <a16:creationId xmlns:a16="http://schemas.microsoft.com/office/drawing/2014/main" id="{F2E1AF2A-9064-4D7F-9EB8-49B32B45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152900"/>
            <a:ext cx="48006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PEAT · ECoG</a:t>
            </a:r>
          </a:p>
        </p:txBody>
      </p:sp>
      <p:sp>
        <p:nvSpPr>
          <p:cNvPr id="11" name="u08-041-3-box">
            <a:extLst xmlns:a="http://schemas.openxmlformats.org/drawingml/2006/main">
              <a:ext uri="{FF2B5EF4-FFF2-40B4-BE49-F238E27FC236}">
                <a16:creationId xmlns:a16="http://schemas.microsoft.com/office/drawing/2014/main" id="{830F572D-DF5B-4F9A-8921-18DFE1FF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0"/>
            <a:ext cx="51435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2" name="u08-041-3-title">
            <a:extLst xmlns:a="http://schemas.openxmlformats.org/drawingml/2006/main">
              <a:ext uri="{FF2B5EF4-FFF2-40B4-BE49-F238E27FC236}">
                <a16:creationId xmlns:a16="http://schemas.microsoft.com/office/drawing/2014/main" id="{E2D6E935-1A67-42E7-97FA-A6138304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752850"/>
            <a:ext cx="480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integrada</a:t>
            </a:r>
          </a:p>
        </p:txBody>
      </p:sp>
      <p:sp>
        <p:nvSpPr>
          <p:cNvPr id="13" name="u08-041-3-body">
            <a:extLst xmlns:a="http://schemas.openxmlformats.org/drawingml/2006/main">
              <a:ext uri="{FF2B5EF4-FFF2-40B4-BE49-F238E27FC236}">
                <a16:creationId xmlns:a16="http://schemas.microsoft.com/office/drawing/2014/main" id="{4CD5E2E5-7936-4D75-B818-51F05083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52900"/>
            <a:ext cx="48006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Audiometría · logoaudiometría · acufenometría</a:t>
            </a:r>
          </a:p>
        </p:txBody>
      </p:sp>
      <p:sp>
        <p:nvSpPr>
          <p:cNvPr id="14" name="u08-041-limit">
            <a:extLst xmlns:a="http://schemas.openxmlformats.org/drawingml/2006/main">
              <a:ext uri="{FF2B5EF4-FFF2-40B4-BE49-F238E27FC236}">
                <a16:creationId xmlns:a16="http://schemas.microsoft.com/office/drawing/2014/main" id="{489C6665-F3C8-4632-8D19-B7212486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8162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Una prueba puede depender de más de una parte del sistema; ninguna fila equivale a diagnóstico.</a:t>
            </a:r>
          </a:p>
        </p:txBody>
      </p:sp>
      <p:sp>
        <p:nvSpPr>
          <p:cNvPr id="15" name="top-rail-1">
            <a:extLst xmlns:a="http://schemas.openxmlformats.org/drawingml/2006/main">
              <a:ext uri="{FF2B5EF4-FFF2-40B4-BE49-F238E27FC236}">
                <a16:creationId xmlns:a16="http://schemas.microsoft.com/office/drawing/2014/main" id="{0AF172CC-1ECE-44CC-8EAE-9F21A55B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6" name="top-rail-2">
            <a:extLst xmlns:a="http://schemas.openxmlformats.org/drawingml/2006/main">
              <a:ext uri="{FF2B5EF4-FFF2-40B4-BE49-F238E27FC236}">
                <a16:creationId xmlns:a16="http://schemas.microsoft.com/office/drawing/2014/main" id="{75EFCBE1-F1CA-445E-BD8C-16E6D6CA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7" name="top-rail-3">
            <a:extLst xmlns:a="http://schemas.openxmlformats.org/drawingml/2006/main">
              <a:ext uri="{FF2B5EF4-FFF2-40B4-BE49-F238E27FC236}">
                <a16:creationId xmlns:a16="http://schemas.microsoft.com/office/drawing/2014/main" id="{5C6AB1C2-F782-4B18-8152-E38D7CDF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6344B215-E886-4236-A1A5-535CFD46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59776B3-8F12-4A7D-9B05-E214B46A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F8DA1E-E0FE-4826-A340-76E1DAF8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Calibración, ambiente, colocación y consigna forman parte del resultado</a:t>
            </a:r>
          </a:p>
        </p:txBody>
      </p:sp>
      <p:sp>
        <p:nvSpPr>
          <p:cNvPr id="2" name="U08-042-card-1-box">
            <a:extLst xmlns:a="http://schemas.openxmlformats.org/drawingml/2006/main">
              <a:ext uri="{FF2B5EF4-FFF2-40B4-BE49-F238E27FC236}">
                <a16:creationId xmlns:a16="http://schemas.microsoft.com/office/drawing/2014/main" id="{18E1BE2F-72AB-4B0A-85A5-B0C890CE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047875" cy="2571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042-card-1-title">
            <a:extLst xmlns:a="http://schemas.openxmlformats.org/drawingml/2006/main">
              <a:ext uri="{FF2B5EF4-FFF2-40B4-BE49-F238E27FC236}">
                <a16:creationId xmlns:a16="http://schemas.microsoft.com/office/drawing/2014/main" id="{5EB20DE0-CADC-441D-BB9E-0C0268F2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859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Calibración</a:t>
            </a:r>
          </a:p>
        </p:txBody>
      </p:sp>
      <p:sp>
        <p:nvSpPr>
          <p:cNvPr id="4" name="U08-042-card-1-body">
            <a:extLst xmlns:a="http://schemas.openxmlformats.org/drawingml/2006/main">
              <a:ext uri="{FF2B5EF4-FFF2-40B4-BE49-F238E27FC236}">
                <a16:creationId xmlns:a16="http://schemas.microsoft.com/office/drawing/2014/main" id="{E6893B76-DB39-4405-A3F9-160A6F22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86025"/>
            <a:ext cx="1704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Referencia del equipo</a:t>
            </a:r>
          </a:p>
        </p:txBody>
      </p:sp>
      <p:sp>
        <p:nvSpPr>
          <p:cNvPr id="5" name="U08-042-card-2-box">
            <a:extLst xmlns:a="http://schemas.openxmlformats.org/drawingml/2006/main">
              <a:ext uri="{FF2B5EF4-FFF2-40B4-BE49-F238E27FC236}">
                <a16:creationId xmlns:a16="http://schemas.microsoft.com/office/drawing/2014/main" id="{5B151A21-2AF2-468F-AE6E-0D9D7F07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52625"/>
            <a:ext cx="2047875" cy="2571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U08-042-card-2-title">
            <a:extLst xmlns:a="http://schemas.openxmlformats.org/drawingml/2006/main">
              <a:ext uri="{FF2B5EF4-FFF2-40B4-BE49-F238E27FC236}">
                <a16:creationId xmlns:a16="http://schemas.microsoft.com/office/drawing/2014/main" id="{E67FD229-35E7-4408-811C-D5EF46EE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859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Ambiente</a:t>
            </a:r>
          </a:p>
        </p:txBody>
      </p:sp>
      <p:sp>
        <p:nvSpPr>
          <p:cNvPr id="7" name="U08-042-card-2-body">
            <a:extLst xmlns:a="http://schemas.openxmlformats.org/drawingml/2006/main">
              <a:ext uri="{FF2B5EF4-FFF2-40B4-BE49-F238E27FC236}">
                <a16:creationId xmlns:a16="http://schemas.microsoft.com/office/drawing/2014/main" id="{C67040E8-B264-47BE-863A-E6AD5FB8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86025"/>
            <a:ext cx="1704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Ruido y condiciones</a:t>
            </a:r>
          </a:p>
        </p:txBody>
      </p:sp>
      <p:sp>
        <p:nvSpPr>
          <p:cNvPr id="8" name="U08-042-card-3-box">
            <a:extLst xmlns:a="http://schemas.openxmlformats.org/drawingml/2006/main">
              <a:ext uri="{FF2B5EF4-FFF2-40B4-BE49-F238E27FC236}">
                <a16:creationId xmlns:a16="http://schemas.microsoft.com/office/drawing/2014/main" id="{82F9182D-4870-4EBB-A234-BF15EFB7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52625"/>
            <a:ext cx="2047875" cy="2571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U08-042-card-3-title">
            <a:extLst xmlns:a="http://schemas.openxmlformats.org/drawingml/2006/main">
              <a:ext uri="{FF2B5EF4-FFF2-40B4-BE49-F238E27FC236}">
                <a16:creationId xmlns:a16="http://schemas.microsoft.com/office/drawing/2014/main" id="{7BE6EEBE-E543-4CEA-B055-09126393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0859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Colocación</a:t>
            </a:r>
          </a:p>
        </p:txBody>
      </p:sp>
      <p:sp>
        <p:nvSpPr>
          <p:cNvPr id="10" name="U08-042-card-3-body">
            <a:extLst xmlns:a="http://schemas.openxmlformats.org/drawingml/2006/main">
              <a:ext uri="{FF2B5EF4-FFF2-40B4-BE49-F238E27FC236}">
                <a16:creationId xmlns:a16="http://schemas.microsoft.com/office/drawing/2014/main" id="{90BE732F-3398-4972-905B-70875B12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486025"/>
            <a:ext cx="1704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Transductor o sensor</a:t>
            </a:r>
          </a:p>
        </p:txBody>
      </p:sp>
      <p:sp>
        <p:nvSpPr>
          <p:cNvPr id="11" name="U08-042-card-4-box">
            <a:extLst xmlns:a="http://schemas.openxmlformats.org/drawingml/2006/main">
              <a:ext uri="{FF2B5EF4-FFF2-40B4-BE49-F238E27FC236}">
                <a16:creationId xmlns:a16="http://schemas.microsoft.com/office/drawing/2014/main" id="{27B67EDD-6B07-4213-BE40-6FDE2263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2047875" cy="2571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2" name="U08-042-card-4-title">
            <a:extLst xmlns:a="http://schemas.openxmlformats.org/drawingml/2006/main">
              <a:ext uri="{FF2B5EF4-FFF2-40B4-BE49-F238E27FC236}">
                <a16:creationId xmlns:a16="http://schemas.microsoft.com/office/drawing/2014/main" id="{75675534-CD75-41C1-A1E9-8A1831F7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859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13" name="U08-042-card-4-body">
            <a:extLst xmlns:a="http://schemas.openxmlformats.org/drawingml/2006/main">
              <a:ext uri="{FF2B5EF4-FFF2-40B4-BE49-F238E27FC236}">
                <a16:creationId xmlns:a16="http://schemas.microsoft.com/office/drawing/2014/main" id="{744C641F-56C6-4A08-8E11-EBA29ABC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86025"/>
            <a:ext cx="1704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Comprensión y respuesta</a:t>
            </a:r>
          </a:p>
        </p:txBody>
      </p:sp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44FFE37E-A98C-4236-B91F-E0BC7F3A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 xmlns:a="http://schemas.openxmlformats.org/drawingml/2006/main">
              <a:ext uri="{FF2B5EF4-FFF2-40B4-BE49-F238E27FC236}">
                <a16:creationId xmlns:a16="http://schemas.microsoft.com/office/drawing/2014/main" id="{18AF6ECE-2CF4-4A04-BAA8-AC4EC5EC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 xmlns:a="http://schemas.openxmlformats.org/drawingml/2006/main">
              <a:ext uri="{FF2B5EF4-FFF2-40B4-BE49-F238E27FC236}">
                <a16:creationId xmlns:a16="http://schemas.microsoft.com/office/drawing/2014/main" id="{880AB011-0CDE-4C5E-823A-1374DA6A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5E715FB-3795-4FBD-8919-263AAB30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2DB9B5E-CB5B-4833-A0EE-782D47DE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0C9BCE-0E30-4BA6-A689-F2679209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batería reduce preguntas abiertas, no produce certeza automática</a:t>
            </a:r>
          </a:p>
        </p:txBody>
      </p:sp>
      <p:sp>
        <p:nvSpPr>
          <p:cNvPr id="2" name="u08-043-review-list">
            <a:extLst xmlns:a="http://schemas.openxmlformats.org/drawingml/2006/main">
              <a:ext uri="{FF2B5EF4-FFF2-40B4-BE49-F238E27FC236}">
                <a16:creationId xmlns:a16="http://schemas.microsoft.com/office/drawing/2014/main" id="{2D684E56-215F-4760-BDA4-50FF4CA9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695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0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Verifique qué magnitud registra cada prueba y con qué unidad.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0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Revise estímulo, transductor, calibración y condiciones de medición.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0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Considere repetibilidad, estado del paciente y coherencia con la historia.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0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Explique qué hipótesis apoya cada resultado y cuál deja abierta.</a:t>
            </a:r>
          </a:p>
        </p:txBody>
      </p:sp>
      <p:sp>
        <p:nvSpPr>
          <p:cNvPr id="3" name="u08-043-central-box">
            <a:extLst xmlns:a="http://schemas.openxmlformats.org/drawingml/2006/main">
              <a:ext uri="{FF2B5EF4-FFF2-40B4-BE49-F238E27FC236}">
                <a16:creationId xmlns:a16="http://schemas.microsoft.com/office/drawing/2014/main" id="{F2175904-02C3-4634-9AEF-D67DE502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0"/>
            <a:ext cx="3619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u08-043-central-title">
            <a:extLst xmlns:a="http://schemas.openxmlformats.org/drawingml/2006/main">
              <a:ext uri="{FF2B5EF4-FFF2-40B4-BE49-F238E27FC236}">
                <a16:creationId xmlns:a16="http://schemas.microsoft.com/office/drawing/2014/main" id="{7A67BFA0-C975-4192-8E15-CB86EADA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478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Idea central</a:t>
            </a:r>
          </a:p>
        </p:txBody>
      </p:sp>
      <p:sp>
        <p:nvSpPr>
          <p:cNvPr id="5" name="u08-043-central-body">
            <a:extLst xmlns:a="http://schemas.openxmlformats.org/drawingml/2006/main">
              <a:ext uri="{FF2B5EF4-FFF2-40B4-BE49-F238E27FC236}">
                <a16:creationId xmlns:a16="http://schemas.microsoft.com/office/drawing/2014/main" id="{CDBB8F6A-E7E6-4501-ACD7-B8A9B15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47900"/>
            <a:ext cx="32766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batería integra evidencia convergente. La discrepancia exige revisar condiciones y supuestos; no autoriza a descartar automáticamente una prueba.</a:t>
            </a:r>
          </a:p>
        </p:txBody>
      </p:sp>
      <p:sp>
        <p:nvSpPr>
          <p:cNvPr id="6" name="top-rail-1">
            <a:extLst xmlns:a="http://schemas.openxmlformats.org/drawingml/2006/main">
              <a:ext uri="{FF2B5EF4-FFF2-40B4-BE49-F238E27FC236}">
                <a16:creationId xmlns:a16="http://schemas.microsoft.com/office/drawing/2014/main" id="{21A9590A-043A-4BBF-A3ED-D2986635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7" name="top-rail-2">
            <a:extLst xmlns:a="http://schemas.openxmlformats.org/drawingml/2006/main">
              <a:ext uri="{FF2B5EF4-FFF2-40B4-BE49-F238E27FC236}">
                <a16:creationId xmlns:a16="http://schemas.microsoft.com/office/drawing/2014/main" id="{382B9967-2EAB-44DD-9265-12EE03DE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8" name="top-rail-3">
            <a:extLst xmlns:a="http://schemas.openxmlformats.org/drawingml/2006/main">
              <a:ext uri="{FF2B5EF4-FFF2-40B4-BE49-F238E27FC236}">
                <a16:creationId xmlns:a16="http://schemas.microsoft.com/office/drawing/2014/main" id="{D0A82966-A1AF-4672-A180-24234981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CC63FEE5-0D82-4C93-B122-80970E0B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0A94099-393C-449D-8C99-1E6AEE85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FEE2A6-B00D-49C3-B7B3-515A5A8A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comparar una prueba es reconstruir su cadena</a:t>
            </a:r>
          </a:p>
        </p:txBody>
      </p:sp>
      <p:sp>
        <p:nvSpPr>
          <p:cNvPr id="2" name="U08-044-recap-0-box">
            <a:extLst xmlns:a="http://schemas.openxmlformats.org/drawingml/2006/main">
              <a:ext uri="{FF2B5EF4-FFF2-40B4-BE49-F238E27FC236}">
                <a16:creationId xmlns:a16="http://schemas.microsoft.com/office/drawing/2014/main" id="{8FDEE502-90F5-40FF-9142-0FF76A1B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714500" cy="2381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044-recap-0-title">
            <a:extLst xmlns:a="http://schemas.openxmlformats.org/drawingml/2006/main">
              <a:ext uri="{FF2B5EF4-FFF2-40B4-BE49-F238E27FC236}">
                <a16:creationId xmlns:a16="http://schemas.microsoft.com/office/drawing/2014/main" id="{F5968783-178F-4676-B7F3-6216D15D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U08-044-recap-0-body">
            <a:extLst xmlns:a="http://schemas.openxmlformats.org/drawingml/2006/main">
              <a:ext uri="{FF2B5EF4-FFF2-40B4-BE49-F238E27FC236}">
                <a16:creationId xmlns:a16="http://schemas.microsoft.com/office/drawing/2014/main" id="{2BB0731E-B2BD-4AB8-B38B-28E9B943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3716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Estímulo</a:t>
            </a:r>
          </a:p>
        </p:txBody>
      </p:sp>
      <p:sp>
        <p:nvSpPr>
          <p:cNvPr id="5" name="U08-044-recap-1-box">
            <a:extLst xmlns:a="http://schemas.openxmlformats.org/drawingml/2006/main">
              <a:ext uri="{FF2B5EF4-FFF2-40B4-BE49-F238E27FC236}">
                <a16:creationId xmlns:a16="http://schemas.microsoft.com/office/drawing/2014/main" id="{BEC47FE0-C049-45DA-82E6-4FFB2112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95500"/>
            <a:ext cx="1714500" cy="2381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U08-044-recap-1-title">
            <a:extLst xmlns:a="http://schemas.openxmlformats.org/drawingml/2006/main">
              <a:ext uri="{FF2B5EF4-FFF2-40B4-BE49-F238E27FC236}">
                <a16:creationId xmlns:a16="http://schemas.microsoft.com/office/drawing/2014/main" id="{3A9EE1AA-4A95-4828-8879-C40A8759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288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U08-044-recap-1-body">
            <a:extLst xmlns:a="http://schemas.openxmlformats.org/drawingml/2006/main">
              <a:ext uri="{FF2B5EF4-FFF2-40B4-BE49-F238E27FC236}">
                <a16:creationId xmlns:a16="http://schemas.microsoft.com/office/drawing/2014/main" id="{390DA2E2-4CCA-48C6-94B1-BC19D420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28900"/>
            <a:ext cx="13716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Sistema o función</a:t>
            </a:r>
          </a:p>
        </p:txBody>
      </p:sp>
      <p:sp>
        <p:nvSpPr>
          <p:cNvPr id="8" name="U08-044-recap-2-box">
            <a:extLst xmlns:a="http://schemas.openxmlformats.org/drawingml/2006/main">
              <a:ext uri="{FF2B5EF4-FFF2-40B4-BE49-F238E27FC236}">
                <a16:creationId xmlns:a16="http://schemas.microsoft.com/office/drawing/2014/main" id="{B110F1D5-EEF5-4527-86DA-6365D240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1714500" cy="2381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U08-044-recap-2-title">
            <a:extLst xmlns:a="http://schemas.openxmlformats.org/drawingml/2006/main">
              <a:ext uri="{FF2B5EF4-FFF2-40B4-BE49-F238E27FC236}">
                <a16:creationId xmlns:a16="http://schemas.microsoft.com/office/drawing/2014/main" id="{A441F2C8-38A4-4392-867C-CA8B1AC3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0" name="U08-044-recap-2-body">
            <a:extLst xmlns:a="http://schemas.openxmlformats.org/drawingml/2006/main">
              <a:ext uri="{FF2B5EF4-FFF2-40B4-BE49-F238E27FC236}">
                <a16:creationId xmlns:a16="http://schemas.microsoft.com/office/drawing/2014/main" id="{7E58C5E3-D83D-438D-9393-78D09973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28900"/>
            <a:ext cx="13716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Sensor o tarea</a:t>
            </a:r>
          </a:p>
        </p:txBody>
      </p:sp>
      <p:sp>
        <p:nvSpPr>
          <p:cNvPr id="11" name="U08-044-recap-3-box">
            <a:extLst xmlns:a="http://schemas.openxmlformats.org/drawingml/2006/main">
              <a:ext uri="{FF2B5EF4-FFF2-40B4-BE49-F238E27FC236}">
                <a16:creationId xmlns:a16="http://schemas.microsoft.com/office/drawing/2014/main" id="{410E93A2-7B92-4323-B2D2-C358D0AE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1714500" cy="2381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2" name="U08-044-recap-3-title">
            <a:extLst xmlns:a="http://schemas.openxmlformats.org/drawingml/2006/main">
              <a:ext uri="{FF2B5EF4-FFF2-40B4-BE49-F238E27FC236}">
                <a16:creationId xmlns:a16="http://schemas.microsoft.com/office/drawing/2014/main" id="{4EE4818E-C591-4853-9C40-3FCC9FBA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3" name="U08-044-recap-3-body">
            <a:extLst xmlns:a="http://schemas.openxmlformats.org/drawingml/2006/main">
              <a:ext uri="{FF2B5EF4-FFF2-40B4-BE49-F238E27FC236}">
                <a16:creationId xmlns:a16="http://schemas.microsoft.com/office/drawing/2014/main" id="{7069F64E-A904-413E-B845-DC3D1D17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13716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Magnitud y unidad</a:t>
            </a:r>
          </a:p>
        </p:txBody>
      </p:sp>
      <p:sp>
        <p:nvSpPr>
          <p:cNvPr id="14" name="U08-044-recap-4-box">
            <a:extLst xmlns:a="http://schemas.openxmlformats.org/drawingml/2006/main">
              <a:ext uri="{FF2B5EF4-FFF2-40B4-BE49-F238E27FC236}">
                <a16:creationId xmlns:a16="http://schemas.microsoft.com/office/drawing/2014/main" id="{2A60A9D2-87F7-44B4-A42A-13077109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1714500" cy="2381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5" name="U08-044-recap-4-title">
            <a:extLst xmlns:a="http://schemas.openxmlformats.org/drawingml/2006/main">
              <a:ext uri="{FF2B5EF4-FFF2-40B4-BE49-F238E27FC236}">
                <a16:creationId xmlns:a16="http://schemas.microsoft.com/office/drawing/2014/main" id="{697466B3-DBCC-4AFD-A3BF-15E74BFF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288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6" name="U08-044-recap-4-body">
            <a:extLst xmlns:a="http://schemas.openxmlformats.org/drawingml/2006/main">
              <a:ext uri="{FF2B5EF4-FFF2-40B4-BE49-F238E27FC236}">
                <a16:creationId xmlns:a16="http://schemas.microsoft.com/office/drawing/2014/main" id="{477CE1C4-8545-47AE-9A92-B29C50B3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28900"/>
            <a:ext cx="13716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</a:t>
            </a:r>
          </a:p>
        </p:txBody>
      </p:sp>
      <p:sp>
        <p:nvSpPr>
          <p:cNvPr id="17" name="U08-044-recap-5-box">
            <a:extLst xmlns:a="http://schemas.openxmlformats.org/drawingml/2006/main">
              <a:ext uri="{FF2B5EF4-FFF2-40B4-BE49-F238E27FC236}">
                <a16:creationId xmlns:a16="http://schemas.microsoft.com/office/drawing/2014/main" id="{270A0688-8AF8-4011-BE9C-407FAD5E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95500"/>
            <a:ext cx="1714500" cy="2381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8" name="U08-044-recap-5-title">
            <a:extLst xmlns:a="http://schemas.openxmlformats.org/drawingml/2006/main">
              <a:ext uri="{FF2B5EF4-FFF2-40B4-BE49-F238E27FC236}">
                <a16:creationId xmlns:a16="http://schemas.microsoft.com/office/drawing/2014/main" id="{6ED102D1-C426-4B24-890B-AA62B946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288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19" name="U08-044-recap-5-body">
            <a:extLst xmlns:a="http://schemas.openxmlformats.org/drawingml/2006/main">
              <a:ext uri="{FF2B5EF4-FFF2-40B4-BE49-F238E27FC236}">
                <a16:creationId xmlns:a16="http://schemas.microsoft.com/office/drawing/2014/main" id="{CC98BDD4-2AAF-4E46-A691-F39F3659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28900"/>
            <a:ext cx="13716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20" name="top-rail-1">
            <a:extLst xmlns:a="http://schemas.openxmlformats.org/drawingml/2006/main">
              <a:ext uri="{FF2B5EF4-FFF2-40B4-BE49-F238E27FC236}">
                <a16:creationId xmlns:a16="http://schemas.microsoft.com/office/drawing/2014/main" id="{58C32A91-61AD-4AFF-92A1-2F550CAC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1" name="top-rail-2">
            <a:extLst xmlns:a="http://schemas.openxmlformats.org/drawingml/2006/main">
              <a:ext uri="{FF2B5EF4-FFF2-40B4-BE49-F238E27FC236}">
                <a16:creationId xmlns:a16="http://schemas.microsoft.com/office/drawing/2014/main" id="{A7C49750-1501-4B5B-ACCD-DB0B15E7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2" name="top-rail-3">
            <a:extLst xmlns:a="http://schemas.openxmlformats.org/drawingml/2006/main">
              <a:ext uri="{FF2B5EF4-FFF2-40B4-BE49-F238E27FC236}">
                <a16:creationId xmlns:a16="http://schemas.microsoft.com/office/drawing/2014/main" id="{A09CC6C1-D7FC-47DC-812E-129CB11D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D32155CF-5169-4F2D-9301-1C966952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2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4618536-B0CD-42DE-9975-2669336B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3B984DF3-F4B1-4D2F-B740-E51AA3BC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7EF6FCFB-B476-483D-BD72-C6495321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representa un audiograma y hasta dónde permite interpretar?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C1F2A442-0556-43E9-884E-1F86E9B2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 del bloque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18A45B5-1E3C-4BE7-92B2-B7AEB52A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C997F5-9346-4F97-A8D7-DE68364E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Vía aérea y vía ósea cambian cómo se presenta el estímulo</a:t>
            </a:r>
          </a:p>
        </p:txBody>
      </p:sp>
      <p:sp>
        <p:nvSpPr>
          <p:cNvPr id="2" name="u08-046-air-label">
            <a:extLst xmlns:a="http://schemas.openxmlformats.org/drawingml/2006/main">
              <a:ext uri="{FF2B5EF4-FFF2-40B4-BE49-F238E27FC236}">
                <a16:creationId xmlns:a16="http://schemas.microsoft.com/office/drawing/2014/main" id="{A93FBC57-382B-42D7-AF6B-6399C403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Vía aérea</a:t>
            </a:r>
          </a:p>
        </p:txBody>
      </p:sp>
      <p:sp>
        <p:nvSpPr>
          <p:cNvPr id="3" name="u08-046-air-anchor-1">
            <a:extLst xmlns:a="http://schemas.openxmlformats.org/drawingml/2006/main">
              <a:ext uri="{FF2B5EF4-FFF2-40B4-BE49-F238E27FC236}">
                <a16:creationId xmlns:a16="http://schemas.microsoft.com/office/drawing/2014/main" id="{098F341D-A0D5-4827-8AF7-A8AA3407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71625"/>
            <a:ext cx="3003550" cy="1476375"/>
          </a:xfrm>
          <a:prstGeom xmlns:a="http://schemas.openxmlformats.org/drawingml/2006/main" prst="roundRect">
            <a:avLst>
              <a:gd name="adj" fmla="val 77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u08-046-air-anchor-2">
            <a:extLst xmlns:a="http://schemas.openxmlformats.org/drawingml/2006/main">
              <a:ext uri="{FF2B5EF4-FFF2-40B4-BE49-F238E27FC236}">
                <a16:creationId xmlns:a16="http://schemas.microsoft.com/office/drawing/2014/main" id="{41F548D9-67C8-4C79-A891-D681CDB8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8600" y="1571625"/>
            <a:ext cx="3003550" cy="1476375"/>
          </a:xfrm>
          <a:prstGeom xmlns:a="http://schemas.openxmlformats.org/drawingml/2006/main" prst="roundRect">
            <a:avLst>
              <a:gd name="adj" fmla="val 77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u08-046-air-anchor-3">
            <a:extLst xmlns:a="http://schemas.openxmlformats.org/drawingml/2006/main">
              <a:ext uri="{FF2B5EF4-FFF2-40B4-BE49-F238E27FC236}">
                <a16:creationId xmlns:a16="http://schemas.microsoft.com/office/drawing/2014/main" id="{E5A9CD12-1F1F-4259-AD70-F8062191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1571625"/>
            <a:ext cx="3003550" cy="1476375"/>
          </a:xfrm>
          <a:prstGeom xmlns:a="http://schemas.openxmlformats.org/drawingml/2006/main" prst="roundRect">
            <a:avLst>
              <a:gd name="adj" fmla="val 77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099050" y="2309813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312150" y="2309813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8" name="u08-046-air-1-box">
            <a:extLst xmlns:a="http://schemas.openxmlformats.org/drawingml/2006/main">
              <a:ext uri="{FF2B5EF4-FFF2-40B4-BE49-F238E27FC236}">
                <a16:creationId xmlns:a16="http://schemas.microsoft.com/office/drawing/2014/main" id="{CCFC2EC0-8F6F-42D5-8672-8D0AC122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71625"/>
            <a:ext cx="30035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u08-046-air-1-title">
            <a:extLst xmlns:a="http://schemas.openxmlformats.org/drawingml/2006/main">
              <a:ext uri="{FF2B5EF4-FFF2-40B4-BE49-F238E27FC236}">
                <a16:creationId xmlns:a16="http://schemas.microsoft.com/office/drawing/2014/main" id="{992EED0C-A4C7-4521-8E6F-83A9F1B3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04975"/>
            <a:ext cx="266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10" name="u08-046-air-1-body">
            <a:extLst xmlns:a="http://schemas.openxmlformats.org/drawingml/2006/main">
              <a:ext uri="{FF2B5EF4-FFF2-40B4-BE49-F238E27FC236}">
                <a16:creationId xmlns:a16="http://schemas.microsoft.com/office/drawing/2014/main" id="{57C1B150-1489-472B-A6A4-F0ABE2B9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05025"/>
            <a:ext cx="2660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Auricular</a:t>
            </a:r>
          </a:p>
        </p:txBody>
      </p:sp>
      <p:sp>
        <p:nvSpPr>
          <p:cNvPr id="11" name="u08-046-air-2-box">
            <a:extLst xmlns:a="http://schemas.openxmlformats.org/drawingml/2006/main">
              <a:ext uri="{FF2B5EF4-FFF2-40B4-BE49-F238E27FC236}">
                <a16:creationId xmlns:a16="http://schemas.microsoft.com/office/drawing/2014/main" id="{BB899501-B1C6-4AF7-9D89-77765F66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8600" y="1571625"/>
            <a:ext cx="30035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2" name="u08-046-air-2-title">
            <a:extLst xmlns:a="http://schemas.openxmlformats.org/drawingml/2006/main">
              <a:ext uri="{FF2B5EF4-FFF2-40B4-BE49-F238E27FC236}">
                <a16:creationId xmlns:a16="http://schemas.microsoft.com/office/drawing/2014/main" id="{AB51F006-D115-4951-AA71-EC5C08C7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050" y="1704975"/>
            <a:ext cx="266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Trayecto</a:t>
            </a:r>
          </a:p>
        </p:txBody>
      </p:sp>
      <p:sp>
        <p:nvSpPr>
          <p:cNvPr id="13" name="u08-046-air-2-body">
            <a:extLst xmlns:a="http://schemas.openxmlformats.org/drawingml/2006/main">
              <a:ext uri="{FF2B5EF4-FFF2-40B4-BE49-F238E27FC236}">
                <a16:creationId xmlns:a16="http://schemas.microsoft.com/office/drawing/2014/main" id="{5C636AE0-6BA4-4560-B1BD-07D9B84B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050" y="2105025"/>
            <a:ext cx="2660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Oído externo y medio</a:t>
            </a:r>
          </a:p>
        </p:txBody>
      </p:sp>
      <p:sp>
        <p:nvSpPr>
          <p:cNvPr id="14" name="u08-046-air-3-box">
            <a:extLst xmlns:a="http://schemas.openxmlformats.org/drawingml/2006/main">
              <a:ext uri="{FF2B5EF4-FFF2-40B4-BE49-F238E27FC236}">
                <a16:creationId xmlns:a16="http://schemas.microsoft.com/office/drawing/2014/main" id="{A4D37AB0-87F3-466C-86B9-EE892E5B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1571625"/>
            <a:ext cx="30035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5" name="u08-046-air-3-title">
            <a:extLst xmlns:a="http://schemas.openxmlformats.org/drawingml/2006/main">
              <a:ext uri="{FF2B5EF4-FFF2-40B4-BE49-F238E27FC236}">
                <a16:creationId xmlns:a16="http://schemas.microsoft.com/office/drawing/2014/main" id="{1BD75123-9207-43FE-BC44-6D9BC4B0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150" y="1704975"/>
            <a:ext cx="266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Respuesta</a:t>
            </a:r>
          </a:p>
        </p:txBody>
      </p:sp>
      <p:sp>
        <p:nvSpPr>
          <p:cNvPr id="16" name="u08-046-air-3-body">
            <a:extLst xmlns:a="http://schemas.openxmlformats.org/drawingml/2006/main">
              <a:ext uri="{FF2B5EF4-FFF2-40B4-BE49-F238E27FC236}">
                <a16:creationId xmlns:a16="http://schemas.microsoft.com/office/drawing/2014/main" id="{EFC734BD-7A8F-4D37-9DA8-BB6CC23A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150" y="2105025"/>
            <a:ext cx="2660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Cóclea + tarea conductual</a:t>
            </a:r>
          </a:p>
        </p:txBody>
      </p:sp>
      <p:sp>
        <p:nvSpPr>
          <p:cNvPr id="17" name="u08-046-bone-label">
            <a:extLst xmlns:a="http://schemas.openxmlformats.org/drawingml/2006/main">
              <a:ext uri="{FF2B5EF4-FFF2-40B4-BE49-F238E27FC236}">
                <a16:creationId xmlns:a16="http://schemas.microsoft.com/office/drawing/2014/main" id="{383807B8-6568-4362-8922-5F6D452A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38625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20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Vía ósea</a:t>
            </a:r>
          </a:p>
        </p:txBody>
      </p:sp>
      <p:sp>
        <p:nvSpPr>
          <p:cNvPr id="18" name="u08-046-bone-anchor-1">
            <a:extLst xmlns:a="http://schemas.openxmlformats.org/drawingml/2006/main">
              <a:ext uri="{FF2B5EF4-FFF2-40B4-BE49-F238E27FC236}">
                <a16:creationId xmlns:a16="http://schemas.microsoft.com/office/drawing/2014/main" id="{4D73DD48-FA03-4914-97B1-EA5574C8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3003550" cy="1476375"/>
          </a:xfrm>
          <a:prstGeom xmlns:a="http://schemas.openxmlformats.org/drawingml/2006/main" prst="roundRect">
            <a:avLst>
              <a:gd name="adj" fmla="val 77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u08-046-bone-anchor-2">
            <a:extLst xmlns:a="http://schemas.openxmlformats.org/drawingml/2006/main">
              <a:ext uri="{FF2B5EF4-FFF2-40B4-BE49-F238E27FC236}">
                <a16:creationId xmlns:a16="http://schemas.microsoft.com/office/drawing/2014/main" id="{F5A0036E-8125-4D84-A51D-487B0A42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8600" y="3714750"/>
            <a:ext cx="3003550" cy="1476375"/>
          </a:xfrm>
          <a:prstGeom xmlns:a="http://schemas.openxmlformats.org/drawingml/2006/main" prst="roundRect">
            <a:avLst>
              <a:gd name="adj" fmla="val 77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u08-046-bone-anchor-3">
            <a:extLst xmlns:a="http://schemas.openxmlformats.org/drawingml/2006/main">
              <a:ext uri="{FF2B5EF4-FFF2-40B4-BE49-F238E27FC236}">
                <a16:creationId xmlns:a16="http://schemas.microsoft.com/office/drawing/2014/main" id="{1B708002-0696-4ED2-84FD-2B0AC2DC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3714750"/>
            <a:ext cx="3003550" cy="1476375"/>
          </a:xfrm>
          <a:prstGeom xmlns:a="http://schemas.openxmlformats.org/drawingml/2006/main" prst="roundRect">
            <a:avLst>
              <a:gd name="adj" fmla="val 77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8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099050" y="4452938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312150" y="4452938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23" name="u08-046-bone-1-box">
            <a:extLst xmlns:a="http://schemas.openxmlformats.org/drawingml/2006/main">
              <a:ext uri="{FF2B5EF4-FFF2-40B4-BE49-F238E27FC236}">
                <a16:creationId xmlns:a16="http://schemas.microsoft.com/office/drawing/2014/main" id="{7E93BF34-8828-4460-903E-4269EDC6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30035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4" name="u08-046-bone-1-title">
            <a:extLst xmlns:a="http://schemas.openxmlformats.org/drawingml/2006/main">
              <a:ext uri="{FF2B5EF4-FFF2-40B4-BE49-F238E27FC236}">
                <a16:creationId xmlns:a16="http://schemas.microsoft.com/office/drawing/2014/main" id="{F0B8D7E7-A497-4364-877F-FD5325BD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48100"/>
            <a:ext cx="266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25" name="u08-046-bone-1-body">
            <a:extLst xmlns:a="http://schemas.openxmlformats.org/drawingml/2006/main">
              <a:ext uri="{FF2B5EF4-FFF2-40B4-BE49-F238E27FC236}">
                <a16:creationId xmlns:a16="http://schemas.microsoft.com/office/drawing/2014/main" id="{0432DC21-C6EC-488F-A03E-171B5F08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48150"/>
            <a:ext cx="2660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Vibrador óseo</a:t>
            </a:r>
          </a:p>
        </p:txBody>
      </p:sp>
      <p:sp>
        <p:nvSpPr>
          <p:cNvPr id="26" name="u08-046-bone-2-box">
            <a:extLst xmlns:a="http://schemas.openxmlformats.org/drawingml/2006/main">
              <a:ext uri="{FF2B5EF4-FFF2-40B4-BE49-F238E27FC236}">
                <a16:creationId xmlns:a16="http://schemas.microsoft.com/office/drawing/2014/main" id="{33CF1B05-B618-4C7C-9CAA-96A045C5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8600" y="3714750"/>
            <a:ext cx="30035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27" name="u08-046-bone-2-title">
            <a:extLst xmlns:a="http://schemas.openxmlformats.org/drawingml/2006/main">
              <a:ext uri="{FF2B5EF4-FFF2-40B4-BE49-F238E27FC236}">
                <a16:creationId xmlns:a16="http://schemas.microsoft.com/office/drawing/2014/main" id="{9857BD6F-1879-4077-97A3-E16F8FBC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050" y="3848100"/>
            <a:ext cx="266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Trayecto</a:t>
            </a:r>
          </a:p>
        </p:txBody>
      </p:sp>
      <p:sp>
        <p:nvSpPr>
          <p:cNvPr id="28" name="u08-046-bone-2-body">
            <a:extLst xmlns:a="http://schemas.openxmlformats.org/drawingml/2006/main">
              <a:ext uri="{FF2B5EF4-FFF2-40B4-BE49-F238E27FC236}">
                <a16:creationId xmlns:a16="http://schemas.microsoft.com/office/drawing/2014/main" id="{AAF8404A-ADB3-488D-AE74-5AB22732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050" y="4248150"/>
            <a:ext cx="2660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Cráneo y mecanismos múltiples</a:t>
            </a:r>
          </a:p>
        </p:txBody>
      </p:sp>
      <p:sp>
        <p:nvSpPr>
          <p:cNvPr id="29" name="u08-046-bone-3-box">
            <a:extLst xmlns:a="http://schemas.openxmlformats.org/drawingml/2006/main">
              <a:ext uri="{FF2B5EF4-FFF2-40B4-BE49-F238E27FC236}">
                <a16:creationId xmlns:a16="http://schemas.microsoft.com/office/drawing/2014/main" id="{35C51763-EC6F-4D15-BD20-A0A31E2D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3714750"/>
            <a:ext cx="30035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30" name="u08-046-bone-3-title">
            <a:extLst xmlns:a="http://schemas.openxmlformats.org/drawingml/2006/main">
              <a:ext uri="{FF2B5EF4-FFF2-40B4-BE49-F238E27FC236}">
                <a16:creationId xmlns:a16="http://schemas.microsoft.com/office/drawing/2014/main" id="{DAE7A7BA-A9A7-4D7F-BDD4-095A747E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150" y="3848100"/>
            <a:ext cx="266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Respuesta</a:t>
            </a:r>
          </a:p>
        </p:txBody>
      </p:sp>
      <p:sp>
        <p:nvSpPr>
          <p:cNvPr id="31" name="u08-046-bone-3-body">
            <a:extLst xmlns:a="http://schemas.openxmlformats.org/drawingml/2006/main">
              <a:ext uri="{FF2B5EF4-FFF2-40B4-BE49-F238E27FC236}">
                <a16:creationId xmlns:a16="http://schemas.microsoft.com/office/drawing/2014/main" id="{7DF844FA-6CAC-45CA-8FF2-034AAFE2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150" y="4248150"/>
            <a:ext cx="2660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Cóclea + tarea conductual</a:t>
            </a:r>
          </a:p>
        </p:txBody>
      </p:sp>
      <p:sp>
        <p:nvSpPr>
          <p:cNvPr id="32" name="u08-046-limit">
            <a:extLst xmlns:a="http://schemas.openxmlformats.org/drawingml/2006/main">
              <a:ext uri="{FF2B5EF4-FFF2-40B4-BE49-F238E27FC236}">
                <a16:creationId xmlns:a16="http://schemas.microsoft.com/office/drawing/2014/main" id="{D6E4CC97-6335-4C94-B3FB-45D45217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721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Cambiar el transductor modifica el trayecto predominante; ninguna vía aísla una sola estructura.</a:t>
            </a:r>
          </a:p>
        </p:txBody>
      </p:sp>
      <p:sp>
        <p:nvSpPr>
          <p:cNvPr id="33" name="top-rail-1">
            <a:extLst xmlns:a="http://schemas.openxmlformats.org/drawingml/2006/main">
              <a:ext uri="{FF2B5EF4-FFF2-40B4-BE49-F238E27FC236}">
                <a16:creationId xmlns:a16="http://schemas.microsoft.com/office/drawing/2014/main" id="{42DD07A1-827B-4B47-87DC-3C0D3A00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34" name="top-rail-2">
            <a:extLst xmlns:a="http://schemas.openxmlformats.org/drawingml/2006/main">
              <a:ext uri="{FF2B5EF4-FFF2-40B4-BE49-F238E27FC236}">
                <a16:creationId xmlns:a16="http://schemas.microsoft.com/office/drawing/2014/main" id="{DE41F1F2-0511-4D71-8076-DCF9DD93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35" name="top-rail-3">
            <a:extLst xmlns:a="http://schemas.openxmlformats.org/drawingml/2006/main">
              <a:ext uri="{FF2B5EF4-FFF2-40B4-BE49-F238E27FC236}">
                <a16:creationId xmlns:a16="http://schemas.microsoft.com/office/drawing/2014/main" id="{52772BB2-4054-40A5-8626-0527BC10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36" name="eyebrow">
            <a:extLst xmlns:a="http://schemas.openxmlformats.org/drawingml/2006/main">
              <a:ext uri="{FF2B5EF4-FFF2-40B4-BE49-F238E27FC236}">
                <a16:creationId xmlns:a16="http://schemas.microsoft.com/office/drawing/2014/main" id="{9D7DA717-E607-4162-9B25-56CC4803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3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E55D0BE-B41A-411A-8185-58058BF3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48C570-047E-4C2B-98C6-E2FD09BA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dB SPL, dB HL y dB SL comparten decibel, no referencia</a:t>
            </a:r>
          </a:p>
        </p:txBody>
      </p:sp>
      <p:sp>
        <p:nvSpPr>
          <p:cNvPr id="2" name="U08-047-scales-0-0-box">
            <a:extLst xmlns:a="http://schemas.openxmlformats.org/drawingml/2006/main">
              <a:ext uri="{FF2B5EF4-FFF2-40B4-BE49-F238E27FC236}">
                <a16:creationId xmlns:a16="http://schemas.microsoft.com/office/drawing/2014/main" id="{7C50D604-62A3-4C0C-B1C6-AA082B5B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147188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3" name="U08-047-scales-0-0-text">
            <a:extLst xmlns:a="http://schemas.openxmlformats.org/drawingml/2006/main">
              <a:ext uri="{FF2B5EF4-FFF2-40B4-BE49-F238E27FC236}">
                <a16:creationId xmlns:a16="http://schemas.microsoft.com/office/drawing/2014/main" id="{C2B1E22B-0E5E-42B9-A0FE-7311A8F2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628775"/>
            <a:ext cx="131948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Escala</a:t>
            </a:r>
          </a:p>
        </p:txBody>
      </p:sp>
      <p:sp>
        <p:nvSpPr>
          <p:cNvPr id="4" name="U08-047-scales-0-1-box">
            <a:extLst xmlns:a="http://schemas.openxmlformats.org/drawingml/2006/main">
              <a:ext uri="{FF2B5EF4-FFF2-40B4-BE49-F238E27FC236}">
                <a16:creationId xmlns:a16="http://schemas.microsoft.com/office/drawing/2014/main" id="{852E7ED9-662F-4179-A863-F1A37AC0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757" y="1571625"/>
            <a:ext cx="336430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5" name="U08-047-scales-0-1-text">
            <a:extLst xmlns:a="http://schemas.openxmlformats.org/drawingml/2006/main">
              <a:ext uri="{FF2B5EF4-FFF2-40B4-BE49-F238E27FC236}">
                <a16:creationId xmlns:a16="http://schemas.microsoft.com/office/drawing/2014/main" id="{2AA61CDF-D060-4399-8BA1-D3F459E2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957" y="1628775"/>
            <a:ext cx="321190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Referencia</a:t>
            </a:r>
          </a:p>
        </p:txBody>
      </p:sp>
      <p:sp>
        <p:nvSpPr>
          <p:cNvPr id="6" name="U08-047-scales-0-2-box">
            <a:extLst xmlns:a="http://schemas.openxmlformats.org/drawingml/2006/main">
              <a:ext uri="{FF2B5EF4-FFF2-40B4-BE49-F238E27FC236}">
                <a16:creationId xmlns:a16="http://schemas.microsoft.com/office/drawing/2014/main" id="{573C539A-979A-4F7E-9AA8-3ADE68EA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059" y="1571625"/>
            <a:ext cx="2943764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7" name="U08-047-scales-0-2-text">
            <a:extLst xmlns:a="http://schemas.openxmlformats.org/drawingml/2006/main">
              <a:ext uri="{FF2B5EF4-FFF2-40B4-BE49-F238E27FC236}">
                <a16:creationId xmlns:a16="http://schemas.microsoft.com/office/drawing/2014/main" id="{CBC4D5D2-169A-465A-AAB8-2095BAD5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259" y="1628775"/>
            <a:ext cx="2791364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Uso típico</a:t>
            </a:r>
          </a:p>
        </p:txBody>
      </p:sp>
      <p:sp>
        <p:nvSpPr>
          <p:cNvPr id="8" name="U08-047-scales-0-3-box">
            <a:extLst xmlns:a="http://schemas.openxmlformats.org/drawingml/2006/main">
              <a:ext uri="{FF2B5EF4-FFF2-40B4-BE49-F238E27FC236}">
                <a16:creationId xmlns:a16="http://schemas.microsoft.com/office/drawing/2014/main" id="{FF6BBDE7-29BC-407A-8DAD-563B9FB9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823" y="1571625"/>
            <a:ext cx="336430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9" name="U08-047-scales-0-3-text">
            <a:extLst xmlns:a="http://schemas.openxmlformats.org/drawingml/2006/main">
              <a:ext uri="{FF2B5EF4-FFF2-40B4-BE49-F238E27FC236}">
                <a16:creationId xmlns:a16="http://schemas.microsoft.com/office/drawing/2014/main" id="{2975C817-5352-403F-BC3F-5AD2B6EF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023" y="1628775"/>
            <a:ext cx="321190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Operación válida / límite</a:t>
            </a:r>
          </a:p>
        </p:txBody>
      </p:sp>
      <p:sp>
        <p:nvSpPr>
          <p:cNvPr id="10" name="U08-047-scales-1-0-box">
            <a:extLst xmlns:a="http://schemas.openxmlformats.org/drawingml/2006/main">
              <a:ext uri="{FF2B5EF4-FFF2-40B4-BE49-F238E27FC236}">
                <a16:creationId xmlns:a16="http://schemas.microsoft.com/office/drawing/2014/main" id="{504EC3BB-03DD-4B89-9846-3A8AA9DA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05075"/>
            <a:ext cx="147188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1" name="U08-047-scales-1-0-text">
            <a:extLst xmlns:a="http://schemas.openxmlformats.org/drawingml/2006/main">
              <a:ext uri="{FF2B5EF4-FFF2-40B4-BE49-F238E27FC236}">
                <a16:creationId xmlns:a16="http://schemas.microsoft.com/office/drawing/2014/main" id="{71FBA9DF-7A02-4E84-BF17-D1C92F54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62225"/>
            <a:ext cx="131948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SPL</a:t>
            </a:r>
          </a:p>
        </p:txBody>
      </p:sp>
      <p:sp>
        <p:nvSpPr>
          <p:cNvPr id="12" name="U08-047-scales-1-1-box">
            <a:extLst xmlns:a="http://schemas.openxmlformats.org/drawingml/2006/main">
              <a:ext uri="{FF2B5EF4-FFF2-40B4-BE49-F238E27FC236}">
                <a16:creationId xmlns:a16="http://schemas.microsoft.com/office/drawing/2014/main" id="{5733F96B-AA90-44C4-BCED-785333B6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757" y="2505075"/>
            <a:ext cx="336430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3" name="U08-047-scales-1-1-text">
            <a:extLst xmlns:a="http://schemas.openxmlformats.org/drawingml/2006/main">
              <a:ext uri="{FF2B5EF4-FFF2-40B4-BE49-F238E27FC236}">
                <a16:creationId xmlns:a16="http://schemas.microsoft.com/office/drawing/2014/main" id="{D9634092-B9E1-48BE-AC60-927A0B3D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957" y="2562225"/>
            <a:ext cx="321190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acústica física</a:t>
            </a:r>
          </a:p>
        </p:txBody>
      </p:sp>
      <p:sp>
        <p:nvSpPr>
          <p:cNvPr id="14" name="U08-047-scales-1-2-box">
            <a:extLst xmlns:a="http://schemas.openxmlformats.org/drawingml/2006/main">
              <a:ext uri="{FF2B5EF4-FFF2-40B4-BE49-F238E27FC236}">
                <a16:creationId xmlns:a16="http://schemas.microsoft.com/office/drawing/2014/main" id="{42471357-2F25-44FE-A3C5-17D97991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059" y="2505075"/>
            <a:ext cx="2943764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5" name="U08-047-scales-1-2-text">
            <a:extLst xmlns:a="http://schemas.openxmlformats.org/drawingml/2006/main">
              <a:ext uri="{FF2B5EF4-FFF2-40B4-BE49-F238E27FC236}">
                <a16:creationId xmlns:a16="http://schemas.microsoft.com/office/drawing/2014/main" id="{266E5D3F-3D16-49ED-9AC0-625FFB06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259" y="2562225"/>
            <a:ext cx="2791364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Señales y salidas acústicas</a:t>
            </a:r>
          </a:p>
        </p:txBody>
      </p:sp>
      <p:sp>
        <p:nvSpPr>
          <p:cNvPr id="16" name="U08-047-scales-1-3-box">
            <a:extLst xmlns:a="http://schemas.openxmlformats.org/drawingml/2006/main">
              <a:ext uri="{FF2B5EF4-FFF2-40B4-BE49-F238E27FC236}">
                <a16:creationId xmlns:a16="http://schemas.microsoft.com/office/drawing/2014/main" id="{7C102EE7-6CF2-414A-BA22-10830C43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823" y="2505075"/>
            <a:ext cx="336430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7" name="U08-047-scales-1-3-text">
            <a:extLst xmlns:a="http://schemas.openxmlformats.org/drawingml/2006/main">
              <a:ext uri="{FF2B5EF4-FFF2-40B4-BE49-F238E27FC236}">
                <a16:creationId xmlns:a16="http://schemas.microsoft.com/office/drawing/2014/main" id="{27EEB44F-6820-4390-BEC1-2A411C19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023" y="2562225"/>
            <a:ext cx="321190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convertir a HL sin referencia</a:t>
            </a:r>
          </a:p>
        </p:txBody>
      </p:sp>
      <p:sp>
        <p:nvSpPr>
          <p:cNvPr id="18" name="U08-047-scales-2-0-box">
            <a:extLst xmlns:a="http://schemas.openxmlformats.org/drawingml/2006/main">
              <a:ext uri="{FF2B5EF4-FFF2-40B4-BE49-F238E27FC236}">
                <a16:creationId xmlns:a16="http://schemas.microsoft.com/office/drawing/2014/main" id="{0DE9C580-A271-488A-B596-B0DFEA3A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38525"/>
            <a:ext cx="147188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9" name="U08-047-scales-2-0-text">
            <a:extLst xmlns:a="http://schemas.openxmlformats.org/drawingml/2006/main">
              <a:ext uri="{FF2B5EF4-FFF2-40B4-BE49-F238E27FC236}">
                <a16:creationId xmlns:a16="http://schemas.microsoft.com/office/drawing/2014/main" id="{2524C79F-C89A-4FE6-801A-7349027C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495675"/>
            <a:ext cx="131948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HL</a:t>
            </a:r>
          </a:p>
        </p:txBody>
      </p:sp>
      <p:sp>
        <p:nvSpPr>
          <p:cNvPr id="20" name="U08-047-scales-2-1-box">
            <a:extLst xmlns:a="http://schemas.openxmlformats.org/drawingml/2006/main">
              <a:ext uri="{FF2B5EF4-FFF2-40B4-BE49-F238E27FC236}">
                <a16:creationId xmlns:a16="http://schemas.microsoft.com/office/drawing/2014/main" id="{55BB9683-7A83-4C4D-B781-66EE7034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757" y="3438525"/>
            <a:ext cx="336430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1" name="U08-047-scales-2-1-text">
            <a:extLst xmlns:a="http://schemas.openxmlformats.org/drawingml/2006/main">
              <a:ext uri="{FF2B5EF4-FFF2-40B4-BE49-F238E27FC236}">
                <a16:creationId xmlns:a16="http://schemas.microsoft.com/office/drawing/2014/main" id="{4437C2F1-C862-40C1-92D1-CDED6535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957" y="3495675"/>
            <a:ext cx="321190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Cero audiométrico por frecuencia y transductor</a:t>
            </a:r>
          </a:p>
        </p:txBody>
      </p:sp>
      <p:sp>
        <p:nvSpPr>
          <p:cNvPr id="22" name="U08-047-scales-2-2-box">
            <a:extLst xmlns:a="http://schemas.openxmlformats.org/drawingml/2006/main">
              <a:ext uri="{FF2B5EF4-FFF2-40B4-BE49-F238E27FC236}">
                <a16:creationId xmlns:a16="http://schemas.microsoft.com/office/drawing/2014/main" id="{3ED43B03-1F14-4653-B955-C01744E9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059" y="3438525"/>
            <a:ext cx="2943764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8-047-scales-2-2-text">
            <a:extLst xmlns:a="http://schemas.openxmlformats.org/drawingml/2006/main">
              <a:ext uri="{FF2B5EF4-FFF2-40B4-BE49-F238E27FC236}">
                <a16:creationId xmlns:a16="http://schemas.microsoft.com/office/drawing/2014/main" id="{E5F6EA2F-ED89-4AC4-B822-C055818C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259" y="3495675"/>
            <a:ext cx="2791364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Umbrales audiométricos</a:t>
            </a:r>
          </a:p>
        </p:txBody>
      </p:sp>
      <p:sp>
        <p:nvSpPr>
          <p:cNvPr id="24" name="U08-047-scales-2-3-box">
            <a:extLst xmlns:a="http://schemas.openxmlformats.org/drawingml/2006/main">
              <a:ext uri="{FF2B5EF4-FFF2-40B4-BE49-F238E27FC236}">
                <a16:creationId xmlns:a16="http://schemas.microsoft.com/office/drawing/2014/main" id="{D98DFA30-B190-4C2B-89D6-24B13FCE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823" y="3438525"/>
            <a:ext cx="336430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5" name="U08-047-scales-2-3-text">
            <a:extLst xmlns:a="http://schemas.openxmlformats.org/drawingml/2006/main">
              <a:ext uri="{FF2B5EF4-FFF2-40B4-BE49-F238E27FC236}">
                <a16:creationId xmlns:a16="http://schemas.microsoft.com/office/drawing/2014/main" id="{CD84AAA8-211B-4D00-BF29-4A5EBF09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023" y="3495675"/>
            <a:ext cx="321190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Comparar condiciones compatibles</a:t>
            </a:r>
          </a:p>
        </p:txBody>
      </p:sp>
      <p:sp>
        <p:nvSpPr>
          <p:cNvPr id="26" name="U08-047-scales-3-0-box">
            <a:extLst xmlns:a="http://schemas.openxmlformats.org/drawingml/2006/main">
              <a:ext uri="{FF2B5EF4-FFF2-40B4-BE49-F238E27FC236}">
                <a16:creationId xmlns:a16="http://schemas.microsoft.com/office/drawing/2014/main" id="{7EC189CC-B473-4C4B-8814-8106F1AD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71975"/>
            <a:ext cx="147188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7" name="U08-047-scales-3-0-text">
            <a:extLst xmlns:a="http://schemas.openxmlformats.org/drawingml/2006/main">
              <a:ext uri="{FF2B5EF4-FFF2-40B4-BE49-F238E27FC236}">
                <a16:creationId xmlns:a16="http://schemas.microsoft.com/office/drawing/2014/main" id="{B266ED8E-D6CE-4F42-9B28-A1E7A861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29125"/>
            <a:ext cx="131948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SL</a:t>
            </a:r>
          </a:p>
        </p:txBody>
      </p:sp>
      <p:sp>
        <p:nvSpPr>
          <p:cNvPr id="28" name="U08-047-scales-3-1-box">
            <a:extLst xmlns:a="http://schemas.openxmlformats.org/drawingml/2006/main">
              <a:ext uri="{FF2B5EF4-FFF2-40B4-BE49-F238E27FC236}">
                <a16:creationId xmlns:a16="http://schemas.microsoft.com/office/drawing/2014/main" id="{9F7887A7-954C-4CBE-94D4-E4DE5212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757" y="4371975"/>
            <a:ext cx="336430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9" name="U08-047-scales-3-1-text">
            <a:extLst xmlns:a="http://schemas.openxmlformats.org/drawingml/2006/main">
              <a:ext uri="{FF2B5EF4-FFF2-40B4-BE49-F238E27FC236}">
                <a16:creationId xmlns:a16="http://schemas.microsoft.com/office/drawing/2014/main" id="{462A9386-4747-476D-B6FF-ADC3503D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957" y="4429125"/>
            <a:ext cx="321190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Umbral individual declarado</a:t>
            </a:r>
          </a:p>
        </p:txBody>
      </p:sp>
      <p:sp>
        <p:nvSpPr>
          <p:cNvPr id="30" name="U08-047-scales-3-2-box">
            <a:extLst xmlns:a="http://schemas.openxmlformats.org/drawingml/2006/main">
              <a:ext uri="{FF2B5EF4-FFF2-40B4-BE49-F238E27FC236}">
                <a16:creationId xmlns:a16="http://schemas.microsoft.com/office/drawing/2014/main" id="{EF5C6208-4D20-4979-8E9A-43226E33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059" y="4371975"/>
            <a:ext cx="2943764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31" name="U08-047-scales-3-2-text">
            <a:extLst xmlns:a="http://schemas.openxmlformats.org/drawingml/2006/main">
              <a:ext uri="{FF2B5EF4-FFF2-40B4-BE49-F238E27FC236}">
                <a16:creationId xmlns:a16="http://schemas.microsoft.com/office/drawing/2014/main" id="{710F12B7-0DE3-45AC-ACE5-457533EC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259" y="4429125"/>
            <a:ext cx="2791364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 relativo de presentación</a:t>
            </a:r>
          </a:p>
        </p:txBody>
      </p:sp>
      <p:sp>
        <p:nvSpPr>
          <p:cNvPr id="32" name="U08-047-scales-3-3-box">
            <a:extLst xmlns:a="http://schemas.openxmlformats.org/drawingml/2006/main">
              <a:ext uri="{FF2B5EF4-FFF2-40B4-BE49-F238E27FC236}">
                <a16:creationId xmlns:a16="http://schemas.microsoft.com/office/drawing/2014/main" id="{D6FDDD8A-8517-4E0D-96C8-71A1BAA3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823" y="4371975"/>
            <a:ext cx="336430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33" name="U08-047-scales-3-3-text">
            <a:extLst xmlns:a="http://schemas.openxmlformats.org/drawingml/2006/main">
              <a:ext uri="{FF2B5EF4-FFF2-40B4-BE49-F238E27FC236}">
                <a16:creationId xmlns:a16="http://schemas.microsoft.com/office/drawing/2014/main" id="{480630E2-BDF5-456E-8F6C-0D04F397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023" y="4429125"/>
            <a:ext cx="321190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describe una fuente interna</a:t>
            </a:r>
          </a:p>
        </p:txBody>
      </p:sp>
      <p:sp>
        <p:nvSpPr>
          <p:cNvPr id="34" name="top-rail-1">
            <a:extLst xmlns:a="http://schemas.openxmlformats.org/drawingml/2006/main">
              <a:ext uri="{FF2B5EF4-FFF2-40B4-BE49-F238E27FC236}">
                <a16:creationId xmlns:a16="http://schemas.microsoft.com/office/drawing/2014/main" id="{9B532091-F113-4A0D-B0E4-7EE06EBF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35" name="top-rail-2">
            <a:extLst xmlns:a="http://schemas.openxmlformats.org/drawingml/2006/main">
              <a:ext uri="{FF2B5EF4-FFF2-40B4-BE49-F238E27FC236}">
                <a16:creationId xmlns:a16="http://schemas.microsoft.com/office/drawing/2014/main" id="{73F2E0DF-3C94-4984-ADF0-2932AD68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36" name="top-rail-3">
            <a:extLst xmlns:a="http://schemas.openxmlformats.org/drawingml/2006/main">
              <a:ext uri="{FF2B5EF4-FFF2-40B4-BE49-F238E27FC236}">
                <a16:creationId xmlns:a16="http://schemas.microsoft.com/office/drawing/2014/main" id="{67647049-B5B4-452E-BF13-1F7665CA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37" name="eyebrow">
            <a:extLst xmlns:a="http://schemas.openxmlformats.org/drawingml/2006/main">
              <a:ext uri="{FF2B5EF4-FFF2-40B4-BE49-F238E27FC236}">
                <a16:creationId xmlns:a16="http://schemas.microsoft.com/office/drawing/2014/main" id="{CEFFBD01-D704-4513-A6BE-6DEC043B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3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230CF9B-F8AD-4DE8-BC6A-159B7173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97871F-B38F-45B7-B5B8-3A8C3374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eje de dB HL aumenta hacia abajo por convención audiométrica</a:t>
            </a:r>
          </a:p>
        </p:txBody>
      </p:sp>
      <p:pic>
        <p:nvPicPr>
          <p:cNvPr id="10" name="U08-048-U08-CH-005A" descr="El eje de dB HL aumenta hacia abajo por convención audiométrica. Gráfico: Ejes, octavas, sentido, unidad y leyenda mínima. Frecuencia ocupa el eje horizontal y nivel de audición el vertical invertido; símbolos distinguen oído, vía y condi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eb8ee37ba49dc">
            <a:extLst>
              <a:ext uri="{96DAC541-7B7A-43D3-8B79-37D633B846F1}">
                <asvg:svgBlip xmlns:asvg="http://schemas.microsoft.com/office/drawing/2016/SVG/main" r:embed="R170109f8f74a49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" y="1333500"/>
            <a:ext cx="11334750" cy="4572000"/>
          </a:xfrm>
          <a:prstGeom xmlns:a="http://schemas.openxmlformats.org/drawingml/2006/main" prst="rect">
            <a:avLst/>
          </a:prstGeom>
        </p:spPr>
      </p:pic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05EA3C78-1D05-4665-9906-895D4155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Frecuencia ocupa el eje horizontal y nivel de audición el vertical invertido; símbolos distinguen oído, vía y condición. · Producción propia UCASAL · U08-CH-005A</a:t>
            </a:r>
          </a:p>
        </p:txBody>
      </p:sp>
      <p:sp>
        <p:nvSpPr>
          <p:cNvPr id="4" name="top-rail-1">
            <a:extLst xmlns:a="http://schemas.openxmlformats.org/drawingml/2006/main">
              <a:ext uri="{FF2B5EF4-FFF2-40B4-BE49-F238E27FC236}">
                <a16:creationId xmlns:a16="http://schemas.microsoft.com/office/drawing/2014/main" id="{04F7EBA3-09CC-40AE-A6C5-3F864502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 xmlns:a="http://schemas.openxmlformats.org/drawingml/2006/main">
              <a:ext uri="{FF2B5EF4-FFF2-40B4-BE49-F238E27FC236}">
                <a16:creationId xmlns:a16="http://schemas.microsoft.com/office/drawing/2014/main" id="{35ED6DF2-20B2-4517-876E-2E3FF622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 xmlns:a="http://schemas.openxmlformats.org/drawingml/2006/main">
              <a:ext uri="{FF2B5EF4-FFF2-40B4-BE49-F238E27FC236}">
                <a16:creationId xmlns:a16="http://schemas.microsoft.com/office/drawing/2014/main" id="{EB5EB590-820A-46A4-9C7F-42C1CC6A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B1E3C533-74D6-4DBA-B5AA-325344B0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5D68048-FF15-4F54-94F6-D7D4E8EE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0717AD-B838-4F87-8E3D-2C95AEE8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audiograma permite comparar umbrales por frecuencia y vía</a:t>
            </a:r>
          </a:p>
        </p:txBody>
      </p:sp>
      <p:sp>
        <p:nvSpPr>
          <p:cNvPr id="2" name="u08-049-audiogram-frame">
            <a:extLst xmlns:a="http://schemas.openxmlformats.org/drawingml/2006/main">
              <a:ext uri="{FF2B5EF4-FFF2-40B4-BE49-F238E27FC236}">
                <a16:creationId xmlns:a16="http://schemas.microsoft.com/office/drawing/2014/main" id="{4F0005A1-E704-49D5-A8B7-880C09DE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819150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</p:sp>
      <p:sp>
        <p:nvSpPr>
          <p:cNvPr id="3" name="u08-049-audiogram-x-a-20">
            <a:extLst xmlns:a="http://schemas.openxmlformats.org/drawingml/2006/main">
              <a:ext uri="{FF2B5EF4-FFF2-40B4-BE49-F238E27FC236}">
                <a16:creationId xmlns:a16="http://schemas.microsoft.com/office/drawing/2014/main" id="{45D4F8D5-9D16-47FA-9FB2-7FE501F6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u08-049-audiogram-x-b-20">
            <a:extLst xmlns:a="http://schemas.openxmlformats.org/drawingml/2006/main">
              <a:ext uri="{FF2B5EF4-FFF2-40B4-BE49-F238E27FC236}">
                <a16:creationId xmlns:a16="http://schemas.microsoft.com/office/drawing/2014/main" id="{1A06C016-D93C-4CFF-BD9C-57431D15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276350" y="5081588"/>
            <a:ext cx="7200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6" name="u08-049-audiogram-y-a-21">
            <a:extLst xmlns:a="http://schemas.openxmlformats.org/drawingml/2006/main">
              <a:ext uri="{FF2B5EF4-FFF2-40B4-BE49-F238E27FC236}">
                <a16:creationId xmlns:a16="http://schemas.microsoft.com/office/drawing/2014/main" id="{808346AA-3267-46DB-888B-92DA990D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08-049-audiogram-y-b-21">
            <a:extLst xmlns:a="http://schemas.openxmlformats.org/drawingml/2006/main">
              <a:ext uri="{FF2B5EF4-FFF2-40B4-BE49-F238E27FC236}">
                <a16:creationId xmlns:a16="http://schemas.microsoft.com/office/drawing/2014/main" id="{F43586F7-7861-4638-96C9-1A6DB921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H="1" flipV="1">
            <a:off x="1266825" y="1700213"/>
            <a:ext cx="9525" cy="3381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9" name="u08-049-audiogram-grid-y-a-22">
            <a:extLst xmlns:a="http://schemas.openxmlformats.org/drawingml/2006/main">
              <a:ext uri="{FF2B5EF4-FFF2-40B4-BE49-F238E27FC236}">
                <a16:creationId xmlns:a16="http://schemas.microsoft.com/office/drawing/2014/main" id="{F86D2492-9650-4D17-9B64-A75E6BC1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8-049-audiogram-grid-y-b-22">
            <a:extLst xmlns:a="http://schemas.openxmlformats.org/drawingml/2006/main">
              <a:ext uri="{FF2B5EF4-FFF2-40B4-BE49-F238E27FC236}">
                <a16:creationId xmlns:a16="http://schemas.microsoft.com/office/drawing/2014/main" id="{AC88AD3F-2EA7-4C91-83D8-A1441C33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276350" y="5081588"/>
            <a:ext cx="7200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CE0"/>
            </a:solidFill>
            <a:prstDash val="solid"/>
          </a:ln>
        </p:spPr>
      </p:cxnSp>
      <p:sp>
        <p:nvSpPr>
          <p:cNvPr id="12" name="u08-049-audiogram-ytick">
            <a:extLst xmlns:a="http://schemas.openxmlformats.org/drawingml/2006/main">
              <a:ext uri="{FF2B5EF4-FFF2-40B4-BE49-F238E27FC236}">
                <a16:creationId xmlns:a16="http://schemas.microsoft.com/office/drawing/2014/main" id="{8EF4A510-8CBA-4E8C-A0DB-0B31BC8B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9625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70</a:t>
            </a:r>
          </a:p>
        </p:txBody>
      </p:sp>
      <p:sp>
        <p:nvSpPr>
          <p:cNvPr id="13" name="u08-049-audiogram-grid-y-a-23">
            <a:extLst xmlns:a="http://schemas.openxmlformats.org/drawingml/2006/main">
              <a:ext uri="{FF2B5EF4-FFF2-40B4-BE49-F238E27FC236}">
                <a16:creationId xmlns:a16="http://schemas.microsoft.com/office/drawing/2014/main" id="{81CC734E-E1B4-4B10-AAC3-3771E529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231481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u08-049-audiogram-grid-y-b-23">
            <a:extLst xmlns:a="http://schemas.openxmlformats.org/drawingml/2006/main">
              <a:ext uri="{FF2B5EF4-FFF2-40B4-BE49-F238E27FC236}">
                <a16:creationId xmlns:a16="http://schemas.microsoft.com/office/drawing/2014/main" id="{339F7E7F-39FB-4E89-94BD-678E2D47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31481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2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276350" y="4236244"/>
            <a:ext cx="7200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CE0"/>
            </a:solidFill>
            <a:prstDash val="solid"/>
          </a:ln>
        </p:spPr>
      </p:cxnSp>
      <p:sp>
        <p:nvSpPr>
          <p:cNvPr id="16" name="u08-049-audiogram-ytick">
            <a:extLst xmlns:a="http://schemas.openxmlformats.org/drawingml/2006/main">
              <a:ext uri="{FF2B5EF4-FFF2-40B4-BE49-F238E27FC236}">
                <a16:creationId xmlns:a16="http://schemas.microsoft.com/office/drawing/2014/main" id="{69B77599-6E4A-4005-A784-CA2B5990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117181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  <p:sp>
        <p:nvSpPr>
          <p:cNvPr id="17" name="u08-049-audiogram-grid-y-a-24">
            <a:extLst xmlns:a="http://schemas.openxmlformats.org/drawingml/2006/main">
              <a:ext uri="{FF2B5EF4-FFF2-40B4-BE49-F238E27FC236}">
                <a16:creationId xmlns:a16="http://schemas.microsoft.com/office/drawing/2014/main" id="{EC3ACB18-54B1-4392-9B2F-306716A9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3861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u08-049-audiogram-grid-y-b-24">
            <a:extLst xmlns:a="http://schemas.openxmlformats.org/drawingml/2006/main">
              <a:ext uri="{FF2B5EF4-FFF2-40B4-BE49-F238E27FC236}">
                <a16:creationId xmlns:a16="http://schemas.microsoft.com/office/drawing/2014/main" id="{177AD928-9FCA-4CEA-90D5-BCF0BA11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861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6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276350" y="3390901"/>
            <a:ext cx="7200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CE0"/>
            </a:solidFill>
            <a:prstDash val="solid"/>
          </a:ln>
        </p:spPr>
      </p:cxnSp>
      <p:sp>
        <p:nvSpPr>
          <p:cNvPr id="20" name="u08-049-audiogram-ytick">
            <a:extLst xmlns:a="http://schemas.openxmlformats.org/drawingml/2006/main">
              <a:ext uri="{FF2B5EF4-FFF2-40B4-BE49-F238E27FC236}">
                <a16:creationId xmlns:a16="http://schemas.microsoft.com/office/drawing/2014/main" id="{AADED22B-1F70-43AC-A9CC-57884306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271838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21" name="u08-049-audiogram-grid-y-a-25">
            <a:extLst xmlns:a="http://schemas.openxmlformats.org/drawingml/2006/main">
              <a:ext uri="{FF2B5EF4-FFF2-40B4-BE49-F238E27FC236}">
                <a16:creationId xmlns:a16="http://schemas.microsoft.com/office/drawing/2014/main" id="{6BD1E102-CA12-48EE-8E46-D607FC64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540794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u08-049-audiogram-grid-y-b-25">
            <a:extLst xmlns:a="http://schemas.openxmlformats.org/drawingml/2006/main">
              <a:ext uri="{FF2B5EF4-FFF2-40B4-BE49-F238E27FC236}">
                <a16:creationId xmlns:a16="http://schemas.microsoft.com/office/drawing/2014/main" id="{AF93CA73-F067-42FE-B871-5BBEC6FD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40794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0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276350" y="2545557"/>
            <a:ext cx="7200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CE0"/>
            </a:solidFill>
            <a:prstDash val="solid"/>
          </a:ln>
        </p:spPr>
      </p:cxnSp>
      <p:sp>
        <p:nvSpPr>
          <p:cNvPr id="24" name="u08-049-audiogram-ytick">
            <a:extLst xmlns:a="http://schemas.openxmlformats.org/drawingml/2006/main">
              <a:ext uri="{FF2B5EF4-FFF2-40B4-BE49-F238E27FC236}">
                <a16:creationId xmlns:a16="http://schemas.microsoft.com/office/drawing/2014/main" id="{94DD780D-7C4C-4F41-A4A7-E5124A35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426494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25" name="u08-049-audiogram-grid-y-a-26">
            <a:extLst xmlns:a="http://schemas.openxmlformats.org/drawingml/2006/main">
              <a:ext uri="{FF2B5EF4-FFF2-40B4-BE49-F238E27FC236}">
                <a16:creationId xmlns:a16="http://schemas.microsoft.com/office/drawing/2014/main" id="{2D234FD7-7DDB-40DF-B404-BBB62663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u08-049-audiogram-grid-y-b-26">
            <a:extLst xmlns:a="http://schemas.openxmlformats.org/drawingml/2006/main">
              <a:ext uri="{FF2B5EF4-FFF2-40B4-BE49-F238E27FC236}">
                <a16:creationId xmlns:a16="http://schemas.microsoft.com/office/drawing/2014/main" id="{4A0AB596-AF2D-4BD2-997C-8D59849E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4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276350" y="1700213"/>
            <a:ext cx="7200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CE0"/>
            </a:solidFill>
            <a:prstDash val="solid"/>
          </a:ln>
        </p:spPr>
      </p:cxnSp>
      <p:sp>
        <p:nvSpPr>
          <p:cNvPr id="28" name="u08-049-audiogram-ytick">
            <a:extLst xmlns:a="http://schemas.openxmlformats.org/drawingml/2006/main">
              <a:ext uri="{FF2B5EF4-FFF2-40B4-BE49-F238E27FC236}">
                <a16:creationId xmlns:a16="http://schemas.microsoft.com/office/drawing/2014/main" id="{BFD21B25-67F5-4832-BE61-DB452851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811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−10</a:t>
            </a:r>
          </a:p>
        </p:txBody>
      </p:sp>
      <p:sp>
        <p:nvSpPr>
          <p:cNvPr id="29" name="u08-049-audiogram-grid-x-a-27">
            <a:extLst xmlns:a="http://schemas.openxmlformats.org/drawingml/2006/main">
              <a:ext uri="{FF2B5EF4-FFF2-40B4-BE49-F238E27FC236}">
                <a16:creationId xmlns:a16="http://schemas.microsoft.com/office/drawing/2014/main" id="{D7A21750-CAE2-4A7D-8FDC-10EC9FC7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u08-049-audiogram-grid-x-b-27">
            <a:extLst xmlns:a="http://schemas.openxmlformats.org/drawingml/2006/main">
              <a:ext uri="{FF2B5EF4-FFF2-40B4-BE49-F238E27FC236}">
                <a16:creationId xmlns:a16="http://schemas.microsoft.com/office/drawing/2014/main" id="{F4E6A1CE-6AF7-4D1E-B470-466A508D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8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 flipV="1">
            <a:off x="1266825" y="1700213"/>
            <a:ext cx="9525" cy="3381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32" name="u08-049-audiogram-xtick">
            <a:extLst xmlns:a="http://schemas.openxmlformats.org/drawingml/2006/main">
              <a:ext uri="{FF2B5EF4-FFF2-40B4-BE49-F238E27FC236}">
                <a16:creationId xmlns:a16="http://schemas.microsoft.com/office/drawing/2014/main" id="{6BEDACEC-F682-49CE-9A52-70AF5261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53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250</a:t>
            </a:r>
          </a:p>
        </p:txBody>
      </p:sp>
      <p:sp>
        <p:nvSpPr>
          <p:cNvPr id="33" name="u08-049-audiogram-grid-x-a-28">
            <a:extLst xmlns:a="http://schemas.openxmlformats.org/drawingml/2006/main">
              <a:ext uri="{FF2B5EF4-FFF2-40B4-BE49-F238E27FC236}">
                <a16:creationId xmlns:a16="http://schemas.microsoft.com/office/drawing/2014/main" id="{6DC18F71-1F7A-488E-9E52-35498199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u08-049-audiogram-grid-x-b-28">
            <a:extLst xmlns:a="http://schemas.openxmlformats.org/drawingml/2006/main">
              <a:ext uri="{FF2B5EF4-FFF2-40B4-BE49-F238E27FC236}">
                <a16:creationId xmlns:a16="http://schemas.microsoft.com/office/drawing/2014/main" id="{46B21C6F-E5BE-4323-B456-20168CA1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2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H="1" flipV="1">
            <a:off x="2708910" y="1700213"/>
            <a:ext cx="9525" cy="3381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36" name="u08-049-audiogram-xtick">
            <a:extLst xmlns:a="http://schemas.openxmlformats.org/drawingml/2006/main">
              <a:ext uri="{FF2B5EF4-FFF2-40B4-BE49-F238E27FC236}">
                <a16:creationId xmlns:a16="http://schemas.microsoft.com/office/drawing/2014/main" id="{3DDBD70D-EA06-47BC-A8A1-BF4CB77E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535" y="5153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500</a:t>
            </a:r>
          </a:p>
        </p:txBody>
      </p:sp>
      <p:sp>
        <p:nvSpPr>
          <p:cNvPr id="37" name="u08-049-audiogram-grid-x-a-29">
            <a:extLst xmlns:a="http://schemas.openxmlformats.org/drawingml/2006/main">
              <a:ext uri="{FF2B5EF4-FFF2-40B4-BE49-F238E27FC236}">
                <a16:creationId xmlns:a16="http://schemas.microsoft.com/office/drawing/2014/main" id="{546FDE39-8A10-4089-8C04-F11CABA5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995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u08-049-audiogram-grid-x-b-29">
            <a:extLst xmlns:a="http://schemas.openxmlformats.org/drawingml/2006/main">
              <a:ext uri="{FF2B5EF4-FFF2-40B4-BE49-F238E27FC236}">
                <a16:creationId xmlns:a16="http://schemas.microsoft.com/office/drawing/2014/main" id="{4B64D404-1E6E-4DF5-B16F-5A5AC5E8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995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6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 flipV="1">
            <a:off x="4150995" y="1700213"/>
            <a:ext cx="9525" cy="3381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40" name="u08-049-audiogram-xtick">
            <a:extLst xmlns:a="http://schemas.openxmlformats.org/drawingml/2006/main">
              <a:ext uri="{FF2B5EF4-FFF2-40B4-BE49-F238E27FC236}">
                <a16:creationId xmlns:a16="http://schemas.microsoft.com/office/drawing/2014/main" id="{A2F23C04-3B1D-4E6E-BFC0-4057D14A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620" y="5153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1000</a:t>
            </a:r>
          </a:p>
        </p:txBody>
      </p:sp>
      <p:sp>
        <p:nvSpPr>
          <p:cNvPr id="41" name="u08-049-audiogram-grid-x-a-30">
            <a:extLst xmlns:a="http://schemas.openxmlformats.org/drawingml/2006/main">
              <a:ext uri="{FF2B5EF4-FFF2-40B4-BE49-F238E27FC236}">
                <a16:creationId xmlns:a16="http://schemas.microsoft.com/office/drawing/2014/main" id="{C55A2B1D-5D8A-4A7A-9C43-1DC15090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080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u08-049-audiogram-grid-x-b-30">
            <a:extLst xmlns:a="http://schemas.openxmlformats.org/drawingml/2006/main">
              <a:ext uri="{FF2B5EF4-FFF2-40B4-BE49-F238E27FC236}">
                <a16:creationId xmlns:a16="http://schemas.microsoft.com/office/drawing/2014/main" id="{62196151-DB1F-4C17-B104-A0373217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080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0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H="1" flipV="1">
            <a:off x="5593080" y="1700213"/>
            <a:ext cx="9525" cy="3381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44" name="u08-049-audiogram-xtick">
            <a:extLst xmlns:a="http://schemas.openxmlformats.org/drawingml/2006/main">
              <a:ext uri="{FF2B5EF4-FFF2-40B4-BE49-F238E27FC236}">
                <a16:creationId xmlns:a16="http://schemas.microsoft.com/office/drawing/2014/main" id="{D39A0C34-7B46-45DF-A1CD-D03AE3C9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9705" y="5153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2000</a:t>
            </a:r>
          </a:p>
        </p:txBody>
      </p:sp>
      <p:sp>
        <p:nvSpPr>
          <p:cNvPr id="45" name="u08-049-audiogram-grid-x-a-31">
            <a:extLst xmlns:a="http://schemas.openxmlformats.org/drawingml/2006/main">
              <a:ext uri="{FF2B5EF4-FFF2-40B4-BE49-F238E27FC236}">
                <a16:creationId xmlns:a16="http://schemas.microsoft.com/office/drawing/2014/main" id="{042BA82A-9C6C-4ED5-938D-6A5CC15B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165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u08-049-audiogram-grid-x-b-31">
            <a:extLst xmlns:a="http://schemas.openxmlformats.org/drawingml/2006/main">
              <a:ext uri="{FF2B5EF4-FFF2-40B4-BE49-F238E27FC236}">
                <a16:creationId xmlns:a16="http://schemas.microsoft.com/office/drawing/2014/main" id="{E0CC3663-D8C2-4D33-8C18-24131196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165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4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 flipH="1" flipV="1">
            <a:off x="7035165" y="1700213"/>
            <a:ext cx="9525" cy="3381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48" name="u08-049-audiogram-xtick">
            <a:extLst xmlns:a="http://schemas.openxmlformats.org/drawingml/2006/main">
              <a:ext uri="{FF2B5EF4-FFF2-40B4-BE49-F238E27FC236}">
                <a16:creationId xmlns:a16="http://schemas.microsoft.com/office/drawing/2014/main" id="{369B0744-7BBA-442B-B3D0-4D9275E2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1790" y="5153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4000</a:t>
            </a:r>
          </a:p>
        </p:txBody>
      </p:sp>
      <p:sp>
        <p:nvSpPr>
          <p:cNvPr id="49" name="u08-049-audiogram-grid-x-a-32">
            <a:extLst xmlns:a="http://schemas.openxmlformats.org/drawingml/2006/main">
              <a:ext uri="{FF2B5EF4-FFF2-40B4-BE49-F238E27FC236}">
                <a16:creationId xmlns:a16="http://schemas.microsoft.com/office/drawing/2014/main" id="{63516B52-1802-4558-A3D9-1050C75D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u08-049-audiogram-grid-x-b-32">
            <a:extLst xmlns:a="http://schemas.openxmlformats.org/drawingml/2006/main">
              <a:ext uri="{FF2B5EF4-FFF2-40B4-BE49-F238E27FC236}">
                <a16:creationId xmlns:a16="http://schemas.microsoft.com/office/drawing/2014/main" id="{FDDF0635-EFA5-420A-BCFF-B75C9734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8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 flipH="1" flipV="1">
            <a:off x="8477250" y="1700213"/>
            <a:ext cx="9525" cy="3381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52" name="u08-049-audiogram-xtick">
            <a:extLst xmlns:a="http://schemas.openxmlformats.org/drawingml/2006/main">
              <a:ext uri="{FF2B5EF4-FFF2-40B4-BE49-F238E27FC236}">
                <a16:creationId xmlns:a16="http://schemas.microsoft.com/office/drawing/2014/main" id="{21739D5E-28B8-49C9-89D8-CDB3151C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53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8000</a:t>
            </a:r>
          </a:p>
        </p:txBody>
      </p:sp>
      <p:sp>
        <p:nvSpPr>
          <p:cNvPr id="53" name="u08-049-audiogram-0-line-a-33">
            <a:extLst xmlns:a="http://schemas.openxmlformats.org/drawingml/2006/main">
              <a:ext uri="{FF2B5EF4-FFF2-40B4-BE49-F238E27FC236}">
                <a16:creationId xmlns:a16="http://schemas.microsoft.com/office/drawing/2014/main" id="{CF7C3CD1-48B0-45BD-8643-6CE802FA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217069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u08-049-audiogram-0-line-b-33">
            <a:extLst xmlns:a="http://schemas.openxmlformats.org/drawingml/2006/main">
              <a:ext uri="{FF2B5EF4-FFF2-40B4-BE49-F238E27FC236}">
                <a16:creationId xmlns:a16="http://schemas.microsoft.com/office/drawing/2014/main" id="{2261CC2F-E2FC-4AAA-911E-E26B71CB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3861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2" name=""/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1276350" y="3221832"/>
            <a:ext cx="1432560" cy="169069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903163"/>
            </a:solidFill>
            <a:prstDash val="solid"/>
          </a:ln>
        </p:spPr>
      </p:cxnSp>
      <p:sp>
        <p:nvSpPr>
          <p:cNvPr id="56" name="u08-049-audiogram-0-line-a-34">
            <a:extLst xmlns:a="http://schemas.openxmlformats.org/drawingml/2006/main">
              <a:ext uri="{FF2B5EF4-FFF2-40B4-BE49-F238E27FC236}">
                <a16:creationId xmlns:a16="http://schemas.microsoft.com/office/drawing/2014/main" id="{85F71D7D-D627-4BC5-BCC7-F975AEB0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3861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7" name="u08-049-audiogram-0-line-b-34">
            <a:extLst xmlns:a="http://schemas.openxmlformats.org/drawingml/2006/main">
              <a:ext uri="{FF2B5EF4-FFF2-40B4-BE49-F238E27FC236}">
                <a16:creationId xmlns:a16="http://schemas.microsoft.com/office/drawing/2014/main" id="{EE654F8C-A744-4B68-A5F5-F9818C4E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995" y="3825716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5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2718435" y="3390901"/>
            <a:ext cx="1432560" cy="43957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903163"/>
            </a:solidFill>
            <a:prstDash val="solid"/>
          </a:ln>
        </p:spPr>
      </p:cxnSp>
      <p:sp>
        <p:nvSpPr>
          <p:cNvPr id="59" name="u08-049-audiogram-0-line-a-35">
            <a:extLst xmlns:a="http://schemas.openxmlformats.org/drawingml/2006/main">
              <a:ext uri="{FF2B5EF4-FFF2-40B4-BE49-F238E27FC236}">
                <a16:creationId xmlns:a16="http://schemas.microsoft.com/office/drawing/2014/main" id="{032E180B-E341-447D-A412-CA517E83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995" y="3825716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0" name="u08-049-audiogram-0-line-b-35">
            <a:extLst xmlns:a="http://schemas.openxmlformats.org/drawingml/2006/main">
              <a:ext uri="{FF2B5EF4-FFF2-40B4-BE49-F238E27FC236}">
                <a16:creationId xmlns:a16="http://schemas.microsoft.com/office/drawing/2014/main" id="{88A9BEA1-2770-4CE3-9E40-5CBE446D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080" y="413004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8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4160520" y="3830479"/>
            <a:ext cx="1432560" cy="304324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903163"/>
            </a:solidFill>
            <a:prstDash val="solid"/>
          </a:ln>
        </p:spPr>
      </p:cxnSp>
      <p:sp>
        <p:nvSpPr>
          <p:cNvPr id="62" name="u08-049-audiogram-0-line-a-36">
            <a:extLst xmlns:a="http://schemas.openxmlformats.org/drawingml/2006/main">
              <a:ext uri="{FF2B5EF4-FFF2-40B4-BE49-F238E27FC236}">
                <a16:creationId xmlns:a16="http://schemas.microsoft.com/office/drawing/2014/main" id="{5EEB29F8-63FA-42E8-ACDD-CECCBFAC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080" y="413004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u08-049-audiogram-0-line-b-36">
            <a:extLst xmlns:a="http://schemas.openxmlformats.org/drawingml/2006/main">
              <a:ext uri="{FF2B5EF4-FFF2-40B4-BE49-F238E27FC236}">
                <a16:creationId xmlns:a16="http://schemas.microsoft.com/office/drawing/2014/main" id="{3A9B8A40-1AE1-4B14-9DF9-A4A04B8F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165" y="446817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1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5602605" y="4134803"/>
            <a:ext cx="1432560" cy="33813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903163"/>
            </a:solidFill>
            <a:prstDash val="solid"/>
          </a:ln>
        </p:spPr>
      </p:cxnSp>
      <p:sp>
        <p:nvSpPr>
          <p:cNvPr id="65" name="u08-049-audiogram-0-line-a-37">
            <a:extLst xmlns:a="http://schemas.openxmlformats.org/drawingml/2006/main">
              <a:ext uri="{FF2B5EF4-FFF2-40B4-BE49-F238E27FC236}">
                <a16:creationId xmlns:a16="http://schemas.microsoft.com/office/drawing/2014/main" id="{66454701-53C9-4A80-A696-17BD5217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165" y="446817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u08-049-audiogram-0-line-b-37">
            <a:extLst xmlns:a="http://schemas.openxmlformats.org/drawingml/2006/main">
              <a:ext uri="{FF2B5EF4-FFF2-40B4-BE49-F238E27FC236}">
                <a16:creationId xmlns:a16="http://schemas.microsoft.com/office/drawing/2014/main" id="{4C0CB0B4-9165-4576-8A8B-E833C2B7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580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4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7044690" y="4472941"/>
            <a:ext cx="1432560" cy="67627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903163"/>
            </a:solidFill>
            <a:prstDash val="solid"/>
          </a:ln>
        </p:spPr>
      </p:cxnSp>
      <p:sp>
        <p:nvSpPr>
          <p:cNvPr id="68" name="u08-049-audiogram-0-point-0">
            <a:extLst xmlns:a="http://schemas.openxmlformats.org/drawingml/2006/main">
              <a:ext uri="{FF2B5EF4-FFF2-40B4-BE49-F238E27FC236}">
                <a16:creationId xmlns:a16="http://schemas.microsoft.com/office/drawing/2014/main" id="{096058CA-125D-4467-86C4-00A6AEAF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5991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u08-049-audiogram-0-point-1">
            <a:extLst xmlns:a="http://schemas.openxmlformats.org/drawingml/2006/main">
              <a:ext uri="{FF2B5EF4-FFF2-40B4-BE49-F238E27FC236}">
                <a16:creationId xmlns:a16="http://schemas.microsoft.com/office/drawing/2014/main" id="{EBF64590-9F3C-4A4A-B3E9-8C33DA37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32898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u08-049-audiogram-0-point-2">
            <a:extLst xmlns:a="http://schemas.openxmlformats.org/drawingml/2006/main">
              <a:ext uri="{FF2B5EF4-FFF2-40B4-BE49-F238E27FC236}">
                <a16:creationId xmlns:a16="http://schemas.microsoft.com/office/drawing/2014/main" id="{FA240204-6F93-4631-AACC-65C0F012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3845" y="376856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1" name="u08-049-audiogram-0-point-3">
            <a:extLst xmlns:a="http://schemas.openxmlformats.org/drawingml/2006/main">
              <a:ext uri="{FF2B5EF4-FFF2-40B4-BE49-F238E27FC236}">
                <a16:creationId xmlns:a16="http://schemas.microsoft.com/office/drawing/2014/main" id="{EF878392-47FB-4BC4-94CC-275EF7C9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930" y="407289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u08-049-audiogram-0-point-4">
            <a:extLst xmlns:a="http://schemas.openxmlformats.org/drawingml/2006/main">
              <a:ext uri="{FF2B5EF4-FFF2-40B4-BE49-F238E27FC236}">
                <a16:creationId xmlns:a16="http://schemas.microsoft.com/office/drawing/2014/main" id="{A1B9EF9B-DD0F-417B-97C7-4522BD83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015" y="441102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3" name="u08-049-audiogram-0-point-5">
            <a:extLst xmlns:a="http://schemas.openxmlformats.org/drawingml/2006/main">
              <a:ext uri="{FF2B5EF4-FFF2-40B4-BE49-F238E27FC236}">
                <a16:creationId xmlns:a16="http://schemas.microsoft.com/office/drawing/2014/main" id="{C6A8078F-21D9-4E4D-8B4E-49332EC4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786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u08-049-audiogram-0-label">
            <a:extLst xmlns:a="http://schemas.openxmlformats.org/drawingml/2006/main">
              <a:ext uri="{FF2B5EF4-FFF2-40B4-BE49-F238E27FC236}">
                <a16:creationId xmlns:a16="http://schemas.microsoft.com/office/drawing/2014/main" id="{DF83E564-68E6-4E7A-A9D1-EC74DCD6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95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50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Vía aérea</a:t>
            </a:r>
          </a:p>
        </p:txBody>
      </p:sp>
      <p:sp>
        <p:nvSpPr>
          <p:cNvPr id="75" name="u08-049-audiogram-1-line-a-38">
            <a:extLst xmlns:a="http://schemas.openxmlformats.org/drawingml/2006/main">
              <a:ext uri="{FF2B5EF4-FFF2-40B4-BE49-F238E27FC236}">
                <a16:creationId xmlns:a16="http://schemas.microsoft.com/office/drawing/2014/main" id="{58A7D22C-8F6A-46BB-88FD-27344841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608421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u08-049-audiogram-1-line-b-38">
            <a:extLst xmlns:a="http://schemas.openxmlformats.org/drawingml/2006/main">
              <a:ext uri="{FF2B5EF4-FFF2-40B4-BE49-F238E27FC236}">
                <a16:creationId xmlns:a16="http://schemas.microsoft.com/office/drawing/2014/main" id="{8B4780BB-372B-4C55-8F94-2E3516A5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40794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4" name=""/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 flipV="1">
            <a:off x="1276350" y="2545557"/>
            <a:ext cx="1432560" cy="67627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F7E83"/>
            </a:solidFill>
            <a:prstDash val="solid"/>
          </a:ln>
        </p:spPr>
      </p:cxnSp>
      <p:sp>
        <p:nvSpPr>
          <p:cNvPr id="78" name="u08-049-audiogram-1-line-a-39">
            <a:extLst xmlns:a="http://schemas.openxmlformats.org/drawingml/2006/main">
              <a:ext uri="{FF2B5EF4-FFF2-40B4-BE49-F238E27FC236}">
                <a16:creationId xmlns:a16="http://schemas.microsoft.com/office/drawing/2014/main" id="{243EFB42-F048-4D22-958B-2FD27346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40794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9" name="u08-049-audiogram-1-line-b-39">
            <a:extLst xmlns:a="http://schemas.openxmlformats.org/drawingml/2006/main">
              <a:ext uri="{FF2B5EF4-FFF2-40B4-BE49-F238E27FC236}">
                <a16:creationId xmlns:a16="http://schemas.microsoft.com/office/drawing/2014/main" id="{E35893A4-F692-4414-BEB9-F8C93683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995" y="277749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7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2718435" y="2545557"/>
            <a:ext cx="1432560" cy="236696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F7E83"/>
            </a:solidFill>
            <a:prstDash val="solid"/>
          </a:ln>
        </p:spPr>
      </p:cxnSp>
      <p:sp>
        <p:nvSpPr>
          <p:cNvPr id="81" name="u08-049-audiogram-1-line-a-40">
            <a:extLst xmlns:a="http://schemas.openxmlformats.org/drawingml/2006/main">
              <a:ext uri="{FF2B5EF4-FFF2-40B4-BE49-F238E27FC236}">
                <a16:creationId xmlns:a16="http://schemas.microsoft.com/office/drawing/2014/main" id="{DDD0CC8B-3735-4C81-9DC6-3B697CD4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995" y="277749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2" name="u08-049-audiogram-1-line-b-40">
            <a:extLst xmlns:a="http://schemas.openxmlformats.org/drawingml/2006/main">
              <a:ext uri="{FF2B5EF4-FFF2-40B4-BE49-F238E27FC236}">
                <a16:creationId xmlns:a16="http://schemas.microsoft.com/office/drawing/2014/main" id="{8F654AC8-FE38-454F-8E65-4EAD7291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080" y="298037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0" name=""/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4160520" y="2782253"/>
            <a:ext cx="1432560" cy="202883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F7E83"/>
            </a:solidFill>
            <a:prstDash val="solid"/>
          </a:ln>
        </p:spPr>
      </p:cxnSp>
      <p:sp>
        <p:nvSpPr>
          <p:cNvPr id="84" name="u08-049-audiogram-1-line-a-41">
            <a:extLst xmlns:a="http://schemas.openxmlformats.org/drawingml/2006/main">
              <a:ext uri="{FF2B5EF4-FFF2-40B4-BE49-F238E27FC236}">
                <a16:creationId xmlns:a16="http://schemas.microsoft.com/office/drawing/2014/main" id="{CC3DC384-3F4A-4265-A293-357446F5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080" y="298037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5" name="u08-049-audiogram-1-line-b-41">
            <a:extLst xmlns:a="http://schemas.openxmlformats.org/drawingml/2006/main">
              <a:ext uri="{FF2B5EF4-FFF2-40B4-BE49-F238E27FC236}">
                <a16:creationId xmlns:a16="http://schemas.microsoft.com/office/drawing/2014/main" id="{F3E08863-E9BD-40AA-BAF2-6C463153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165" y="33861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3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5602605" y="2985136"/>
            <a:ext cx="1432560" cy="405765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F7E83"/>
            </a:solidFill>
            <a:prstDash val="solid"/>
          </a:ln>
        </p:spPr>
      </p:cxnSp>
      <p:sp>
        <p:nvSpPr>
          <p:cNvPr id="87" name="u08-049-audiogram-1-line-a-42">
            <a:extLst xmlns:a="http://schemas.openxmlformats.org/drawingml/2006/main">
              <a:ext uri="{FF2B5EF4-FFF2-40B4-BE49-F238E27FC236}">
                <a16:creationId xmlns:a16="http://schemas.microsoft.com/office/drawing/2014/main" id="{8C5FF0BB-663F-4513-A34C-735247E4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165" y="33861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8" name="u08-049-audiogram-1-line-b-42">
            <a:extLst xmlns:a="http://schemas.openxmlformats.org/drawingml/2006/main">
              <a:ext uri="{FF2B5EF4-FFF2-40B4-BE49-F238E27FC236}">
                <a16:creationId xmlns:a16="http://schemas.microsoft.com/office/drawing/2014/main" id="{B6F8434C-3CB1-44B1-9B6B-BB55A750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7579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6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7044690" y="3390901"/>
            <a:ext cx="1432560" cy="101441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F7E83"/>
            </a:solidFill>
            <a:prstDash val="solid"/>
          </a:ln>
        </p:spPr>
      </p:cxnSp>
      <p:sp>
        <p:nvSpPr>
          <p:cNvPr id="90" name="u08-049-audiogram-1-point-0">
            <a:extLst xmlns:a="http://schemas.openxmlformats.org/drawingml/2006/main">
              <a:ext uri="{FF2B5EF4-FFF2-40B4-BE49-F238E27FC236}">
                <a16:creationId xmlns:a16="http://schemas.microsoft.com/office/drawing/2014/main" id="{3CA1C0C5-DBBD-496A-94F2-C054F821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55127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1" name="u08-049-audiogram-1-point-1">
            <a:extLst xmlns:a="http://schemas.openxmlformats.org/drawingml/2006/main">
              <a:ext uri="{FF2B5EF4-FFF2-40B4-BE49-F238E27FC236}">
                <a16:creationId xmlns:a16="http://schemas.microsoft.com/office/drawing/2014/main" id="{6CB38BCE-196D-4E13-9A59-9DE71B70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48364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2" name="u08-049-audiogram-1-point-2">
            <a:extLst xmlns:a="http://schemas.openxmlformats.org/drawingml/2006/main">
              <a:ext uri="{FF2B5EF4-FFF2-40B4-BE49-F238E27FC236}">
                <a16:creationId xmlns:a16="http://schemas.microsoft.com/office/drawing/2014/main" id="{A96312A8-7EFF-4914-8A67-CF7C550B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3845" y="272034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3" name="u08-049-audiogram-1-point-3">
            <a:extLst xmlns:a="http://schemas.openxmlformats.org/drawingml/2006/main">
              <a:ext uri="{FF2B5EF4-FFF2-40B4-BE49-F238E27FC236}">
                <a16:creationId xmlns:a16="http://schemas.microsoft.com/office/drawing/2014/main" id="{F06B88DC-E907-4E07-A8AB-C3E95CDD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930" y="292322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4" name="u08-049-audiogram-1-point-4">
            <a:extLst xmlns:a="http://schemas.openxmlformats.org/drawingml/2006/main">
              <a:ext uri="{FF2B5EF4-FFF2-40B4-BE49-F238E27FC236}">
                <a16:creationId xmlns:a16="http://schemas.microsoft.com/office/drawing/2014/main" id="{2350D171-F8F6-40D5-881D-87438A68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015" y="332898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5" name="u08-049-audiogram-1-point-5">
            <a:extLst xmlns:a="http://schemas.openxmlformats.org/drawingml/2006/main">
              <a:ext uri="{FF2B5EF4-FFF2-40B4-BE49-F238E27FC236}">
                <a16:creationId xmlns:a16="http://schemas.microsoft.com/office/drawing/2014/main" id="{97EFBC5A-3119-42EB-BA98-D7298270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3042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6" name="u08-049-audiogram-1-label">
            <a:extLst xmlns:a="http://schemas.openxmlformats.org/drawingml/2006/main">
              <a:ext uri="{FF2B5EF4-FFF2-40B4-BE49-F238E27FC236}">
                <a16:creationId xmlns:a16="http://schemas.microsoft.com/office/drawing/2014/main" id="{06E38074-75C8-49F6-B710-A2F37559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19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5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Vía ósea</a:t>
            </a:r>
          </a:p>
        </p:txBody>
      </p:sp>
      <p:sp>
        <p:nvSpPr>
          <p:cNvPr id="97" name="u08-049-audiogram-xlabel">
            <a:extLst xmlns:a="http://schemas.openxmlformats.org/drawingml/2006/main">
              <a:ext uri="{FF2B5EF4-FFF2-40B4-BE49-F238E27FC236}">
                <a16:creationId xmlns:a16="http://schemas.microsoft.com/office/drawing/2014/main" id="{CE55ACAA-497E-407A-BD54-DC6E17C1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362575"/>
            <a:ext cx="5686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Frecuencia f (Hz)</a:t>
            </a:r>
          </a:p>
        </p:txBody>
      </p:sp>
      <p:sp>
        <p:nvSpPr>
          <p:cNvPr id="98" name="u08-049-audiogram-ylabel">
            <a:extLst xmlns:a="http://schemas.openxmlformats.org/drawingml/2006/main">
              <a:ext uri="{FF2B5EF4-FFF2-40B4-BE49-F238E27FC236}">
                <a16:creationId xmlns:a16="http://schemas.microsoft.com/office/drawing/2014/main" id="{07B0B603-2998-4830-A5C3-97A28E2D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85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 de audición (dB HL)</a:t>
            </a:r>
          </a:p>
        </p:txBody>
      </p:sp>
      <p:sp>
        <p:nvSpPr>
          <p:cNvPr id="99" name="u08-049-audiogram-note">
            <a:extLst xmlns:a="http://schemas.openxmlformats.org/drawingml/2006/main">
              <a:ext uri="{FF2B5EF4-FFF2-40B4-BE49-F238E27FC236}">
                <a16:creationId xmlns:a16="http://schemas.microsoft.com/office/drawing/2014/main" id="{FB68B7A8-2593-4755-AB5C-04F38741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733925"/>
            <a:ext cx="6638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Datos didácticos ficticios; no representan una patología.</a:t>
            </a:r>
          </a:p>
        </p:txBody>
      </p:sp>
      <p:sp>
        <p:nvSpPr>
          <p:cNvPr id="100" name="u08-049-guide-box">
            <a:extLst xmlns:a="http://schemas.openxmlformats.org/drawingml/2006/main">
              <a:ext uri="{FF2B5EF4-FFF2-40B4-BE49-F238E27FC236}">
                <a16:creationId xmlns:a16="http://schemas.microsoft.com/office/drawing/2014/main" id="{FF7E9ECF-73BA-44C8-ADA2-3B585F62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62125"/>
            <a:ext cx="2524125" cy="314325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1" name="u08-049-guide-title">
            <a:extLst xmlns:a="http://schemas.openxmlformats.org/drawingml/2006/main">
              <a:ext uri="{FF2B5EF4-FFF2-40B4-BE49-F238E27FC236}">
                <a16:creationId xmlns:a16="http://schemas.microsoft.com/office/drawing/2014/main" id="{C89F8D41-BF66-47F1-A77F-F8D9CB93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95475"/>
            <a:ext cx="2181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Orden de lectura</a:t>
            </a:r>
          </a:p>
        </p:txBody>
      </p:sp>
      <p:sp>
        <p:nvSpPr>
          <p:cNvPr id="102" name="u08-049-guide-body">
            <a:extLst xmlns:a="http://schemas.openxmlformats.org/drawingml/2006/main">
              <a:ext uri="{FF2B5EF4-FFF2-40B4-BE49-F238E27FC236}">
                <a16:creationId xmlns:a16="http://schemas.microsoft.com/office/drawing/2014/main" id="{B241036A-26FA-4F0E-B0E4-E7C1B30B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95525"/>
            <a:ext cx="2181225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Frecuencia 2. Oído y vía 3. Valor en dB HL 4. Diferencia entre vías 5. Límite de interpretación</a:t>
            </a:r>
          </a:p>
        </p:txBody>
      </p:sp>
      <p:sp>
        <p:nvSpPr>
          <p:cNvPr id="103" name="top-rail-1">
            <a:extLst xmlns:a="http://schemas.openxmlformats.org/drawingml/2006/main">
              <a:ext uri="{FF2B5EF4-FFF2-40B4-BE49-F238E27FC236}">
                <a16:creationId xmlns:a16="http://schemas.microsoft.com/office/drawing/2014/main" id="{CADFD570-DC68-49F8-8A40-3629E5E3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04" name="top-rail-2">
            <a:extLst xmlns:a="http://schemas.openxmlformats.org/drawingml/2006/main">
              <a:ext uri="{FF2B5EF4-FFF2-40B4-BE49-F238E27FC236}">
                <a16:creationId xmlns:a16="http://schemas.microsoft.com/office/drawing/2014/main" id="{EB0F5CB3-843E-4084-866A-D1A46D4B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5" name="top-rail-3">
            <a:extLst xmlns:a="http://schemas.openxmlformats.org/drawingml/2006/main">
              <a:ext uri="{FF2B5EF4-FFF2-40B4-BE49-F238E27FC236}">
                <a16:creationId xmlns:a16="http://schemas.microsoft.com/office/drawing/2014/main" id="{09121533-30CA-4A90-B3C2-29F907AA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06" name="eyebrow">
            <a:extLst xmlns:a="http://schemas.openxmlformats.org/drawingml/2006/main">
              <a:ext uri="{FF2B5EF4-FFF2-40B4-BE49-F238E27FC236}">
                <a16:creationId xmlns:a16="http://schemas.microsoft.com/office/drawing/2014/main" id="{1B9C265D-9545-485E-9E30-B5CF0034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0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66C4F06-65C4-40B7-BF32-4CD72841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6EBB95-E8E5-41DB-854D-E08DEA68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Lea primero; interprete después</a:t>
            </a:r>
          </a:p>
        </p:txBody>
      </p:sp>
      <p:sp>
        <p:nvSpPr>
          <p:cNvPr id="2" name="U08-050-question-box">
            <a:extLst xmlns:a="http://schemas.openxmlformats.org/drawingml/2006/main">
              <a:ext uri="{FF2B5EF4-FFF2-40B4-BE49-F238E27FC236}">
                <a16:creationId xmlns:a16="http://schemas.microsoft.com/office/drawing/2014/main" id="{3B3CB39D-BA58-4CCA-B770-6C0D86F4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6572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8-050-question-title">
            <a:extLst xmlns:a="http://schemas.openxmlformats.org/drawingml/2006/main">
              <a:ext uri="{FF2B5EF4-FFF2-40B4-BE49-F238E27FC236}">
                <a16:creationId xmlns:a16="http://schemas.microsoft.com/office/drawing/2014/main" id="{500BBF99-2CD6-4233-AD3A-A189B9D4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04975"/>
            <a:ext cx="622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U08-050-question-body">
            <a:extLst xmlns:a="http://schemas.openxmlformats.org/drawingml/2006/main">
              <a:ext uri="{FF2B5EF4-FFF2-40B4-BE49-F238E27FC236}">
                <a16:creationId xmlns:a16="http://schemas.microsoft.com/office/drawing/2014/main" id="{3CFB953A-79B7-4A5B-A781-DCB24185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05025"/>
            <a:ext cx="62293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Lea el punto de 1000 Hz: frecuencia, vía, valor y dato faltante. ¿Qué conclusión está prohibida? Justifique con la magnitud, la unidad y el límite de la conclusión.</a:t>
            </a:r>
          </a:p>
        </p:txBody>
      </p:sp>
      <p:sp>
        <p:nvSpPr>
          <p:cNvPr id="5" name="U08-050-guide-1-box">
            <a:extLst xmlns:a="http://schemas.openxmlformats.org/drawingml/2006/main">
              <a:ext uri="{FF2B5EF4-FFF2-40B4-BE49-F238E27FC236}">
                <a16:creationId xmlns:a16="http://schemas.microsoft.com/office/drawing/2014/main" id="{DA8E9685-093D-44B1-831A-F6A9719B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716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U08-050-guide-1-title">
            <a:extLst xmlns:a="http://schemas.openxmlformats.org/drawingml/2006/main">
              <a:ext uri="{FF2B5EF4-FFF2-40B4-BE49-F238E27FC236}">
                <a16:creationId xmlns:a16="http://schemas.microsoft.com/office/drawing/2014/main" id="{D1C689F2-9274-49BB-AD69-180680F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049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U08-050-guide-1-body">
            <a:extLst xmlns:a="http://schemas.openxmlformats.org/drawingml/2006/main">
              <a:ext uri="{FF2B5EF4-FFF2-40B4-BE49-F238E27FC236}">
                <a16:creationId xmlns:a16="http://schemas.microsoft.com/office/drawing/2014/main" id="{B3129FCD-8C67-4B29-8E2B-E9DA0D99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050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Lea frecuencia, vía y valor</a:t>
            </a:r>
          </a:p>
        </p:txBody>
      </p:sp>
      <p:sp>
        <p:nvSpPr>
          <p:cNvPr id="8" name="U08-050-guide-2-box">
            <a:extLst xmlns:a="http://schemas.openxmlformats.org/drawingml/2006/main">
              <a:ext uri="{FF2B5EF4-FFF2-40B4-BE49-F238E27FC236}">
                <a16:creationId xmlns:a16="http://schemas.microsoft.com/office/drawing/2014/main" id="{326746DD-8F63-4433-9802-47F19F02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908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U08-050-guide-2-title">
            <a:extLst xmlns:a="http://schemas.openxmlformats.org/drawingml/2006/main">
              <a:ext uri="{FF2B5EF4-FFF2-40B4-BE49-F238E27FC236}">
                <a16:creationId xmlns:a16="http://schemas.microsoft.com/office/drawing/2014/main" id="{2EBFAE01-B7F1-425D-B63B-0A779A3B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241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U08-050-guide-2-body">
            <a:extLst xmlns:a="http://schemas.openxmlformats.org/drawingml/2006/main">
              <a:ext uri="{FF2B5EF4-FFF2-40B4-BE49-F238E27FC236}">
                <a16:creationId xmlns:a16="http://schemas.microsoft.com/office/drawing/2014/main" id="{A845ADBA-9450-45AA-A79B-F565FBDF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242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Compare la misma frecuencia</a:t>
            </a:r>
          </a:p>
        </p:txBody>
      </p:sp>
      <p:sp>
        <p:nvSpPr>
          <p:cNvPr id="11" name="U08-050-guide-3-box">
            <a:extLst xmlns:a="http://schemas.openxmlformats.org/drawingml/2006/main">
              <a:ext uri="{FF2B5EF4-FFF2-40B4-BE49-F238E27FC236}">
                <a16:creationId xmlns:a16="http://schemas.microsoft.com/office/drawing/2014/main" id="{7D983161-DDD9-4CB9-9157-69CFCBF3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100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2" name="U08-050-guide-3-title">
            <a:extLst xmlns:a="http://schemas.openxmlformats.org/drawingml/2006/main">
              <a:ext uri="{FF2B5EF4-FFF2-40B4-BE49-F238E27FC236}">
                <a16:creationId xmlns:a16="http://schemas.microsoft.com/office/drawing/2014/main" id="{D4C4EF1B-F72B-4B77-BC3F-4BD55902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433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U08-050-guide-3-body">
            <a:extLst xmlns:a="http://schemas.openxmlformats.org/drawingml/2006/main">
              <a:ext uri="{FF2B5EF4-FFF2-40B4-BE49-F238E27FC236}">
                <a16:creationId xmlns:a16="http://schemas.microsoft.com/office/drawing/2014/main" id="{63E3D9A0-C8D8-4FE6-9280-071AC9B5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434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nombre una enfermedad</a:t>
            </a:r>
          </a:p>
        </p:txBody>
      </p:sp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B67F8D8F-6DC7-44F7-A1DC-E299C2D5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 xmlns:a="http://schemas.openxmlformats.org/drawingml/2006/main">
              <a:ext uri="{FF2B5EF4-FFF2-40B4-BE49-F238E27FC236}">
                <a16:creationId xmlns:a16="http://schemas.microsoft.com/office/drawing/2014/main" id="{996CF5B2-BA04-4EC4-AE8E-E60A93B6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 xmlns:a="http://schemas.openxmlformats.org/drawingml/2006/main">
              <a:ext uri="{FF2B5EF4-FFF2-40B4-BE49-F238E27FC236}">
                <a16:creationId xmlns:a16="http://schemas.microsoft.com/office/drawing/2014/main" id="{90A40EC5-2E05-4B7B-B82D-7BAEB9ED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D8E41ED8-5085-4767-8C09-7192DD78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E04805B-0532-4A8D-A0B3-1F85CCE3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2464A1-50A5-4693-904E-36ACD0A8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G_AO(f) resta umbrales compatibles a la misma frecuencia</a:t>
            </a:r>
          </a:p>
        </p:txBody>
      </p:sp>
      <p:sp>
        <p:nvSpPr>
          <p:cNvPr id="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5576AC4A-44C5-4B61-BF58-8E3F6B36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33550"/>
            <a:ext cx="962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3" name="equation">
            <a:extLst xmlns:a="http://schemas.openxmlformats.org/drawingml/2006/main">
              <a:ext uri="{FF2B5EF4-FFF2-40B4-BE49-F238E27FC236}">
                <a16:creationId xmlns:a16="http://schemas.microsoft.com/office/drawing/2014/main" id="{FA2BB5E4-F5E8-4453-8B21-1E8739C5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847850"/>
            <a:ext cx="9163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G_AO(f) = L_VA(f) − L_VO(f)</a:t>
            </a:r>
          </a:p>
        </p:txBody>
      </p:sp>
      <p:sp>
        <p:nvSpPr>
          <p:cNvPr id="4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EFC49075-BF1C-404E-86A0-5CB862ED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F3A3BB7B-70A9-4FC7-B5DF-84729173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6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28D661D7-6BD0-4928-9963-91BCD22F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diferencia describe dos registros en dB HL no nombra una enfermedad.</a:t>
            </a:r>
          </a:p>
        </p:txBody>
      </p:sp>
      <p:sp>
        <p:nvSpPr>
          <p:cNvPr id="7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4722F53D-F15E-4F27-BC36-CD356B70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83EEB71A-D33D-437F-8582-E7026130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9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CEF8AFF7-289D-4F15-8A66-DC0F4AAF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LVA y LVO deben estar expresados en dB HL, a la misma frecuencia y bajo condiciones comparables. La diferencia se informa en dB y no nombra una enfermedad.</a:t>
            </a:r>
          </a:p>
        </p:txBody>
      </p:sp>
      <p:sp>
        <p:nvSpPr>
          <p:cNvPr id="10" name="top-rail-1">
            <a:extLst xmlns:a="http://schemas.openxmlformats.org/drawingml/2006/main">
              <a:ext uri="{FF2B5EF4-FFF2-40B4-BE49-F238E27FC236}">
                <a16:creationId xmlns:a16="http://schemas.microsoft.com/office/drawing/2014/main" id="{EDBCB2B0-1A26-48B7-9E53-0CDDC535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 xmlns:a="http://schemas.openxmlformats.org/drawingml/2006/main">
              <a:ext uri="{FF2B5EF4-FFF2-40B4-BE49-F238E27FC236}">
                <a16:creationId xmlns:a16="http://schemas.microsoft.com/office/drawing/2014/main" id="{A60775F3-BB9B-4D02-9481-18658E0C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 xmlns:a="http://schemas.openxmlformats.org/drawingml/2006/main">
              <a:ext uri="{FF2B5EF4-FFF2-40B4-BE49-F238E27FC236}">
                <a16:creationId xmlns:a16="http://schemas.microsoft.com/office/drawing/2014/main" id="{DBB74282-D1CF-4EF6-80C0-B0EE31F1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A95D83B6-82B8-4C70-B506-D2304DAC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43EBE69-F0DE-4D7D-A5C0-C9309069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839292-D8B3-4F3B-9249-72D0625C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 1000 Hz, la diferencia entre vías es 25 dB</a:t>
            </a:r>
          </a:p>
        </p:txBody>
      </p:sp>
      <p:sp>
        <p:nvSpPr>
          <p:cNvPr id="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52D2EAEE-1514-4676-8675-9F5A6361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33550"/>
            <a:ext cx="962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3" name="equation">
            <a:extLst xmlns:a="http://schemas.openxmlformats.org/drawingml/2006/main">
              <a:ext uri="{FF2B5EF4-FFF2-40B4-BE49-F238E27FC236}">
                <a16:creationId xmlns:a16="http://schemas.microsoft.com/office/drawing/2014/main" id="{BC94A1D4-4462-4721-AD76-DA15A22B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847850"/>
            <a:ext cx="9163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G_AO(1000 Hz) = 40 dB HL − 15 dB HL = 25 dB</a:t>
            </a:r>
          </a:p>
        </p:txBody>
      </p:sp>
      <p:sp>
        <p:nvSpPr>
          <p:cNvPr id="4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7ED9264B-D99C-41C6-AD22-54118CBD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A184B401-06B0-405D-B1D4-B821BC5F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6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D7E3ECD8-453F-4B18-83D4-AAE3ED52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40 dB HL - 15 dB HL = 25 dB el resultado no autoriza un diagnóstico. Datos escala/frecuencia común sustitución resultado límite</a:t>
            </a:r>
          </a:p>
        </p:txBody>
      </p:sp>
      <p:sp>
        <p:nvSpPr>
          <p:cNvPr id="7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F75FDB70-5084-4281-9870-A0142D1A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5F8390FA-D806-459B-B246-11FAB1C0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9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084F63EB-0FE6-413B-871E-62AAE20D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G_AO(1000 Hz) = 40 dB HL − 15 dB HL = 25 dB. Interpretar el resultado por separado del cálculo.</a:t>
            </a:r>
          </a:p>
        </p:txBody>
      </p:sp>
      <p:sp>
        <p:nvSpPr>
          <p:cNvPr id="10" name="top-rail-1">
            <a:extLst xmlns:a="http://schemas.openxmlformats.org/drawingml/2006/main">
              <a:ext uri="{FF2B5EF4-FFF2-40B4-BE49-F238E27FC236}">
                <a16:creationId xmlns:a16="http://schemas.microsoft.com/office/drawing/2014/main" id="{0EB6737F-73B8-409E-A9FB-D374C279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 xmlns:a="http://schemas.openxmlformats.org/drawingml/2006/main">
              <a:ext uri="{FF2B5EF4-FFF2-40B4-BE49-F238E27FC236}">
                <a16:creationId xmlns:a16="http://schemas.microsoft.com/office/drawing/2014/main" id="{53CB435F-5B45-442A-8326-2CA20284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 xmlns:a="http://schemas.openxmlformats.org/drawingml/2006/main">
              <a:ext uri="{FF2B5EF4-FFF2-40B4-BE49-F238E27FC236}">
                <a16:creationId xmlns:a16="http://schemas.microsoft.com/office/drawing/2014/main" id="{18D2DA7D-7215-458F-A032-EC386CC1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32A2A0EC-1AFE-4052-BED8-32BCA79F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023F7FC-1AD4-4326-8380-8843B066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239A81-00F7-4A4E-B711-B54E3653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audiograma depende de ambiente, transductor, consigna y enmascaramiento</a:t>
            </a:r>
          </a:p>
        </p:txBody>
      </p:sp>
      <p:sp>
        <p:nvSpPr>
          <p:cNvPr id="2" name="U08-053-card-1-box">
            <a:extLst xmlns:a="http://schemas.openxmlformats.org/drawingml/2006/main">
              <a:ext uri="{FF2B5EF4-FFF2-40B4-BE49-F238E27FC236}">
                <a16:creationId xmlns:a16="http://schemas.microsoft.com/office/drawing/2014/main" id="{3CCD04A4-A1D3-44E2-B4EE-65EE4C89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047875" cy="2571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053-card-1-title">
            <a:extLst xmlns:a="http://schemas.openxmlformats.org/drawingml/2006/main">
              <a:ext uri="{FF2B5EF4-FFF2-40B4-BE49-F238E27FC236}">
                <a16:creationId xmlns:a16="http://schemas.microsoft.com/office/drawing/2014/main" id="{F695388B-91A2-4FB1-806F-77804EF2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859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Ambiente</a:t>
            </a:r>
          </a:p>
        </p:txBody>
      </p:sp>
      <p:sp>
        <p:nvSpPr>
          <p:cNvPr id="4" name="U08-053-card-1-body">
            <a:extLst xmlns:a="http://schemas.openxmlformats.org/drawingml/2006/main">
              <a:ext uri="{FF2B5EF4-FFF2-40B4-BE49-F238E27FC236}">
                <a16:creationId xmlns:a16="http://schemas.microsoft.com/office/drawing/2014/main" id="{2AE73EE2-DF40-4B58-8620-041A87B6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86025"/>
            <a:ext cx="1704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Ruido de fondo</a:t>
            </a:r>
          </a:p>
        </p:txBody>
      </p:sp>
      <p:sp>
        <p:nvSpPr>
          <p:cNvPr id="5" name="U08-053-card-2-box">
            <a:extLst xmlns:a="http://schemas.openxmlformats.org/drawingml/2006/main">
              <a:ext uri="{FF2B5EF4-FFF2-40B4-BE49-F238E27FC236}">
                <a16:creationId xmlns:a16="http://schemas.microsoft.com/office/drawing/2014/main" id="{3BB5F4F5-000F-425C-8DD8-2C0973AA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52625"/>
            <a:ext cx="2047875" cy="2571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U08-053-card-2-title">
            <a:extLst xmlns:a="http://schemas.openxmlformats.org/drawingml/2006/main">
              <a:ext uri="{FF2B5EF4-FFF2-40B4-BE49-F238E27FC236}">
                <a16:creationId xmlns:a16="http://schemas.microsoft.com/office/drawing/2014/main" id="{3CDFE578-03C0-4A91-9D8C-1C3E28E2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859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Transductor</a:t>
            </a:r>
          </a:p>
        </p:txBody>
      </p:sp>
      <p:sp>
        <p:nvSpPr>
          <p:cNvPr id="7" name="U08-053-card-2-body">
            <a:extLst xmlns:a="http://schemas.openxmlformats.org/drawingml/2006/main">
              <a:ext uri="{FF2B5EF4-FFF2-40B4-BE49-F238E27FC236}">
                <a16:creationId xmlns:a16="http://schemas.microsoft.com/office/drawing/2014/main" id="{F1BC20EC-BE87-4006-88E9-B3B9786F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86025"/>
            <a:ext cx="1704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Tipo y colocación</a:t>
            </a:r>
          </a:p>
        </p:txBody>
      </p:sp>
      <p:sp>
        <p:nvSpPr>
          <p:cNvPr id="8" name="U08-053-card-3-box">
            <a:extLst xmlns:a="http://schemas.openxmlformats.org/drawingml/2006/main">
              <a:ext uri="{FF2B5EF4-FFF2-40B4-BE49-F238E27FC236}">
                <a16:creationId xmlns:a16="http://schemas.microsoft.com/office/drawing/2014/main" id="{37E527DD-5FF7-47CE-8437-4EC70672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52625"/>
            <a:ext cx="2047875" cy="2571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U08-053-card-3-title">
            <a:extLst xmlns:a="http://schemas.openxmlformats.org/drawingml/2006/main">
              <a:ext uri="{FF2B5EF4-FFF2-40B4-BE49-F238E27FC236}">
                <a16:creationId xmlns:a16="http://schemas.microsoft.com/office/drawing/2014/main" id="{9BD4057B-13CE-42FD-9032-C6430E4A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0859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10" name="U08-053-card-3-body">
            <a:extLst xmlns:a="http://schemas.openxmlformats.org/drawingml/2006/main">
              <a:ext uri="{FF2B5EF4-FFF2-40B4-BE49-F238E27FC236}">
                <a16:creationId xmlns:a16="http://schemas.microsoft.com/office/drawing/2014/main" id="{23176016-EE00-4DDE-8785-C75F2580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486025"/>
            <a:ext cx="1704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Tarea comprendida</a:t>
            </a:r>
          </a:p>
        </p:txBody>
      </p:sp>
      <p:sp>
        <p:nvSpPr>
          <p:cNvPr id="11" name="U08-053-card-4-box">
            <a:extLst xmlns:a="http://schemas.openxmlformats.org/drawingml/2006/main">
              <a:ext uri="{FF2B5EF4-FFF2-40B4-BE49-F238E27FC236}">
                <a16:creationId xmlns:a16="http://schemas.microsoft.com/office/drawing/2014/main" id="{470632B1-AC5D-4EB1-B97E-C156F167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2047875" cy="2571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2" name="U08-053-card-4-title">
            <a:extLst xmlns:a="http://schemas.openxmlformats.org/drawingml/2006/main">
              <a:ext uri="{FF2B5EF4-FFF2-40B4-BE49-F238E27FC236}">
                <a16:creationId xmlns:a16="http://schemas.microsoft.com/office/drawing/2014/main" id="{95E3E924-011B-47A7-9694-16312176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859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Enmascaramiento</a:t>
            </a:r>
          </a:p>
        </p:txBody>
      </p:sp>
      <p:sp>
        <p:nvSpPr>
          <p:cNvPr id="13" name="U08-053-card-4-body">
            <a:extLst xmlns:a="http://schemas.openxmlformats.org/drawingml/2006/main">
              <a:ext uri="{FF2B5EF4-FFF2-40B4-BE49-F238E27FC236}">
                <a16:creationId xmlns:a16="http://schemas.microsoft.com/office/drawing/2014/main" id="{79E755A8-6234-4A3D-A0E1-AE301DB9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86025"/>
            <a:ext cx="1704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Cruce entre oídos</a:t>
            </a:r>
          </a:p>
        </p:txBody>
      </p:sp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C7822E15-76F0-434B-A904-9DEB6960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 xmlns:a="http://schemas.openxmlformats.org/drawingml/2006/main">
              <a:ext uri="{FF2B5EF4-FFF2-40B4-BE49-F238E27FC236}">
                <a16:creationId xmlns:a16="http://schemas.microsoft.com/office/drawing/2014/main" id="{4B1C6D61-CB67-48F6-9C1D-A4A7B32C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 xmlns:a="http://schemas.openxmlformats.org/drawingml/2006/main">
              <a:ext uri="{FF2B5EF4-FFF2-40B4-BE49-F238E27FC236}">
                <a16:creationId xmlns:a16="http://schemas.microsoft.com/office/drawing/2014/main" id="{19EEC979-7EF6-4A21-8D8A-7856724C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BCAA7675-EACD-4174-ADE5-46EDBB19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AMPLIACIÓN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1D704E9-AC9E-4E17-A482-F697B4C0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26A3E6-F342-41E2-A73C-A7F0AC3E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el audiograma organiza umbrales, no diagnósticos</a:t>
            </a:r>
          </a:p>
        </p:txBody>
      </p:sp>
      <p:sp>
        <p:nvSpPr>
          <p:cNvPr id="2" name="U08-054-recap-0-box">
            <a:extLst xmlns:a="http://schemas.openxmlformats.org/drawingml/2006/main">
              <a:ext uri="{FF2B5EF4-FFF2-40B4-BE49-F238E27FC236}">
                <a16:creationId xmlns:a16="http://schemas.microsoft.com/office/drawing/2014/main" id="{FD5DA820-63DA-40F0-9B92-2F7E1394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054-recap-0-title">
            <a:extLst xmlns:a="http://schemas.openxmlformats.org/drawingml/2006/main">
              <a:ext uri="{FF2B5EF4-FFF2-40B4-BE49-F238E27FC236}">
                <a16:creationId xmlns:a16="http://schemas.microsoft.com/office/drawing/2014/main" id="{FD387027-D4DC-4D34-8B4E-811212D2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U08-054-recap-0-body">
            <a:extLst xmlns:a="http://schemas.openxmlformats.org/drawingml/2006/main">
              <a:ext uri="{FF2B5EF4-FFF2-40B4-BE49-F238E27FC236}">
                <a16:creationId xmlns:a16="http://schemas.microsoft.com/office/drawing/2014/main" id="{4DDE19F6-F49D-42ED-9245-FAB87AD0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Leer frecuencia, oído y vía</a:t>
            </a:r>
          </a:p>
        </p:txBody>
      </p:sp>
      <p:sp>
        <p:nvSpPr>
          <p:cNvPr id="5" name="U08-054-recap-1-box">
            <a:extLst xmlns:a="http://schemas.openxmlformats.org/drawingml/2006/main">
              <a:ext uri="{FF2B5EF4-FFF2-40B4-BE49-F238E27FC236}">
                <a16:creationId xmlns:a16="http://schemas.microsoft.com/office/drawing/2014/main" id="{F1F555BD-E1F6-4BA6-83F8-6B55B037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U08-054-recap-1-title">
            <a:extLst xmlns:a="http://schemas.openxmlformats.org/drawingml/2006/main">
              <a:ext uri="{FF2B5EF4-FFF2-40B4-BE49-F238E27FC236}">
                <a16:creationId xmlns:a16="http://schemas.microsoft.com/office/drawing/2014/main" id="{9C3A9FB3-4FF7-40FC-A32A-21A6FAE9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U08-054-recap-1-body">
            <a:extLst xmlns:a="http://schemas.openxmlformats.org/drawingml/2006/main">
              <a:ext uri="{FF2B5EF4-FFF2-40B4-BE49-F238E27FC236}">
                <a16:creationId xmlns:a16="http://schemas.microsoft.com/office/drawing/2014/main" id="{0CD2C2A5-E5C2-4D4D-91B4-17F587F7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Comparar condiciones compatibles</a:t>
            </a:r>
          </a:p>
        </p:txBody>
      </p:sp>
      <p:sp>
        <p:nvSpPr>
          <p:cNvPr id="8" name="U08-054-recap-2-box">
            <a:extLst xmlns:a="http://schemas.openxmlformats.org/drawingml/2006/main">
              <a:ext uri="{FF2B5EF4-FFF2-40B4-BE49-F238E27FC236}">
                <a16:creationId xmlns:a16="http://schemas.microsoft.com/office/drawing/2014/main" id="{F579CDD2-2784-4931-8A8A-033456AD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U08-054-recap-2-title">
            <a:extLst xmlns:a="http://schemas.openxmlformats.org/drawingml/2006/main">
              <a:ext uri="{FF2B5EF4-FFF2-40B4-BE49-F238E27FC236}">
                <a16:creationId xmlns:a16="http://schemas.microsoft.com/office/drawing/2014/main" id="{3E8E6BBC-1AE0-4534-81ED-EF4A78AD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0" name="U08-054-recap-2-body">
            <a:extLst xmlns:a="http://schemas.openxmlformats.org/drawingml/2006/main">
              <a:ext uri="{FF2B5EF4-FFF2-40B4-BE49-F238E27FC236}">
                <a16:creationId xmlns:a16="http://schemas.microsoft.com/office/drawing/2014/main" id="{C5A34733-527B-48EE-9381-994301D6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Informar la diferencia en dB</a:t>
            </a:r>
          </a:p>
        </p:txBody>
      </p:sp>
      <p:sp>
        <p:nvSpPr>
          <p:cNvPr id="11" name="U08-054-recap-3-box">
            <a:extLst xmlns:a="http://schemas.openxmlformats.org/drawingml/2006/main">
              <a:ext uri="{FF2B5EF4-FFF2-40B4-BE49-F238E27FC236}">
                <a16:creationId xmlns:a16="http://schemas.microsoft.com/office/drawing/2014/main" id="{2F744338-37A7-4252-BDD0-13AF0C41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2" name="U08-054-recap-3-title">
            <a:extLst xmlns:a="http://schemas.openxmlformats.org/drawingml/2006/main">
              <a:ext uri="{FF2B5EF4-FFF2-40B4-BE49-F238E27FC236}">
                <a16:creationId xmlns:a16="http://schemas.microsoft.com/office/drawing/2014/main" id="{FD6C7E28-7BD7-4D06-97B6-FFD5D1D2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3" name="U08-054-recap-3-body">
            <a:extLst xmlns:a="http://schemas.openxmlformats.org/drawingml/2006/main">
              <a:ext uri="{FF2B5EF4-FFF2-40B4-BE49-F238E27FC236}">
                <a16:creationId xmlns:a16="http://schemas.microsoft.com/office/drawing/2014/main" id="{BB0A6A0F-E26B-444A-B8C2-33B73A9A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nombrar una enfermedad</a:t>
            </a:r>
          </a:p>
        </p:txBody>
      </p:sp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BFFC4D99-7A88-4CFB-BFB1-DD159F8D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 xmlns:a="http://schemas.openxmlformats.org/drawingml/2006/main">
              <a:ext uri="{FF2B5EF4-FFF2-40B4-BE49-F238E27FC236}">
                <a16:creationId xmlns:a16="http://schemas.microsoft.com/office/drawing/2014/main" id="{393F8A9F-25B8-4E0F-98ED-0FF5C6F0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 xmlns:a="http://schemas.openxmlformats.org/drawingml/2006/main">
              <a:ext uri="{FF2B5EF4-FFF2-40B4-BE49-F238E27FC236}">
                <a16:creationId xmlns:a16="http://schemas.microsoft.com/office/drawing/2014/main" id="{D92E5FC5-241E-4903-A105-15D5082C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7C6496E9-D94D-4804-BB7E-F6BCED18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5DF6668-6705-421A-A909-6A71D6CC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77E898F7-C5A7-4A09-9C1D-D7A36777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B4109140-1D5B-4A94-9317-D8288EDC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agrega una tarea verbal o una comparación perceptual?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77B6239B-48D3-4A70-AA30-33F7935E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 del bloque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F41A987-B1B1-47FD-97FD-BF68F24A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CFCB4F-2956-4E5C-A0DD-C8E46681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logoaudiometría evalúa respuestas a material verbal controlado</a:t>
            </a:r>
          </a:p>
        </p:txBody>
      </p:sp>
      <p:sp>
        <p:nvSpPr>
          <p:cNvPr id="2" name="U08-056-process-anchor-1">
            <a:extLst xmlns:a="http://schemas.openxmlformats.org/drawingml/2006/main">
              <a:ext uri="{FF2B5EF4-FFF2-40B4-BE49-F238E27FC236}">
                <a16:creationId xmlns:a16="http://schemas.microsoft.com/office/drawing/2014/main" id="{90B27565-8567-41DC-939E-94CF1B67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U08-056-process-anchor-2">
            <a:extLst xmlns:a="http://schemas.openxmlformats.org/drawingml/2006/main">
              <a:ext uri="{FF2B5EF4-FFF2-40B4-BE49-F238E27FC236}">
                <a16:creationId xmlns:a16="http://schemas.microsoft.com/office/drawing/2014/main" id="{0AE61AF9-75E1-43D3-9404-DC09DDD2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88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U08-056-process-anchor-3">
            <a:extLst xmlns:a="http://schemas.openxmlformats.org/drawingml/2006/main">
              <a:ext uri="{FF2B5EF4-FFF2-40B4-BE49-F238E27FC236}">
                <a16:creationId xmlns:a16="http://schemas.microsoft.com/office/drawing/2014/main" id="{BCF5B521-A832-45E7-A6D7-6F2C455A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U08-056-process-anchor-4">
            <a:extLst xmlns:a="http://schemas.openxmlformats.org/drawingml/2006/main">
              <a:ext uri="{FF2B5EF4-FFF2-40B4-BE49-F238E27FC236}">
                <a16:creationId xmlns:a16="http://schemas.microsoft.com/office/drawing/2014/main" id="{81E5665F-180C-435B-B2A8-0B67E46B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138488" y="3095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981701" y="3095625"/>
            <a:ext cx="228599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824913" y="3095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9" name="U08-056-process-1-box">
            <a:extLst xmlns:a="http://schemas.openxmlformats.org/drawingml/2006/main">
              <a:ext uri="{FF2B5EF4-FFF2-40B4-BE49-F238E27FC236}">
                <a16:creationId xmlns:a16="http://schemas.microsoft.com/office/drawing/2014/main" id="{BED1B1B7-14FF-4A3B-A728-C29E1B70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U08-056-process-1-title">
            <a:extLst xmlns:a="http://schemas.openxmlformats.org/drawingml/2006/main">
              <a:ext uri="{FF2B5EF4-FFF2-40B4-BE49-F238E27FC236}">
                <a16:creationId xmlns:a16="http://schemas.microsoft.com/office/drawing/2014/main" id="{465538A1-589E-49BD-A4CC-08D380A0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28850"/>
            <a:ext cx="22717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U08-056-process-1-body">
            <a:extLst xmlns:a="http://schemas.openxmlformats.org/drawingml/2006/main">
              <a:ext uri="{FF2B5EF4-FFF2-40B4-BE49-F238E27FC236}">
                <a16:creationId xmlns:a16="http://schemas.microsoft.com/office/drawing/2014/main" id="{D2FCEEEA-AB90-41B1-B870-320049B6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28900"/>
            <a:ext cx="2271713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Material verbal e idioma definidos.</a:t>
            </a:r>
          </a:p>
        </p:txBody>
      </p:sp>
      <p:sp>
        <p:nvSpPr>
          <p:cNvPr id="12" name="U08-056-process-2-box">
            <a:extLst xmlns:a="http://schemas.openxmlformats.org/drawingml/2006/main">
              <a:ext uri="{FF2B5EF4-FFF2-40B4-BE49-F238E27FC236}">
                <a16:creationId xmlns:a16="http://schemas.microsoft.com/office/drawing/2014/main" id="{0424B661-E1E0-4903-BD34-18F871D3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88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3" name="U08-056-process-2-title">
            <a:extLst xmlns:a="http://schemas.openxmlformats.org/drawingml/2006/main">
              <a:ext uri="{FF2B5EF4-FFF2-40B4-BE49-F238E27FC236}">
                <a16:creationId xmlns:a16="http://schemas.microsoft.com/office/drawing/2014/main" id="{42747841-D3BB-43DB-BB97-B2F4B3CD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2228850"/>
            <a:ext cx="22717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U08-056-process-2-body">
            <a:extLst xmlns:a="http://schemas.openxmlformats.org/drawingml/2006/main">
              <a:ext uri="{FF2B5EF4-FFF2-40B4-BE49-F238E27FC236}">
                <a16:creationId xmlns:a16="http://schemas.microsoft.com/office/drawing/2014/main" id="{30172202-D8CD-41B3-9723-D2567FCE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2628900"/>
            <a:ext cx="2271713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Nivel, escala, oído y modo de presentación declarados.</a:t>
            </a:r>
          </a:p>
        </p:txBody>
      </p:sp>
      <p:sp>
        <p:nvSpPr>
          <p:cNvPr id="15" name="U08-056-process-3-box">
            <a:extLst xmlns:a="http://schemas.openxmlformats.org/drawingml/2006/main">
              <a:ext uri="{FF2B5EF4-FFF2-40B4-BE49-F238E27FC236}">
                <a16:creationId xmlns:a16="http://schemas.microsoft.com/office/drawing/2014/main" id="{D8288C64-0FDF-4781-9E83-4DC2D182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6" name="U08-056-process-3-title">
            <a:extLst xmlns:a="http://schemas.openxmlformats.org/drawingml/2006/main">
              <a:ext uri="{FF2B5EF4-FFF2-40B4-BE49-F238E27FC236}">
                <a16:creationId xmlns:a16="http://schemas.microsoft.com/office/drawing/2014/main" id="{1F3388CC-F265-4F78-942C-DCC4A9CC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28850"/>
            <a:ext cx="22717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" name="U08-056-process-3-body">
            <a:extLst xmlns:a="http://schemas.openxmlformats.org/drawingml/2006/main">
              <a:ext uri="{FF2B5EF4-FFF2-40B4-BE49-F238E27FC236}">
                <a16:creationId xmlns:a16="http://schemas.microsoft.com/office/drawing/2014/main" id="{E564A669-3CAF-4DF0-956F-C1AF86E4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2271713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Consigna y respuesta observables.</a:t>
            </a:r>
          </a:p>
        </p:txBody>
      </p:sp>
      <p:sp>
        <p:nvSpPr>
          <p:cNvPr id="18" name="U08-056-process-4-box">
            <a:extLst xmlns:a="http://schemas.openxmlformats.org/drawingml/2006/main">
              <a:ext uri="{FF2B5EF4-FFF2-40B4-BE49-F238E27FC236}">
                <a16:creationId xmlns:a16="http://schemas.microsoft.com/office/drawing/2014/main" id="{B5BC83DF-95BB-44C7-8B16-A0BE4B92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9" name="U08-056-process-4-title">
            <a:extLst xmlns:a="http://schemas.openxmlformats.org/drawingml/2006/main">
              <a:ext uri="{FF2B5EF4-FFF2-40B4-BE49-F238E27FC236}">
                <a16:creationId xmlns:a16="http://schemas.microsoft.com/office/drawing/2014/main" id="{A76FFBD9-5E58-4714-9072-613D5BA7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2228850"/>
            <a:ext cx="22717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0" name="U08-056-process-4-body">
            <a:extLst xmlns:a="http://schemas.openxmlformats.org/drawingml/2006/main">
              <a:ext uri="{FF2B5EF4-FFF2-40B4-BE49-F238E27FC236}">
                <a16:creationId xmlns:a16="http://schemas.microsoft.com/office/drawing/2014/main" id="{B9F9FFD2-4CB7-4DD6-A917-1E9E46D6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2628900"/>
            <a:ext cx="2271713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Puntuación: porcentaje correcto o umbral, según la tarea.</a:t>
            </a:r>
          </a:p>
        </p:txBody>
      </p:sp>
      <p:sp>
        <p:nvSpPr>
          <p:cNvPr id="21" name="top-rail-1">
            <a:extLst xmlns:a="http://schemas.openxmlformats.org/drawingml/2006/main">
              <a:ext uri="{FF2B5EF4-FFF2-40B4-BE49-F238E27FC236}">
                <a16:creationId xmlns:a16="http://schemas.microsoft.com/office/drawing/2014/main" id="{540D6838-9DE9-4B9A-B815-4570AC05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6DCBCEA-E596-47B0-94FB-999187F4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FEBA729-19FF-4B2B-B292-9D0BDD95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97F2C4A7-0C47-4BB3-8227-A3AAE683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0CDC944-0F2C-4402-80A0-0A5A0A29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06EBCA-BE2A-4686-897C-D9006E18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curva desempeño–nivel relaciona presentación y respuestas correctas</a:t>
            </a:r>
          </a:p>
        </p:txBody>
      </p:sp>
      <p:sp>
        <p:nvSpPr>
          <p:cNvPr id="2" name="u08-057-performance-frame">
            <a:extLst xmlns:a="http://schemas.openxmlformats.org/drawingml/2006/main">
              <a:ext uri="{FF2B5EF4-FFF2-40B4-BE49-F238E27FC236}">
                <a16:creationId xmlns:a16="http://schemas.microsoft.com/office/drawing/2014/main" id="{76A3FE0C-2D13-4395-B68E-EA4CD425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781050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</p:sp>
      <p:sp>
        <p:nvSpPr>
          <p:cNvPr id="3" name="u08-057-performance-x-a-43">
            <a:extLst xmlns:a="http://schemas.openxmlformats.org/drawingml/2006/main">
              <a:ext uri="{FF2B5EF4-FFF2-40B4-BE49-F238E27FC236}">
                <a16:creationId xmlns:a16="http://schemas.microsoft.com/office/drawing/2014/main" id="{B755F7D3-B9A6-4830-A534-9D05EC15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u08-057-performance-x-b-43">
            <a:extLst xmlns:a="http://schemas.openxmlformats.org/drawingml/2006/main">
              <a:ext uri="{FF2B5EF4-FFF2-40B4-BE49-F238E27FC236}">
                <a16:creationId xmlns:a16="http://schemas.microsoft.com/office/drawing/2014/main" id="{04E14AE2-423F-4E34-B0AC-1287AEC5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276350" y="5081588"/>
            <a:ext cx="6819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6" name="u08-057-performance-y-a-44">
            <a:extLst xmlns:a="http://schemas.openxmlformats.org/drawingml/2006/main">
              <a:ext uri="{FF2B5EF4-FFF2-40B4-BE49-F238E27FC236}">
                <a16:creationId xmlns:a16="http://schemas.microsoft.com/office/drawing/2014/main" id="{92CA01D7-357B-4AF9-93D6-6C98FB1C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08-057-performance-y-b-44">
            <a:extLst xmlns:a="http://schemas.openxmlformats.org/drawingml/2006/main">
              <a:ext uri="{FF2B5EF4-FFF2-40B4-BE49-F238E27FC236}">
                <a16:creationId xmlns:a16="http://schemas.microsoft.com/office/drawing/2014/main" id="{26E45862-8CA8-411E-99AB-D6B68BFC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H="1" flipV="1">
            <a:off x="1266825" y="1700213"/>
            <a:ext cx="9525" cy="3381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9" name="u08-057-performance-grid-y-a-45">
            <a:extLst xmlns:a="http://schemas.openxmlformats.org/drawingml/2006/main">
              <a:ext uri="{FF2B5EF4-FFF2-40B4-BE49-F238E27FC236}">
                <a16:creationId xmlns:a16="http://schemas.microsoft.com/office/drawing/2014/main" id="{2890975E-B655-4A63-AD89-8ADC00FE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8-057-performance-grid-y-b-45">
            <a:extLst xmlns:a="http://schemas.openxmlformats.org/drawingml/2006/main">
              <a:ext uri="{FF2B5EF4-FFF2-40B4-BE49-F238E27FC236}">
                <a16:creationId xmlns:a16="http://schemas.microsoft.com/office/drawing/2014/main" id="{1A1A61AF-49D8-4235-B296-24942FDA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276350" y="5081588"/>
            <a:ext cx="6819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CE0"/>
            </a:solidFill>
            <a:prstDash val="solid"/>
          </a:ln>
        </p:spPr>
      </p:cxnSp>
      <p:sp>
        <p:nvSpPr>
          <p:cNvPr id="12" name="u08-057-performance-ytick">
            <a:extLst xmlns:a="http://schemas.openxmlformats.org/drawingml/2006/main">
              <a:ext uri="{FF2B5EF4-FFF2-40B4-BE49-F238E27FC236}">
                <a16:creationId xmlns:a16="http://schemas.microsoft.com/office/drawing/2014/main" id="{70481FE4-21DA-4F09-9788-19EC41AB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9625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3" name="u08-057-performance-grid-y-a-46">
            <a:extLst xmlns:a="http://schemas.openxmlformats.org/drawingml/2006/main">
              <a:ext uri="{FF2B5EF4-FFF2-40B4-BE49-F238E27FC236}">
                <a16:creationId xmlns:a16="http://schemas.microsoft.com/office/drawing/2014/main" id="{0C3FBA1C-6145-4B6B-ACCF-51787E3A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231481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u08-057-performance-grid-y-b-46">
            <a:extLst xmlns:a="http://schemas.openxmlformats.org/drawingml/2006/main">
              <a:ext uri="{FF2B5EF4-FFF2-40B4-BE49-F238E27FC236}">
                <a16:creationId xmlns:a16="http://schemas.microsoft.com/office/drawing/2014/main" id="{CD5D6215-9944-4BB2-8A3D-660FBBB6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1481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9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276350" y="4236244"/>
            <a:ext cx="6819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CE0"/>
            </a:solidFill>
            <a:prstDash val="solid"/>
          </a:ln>
        </p:spPr>
      </p:cxnSp>
      <p:sp>
        <p:nvSpPr>
          <p:cNvPr id="16" name="u08-057-performance-ytick">
            <a:extLst xmlns:a="http://schemas.openxmlformats.org/drawingml/2006/main">
              <a:ext uri="{FF2B5EF4-FFF2-40B4-BE49-F238E27FC236}">
                <a16:creationId xmlns:a16="http://schemas.microsoft.com/office/drawing/2014/main" id="{D0D757E3-5388-4D64-9541-8F6B600C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117181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7" name="u08-057-performance-grid-y-a-47">
            <a:extLst xmlns:a="http://schemas.openxmlformats.org/drawingml/2006/main">
              <a:ext uri="{FF2B5EF4-FFF2-40B4-BE49-F238E27FC236}">
                <a16:creationId xmlns:a16="http://schemas.microsoft.com/office/drawing/2014/main" id="{0FC5B9A8-C487-4E29-B4C6-15624618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3861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u08-057-performance-grid-y-b-47">
            <a:extLst xmlns:a="http://schemas.openxmlformats.org/drawingml/2006/main">
              <a:ext uri="{FF2B5EF4-FFF2-40B4-BE49-F238E27FC236}">
                <a16:creationId xmlns:a16="http://schemas.microsoft.com/office/drawing/2014/main" id="{6D542A95-79BA-4054-996A-0035DE21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861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3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276350" y="3390901"/>
            <a:ext cx="6819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CE0"/>
            </a:solidFill>
            <a:prstDash val="solid"/>
          </a:ln>
        </p:spPr>
      </p:cxnSp>
      <p:sp>
        <p:nvSpPr>
          <p:cNvPr id="20" name="u08-057-performance-ytick">
            <a:extLst xmlns:a="http://schemas.openxmlformats.org/drawingml/2006/main">
              <a:ext uri="{FF2B5EF4-FFF2-40B4-BE49-F238E27FC236}">
                <a16:creationId xmlns:a16="http://schemas.microsoft.com/office/drawing/2014/main" id="{115B0522-F983-4280-B098-848284EB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271838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  <p:sp>
        <p:nvSpPr>
          <p:cNvPr id="21" name="u08-057-performance-grid-y-a-48">
            <a:extLst xmlns:a="http://schemas.openxmlformats.org/drawingml/2006/main">
              <a:ext uri="{FF2B5EF4-FFF2-40B4-BE49-F238E27FC236}">
                <a16:creationId xmlns:a16="http://schemas.microsoft.com/office/drawing/2014/main" id="{BDAE6CA0-FFB8-465F-B797-A4F14422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540794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u08-057-performance-grid-y-b-48">
            <a:extLst xmlns:a="http://schemas.openxmlformats.org/drawingml/2006/main">
              <a:ext uri="{FF2B5EF4-FFF2-40B4-BE49-F238E27FC236}">
                <a16:creationId xmlns:a16="http://schemas.microsoft.com/office/drawing/2014/main" id="{9A962D87-799C-4B59-BFF9-7CF41D76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40794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7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276350" y="2545557"/>
            <a:ext cx="6819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CE0"/>
            </a:solidFill>
            <a:prstDash val="solid"/>
          </a:ln>
        </p:spPr>
      </p:cxnSp>
      <p:sp>
        <p:nvSpPr>
          <p:cNvPr id="24" name="u08-057-performance-ytick">
            <a:extLst xmlns:a="http://schemas.openxmlformats.org/drawingml/2006/main">
              <a:ext uri="{FF2B5EF4-FFF2-40B4-BE49-F238E27FC236}">
                <a16:creationId xmlns:a16="http://schemas.microsoft.com/office/drawing/2014/main" id="{915AB286-FABF-48B5-A1FD-1CC1B8D7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426494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75</a:t>
            </a:r>
          </a:p>
        </p:txBody>
      </p:sp>
      <p:sp>
        <p:nvSpPr>
          <p:cNvPr id="25" name="u08-057-performance-grid-y-a-49">
            <a:extLst xmlns:a="http://schemas.openxmlformats.org/drawingml/2006/main">
              <a:ext uri="{FF2B5EF4-FFF2-40B4-BE49-F238E27FC236}">
                <a16:creationId xmlns:a16="http://schemas.microsoft.com/office/drawing/2014/main" id="{2262DA26-7CCD-45BC-AE75-A6066B8D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u08-057-performance-grid-y-b-49">
            <a:extLst xmlns:a="http://schemas.openxmlformats.org/drawingml/2006/main">
              <a:ext uri="{FF2B5EF4-FFF2-40B4-BE49-F238E27FC236}">
                <a16:creationId xmlns:a16="http://schemas.microsoft.com/office/drawing/2014/main" id="{958B25E8-0912-4B11-87F4-F615AEB6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1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276350" y="1700213"/>
            <a:ext cx="6819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CE0"/>
            </a:solidFill>
            <a:prstDash val="solid"/>
          </a:ln>
        </p:spPr>
      </p:cxnSp>
      <p:sp>
        <p:nvSpPr>
          <p:cNvPr id="28" name="u08-057-performance-ytick">
            <a:extLst xmlns:a="http://schemas.openxmlformats.org/drawingml/2006/main">
              <a:ext uri="{FF2B5EF4-FFF2-40B4-BE49-F238E27FC236}">
                <a16:creationId xmlns:a16="http://schemas.microsoft.com/office/drawing/2014/main" id="{63EFB4D9-AF2C-4068-96B2-C7440996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811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100</a:t>
            </a:r>
          </a:p>
        </p:txBody>
      </p:sp>
      <p:sp>
        <p:nvSpPr>
          <p:cNvPr id="29" name="u08-057-performance-grid-x-a-50">
            <a:extLst xmlns:a="http://schemas.openxmlformats.org/drawingml/2006/main">
              <a:ext uri="{FF2B5EF4-FFF2-40B4-BE49-F238E27FC236}">
                <a16:creationId xmlns:a16="http://schemas.microsoft.com/office/drawing/2014/main" id="{3C18757B-C305-4D73-896F-16963DA4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u08-057-performance-grid-x-b-50">
            <a:extLst xmlns:a="http://schemas.openxmlformats.org/drawingml/2006/main">
              <a:ext uri="{FF2B5EF4-FFF2-40B4-BE49-F238E27FC236}">
                <a16:creationId xmlns:a16="http://schemas.microsoft.com/office/drawing/2014/main" id="{65875C54-774A-4B9E-AD72-79AE84E2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5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 flipV="1">
            <a:off x="1266825" y="1700213"/>
            <a:ext cx="9525" cy="3381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32" name="u08-057-performance-xtick">
            <a:extLst xmlns:a="http://schemas.openxmlformats.org/drawingml/2006/main">
              <a:ext uri="{FF2B5EF4-FFF2-40B4-BE49-F238E27FC236}">
                <a16:creationId xmlns:a16="http://schemas.microsoft.com/office/drawing/2014/main" id="{43621922-D29F-4352-BDB8-4C2FE8C2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53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bajo</a:t>
            </a:r>
          </a:p>
        </p:txBody>
      </p:sp>
      <p:sp>
        <p:nvSpPr>
          <p:cNvPr id="33" name="u08-057-performance-grid-x-a-51">
            <a:extLst xmlns:a="http://schemas.openxmlformats.org/drawingml/2006/main">
              <a:ext uri="{FF2B5EF4-FFF2-40B4-BE49-F238E27FC236}">
                <a16:creationId xmlns:a16="http://schemas.microsoft.com/office/drawing/2014/main" id="{E399D187-5834-4AD7-BDF2-27CB6398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181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u08-057-performance-grid-x-b-51">
            <a:extLst xmlns:a="http://schemas.openxmlformats.org/drawingml/2006/main">
              <a:ext uri="{FF2B5EF4-FFF2-40B4-BE49-F238E27FC236}">
                <a16:creationId xmlns:a16="http://schemas.microsoft.com/office/drawing/2014/main" id="{75186F7C-5528-481A-9847-1352CEFA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181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9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H="1" flipV="1">
            <a:off x="2974181" y="1700213"/>
            <a:ext cx="9525" cy="3381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36" name="u08-057-performance-xtick">
            <a:extLst xmlns:a="http://schemas.openxmlformats.org/drawingml/2006/main">
              <a:ext uri="{FF2B5EF4-FFF2-40B4-BE49-F238E27FC236}">
                <a16:creationId xmlns:a16="http://schemas.microsoft.com/office/drawing/2014/main" id="{FC67D7EC-2A1E-4872-81F9-4A332E49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806" y="5153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u08-057-performance-grid-x-a-52">
            <a:extLst xmlns:a="http://schemas.openxmlformats.org/drawingml/2006/main">
              <a:ext uri="{FF2B5EF4-FFF2-40B4-BE49-F238E27FC236}">
                <a16:creationId xmlns:a16="http://schemas.microsoft.com/office/drawing/2014/main" id="{A9F53BFA-185A-4DCD-B064-FCFDF672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538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u08-057-performance-grid-x-b-52">
            <a:extLst xmlns:a="http://schemas.openxmlformats.org/drawingml/2006/main">
              <a:ext uri="{FF2B5EF4-FFF2-40B4-BE49-F238E27FC236}">
                <a16:creationId xmlns:a16="http://schemas.microsoft.com/office/drawing/2014/main" id="{E2B5DA50-899E-4412-8EC4-7F24B493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538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3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 flipV="1">
            <a:off x="4681538" y="1700213"/>
            <a:ext cx="9525" cy="3381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40" name="u08-057-performance-xtick">
            <a:extLst xmlns:a="http://schemas.openxmlformats.org/drawingml/2006/main">
              <a:ext uri="{FF2B5EF4-FFF2-40B4-BE49-F238E27FC236}">
                <a16:creationId xmlns:a16="http://schemas.microsoft.com/office/drawing/2014/main" id="{80DF6665-E22B-4951-BCF7-DA4E520F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163" y="5153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medio</a:t>
            </a:r>
          </a:p>
        </p:txBody>
      </p:sp>
      <p:sp>
        <p:nvSpPr>
          <p:cNvPr id="41" name="u08-057-performance-grid-x-a-53">
            <a:extLst xmlns:a="http://schemas.openxmlformats.org/drawingml/2006/main">
              <a:ext uri="{FF2B5EF4-FFF2-40B4-BE49-F238E27FC236}">
                <a16:creationId xmlns:a16="http://schemas.microsoft.com/office/drawing/2014/main" id="{F0E76776-4CDE-43BA-B76B-F2A9E659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894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u08-057-performance-grid-x-b-53">
            <a:extLst xmlns:a="http://schemas.openxmlformats.org/drawingml/2006/main">
              <a:ext uri="{FF2B5EF4-FFF2-40B4-BE49-F238E27FC236}">
                <a16:creationId xmlns:a16="http://schemas.microsoft.com/office/drawing/2014/main" id="{2B36138F-CFEB-4226-A4FC-E4C182FA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894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7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H="1" flipV="1">
            <a:off x="6388894" y="1700213"/>
            <a:ext cx="9525" cy="3381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44" name="u08-057-performance-xtick">
            <a:extLst xmlns:a="http://schemas.openxmlformats.org/drawingml/2006/main">
              <a:ext uri="{FF2B5EF4-FFF2-40B4-BE49-F238E27FC236}">
                <a16:creationId xmlns:a16="http://schemas.microsoft.com/office/drawing/2014/main" id="{6C1B2414-2340-4747-9EBA-2BED42E8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19" y="5153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u08-057-performance-grid-x-a-54">
            <a:extLst xmlns:a="http://schemas.openxmlformats.org/drawingml/2006/main">
              <a:ext uri="{FF2B5EF4-FFF2-40B4-BE49-F238E27FC236}">
                <a16:creationId xmlns:a16="http://schemas.microsoft.com/office/drawing/2014/main" id="{ED06FD5C-35F7-4110-9814-3CACB4F3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u08-057-performance-grid-x-b-54">
            <a:extLst xmlns:a="http://schemas.openxmlformats.org/drawingml/2006/main">
              <a:ext uri="{FF2B5EF4-FFF2-40B4-BE49-F238E27FC236}">
                <a16:creationId xmlns:a16="http://schemas.microsoft.com/office/drawing/2014/main" id="{D22D1594-289D-4382-962C-E5779FAD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1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 flipH="1" flipV="1">
            <a:off x="8096250" y="1700213"/>
            <a:ext cx="9525" cy="3381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48" name="u08-057-performance-xtick">
            <a:extLst xmlns:a="http://schemas.openxmlformats.org/drawingml/2006/main">
              <a:ext uri="{FF2B5EF4-FFF2-40B4-BE49-F238E27FC236}">
                <a16:creationId xmlns:a16="http://schemas.microsoft.com/office/drawing/2014/main" id="{C42B3123-7000-443E-9AFC-251C05E5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53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alto</a:t>
            </a:r>
          </a:p>
        </p:txBody>
      </p:sp>
      <p:sp>
        <p:nvSpPr>
          <p:cNvPr id="49" name="u08-057-performance-0-line-a-55">
            <a:extLst xmlns:a="http://schemas.openxmlformats.org/drawingml/2006/main">
              <a:ext uri="{FF2B5EF4-FFF2-40B4-BE49-F238E27FC236}">
                <a16:creationId xmlns:a16="http://schemas.microsoft.com/office/drawing/2014/main" id="{AD13BA4C-6698-4544-8FDE-80594B1D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296" y="500919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u08-057-performance-0-line-b-55">
            <a:extLst xmlns:a="http://schemas.openxmlformats.org/drawingml/2006/main">
              <a:ext uri="{FF2B5EF4-FFF2-40B4-BE49-F238E27FC236}">
                <a16:creationId xmlns:a16="http://schemas.microsoft.com/office/drawing/2014/main" id="{2C58757D-8B42-421E-96E8-CC5F89DE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299" y="467106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5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 flipV="1">
            <a:off x="1617821" y="4675823"/>
            <a:ext cx="1151478" cy="33813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F7E83"/>
            </a:solidFill>
            <a:prstDash val="solid"/>
          </a:ln>
        </p:spPr>
      </p:cxnSp>
      <p:sp>
        <p:nvSpPr>
          <p:cNvPr id="52" name="u08-057-performance-0-line-a-56">
            <a:extLst xmlns:a="http://schemas.openxmlformats.org/drawingml/2006/main">
              <a:ext uri="{FF2B5EF4-FFF2-40B4-BE49-F238E27FC236}">
                <a16:creationId xmlns:a16="http://schemas.microsoft.com/office/drawing/2014/main" id="{ADEF1479-204E-4967-8F1E-960BDA0C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299" y="467106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u08-057-performance-0-line-b-56">
            <a:extLst xmlns:a="http://schemas.openxmlformats.org/drawingml/2006/main">
              <a:ext uri="{FF2B5EF4-FFF2-40B4-BE49-F238E27FC236}">
                <a16:creationId xmlns:a16="http://schemas.microsoft.com/office/drawing/2014/main" id="{4AADC379-C49D-42F1-8A23-CB3A3470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007" y="365664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8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 flipV="1">
            <a:off x="2778824" y="3661411"/>
            <a:ext cx="1083183" cy="1014412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F7E83"/>
            </a:solidFill>
            <a:prstDash val="solid"/>
          </a:ln>
        </p:spPr>
      </p:cxnSp>
      <p:sp>
        <p:nvSpPr>
          <p:cNvPr id="55" name="u08-057-performance-0-line-a-57">
            <a:extLst xmlns:a="http://schemas.openxmlformats.org/drawingml/2006/main">
              <a:ext uri="{FF2B5EF4-FFF2-40B4-BE49-F238E27FC236}">
                <a16:creationId xmlns:a16="http://schemas.microsoft.com/office/drawing/2014/main" id="{4DE28ACA-B23A-4633-A449-CE4F28BA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007" y="365664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u08-057-performance-0-line-b-57">
            <a:extLst xmlns:a="http://schemas.openxmlformats.org/drawingml/2006/main">
              <a:ext uri="{FF2B5EF4-FFF2-40B4-BE49-F238E27FC236}">
                <a16:creationId xmlns:a16="http://schemas.microsoft.com/office/drawing/2014/main" id="{F90F8836-E841-42C4-AB27-17495A6F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009" y="264223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1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 flipV="1">
            <a:off x="3871532" y="2646998"/>
            <a:ext cx="1151477" cy="1014413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F7E83"/>
            </a:solidFill>
            <a:prstDash val="solid"/>
          </a:ln>
        </p:spPr>
      </p:cxnSp>
      <p:sp>
        <p:nvSpPr>
          <p:cNvPr id="58" name="u08-057-performance-0-line-a-58">
            <a:extLst xmlns:a="http://schemas.openxmlformats.org/drawingml/2006/main">
              <a:ext uri="{FF2B5EF4-FFF2-40B4-BE49-F238E27FC236}">
                <a16:creationId xmlns:a16="http://schemas.microsoft.com/office/drawing/2014/main" id="{195B02BF-EA8D-4FFD-8AA3-863D3402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009" y="264223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u08-057-performance-0-line-b-58">
            <a:extLst xmlns:a="http://schemas.openxmlformats.org/drawingml/2006/main">
              <a:ext uri="{FF2B5EF4-FFF2-40B4-BE49-F238E27FC236}">
                <a16:creationId xmlns:a16="http://schemas.microsoft.com/office/drawing/2014/main" id="{74D2FC53-CCB8-4382-A705-C2DC4360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011" y="210121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4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 flipV="1">
            <a:off x="5032534" y="2105978"/>
            <a:ext cx="1151477" cy="54102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F7E83"/>
            </a:solidFill>
            <a:prstDash val="solid"/>
          </a:ln>
        </p:spPr>
      </p:cxnSp>
      <p:sp>
        <p:nvSpPr>
          <p:cNvPr id="61" name="u08-057-performance-0-line-a-59">
            <a:extLst xmlns:a="http://schemas.openxmlformats.org/drawingml/2006/main">
              <a:ext uri="{FF2B5EF4-FFF2-40B4-BE49-F238E27FC236}">
                <a16:creationId xmlns:a16="http://schemas.microsoft.com/office/drawing/2014/main" id="{369DBC10-E50C-451A-AC58-D598BFFD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011" y="210121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u08-057-performance-0-line-b-59">
            <a:extLst xmlns:a="http://schemas.openxmlformats.org/drawingml/2006/main">
              <a:ext uri="{FF2B5EF4-FFF2-40B4-BE49-F238E27FC236}">
                <a16:creationId xmlns:a16="http://schemas.microsoft.com/office/drawing/2014/main" id="{E8EF8971-5A6E-41F0-9CB0-3CF5C09C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308" y="230409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7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6193536" y="2105978"/>
            <a:ext cx="1219772" cy="202883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F7E83"/>
            </a:solidFill>
            <a:prstDash val="solid"/>
          </a:ln>
        </p:spPr>
      </p:cxnSp>
      <p:sp>
        <p:nvSpPr>
          <p:cNvPr id="64" name="u08-057-performance-0-point-0">
            <a:extLst xmlns:a="http://schemas.openxmlformats.org/drawingml/2006/main">
              <a:ext uri="{FF2B5EF4-FFF2-40B4-BE49-F238E27FC236}">
                <a16:creationId xmlns:a16="http://schemas.microsoft.com/office/drawing/2014/main" id="{31371202-045E-44A9-881A-48D66C7C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146" y="495204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u08-057-performance-0-point-1">
            <a:extLst xmlns:a="http://schemas.openxmlformats.org/drawingml/2006/main">
              <a:ext uri="{FF2B5EF4-FFF2-40B4-BE49-F238E27FC236}">
                <a16:creationId xmlns:a16="http://schemas.microsoft.com/office/drawing/2014/main" id="{828AE625-B923-4B96-9F2F-A6030333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149" y="461391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u08-057-performance-0-point-2">
            <a:extLst xmlns:a="http://schemas.openxmlformats.org/drawingml/2006/main">
              <a:ext uri="{FF2B5EF4-FFF2-40B4-BE49-F238E27FC236}">
                <a16:creationId xmlns:a16="http://schemas.microsoft.com/office/drawing/2014/main" id="{BCAA2F6B-CB3F-4021-99F1-14AD077D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857" y="359949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u08-057-performance-0-point-3">
            <a:extLst xmlns:a="http://schemas.openxmlformats.org/drawingml/2006/main">
              <a:ext uri="{FF2B5EF4-FFF2-40B4-BE49-F238E27FC236}">
                <a16:creationId xmlns:a16="http://schemas.microsoft.com/office/drawing/2014/main" id="{2416684E-DCF7-4905-90E0-5D595124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859" y="258508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u08-057-performance-0-point-4">
            <a:extLst xmlns:a="http://schemas.openxmlformats.org/drawingml/2006/main">
              <a:ext uri="{FF2B5EF4-FFF2-40B4-BE49-F238E27FC236}">
                <a16:creationId xmlns:a16="http://schemas.microsoft.com/office/drawing/2014/main" id="{37C7F04D-7D7C-4A0C-AAEC-F7E732B2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861" y="204406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u08-057-performance-0-point-5">
            <a:extLst xmlns:a="http://schemas.openxmlformats.org/drawingml/2006/main">
              <a:ext uri="{FF2B5EF4-FFF2-40B4-BE49-F238E27FC236}">
                <a16:creationId xmlns:a16="http://schemas.microsoft.com/office/drawing/2014/main" id="{C885D863-0F5C-4995-B738-BCA96983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158" y="224694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u08-057-performance-0-label">
            <a:extLst xmlns:a="http://schemas.openxmlformats.org/drawingml/2006/main">
              <a:ext uri="{FF2B5EF4-FFF2-40B4-BE49-F238E27FC236}">
                <a16:creationId xmlns:a16="http://schemas.microsoft.com/office/drawing/2014/main" id="{0AEC701A-C17B-4DD7-B07C-839F0521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695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5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curva conceptual</a:t>
            </a:r>
          </a:p>
        </p:txBody>
      </p:sp>
      <p:sp>
        <p:nvSpPr>
          <p:cNvPr id="71" name="u08-057-performance-xlabel">
            <a:extLst xmlns:a="http://schemas.openxmlformats.org/drawingml/2006/main">
              <a:ext uri="{FF2B5EF4-FFF2-40B4-BE49-F238E27FC236}">
                <a16:creationId xmlns:a16="http://schemas.microsoft.com/office/drawing/2014/main" id="{5192131C-7331-4440-AAD6-A1262EBD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362575"/>
            <a:ext cx="5305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 de presentación (escala por declarar)</a:t>
            </a:r>
          </a:p>
        </p:txBody>
      </p:sp>
      <p:sp>
        <p:nvSpPr>
          <p:cNvPr id="72" name="u08-057-performance-ylabel">
            <a:extLst xmlns:a="http://schemas.openxmlformats.org/drawingml/2006/main">
              <a:ext uri="{FF2B5EF4-FFF2-40B4-BE49-F238E27FC236}">
                <a16:creationId xmlns:a16="http://schemas.microsoft.com/office/drawing/2014/main" id="{523DF030-12CF-4A60-A62A-92DAD60B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85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Respuestas correctas (%)</a:t>
            </a:r>
          </a:p>
        </p:txBody>
      </p:sp>
      <p:sp>
        <p:nvSpPr>
          <p:cNvPr id="73" name="u08-057-performance-note">
            <a:extLst xmlns:a="http://schemas.openxmlformats.org/drawingml/2006/main">
              <a:ext uri="{FF2B5EF4-FFF2-40B4-BE49-F238E27FC236}">
                <a16:creationId xmlns:a16="http://schemas.microsoft.com/office/drawing/2014/main" id="{4E5E9E69-CD7A-47BF-B47B-45169290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733925"/>
            <a:ext cx="6257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forma depende de material, idioma, modo, oído y protocolo.</a:t>
            </a:r>
          </a:p>
        </p:txBody>
      </p:sp>
      <p:sp>
        <p:nvSpPr>
          <p:cNvPr id="74" name="u08-057-scale-box">
            <a:extLst xmlns:a="http://schemas.openxmlformats.org/drawingml/2006/main">
              <a:ext uri="{FF2B5EF4-FFF2-40B4-BE49-F238E27FC236}">
                <a16:creationId xmlns:a16="http://schemas.microsoft.com/office/drawing/2014/main" id="{ED50ECE4-A489-46F3-AE7B-C2816372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14500"/>
            <a:ext cx="285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5" name="u08-057-scale-title">
            <a:extLst xmlns:a="http://schemas.openxmlformats.org/drawingml/2006/main">
              <a:ext uri="{FF2B5EF4-FFF2-40B4-BE49-F238E27FC236}">
                <a16:creationId xmlns:a16="http://schemas.microsoft.com/office/drawing/2014/main" id="{2581E7F2-F456-42C3-874A-2B37946F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84785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Antes de interpretar</a:t>
            </a:r>
          </a:p>
        </p:txBody>
      </p:sp>
      <p:sp>
        <p:nvSpPr>
          <p:cNvPr id="76" name="u08-057-scale-body">
            <a:extLst xmlns:a="http://schemas.openxmlformats.org/drawingml/2006/main">
              <a:ext uri="{FF2B5EF4-FFF2-40B4-BE49-F238E27FC236}">
                <a16:creationId xmlns:a16="http://schemas.microsoft.com/office/drawing/2014/main" id="{7696B36C-2FBB-49E2-A954-8952842D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247900"/>
            <a:ext cx="2514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Declare la escala horizontal: dB HL, dB SL o dB SPL no son intercambiables.</a:t>
            </a:r>
          </a:p>
        </p:txBody>
      </p:sp>
      <p:sp>
        <p:nvSpPr>
          <p:cNvPr id="77" name="u08-057-limit-box">
            <a:extLst xmlns:a="http://schemas.openxmlformats.org/drawingml/2006/main">
              <a:ext uri="{FF2B5EF4-FFF2-40B4-BE49-F238E27FC236}">
                <a16:creationId xmlns:a16="http://schemas.microsoft.com/office/drawing/2014/main" id="{F7FA1F84-6629-467E-9FE4-5A8B5820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14750"/>
            <a:ext cx="285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8" name="u08-057-limit-title">
            <a:extLst xmlns:a="http://schemas.openxmlformats.org/drawingml/2006/main">
              <a:ext uri="{FF2B5EF4-FFF2-40B4-BE49-F238E27FC236}">
                <a16:creationId xmlns:a16="http://schemas.microsoft.com/office/drawing/2014/main" id="{83481565-C117-4965-B617-38D82C4B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8481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79" name="u08-057-limit-body">
            <a:extLst xmlns:a="http://schemas.openxmlformats.org/drawingml/2006/main">
              <a:ext uri="{FF2B5EF4-FFF2-40B4-BE49-F238E27FC236}">
                <a16:creationId xmlns:a16="http://schemas.microsoft.com/office/drawing/2014/main" id="{86BB7F9D-A317-45EC-9C22-5526263B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248150"/>
            <a:ext cx="2514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curva no localiza una lesión ni describe por sí sola el desempeño cotidiano.</a:t>
            </a:r>
          </a:p>
        </p:txBody>
      </p:sp>
      <p:sp>
        <p:nvSpPr>
          <p:cNvPr id="80" name="top-rail-1">
            <a:extLst xmlns:a="http://schemas.openxmlformats.org/drawingml/2006/main">
              <a:ext uri="{FF2B5EF4-FFF2-40B4-BE49-F238E27FC236}">
                <a16:creationId xmlns:a16="http://schemas.microsoft.com/office/drawing/2014/main" id="{7591B16F-B2A4-4EEC-960F-3334E82E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81" name="top-rail-2">
            <a:extLst xmlns:a="http://schemas.openxmlformats.org/drawingml/2006/main">
              <a:ext uri="{FF2B5EF4-FFF2-40B4-BE49-F238E27FC236}">
                <a16:creationId xmlns:a16="http://schemas.microsoft.com/office/drawing/2014/main" id="{879C0F1D-1139-4887-AA2F-5A638D04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82" name="top-rail-3">
            <a:extLst xmlns:a="http://schemas.openxmlformats.org/drawingml/2006/main">
              <a:ext uri="{FF2B5EF4-FFF2-40B4-BE49-F238E27FC236}">
                <a16:creationId xmlns:a16="http://schemas.microsoft.com/office/drawing/2014/main" id="{D92BBB17-3B91-4E77-87EB-1FCB4346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83" name="eyebrow">
            <a:extLst xmlns:a="http://schemas.openxmlformats.org/drawingml/2006/main">
              <a:ext uri="{FF2B5EF4-FFF2-40B4-BE49-F238E27FC236}">
                <a16:creationId xmlns:a16="http://schemas.microsoft.com/office/drawing/2014/main" id="{BA0D7524-DBE7-4F3D-B7A6-C2A30976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8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CEF459B-7C72-4BE2-B1FC-1A95DB3E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095631-65DD-4391-8B90-891EA8FA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“72 % correcto” no es un resultado completo</a:t>
            </a:r>
          </a:p>
        </p:txBody>
      </p:sp>
      <p:sp>
        <p:nvSpPr>
          <p:cNvPr id="2" name="U08-058-problem-box">
            <a:extLst xmlns:a="http://schemas.openxmlformats.org/drawingml/2006/main">
              <a:ext uri="{FF2B5EF4-FFF2-40B4-BE49-F238E27FC236}">
                <a16:creationId xmlns:a16="http://schemas.microsoft.com/office/drawing/2014/main" id="{0B139474-142D-45DC-BA82-324E3C6E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4762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3" name="U08-058-problem-title">
            <a:extLst xmlns:a="http://schemas.openxmlformats.org/drawingml/2006/main">
              <a:ext uri="{FF2B5EF4-FFF2-40B4-BE49-F238E27FC236}">
                <a16:creationId xmlns:a16="http://schemas.microsoft.com/office/drawing/2014/main" id="{656DD580-241B-49EC-8BF4-4FB2262E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0225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Afirmación problemática</a:t>
            </a:r>
          </a:p>
        </p:txBody>
      </p:sp>
      <p:sp>
        <p:nvSpPr>
          <p:cNvPr id="4" name="U08-058-problem-body">
            <a:extLst xmlns:a="http://schemas.openxmlformats.org/drawingml/2006/main">
              <a:ext uri="{FF2B5EF4-FFF2-40B4-BE49-F238E27FC236}">
                <a16:creationId xmlns:a16="http://schemas.microsoft.com/office/drawing/2014/main" id="{14B81E2F-D14D-4D4C-BE8D-0A970282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00275"/>
            <a:ext cx="44196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“72 % correcto” se presenta sin material, nivel, escala, oído ni criterio.</a:t>
            </a:r>
          </a:p>
        </p:txBody>
      </p:sp>
      <p:sp>
        <p:nvSpPr>
          <p:cNvPr id="5" name="U08-058-correction-box">
            <a:extLst xmlns:a="http://schemas.openxmlformats.org/drawingml/2006/main">
              <a:ext uri="{FF2B5EF4-FFF2-40B4-BE49-F238E27FC236}">
                <a16:creationId xmlns:a16="http://schemas.microsoft.com/office/drawing/2014/main" id="{827385E7-ED22-4865-A9AE-70DFF0DC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66875"/>
            <a:ext cx="5715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U08-058-correction-title">
            <a:extLst xmlns:a="http://schemas.openxmlformats.org/drawingml/2006/main">
              <a:ext uri="{FF2B5EF4-FFF2-40B4-BE49-F238E27FC236}">
                <a16:creationId xmlns:a16="http://schemas.microsoft.com/office/drawing/2014/main" id="{04B26F2D-99EB-4F46-BFBC-4DB984B6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0225"/>
            <a:ext cx="537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7" name="U08-058-correction-body">
            <a:extLst xmlns:a="http://schemas.openxmlformats.org/drawingml/2006/main">
              <a:ext uri="{FF2B5EF4-FFF2-40B4-BE49-F238E27FC236}">
                <a16:creationId xmlns:a16="http://schemas.microsoft.com/office/drawing/2014/main" id="{3EAAC824-C35C-475F-85CF-8CC82699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0275"/>
            <a:ext cx="53721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porcentaje debe acompañarse de material, idioma, modo y nivel de presentación, escala, oído, consigna y criterio de puntuación.</a:t>
            </a:r>
          </a:p>
        </p:txBody>
      </p:sp>
      <p:sp>
        <p:nvSpPr>
          <p:cNvPr id="8" name="U08-058-rule">
            <a:extLst xmlns:a="http://schemas.openxmlformats.org/drawingml/2006/main">
              <a:ext uri="{FF2B5EF4-FFF2-40B4-BE49-F238E27FC236}">
                <a16:creationId xmlns:a16="http://schemas.microsoft.com/office/drawing/2014/main" id="{88C01139-655F-40B6-B35E-7574FD57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Regla de control: describir primero el dato y sus condiciones; recién después integrar hipótesis.</a:t>
            </a:r>
          </a:p>
        </p:txBody>
      </p:sp>
      <p:sp>
        <p:nvSpPr>
          <p:cNvPr id="9" name="top-rail-1">
            <a:extLst xmlns:a="http://schemas.openxmlformats.org/drawingml/2006/main">
              <a:ext uri="{FF2B5EF4-FFF2-40B4-BE49-F238E27FC236}">
                <a16:creationId xmlns:a16="http://schemas.microsoft.com/office/drawing/2014/main" id="{AF6EBECE-6E78-4BAF-82AD-C55ADD43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0" name="top-rail-2">
            <a:extLst xmlns:a="http://schemas.openxmlformats.org/drawingml/2006/main">
              <a:ext uri="{FF2B5EF4-FFF2-40B4-BE49-F238E27FC236}">
                <a16:creationId xmlns:a16="http://schemas.microsoft.com/office/drawing/2014/main" id="{C1F0B40D-04C3-4E3A-A4B8-5F438F5E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1" name="top-rail-3">
            <a:extLst xmlns:a="http://schemas.openxmlformats.org/drawingml/2006/main">
              <a:ext uri="{FF2B5EF4-FFF2-40B4-BE49-F238E27FC236}">
                <a16:creationId xmlns:a16="http://schemas.microsoft.com/office/drawing/2014/main" id="{FDE8C435-2198-4C3D-B2F2-D5D6B4EC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B330F15A-2513-4BC5-B58C-17A2C983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50969D8-E8FA-49C0-A3EB-D1C59DC7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DA8353-F759-4517-99B6-C55BC322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datos faltan para interpretar el porcentaje?</a:t>
            </a:r>
          </a:p>
        </p:txBody>
      </p:sp>
      <p:sp>
        <p:nvSpPr>
          <p:cNvPr id="2" name="U08-059-question-box">
            <a:extLst xmlns:a="http://schemas.openxmlformats.org/drawingml/2006/main">
              <a:ext uri="{FF2B5EF4-FFF2-40B4-BE49-F238E27FC236}">
                <a16:creationId xmlns:a16="http://schemas.microsoft.com/office/drawing/2014/main" id="{E0FB578F-7BD5-40A5-BA1E-2BF1FE16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6572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8-059-question-title">
            <a:extLst xmlns:a="http://schemas.openxmlformats.org/drawingml/2006/main">
              <a:ext uri="{FF2B5EF4-FFF2-40B4-BE49-F238E27FC236}">
                <a16:creationId xmlns:a16="http://schemas.microsoft.com/office/drawing/2014/main" id="{CAE84478-04D4-4EBE-BE82-C9CE29D1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04975"/>
            <a:ext cx="622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U08-059-question-body">
            <a:extLst xmlns:a="http://schemas.openxmlformats.org/drawingml/2006/main">
              <a:ext uri="{FF2B5EF4-FFF2-40B4-BE49-F238E27FC236}">
                <a16:creationId xmlns:a16="http://schemas.microsoft.com/office/drawing/2014/main" id="{EFC1682F-1652-44D6-86CA-8DD67EDF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05025"/>
            <a:ext cx="62293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Complete al menos cinco campos del informe verbal ficticio. Justifique con la magnitud, la unidad y el límite de la conclusión.</a:t>
            </a:r>
          </a:p>
        </p:txBody>
      </p:sp>
      <p:sp>
        <p:nvSpPr>
          <p:cNvPr id="5" name="U08-059-guide-1-box">
            <a:extLst xmlns:a="http://schemas.openxmlformats.org/drawingml/2006/main">
              <a:ext uri="{FF2B5EF4-FFF2-40B4-BE49-F238E27FC236}">
                <a16:creationId xmlns:a16="http://schemas.microsoft.com/office/drawing/2014/main" id="{9A4FD98C-7648-49AC-AE4D-334828B2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716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U08-059-guide-1-title">
            <a:extLst xmlns:a="http://schemas.openxmlformats.org/drawingml/2006/main">
              <a:ext uri="{FF2B5EF4-FFF2-40B4-BE49-F238E27FC236}">
                <a16:creationId xmlns:a16="http://schemas.microsoft.com/office/drawing/2014/main" id="{39234762-EB87-4274-B249-C24945B0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049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U08-059-guide-1-body">
            <a:extLst xmlns:a="http://schemas.openxmlformats.org/drawingml/2006/main">
              <a:ext uri="{FF2B5EF4-FFF2-40B4-BE49-F238E27FC236}">
                <a16:creationId xmlns:a16="http://schemas.microsoft.com/office/drawing/2014/main" id="{C7D53AF6-C9C4-417E-9DA4-EFD77163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050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Liste metadatos faltantes</a:t>
            </a:r>
          </a:p>
        </p:txBody>
      </p:sp>
      <p:sp>
        <p:nvSpPr>
          <p:cNvPr id="8" name="U08-059-guide-2-box">
            <a:extLst xmlns:a="http://schemas.openxmlformats.org/drawingml/2006/main">
              <a:ext uri="{FF2B5EF4-FFF2-40B4-BE49-F238E27FC236}">
                <a16:creationId xmlns:a16="http://schemas.microsoft.com/office/drawing/2014/main" id="{EFD8FE94-4C69-4D2A-9144-5D779365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908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U08-059-guide-2-title">
            <a:extLst xmlns:a="http://schemas.openxmlformats.org/drawingml/2006/main">
              <a:ext uri="{FF2B5EF4-FFF2-40B4-BE49-F238E27FC236}">
                <a16:creationId xmlns:a16="http://schemas.microsoft.com/office/drawing/2014/main" id="{E6CDA30F-5AC5-47B8-A304-EA863E49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241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U08-059-guide-2-body">
            <a:extLst xmlns:a="http://schemas.openxmlformats.org/drawingml/2006/main">
              <a:ext uri="{FF2B5EF4-FFF2-40B4-BE49-F238E27FC236}">
                <a16:creationId xmlns:a16="http://schemas.microsoft.com/office/drawing/2014/main" id="{6B7B524E-BC53-4198-B044-9132408B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242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Declare escala y oído</a:t>
            </a:r>
          </a:p>
        </p:txBody>
      </p:sp>
      <p:sp>
        <p:nvSpPr>
          <p:cNvPr id="11" name="U08-059-guide-3-box">
            <a:extLst xmlns:a="http://schemas.openxmlformats.org/drawingml/2006/main">
              <a:ext uri="{FF2B5EF4-FFF2-40B4-BE49-F238E27FC236}">
                <a16:creationId xmlns:a16="http://schemas.microsoft.com/office/drawing/2014/main" id="{491D193D-25A0-4DF9-A68E-D593BE62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100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2" name="U08-059-guide-3-title">
            <a:extLst xmlns:a="http://schemas.openxmlformats.org/drawingml/2006/main">
              <a:ext uri="{FF2B5EF4-FFF2-40B4-BE49-F238E27FC236}">
                <a16:creationId xmlns:a16="http://schemas.microsoft.com/office/drawing/2014/main" id="{3C689A9E-00F1-4994-92BE-616738C2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433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U08-059-guide-3-body">
            <a:extLst xmlns:a="http://schemas.openxmlformats.org/drawingml/2006/main">
              <a:ext uri="{FF2B5EF4-FFF2-40B4-BE49-F238E27FC236}">
                <a16:creationId xmlns:a16="http://schemas.microsoft.com/office/drawing/2014/main" id="{3B0062DA-EE67-4577-B4B1-A840970B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434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Limite el porcentaje a la prueba</a:t>
            </a:r>
          </a:p>
        </p:txBody>
      </p:sp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C00936E2-C4EE-450E-BB0C-42752209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 xmlns:a="http://schemas.openxmlformats.org/drawingml/2006/main">
              <a:ext uri="{FF2B5EF4-FFF2-40B4-BE49-F238E27FC236}">
                <a16:creationId xmlns:a16="http://schemas.microsoft.com/office/drawing/2014/main" id="{405BE3D4-1F05-4BCE-B9F4-A8583C76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 xmlns:a="http://schemas.openxmlformats.org/drawingml/2006/main">
              <a:ext uri="{FF2B5EF4-FFF2-40B4-BE49-F238E27FC236}">
                <a16:creationId xmlns:a16="http://schemas.microsoft.com/office/drawing/2014/main" id="{BC7D053C-0D35-4E07-B1E1-60141D80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6CEC6F01-E5CE-437E-9B47-BF3DA93E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FF4BF78-6B72-4E31-9E19-8FD2E0FA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5A508B-8AC6-4F16-ACD8-F896179F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Umbral tonal y desempeño verbal responden preguntas distintas</a:t>
            </a:r>
          </a:p>
        </p:txBody>
      </p:sp>
      <p:sp>
        <p:nvSpPr>
          <p:cNvPr id="2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CA9F0D8D-B349-4292-A59B-A187C0FC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FCF78F48-624E-4844-B058-9D649186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Audiometría tonal</a:t>
            </a:r>
          </a:p>
        </p:txBody>
      </p:sp>
      <p:sp>
        <p:nvSpPr>
          <p:cNvPr id="4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3C603310-2B38-4535-A21D-F7CB492C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Audiometría tonal: detectar tonos resultado principal, umbral por frecuencia. Logoaudiometría: responder a material verbal</a:t>
            </a:r>
          </a:p>
        </p:txBody>
      </p:sp>
      <p:sp>
        <p:nvSpPr>
          <p:cNvPr id="5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4889C985-0BE7-4256-BBC4-4B3B51A1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3D0F2BD0-1500-443B-A156-956697F0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Logoaudiometría</a:t>
            </a:r>
          </a:p>
        </p:txBody>
      </p:sp>
      <p:sp>
        <p:nvSpPr>
          <p:cNvPr id="7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BE08D32D-A540-4704-B924-3433FE4F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resultado, porcentaje o umbral bajo condiciones definidas. Se complementan, pero no miden la misma tarea.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D20653AB-EE24-4D43-B388-D3FB4BCA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1B5ACF93-7C18-440D-8A68-6176FAB1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21D6A4A7-419F-4832-887A-FB8D9628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9F36E80E-27B2-437C-9C6E-1CDDC491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F1ED803-D3A3-40AB-BA16-23A2F8BF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67CB99-E6BB-489B-9C6E-A22B41E2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acufenometría compara un tinnitus referido con sonidos externos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A3B30CC5-DE61-431F-82B2-5F2D1FD9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persona compara su percepto referido con un estímulo externo ajustable.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Puede elegir una correspondencia de frecuencia y nivel bajo una consigna definida.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resultado pertenece a la tarea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equipo no mide una fuente sonora interna.</a:t>
            </a:r>
          </a:p>
        </p:txBody>
      </p:sp>
      <p:sp>
        <p:nvSpPr>
          <p:cNvPr id="3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E1119F7E-4217-4926-B1F4-4F4FD480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571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2459701D-9787-4FC3-A78A-CC62E4EF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228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5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F4643F0F-7522-4203-9A68-6AD8584E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2289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persona elige correspondencias el equipo no mide una fuente física interna.</a:t>
            </a:r>
          </a:p>
        </p:txBody>
      </p:sp>
      <p:sp>
        <p:nvSpPr>
          <p:cNvPr id="6" name="top-rail-1">
            <a:extLst xmlns:a="http://schemas.openxmlformats.org/drawingml/2006/main">
              <a:ext uri="{FF2B5EF4-FFF2-40B4-BE49-F238E27FC236}">
                <a16:creationId xmlns:a16="http://schemas.microsoft.com/office/drawing/2014/main" id="{27C7BD51-12C2-4638-A760-8FB025AD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7" name="top-rail-2">
            <a:extLst xmlns:a="http://schemas.openxmlformats.org/drawingml/2006/main">
              <a:ext uri="{FF2B5EF4-FFF2-40B4-BE49-F238E27FC236}">
                <a16:creationId xmlns:a16="http://schemas.microsoft.com/office/drawing/2014/main" id="{F0B6A5ED-C4BF-4C12-99A0-7ED7B095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8" name="top-rail-3">
            <a:extLst xmlns:a="http://schemas.openxmlformats.org/drawingml/2006/main">
              <a:ext uri="{FF2B5EF4-FFF2-40B4-BE49-F238E27FC236}">
                <a16:creationId xmlns:a16="http://schemas.microsoft.com/office/drawing/2014/main" id="{4D0CADE2-68E0-40D3-8CFE-F7ACB622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D73E35B6-34C0-4289-B3CE-D2FB1AEA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18A9F24-9972-431E-8016-6B7E103A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A4070F-0B95-46D1-8164-A557AD48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frecuencia de correspondencia no es la “frecuencia física del tinnitus”</a:t>
            </a:r>
          </a:p>
        </p:txBody>
      </p:sp>
      <p:sp>
        <p:nvSpPr>
          <p:cNvPr id="2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AC22AE81-9A23-4E0C-BC17-F65C340C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F05F0ACC-3FDB-4F90-9054-E29974A6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Señal externa</a:t>
            </a:r>
          </a:p>
        </p:txBody>
      </p:sp>
      <p:sp>
        <p:nvSpPr>
          <p:cNvPr id="4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68C9BB79-4743-4372-9F0F-CB91A06D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Físico: el tono externo tiene frecuencia medible en Hz. Perceptual: el tinnitus es una experiencia referida.</a:t>
            </a:r>
          </a:p>
        </p:txBody>
      </p:sp>
      <p:sp>
        <p:nvSpPr>
          <p:cNvPr id="5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5D89295D-D8BF-4801-979A-7D0D7E1F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BB35943A-6846-4EFB-B52E-FA5C0B73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Correspondencia perceptual</a:t>
            </a:r>
          </a:p>
        </p:txBody>
      </p:sp>
      <p:sp>
        <p:nvSpPr>
          <p:cNvPr id="7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B03E2585-463D-42EA-9055-15451A06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Correspondencia: juicio de semejanza no igualdad física entre dos fuentes.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EE81FE65-E1C5-4240-A1B6-8640F7F3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6E7A1A6D-65A9-40F7-94A4-26AD83CC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F2561CA3-A943-409F-980C-15FACC55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2E505525-D345-472D-9275-6EECE0BD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248B350-8DD5-48C0-8B32-D8EC986B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6356B9-2775-4009-9940-E5F705D8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dB SL expresa nivel respecto de un umbral definido</a:t>
            </a:r>
          </a:p>
        </p:txBody>
      </p:sp>
      <p:sp>
        <p:nvSpPr>
          <p:cNvPr id="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D18E91BC-83D1-4E9D-8AA5-474379F9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33550"/>
            <a:ext cx="962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3" name="equation">
            <a:extLst xmlns:a="http://schemas.openxmlformats.org/drawingml/2006/main">
              <a:ext uri="{FF2B5EF4-FFF2-40B4-BE49-F238E27FC236}">
                <a16:creationId xmlns:a16="http://schemas.microsoft.com/office/drawing/2014/main" id="{9A32A4D6-52F0-40F2-AE94-91A7DAB0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847850"/>
            <a:ext cx="9163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L_SL = L_presentación − L_umbral individual</a:t>
            </a:r>
          </a:p>
        </p:txBody>
      </p:sp>
      <p:sp>
        <p:nvSpPr>
          <p:cNvPr id="4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E035C288-2A16-4426-9A64-AD261E3A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ECB1510D-AF2C-4838-AE8C-7DBF6068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6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62107E73-F224-4113-95C8-57061222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nivel de correspondencia no es intensidad interna ni cuantifica impacto funcional.</a:t>
            </a:r>
          </a:p>
        </p:txBody>
      </p:sp>
      <p:sp>
        <p:nvSpPr>
          <p:cNvPr id="7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23968776-AE26-4D99-ABB4-49441211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D7F54360-8FF6-450D-B410-988793E5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9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DB0AE2CD-4E8E-4793-B990-1FB28E32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SL es una diferencia respecto de un umbral individual declarado; no mide una fuente sonora interna ni cuantifica impacto funcional.</a:t>
            </a:r>
          </a:p>
        </p:txBody>
      </p:sp>
      <p:sp>
        <p:nvSpPr>
          <p:cNvPr id="10" name="top-rail-1">
            <a:extLst xmlns:a="http://schemas.openxmlformats.org/drawingml/2006/main">
              <a:ext uri="{FF2B5EF4-FFF2-40B4-BE49-F238E27FC236}">
                <a16:creationId xmlns:a16="http://schemas.microsoft.com/office/drawing/2014/main" id="{671E8D2D-1691-447A-9656-27FE8DE3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 xmlns:a="http://schemas.openxmlformats.org/drawingml/2006/main">
              <a:ext uri="{FF2B5EF4-FFF2-40B4-BE49-F238E27FC236}">
                <a16:creationId xmlns:a16="http://schemas.microsoft.com/office/drawing/2014/main" id="{1E60C67C-48AD-458D-9C99-7CE96DAB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 xmlns:a="http://schemas.openxmlformats.org/drawingml/2006/main">
              <a:ext uri="{FF2B5EF4-FFF2-40B4-BE49-F238E27FC236}">
                <a16:creationId xmlns:a16="http://schemas.microsoft.com/office/drawing/2014/main" id="{52D056A2-8FAD-4C55-BC62-11692F99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BBDD01D0-572E-418E-B137-8F83E1D5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AMPLIACIÓN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0ACDF06-B9DE-4C3E-9D75-4106C3E3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3F4869-AD14-4C47-A9C1-8FC3D9C9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Tres tareas conductuales producen tres clases de resultado</a:t>
            </a:r>
          </a:p>
        </p:txBody>
      </p:sp>
      <p:sp>
        <p:nvSpPr>
          <p:cNvPr id="2" name="U08-064-recap-0-box">
            <a:extLst xmlns:a="http://schemas.openxmlformats.org/drawingml/2006/main">
              <a:ext uri="{FF2B5EF4-FFF2-40B4-BE49-F238E27FC236}">
                <a16:creationId xmlns:a16="http://schemas.microsoft.com/office/drawing/2014/main" id="{74842C29-BB3F-4FC0-BE2E-00A7BA23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064-recap-0-title">
            <a:extLst xmlns:a="http://schemas.openxmlformats.org/drawingml/2006/main">
              <a:ext uri="{FF2B5EF4-FFF2-40B4-BE49-F238E27FC236}">
                <a16:creationId xmlns:a16="http://schemas.microsoft.com/office/drawing/2014/main" id="{BCB4E39A-E044-4A85-B721-E23F7A74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U08-064-recap-0-body">
            <a:extLst xmlns:a="http://schemas.openxmlformats.org/drawingml/2006/main">
              <a:ext uri="{FF2B5EF4-FFF2-40B4-BE49-F238E27FC236}">
                <a16:creationId xmlns:a16="http://schemas.microsoft.com/office/drawing/2014/main" id="{1E621F43-0C9F-4AD0-835E-477754EE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Tono: umbral por frecuencia</a:t>
            </a:r>
          </a:p>
        </p:txBody>
      </p:sp>
      <p:sp>
        <p:nvSpPr>
          <p:cNvPr id="5" name="U08-064-recap-1-box">
            <a:extLst xmlns:a="http://schemas.openxmlformats.org/drawingml/2006/main">
              <a:ext uri="{FF2B5EF4-FFF2-40B4-BE49-F238E27FC236}">
                <a16:creationId xmlns:a16="http://schemas.microsoft.com/office/drawing/2014/main" id="{286C3070-0165-48E4-A946-A4EDFC69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U08-064-recap-1-title">
            <a:extLst xmlns:a="http://schemas.openxmlformats.org/drawingml/2006/main">
              <a:ext uri="{FF2B5EF4-FFF2-40B4-BE49-F238E27FC236}">
                <a16:creationId xmlns:a16="http://schemas.microsoft.com/office/drawing/2014/main" id="{D51845DE-E617-487C-9322-31151545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U08-064-recap-1-body">
            <a:extLst xmlns:a="http://schemas.openxmlformats.org/drawingml/2006/main">
              <a:ext uri="{FF2B5EF4-FFF2-40B4-BE49-F238E27FC236}">
                <a16:creationId xmlns:a16="http://schemas.microsoft.com/office/drawing/2014/main" id="{5081C44E-DCEF-4BAA-94BD-56B9E53E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Habla: umbral o porcentaje</a:t>
            </a:r>
          </a:p>
        </p:txBody>
      </p:sp>
      <p:sp>
        <p:nvSpPr>
          <p:cNvPr id="8" name="U08-064-recap-2-box">
            <a:extLst xmlns:a="http://schemas.openxmlformats.org/drawingml/2006/main">
              <a:ext uri="{FF2B5EF4-FFF2-40B4-BE49-F238E27FC236}">
                <a16:creationId xmlns:a16="http://schemas.microsoft.com/office/drawing/2014/main" id="{EC8B74CC-55FA-4104-A78F-3A9845C5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U08-064-recap-2-title">
            <a:extLst xmlns:a="http://schemas.openxmlformats.org/drawingml/2006/main">
              <a:ext uri="{FF2B5EF4-FFF2-40B4-BE49-F238E27FC236}">
                <a16:creationId xmlns:a16="http://schemas.microsoft.com/office/drawing/2014/main" id="{6D492515-DA5B-450D-B80A-67144CA7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0" name="U08-064-recap-2-body">
            <a:extLst xmlns:a="http://schemas.openxmlformats.org/drawingml/2006/main">
              <a:ext uri="{FF2B5EF4-FFF2-40B4-BE49-F238E27FC236}">
                <a16:creationId xmlns:a16="http://schemas.microsoft.com/office/drawing/2014/main" id="{6DD30490-197B-4B12-BDFB-97B7AF62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Acúfeno: correspondencia</a:t>
            </a:r>
          </a:p>
        </p:txBody>
      </p:sp>
      <p:sp>
        <p:nvSpPr>
          <p:cNvPr id="11" name="U08-064-recap-3-box">
            <a:extLst xmlns:a="http://schemas.openxmlformats.org/drawingml/2006/main">
              <a:ext uri="{FF2B5EF4-FFF2-40B4-BE49-F238E27FC236}">
                <a16:creationId xmlns:a16="http://schemas.microsoft.com/office/drawing/2014/main" id="{011DEC92-169F-4EFA-866F-4A98ADB8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2" name="U08-064-recap-3-title">
            <a:extLst xmlns:a="http://schemas.openxmlformats.org/drawingml/2006/main">
              <a:ext uri="{FF2B5EF4-FFF2-40B4-BE49-F238E27FC236}">
                <a16:creationId xmlns:a16="http://schemas.microsoft.com/office/drawing/2014/main" id="{098D270A-316D-4FA7-948F-481BD359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3" name="U08-064-recap-3-body">
            <a:extLst xmlns:a="http://schemas.openxmlformats.org/drawingml/2006/main">
              <a:ext uri="{FF2B5EF4-FFF2-40B4-BE49-F238E27FC236}">
                <a16:creationId xmlns:a16="http://schemas.microsoft.com/office/drawing/2014/main" id="{ECEBC674-4FE3-4DF2-B3EC-530CBE1C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Cada tarea tiene su límite</a:t>
            </a:r>
          </a:p>
        </p:txBody>
      </p:sp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8CD25B05-0D9A-4A65-9481-0418AE5B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 xmlns:a="http://schemas.openxmlformats.org/drawingml/2006/main">
              <a:ext uri="{FF2B5EF4-FFF2-40B4-BE49-F238E27FC236}">
                <a16:creationId xmlns:a16="http://schemas.microsoft.com/office/drawing/2014/main" id="{83179A5D-9002-4322-AF76-C6BA0152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 xmlns:a="http://schemas.openxmlformats.org/drawingml/2006/main">
              <a:ext uri="{FF2B5EF4-FFF2-40B4-BE49-F238E27FC236}">
                <a16:creationId xmlns:a16="http://schemas.microsoft.com/office/drawing/2014/main" id="{79BA6D04-022E-4DFF-B135-AF199079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9DDD4FB9-720C-4BFB-8F72-9F305D44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AFD1C18-E1F1-4C19-A9DC-FFF226C3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BF2D3A7A-6B1B-4774-8EB2-8C49CFEF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0535D6B9-47F2-4E2D-82D2-9DCBF49C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mide un barrido de presión y qué no mide?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2D1AB6CF-D2CA-40DA-BF33-0E4AE8A5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 del bloque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7A2AE46-DF6E-477D-8BA3-618832D0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C0E9BA-1E30-435E-94BF-CE522632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sonda presenta un tono mientras cambia la presión del conducto</a:t>
            </a:r>
          </a:p>
        </p:txBody>
      </p:sp>
      <p:sp>
        <p:nvSpPr>
          <p:cNvPr id="2" name="U08-066-process-anchor-1">
            <a:extLst xmlns:a="http://schemas.openxmlformats.org/drawingml/2006/main">
              <a:ext uri="{FF2B5EF4-FFF2-40B4-BE49-F238E27FC236}">
                <a16:creationId xmlns:a16="http://schemas.microsoft.com/office/drawing/2014/main" id="{3A091D71-C33B-4B57-AAC2-13C917A5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U08-066-process-anchor-2">
            <a:extLst xmlns:a="http://schemas.openxmlformats.org/drawingml/2006/main">
              <a:ext uri="{FF2B5EF4-FFF2-40B4-BE49-F238E27FC236}">
                <a16:creationId xmlns:a16="http://schemas.microsoft.com/office/drawing/2014/main" id="{98ED577A-0062-465B-AFFA-48A726CF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88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U08-066-process-anchor-3">
            <a:extLst xmlns:a="http://schemas.openxmlformats.org/drawingml/2006/main">
              <a:ext uri="{FF2B5EF4-FFF2-40B4-BE49-F238E27FC236}">
                <a16:creationId xmlns:a16="http://schemas.microsoft.com/office/drawing/2014/main" id="{E81AEFD0-AAE9-4EAB-B5C9-6FD11DCB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U08-066-process-anchor-4">
            <a:extLst xmlns:a="http://schemas.openxmlformats.org/drawingml/2006/main">
              <a:ext uri="{FF2B5EF4-FFF2-40B4-BE49-F238E27FC236}">
                <a16:creationId xmlns:a16="http://schemas.microsoft.com/office/drawing/2014/main" id="{03C5CAC6-8317-4999-BDE4-F352D6AA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138488" y="3095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981701" y="3095625"/>
            <a:ext cx="228599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824913" y="3095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9" name="U08-066-process-1-box">
            <a:extLst xmlns:a="http://schemas.openxmlformats.org/drawingml/2006/main">
              <a:ext uri="{FF2B5EF4-FFF2-40B4-BE49-F238E27FC236}">
                <a16:creationId xmlns:a16="http://schemas.microsoft.com/office/drawing/2014/main" id="{9E0272C6-BA93-4C7A-929D-85E7E429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U08-066-process-1-title">
            <a:extLst xmlns:a="http://schemas.openxmlformats.org/drawingml/2006/main">
              <a:ext uri="{FF2B5EF4-FFF2-40B4-BE49-F238E27FC236}">
                <a16:creationId xmlns:a16="http://schemas.microsoft.com/office/drawing/2014/main" id="{7961A115-B890-4FD2-A265-29A69D50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28850"/>
            <a:ext cx="22717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U08-066-process-1-body">
            <a:extLst xmlns:a="http://schemas.openxmlformats.org/drawingml/2006/main">
              <a:ext uri="{FF2B5EF4-FFF2-40B4-BE49-F238E27FC236}">
                <a16:creationId xmlns:a16="http://schemas.microsoft.com/office/drawing/2014/main" id="{8ED061E4-D643-408B-ADF7-D9F17090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28900"/>
            <a:ext cx="2271713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sonda sella el conducto y presenta un tono.</a:t>
            </a:r>
          </a:p>
        </p:txBody>
      </p:sp>
      <p:sp>
        <p:nvSpPr>
          <p:cNvPr id="12" name="U08-066-process-2-box">
            <a:extLst xmlns:a="http://schemas.openxmlformats.org/drawingml/2006/main">
              <a:ext uri="{FF2B5EF4-FFF2-40B4-BE49-F238E27FC236}">
                <a16:creationId xmlns:a16="http://schemas.microsoft.com/office/drawing/2014/main" id="{58437B1E-C737-4F47-951B-D4BC3B05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88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3" name="U08-066-process-2-title">
            <a:extLst xmlns:a="http://schemas.openxmlformats.org/drawingml/2006/main">
              <a:ext uri="{FF2B5EF4-FFF2-40B4-BE49-F238E27FC236}">
                <a16:creationId xmlns:a16="http://schemas.microsoft.com/office/drawing/2014/main" id="{7CD07C27-6326-4CE9-95A8-E4D74300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2228850"/>
            <a:ext cx="22717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U08-066-process-2-body">
            <a:extLst xmlns:a="http://schemas.openxmlformats.org/drawingml/2006/main">
              <a:ext uri="{FF2B5EF4-FFF2-40B4-BE49-F238E27FC236}">
                <a16:creationId xmlns:a16="http://schemas.microsoft.com/office/drawing/2014/main" id="{1BEB5C73-A403-4E8D-B571-1E68D0A2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2628900"/>
            <a:ext cx="2271713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sistema modifica la presión del conducto de manera controlada.</a:t>
            </a:r>
          </a:p>
        </p:txBody>
      </p:sp>
      <p:sp>
        <p:nvSpPr>
          <p:cNvPr id="15" name="U08-066-process-3-box">
            <a:extLst xmlns:a="http://schemas.openxmlformats.org/drawingml/2006/main">
              <a:ext uri="{FF2B5EF4-FFF2-40B4-BE49-F238E27FC236}">
                <a16:creationId xmlns:a16="http://schemas.microsoft.com/office/drawing/2014/main" id="{E0319B2C-668E-46D1-A42E-30DFE871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6" name="U08-066-process-3-title">
            <a:extLst xmlns:a="http://schemas.openxmlformats.org/drawingml/2006/main">
              <a:ext uri="{FF2B5EF4-FFF2-40B4-BE49-F238E27FC236}">
                <a16:creationId xmlns:a16="http://schemas.microsoft.com/office/drawing/2014/main" id="{7A3C3F4E-A0B4-42FB-B4C2-FFE04D3A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28850"/>
            <a:ext cx="22717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" name="U08-066-process-3-body">
            <a:extLst xmlns:a="http://schemas.openxmlformats.org/drawingml/2006/main">
              <a:ext uri="{FF2B5EF4-FFF2-40B4-BE49-F238E27FC236}">
                <a16:creationId xmlns:a16="http://schemas.microsoft.com/office/drawing/2014/main" id="{84CC34F6-6B3C-475B-93F0-46B85516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2271713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micrófono registra la respuesta acústica.</a:t>
            </a:r>
          </a:p>
        </p:txBody>
      </p:sp>
      <p:sp>
        <p:nvSpPr>
          <p:cNvPr id="18" name="U08-066-process-4-box">
            <a:extLst xmlns:a="http://schemas.openxmlformats.org/drawingml/2006/main">
              <a:ext uri="{FF2B5EF4-FFF2-40B4-BE49-F238E27FC236}">
                <a16:creationId xmlns:a16="http://schemas.microsoft.com/office/drawing/2014/main" id="{3C3C7B54-5510-4C58-8ED4-1DFC174C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9" name="U08-066-process-4-title">
            <a:extLst xmlns:a="http://schemas.openxmlformats.org/drawingml/2006/main">
              <a:ext uri="{FF2B5EF4-FFF2-40B4-BE49-F238E27FC236}">
                <a16:creationId xmlns:a16="http://schemas.microsoft.com/office/drawing/2014/main" id="{191694BE-D744-4D5E-A083-B313780C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2228850"/>
            <a:ext cx="22717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0" name="U08-066-process-4-body">
            <a:extLst xmlns:a="http://schemas.openxmlformats.org/drawingml/2006/main">
              <a:ext uri="{FF2B5EF4-FFF2-40B4-BE49-F238E27FC236}">
                <a16:creationId xmlns:a16="http://schemas.microsoft.com/office/drawing/2014/main" id="{9B0B4DF0-6908-430A-A409-CC109F31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2628900"/>
            <a:ext cx="2271713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curva representa una magnitud de inmitancia frente a presión.</a:t>
            </a:r>
          </a:p>
        </p:txBody>
      </p:sp>
      <p:sp>
        <p:nvSpPr>
          <p:cNvPr id="21" name="top-rail-1">
            <a:extLst xmlns:a="http://schemas.openxmlformats.org/drawingml/2006/main">
              <a:ext uri="{FF2B5EF4-FFF2-40B4-BE49-F238E27FC236}">
                <a16:creationId xmlns:a16="http://schemas.microsoft.com/office/drawing/2014/main" id="{B54A6120-6CC3-4E80-BB2E-A4B56119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EBB3AF0-3C59-4E83-8610-88985799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3" name="top-rail-3">
            <a:extLst xmlns:a="http://schemas.openxmlformats.org/drawingml/2006/main">
              <a:ext uri="{FF2B5EF4-FFF2-40B4-BE49-F238E27FC236}">
                <a16:creationId xmlns:a16="http://schemas.microsoft.com/office/drawing/2014/main" id="{6D3DFFE9-1642-4909-845F-2A6F66AC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3F991FF2-E477-4FFC-9C54-9238BAF5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C143711-C50E-41B1-8959-F90EB603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CC4A2D-3537-4E2E-B3FF-3604C1EB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Inmitancia es la categoría; admitancia es una magnitud habitual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D20C3B47-5523-4F02-8687-DF39DCD3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Inmitancia: categoría que reúne oposición y facilidad de transferencia.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Admitancia Y: magnitud habitual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unidad depende del equipo y protocolo.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del conducto: daPa.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Y/Y_max: normalización conceptual, sin unidad.</a:t>
            </a:r>
          </a:p>
        </p:txBody>
      </p:sp>
      <p:sp>
        <p:nvSpPr>
          <p:cNvPr id="3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CBDF60D4-6495-4C95-B864-6AADDB46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571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6AA5A288-A3F5-4B99-8261-79C644CE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228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5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4E86F560-DC87-43E9-B70F-31817792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2289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equipo debe declarar qué magnitud y unidad muestra Y/Y_max es una normalización conceptual.</a:t>
            </a:r>
          </a:p>
        </p:txBody>
      </p:sp>
      <p:sp>
        <p:nvSpPr>
          <p:cNvPr id="6" name="top-rail-1">
            <a:extLst xmlns:a="http://schemas.openxmlformats.org/drawingml/2006/main">
              <a:ext uri="{FF2B5EF4-FFF2-40B4-BE49-F238E27FC236}">
                <a16:creationId xmlns:a16="http://schemas.microsoft.com/office/drawing/2014/main" id="{C6F099B8-C66A-432A-9CDD-36622816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7" name="top-rail-2">
            <a:extLst xmlns:a="http://schemas.openxmlformats.org/drawingml/2006/main">
              <a:ext uri="{FF2B5EF4-FFF2-40B4-BE49-F238E27FC236}">
                <a16:creationId xmlns:a16="http://schemas.microsoft.com/office/drawing/2014/main" id="{099FF0FC-537B-4F3C-B57E-6CDF8459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8" name="top-rail-3">
            <a:extLst xmlns:a="http://schemas.openxmlformats.org/drawingml/2006/main">
              <a:ext uri="{FF2B5EF4-FFF2-40B4-BE49-F238E27FC236}">
                <a16:creationId xmlns:a16="http://schemas.microsoft.com/office/drawing/2014/main" id="{F450DED7-19EF-4B6F-AEDC-F7B9E026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B879C576-037D-4454-9B5D-35A8247C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BB3735F-5E78-4CBA-A2EB-A9AEC08F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485113-1AF0-4E31-8848-9EE3E860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timpanograma se construye punto por punto durante el barrido</a:t>
            </a:r>
          </a:p>
        </p:txBody>
      </p:sp>
      <p:sp>
        <p:nvSpPr>
          <p:cNvPr id="2" name="media-static-box">
            <a:extLst xmlns:a="http://schemas.openxmlformats.org/drawingml/2006/main">
              <a:ext uri="{FF2B5EF4-FFF2-40B4-BE49-F238E27FC236}">
                <a16:creationId xmlns:a16="http://schemas.microsoft.com/office/drawing/2014/main" id="{C50E409C-1DA1-42F1-A2B0-68D8AC97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71437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media-static-title">
            <a:extLst xmlns:a="http://schemas.openxmlformats.org/drawingml/2006/main">
              <a:ext uri="{FF2B5EF4-FFF2-40B4-BE49-F238E27FC236}">
                <a16:creationId xmlns:a16="http://schemas.microsoft.com/office/drawing/2014/main" id="{C2A98429-9A05-45F4-AE31-853D3164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04975"/>
            <a:ext cx="680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4" name="media-static-body">
            <a:extLst xmlns:a="http://schemas.openxmlformats.org/drawingml/2006/main">
              <a:ext uri="{FF2B5EF4-FFF2-40B4-BE49-F238E27FC236}">
                <a16:creationId xmlns:a16="http://schemas.microsoft.com/office/drawing/2014/main" id="{7353D2E9-FCE7-4422-B2F9-A06D54AE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105025"/>
            <a:ext cx="680085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Cada presión aporta una medición la morfología resume el conjunto. Animación presión medición punto curva, con alternativa de cuatro cuadros</a:t>
            </a:r>
          </a:p>
        </p:txBody>
      </p:sp>
      <p:sp>
        <p:nvSpPr>
          <p:cNvPr id="5" name="media-id-box">
            <a:extLst xmlns:a="http://schemas.openxmlformats.org/drawingml/2006/main">
              <a:ext uri="{FF2B5EF4-FFF2-40B4-BE49-F238E27FC236}">
                <a16:creationId xmlns:a16="http://schemas.microsoft.com/office/drawing/2014/main" id="{B1D8DA7F-FA18-406C-A281-02C7D6C2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238500" cy="3619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media-id-title">
            <a:extLst xmlns:a="http://schemas.openxmlformats.org/drawingml/2006/main">
              <a:ext uri="{FF2B5EF4-FFF2-40B4-BE49-F238E27FC236}">
                <a16:creationId xmlns:a16="http://schemas.microsoft.com/office/drawing/2014/main" id="{86AC7F98-8599-426F-B92D-B89C819C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0497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Condición de escucha</a:t>
            </a:r>
          </a:p>
        </p:txBody>
      </p:sp>
      <p:sp>
        <p:nvSpPr>
          <p:cNvPr id="7" name="media-id-body">
            <a:extLst xmlns:a="http://schemas.openxmlformats.org/drawingml/2006/main">
              <a:ext uri="{FF2B5EF4-FFF2-40B4-BE49-F238E27FC236}">
                <a16:creationId xmlns:a16="http://schemas.microsoft.com/office/drawing/2014/main" id="{97E61270-86FA-4DEE-9CB0-7AC811A9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05025"/>
            <a:ext cx="28956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Formule una predicción antes de escuchar y describa solo el cambio perceptual relevante. La escucha es cualitativa y no reemplaza una medición calibrada.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FCC47B33-5E4D-4550-90AD-334BB538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5DC39C0B-7E25-460C-9A5A-43BEC1C5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7DA05C43-06F6-43B2-AA5F-1B87EBB5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D04532A4-C53E-4FEF-956F-A430C96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AMPLIACIÓN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85667BD-490E-489B-B0D4-E289A77A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23F757-B4D6-4310-8910-DF5E9700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Tres morfologías describen curvas, no enfermedades</a:t>
            </a:r>
          </a:p>
        </p:txBody>
      </p:sp>
      <p:sp>
        <p:nvSpPr>
          <p:cNvPr id="2" name="u08-069-1-frame">
            <a:extLst xmlns:a="http://schemas.openxmlformats.org/drawingml/2006/main">
              <a:ext uri="{FF2B5EF4-FFF2-40B4-BE49-F238E27FC236}">
                <a16:creationId xmlns:a16="http://schemas.microsoft.com/office/drawing/2014/main" id="{16296416-FB24-4B89-80E1-8F83E499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66875"/>
            <a:ext cx="3619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</p:sp>
      <p:sp>
        <p:nvSpPr>
          <p:cNvPr id="3" name="u08-069-1-x-a-60">
            <a:extLst xmlns:a="http://schemas.openxmlformats.org/drawingml/2006/main">
              <a:ext uri="{FF2B5EF4-FFF2-40B4-BE49-F238E27FC236}">
                <a16:creationId xmlns:a16="http://schemas.microsoft.com/office/drawing/2014/main" id="{BE60AECA-7D35-4D56-897F-D6123C8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u08-069-1-x-b-60">
            <a:extLst xmlns:a="http://schemas.openxmlformats.org/drawingml/2006/main">
              <a:ext uri="{FF2B5EF4-FFF2-40B4-BE49-F238E27FC236}">
                <a16:creationId xmlns:a16="http://schemas.microsoft.com/office/drawing/2014/main" id="{7916FBD0-E9DC-4EFF-8390-449554B6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133475" y="4510088"/>
            <a:ext cx="2628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6" name="u08-069-1-y-a-61">
            <a:extLst xmlns:a="http://schemas.openxmlformats.org/drawingml/2006/main">
              <a:ext uri="{FF2B5EF4-FFF2-40B4-BE49-F238E27FC236}">
                <a16:creationId xmlns:a16="http://schemas.microsoft.com/office/drawing/2014/main" id="{6786A869-5064-401B-B93F-6251242F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08-069-1-y-b-61">
            <a:extLst xmlns:a="http://schemas.openxmlformats.org/drawingml/2006/main">
              <a:ext uri="{FF2B5EF4-FFF2-40B4-BE49-F238E27FC236}">
                <a16:creationId xmlns:a16="http://schemas.microsoft.com/office/drawing/2014/main" id="{26E90C1A-B8AA-4C5F-86DC-AC7D3F8D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33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H="1" flipV="1">
            <a:off x="1123950" y="1938338"/>
            <a:ext cx="9525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9" name="u08-069-1-grid-y-a-62">
            <a:extLst xmlns:a="http://schemas.openxmlformats.org/drawingml/2006/main">
              <a:ext uri="{FF2B5EF4-FFF2-40B4-BE49-F238E27FC236}">
                <a16:creationId xmlns:a16="http://schemas.microsoft.com/office/drawing/2014/main" id="{727BEF8F-7E2C-4AB1-844C-74824E58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8-069-1-grid-y-b-62">
            <a:extLst xmlns:a="http://schemas.openxmlformats.org/drawingml/2006/main">
              <a:ext uri="{FF2B5EF4-FFF2-40B4-BE49-F238E27FC236}">
                <a16:creationId xmlns:a16="http://schemas.microsoft.com/office/drawing/2014/main" id="{B3CD6994-A6BE-4C33-AC0B-6620D56D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133475" y="4510088"/>
            <a:ext cx="2628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CE0"/>
            </a:solidFill>
            <a:prstDash val="solid"/>
          </a:ln>
        </p:spPr>
      </p:cxnSp>
      <p:sp>
        <p:nvSpPr>
          <p:cNvPr id="12" name="u08-069-1-ytick">
            <a:extLst xmlns:a="http://schemas.openxmlformats.org/drawingml/2006/main">
              <a:ext uri="{FF2B5EF4-FFF2-40B4-BE49-F238E27FC236}">
                <a16:creationId xmlns:a16="http://schemas.microsoft.com/office/drawing/2014/main" id="{AD0B94DC-8925-40A0-9C40-9546173B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910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3" name="u08-069-1-grid-y-a-63">
            <a:extLst xmlns:a="http://schemas.openxmlformats.org/drawingml/2006/main">
              <a:ext uri="{FF2B5EF4-FFF2-40B4-BE49-F238E27FC236}">
                <a16:creationId xmlns:a16="http://schemas.microsoft.com/office/drawing/2014/main" id="{6C9FA2E6-C738-4A4B-BC13-8E01F770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33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u08-069-1-grid-y-b-63">
            <a:extLst xmlns:a="http://schemas.openxmlformats.org/drawingml/2006/main">
              <a:ext uri="{FF2B5EF4-FFF2-40B4-BE49-F238E27FC236}">
                <a16:creationId xmlns:a16="http://schemas.microsoft.com/office/drawing/2014/main" id="{1BCD22AB-544A-4199-AD57-523A1A8B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933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6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133475" y="1938338"/>
            <a:ext cx="2628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CE0"/>
            </a:solidFill>
            <a:prstDash val="solid"/>
          </a:ln>
        </p:spPr>
      </p:cxnSp>
      <p:sp>
        <p:nvSpPr>
          <p:cNvPr id="16" name="u08-069-1-ytick">
            <a:extLst xmlns:a="http://schemas.openxmlformats.org/drawingml/2006/main">
              <a:ext uri="{FF2B5EF4-FFF2-40B4-BE49-F238E27FC236}">
                <a16:creationId xmlns:a16="http://schemas.microsoft.com/office/drawing/2014/main" id="{74840C5E-5466-4CA6-A6B1-CBF00F42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1927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7" name="u08-069-1-grid-x-a-64">
            <a:extLst xmlns:a="http://schemas.openxmlformats.org/drawingml/2006/main">
              <a:ext uri="{FF2B5EF4-FFF2-40B4-BE49-F238E27FC236}">
                <a16:creationId xmlns:a16="http://schemas.microsoft.com/office/drawing/2014/main" id="{8CDC65A6-1260-45AB-B2CE-B3CF29D4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u08-069-1-grid-x-b-64">
            <a:extLst xmlns:a="http://schemas.openxmlformats.org/drawingml/2006/main">
              <a:ext uri="{FF2B5EF4-FFF2-40B4-BE49-F238E27FC236}">
                <a16:creationId xmlns:a16="http://schemas.microsoft.com/office/drawing/2014/main" id="{1A365DB3-D678-409D-A7E4-0DFFCF56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33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 flipV="1">
            <a:off x="1123950" y="1938338"/>
            <a:ext cx="9525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20" name="u08-069-1-xtick">
            <a:extLst xmlns:a="http://schemas.openxmlformats.org/drawingml/2006/main">
              <a:ext uri="{FF2B5EF4-FFF2-40B4-BE49-F238E27FC236}">
                <a16:creationId xmlns:a16="http://schemas.microsoft.com/office/drawing/2014/main" id="{4DAEFAC1-E044-430E-903C-9BA4F922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815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21" name="u08-069-1-grid-x-a-65">
            <a:extLst xmlns:a="http://schemas.openxmlformats.org/drawingml/2006/main">
              <a:ext uri="{FF2B5EF4-FFF2-40B4-BE49-F238E27FC236}">
                <a16:creationId xmlns:a16="http://schemas.microsoft.com/office/drawing/2014/main" id="{4B16E7BB-F364-41E6-82F9-8D111E77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163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u08-069-1-grid-x-b-65">
            <a:extLst xmlns:a="http://schemas.openxmlformats.org/drawingml/2006/main">
              <a:ext uri="{FF2B5EF4-FFF2-40B4-BE49-F238E27FC236}">
                <a16:creationId xmlns:a16="http://schemas.microsoft.com/office/drawing/2014/main" id="{C6EC9E92-FA51-4AEB-96B4-38170320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163" y="1933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4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H="1" flipV="1">
            <a:off x="2443163" y="1938338"/>
            <a:ext cx="9525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24" name="u08-069-1-xtick">
            <a:extLst xmlns:a="http://schemas.openxmlformats.org/drawingml/2006/main">
              <a:ext uri="{FF2B5EF4-FFF2-40B4-BE49-F238E27FC236}">
                <a16:creationId xmlns:a16="http://schemas.microsoft.com/office/drawing/2014/main" id="{8ECD80A4-43C1-4219-96EF-6D86BA3E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788" y="45815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25" name="u08-069-1-grid-x-a-66">
            <a:extLst xmlns:a="http://schemas.openxmlformats.org/drawingml/2006/main">
              <a:ext uri="{FF2B5EF4-FFF2-40B4-BE49-F238E27FC236}">
                <a16:creationId xmlns:a16="http://schemas.microsoft.com/office/drawing/2014/main" id="{E68A4912-496F-4925-80A1-AA194E69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u08-069-1-grid-x-b-66">
            <a:extLst xmlns:a="http://schemas.openxmlformats.org/drawingml/2006/main">
              <a:ext uri="{FF2B5EF4-FFF2-40B4-BE49-F238E27FC236}">
                <a16:creationId xmlns:a16="http://schemas.microsoft.com/office/drawing/2014/main" id="{A8D522DE-F491-4CB6-AF09-F495C324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933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8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H="1" flipV="1">
            <a:off x="3762375" y="1938338"/>
            <a:ext cx="9525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28" name="u08-069-1-xtick">
            <a:extLst xmlns:a="http://schemas.openxmlformats.org/drawingml/2006/main">
              <a:ext uri="{FF2B5EF4-FFF2-40B4-BE49-F238E27FC236}">
                <a16:creationId xmlns:a16="http://schemas.microsoft.com/office/drawing/2014/main" id="{E16136D0-FA44-459E-B62D-A41B286F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815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29" name="u08-069-1-0-line-a-67">
            <a:extLst xmlns:a="http://schemas.openxmlformats.org/drawingml/2006/main">
              <a:ext uri="{FF2B5EF4-FFF2-40B4-BE49-F238E27FC236}">
                <a16:creationId xmlns:a16="http://schemas.microsoft.com/office/drawing/2014/main" id="{6A9BC8C0-04A0-48BF-9623-CB918953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671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u08-069-1-0-line-b-67">
            <a:extLst xmlns:a="http://schemas.openxmlformats.org/drawingml/2006/main">
              <a:ext uri="{FF2B5EF4-FFF2-40B4-BE49-F238E27FC236}">
                <a16:creationId xmlns:a16="http://schemas.microsoft.com/office/drawing/2014/main" id="{61B0AF38-A1FF-4233-9176-B7BF41A1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" y="404241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2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V="1">
            <a:off x="1133475" y="4047173"/>
            <a:ext cx="518160" cy="154305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F7E83"/>
            </a:solidFill>
            <a:prstDash val="solid"/>
          </a:ln>
        </p:spPr>
      </p:cxnSp>
      <p:sp>
        <p:nvSpPr>
          <p:cNvPr id="32" name="u08-069-1-0-line-a-68">
            <a:extLst xmlns:a="http://schemas.openxmlformats.org/drawingml/2006/main">
              <a:ext uri="{FF2B5EF4-FFF2-40B4-BE49-F238E27FC236}">
                <a16:creationId xmlns:a16="http://schemas.microsoft.com/office/drawing/2014/main" id="{02956AF6-132C-4344-96D9-1EB2FED3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" y="404241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u08-069-1-0-line-b-68">
            <a:extLst xmlns:a="http://schemas.openxmlformats.org/drawingml/2006/main">
              <a:ext uri="{FF2B5EF4-FFF2-40B4-BE49-F238E27FC236}">
                <a16:creationId xmlns:a16="http://schemas.microsoft.com/office/drawing/2014/main" id="{5DACA5C6-357D-45E0-858E-EA5486E6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320" y="3090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5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V="1">
            <a:off x="1661160" y="3095626"/>
            <a:ext cx="518160" cy="951547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F7E83"/>
            </a:solidFill>
            <a:prstDash val="solid"/>
          </a:ln>
        </p:spPr>
      </p:cxnSp>
      <p:sp>
        <p:nvSpPr>
          <p:cNvPr id="35" name="u08-069-1-0-line-a-69">
            <a:extLst xmlns:a="http://schemas.openxmlformats.org/drawingml/2006/main">
              <a:ext uri="{FF2B5EF4-FFF2-40B4-BE49-F238E27FC236}">
                <a16:creationId xmlns:a16="http://schemas.microsoft.com/office/drawing/2014/main" id="{E9DEF63D-9D2B-4DD8-A5D8-85D26ECF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320" y="3090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u08-069-1-0-line-b-69">
            <a:extLst xmlns:a="http://schemas.openxmlformats.org/drawingml/2006/main">
              <a:ext uri="{FF2B5EF4-FFF2-40B4-BE49-F238E27FC236}">
                <a16:creationId xmlns:a16="http://schemas.microsoft.com/office/drawing/2014/main" id="{93984130-56D4-459D-8424-F207144C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163" y="213931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8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V="1">
            <a:off x="2188845" y="2144078"/>
            <a:ext cx="254318" cy="95154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F7E83"/>
            </a:solidFill>
            <a:prstDash val="solid"/>
          </a:ln>
        </p:spPr>
      </p:cxnSp>
      <p:sp>
        <p:nvSpPr>
          <p:cNvPr id="38" name="u08-069-1-0-line-a-70">
            <a:extLst xmlns:a="http://schemas.openxmlformats.org/drawingml/2006/main">
              <a:ext uri="{FF2B5EF4-FFF2-40B4-BE49-F238E27FC236}">
                <a16:creationId xmlns:a16="http://schemas.microsoft.com/office/drawing/2014/main" id="{C4D5F59A-7F33-425A-BF14-DF8173A7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163" y="213931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u08-069-1-0-line-b-70">
            <a:extLst xmlns:a="http://schemas.openxmlformats.org/drawingml/2006/main">
              <a:ext uri="{FF2B5EF4-FFF2-40B4-BE49-F238E27FC236}">
                <a16:creationId xmlns:a16="http://schemas.microsoft.com/office/drawing/2014/main" id="{CE030AA9-F6E4-44BE-B533-FD58EB75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005" y="3090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1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452688" y="2144078"/>
            <a:ext cx="254317" cy="95154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F7E83"/>
            </a:solidFill>
            <a:prstDash val="solid"/>
          </a:ln>
        </p:spPr>
      </p:cxnSp>
      <p:sp>
        <p:nvSpPr>
          <p:cNvPr id="41" name="u08-069-1-0-line-a-71">
            <a:extLst xmlns:a="http://schemas.openxmlformats.org/drawingml/2006/main">
              <a:ext uri="{FF2B5EF4-FFF2-40B4-BE49-F238E27FC236}">
                <a16:creationId xmlns:a16="http://schemas.microsoft.com/office/drawing/2014/main" id="{0488E731-B975-4980-9648-7A72F2F2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005" y="3090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u08-069-1-0-line-b-71">
            <a:extLst xmlns:a="http://schemas.openxmlformats.org/drawingml/2006/main">
              <a:ext uri="{FF2B5EF4-FFF2-40B4-BE49-F238E27FC236}">
                <a16:creationId xmlns:a16="http://schemas.microsoft.com/office/drawing/2014/main" id="{309FE14B-0F74-47B2-AC53-786D4A57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690" y="404241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4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716530" y="3095626"/>
            <a:ext cx="518160" cy="951547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F7E83"/>
            </a:solidFill>
            <a:prstDash val="solid"/>
          </a:ln>
        </p:spPr>
      </p:cxnSp>
      <p:sp>
        <p:nvSpPr>
          <p:cNvPr id="44" name="u08-069-1-0-line-a-72">
            <a:extLst xmlns:a="http://schemas.openxmlformats.org/drawingml/2006/main">
              <a:ext uri="{FF2B5EF4-FFF2-40B4-BE49-F238E27FC236}">
                <a16:creationId xmlns:a16="http://schemas.microsoft.com/office/drawing/2014/main" id="{A41DEFA8-3446-412C-8ED4-C4FE0B17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690" y="404241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u08-069-1-0-line-b-72">
            <a:extLst xmlns:a="http://schemas.openxmlformats.org/drawingml/2006/main">
              <a:ext uri="{FF2B5EF4-FFF2-40B4-BE49-F238E27FC236}">
                <a16:creationId xmlns:a16="http://schemas.microsoft.com/office/drawing/2014/main" id="{AE1091AA-E01E-443A-9431-7DFF1C38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9671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7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3244215" y="4047173"/>
            <a:ext cx="518160" cy="154305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F7E83"/>
            </a:solidFill>
            <a:prstDash val="solid"/>
          </a:ln>
        </p:spPr>
      </p:cxnSp>
      <p:sp>
        <p:nvSpPr>
          <p:cNvPr id="47" name="u08-069-1-0-point-0">
            <a:extLst xmlns:a="http://schemas.openxmlformats.org/drawingml/2006/main">
              <a:ext uri="{FF2B5EF4-FFF2-40B4-BE49-F238E27FC236}">
                <a16:creationId xmlns:a16="http://schemas.microsoft.com/office/drawing/2014/main" id="{927781B8-2EB5-40E8-90B4-7FB6980D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956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u08-069-1-0-point-1">
            <a:extLst xmlns:a="http://schemas.openxmlformats.org/drawingml/2006/main">
              <a:ext uri="{FF2B5EF4-FFF2-40B4-BE49-F238E27FC236}">
                <a16:creationId xmlns:a16="http://schemas.microsoft.com/office/drawing/2014/main" id="{3019D113-3A61-48E2-AE1C-2DA60D6E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85" y="398526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u08-069-1-0-point-2">
            <a:extLst xmlns:a="http://schemas.openxmlformats.org/drawingml/2006/main">
              <a:ext uri="{FF2B5EF4-FFF2-40B4-BE49-F238E27FC236}">
                <a16:creationId xmlns:a16="http://schemas.microsoft.com/office/drawing/2014/main" id="{3D98C86E-7187-4D69-89DC-BD2F0108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170" y="303371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u08-069-1-0-point-3">
            <a:extLst xmlns:a="http://schemas.openxmlformats.org/drawingml/2006/main">
              <a:ext uri="{FF2B5EF4-FFF2-40B4-BE49-F238E27FC236}">
                <a16:creationId xmlns:a16="http://schemas.microsoft.com/office/drawing/2014/main" id="{193E2BD3-C408-4581-853C-E7089072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208216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u08-069-1-0-point-4">
            <a:extLst xmlns:a="http://schemas.openxmlformats.org/drawingml/2006/main">
              <a:ext uri="{FF2B5EF4-FFF2-40B4-BE49-F238E27FC236}">
                <a16:creationId xmlns:a16="http://schemas.microsoft.com/office/drawing/2014/main" id="{987029CE-9AEF-42E4-8BE5-EBB5026E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855" y="303371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u08-069-1-0-point-5">
            <a:extLst xmlns:a="http://schemas.openxmlformats.org/drawingml/2006/main">
              <a:ext uri="{FF2B5EF4-FFF2-40B4-BE49-F238E27FC236}">
                <a16:creationId xmlns:a16="http://schemas.microsoft.com/office/drawing/2014/main" id="{26B7A7C1-17E7-45DA-BCE8-462EDDCD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540" y="398526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u08-069-1-0-point-6">
            <a:extLst xmlns:a="http://schemas.openxmlformats.org/drawingml/2006/main">
              <a:ext uri="{FF2B5EF4-FFF2-40B4-BE49-F238E27FC236}">
                <a16:creationId xmlns:a16="http://schemas.microsoft.com/office/drawing/2014/main" id="{9307B61D-BE02-4520-8040-5007D68D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13956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u08-069-1-0-label">
            <a:extLst xmlns:a="http://schemas.openxmlformats.org/drawingml/2006/main">
              <a:ext uri="{FF2B5EF4-FFF2-40B4-BE49-F238E27FC236}">
                <a16:creationId xmlns:a16="http://schemas.microsoft.com/office/drawing/2014/main" id="{45496DFC-D690-46D5-9C5C-F43BC009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335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5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Pico centrado</a:t>
            </a:r>
          </a:p>
        </p:txBody>
      </p:sp>
      <p:sp>
        <p:nvSpPr>
          <p:cNvPr id="55" name="u08-069-1-xlabel">
            <a:extLst xmlns:a="http://schemas.openxmlformats.org/drawingml/2006/main">
              <a:ext uri="{FF2B5EF4-FFF2-40B4-BE49-F238E27FC236}">
                <a16:creationId xmlns:a16="http://schemas.microsoft.com/office/drawing/2014/main" id="{BB4A27B9-6B55-4DDE-B8AF-A4F9079C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91075"/>
            <a:ext cx="1114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(daPa)</a:t>
            </a:r>
          </a:p>
        </p:txBody>
      </p:sp>
      <p:sp>
        <p:nvSpPr>
          <p:cNvPr id="56" name="u08-069-1-ylabel">
            <a:extLst xmlns:a="http://schemas.openxmlformats.org/drawingml/2006/main">
              <a:ext uri="{FF2B5EF4-FFF2-40B4-BE49-F238E27FC236}">
                <a16:creationId xmlns:a16="http://schemas.microsoft.com/office/drawing/2014/main" id="{B11BB3A5-64B6-465A-94A8-154755EF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240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Y / Ymáx</a:t>
            </a:r>
          </a:p>
        </p:txBody>
      </p:sp>
      <p:sp>
        <p:nvSpPr>
          <p:cNvPr id="57" name="u08-069-1-note">
            <a:extLst xmlns:a="http://schemas.openxmlformats.org/drawingml/2006/main">
              <a:ext uri="{FF2B5EF4-FFF2-40B4-BE49-F238E27FC236}">
                <a16:creationId xmlns:a16="http://schemas.microsoft.com/office/drawing/2014/main" id="{022B4C74-2EA9-4B5B-AE69-423675DC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62425"/>
            <a:ext cx="2066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descripción geométrica</a:t>
            </a:r>
          </a:p>
        </p:txBody>
      </p:sp>
      <p:sp>
        <p:nvSpPr>
          <p:cNvPr id="58" name="u08-069-2-frame">
            <a:extLst xmlns:a="http://schemas.openxmlformats.org/drawingml/2006/main">
              <a:ext uri="{FF2B5EF4-FFF2-40B4-BE49-F238E27FC236}">
                <a16:creationId xmlns:a16="http://schemas.microsoft.com/office/drawing/2014/main" id="{1DD0948A-055D-4B0D-BC10-7CBD66EA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66875"/>
            <a:ext cx="3619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</p:sp>
      <p:sp>
        <p:nvSpPr>
          <p:cNvPr id="59" name="u08-069-2-x-a-73">
            <a:extLst xmlns:a="http://schemas.openxmlformats.org/drawingml/2006/main">
              <a:ext uri="{FF2B5EF4-FFF2-40B4-BE49-F238E27FC236}">
                <a16:creationId xmlns:a16="http://schemas.microsoft.com/office/drawing/2014/main" id="{94CF095D-1ECD-412B-9FF0-80506241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0" name="u08-069-2-x-b-73">
            <a:extLst xmlns:a="http://schemas.openxmlformats.org/drawingml/2006/main">
              <a:ext uri="{FF2B5EF4-FFF2-40B4-BE49-F238E27FC236}">
                <a16:creationId xmlns:a16="http://schemas.microsoft.com/office/drawing/2014/main" id="{FD45DBEB-8792-471B-8DA0-8DBED1A9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2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5133975" y="4510088"/>
            <a:ext cx="2628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62" name="u08-069-2-y-a-74">
            <a:extLst xmlns:a="http://schemas.openxmlformats.org/drawingml/2006/main">
              <a:ext uri="{FF2B5EF4-FFF2-40B4-BE49-F238E27FC236}">
                <a16:creationId xmlns:a16="http://schemas.microsoft.com/office/drawing/2014/main" id="{F8820C4B-E991-4273-930F-ABB28CF2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u08-069-2-y-b-74">
            <a:extLst xmlns:a="http://schemas.openxmlformats.org/drawingml/2006/main">
              <a:ext uri="{FF2B5EF4-FFF2-40B4-BE49-F238E27FC236}">
                <a16:creationId xmlns:a16="http://schemas.microsoft.com/office/drawing/2014/main" id="{372EDC84-78BE-4542-AC51-EFA464E0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33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5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 flipH="1" flipV="1">
            <a:off x="5124450" y="1938338"/>
            <a:ext cx="9525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65" name="u08-069-2-grid-y-a-75">
            <a:extLst xmlns:a="http://schemas.openxmlformats.org/drawingml/2006/main">
              <a:ext uri="{FF2B5EF4-FFF2-40B4-BE49-F238E27FC236}">
                <a16:creationId xmlns:a16="http://schemas.microsoft.com/office/drawing/2014/main" id="{A300F402-F1AE-4C51-B162-ACBAFA63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u08-069-2-grid-y-b-75">
            <a:extLst xmlns:a="http://schemas.openxmlformats.org/drawingml/2006/main">
              <a:ext uri="{FF2B5EF4-FFF2-40B4-BE49-F238E27FC236}">
                <a16:creationId xmlns:a16="http://schemas.microsoft.com/office/drawing/2014/main" id="{A8CE8A77-5424-4883-9536-0765C5E2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8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5133975" y="4510088"/>
            <a:ext cx="2628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CE0"/>
            </a:solidFill>
            <a:prstDash val="solid"/>
          </a:ln>
        </p:spPr>
      </p:cxnSp>
      <p:sp>
        <p:nvSpPr>
          <p:cNvPr id="68" name="u08-069-2-ytick">
            <a:extLst xmlns:a="http://schemas.openxmlformats.org/drawingml/2006/main">
              <a:ext uri="{FF2B5EF4-FFF2-40B4-BE49-F238E27FC236}">
                <a16:creationId xmlns:a16="http://schemas.microsoft.com/office/drawing/2014/main" id="{0381C7FC-45B8-4196-9BC6-3D70F402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910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69" name="u08-069-2-grid-y-a-76">
            <a:extLst xmlns:a="http://schemas.openxmlformats.org/drawingml/2006/main">
              <a:ext uri="{FF2B5EF4-FFF2-40B4-BE49-F238E27FC236}">
                <a16:creationId xmlns:a16="http://schemas.microsoft.com/office/drawing/2014/main" id="{7E8F4966-A318-4FCF-85C1-EB890D32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33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u08-069-2-grid-y-b-76">
            <a:extLst xmlns:a="http://schemas.openxmlformats.org/drawingml/2006/main">
              <a:ext uri="{FF2B5EF4-FFF2-40B4-BE49-F238E27FC236}">
                <a16:creationId xmlns:a16="http://schemas.microsoft.com/office/drawing/2014/main" id="{8E42C78F-510E-434F-99FC-07D34E12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33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2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5133975" y="1938338"/>
            <a:ext cx="2628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CE0"/>
            </a:solidFill>
            <a:prstDash val="solid"/>
          </a:ln>
        </p:spPr>
      </p:cxnSp>
      <p:sp>
        <p:nvSpPr>
          <p:cNvPr id="72" name="u08-069-2-ytick">
            <a:extLst xmlns:a="http://schemas.openxmlformats.org/drawingml/2006/main">
              <a:ext uri="{FF2B5EF4-FFF2-40B4-BE49-F238E27FC236}">
                <a16:creationId xmlns:a16="http://schemas.microsoft.com/office/drawing/2014/main" id="{5A683A2C-7802-469C-9A1A-9D60E023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1927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3" name="u08-069-2-grid-x-a-77">
            <a:extLst xmlns:a="http://schemas.openxmlformats.org/drawingml/2006/main">
              <a:ext uri="{FF2B5EF4-FFF2-40B4-BE49-F238E27FC236}">
                <a16:creationId xmlns:a16="http://schemas.microsoft.com/office/drawing/2014/main" id="{04F81B4F-FAC5-49F1-A481-51F08EE4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u08-069-2-grid-x-b-77">
            <a:extLst xmlns:a="http://schemas.openxmlformats.org/drawingml/2006/main">
              <a:ext uri="{FF2B5EF4-FFF2-40B4-BE49-F238E27FC236}">
                <a16:creationId xmlns:a16="http://schemas.microsoft.com/office/drawing/2014/main" id="{A3698523-F446-4FC9-856A-F29FE9C1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33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6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 flipH="1" flipV="1">
            <a:off x="5124450" y="1938338"/>
            <a:ext cx="9525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76" name="u08-069-2-xtick">
            <a:extLst xmlns:a="http://schemas.openxmlformats.org/drawingml/2006/main">
              <a:ext uri="{FF2B5EF4-FFF2-40B4-BE49-F238E27FC236}">
                <a16:creationId xmlns:a16="http://schemas.microsoft.com/office/drawing/2014/main" id="{131A1FD0-F0CA-41F5-B3A0-224BA3DF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5815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77" name="u08-069-2-grid-x-a-78">
            <a:extLst xmlns:a="http://schemas.openxmlformats.org/drawingml/2006/main">
              <a:ext uri="{FF2B5EF4-FFF2-40B4-BE49-F238E27FC236}">
                <a16:creationId xmlns:a16="http://schemas.microsoft.com/office/drawing/2014/main" id="{350B304B-990A-4E29-B5BB-2793BB91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663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u08-069-2-grid-x-b-78">
            <a:extLst xmlns:a="http://schemas.openxmlformats.org/drawingml/2006/main">
              <a:ext uri="{FF2B5EF4-FFF2-40B4-BE49-F238E27FC236}">
                <a16:creationId xmlns:a16="http://schemas.microsoft.com/office/drawing/2014/main" id="{C6AE71A8-73F2-44D0-B661-28E24A9A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663" y="1933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0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 flipH="1" flipV="1">
            <a:off x="6443663" y="1938338"/>
            <a:ext cx="9525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80" name="u08-069-2-xtick">
            <a:extLst xmlns:a="http://schemas.openxmlformats.org/drawingml/2006/main">
              <a:ext uri="{FF2B5EF4-FFF2-40B4-BE49-F238E27FC236}">
                <a16:creationId xmlns:a16="http://schemas.microsoft.com/office/drawing/2014/main" id="{58D662BA-8DFD-471F-B3C8-3CA717BF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288" y="45815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81" name="u08-069-2-grid-x-a-79">
            <a:extLst xmlns:a="http://schemas.openxmlformats.org/drawingml/2006/main">
              <a:ext uri="{FF2B5EF4-FFF2-40B4-BE49-F238E27FC236}">
                <a16:creationId xmlns:a16="http://schemas.microsoft.com/office/drawing/2014/main" id="{0D180A09-2280-437E-8CFE-F4244656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2" name="u08-069-2-grid-x-b-79">
            <a:extLst xmlns:a="http://schemas.openxmlformats.org/drawingml/2006/main">
              <a:ext uri="{FF2B5EF4-FFF2-40B4-BE49-F238E27FC236}">
                <a16:creationId xmlns:a16="http://schemas.microsoft.com/office/drawing/2014/main" id="{C770E4D5-8B53-4823-B994-718283A7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33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4" name=""/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 flipH="1" flipV="1">
            <a:off x="7762875" y="1938338"/>
            <a:ext cx="9525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84" name="u08-069-2-xtick">
            <a:extLst xmlns:a="http://schemas.openxmlformats.org/drawingml/2006/main">
              <a:ext uri="{FF2B5EF4-FFF2-40B4-BE49-F238E27FC236}">
                <a16:creationId xmlns:a16="http://schemas.microsoft.com/office/drawing/2014/main" id="{9FFB60E3-D36A-4E9D-BEAE-149AD4D6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815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5" name="u08-069-2-0-line-a-80">
            <a:extLst xmlns:a="http://schemas.openxmlformats.org/drawingml/2006/main">
              <a:ext uri="{FF2B5EF4-FFF2-40B4-BE49-F238E27FC236}">
                <a16:creationId xmlns:a16="http://schemas.microsoft.com/office/drawing/2014/main" id="{FA4A6CE6-A358-4E72-8B09-8F958B2D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909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6" name="u08-069-2-0-line-b-80">
            <a:extLst xmlns:a="http://schemas.openxmlformats.org/drawingml/2006/main">
              <a:ext uri="{FF2B5EF4-FFF2-40B4-BE49-F238E27FC236}">
                <a16:creationId xmlns:a16="http://schemas.microsoft.com/office/drawing/2014/main" id="{CA8268E5-81AF-4D8B-B317-4D4E9838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135" y="401669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8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5133975" y="3995738"/>
            <a:ext cx="518160" cy="2571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969FA7"/>
            </a:solidFill>
            <a:prstDash val="solid"/>
          </a:ln>
        </p:spPr>
      </p:cxnSp>
      <p:sp>
        <p:nvSpPr>
          <p:cNvPr id="88" name="u08-069-2-0-line-a-81">
            <a:extLst xmlns:a="http://schemas.openxmlformats.org/drawingml/2006/main">
              <a:ext uri="{FF2B5EF4-FFF2-40B4-BE49-F238E27FC236}">
                <a16:creationId xmlns:a16="http://schemas.microsoft.com/office/drawing/2014/main" id="{E19F786C-679A-4518-9531-4DF53D7F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135" y="401669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9" name="u08-069-2-0-line-b-81">
            <a:extLst xmlns:a="http://schemas.openxmlformats.org/drawingml/2006/main">
              <a:ext uri="{FF2B5EF4-FFF2-40B4-BE49-F238E27FC236}">
                <a16:creationId xmlns:a16="http://schemas.microsoft.com/office/drawing/2014/main" id="{57A64FA2-783C-46A5-A615-AE6C979D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820" y="39909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1" name=""/>
          <p:cNvCxnSpPr>
            <a:stCxn xmlns:a="http://schemas.openxmlformats.org/drawingml/2006/main" id="88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 flipV="1">
            <a:off x="5661660" y="3995738"/>
            <a:ext cx="518160" cy="2571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969FA7"/>
            </a:solidFill>
            <a:prstDash val="solid"/>
          </a:ln>
        </p:spPr>
      </p:cxnSp>
      <p:sp>
        <p:nvSpPr>
          <p:cNvPr id="91" name="u08-069-2-0-line-a-82">
            <a:extLst xmlns:a="http://schemas.openxmlformats.org/drawingml/2006/main">
              <a:ext uri="{FF2B5EF4-FFF2-40B4-BE49-F238E27FC236}">
                <a16:creationId xmlns:a16="http://schemas.microsoft.com/office/drawing/2014/main" id="{6E2803AD-7869-4158-9361-C1E208E8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820" y="39909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2" name="u08-069-2-0-line-b-82">
            <a:extLst xmlns:a="http://schemas.openxmlformats.org/drawingml/2006/main">
              <a:ext uri="{FF2B5EF4-FFF2-40B4-BE49-F238E27FC236}">
                <a16:creationId xmlns:a16="http://schemas.microsoft.com/office/drawing/2014/main" id="{EB731B12-41F6-4BE6-AC5D-8E3C1E4A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505" y="401669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4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6189345" y="3995738"/>
            <a:ext cx="518160" cy="2571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969FA7"/>
            </a:solidFill>
            <a:prstDash val="solid"/>
          </a:ln>
        </p:spPr>
      </p:cxnSp>
      <p:sp>
        <p:nvSpPr>
          <p:cNvPr id="94" name="u08-069-2-0-line-a-83">
            <a:extLst xmlns:a="http://schemas.openxmlformats.org/drawingml/2006/main">
              <a:ext uri="{FF2B5EF4-FFF2-40B4-BE49-F238E27FC236}">
                <a16:creationId xmlns:a16="http://schemas.microsoft.com/office/drawing/2014/main" id="{BADE1915-6D23-4CDF-8BAD-0F50FD51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505" y="401669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5" name="u08-069-2-0-line-b-83">
            <a:extLst xmlns:a="http://schemas.openxmlformats.org/drawingml/2006/main">
              <a:ext uri="{FF2B5EF4-FFF2-40B4-BE49-F238E27FC236}">
                <a16:creationId xmlns:a16="http://schemas.microsoft.com/office/drawing/2014/main" id="{62854738-E3B4-4B25-A6DE-FAF0CB23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39909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7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 flipV="1">
            <a:off x="6717030" y="3995738"/>
            <a:ext cx="518160" cy="2571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969FA7"/>
            </a:solidFill>
            <a:prstDash val="solid"/>
          </a:ln>
        </p:spPr>
      </p:cxnSp>
      <p:sp>
        <p:nvSpPr>
          <p:cNvPr id="97" name="u08-069-2-0-line-a-84">
            <a:extLst xmlns:a="http://schemas.openxmlformats.org/drawingml/2006/main">
              <a:ext uri="{FF2B5EF4-FFF2-40B4-BE49-F238E27FC236}">
                <a16:creationId xmlns:a16="http://schemas.microsoft.com/office/drawing/2014/main" id="{B491F0F9-A339-4E52-84C9-7811284A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39909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8" name="u08-069-2-0-line-b-84">
            <a:extLst xmlns:a="http://schemas.openxmlformats.org/drawingml/2006/main">
              <a:ext uri="{FF2B5EF4-FFF2-40B4-BE49-F238E27FC236}">
                <a16:creationId xmlns:a16="http://schemas.microsoft.com/office/drawing/2014/main" id="{277B4CDE-8FEE-4FFB-AD43-AAF38016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909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0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7244715" y="3995738"/>
            <a:ext cx="51816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969FA7"/>
            </a:solidFill>
            <a:prstDash val="solid"/>
          </a:ln>
        </p:spPr>
      </p:cxnSp>
      <p:sp>
        <p:nvSpPr>
          <p:cNvPr id="100" name="u08-069-2-0-point-0">
            <a:extLst xmlns:a="http://schemas.openxmlformats.org/drawingml/2006/main">
              <a:ext uri="{FF2B5EF4-FFF2-40B4-BE49-F238E27FC236}">
                <a16:creationId xmlns:a16="http://schemas.microsoft.com/office/drawing/2014/main" id="{F357B72E-3ECB-4445-9917-D1F9A528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1" name="u08-069-2-0-point-1">
            <a:extLst xmlns:a="http://schemas.openxmlformats.org/drawingml/2006/main">
              <a:ext uri="{FF2B5EF4-FFF2-40B4-BE49-F238E27FC236}">
                <a16:creationId xmlns:a16="http://schemas.microsoft.com/office/drawing/2014/main" id="{AF498694-4C76-4E28-8D95-1AF991E2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985" y="395954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2" name="u08-069-2-0-point-2">
            <a:extLst xmlns:a="http://schemas.openxmlformats.org/drawingml/2006/main">
              <a:ext uri="{FF2B5EF4-FFF2-40B4-BE49-F238E27FC236}">
                <a16:creationId xmlns:a16="http://schemas.microsoft.com/office/drawing/2014/main" id="{01020B51-216E-4F01-973A-2F53765D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2670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3" name="u08-069-2-0-point-3">
            <a:extLst xmlns:a="http://schemas.openxmlformats.org/drawingml/2006/main">
              <a:ext uri="{FF2B5EF4-FFF2-40B4-BE49-F238E27FC236}">
                <a16:creationId xmlns:a16="http://schemas.microsoft.com/office/drawing/2014/main" id="{BBB6F9D3-7E99-41AF-BB25-0E6AF08B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0355" y="395954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4" name="u08-069-2-0-point-4">
            <a:extLst xmlns:a="http://schemas.openxmlformats.org/drawingml/2006/main">
              <a:ext uri="{FF2B5EF4-FFF2-40B4-BE49-F238E27FC236}">
                <a16:creationId xmlns:a16="http://schemas.microsoft.com/office/drawing/2014/main" id="{3835C84D-E412-4889-828A-FA678C7B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5" name="u08-069-2-0-point-5">
            <a:extLst xmlns:a="http://schemas.openxmlformats.org/drawingml/2006/main">
              <a:ext uri="{FF2B5EF4-FFF2-40B4-BE49-F238E27FC236}">
                <a16:creationId xmlns:a16="http://schemas.microsoft.com/office/drawing/2014/main" id="{214D1EDC-AE08-409A-AC68-B68C9E1A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6" name="u08-069-2-0-label">
            <a:extLst xmlns:a="http://schemas.openxmlformats.org/drawingml/2006/main">
              <a:ext uri="{FF2B5EF4-FFF2-40B4-BE49-F238E27FC236}">
                <a16:creationId xmlns:a16="http://schemas.microsoft.com/office/drawing/2014/main" id="{066992DC-85DB-4709-A199-5D6CCAD9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335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500" b="1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Trazado plano</a:t>
            </a:r>
          </a:p>
        </p:txBody>
      </p:sp>
      <p:sp>
        <p:nvSpPr>
          <p:cNvPr id="107" name="u08-069-2-xlabel">
            <a:extLst xmlns:a="http://schemas.openxmlformats.org/drawingml/2006/main">
              <a:ext uri="{FF2B5EF4-FFF2-40B4-BE49-F238E27FC236}">
                <a16:creationId xmlns:a16="http://schemas.microsoft.com/office/drawing/2014/main" id="{A0126C0F-88FC-4E88-8C62-4A582DC0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91075"/>
            <a:ext cx="1114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(daPa)</a:t>
            </a:r>
          </a:p>
        </p:txBody>
      </p:sp>
      <p:sp>
        <p:nvSpPr>
          <p:cNvPr id="108" name="u08-069-2-ylabel">
            <a:extLst xmlns:a="http://schemas.openxmlformats.org/drawingml/2006/main">
              <a:ext uri="{FF2B5EF4-FFF2-40B4-BE49-F238E27FC236}">
                <a16:creationId xmlns:a16="http://schemas.microsoft.com/office/drawing/2014/main" id="{D549B643-24DA-478B-9E96-30BD8CC9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240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Y / Ymáx</a:t>
            </a:r>
          </a:p>
        </p:txBody>
      </p:sp>
      <p:sp>
        <p:nvSpPr>
          <p:cNvPr id="109" name="u08-069-2-note">
            <a:extLst xmlns:a="http://schemas.openxmlformats.org/drawingml/2006/main">
              <a:ext uri="{FF2B5EF4-FFF2-40B4-BE49-F238E27FC236}">
                <a16:creationId xmlns:a16="http://schemas.microsoft.com/office/drawing/2014/main" id="{09661F20-9D9F-47BB-8944-F73FB4D8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62425"/>
            <a:ext cx="2066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descripción geométrica</a:t>
            </a:r>
          </a:p>
        </p:txBody>
      </p:sp>
      <p:sp>
        <p:nvSpPr>
          <p:cNvPr id="110" name="u08-069-3-frame">
            <a:extLst xmlns:a="http://schemas.openxmlformats.org/drawingml/2006/main">
              <a:ext uri="{FF2B5EF4-FFF2-40B4-BE49-F238E27FC236}">
                <a16:creationId xmlns:a16="http://schemas.microsoft.com/office/drawing/2014/main" id="{AFF88A51-7DEB-44A8-9325-CB0C467C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3619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</p:sp>
      <p:sp>
        <p:nvSpPr>
          <p:cNvPr id="111" name="u08-069-3-x-a-85">
            <a:extLst xmlns:a="http://schemas.openxmlformats.org/drawingml/2006/main">
              <a:ext uri="{FF2B5EF4-FFF2-40B4-BE49-F238E27FC236}">
                <a16:creationId xmlns:a16="http://schemas.microsoft.com/office/drawing/2014/main" id="{394C6EC4-C0AD-488F-8F26-A1B0974D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2" name="u08-069-3-x-b-85">
            <a:extLst xmlns:a="http://schemas.openxmlformats.org/drawingml/2006/main">
              <a:ext uri="{FF2B5EF4-FFF2-40B4-BE49-F238E27FC236}">
                <a16:creationId xmlns:a16="http://schemas.microsoft.com/office/drawing/2014/main" id="{A674FA3B-25CA-4245-81DA-F7389C72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4" name=""/>
          <p:cNvCxnSpPr>
            <a:stCxn xmlns:a="http://schemas.openxmlformats.org/drawingml/2006/main" id="111" idx="3"/>
            <a:endCxn xmlns:a="http://schemas.openxmlformats.org/drawingml/2006/main" id="112" idx="1"/>
          </p:cNvCxnSpPr>
          <p:nvPr/>
        </p:nvCxnSpPr>
        <p:spPr>
          <a:xfrm xmlns:a="http://schemas.openxmlformats.org/drawingml/2006/main">
            <a:off x="9134475" y="4510088"/>
            <a:ext cx="2628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114" name="u08-069-3-y-a-86">
            <a:extLst xmlns:a="http://schemas.openxmlformats.org/drawingml/2006/main">
              <a:ext uri="{FF2B5EF4-FFF2-40B4-BE49-F238E27FC236}">
                <a16:creationId xmlns:a16="http://schemas.microsoft.com/office/drawing/2014/main" id="{6A7E6A0B-BDC8-4521-879F-DA0F2071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5" name="u08-069-3-y-b-86">
            <a:extLst xmlns:a="http://schemas.openxmlformats.org/drawingml/2006/main">
              <a:ext uri="{FF2B5EF4-FFF2-40B4-BE49-F238E27FC236}">
                <a16:creationId xmlns:a16="http://schemas.microsoft.com/office/drawing/2014/main" id="{5646554A-7D3B-4719-998D-B180CCC7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33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7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 flipH="1" flipV="1">
            <a:off x="9124950" y="1938338"/>
            <a:ext cx="9525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117" name="u08-069-3-grid-y-a-87">
            <a:extLst xmlns:a="http://schemas.openxmlformats.org/drawingml/2006/main">
              <a:ext uri="{FF2B5EF4-FFF2-40B4-BE49-F238E27FC236}">
                <a16:creationId xmlns:a16="http://schemas.microsoft.com/office/drawing/2014/main" id="{C635A085-CB30-49EE-8638-48729122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8" name="u08-069-3-grid-y-b-87">
            <a:extLst xmlns:a="http://schemas.openxmlformats.org/drawingml/2006/main">
              <a:ext uri="{FF2B5EF4-FFF2-40B4-BE49-F238E27FC236}">
                <a16:creationId xmlns:a16="http://schemas.microsoft.com/office/drawing/2014/main" id="{705BA0F8-F581-4311-8A29-F5C02843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0" name=""/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9134475" y="4510088"/>
            <a:ext cx="2628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CE0"/>
            </a:solidFill>
            <a:prstDash val="solid"/>
          </a:ln>
        </p:spPr>
      </p:cxnSp>
      <p:sp>
        <p:nvSpPr>
          <p:cNvPr id="120" name="u08-069-3-ytick">
            <a:extLst xmlns:a="http://schemas.openxmlformats.org/drawingml/2006/main">
              <a:ext uri="{FF2B5EF4-FFF2-40B4-BE49-F238E27FC236}">
                <a16:creationId xmlns:a16="http://schemas.microsoft.com/office/drawing/2014/main" id="{165A87E9-303C-4E58-936D-975F81CB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910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21" name="u08-069-3-grid-y-a-88">
            <a:extLst xmlns:a="http://schemas.openxmlformats.org/drawingml/2006/main">
              <a:ext uri="{FF2B5EF4-FFF2-40B4-BE49-F238E27FC236}">
                <a16:creationId xmlns:a16="http://schemas.microsoft.com/office/drawing/2014/main" id="{3A9F5ABD-05D7-4DD6-90C6-454BA651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33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2" name="u08-069-3-grid-y-b-88">
            <a:extLst xmlns:a="http://schemas.openxmlformats.org/drawingml/2006/main">
              <a:ext uri="{FF2B5EF4-FFF2-40B4-BE49-F238E27FC236}">
                <a16:creationId xmlns:a16="http://schemas.microsoft.com/office/drawing/2014/main" id="{418174DB-650E-4D9B-B5B8-5937073E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1933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4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9134475" y="1938338"/>
            <a:ext cx="2628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CE0"/>
            </a:solidFill>
            <a:prstDash val="solid"/>
          </a:ln>
        </p:spPr>
      </p:cxnSp>
      <p:sp>
        <p:nvSpPr>
          <p:cNvPr id="124" name="u08-069-3-ytick">
            <a:extLst xmlns:a="http://schemas.openxmlformats.org/drawingml/2006/main">
              <a:ext uri="{FF2B5EF4-FFF2-40B4-BE49-F238E27FC236}">
                <a16:creationId xmlns:a16="http://schemas.microsoft.com/office/drawing/2014/main" id="{CA5BB544-A806-42B1-BAB0-B8D72D24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1927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5" name="u08-069-3-grid-x-a-89">
            <a:extLst xmlns:a="http://schemas.openxmlformats.org/drawingml/2006/main">
              <a:ext uri="{FF2B5EF4-FFF2-40B4-BE49-F238E27FC236}">
                <a16:creationId xmlns:a16="http://schemas.microsoft.com/office/drawing/2014/main" id="{4D53AAAD-34A4-40F0-890E-A038041A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6" name="u08-069-3-grid-x-b-89">
            <a:extLst xmlns:a="http://schemas.openxmlformats.org/drawingml/2006/main">
              <a:ext uri="{FF2B5EF4-FFF2-40B4-BE49-F238E27FC236}">
                <a16:creationId xmlns:a16="http://schemas.microsoft.com/office/drawing/2014/main" id="{385FADA1-BB0A-477F-823C-34CF827D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33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8" name=""/>
          <p:cNvCxnSpPr>
            <a:stCxn xmlns:a="http://schemas.openxmlformats.org/drawingml/2006/main" id="125" idx="3"/>
            <a:endCxn xmlns:a="http://schemas.openxmlformats.org/drawingml/2006/main" id="126" idx="1"/>
          </p:cNvCxnSpPr>
          <p:nvPr/>
        </p:nvCxnSpPr>
        <p:spPr>
          <a:xfrm xmlns:a="http://schemas.openxmlformats.org/drawingml/2006/main" flipH="1" flipV="1">
            <a:off x="9124950" y="1938338"/>
            <a:ext cx="9525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128" name="u08-069-3-xtick">
            <a:extLst xmlns:a="http://schemas.openxmlformats.org/drawingml/2006/main">
              <a:ext uri="{FF2B5EF4-FFF2-40B4-BE49-F238E27FC236}">
                <a16:creationId xmlns:a16="http://schemas.microsoft.com/office/drawing/2014/main" id="{5A2CA0C7-96D7-49BA-9B93-BC0873AF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5815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29" name="u08-069-3-grid-x-a-90">
            <a:extLst xmlns:a="http://schemas.openxmlformats.org/drawingml/2006/main">
              <a:ext uri="{FF2B5EF4-FFF2-40B4-BE49-F238E27FC236}">
                <a16:creationId xmlns:a16="http://schemas.microsoft.com/office/drawing/2014/main" id="{166A06D5-E37D-4DAA-A205-B16D6C57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4163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0" name="u08-069-3-grid-x-b-90">
            <a:extLst xmlns:a="http://schemas.openxmlformats.org/drawingml/2006/main">
              <a:ext uri="{FF2B5EF4-FFF2-40B4-BE49-F238E27FC236}">
                <a16:creationId xmlns:a16="http://schemas.microsoft.com/office/drawing/2014/main" id="{BC5ECABD-F183-4E8A-A1EF-E6AFC84A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4163" y="1933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2" name=""/>
          <p:cNvCxnSpPr>
            <a:stCxn xmlns:a="http://schemas.openxmlformats.org/drawingml/2006/main" id="129" idx="3"/>
            <a:endCxn xmlns:a="http://schemas.openxmlformats.org/drawingml/2006/main" id="130" idx="1"/>
          </p:cNvCxnSpPr>
          <p:nvPr/>
        </p:nvCxnSpPr>
        <p:spPr>
          <a:xfrm xmlns:a="http://schemas.openxmlformats.org/drawingml/2006/main" flipH="1" flipV="1">
            <a:off x="10444163" y="1938338"/>
            <a:ext cx="9525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132" name="u08-069-3-xtick">
            <a:extLst xmlns:a="http://schemas.openxmlformats.org/drawingml/2006/main">
              <a:ext uri="{FF2B5EF4-FFF2-40B4-BE49-F238E27FC236}">
                <a16:creationId xmlns:a16="http://schemas.microsoft.com/office/drawing/2014/main" id="{50E405CB-97DE-4C3A-BC70-D559125F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788" y="45815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33" name="u08-069-3-grid-x-a-91">
            <a:extLst xmlns:a="http://schemas.openxmlformats.org/drawingml/2006/main">
              <a:ext uri="{FF2B5EF4-FFF2-40B4-BE49-F238E27FC236}">
                <a16:creationId xmlns:a16="http://schemas.microsoft.com/office/drawing/2014/main" id="{C630939D-D5ED-44B8-ABE5-43F79210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505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4" name="u08-069-3-grid-x-b-91">
            <a:extLst xmlns:a="http://schemas.openxmlformats.org/drawingml/2006/main">
              <a:ext uri="{FF2B5EF4-FFF2-40B4-BE49-F238E27FC236}">
                <a16:creationId xmlns:a16="http://schemas.microsoft.com/office/drawing/2014/main" id="{84862D3E-014D-4726-97FA-8DA8E606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1933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6" name=""/>
          <p:cNvCxnSpPr>
            <a:stCxn xmlns:a="http://schemas.openxmlformats.org/drawingml/2006/main" id="133" idx="3"/>
            <a:endCxn xmlns:a="http://schemas.openxmlformats.org/drawingml/2006/main" id="134" idx="1"/>
          </p:cNvCxnSpPr>
          <p:nvPr/>
        </p:nvCxnSpPr>
        <p:spPr>
          <a:xfrm xmlns:a="http://schemas.openxmlformats.org/drawingml/2006/main" flipH="1" flipV="1">
            <a:off x="11763375" y="1938338"/>
            <a:ext cx="9525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EF0F2"/>
            </a:solidFill>
            <a:prstDash val="solid"/>
          </a:ln>
        </p:spPr>
      </p:cxnSp>
      <p:sp>
        <p:nvSpPr>
          <p:cNvPr id="136" name="u08-069-3-xtick">
            <a:extLst xmlns:a="http://schemas.openxmlformats.org/drawingml/2006/main">
              <a:ext uri="{FF2B5EF4-FFF2-40B4-BE49-F238E27FC236}">
                <a16:creationId xmlns:a16="http://schemas.microsoft.com/office/drawing/2014/main" id="{7139A049-3560-4D11-99CA-684AD738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5815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137" name="u08-069-3-0-line-a-92">
            <a:extLst xmlns:a="http://schemas.openxmlformats.org/drawingml/2006/main">
              <a:ext uri="{FF2B5EF4-FFF2-40B4-BE49-F238E27FC236}">
                <a16:creationId xmlns:a16="http://schemas.microsoft.com/office/drawing/2014/main" id="{A151608C-72E4-4866-A64E-59CF8167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195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8" name="u08-069-3-0-line-b-92">
            <a:extLst xmlns:a="http://schemas.openxmlformats.org/drawingml/2006/main">
              <a:ext uri="{FF2B5EF4-FFF2-40B4-BE49-F238E27FC236}">
                <a16:creationId xmlns:a16="http://schemas.microsoft.com/office/drawing/2014/main" id="{593FF691-C0F4-4923-870C-75FAD579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0714" y="3090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0" name=""/>
          <p:cNvCxnSpPr>
            <a:stCxn xmlns:a="http://schemas.openxmlformats.org/drawingml/2006/main" id="137" idx="3"/>
            <a:endCxn xmlns:a="http://schemas.openxmlformats.org/drawingml/2006/main" id="138" idx="1"/>
          </p:cNvCxnSpPr>
          <p:nvPr/>
        </p:nvCxnSpPr>
        <p:spPr>
          <a:xfrm xmlns:a="http://schemas.openxmlformats.org/drawingml/2006/main" flipV="1">
            <a:off x="9134475" y="3095626"/>
            <a:ext cx="386239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9F541A"/>
            </a:solidFill>
            <a:prstDash val="solid"/>
          </a:ln>
        </p:spPr>
      </p:cxnSp>
      <p:sp>
        <p:nvSpPr>
          <p:cNvPr id="140" name="u08-069-3-0-line-a-93">
            <a:extLst xmlns:a="http://schemas.openxmlformats.org/drawingml/2006/main">
              <a:ext uri="{FF2B5EF4-FFF2-40B4-BE49-F238E27FC236}">
                <a16:creationId xmlns:a16="http://schemas.microsoft.com/office/drawing/2014/main" id="{8D0C3089-A59C-4E16-8887-1D9F3192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0714" y="3090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1" name="u08-069-3-0-line-b-93">
            <a:extLst xmlns:a="http://schemas.openxmlformats.org/drawingml/2006/main">
              <a:ext uri="{FF2B5EF4-FFF2-40B4-BE49-F238E27FC236}">
                <a16:creationId xmlns:a16="http://schemas.microsoft.com/office/drawing/2014/main" id="{765ECDC6-7C19-4F31-8074-9CC93B55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709" y="2190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3" name=""/>
          <p:cNvCxnSpPr>
            <a:stCxn xmlns:a="http://schemas.openxmlformats.org/drawingml/2006/main" id="140" idx="3"/>
            <a:endCxn xmlns:a="http://schemas.openxmlformats.org/drawingml/2006/main" id="141" idx="1"/>
          </p:cNvCxnSpPr>
          <p:nvPr/>
        </p:nvCxnSpPr>
        <p:spPr>
          <a:xfrm xmlns:a="http://schemas.openxmlformats.org/drawingml/2006/main" flipV="1">
            <a:off x="9530239" y="2195513"/>
            <a:ext cx="333470" cy="900113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9F541A"/>
            </a:solidFill>
            <a:prstDash val="solid"/>
          </a:ln>
        </p:spPr>
      </p:cxnSp>
      <p:sp>
        <p:nvSpPr>
          <p:cNvPr id="143" name="u08-069-3-0-line-a-94">
            <a:extLst xmlns:a="http://schemas.openxmlformats.org/drawingml/2006/main">
              <a:ext uri="{FF2B5EF4-FFF2-40B4-BE49-F238E27FC236}">
                <a16:creationId xmlns:a16="http://schemas.microsoft.com/office/drawing/2014/main" id="{22855240-2F48-4CBE-B6C3-A4A3CF08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709" y="2190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4" name="u08-069-3-0-line-b-94">
            <a:extLst xmlns:a="http://schemas.openxmlformats.org/drawingml/2006/main">
              <a:ext uri="{FF2B5EF4-FFF2-40B4-BE49-F238E27FC236}">
                <a16:creationId xmlns:a16="http://schemas.microsoft.com/office/drawing/2014/main" id="{919E4DB2-73A9-490F-82D5-6E5CDE61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241" y="3219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6" name=""/>
          <p:cNvCxnSpPr>
            <a:stCxn xmlns:a="http://schemas.openxmlformats.org/drawingml/2006/main" id="143" idx="3"/>
            <a:endCxn xmlns:a="http://schemas.openxmlformats.org/drawingml/2006/main" id="144" idx="1"/>
          </p:cNvCxnSpPr>
          <p:nvPr/>
        </p:nvCxnSpPr>
        <p:spPr>
          <a:xfrm xmlns:a="http://schemas.openxmlformats.org/drawingml/2006/main">
            <a:off x="9873234" y="2195513"/>
            <a:ext cx="439007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9F541A"/>
            </a:solidFill>
            <a:prstDash val="solid"/>
          </a:ln>
        </p:spPr>
      </p:cxnSp>
      <p:sp>
        <p:nvSpPr>
          <p:cNvPr id="146" name="u08-069-3-0-line-a-95">
            <a:extLst xmlns:a="http://schemas.openxmlformats.org/drawingml/2006/main">
              <a:ext uri="{FF2B5EF4-FFF2-40B4-BE49-F238E27FC236}">
                <a16:creationId xmlns:a16="http://schemas.microsoft.com/office/drawing/2014/main" id="{7329A97C-195C-43C2-8161-F35AE019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241" y="3219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7" name="u08-069-3-0-line-b-95">
            <a:extLst xmlns:a="http://schemas.openxmlformats.org/drawingml/2006/main">
              <a:ext uri="{FF2B5EF4-FFF2-40B4-BE49-F238E27FC236}">
                <a16:creationId xmlns:a16="http://schemas.microsoft.com/office/drawing/2014/main" id="{1C7CE5DE-278E-4229-8633-1883F1C1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926" y="39909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9" name=""/>
          <p:cNvCxnSpPr>
            <a:stCxn xmlns:a="http://schemas.openxmlformats.org/drawingml/2006/main" id="146" idx="3"/>
            <a:endCxn xmlns:a="http://schemas.openxmlformats.org/drawingml/2006/main" id="147" idx="1"/>
          </p:cNvCxnSpPr>
          <p:nvPr/>
        </p:nvCxnSpPr>
        <p:spPr>
          <a:xfrm xmlns:a="http://schemas.openxmlformats.org/drawingml/2006/main">
            <a:off x="10321766" y="3224213"/>
            <a:ext cx="518160" cy="771525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9F541A"/>
            </a:solidFill>
            <a:prstDash val="solid"/>
          </a:ln>
        </p:spPr>
      </p:cxnSp>
      <p:sp>
        <p:nvSpPr>
          <p:cNvPr id="149" name="u08-069-3-0-line-a-96">
            <a:extLst xmlns:a="http://schemas.openxmlformats.org/drawingml/2006/main">
              <a:ext uri="{FF2B5EF4-FFF2-40B4-BE49-F238E27FC236}">
                <a16:creationId xmlns:a16="http://schemas.microsoft.com/office/drawing/2014/main" id="{AC9801A5-9700-4719-AFEA-1A7461C6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926" y="39909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0" name="u08-069-3-0-line-b-96">
            <a:extLst xmlns:a="http://schemas.openxmlformats.org/drawingml/2006/main">
              <a:ext uri="{FF2B5EF4-FFF2-40B4-BE49-F238E27FC236}">
                <a16:creationId xmlns:a16="http://schemas.microsoft.com/office/drawing/2014/main" id="{94A13D4C-B461-4983-BD09-BA0D7870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7611" y="41195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2" name=""/>
          <p:cNvCxnSpPr>
            <a:stCxn xmlns:a="http://schemas.openxmlformats.org/drawingml/2006/main" id="149" idx="3"/>
            <a:endCxn xmlns:a="http://schemas.openxmlformats.org/drawingml/2006/main" id="150" idx="1"/>
          </p:cNvCxnSpPr>
          <p:nvPr/>
        </p:nvCxnSpPr>
        <p:spPr>
          <a:xfrm xmlns:a="http://schemas.openxmlformats.org/drawingml/2006/main">
            <a:off x="10849451" y="3995738"/>
            <a:ext cx="518160" cy="12858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9F541A"/>
            </a:solidFill>
            <a:prstDash val="solid"/>
          </a:ln>
        </p:spPr>
      </p:cxnSp>
      <p:sp>
        <p:nvSpPr>
          <p:cNvPr id="152" name="u08-069-3-0-line-a-97">
            <a:extLst xmlns:a="http://schemas.openxmlformats.org/drawingml/2006/main">
              <a:ext uri="{FF2B5EF4-FFF2-40B4-BE49-F238E27FC236}">
                <a16:creationId xmlns:a16="http://schemas.microsoft.com/office/drawing/2014/main" id="{9F83A783-C001-411A-AD0C-88C269BB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7611" y="41195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3" name="u08-069-3-0-line-b-97">
            <a:extLst xmlns:a="http://schemas.openxmlformats.org/drawingml/2006/main">
              <a:ext uri="{FF2B5EF4-FFF2-40B4-BE49-F238E27FC236}">
                <a16:creationId xmlns:a16="http://schemas.microsoft.com/office/drawing/2014/main" id="{77372206-B7B9-4196-9796-99568549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14528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5" name=""/>
          <p:cNvCxnSpPr>
            <a:stCxn xmlns:a="http://schemas.openxmlformats.org/drawingml/2006/main" id="152" idx="3"/>
            <a:endCxn xmlns:a="http://schemas.openxmlformats.org/drawingml/2006/main" id="153" idx="1"/>
          </p:cNvCxnSpPr>
          <p:nvPr/>
        </p:nvCxnSpPr>
        <p:spPr>
          <a:xfrm xmlns:a="http://schemas.openxmlformats.org/drawingml/2006/main">
            <a:off x="11377136" y="4124326"/>
            <a:ext cx="386239" cy="25717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9F541A"/>
            </a:solidFill>
            <a:prstDash val="solid"/>
          </a:ln>
        </p:spPr>
      </p:cxnSp>
      <p:sp>
        <p:nvSpPr>
          <p:cNvPr id="155" name="u08-069-3-0-point-0">
            <a:extLst xmlns:a="http://schemas.openxmlformats.org/drawingml/2006/main">
              <a:ext uri="{FF2B5EF4-FFF2-40B4-BE49-F238E27FC236}">
                <a16:creationId xmlns:a16="http://schemas.microsoft.com/office/drawing/2014/main" id="{6888BF53-3901-4149-81E0-B28A5DC4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6241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541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6" name="u08-069-3-0-point-1">
            <a:extLst xmlns:a="http://schemas.openxmlformats.org/drawingml/2006/main">
              <a:ext uri="{FF2B5EF4-FFF2-40B4-BE49-F238E27FC236}">
                <a16:creationId xmlns:a16="http://schemas.microsoft.com/office/drawing/2014/main" id="{7FEAEC3A-C026-4E81-8554-3A61D1B4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564" y="303371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541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7" name="u08-069-3-0-point-2">
            <a:extLst xmlns:a="http://schemas.openxmlformats.org/drawingml/2006/main">
              <a:ext uri="{FF2B5EF4-FFF2-40B4-BE49-F238E27FC236}">
                <a16:creationId xmlns:a16="http://schemas.microsoft.com/office/drawing/2014/main" id="{ED09EE5A-BF53-4B40-9724-08F8FE2F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559" y="2133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541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8" name="u08-069-3-0-point-3">
            <a:extLst xmlns:a="http://schemas.openxmlformats.org/drawingml/2006/main">
              <a:ext uri="{FF2B5EF4-FFF2-40B4-BE49-F238E27FC236}">
                <a16:creationId xmlns:a16="http://schemas.microsoft.com/office/drawing/2014/main" id="{14708B29-387D-4246-A4AE-85B72634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5091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541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9" name="u08-069-3-0-point-4">
            <a:extLst xmlns:a="http://schemas.openxmlformats.org/drawingml/2006/main">
              <a:ext uri="{FF2B5EF4-FFF2-40B4-BE49-F238E27FC236}">
                <a16:creationId xmlns:a16="http://schemas.microsoft.com/office/drawing/2014/main" id="{B7A410CF-DBDF-4974-A00D-BA947E2E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776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541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0" name="u08-069-3-0-point-5">
            <a:extLst xmlns:a="http://schemas.openxmlformats.org/drawingml/2006/main">
              <a:ext uri="{FF2B5EF4-FFF2-40B4-BE49-F238E27FC236}">
                <a16:creationId xmlns:a16="http://schemas.microsoft.com/office/drawing/2014/main" id="{742EAA80-42C2-469E-A570-5B2C40D4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461" y="406241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541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1" name="u08-069-3-0-point-6">
            <a:extLst xmlns:a="http://schemas.openxmlformats.org/drawingml/2006/main">
              <a:ext uri="{FF2B5EF4-FFF2-40B4-BE49-F238E27FC236}">
                <a16:creationId xmlns:a16="http://schemas.microsoft.com/office/drawing/2014/main" id="{977B2843-19F8-420F-861D-A530CD7C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408813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541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2" name="u08-069-3-0-label">
            <a:extLst xmlns:a="http://schemas.openxmlformats.org/drawingml/2006/main">
              <a:ext uri="{FF2B5EF4-FFF2-40B4-BE49-F238E27FC236}">
                <a16:creationId xmlns:a16="http://schemas.microsoft.com/office/drawing/2014/main" id="{135F1B00-62D8-4605-8530-19A322EC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335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5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Pico desplazado</a:t>
            </a:r>
          </a:p>
        </p:txBody>
      </p:sp>
      <p:sp>
        <p:nvSpPr>
          <p:cNvPr id="163" name="u08-069-3-xlabel">
            <a:extLst xmlns:a="http://schemas.openxmlformats.org/drawingml/2006/main">
              <a:ext uri="{FF2B5EF4-FFF2-40B4-BE49-F238E27FC236}">
                <a16:creationId xmlns:a16="http://schemas.microsoft.com/office/drawing/2014/main" id="{E036578F-E390-4C10-B37D-D31E4206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91075"/>
            <a:ext cx="1114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(daPa)</a:t>
            </a:r>
          </a:p>
        </p:txBody>
      </p:sp>
      <p:sp>
        <p:nvSpPr>
          <p:cNvPr id="164" name="u08-069-3-ylabel">
            <a:extLst xmlns:a="http://schemas.openxmlformats.org/drawingml/2006/main">
              <a:ext uri="{FF2B5EF4-FFF2-40B4-BE49-F238E27FC236}">
                <a16:creationId xmlns:a16="http://schemas.microsoft.com/office/drawing/2014/main" id="{AAD155A1-AD55-4464-9C29-295524A5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240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Y / Ymáx</a:t>
            </a:r>
          </a:p>
        </p:txBody>
      </p:sp>
      <p:sp>
        <p:nvSpPr>
          <p:cNvPr id="165" name="u08-069-3-note">
            <a:extLst xmlns:a="http://schemas.openxmlformats.org/drawingml/2006/main">
              <a:ext uri="{FF2B5EF4-FFF2-40B4-BE49-F238E27FC236}">
                <a16:creationId xmlns:a16="http://schemas.microsoft.com/office/drawing/2014/main" id="{76E7F028-3ACD-401D-91A2-E3A265FA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62425"/>
            <a:ext cx="2066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descripción geométrica</a:t>
            </a:r>
          </a:p>
        </p:txBody>
      </p:sp>
      <p:sp>
        <p:nvSpPr>
          <p:cNvPr id="166" name="u08-069-limit">
            <a:extLst xmlns:a="http://schemas.openxmlformats.org/drawingml/2006/main">
              <a:ext uri="{FF2B5EF4-FFF2-40B4-BE49-F238E27FC236}">
                <a16:creationId xmlns:a16="http://schemas.microsoft.com/office/drawing/2014/main" id="{40057ADF-B3CD-4FD8-9DE2-087B5E78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Estas morfologías son esquemas descriptivos: ninguna equivale por sí sola a una enfermedad.</a:t>
            </a:r>
          </a:p>
        </p:txBody>
      </p:sp>
      <p:sp>
        <p:nvSpPr>
          <p:cNvPr id="167" name="top-rail-1">
            <a:extLst xmlns:a="http://schemas.openxmlformats.org/drawingml/2006/main">
              <a:ext uri="{FF2B5EF4-FFF2-40B4-BE49-F238E27FC236}">
                <a16:creationId xmlns:a16="http://schemas.microsoft.com/office/drawing/2014/main" id="{7C98C506-F822-433E-BC37-32412399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68" name="top-rail-2">
            <a:extLst xmlns:a="http://schemas.openxmlformats.org/drawingml/2006/main">
              <a:ext uri="{FF2B5EF4-FFF2-40B4-BE49-F238E27FC236}">
                <a16:creationId xmlns:a16="http://schemas.microsoft.com/office/drawing/2014/main" id="{217BE0D6-C9EA-4950-BB00-F8223EB1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9" name="top-rail-3">
            <a:extLst xmlns:a="http://schemas.openxmlformats.org/drawingml/2006/main">
              <a:ext uri="{FF2B5EF4-FFF2-40B4-BE49-F238E27FC236}">
                <a16:creationId xmlns:a16="http://schemas.microsoft.com/office/drawing/2014/main" id="{0B909723-D3EE-4D5A-85C7-0A4EF630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0" name="eyebrow">
            <a:extLst xmlns:a="http://schemas.openxmlformats.org/drawingml/2006/main">
              <a:ext uri="{FF2B5EF4-FFF2-40B4-BE49-F238E27FC236}">
                <a16:creationId xmlns:a16="http://schemas.microsoft.com/office/drawing/2014/main" id="{A476B8EC-6AF2-4AD3-9C27-183B6102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7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A157C07-E715-4C4A-A29C-4DEA52D6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ECDE30-0DDC-47B0-BAD2-BA91334F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Describa la forma sin nombrar una patología</a:t>
            </a:r>
          </a:p>
        </p:txBody>
      </p:sp>
      <p:sp>
        <p:nvSpPr>
          <p:cNvPr id="2" name="U08-070-question-box">
            <a:extLst xmlns:a="http://schemas.openxmlformats.org/drawingml/2006/main">
              <a:ext uri="{FF2B5EF4-FFF2-40B4-BE49-F238E27FC236}">
                <a16:creationId xmlns:a16="http://schemas.microsoft.com/office/drawing/2014/main" id="{A2BCEB90-A96D-4484-98E4-DE82BED7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6572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8-070-question-title">
            <a:extLst xmlns:a="http://schemas.openxmlformats.org/drawingml/2006/main">
              <a:ext uri="{FF2B5EF4-FFF2-40B4-BE49-F238E27FC236}">
                <a16:creationId xmlns:a16="http://schemas.microsoft.com/office/drawing/2014/main" id="{FF1E512E-E7EE-446D-A6AB-4BB392DD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04975"/>
            <a:ext cx="622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U08-070-question-body">
            <a:extLst xmlns:a="http://schemas.openxmlformats.org/drawingml/2006/main">
              <a:ext uri="{FF2B5EF4-FFF2-40B4-BE49-F238E27FC236}">
                <a16:creationId xmlns:a16="http://schemas.microsoft.com/office/drawing/2014/main" id="{2F5775F3-D3A1-4A70-9127-0626A466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05025"/>
            <a:ext cx="62293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Describa eje, unidad, presencia/posición de pico y condición que revisaría. Justifique con la magnitud, la unidad y el límite de la conclusión.</a:t>
            </a:r>
          </a:p>
        </p:txBody>
      </p:sp>
      <p:sp>
        <p:nvSpPr>
          <p:cNvPr id="5" name="U08-070-guide-1-box">
            <a:extLst xmlns:a="http://schemas.openxmlformats.org/drawingml/2006/main">
              <a:ext uri="{FF2B5EF4-FFF2-40B4-BE49-F238E27FC236}">
                <a16:creationId xmlns:a16="http://schemas.microsoft.com/office/drawing/2014/main" id="{62213FBD-DC67-4166-B0B6-1DE94BCA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716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U08-070-guide-1-title">
            <a:extLst xmlns:a="http://schemas.openxmlformats.org/drawingml/2006/main">
              <a:ext uri="{FF2B5EF4-FFF2-40B4-BE49-F238E27FC236}">
                <a16:creationId xmlns:a16="http://schemas.microsoft.com/office/drawing/2014/main" id="{2195525F-EF19-417E-A9BF-FCF891B9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049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U08-070-guide-1-body">
            <a:extLst xmlns:a="http://schemas.openxmlformats.org/drawingml/2006/main">
              <a:ext uri="{FF2B5EF4-FFF2-40B4-BE49-F238E27FC236}">
                <a16:creationId xmlns:a16="http://schemas.microsoft.com/office/drawing/2014/main" id="{F16CDA42-11CB-41C8-95A7-1F501BE5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050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Describa eje y unidad</a:t>
            </a:r>
          </a:p>
        </p:txBody>
      </p:sp>
      <p:sp>
        <p:nvSpPr>
          <p:cNvPr id="8" name="U08-070-guide-2-box">
            <a:extLst xmlns:a="http://schemas.openxmlformats.org/drawingml/2006/main">
              <a:ext uri="{FF2B5EF4-FFF2-40B4-BE49-F238E27FC236}">
                <a16:creationId xmlns:a16="http://schemas.microsoft.com/office/drawing/2014/main" id="{B549A899-DD44-4FBF-ABB3-EE55D245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908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U08-070-guide-2-title">
            <a:extLst xmlns:a="http://schemas.openxmlformats.org/drawingml/2006/main">
              <a:ext uri="{FF2B5EF4-FFF2-40B4-BE49-F238E27FC236}">
                <a16:creationId xmlns:a16="http://schemas.microsoft.com/office/drawing/2014/main" id="{7FFD80E6-999E-4B36-90E0-5F5D0647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241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U08-070-guide-2-body">
            <a:extLst xmlns:a="http://schemas.openxmlformats.org/drawingml/2006/main">
              <a:ext uri="{FF2B5EF4-FFF2-40B4-BE49-F238E27FC236}">
                <a16:creationId xmlns:a16="http://schemas.microsoft.com/office/drawing/2014/main" id="{3F1FDF7F-5078-4E2D-A0FD-CC14A3FD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242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Ubique pico o trazado</a:t>
            </a:r>
          </a:p>
        </p:txBody>
      </p:sp>
      <p:sp>
        <p:nvSpPr>
          <p:cNvPr id="11" name="U08-070-guide-3-box">
            <a:extLst xmlns:a="http://schemas.openxmlformats.org/drawingml/2006/main">
              <a:ext uri="{FF2B5EF4-FFF2-40B4-BE49-F238E27FC236}">
                <a16:creationId xmlns:a16="http://schemas.microsoft.com/office/drawing/2014/main" id="{11DE17EB-A8F3-4207-B443-BE9FD12D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100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2" name="U08-070-guide-3-title">
            <a:extLst xmlns:a="http://schemas.openxmlformats.org/drawingml/2006/main">
              <a:ext uri="{FF2B5EF4-FFF2-40B4-BE49-F238E27FC236}">
                <a16:creationId xmlns:a16="http://schemas.microsoft.com/office/drawing/2014/main" id="{A9AEF0F3-2469-45A3-9BBD-CEFF65D6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433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U08-070-guide-3-body">
            <a:extLst xmlns:a="http://schemas.openxmlformats.org/drawingml/2006/main">
              <a:ext uri="{FF2B5EF4-FFF2-40B4-BE49-F238E27FC236}">
                <a16:creationId xmlns:a16="http://schemas.microsoft.com/office/drawing/2014/main" id="{4CF0F844-6011-45A1-A58E-F78A7DAD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434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asigne patología</a:t>
            </a:r>
          </a:p>
        </p:txBody>
      </p:sp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316FC2BD-38F2-4CCF-BCB4-54988639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 xmlns:a="http://schemas.openxmlformats.org/drawingml/2006/main">
              <a:ext uri="{FF2B5EF4-FFF2-40B4-BE49-F238E27FC236}">
                <a16:creationId xmlns:a16="http://schemas.microsoft.com/office/drawing/2014/main" id="{A1C07CAD-6FB2-4360-ADB8-D86C514C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 xmlns:a="http://schemas.openxmlformats.org/drawingml/2006/main">
              <a:ext uri="{FF2B5EF4-FFF2-40B4-BE49-F238E27FC236}">
                <a16:creationId xmlns:a16="http://schemas.microsoft.com/office/drawing/2014/main" id="{6DA81173-CBBA-4C2B-9995-9EEEB7B1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F330A103-C528-42B6-A0A3-128EC637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C4AE98C-0525-424D-A829-BDEC9F1A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94629D-04F2-4A57-8653-08C69A06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trazado plano no mide cuánto oye la persona</a:t>
            </a:r>
          </a:p>
        </p:txBody>
      </p:sp>
      <p:sp>
        <p:nvSpPr>
          <p:cNvPr id="2" name="U08-071-problem-box">
            <a:extLst xmlns:a="http://schemas.openxmlformats.org/drawingml/2006/main">
              <a:ext uri="{FF2B5EF4-FFF2-40B4-BE49-F238E27FC236}">
                <a16:creationId xmlns:a16="http://schemas.microsoft.com/office/drawing/2014/main" id="{0FB7A92E-5B45-4208-AEB4-77342B23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4762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3" name="U08-071-problem-title">
            <a:extLst xmlns:a="http://schemas.openxmlformats.org/drawingml/2006/main">
              <a:ext uri="{FF2B5EF4-FFF2-40B4-BE49-F238E27FC236}">
                <a16:creationId xmlns:a16="http://schemas.microsoft.com/office/drawing/2014/main" id="{F5C688F5-178F-4304-991E-DD26BEEF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0225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Afirmación problemática</a:t>
            </a:r>
          </a:p>
        </p:txBody>
      </p:sp>
      <p:sp>
        <p:nvSpPr>
          <p:cNvPr id="4" name="U08-071-problem-body">
            <a:extLst xmlns:a="http://schemas.openxmlformats.org/drawingml/2006/main">
              <a:ext uri="{FF2B5EF4-FFF2-40B4-BE49-F238E27FC236}">
                <a16:creationId xmlns:a16="http://schemas.microsoft.com/office/drawing/2014/main" id="{1DB3B1CF-7FF3-4E9D-ADE3-4EF1046E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00275"/>
            <a:ext cx="44196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“Un trazado plano indica cuánto oye la persona”.</a:t>
            </a:r>
          </a:p>
        </p:txBody>
      </p:sp>
      <p:sp>
        <p:nvSpPr>
          <p:cNvPr id="5" name="U08-071-correction-box">
            <a:extLst xmlns:a="http://schemas.openxmlformats.org/drawingml/2006/main">
              <a:ext uri="{FF2B5EF4-FFF2-40B4-BE49-F238E27FC236}">
                <a16:creationId xmlns:a16="http://schemas.microsoft.com/office/drawing/2014/main" id="{1E304606-C35C-4AC1-B4A1-E309C98F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66875"/>
            <a:ext cx="5715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U08-071-correction-title">
            <a:extLst xmlns:a="http://schemas.openxmlformats.org/drawingml/2006/main">
              <a:ext uri="{FF2B5EF4-FFF2-40B4-BE49-F238E27FC236}">
                <a16:creationId xmlns:a16="http://schemas.microsoft.com/office/drawing/2014/main" id="{007829F0-12DE-4AAD-9E46-C748F933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0225"/>
            <a:ext cx="537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7" name="U08-071-correction-body">
            <a:extLst xmlns:a="http://schemas.openxmlformats.org/drawingml/2006/main">
              <a:ext uri="{FF2B5EF4-FFF2-40B4-BE49-F238E27FC236}">
                <a16:creationId xmlns:a16="http://schemas.microsoft.com/office/drawing/2014/main" id="{34480B36-F16A-491C-9ACF-B9F91C77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0275"/>
            <a:ext cx="53721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 timpanograma plano describe la respuesta de inmitancia durante el barrido. No informa por sí solo cuánto oye la persona ni identifica una patología.</a:t>
            </a:r>
          </a:p>
        </p:txBody>
      </p:sp>
      <p:sp>
        <p:nvSpPr>
          <p:cNvPr id="8" name="U08-071-rule">
            <a:extLst xmlns:a="http://schemas.openxmlformats.org/drawingml/2006/main">
              <a:ext uri="{FF2B5EF4-FFF2-40B4-BE49-F238E27FC236}">
                <a16:creationId xmlns:a16="http://schemas.microsoft.com/office/drawing/2014/main" id="{00462C3D-8C9C-4EB0-B65D-77A32067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Regla de control: describir primero el dato y sus condiciones; recién después integrar hipótesis.</a:t>
            </a:r>
          </a:p>
        </p:txBody>
      </p:sp>
      <p:sp>
        <p:nvSpPr>
          <p:cNvPr id="9" name="top-rail-1">
            <a:extLst xmlns:a="http://schemas.openxmlformats.org/drawingml/2006/main">
              <a:ext uri="{FF2B5EF4-FFF2-40B4-BE49-F238E27FC236}">
                <a16:creationId xmlns:a16="http://schemas.microsoft.com/office/drawing/2014/main" id="{68BD5774-31BE-49B8-B6DF-E35F58EE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0" name="top-rail-2">
            <a:extLst xmlns:a="http://schemas.openxmlformats.org/drawingml/2006/main">
              <a:ext uri="{FF2B5EF4-FFF2-40B4-BE49-F238E27FC236}">
                <a16:creationId xmlns:a16="http://schemas.microsoft.com/office/drawing/2014/main" id="{DED4AE81-5E22-436E-9F5E-885CC2B3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1" name="top-rail-3">
            <a:extLst xmlns:a="http://schemas.openxmlformats.org/drawingml/2006/main">
              <a:ext uri="{FF2B5EF4-FFF2-40B4-BE49-F238E27FC236}">
                <a16:creationId xmlns:a16="http://schemas.microsoft.com/office/drawing/2014/main" id="{D16ACE2C-7C86-447B-AEAF-A95CA92B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78E6289-66BD-47A9-B825-A4EB1905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A23892C-BC2E-4258-B7C9-5848F570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CE170C-12EC-4ADF-8193-C8C78B4E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la curva resume transferencia bajo un barrido controlado</a:t>
            </a:r>
          </a:p>
        </p:txBody>
      </p:sp>
      <p:sp>
        <p:nvSpPr>
          <p:cNvPr id="2" name="U08-072-recap-0-box">
            <a:extLst xmlns:a="http://schemas.openxmlformats.org/drawingml/2006/main">
              <a:ext uri="{FF2B5EF4-FFF2-40B4-BE49-F238E27FC236}">
                <a16:creationId xmlns:a16="http://schemas.microsoft.com/office/drawing/2014/main" id="{69B01B8B-B8CE-4919-8D91-8BACBE17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072-recap-0-title">
            <a:extLst xmlns:a="http://schemas.openxmlformats.org/drawingml/2006/main">
              <a:ext uri="{FF2B5EF4-FFF2-40B4-BE49-F238E27FC236}">
                <a16:creationId xmlns:a16="http://schemas.microsoft.com/office/drawing/2014/main" id="{C9EBF6FB-2F25-4C27-9EEC-7468FCB1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U08-072-recap-0-body">
            <a:extLst xmlns:a="http://schemas.openxmlformats.org/drawingml/2006/main">
              <a:ext uri="{FF2B5EF4-FFF2-40B4-BE49-F238E27FC236}">
                <a16:creationId xmlns:a16="http://schemas.microsoft.com/office/drawing/2014/main" id="{F8BBA2B3-17AF-4D42-8379-FAE70F58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Entrada: tono y presión</a:t>
            </a:r>
          </a:p>
        </p:txBody>
      </p:sp>
      <p:sp>
        <p:nvSpPr>
          <p:cNvPr id="5" name="U08-072-recap-1-box">
            <a:extLst xmlns:a="http://schemas.openxmlformats.org/drawingml/2006/main">
              <a:ext uri="{FF2B5EF4-FFF2-40B4-BE49-F238E27FC236}">
                <a16:creationId xmlns:a16="http://schemas.microsoft.com/office/drawing/2014/main" id="{C097504A-9DBD-4375-B21F-A074E1DE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U08-072-recap-1-title">
            <a:extLst xmlns:a="http://schemas.openxmlformats.org/drawingml/2006/main">
              <a:ext uri="{FF2B5EF4-FFF2-40B4-BE49-F238E27FC236}">
                <a16:creationId xmlns:a16="http://schemas.microsoft.com/office/drawing/2014/main" id="{31EB2076-4F11-4B92-A702-F15A965E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U08-072-recap-1-body">
            <a:extLst xmlns:a="http://schemas.openxmlformats.org/drawingml/2006/main">
              <a:ext uri="{FF2B5EF4-FFF2-40B4-BE49-F238E27FC236}">
                <a16:creationId xmlns:a16="http://schemas.microsoft.com/office/drawing/2014/main" id="{67F88062-0F7C-48AA-8CE2-39263A89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Sistema: oído externo/medio</a:t>
            </a:r>
          </a:p>
        </p:txBody>
      </p:sp>
      <p:sp>
        <p:nvSpPr>
          <p:cNvPr id="8" name="U08-072-recap-2-box">
            <a:extLst xmlns:a="http://schemas.openxmlformats.org/drawingml/2006/main">
              <a:ext uri="{FF2B5EF4-FFF2-40B4-BE49-F238E27FC236}">
                <a16:creationId xmlns:a16="http://schemas.microsoft.com/office/drawing/2014/main" id="{31CAB84D-9CBF-46ED-B41A-B72535B8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U08-072-recap-2-title">
            <a:extLst xmlns:a="http://schemas.openxmlformats.org/drawingml/2006/main">
              <a:ext uri="{FF2B5EF4-FFF2-40B4-BE49-F238E27FC236}">
                <a16:creationId xmlns:a16="http://schemas.microsoft.com/office/drawing/2014/main" id="{EF1AB537-1105-4089-8ACF-C84BF698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0" name="U08-072-recap-2-body">
            <a:extLst xmlns:a="http://schemas.openxmlformats.org/drawingml/2006/main">
              <a:ext uri="{FF2B5EF4-FFF2-40B4-BE49-F238E27FC236}">
                <a16:creationId xmlns:a16="http://schemas.microsoft.com/office/drawing/2014/main" id="{66C14DED-97CC-4BC8-AEBC-5C3958E2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Dato: inmitancia frente a presión</a:t>
            </a:r>
          </a:p>
        </p:txBody>
      </p:sp>
      <p:sp>
        <p:nvSpPr>
          <p:cNvPr id="11" name="U08-072-recap-3-box">
            <a:extLst xmlns:a="http://schemas.openxmlformats.org/drawingml/2006/main">
              <a:ext uri="{FF2B5EF4-FFF2-40B4-BE49-F238E27FC236}">
                <a16:creationId xmlns:a16="http://schemas.microsoft.com/office/drawing/2014/main" id="{9E12A9C1-468A-4EA6-A502-ED6F6A14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2" name="U08-072-recap-3-title">
            <a:extLst xmlns:a="http://schemas.openxmlformats.org/drawingml/2006/main">
              <a:ext uri="{FF2B5EF4-FFF2-40B4-BE49-F238E27FC236}">
                <a16:creationId xmlns:a16="http://schemas.microsoft.com/office/drawing/2014/main" id="{BCE4BDDE-64EE-4450-9AA8-D843806B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3" name="U08-072-recap-3-body">
            <a:extLst xmlns:a="http://schemas.openxmlformats.org/drawingml/2006/main">
              <a:ext uri="{FF2B5EF4-FFF2-40B4-BE49-F238E27FC236}">
                <a16:creationId xmlns:a16="http://schemas.microsoft.com/office/drawing/2014/main" id="{F8A39D9E-7547-4E12-8F48-9F842AF1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mide por sí solo audición</a:t>
            </a:r>
          </a:p>
        </p:txBody>
      </p:sp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68E04E4F-D840-4394-88B6-1CD6635C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 xmlns:a="http://schemas.openxmlformats.org/drawingml/2006/main">
              <a:ext uri="{FF2B5EF4-FFF2-40B4-BE49-F238E27FC236}">
                <a16:creationId xmlns:a16="http://schemas.microsoft.com/office/drawing/2014/main" id="{727D5A29-42D8-4EE8-B78B-FF65F947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 xmlns:a="http://schemas.openxmlformats.org/drawingml/2006/main">
              <a:ext uri="{FF2B5EF4-FFF2-40B4-BE49-F238E27FC236}">
                <a16:creationId xmlns:a16="http://schemas.microsoft.com/office/drawing/2014/main" id="{75C81864-D63F-48A1-ACA7-A61C36C9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46ACD0AB-C044-49B6-B7DD-FF409C40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7D00385-7A07-40C9-A366-471DC7A4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A0F8D9C1-EBC6-4B59-9FC5-9C9620CE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23B2C37E-FA5C-4A3E-A244-F0B63CBE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señal registra cada sensor?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0A63A4C1-0276-4A27-978E-6ABA06A6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 del bloque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7A48469-FF5B-4E54-8C9E-9F8BF8CE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751103-5712-4C74-BDA2-EF299460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OEA, la sonda presenta sonido y registra presión de retorno</a:t>
            </a:r>
          </a:p>
        </p:txBody>
      </p:sp>
      <p:sp>
        <p:nvSpPr>
          <p:cNvPr id="2" name="U08-074-process-anchor-1">
            <a:extLst xmlns:a="http://schemas.openxmlformats.org/drawingml/2006/main">
              <a:ext uri="{FF2B5EF4-FFF2-40B4-BE49-F238E27FC236}">
                <a16:creationId xmlns:a16="http://schemas.microsoft.com/office/drawing/2014/main" id="{31E73CAA-FE47-429E-83C8-3B2F226E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12217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U08-074-process-anchor-2">
            <a:extLst xmlns:a="http://schemas.openxmlformats.org/drawingml/2006/main">
              <a:ext uri="{FF2B5EF4-FFF2-40B4-BE49-F238E27FC236}">
                <a16:creationId xmlns:a16="http://schemas.microsoft.com/office/drawing/2014/main" id="{DAB06226-A532-4074-A09C-6DFEECE0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395" y="2095500"/>
            <a:ext cx="212217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U08-074-process-anchor-3">
            <a:extLst xmlns:a="http://schemas.openxmlformats.org/drawingml/2006/main">
              <a:ext uri="{FF2B5EF4-FFF2-40B4-BE49-F238E27FC236}">
                <a16:creationId xmlns:a16="http://schemas.microsoft.com/office/drawing/2014/main" id="{669A079C-1C8C-4415-B954-CB211874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2095500"/>
            <a:ext cx="212217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U08-074-process-anchor-4">
            <a:extLst xmlns:a="http://schemas.openxmlformats.org/drawingml/2006/main">
              <a:ext uri="{FF2B5EF4-FFF2-40B4-BE49-F238E27FC236}">
                <a16:creationId xmlns:a16="http://schemas.microsoft.com/office/drawing/2014/main" id="{1FC924B3-B818-4FE9-8153-F8CD7845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435" y="2095500"/>
            <a:ext cx="212217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U08-074-process-anchor-5">
            <a:extLst xmlns:a="http://schemas.openxmlformats.org/drawingml/2006/main">
              <a:ext uri="{FF2B5EF4-FFF2-40B4-BE49-F238E27FC236}">
                <a16:creationId xmlns:a16="http://schemas.microsoft.com/office/drawing/2014/main" id="{A7B72704-A555-462C-872D-B2DEB12E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955" y="2095500"/>
            <a:ext cx="212217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646045" y="30956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901565" y="30956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157085" y="30956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412605" y="30956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1" name="U08-074-process-1-box">
            <a:extLst xmlns:a="http://schemas.openxmlformats.org/drawingml/2006/main">
              <a:ext uri="{FF2B5EF4-FFF2-40B4-BE49-F238E27FC236}">
                <a16:creationId xmlns:a16="http://schemas.microsoft.com/office/drawing/2014/main" id="{212CFBFF-D8A8-4308-AFC0-EBF134B9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12217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2" name="U08-074-process-1-title">
            <a:extLst xmlns:a="http://schemas.openxmlformats.org/drawingml/2006/main">
              <a:ext uri="{FF2B5EF4-FFF2-40B4-BE49-F238E27FC236}">
                <a16:creationId xmlns:a16="http://schemas.microsoft.com/office/drawing/2014/main" id="{3046D8F6-FCFB-4625-A145-149B9B51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28850"/>
            <a:ext cx="17792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U08-074-process-1-body">
            <a:extLst xmlns:a="http://schemas.openxmlformats.org/drawingml/2006/main">
              <a:ext uri="{FF2B5EF4-FFF2-40B4-BE49-F238E27FC236}">
                <a16:creationId xmlns:a16="http://schemas.microsoft.com/office/drawing/2014/main" id="{22155ACE-C251-43CC-9EB5-6E4477A5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28900"/>
            <a:ext cx="177927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Ida: la sonda presenta un estímulo acústico.</a:t>
            </a:r>
          </a:p>
        </p:txBody>
      </p:sp>
      <p:sp>
        <p:nvSpPr>
          <p:cNvPr id="14" name="U08-074-process-2-box">
            <a:extLst xmlns:a="http://schemas.openxmlformats.org/drawingml/2006/main">
              <a:ext uri="{FF2B5EF4-FFF2-40B4-BE49-F238E27FC236}">
                <a16:creationId xmlns:a16="http://schemas.microsoft.com/office/drawing/2014/main" id="{FE5ECB54-5F64-45AF-8443-CAAD0CE6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395" y="2095500"/>
            <a:ext cx="212217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5" name="U08-074-process-2-title">
            <a:extLst xmlns:a="http://schemas.openxmlformats.org/drawingml/2006/main">
              <a:ext uri="{FF2B5EF4-FFF2-40B4-BE49-F238E27FC236}">
                <a16:creationId xmlns:a16="http://schemas.microsoft.com/office/drawing/2014/main" id="{4CCA3EED-C2F3-4FB3-829D-3132E887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845" y="2228850"/>
            <a:ext cx="17792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U08-074-process-2-body">
            <a:extLst xmlns:a="http://schemas.openxmlformats.org/drawingml/2006/main">
              <a:ext uri="{FF2B5EF4-FFF2-40B4-BE49-F238E27FC236}">
                <a16:creationId xmlns:a16="http://schemas.microsoft.com/office/drawing/2014/main" id="{EA46A860-D8A2-48B0-BBBB-B7265304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845" y="2628900"/>
            <a:ext cx="177927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Interacción: oído externo/medio y cóclea condicionan la señal.</a:t>
            </a:r>
          </a:p>
        </p:txBody>
      </p:sp>
      <p:sp>
        <p:nvSpPr>
          <p:cNvPr id="17" name="U08-074-process-3-box">
            <a:extLst xmlns:a="http://schemas.openxmlformats.org/drawingml/2006/main">
              <a:ext uri="{FF2B5EF4-FFF2-40B4-BE49-F238E27FC236}">
                <a16:creationId xmlns:a16="http://schemas.microsoft.com/office/drawing/2014/main" id="{0272116C-2F8F-4BD6-B9D6-3FCC175E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2095500"/>
            <a:ext cx="212217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8" name="U08-074-process-3-title">
            <a:extLst xmlns:a="http://schemas.openxmlformats.org/drawingml/2006/main">
              <a:ext uri="{FF2B5EF4-FFF2-40B4-BE49-F238E27FC236}">
                <a16:creationId xmlns:a16="http://schemas.microsoft.com/office/drawing/2014/main" id="{A83A51D3-BF4C-4662-8355-8FF59B55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365" y="2228850"/>
            <a:ext cx="17792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U08-074-process-3-body">
            <a:extLst xmlns:a="http://schemas.openxmlformats.org/drawingml/2006/main">
              <a:ext uri="{FF2B5EF4-FFF2-40B4-BE49-F238E27FC236}">
                <a16:creationId xmlns:a16="http://schemas.microsoft.com/office/drawing/2014/main" id="{02F1D7B6-8124-40F4-832C-46FECAFF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365" y="2628900"/>
            <a:ext cx="177927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Retorno: presión acústica que vuelve al conducto.</a:t>
            </a:r>
          </a:p>
        </p:txBody>
      </p:sp>
      <p:sp>
        <p:nvSpPr>
          <p:cNvPr id="20" name="U08-074-process-4-box">
            <a:extLst xmlns:a="http://schemas.openxmlformats.org/drawingml/2006/main">
              <a:ext uri="{FF2B5EF4-FFF2-40B4-BE49-F238E27FC236}">
                <a16:creationId xmlns:a16="http://schemas.microsoft.com/office/drawing/2014/main" id="{B42980C0-0BE9-4245-9696-3D6732F7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435" y="2095500"/>
            <a:ext cx="212217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21" name="U08-074-process-4-title">
            <a:extLst xmlns:a="http://schemas.openxmlformats.org/drawingml/2006/main">
              <a:ext uri="{FF2B5EF4-FFF2-40B4-BE49-F238E27FC236}">
                <a16:creationId xmlns:a16="http://schemas.microsoft.com/office/drawing/2014/main" id="{5CFFEC66-48C8-45B5-96A1-DF41F820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885" y="2228850"/>
            <a:ext cx="17792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2" name="U08-074-process-4-body">
            <a:extLst xmlns:a="http://schemas.openxmlformats.org/drawingml/2006/main">
              <a:ext uri="{FF2B5EF4-FFF2-40B4-BE49-F238E27FC236}">
                <a16:creationId xmlns:a16="http://schemas.microsoft.com/office/drawing/2014/main" id="{B15F1506-5520-4C15-B153-37CED07B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885" y="2628900"/>
            <a:ext cx="177927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Sensor: micrófono de la sonda</a:t>
            </a:r>
          </a:p>
        </p:txBody>
      </p:sp>
      <p:sp>
        <p:nvSpPr>
          <p:cNvPr id="23" name="U08-074-process-5-box">
            <a:extLst xmlns:a="http://schemas.openxmlformats.org/drawingml/2006/main">
              <a:ext uri="{FF2B5EF4-FFF2-40B4-BE49-F238E27FC236}">
                <a16:creationId xmlns:a16="http://schemas.microsoft.com/office/drawing/2014/main" id="{B80DC18D-AC03-4781-A7FE-42DDFB3E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955" y="2095500"/>
            <a:ext cx="212217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24" name="U08-074-process-5-title">
            <a:extLst xmlns:a="http://schemas.openxmlformats.org/drawingml/2006/main">
              <a:ext uri="{FF2B5EF4-FFF2-40B4-BE49-F238E27FC236}">
                <a16:creationId xmlns:a16="http://schemas.microsoft.com/office/drawing/2014/main" id="{F0381BB9-E270-4F5B-BF2B-D3B8826F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05" y="2228850"/>
            <a:ext cx="17792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5" name="U08-074-process-5-body">
            <a:extLst xmlns:a="http://schemas.openxmlformats.org/drawingml/2006/main">
              <a:ext uri="{FF2B5EF4-FFF2-40B4-BE49-F238E27FC236}">
                <a16:creationId xmlns:a16="http://schemas.microsoft.com/office/drawing/2014/main" id="{C4AC9A61-B461-4513-B2EB-B3E1C15F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05" y="2628900"/>
            <a:ext cx="177927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 bajo protocolo.</a:t>
            </a:r>
          </a:p>
        </p:txBody>
      </p:sp>
      <p:sp>
        <p:nvSpPr>
          <p:cNvPr id="26" name="top-rail-1">
            <a:extLst xmlns:a="http://schemas.openxmlformats.org/drawingml/2006/main">
              <a:ext uri="{FF2B5EF4-FFF2-40B4-BE49-F238E27FC236}">
                <a16:creationId xmlns:a16="http://schemas.microsoft.com/office/drawing/2014/main" id="{4C733450-C3E3-4AED-855B-7D354964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7" name="top-rail-2">
            <a:extLst xmlns:a="http://schemas.openxmlformats.org/drawingml/2006/main">
              <a:ext uri="{FF2B5EF4-FFF2-40B4-BE49-F238E27FC236}">
                <a16:creationId xmlns:a16="http://schemas.microsoft.com/office/drawing/2014/main" id="{3FFE2C50-6412-4C83-9FDA-DA444E06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8" name="top-rail-3">
            <a:extLst xmlns:a="http://schemas.openxmlformats.org/drawingml/2006/main">
              <a:ext uri="{FF2B5EF4-FFF2-40B4-BE49-F238E27FC236}">
                <a16:creationId xmlns:a16="http://schemas.microsoft.com/office/drawing/2014/main" id="{980D5F29-84D8-4262-8AB3-04355B3C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FDAA7E93-3AE7-416C-839D-AEA42F69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069F993-A626-4F59-8AC2-F6E5271C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565564-4923-4593-9EB5-5565A478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OEA registra Pa, dB SPL y SNR bajo criterios del protocolo</a:t>
            </a:r>
          </a:p>
        </p:txBody>
      </p:sp>
      <p:pic>
        <p:nvPicPr>
          <p:cNvPr id="10" name="U08-075-U08-CH-010" descr="OEA registra Pa, dB SPL y SNR bajo criterios del protocolo. Gráfico: Presión acústica, nivel, ruido, SNR, banda y salida operativa. “Presente”, “ausente” o “derivar” depende de señal, ruido, sonda y transmis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3b8e39b534481b">
            <a:extLst>
              <a:ext uri="{96DAC541-7B7A-43D3-8B79-37D633B846F1}">
                <asvg:svgBlip xmlns:asvg="http://schemas.microsoft.com/office/drawing/2016/SVG/main" r:embed="Rc645c63a7ef6496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" y="1333500"/>
            <a:ext cx="11334750" cy="4572000"/>
          </a:xfrm>
          <a:prstGeom xmlns:a="http://schemas.openxmlformats.org/drawingml/2006/main" prst="rect">
            <a:avLst/>
          </a:prstGeom>
        </p:spPr>
      </p:pic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D8BA39F6-33DA-4E59-83B7-DF988D10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“Presente”, “ausente” o “derivar” depende de señal, ruido, sonda y transmisión. · Producción propia UCASAL · U08-CH-010</a:t>
            </a:r>
          </a:p>
        </p:txBody>
      </p:sp>
      <p:sp>
        <p:nvSpPr>
          <p:cNvPr id="4" name="top-rail-1">
            <a:extLst xmlns:a="http://schemas.openxmlformats.org/drawingml/2006/main">
              <a:ext uri="{FF2B5EF4-FFF2-40B4-BE49-F238E27FC236}">
                <a16:creationId xmlns:a16="http://schemas.microsoft.com/office/drawing/2014/main" id="{CF9DD95F-1803-4CFF-AE49-6F339B02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 xmlns:a="http://schemas.openxmlformats.org/drawingml/2006/main">
              <a:ext uri="{FF2B5EF4-FFF2-40B4-BE49-F238E27FC236}">
                <a16:creationId xmlns:a16="http://schemas.microsoft.com/office/drawing/2014/main" id="{6E41C5AA-3B91-481E-A75F-30AF99CA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 xmlns:a="http://schemas.openxmlformats.org/drawingml/2006/main">
              <a:ext uri="{FF2B5EF4-FFF2-40B4-BE49-F238E27FC236}">
                <a16:creationId xmlns:a16="http://schemas.microsoft.com/office/drawing/2014/main" id="{A1789345-5E54-4E79-B6B7-6E45D747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F2D5C66D-A6C4-437B-9437-C175A6AE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75D1A6F-041E-428E-846C-5C3FA005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F8C7DD-4D70-43F4-95C3-EE41F714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OEA presente no demuestra audición normal</a:t>
            </a:r>
          </a:p>
        </p:txBody>
      </p:sp>
      <p:sp>
        <p:nvSpPr>
          <p:cNvPr id="2" name="U08-076-problem-box">
            <a:extLst xmlns:a="http://schemas.openxmlformats.org/drawingml/2006/main">
              <a:ext uri="{FF2B5EF4-FFF2-40B4-BE49-F238E27FC236}">
                <a16:creationId xmlns:a16="http://schemas.microsoft.com/office/drawing/2014/main" id="{143A952E-79D9-40AA-968F-1EC7CF12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4762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3" name="U08-076-problem-title">
            <a:extLst xmlns:a="http://schemas.openxmlformats.org/drawingml/2006/main">
              <a:ext uri="{FF2B5EF4-FFF2-40B4-BE49-F238E27FC236}">
                <a16:creationId xmlns:a16="http://schemas.microsoft.com/office/drawing/2014/main" id="{A1DFD997-4F48-4ED1-B454-513907CE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0225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Afirmación problemática</a:t>
            </a:r>
          </a:p>
        </p:txBody>
      </p:sp>
      <p:sp>
        <p:nvSpPr>
          <p:cNvPr id="4" name="U08-076-problem-body">
            <a:extLst xmlns:a="http://schemas.openxmlformats.org/drawingml/2006/main">
              <a:ext uri="{FF2B5EF4-FFF2-40B4-BE49-F238E27FC236}">
                <a16:creationId xmlns:a16="http://schemas.microsoft.com/office/drawing/2014/main" id="{719BF97E-2020-4141-9B3C-F899CB73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00275"/>
            <a:ext cx="44196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“OEA presente significa audición normal”.</a:t>
            </a:r>
          </a:p>
        </p:txBody>
      </p:sp>
      <p:sp>
        <p:nvSpPr>
          <p:cNvPr id="5" name="U08-076-correction-box">
            <a:extLst xmlns:a="http://schemas.openxmlformats.org/drawingml/2006/main">
              <a:ext uri="{FF2B5EF4-FFF2-40B4-BE49-F238E27FC236}">
                <a16:creationId xmlns:a16="http://schemas.microsoft.com/office/drawing/2014/main" id="{91D7DC5C-A15D-4804-8550-CD73712E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66875"/>
            <a:ext cx="5715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U08-076-correction-title">
            <a:extLst xmlns:a="http://schemas.openxmlformats.org/drawingml/2006/main">
              <a:ext uri="{FF2B5EF4-FFF2-40B4-BE49-F238E27FC236}">
                <a16:creationId xmlns:a16="http://schemas.microsoft.com/office/drawing/2014/main" id="{1BA8B77F-4BE0-4704-9DC2-81660ABB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0225"/>
            <a:ext cx="537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7" name="U08-076-correction-body">
            <a:extLst xmlns:a="http://schemas.openxmlformats.org/drawingml/2006/main">
              <a:ext uri="{FF2B5EF4-FFF2-40B4-BE49-F238E27FC236}">
                <a16:creationId xmlns:a16="http://schemas.microsoft.com/office/drawing/2014/main" id="{0B7B3DF6-7272-4479-AAD7-3FF2AF3C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0275"/>
            <a:ext cx="53721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OEA presente aporta información sobre una respuesta coclear bajo el protocolo. No demuestra audición normal ni evalúa por sí sola vía neural, percepción o lenguaje.</a:t>
            </a:r>
          </a:p>
        </p:txBody>
      </p:sp>
      <p:sp>
        <p:nvSpPr>
          <p:cNvPr id="8" name="U08-076-rule">
            <a:extLst xmlns:a="http://schemas.openxmlformats.org/drawingml/2006/main">
              <a:ext uri="{FF2B5EF4-FFF2-40B4-BE49-F238E27FC236}">
                <a16:creationId xmlns:a16="http://schemas.microsoft.com/office/drawing/2014/main" id="{B5168662-D817-46CC-80A3-5E1D2AC9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Regla de control: describir primero el dato y sus condiciones; recién después integrar hipótesis.</a:t>
            </a:r>
          </a:p>
        </p:txBody>
      </p:sp>
      <p:sp>
        <p:nvSpPr>
          <p:cNvPr id="9" name="top-rail-1">
            <a:extLst xmlns:a="http://schemas.openxmlformats.org/drawingml/2006/main">
              <a:ext uri="{FF2B5EF4-FFF2-40B4-BE49-F238E27FC236}">
                <a16:creationId xmlns:a16="http://schemas.microsoft.com/office/drawing/2014/main" id="{7D1CCC4E-526C-43E6-99FA-7DBF7EA0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0" name="top-rail-2">
            <a:extLst xmlns:a="http://schemas.openxmlformats.org/drawingml/2006/main">
              <a:ext uri="{FF2B5EF4-FFF2-40B4-BE49-F238E27FC236}">
                <a16:creationId xmlns:a16="http://schemas.microsoft.com/office/drawing/2014/main" id="{5AE3FDD9-DD44-4B5C-BC24-27A01474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1" name="top-rail-3">
            <a:extLst xmlns:a="http://schemas.openxmlformats.org/drawingml/2006/main">
              <a:ext uri="{FF2B5EF4-FFF2-40B4-BE49-F238E27FC236}">
                <a16:creationId xmlns:a16="http://schemas.microsoft.com/office/drawing/2014/main" id="{134F5843-AF82-4DB9-B978-E003D5A7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EBA534C3-0F78-4F72-9D7D-238B3A39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5824E70-B3D2-4F1F-AB00-1AA1928D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3F74E0-DEB5-400F-8D68-5168E965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PEAT, electrodos registran una respuesta neural sincronizada</a:t>
            </a:r>
          </a:p>
        </p:txBody>
      </p:sp>
      <p:sp>
        <p:nvSpPr>
          <p:cNvPr id="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EC919117-CA3E-4D3C-9AE8-D6634945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33550"/>
            <a:ext cx="962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3" name="equation">
            <a:extLst xmlns:a="http://schemas.openxmlformats.org/drawingml/2006/main">
              <a:ext uri="{FF2B5EF4-FFF2-40B4-BE49-F238E27FC236}">
                <a16:creationId xmlns:a16="http://schemas.microsoft.com/office/drawing/2014/main" id="{B8407D8C-2D27-4ED0-9BA6-309AF2E3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847850"/>
            <a:ext cx="9163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V(t): diferencia de potencial (µV) en función del tiempo (ms)</a:t>
            </a:r>
          </a:p>
        </p:txBody>
      </p:sp>
      <p:sp>
        <p:nvSpPr>
          <p:cNvPr id="4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E9BF2E36-7ABB-4EBC-8B6A-97DB727C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2775BD0A-1E7B-40DC-9DD4-4FEE7C86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6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9763C94F-E4F5-4526-AA5F-130933D5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señal es acústica hasta la transducción el registro es una diferencia de potencial en función del tiempo.</a:t>
            </a:r>
          </a:p>
        </p:txBody>
      </p:sp>
      <p:sp>
        <p:nvSpPr>
          <p:cNvPr id="7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AE01B2AB-23A5-4F2B-A148-AB8C77B1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0C1F4223-1064-433F-A424-B3A8DAF9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9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FCB07546-ECD7-4232-B3C2-0249AD66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estímulo llega por un transductor acústico. La vía auditiva genera una respuesta sincronizada. Electrodos superficiales registran una diferencia de potencial. El promedio permite representar V(t) en µV y ms.</a:t>
            </a:r>
          </a:p>
        </p:txBody>
      </p:sp>
      <p:sp>
        <p:nvSpPr>
          <p:cNvPr id="10" name="top-rail-1">
            <a:extLst xmlns:a="http://schemas.openxmlformats.org/drawingml/2006/main">
              <a:ext uri="{FF2B5EF4-FFF2-40B4-BE49-F238E27FC236}">
                <a16:creationId xmlns:a16="http://schemas.microsoft.com/office/drawing/2014/main" id="{F3279CBF-1B77-48A9-A48C-929F0E35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 xmlns:a="http://schemas.openxmlformats.org/drawingml/2006/main">
              <a:ext uri="{FF2B5EF4-FFF2-40B4-BE49-F238E27FC236}">
                <a16:creationId xmlns:a16="http://schemas.microsoft.com/office/drawing/2014/main" id="{58B76C63-C3CE-4176-A6F8-75A0C2CF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 xmlns:a="http://schemas.openxmlformats.org/drawingml/2006/main">
              <a:ext uri="{FF2B5EF4-FFF2-40B4-BE49-F238E27FC236}">
                <a16:creationId xmlns:a16="http://schemas.microsoft.com/office/drawing/2014/main" id="{596F14A4-4F12-47C9-88B3-74B6642D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F7DE7FB3-7277-4E40-B6CC-3E7B2D2E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5C9789-BC87-4DFD-8107-E088AE23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77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122BA8-2200-499E-B2BA-1CC1E0DF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forma de onda PEAT organiza amplitud y latencia</a:t>
            </a:r>
          </a:p>
        </p:txBody>
      </p:sp>
      <p:pic>
        <p:nvPicPr>
          <p:cNvPr id="10" name="U08-078-U08-CH-008" descr="Una forma de onda PEAT organiza amplitud y latencia. Gráfico: Forma de onda conceptual V(t); eje µV, eje ms y componentes sin valores normativos. Componentes, latencias y amplitudes dependen de estímulo, nivel, tasa, estado y promedi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dc3f565cd4875">
            <a:extLst>
              <a:ext uri="{96DAC541-7B7A-43D3-8B79-37D633B846F1}">
                <asvg:svgBlip xmlns:asvg="http://schemas.microsoft.com/office/drawing/2016/SVG/main" r:embed="R0a40ddb544294f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" y="1333500"/>
            <a:ext cx="11334750" cy="4572000"/>
          </a:xfrm>
          <a:prstGeom xmlns:a="http://schemas.openxmlformats.org/drawingml/2006/main" prst="rect">
            <a:avLst/>
          </a:prstGeom>
        </p:spPr>
      </p:pic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E94B8ABF-8A0A-40F0-81CB-89BE5401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Componentes, latencias y amplitudes dependen de estímulo, nivel, tasa, estado y promedio. · Producción propia UCASAL · U08-CH-008</a:t>
            </a:r>
          </a:p>
        </p:txBody>
      </p:sp>
      <p:sp>
        <p:nvSpPr>
          <p:cNvPr id="4" name="top-rail-1">
            <a:extLst xmlns:a="http://schemas.openxmlformats.org/drawingml/2006/main">
              <a:ext uri="{FF2B5EF4-FFF2-40B4-BE49-F238E27FC236}">
                <a16:creationId xmlns:a16="http://schemas.microsoft.com/office/drawing/2014/main" id="{5E31AFC0-404A-464E-9507-261700CD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 xmlns:a="http://schemas.openxmlformats.org/drawingml/2006/main">
              <a:ext uri="{FF2B5EF4-FFF2-40B4-BE49-F238E27FC236}">
                <a16:creationId xmlns:a16="http://schemas.microsoft.com/office/drawing/2014/main" id="{88A0DD5B-E47C-4E1B-B046-085B8A5F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 xmlns:a="http://schemas.openxmlformats.org/drawingml/2006/main">
              <a:ext uri="{FF2B5EF4-FFF2-40B4-BE49-F238E27FC236}">
                <a16:creationId xmlns:a16="http://schemas.microsoft.com/office/drawing/2014/main" id="{DE26A67A-FA85-44E3-AC2F-2637E9EC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62B34543-D4BC-42D3-9E25-8B991CF9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AMPLIACIÓN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0A55B04-8E19-422C-B220-B0CD9C2A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B07C3F-EAF4-4A62-826E-D9B2610A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potencial evocado no mide comprensión del habla</a:t>
            </a:r>
          </a:p>
        </p:txBody>
      </p:sp>
      <p:sp>
        <p:nvSpPr>
          <p:cNvPr id="2" name="U08-079-problem-box">
            <a:extLst xmlns:a="http://schemas.openxmlformats.org/drawingml/2006/main">
              <a:ext uri="{FF2B5EF4-FFF2-40B4-BE49-F238E27FC236}">
                <a16:creationId xmlns:a16="http://schemas.microsoft.com/office/drawing/2014/main" id="{B4FAD95F-F828-4E4E-B5AE-CB432273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4762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3" name="U08-079-problem-title">
            <a:extLst xmlns:a="http://schemas.openxmlformats.org/drawingml/2006/main">
              <a:ext uri="{FF2B5EF4-FFF2-40B4-BE49-F238E27FC236}">
                <a16:creationId xmlns:a16="http://schemas.microsoft.com/office/drawing/2014/main" id="{A9542B37-420F-4780-A2F8-A3D92C3A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0225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Afirmación problemática</a:t>
            </a:r>
          </a:p>
        </p:txBody>
      </p:sp>
      <p:sp>
        <p:nvSpPr>
          <p:cNvPr id="4" name="U08-079-problem-body">
            <a:extLst xmlns:a="http://schemas.openxmlformats.org/drawingml/2006/main">
              <a:ext uri="{FF2B5EF4-FFF2-40B4-BE49-F238E27FC236}">
                <a16:creationId xmlns:a16="http://schemas.microsoft.com/office/drawing/2014/main" id="{C9B7663C-1303-48D8-94E7-C5DBC001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00275"/>
            <a:ext cx="44196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“Si aparece un PEAT, la persona comprende el habla”.</a:t>
            </a:r>
          </a:p>
        </p:txBody>
      </p:sp>
      <p:sp>
        <p:nvSpPr>
          <p:cNvPr id="5" name="U08-079-correction-box">
            <a:extLst xmlns:a="http://schemas.openxmlformats.org/drawingml/2006/main">
              <a:ext uri="{FF2B5EF4-FFF2-40B4-BE49-F238E27FC236}">
                <a16:creationId xmlns:a16="http://schemas.microsoft.com/office/drawing/2014/main" id="{03A0A17D-2FEB-49E0-A89A-DEB3B0C1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66875"/>
            <a:ext cx="5715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U08-079-correction-title">
            <a:extLst xmlns:a="http://schemas.openxmlformats.org/drawingml/2006/main">
              <a:ext uri="{FF2B5EF4-FFF2-40B4-BE49-F238E27FC236}">
                <a16:creationId xmlns:a16="http://schemas.microsoft.com/office/drawing/2014/main" id="{5C785DBC-50E5-4E9F-AAF9-7985677E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0225"/>
            <a:ext cx="537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7" name="U08-079-correction-body">
            <a:extLst xmlns:a="http://schemas.openxmlformats.org/drawingml/2006/main">
              <a:ext uri="{FF2B5EF4-FFF2-40B4-BE49-F238E27FC236}">
                <a16:creationId xmlns:a16="http://schemas.microsoft.com/office/drawing/2014/main" id="{7B799FC1-4E8B-4690-B5A7-7E411B6F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0275"/>
            <a:ext cx="53721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PEAT registra una respuesta bioeléctrica sincronizada; la comprensión del habla requiere una tarea conductual y otras condiciones de evaluación.</a:t>
            </a:r>
          </a:p>
        </p:txBody>
      </p:sp>
      <p:sp>
        <p:nvSpPr>
          <p:cNvPr id="8" name="U08-079-rule">
            <a:extLst xmlns:a="http://schemas.openxmlformats.org/drawingml/2006/main">
              <a:ext uri="{FF2B5EF4-FFF2-40B4-BE49-F238E27FC236}">
                <a16:creationId xmlns:a16="http://schemas.microsoft.com/office/drawing/2014/main" id="{335B6FFE-36DD-4EDA-A8E6-7FF566F9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Regla de control: describir primero el dato y sus condiciones; recién después integrar hipótesis.</a:t>
            </a:r>
          </a:p>
        </p:txBody>
      </p:sp>
      <p:sp>
        <p:nvSpPr>
          <p:cNvPr id="9" name="top-rail-1">
            <a:extLst xmlns:a="http://schemas.openxmlformats.org/drawingml/2006/main">
              <a:ext uri="{FF2B5EF4-FFF2-40B4-BE49-F238E27FC236}">
                <a16:creationId xmlns:a16="http://schemas.microsoft.com/office/drawing/2014/main" id="{C69F0A27-8191-448C-A1B9-EE079F41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0" name="top-rail-2">
            <a:extLst xmlns:a="http://schemas.openxmlformats.org/drawingml/2006/main">
              <a:ext uri="{FF2B5EF4-FFF2-40B4-BE49-F238E27FC236}">
                <a16:creationId xmlns:a16="http://schemas.microsoft.com/office/drawing/2014/main" id="{2D19DCA5-B8A1-4FDA-A52D-2EC07758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1" name="top-rail-3">
            <a:extLst xmlns:a="http://schemas.openxmlformats.org/drawingml/2006/main">
              <a:ext uri="{FF2B5EF4-FFF2-40B4-BE49-F238E27FC236}">
                <a16:creationId xmlns:a16="http://schemas.microsoft.com/office/drawing/2014/main" id="{FB765814-462D-42FE-AEA5-E0456D30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8F8C501A-7770-41E8-A43A-0FF92140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0D5F601-2D8A-4DE9-9D8E-3B25D12B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3CD6CE-808D-4D17-9744-DCD757CB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electrococleografía registra potenciales cocleares y neurales distales</a:t>
            </a:r>
          </a:p>
        </p:txBody>
      </p:sp>
      <p:sp>
        <p:nvSpPr>
          <p:cNvPr id="2" name="U08-080-process-anchor-1">
            <a:extLst xmlns:a="http://schemas.openxmlformats.org/drawingml/2006/main">
              <a:ext uri="{FF2B5EF4-FFF2-40B4-BE49-F238E27FC236}">
                <a16:creationId xmlns:a16="http://schemas.microsoft.com/office/drawing/2014/main" id="{D99ECE3B-8E39-4B08-AD63-461F1916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12217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U08-080-process-anchor-2">
            <a:extLst xmlns:a="http://schemas.openxmlformats.org/drawingml/2006/main">
              <a:ext uri="{FF2B5EF4-FFF2-40B4-BE49-F238E27FC236}">
                <a16:creationId xmlns:a16="http://schemas.microsoft.com/office/drawing/2014/main" id="{92B4DC43-E469-4A5F-938C-5A03EE92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395" y="2095500"/>
            <a:ext cx="212217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U08-080-process-anchor-3">
            <a:extLst xmlns:a="http://schemas.openxmlformats.org/drawingml/2006/main">
              <a:ext uri="{FF2B5EF4-FFF2-40B4-BE49-F238E27FC236}">
                <a16:creationId xmlns:a16="http://schemas.microsoft.com/office/drawing/2014/main" id="{BB269C3D-FF7C-41AF-98EC-01E65609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2095500"/>
            <a:ext cx="212217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U08-080-process-anchor-4">
            <a:extLst xmlns:a="http://schemas.openxmlformats.org/drawingml/2006/main">
              <a:ext uri="{FF2B5EF4-FFF2-40B4-BE49-F238E27FC236}">
                <a16:creationId xmlns:a16="http://schemas.microsoft.com/office/drawing/2014/main" id="{06BD5D8F-555A-455F-BD82-76F19336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435" y="2095500"/>
            <a:ext cx="212217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U08-080-process-anchor-5">
            <a:extLst xmlns:a="http://schemas.openxmlformats.org/drawingml/2006/main">
              <a:ext uri="{FF2B5EF4-FFF2-40B4-BE49-F238E27FC236}">
                <a16:creationId xmlns:a16="http://schemas.microsoft.com/office/drawing/2014/main" id="{8B82D4D3-3C44-4CDB-80EF-7A25E9ED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955" y="2095500"/>
            <a:ext cx="212217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646045" y="30956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901565" y="30956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157085" y="30956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412605" y="30956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1" name="U08-080-process-1-box">
            <a:extLst xmlns:a="http://schemas.openxmlformats.org/drawingml/2006/main">
              <a:ext uri="{FF2B5EF4-FFF2-40B4-BE49-F238E27FC236}">
                <a16:creationId xmlns:a16="http://schemas.microsoft.com/office/drawing/2014/main" id="{1AB0ED68-940F-4494-8620-BAA4C51D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12217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2" name="U08-080-process-1-title">
            <a:extLst xmlns:a="http://schemas.openxmlformats.org/drawingml/2006/main">
              <a:ext uri="{FF2B5EF4-FFF2-40B4-BE49-F238E27FC236}">
                <a16:creationId xmlns:a16="http://schemas.microsoft.com/office/drawing/2014/main" id="{B5DCADB1-B210-460F-947D-E3613462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28850"/>
            <a:ext cx="17792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U08-080-process-1-body">
            <a:extLst xmlns:a="http://schemas.openxmlformats.org/drawingml/2006/main">
              <a:ext uri="{FF2B5EF4-FFF2-40B4-BE49-F238E27FC236}">
                <a16:creationId xmlns:a16="http://schemas.microsoft.com/office/drawing/2014/main" id="{7DDDE788-FAF1-474F-BB19-9D04EC6B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28900"/>
            <a:ext cx="177927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Estímulo acústico controlado.</a:t>
            </a:r>
          </a:p>
        </p:txBody>
      </p:sp>
      <p:sp>
        <p:nvSpPr>
          <p:cNvPr id="14" name="U08-080-process-2-box">
            <a:extLst xmlns:a="http://schemas.openxmlformats.org/drawingml/2006/main">
              <a:ext uri="{FF2B5EF4-FFF2-40B4-BE49-F238E27FC236}">
                <a16:creationId xmlns:a16="http://schemas.microsoft.com/office/drawing/2014/main" id="{08A51C42-9B33-46A3-83C5-B553CB9D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395" y="2095500"/>
            <a:ext cx="212217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5" name="U08-080-process-2-title">
            <a:extLst xmlns:a="http://schemas.openxmlformats.org/drawingml/2006/main">
              <a:ext uri="{FF2B5EF4-FFF2-40B4-BE49-F238E27FC236}">
                <a16:creationId xmlns:a16="http://schemas.microsoft.com/office/drawing/2014/main" id="{6AD305B2-1F74-4C12-9199-4F6C5FDB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845" y="2228850"/>
            <a:ext cx="17792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U08-080-process-2-body">
            <a:extLst xmlns:a="http://schemas.openxmlformats.org/drawingml/2006/main">
              <a:ext uri="{FF2B5EF4-FFF2-40B4-BE49-F238E27FC236}">
                <a16:creationId xmlns:a16="http://schemas.microsoft.com/office/drawing/2014/main" id="{7CE3691A-B7DC-4B23-BC40-5C70BAEB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845" y="2628900"/>
            <a:ext cx="177927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Generadores cocleares y neurales distales.</a:t>
            </a:r>
          </a:p>
        </p:txBody>
      </p:sp>
      <p:sp>
        <p:nvSpPr>
          <p:cNvPr id="17" name="U08-080-process-3-box">
            <a:extLst xmlns:a="http://schemas.openxmlformats.org/drawingml/2006/main">
              <a:ext uri="{FF2B5EF4-FFF2-40B4-BE49-F238E27FC236}">
                <a16:creationId xmlns:a16="http://schemas.microsoft.com/office/drawing/2014/main" id="{F078E6DE-07DA-4B1B-BB45-2D5C1824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2095500"/>
            <a:ext cx="212217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8" name="U08-080-process-3-title">
            <a:extLst xmlns:a="http://schemas.openxmlformats.org/drawingml/2006/main">
              <a:ext uri="{FF2B5EF4-FFF2-40B4-BE49-F238E27FC236}">
                <a16:creationId xmlns:a16="http://schemas.microsoft.com/office/drawing/2014/main" id="{459CA1D0-A7CD-4161-ADEC-0D5EFA04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365" y="2228850"/>
            <a:ext cx="17792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U08-080-process-3-body">
            <a:extLst xmlns:a="http://schemas.openxmlformats.org/drawingml/2006/main">
              <a:ext uri="{FF2B5EF4-FFF2-40B4-BE49-F238E27FC236}">
                <a16:creationId xmlns:a16="http://schemas.microsoft.com/office/drawing/2014/main" id="{87387DC6-71CC-47A6-A1C4-457F2D72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365" y="2628900"/>
            <a:ext cx="177927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Electrodo próximo según montaje extra- o transtimpánico.</a:t>
            </a:r>
          </a:p>
        </p:txBody>
      </p:sp>
      <p:sp>
        <p:nvSpPr>
          <p:cNvPr id="20" name="U08-080-process-4-box">
            <a:extLst xmlns:a="http://schemas.openxmlformats.org/drawingml/2006/main">
              <a:ext uri="{FF2B5EF4-FFF2-40B4-BE49-F238E27FC236}">
                <a16:creationId xmlns:a16="http://schemas.microsoft.com/office/drawing/2014/main" id="{20D06F04-BEF2-4811-BFD6-42B61DF5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435" y="2095500"/>
            <a:ext cx="212217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21" name="U08-080-process-4-title">
            <a:extLst xmlns:a="http://schemas.openxmlformats.org/drawingml/2006/main">
              <a:ext uri="{FF2B5EF4-FFF2-40B4-BE49-F238E27FC236}">
                <a16:creationId xmlns:a16="http://schemas.microsoft.com/office/drawing/2014/main" id="{9FC0ED70-2F51-45FC-A860-718A0E6A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885" y="2228850"/>
            <a:ext cx="17792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2" name="U08-080-process-4-body">
            <a:extLst xmlns:a="http://schemas.openxmlformats.org/drawingml/2006/main">
              <a:ext uri="{FF2B5EF4-FFF2-40B4-BE49-F238E27FC236}">
                <a16:creationId xmlns:a16="http://schemas.microsoft.com/office/drawing/2014/main" id="{A92D1028-7984-413E-97A8-4543905F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885" y="2628900"/>
            <a:ext cx="177927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Registro de potenciales</a:t>
            </a:r>
          </a:p>
        </p:txBody>
      </p:sp>
      <p:sp>
        <p:nvSpPr>
          <p:cNvPr id="23" name="U08-080-process-5-box">
            <a:extLst xmlns:a="http://schemas.openxmlformats.org/drawingml/2006/main">
              <a:ext uri="{FF2B5EF4-FFF2-40B4-BE49-F238E27FC236}">
                <a16:creationId xmlns:a16="http://schemas.microsoft.com/office/drawing/2014/main" id="{249C5120-FD43-4D57-B2CF-4A2B51B1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955" y="2095500"/>
            <a:ext cx="212217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24" name="U08-080-process-5-title">
            <a:extLst xmlns:a="http://schemas.openxmlformats.org/drawingml/2006/main">
              <a:ext uri="{FF2B5EF4-FFF2-40B4-BE49-F238E27FC236}">
                <a16:creationId xmlns:a16="http://schemas.microsoft.com/office/drawing/2014/main" id="{AF165D90-4ACD-474A-B013-AB83BE5E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05" y="2228850"/>
            <a:ext cx="17792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5" name="U08-080-process-5-body">
            <a:extLst xmlns:a="http://schemas.openxmlformats.org/drawingml/2006/main">
              <a:ext uri="{FF2B5EF4-FFF2-40B4-BE49-F238E27FC236}">
                <a16:creationId xmlns:a16="http://schemas.microsoft.com/office/drawing/2014/main" id="{813E642D-EB39-44B8-8738-D516357B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05" y="2628900"/>
            <a:ext cx="177927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amplitud y componentes dependen del protocolo.</a:t>
            </a:r>
          </a:p>
        </p:txBody>
      </p:sp>
      <p:sp>
        <p:nvSpPr>
          <p:cNvPr id="26" name="top-rail-1">
            <a:extLst xmlns:a="http://schemas.openxmlformats.org/drawingml/2006/main">
              <a:ext uri="{FF2B5EF4-FFF2-40B4-BE49-F238E27FC236}">
                <a16:creationId xmlns:a16="http://schemas.microsoft.com/office/drawing/2014/main" id="{EE17F62A-D559-41A7-9864-97BE9B0A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7" name="top-rail-2">
            <a:extLst xmlns:a="http://schemas.openxmlformats.org/drawingml/2006/main">
              <a:ext uri="{FF2B5EF4-FFF2-40B4-BE49-F238E27FC236}">
                <a16:creationId xmlns:a16="http://schemas.microsoft.com/office/drawing/2014/main" id="{E69F1A11-C600-4B29-BAA3-65096255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8" name="top-rail-3">
            <a:extLst xmlns:a="http://schemas.openxmlformats.org/drawingml/2006/main">
              <a:ext uri="{FF2B5EF4-FFF2-40B4-BE49-F238E27FC236}">
                <a16:creationId xmlns:a16="http://schemas.microsoft.com/office/drawing/2014/main" id="{C07ED71E-658B-441F-8FFE-3B613C50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B4CD1F82-4051-47BE-973B-A48B3C18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30B260B-0AE9-4F4F-B820-0BD7A9D2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9A4A8E-3696-470C-92D2-19AB9068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Microfónico, sumación y acción compuesto no son el mismo componente</a:t>
            </a:r>
          </a:p>
        </p:txBody>
      </p:sp>
      <p:sp>
        <p:nvSpPr>
          <p:cNvPr id="2" name="U08-081-cards-anchor-1">
            <a:extLst xmlns:a="http://schemas.openxmlformats.org/drawingml/2006/main">
              <a:ext uri="{FF2B5EF4-FFF2-40B4-BE49-F238E27FC236}">
                <a16:creationId xmlns:a16="http://schemas.microsoft.com/office/drawing/2014/main" id="{8FE2BDA7-2C0A-49D1-91D2-D12527C0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3492500" cy="2333625"/>
          </a:xfrm>
          <a:prstGeom xmlns:a="http://schemas.openxmlformats.org/drawingml/2006/main" prst="roundRect">
            <a:avLst>
              <a:gd name="adj" fmla="val 489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U08-081-cards-anchor-2">
            <a:extLst xmlns:a="http://schemas.openxmlformats.org/drawingml/2006/main">
              <a:ext uri="{FF2B5EF4-FFF2-40B4-BE49-F238E27FC236}">
                <a16:creationId xmlns:a16="http://schemas.microsoft.com/office/drawing/2014/main" id="{2D5A1206-3839-4A81-AC54-EDA37540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095500"/>
            <a:ext cx="3492500" cy="2333625"/>
          </a:xfrm>
          <a:prstGeom xmlns:a="http://schemas.openxmlformats.org/drawingml/2006/main" prst="roundRect">
            <a:avLst>
              <a:gd name="adj" fmla="val 489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U08-081-cards-anchor-3">
            <a:extLst xmlns:a="http://schemas.openxmlformats.org/drawingml/2006/main">
              <a:ext uri="{FF2B5EF4-FFF2-40B4-BE49-F238E27FC236}">
                <a16:creationId xmlns:a16="http://schemas.microsoft.com/office/drawing/2014/main" id="{AA19D854-04EF-4748-B559-88544C87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625" y="2095500"/>
            <a:ext cx="3492500" cy="2333625"/>
          </a:xfrm>
          <a:prstGeom xmlns:a="http://schemas.openxmlformats.org/drawingml/2006/main" prst="roundRect">
            <a:avLst>
              <a:gd name="adj" fmla="val 489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016375" y="32623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842250" y="32623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7" name="U08-081-cards-1-box">
            <a:extLst xmlns:a="http://schemas.openxmlformats.org/drawingml/2006/main">
              <a:ext uri="{FF2B5EF4-FFF2-40B4-BE49-F238E27FC236}">
                <a16:creationId xmlns:a16="http://schemas.microsoft.com/office/drawing/2014/main" id="{F743517D-1144-4402-93ED-CC715BD3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34925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U08-081-cards-1-title">
            <a:extLst xmlns:a="http://schemas.openxmlformats.org/drawingml/2006/main">
              <a:ext uri="{FF2B5EF4-FFF2-40B4-BE49-F238E27FC236}">
                <a16:creationId xmlns:a16="http://schemas.microsoft.com/office/drawing/2014/main" id="{64A11576-56D0-454D-A16F-D138AB55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28850"/>
            <a:ext cx="314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CM</a:t>
            </a:r>
          </a:p>
        </p:txBody>
      </p:sp>
      <p:sp>
        <p:nvSpPr>
          <p:cNvPr id="9" name="U08-081-cards-1-body">
            <a:extLst xmlns:a="http://schemas.openxmlformats.org/drawingml/2006/main">
              <a:ext uri="{FF2B5EF4-FFF2-40B4-BE49-F238E27FC236}">
                <a16:creationId xmlns:a16="http://schemas.microsoft.com/office/drawing/2014/main" id="{AC459BD2-DA83-4083-ACAD-7D8D1AEA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28900"/>
            <a:ext cx="31496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Microfónico coclear: sigue el estímulo</a:t>
            </a:r>
          </a:p>
        </p:txBody>
      </p:sp>
      <p:sp>
        <p:nvSpPr>
          <p:cNvPr id="10" name="U08-081-cards-2-box">
            <a:extLst xmlns:a="http://schemas.openxmlformats.org/drawingml/2006/main">
              <a:ext uri="{FF2B5EF4-FFF2-40B4-BE49-F238E27FC236}">
                <a16:creationId xmlns:a16="http://schemas.microsoft.com/office/drawing/2014/main" id="{3A17560E-9571-4998-BD6A-41D545BC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095500"/>
            <a:ext cx="34925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1" name="U08-081-cards-2-title">
            <a:extLst xmlns:a="http://schemas.openxmlformats.org/drawingml/2006/main">
              <a:ext uri="{FF2B5EF4-FFF2-40B4-BE49-F238E27FC236}">
                <a16:creationId xmlns:a16="http://schemas.microsoft.com/office/drawing/2014/main" id="{0B5D845C-3ED5-4122-993A-D99DA6A5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228850"/>
            <a:ext cx="314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SP</a:t>
            </a:r>
          </a:p>
        </p:txBody>
      </p:sp>
      <p:sp>
        <p:nvSpPr>
          <p:cNvPr id="12" name="U08-081-cards-2-body">
            <a:extLst xmlns:a="http://schemas.openxmlformats.org/drawingml/2006/main">
              <a:ext uri="{FF2B5EF4-FFF2-40B4-BE49-F238E27FC236}">
                <a16:creationId xmlns:a16="http://schemas.microsoft.com/office/drawing/2014/main" id="{6715ED9F-9D78-4C80-9FC7-6C1A882B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628900"/>
            <a:ext cx="31496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Potencial de sumación: componente sostenido</a:t>
            </a:r>
          </a:p>
        </p:txBody>
      </p:sp>
      <p:sp>
        <p:nvSpPr>
          <p:cNvPr id="13" name="U08-081-cards-3-box">
            <a:extLst xmlns:a="http://schemas.openxmlformats.org/drawingml/2006/main">
              <a:ext uri="{FF2B5EF4-FFF2-40B4-BE49-F238E27FC236}">
                <a16:creationId xmlns:a16="http://schemas.microsoft.com/office/drawing/2014/main" id="{1F4410E7-1111-4C8D-863B-8FE63AEA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625" y="2095500"/>
            <a:ext cx="34925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4" name="U08-081-cards-3-title">
            <a:extLst xmlns:a="http://schemas.openxmlformats.org/drawingml/2006/main">
              <a:ext uri="{FF2B5EF4-FFF2-40B4-BE49-F238E27FC236}">
                <a16:creationId xmlns:a16="http://schemas.microsoft.com/office/drawing/2014/main" id="{0C8B652C-27F2-428F-ADFA-F43ADA0F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2228850"/>
            <a:ext cx="314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AP</a:t>
            </a:r>
          </a:p>
        </p:txBody>
      </p:sp>
      <p:sp>
        <p:nvSpPr>
          <p:cNvPr id="15" name="U08-081-cards-3-body">
            <a:extLst xmlns:a="http://schemas.openxmlformats.org/drawingml/2006/main">
              <a:ext uri="{FF2B5EF4-FFF2-40B4-BE49-F238E27FC236}">
                <a16:creationId xmlns:a16="http://schemas.microsoft.com/office/drawing/2014/main" id="{7320CB8A-F370-4D1E-9D7C-1C489729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2628900"/>
            <a:ext cx="31496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Potencial de acción compuesto: respuesta neural distal</a:t>
            </a:r>
          </a:p>
        </p:txBody>
      </p:sp>
      <p:sp>
        <p:nvSpPr>
          <p:cNvPr id="16" name="top-rail-1">
            <a:extLst xmlns:a="http://schemas.openxmlformats.org/drawingml/2006/main">
              <a:ext uri="{FF2B5EF4-FFF2-40B4-BE49-F238E27FC236}">
                <a16:creationId xmlns:a16="http://schemas.microsoft.com/office/drawing/2014/main" id="{FA460663-4B54-407A-A744-8DE64612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7" name="top-rail-2">
            <a:extLst xmlns:a="http://schemas.openxmlformats.org/drawingml/2006/main">
              <a:ext uri="{FF2B5EF4-FFF2-40B4-BE49-F238E27FC236}">
                <a16:creationId xmlns:a16="http://schemas.microsoft.com/office/drawing/2014/main" id="{E1C9031F-CD0B-40CC-B4F8-D5F0C593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8" name="top-rail-3">
            <a:extLst xmlns:a="http://schemas.openxmlformats.org/drawingml/2006/main">
              <a:ext uri="{FF2B5EF4-FFF2-40B4-BE49-F238E27FC236}">
                <a16:creationId xmlns:a16="http://schemas.microsoft.com/office/drawing/2014/main" id="{B5E9B13C-0C47-492B-B55A-174DA277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0B568478-0E0D-42D5-93FD-92CE2869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AMPLIACIÓN</a:t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198D49D-75A9-4095-A169-F7541D86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A0C38C-492A-4DFB-80C2-9DA02EAE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OEA, PEAT y ECoG registran magnitudes y generadores diferentes</a:t>
            </a:r>
          </a:p>
        </p:txBody>
      </p:sp>
      <p:sp>
        <p:nvSpPr>
          <p:cNvPr id="2" name="u08-082-oea-box">
            <a:extLst xmlns:a="http://schemas.openxmlformats.org/drawingml/2006/main">
              <a:ext uri="{FF2B5EF4-FFF2-40B4-BE49-F238E27FC236}">
                <a16:creationId xmlns:a16="http://schemas.microsoft.com/office/drawing/2014/main" id="{6C58528E-BE8A-401E-8638-5C724864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3333750" cy="34766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082-oea-title">
            <a:extLst xmlns:a="http://schemas.openxmlformats.org/drawingml/2006/main">
              <a:ext uri="{FF2B5EF4-FFF2-40B4-BE49-F238E27FC236}">
                <a16:creationId xmlns:a16="http://schemas.microsoft.com/office/drawing/2014/main" id="{C6C3FE19-EFF8-4CB4-9382-5C4D2BCA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022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OEA</a:t>
            </a:r>
          </a:p>
        </p:txBody>
      </p:sp>
      <p:sp>
        <p:nvSpPr>
          <p:cNvPr id="4" name="u08-082-oea-body">
            <a:extLst xmlns:a="http://schemas.openxmlformats.org/drawingml/2006/main">
              <a:ext uri="{FF2B5EF4-FFF2-40B4-BE49-F238E27FC236}">
                <a16:creationId xmlns:a16="http://schemas.microsoft.com/office/drawing/2014/main" id="{0B333053-C2E9-4C78-B1EE-AC5FDD3B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00275"/>
            <a:ext cx="2990850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Sensor: micrófono Magnitud: presión acústica Generador predominante: cóclea / CCE</a:t>
            </a:r>
          </a:p>
        </p:txBody>
      </p:sp>
      <p:sp>
        <p:nvSpPr>
          <p:cNvPr id="5" name="u08-082-peat-box">
            <a:extLst xmlns:a="http://schemas.openxmlformats.org/drawingml/2006/main">
              <a:ext uri="{FF2B5EF4-FFF2-40B4-BE49-F238E27FC236}">
                <a16:creationId xmlns:a16="http://schemas.microsoft.com/office/drawing/2014/main" id="{6643FC41-3E68-44EC-9300-4EBD8E95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3333750" cy="34766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u08-082-peat-title">
            <a:extLst xmlns:a="http://schemas.openxmlformats.org/drawingml/2006/main">
              <a:ext uri="{FF2B5EF4-FFF2-40B4-BE49-F238E27FC236}">
                <a16:creationId xmlns:a16="http://schemas.microsoft.com/office/drawing/2014/main" id="{16C6E407-92D9-4662-AD9C-506CCDC4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80022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PEAT</a:t>
            </a:r>
          </a:p>
        </p:txBody>
      </p:sp>
      <p:sp>
        <p:nvSpPr>
          <p:cNvPr id="7" name="u08-082-peat-body">
            <a:extLst xmlns:a="http://schemas.openxmlformats.org/drawingml/2006/main">
              <a:ext uri="{FF2B5EF4-FFF2-40B4-BE49-F238E27FC236}">
                <a16:creationId xmlns:a16="http://schemas.microsoft.com/office/drawing/2014/main" id="{CFEC317D-2144-4F87-AB9E-6722E2BB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00275"/>
            <a:ext cx="2990850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Sensor: electrodos superficiales Magnitud: V(t), en µV y ms Generador: respuesta sincronizada de la vía auditiva</a:t>
            </a:r>
          </a:p>
        </p:txBody>
      </p:sp>
      <p:sp>
        <p:nvSpPr>
          <p:cNvPr id="8" name="u08-082-ecog-box">
            <a:extLst xmlns:a="http://schemas.openxmlformats.org/drawingml/2006/main">
              <a:ext uri="{FF2B5EF4-FFF2-40B4-BE49-F238E27FC236}">
                <a16:creationId xmlns:a16="http://schemas.microsoft.com/office/drawing/2014/main" id="{41F33FF2-3B4A-4F17-9CAF-C39BA339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66875"/>
            <a:ext cx="3333750" cy="34766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u08-082-ecog-title">
            <a:extLst xmlns:a="http://schemas.openxmlformats.org/drawingml/2006/main">
              <a:ext uri="{FF2B5EF4-FFF2-40B4-BE49-F238E27FC236}">
                <a16:creationId xmlns:a16="http://schemas.microsoft.com/office/drawing/2014/main" id="{C30B78EE-EA29-4A65-B0C7-1B7D0DB2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0022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ECoG</a:t>
            </a:r>
          </a:p>
        </p:txBody>
      </p:sp>
      <p:sp>
        <p:nvSpPr>
          <p:cNvPr id="10" name="u08-082-ecog-body">
            <a:extLst xmlns:a="http://schemas.openxmlformats.org/drawingml/2006/main">
              <a:ext uri="{FF2B5EF4-FFF2-40B4-BE49-F238E27FC236}">
                <a16:creationId xmlns:a16="http://schemas.microsoft.com/office/drawing/2014/main" id="{2AE11AC7-C338-4FFC-BACC-18AD1EDB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200275"/>
            <a:ext cx="2990850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Sensor: electrodo próximo Magnitud: potencial eléctrico Generadores: cóclea y porción neural distal</a:t>
            </a:r>
          </a:p>
        </p:txBody>
      </p:sp>
      <p:sp>
        <p:nvSpPr>
          <p:cNvPr id="11" name="u08-082-limit">
            <a:extLst xmlns:a="http://schemas.openxmlformats.org/drawingml/2006/main">
              <a:ext uri="{FF2B5EF4-FFF2-40B4-BE49-F238E27FC236}">
                <a16:creationId xmlns:a16="http://schemas.microsoft.com/office/drawing/2014/main" id="{DA9EFEB2-410B-4D9F-9683-881F2452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7687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Comparten una entrada acústica; no registran la misma magnitud ni permiten la misma inferencia.</a:t>
            </a:r>
          </a:p>
        </p:txBody>
      </p:sp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88EB7BCC-B874-4251-9C5A-8581F3A3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3" name="top-rail-2">
            <a:extLst xmlns:a="http://schemas.openxmlformats.org/drawingml/2006/main">
              <a:ext uri="{FF2B5EF4-FFF2-40B4-BE49-F238E27FC236}">
                <a16:creationId xmlns:a16="http://schemas.microsoft.com/office/drawing/2014/main" id="{EA0BF808-9E3C-4C2F-978E-CB1E993E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4" name="top-rail-3">
            <a:extLst xmlns:a="http://schemas.openxmlformats.org/drawingml/2006/main">
              <a:ext uri="{FF2B5EF4-FFF2-40B4-BE49-F238E27FC236}">
                <a16:creationId xmlns:a16="http://schemas.microsoft.com/office/drawing/2014/main" id="{F65C70B2-A8E8-46A2-BA44-C32D2686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006125F4-C502-4B58-B0DE-650DFAE7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FE391AF-45C5-4894-B7EA-3F0C5518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82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74EE7F-66B5-4B8D-AD0F-3E5CC0DB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Dos resultados distintos no son necesariamente contradictorios</a:t>
            </a:r>
          </a:p>
        </p:txBody>
      </p:sp>
      <p:sp>
        <p:nvSpPr>
          <p:cNvPr id="2" name="U08-083-question-box">
            <a:extLst xmlns:a="http://schemas.openxmlformats.org/drawingml/2006/main">
              <a:ext uri="{FF2B5EF4-FFF2-40B4-BE49-F238E27FC236}">
                <a16:creationId xmlns:a16="http://schemas.microsoft.com/office/drawing/2014/main" id="{FCE4A726-4691-4C5A-B143-C16440AD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6572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8-083-question-title">
            <a:extLst xmlns:a="http://schemas.openxmlformats.org/drawingml/2006/main">
              <a:ext uri="{FF2B5EF4-FFF2-40B4-BE49-F238E27FC236}">
                <a16:creationId xmlns:a16="http://schemas.microsoft.com/office/drawing/2014/main" id="{9D30E046-2E1A-4DFF-9CD2-8F14B71B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04975"/>
            <a:ext cx="622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U08-083-question-body">
            <a:extLst xmlns:a="http://schemas.openxmlformats.org/drawingml/2006/main">
              <a:ext uri="{FF2B5EF4-FFF2-40B4-BE49-F238E27FC236}">
                <a16:creationId xmlns:a16="http://schemas.microsoft.com/office/drawing/2014/main" id="{B8516C89-135F-4451-8694-C806D88D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05025"/>
            <a:ext cx="62293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OEA ausente y PEAT presente: proponga dos preguntas antes de hablar de contradicción. Justifique con la magnitud, la unidad y el límite de la conclusión.</a:t>
            </a:r>
          </a:p>
        </p:txBody>
      </p:sp>
      <p:sp>
        <p:nvSpPr>
          <p:cNvPr id="5" name="U08-083-guide-1-box">
            <a:extLst xmlns:a="http://schemas.openxmlformats.org/drawingml/2006/main">
              <a:ext uri="{FF2B5EF4-FFF2-40B4-BE49-F238E27FC236}">
                <a16:creationId xmlns:a16="http://schemas.microsoft.com/office/drawing/2014/main" id="{341E9C8B-7BA4-4580-A035-2554175D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716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U08-083-guide-1-title">
            <a:extLst xmlns:a="http://schemas.openxmlformats.org/drawingml/2006/main">
              <a:ext uri="{FF2B5EF4-FFF2-40B4-BE49-F238E27FC236}">
                <a16:creationId xmlns:a16="http://schemas.microsoft.com/office/drawing/2014/main" id="{B7A0D9B7-C117-4677-9EB7-7E1A7D4A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049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U08-083-guide-1-body">
            <a:extLst xmlns:a="http://schemas.openxmlformats.org/drawingml/2006/main">
              <a:ext uri="{FF2B5EF4-FFF2-40B4-BE49-F238E27FC236}">
                <a16:creationId xmlns:a16="http://schemas.microsoft.com/office/drawing/2014/main" id="{F14AAFC1-9348-401A-8BEF-6DA18444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050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Compare magnitudes</a:t>
            </a:r>
          </a:p>
        </p:txBody>
      </p:sp>
      <p:sp>
        <p:nvSpPr>
          <p:cNvPr id="8" name="U08-083-guide-2-box">
            <a:extLst xmlns:a="http://schemas.openxmlformats.org/drawingml/2006/main">
              <a:ext uri="{FF2B5EF4-FFF2-40B4-BE49-F238E27FC236}">
                <a16:creationId xmlns:a16="http://schemas.microsoft.com/office/drawing/2014/main" id="{2D21ADA4-529C-4008-A231-DD7A65C3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908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U08-083-guide-2-title">
            <a:extLst xmlns:a="http://schemas.openxmlformats.org/drawingml/2006/main">
              <a:ext uri="{FF2B5EF4-FFF2-40B4-BE49-F238E27FC236}">
                <a16:creationId xmlns:a16="http://schemas.microsoft.com/office/drawing/2014/main" id="{0A9722C1-B524-491E-81FD-8DDAD284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241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U08-083-guide-2-body">
            <a:extLst xmlns:a="http://schemas.openxmlformats.org/drawingml/2006/main">
              <a:ext uri="{FF2B5EF4-FFF2-40B4-BE49-F238E27FC236}">
                <a16:creationId xmlns:a16="http://schemas.microsoft.com/office/drawing/2014/main" id="{EBBAC932-374E-4277-930F-4866782C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242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Revise sensores y condiciones</a:t>
            </a:r>
          </a:p>
        </p:txBody>
      </p:sp>
      <p:sp>
        <p:nvSpPr>
          <p:cNvPr id="11" name="U08-083-guide-3-box">
            <a:extLst xmlns:a="http://schemas.openxmlformats.org/drawingml/2006/main">
              <a:ext uri="{FF2B5EF4-FFF2-40B4-BE49-F238E27FC236}">
                <a16:creationId xmlns:a16="http://schemas.microsoft.com/office/drawing/2014/main" id="{329B88B0-0448-4936-9697-F46BAB84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100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2" name="U08-083-guide-3-title">
            <a:extLst xmlns:a="http://schemas.openxmlformats.org/drawingml/2006/main">
              <a:ext uri="{FF2B5EF4-FFF2-40B4-BE49-F238E27FC236}">
                <a16:creationId xmlns:a16="http://schemas.microsoft.com/office/drawing/2014/main" id="{030B2B23-A9EF-42C5-8267-44332A67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433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U08-083-guide-3-body">
            <a:extLst xmlns:a="http://schemas.openxmlformats.org/drawingml/2006/main">
              <a:ext uri="{FF2B5EF4-FFF2-40B4-BE49-F238E27FC236}">
                <a16:creationId xmlns:a16="http://schemas.microsoft.com/office/drawing/2014/main" id="{6F991D45-4655-4770-BB7F-FAFEE8F3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434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Proponga una pregunta nueva</a:t>
            </a:r>
          </a:p>
        </p:txBody>
      </p:sp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AA89E7AD-D5CE-4C0E-AF81-1D15844B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 xmlns:a="http://schemas.openxmlformats.org/drawingml/2006/main">
              <a:ext uri="{FF2B5EF4-FFF2-40B4-BE49-F238E27FC236}">
                <a16:creationId xmlns:a16="http://schemas.microsoft.com/office/drawing/2014/main" id="{8B4E8BB8-297A-48D0-9005-6094A609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 xmlns:a="http://schemas.openxmlformats.org/drawingml/2006/main">
              <a:ext uri="{FF2B5EF4-FFF2-40B4-BE49-F238E27FC236}">
                <a16:creationId xmlns:a16="http://schemas.microsoft.com/office/drawing/2014/main" id="{29A591A6-10BC-4914-BDAD-DB76D5DF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E9016B19-B18C-46B8-AE2B-ECE459FB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40DD385-5B77-48FB-9517-C2BA00D6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E6BF2333-D00B-4371-8D08-21A8FBBA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04F772BC-DE6C-4E6B-84EF-F378FAA4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¿Cómo cambia la naturaleza física de la señal en cada dispositivo?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1B1F0EA7-B373-4119-AD91-F1E49902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 del bloque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7D14D69-A541-44D6-B22E-468C8095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A31ED9-72AA-44B4-A72C-86860389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Entrada, procesamiento, salida y acoplamiento permiten comparar dispositivos</a:t>
            </a:r>
          </a:p>
        </p:txBody>
      </p:sp>
      <p:sp>
        <p:nvSpPr>
          <p:cNvPr id="2" name="u08-085-device-chain-anchor-1">
            <a:extLst xmlns:a="http://schemas.openxmlformats.org/drawingml/2006/main">
              <a:ext uri="{FF2B5EF4-FFF2-40B4-BE49-F238E27FC236}">
                <a16:creationId xmlns:a16="http://schemas.microsoft.com/office/drawing/2014/main" id="{00BF4CC7-E30D-46CB-B730-190A8B6F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122170" cy="2238375"/>
          </a:xfrm>
          <a:prstGeom xmlns:a="http://schemas.openxmlformats.org/drawingml/2006/main" prst="roundRect">
            <a:avLst>
              <a:gd name="adj" fmla="val 53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u08-085-device-chain-anchor-2">
            <a:extLst xmlns:a="http://schemas.openxmlformats.org/drawingml/2006/main">
              <a:ext uri="{FF2B5EF4-FFF2-40B4-BE49-F238E27FC236}">
                <a16:creationId xmlns:a16="http://schemas.microsoft.com/office/drawing/2014/main" id="{68F60DD2-8545-4704-9CC0-E702496B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395" y="1952625"/>
            <a:ext cx="2122170" cy="2238375"/>
          </a:xfrm>
          <a:prstGeom xmlns:a="http://schemas.openxmlformats.org/drawingml/2006/main" prst="roundRect">
            <a:avLst>
              <a:gd name="adj" fmla="val 53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u08-085-device-chain-anchor-3">
            <a:extLst xmlns:a="http://schemas.openxmlformats.org/drawingml/2006/main">
              <a:ext uri="{FF2B5EF4-FFF2-40B4-BE49-F238E27FC236}">
                <a16:creationId xmlns:a16="http://schemas.microsoft.com/office/drawing/2014/main" id="{B9D38031-EFFA-469A-887D-E253BB5C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1952625"/>
            <a:ext cx="2122170" cy="2238375"/>
          </a:xfrm>
          <a:prstGeom xmlns:a="http://schemas.openxmlformats.org/drawingml/2006/main" prst="roundRect">
            <a:avLst>
              <a:gd name="adj" fmla="val 53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u08-085-device-chain-anchor-4">
            <a:extLst xmlns:a="http://schemas.openxmlformats.org/drawingml/2006/main">
              <a:ext uri="{FF2B5EF4-FFF2-40B4-BE49-F238E27FC236}">
                <a16:creationId xmlns:a16="http://schemas.microsoft.com/office/drawing/2014/main" id="{68812AAB-CF14-47D4-BD68-94E19A4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435" y="1952625"/>
            <a:ext cx="2122170" cy="2238375"/>
          </a:xfrm>
          <a:prstGeom xmlns:a="http://schemas.openxmlformats.org/drawingml/2006/main" prst="roundRect">
            <a:avLst>
              <a:gd name="adj" fmla="val 53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u08-085-device-chain-anchor-5">
            <a:extLst xmlns:a="http://schemas.openxmlformats.org/drawingml/2006/main">
              <a:ext uri="{FF2B5EF4-FFF2-40B4-BE49-F238E27FC236}">
                <a16:creationId xmlns:a16="http://schemas.microsoft.com/office/drawing/2014/main" id="{9C035197-08A9-40EB-B487-0EE4E5C2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955" y="1952625"/>
            <a:ext cx="2122170" cy="2238375"/>
          </a:xfrm>
          <a:prstGeom xmlns:a="http://schemas.openxmlformats.org/drawingml/2006/main" prst="roundRect">
            <a:avLst>
              <a:gd name="adj" fmla="val 53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646045" y="3071813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901565" y="3071813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157085" y="3071813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412605" y="3071813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1" name="u08-085-device-chain-1-box">
            <a:extLst xmlns:a="http://schemas.openxmlformats.org/drawingml/2006/main">
              <a:ext uri="{FF2B5EF4-FFF2-40B4-BE49-F238E27FC236}">
                <a16:creationId xmlns:a16="http://schemas.microsoft.com/office/drawing/2014/main" id="{5C6C6E0D-6777-40E8-9FDE-5EA419E2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122170" cy="2238375"/>
          </a:xfrm>
          <a:prstGeom xmlns:a="http://schemas.openxmlformats.org/drawingml/2006/main" prst="roundRect">
            <a:avLst>
              <a:gd name="adj" fmla="val 538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2" name="u08-085-device-chain-1-title">
            <a:extLst xmlns:a="http://schemas.openxmlformats.org/drawingml/2006/main">
              <a:ext uri="{FF2B5EF4-FFF2-40B4-BE49-F238E27FC236}">
                <a16:creationId xmlns:a16="http://schemas.microsoft.com/office/drawing/2014/main" id="{3AFD7A4D-80B2-4C95-9D70-C59507A2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85975"/>
            <a:ext cx="17792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13" name="u08-085-device-chain-1-body">
            <a:extLst xmlns:a="http://schemas.openxmlformats.org/drawingml/2006/main">
              <a:ext uri="{FF2B5EF4-FFF2-40B4-BE49-F238E27FC236}">
                <a16:creationId xmlns:a16="http://schemas.microsoft.com/office/drawing/2014/main" id="{6B748B00-3F29-4680-AC84-41435AF7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86025"/>
            <a:ext cx="177927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que recibe</a:t>
            </a:r>
          </a:p>
        </p:txBody>
      </p:sp>
      <p:sp>
        <p:nvSpPr>
          <p:cNvPr id="14" name="u08-085-device-chain-2-box">
            <a:extLst xmlns:a="http://schemas.openxmlformats.org/drawingml/2006/main">
              <a:ext uri="{FF2B5EF4-FFF2-40B4-BE49-F238E27FC236}">
                <a16:creationId xmlns:a16="http://schemas.microsoft.com/office/drawing/2014/main" id="{B87EEB27-971B-4609-A100-CCE47957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395" y="1952625"/>
            <a:ext cx="2122170" cy="2238375"/>
          </a:xfrm>
          <a:prstGeom xmlns:a="http://schemas.openxmlformats.org/drawingml/2006/main" prst="roundRect">
            <a:avLst>
              <a:gd name="adj" fmla="val 538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5" name="u08-085-device-chain-2-title">
            <a:extLst xmlns:a="http://schemas.openxmlformats.org/drawingml/2006/main">
              <a:ext uri="{FF2B5EF4-FFF2-40B4-BE49-F238E27FC236}">
                <a16:creationId xmlns:a16="http://schemas.microsoft.com/office/drawing/2014/main" id="{91CF8C0D-24C2-48BB-9658-118958F8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845" y="2085975"/>
            <a:ext cx="17792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Procesamiento</a:t>
            </a:r>
          </a:p>
        </p:txBody>
      </p:sp>
      <p:sp>
        <p:nvSpPr>
          <p:cNvPr id="16" name="u08-085-device-chain-2-body">
            <a:extLst xmlns:a="http://schemas.openxmlformats.org/drawingml/2006/main">
              <a:ext uri="{FF2B5EF4-FFF2-40B4-BE49-F238E27FC236}">
                <a16:creationId xmlns:a16="http://schemas.microsoft.com/office/drawing/2014/main" id="{05972E90-AD88-46F2-A094-37528561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845" y="2486025"/>
            <a:ext cx="177927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Transduce y modifica</a:t>
            </a:r>
          </a:p>
        </p:txBody>
      </p:sp>
      <p:sp>
        <p:nvSpPr>
          <p:cNvPr id="17" name="u08-085-device-chain-3-box">
            <a:extLst xmlns:a="http://schemas.openxmlformats.org/drawingml/2006/main">
              <a:ext uri="{FF2B5EF4-FFF2-40B4-BE49-F238E27FC236}">
                <a16:creationId xmlns:a16="http://schemas.microsoft.com/office/drawing/2014/main" id="{7C95EAB7-9BCE-4D0E-BBE7-4423FB81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1952625"/>
            <a:ext cx="2122170" cy="2238375"/>
          </a:xfrm>
          <a:prstGeom xmlns:a="http://schemas.openxmlformats.org/drawingml/2006/main" prst="roundRect">
            <a:avLst>
              <a:gd name="adj" fmla="val 538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8" name="u08-085-device-chain-3-title">
            <a:extLst xmlns:a="http://schemas.openxmlformats.org/drawingml/2006/main">
              <a:ext uri="{FF2B5EF4-FFF2-40B4-BE49-F238E27FC236}">
                <a16:creationId xmlns:a16="http://schemas.microsoft.com/office/drawing/2014/main" id="{63F80011-0ABA-4FD6-AFC1-9CAC2DFA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365" y="2085975"/>
            <a:ext cx="17792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Salida</a:t>
            </a:r>
          </a:p>
        </p:txBody>
      </p:sp>
      <p:sp>
        <p:nvSpPr>
          <p:cNvPr id="19" name="u08-085-device-chain-3-body">
            <a:extLst xmlns:a="http://schemas.openxmlformats.org/drawingml/2006/main">
              <a:ext uri="{FF2B5EF4-FFF2-40B4-BE49-F238E27FC236}">
                <a16:creationId xmlns:a16="http://schemas.microsoft.com/office/drawing/2014/main" id="{119FD1D6-DF31-45B8-B4B4-EB1A5F1C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365" y="2486025"/>
            <a:ext cx="177927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Acústica, eléctrica o mecánica</a:t>
            </a:r>
          </a:p>
        </p:txBody>
      </p:sp>
      <p:sp>
        <p:nvSpPr>
          <p:cNvPr id="20" name="u08-085-device-chain-4-box">
            <a:extLst xmlns:a="http://schemas.openxmlformats.org/drawingml/2006/main">
              <a:ext uri="{FF2B5EF4-FFF2-40B4-BE49-F238E27FC236}">
                <a16:creationId xmlns:a16="http://schemas.microsoft.com/office/drawing/2014/main" id="{6746BF7C-F1CB-4FCB-A3C8-CBC5FB55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435" y="1952625"/>
            <a:ext cx="2122170" cy="2238375"/>
          </a:xfrm>
          <a:prstGeom xmlns:a="http://schemas.openxmlformats.org/drawingml/2006/main" prst="roundRect">
            <a:avLst>
              <a:gd name="adj" fmla="val 538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21" name="u08-085-device-chain-4-title">
            <a:extLst xmlns:a="http://schemas.openxmlformats.org/drawingml/2006/main">
              <a:ext uri="{FF2B5EF4-FFF2-40B4-BE49-F238E27FC236}">
                <a16:creationId xmlns:a16="http://schemas.microsoft.com/office/drawing/2014/main" id="{40EAB297-30CA-4E85-B5C0-FBAB0E33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885" y="2085975"/>
            <a:ext cx="17792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Acoplamiento</a:t>
            </a:r>
          </a:p>
        </p:txBody>
      </p:sp>
      <p:sp>
        <p:nvSpPr>
          <p:cNvPr id="22" name="u08-085-device-chain-4-body">
            <a:extLst xmlns:a="http://schemas.openxmlformats.org/drawingml/2006/main">
              <a:ext uri="{FF2B5EF4-FFF2-40B4-BE49-F238E27FC236}">
                <a16:creationId xmlns:a16="http://schemas.microsoft.com/office/drawing/2014/main" id="{C001EF20-B305-45FB-8152-A99C3C80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885" y="2486025"/>
            <a:ext cx="177927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Punto de entrega</a:t>
            </a:r>
          </a:p>
        </p:txBody>
      </p:sp>
      <p:sp>
        <p:nvSpPr>
          <p:cNvPr id="23" name="u08-085-device-chain-5-box">
            <a:extLst xmlns:a="http://schemas.openxmlformats.org/drawingml/2006/main">
              <a:ext uri="{FF2B5EF4-FFF2-40B4-BE49-F238E27FC236}">
                <a16:creationId xmlns:a16="http://schemas.microsoft.com/office/drawing/2014/main" id="{C2906C0B-5917-46C4-AAAC-4F445F88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955" y="1952625"/>
            <a:ext cx="2122170" cy="2238375"/>
          </a:xfrm>
          <a:prstGeom xmlns:a="http://schemas.openxmlformats.org/drawingml/2006/main" prst="roundRect">
            <a:avLst>
              <a:gd name="adj" fmla="val 538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24" name="u08-085-device-chain-5-title">
            <a:extLst xmlns:a="http://schemas.openxmlformats.org/drawingml/2006/main">
              <a:ext uri="{FF2B5EF4-FFF2-40B4-BE49-F238E27FC236}">
                <a16:creationId xmlns:a16="http://schemas.microsoft.com/office/drawing/2014/main" id="{92794540-5FA5-4B94-888D-4F91C9F3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05" y="2085975"/>
            <a:ext cx="17792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Evaluación</a:t>
            </a:r>
          </a:p>
        </p:txBody>
      </p:sp>
      <p:sp>
        <p:nvSpPr>
          <p:cNvPr id="25" name="u08-085-device-chain-5-body">
            <a:extLst xmlns:a="http://schemas.openxmlformats.org/drawingml/2006/main">
              <a:ext uri="{FF2B5EF4-FFF2-40B4-BE49-F238E27FC236}">
                <a16:creationId xmlns:a16="http://schemas.microsoft.com/office/drawing/2014/main" id="{EF40D38E-E739-4FA0-8FAB-99351997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05" y="2486025"/>
            <a:ext cx="177927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 funcional</a:t>
            </a:r>
          </a:p>
        </p:txBody>
      </p:sp>
      <p:sp>
        <p:nvSpPr>
          <p:cNvPr id="26" name="u08-085-limit-box">
            <a:extLst xmlns:a="http://schemas.openxmlformats.org/drawingml/2006/main">
              <a:ext uri="{FF2B5EF4-FFF2-40B4-BE49-F238E27FC236}">
                <a16:creationId xmlns:a16="http://schemas.microsoft.com/office/drawing/2014/main" id="{3F14DA68-2EEE-4AE5-9A37-1F55832C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19625"/>
            <a:ext cx="8858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27" name="u08-085-limit-title">
            <a:extLst xmlns:a="http://schemas.openxmlformats.org/drawingml/2006/main">
              <a:ext uri="{FF2B5EF4-FFF2-40B4-BE49-F238E27FC236}">
                <a16:creationId xmlns:a16="http://schemas.microsoft.com/office/drawing/2014/main" id="{D8F02D26-3F90-4DDC-978A-3EE1C990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752975"/>
            <a:ext cx="851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Límite de la comparación</a:t>
            </a:r>
          </a:p>
        </p:txBody>
      </p:sp>
      <p:sp>
        <p:nvSpPr>
          <p:cNvPr id="28" name="u08-085-limit-body">
            <a:extLst xmlns:a="http://schemas.openxmlformats.org/drawingml/2006/main">
              <a:ext uri="{FF2B5EF4-FFF2-40B4-BE49-F238E27FC236}">
                <a16:creationId xmlns:a16="http://schemas.microsoft.com/office/drawing/2014/main" id="{383D2D29-A837-4C29-BCF2-20B986AB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153025"/>
            <a:ext cx="8515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cadena técnica describe cómo actúa el dispositivo; no garantiza beneficio comunicativo ni reemplaza la evaluación clínica.</a:t>
            </a:r>
          </a:p>
        </p:txBody>
      </p:sp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41A7E4C2-8996-495C-9930-8D8B256D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30" name="top-rail-2">
            <a:extLst xmlns:a="http://schemas.openxmlformats.org/drawingml/2006/main">
              <a:ext uri="{FF2B5EF4-FFF2-40B4-BE49-F238E27FC236}">
                <a16:creationId xmlns:a16="http://schemas.microsoft.com/office/drawing/2014/main" id="{DD7C0CCF-3B2B-4C87-A7D6-688C6F24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31" name="top-rail-3">
            <a:extLst xmlns:a="http://schemas.openxmlformats.org/drawingml/2006/main">
              <a:ext uri="{FF2B5EF4-FFF2-40B4-BE49-F238E27FC236}">
                <a16:creationId xmlns:a16="http://schemas.microsoft.com/office/drawing/2014/main" id="{3D14BD56-C782-4735-AF7A-5D846A1E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32" name="eyebrow">
            <a:extLst xmlns:a="http://schemas.openxmlformats.org/drawingml/2006/main">
              <a:ext uri="{FF2B5EF4-FFF2-40B4-BE49-F238E27FC236}">
                <a16:creationId xmlns:a16="http://schemas.microsoft.com/office/drawing/2014/main" id="{E59F4B41-4F77-48A7-BD8B-1848D505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3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3593463-966A-42F7-A383-1EFF4F8B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67E24C-7ACD-4609-93AA-CE1077B8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audífono vuelve a producir presión acústica cerca del oído</a:t>
            </a:r>
          </a:p>
        </p:txBody>
      </p:sp>
      <p:sp>
        <p:nvSpPr>
          <p:cNvPr id="2" name="U08-086-process-anchor-1">
            <a:extLst xmlns:a="http://schemas.openxmlformats.org/drawingml/2006/main">
              <a:ext uri="{FF2B5EF4-FFF2-40B4-BE49-F238E27FC236}">
                <a16:creationId xmlns:a16="http://schemas.microsoft.com/office/drawing/2014/main" id="{2EE08A10-4CED-4F82-9585-B7ABD60A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U08-086-process-anchor-2">
            <a:extLst xmlns:a="http://schemas.openxmlformats.org/drawingml/2006/main">
              <a:ext uri="{FF2B5EF4-FFF2-40B4-BE49-F238E27FC236}">
                <a16:creationId xmlns:a16="http://schemas.microsoft.com/office/drawing/2014/main" id="{3914BD91-37A4-400D-89AF-EEA495F0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88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U08-086-process-anchor-3">
            <a:extLst xmlns:a="http://schemas.openxmlformats.org/drawingml/2006/main">
              <a:ext uri="{FF2B5EF4-FFF2-40B4-BE49-F238E27FC236}">
                <a16:creationId xmlns:a16="http://schemas.microsoft.com/office/drawing/2014/main" id="{B8C2B238-88B1-470F-8A0C-9A50D648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U08-086-process-anchor-4">
            <a:extLst xmlns:a="http://schemas.openxmlformats.org/drawingml/2006/main">
              <a:ext uri="{FF2B5EF4-FFF2-40B4-BE49-F238E27FC236}">
                <a16:creationId xmlns:a16="http://schemas.microsoft.com/office/drawing/2014/main" id="{3859D748-B1CF-40A0-A0F0-0A6CCFE5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138488" y="3095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981701" y="3095625"/>
            <a:ext cx="228599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824913" y="3095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9" name="U08-086-process-1-box">
            <a:extLst xmlns:a="http://schemas.openxmlformats.org/drawingml/2006/main">
              <a:ext uri="{FF2B5EF4-FFF2-40B4-BE49-F238E27FC236}">
                <a16:creationId xmlns:a16="http://schemas.microsoft.com/office/drawing/2014/main" id="{2303D5C7-2E39-4D03-AD36-0F3CDBCB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U08-086-process-1-title">
            <a:extLst xmlns:a="http://schemas.openxmlformats.org/drawingml/2006/main">
              <a:ext uri="{FF2B5EF4-FFF2-40B4-BE49-F238E27FC236}">
                <a16:creationId xmlns:a16="http://schemas.microsoft.com/office/drawing/2014/main" id="{6E6A92FE-08BB-4E30-8F40-61FD7F7B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28850"/>
            <a:ext cx="22717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U08-086-process-1-body">
            <a:extLst xmlns:a="http://schemas.openxmlformats.org/drawingml/2006/main">
              <a:ext uri="{FF2B5EF4-FFF2-40B4-BE49-F238E27FC236}">
                <a16:creationId xmlns:a16="http://schemas.microsoft.com/office/drawing/2014/main" id="{D72818AA-ECD9-4752-8895-BA4DC698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28900"/>
            <a:ext cx="2271713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Entrada: presión acústica cerca del micrófono (Pa o dB SPL).</a:t>
            </a:r>
          </a:p>
        </p:txBody>
      </p:sp>
      <p:sp>
        <p:nvSpPr>
          <p:cNvPr id="12" name="U08-086-process-2-box">
            <a:extLst xmlns:a="http://schemas.openxmlformats.org/drawingml/2006/main">
              <a:ext uri="{FF2B5EF4-FFF2-40B4-BE49-F238E27FC236}">
                <a16:creationId xmlns:a16="http://schemas.microsoft.com/office/drawing/2014/main" id="{9D4B50C6-DB47-420C-AC2A-EE18A3D6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88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3" name="U08-086-process-2-title">
            <a:extLst xmlns:a="http://schemas.openxmlformats.org/drawingml/2006/main">
              <a:ext uri="{FF2B5EF4-FFF2-40B4-BE49-F238E27FC236}">
                <a16:creationId xmlns:a16="http://schemas.microsoft.com/office/drawing/2014/main" id="{0DCDE694-AE26-4BD2-A304-C1B13EF9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2228850"/>
            <a:ext cx="22717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U08-086-process-2-body">
            <a:extLst xmlns:a="http://schemas.openxmlformats.org/drawingml/2006/main">
              <a:ext uri="{FF2B5EF4-FFF2-40B4-BE49-F238E27FC236}">
                <a16:creationId xmlns:a16="http://schemas.microsoft.com/office/drawing/2014/main" id="{234417A6-4F18-475B-9BB5-0618F7A8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2628900"/>
            <a:ext cx="2271713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Procesamiento: depende de frecuencia f, nivel y tiempo.</a:t>
            </a:r>
          </a:p>
        </p:txBody>
      </p:sp>
      <p:sp>
        <p:nvSpPr>
          <p:cNvPr id="15" name="U08-086-process-3-box">
            <a:extLst xmlns:a="http://schemas.openxmlformats.org/drawingml/2006/main">
              <a:ext uri="{FF2B5EF4-FFF2-40B4-BE49-F238E27FC236}">
                <a16:creationId xmlns:a16="http://schemas.microsoft.com/office/drawing/2014/main" id="{11FEDD48-FDCE-4D9A-BAD5-FAE3CA7A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6" name="U08-086-process-3-title">
            <a:extLst xmlns:a="http://schemas.openxmlformats.org/drawingml/2006/main">
              <a:ext uri="{FF2B5EF4-FFF2-40B4-BE49-F238E27FC236}">
                <a16:creationId xmlns:a16="http://schemas.microsoft.com/office/drawing/2014/main" id="{7017F9E5-1BB2-40B2-8D80-6EF449CD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28850"/>
            <a:ext cx="22717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" name="U08-086-process-3-body">
            <a:extLst xmlns:a="http://schemas.openxmlformats.org/drawingml/2006/main">
              <a:ext uri="{FF2B5EF4-FFF2-40B4-BE49-F238E27FC236}">
                <a16:creationId xmlns:a16="http://schemas.microsoft.com/office/drawing/2014/main" id="{8328DFEF-70E0-4CC2-99D1-940E005D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2271713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Receptor: convierte la señal procesada en salida acústica.</a:t>
            </a:r>
          </a:p>
        </p:txBody>
      </p:sp>
      <p:sp>
        <p:nvSpPr>
          <p:cNvPr id="18" name="U08-086-process-4-box">
            <a:extLst xmlns:a="http://schemas.openxmlformats.org/drawingml/2006/main">
              <a:ext uri="{FF2B5EF4-FFF2-40B4-BE49-F238E27FC236}">
                <a16:creationId xmlns:a16="http://schemas.microsoft.com/office/drawing/2014/main" id="{8C00239B-126D-44C3-9230-47A8272B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9" name="U08-086-process-4-title">
            <a:extLst xmlns:a="http://schemas.openxmlformats.org/drawingml/2006/main">
              <a:ext uri="{FF2B5EF4-FFF2-40B4-BE49-F238E27FC236}">
                <a16:creationId xmlns:a16="http://schemas.microsoft.com/office/drawing/2014/main" id="{26BDAE97-CECB-4232-A71A-F5D5C69C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2228850"/>
            <a:ext cx="22717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0" name="U08-086-process-4-body">
            <a:extLst xmlns:a="http://schemas.openxmlformats.org/drawingml/2006/main">
              <a:ext uri="{FF2B5EF4-FFF2-40B4-BE49-F238E27FC236}">
                <a16:creationId xmlns:a16="http://schemas.microsoft.com/office/drawing/2014/main" id="{7D37C9AF-C6EB-4948-8E44-8ADF476D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2628900"/>
            <a:ext cx="2271713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presión entregada cerca del oído no equivale automáticamente a comprensión.</a:t>
            </a:r>
          </a:p>
        </p:txBody>
      </p:sp>
      <p:sp>
        <p:nvSpPr>
          <p:cNvPr id="21" name="top-rail-1">
            <a:extLst xmlns:a="http://schemas.openxmlformats.org/drawingml/2006/main">
              <a:ext uri="{FF2B5EF4-FFF2-40B4-BE49-F238E27FC236}">
                <a16:creationId xmlns:a16="http://schemas.microsoft.com/office/drawing/2014/main" id="{BF090675-D27D-4756-BEE6-40AE461C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CB5C26A-3C52-4894-8BF8-F69E504B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873CCB4-87C7-4BCC-A9BD-B53FFF91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C9FFFB82-BB81-49A1-A971-C1F765EF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2B325E6-3D73-4924-9FBB-82ABD8A1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E7A3CE-C66A-4D58-B343-600C97D2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G(f) compara salida y entrada en la misma escala</a:t>
            </a:r>
          </a:p>
        </p:txBody>
      </p:sp>
      <p:sp>
        <p:nvSpPr>
          <p:cNvPr id="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BA179F7F-0730-40CC-AD37-F886C345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33550"/>
            <a:ext cx="962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3" name="equation">
            <a:extLst xmlns:a="http://schemas.openxmlformats.org/drawingml/2006/main">
              <a:ext uri="{FF2B5EF4-FFF2-40B4-BE49-F238E27FC236}">
                <a16:creationId xmlns:a16="http://schemas.microsoft.com/office/drawing/2014/main" id="{99A79FCD-47FE-4AA7-A59C-F59DF39E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847850"/>
            <a:ext cx="9163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G(f) = L_salida(f) − L_entrada(f)</a:t>
            </a:r>
          </a:p>
        </p:txBody>
      </p:sp>
      <p:sp>
        <p:nvSpPr>
          <p:cNvPr id="4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C384C2B0-DAEB-4026-85F5-B9446C01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07A81070-CCAD-40CF-AEDE-863AFD3C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6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5CDCA534-0761-42FD-BAC6-EE3A8471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 y salida en dB SPL bajo la misma condición permiten una diferencia en dB.</a:t>
            </a:r>
          </a:p>
        </p:txBody>
      </p:sp>
      <p:sp>
        <p:nvSpPr>
          <p:cNvPr id="7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90F0127A-107B-446A-B0B3-6F69383B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F0AD04C2-27E1-4BB6-A209-22D48C58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9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A49FDB04-F88A-49AA-A73C-A6EAE3B1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 y salida sólo pueden restarse si comparten referencia y condición de medida. La ganancia no equivale a beneficio comunicativo.</a:t>
            </a:r>
          </a:p>
        </p:txBody>
      </p:sp>
      <p:sp>
        <p:nvSpPr>
          <p:cNvPr id="10" name="top-rail-1">
            <a:extLst xmlns:a="http://schemas.openxmlformats.org/drawingml/2006/main">
              <a:ext uri="{FF2B5EF4-FFF2-40B4-BE49-F238E27FC236}">
                <a16:creationId xmlns:a16="http://schemas.microsoft.com/office/drawing/2014/main" id="{D89ADD20-FDAD-47A4-935C-16E10A0D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 xmlns:a="http://schemas.openxmlformats.org/drawingml/2006/main">
              <a:ext uri="{FF2B5EF4-FFF2-40B4-BE49-F238E27FC236}">
                <a16:creationId xmlns:a16="http://schemas.microsoft.com/office/drawing/2014/main" id="{D083A23F-1234-4630-A316-1906BE90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 xmlns:a="http://schemas.openxmlformats.org/drawingml/2006/main">
              <a:ext uri="{FF2B5EF4-FFF2-40B4-BE49-F238E27FC236}">
                <a16:creationId xmlns:a16="http://schemas.microsoft.com/office/drawing/2014/main" id="{3F1F8845-9201-4895-A9E1-623A2203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AB7C7C06-E88B-40F1-9817-577ADA35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7DE8E00-B6D3-4DF1-B705-1686F691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87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6AE726-8E1D-47CF-AC9B-21521EE3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 2000 Hz, la ganancia del ejemplo es 18 dB</a:t>
            </a:r>
          </a:p>
        </p:txBody>
      </p:sp>
      <p:sp>
        <p:nvSpPr>
          <p:cNvPr id="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8F2CA49A-7120-4AC7-A16B-9BE8ACEE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33550"/>
            <a:ext cx="962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3" name="equation">
            <a:extLst xmlns:a="http://schemas.openxmlformats.org/drawingml/2006/main">
              <a:ext uri="{FF2B5EF4-FFF2-40B4-BE49-F238E27FC236}">
                <a16:creationId xmlns:a16="http://schemas.microsoft.com/office/drawing/2014/main" id="{32310C14-C05C-4AAA-BB86-BF104DDD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847850"/>
            <a:ext cx="9163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G(2000 Hz) = 70 dB SPL − 52 dB SPL = 18 dB</a:t>
            </a:r>
          </a:p>
        </p:txBody>
      </p:sp>
      <p:sp>
        <p:nvSpPr>
          <p:cNvPr id="4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3A786523-E3ED-4CD1-9F13-B02FA808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F9F006D3-3925-4193-950C-E9FE7B45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6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E8D46209-3237-40B1-AD1F-145239EA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70 dB SPL - 52 dB SPL = 18 dB el dato no informa comprensión ni comodidad. Datos compatibilidad resta resultado pregunta abierta</a:t>
            </a:r>
          </a:p>
        </p:txBody>
      </p:sp>
      <p:sp>
        <p:nvSpPr>
          <p:cNvPr id="7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7EE17C3B-C253-4052-8D14-7464F4AE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90093D03-8E6E-4D96-B152-3B3E92DB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9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4B687C63-C8D2-40C6-A540-94BA6A8B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G(2000 Hz) = 70 dB SPL − 52 dB SPL = 18 dB. Interpretar el resultado por separado del cálculo.</a:t>
            </a:r>
          </a:p>
        </p:txBody>
      </p:sp>
      <p:sp>
        <p:nvSpPr>
          <p:cNvPr id="10" name="top-rail-1">
            <a:extLst xmlns:a="http://schemas.openxmlformats.org/drawingml/2006/main">
              <a:ext uri="{FF2B5EF4-FFF2-40B4-BE49-F238E27FC236}">
                <a16:creationId xmlns:a16="http://schemas.microsoft.com/office/drawing/2014/main" id="{A69E33B0-A507-400A-9DCF-F58AF539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 xmlns:a="http://schemas.openxmlformats.org/drawingml/2006/main">
              <a:ext uri="{FF2B5EF4-FFF2-40B4-BE49-F238E27FC236}">
                <a16:creationId xmlns:a16="http://schemas.microsoft.com/office/drawing/2014/main" id="{EDD97AA5-AFA0-4C85-8F15-A58AEDE5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 xmlns:a="http://schemas.openxmlformats.org/drawingml/2006/main">
              <a:ext uri="{FF2B5EF4-FFF2-40B4-BE49-F238E27FC236}">
                <a16:creationId xmlns:a16="http://schemas.microsoft.com/office/drawing/2014/main" id="{6196E92C-08A0-4FD4-8B08-DF7655DE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D94377F4-7A6A-4FEE-B958-01889FF2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A43D0E0-3151-4E03-854E-27DAFAA1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D0D9CD-8F9E-45C6-B597-B8F36F79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procesamiento puede depender de frecuencia, nivel y tiempo</a:t>
            </a:r>
          </a:p>
        </p:txBody>
      </p:sp>
      <p:pic>
        <p:nvPicPr>
          <p:cNvPr id="10" name="U08-089-U08-CH-009" descr="El procesamiento puede depender de frecuencia, nivel y tiempo. Esquema mixto: Cuatro funciones con un gráfico entrada–salida o respuesta conceptual y límites. Compresión, direccionalidad, reducción de ruido y control de realimentación modifican aspectos distintos. Esquema conceptual no a escal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5c792dc294355">
            <a:extLst>
              <a:ext uri="{96DAC541-7B7A-43D3-8B79-37D633B846F1}">
                <asvg:svgBlip xmlns:asvg="http://schemas.microsoft.com/office/drawing/2016/SVG/main" r:embed="R484c79029f2a43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" y="1333500"/>
            <a:ext cx="11334750" cy="4572000"/>
          </a:xfrm>
          <a:prstGeom xmlns:a="http://schemas.openxmlformats.org/drawingml/2006/main" prst="rect">
            <a:avLst/>
          </a:prstGeom>
        </p:spPr>
      </p:pic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2A41696E-8EAE-4AF5-90D1-3A963587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Compresión, direccionalidad, reducción de ruido y control de realimentación modifican aspectos distintos. Figura conc… · Producción propia UCASAL · U08-CH-009</a:t>
            </a:r>
          </a:p>
        </p:txBody>
      </p:sp>
      <p:sp>
        <p:nvSpPr>
          <p:cNvPr id="4" name="top-rail-1">
            <a:extLst xmlns:a="http://schemas.openxmlformats.org/drawingml/2006/main">
              <a:ext uri="{FF2B5EF4-FFF2-40B4-BE49-F238E27FC236}">
                <a16:creationId xmlns:a16="http://schemas.microsoft.com/office/drawing/2014/main" id="{7650FB78-49C4-41C1-B226-7137EED9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 xmlns:a="http://schemas.openxmlformats.org/drawingml/2006/main">
              <a:ext uri="{FF2B5EF4-FFF2-40B4-BE49-F238E27FC236}">
                <a16:creationId xmlns:a16="http://schemas.microsoft.com/office/drawing/2014/main" id="{4F77DAB2-5236-47C2-9415-75B1596E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 xmlns:a="http://schemas.openxmlformats.org/drawingml/2006/main">
              <a:ext uri="{FF2B5EF4-FFF2-40B4-BE49-F238E27FC236}">
                <a16:creationId xmlns:a16="http://schemas.microsoft.com/office/drawing/2014/main" id="{6C53EEC0-6EA9-4D72-9493-CA9F6EBF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9A635690-2663-4E27-B01E-BDE7DD37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AMPLIACIÓN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CEDC05B-386D-4BF7-991B-D6880A20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E48222-9249-4EDB-AE0D-6490A17F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implante coclear entrega pulsos eléctricos en la cóclea</a:t>
            </a:r>
          </a:p>
        </p:txBody>
      </p:sp>
      <p:sp>
        <p:nvSpPr>
          <p:cNvPr id="2" name="U08-090-process-anchor-1">
            <a:extLst xmlns:a="http://schemas.openxmlformats.org/drawingml/2006/main">
              <a:ext uri="{FF2B5EF4-FFF2-40B4-BE49-F238E27FC236}">
                <a16:creationId xmlns:a16="http://schemas.microsoft.com/office/drawing/2014/main" id="{7F4306E0-17DE-490C-AC04-95CBFBCF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U08-090-process-anchor-2">
            <a:extLst xmlns:a="http://schemas.openxmlformats.org/drawingml/2006/main">
              <a:ext uri="{FF2B5EF4-FFF2-40B4-BE49-F238E27FC236}">
                <a16:creationId xmlns:a16="http://schemas.microsoft.com/office/drawing/2014/main" id="{8B784D2C-347C-4D0B-8739-86647460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88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U08-090-process-anchor-3">
            <a:extLst xmlns:a="http://schemas.openxmlformats.org/drawingml/2006/main">
              <a:ext uri="{FF2B5EF4-FFF2-40B4-BE49-F238E27FC236}">
                <a16:creationId xmlns:a16="http://schemas.microsoft.com/office/drawing/2014/main" id="{A1F8CD36-C397-4F18-B4DA-FC7302A8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U08-090-process-anchor-4">
            <a:extLst xmlns:a="http://schemas.openxmlformats.org/drawingml/2006/main">
              <a:ext uri="{FF2B5EF4-FFF2-40B4-BE49-F238E27FC236}">
                <a16:creationId xmlns:a16="http://schemas.microsoft.com/office/drawing/2014/main" id="{15C8B19C-07D8-4077-B2A7-BAAD64B4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138488" y="3095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981701" y="3095625"/>
            <a:ext cx="228599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824913" y="3095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9" name="U08-090-process-1-box">
            <a:extLst xmlns:a="http://schemas.openxmlformats.org/drawingml/2006/main">
              <a:ext uri="{FF2B5EF4-FFF2-40B4-BE49-F238E27FC236}">
                <a16:creationId xmlns:a16="http://schemas.microsoft.com/office/drawing/2014/main" id="{D00607DA-1AD2-4F0B-9ADD-2FEE16B1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U08-090-process-1-title">
            <a:extLst xmlns:a="http://schemas.openxmlformats.org/drawingml/2006/main">
              <a:ext uri="{FF2B5EF4-FFF2-40B4-BE49-F238E27FC236}">
                <a16:creationId xmlns:a16="http://schemas.microsoft.com/office/drawing/2014/main" id="{F44567E1-6D63-418D-B496-04E7FF9B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28850"/>
            <a:ext cx="22717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U08-090-process-1-body">
            <a:extLst xmlns:a="http://schemas.openxmlformats.org/drawingml/2006/main">
              <a:ext uri="{FF2B5EF4-FFF2-40B4-BE49-F238E27FC236}">
                <a16:creationId xmlns:a16="http://schemas.microsoft.com/office/drawing/2014/main" id="{98ADDD5F-683F-40CC-A318-26355E67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28900"/>
            <a:ext cx="2271713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Sonido → micrófono → procesador.</a:t>
            </a:r>
          </a:p>
        </p:txBody>
      </p:sp>
      <p:sp>
        <p:nvSpPr>
          <p:cNvPr id="12" name="U08-090-process-2-box">
            <a:extLst xmlns:a="http://schemas.openxmlformats.org/drawingml/2006/main">
              <a:ext uri="{FF2B5EF4-FFF2-40B4-BE49-F238E27FC236}">
                <a16:creationId xmlns:a16="http://schemas.microsoft.com/office/drawing/2014/main" id="{6F8B30E4-45EC-44FC-8D92-C9A2B573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88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3" name="U08-090-process-2-title">
            <a:extLst xmlns:a="http://schemas.openxmlformats.org/drawingml/2006/main">
              <a:ext uri="{FF2B5EF4-FFF2-40B4-BE49-F238E27FC236}">
                <a16:creationId xmlns:a16="http://schemas.microsoft.com/office/drawing/2014/main" id="{FF44B142-3F7A-470B-8BFD-EFD2215E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2228850"/>
            <a:ext cx="22717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U08-090-process-2-body">
            <a:extLst xmlns:a="http://schemas.openxmlformats.org/drawingml/2006/main">
              <a:ext uri="{FF2B5EF4-FFF2-40B4-BE49-F238E27FC236}">
                <a16:creationId xmlns:a16="http://schemas.microsoft.com/office/drawing/2014/main" id="{FF074C33-B96F-4112-90C6-BF2B22F0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2628900"/>
            <a:ext cx="2271713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enlace transmite la información codificada.</a:t>
            </a:r>
          </a:p>
        </p:txBody>
      </p:sp>
      <p:sp>
        <p:nvSpPr>
          <p:cNvPr id="15" name="U08-090-process-3-box">
            <a:extLst xmlns:a="http://schemas.openxmlformats.org/drawingml/2006/main">
              <a:ext uri="{FF2B5EF4-FFF2-40B4-BE49-F238E27FC236}">
                <a16:creationId xmlns:a16="http://schemas.microsoft.com/office/drawing/2014/main" id="{67792A6A-FB14-48DF-880E-88F4229B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6" name="U08-090-process-3-title">
            <a:extLst xmlns:a="http://schemas.openxmlformats.org/drawingml/2006/main">
              <a:ext uri="{FF2B5EF4-FFF2-40B4-BE49-F238E27FC236}">
                <a16:creationId xmlns:a16="http://schemas.microsoft.com/office/drawing/2014/main" id="{9734534C-1307-43A1-BC5E-12BBE467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28850"/>
            <a:ext cx="22717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" name="U08-090-process-3-body">
            <a:extLst xmlns:a="http://schemas.openxmlformats.org/drawingml/2006/main">
              <a:ext uri="{FF2B5EF4-FFF2-40B4-BE49-F238E27FC236}">
                <a16:creationId xmlns:a16="http://schemas.microsoft.com/office/drawing/2014/main" id="{2213457F-E95A-4028-A339-7F4634CC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2271713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receptor–estimulador produce pulsos eléctricos.</a:t>
            </a:r>
          </a:p>
        </p:txBody>
      </p:sp>
      <p:sp>
        <p:nvSpPr>
          <p:cNvPr id="18" name="U08-090-process-4-box">
            <a:extLst xmlns:a="http://schemas.openxmlformats.org/drawingml/2006/main">
              <a:ext uri="{FF2B5EF4-FFF2-40B4-BE49-F238E27FC236}">
                <a16:creationId xmlns:a16="http://schemas.microsoft.com/office/drawing/2014/main" id="{D22F8DE3-3DEA-4D74-80A3-64B32628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095500"/>
            <a:ext cx="261461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9" name="U08-090-process-4-title">
            <a:extLst xmlns:a="http://schemas.openxmlformats.org/drawingml/2006/main">
              <a:ext uri="{FF2B5EF4-FFF2-40B4-BE49-F238E27FC236}">
                <a16:creationId xmlns:a16="http://schemas.microsoft.com/office/drawing/2014/main" id="{96B13A6A-12E4-4D02-A04C-3652A660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2228850"/>
            <a:ext cx="22717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0" name="U08-090-process-4-body">
            <a:extLst xmlns:a="http://schemas.openxmlformats.org/drawingml/2006/main">
              <a:ext uri="{FF2B5EF4-FFF2-40B4-BE49-F238E27FC236}">
                <a16:creationId xmlns:a16="http://schemas.microsoft.com/office/drawing/2014/main" id="{34C6BC75-D1F1-4DBC-81E0-F1F3B59B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2628900"/>
            <a:ext cx="2271713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guía de electrodos entrega estimulación intracoclear.</a:t>
            </a:r>
          </a:p>
        </p:txBody>
      </p:sp>
      <p:sp>
        <p:nvSpPr>
          <p:cNvPr id="21" name="top-rail-1">
            <a:extLst xmlns:a="http://schemas.openxmlformats.org/drawingml/2006/main">
              <a:ext uri="{FF2B5EF4-FFF2-40B4-BE49-F238E27FC236}">
                <a16:creationId xmlns:a16="http://schemas.microsoft.com/office/drawing/2014/main" id="{EA6F48DD-C9F1-4F9F-A787-50612E52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FED2159-F869-457C-84DE-7FD6A155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91B0787-842D-4C98-8D58-F5753DE7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8DE5F1F2-5E96-441A-97C3-65527D3C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81B0E73-0CF3-47A1-8609-6DE83E62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10F5C6-050E-4A75-8DF7-EB624A5B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Electrodos, canales y perceptos independientes no son equivalentes</a:t>
            </a:r>
          </a:p>
        </p:txBody>
      </p:sp>
      <p:sp>
        <p:nvSpPr>
          <p:cNvPr id="2" name="U08-091-problem-box">
            <a:extLst xmlns:a="http://schemas.openxmlformats.org/drawingml/2006/main">
              <a:ext uri="{FF2B5EF4-FFF2-40B4-BE49-F238E27FC236}">
                <a16:creationId xmlns:a16="http://schemas.microsoft.com/office/drawing/2014/main" id="{1DD156A2-1926-4B05-8BF7-286CB507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4762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3" name="U08-091-problem-title">
            <a:extLst xmlns:a="http://schemas.openxmlformats.org/drawingml/2006/main">
              <a:ext uri="{FF2B5EF4-FFF2-40B4-BE49-F238E27FC236}">
                <a16:creationId xmlns:a16="http://schemas.microsoft.com/office/drawing/2014/main" id="{6F603E86-5191-42CC-9726-8FF0C83C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0225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Afirmación problemática</a:t>
            </a:r>
          </a:p>
        </p:txBody>
      </p:sp>
      <p:sp>
        <p:nvSpPr>
          <p:cNvPr id="4" name="U08-091-problem-body">
            <a:extLst xmlns:a="http://schemas.openxmlformats.org/drawingml/2006/main">
              <a:ext uri="{FF2B5EF4-FFF2-40B4-BE49-F238E27FC236}">
                <a16:creationId xmlns:a16="http://schemas.microsoft.com/office/drawing/2014/main" id="{F8F61ECA-4C46-48D7-A482-10372EFA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00275"/>
            <a:ext cx="44196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“Cada electrodo produce un canal y un percepto independiente”.</a:t>
            </a:r>
          </a:p>
        </p:txBody>
      </p:sp>
      <p:sp>
        <p:nvSpPr>
          <p:cNvPr id="5" name="U08-091-correction-box">
            <a:extLst xmlns:a="http://schemas.openxmlformats.org/drawingml/2006/main">
              <a:ext uri="{FF2B5EF4-FFF2-40B4-BE49-F238E27FC236}">
                <a16:creationId xmlns:a16="http://schemas.microsoft.com/office/drawing/2014/main" id="{2F79E25D-DF15-431E-95F8-D3F1441B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66875"/>
            <a:ext cx="5715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U08-091-correction-title">
            <a:extLst xmlns:a="http://schemas.openxmlformats.org/drawingml/2006/main">
              <a:ext uri="{FF2B5EF4-FFF2-40B4-BE49-F238E27FC236}">
                <a16:creationId xmlns:a16="http://schemas.microsoft.com/office/drawing/2014/main" id="{5F82A05C-7BB1-40B0-8151-645CECA3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0225"/>
            <a:ext cx="537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7" name="U08-091-correction-body">
            <a:extLst xmlns:a="http://schemas.openxmlformats.org/drawingml/2006/main">
              <a:ext uri="{FF2B5EF4-FFF2-40B4-BE49-F238E27FC236}">
                <a16:creationId xmlns:a16="http://schemas.microsoft.com/office/drawing/2014/main" id="{B076484A-DDE8-4417-9379-E10BC972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0275"/>
            <a:ext cx="53721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cantidad de electrodos no coincide necesariamente con canales funcionales ni con perceptos independientes: intervienen interacción eléctrica, programación y sistema neural.</a:t>
            </a:r>
          </a:p>
        </p:txBody>
      </p:sp>
      <p:sp>
        <p:nvSpPr>
          <p:cNvPr id="8" name="U08-091-rule">
            <a:extLst xmlns:a="http://schemas.openxmlformats.org/drawingml/2006/main">
              <a:ext uri="{FF2B5EF4-FFF2-40B4-BE49-F238E27FC236}">
                <a16:creationId xmlns:a16="http://schemas.microsoft.com/office/drawing/2014/main" id="{70C8445F-999D-438C-8932-9A37B16A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Regla de control: describir primero el dato y sus condiciones; recién después integrar hipótesis.</a:t>
            </a:r>
          </a:p>
        </p:txBody>
      </p:sp>
      <p:sp>
        <p:nvSpPr>
          <p:cNvPr id="9" name="top-rail-1">
            <a:extLst xmlns:a="http://schemas.openxmlformats.org/drawingml/2006/main">
              <a:ext uri="{FF2B5EF4-FFF2-40B4-BE49-F238E27FC236}">
                <a16:creationId xmlns:a16="http://schemas.microsoft.com/office/drawing/2014/main" id="{036AC9EB-9559-4176-BAF6-A8202065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0" name="top-rail-2">
            <a:extLst xmlns:a="http://schemas.openxmlformats.org/drawingml/2006/main">
              <a:ext uri="{FF2B5EF4-FFF2-40B4-BE49-F238E27FC236}">
                <a16:creationId xmlns:a16="http://schemas.microsoft.com/office/drawing/2014/main" id="{76CF8978-33F7-4DDB-BE0C-D685AB62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1" name="top-rail-3">
            <a:extLst xmlns:a="http://schemas.openxmlformats.org/drawingml/2006/main">
              <a:ext uri="{FF2B5EF4-FFF2-40B4-BE49-F238E27FC236}">
                <a16:creationId xmlns:a16="http://schemas.microsoft.com/office/drawing/2014/main" id="{2C1AFB68-8B49-4D8F-9199-E922DB8C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81022EB2-759A-4EA2-8086-E541426A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6606E61-701A-4520-8FB6-C8DF34A2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1E5E9A-EE7C-4D1C-BE16-72E2B54F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implante coclear no es un audífono más potente</a:t>
            </a:r>
          </a:p>
        </p:txBody>
      </p:sp>
      <p:sp>
        <p:nvSpPr>
          <p:cNvPr id="2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ABC74F55-CBFE-4D37-B046-5CB7DAB7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BA845C77-44E2-4E39-8D6F-1E43215A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Audífono</a:t>
            </a:r>
          </a:p>
        </p:txBody>
      </p:sp>
      <p:sp>
        <p:nvSpPr>
          <p:cNvPr id="4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58C83A98-ADD1-4467-AD23-2D16ADD5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Audífono: procesa y vuelve a entregar presión acústica. Implante coclear: codifica y entrega pulsos eléctricos intracocleares.</a:t>
            </a:r>
          </a:p>
        </p:txBody>
      </p:sp>
      <p:sp>
        <p:nvSpPr>
          <p:cNvPr id="5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1D5F4690-D125-4AB9-A326-7CED76C9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0861C888-35DD-458A-94B5-8F35DA96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Implante coclear</a:t>
            </a:r>
          </a:p>
        </p:txBody>
      </p:sp>
      <p:sp>
        <p:nvSpPr>
          <p:cNvPr id="7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FD29B1E4-0200-4EB4-9AFD-6CDCD750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forman una escala de ‘potencia’ cambian el dominio y el punto de entrega.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E70EFDD9-CCBE-489A-9B38-6B7D1AAC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4266E7A0-BC6F-4AA3-B5C9-55AAF70B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55A11094-E80C-4E8D-BBAC-221409C3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A44E6E06-89B5-4EA3-9747-0FED5953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880AFB0-300E-4E4A-AF30-FFDFA1C6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92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99CFD4-4B9B-4178-BCC6-B887342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Conducción ósea y electroacústica agregan otras salidas o combinaciones</a:t>
            </a:r>
          </a:p>
        </p:txBody>
      </p:sp>
      <p:sp>
        <p:nvSpPr>
          <p:cNvPr id="2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4AF22311-265A-4BF0-894B-5FD24908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3F915444-CD5E-425D-A1E9-54D3DFC2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Conducción ósea</a:t>
            </a:r>
          </a:p>
        </p:txBody>
      </p:sp>
      <p:sp>
        <p:nvSpPr>
          <p:cNvPr id="4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54744A7F-0695-4E86-B5DF-0532B2E9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Vibración del cráneo y salida acústica+eléctrica son estrategias físicas diferentes y no universales.</a:t>
            </a:r>
          </a:p>
        </p:txBody>
      </p:sp>
      <p:sp>
        <p:nvSpPr>
          <p:cNvPr id="5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31F6B059-F817-4446-BBFC-236CF2A5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B21ECF33-BA88-4395-8687-B2F2DB64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Estimulación electroacústica</a:t>
            </a:r>
          </a:p>
        </p:txBody>
      </p:sp>
      <p:sp>
        <p:nvSpPr>
          <p:cNvPr id="7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19B5D313-B312-4264-889B-0335FC96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Dispositivo óseo: salida mecánica y ambas cócleas EAS: bandas acústicas y eléctricas individualizadas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972280B3-F1E0-43F9-91F1-A384A836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2E831AE8-DBD6-469A-A12D-921D0D7B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155A2AEE-6C07-4041-9358-ECA12C9A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1ACFF9B1-FB77-45E5-8053-7B4D07FF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AMPLIACIÓN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FAF662D-5CB6-4075-B52C-DE4F4806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93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FA6249-F758-4F85-B6E0-B3DA1D79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la salida física distingue dispositivos, no decide la indicación</a:t>
            </a:r>
          </a:p>
        </p:txBody>
      </p:sp>
      <p:sp>
        <p:nvSpPr>
          <p:cNvPr id="2" name="U08-094-recap-0-box">
            <a:extLst xmlns:a="http://schemas.openxmlformats.org/drawingml/2006/main">
              <a:ext uri="{FF2B5EF4-FFF2-40B4-BE49-F238E27FC236}">
                <a16:creationId xmlns:a16="http://schemas.microsoft.com/office/drawing/2014/main" id="{3118294C-4A0A-4C30-9E31-5DEB5C3F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094-recap-0-title">
            <a:extLst xmlns:a="http://schemas.openxmlformats.org/drawingml/2006/main">
              <a:ext uri="{FF2B5EF4-FFF2-40B4-BE49-F238E27FC236}">
                <a16:creationId xmlns:a16="http://schemas.microsoft.com/office/drawing/2014/main" id="{208BE0DF-F080-49BE-8807-DC212A99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U08-094-recap-0-body">
            <a:extLst xmlns:a="http://schemas.openxmlformats.org/drawingml/2006/main">
              <a:ext uri="{FF2B5EF4-FFF2-40B4-BE49-F238E27FC236}">
                <a16:creationId xmlns:a16="http://schemas.microsoft.com/office/drawing/2014/main" id="{7DE1668A-8A53-4C07-AE01-139D18DC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Audífono: salida acústica</a:t>
            </a:r>
          </a:p>
        </p:txBody>
      </p:sp>
      <p:sp>
        <p:nvSpPr>
          <p:cNvPr id="5" name="U08-094-recap-1-box">
            <a:extLst xmlns:a="http://schemas.openxmlformats.org/drawingml/2006/main">
              <a:ext uri="{FF2B5EF4-FFF2-40B4-BE49-F238E27FC236}">
                <a16:creationId xmlns:a16="http://schemas.microsoft.com/office/drawing/2014/main" id="{080280D9-9677-4570-B0E4-8CDEAB74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U08-094-recap-1-title">
            <a:extLst xmlns:a="http://schemas.openxmlformats.org/drawingml/2006/main">
              <a:ext uri="{FF2B5EF4-FFF2-40B4-BE49-F238E27FC236}">
                <a16:creationId xmlns:a16="http://schemas.microsoft.com/office/drawing/2014/main" id="{21602948-B875-42F0-B853-C0BD0D14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U08-094-recap-1-body">
            <a:extLst xmlns:a="http://schemas.openxmlformats.org/drawingml/2006/main">
              <a:ext uri="{FF2B5EF4-FFF2-40B4-BE49-F238E27FC236}">
                <a16:creationId xmlns:a16="http://schemas.microsoft.com/office/drawing/2014/main" id="{C703A095-475B-44D6-8DC4-E82A5764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Implante: salida eléctrica</a:t>
            </a:r>
          </a:p>
        </p:txBody>
      </p:sp>
      <p:sp>
        <p:nvSpPr>
          <p:cNvPr id="8" name="U08-094-recap-2-box">
            <a:extLst xmlns:a="http://schemas.openxmlformats.org/drawingml/2006/main">
              <a:ext uri="{FF2B5EF4-FFF2-40B4-BE49-F238E27FC236}">
                <a16:creationId xmlns:a16="http://schemas.microsoft.com/office/drawing/2014/main" id="{88CA00FB-9265-4C52-BF89-FAD99C15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U08-094-recap-2-title">
            <a:extLst xmlns:a="http://schemas.openxmlformats.org/drawingml/2006/main">
              <a:ext uri="{FF2B5EF4-FFF2-40B4-BE49-F238E27FC236}">
                <a16:creationId xmlns:a16="http://schemas.microsoft.com/office/drawing/2014/main" id="{0B0BEC6D-3D05-448B-AE5A-F8886A2C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0" name="U08-094-recap-2-body">
            <a:extLst xmlns:a="http://schemas.openxmlformats.org/drawingml/2006/main">
              <a:ext uri="{FF2B5EF4-FFF2-40B4-BE49-F238E27FC236}">
                <a16:creationId xmlns:a16="http://schemas.microsoft.com/office/drawing/2014/main" id="{79F9C221-C989-4977-9A1C-6FA9F7EA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Conducción ósea: salida mecánica</a:t>
            </a:r>
          </a:p>
        </p:txBody>
      </p:sp>
      <p:sp>
        <p:nvSpPr>
          <p:cNvPr id="11" name="U08-094-recap-3-box">
            <a:extLst xmlns:a="http://schemas.openxmlformats.org/drawingml/2006/main">
              <a:ext uri="{FF2B5EF4-FFF2-40B4-BE49-F238E27FC236}">
                <a16:creationId xmlns:a16="http://schemas.microsoft.com/office/drawing/2014/main" id="{3E7F00A9-DA06-4235-A680-C2900F8D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095500"/>
            <a:ext cx="2576513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2" name="U08-094-recap-3-title">
            <a:extLst xmlns:a="http://schemas.openxmlformats.org/drawingml/2006/main">
              <a:ext uri="{FF2B5EF4-FFF2-40B4-BE49-F238E27FC236}">
                <a16:creationId xmlns:a16="http://schemas.microsoft.com/office/drawing/2014/main" id="{9372C7CA-3616-4669-AF11-B21F7632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228850"/>
            <a:ext cx="22336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3" name="U08-094-recap-3-body">
            <a:extLst xmlns:a="http://schemas.openxmlformats.org/drawingml/2006/main">
              <a:ext uri="{FF2B5EF4-FFF2-40B4-BE49-F238E27FC236}">
                <a16:creationId xmlns:a16="http://schemas.microsoft.com/office/drawing/2014/main" id="{681A931F-B459-42AD-B5C6-0267CBE0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628900"/>
            <a:ext cx="2233613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indicación exige evaluación</a:t>
            </a:r>
          </a:p>
        </p:txBody>
      </p:sp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C4FB50A1-5786-4DAD-9B6C-18575DE5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 xmlns:a="http://schemas.openxmlformats.org/drawingml/2006/main">
              <a:ext uri="{FF2B5EF4-FFF2-40B4-BE49-F238E27FC236}">
                <a16:creationId xmlns:a16="http://schemas.microsoft.com/office/drawing/2014/main" id="{898C98A6-9568-4496-BAED-9E34EF28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 xmlns:a="http://schemas.openxmlformats.org/drawingml/2006/main">
              <a:ext uri="{FF2B5EF4-FFF2-40B4-BE49-F238E27FC236}">
                <a16:creationId xmlns:a16="http://schemas.microsoft.com/office/drawing/2014/main" id="{B96D4E20-A869-4506-8543-7CF482B6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F19F06D8-963F-4B13-8DFD-0EF462A4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4 · RUTA CENTRAL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DE7601E-7C17-4691-AE6F-6F6EF10C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91882884-ACE1-4A75-92FD-F264DD5F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8 · ENCUENTRO 4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32E2FE9F-E7E1-4E36-B2FE-E08E9D96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¿Cómo se construye una respuesta sin exceder la evidencia?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24CFA243-F208-4D40-99D9-7EE77B42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 del bloque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77A382E-7708-481B-B6AF-FEAECC8E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95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7D69B4-1715-4521-BDF4-C540D399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mismo caso reúne exposición, percepción, conducta y fisiología</a:t>
            </a:r>
          </a:p>
        </p:txBody>
      </p:sp>
      <p:sp>
        <p:nvSpPr>
          <p:cNvPr id="2" name="u08-096-0-box">
            <a:extLst xmlns:a="http://schemas.openxmlformats.org/drawingml/2006/main">
              <a:ext uri="{FF2B5EF4-FFF2-40B4-BE49-F238E27FC236}">
                <a16:creationId xmlns:a16="http://schemas.microsoft.com/office/drawing/2014/main" id="{53705D75-F441-4BC6-BC1A-D3BF90B1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42887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096-0-title">
            <a:extLst xmlns:a="http://schemas.openxmlformats.org/drawingml/2006/main">
              <a:ext uri="{FF2B5EF4-FFF2-40B4-BE49-F238E27FC236}">
                <a16:creationId xmlns:a16="http://schemas.microsoft.com/office/drawing/2014/main" id="{BDABCD61-2CC3-45A7-8A74-6C4AF89E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43100"/>
            <a:ext cx="2085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Exposición</a:t>
            </a:r>
          </a:p>
        </p:txBody>
      </p:sp>
      <p:sp>
        <p:nvSpPr>
          <p:cNvPr id="4" name="u08-096-0-body">
            <a:extLst xmlns:a="http://schemas.openxmlformats.org/drawingml/2006/main">
              <a:ext uri="{FF2B5EF4-FFF2-40B4-BE49-F238E27FC236}">
                <a16:creationId xmlns:a16="http://schemas.microsoft.com/office/drawing/2014/main" id="{E86AB16D-5E56-4F67-B884-9B5106D4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43150"/>
            <a:ext cx="20859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L_Aeq,T</a:t>
            </a:r>
          </a:p>
        </p:txBody>
      </p:sp>
      <p:sp>
        <p:nvSpPr>
          <p:cNvPr id="5" name="u08-096-1-box">
            <a:extLst xmlns:a="http://schemas.openxmlformats.org/drawingml/2006/main">
              <a:ext uri="{FF2B5EF4-FFF2-40B4-BE49-F238E27FC236}">
                <a16:creationId xmlns:a16="http://schemas.microsoft.com/office/drawing/2014/main" id="{D01E9F1D-8809-4375-8975-9B32B66F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42887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u08-096-1-title">
            <a:extLst xmlns:a="http://schemas.openxmlformats.org/drawingml/2006/main">
              <a:ext uri="{FF2B5EF4-FFF2-40B4-BE49-F238E27FC236}">
                <a16:creationId xmlns:a16="http://schemas.microsoft.com/office/drawing/2014/main" id="{7A6ED401-6921-4E21-89C6-DE87703B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43100"/>
            <a:ext cx="2085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Percepción</a:t>
            </a:r>
          </a:p>
        </p:txBody>
      </p:sp>
      <p:sp>
        <p:nvSpPr>
          <p:cNvPr id="7" name="u08-096-1-body">
            <a:extLst xmlns:a="http://schemas.openxmlformats.org/drawingml/2006/main">
              <a:ext uri="{FF2B5EF4-FFF2-40B4-BE49-F238E27FC236}">
                <a16:creationId xmlns:a16="http://schemas.microsoft.com/office/drawing/2014/main" id="{D9449CFF-B877-4B2D-BA12-76494D62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43150"/>
            <a:ext cx="20859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tinnitus / dB SL</a:t>
            </a:r>
          </a:p>
        </p:txBody>
      </p:sp>
      <p:sp>
        <p:nvSpPr>
          <p:cNvPr id="8" name="u08-096-2-box">
            <a:extLst xmlns:a="http://schemas.openxmlformats.org/drawingml/2006/main">
              <a:ext uri="{FF2B5EF4-FFF2-40B4-BE49-F238E27FC236}">
                <a16:creationId xmlns:a16="http://schemas.microsoft.com/office/drawing/2014/main" id="{E1D73C02-25AE-4B82-BDA3-CC428918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242887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u08-096-2-title">
            <a:extLst xmlns:a="http://schemas.openxmlformats.org/drawingml/2006/main">
              <a:ext uri="{FF2B5EF4-FFF2-40B4-BE49-F238E27FC236}">
                <a16:creationId xmlns:a16="http://schemas.microsoft.com/office/drawing/2014/main" id="{F9C2E582-7944-4962-80A1-E916176E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43100"/>
            <a:ext cx="2085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Conducta</a:t>
            </a:r>
          </a:p>
        </p:txBody>
      </p:sp>
      <p:sp>
        <p:nvSpPr>
          <p:cNvPr id="10" name="u08-096-2-body">
            <a:extLst xmlns:a="http://schemas.openxmlformats.org/drawingml/2006/main">
              <a:ext uri="{FF2B5EF4-FFF2-40B4-BE49-F238E27FC236}">
                <a16:creationId xmlns:a16="http://schemas.microsoft.com/office/drawing/2014/main" id="{D410A5EB-D2BC-453E-BF7F-1F56933D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43150"/>
            <a:ext cx="20859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umbral en dB HL</a:t>
            </a:r>
          </a:p>
        </p:txBody>
      </p:sp>
      <p:sp>
        <p:nvSpPr>
          <p:cNvPr id="11" name="u08-096-3-box">
            <a:extLst xmlns:a="http://schemas.openxmlformats.org/drawingml/2006/main">
              <a:ext uri="{FF2B5EF4-FFF2-40B4-BE49-F238E27FC236}">
                <a16:creationId xmlns:a16="http://schemas.microsoft.com/office/drawing/2014/main" id="{5F177513-7AAD-44B6-972A-B87B7F72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42887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2" name="u08-096-3-title">
            <a:extLst xmlns:a="http://schemas.openxmlformats.org/drawingml/2006/main">
              <a:ext uri="{FF2B5EF4-FFF2-40B4-BE49-F238E27FC236}">
                <a16:creationId xmlns:a16="http://schemas.microsoft.com/office/drawing/2014/main" id="{A5878EB4-8BE9-4BC7-BA6B-98973BF0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43100"/>
            <a:ext cx="2085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Fisiología</a:t>
            </a:r>
          </a:p>
        </p:txBody>
      </p:sp>
      <p:sp>
        <p:nvSpPr>
          <p:cNvPr id="13" name="u08-096-3-body">
            <a:extLst xmlns:a="http://schemas.openxmlformats.org/drawingml/2006/main">
              <a:ext uri="{FF2B5EF4-FFF2-40B4-BE49-F238E27FC236}">
                <a16:creationId xmlns:a16="http://schemas.microsoft.com/office/drawing/2014/main" id="{C4ADDCAB-73E5-4809-B53F-E9EB7A76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43150"/>
            <a:ext cx="20859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OEA: “derivar”</a:t>
            </a:r>
          </a:p>
        </p:txBody>
      </p:sp>
      <p:sp>
        <p:nvSpPr>
          <p:cNvPr id="14" name="u08-096-limit-box">
            <a:extLst xmlns:a="http://schemas.openxmlformats.org/drawingml/2006/main">
              <a:ext uri="{FF2B5EF4-FFF2-40B4-BE49-F238E27FC236}">
                <a16:creationId xmlns:a16="http://schemas.microsoft.com/office/drawing/2014/main" id="{A0CD8E97-0488-4E16-BF6E-168A9D94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429125"/>
            <a:ext cx="80962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5" name="u08-096-limit-title">
            <a:extLst xmlns:a="http://schemas.openxmlformats.org/drawingml/2006/main">
              <a:ext uri="{FF2B5EF4-FFF2-40B4-BE49-F238E27FC236}">
                <a16:creationId xmlns:a16="http://schemas.microsoft.com/office/drawing/2014/main" id="{AAEFD65E-BBA0-4DC4-8A35-704CC640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562475"/>
            <a:ext cx="775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Integración</a:t>
            </a:r>
          </a:p>
        </p:txBody>
      </p:sp>
      <p:sp>
        <p:nvSpPr>
          <p:cNvPr id="16" name="u08-096-limit-body">
            <a:extLst xmlns:a="http://schemas.openxmlformats.org/drawingml/2006/main">
              <a:ext uri="{FF2B5EF4-FFF2-40B4-BE49-F238E27FC236}">
                <a16:creationId xmlns:a16="http://schemas.microsoft.com/office/drawing/2014/main" id="{1A354951-FE69-491A-ABAA-0539EA23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962525"/>
            <a:ext cx="7753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Cada dato responde una pregunta distinta; ninguno resuelve el caso por sí solo.</a:t>
            </a:r>
          </a:p>
        </p:txBody>
      </p:sp>
      <p:sp>
        <p:nvSpPr>
          <p:cNvPr id="17" name="top-rail-1">
            <a:extLst xmlns:a="http://schemas.openxmlformats.org/drawingml/2006/main">
              <a:ext uri="{FF2B5EF4-FFF2-40B4-BE49-F238E27FC236}">
                <a16:creationId xmlns:a16="http://schemas.microsoft.com/office/drawing/2014/main" id="{D3F93D00-7157-436B-8972-2061B600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8" name="top-rail-2">
            <a:extLst xmlns:a="http://schemas.openxmlformats.org/drawingml/2006/main">
              <a:ext uri="{FF2B5EF4-FFF2-40B4-BE49-F238E27FC236}">
                <a16:creationId xmlns:a16="http://schemas.microsoft.com/office/drawing/2014/main" id="{077DE8F9-5451-4705-879A-754665C9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9" name="top-rail-3">
            <a:extLst xmlns:a="http://schemas.openxmlformats.org/drawingml/2006/main">
              <a:ext uri="{FF2B5EF4-FFF2-40B4-BE49-F238E27FC236}">
                <a16:creationId xmlns:a16="http://schemas.microsoft.com/office/drawing/2014/main" id="{F904A929-913A-4712-9D0B-E7D01700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72DD5EEC-E14D-449C-8D26-45554979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4 · RUTA CENTRAL</a:t>
            </a:r>
          </a:p>
        </p:txBody>
      </p:sp>
      <p:sp>
        <p:nvSpPr>
          <p:cNvPr id="2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3400DC8-4336-4086-8D4D-CE63FCF0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B8AA62-BB53-48C9-8CE0-0C009FD2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Elija una prueba para cada pregunta, no una batería automática</a:t>
            </a:r>
          </a:p>
        </p:txBody>
      </p:sp>
      <p:sp>
        <p:nvSpPr>
          <p:cNvPr id="2" name="U08-097-question-box">
            <a:extLst xmlns:a="http://schemas.openxmlformats.org/drawingml/2006/main">
              <a:ext uri="{FF2B5EF4-FFF2-40B4-BE49-F238E27FC236}">
                <a16:creationId xmlns:a16="http://schemas.microsoft.com/office/drawing/2014/main" id="{45CA594A-320D-4C78-BCA0-B597E117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6572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8-097-question-title">
            <a:extLst xmlns:a="http://schemas.openxmlformats.org/drawingml/2006/main">
              <a:ext uri="{FF2B5EF4-FFF2-40B4-BE49-F238E27FC236}">
                <a16:creationId xmlns:a16="http://schemas.microsoft.com/office/drawing/2014/main" id="{DF820539-3D73-453A-BF51-1F97470C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04975"/>
            <a:ext cx="622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U08-097-question-body">
            <a:extLst xmlns:a="http://schemas.openxmlformats.org/drawingml/2006/main">
              <a:ext uri="{FF2B5EF4-FFF2-40B4-BE49-F238E27FC236}">
                <a16:creationId xmlns:a16="http://schemas.microsoft.com/office/drawing/2014/main" id="{DD0F3D7E-A3A1-4EEF-8979-F9494773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05025"/>
            <a:ext cx="62293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Asigne una prueba a cada pregunta y justifique magnitud y límite. Justifique con la magnitud, la unidad y el límite de la conclusión.</a:t>
            </a:r>
          </a:p>
        </p:txBody>
      </p:sp>
      <p:sp>
        <p:nvSpPr>
          <p:cNvPr id="5" name="U08-097-guide-1-box">
            <a:extLst xmlns:a="http://schemas.openxmlformats.org/drawingml/2006/main">
              <a:ext uri="{FF2B5EF4-FFF2-40B4-BE49-F238E27FC236}">
                <a16:creationId xmlns:a16="http://schemas.microsoft.com/office/drawing/2014/main" id="{654B0A8B-728C-46EC-96A4-F04362B7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716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U08-097-guide-1-title">
            <a:extLst xmlns:a="http://schemas.openxmlformats.org/drawingml/2006/main">
              <a:ext uri="{FF2B5EF4-FFF2-40B4-BE49-F238E27FC236}">
                <a16:creationId xmlns:a16="http://schemas.microsoft.com/office/drawing/2014/main" id="{B253D55B-7629-4051-9227-8AC82F41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049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U08-097-guide-1-body">
            <a:extLst xmlns:a="http://schemas.openxmlformats.org/drawingml/2006/main">
              <a:ext uri="{FF2B5EF4-FFF2-40B4-BE49-F238E27FC236}">
                <a16:creationId xmlns:a16="http://schemas.microsoft.com/office/drawing/2014/main" id="{CFCFB219-A161-4309-970A-9BC6469A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050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pregunta por prueba</a:t>
            </a:r>
          </a:p>
        </p:txBody>
      </p:sp>
      <p:sp>
        <p:nvSpPr>
          <p:cNvPr id="8" name="U08-097-guide-2-box">
            <a:extLst xmlns:a="http://schemas.openxmlformats.org/drawingml/2006/main">
              <a:ext uri="{FF2B5EF4-FFF2-40B4-BE49-F238E27FC236}">
                <a16:creationId xmlns:a16="http://schemas.microsoft.com/office/drawing/2014/main" id="{7381A002-0F5F-41C6-9024-9D4B336E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908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U08-097-guide-2-title">
            <a:extLst xmlns:a="http://schemas.openxmlformats.org/drawingml/2006/main">
              <a:ext uri="{FF2B5EF4-FFF2-40B4-BE49-F238E27FC236}">
                <a16:creationId xmlns:a16="http://schemas.microsoft.com/office/drawing/2014/main" id="{F40EDD45-78A0-4D21-9A78-0F9B7870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241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U08-097-guide-2-body">
            <a:extLst xmlns:a="http://schemas.openxmlformats.org/drawingml/2006/main">
              <a:ext uri="{FF2B5EF4-FFF2-40B4-BE49-F238E27FC236}">
                <a16:creationId xmlns:a16="http://schemas.microsoft.com/office/drawing/2014/main" id="{85BEF566-C8A4-47BE-9EEF-E99DBE86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242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Magnitud y unidad esperadas</a:t>
            </a:r>
          </a:p>
        </p:txBody>
      </p:sp>
      <p:sp>
        <p:nvSpPr>
          <p:cNvPr id="11" name="U08-097-guide-3-box">
            <a:extLst xmlns:a="http://schemas.openxmlformats.org/drawingml/2006/main">
              <a:ext uri="{FF2B5EF4-FFF2-40B4-BE49-F238E27FC236}">
                <a16:creationId xmlns:a16="http://schemas.microsoft.com/office/drawing/2014/main" id="{CD34D940-6E0F-46C2-8C5C-A6CE20CA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100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2" name="U08-097-guide-3-title">
            <a:extLst xmlns:a="http://schemas.openxmlformats.org/drawingml/2006/main">
              <a:ext uri="{FF2B5EF4-FFF2-40B4-BE49-F238E27FC236}">
                <a16:creationId xmlns:a16="http://schemas.microsoft.com/office/drawing/2014/main" id="{DA3BC41E-28FF-4638-A8C6-27199CC0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433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U08-097-guide-3-body">
            <a:extLst xmlns:a="http://schemas.openxmlformats.org/drawingml/2006/main">
              <a:ext uri="{FF2B5EF4-FFF2-40B4-BE49-F238E27FC236}">
                <a16:creationId xmlns:a16="http://schemas.microsoft.com/office/drawing/2014/main" id="{85C9C3E1-67F7-4072-AF1E-5E3A2D4B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434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Límite de cada resultado</a:t>
            </a:r>
          </a:p>
        </p:txBody>
      </p:sp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1AC41E12-5833-4CB1-A4F9-85E3AE7A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 xmlns:a="http://schemas.openxmlformats.org/drawingml/2006/main">
              <a:ext uri="{FF2B5EF4-FFF2-40B4-BE49-F238E27FC236}">
                <a16:creationId xmlns:a16="http://schemas.microsoft.com/office/drawing/2014/main" id="{96BE9985-6CC2-48A3-95AB-4BB6363D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 xmlns:a="http://schemas.openxmlformats.org/drawingml/2006/main">
              <a:ext uri="{FF2B5EF4-FFF2-40B4-BE49-F238E27FC236}">
                <a16:creationId xmlns:a16="http://schemas.microsoft.com/office/drawing/2014/main" id="{074F0524-8826-4F06-A5C9-E8E898E1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F06D2802-993D-4094-9FB1-28C36E6F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4 · RUTA CENTRAL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EA909B3-9714-44C3-9F7C-F3C6700E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97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873ED3-1F1F-4913-998B-96A861B1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Resultados coherentes reducen incertidumbre; discrepancias abren nuevas preguntas</a:t>
            </a:r>
          </a:p>
        </p:txBody>
      </p:sp>
      <p:sp>
        <p:nvSpPr>
          <p:cNvPr id="2" name="U08-098-card-1-box">
            <a:extLst xmlns:a="http://schemas.openxmlformats.org/drawingml/2006/main">
              <a:ext uri="{FF2B5EF4-FFF2-40B4-BE49-F238E27FC236}">
                <a16:creationId xmlns:a16="http://schemas.microsoft.com/office/drawing/2014/main" id="{4EB2B681-2665-48B6-A930-CC77739E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047875" cy="2571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098-card-1-title">
            <a:extLst xmlns:a="http://schemas.openxmlformats.org/drawingml/2006/main">
              <a:ext uri="{FF2B5EF4-FFF2-40B4-BE49-F238E27FC236}">
                <a16:creationId xmlns:a16="http://schemas.microsoft.com/office/drawing/2014/main" id="{ED72D559-4EFD-4442-95D7-B06777F0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859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Convergencia</a:t>
            </a:r>
          </a:p>
        </p:txBody>
      </p:sp>
      <p:sp>
        <p:nvSpPr>
          <p:cNvPr id="4" name="U08-098-card-1-body">
            <a:extLst xmlns:a="http://schemas.openxmlformats.org/drawingml/2006/main">
              <a:ext uri="{FF2B5EF4-FFF2-40B4-BE49-F238E27FC236}">
                <a16:creationId xmlns:a16="http://schemas.microsoft.com/office/drawing/2014/main" id="{77EFB286-F7C2-4D00-9A60-4CB4DB80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86025"/>
            <a:ext cx="1704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Resultados compatibles reducen preguntas</a:t>
            </a:r>
          </a:p>
        </p:txBody>
      </p:sp>
      <p:sp>
        <p:nvSpPr>
          <p:cNvPr id="5" name="U08-098-card-2-box">
            <a:extLst xmlns:a="http://schemas.openxmlformats.org/drawingml/2006/main">
              <a:ext uri="{FF2B5EF4-FFF2-40B4-BE49-F238E27FC236}">
                <a16:creationId xmlns:a16="http://schemas.microsoft.com/office/drawing/2014/main" id="{44AFD921-2685-48EE-A6BE-B84CBAA9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52625"/>
            <a:ext cx="2047875" cy="2571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U08-098-card-2-title">
            <a:extLst xmlns:a="http://schemas.openxmlformats.org/drawingml/2006/main">
              <a:ext uri="{FF2B5EF4-FFF2-40B4-BE49-F238E27FC236}">
                <a16:creationId xmlns:a16="http://schemas.microsoft.com/office/drawing/2014/main" id="{783C4A26-2D77-4086-9DDD-E294CFA0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859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Discrepancia</a:t>
            </a:r>
          </a:p>
        </p:txBody>
      </p:sp>
      <p:sp>
        <p:nvSpPr>
          <p:cNvPr id="7" name="U08-098-card-2-body">
            <a:extLst xmlns:a="http://schemas.openxmlformats.org/drawingml/2006/main">
              <a:ext uri="{FF2B5EF4-FFF2-40B4-BE49-F238E27FC236}">
                <a16:creationId xmlns:a16="http://schemas.microsoft.com/office/drawing/2014/main" id="{8CC02F6D-3452-4564-AF73-2EB7D70F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86025"/>
            <a:ext cx="1704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Revisar generador, sensor y tarea</a:t>
            </a:r>
          </a:p>
        </p:txBody>
      </p:sp>
      <p:sp>
        <p:nvSpPr>
          <p:cNvPr id="8" name="U08-098-card-3-box">
            <a:extLst xmlns:a="http://schemas.openxmlformats.org/drawingml/2006/main">
              <a:ext uri="{FF2B5EF4-FFF2-40B4-BE49-F238E27FC236}">
                <a16:creationId xmlns:a16="http://schemas.microsoft.com/office/drawing/2014/main" id="{CF30FD99-624F-42EC-9EEA-81143506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52625"/>
            <a:ext cx="2047875" cy="2571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U08-098-card-3-title">
            <a:extLst xmlns:a="http://schemas.openxmlformats.org/drawingml/2006/main">
              <a:ext uri="{FF2B5EF4-FFF2-40B4-BE49-F238E27FC236}">
                <a16:creationId xmlns:a16="http://schemas.microsoft.com/office/drawing/2014/main" id="{62C34B44-1DE7-465F-9A56-3D0A8507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0859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Condiciones</a:t>
            </a:r>
          </a:p>
        </p:txBody>
      </p:sp>
      <p:sp>
        <p:nvSpPr>
          <p:cNvPr id="10" name="U08-098-card-3-body">
            <a:extLst xmlns:a="http://schemas.openxmlformats.org/drawingml/2006/main">
              <a:ext uri="{FF2B5EF4-FFF2-40B4-BE49-F238E27FC236}">
                <a16:creationId xmlns:a16="http://schemas.microsoft.com/office/drawing/2014/main" id="{FE04A13A-E8C8-45CF-8C82-FC36F0C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486025"/>
            <a:ext cx="1704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Calibración, ruido y protocolo</a:t>
            </a:r>
          </a:p>
        </p:txBody>
      </p:sp>
      <p:sp>
        <p:nvSpPr>
          <p:cNvPr id="11" name="U08-098-card-4-box">
            <a:extLst xmlns:a="http://schemas.openxmlformats.org/drawingml/2006/main">
              <a:ext uri="{FF2B5EF4-FFF2-40B4-BE49-F238E27FC236}">
                <a16:creationId xmlns:a16="http://schemas.microsoft.com/office/drawing/2014/main" id="{D2FF3D50-82FE-4BC6-8A2F-121405C6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2047875" cy="2571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2" name="U08-098-card-4-title">
            <a:extLst xmlns:a="http://schemas.openxmlformats.org/drawingml/2006/main">
              <a:ext uri="{FF2B5EF4-FFF2-40B4-BE49-F238E27FC236}">
                <a16:creationId xmlns:a16="http://schemas.microsoft.com/office/drawing/2014/main" id="{A59F371F-0CA2-4C9E-AA9E-F6991D64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859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Integración</a:t>
            </a:r>
          </a:p>
        </p:txBody>
      </p:sp>
      <p:sp>
        <p:nvSpPr>
          <p:cNvPr id="13" name="U08-098-card-4-body">
            <a:extLst xmlns:a="http://schemas.openxmlformats.org/drawingml/2006/main">
              <a:ext uri="{FF2B5EF4-FFF2-40B4-BE49-F238E27FC236}">
                <a16:creationId xmlns:a16="http://schemas.microsoft.com/office/drawing/2014/main" id="{38BCB723-B08C-478A-9E54-9EBC5CB4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86025"/>
            <a:ext cx="1704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Explicar qué aporta y limita cada dato</a:t>
            </a:r>
          </a:p>
        </p:txBody>
      </p:sp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4E31D444-315B-4D2B-B446-F1EDB009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 xmlns:a="http://schemas.openxmlformats.org/drawingml/2006/main">
              <a:ext uri="{FF2B5EF4-FFF2-40B4-BE49-F238E27FC236}">
                <a16:creationId xmlns:a16="http://schemas.microsoft.com/office/drawing/2014/main" id="{52A5D781-96E8-43C6-B405-58984A20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 xmlns:a="http://schemas.openxmlformats.org/drawingml/2006/main">
              <a:ext uri="{FF2B5EF4-FFF2-40B4-BE49-F238E27FC236}">
                <a16:creationId xmlns:a16="http://schemas.microsoft.com/office/drawing/2014/main" id="{F202C193-BC05-43B2-B986-58CA7C6A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30DEFDF0-C7A2-4B85-8CD2-C50B045D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4 · RUTA CENTRAL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EE8124B-AA9E-47D3-B677-00898B59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FDC7C1-076D-40D7-96EE-803B32D2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Identifique el dispositivo por su salida física</a:t>
            </a:r>
          </a:p>
        </p:txBody>
      </p:sp>
      <p:sp>
        <p:nvSpPr>
          <p:cNvPr id="2" name="U08-099-question-box">
            <a:extLst xmlns:a="http://schemas.openxmlformats.org/drawingml/2006/main">
              <a:ext uri="{FF2B5EF4-FFF2-40B4-BE49-F238E27FC236}">
                <a16:creationId xmlns:a16="http://schemas.microsoft.com/office/drawing/2014/main" id="{8F557E7B-BEB9-4194-8E2B-F578DF35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6572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8-099-question-title">
            <a:extLst xmlns:a="http://schemas.openxmlformats.org/drawingml/2006/main">
              <a:ext uri="{FF2B5EF4-FFF2-40B4-BE49-F238E27FC236}">
                <a16:creationId xmlns:a16="http://schemas.microsoft.com/office/drawing/2014/main" id="{28555959-AFF0-4F53-BBB0-102F0030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04975"/>
            <a:ext cx="622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U08-099-question-body">
            <a:extLst xmlns:a="http://schemas.openxmlformats.org/drawingml/2006/main">
              <a:ext uri="{FF2B5EF4-FFF2-40B4-BE49-F238E27FC236}">
                <a16:creationId xmlns:a16="http://schemas.microsoft.com/office/drawing/2014/main" id="{56F819E0-0312-423B-98CD-6056D86D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05025"/>
            <a:ext cx="62293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Relacione presión acústica, corriente eléctrica y vibración mecánica con un dispositivo. Justifique con la magnitud, la unidad y el límite de la conclusión.</a:t>
            </a:r>
          </a:p>
        </p:txBody>
      </p:sp>
      <p:sp>
        <p:nvSpPr>
          <p:cNvPr id="5" name="U08-099-guide-1-box">
            <a:extLst xmlns:a="http://schemas.openxmlformats.org/drawingml/2006/main">
              <a:ext uri="{FF2B5EF4-FFF2-40B4-BE49-F238E27FC236}">
                <a16:creationId xmlns:a16="http://schemas.microsoft.com/office/drawing/2014/main" id="{9DF6C5B3-0FEF-4641-AF7C-BEE40F46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716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U08-099-guide-1-title">
            <a:extLst xmlns:a="http://schemas.openxmlformats.org/drawingml/2006/main">
              <a:ext uri="{FF2B5EF4-FFF2-40B4-BE49-F238E27FC236}">
                <a16:creationId xmlns:a16="http://schemas.microsoft.com/office/drawing/2014/main" id="{DC3AD463-3F4E-4E35-9D0E-6FDA2F0E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049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U08-099-guide-1-body">
            <a:extLst xmlns:a="http://schemas.openxmlformats.org/drawingml/2006/main">
              <a:ext uri="{FF2B5EF4-FFF2-40B4-BE49-F238E27FC236}">
                <a16:creationId xmlns:a16="http://schemas.microsoft.com/office/drawing/2014/main" id="{11A46A90-97A0-4D44-A75A-4CBB05CA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050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Identifique la salida física</a:t>
            </a:r>
          </a:p>
        </p:txBody>
      </p:sp>
      <p:sp>
        <p:nvSpPr>
          <p:cNvPr id="8" name="U08-099-guide-2-box">
            <a:extLst xmlns:a="http://schemas.openxmlformats.org/drawingml/2006/main">
              <a:ext uri="{FF2B5EF4-FFF2-40B4-BE49-F238E27FC236}">
                <a16:creationId xmlns:a16="http://schemas.microsoft.com/office/drawing/2014/main" id="{D505F918-ADD0-4ABD-BEB2-0E8680C0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908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U08-099-guide-2-title">
            <a:extLst xmlns:a="http://schemas.openxmlformats.org/drawingml/2006/main">
              <a:ext uri="{FF2B5EF4-FFF2-40B4-BE49-F238E27FC236}">
                <a16:creationId xmlns:a16="http://schemas.microsoft.com/office/drawing/2014/main" id="{7968E876-67EC-4E61-A58D-23ECB36E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241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U08-099-guide-2-body">
            <a:extLst xmlns:a="http://schemas.openxmlformats.org/drawingml/2006/main">
              <a:ext uri="{FF2B5EF4-FFF2-40B4-BE49-F238E27FC236}">
                <a16:creationId xmlns:a16="http://schemas.microsoft.com/office/drawing/2014/main" id="{07AD8A1B-833F-4C63-9B4F-D035D364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242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Nombre su magnitud</a:t>
            </a:r>
          </a:p>
        </p:txBody>
      </p:sp>
      <p:sp>
        <p:nvSpPr>
          <p:cNvPr id="11" name="U08-099-guide-3-box">
            <a:extLst xmlns:a="http://schemas.openxmlformats.org/drawingml/2006/main">
              <a:ext uri="{FF2B5EF4-FFF2-40B4-BE49-F238E27FC236}">
                <a16:creationId xmlns:a16="http://schemas.microsoft.com/office/drawing/2014/main" id="{56B8EA6B-A28B-437E-BB55-C515A45D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10025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2" name="U08-099-guide-3-title">
            <a:extLst xmlns:a="http://schemas.openxmlformats.org/drawingml/2006/main">
              <a:ext uri="{FF2B5EF4-FFF2-40B4-BE49-F238E27FC236}">
                <a16:creationId xmlns:a16="http://schemas.microsoft.com/office/drawing/2014/main" id="{767E4209-5952-470F-86AA-4A829F84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433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U08-099-guide-3-body">
            <a:extLst xmlns:a="http://schemas.openxmlformats.org/drawingml/2006/main">
              <a:ext uri="{FF2B5EF4-FFF2-40B4-BE49-F238E27FC236}">
                <a16:creationId xmlns:a16="http://schemas.microsoft.com/office/drawing/2014/main" id="{59B6A491-7068-4865-858E-B1B85687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43425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indique sólo por la cadena</a:t>
            </a:r>
          </a:p>
        </p:txBody>
      </p:sp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1BE3FDF8-9E4E-466D-9F7E-F908F5D1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 xmlns:a="http://schemas.openxmlformats.org/drawingml/2006/main">
              <a:ext uri="{FF2B5EF4-FFF2-40B4-BE49-F238E27FC236}">
                <a16:creationId xmlns:a16="http://schemas.microsoft.com/office/drawing/2014/main" id="{B3C25236-0DBA-47E4-AEB4-A008EE42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 xmlns:a="http://schemas.openxmlformats.org/drawingml/2006/main">
              <a:ext uri="{FF2B5EF4-FFF2-40B4-BE49-F238E27FC236}">
                <a16:creationId xmlns:a16="http://schemas.microsoft.com/office/drawing/2014/main" id="{95D78557-F89B-403B-83AB-05B76C8F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1C09E5B0-97E1-4230-ADBE-474197B2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4 · RUTA CENTRAL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4BF1C73-8600-4781-8A10-416C2E4E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99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ECE6D7-3B6B-46C3-9BAC-AF7E1630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Fonoaudiología integra medición, comunicación y seguimiento</a:t>
            </a:r>
          </a:p>
        </p:txBody>
      </p:sp>
      <p:sp>
        <p:nvSpPr>
          <p:cNvPr id="2" name="u08-100-professional-anchor-1">
            <a:extLst xmlns:a="http://schemas.openxmlformats.org/drawingml/2006/main">
              <a:ext uri="{FF2B5EF4-FFF2-40B4-BE49-F238E27FC236}">
                <a16:creationId xmlns:a16="http://schemas.microsoft.com/office/drawing/2014/main" id="{9DFFF634-C066-41BC-8178-4E4218BB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2091690" cy="2095500"/>
          </a:xfrm>
          <a:prstGeom xmlns:a="http://schemas.openxmlformats.org/drawingml/2006/main" prst="roundRect">
            <a:avLst>
              <a:gd name="adj" fmla="val 54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u08-100-professional-anchor-2">
            <a:extLst xmlns:a="http://schemas.openxmlformats.org/drawingml/2006/main">
              <a:ext uri="{FF2B5EF4-FFF2-40B4-BE49-F238E27FC236}">
                <a16:creationId xmlns:a16="http://schemas.microsoft.com/office/drawing/2014/main" id="{A4336132-67B4-4AD0-BAE4-F7C9ABB6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015" y="2047875"/>
            <a:ext cx="2091690" cy="2095500"/>
          </a:xfrm>
          <a:prstGeom xmlns:a="http://schemas.openxmlformats.org/drawingml/2006/main" prst="roundRect">
            <a:avLst>
              <a:gd name="adj" fmla="val 54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u08-100-professional-anchor-3">
            <a:extLst xmlns:a="http://schemas.openxmlformats.org/drawingml/2006/main">
              <a:ext uri="{FF2B5EF4-FFF2-40B4-BE49-F238E27FC236}">
                <a16:creationId xmlns:a16="http://schemas.microsoft.com/office/drawing/2014/main" id="{FACF65EB-AAE4-4A71-98A6-31349D25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155" y="2047875"/>
            <a:ext cx="2091690" cy="2095500"/>
          </a:xfrm>
          <a:prstGeom xmlns:a="http://schemas.openxmlformats.org/drawingml/2006/main" prst="roundRect">
            <a:avLst>
              <a:gd name="adj" fmla="val 54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u08-100-professional-anchor-4">
            <a:extLst xmlns:a="http://schemas.openxmlformats.org/drawingml/2006/main">
              <a:ext uri="{FF2B5EF4-FFF2-40B4-BE49-F238E27FC236}">
                <a16:creationId xmlns:a16="http://schemas.microsoft.com/office/drawing/2014/main" id="{599F706A-34AB-478D-B6AD-13F40E55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3295" y="2047875"/>
            <a:ext cx="2091690" cy="2095500"/>
          </a:xfrm>
          <a:prstGeom xmlns:a="http://schemas.openxmlformats.org/drawingml/2006/main" prst="roundRect">
            <a:avLst>
              <a:gd name="adj" fmla="val 54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u08-100-professional-anchor-5">
            <a:extLst xmlns:a="http://schemas.openxmlformats.org/drawingml/2006/main">
              <a:ext uri="{FF2B5EF4-FFF2-40B4-BE49-F238E27FC236}">
                <a16:creationId xmlns:a16="http://schemas.microsoft.com/office/drawing/2014/main" id="{4C19F488-90DA-4C53-9593-FE9A7D60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35" y="2047875"/>
            <a:ext cx="2091690" cy="2095500"/>
          </a:xfrm>
          <a:prstGeom xmlns:a="http://schemas.openxmlformats.org/drawingml/2006/main" prst="roundRect">
            <a:avLst>
              <a:gd name="adj" fmla="val 54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615565" y="30956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878705" y="30956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141845" y="30956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404985" y="30956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1" name="u08-100-professional-1-box">
            <a:extLst xmlns:a="http://schemas.openxmlformats.org/drawingml/2006/main">
              <a:ext uri="{FF2B5EF4-FFF2-40B4-BE49-F238E27FC236}">
                <a16:creationId xmlns:a16="http://schemas.microsoft.com/office/drawing/2014/main" id="{96B7E466-4859-4A90-BECA-B9404EC5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2091690" cy="2095500"/>
          </a:xfrm>
          <a:prstGeom xmlns:a="http://schemas.openxmlformats.org/drawingml/2006/main" prst="roundRect">
            <a:avLst>
              <a:gd name="adj" fmla="val 546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2" name="u08-100-professional-1-title">
            <a:extLst xmlns:a="http://schemas.openxmlformats.org/drawingml/2006/main">
              <a:ext uri="{FF2B5EF4-FFF2-40B4-BE49-F238E27FC236}">
                <a16:creationId xmlns:a16="http://schemas.microsoft.com/office/drawing/2014/main" id="{963A0FAC-75C5-47BD-B4F1-45CAC60D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81225"/>
            <a:ext cx="1748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u08-100-professional-1-body">
            <a:extLst xmlns:a="http://schemas.openxmlformats.org/drawingml/2006/main">
              <a:ext uri="{FF2B5EF4-FFF2-40B4-BE49-F238E27FC236}">
                <a16:creationId xmlns:a16="http://schemas.microsoft.com/office/drawing/2014/main" id="{68641EA1-A192-46E4-AAE0-C2D43A47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81275"/>
            <a:ext cx="174879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Formular la pregunta</a:t>
            </a:r>
          </a:p>
        </p:txBody>
      </p:sp>
      <p:sp>
        <p:nvSpPr>
          <p:cNvPr id="14" name="u08-100-professional-2-box">
            <a:extLst xmlns:a="http://schemas.openxmlformats.org/drawingml/2006/main">
              <a:ext uri="{FF2B5EF4-FFF2-40B4-BE49-F238E27FC236}">
                <a16:creationId xmlns:a16="http://schemas.microsoft.com/office/drawing/2014/main" id="{8986EB22-0F2F-4B18-92C1-65425252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015" y="2047875"/>
            <a:ext cx="2091690" cy="2095500"/>
          </a:xfrm>
          <a:prstGeom xmlns:a="http://schemas.openxmlformats.org/drawingml/2006/main" prst="roundRect">
            <a:avLst>
              <a:gd name="adj" fmla="val 546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5" name="u08-100-professional-2-title">
            <a:extLst xmlns:a="http://schemas.openxmlformats.org/drawingml/2006/main">
              <a:ext uri="{FF2B5EF4-FFF2-40B4-BE49-F238E27FC236}">
                <a16:creationId xmlns:a16="http://schemas.microsoft.com/office/drawing/2014/main" id="{A9043F87-AC17-42BD-B027-9D209663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" y="2181225"/>
            <a:ext cx="1748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u08-100-professional-2-body">
            <a:extLst xmlns:a="http://schemas.openxmlformats.org/drawingml/2006/main">
              <a:ext uri="{FF2B5EF4-FFF2-40B4-BE49-F238E27FC236}">
                <a16:creationId xmlns:a16="http://schemas.microsoft.com/office/drawing/2014/main" id="{0BDB72CF-611C-4412-A1BC-08153309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" y="2581275"/>
            <a:ext cx="174879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Recuperar antecedentes</a:t>
            </a:r>
          </a:p>
        </p:txBody>
      </p:sp>
      <p:sp>
        <p:nvSpPr>
          <p:cNvPr id="17" name="u08-100-professional-3-box">
            <a:extLst xmlns:a="http://schemas.openxmlformats.org/drawingml/2006/main">
              <a:ext uri="{FF2B5EF4-FFF2-40B4-BE49-F238E27FC236}">
                <a16:creationId xmlns:a16="http://schemas.microsoft.com/office/drawing/2014/main" id="{8DDB3A2E-E72F-416C-BCBF-DFC08EDE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155" y="2047875"/>
            <a:ext cx="2091690" cy="2095500"/>
          </a:xfrm>
          <a:prstGeom xmlns:a="http://schemas.openxmlformats.org/drawingml/2006/main" prst="roundRect">
            <a:avLst>
              <a:gd name="adj" fmla="val 546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8" name="u08-100-professional-3-title">
            <a:extLst xmlns:a="http://schemas.openxmlformats.org/drawingml/2006/main">
              <a:ext uri="{FF2B5EF4-FFF2-40B4-BE49-F238E27FC236}">
                <a16:creationId xmlns:a16="http://schemas.microsoft.com/office/drawing/2014/main" id="{CBF2F208-E95C-4FB2-9B27-C9BC1EB4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605" y="2181225"/>
            <a:ext cx="1748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u08-100-professional-3-body">
            <a:extLst xmlns:a="http://schemas.openxmlformats.org/drawingml/2006/main">
              <a:ext uri="{FF2B5EF4-FFF2-40B4-BE49-F238E27FC236}">
                <a16:creationId xmlns:a16="http://schemas.microsoft.com/office/drawing/2014/main" id="{23DC8CCF-ACAB-443D-9496-258CA58D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605" y="2581275"/>
            <a:ext cx="174879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Seleccionar pruebas</a:t>
            </a:r>
          </a:p>
        </p:txBody>
      </p:sp>
      <p:sp>
        <p:nvSpPr>
          <p:cNvPr id="20" name="u08-100-professional-4-box">
            <a:extLst xmlns:a="http://schemas.openxmlformats.org/drawingml/2006/main">
              <a:ext uri="{FF2B5EF4-FFF2-40B4-BE49-F238E27FC236}">
                <a16:creationId xmlns:a16="http://schemas.microsoft.com/office/drawing/2014/main" id="{CB9D339B-E411-4573-AB65-90A1FFE6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3295" y="2047875"/>
            <a:ext cx="2091690" cy="2095500"/>
          </a:xfrm>
          <a:prstGeom xmlns:a="http://schemas.openxmlformats.org/drawingml/2006/main" prst="roundRect">
            <a:avLst>
              <a:gd name="adj" fmla="val 546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21" name="u08-100-professional-4-title">
            <a:extLst xmlns:a="http://schemas.openxmlformats.org/drawingml/2006/main">
              <a:ext uri="{FF2B5EF4-FFF2-40B4-BE49-F238E27FC236}">
                <a16:creationId xmlns:a16="http://schemas.microsoft.com/office/drawing/2014/main" id="{2B7DEDCA-7044-45B1-9A36-EFA3FEBA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4745" y="2181225"/>
            <a:ext cx="1748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2" name="u08-100-professional-4-body">
            <a:extLst xmlns:a="http://schemas.openxmlformats.org/drawingml/2006/main">
              <a:ext uri="{FF2B5EF4-FFF2-40B4-BE49-F238E27FC236}">
                <a16:creationId xmlns:a16="http://schemas.microsoft.com/office/drawing/2014/main" id="{5B445483-4B93-42EB-A07F-CBAEE9EC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4745" y="2581275"/>
            <a:ext cx="174879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Controlar condiciones</a:t>
            </a:r>
          </a:p>
        </p:txBody>
      </p:sp>
      <p:sp>
        <p:nvSpPr>
          <p:cNvPr id="23" name="u08-100-professional-5-box">
            <a:extLst xmlns:a="http://schemas.openxmlformats.org/drawingml/2006/main">
              <a:ext uri="{FF2B5EF4-FFF2-40B4-BE49-F238E27FC236}">
                <a16:creationId xmlns:a16="http://schemas.microsoft.com/office/drawing/2014/main" id="{DFC6745D-28B1-4E89-8830-99658ADF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35" y="2047875"/>
            <a:ext cx="2091690" cy="2095500"/>
          </a:xfrm>
          <a:prstGeom xmlns:a="http://schemas.openxmlformats.org/drawingml/2006/main" prst="roundRect">
            <a:avLst>
              <a:gd name="adj" fmla="val 546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24" name="u08-100-professional-5-title">
            <a:extLst xmlns:a="http://schemas.openxmlformats.org/drawingml/2006/main">
              <a:ext uri="{FF2B5EF4-FFF2-40B4-BE49-F238E27FC236}">
                <a16:creationId xmlns:a16="http://schemas.microsoft.com/office/drawing/2014/main" id="{2F7558C9-DAE9-4428-B46B-301DB8D1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885" y="2181225"/>
            <a:ext cx="1748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5" name="u08-100-professional-5-body">
            <a:extLst xmlns:a="http://schemas.openxmlformats.org/drawingml/2006/main">
              <a:ext uri="{FF2B5EF4-FFF2-40B4-BE49-F238E27FC236}">
                <a16:creationId xmlns:a16="http://schemas.microsoft.com/office/drawing/2014/main" id="{E6EFDD04-0031-4AFB-B71A-C124B234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885" y="2581275"/>
            <a:ext cx="174879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Integrar, comunicar y seguir</a:t>
            </a:r>
          </a:p>
        </p:txBody>
      </p:sp>
      <p:sp>
        <p:nvSpPr>
          <p:cNvPr id="26" name="top-rail-1">
            <a:extLst xmlns:a="http://schemas.openxmlformats.org/drawingml/2006/main">
              <a:ext uri="{FF2B5EF4-FFF2-40B4-BE49-F238E27FC236}">
                <a16:creationId xmlns:a16="http://schemas.microsoft.com/office/drawing/2014/main" id="{80463EFB-11AB-41F6-8BB3-0A3B166C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7" name="top-rail-2">
            <a:extLst xmlns:a="http://schemas.openxmlformats.org/drawingml/2006/main">
              <a:ext uri="{FF2B5EF4-FFF2-40B4-BE49-F238E27FC236}">
                <a16:creationId xmlns:a16="http://schemas.microsoft.com/office/drawing/2014/main" id="{1390D546-8456-4F06-9912-64B74D5D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8" name="top-rail-3">
            <a:extLst xmlns:a="http://schemas.openxmlformats.org/drawingml/2006/main">
              <a:ext uri="{FF2B5EF4-FFF2-40B4-BE49-F238E27FC236}">
                <a16:creationId xmlns:a16="http://schemas.microsoft.com/office/drawing/2014/main" id="{8F3F5D4F-865C-4BA1-9E29-EDF4CAB1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CDB3C0DF-6B42-4D6A-A4D0-CBE7ECA9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4 · RUTA CENTRAL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51986E6-43F0-43B0-8FBF-7350313F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FC4869-074B-4735-B76A-357ADD9F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Seis preguntas permiten revisar cualquier estudio o dispositivo</a:t>
            </a:r>
          </a:p>
        </p:txBody>
      </p:sp>
      <p:sp>
        <p:nvSpPr>
          <p:cNvPr id="2" name="recap-1-box">
            <a:extLst xmlns:a="http://schemas.openxmlformats.org/drawingml/2006/main">
              <a:ext uri="{FF2B5EF4-FFF2-40B4-BE49-F238E27FC236}">
                <a16:creationId xmlns:a16="http://schemas.microsoft.com/office/drawing/2014/main" id="{5542BFEB-3247-49D2-86B1-6DD2A4E6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714500" cy="27146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F0DC4C95-BDDD-438E-A9FF-7E54EF6A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2929C9B6-172C-467B-ACA3-DB390313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1371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entra?</a:t>
            </a:r>
          </a:p>
        </p:txBody>
      </p:sp>
      <p:sp>
        <p:nvSpPr>
          <p:cNvPr id="5" name="recap-2-box">
            <a:extLst xmlns:a="http://schemas.openxmlformats.org/drawingml/2006/main">
              <a:ext uri="{FF2B5EF4-FFF2-40B4-BE49-F238E27FC236}">
                <a16:creationId xmlns:a16="http://schemas.microsoft.com/office/drawing/2014/main" id="{DB89F385-6EF9-411D-BEE7-F44579AF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00250"/>
            <a:ext cx="1714500" cy="27146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98408D55-9EB6-45D5-AFAC-C8EEA171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33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2961508B-D3C4-4C5C-83AF-A28B5B2F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33650"/>
            <a:ext cx="1371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sistema interviene?</a:t>
            </a:r>
          </a:p>
        </p:txBody>
      </p:sp>
      <p:sp>
        <p:nvSpPr>
          <p:cNvPr id="8" name="recap-3-box">
            <a:extLst xmlns:a="http://schemas.openxmlformats.org/drawingml/2006/main">
              <a:ext uri="{FF2B5EF4-FFF2-40B4-BE49-F238E27FC236}">
                <a16:creationId xmlns:a16="http://schemas.microsoft.com/office/drawing/2014/main" id="{481770F9-A010-4C86-AD31-1309A9AA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714500" cy="27146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328E783C-8166-4EC3-9909-002402B1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33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0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8C63B6A1-5144-481B-9989-ED9AF391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33650"/>
            <a:ext cx="1371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se transforma?</a:t>
            </a:r>
          </a:p>
        </p:txBody>
      </p:sp>
      <p:sp>
        <p:nvSpPr>
          <p:cNvPr id="11" name="recap-4-box">
            <a:extLst xmlns:a="http://schemas.openxmlformats.org/drawingml/2006/main">
              <a:ext uri="{FF2B5EF4-FFF2-40B4-BE49-F238E27FC236}">
                <a16:creationId xmlns:a16="http://schemas.microsoft.com/office/drawing/2014/main" id="{A540C6C2-8397-47B4-A612-54CE066A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1714500" cy="27146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2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B77AA5C4-37B1-4F86-964D-97850286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3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B79243AA-65CE-41A5-8263-0F2474F5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33650"/>
            <a:ext cx="1371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se registra o entrega?</a:t>
            </a:r>
          </a:p>
        </p:txBody>
      </p:sp>
      <p:sp>
        <p:nvSpPr>
          <p:cNvPr id="14" name="recap-5-box">
            <a:extLst xmlns:a="http://schemas.openxmlformats.org/drawingml/2006/main">
              <a:ext uri="{FF2B5EF4-FFF2-40B4-BE49-F238E27FC236}">
                <a16:creationId xmlns:a16="http://schemas.microsoft.com/office/drawing/2014/main" id="{39CC669A-591F-4067-BA1D-004A806A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00250"/>
            <a:ext cx="1714500" cy="27146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5" name="recap-5-title">
            <a:extLst xmlns:a="http://schemas.openxmlformats.org/drawingml/2006/main">
              <a:ext uri="{FF2B5EF4-FFF2-40B4-BE49-F238E27FC236}">
                <a16:creationId xmlns:a16="http://schemas.microsoft.com/office/drawing/2014/main" id="{97558CC7-F8B1-4440-AF4D-EF10B3B2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33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6" name="recap-5-body">
            <a:extLst xmlns:a="http://schemas.openxmlformats.org/drawingml/2006/main">
              <a:ext uri="{FF2B5EF4-FFF2-40B4-BE49-F238E27FC236}">
                <a16:creationId xmlns:a16="http://schemas.microsoft.com/office/drawing/2014/main" id="{11796E79-6FA4-4661-85FB-1D309223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33650"/>
            <a:ext cx="1371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¿En qué magnitud y unidad?</a:t>
            </a:r>
          </a:p>
        </p:txBody>
      </p:sp>
      <p:sp>
        <p:nvSpPr>
          <p:cNvPr id="17" name="recap-6-box">
            <a:extLst xmlns:a="http://schemas.openxmlformats.org/drawingml/2006/main">
              <a:ext uri="{FF2B5EF4-FFF2-40B4-BE49-F238E27FC236}">
                <a16:creationId xmlns:a16="http://schemas.microsoft.com/office/drawing/2014/main" id="{4B16849D-9CCB-415C-8362-5B57165F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00250"/>
            <a:ext cx="1714500" cy="27146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8" name="recap-6-title">
            <a:extLst xmlns:a="http://schemas.openxmlformats.org/drawingml/2006/main">
              <a:ext uri="{FF2B5EF4-FFF2-40B4-BE49-F238E27FC236}">
                <a16:creationId xmlns:a16="http://schemas.microsoft.com/office/drawing/2014/main" id="{20059434-9A9F-4FE7-B1EE-D9AB297A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133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19" name="recap-6-body">
            <a:extLst xmlns:a="http://schemas.openxmlformats.org/drawingml/2006/main">
              <a:ext uri="{FF2B5EF4-FFF2-40B4-BE49-F238E27FC236}">
                <a16:creationId xmlns:a16="http://schemas.microsoft.com/office/drawing/2014/main" id="{499104C0-033A-44E5-83F9-30FED5D4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33650"/>
            <a:ext cx="1371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no permite concluir?</a:t>
            </a:r>
          </a:p>
        </p:txBody>
      </p:sp>
      <p:sp>
        <p:nvSpPr>
          <p:cNvPr id="20" name="top-rail-1">
            <a:extLst xmlns:a="http://schemas.openxmlformats.org/drawingml/2006/main">
              <a:ext uri="{FF2B5EF4-FFF2-40B4-BE49-F238E27FC236}">
                <a16:creationId xmlns:a16="http://schemas.microsoft.com/office/drawing/2014/main" id="{2AC95760-D4F4-4005-926F-D36C04E7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1" name="top-rail-2">
            <a:extLst xmlns:a="http://schemas.openxmlformats.org/drawingml/2006/main">
              <a:ext uri="{FF2B5EF4-FFF2-40B4-BE49-F238E27FC236}">
                <a16:creationId xmlns:a16="http://schemas.microsoft.com/office/drawing/2014/main" id="{85A42237-0283-4EE0-9A27-EA4FBEC9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2" name="top-rail-3">
            <a:extLst xmlns:a="http://schemas.openxmlformats.org/drawingml/2006/main">
              <a:ext uri="{FF2B5EF4-FFF2-40B4-BE49-F238E27FC236}">
                <a16:creationId xmlns:a16="http://schemas.microsoft.com/office/drawing/2014/main" id="{0C41EC96-4332-49E8-B92C-D26CBF61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EDF3830F-D102-40E7-B9AF-DF4A4C91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4 · RUTA CENTRAL</a:t>
            </a:r>
          </a:p>
        </p:txBody>
      </p:sp>
      <p:sp>
        <p:nvSpPr>
          <p:cNvPr id="2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1404B76-5675-422C-B071-8D71BED9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101</a:t>
            </a:r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54C6A701-CDC7-4AF8-9270-51D8776B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8 · ENCUENTRO 4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E0F88CE9-92F6-4893-B077-1BB446B8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 la evaluación auditiva a la exposición y el ruido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550AD37-6072-442C-92C0-92849170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102</a:t>
            </a:r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0C8D21-FD92-4CE1-A04F-2CD5804D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Respaldo: escalas, tablas, cálculos y fuentes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CF07DC1-F1EE-4288-8124-4B2C4C81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consulta no lineal</a:t>
            </a:r>
          </a:p>
        </p:txBody>
      </p:sp>
      <p:sp>
        <p:nvSpPr>
          <p:cNvPr id="3" name="U08-103-map-anchor-1">
            <a:extLst xmlns:a="http://schemas.openxmlformats.org/drawingml/2006/main">
              <a:ext uri="{FF2B5EF4-FFF2-40B4-BE49-F238E27FC236}">
                <a16:creationId xmlns:a16="http://schemas.microsoft.com/office/drawing/2014/main" id="{413AFB4F-3B07-4151-B74F-0751711A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207645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U08-103-map-anchor-2">
            <a:extLst xmlns:a="http://schemas.openxmlformats.org/drawingml/2006/main">
              <a:ext uri="{FF2B5EF4-FFF2-40B4-BE49-F238E27FC236}">
                <a16:creationId xmlns:a16="http://schemas.microsoft.com/office/drawing/2014/main" id="{2934AA56-9494-4FF1-A794-B647D7FF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143125"/>
            <a:ext cx="207645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U08-103-map-anchor-3">
            <a:extLst xmlns:a="http://schemas.openxmlformats.org/drawingml/2006/main">
              <a:ext uri="{FF2B5EF4-FFF2-40B4-BE49-F238E27FC236}">
                <a16:creationId xmlns:a16="http://schemas.microsoft.com/office/drawing/2014/main" id="{3A17E7A7-1C22-43E7-93E5-27FE3318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143125"/>
            <a:ext cx="207645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U08-103-map-anchor-4">
            <a:extLst xmlns:a="http://schemas.openxmlformats.org/drawingml/2006/main">
              <a:ext uri="{FF2B5EF4-FFF2-40B4-BE49-F238E27FC236}">
                <a16:creationId xmlns:a16="http://schemas.microsoft.com/office/drawing/2014/main" id="{AF038018-51D0-476A-99C8-6833796C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43125"/>
            <a:ext cx="207645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08-103-map-anchor-5">
            <a:extLst xmlns:a="http://schemas.openxmlformats.org/drawingml/2006/main">
              <a:ext uri="{FF2B5EF4-FFF2-40B4-BE49-F238E27FC236}">
                <a16:creationId xmlns:a16="http://schemas.microsoft.com/office/drawing/2014/main" id="{8B8C9E8D-7EB5-4D99-B76C-4177A96F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143125"/>
            <a:ext cx="207645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600325" y="31432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867275" y="31432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134225" y="31432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401175" y="31432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2" name="U08-103-map-1-box">
            <a:extLst xmlns:a="http://schemas.openxmlformats.org/drawingml/2006/main">
              <a:ext uri="{FF2B5EF4-FFF2-40B4-BE49-F238E27FC236}">
                <a16:creationId xmlns:a16="http://schemas.microsoft.com/office/drawing/2014/main" id="{CC5EAA2E-CDA1-4E2D-B0BE-2469790F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20764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3" name="U08-103-map-1-title">
            <a:extLst xmlns:a="http://schemas.openxmlformats.org/drawingml/2006/main">
              <a:ext uri="{FF2B5EF4-FFF2-40B4-BE49-F238E27FC236}">
                <a16:creationId xmlns:a16="http://schemas.microsoft.com/office/drawing/2014/main" id="{8BC2893A-E514-4C7C-9015-58E2460D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764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Escalas</a:t>
            </a:r>
          </a:p>
        </p:txBody>
      </p:sp>
      <p:sp>
        <p:nvSpPr>
          <p:cNvPr id="14" name="U08-103-map-1-body">
            <a:extLst xmlns:a="http://schemas.openxmlformats.org/drawingml/2006/main">
              <a:ext uri="{FF2B5EF4-FFF2-40B4-BE49-F238E27FC236}">
                <a16:creationId xmlns:a16="http://schemas.microsoft.com/office/drawing/2014/main" id="{BB4803FB-FD9E-445B-B86F-5F59C15F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76525"/>
            <a:ext cx="1733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U08-104</a:t>
            </a:r>
          </a:p>
        </p:txBody>
      </p:sp>
      <p:sp>
        <p:nvSpPr>
          <p:cNvPr id="15" name="U08-103-map-2-box">
            <a:extLst xmlns:a="http://schemas.openxmlformats.org/drawingml/2006/main">
              <a:ext uri="{FF2B5EF4-FFF2-40B4-BE49-F238E27FC236}">
                <a16:creationId xmlns:a16="http://schemas.microsoft.com/office/drawing/2014/main" id="{6B2FEC71-40C2-4942-8490-4399AD9A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143125"/>
            <a:ext cx="20764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6" name="U08-103-map-2-title">
            <a:extLst xmlns:a="http://schemas.openxmlformats.org/drawingml/2006/main">
              <a:ext uri="{FF2B5EF4-FFF2-40B4-BE49-F238E27FC236}">
                <a16:creationId xmlns:a16="http://schemas.microsoft.com/office/drawing/2014/main" id="{50FE3323-84D2-4193-B031-8200EEBF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2764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Estudios</a:t>
            </a:r>
          </a:p>
        </p:txBody>
      </p:sp>
      <p:sp>
        <p:nvSpPr>
          <p:cNvPr id="17" name="U08-103-map-2-body">
            <a:extLst xmlns:a="http://schemas.openxmlformats.org/drawingml/2006/main">
              <a:ext uri="{FF2B5EF4-FFF2-40B4-BE49-F238E27FC236}">
                <a16:creationId xmlns:a16="http://schemas.microsoft.com/office/drawing/2014/main" id="{6B4A03CA-0F3E-4F18-9109-E4CE04A1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76525"/>
            <a:ext cx="1733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U08-105</a:t>
            </a:r>
          </a:p>
        </p:txBody>
      </p:sp>
      <p:sp>
        <p:nvSpPr>
          <p:cNvPr id="18" name="U08-103-map-3-box">
            <a:extLst xmlns:a="http://schemas.openxmlformats.org/drawingml/2006/main">
              <a:ext uri="{FF2B5EF4-FFF2-40B4-BE49-F238E27FC236}">
                <a16:creationId xmlns:a16="http://schemas.microsoft.com/office/drawing/2014/main" id="{B1450C13-16DE-40EB-A07F-7705E75E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143125"/>
            <a:ext cx="20764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9" name="U08-103-map-3-title">
            <a:extLst xmlns:a="http://schemas.openxmlformats.org/drawingml/2006/main">
              <a:ext uri="{FF2B5EF4-FFF2-40B4-BE49-F238E27FC236}">
                <a16:creationId xmlns:a16="http://schemas.microsoft.com/office/drawing/2014/main" id="{53D17874-A5A9-4547-97BB-4E905EE7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2764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Dispositivos</a:t>
            </a:r>
          </a:p>
        </p:txBody>
      </p:sp>
      <p:sp>
        <p:nvSpPr>
          <p:cNvPr id="20" name="U08-103-map-3-body">
            <a:extLst xmlns:a="http://schemas.openxmlformats.org/drawingml/2006/main">
              <a:ext uri="{FF2B5EF4-FFF2-40B4-BE49-F238E27FC236}">
                <a16:creationId xmlns:a16="http://schemas.microsoft.com/office/drawing/2014/main" id="{F32B385F-BACC-47EB-8074-3C2FC057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676525"/>
            <a:ext cx="1733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U08-106</a:t>
            </a:r>
          </a:p>
        </p:txBody>
      </p:sp>
      <p:sp>
        <p:nvSpPr>
          <p:cNvPr id="21" name="U08-103-map-4-box">
            <a:extLst xmlns:a="http://schemas.openxmlformats.org/drawingml/2006/main">
              <a:ext uri="{FF2B5EF4-FFF2-40B4-BE49-F238E27FC236}">
                <a16:creationId xmlns:a16="http://schemas.microsoft.com/office/drawing/2014/main" id="{14F579E4-47C5-417E-88B6-355BF359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43125"/>
            <a:ext cx="20764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22" name="U08-103-map-4-title">
            <a:extLst xmlns:a="http://schemas.openxmlformats.org/drawingml/2006/main">
              <a:ext uri="{FF2B5EF4-FFF2-40B4-BE49-F238E27FC236}">
                <a16:creationId xmlns:a16="http://schemas.microsoft.com/office/drawing/2014/main" id="{2CF95BE7-E722-4C0D-8191-65D3040B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2764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Ejercicios</a:t>
            </a:r>
          </a:p>
        </p:txBody>
      </p:sp>
      <p:sp>
        <p:nvSpPr>
          <p:cNvPr id="23" name="U08-103-map-4-body">
            <a:extLst xmlns:a="http://schemas.openxmlformats.org/drawingml/2006/main">
              <a:ext uri="{FF2B5EF4-FFF2-40B4-BE49-F238E27FC236}">
                <a16:creationId xmlns:a16="http://schemas.microsoft.com/office/drawing/2014/main" id="{B3FC69E1-93A9-4495-A11E-CC34669D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676525"/>
            <a:ext cx="1733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U08-107–110</a:t>
            </a:r>
          </a:p>
        </p:txBody>
      </p:sp>
      <p:sp>
        <p:nvSpPr>
          <p:cNvPr id="24" name="U08-103-map-5-box">
            <a:extLst xmlns:a="http://schemas.openxmlformats.org/drawingml/2006/main">
              <a:ext uri="{FF2B5EF4-FFF2-40B4-BE49-F238E27FC236}">
                <a16:creationId xmlns:a16="http://schemas.microsoft.com/office/drawing/2014/main" id="{8A878E45-F56F-423F-B3B0-7CEC6AC0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143125"/>
            <a:ext cx="20764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25" name="U08-103-map-5-title">
            <a:extLst xmlns:a="http://schemas.openxmlformats.org/drawingml/2006/main">
              <a:ext uri="{FF2B5EF4-FFF2-40B4-BE49-F238E27FC236}">
                <a16:creationId xmlns:a16="http://schemas.microsoft.com/office/drawing/2014/main" id="{5B607A30-40C3-41F6-BD6A-25C4C067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764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Fuentes</a:t>
            </a:r>
          </a:p>
        </p:txBody>
      </p:sp>
      <p:sp>
        <p:nvSpPr>
          <p:cNvPr id="26" name="U08-103-map-5-body">
            <a:extLst xmlns:a="http://schemas.openxmlformats.org/drawingml/2006/main">
              <a:ext uri="{FF2B5EF4-FFF2-40B4-BE49-F238E27FC236}">
                <a16:creationId xmlns:a16="http://schemas.microsoft.com/office/drawing/2014/main" id="{5EBB2910-B4FF-419F-8961-64DB18D5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676525"/>
            <a:ext cx="1733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U08-111–114</a:t>
            </a:r>
          </a:p>
        </p:txBody>
      </p:sp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B6B520F9-98A0-470A-93AC-0191F722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8" name="top-rail-2">
            <a:extLst xmlns:a="http://schemas.openxmlformats.org/drawingml/2006/main">
              <a:ext uri="{FF2B5EF4-FFF2-40B4-BE49-F238E27FC236}">
                <a16:creationId xmlns:a16="http://schemas.microsoft.com/office/drawing/2014/main" id="{02384B83-7202-42B1-83BB-DD73DF3E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9" name="top-rail-3">
            <a:extLst xmlns:a="http://schemas.openxmlformats.org/drawingml/2006/main">
              <a:ext uri="{FF2B5EF4-FFF2-40B4-BE49-F238E27FC236}">
                <a16:creationId xmlns:a16="http://schemas.microsoft.com/office/drawing/2014/main" id="{A6EFE2B7-530F-4E7B-8CF6-D86FFC9F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3E1F65FE-CEDC-49E8-B2A3-145602B1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CA9C8E1-CD29-4F6F-97B8-AD7F0063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103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F1CE7C-AF47-4405-9619-F770990C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dB SPL, dB HL y dB SL: referencia rápida</a:t>
            </a:r>
          </a:p>
        </p:txBody>
      </p:sp>
      <p:sp>
        <p:nvSpPr>
          <p:cNvPr id="2" name="U08-104-scales-0-0-box">
            <a:extLst xmlns:a="http://schemas.openxmlformats.org/drawingml/2006/main">
              <a:ext uri="{FF2B5EF4-FFF2-40B4-BE49-F238E27FC236}">
                <a16:creationId xmlns:a16="http://schemas.microsoft.com/office/drawing/2014/main" id="{622F3098-A95C-462F-B731-ABC7067F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147188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3" name="U08-104-scales-0-0-text">
            <a:extLst xmlns:a="http://schemas.openxmlformats.org/drawingml/2006/main">
              <a:ext uri="{FF2B5EF4-FFF2-40B4-BE49-F238E27FC236}">
                <a16:creationId xmlns:a16="http://schemas.microsoft.com/office/drawing/2014/main" id="{ED941CED-F7D4-4A93-8919-9B4A1995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628775"/>
            <a:ext cx="131948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Escala</a:t>
            </a:r>
          </a:p>
        </p:txBody>
      </p:sp>
      <p:sp>
        <p:nvSpPr>
          <p:cNvPr id="4" name="U08-104-scales-0-1-box">
            <a:extLst xmlns:a="http://schemas.openxmlformats.org/drawingml/2006/main">
              <a:ext uri="{FF2B5EF4-FFF2-40B4-BE49-F238E27FC236}">
                <a16:creationId xmlns:a16="http://schemas.microsoft.com/office/drawing/2014/main" id="{498865EB-A9C5-4293-A72F-3422C0A4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757" y="1571625"/>
            <a:ext cx="336430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5" name="U08-104-scales-0-1-text">
            <a:extLst xmlns:a="http://schemas.openxmlformats.org/drawingml/2006/main">
              <a:ext uri="{FF2B5EF4-FFF2-40B4-BE49-F238E27FC236}">
                <a16:creationId xmlns:a16="http://schemas.microsoft.com/office/drawing/2014/main" id="{8525DE47-830F-4D6E-A7D6-700289B1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957" y="1628775"/>
            <a:ext cx="321190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Referencia</a:t>
            </a:r>
          </a:p>
        </p:txBody>
      </p:sp>
      <p:sp>
        <p:nvSpPr>
          <p:cNvPr id="6" name="U08-104-scales-0-2-box">
            <a:extLst xmlns:a="http://schemas.openxmlformats.org/drawingml/2006/main">
              <a:ext uri="{FF2B5EF4-FFF2-40B4-BE49-F238E27FC236}">
                <a16:creationId xmlns:a16="http://schemas.microsoft.com/office/drawing/2014/main" id="{5DA2A5C7-E08E-4636-9E76-98F5DAA5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059" y="1571625"/>
            <a:ext cx="2943764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7" name="U08-104-scales-0-2-text">
            <a:extLst xmlns:a="http://schemas.openxmlformats.org/drawingml/2006/main">
              <a:ext uri="{FF2B5EF4-FFF2-40B4-BE49-F238E27FC236}">
                <a16:creationId xmlns:a16="http://schemas.microsoft.com/office/drawing/2014/main" id="{221DB178-90B4-4B1B-A33D-EC12BF7F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259" y="1628775"/>
            <a:ext cx="2791364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Uso típico</a:t>
            </a:r>
          </a:p>
        </p:txBody>
      </p:sp>
      <p:sp>
        <p:nvSpPr>
          <p:cNvPr id="8" name="U08-104-scales-0-3-box">
            <a:extLst xmlns:a="http://schemas.openxmlformats.org/drawingml/2006/main">
              <a:ext uri="{FF2B5EF4-FFF2-40B4-BE49-F238E27FC236}">
                <a16:creationId xmlns:a16="http://schemas.microsoft.com/office/drawing/2014/main" id="{EB9791E3-1BB3-4037-924F-1EF5B197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823" y="1571625"/>
            <a:ext cx="336430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9" name="U08-104-scales-0-3-text">
            <a:extLst xmlns:a="http://schemas.openxmlformats.org/drawingml/2006/main">
              <a:ext uri="{FF2B5EF4-FFF2-40B4-BE49-F238E27FC236}">
                <a16:creationId xmlns:a16="http://schemas.microsoft.com/office/drawing/2014/main" id="{E8E02BF1-41E6-4B8E-80C4-961E740F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023" y="1628775"/>
            <a:ext cx="321190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Operación válida / límite</a:t>
            </a:r>
          </a:p>
        </p:txBody>
      </p:sp>
      <p:sp>
        <p:nvSpPr>
          <p:cNvPr id="10" name="U08-104-scales-1-0-box">
            <a:extLst xmlns:a="http://schemas.openxmlformats.org/drawingml/2006/main">
              <a:ext uri="{FF2B5EF4-FFF2-40B4-BE49-F238E27FC236}">
                <a16:creationId xmlns:a16="http://schemas.microsoft.com/office/drawing/2014/main" id="{0C06707E-1CAB-4038-AB17-41142578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05075"/>
            <a:ext cx="147188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1" name="U08-104-scales-1-0-text">
            <a:extLst xmlns:a="http://schemas.openxmlformats.org/drawingml/2006/main">
              <a:ext uri="{FF2B5EF4-FFF2-40B4-BE49-F238E27FC236}">
                <a16:creationId xmlns:a16="http://schemas.microsoft.com/office/drawing/2014/main" id="{8346328E-EEB7-4D51-910F-04437A73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62225"/>
            <a:ext cx="131948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SPL</a:t>
            </a:r>
          </a:p>
        </p:txBody>
      </p:sp>
      <p:sp>
        <p:nvSpPr>
          <p:cNvPr id="12" name="U08-104-scales-1-1-box">
            <a:extLst xmlns:a="http://schemas.openxmlformats.org/drawingml/2006/main">
              <a:ext uri="{FF2B5EF4-FFF2-40B4-BE49-F238E27FC236}">
                <a16:creationId xmlns:a16="http://schemas.microsoft.com/office/drawing/2014/main" id="{FEBE83DA-ABD1-42A3-9E68-6A239F55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757" y="2505075"/>
            <a:ext cx="336430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3" name="U08-104-scales-1-1-text">
            <a:extLst xmlns:a="http://schemas.openxmlformats.org/drawingml/2006/main">
              <a:ext uri="{FF2B5EF4-FFF2-40B4-BE49-F238E27FC236}">
                <a16:creationId xmlns:a16="http://schemas.microsoft.com/office/drawing/2014/main" id="{FD54C41F-561F-42F6-9DAF-53C84D07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957" y="2562225"/>
            <a:ext cx="321190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acústica física</a:t>
            </a:r>
          </a:p>
        </p:txBody>
      </p:sp>
      <p:sp>
        <p:nvSpPr>
          <p:cNvPr id="14" name="U08-104-scales-1-2-box">
            <a:extLst xmlns:a="http://schemas.openxmlformats.org/drawingml/2006/main">
              <a:ext uri="{FF2B5EF4-FFF2-40B4-BE49-F238E27FC236}">
                <a16:creationId xmlns:a16="http://schemas.microsoft.com/office/drawing/2014/main" id="{DE09AE5C-E614-4986-8515-7AADF608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059" y="2505075"/>
            <a:ext cx="2943764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5" name="U08-104-scales-1-2-text">
            <a:extLst xmlns:a="http://schemas.openxmlformats.org/drawingml/2006/main">
              <a:ext uri="{FF2B5EF4-FFF2-40B4-BE49-F238E27FC236}">
                <a16:creationId xmlns:a16="http://schemas.microsoft.com/office/drawing/2014/main" id="{55AA599D-02ED-4BA1-86B5-DBDEF894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259" y="2562225"/>
            <a:ext cx="2791364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Señales y salidas acústicas</a:t>
            </a:r>
          </a:p>
        </p:txBody>
      </p:sp>
      <p:sp>
        <p:nvSpPr>
          <p:cNvPr id="16" name="U08-104-scales-1-3-box">
            <a:extLst xmlns:a="http://schemas.openxmlformats.org/drawingml/2006/main">
              <a:ext uri="{FF2B5EF4-FFF2-40B4-BE49-F238E27FC236}">
                <a16:creationId xmlns:a16="http://schemas.microsoft.com/office/drawing/2014/main" id="{3353B8FC-D666-4071-85BB-5D447705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823" y="2505075"/>
            <a:ext cx="336430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7" name="U08-104-scales-1-3-text">
            <a:extLst xmlns:a="http://schemas.openxmlformats.org/drawingml/2006/main">
              <a:ext uri="{FF2B5EF4-FFF2-40B4-BE49-F238E27FC236}">
                <a16:creationId xmlns:a16="http://schemas.microsoft.com/office/drawing/2014/main" id="{8B69BD4A-7E9C-4EC2-A203-988E5F5F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023" y="2562225"/>
            <a:ext cx="321190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convertir a HL sin referencia</a:t>
            </a:r>
          </a:p>
        </p:txBody>
      </p:sp>
      <p:sp>
        <p:nvSpPr>
          <p:cNvPr id="18" name="U08-104-scales-2-0-box">
            <a:extLst xmlns:a="http://schemas.openxmlformats.org/drawingml/2006/main">
              <a:ext uri="{FF2B5EF4-FFF2-40B4-BE49-F238E27FC236}">
                <a16:creationId xmlns:a16="http://schemas.microsoft.com/office/drawing/2014/main" id="{48DBE2CF-101F-4031-8EFC-2BACF9C3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38525"/>
            <a:ext cx="147188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9" name="U08-104-scales-2-0-text">
            <a:extLst xmlns:a="http://schemas.openxmlformats.org/drawingml/2006/main">
              <a:ext uri="{FF2B5EF4-FFF2-40B4-BE49-F238E27FC236}">
                <a16:creationId xmlns:a16="http://schemas.microsoft.com/office/drawing/2014/main" id="{33CB9E47-02DC-4D91-947F-DFEF1258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495675"/>
            <a:ext cx="131948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HL</a:t>
            </a:r>
          </a:p>
        </p:txBody>
      </p:sp>
      <p:sp>
        <p:nvSpPr>
          <p:cNvPr id="20" name="U08-104-scales-2-1-box">
            <a:extLst xmlns:a="http://schemas.openxmlformats.org/drawingml/2006/main">
              <a:ext uri="{FF2B5EF4-FFF2-40B4-BE49-F238E27FC236}">
                <a16:creationId xmlns:a16="http://schemas.microsoft.com/office/drawing/2014/main" id="{E664141A-7715-4B47-9B95-0DBE7EEE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757" y="3438525"/>
            <a:ext cx="336430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1" name="U08-104-scales-2-1-text">
            <a:extLst xmlns:a="http://schemas.openxmlformats.org/drawingml/2006/main">
              <a:ext uri="{FF2B5EF4-FFF2-40B4-BE49-F238E27FC236}">
                <a16:creationId xmlns:a16="http://schemas.microsoft.com/office/drawing/2014/main" id="{CBC9D9A5-C002-4D88-B6CC-504B148D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957" y="3495675"/>
            <a:ext cx="321190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Cero audiométrico por frecuencia y transductor</a:t>
            </a:r>
          </a:p>
        </p:txBody>
      </p:sp>
      <p:sp>
        <p:nvSpPr>
          <p:cNvPr id="22" name="U08-104-scales-2-2-box">
            <a:extLst xmlns:a="http://schemas.openxmlformats.org/drawingml/2006/main">
              <a:ext uri="{FF2B5EF4-FFF2-40B4-BE49-F238E27FC236}">
                <a16:creationId xmlns:a16="http://schemas.microsoft.com/office/drawing/2014/main" id="{A89FBB78-95AD-4C2A-8699-E10E1A08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059" y="3438525"/>
            <a:ext cx="2943764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8-104-scales-2-2-text">
            <a:extLst xmlns:a="http://schemas.openxmlformats.org/drawingml/2006/main">
              <a:ext uri="{FF2B5EF4-FFF2-40B4-BE49-F238E27FC236}">
                <a16:creationId xmlns:a16="http://schemas.microsoft.com/office/drawing/2014/main" id="{5D378268-FA50-4DAC-BA28-ECB60DA4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259" y="3495675"/>
            <a:ext cx="2791364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Umbrales audiométricos</a:t>
            </a:r>
          </a:p>
        </p:txBody>
      </p:sp>
      <p:sp>
        <p:nvSpPr>
          <p:cNvPr id="24" name="U08-104-scales-2-3-box">
            <a:extLst xmlns:a="http://schemas.openxmlformats.org/drawingml/2006/main">
              <a:ext uri="{FF2B5EF4-FFF2-40B4-BE49-F238E27FC236}">
                <a16:creationId xmlns:a16="http://schemas.microsoft.com/office/drawing/2014/main" id="{166B91AD-3B09-46C9-94B0-38A161E5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823" y="3438525"/>
            <a:ext cx="336430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5" name="U08-104-scales-2-3-text">
            <a:extLst xmlns:a="http://schemas.openxmlformats.org/drawingml/2006/main">
              <a:ext uri="{FF2B5EF4-FFF2-40B4-BE49-F238E27FC236}">
                <a16:creationId xmlns:a16="http://schemas.microsoft.com/office/drawing/2014/main" id="{257F5885-ABBC-4429-A3C5-AE027E73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023" y="3495675"/>
            <a:ext cx="321190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Comparar condiciones compatibles</a:t>
            </a:r>
          </a:p>
        </p:txBody>
      </p:sp>
      <p:sp>
        <p:nvSpPr>
          <p:cNvPr id="26" name="U08-104-scales-3-0-box">
            <a:extLst xmlns:a="http://schemas.openxmlformats.org/drawingml/2006/main">
              <a:ext uri="{FF2B5EF4-FFF2-40B4-BE49-F238E27FC236}">
                <a16:creationId xmlns:a16="http://schemas.microsoft.com/office/drawing/2014/main" id="{5284A1BD-E6F8-4E04-9230-AF086156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71975"/>
            <a:ext cx="147188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7" name="U08-104-scales-3-0-text">
            <a:extLst xmlns:a="http://schemas.openxmlformats.org/drawingml/2006/main">
              <a:ext uri="{FF2B5EF4-FFF2-40B4-BE49-F238E27FC236}">
                <a16:creationId xmlns:a16="http://schemas.microsoft.com/office/drawing/2014/main" id="{E23FA8BE-2674-447C-BDCA-725BBA2C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29125"/>
            <a:ext cx="131948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SL</a:t>
            </a:r>
          </a:p>
        </p:txBody>
      </p:sp>
      <p:sp>
        <p:nvSpPr>
          <p:cNvPr id="28" name="U08-104-scales-3-1-box">
            <a:extLst xmlns:a="http://schemas.openxmlformats.org/drawingml/2006/main">
              <a:ext uri="{FF2B5EF4-FFF2-40B4-BE49-F238E27FC236}">
                <a16:creationId xmlns:a16="http://schemas.microsoft.com/office/drawing/2014/main" id="{16D80A12-431C-40BA-99F3-C1B50892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757" y="4371975"/>
            <a:ext cx="336430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9" name="U08-104-scales-3-1-text">
            <a:extLst xmlns:a="http://schemas.openxmlformats.org/drawingml/2006/main">
              <a:ext uri="{FF2B5EF4-FFF2-40B4-BE49-F238E27FC236}">
                <a16:creationId xmlns:a16="http://schemas.microsoft.com/office/drawing/2014/main" id="{4A4D8615-0891-4C6E-8E7E-8C749DBD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957" y="4429125"/>
            <a:ext cx="321190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Umbral individual declarado</a:t>
            </a:r>
          </a:p>
        </p:txBody>
      </p:sp>
      <p:sp>
        <p:nvSpPr>
          <p:cNvPr id="30" name="U08-104-scales-3-2-box">
            <a:extLst xmlns:a="http://schemas.openxmlformats.org/drawingml/2006/main">
              <a:ext uri="{FF2B5EF4-FFF2-40B4-BE49-F238E27FC236}">
                <a16:creationId xmlns:a16="http://schemas.microsoft.com/office/drawing/2014/main" id="{50503F54-8EE8-4316-ADA3-214972F1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059" y="4371975"/>
            <a:ext cx="2943764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31" name="U08-104-scales-3-2-text">
            <a:extLst xmlns:a="http://schemas.openxmlformats.org/drawingml/2006/main">
              <a:ext uri="{FF2B5EF4-FFF2-40B4-BE49-F238E27FC236}">
                <a16:creationId xmlns:a16="http://schemas.microsoft.com/office/drawing/2014/main" id="{8955C5C6-CFC8-4854-A913-D7CAAFDC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259" y="4429125"/>
            <a:ext cx="2791364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 relativo de presentación</a:t>
            </a:r>
          </a:p>
        </p:txBody>
      </p:sp>
      <p:sp>
        <p:nvSpPr>
          <p:cNvPr id="32" name="U08-104-scales-3-3-box">
            <a:extLst xmlns:a="http://schemas.openxmlformats.org/drawingml/2006/main">
              <a:ext uri="{FF2B5EF4-FFF2-40B4-BE49-F238E27FC236}">
                <a16:creationId xmlns:a16="http://schemas.microsoft.com/office/drawing/2014/main" id="{863C879A-CA44-4801-9801-D49DFF57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823" y="4371975"/>
            <a:ext cx="3364302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33" name="U08-104-scales-3-3-text">
            <a:extLst xmlns:a="http://schemas.openxmlformats.org/drawingml/2006/main">
              <a:ext uri="{FF2B5EF4-FFF2-40B4-BE49-F238E27FC236}">
                <a16:creationId xmlns:a16="http://schemas.microsoft.com/office/drawing/2014/main" id="{3F8299CF-15EC-451A-9664-ABA100F2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023" y="4429125"/>
            <a:ext cx="321190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describe una fuente interna</a:t>
            </a:r>
          </a:p>
        </p:txBody>
      </p:sp>
      <p:sp>
        <p:nvSpPr>
          <p:cNvPr id="34" name="top-rail-1">
            <a:extLst xmlns:a="http://schemas.openxmlformats.org/drawingml/2006/main">
              <a:ext uri="{FF2B5EF4-FFF2-40B4-BE49-F238E27FC236}">
                <a16:creationId xmlns:a16="http://schemas.microsoft.com/office/drawing/2014/main" id="{678F6606-2BC1-4642-AB96-E5C09628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35" name="top-rail-2">
            <a:extLst xmlns:a="http://schemas.openxmlformats.org/drawingml/2006/main">
              <a:ext uri="{FF2B5EF4-FFF2-40B4-BE49-F238E27FC236}">
                <a16:creationId xmlns:a16="http://schemas.microsoft.com/office/drawing/2014/main" id="{3F57E280-4A53-4C45-8608-EB5E5568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36" name="top-rail-3">
            <a:extLst xmlns:a="http://schemas.openxmlformats.org/drawingml/2006/main">
              <a:ext uri="{FF2B5EF4-FFF2-40B4-BE49-F238E27FC236}">
                <a16:creationId xmlns:a16="http://schemas.microsoft.com/office/drawing/2014/main" id="{6DA106C5-CC6E-4150-B1A9-6A0B0F74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37" name="eyebrow">
            <a:extLst xmlns:a="http://schemas.openxmlformats.org/drawingml/2006/main">
              <a:ext uri="{FF2B5EF4-FFF2-40B4-BE49-F238E27FC236}">
                <a16:creationId xmlns:a16="http://schemas.microsoft.com/office/drawing/2014/main" id="{5811CFF3-5BA5-45F2-98B6-101B60DA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3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BBE7FB8-C86B-4C14-9C68-14AF7CE2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104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CAB86D-0831-42AA-B563-2C128EED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Matriz completa de estudios auditivos</a:t>
            </a:r>
          </a:p>
        </p:txBody>
      </p:sp>
      <p:sp>
        <p:nvSpPr>
          <p:cNvPr id="2" name="u08-105-left-box">
            <a:extLst xmlns:a="http://schemas.openxmlformats.org/drawingml/2006/main">
              <a:ext uri="{FF2B5EF4-FFF2-40B4-BE49-F238E27FC236}">
                <a16:creationId xmlns:a16="http://schemas.microsoft.com/office/drawing/2014/main" id="{EFCBFF88-28F5-42CA-AA69-06B091CD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334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105-left-title">
            <a:extLst xmlns:a="http://schemas.openxmlformats.org/drawingml/2006/main">
              <a:ext uri="{FF2B5EF4-FFF2-40B4-BE49-F238E27FC236}">
                <a16:creationId xmlns:a16="http://schemas.microsoft.com/office/drawing/2014/main" id="{1AE522E0-2C95-4DD3-88E8-A99DB71B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04975"/>
            <a:ext cx="499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Conductuales y mecanoacústicas</a:t>
            </a:r>
          </a:p>
        </p:txBody>
      </p:sp>
      <p:sp>
        <p:nvSpPr>
          <p:cNvPr id="4" name="u08-105-left-body">
            <a:extLst xmlns:a="http://schemas.openxmlformats.org/drawingml/2006/main">
              <a:ext uri="{FF2B5EF4-FFF2-40B4-BE49-F238E27FC236}">
                <a16:creationId xmlns:a16="http://schemas.microsoft.com/office/drawing/2014/main" id="{7E3D4C05-EC8C-4872-B37D-2097B3F8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05025"/>
            <a:ext cx="49911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Audiometría: tono → tarea → umbral en dB HL Logoaudiometría: habla → tarea verbal → % o umbral Timpanometría: tono + presión → micrófono → inmitancia Acufenometría: sonido ajustable → correspondencia</a:t>
            </a:r>
          </a:p>
        </p:txBody>
      </p:sp>
      <p:sp>
        <p:nvSpPr>
          <p:cNvPr id="5" name="u08-105-right-box">
            <a:extLst xmlns:a="http://schemas.openxmlformats.org/drawingml/2006/main">
              <a:ext uri="{FF2B5EF4-FFF2-40B4-BE49-F238E27FC236}">
                <a16:creationId xmlns:a16="http://schemas.microsoft.com/office/drawing/2014/main" id="{2CB62E9F-AFDC-4533-B5E3-4A97C968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334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u08-105-right-title">
            <a:extLst xmlns:a="http://schemas.openxmlformats.org/drawingml/2006/main">
              <a:ext uri="{FF2B5EF4-FFF2-40B4-BE49-F238E27FC236}">
                <a16:creationId xmlns:a16="http://schemas.microsoft.com/office/drawing/2014/main" id="{2178EAA1-4E15-4C96-AE7F-E6C6F5FB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99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Fisiológicas</a:t>
            </a:r>
          </a:p>
        </p:txBody>
      </p:sp>
      <p:sp>
        <p:nvSpPr>
          <p:cNvPr id="7" name="u08-105-right-body">
            <a:extLst xmlns:a="http://schemas.openxmlformats.org/drawingml/2006/main">
              <a:ext uri="{FF2B5EF4-FFF2-40B4-BE49-F238E27FC236}">
                <a16:creationId xmlns:a16="http://schemas.microsoft.com/office/drawing/2014/main" id="{C8F73397-2B56-416B-8032-C40F6B27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05025"/>
            <a:ext cx="49911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OEA: sonido → micrófono → presión / SNR PEAT: sonido → electrodos → V(t) ECoG: sonido → electrodo próximo → potenciales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AC338BBA-6F58-4F5A-8F4F-C16AE751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F63A0F1F-F3E3-48C7-9FAF-832ADA38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C17E197E-53AF-4248-96B8-114B30A4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8032ECF8-581B-4093-A1D7-616D9BF0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092ED5B-2970-4C9D-B708-AA73BD24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105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732A3C-7C70-4ADF-8BC6-F2460B4B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Matriz completa de dispositivos</a:t>
            </a:r>
          </a:p>
        </p:txBody>
      </p:sp>
      <p:sp>
        <p:nvSpPr>
          <p:cNvPr id="2" name="u08-106-devices-0-0-box">
            <a:extLst xmlns:a="http://schemas.openxmlformats.org/drawingml/2006/main">
              <a:ext uri="{FF2B5EF4-FFF2-40B4-BE49-F238E27FC236}">
                <a16:creationId xmlns:a16="http://schemas.microsoft.com/office/drawing/2014/main" id="{475C6AD8-526F-4A0B-98BA-C4CC6D7F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24000"/>
            <a:ext cx="1937564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3" name="u08-106-devices-0-0-text">
            <a:extLst xmlns:a="http://schemas.openxmlformats.org/drawingml/2006/main">
              <a:ext uri="{FF2B5EF4-FFF2-40B4-BE49-F238E27FC236}">
                <a16:creationId xmlns:a16="http://schemas.microsoft.com/office/drawing/2014/main" id="{BD97CC11-9DA9-4D2F-B902-5C17FFB0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581150"/>
            <a:ext cx="1785164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Dispositivo</a:t>
            </a:r>
          </a:p>
        </p:txBody>
      </p:sp>
      <p:sp>
        <p:nvSpPr>
          <p:cNvPr id="4" name="u08-106-devices-0-1-box">
            <a:extLst xmlns:a="http://schemas.openxmlformats.org/drawingml/2006/main">
              <a:ext uri="{FF2B5EF4-FFF2-40B4-BE49-F238E27FC236}">
                <a16:creationId xmlns:a16="http://schemas.microsoft.com/office/drawing/2014/main" id="{3E96FE83-E039-435A-87D9-19D8E571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189" y="1524000"/>
            <a:ext cx="1453173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5" name="u08-106-devices-0-1-text">
            <a:extLst xmlns:a="http://schemas.openxmlformats.org/drawingml/2006/main">
              <a:ext uri="{FF2B5EF4-FFF2-40B4-BE49-F238E27FC236}">
                <a16:creationId xmlns:a16="http://schemas.microsoft.com/office/drawing/2014/main" id="{38D6C46D-1470-4324-B23F-69204B69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389" y="1581150"/>
            <a:ext cx="130077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6" name="u08-106-devices-0-2-box">
            <a:extLst xmlns:a="http://schemas.openxmlformats.org/drawingml/2006/main">
              <a:ext uri="{FF2B5EF4-FFF2-40B4-BE49-F238E27FC236}">
                <a16:creationId xmlns:a16="http://schemas.microsoft.com/office/drawing/2014/main" id="{41875D32-D635-44F1-87C2-DFF4B8FB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362" y="1524000"/>
            <a:ext cx="2906346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7" name="u08-106-devices-0-2-text">
            <a:extLst xmlns:a="http://schemas.openxmlformats.org/drawingml/2006/main">
              <a:ext uri="{FF2B5EF4-FFF2-40B4-BE49-F238E27FC236}">
                <a16:creationId xmlns:a16="http://schemas.microsoft.com/office/drawing/2014/main" id="{B93788C6-036F-49FC-9111-C574CB42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562" y="1581150"/>
            <a:ext cx="2753946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Procesamiento</a:t>
            </a:r>
          </a:p>
        </p:txBody>
      </p:sp>
      <p:sp>
        <p:nvSpPr>
          <p:cNvPr id="8" name="u08-106-devices-0-3-box">
            <a:extLst xmlns:a="http://schemas.openxmlformats.org/drawingml/2006/main">
              <a:ext uri="{FF2B5EF4-FFF2-40B4-BE49-F238E27FC236}">
                <a16:creationId xmlns:a16="http://schemas.microsoft.com/office/drawing/2014/main" id="{F0595490-20C3-4605-9A92-AC5C9849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5708" y="1524000"/>
            <a:ext cx="1937564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9" name="u08-106-devices-0-3-text">
            <a:extLst xmlns:a="http://schemas.openxmlformats.org/drawingml/2006/main">
              <a:ext uri="{FF2B5EF4-FFF2-40B4-BE49-F238E27FC236}">
                <a16:creationId xmlns:a16="http://schemas.microsoft.com/office/drawing/2014/main" id="{28FD1D9F-A91B-48F6-885D-828D8DB7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908" y="1581150"/>
            <a:ext cx="1785164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Salida física</a:t>
            </a:r>
          </a:p>
        </p:txBody>
      </p:sp>
      <p:sp>
        <p:nvSpPr>
          <p:cNvPr id="10" name="u08-106-devices-0-4-box">
            <a:extLst xmlns:a="http://schemas.openxmlformats.org/drawingml/2006/main">
              <a:ext uri="{FF2B5EF4-FFF2-40B4-BE49-F238E27FC236}">
                <a16:creationId xmlns:a16="http://schemas.microsoft.com/office/drawing/2014/main" id="{1DE9F35F-E014-4C98-AD7F-2630D5AF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272" y="1524000"/>
            <a:ext cx="3100103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11" name="u08-106-devices-0-4-text">
            <a:extLst xmlns:a="http://schemas.openxmlformats.org/drawingml/2006/main">
              <a:ext uri="{FF2B5EF4-FFF2-40B4-BE49-F238E27FC236}">
                <a16:creationId xmlns:a16="http://schemas.microsoft.com/office/drawing/2014/main" id="{0426B218-87E3-4AC9-AD77-B244D544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472" y="1581150"/>
            <a:ext cx="294770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12" name="u08-106-devices-1-0-box">
            <a:extLst xmlns:a="http://schemas.openxmlformats.org/drawingml/2006/main">
              <a:ext uri="{FF2B5EF4-FFF2-40B4-BE49-F238E27FC236}">
                <a16:creationId xmlns:a16="http://schemas.microsoft.com/office/drawing/2014/main" id="{E6081B20-29F9-4643-B771-FC9268F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24100"/>
            <a:ext cx="1937564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3" name="u08-106-devices-1-0-text">
            <a:extLst xmlns:a="http://schemas.openxmlformats.org/drawingml/2006/main">
              <a:ext uri="{FF2B5EF4-FFF2-40B4-BE49-F238E27FC236}">
                <a16:creationId xmlns:a16="http://schemas.microsoft.com/office/drawing/2014/main" id="{25E385BD-EDEC-4E74-8FF4-CFCE9630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381250"/>
            <a:ext cx="1785164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Audífono</a:t>
            </a:r>
          </a:p>
        </p:txBody>
      </p:sp>
      <p:sp>
        <p:nvSpPr>
          <p:cNvPr id="14" name="u08-106-devices-1-1-box">
            <a:extLst xmlns:a="http://schemas.openxmlformats.org/drawingml/2006/main">
              <a:ext uri="{FF2B5EF4-FFF2-40B4-BE49-F238E27FC236}">
                <a16:creationId xmlns:a16="http://schemas.microsoft.com/office/drawing/2014/main" id="{B775D472-6D6A-4BC5-8F5C-44CADD09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189" y="2324100"/>
            <a:ext cx="1453173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5" name="u08-106-devices-1-1-text">
            <a:extLst xmlns:a="http://schemas.openxmlformats.org/drawingml/2006/main">
              <a:ext uri="{FF2B5EF4-FFF2-40B4-BE49-F238E27FC236}">
                <a16:creationId xmlns:a16="http://schemas.microsoft.com/office/drawing/2014/main" id="{554E1864-C364-4EC6-9A0B-F1C135BE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389" y="2381250"/>
            <a:ext cx="130077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acústica</a:t>
            </a:r>
          </a:p>
        </p:txBody>
      </p:sp>
      <p:sp>
        <p:nvSpPr>
          <p:cNvPr id="16" name="u08-106-devices-1-2-box">
            <a:extLst xmlns:a="http://schemas.openxmlformats.org/drawingml/2006/main">
              <a:ext uri="{FF2B5EF4-FFF2-40B4-BE49-F238E27FC236}">
                <a16:creationId xmlns:a16="http://schemas.microsoft.com/office/drawing/2014/main" id="{A4314657-545E-4916-9BDE-25950AA5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362" y="2324100"/>
            <a:ext cx="2906346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7" name="u08-106-devices-1-2-text">
            <a:extLst xmlns:a="http://schemas.openxmlformats.org/drawingml/2006/main">
              <a:ext uri="{FF2B5EF4-FFF2-40B4-BE49-F238E27FC236}">
                <a16:creationId xmlns:a16="http://schemas.microsoft.com/office/drawing/2014/main" id="{F0160DFF-5D47-43D9-81F3-DBBCB567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562" y="2381250"/>
            <a:ext cx="2753946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dependiente de frecuencia y nivel</a:t>
            </a:r>
          </a:p>
        </p:txBody>
      </p:sp>
      <p:sp>
        <p:nvSpPr>
          <p:cNvPr id="18" name="u08-106-devices-1-3-box">
            <a:extLst xmlns:a="http://schemas.openxmlformats.org/drawingml/2006/main">
              <a:ext uri="{FF2B5EF4-FFF2-40B4-BE49-F238E27FC236}">
                <a16:creationId xmlns:a16="http://schemas.microsoft.com/office/drawing/2014/main" id="{EA646ECE-935B-4B2F-8F61-68654DE3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5708" y="2324100"/>
            <a:ext cx="1937564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9" name="u08-106-devices-1-3-text">
            <a:extLst xmlns:a="http://schemas.openxmlformats.org/drawingml/2006/main">
              <a:ext uri="{FF2B5EF4-FFF2-40B4-BE49-F238E27FC236}">
                <a16:creationId xmlns:a16="http://schemas.microsoft.com/office/drawing/2014/main" id="{42D4BC75-571E-49E0-A2F0-6ADDD367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908" y="2381250"/>
            <a:ext cx="1785164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acústica</a:t>
            </a:r>
          </a:p>
        </p:txBody>
      </p:sp>
      <p:sp>
        <p:nvSpPr>
          <p:cNvPr id="20" name="u08-106-devices-1-4-box">
            <a:extLst xmlns:a="http://schemas.openxmlformats.org/drawingml/2006/main">
              <a:ext uri="{FF2B5EF4-FFF2-40B4-BE49-F238E27FC236}">
                <a16:creationId xmlns:a16="http://schemas.microsoft.com/office/drawing/2014/main" id="{F12D4593-6FC5-4A2F-A707-24BDB423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272" y="2324100"/>
            <a:ext cx="3100103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1" name="u08-106-devices-1-4-text">
            <a:extLst xmlns:a="http://schemas.openxmlformats.org/drawingml/2006/main">
              <a:ext uri="{FF2B5EF4-FFF2-40B4-BE49-F238E27FC236}">
                <a16:creationId xmlns:a16="http://schemas.microsoft.com/office/drawing/2014/main" id="{A705C158-074F-4929-A9DB-8E5ED589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472" y="2381250"/>
            <a:ext cx="294770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beneficio a evaluar</a:t>
            </a:r>
          </a:p>
        </p:txBody>
      </p:sp>
      <p:sp>
        <p:nvSpPr>
          <p:cNvPr id="22" name="u08-106-devices-2-0-box">
            <a:extLst xmlns:a="http://schemas.openxmlformats.org/drawingml/2006/main">
              <a:ext uri="{FF2B5EF4-FFF2-40B4-BE49-F238E27FC236}">
                <a16:creationId xmlns:a16="http://schemas.microsoft.com/office/drawing/2014/main" id="{8B2CBC95-0B11-4CE9-B535-54B824B6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24200"/>
            <a:ext cx="1937564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8-106-devices-2-0-text">
            <a:extLst xmlns:a="http://schemas.openxmlformats.org/drawingml/2006/main">
              <a:ext uri="{FF2B5EF4-FFF2-40B4-BE49-F238E27FC236}">
                <a16:creationId xmlns:a16="http://schemas.microsoft.com/office/drawing/2014/main" id="{2FAA18BC-DDFA-436B-A0AD-77E803C9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181350"/>
            <a:ext cx="1785164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Implante coclear</a:t>
            </a:r>
          </a:p>
        </p:txBody>
      </p:sp>
      <p:sp>
        <p:nvSpPr>
          <p:cNvPr id="24" name="u08-106-devices-2-1-box">
            <a:extLst xmlns:a="http://schemas.openxmlformats.org/drawingml/2006/main">
              <a:ext uri="{FF2B5EF4-FFF2-40B4-BE49-F238E27FC236}">
                <a16:creationId xmlns:a16="http://schemas.microsoft.com/office/drawing/2014/main" id="{ADB5D964-58FA-4DBE-821C-8FFB68C1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189" y="3124200"/>
            <a:ext cx="1453173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5" name="u08-106-devices-2-1-text">
            <a:extLst xmlns:a="http://schemas.openxmlformats.org/drawingml/2006/main">
              <a:ext uri="{FF2B5EF4-FFF2-40B4-BE49-F238E27FC236}">
                <a16:creationId xmlns:a16="http://schemas.microsoft.com/office/drawing/2014/main" id="{59C49119-20C7-453E-BA8D-A2557B79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389" y="3181350"/>
            <a:ext cx="130077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acústica</a:t>
            </a:r>
          </a:p>
        </p:txBody>
      </p:sp>
      <p:sp>
        <p:nvSpPr>
          <p:cNvPr id="26" name="u08-106-devices-2-2-box">
            <a:extLst xmlns:a="http://schemas.openxmlformats.org/drawingml/2006/main">
              <a:ext uri="{FF2B5EF4-FFF2-40B4-BE49-F238E27FC236}">
                <a16:creationId xmlns:a16="http://schemas.microsoft.com/office/drawing/2014/main" id="{5096E489-9723-4E1A-AF88-099F1317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362" y="3124200"/>
            <a:ext cx="2906346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7" name="u08-106-devices-2-2-text">
            <a:extLst xmlns:a="http://schemas.openxmlformats.org/drawingml/2006/main">
              <a:ext uri="{FF2B5EF4-FFF2-40B4-BE49-F238E27FC236}">
                <a16:creationId xmlns:a16="http://schemas.microsoft.com/office/drawing/2014/main" id="{6429A1BA-9426-4CD0-83DC-ACEBF305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562" y="3181350"/>
            <a:ext cx="2753946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codificación</a:t>
            </a:r>
          </a:p>
        </p:txBody>
      </p:sp>
      <p:sp>
        <p:nvSpPr>
          <p:cNvPr id="28" name="u08-106-devices-2-3-box">
            <a:extLst xmlns:a="http://schemas.openxmlformats.org/drawingml/2006/main">
              <a:ext uri="{FF2B5EF4-FFF2-40B4-BE49-F238E27FC236}">
                <a16:creationId xmlns:a16="http://schemas.microsoft.com/office/drawing/2014/main" id="{BF26A131-21B6-49AA-B89B-763A8B89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5708" y="3124200"/>
            <a:ext cx="1937564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9" name="u08-106-devices-2-3-text">
            <a:extLst xmlns:a="http://schemas.openxmlformats.org/drawingml/2006/main">
              <a:ext uri="{FF2B5EF4-FFF2-40B4-BE49-F238E27FC236}">
                <a16:creationId xmlns:a16="http://schemas.microsoft.com/office/drawing/2014/main" id="{4815F7C5-892D-47C5-A70D-448A1C72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908" y="3181350"/>
            <a:ext cx="1785164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eléctrica</a:t>
            </a:r>
          </a:p>
        </p:txBody>
      </p:sp>
      <p:sp>
        <p:nvSpPr>
          <p:cNvPr id="30" name="u08-106-devices-2-4-box">
            <a:extLst xmlns:a="http://schemas.openxmlformats.org/drawingml/2006/main">
              <a:ext uri="{FF2B5EF4-FFF2-40B4-BE49-F238E27FC236}">
                <a16:creationId xmlns:a16="http://schemas.microsoft.com/office/drawing/2014/main" id="{8D50FAEC-A565-457A-94F4-3CF81B28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272" y="3124200"/>
            <a:ext cx="3100103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31" name="u08-106-devices-2-4-text">
            <a:extLst xmlns:a="http://schemas.openxmlformats.org/drawingml/2006/main">
              <a:ext uri="{FF2B5EF4-FFF2-40B4-BE49-F238E27FC236}">
                <a16:creationId xmlns:a16="http://schemas.microsoft.com/office/drawing/2014/main" id="{BD4232E1-00B7-4B63-9140-9EC982D2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472" y="3181350"/>
            <a:ext cx="294770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garantiza perceptos independientes</a:t>
            </a:r>
          </a:p>
        </p:txBody>
      </p:sp>
      <p:sp>
        <p:nvSpPr>
          <p:cNvPr id="32" name="u08-106-devices-3-0-box">
            <a:extLst xmlns:a="http://schemas.openxmlformats.org/drawingml/2006/main">
              <a:ext uri="{FF2B5EF4-FFF2-40B4-BE49-F238E27FC236}">
                <a16:creationId xmlns:a16="http://schemas.microsoft.com/office/drawing/2014/main" id="{0BAA0B64-9604-4E84-B09D-20459897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924300"/>
            <a:ext cx="1937564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33" name="u08-106-devices-3-0-text">
            <a:extLst xmlns:a="http://schemas.openxmlformats.org/drawingml/2006/main">
              <a:ext uri="{FF2B5EF4-FFF2-40B4-BE49-F238E27FC236}">
                <a16:creationId xmlns:a16="http://schemas.microsoft.com/office/drawing/2014/main" id="{143F8D23-10B0-499E-9522-180D1979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981450"/>
            <a:ext cx="1785164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Conducción ósea</a:t>
            </a:r>
          </a:p>
        </p:txBody>
      </p:sp>
      <p:sp>
        <p:nvSpPr>
          <p:cNvPr id="34" name="u08-106-devices-3-1-box">
            <a:extLst xmlns:a="http://schemas.openxmlformats.org/drawingml/2006/main">
              <a:ext uri="{FF2B5EF4-FFF2-40B4-BE49-F238E27FC236}">
                <a16:creationId xmlns:a16="http://schemas.microsoft.com/office/drawing/2014/main" id="{00E95995-BEB3-443F-822B-7A75B2D5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189" y="3924300"/>
            <a:ext cx="1453173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35" name="u08-106-devices-3-1-text">
            <a:extLst xmlns:a="http://schemas.openxmlformats.org/drawingml/2006/main">
              <a:ext uri="{FF2B5EF4-FFF2-40B4-BE49-F238E27FC236}">
                <a16:creationId xmlns:a16="http://schemas.microsoft.com/office/drawing/2014/main" id="{62782643-BD30-44D5-9E6A-2AD72FC6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389" y="3981450"/>
            <a:ext cx="130077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acústica</a:t>
            </a:r>
          </a:p>
        </p:txBody>
      </p:sp>
      <p:sp>
        <p:nvSpPr>
          <p:cNvPr id="36" name="u08-106-devices-3-2-box">
            <a:extLst xmlns:a="http://schemas.openxmlformats.org/drawingml/2006/main">
              <a:ext uri="{FF2B5EF4-FFF2-40B4-BE49-F238E27FC236}">
                <a16:creationId xmlns:a16="http://schemas.microsoft.com/office/drawing/2014/main" id="{38A7AD30-7AD7-4E17-B0FC-E45CFBB8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362" y="3924300"/>
            <a:ext cx="2906346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37" name="u08-106-devices-3-2-text">
            <a:extLst xmlns:a="http://schemas.openxmlformats.org/drawingml/2006/main">
              <a:ext uri="{FF2B5EF4-FFF2-40B4-BE49-F238E27FC236}">
                <a16:creationId xmlns:a16="http://schemas.microsoft.com/office/drawing/2014/main" id="{AE9C2BDE-D930-4993-B9A0-B6D2E138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562" y="3981450"/>
            <a:ext cx="2753946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transducción</a:t>
            </a:r>
          </a:p>
        </p:txBody>
      </p:sp>
      <p:sp>
        <p:nvSpPr>
          <p:cNvPr id="38" name="u08-106-devices-3-3-box">
            <a:extLst xmlns:a="http://schemas.openxmlformats.org/drawingml/2006/main">
              <a:ext uri="{FF2B5EF4-FFF2-40B4-BE49-F238E27FC236}">
                <a16:creationId xmlns:a16="http://schemas.microsoft.com/office/drawing/2014/main" id="{5A97077C-413F-4574-B970-55E3AFA8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5708" y="3924300"/>
            <a:ext cx="1937564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39" name="u08-106-devices-3-3-text">
            <a:extLst xmlns:a="http://schemas.openxmlformats.org/drawingml/2006/main">
              <a:ext uri="{FF2B5EF4-FFF2-40B4-BE49-F238E27FC236}">
                <a16:creationId xmlns:a16="http://schemas.microsoft.com/office/drawing/2014/main" id="{18B8E60D-517B-4EE8-8DBD-42FCBE3F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908" y="3981450"/>
            <a:ext cx="1785164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mecánica</a:t>
            </a:r>
          </a:p>
        </p:txBody>
      </p:sp>
      <p:sp>
        <p:nvSpPr>
          <p:cNvPr id="40" name="u08-106-devices-3-4-box">
            <a:extLst xmlns:a="http://schemas.openxmlformats.org/drawingml/2006/main">
              <a:ext uri="{FF2B5EF4-FFF2-40B4-BE49-F238E27FC236}">
                <a16:creationId xmlns:a16="http://schemas.microsoft.com/office/drawing/2014/main" id="{BB335EF9-A5A8-46F9-8AAC-846D9BBB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272" y="3924300"/>
            <a:ext cx="3100103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41" name="u08-106-devices-3-4-text">
            <a:extLst xmlns:a="http://schemas.openxmlformats.org/drawingml/2006/main">
              <a:ext uri="{FF2B5EF4-FFF2-40B4-BE49-F238E27FC236}">
                <a16:creationId xmlns:a16="http://schemas.microsoft.com/office/drawing/2014/main" id="{18B890C8-6A7E-4AD6-8643-91DAF25E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472" y="3981450"/>
            <a:ext cx="294770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selección individual</a:t>
            </a:r>
          </a:p>
        </p:txBody>
      </p:sp>
      <p:sp>
        <p:nvSpPr>
          <p:cNvPr id="42" name="u08-106-devices-4-0-box">
            <a:extLst xmlns:a="http://schemas.openxmlformats.org/drawingml/2006/main">
              <a:ext uri="{FF2B5EF4-FFF2-40B4-BE49-F238E27FC236}">
                <a16:creationId xmlns:a16="http://schemas.microsoft.com/office/drawing/2014/main" id="{00D0959B-FEEB-4DC7-ABFF-7100AD96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24400"/>
            <a:ext cx="1937564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43" name="u08-106-devices-4-0-text">
            <a:extLst xmlns:a="http://schemas.openxmlformats.org/drawingml/2006/main">
              <a:ext uri="{FF2B5EF4-FFF2-40B4-BE49-F238E27FC236}">
                <a16:creationId xmlns:a16="http://schemas.microsoft.com/office/drawing/2014/main" id="{2709462C-B752-4C70-B912-79F3246A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781550"/>
            <a:ext cx="1785164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Electroacústica</a:t>
            </a:r>
          </a:p>
        </p:txBody>
      </p:sp>
      <p:sp>
        <p:nvSpPr>
          <p:cNvPr id="44" name="u08-106-devices-4-1-box">
            <a:extLst xmlns:a="http://schemas.openxmlformats.org/drawingml/2006/main">
              <a:ext uri="{FF2B5EF4-FFF2-40B4-BE49-F238E27FC236}">
                <a16:creationId xmlns:a16="http://schemas.microsoft.com/office/drawing/2014/main" id="{70C5E1C6-A8F6-45BF-ACF2-FD8375AB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189" y="4724400"/>
            <a:ext cx="1453173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45" name="u08-106-devices-4-1-text">
            <a:extLst xmlns:a="http://schemas.openxmlformats.org/drawingml/2006/main">
              <a:ext uri="{FF2B5EF4-FFF2-40B4-BE49-F238E27FC236}">
                <a16:creationId xmlns:a16="http://schemas.microsoft.com/office/drawing/2014/main" id="{F45C6140-72B7-4689-8487-225200E7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389" y="4781550"/>
            <a:ext cx="130077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acústica</a:t>
            </a:r>
          </a:p>
        </p:txBody>
      </p:sp>
      <p:sp>
        <p:nvSpPr>
          <p:cNvPr id="46" name="u08-106-devices-4-2-box">
            <a:extLst xmlns:a="http://schemas.openxmlformats.org/drawingml/2006/main">
              <a:ext uri="{FF2B5EF4-FFF2-40B4-BE49-F238E27FC236}">
                <a16:creationId xmlns:a16="http://schemas.microsoft.com/office/drawing/2014/main" id="{CBEA8B74-4906-4E06-A1D3-29D9B362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362" y="4724400"/>
            <a:ext cx="2906346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47" name="u08-106-devices-4-2-text">
            <a:extLst xmlns:a="http://schemas.openxmlformats.org/drawingml/2006/main">
              <a:ext uri="{FF2B5EF4-FFF2-40B4-BE49-F238E27FC236}">
                <a16:creationId xmlns:a16="http://schemas.microsoft.com/office/drawing/2014/main" id="{C76C7C75-0CC2-4E1C-9808-A0A17F9A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562" y="4781550"/>
            <a:ext cx="2753946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separación por bandas</a:t>
            </a:r>
          </a:p>
        </p:txBody>
      </p:sp>
      <p:sp>
        <p:nvSpPr>
          <p:cNvPr id="48" name="u08-106-devices-4-3-box">
            <a:extLst xmlns:a="http://schemas.openxmlformats.org/drawingml/2006/main">
              <a:ext uri="{FF2B5EF4-FFF2-40B4-BE49-F238E27FC236}">
                <a16:creationId xmlns:a16="http://schemas.microsoft.com/office/drawing/2014/main" id="{6C39B4E4-7738-43EF-8B53-F9AC8BA2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5708" y="4724400"/>
            <a:ext cx="1937564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49" name="u08-106-devices-4-3-text">
            <a:extLst xmlns:a="http://schemas.openxmlformats.org/drawingml/2006/main">
              <a:ext uri="{FF2B5EF4-FFF2-40B4-BE49-F238E27FC236}">
                <a16:creationId xmlns:a16="http://schemas.microsoft.com/office/drawing/2014/main" id="{B576A965-185E-4A2E-8C74-7B609E39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908" y="4781550"/>
            <a:ext cx="1785164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acústica + eléctrica</a:t>
            </a:r>
          </a:p>
        </p:txBody>
      </p:sp>
      <p:sp>
        <p:nvSpPr>
          <p:cNvPr id="50" name="u08-106-devices-4-4-box">
            <a:extLst xmlns:a="http://schemas.openxmlformats.org/drawingml/2006/main">
              <a:ext uri="{FF2B5EF4-FFF2-40B4-BE49-F238E27FC236}">
                <a16:creationId xmlns:a16="http://schemas.microsoft.com/office/drawing/2014/main" id="{1F096331-C0FC-49C4-BCC5-B486C970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272" y="4724400"/>
            <a:ext cx="3100103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51" name="u08-106-devices-4-4-text">
            <a:extLst xmlns:a="http://schemas.openxmlformats.org/drawingml/2006/main">
              <a:ext uri="{FF2B5EF4-FFF2-40B4-BE49-F238E27FC236}">
                <a16:creationId xmlns:a16="http://schemas.microsoft.com/office/drawing/2014/main" id="{D992622A-AAD4-45F5-B10D-E346C240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472" y="4781550"/>
            <a:ext cx="294770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ajuste individualizado</a:t>
            </a:r>
          </a:p>
        </p:txBody>
      </p:sp>
      <p:sp>
        <p:nvSpPr>
          <p:cNvPr id="52" name="top-rail-1">
            <a:extLst xmlns:a="http://schemas.openxmlformats.org/drawingml/2006/main">
              <a:ext uri="{FF2B5EF4-FFF2-40B4-BE49-F238E27FC236}">
                <a16:creationId xmlns:a16="http://schemas.microsoft.com/office/drawing/2014/main" id="{5473640D-F6FE-4A8E-BB59-71FCF014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53" name="top-rail-2">
            <a:extLst xmlns:a="http://schemas.openxmlformats.org/drawingml/2006/main">
              <a:ext uri="{FF2B5EF4-FFF2-40B4-BE49-F238E27FC236}">
                <a16:creationId xmlns:a16="http://schemas.microsoft.com/office/drawing/2014/main" id="{1EAB97B2-6A0B-4E78-942B-BDED791E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4" name="top-rail-3">
            <a:extLst xmlns:a="http://schemas.openxmlformats.org/drawingml/2006/main">
              <a:ext uri="{FF2B5EF4-FFF2-40B4-BE49-F238E27FC236}">
                <a16:creationId xmlns:a16="http://schemas.microsoft.com/office/drawing/2014/main" id="{7218EC3D-BE0D-4A9C-AB35-68BCFA2E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55" name="eyebrow">
            <a:extLst xmlns:a="http://schemas.openxmlformats.org/drawingml/2006/main">
              <a:ext uri="{FF2B5EF4-FFF2-40B4-BE49-F238E27FC236}">
                <a16:creationId xmlns:a16="http://schemas.microsoft.com/office/drawing/2014/main" id="{329F16DA-A1B9-4A57-AA35-ABAF9244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5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EC3509F-EC0C-4BA8-857A-EB2D6570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106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E027C3-24C7-4BD7-9A47-0200F652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TTS: diferencias en tres frecuencias</a:t>
            </a:r>
          </a:p>
        </p:txBody>
      </p:sp>
      <p:sp>
        <p:nvSpPr>
          <p:cNvPr id="2" name="U08-107-data-0-0-box">
            <a:extLst xmlns:a="http://schemas.openxmlformats.org/drawingml/2006/main">
              <a:ext uri="{FF2B5EF4-FFF2-40B4-BE49-F238E27FC236}">
                <a16:creationId xmlns:a16="http://schemas.microsoft.com/office/drawing/2014/main" id="{8611A469-BDC5-4625-800C-0B9424A6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3" name="U08-107-data-0-0-text">
            <a:extLst xmlns:a="http://schemas.openxmlformats.org/drawingml/2006/main">
              <a:ext uri="{FF2B5EF4-FFF2-40B4-BE49-F238E27FC236}">
                <a16:creationId xmlns:a16="http://schemas.microsoft.com/office/drawing/2014/main" id="{4F28FB12-7BD3-496A-8845-17C8E725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 (Hz)</a:t>
            </a:r>
          </a:p>
        </p:txBody>
      </p:sp>
      <p:sp>
        <p:nvSpPr>
          <p:cNvPr id="4" name="U08-107-data-0-1-box">
            <a:extLst xmlns:a="http://schemas.openxmlformats.org/drawingml/2006/main">
              <a:ext uri="{FF2B5EF4-FFF2-40B4-BE49-F238E27FC236}">
                <a16:creationId xmlns:a16="http://schemas.microsoft.com/office/drawing/2014/main" id="{A6587664-7FA8-4261-A68B-A7BD1E2A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161925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5" name="U08-107-data-0-1-text">
            <a:extLst xmlns:a="http://schemas.openxmlformats.org/drawingml/2006/main">
              <a:ext uri="{FF2B5EF4-FFF2-40B4-BE49-F238E27FC236}">
                <a16:creationId xmlns:a16="http://schemas.microsoft.com/office/drawing/2014/main" id="{B199FBEE-A64C-4CC7-9EC1-035D714A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3" y="167640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500</a:t>
            </a:r>
          </a:p>
        </p:txBody>
      </p:sp>
      <p:sp>
        <p:nvSpPr>
          <p:cNvPr id="6" name="U08-107-data-0-2-box">
            <a:extLst xmlns:a="http://schemas.openxmlformats.org/drawingml/2006/main">
              <a:ext uri="{FF2B5EF4-FFF2-40B4-BE49-F238E27FC236}">
                <a16:creationId xmlns:a16="http://schemas.microsoft.com/office/drawing/2014/main" id="{E04BCD0C-EBA4-4D98-B9EB-D68836E7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1925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7" name="U08-107-data-0-2-text">
            <a:extLst xmlns:a="http://schemas.openxmlformats.org/drawingml/2006/main">
              <a:ext uri="{FF2B5EF4-FFF2-40B4-BE49-F238E27FC236}">
                <a16:creationId xmlns:a16="http://schemas.microsoft.com/office/drawing/2014/main" id="{C328F826-FB3D-4A79-9C12-46F2492B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67640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1000</a:t>
            </a:r>
          </a:p>
        </p:txBody>
      </p:sp>
      <p:sp>
        <p:nvSpPr>
          <p:cNvPr id="8" name="U08-107-data-0-3-box">
            <a:extLst xmlns:a="http://schemas.openxmlformats.org/drawingml/2006/main">
              <a:ext uri="{FF2B5EF4-FFF2-40B4-BE49-F238E27FC236}">
                <a16:creationId xmlns:a16="http://schemas.microsoft.com/office/drawing/2014/main" id="{11A26FB4-8C5C-495B-BA85-FCDA469D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161925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9" name="U08-107-data-0-3-text">
            <a:extLst xmlns:a="http://schemas.openxmlformats.org/drawingml/2006/main">
              <a:ext uri="{FF2B5EF4-FFF2-40B4-BE49-F238E27FC236}">
                <a16:creationId xmlns:a16="http://schemas.microsoft.com/office/drawing/2014/main" id="{12C27980-A601-489B-AA23-D8649CD8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138" y="167640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4000</a:t>
            </a:r>
          </a:p>
        </p:txBody>
      </p:sp>
      <p:sp>
        <p:nvSpPr>
          <p:cNvPr id="10" name="U08-107-data-1-0-box">
            <a:extLst xmlns:a="http://schemas.openxmlformats.org/drawingml/2006/main">
              <a:ext uri="{FF2B5EF4-FFF2-40B4-BE49-F238E27FC236}">
                <a16:creationId xmlns:a16="http://schemas.microsoft.com/office/drawing/2014/main" id="{C6CDB047-B63C-4B04-8196-7472EC64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1" name="U08-107-data-1-0-text">
            <a:extLst xmlns:a="http://schemas.openxmlformats.org/drawingml/2006/main">
              <a:ext uri="{FF2B5EF4-FFF2-40B4-BE49-F238E27FC236}">
                <a16:creationId xmlns:a16="http://schemas.microsoft.com/office/drawing/2014/main" id="{788E3B0E-D079-4C39-8607-751C33C9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Lᵤ,₀ (dB HL)</a:t>
            </a:r>
          </a:p>
        </p:txBody>
      </p:sp>
      <p:sp>
        <p:nvSpPr>
          <p:cNvPr id="12" name="U08-107-data-1-1-box">
            <a:extLst xmlns:a="http://schemas.openxmlformats.org/drawingml/2006/main">
              <a:ext uri="{FF2B5EF4-FFF2-40B4-BE49-F238E27FC236}">
                <a16:creationId xmlns:a16="http://schemas.microsoft.com/office/drawing/2014/main" id="{18D8D1E2-0768-4F3F-A602-940102A0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240030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3" name="U08-107-data-1-1-text">
            <a:extLst xmlns:a="http://schemas.openxmlformats.org/drawingml/2006/main">
              <a:ext uri="{FF2B5EF4-FFF2-40B4-BE49-F238E27FC236}">
                <a16:creationId xmlns:a16="http://schemas.microsoft.com/office/drawing/2014/main" id="{24DCEE51-BF1A-4F79-A09F-7C3B208C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3" y="245745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14" name="U08-107-data-1-2-box">
            <a:extLst xmlns:a="http://schemas.openxmlformats.org/drawingml/2006/main">
              <a:ext uri="{FF2B5EF4-FFF2-40B4-BE49-F238E27FC236}">
                <a16:creationId xmlns:a16="http://schemas.microsoft.com/office/drawing/2014/main" id="{4861B74B-34BD-4727-B787-CE7258E0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0030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5" name="U08-107-data-1-2-text">
            <a:extLst xmlns:a="http://schemas.openxmlformats.org/drawingml/2006/main">
              <a:ext uri="{FF2B5EF4-FFF2-40B4-BE49-F238E27FC236}">
                <a16:creationId xmlns:a16="http://schemas.microsoft.com/office/drawing/2014/main" id="{F126629B-E010-411A-8114-2C795087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45745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16" name="U08-107-data-1-3-box">
            <a:extLst xmlns:a="http://schemas.openxmlformats.org/drawingml/2006/main">
              <a:ext uri="{FF2B5EF4-FFF2-40B4-BE49-F238E27FC236}">
                <a16:creationId xmlns:a16="http://schemas.microsoft.com/office/drawing/2014/main" id="{BEE6EF65-81B5-4EF8-9AB6-7CF2A576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40030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7" name="U08-107-data-1-3-text">
            <a:extLst xmlns:a="http://schemas.openxmlformats.org/drawingml/2006/main">
              <a:ext uri="{FF2B5EF4-FFF2-40B4-BE49-F238E27FC236}">
                <a16:creationId xmlns:a16="http://schemas.microsoft.com/office/drawing/2014/main" id="{1DF4E822-5F7D-4428-907B-C6D61A3A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138" y="245745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18" name="U08-107-data-2-0-box">
            <a:extLst xmlns:a="http://schemas.openxmlformats.org/drawingml/2006/main">
              <a:ext uri="{FF2B5EF4-FFF2-40B4-BE49-F238E27FC236}">
                <a16:creationId xmlns:a16="http://schemas.microsoft.com/office/drawing/2014/main" id="{F84EF72E-294D-4834-BD23-F731986B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9" name="U08-107-data-2-0-text">
            <a:extLst xmlns:a="http://schemas.openxmlformats.org/drawingml/2006/main">
              <a:ext uri="{FF2B5EF4-FFF2-40B4-BE49-F238E27FC236}">
                <a16:creationId xmlns:a16="http://schemas.microsoft.com/office/drawing/2014/main" id="{B6816683-F6FD-45E3-AB75-882C611A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Lᵤ,₁ (dB HL)</a:t>
            </a:r>
          </a:p>
        </p:txBody>
      </p:sp>
      <p:sp>
        <p:nvSpPr>
          <p:cNvPr id="20" name="U08-107-data-2-1-box">
            <a:extLst xmlns:a="http://schemas.openxmlformats.org/drawingml/2006/main">
              <a:ext uri="{FF2B5EF4-FFF2-40B4-BE49-F238E27FC236}">
                <a16:creationId xmlns:a16="http://schemas.microsoft.com/office/drawing/2014/main" id="{D65B1C8E-60D4-4709-A736-05BCA826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318135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1" name="U08-107-data-2-1-text">
            <a:extLst xmlns:a="http://schemas.openxmlformats.org/drawingml/2006/main">
              <a:ext uri="{FF2B5EF4-FFF2-40B4-BE49-F238E27FC236}">
                <a16:creationId xmlns:a16="http://schemas.microsoft.com/office/drawing/2014/main" id="{808BB93B-E016-488A-9626-B3CAFA9A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3" y="323850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22" name="U08-107-data-2-2-box">
            <a:extLst xmlns:a="http://schemas.openxmlformats.org/drawingml/2006/main">
              <a:ext uri="{FF2B5EF4-FFF2-40B4-BE49-F238E27FC236}">
                <a16:creationId xmlns:a16="http://schemas.microsoft.com/office/drawing/2014/main" id="{57EB185F-37C5-4C25-B26B-ED5A6ACA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8135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8-107-data-2-2-text">
            <a:extLst xmlns:a="http://schemas.openxmlformats.org/drawingml/2006/main">
              <a:ext uri="{FF2B5EF4-FFF2-40B4-BE49-F238E27FC236}">
                <a16:creationId xmlns:a16="http://schemas.microsoft.com/office/drawing/2014/main" id="{4A3C8E18-1A33-4025-A0C4-A1DC58E2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23850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24" name="U08-107-data-2-3-box">
            <a:extLst xmlns:a="http://schemas.openxmlformats.org/drawingml/2006/main">
              <a:ext uri="{FF2B5EF4-FFF2-40B4-BE49-F238E27FC236}">
                <a16:creationId xmlns:a16="http://schemas.microsoft.com/office/drawing/2014/main" id="{EEE22F24-2C7C-4893-B0BB-67ADF3E4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318135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5" name="U08-107-data-2-3-text">
            <a:extLst xmlns:a="http://schemas.openxmlformats.org/drawingml/2006/main">
              <a:ext uri="{FF2B5EF4-FFF2-40B4-BE49-F238E27FC236}">
                <a16:creationId xmlns:a16="http://schemas.microsoft.com/office/drawing/2014/main" id="{0A77727A-D2C8-4F6A-85D8-073C005E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138" y="323850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26" name="U08-107-prompt-box">
            <a:extLst xmlns:a="http://schemas.openxmlformats.org/drawingml/2006/main">
              <a:ext uri="{FF2B5EF4-FFF2-40B4-BE49-F238E27FC236}">
                <a16:creationId xmlns:a16="http://schemas.microsoft.com/office/drawing/2014/main" id="{113E8DD7-4F87-44DB-A071-8D489525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4333875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27" name="U08-107-prompt-title">
            <a:extLst xmlns:a="http://schemas.openxmlformats.org/drawingml/2006/main">
              <a:ext uri="{FF2B5EF4-FFF2-40B4-BE49-F238E27FC236}">
                <a16:creationId xmlns:a16="http://schemas.microsoft.com/office/drawing/2014/main" id="{842DCB53-FB2F-4571-B1BA-C30F9C55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52600"/>
            <a:ext cx="3990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28" name="U08-107-prompt-body">
            <a:extLst xmlns:a="http://schemas.openxmlformats.org/drawingml/2006/main">
              <a:ext uri="{FF2B5EF4-FFF2-40B4-BE49-F238E27FC236}">
                <a16:creationId xmlns:a16="http://schemas.microsoft.com/office/drawing/2014/main" id="{47A9B8C0-1D49-42DD-819D-AFCD730E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52650"/>
            <a:ext cx="399097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Calcule ΔLₜ en cada frecuencia, identifique la mayor diferencia y explique qué no permite concluir.</a:t>
            </a:r>
          </a:p>
        </p:txBody>
      </p:sp>
      <p:sp>
        <p:nvSpPr>
          <p:cNvPr id="29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B6AA91AE-CDA2-4F4C-B11C-27D31E4B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10096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30" name="equation">
            <a:extLst xmlns:a="http://schemas.openxmlformats.org/drawingml/2006/main">
              <a:ext uri="{FF2B5EF4-FFF2-40B4-BE49-F238E27FC236}">
                <a16:creationId xmlns:a16="http://schemas.microsoft.com/office/drawing/2014/main" id="{51483BC0-B2DB-46F1-A014-F950784C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38675"/>
            <a:ext cx="96393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ΔLₜ(f) = Lᵤ,₁(f) − Lᵤ,₀(f)</a:t>
            </a:r>
          </a:p>
        </p:txBody>
      </p:sp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6EBF3204-CF2B-4892-949B-BC086AD8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3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05F7142-BB1B-40C2-9918-1A4B1BE9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33" name="top-rail-3">
            <a:extLst xmlns:a="http://schemas.openxmlformats.org/drawingml/2006/main">
              <a:ext uri="{FF2B5EF4-FFF2-40B4-BE49-F238E27FC236}">
                <a16:creationId xmlns:a16="http://schemas.microsoft.com/office/drawing/2014/main" id="{A8AA73B9-ED80-4829-88CB-40CE00FA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7CE8AD89-414F-47DB-8743-CA1FA5C7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3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D386ACC-D3FD-499D-9341-9548178F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107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1FA3EB-98FD-42FF-9FAF-2563006F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L_Aeq,T: normalización temporal alternativa</a:t>
            </a:r>
          </a:p>
        </p:txBody>
      </p:sp>
      <p:sp>
        <p:nvSpPr>
          <p:cNvPr id="2" name="U08-108-data-0-0-box">
            <a:extLst xmlns:a="http://schemas.openxmlformats.org/drawingml/2006/main">
              <a:ext uri="{FF2B5EF4-FFF2-40B4-BE49-F238E27FC236}">
                <a16:creationId xmlns:a16="http://schemas.microsoft.com/office/drawing/2014/main" id="{89D68E1D-BBEE-4813-82BF-442B824F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095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3" name="U08-108-data-0-0-text">
            <a:extLst xmlns:a="http://schemas.openxmlformats.org/drawingml/2006/main">
              <a:ext uri="{FF2B5EF4-FFF2-40B4-BE49-F238E27FC236}">
                <a16:creationId xmlns:a16="http://schemas.microsoft.com/office/drawing/2014/main" id="{A465733E-201A-408F-8E98-31E20454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2943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Dato</a:t>
            </a:r>
          </a:p>
        </p:txBody>
      </p:sp>
      <p:sp>
        <p:nvSpPr>
          <p:cNvPr id="4" name="U08-108-data-0-1-box">
            <a:extLst xmlns:a="http://schemas.openxmlformats.org/drawingml/2006/main">
              <a:ext uri="{FF2B5EF4-FFF2-40B4-BE49-F238E27FC236}">
                <a16:creationId xmlns:a16="http://schemas.microsoft.com/office/drawing/2014/main" id="{F0694447-7D7A-4600-9CFC-1AE7CAC9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19250"/>
            <a:ext cx="3095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5" name="U08-108-data-0-1-text">
            <a:extLst xmlns:a="http://schemas.openxmlformats.org/drawingml/2006/main">
              <a:ext uri="{FF2B5EF4-FFF2-40B4-BE49-F238E27FC236}">
                <a16:creationId xmlns:a16="http://schemas.microsoft.com/office/drawing/2014/main" id="{21506279-84F8-4DE6-A6DA-2B092BBD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676400"/>
            <a:ext cx="2943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Valor</a:t>
            </a:r>
          </a:p>
        </p:txBody>
      </p:sp>
      <p:sp>
        <p:nvSpPr>
          <p:cNvPr id="6" name="U08-108-data-1-0-box">
            <a:extLst xmlns:a="http://schemas.openxmlformats.org/drawingml/2006/main">
              <a:ext uri="{FF2B5EF4-FFF2-40B4-BE49-F238E27FC236}">
                <a16:creationId xmlns:a16="http://schemas.microsoft.com/office/drawing/2014/main" id="{8520DA24-0072-4CD1-824D-59CB5C43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3095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7" name="U08-108-data-1-0-text">
            <a:extLst xmlns:a="http://schemas.openxmlformats.org/drawingml/2006/main">
              <a:ext uri="{FF2B5EF4-FFF2-40B4-BE49-F238E27FC236}">
                <a16:creationId xmlns:a16="http://schemas.microsoft.com/office/drawing/2014/main" id="{846C4BDF-B176-4A19-8721-F0981EAC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2943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Exposición</a:t>
            </a:r>
          </a:p>
        </p:txBody>
      </p:sp>
      <p:sp>
        <p:nvSpPr>
          <p:cNvPr id="8" name="U08-108-data-1-1-box">
            <a:extLst xmlns:a="http://schemas.openxmlformats.org/drawingml/2006/main">
              <a:ext uri="{FF2B5EF4-FFF2-40B4-BE49-F238E27FC236}">
                <a16:creationId xmlns:a16="http://schemas.microsoft.com/office/drawing/2014/main" id="{53654501-1918-4459-A666-E9517926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05050"/>
            <a:ext cx="3095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9" name="U08-108-data-1-1-text">
            <a:extLst xmlns:a="http://schemas.openxmlformats.org/drawingml/2006/main">
              <a:ext uri="{FF2B5EF4-FFF2-40B4-BE49-F238E27FC236}">
                <a16:creationId xmlns:a16="http://schemas.microsoft.com/office/drawing/2014/main" id="{B2FCAD31-03E5-4022-ABDC-7F419219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362200"/>
            <a:ext cx="2943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96 dB(A) durante 0,5 h</a:t>
            </a:r>
          </a:p>
        </p:txBody>
      </p:sp>
      <p:sp>
        <p:nvSpPr>
          <p:cNvPr id="10" name="U08-108-data-2-0-box">
            <a:extLst xmlns:a="http://schemas.openxmlformats.org/drawingml/2006/main">
              <a:ext uri="{FF2B5EF4-FFF2-40B4-BE49-F238E27FC236}">
                <a16:creationId xmlns:a16="http://schemas.microsoft.com/office/drawing/2014/main" id="{8C80870D-A872-46E4-A857-A267BCBD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3095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1" name="U08-108-data-2-0-text">
            <a:extLst xmlns:a="http://schemas.openxmlformats.org/drawingml/2006/main">
              <a:ext uri="{FF2B5EF4-FFF2-40B4-BE49-F238E27FC236}">
                <a16:creationId xmlns:a16="http://schemas.microsoft.com/office/drawing/2014/main" id="{1FCF70C3-9BD5-4FBB-9025-98DB085C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2943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Intervalo de referencia</a:t>
            </a:r>
          </a:p>
        </p:txBody>
      </p:sp>
      <p:sp>
        <p:nvSpPr>
          <p:cNvPr id="12" name="U08-108-data-2-1-box">
            <a:extLst xmlns:a="http://schemas.openxmlformats.org/drawingml/2006/main">
              <a:ext uri="{FF2B5EF4-FFF2-40B4-BE49-F238E27FC236}">
                <a16:creationId xmlns:a16="http://schemas.microsoft.com/office/drawing/2014/main" id="{0680F42B-106F-4CF8-8DA3-B14106CE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90850"/>
            <a:ext cx="3095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3" name="U08-108-data-2-1-text">
            <a:extLst xmlns:a="http://schemas.openxmlformats.org/drawingml/2006/main">
              <a:ext uri="{FF2B5EF4-FFF2-40B4-BE49-F238E27FC236}">
                <a16:creationId xmlns:a16="http://schemas.microsoft.com/office/drawing/2014/main" id="{08951D75-8B2A-42DB-9809-33C8562F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48000"/>
            <a:ext cx="2943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8 h</a:t>
            </a:r>
          </a:p>
        </p:txBody>
      </p:sp>
      <p:sp>
        <p:nvSpPr>
          <p:cNvPr id="14" name="U08-108-data-3-0-box">
            <a:extLst xmlns:a="http://schemas.openxmlformats.org/drawingml/2006/main">
              <a:ext uri="{FF2B5EF4-FFF2-40B4-BE49-F238E27FC236}">
                <a16:creationId xmlns:a16="http://schemas.microsoft.com/office/drawing/2014/main" id="{76F18A87-CA95-4280-A6E1-3F8959C3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3095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5" name="U08-108-data-3-0-text">
            <a:extLst xmlns:a="http://schemas.openxmlformats.org/drawingml/2006/main">
              <a:ext uri="{FF2B5EF4-FFF2-40B4-BE49-F238E27FC236}">
                <a16:creationId xmlns:a16="http://schemas.microsoft.com/office/drawing/2014/main" id="{D078A7A1-F469-4EDD-B896-E6F3E0F8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2943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Resto del intervalo</a:t>
            </a:r>
          </a:p>
        </p:txBody>
      </p:sp>
      <p:sp>
        <p:nvSpPr>
          <p:cNvPr id="16" name="U08-108-data-3-1-box">
            <a:extLst xmlns:a="http://schemas.openxmlformats.org/drawingml/2006/main">
              <a:ext uri="{FF2B5EF4-FFF2-40B4-BE49-F238E27FC236}">
                <a16:creationId xmlns:a16="http://schemas.microsoft.com/office/drawing/2014/main" id="{EC8645A7-FD57-4F00-9CBD-82B11D85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76650"/>
            <a:ext cx="3095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7" name="U08-108-data-3-1-text">
            <a:extLst xmlns:a="http://schemas.openxmlformats.org/drawingml/2006/main">
              <a:ext uri="{FF2B5EF4-FFF2-40B4-BE49-F238E27FC236}">
                <a16:creationId xmlns:a16="http://schemas.microsoft.com/office/drawing/2014/main" id="{A83F5C43-291F-4516-8DA9-3471E90D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33800"/>
            <a:ext cx="2943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contribución despreciable</a:t>
            </a:r>
          </a:p>
        </p:txBody>
      </p:sp>
      <p:sp>
        <p:nvSpPr>
          <p:cNvPr id="18" name="U08-108-prompt-box">
            <a:extLst xmlns:a="http://schemas.openxmlformats.org/drawingml/2006/main">
              <a:ext uri="{FF2B5EF4-FFF2-40B4-BE49-F238E27FC236}">
                <a16:creationId xmlns:a16="http://schemas.microsoft.com/office/drawing/2014/main" id="{996E26A9-2F5A-4AD3-B319-F993B62D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4333875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9" name="U08-108-prompt-title">
            <a:extLst xmlns:a="http://schemas.openxmlformats.org/drawingml/2006/main">
              <a:ext uri="{FF2B5EF4-FFF2-40B4-BE49-F238E27FC236}">
                <a16:creationId xmlns:a16="http://schemas.microsoft.com/office/drawing/2014/main" id="{041BA0AA-C679-459A-A734-9B104D09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52600"/>
            <a:ext cx="3990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20" name="U08-108-prompt-body">
            <a:extLst xmlns:a="http://schemas.openxmlformats.org/drawingml/2006/main">
              <a:ext uri="{FF2B5EF4-FFF2-40B4-BE49-F238E27FC236}">
                <a16:creationId xmlns:a16="http://schemas.microsoft.com/office/drawing/2014/main" id="{B0AA31A2-22E7-4BE9-B0F3-83F368B3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52650"/>
            <a:ext cx="399097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Normalice a 8 h, redondee a una cifra decimal y declare las hipótesis del cálculo.</a:t>
            </a:r>
          </a:p>
        </p:txBody>
      </p:sp>
      <p:sp>
        <p:nvSpPr>
          <p:cNvPr id="21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6232AF60-6A04-4BEA-9027-A503E507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10096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22" name="equation">
            <a:extLst xmlns:a="http://schemas.openxmlformats.org/drawingml/2006/main">
              <a:ext uri="{FF2B5EF4-FFF2-40B4-BE49-F238E27FC236}">
                <a16:creationId xmlns:a16="http://schemas.microsoft.com/office/drawing/2014/main" id="{988B1117-45E7-4F9F-A063-5B26EBCE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38675"/>
            <a:ext cx="96393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L_Aeq,8h = 96 dB(A) + 10 log₁₀(0,5 h / 8 h)</a:t>
            </a:r>
          </a:p>
        </p:txBody>
      </p:sp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C4E42DDD-959E-41DF-BA88-240FD74E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4" name="top-rail-2">
            <a:extLst xmlns:a="http://schemas.openxmlformats.org/drawingml/2006/main">
              <a:ext uri="{FF2B5EF4-FFF2-40B4-BE49-F238E27FC236}">
                <a16:creationId xmlns:a16="http://schemas.microsoft.com/office/drawing/2014/main" id="{61D2F6EE-F5D6-4A27-9267-C4A7C036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5" name="top-rail-3">
            <a:extLst xmlns:a="http://schemas.openxmlformats.org/drawingml/2006/main">
              <a:ext uri="{FF2B5EF4-FFF2-40B4-BE49-F238E27FC236}">
                <a16:creationId xmlns:a16="http://schemas.microsoft.com/office/drawing/2014/main" id="{C55EB1EB-16EC-4183-A1C0-607334B7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13D5A035-EB55-40BA-A15C-2FC45C61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0745A95-9C11-4EF5-AE9C-22A23536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108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F65BBE-1AD0-490B-B3E8-2844A53D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Diferencia aérea–ósea en varias frecuencias</a:t>
            </a:r>
          </a:p>
        </p:txBody>
      </p:sp>
      <p:sp>
        <p:nvSpPr>
          <p:cNvPr id="2" name="U08-109-data-0-0-box">
            <a:extLst xmlns:a="http://schemas.openxmlformats.org/drawingml/2006/main">
              <a:ext uri="{FF2B5EF4-FFF2-40B4-BE49-F238E27FC236}">
                <a16:creationId xmlns:a16="http://schemas.microsoft.com/office/drawing/2014/main" id="{C5389D5B-760A-4C6F-8816-FA7BB777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3" name="U08-109-data-0-0-text">
            <a:extLst xmlns:a="http://schemas.openxmlformats.org/drawingml/2006/main">
              <a:ext uri="{FF2B5EF4-FFF2-40B4-BE49-F238E27FC236}">
                <a16:creationId xmlns:a16="http://schemas.microsoft.com/office/drawing/2014/main" id="{EB2D1B2B-D517-4A7D-B489-4C300F50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 (Hz)</a:t>
            </a:r>
          </a:p>
        </p:txBody>
      </p:sp>
      <p:sp>
        <p:nvSpPr>
          <p:cNvPr id="4" name="U08-109-data-0-1-box">
            <a:extLst xmlns:a="http://schemas.openxmlformats.org/drawingml/2006/main">
              <a:ext uri="{FF2B5EF4-FFF2-40B4-BE49-F238E27FC236}">
                <a16:creationId xmlns:a16="http://schemas.microsoft.com/office/drawing/2014/main" id="{0B6DF3F9-DBAA-405A-B749-FF4259E4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161925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5" name="U08-109-data-0-1-text">
            <a:extLst xmlns:a="http://schemas.openxmlformats.org/drawingml/2006/main">
              <a:ext uri="{FF2B5EF4-FFF2-40B4-BE49-F238E27FC236}">
                <a16:creationId xmlns:a16="http://schemas.microsoft.com/office/drawing/2014/main" id="{410D99FD-03EE-469B-842A-B2EF4560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3" y="167640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500</a:t>
            </a:r>
          </a:p>
        </p:txBody>
      </p:sp>
      <p:sp>
        <p:nvSpPr>
          <p:cNvPr id="6" name="U08-109-data-0-2-box">
            <a:extLst xmlns:a="http://schemas.openxmlformats.org/drawingml/2006/main">
              <a:ext uri="{FF2B5EF4-FFF2-40B4-BE49-F238E27FC236}">
                <a16:creationId xmlns:a16="http://schemas.microsoft.com/office/drawing/2014/main" id="{FDE9739A-ACD6-4D78-8D8F-DA92D08A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1925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7" name="U08-109-data-0-2-text">
            <a:extLst xmlns:a="http://schemas.openxmlformats.org/drawingml/2006/main">
              <a:ext uri="{FF2B5EF4-FFF2-40B4-BE49-F238E27FC236}">
                <a16:creationId xmlns:a16="http://schemas.microsoft.com/office/drawing/2014/main" id="{CB580261-314A-450D-B5DE-2B9CF3B7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67640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1000</a:t>
            </a:r>
          </a:p>
        </p:txBody>
      </p:sp>
      <p:sp>
        <p:nvSpPr>
          <p:cNvPr id="8" name="U08-109-data-0-3-box">
            <a:extLst xmlns:a="http://schemas.openxmlformats.org/drawingml/2006/main">
              <a:ext uri="{FF2B5EF4-FFF2-40B4-BE49-F238E27FC236}">
                <a16:creationId xmlns:a16="http://schemas.microsoft.com/office/drawing/2014/main" id="{358E97EB-0C43-42ED-8A0A-AA7BC7CC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161925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9" name="U08-109-data-0-3-text">
            <a:extLst xmlns:a="http://schemas.openxmlformats.org/drawingml/2006/main">
              <a:ext uri="{FF2B5EF4-FFF2-40B4-BE49-F238E27FC236}">
                <a16:creationId xmlns:a16="http://schemas.microsoft.com/office/drawing/2014/main" id="{152844A7-1C89-48CC-882A-85F38F3E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138" y="167640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4000</a:t>
            </a:r>
          </a:p>
        </p:txBody>
      </p:sp>
      <p:sp>
        <p:nvSpPr>
          <p:cNvPr id="10" name="U08-109-data-1-0-box">
            <a:extLst xmlns:a="http://schemas.openxmlformats.org/drawingml/2006/main">
              <a:ext uri="{FF2B5EF4-FFF2-40B4-BE49-F238E27FC236}">
                <a16:creationId xmlns:a16="http://schemas.microsoft.com/office/drawing/2014/main" id="{6C088007-5824-48F0-A87F-F2DB8CE1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1" name="U08-109-data-1-0-text">
            <a:extLst xmlns:a="http://schemas.openxmlformats.org/drawingml/2006/main">
              <a:ext uri="{FF2B5EF4-FFF2-40B4-BE49-F238E27FC236}">
                <a16:creationId xmlns:a16="http://schemas.microsoft.com/office/drawing/2014/main" id="{E2312585-EBCA-4457-84C1-48BB9CCC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LVA (dB HL)</a:t>
            </a:r>
          </a:p>
        </p:txBody>
      </p:sp>
      <p:sp>
        <p:nvSpPr>
          <p:cNvPr id="12" name="U08-109-data-1-1-box">
            <a:extLst xmlns:a="http://schemas.openxmlformats.org/drawingml/2006/main">
              <a:ext uri="{FF2B5EF4-FFF2-40B4-BE49-F238E27FC236}">
                <a16:creationId xmlns:a16="http://schemas.microsoft.com/office/drawing/2014/main" id="{BB82FA3D-E99E-46B9-9248-A9FE5865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240030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3" name="U08-109-data-1-1-text">
            <a:extLst xmlns:a="http://schemas.openxmlformats.org/drawingml/2006/main">
              <a:ext uri="{FF2B5EF4-FFF2-40B4-BE49-F238E27FC236}">
                <a16:creationId xmlns:a16="http://schemas.microsoft.com/office/drawing/2014/main" id="{0F0DC566-A5A4-48B0-9AD4-C788725F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3" y="245745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4" name="U08-109-data-1-2-box">
            <a:extLst xmlns:a="http://schemas.openxmlformats.org/drawingml/2006/main">
              <a:ext uri="{FF2B5EF4-FFF2-40B4-BE49-F238E27FC236}">
                <a16:creationId xmlns:a16="http://schemas.microsoft.com/office/drawing/2014/main" id="{A1ACAC56-12D5-4E65-BDDC-1D6C4113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0030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5" name="U08-109-data-1-2-text">
            <a:extLst xmlns:a="http://schemas.openxmlformats.org/drawingml/2006/main">
              <a:ext uri="{FF2B5EF4-FFF2-40B4-BE49-F238E27FC236}">
                <a16:creationId xmlns:a16="http://schemas.microsoft.com/office/drawing/2014/main" id="{247A8411-FFDC-484A-BA6F-F6C5E595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45745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  <p:sp>
        <p:nvSpPr>
          <p:cNvPr id="16" name="U08-109-data-1-3-box">
            <a:extLst xmlns:a="http://schemas.openxmlformats.org/drawingml/2006/main">
              <a:ext uri="{FF2B5EF4-FFF2-40B4-BE49-F238E27FC236}">
                <a16:creationId xmlns:a16="http://schemas.microsoft.com/office/drawing/2014/main" id="{193F4004-25DC-42C5-BB58-636A18F9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40030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7" name="U08-109-data-1-3-text">
            <a:extLst xmlns:a="http://schemas.openxmlformats.org/drawingml/2006/main">
              <a:ext uri="{FF2B5EF4-FFF2-40B4-BE49-F238E27FC236}">
                <a16:creationId xmlns:a16="http://schemas.microsoft.com/office/drawing/2014/main" id="{67F5C0BB-490D-4320-ACFA-7085C391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138" y="245745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  <p:sp>
        <p:nvSpPr>
          <p:cNvPr id="18" name="U08-109-data-2-0-box">
            <a:extLst xmlns:a="http://schemas.openxmlformats.org/drawingml/2006/main">
              <a:ext uri="{FF2B5EF4-FFF2-40B4-BE49-F238E27FC236}">
                <a16:creationId xmlns:a16="http://schemas.microsoft.com/office/drawing/2014/main" id="{4006AAB4-2B27-489C-89B3-B557FBB4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9" name="U08-109-data-2-0-text">
            <a:extLst xmlns:a="http://schemas.openxmlformats.org/drawingml/2006/main">
              <a:ext uri="{FF2B5EF4-FFF2-40B4-BE49-F238E27FC236}">
                <a16:creationId xmlns:a16="http://schemas.microsoft.com/office/drawing/2014/main" id="{A5027B54-249F-4BFB-AC96-EF2CBD62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LVO (dB HL)</a:t>
            </a:r>
          </a:p>
        </p:txBody>
      </p:sp>
      <p:sp>
        <p:nvSpPr>
          <p:cNvPr id="20" name="U08-109-data-2-1-box">
            <a:extLst xmlns:a="http://schemas.openxmlformats.org/drawingml/2006/main">
              <a:ext uri="{FF2B5EF4-FFF2-40B4-BE49-F238E27FC236}">
                <a16:creationId xmlns:a16="http://schemas.microsoft.com/office/drawing/2014/main" id="{F2C61052-49FC-46A6-BC13-6B18E4B3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318135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1" name="U08-109-data-2-1-text">
            <a:extLst xmlns:a="http://schemas.openxmlformats.org/drawingml/2006/main">
              <a:ext uri="{FF2B5EF4-FFF2-40B4-BE49-F238E27FC236}">
                <a16:creationId xmlns:a16="http://schemas.microsoft.com/office/drawing/2014/main" id="{0981894B-C24B-4EE9-85AF-1E8AB38B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3" y="323850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22" name="U08-109-data-2-2-box">
            <a:extLst xmlns:a="http://schemas.openxmlformats.org/drawingml/2006/main">
              <a:ext uri="{FF2B5EF4-FFF2-40B4-BE49-F238E27FC236}">
                <a16:creationId xmlns:a16="http://schemas.microsoft.com/office/drawing/2014/main" id="{8B9D5739-58F4-4DC4-9D2A-7121F72C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8135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8-109-data-2-2-text">
            <a:extLst xmlns:a="http://schemas.openxmlformats.org/drawingml/2006/main">
              <a:ext uri="{FF2B5EF4-FFF2-40B4-BE49-F238E27FC236}">
                <a16:creationId xmlns:a16="http://schemas.microsoft.com/office/drawing/2014/main" id="{DF836D35-2F7F-461E-8E92-8AF1A034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23850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24" name="U08-109-data-2-3-box">
            <a:extLst xmlns:a="http://schemas.openxmlformats.org/drawingml/2006/main">
              <a:ext uri="{FF2B5EF4-FFF2-40B4-BE49-F238E27FC236}">
                <a16:creationId xmlns:a16="http://schemas.microsoft.com/office/drawing/2014/main" id="{87743727-9EEB-4F95-9B30-E9F61B75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3181350"/>
            <a:ext cx="15478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5" name="U08-109-data-2-3-text">
            <a:extLst xmlns:a="http://schemas.openxmlformats.org/drawingml/2006/main">
              <a:ext uri="{FF2B5EF4-FFF2-40B4-BE49-F238E27FC236}">
                <a16:creationId xmlns:a16="http://schemas.microsoft.com/office/drawing/2014/main" id="{66CC4954-48BB-458B-B9A9-F9AC9CE2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138" y="3238500"/>
            <a:ext cx="13954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26" name="U08-109-prompt-box">
            <a:extLst xmlns:a="http://schemas.openxmlformats.org/drawingml/2006/main">
              <a:ext uri="{FF2B5EF4-FFF2-40B4-BE49-F238E27FC236}">
                <a16:creationId xmlns:a16="http://schemas.microsoft.com/office/drawing/2014/main" id="{BA312B91-1DA8-4B9A-B2C6-CAB6AFB7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4333875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27" name="U08-109-prompt-title">
            <a:extLst xmlns:a="http://schemas.openxmlformats.org/drawingml/2006/main">
              <a:ext uri="{FF2B5EF4-FFF2-40B4-BE49-F238E27FC236}">
                <a16:creationId xmlns:a16="http://schemas.microsoft.com/office/drawing/2014/main" id="{AE9B13AE-EBFD-4F63-BCE7-C800AE7A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52600"/>
            <a:ext cx="3990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28" name="U08-109-prompt-body">
            <a:extLst xmlns:a="http://schemas.openxmlformats.org/drawingml/2006/main">
              <a:ext uri="{FF2B5EF4-FFF2-40B4-BE49-F238E27FC236}">
                <a16:creationId xmlns:a16="http://schemas.microsoft.com/office/drawing/2014/main" id="{67B5A25E-F021-4244-B721-43A3C83A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52650"/>
            <a:ext cx="399097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Calcule la diferencia en cada frecuencia e identifique si existe una única diferencia máxima.</a:t>
            </a:r>
          </a:p>
        </p:txBody>
      </p:sp>
      <p:sp>
        <p:nvSpPr>
          <p:cNvPr id="29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3187D208-FD3D-4EC6-8845-D1DC597D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10096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30" name="equation">
            <a:extLst xmlns:a="http://schemas.openxmlformats.org/drawingml/2006/main">
              <a:ext uri="{FF2B5EF4-FFF2-40B4-BE49-F238E27FC236}">
                <a16:creationId xmlns:a16="http://schemas.microsoft.com/office/drawing/2014/main" id="{EFBB45A2-7798-4518-B5FB-DE03823E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38675"/>
            <a:ext cx="96393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G_AO(f) = LVA(f) − LVO(f)</a:t>
            </a:r>
          </a:p>
        </p:txBody>
      </p:sp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93D02A54-FFD9-4C65-B83C-4C3E2EA4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3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8FDC494-CBD5-4102-B70B-A91312AA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3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A13AAB5-EA5D-4F06-84FD-4442FB1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D538874A-9F8F-41A3-831F-2AFB530C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3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ADADAC7-2CB3-43C4-A864-83ABE308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109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E29094-7721-4DC9-8B03-CD43D708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Ganancia de audífono en tres frecuencias</a:t>
            </a:r>
          </a:p>
        </p:txBody>
      </p:sp>
      <p:sp>
        <p:nvSpPr>
          <p:cNvPr id="2" name="u08-110-table-0-0-box">
            <a:extLst xmlns:a="http://schemas.openxmlformats.org/drawingml/2006/main">
              <a:ext uri="{FF2B5EF4-FFF2-40B4-BE49-F238E27FC236}">
                <a16:creationId xmlns:a16="http://schemas.microsoft.com/office/drawing/2014/main" id="{3413A96C-512B-41CD-B739-5C4D9C59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848716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3" name="u08-110-table-0-0-text">
            <a:extLst xmlns:a="http://schemas.openxmlformats.org/drawingml/2006/main">
              <a:ext uri="{FF2B5EF4-FFF2-40B4-BE49-F238E27FC236}">
                <a16:creationId xmlns:a16="http://schemas.microsoft.com/office/drawing/2014/main" id="{98433AE8-BB42-4FC4-AEE4-014543BA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1696316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 (Hz)</a:t>
            </a:r>
          </a:p>
        </p:txBody>
      </p:sp>
      <p:sp>
        <p:nvSpPr>
          <p:cNvPr id="4" name="u08-110-table-0-1-box">
            <a:extLst xmlns:a="http://schemas.openxmlformats.org/drawingml/2006/main">
              <a:ext uri="{FF2B5EF4-FFF2-40B4-BE49-F238E27FC236}">
                <a16:creationId xmlns:a16="http://schemas.microsoft.com/office/drawing/2014/main" id="{62E5E67E-8331-4041-A065-D20AC1B4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216" y="1571625"/>
            <a:ext cx="132051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5" name="u08-110-table-0-1-text">
            <a:extLst xmlns:a="http://schemas.openxmlformats.org/drawingml/2006/main">
              <a:ext uri="{FF2B5EF4-FFF2-40B4-BE49-F238E27FC236}">
                <a16:creationId xmlns:a16="http://schemas.microsoft.com/office/drawing/2014/main" id="{3956917B-E892-441D-8F1F-12525398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416" y="1628775"/>
            <a:ext cx="1168111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500</a:t>
            </a:r>
          </a:p>
        </p:txBody>
      </p:sp>
      <p:sp>
        <p:nvSpPr>
          <p:cNvPr id="6" name="u08-110-table-0-2-box">
            <a:extLst xmlns:a="http://schemas.openxmlformats.org/drawingml/2006/main">
              <a:ext uri="{FF2B5EF4-FFF2-40B4-BE49-F238E27FC236}">
                <a16:creationId xmlns:a16="http://schemas.microsoft.com/office/drawing/2014/main" id="{1A9F8BB0-BF85-40C1-A31E-7FE8EC0B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727" y="1571625"/>
            <a:ext cx="132051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7" name="u08-110-table-0-2-text">
            <a:extLst xmlns:a="http://schemas.openxmlformats.org/drawingml/2006/main">
              <a:ext uri="{FF2B5EF4-FFF2-40B4-BE49-F238E27FC236}">
                <a16:creationId xmlns:a16="http://schemas.microsoft.com/office/drawing/2014/main" id="{C5131561-8823-457E-A257-0298DBEB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927" y="1628775"/>
            <a:ext cx="1168111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1000</a:t>
            </a:r>
          </a:p>
        </p:txBody>
      </p:sp>
      <p:sp>
        <p:nvSpPr>
          <p:cNvPr id="8" name="u08-110-table-0-3-box">
            <a:extLst xmlns:a="http://schemas.openxmlformats.org/drawingml/2006/main">
              <a:ext uri="{FF2B5EF4-FFF2-40B4-BE49-F238E27FC236}">
                <a16:creationId xmlns:a16="http://schemas.microsoft.com/office/drawing/2014/main" id="{A79FCE64-16EC-4345-B5B7-C1319EB6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239" y="1571625"/>
            <a:ext cx="132051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9" name="u08-110-table-0-3-text">
            <a:extLst xmlns:a="http://schemas.openxmlformats.org/drawingml/2006/main">
              <a:ext uri="{FF2B5EF4-FFF2-40B4-BE49-F238E27FC236}">
                <a16:creationId xmlns:a16="http://schemas.microsoft.com/office/drawing/2014/main" id="{FF7EBBE3-C94A-43C8-A5CC-DA9306CD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439" y="1628775"/>
            <a:ext cx="1168111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2000</a:t>
            </a:r>
          </a:p>
        </p:txBody>
      </p:sp>
      <p:sp>
        <p:nvSpPr>
          <p:cNvPr id="10" name="u08-110-table-1-0-box">
            <a:extLst xmlns:a="http://schemas.openxmlformats.org/drawingml/2006/main">
              <a:ext uri="{FF2B5EF4-FFF2-40B4-BE49-F238E27FC236}">
                <a16:creationId xmlns:a16="http://schemas.microsoft.com/office/drawing/2014/main" id="{F56C890A-8117-4871-9196-1F7DC704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57425"/>
            <a:ext cx="1848716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1" name="u08-110-table-1-0-text">
            <a:extLst xmlns:a="http://schemas.openxmlformats.org/drawingml/2006/main">
              <a:ext uri="{FF2B5EF4-FFF2-40B4-BE49-F238E27FC236}">
                <a16:creationId xmlns:a16="http://schemas.microsoft.com/office/drawing/2014/main" id="{AF3C15C0-9C6C-4594-8240-0B1E3436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14575"/>
            <a:ext cx="1696316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Lentrada (dB SPL)</a:t>
            </a:r>
          </a:p>
        </p:txBody>
      </p:sp>
      <p:sp>
        <p:nvSpPr>
          <p:cNvPr id="12" name="u08-110-table-1-1-box">
            <a:extLst xmlns:a="http://schemas.openxmlformats.org/drawingml/2006/main">
              <a:ext uri="{FF2B5EF4-FFF2-40B4-BE49-F238E27FC236}">
                <a16:creationId xmlns:a16="http://schemas.microsoft.com/office/drawing/2014/main" id="{6725F4D4-E7E6-4C59-ACA1-F8D3162B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216" y="2257425"/>
            <a:ext cx="132051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3" name="u08-110-table-1-1-text">
            <a:extLst xmlns:a="http://schemas.openxmlformats.org/drawingml/2006/main">
              <a:ext uri="{FF2B5EF4-FFF2-40B4-BE49-F238E27FC236}">
                <a16:creationId xmlns:a16="http://schemas.microsoft.com/office/drawing/2014/main" id="{9A70F6CE-8617-4B0D-A6B1-0C493549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416" y="2314575"/>
            <a:ext cx="1168111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54</a:t>
            </a:r>
          </a:p>
        </p:txBody>
      </p:sp>
      <p:sp>
        <p:nvSpPr>
          <p:cNvPr id="14" name="u08-110-table-1-2-box">
            <a:extLst xmlns:a="http://schemas.openxmlformats.org/drawingml/2006/main">
              <a:ext uri="{FF2B5EF4-FFF2-40B4-BE49-F238E27FC236}">
                <a16:creationId xmlns:a16="http://schemas.microsoft.com/office/drawing/2014/main" id="{6FF9380A-EA23-4006-85FC-3B7F0EBA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727" y="2257425"/>
            <a:ext cx="132051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5" name="u08-110-table-1-2-text">
            <a:extLst xmlns:a="http://schemas.openxmlformats.org/drawingml/2006/main">
              <a:ext uri="{FF2B5EF4-FFF2-40B4-BE49-F238E27FC236}">
                <a16:creationId xmlns:a16="http://schemas.microsoft.com/office/drawing/2014/main" id="{28F6A7B5-6423-4FF7-9E8F-9093C1AA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927" y="2314575"/>
            <a:ext cx="1168111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54</a:t>
            </a:r>
          </a:p>
        </p:txBody>
      </p:sp>
      <p:sp>
        <p:nvSpPr>
          <p:cNvPr id="16" name="u08-110-table-1-3-box">
            <a:extLst xmlns:a="http://schemas.openxmlformats.org/drawingml/2006/main">
              <a:ext uri="{FF2B5EF4-FFF2-40B4-BE49-F238E27FC236}">
                <a16:creationId xmlns:a16="http://schemas.microsoft.com/office/drawing/2014/main" id="{33E0D139-42C3-4490-8303-46EF0805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239" y="2257425"/>
            <a:ext cx="132051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7" name="u08-110-table-1-3-text">
            <a:extLst xmlns:a="http://schemas.openxmlformats.org/drawingml/2006/main">
              <a:ext uri="{FF2B5EF4-FFF2-40B4-BE49-F238E27FC236}">
                <a16:creationId xmlns:a16="http://schemas.microsoft.com/office/drawing/2014/main" id="{460CF451-3A53-469A-835A-EE5C0C99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439" y="2314575"/>
            <a:ext cx="1168111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54</a:t>
            </a:r>
          </a:p>
        </p:txBody>
      </p:sp>
      <p:sp>
        <p:nvSpPr>
          <p:cNvPr id="18" name="u08-110-table-2-0-box">
            <a:extLst xmlns:a="http://schemas.openxmlformats.org/drawingml/2006/main">
              <a:ext uri="{FF2B5EF4-FFF2-40B4-BE49-F238E27FC236}">
                <a16:creationId xmlns:a16="http://schemas.microsoft.com/office/drawing/2014/main" id="{0D48DE3B-B21E-48EB-B091-6B1BA6D5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225"/>
            <a:ext cx="1848716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9" name="u08-110-table-2-0-text">
            <a:extLst xmlns:a="http://schemas.openxmlformats.org/drawingml/2006/main">
              <a:ext uri="{FF2B5EF4-FFF2-40B4-BE49-F238E27FC236}">
                <a16:creationId xmlns:a16="http://schemas.microsoft.com/office/drawing/2014/main" id="{482017C3-7DE9-4FE4-AB8E-F62A0561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696316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Lsalida (dB SPL)</a:t>
            </a:r>
          </a:p>
        </p:txBody>
      </p:sp>
      <p:sp>
        <p:nvSpPr>
          <p:cNvPr id="20" name="u08-110-table-2-1-box">
            <a:extLst xmlns:a="http://schemas.openxmlformats.org/drawingml/2006/main">
              <a:ext uri="{FF2B5EF4-FFF2-40B4-BE49-F238E27FC236}">
                <a16:creationId xmlns:a16="http://schemas.microsoft.com/office/drawing/2014/main" id="{8FA32D7E-6F1B-4F35-90A9-AFC20349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216" y="2943225"/>
            <a:ext cx="132051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1" name="u08-110-table-2-1-text">
            <a:extLst xmlns:a="http://schemas.openxmlformats.org/drawingml/2006/main">
              <a:ext uri="{FF2B5EF4-FFF2-40B4-BE49-F238E27FC236}">
                <a16:creationId xmlns:a16="http://schemas.microsoft.com/office/drawing/2014/main" id="{2C3B8D63-3187-4277-9E44-C158B145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416" y="3000375"/>
            <a:ext cx="1168111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  <p:sp>
        <p:nvSpPr>
          <p:cNvPr id="22" name="u08-110-table-2-2-box">
            <a:extLst xmlns:a="http://schemas.openxmlformats.org/drawingml/2006/main">
              <a:ext uri="{FF2B5EF4-FFF2-40B4-BE49-F238E27FC236}">
                <a16:creationId xmlns:a16="http://schemas.microsoft.com/office/drawing/2014/main" id="{32FEE655-BD4C-4235-B639-336442E1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727" y="2943225"/>
            <a:ext cx="132051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8-110-table-2-2-text">
            <a:extLst xmlns:a="http://schemas.openxmlformats.org/drawingml/2006/main">
              <a:ext uri="{FF2B5EF4-FFF2-40B4-BE49-F238E27FC236}">
                <a16:creationId xmlns:a16="http://schemas.microsoft.com/office/drawing/2014/main" id="{15FE0F72-52C3-4FBF-8D25-1C1F9D69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927" y="3000375"/>
            <a:ext cx="1168111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69</a:t>
            </a:r>
          </a:p>
        </p:txBody>
      </p:sp>
      <p:sp>
        <p:nvSpPr>
          <p:cNvPr id="24" name="u08-110-table-2-3-box">
            <a:extLst xmlns:a="http://schemas.openxmlformats.org/drawingml/2006/main">
              <a:ext uri="{FF2B5EF4-FFF2-40B4-BE49-F238E27FC236}">
                <a16:creationId xmlns:a16="http://schemas.microsoft.com/office/drawing/2014/main" id="{1B22A4E9-CDAC-4DED-BD5F-2E4503F3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239" y="2943225"/>
            <a:ext cx="132051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5" name="u08-110-table-2-3-text">
            <a:extLst xmlns:a="http://schemas.openxmlformats.org/drawingml/2006/main">
              <a:ext uri="{FF2B5EF4-FFF2-40B4-BE49-F238E27FC236}">
                <a16:creationId xmlns:a16="http://schemas.microsoft.com/office/drawing/2014/main" id="{81E2E045-60CC-49FC-8083-430A5B83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439" y="3000375"/>
            <a:ext cx="1168111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75</a:t>
            </a:r>
          </a:p>
        </p:txBody>
      </p:sp>
      <p:sp>
        <p:nvSpPr>
          <p:cNvPr id="26" name="u08-110-table-3-0-box">
            <a:extLst xmlns:a="http://schemas.openxmlformats.org/drawingml/2006/main">
              <a:ext uri="{FF2B5EF4-FFF2-40B4-BE49-F238E27FC236}">
                <a16:creationId xmlns:a16="http://schemas.microsoft.com/office/drawing/2014/main" id="{54905EAF-71FC-42EE-8219-082CA0D6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29025"/>
            <a:ext cx="1848716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7" name="u08-110-table-3-0-text">
            <a:extLst xmlns:a="http://schemas.openxmlformats.org/drawingml/2006/main">
              <a:ext uri="{FF2B5EF4-FFF2-40B4-BE49-F238E27FC236}">
                <a16:creationId xmlns:a16="http://schemas.microsoft.com/office/drawing/2014/main" id="{66D7A3C1-97F8-4BD8-81DC-538B5C1D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86175"/>
            <a:ext cx="1696316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G(f) (dB)</a:t>
            </a:r>
          </a:p>
        </p:txBody>
      </p:sp>
      <p:sp>
        <p:nvSpPr>
          <p:cNvPr id="28" name="u08-110-table-3-1-box">
            <a:extLst xmlns:a="http://schemas.openxmlformats.org/drawingml/2006/main">
              <a:ext uri="{FF2B5EF4-FFF2-40B4-BE49-F238E27FC236}">
                <a16:creationId xmlns:a16="http://schemas.microsoft.com/office/drawing/2014/main" id="{91C6C85A-33ED-4616-A403-1CFACA12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216" y="3629025"/>
            <a:ext cx="132051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9" name="u08-110-table-3-1-text">
            <a:extLst xmlns:a="http://schemas.openxmlformats.org/drawingml/2006/main">
              <a:ext uri="{FF2B5EF4-FFF2-40B4-BE49-F238E27FC236}">
                <a16:creationId xmlns:a16="http://schemas.microsoft.com/office/drawing/2014/main" id="{E4B13FD7-40C5-4738-86C7-EB13D5FC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416" y="3686175"/>
            <a:ext cx="1168111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0" name="u08-110-table-3-2-box">
            <a:extLst xmlns:a="http://schemas.openxmlformats.org/drawingml/2006/main">
              <a:ext uri="{FF2B5EF4-FFF2-40B4-BE49-F238E27FC236}">
                <a16:creationId xmlns:a16="http://schemas.microsoft.com/office/drawing/2014/main" id="{6BF77A03-C88B-41B2-96D0-8DB4498E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727" y="3629025"/>
            <a:ext cx="132051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31" name="u08-110-table-3-2-text">
            <a:extLst xmlns:a="http://schemas.openxmlformats.org/drawingml/2006/main">
              <a:ext uri="{FF2B5EF4-FFF2-40B4-BE49-F238E27FC236}">
                <a16:creationId xmlns:a16="http://schemas.microsoft.com/office/drawing/2014/main" id="{119EC68D-DAF4-44CB-8591-5388BD6A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927" y="3686175"/>
            <a:ext cx="1168111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32" name="u08-110-table-3-3-box">
            <a:extLst xmlns:a="http://schemas.openxmlformats.org/drawingml/2006/main">
              <a:ext uri="{FF2B5EF4-FFF2-40B4-BE49-F238E27FC236}">
                <a16:creationId xmlns:a16="http://schemas.microsoft.com/office/drawing/2014/main" id="{91C73492-EBDF-40EE-9FCA-24F70A0B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239" y="3629025"/>
            <a:ext cx="132051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33" name="u08-110-table-3-3-text">
            <a:extLst xmlns:a="http://schemas.openxmlformats.org/drawingml/2006/main">
              <a:ext uri="{FF2B5EF4-FFF2-40B4-BE49-F238E27FC236}">
                <a16:creationId xmlns:a16="http://schemas.microsoft.com/office/drawing/2014/main" id="{6F5BB522-1E28-4F57-AE86-7529CC6E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439" y="3686175"/>
            <a:ext cx="1168111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34" name="u08-110-chart-frame">
            <a:extLst xmlns:a="http://schemas.openxmlformats.org/drawingml/2006/main">
              <a:ext uri="{FF2B5EF4-FFF2-40B4-BE49-F238E27FC236}">
                <a16:creationId xmlns:a16="http://schemas.microsoft.com/office/drawing/2014/main" id="{980C4D29-F90C-4086-BAB8-63E6648D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1625"/>
            <a:ext cx="4667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</p:sp>
      <p:sp>
        <p:nvSpPr>
          <p:cNvPr id="35" name="u08-110-bar-0">
            <a:extLst xmlns:a="http://schemas.openxmlformats.org/drawingml/2006/main">
              <a:ext uri="{FF2B5EF4-FFF2-40B4-BE49-F238E27FC236}">
                <a16:creationId xmlns:a16="http://schemas.microsoft.com/office/drawing/2014/main" id="{3AF85CD7-4C4F-48C3-9552-C57B6F4A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685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u08-110-value-0">
            <a:extLst xmlns:a="http://schemas.openxmlformats.org/drawingml/2006/main">
              <a:ext uri="{FF2B5EF4-FFF2-40B4-BE49-F238E27FC236}">
                <a16:creationId xmlns:a16="http://schemas.microsoft.com/office/drawing/2014/main" id="{06DBABE4-5482-431C-91AF-D15063B6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95625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 dB</a:t>
            </a:r>
          </a:p>
        </p:txBody>
      </p:sp>
      <p:sp>
        <p:nvSpPr>
          <p:cNvPr id="37" name="u08-110-label-0">
            <a:extLst xmlns:a="http://schemas.openxmlformats.org/drawingml/2006/main">
              <a:ext uri="{FF2B5EF4-FFF2-40B4-BE49-F238E27FC236}">
                <a16:creationId xmlns:a16="http://schemas.microsoft.com/office/drawing/2014/main" id="{CCAA5289-A1E0-4D23-9510-7BC1D38A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3815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500 Hz</a:t>
            </a:r>
          </a:p>
        </p:txBody>
      </p:sp>
      <p:sp>
        <p:nvSpPr>
          <p:cNvPr id="38" name="u08-110-bar-1">
            <a:extLst xmlns:a="http://schemas.openxmlformats.org/drawingml/2006/main">
              <a:ext uri="{FF2B5EF4-FFF2-40B4-BE49-F238E27FC236}">
                <a16:creationId xmlns:a16="http://schemas.microsoft.com/office/drawing/2014/main" id="{E075770B-ACF2-4E99-80B5-22535FC3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00375"/>
            <a:ext cx="6858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u08-110-value-1">
            <a:extLst xmlns:a="http://schemas.openxmlformats.org/drawingml/2006/main">
              <a:ext uri="{FF2B5EF4-FFF2-40B4-BE49-F238E27FC236}">
                <a16:creationId xmlns:a16="http://schemas.microsoft.com/office/drawing/2014/main" id="{A84F71AD-55FE-484B-A77F-458AA23E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670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15 dB</a:t>
            </a:r>
          </a:p>
        </p:txBody>
      </p:sp>
      <p:sp>
        <p:nvSpPr>
          <p:cNvPr id="40" name="u08-110-label-1">
            <a:extLst xmlns:a="http://schemas.openxmlformats.org/drawingml/2006/main">
              <a:ext uri="{FF2B5EF4-FFF2-40B4-BE49-F238E27FC236}">
                <a16:creationId xmlns:a16="http://schemas.microsoft.com/office/drawing/2014/main" id="{CA6760F5-F5BE-4BEA-B529-DE44DB46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815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1000 Hz</a:t>
            </a:r>
          </a:p>
        </p:txBody>
      </p:sp>
      <p:sp>
        <p:nvSpPr>
          <p:cNvPr id="41" name="u08-110-bar-2">
            <a:extLst xmlns:a="http://schemas.openxmlformats.org/drawingml/2006/main">
              <a:ext uri="{FF2B5EF4-FFF2-40B4-BE49-F238E27FC236}">
                <a16:creationId xmlns:a16="http://schemas.microsoft.com/office/drawing/2014/main" id="{EEFB5FE2-C5E6-48B0-BEEC-D28F811F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86025"/>
            <a:ext cx="68580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u08-110-value-2">
            <a:extLst xmlns:a="http://schemas.openxmlformats.org/drawingml/2006/main">
              <a:ext uri="{FF2B5EF4-FFF2-40B4-BE49-F238E27FC236}">
                <a16:creationId xmlns:a16="http://schemas.microsoft.com/office/drawing/2014/main" id="{A8E938A1-C8C2-421F-B09D-FFBF401A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21 dB</a:t>
            </a:r>
          </a:p>
        </p:txBody>
      </p:sp>
      <p:sp>
        <p:nvSpPr>
          <p:cNvPr id="43" name="u08-110-label-2">
            <a:extLst xmlns:a="http://schemas.openxmlformats.org/drawingml/2006/main">
              <a:ext uri="{FF2B5EF4-FFF2-40B4-BE49-F238E27FC236}">
                <a16:creationId xmlns:a16="http://schemas.microsoft.com/office/drawing/2014/main" id="{7E77B62A-869F-4E04-B3B4-2EC867A3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3815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2000 Hz</a:t>
            </a:r>
          </a:p>
        </p:txBody>
      </p:sp>
      <p:sp>
        <p:nvSpPr>
          <p:cNvPr id="44" name="u08-110-limit-box">
            <a:extLst xmlns:a="http://schemas.openxmlformats.org/drawingml/2006/main">
              <a:ext uri="{FF2B5EF4-FFF2-40B4-BE49-F238E27FC236}">
                <a16:creationId xmlns:a16="http://schemas.microsoft.com/office/drawing/2014/main" id="{BF2F53D3-5009-4B53-89EF-54E5181C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876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45" name="u08-110-limit-title">
            <a:extLst xmlns:a="http://schemas.openxmlformats.org/drawingml/2006/main">
              <a:ext uri="{FF2B5EF4-FFF2-40B4-BE49-F238E27FC236}">
                <a16:creationId xmlns:a16="http://schemas.microsoft.com/office/drawing/2014/main" id="{9B469389-0E45-4605-8F7F-686CEC1A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991100"/>
            <a:ext cx="842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Conclusión limitada</a:t>
            </a:r>
          </a:p>
        </p:txBody>
      </p:sp>
      <p:sp>
        <p:nvSpPr>
          <p:cNvPr id="46" name="u08-110-limit-body">
            <a:extLst xmlns:a="http://schemas.openxmlformats.org/drawingml/2006/main">
              <a:ext uri="{FF2B5EF4-FFF2-40B4-BE49-F238E27FC236}">
                <a16:creationId xmlns:a16="http://schemas.microsoft.com/office/drawing/2014/main" id="{E3DB2E35-5B36-44F2-AD6B-2323F167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91150"/>
            <a:ext cx="842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mayor ganancia es 21 dB a 2000 Hz. Esto no determina sonoridad, comodidad ni comprensión del habla.</a:t>
            </a:r>
          </a:p>
        </p:txBody>
      </p:sp>
      <p:sp>
        <p:nvSpPr>
          <p:cNvPr id="47" name="top-rail-1">
            <a:extLst xmlns:a="http://schemas.openxmlformats.org/drawingml/2006/main">
              <a:ext uri="{FF2B5EF4-FFF2-40B4-BE49-F238E27FC236}">
                <a16:creationId xmlns:a16="http://schemas.microsoft.com/office/drawing/2014/main" id="{FECEE94A-B7AF-4648-848D-78CF2B2D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8" name="top-rail-2">
            <a:extLst xmlns:a="http://schemas.openxmlformats.org/drawingml/2006/main">
              <a:ext uri="{FF2B5EF4-FFF2-40B4-BE49-F238E27FC236}">
                <a16:creationId xmlns:a16="http://schemas.microsoft.com/office/drawing/2014/main" id="{47C97C7C-B1BE-409E-8E4B-01850484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49" name="top-rail-3">
            <a:extLst xmlns:a="http://schemas.openxmlformats.org/drawingml/2006/main">
              <a:ext uri="{FF2B5EF4-FFF2-40B4-BE49-F238E27FC236}">
                <a16:creationId xmlns:a16="http://schemas.microsoft.com/office/drawing/2014/main" id="{A4DCAC1E-BC02-47E5-9549-A27CB7A7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50" name="eyebrow">
            <a:extLst xmlns:a="http://schemas.openxmlformats.org/drawingml/2006/main">
              <a:ext uri="{FF2B5EF4-FFF2-40B4-BE49-F238E27FC236}">
                <a16:creationId xmlns:a16="http://schemas.microsoft.com/office/drawing/2014/main" id="{B8E07DAD-35E6-4FF6-97B2-84074841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5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3E6FF98-4775-4BE1-A322-3FAB1614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384723-22D9-4989-AAC2-533719E2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Curvas pos-exposición: ficha de trazabilidad</a:t>
            </a:r>
          </a:p>
        </p:txBody>
      </p:sp>
      <p:sp>
        <p:nvSpPr>
          <p:cNvPr id="2" name="u08-111-0-box">
            <a:extLst xmlns:a="http://schemas.openxmlformats.org/drawingml/2006/main">
              <a:ext uri="{FF2B5EF4-FFF2-40B4-BE49-F238E27FC236}">
                <a16:creationId xmlns:a16="http://schemas.microsoft.com/office/drawing/2014/main" id="{9F451C2C-35AD-4E0C-B1C3-9793BE5A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333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111-0-title">
            <a:extLst xmlns:a="http://schemas.openxmlformats.org/drawingml/2006/main">
              <a:ext uri="{FF2B5EF4-FFF2-40B4-BE49-F238E27FC236}">
                <a16:creationId xmlns:a16="http://schemas.microsoft.com/office/drawing/2014/main" id="{8FCFBA3A-786C-4099-A20C-187B3363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0497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" name="u08-111-0-body">
            <a:extLst xmlns:a="http://schemas.openxmlformats.org/drawingml/2006/main">
              <a:ext uri="{FF2B5EF4-FFF2-40B4-BE49-F238E27FC236}">
                <a16:creationId xmlns:a16="http://schemas.microsoft.com/office/drawing/2014/main" id="{9F1055E3-5C77-4892-9A49-29CC3406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05025"/>
            <a:ext cx="2990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Exposición y descriptor</a:t>
            </a:r>
          </a:p>
        </p:txBody>
      </p:sp>
      <p:sp>
        <p:nvSpPr>
          <p:cNvPr id="5" name="u08-111-1-box">
            <a:extLst xmlns:a="http://schemas.openxmlformats.org/drawingml/2006/main">
              <a:ext uri="{FF2B5EF4-FFF2-40B4-BE49-F238E27FC236}">
                <a16:creationId xmlns:a16="http://schemas.microsoft.com/office/drawing/2014/main" id="{B2DDBCCA-2659-4B0E-A360-D013EE95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71625"/>
            <a:ext cx="3333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u08-111-1-title">
            <a:extLst xmlns:a="http://schemas.openxmlformats.org/drawingml/2006/main">
              <a:ext uri="{FF2B5EF4-FFF2-40B4-BE49-F238E27FC236}">
                <a16:creationId xmlns:a16="http://schemas.microsoft.com/office/drawing/2014/main" id="{D88CCCC6-E7BC-4645-96F6-FCA841D5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70497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7" name="u08-111-1-body">
            <a:extLst xmlns:a="http://schemas.openxmlformats.org/drawingml/2006/main">
              <a:ext uri="{FF2B5EF4-FFF2-40B4-BE49-F238E27FC236}">
                <a16:creationId xmlns:a16="http://schemas.microsoft.com/office/drawing/2014/main" id="{C4BE73CD-8430-434D-AFC7-D10B1A7A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05025"/>
            <a:ext cx="2990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Frecuencia de prueba</a:t>
            </a:r>
          </a:p>
        </p:txBody>
      </p:sp>
      <p:sp>
        <p:nvSpPr>
          <p:cNvPr id="8" name="u08-111-2-box">
            <a:extLst xmlns:a="http://schemas.openxmlformats.org/drawingml/2006/main">
              <a:ext uri="{FF2B5EF4-FFF2-40B4-BE49-F238E27FC236}">
                <a16:creationId xmlns:a16="http://schemas.microsoft.com/office/drawing/2014/main" id="{E3F52994-E259-4720-A9A4-0F86508D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71625"/>
            <a:ext cx="3333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u08-111-2-title">
            <a:extLst xmlns:a="http://schemas.openxmlformats.org/drawingml/2006/main">
              <a:ext uri="{FF2B5EF4-FFF2-40B4-BE49-F238E27FC236}">
                <a16:creationId xmlns:a16="http://schemas.microsoft.com/office/drawing/2014/main" id="{C52D4093-7D6A-4FC4-9174-34584844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70497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0" name="u08-111-2-body">
            <a:extLst xmlns:a="http://schemas.openxmlformats.org/drawingml/2006/main">
              <a:ext uri="{FF2B5EF4-FFF2-40B4-BE49-F238E27FC236}">
                <a16:creationId xmlns:a16="http://schemas.microsoft.com/office/drawing/2014/main" id="{6AA9A78B-C143-4C7A-BB0D-26814714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105025"/>
            <a:ext cx="2990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Tiempos pos-exposición</a:t>
            </a:r>
          </a:p>
        </p:txBody>
      </p:sp>
      <p:sp>
        <p:nvSpPr>
          <p:cNvPr id="11" name="u08-111-3-box">
            <a:extLst xmlns:a="http://schemas.openxmlformats.org/drawingml/2006/main">
              <a:ext uri="{FF2B5EF4-FFF2-40B4-BE49-F238E27FC236}">
                <a16:creationId xmlns:a16="http://schemas.microsoft.com/office/drawing/2014/main" id="{7CDAA559-6B97-4A75-8F69-3E977178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3333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2" name="u08-111-3-title">
            <a:extLst xmlns:a="http://schemas.openxmlformats.org/drawingml/2006/main">
              <a:ext uri="{FF2B5EF4-FFF2-40B4-BE49-F238E27FC236}">
                <a16:creationId xmlns:a16="http://schemas.microsoft.com/office/drawing/2014/main" id="{5C4A0D4E-969F-4E29-8075-107DE8B6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5760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u08-111-3-body">
            <a:extLst xmlns:a="http://schemas.openxmlformats.org/drawingml/2006/main">
              <a:ext uri="{FF2B5EF4-FFF2-40B4-BE49-F238E27FC236}">
                <a16:creationId xmlns:a16="http://schemas.microsoft.com/office/drawing/2014/main" id="{363A7AF9-25E0-42F4-BC73-B171B523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57650"/>
            <a:ext cx="2990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Muestra y variabilidad</a:t>
            </a:r>
          </a:p>
        </p:txBody>
      </p:sp>
      <p:sp>
        <p:nvSpPr>
          <p:cNvPr id="14" name="u08-111-4-box">
            <a:extLst xmlns:a="http://schemas.openxmlformats.org/drawingml/2006/main">
              <a:ext uri="{FF2B5EF4-FFF2-40B4-BE49-F238E27FC236}">
                <a16:creationId xmlns:a16="http://schemas.microsoft.com/office/drawing/2014/main" id="{5B38AE88-A8DE-4824-9F11-438922CF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24250"/>
            <a:ext cx="3333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5" name="u08-111-4-title">
            <a:extLst xmlns:a="http://schemas.openxmlformats.org/drawingml/2006/main">
              <a:ext uri="{FF2B5EF4-FFF2-40B4-BE49-F238E27FC236}">
                <a16:creationId xmlns:a16="http://schemas.microsoft.com/office/drawing/2014/main" id="{C3ED2A19-CAA3-4AE8-B5AF-D2355E42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65760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6" name="u08-111-4-body">
            <a:extLst xmlns:a="http://schemas.openxmlformats.org/drawingml/2006/main">
              <a:ext uri="{FF2B5EF4-FFF2-40B4-BE49-F238E27FC236}">
                <a16:creationId xmlns:a16="http://schemas.microsoft.com/office/drawing/2014/main" id="{55504E8D-F1FB-4839-8FAA-000EE26D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57650"/>
            <a:ext cx="2990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Cita primaria completa</a:t>
            </a:r>
          </a:p>
        </p:txBody>
      </p:sp>
      <p:sp>
        <p:nvSpPr>
          <p:cNvPr id="17" name="u08-111-5-box">
            <a:extLst xmlns:a="http://schemas.openxmlformats.org/drawingml/2006/main">
              <a:ext uri="{FF2B5EF4-FFF2-40B4-BE49-F238E27FC236}">
                <a16:creationId xmlns:a16="http://schemas.microsoft.com/office/drawing/2014/main" id="{1BB2EB6D-5968-4CC1-B58F-AB7C555F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24250"/>
            <a:ext cx="3333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8" name="u08-111-5-title">
            <a:extLst xmlns:a="http://schemas.openxmlformats.org/drawingml/2006/main">
              <a:ext uri="{FF2B5EF4-FFF2-40B4-BE49-F238E27FC236}">
                <a16:creationId xmlns:a16="http://schemas.microsoft.com/office/drawing/2014/main" id="{0D2D2132-2179-4CB4-93AD-F94F1594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65760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19" name="u08-111-5-body">
            <a:extLst xmlns:a="http://schemas.openxmlformats.org/drawingml/2006/main">
              <a:ext uri="{FF2B5EF4-FFF2-40B4-BE49-F238E27FC236}">
                <a16:creationId xmlns:a16="http://schemas.microsoft.com/office/drawing/2014/main" id="{C14DF517-5D49-4CCB-8857-DCFF2B34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057650"/>
            <a:ext cx="2990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Límites de extrapolación</a:t>
            </a:r>
          </a:p>
        </p:txBody>
      </p:sp>
      <p:sp>
        <p:nvSpPr>
          <p:cNvPr id="20" name="u08-111-rule">
            <a:extLst xmlns:a="http://schemas.openxmlformats.org/drawingml/2006/main">
              <a:ext uri="{FF2B5EF4-FFF2-40B4-BE49-F238E27FC236}">
                <a16:creationId xmlns:a16="http://schemas.microsoft.com/office/drawing/2014/main" id="{2B0DFECB-F20C-41DD-9EC5-1B1B808A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No usar una curva pos-exposición si alguno de estos campos está ausente.</a:t>
            </a:r>
          </a:p>
        </p:txBody>
      </p:sp>
      <p:sp>
        <p:nvSpPr>
          <p:cNvPr id="21" name="top-rail-1">
            <a:extLst xmlns:a="http://schemas.openxmlformats.org/drawingml/2006/main">
              <a:ext uri="{FF2B5EF4-FFF2-40B4-BE49-F238E27FC236}">
                <a16:creationId xmlns:a16="http://schemas.microsoft.com/office/drawing/2014/main" id="{0AD7F6F1-351C-4265-A669-0E49257B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2" name="top-rail-2">
            <a:extLst xmlns:a="http://schemas.openxmlformats.org/drawingml/2006/main">
              <a:ext uri="{FF2B5EF4-FFF2-40B4-BE49-F238E27FC236}">
                <a16:creationId xmlns:a16="http://schemas.microsoft.com/office/drawing/2014/main" id="{EBFC6A2B-EE59-43CD-A242-BA55647E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19E0324-8936-4FD4-A226-44320AEE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87B03680-29F4-4F09-8475-20A2FD4B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C4237FD-1D58-4BE5-901F-41874490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111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C4CC17-4E04-47FF-AE00-B56E7E12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Riesgo porcentual: población, caso y modelo</a:t>
            </a:r>
          </a:p>
        </p:txBody>
      </p:sp>
      <p:sp>
        <p:nvSpPr>
          <p:cNvPr id="2" name="u08-112-table-0-0-box">
            <a:extLst xmlns:a="http://schemas.openxmlformats.org/drawingml/2006/main">
              <a:ext uri="{FF2B5EF4-FFF2-40B4-BE49-F238E27FC236}">
                <a16:creationId xmlns:a16="http://schemas.microsoft.com/office/drawing/2014/main" id="{A52FF209-3531-4C6A-B97A-C15EC483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3" name="u08-112-table-0-0-text">
            <a:extLst xmlns:a="http://schemas.openxmlformats.org/drawingml/2006/main">
              <a:ext uri="{FF2B5EF4-FFF2-40B4-BE49-F238E27FC236}">
                <a16:creationId xmlns:a16="http://schemas.microsoft.com/office/drawing/2014/main" id="{B23F3004-4B5E-4837-9AB8-4F40F0D3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Campo</a:t>
            </a:r>
          </a:p>
        </p:txBody>
      </p:sp>
      <p:sp>
        <p:nvSpPr>
          <p:cNvPr id="4" name="u08-112-table-0-1-box">
            <a:extLst xmlns:a="http://schemas.openxmlformats.org/drawingml/2006/main">
              <a:ext uri="{FF2B5EF4-FFF2-40B4-BE49-F238E27FC236}">
                <a16:creationId xmlns:a16="http://schemas.microsoft.com/office/drawing/2014/main" id="{022BAA20-2568-4D92-9BEC-ADCD665F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24000"/>
            <a:ext cx="533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5" name="u08-112-table-0-1-text">
            <a:extLst xmlns:a="http://schemas.openxmlformats.org/drawingml/2006/main">
              <a:ext uri="{FF2B5EF4-FFF2-40B4-BE49-F238E27FC236}">
                <a16:creationId xmlns:a16="http://schemas.microsoft.com/office/drawing/2014/main" id="{25889105-62DE-4FC4-B9FD-B94C405C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581150"/>
            <a:ext cx="518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Debe declarar</a:t>
            </a:r>
          </a:p>
        </p:txBody>
      </p:sp>
      <p:sp>
        <p:nvSpPr>
          <p:cNvPr id="6" name="u08-112-table-1-0-box">
            <a:extLst xmlns:a="http://schemas.openxmlformats.org/drawingml/2006/main">
              <a:ext uri="{FF2B5EF4-FFF2-40B4-BE49-F238E27FC236}">
                <a16:creationId xmlns:a16="http://schemas.microsoft.com/office/drawing/2014/main" id="{DF263C4F-F844-46BF-A6E0-F32056C2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7" name="u08-112-table-1-0-text">
            <a:extLst xmlns:a="http://schemas.openxmlformats.org/drawingml/2006/main">
              <a:ext uri="{FF2B5EF4-FFF2-40B4-BE49-F238E27FC236}">
                <a16:creationId xmlns:a16="http://schemas.microsoft.com/office/drawing/2014/main" id="{B8507263-FBF7-484D-B4F3-043C45EE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Evento</a:t>
            </a:r>
          </a:p>
        </p:txBody>
      </p:sp>
      <p:sp>
        <p:nvSpPr>
          <p:cNvPr id="8" name="u08-112-table-1-1-box">
            <a:extLst xmlns:a="http://schemas.openxmlformats.org/drawingml/2006/main">
              <a:ext uri="{FF2B5EF4-FFF2-40B4-BE49-F238E27FC236}">
                <a16:creationId xmlns:a16="http://schemas.microsoft.com/office/drawing/2014/main" id="{1F4D3A21-16EE-49AB-814E-233B1FEF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05050"/>
            <a:ext cx="533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9" name="u08-112-table-1-1-text">
            <a:extLst xmlns:a="http://schemas.openxmlformats.org/drawingml/2006/main">
              <a:ext uri="{FF2B5EF4-FFF2-40B4-BE49-F238E27FC236}">
                <a16:creationId xmlns:a16="http://schemas.microsoft.com/office/drawing/2014/main" id="{C11CEEA0-3620-4679-A2A1-ECD1D823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62200"/>
            <a:ext cx="518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Deterioro auditivo material según criterio explícito</a:t>
            </a:r>
          </a:p>
        </p:txBody>
      </p:sp>
      <p:sp>
        <p:nvSpPr>
          <p:cNvPr id="10" name="u08-112-table-2-0-box">
            <a:extLst xmlns:a="http://schemas.openxmlformats.org/drawingml/2006/main">
              <a:ext uri="{FF2B5EF4-FFF2-40B4-BE49-F238E27FC236}">
                <a16:creationId xmlns:a16="http://schemas.microsoft.com/office/drawing/2014/main" id="{B0036F21-D2F7-4184-948B-F1301DB8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1" name="u08-112-table-2-0-text">
            <a:extLst xmlns:a="http://schemas.openxmlformats.org/drawingml/2006/main">
              <a:ext uri="{FF2B5EF4-FFF2-40B4-BE49-F238E27FC236}">
                <a16:creationId xmlns:a16="http://schemas.microsoft.com/office/drawing/2014/main" id="{E55DB91B-72FF-4503-8C6A-F29E93E0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Población</a:t>
            </a:r>
          </a:p>
        </p:txBody>
      </p:sp>
      <p:sp>
        <p:nvSpPr>
          <p:cNvPr id="12" name="u08-112-table-2-1-box">
            <a:extLst xmlns:a="http://schemas.openxmlformats.org/drawingml/2006/main">
              <a:ext uri="{FF2B5EF4-FFF2-40B4-BE49-F238E27FC236}">
                <a16:creationId xmlns:a16="http://schemas.microsoft.com/office/drawing/2014/main" id="{7F09F372-C800-4E9A-B6B5-199164CF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86100"/>
            <a:ext cx="533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3" name="u08-112-table-2-1-text">
            <a:extLst xmlns:a="http://schemas.openxmlformats.org/drawingml/2006/main">
              <a:ext uri="{FF2B5EF4-FFF2-40B4-BE49-F238E27FC236}">
                <a16:creationId xmlns:a16="http://schemas.microsoft.com/office/drawing/2014/main" id="{B37049C5-587D-4F4D-B835-BEBC4525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43250"/>
            <a:ext cx="518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Grupo expuesto y comparador no expuesto</a:t>
            </a:r>
          </a:p>
        </p:txBody>
      </p:sp>
      <p:sp>
        <p:nvSpPr>
          <p:cNvPr id="14" name="u08-112-table-3-0-box">
            <a:extLst xmlns:a="http://schemas.openxmlformats.org/drawingml/2006/main">
              <a:ext uri="{FF2B5EF4-FFF2-40B4-BE49-F238E27FC236}">
                <a16:creationId xmlns:a16="http://schemas.microsoft.com/office/drawing/2014/main" id="{74A5F9F2-8D1F-4E3C-9575-3F3FCE7B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5" name="u08-112-table-3-0-text">
            <a:extLst xmlns:a="http://schemas.openxmlformats.org/drawingml/2006/main">
              <a:ext uri="{FF2B5EF4-FFF2-40B4-BE49-F238E27FC236}">
                <a16:creationId xmlns:a16="http://schemas.microsoft.com/office/drawing/2014/main" id="{0302B9F7-23AF-4896-AEAB-5EA8545A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Exposición</a:t>
            </a:r>
          </a:p>
        </p:txBody>
      </p:sp>
      <p:sp>
        <p:nvSpPr>
          <p:cNvPr id="16" name="u08-112-table-3-1-box">
            <a:extLst xmlns:a="http://schemas.openxmlformats.org/drawingml/2006/main">
              <a:ext uri="{FF2B5EF4-FFF2-40B4-BE49-F238E27FC236}">
                <a16:creationId xmlns:a16="http://schemas.microsoft.com/office/drawing/2014/main" id="{80DA3A43-9BE5-48B2-AD5E-38424924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67150"/>
            <a:ext cx="533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7" name="u08-112-table-3-1-text">
            <a:extLst xmlns:a="http://schemas.openxmlformats.org/drawingml/2006/main">
              <a:ext uri="{FF2B5EF4-FFF2-40B4-BE49-F238E27FC236}">
                <a16:creationId xmlns:a16="http://schemas.microsoft.com/office/drawing/2014/main" id="{02FD5548-61B4-4489-B5DF-1BC1C91A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24300"/>
            <a:ext cx="518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 diario y duración</a:t>
            </a:r>
          </a:p>
        </p:txBody>
      </p:sp>
      <p:sp>
        <p:nvSpPr>
          <p:cNvPr id="18" name="u08-112-table-4-0-box">
            <a:extLst xmlns:a="http://schemas.openxmlformats.org/drawingml/2006/main">
              <a:ext uri="{FF2B5EF4-FFF2-40B4-BE49-F238E27FC236}">
                <a16:creationId xmlns:a16="http://schemas.microsoft.com/office/drawing/2014/main" id="{8FADF45E-F9FE-4445-810D-8D795696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9" name="u08-112-table-4-0-text">
            <a:extLst xmlns:a="http://schemas.openxmlformats.org/drawingml/2006/main">
              <a:ext uri="{FF2B5EF4-FFF2-40B4-BE49-F238E27FC236}">
                <a16:creationId xmlns:a16="http://schemas.microsoft.com/office/drawing/2014/main" id="{60C51262-898E-4358-B5D3-3F2E19E8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</a:t>
            </a:r>
          </a:p>
        </p:txBody>
      </p:sp>
      <p:sp>
        <p:nvSpPr>
          <p:cNvPr id="20" name="u08-112-table-4-1-box">
            <a:extLst xmlns:a="http://schemas.openxmlformats.org/drawingml/2006/main">
              <a:ext uri="{FF2B5EF4-FFF2-40B4-BE49-F238E27FC236}">
                <a16:creationId xmlns:a16="http://schemas.microsoft.com/office/drawing/2014/main" id="{FB564FD9-F6D5-44D2-A0BB-18AE10F6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48200"/>
            <a:ext cx="533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1" name="u08-112-table-4-1-text">
            <a:extLst xmlns:a="http://schemas.openxmlformats.org/drawingml/2006/main">
              <a:ext uri="{FF2B5EF4-FFF2-40B4-BE49-F238E27FC236}">
                <a16:creationId xmlns:a16="http://schemas.microsoft.com/office/drawing/2014/main" id="{2552E8B5-5136-4D6F-99E6-57762DC4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05350"/>
            <a:ext cx="518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Exceso de riesgo, no probabilidad individual</a:t>
            </a:r>
          </a:p>
        </p:txBody>
      </p:sp>
      <p:sp>
        <p:nvSpPr>
          <p:cNvPr id="22" name="u08-112-example-box">
            <a:extLst xmlns:a="http://schemas.openxmlformats.org/drawingml/2006/main">
              <a:ext uri="{FF2B5EF4-FFF2-40B4-BE49-F238E27FC236}">
                <a16:creationId xmlns:a16="http://schemas.microsoft.com/office/drawing/2014/main" id="{3D16C91B-9415-41FC-9551-8354F907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1908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3" name="u08-112-example-title">
            <a:extLst xmlns:a="http://schemas.openxmlformats.org/drawingml/2006/main">
              <a:ext uri="{FF2B5EF4-FFF2-40B4-BE49-F238E27FC236}">
                <a16:creationId xmlns:a16="http://schemas.microsoft.com/office/drawing/2014/main" id="{143FF238-892E-4484-923A-9E82718A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704975"/>
            <a:ext cx="2847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Incertidumbre visible</a:t>
            </a:r>
          </a:p>
        </p:txBody>
      </p:sp>
      <p:sp>
        <p:nvSpPr>
          <p:cNvPr id="24" name="u08-112-example-body">
            <a:extLst xmlns:a="http://schemas.openxmlformats.org/drawingml/2006/main">
              <a:ext uri="{FF2B5EF4-FFF2-40B4-BE49-F238E27FC236}">
                <a16:creationId xmlns:a16="http://schemas.microsoft.com/office/drawing/2014/main" id="{496CCA25-CC02-4C77-8203-FB245E63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105025"/>
            <a:ext cx="28479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 85 dBA y &gt;10 años, NIOSH estima 2,3 % a los 30 años (IC 95 %: 0,7–5,3) y 7,9 % a los 60 (2,3–16,6).</a:t>
            </a:r>
          </a:p>
        </p:txBody>
      </p:sp>
      <p:sp>
        <p:nvSpPr>
          <p:cNvPr id="25" name="u08-112-limit-box">
            <a:extLst xmlns:a="http://schemas.openxmlformats.org/drawingml/2006/main">
              <a:ext uri="{FF2B5EF4-FFF2-40B4-BE49-F238E27FC236}">
                <a16:creationId xmlns:a16="http://schemas.microsoft.com/office/drawing/2014/main" id="{BE5C29B0-E552-4C3E-8FA4-1D14F250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3190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26" name="u08-112-limit-title">
            <a:extLst xmlns:a="http://schemas.openxmlformats.org/drawingml/2006/main">
              <a:ext uri="{FF2B5EF4-FFF2-40B4-BE49-F238E27FC236}">
                <a16:creationId xmlns:a16="http://schemas.microsoft.com/office/drawing/2014/main" id="{65002216-7A79-468E-AD54-F6DB2428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133850"/>
            <a:ext cx="2847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27" name="u08-112-limit-body">
            <a:extLst xmlns:a="http://schemas.openxmlformats.org/drawingml/2006/main">
              <a:ext uri="{FF2B5EF4-FFF2-40B4-BE49-F238E27FC236}">
                <a16:creationId xmlns:a16="http://schemas.microsoft.com/office/drawing/2014/main" id="{4EB22F80-B724-4329-9104-57BEAB05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533900"/>
            <a:ext cx="28479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intervalo, la definición y el grupo comparador son parte del dato. El exceso poblacional no predice el resultado de una persona.</a:t>
            </a:r>
          </a:p>
        </p:txBody>
      </p:sp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4E83E522-CBFE-4241-81A6-34CC314F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9" name="top-rail-2">
            <a:extLst xmlns:a="http://schemas.openxmlformats.org/drawingml/2006/main">
              <a:ext uri="{FF2B5EF4-FFF2-40B4-BE49-F238E27FC236}">
                <a16:creationId xmlns:a16="http://schemas.microsoft.com/office/drawing/2014/main" id="{0AFAE715-E0B7-4FE6-90C3-0C2682B0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30" name="top-rail-3">
            <a:extLst xmlns:a="http://schemas.openxmlformats.org/drawingml/2006/main">
              <a:ext uri="{FF2B5EF4-FFF2-40B4-BE49-F238E27FC236}">
                <a16:creationId xmlns:a16="http://schemas.microsoft.com/office/drawing/2014/main" id="{EED9B547-8A41-4E95-AC96-718F5872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CC072FBA-C00D-4192-8CEA-9EF093C1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3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D921E82-8602-40F6-BAB7-F20A161C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112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F76402-CF04-4A20-A76A-CDEA296F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Siglas y términos de la unidad</a:t>
            </a:r>
          </a:p>
        </p:txBody>
      </p:sp>
      <p:sp>
        <p:nvSpPr>
          <p:cNvPr id="2" name="u08-113-terms-0-0-box">
            <a:extLst xmlns:a="http://schemas.openxmlformats.org/drawingml/2006/main">
              <a:ext uri="{FF2B5EF4-FFF2-40B4-BE49-F238E27FC236}">
                <a16:creationId xmlns:a16="http://schemas.microsoft.com/office/drawing/2014/main" id="{0D353FCE-D888-4BD9-9C87-BB800F1B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207334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3" name="u08-113-terms-0-0-text">
            <a:extLst xmlns:a="http://schemas.openxmlformats.org/drawingml/2006/main">
              <a:ext uri="{FF2B5EF4-FFF2-40B4-BE49-F238E27FC236}">
                <a16:creationId xmlns:a16="http://schemas.microsoft.com/office/drawing/2014/main" id="{AB3BE8A4-F336-4D8B-BB57-0D0CEDBE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85900"/>
            <a:ext cx="1920949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Término</a:t>
            </a:r>
          </a:p>
        </p:txBody>
      </p:sp>
      <p:sp>
        <p:nvSpPr>
          <p:cNvPr id="4" name="u08-113-terms-0-1-box">
            <a:extLst xmlns:a="http://schemas.openxmlformats.org/drawingml/2006/main">
              <a:ext uri="{FF2B5EF4-FFF2-40B4-BE49-F238E27FC236}">
                <a16:creationId xmlns:a16="http://schemas.microsoft.com/office/drawing/2014/main" id="{6C4447E8-DB52-4912-9384-F69AA328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224" y="1428750"/>
            <a:ext cx="518337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5" name="u08-113-terms-0-1-text">
            <a:extLst xmlns:a="http://schemas.openxmlformats.org/drawingml/2006/main">
              <a:ext uri="{FF2B5EF4-FFF2-40B4-BE49-F238E27FC236}">
                <a16:creationId xmlns:a16="http://schemas.microsoft.com/office/drawing/2014/main" id="{C23EEC7C-69A5-4128-8A8A-66793888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424" y="1485900"/>
            <a:ext cx="5030972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Desarrollo</a:t>
            </a:r>
          </a:p>
        </p:txBody>
      </p:sp>
      <p:sp>
        <p:nvSpPr>
          <p:cNvPr id="6" name="u08-113-terms-0-2-box">
            <a:extLst xmlns:a="http://schemas.openxmlformats.org/drawingml/2006/main">
              <a:ext uri="{FF2B5EF4-FFF2-40B4-BE49-F238E27FC236}">
                <a16:creationId xmlns:a16="http://schemas.microsoft.com/office/drawing/2014/main" id="{79B0C484-5278-4694-86E9-A46097A9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596" y="1428750"/>
            <a:ext cx="388752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7" name="u08-113-terms-0-2-text">
            <a:extLst xmlns:a="http://schemas.openxmlformats.org/drawingml/2006/main">
              <a:ext uri="{FF2B5EF4-FFF2-40B4-BE49-F238E27FC236}">
                <a16:creationId xmlns:a16="http://schemas.microsoft.com/office/drawing/2014/main" id="{FEEFBF5E-5752-4552-9D21-30E297E4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796" y="1485900"/>
            <a:ext cx="3735129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Magnitud asociada</a:t>
            </a:r>
          </a:p>
        </p:txBody>
      </p:sp>
      <p:sp>
        <p:nvSpPr>
          <p:cNvPr id="8" name="u08-113-terms-1-0-box">
            <a:extLst xmlns:a="http://schemas.openxmlformats.org/drawingml/2006/main">
              <a:ext uri="{FF2B5EF4-FFF2-40B4-BE49-F238E27FC236}">
                <a16:creationId xmlns:a16="http://schemas.microsoft.com/office/drawing/2014/main" id="{0BF103E4-159C-4489-AFB6-52962F38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14550"/>
            <a:ext cx="207334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9" name="u08-113-terms-1-0-text">
            <a:extLst xmlns:a="http://schemas.openxmlformats.org/drawingml/2006/main">
              <a:ext uri="{FF2B5EF4-FFF2-40B4-BE49-F238E27FC236}">
                <a16:creationId xmlns:a16="http://schemas.microsoft.com/office/drawing/2014/main" id="{6FF360B7-E50E-40D5-B965-3A5EEFF6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71700"/>
            <a:ext cx="1920949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TTS</a:t>
            </a:r>
          </a:p>
        </p:txBody>
      </p:sp>
      <p:sp>
        <p:nvSpPr>
          <p:cNvPr id="10" name="u08-113-terms-1-1-box">
            <a:extLst xmlns:a="http://schemas.openxmlformats.org/drawingml/2006/main">
              <a:ext uri="{FF2B5EF4-FFF2-40B4-BE49-F238E27FC236}">
                <a16:creationId xmlns:a16="http://schemas.microsoft.com/office/drawing/2014/main" id="{F0F07BFC-07C8-4A2D-97A2-375E1A66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224" y="2114550"/>
            <a:ext cx="518337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1" name="u08-113-terms-1-1-text">
            <a:extLst xmlns:a="http://schemas.openxmlformats.org/drawingml/2006/main">
              <a:ext uri="{FF2B5EF4-FFF2-40B4-BE49-F238E27FC236}">
                <a16:creationId xmlns:a16="http://schemas.microsoft.com/office/drawing/2014/main" id="{7E9EDB14-23F3-40AF-88B6-96EB6AC1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424" y="2171700"/>
            <a:ext cx="5030972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desplazamiento temporal del umbral</a:t>
            </a:r>
          </a:p>
        </p:txBody>
      </p:sp>
      <p:sp>
        <p:nvSpPr>
          <p:cNvPr id="12" name="u08-113-terms-1-2-box">
            <a:extLst xmlns:a="http://schemas.openxmlformats.org/drawingml/2006/main">
              <a:ext uri="{FF2B5EF4-FFF2-40B4-BE49-F238E27FC236}">
                <a16:creationId xmlns:a16="http://schemas.microsoft.com/office/drawing/2014/main" id="{51B29050-8F6B-4344-B6EA-BCD05E37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596" y="2114550"/>
            <a:ext cx="388752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3" name="u08-113-terms-1-2-text">
            <a:extLst xmlns:a="http://schemas.openxmlformats.org/drawingml/2006/main">
              <a:ext uri="{FF2B5EF4-FFF2-40B4-BE49-F238E27FC236}">
                <a16:creationId xmlns:a16="http://schemas.microsoft.com/office/drawing/2014/main" id="{D81B7CDE-030A-4825-A9BC-A176CA16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796" y="2171700"/>
            <a:ext cx="3735129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diferencia de umbrales (dB)</a:t>
            </a:r>
          </a:p>
        </p:txBody>
      </p:sp>
      <p:sp>
        <p:nvSpPr>
          <p:cNvPr id="14" name="u08-113-terms-2-0-box">
            <a:extLst xmlns:a="http://schemas.openxmlformats.org/drawingml/2006/main">
              <a:ext uri="{FF2B5EF4-FFF2-40B4-BE49-F238E27FC236}">
                <a16:creationId xmlns:a16="http://schemas.microsoft.com/office/drawing/2014/main" id="{C9306489-6874-4D11-AE58-A4EA9DAC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0350"/>
            <a:ext cx="207334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5" name="u08-113-terms-2-0-text">
            <a:extLst xmlns:a="http://schemas.openxmlformats.org/drawingml/2006/main">
              <a:ext uri="{FF2B5EF4-FFF2-40B4-BE49-F238E27FC236}">
                <a16:creationId xmlns:a16="http://schemas.microsoft.com/office/drawing/2014/main" id="{9024CE24-B640-4201-ACFC-A81B313C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57500"/>
            <a:ext cx="1920949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PAIR / NIHL</a:t>
            </a:r>
          </a:p>
        </p:txBody>
      </p:sp>
      <p:sp>
        <p:nvSpPr>
          <p:cNvPr id="16" name="u08-113-terms-2-1-box">
            <a:extLst xmlns:a="http://schemas.openxmlformats.org/drawingml/2006/main">
              <a:ext uri="{FF2B5EF4-FFF2-40B4-BE49-F238E27FC236}">
                <a16:creationId xmlns:a16="http://schemas.microsoft.com/office/drawing/2014/main" id="{D2460FB0-F2F1-4575-A7F2-75CC346C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224" y="2800350"/>
            <a:ext cx="518337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7" name="u08-113-terms-2-1-text">
            <a:extLst xmlns:a="http://schemas.openxmlformats.org/drawingml/2006/main">
              <a:ext uri="{FF2B5EF4-FFF2-40B4-BE49-F238E27FC236}">
                <a16:creationId xmlns:a16="http://schemas.microsoft.com/office/drawing/2014/main" id="{9C1D7EEF-3E52-416A-A231-28AC3637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424" y="2857500"/>
            <a:ext cx="5030972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pérdida auditiva inducida por ruido</a:t>
            </a:r>
          </a:p>
        </p:txBody>
      </p:sp>
      <p:sp>
        <p:nvSpPr>
          <p:cNvPr id="18" name="u08-113-terms-2-2-box">
            <a:extLst xmlns:a="http://schemas.openxmlformats.org/drawingml/2006/main">
              <a:ext uri="{FF2B5EF4-FFF2-40B4-BE49-F238E27FC236}">
                <a16:creationId xmlns:a16="http://schemas.microsoft.com/office/drawing/2014/main" id="{5049C9F1-CF03-4541-B083-B3697741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596" y="2800350"/>
            <a:ext cx="388752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19" name="u08-113-terms-2-2-text">
            <a:extLst xmlns:a="http://schemas.openxmlformats.org/drawingml/2006/main">
              <a:ext uri="{FF2B5EF4-FFF2-40B4-BE49-F238E27FC236}">
                <a16:creationId xmlns:a16="http://schemas.microsoft.com/office/drawing/2014/main" id="{B92AE14E-4947-4302-B109-B4A029CC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796" y="2857500"/>
            <a:ext cx="3735129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historia + patrón + evidencia</a:t>
            </a:r>
          </a:p>
        </p:txBody>
      </p:sp>
      <p:sp>
        <p:nvSpPr>
          <p:cNvPr id="20" name="u08-113-terms-3-0-box">
            <a:extLst xmlns:a="http://schemas.openxmlformats.org/drawingml/2006/main">
              <a:ext uri="{FF2B5EF4-FFF2-40B4-BE49-F238E27FC236}">
                <a16:creationId xmlns:a16="http://schemas.microsoft.com/office/drawing/2014/main" id="{47D945AD-4C2F-4E80-83AD-1181BAD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86150"/>
            <a:ext cx="207334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1" name="u08-113-terms-3-0-text">
            <a:extLst xmlns:a="http://schemas.openxmlformats.org/drawingml/2006/main">
              <a:ext uri="{FF2B5EF4-FFF2-40B4-BE49-F238E27FC236}">
                <a16:creationId xmlns:a16="http://schemas.microsoft.com/office/drawing/2014/main" id="{A06ADCBC-471B-4F3D-B533-89F67999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543300"/>
            <a:ext cx="1920949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OEA</a:t>
            </a:r>
          </a:p>
        </p:txBody>
      </p:sp>
      <p:sp>
        <p:nvSpPr>
          <p:cNvPr id="22" name="u08-113-terms-3-1-box">
            <a:extLst xmlns:a="http://schemas.openxmlformats.org/drawingml/2006/main">
              <a:ext uri="{FF2B5EF4-FFF2-40B4-BE49-F238E27FC236}">
                <a16:creationId xmlns:a16="http://schemas.microsoft.com/office/drawing/2014/main" id="{CF9FAC5E-3453-46D2-B494-1B7909D0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224" y="3486150"/>
            <a:ext cx="518337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8-113-terms-3-1-text">
            <a:extLst xmlns:a="http://schemas.openxmlformats.org/drawingml/2006/main">
              <a:ext uri="{FF2B5EF4-FFF2-40B4-BE49-F238E27FC236}">
                <a16:creationId xmlns:a16="http://schemas.microsoft.com/office/drawing/2014/main" id="{6E8DD354-7F28-4D2B-BCCA-30054083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424" y="3543300"/>
            <a:ext cx="5030972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otoemisiones acústicas</a:t>
            </a:r>
          </a:p>
        </p:txBody>
      </p:sp>
      <p:sp>
        <p:nvSpPr>
          <p:cNvPr id="24" name="u08-113-terms-3-2-box">
            <a:extLst xmlns:a="http://schemas.openxmlformats.org/drawingml/2006/main">
              <a:ext uri="{FF2B5EF4-FFF2-40B4-BE49-F238E27FC236}">
                <a16:creationId xmlns:a16="http://schemas.microsoft.com/office/drawing/2014/main" id="{798EF09D-480F-45E6-9AC2-BB293F7B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596" y="3486150"/>
            <a:ext cx="388752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5" name="u08-113-terms-3-2-text">
            <a:extLst xmlns:a="http://schemas.openxmlformats.org/drawingml/2006/main">
              <a:ext uri="{FF2B5EF4-FFF2-40B4-BE49-F238E27FC236}">
                <a16:creationId xmlns:a16="http://schemas.microsoft.com/office/drawing/2014/main" id="{05C37D14-7DAE-4973-BB7C-9C2C220C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796" y="3543300"/>
            <a:ext cx="3735129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/ dB SPL / SNR</a:t>
            </a:r>
          </a:p>
        </p:txBody>
      </p:sp>
      <p:sp>
        <p:nvSpPr>
          <p:cNvPr id="26" name="u08-113-terms-4-0-box">
            <a:extLst xmlns:a="http://schemas.openxmlformats.org/drawingml/2006/main">
              <a:ext uri="{FF2B5EF4-FFF2-40B4-BE49-F238E27FC236}">
                <a16:creationId xmlns:a16="http://schemas.microsoft.com/office/drawing/2014/main" id="{8E86858B-0DEA-4755-8B13-50A6EAC5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71950"/>
            <a:ext cx="207334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7" name="u08-113-terms-4-0-text">
            <a:extLst xmlns:a="http://schemas.openxmlformats.org/drawingml/2006/main">
              <a:ext uri="{FF2B5EF4-FFF2-40B4-BE49-F238E27FC236}">
                <a16:creationId xmlns:a16="http://schemas.microsoft.com/office/drawing/2014/main" id="{528EE77B-83E8-43F8-B9C9-77E477C8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29100"/>
            <a:ext cx="1920949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PEAT</a:t>
            </a:r>
          </a:p>
        </p:txBody>
      </p:sp>
      <p:sp>
        <p:nvSpPr>
          <p:cNvPr id="28" name="u08-113-terms-4-1-box">
            <a:extLst xmlns:a="http://schemas.openxmlformats.org/drawingml/2006/main">
              <a:ext uri="{FF2B5EF4-FFF2-40B4-BE49-F238E27FC236}">
                <a16:creationId xmlns:a16="http://schemas.microsoft.com/office/drawing/2014/main" id="{45B5D449-0056-4B4B-838E-6B58A870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224" y="4171950"/>
            <a:ext cx="518337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9" name="u08-113-terms-4-1-text">
            <a:extLst xmlns:a="http://schemas.openxmlformats.org/drawingml/2006/main">
              <a:ext uri="{FF2B5EF4-FFF2-40B4-BE49-F238E27FC236}">
                <a16:creationId xmlns:a16="http://schemas.microsoft.com/office/drawing/2014/main" id="{E2A613D9-D031-4C81-9890-9F5491D0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424" y="4229100"/>
            <a:ext cx="5030972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potencial evocado auditivo de tronco</a:t>
            </a:r>
          </a:p>
        </p:txBody>
      </p:sp>
      <p:sp>
        <p:nvSpPr>
          <p:cNvPr id="30" name="u08-113-terms-4-2-box">
            <a:extLst xmlns:a="http://schemas.openxmlformats.org/drawingml/2006/main">
              <a:ext uri="{FF2B5EF4-FFF2-40B4-BE49-F238E27FC236}">
                <a16:creationId xmlns:a16="http://schemas.microsoft.com/office/drawing/2014/main" id="{C4AE3C33-E73C-4E31-ABC3-37197942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596" y="4171950"/>
            <a:ext cx="388752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31" name="u08-113-terms-4-2-text">
            <a:extLst xmlns:a="http://schemas.openxmlformats.org/drawingml/2006/main">
              <a:ext uri="{FF2B5EF4-FFF2-40B4-BE49-F238E27FC236}">
                <a16:creationId xmlns:a16="http://schemas.microsoft.com/office/drawing/2014/main" id="{D26B2BB6-4199-44AF-984B-8498D4FE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796" y="4229100"/>
            <a:ext cx="3735129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µV frente a ms</a:t>
            </a:r>
          </a:p>
        </p:txBody>
      </p:sp>
      <p:sp>
        <p:nvSpPr>
          <p:cNvPr id="32" name="u08-113-terms-5-0-box">
            <a:extLst xmlns:a="http://schemas.openxmlformats.org/drawingml/2006/main">
              <a:ext uri="{FF2B5EF4-FFF2-40B4-BE49-F238E27FC236}">
                <a16:creationId xmlns:a16="http://schemas.microsoft.com/office/drawing/2014/main" id="{57762ECF-4645-40F7-A0B8-8456BDB9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57750"/>
            <a:ext cx="207334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33" name="u08-113-terms-5-0-text">
            <a:extLst xmlns:a="http://schemas.openxmlformats.org/drawingml/2006/main">
              <a:ext uri="{FF2B5EF4-FFF2-40B4-BE49-F238E27FC236}">
                <a16:creationId xmlns:a16="http://schemas.microsoft.com/office/drawing/2014/main" id="{E79F308B-E601-4735-B2C5-3E2A95EF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914900"/>
            <a:ext cx="1920949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ECoG</a:t>
            </a:r>
          </a:p>
        </p:txBody>
      </p:sp>
      <p:sp>
        <p:nvSpPr>
          <p:cNvPr id="34" name="u08-113-terms-5-1-box">
            <a:extLst xmlns:a="http://schemas.openxmlformats.org/drawingml/2006/main">
              <a:ext uri="{FF2B5EF4-FFF2-40B4-BE49-F238E27FC236}">
                <a16:creationId xmlns:a16="http://schemas.microsoft.com/office/drawing/2014/main" id="{84DBEEF5-A506-4784-BCDB-67B83763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224" y="4857750"/>
            <a:ext cx="518337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35" name="u08-113-terms-5-1-text">
            <a:extLst xmlns:a="http://schemas.openxmlformats.org/drawingml/2006/main">
              <a:ext uri="{FF2B5EF4-FFF2-40B4-BE49-F238E27FC236}">
                <a16:creationId xmlns:a16="http://schemas.microsoft.com/office/drawing/2014/main" id="{8BB33CCD-307B-4546-84ED-E2672C73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424" y="4914900"/>
            <a:ext cx="5030972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electrococleografía</a:t>
            </a:r>
          </a:p>
        </p:txBody>
      </p:sp>
      <p:sp>
        <p:nvSpPr>
          <p:cNvPr id="36" name="u08-113-terms-5-2-box">
            <a:extLst xmlns:a="http://schemas.openxmlformats.org/drawingml/2006/main">
              <a:ext uri="{FF2B5EF4-FFF2-40B4-BE49-F238E27FC236}">
                <a16:creationId xmlns:a16="http://schemas.microsoft.com/office/drawing/2014/main" id="{7E545B0F-1D0B-48C4-A6A9-94B2913B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596" y="4857750"/>
            <a:ext cx="388752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37" name="u08-113-terms-5-2-text">
            <a:extLst xmlns:a="http://schemas.openxmlformats.org/drawingml/2006/main">
              <a:ext uri="{FF2B5EF4-FFF2-40B4-BE49-F238E27FC236}">
                <a16:creationId xmlns:a16="http://schemas.microsoft.com/office/drawing/2014/main" id="{DA8D2B25-63BC-420C-8098-5E3F0D83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796" y="4914900"/>
            <a:ext cx="3735129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potenciales y latencias</a:t>
            </a:r>
          </a:p>
        </p:txBody>
      </p:sp>
      <p:sp>
        <p:nvSpPr>
          <p:cNvPr id="38" name="top-rail-1">
            <a:extLst xmlns:a="http://schemas.openxmlformats.org/drawingml/2006/main">
              <a:ext uri="{FF2B5EF4-FFF2-40B4-BE49-F238E27FC236}">
                <a16:creationId xmlns:a16="http://schemas.microsoft.com/office/drawing/2014/main" id="{20DAB84A-6AB9-4802-B8A0-0BA78E5C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39" name="top-rail-2">
            <a:extLst xmlns:a="http://schemas.openxmlformats.org/drawingml/2006/main">
              <a:ext uri="{FF2B5EF4-FFF2-40B4-BE49-F238E27FC236}">
                <a16:creationId xmlns:a16="http://schemas.microsoft.com/office/drawing/2014/main" id="{BD7B73CF-C93D-489A-88BE-57181F3A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40" name="top-rail-3">
            <a:extLst xmlns:a="http://schemas.openxmlformats.org/drawingml/2006/main">
              <a:ext uri="{FF2B5EF4-FFF2-40B4-BE49-F238E27FC236}">
                <a16:creationId xmlns:a16="http://schemas.microsoft.com/office/drawing/2014/main" id="{7C91DEFA-0341-495C-93BA-0C29CCB9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41" name="eyebrow">
            <a:extLst xmlns:a="http://schemas.openxmlformats.org/drawingml/2006/main">
              <a:ext uri="{FF2B5EF4-FFF2-40B4-BE49-F238E27FC236}">
                <a16:creationId xmlns:a16="http://schemas.microsoft.com/office/drawing/2014/main" id="{F50E7070-D6E5-4E53-9110-58F14DB6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4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7C2E843-EC45-4509-89A1-DCAABCAD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113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5B1BF6-73C8-4824-93E2-37501F2A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Fuentes y límites de uso de la unidad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567E4D0-FBDA-4EB3-8835-20807AED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Trazabilidad y límites de uso</a:t>
            </a:r>
          </a:p>
        </p:txBody>
      </p:sp>
      <p:sp>
        <p:nvSpPr>
          <p:cNvPr id="3" name="main-ideas">
            <a:extLst xmlns:a="http://schemas.openxmlformats.org/drawingml/2006/main">
              <a:ext uri="{FF2B5EF4-FFF2-40B4-BE49-F238E27FC236}">
                <a16:creationId xmlns:a16="http://schemas.microsoft.com/office/drawing/2014/main" id="{5D834B89-3D21-4169-A59B-737F5DE5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Alcance: programa oficial y capítulo 8 del libro del curso.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Verificación: PDF del libro y análisis de fuentes de la unidad.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Ampliaciones: referencias técnicas ya citadas en el libro.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Condición: normas, cifras y convenciones pendientes deben validarse antes del deck.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Uso: material académico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sustituye evaluación, protocolo ni indicación clínica.</a:t>
            </a:r>
          </a:p>
        </p:txBody>
      </p:sp>
      <p:sp>
        <p:nvSpPr>
          <p:cNvPr id="4" name="top-rail-1">
            <a:extLst xmlns:a="http://schemas.openxmlformats.org/drawingml/2006/main">
              <a:ext uri="{FF2B5EF4-FFF2-40B4-BE49-F238E27FC236}">
                <a16:creationId xmlns:a16="http://schemas.microsoft.com/office/drawing/2014/main" id="{E35DAF15-7D3B-46DD-8472-8F72209A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 xmlns:a="http://schemas.openxmlformats.org/drawingml/2006/main">
              <a:ext uri="{FF2B5EF4-FFF2-40B4-BE49-F238E27FC236}">
                <a16:creationId xmlns:a16="http://schemas.microsoft.com/office/drawing/2014/main" id="{255831A7-9E05-4599-9741-06D20A28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 xmlns:a="http://schemas.openxmlformats.org/drawingml/2006/main">
              <a:ext uri="{FF2B5EF4-FFF2-40B4-BE49-F238E27FC236}">
                <a16:creationId xmlns:a16="http://schemas.microsoft.com/office/drawing/2014/main" id="{CA717807-40B8-4137-9844-F20A4F75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FF0B0394-7757-440D-B204-86EE3292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CF9D87C-8342-47D9-8BD3-4A4CCED2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114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2026-08-12T16:09:53.4770000Z</dcterms:created>
  <dcterms:modified xsi:type="dcterms:W3CDTF">2026-08-12T16:09:53.4780000Z</dcterms:modified>
</coreProperties>
</file>