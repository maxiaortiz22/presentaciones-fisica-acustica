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aeb8e06ba4bdd" /><Relationship Type="http://schemas.openxmlformats.org/officeDocument/2006/relationships/extended-properties" Target="/docProps/app.xml" Id="R8027a6a4703e4dcb" /><Relationship Type="http://schemas.openxmlformats.org/officeDocument/2006/relationships/officeDocument" Target="/ppt/presentation.xml" Id="Rfdb3ad76e683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4dd81974854dc4"/>
    <p:sldMasterId xmlns:r="http://schemas.openxmlformats.org/officeDocument/2006/relationships" id="2147483673" r:id="R9d29273c18b64454"/>
  </p:sldMasterIdLst>
  <p:notesMasterIdLst>
    <p:notesMasterId xmlns:r="http://schemas.openxmlformats.org/officeDocument/2006/relationships" r:id="Rdd8ca874b19047e5"/>
  </p:notesMasterIdLst>
  <p:sldIdLst>
    <p:sldId xmlns:r="http://schemas.openxmlformats.org/officeDocument/2006/relationships" id="256" r:id="Rd761628aef1b437b"/>
    <p:sldId xmlns:r="http://schemas.openxmlformats.org/officeDocument/2006/relationships" id="257" r:id="R97963ebf93da4edf"/>
    <p:sldId xmlns:r="http://schemas.openxmlformats.org/officeDocument/2006/relationships" id="258" r:id="R7aea216cf0984f1c"/>
    <p:sldId xmlns:r="http://schemas.openxmlformats.org/officeDocument/2006/relationships" id="259" r:id="R13726d4080394103"/>
    <p:sldId xmlns:r="http://schemas.openxmlformats.org/officeDocument/2006/relationships" id="260" r:id="R15fa53df4a7747f7"/>
    <p:sldId xmlns:r="http://schemas.openxmlformats.org/officeDocument/2006/relationships" id="261" r:id="Rb9f619dd1cd64696"/>
    <p:sldId xmlns:r="http://schemas.openxmlformats.org/officeDocument/2006/relationships" id="262" r:id="R601aec315cf74f02"/>
    <p:sldId xmlns:r="http://schemas.openxmlformats.org/officeDocument/2006/relationships" id="263" r:id="R09b9f49bdac2473b"/>
    <p:sldId xmlns:r="http://schemas.openxmlformats.org/officeDocument/2006/relationships" id="264" r:id="R4d3656e64ae04951"/>
    <p:sldId xmlns:r="http://schemas.openxmlformats.org/officeDocument/2006/relationships" id="265" r:id="R7fb21793048d4f98"/>
    <p:sldId xmlns:r="http://schemas.openxmlformats.org/officeDocument/2006/relationships" id="266" r:id="Rc5814d7ee04e46af"/>
    <p:sldId xmlns:r="http://schemas.openxmlformats.org/officeDocument/2006/relationships" id="267" r:id="R36ddfc13e4354d83"/>
    <p:sldId xmlns:r="http://schemas.openxmlformats.org/officeDocument/2006/relationships" id="268" r:id="R7f9f85ebfd6e4dca"/>
    <p:sldId xmlns:r="http://schemas.openxmlformats.org/officeDocument/2006/relationships" id="269" r:id="R1adb2c22c0264618"/>
    <p:sldId xmlns:r="http://schemas.openxmlformats.org/officeDocument/2006/relationships" id="270" r:id="Rdb13a47d774d4f1e"/>
    <p:sldId xmlns:r="http://schemas.openxmlformats.org/officeDocument/2006/relationships" id="271" r:id="R1c9a8fecff684a9c"/>
    <p:sldId xmlns:r="http://schemas.openxmlformats.org/officeDocument/2006/relationships" id="272" r:id="R58e4989afd854acc"/>
    <p:sldId xmlns:r="http://schemas.openxmlformats.org/officeDocument/2006/relationships" id="273" r:id="R5b388ba37ec84069"/>
    <p:sldId xmlns:r="http://schemas.openxmlformats.org/officeDocument/2006/relationships" id="274" r:id="R2e396bd3f68f4358"/>
    <p:sldId xmlns:r="http://schemas.openxmlformats.org/officeDocument/2006/relationships" id="275" r:id="R4f8443b5b5eb4241"/>
    <p:sldId xmlns:r="http://schemas.openxmlformats.org/officeDocument/2006/relationships" id="276" r:id="Rfd5c966fd9dc458f"/>
    <p:sldId xmlns:r="http://schemas.openxmlformats.org/officeDocument/2006/relationships" id="277" r:id="R4160b29eea8e4973"/>
    <p:sldId xmlns:r="http://schemas.openxmlformats.org/officeDocument/2006/relationships" id="278" r:id="R1357ed43364a464f"/>
    <p:sldId xmlns:r="http://schemas.openxmlformats.org/officeDocument/2006/relationships" id="279" r:id="Rb981f1a83efa423e"/>
    <p:sldId xmlns:r="http://schemas.openxmlformats.org/officeDocument/2006/relationships" id="280" r:id="Ree3d21aedebb440f"/>
    <p:sldId xmlns:r="http://schemas.openxmlformats.org/officeDocument/2006/relationships" id="281" r:id="Rde420635cf754692"/>
    <p:sldId xmlns:r="http://schemas.openxmlformats.org/officeDocument/2006/relationships" id="282" r:id="R45bb57bbb14f45b8"/>
    <p:sldId xmlns:r="http://schemas.openxmlformats.org/officeDocument/2006/relationships" id="283" r:id="Rda3a30ae9774420a"/>
    <p:sldId xmlns:r="http://schemas.openxmlformats.org/officeDocument/2006/relationships" id="284" r:id="R4ff9c7438b7141a5"/>
    <p:sldId xmlns:r="http://schemas.openxmlformats.org/officeDocument/2006/relationships" id="285" r:id="R3a4b06e1f6b44853"/>
    <p:sldId xmlns:r="http://schemas.openxmlformats.org/officeDocument/2006/relationships" id="286" r:id="R9365cb4b237d4e21"/>
    <p:sldId xmlns:r="http://schemas.openxmlformats.org/officeDocument/2006/relationships" id="287" r:id="R3d1febc7e0a247fe"/>
    <p:sldId xmlns:r="http://schemas.openxmlformats.org/officeDocument/2006/relationships" id="288" r:id="Rd93214f8a7864166"/>
    <p:sldId xmlns:r="http://schemas.openxmlformats.org/officeDocument/2006/relationships" id="289" r:id="Rbc371dc0a9864961"/>
    <p:sldId xmlns:r="http://schemas.openxmlformats.org/officeDocument/2006/relationships" id="290" r:id="R2f481d8dccc34f8e"/>
    <p:sldId xmlns:r="http://schemas.openxmlformats.org/officeDocument/2006/relationships" id="291" r:id="R03ca5a64cb0c4ac7"/>
    <p:sldId xmlns:r="http://schemas.openxmlformats.org/officeDocument/2006/relationships" id="292" r:id="R3c6f0e679d474822"/>
    <p:sldId xmlns:r="http://schemas.openxmlformats.org/officeDocument/2006/relationships" id="293" r:id="Rabc43740c1a34f76"/>
    <p:sldId xmlns:r="http://schemas.openxmlformats.org/officeDocument/2006/relationships" id="294" r:id="R7c174e0ee5d747c3"/>
    <p:sldId xmlns:r="http://schemas.openxmlformats.org/officeDocument/2006/relationships" id="295" r:id="Rfd7106dd15454cf5"/>
    <p:sldId xmlns:r="http://schemas.openxmlformats.org/officeDocument/2006/relationships" id="296" r:id="R99bb0716153b4ee6"/>
    <p:sldId xmlns:r="http://schemas.openxmlformats.org/officeDocument/2006/relationships" id="297" r:id="Ra4251fa146824dd2"/>
    <p:sldId xmlns:r="http://schemas.openxmlformats.org/officeDocument/2006/relationships" id="298" r:id="R037602942b3743a9"/>
    <p:sldId xmlns:r="http://schemas.openxmlformats.org/officeDocument/2006/relationships" id="299" r:id="R396ed7bde1c543a9"/>
    <p:sldId xmlns:r="http://schemas.openxmlformats.org/officeDocument/2006/relationships" id="300" r:id="Re078b7f3d5814295"/>
    <p:sldId xmlns:r="http://schemas.openxmlformats.org/officeDocument/2006/relationships" id="301" r:id="Rce38b246545c40ce"/>
    <p:sldId xmlns:r="http://schemas.openxmlformats.org/officeDocument/2006/relationships" id="302" r:id="R04fe96a75086495a"/>
    <p:sldId xmlns:r="http://schemas.openxmlformats.org/officeDocument/2006/relationships" id="303" r:id="Rca9e309df0104462"/>
    <p:sldId xmlns:r="http://schemas.openxmlformats.org/officeDocument/2006/relationships" id="304" r:id="R4aa6a630e1b04be2"/>
    <p:sldId xmlns:r="http://schemas.openxmlformats.org/officeDocument/2006/relationships" id="305" r:id="R9af7ba6af3a24de7"/>
    <p:sldId xmlns:r="http://schemas.openxmlformats.org/officeDocument/2006/relationships" id="306" r:id="Rf9bca0fbf9324670"/>
    <p:sldId xmlns:r="http://schemas.openxmlformats.org/officeDocument/2006/relationships" id="307" r:id="R2b799828010c4fd8"/>
    <p:sldId xmlns:r="http://schemas.openxmlformats.org/officeDocument/2006/relationships" id="308" r:id="R69c7e9992d054503"/>
    <p:sldId xmlns:r="http://schemas.openxmlformats.org/officeDocument/2006/relationships" id="309" r:id="Rf99bf2bf95ab4089"/>
    <p:sldId xmlns:r="http://schemas.openxmlformats.org/officeDocument/2006/relationships" id="310" r:id="R5f0d781a4ba44202"/>
    <p:sldId xmlns:r="http://schemas.openxmlformats.org/officeDocument/2006/relationships" id="311" r:id="R9d884b1a7a534e80"/>
    <p:sldId xmlns:r="http://schemas.openxmlformats.org/officeDocument/2006/relationships" id="312" r:id="R571511a7af714092"/>
    <p:sldId xmlns:r="http://schemas.openxmlformats.org/officeDocument/2006/relationships" id="313" r:id="Re14b5baf66824b0b"/>
    <p:sldId xmlns:r="http://schemas.openxmlformats.org/officeDocument/2006/relationships" id="314" r:id="R58d0b2b6a3d64ccf"/>
    <p:sldId xmlns:r="http://schemas.openxmlformats.org/officeDocument/2006/relationships" id="315" r:id="R235326de6acd4fe9"/>
    <p:sldId xmlns:r="http://schemas.openxmlformats.org/officeDocument/2006/relationships" id="316" r:id="R9e715e4537af4fef"/>
    <p:sldId xmlns:r="http://schemas.openxmlformats.org/officeDocument/2006/relationships" id="317" r:id="R7d7c07d59dde4ee1"/>
    <p:sldId xmlns:r="http://schemas.openxmlformats.org/officeDocument/2006/relationships" id="318" r:id="R9e8082e63d744725"/>
    <p:sldId xmlns:r="http://schemas.openxmlformats.org/officeDocument/2006/relationships" id="319" r:id="R7b0e2bb29dda4a09"/>
    <p:sldId xmlns:r="http://schemas.openxmlformats.org/officeDocument/2006/relationships" id="320" r:id="Rfa8ce59cdd0442f7"/>
    <p:sldId xmlns:r="http://schemas.openxmlformats.org/officeDocument/2006/relationships" id="321" r:id="R3d610608dd3a433c"/>
    <p:sldId xmlns:r="http://schemas.openxmlformats.org/officeDocument/2006/relationships" id="322" r:id="R79eca84ca8974d39"/>
    <p:sldId xmlns:r="http://schemas.openxmlformats.org/officeDocument/2006/relationships" id="323" r:id="R8e0855bc4e764529"/>
    <p:sldId xmlns:r="http://schemas.openxmlformats.org/officeDocument/2006/relationships" id="324" r:id="R90bb47a42e1544b3"/>
    <p:sldId xmlns:r="http://schemas.openxmlformats.org/officeDocument/2006/relationships" id="325" r:id="Rc558d6d5cff34aa2"/>
    <p:sldId xmlns:r="http://schemas.openxmlformats.org/officeDocument/2006/relationships" id="326" r:id="Rf69d8d433e434ec2"/>
    <p:sldId xmlns:r="http://schemas.openxmlformats.org/officeDocument/2006/relationships" id="327" r:id="R421fad27dba64efa"/>
    <p:sldId xmlns:r="http://schemas.openxmlformats.org/officeDocument/2006/relationships" id="328" r:id="Rdc422569e1514831"/>
    <p:sldId xmlns:r="http://schemas.openxmlformats.org/officeDocument/2006/relationships" id="329" r:id="R5bbd54b3d0b046e1"/>
    <p:sldId xmlns:r="http://schemas.openxmlformats.org/officeDocument/2006/relationships" id="330" r:id="Rd710aa6d01c44b2b"/>
    <p:sldId xmlns:r="http://schemas.openxmlformats.org/officeDocument/2006/relationships" id="331" r:id="Rd889e494f2044ca1"/>
    <p:sldId xmlns:r="http://schemas.openxmlformats.org/officeDocument/2006/relationships" id="332" r:id="R0ee0252aced443ae"/>
    <p:sldId xmlns:r="http://schemas.openxmlformats.org/officeDocument/2006/relationships" id="333" r:id="R8886f3304a2e4e4a"/>
    <p:sldId xmlns:r="http://schemas.openxmlformats.org/officeDocument/2006/relationships" id="334" r:id="R9167e594f19d4fca"/>
    <p:sldId xmlns:r="http://schemas.openxmlformats.org/officeDocument/2006/relationships" id="335" r:id="Rf056266a5c724c10"/>
    <p:sldId xmlns:r="http://schemas.openxmlformats.org/officeDocument/2006/relationships" id="336" r:id="R6192ee02243d4e8f"/>
    <p:sldId xmlns:r="http://schemas.openxmlformats.org/officeDocument/2006/relationships" id="337" r:id="R0682c3844fc44c7a"/>
    <p:sldId xmlns:r="http://schemas.openxmlformats.org/officeDocument/2006/relationships" id="338" r:id="Rb1e995aa63ab4e4b"/>
    <p:sldId xmlns:r="http://schemas.openxmlformats.org/officeDocument/2006/relationships" id="339" r:id="R030232b0657642cd"/>
    <p:sldId xmlns:r="http://schemas.openxmlformats.org/officeDocument/2006/relationships" id="340" r:id="R84eff294f5ae4712"/>
    <p:sldId xmlns:r="http://schemas.openxmlformats.org/officeDocument/2006/relationships" id="341" r:id="R6c0cda2a8dd24a08"/>
    <p:sldId xmlns:r="http://schemas.openxmlformats.org/officeDocument/2006/relationships" id="342" r:id="Rb6b089589ebe48b2"/>
    <p:sldId xmlns:r="http://schemas.openxmlformats.org/officeDocument/2006/relationships" id="343" r:id="R56571e866e0041f7"/>
    <p:sldId xmlns:r="http://schemas.openxmlformats.org/officeDocument/2006/relationships" id="344" r:id="R7a645865fbc94120"/>
    <p:sldId xmlns:r="http://schemas.openxmlformats.org/officeDocument/2006/relationships" id="345" r:id="R91bc44931b4f4ba5"/>
    <p:sldId xmlns:r="http://schemas.openxmlformats.org/officeDocument/2006/relationships" id="346" r:id="Rcae17fec56b3425a"/>
    <p:sldId xmlns:r="http://schemas.openxmlformats.org/officeDocument/2006/relationships" id="347" r:id="R48bc4167ee5844fd"/>
    <p:sldId xmlns:r="http://schemas.openxmlformats.org/officeDocument/2006/relationships" id="348" r:id="Rf7cbb81db0a443be"/>
    <p:sldId xmlns:r="http://schemas.openxmlformats.org/officeDocument/2006/relationships" id="349" r:id="R3e5e46a0205b4c80"/>
    <p:sldId xmlns:r="http://schemas.openxmlformats.org/officeDocument/2006/relationships" id="350" r:id="R8c248c4dbe7e4028"/>
    <p:sldId xmlns:r="http://schemas.openxmlformats.org/officeDocument/2006/relationships" id="351" r:id="R36239b8ca58f42b9"/>
    <p:sldId xmlns:r="http://schemas.openxmlformats.org/officeDocument/2006/relationships" id="352" r:id="R1c55b9630c1d436a"/>
    <p:sldId xmlns:r="http://schemas.openxmlformats.org/officeDocument/2006/relationships" id="353" r:id="R0b63873eabcb4d85"/>
    <p:sldId xmlns:r="http://schemas.openxmlformats.org/officeDocument/2006/relationships" id="354" r:id="R2ffbe7e1c6a34868"/>
    <p:sldId xmlns:r="http://schemas.openxmlformats.org/officeDocument/2006/relationships" id="355" r:id="Rb9a34d0bbc404f51"/>
    <p:sldId xmlns:r="http://schemas.openxmlformats.org/officeDocument/2006/relationships" id="356" r:id="R2ff0068d461245df"/>
    <p:sldId xmlns:r="http://schemas.openxmlformats.org/officeDocument/2006/relationships" id="357" r:id="R79830826fbdc48f7"/>
    <p:sldId xmlns:r="http://schemas.openxmlformats.org/officeDocument/2006/relationships" id="358" r:id="R1ea72e32cb0e44b5"/>
    <p:sldId xmlns:r="http://schemas.openxmlformats.org/officeDocument/2006/relationships" id="359" r:id="R1cb867a9467c4c77"/>
    <p:sldId xmlns:r="http://schemas.openxmlformats.org/officeDocument/2006/relationships" id="360" r:id="R5418bf84d9dc4f5b"/>
    <p:sldId xmlns:r="http://schemas.openxmlformats.org/officeDocument/2006/relationships" id="361" r:id="R6d31ceb8c9844b86"/>
    <p:sldId xmlns:r="http://schemas.openxmlformats.org/officeDocument/2006/relationships" id="362" r:id="Rf1a1bb6e4c4b439a"/>
    <p:sldId xmlns:r="http://schemas.openxmlformats.org/officeDocument/2006/relationships" id="363" r:id="R7ca211e893504479"/>
    <p:sldId xmlns:r="http://schemas.openxmlformats.org/officeDocument/2006/relationships" id="364" r:id="Rd1cf659574a04bf9"/>
    <p:sldId xmlns:r="http://schemas.openxmlformats.org/officeDocument/2006/relationships" id="365" r:id="R3b21937c982d4769"/>
    <p:sldId xmlns:r="http://schemas.openxmlformats.org/officeDocument/2006/relationships" id="366" r:id="R90916147d30d42b6"/>
    <p:sldId xmlns:r="http://schemas.openxmlformats.org/officeDocument/2006/relationships" id="367" r:id="R078fd165a93d4ff1"/>
    <p:sldId xmlns:r="http://schemas.openxmlformats.org/officeDocument/2006/relationships" id="368" r:id="R37e9cd974c0f4a0f"/>
    <p:sldId xmlns:r="http://schemas.openxmlformats.org/officeDocument/2006/relationships" id="369" r:id="R9a98979b0268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e3f77179ae4008" /><Relationship Type="http://schemas.openxmlformats.org/officeDocument/2006/relationships/slideMaster" Target="/ppt/slideMasters/slideMaster1.xml" Id="R504dd81974854dc4" /><Relationship Type="http://schemas.openxmlformats.org/officeDocument/2006/relationships/slideMaster" Target="/ppt/slideMasters/slideMaster2.xml" Id="R9d29273c18b64454" /><Relationship Type="http://schemas.openxmlformats.org/officeDocument/2006/relationships/notesMaster" Target="/ppt/notesMasters/notesMaster1.xml" Id="Rdd8ca874b19047e5" /><Relationship Type="http://schemas.openxmlformats.org/officeDocument/2006/relationships/presProps" Target="/ppt/presProps.xml" Id="Re0a5ca9427804aea" /><Relationship Type="http://schemas.openxmlformats.org/officeDocument/2006/relationships/viewProps" Target="/ppt/viewProps.xml" Id="R563a6f649f9044b7" /><Relationship Type="http://schemas.openxmlformats.org/officeDocument/2006/relationships/tableStyles" Target="/ppt/tableStyles.xml" Id="R92ba8819768340c9" /><Relationship Type="http://schemas.openxmlformats.org/officeDocument/2006/relationships/slide" Target="/ppt/slides/slide1.xml" Id="Rd761628aef1b437b" /><Relationship Type="http://schemas.openxmlformats.org/officeDocument/2006/relationships/slide" Target="/ppt/slides/slide2.xml" Id="R97963ebf93da4edf" /><Relationship Type="http://schemas.openxmlformats.org/officeDocument/2006/relationships/slide" Target="/ppt/slides/slide3.xml" Id="R7aea216cf0984f1c" /><Relationship Type="http://schemas.openxmlformats.org/officeDocument/2006/relationships/slide" Target="/ppt/slides/slide4.xml" Id="R13726d4080394103" /><Relationship Type="http://schemas.openxmlformats.org/officeDocument/2006/relationships/slide" Target="/ppt/slides/slide5.xml" Id="R15fa53df4a7747f7" /><Relationship Type="http://schemas.openxmlformats.org/officeDocument/2006/relationships/slide" Target="/ppt/slides/slide6.xml" Id="Rb9f619dd1cd64696" /><Relationship Type="http://schemas.openxmlformats.org/officeDocument/2006/relationships/slide" Target="/ppt/slides/slide7.xml" Id="R601aec315cf74f02" /><Relationship Type="http://schemas.openxmlformats.org/officeDocument/2006/relationships/slide" Target="/ppt/slides/slide8.xml" Id="R09b9f49bdac2473b" /><Relationship Type="http://schemas.openxmlformats.org/officeDocument/2006/relationships/slide" Target="/ppt/slides/slide9.xml" Id="R4d3656e64ae04951" /><Relationship Type="http://schemas.openxmlformats.org/officeDocument/2006/relationships/slide" Target="/ppt/slides/slide10.xml" Id="R7fb21793048d4f98" /><Relationship Type="http://schemas.openxmlformats.org/officeDocument/2006/relationships/slide" Target="/ppt/slides/slide11.xml" Id="Rc5814d7ee04e46af" /><Relationship Type="http://schemas.openxmlformats.org/officeDocument/2006/relationships/slide" Target="/ppt/slides/slide12.xml" Id="R36ddfc13e4354d83" /><Relationship Type="http://schemas.openxmlformats.org/officeDocument/2006/relationships/slide" Target="/ppt/slides/slide13.xml" Id="R7f9f85ebfd6e4dca" /><Relationship Type="http://schemas.openxmlformats.org/officeDocument/2006/relationships/slide" Target="/ppt/slides/slide14.xml" Id="R1adb2c22c0264618" /><Relationship Type="http://schemas.openxmlformats.org/officeDocument/2006/relationships/slide" Target="/ppt/slides/slide15.xml" Id="Rdb13a47d774d4f1e" /><Relationship Type="http://schemas.openxmlformats.org/officeDocument/2006/relationships/slide" Target="/ppt/slides/slide16.xml" Id="R1c9a8fecff684a9c" /><Relationship Type="http://schemas.openxmlformats.org/officeDocument/2006/relationships/slide" Target="/ppt/slides/slide17.xml" Id="R58e4989afd854acc" /><Relationship Type="http://schemas.openxmlformats.org/officeDocument/2006/relationships/slide" Target="/ppt/slides/slide18.xml" Id="R5b388ba37ec84069" /><Relationship Type="http://schemas.openxmlformats.org/officeDocument/2006/relationships/slide" Target="/ppt/slides/slide19.xml" Id="R2e396bd3f68f4358" /><Relationship Type="http://schemas.openxmlformats.org/officeDocument/2006/relationships/slide" Target="/ppt/slides/slide20.xml" Id="R4f8443b5b5eb4241" /><Relationship Type="http://schemas.openxmlformats.org/officeDocument/2006/relationships/slide" Target="/ppt/slides/slide21.xml" Id="Rfd5c966fd9dc458f" /><Relationship Type="http://schemas.openxmlformats.org/officeDocument/2006/relationships/slide" Target="/ppt/slides/slide22.xml" Id="R4160b29eea8e4973" /><Relationship Type="http://schemas.openxmlformats.org/officeDocument/2006/relationships/slide" Target="/ppt/slides/slide23.xml" Id="R1357ed43364a464f" /><Relationship Type="http://schemas.openxmlformats.org/officeDocument/2006/relationships/slide" Target="/ppt/slides/slide24.xml" Id="Rb981f1a83efa423e" /><Relationship Type="http://schemas.openxmlformats.org/officeDocument/2006/relationships/slide" Target="/ppt/slides/slide25.xml" Id="Ree3d21aedebb440f" /><Relationship Type="http://schemas.openxmlformats.org/officeDocument/2006/relationships/slide" Target="/ppt/slides/slide26.xml" Id="Rde420635cf754692" /><Relationship Type="http://schemas.openxmlformats.org/officeDocument/2006/relationships/slide" Target="/ppt/slides/slide27.xml" Id="R45bb57bbb14f45b8" /><Relationship Type="http://schemas.openxmlformats.org/officeDocument/2006/relationships/slide" Target="/ppt/slides/slide28.xml" Id="Rda3a30ae9774420a" /><Relationship Type="http://schemas.openxmlformats.org/officeDocument/2006/relationships/slide" Target="/ppt/slides/slide29.xml" Id="R4ff9c7438b7141a5" /><Relationship Type="http://schemas.openxmlformats.org/officeDocument/2006/relationships/slide" Target="/ppt/slides/slide30.xml" Id="R3a4b06e1f6b44853" /><Relationship Type="http://schemas.openxmlformats.org/officeDocument/2006/relationships/slide" Target="/ppt/slides/slide31.xml" Id="R9365cb4b237d4e21" /><Relationship Type="http://schemas.openxmlformats.org/officeDocument/2006/relationships/slide" Target="/ppt/slides/slide32.xml" Id="R3d1febc7e0a247fe" /><Relationship Type="http://schemas.openxmlformats.org/officeDocument/2006/relationships/slide" Target="/ppt/slides/slide33.xml" Id="Rd93214f8a7864166" /><Relationship Type="http://schemas.openxmlformats.org/officeDocument/2006/relationships/slide" Target="/ppt/slides/slide34.xml" Id="Rbc371dc0a9864961" /><Relationship Type="http://schemas.openxmlformats.org/officeDocument/2006/relationships/slide" Target="/ppt/slides/slide35.xml" Id="R2f481d8dccc34f8e" /><Relationship Type="http://schemas.openxmlformats.org/officeDocument/2006/relationships/slide" Target="/ppt/slides/slide36.xml" Id="R03ca5a64cb0c4ac7" /><Relationship Type="http://schemas.openxmlformats.org/officeDocument/2006/relationships/slide" Target="/ppt/slides/slide37.xml" Id="R3c6f0e679d474822" /><Relationship Type="http://schemas.openxmlformats.org/officeDocument/2006/relationships/slide" Target="/ppt/slides/slide38.xml" Id="Rabc43740c1a34f76" /><Relationship Type="http://schemas.openxmlformats.org/officeDocument/2006/relationships/slide" Target="/ppt/slides/slide39.xml" Id="R7c174e0ee5d747c3" /><Relationship Type="http://schemas.openxmlformats.org/officeDocument/2006/relationships/slide" Target="/ppt/slides/slide40.xml" Id="Rfd7106dd15454cf5" /><Relationship Type="http://schemas.openxmlformats.org/officeDocument/2006/relationships/slide" Target="/ppt/slides/slide41.xml" Id="R99bb0716153b4ee6" /><Relationship Type="http://schemas.openxmlformats.org/officeDocument/2006/relationships/slide" Target="/ppt/slides/slide42.xml" Id="Ra4251fa146824dd2" /><Relationship Type="http://schemas.openxmlformats.org/officeDocument/2006/relationships/slide" Target="/ppt/slides/slide43.xml" Id="R037602942b3743a9" /><Relationship Type="http://schemas.openxmlformats.org/officeDocument/2006/relationships/slide" Target="/ppt/slides/slide44.xml" Id="R396ed7bde1c543a9" /><Relationship Type="http://schemas.openxmlformats.org/officeDocument/2006/relationships/slide" Target="/ppt/slides/slide45.xml" Id="Re078b7f3d5814295" /><Relationship Type="http://schemas.openxmlformats.org/officeDocument/2006/relationships/slide" Target="/ppt/slides/slide46.xml" Id="Rce38b246545c40ce" /><Relationship Type="http://schemas.openxmlformats.org/officeDocument/2006/relationships/slide" Target="/ppt/slides/slide47.xml" Id="R04fe96a75086495a" /><Relationship Type="http://schemas.openxmlformats.org/officeDocument/2006/relationships/slide" Target="/ppt/slides/slide48.xml" Id="Rca9e309df0104462" /><Relationship Type="http://schemas.openxmlformats.org/officeDocument/2006/relationships/slide" Target="/ppt/slides/slide49.xml" Id="R4aa6a630e1b04be2" /><Relationship Type="http://schemas.openxmlformats.org/officeDocument/2006/relationships/slide" Target="/ppt/slides/slide50.xml" Id="R9af7ba6af3a24de7" /><Relationship Type="http://schemas.openxmlformats.org/officeDocument/2006/relationships/slide" Target="/ppt/slides/slide51.xml" Id="Rf9bca0fbf9324670" /><Relationship Type="http://schemas.openxmlformats.org/officeDocument/2006/relationships/slide" Target="/ppt/slides/slide52.xml" Id="R2b799828010c4fd8" /><Relationship Type="http://schemas.openxmlformats.org/officeDocument/2006/relationships/slide" Target="/ppt/slides/slide53.xml" Id="R69c7e9992d054503" /><Relationship Type="http://schemas.openxmlformats.org/officeDocument/2006/relationships/slide" Target="/ppt/slides/slide54.xml" Id="Rf99bf2bf95ab4089" /><Relationship Type="http://schemas.openxmlformats.org/officeDocument/2006/relationships/slide" Target="/ppt/slides/slide55.xml" Id="R5f0d781a4ba44202" /><Relationship Type="http://schemas.openxmlformats.org/officeDocument/2006/relationships/slide" Target="/ppt/slides/slide56.xml" Id="R9d884b1a7a534e80" /><Relationship Type="http://schemas.openxmlformats.org/officeDocument/2006/relationships/slide" Target="/ppt/slides/slide57.xml" Id="R571511a7af714092" /><Relationship Type="http://schemas.openxmlformats.org/officeDocument/2006/relationships/slide" Target="/ppt/slides/slide58.xml" Id="Re14b5baf66824b0b" /><Relationship Type="http://schemas.openxmlformats.org/officeDocument/2006/relationships/slide" Target="/ppt/slides/slide59.xml" Id="R58d0b2b6a3d64ccf" /><Relationship Type="http://schemas.openxmlformats.org/officeDocument/2006/relationships/slide" Target="/ppt/slides/slide60.xml" Id="R235326de6acd4fe9" /><Relationship Type="http://schemas.openxmlformats.org/officeDocument/2006/relationships/slide" Target="/ppt/slides/slide61.xml" Id="R9e715e4537af4fef" /><Relationship Type="http://schemas.openxmlformats.org/officeDocument/2006/relationships/slide" Target="/ppt/slides/slide62.xml" Id="R7d7c07d59dde4ee1" /><Relationship Type="http://schemas.openxmlformats.org/officeDocument/2006/relationships/slide" Target="/ppt/slides/slide63.xml" Id="R9e8082e63d744725" /><Relationship Type="http://schemas.openxmlformats.org/officeDocument/2006/relationships/slide" Target="/ppt/slides/slide64.xml" Id="R7b0e2bb29dda4a09" /><Relationship Type="http://schemas.openxmlformats.org/officeDocument/2006/relationships/slide" Target="/ppt/slides/slide65.xml" Id="Rfa8ce59cdd0442f7" /><Relationship Type="http://schemas.openxmlformats.org/officeDocument/2006/relationships/slide" Target="/ppt/slides/slide66.xml" Id="R3d610608dd3a433c" /><Relationship Type="http://schemas.openxmlformats.org/officeDocument/2006/relationships/slide" Target="/ppt/slides/slide67.xml" Id="R79eca84ca8974d39" /><Relationship Type="http://schemas.openxmlformats.org/officeDocument/2006/relationships/slide" Target="/ppt/slides/slide68.xml" Id="R8e0855bc4e764529" /><Relationship Type="http://schemas.openxmlformats.org/officeDocument/2006/relationships/slide" Target="/ppt/slides/slide69.xml" Id="R90bb47a42e1544b3" /><Relationship Type="http://schemas.openxmlformats.org/officeDocument/2006/relationships/slide" Target="/ppt/slides/slide70.xml" Id="Rc558d6d5cff34aa2" /><Relationship Type="http://schemas.openxmlformats.org/officeDocument/2006/relationships/slide" Target="/ppt/slides/slide71.xml" Id="Rf69d8d433e434ec2" /><Relationship Type="http://schemas.openxmlformats.org/officeDocument/2006/relationships/slide" Target="/ppt/slides/slide72.xml" Id="R421fad27dba64efa" /><Relationship Type="http://schemas.openxmlformats.org/officeDocument/2006/relationships/slide" Target="/ppt/slides/slide73.xml" Id="Rdc422569e1514831" /><Relationship Type="http://schemas.openxmlformats.org/officeDocument/2006/relationships/slide" Target="/ppt/slides/slide74.xml" Id="R5bbd54b3d0b046e1" /><Relationship Type="http://schemas.openxmlformats.org/officeDocument/2006/relationships/slide" Target="/ppt/slides/slide75.xml" Id="Rd710aa6d01c44b2b" /><Relationship Type="http://schemas.openxmlformats.org/officeDocument/2006/relationships/slide" Target="/ppt/slides/slide76.xml" Id="Rd889e494f2044ca1" /><Relationship Type="http://schemas.openxmlformats.org/officeDocument/2006/relationships/slide" Target="/ppt/slides/slide77.xml" Id="R0ee0252aced443ae" /><Relationship Type="http://schemas.openxmlformats.org/officeDocument/2006/relationships/slide" Target="/ppt/slides/slide78.xml" Id="R8886f3304a2e4e4a" /><Relationship Type="http://schemas.openxmlformats.org/officeDocument/2006/relationships/slide" Target="/ppt/slides/slide79.xml" Id="R9167e594f19d4fca" /><Relationship Type="http://schemas.openxmlformats.org/officeDocument/2006/relationships/slide" Target="/ppt/slides/slide80.xml" Id="Rf056266a5c724c10" /><Relationship Type="http://schemas.openxmlformats.org/officeDocument/2006/relationships/slide" Target="/ppt/slides/slide81.xml" Id="R6192ee02243d4e8f" /><Relationship Type="http://schemas.openxmlformats.org/officeDocument/2006/relationships/slide" Target="/ppt/slides/slide82.xml" Id="R0682c3844fc44c7a" /><Relationship Type="http://schemas.openxmlformats.org/officeDocument/2006/relationships/slide" Target="/ppt/slides/slide83.xml" Id="Rb1e995aa63ab4e4b" /><Relationship Type="http://schemas.openxmlformats.org/officeDocument/2006/relationships/slide" Target="/ppt/slides/slide84.xml" Id="R030232b0657642cd" /><Relationship Type="http://schemas.openxmlformats.org/officeDocument/2006/relationships/slide" Target="/ppt/slides/slide85.xml" Id="R84eff294f5ae4712" /><Relationship Type="http://schemas.openxmlformats.org/officeDocument/2006/relationships/slide" Target="/ppt/slides/slide86.xml" Id="R6c0cda2a8dd24a08" /><Relationship Type="http://schemas.openxmlformats.org/officeDocument/2006/relationships/slide" Target="/ppt/slides/slide87.xml" Id="Rb6b089589ebe48b2" /><Relationship Type="http://schemas.openxmlformats.org/officeDocument/2006/relationships/slide" Target="/ppt/slides/slide88.xml" Id="R56571e866e0041f7" /><Relationship Type="http://schemas.openxmlformats.org/officeDocument/2006/relationships/slide" Target="/ppt/slides/slide89.xml" Id="R7a645865fbc94120" /><Relationship Type="http://schemas.openxmlformats.org/officeDocument/2006/relationships/slide" Target="/ppt/slides/slide90.xml" Id="R91bc44931b4f4ba5" /><Relationship Type="http://schemas.openxmlformats.org/officeDocument/2006/relationships/slide" Target="/ppt/slides/slide91.xml" Id="Rcae17fec56b3425a" /><Relationship Type="http://schemas.openxmlformats.org/officeDocument/2006/relationships/slide" Target="/ppt/slides/slide92.xml" Id="R48bc4167ee5844fd" /><Relationship Type="http://schemas.openxmlformats.org/officeDocument/2006/relationships/slide" Target="/ppt/slides/slide93.xml" Id="Rf7cbb81db0a443be" /><Relationship Type="http://schemas.openxmlformats.org/officeDocument/2006/relationships/slide" Target="/ppt/slides/slide94.xml" Id="R3e5e46a0205b4c80" /><Relationship Type="http://schemas.openxmlformats.org/officeDocument/2006/relationships/slide" Target="/ppt/slides/slide95.xml" Id="R8c248c4dbe7e4028" /><Relationship Type="http://schemas.openxmlformats.org/officeDocument/2006/relationships/slide" Target="/ppt/slides/slide96.xml" Id="R36239b8ca58f42b9" /><Relationship Type="http://schemas.openxmlformats.org/officeDocument/2006/relationships/slide" Target="/ppt/slides/slide97.xml" Id="R1c55b9630c1d436a" /><Relationship Type="http://schemas.openxmlformats.org/officeDocument/2006/relationships/slide" Target="/ppt/slides/slide98.xml" Id="R0b63873eabcb4d85" /><Relationship Type="http://schemas.openxmlformats.org/officeDocument/2006/relationships/slide" Target="/ppt/slides/slide99.xml" Id="R2ffbe7e1c6a34868" /><Relationship Type="http://schemas.openxmlformats.org/officeDocument/2006/relationships/slide" Target="/ppt/slides/slide100.xml" Id="Rb9a34d0bbc404f51" /><Relationship Type="http://schemas.openxmlformats.org/officeDocument/2006/relationships/slide" Target="/ppt/slides/slide101.xml" Id="R2ff0068d461245df" /><Relationship Type="http://schemas.openxmlformats.org/officeDocument/2006/relationships/slide" Target="/ppt/slides/slide102.xml" Id="R79830826fbdc48f7" /><Relationship Type="http://schemas.openxmlformats.org/officeDocument/2006/relationships/slide" Target="/ppt/slides/slide103.xml" Id="R1ea72e32cb0e44b5" /><Relationship Type="http://schemas.openxmlformats.org/officeDocument/2006/relationships/slide" Target="/ppt/slides/slide104.xml" Id="R1cb867a9467c4c77" /><Relationship Type="http://schemas.openxmlformats.org/officeDocument/2006/relationships/slide" Target="/ppt/slides/slide105.xml" Id="R5418bf84d9dc4f5b" /><Relationship Type="http://schemas.openxmlformats.org/officeDocument/2006/relationships/slide" Target="/ppt/slides/slide106.xml" Id="R6d31ceb8c9844b86" /><Relationship Type="http://schemas.openxmlformats.org/officeDocument/2006/relationships/slide" Target="/ppt/slides/slide107.xml" Id="Rf1a1bb6e4c4b439a" /><Relationship Type="http://schemas.openxmlformats.org/officeDocument/2006/relationships/slide" Target="/ppt/slides/slide108.xml" Id="R7ca211e893504479" /><Relationship Type="http://schemas.openxmlformats.org/officeDocument/2006/relationships/slide" Target="/ppt/slides/slide109.xml" Id="Rd1cf659574a04bf9" /><Relationship Type="http://schemas.openxmlformats.org/officeDocument/2006/relationships/slide" Target="/ppt/slides/slide110.xml" Id="R3b21937c982d4769" /><Relationship Type="http://schemas.openxmlformats.org/officeDocument/2006/relationships/slide" Target="/ppt/slides/slide111.xml" Id="R90916147d30d42b6" /><Relationship Type="http://schemas.openxmlformats.org/officeDocument/2006/relationships/slide" Target="/ppt/slides/slide112.xml" Id="R078fd165a93d4ff1" /><Relationship Type="http://schemas.openxmlformats.org/officeDocument/2006/relationships/slide" Target="/ppt/slides/slide113.xml" Id="R37e9cd974c0f4a0f" /><Relationship Type="http://schemas.openxmlformats.org/officeDocument/2006/relationships/slide" Target="/ppt/slides/slide114.xml" Id="R9a98979b0268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9eec1550571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1a557676a465f" /><Relationship Type="http://schemas.openxmlformats.org/officeDocument/2006/relationships/notesMaster" Target="/ppt/notesMasters/notesMaster1.xml" Id="Rb8dce30f016945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03f10852e4a90" /><Relationship Type="http://schemas.openxmlformats.org/officeDocument/2006/relationships/notesMaster" Target="/ppt/notesMasters/notesMaster1.xml" Id="R66439f3b5764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1162235e04914" /><Relationship Type="http://schemas.openxmlformats.org/officeDocument/2006/relationships/notesMaster" Target="/ppt/notesMasters/notesMaster1.xml" Id="R1230bd3638074d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3d35610954e1b" /><Relationship Type="http://schemas.openxmlformats.org/officeDocument/2006/relationships/notesMaster" Target="/ppt/notesMasters/notesMaster1.xml" Id="Rb1bd7cbae9da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c6937ccaf340af" /><Relationship Type="http://schemas.openxmlformats.org/officeDocument/2006/relationships/notesMaster" Target="/ppt/notesMasters/notesMaster1.xml" Id="R8376d1d10b42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e7d422e88c43af" /><Relationship Type="http://schemas.openxmlformats.org/officeDocument/2006/relationships/notesMaster" Target="/ppt/notesMasters/notesMaster1.xml" Id="R2de9c3b814c4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8c5a16ed2f4159" /><Relationship Type="http://schemas.openxmlformats.org/officeDocument/2006/relationships/notesMaster" Target="/ppt/notesMasters/notesMaster1.xml" Id="R242abc6520794d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b941914166450e" /><Relationship Type="http://schemas.openxmlformats.org/officeDocument/2006/relationships/notesMaster" Target="/ppt/notesMasters/notesMaster1.xml" Id="Rfac967bcb4c7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715f4812274dd2" /><Relationship Type="http://schemas.openxmlformats.org/officeDocument/2006/relationships/notesMaster" Target="/ppt/notesMasters/notesMaster1.xml" Id="Rf9c3ab5292e847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e92a84f6fd4d34" /><Relationship Type="http://schemas.openxmlformats.org/officeDocument/2006/relationships/notesMaster" Target="/ppt/notesMasters/notesMaster1.xml" Id="R56e1107e13b94a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6c796848414f2b" /><Relationship Type="http://schemas.openxmlformats.org/officeDocument/2006/relationships/notesMaster" Target="/ppt/notesMasters/notesMaster1.xml" Id="Ree0e9cd142654a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38c2895d2f4319" /><Relationship Type="http://schemas.openxmlformats.org/officeDocument/2006/relationships/notesMaster" Target="/ppt/notesMasters/notesMaster1.xml" Id="R694d322edf9e4d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21d277451a41af" /><Relationship Type="http://schemas.openxmlformats.org/officeDocument/2006/relationships/notesMaster" Target="/ppt/notesMasters/notesMaster1.xml" Id="Rda01830829be43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a3957458154ffd" /><Relationship Type="http://schemas.openxmlformats.org/officeDocument/2006/relationships/notesMaster" Target="/ppt/notesMasters/notesMaster1.xml" Id="R34d3365edcfd47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1d31da09dd43e6" /><Relationship Type="http://schemas.openxmlformats.org/officeDocument/2006/relationships/notesMaster" Target="/ppt/notesMasters/notesMaster1.xml" Id="R13354325c56e47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a695c5bb4c4af8" /><Relationship Type="http://schemas.openxmlformats.org/officeDocument/2006/relationships/notesMaster" Target="/ppt/notesMasters/notesMaster1.xml" Id="R365735e841d242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b34ea6f7a7483e" /><Relationship Type="http://schemas.openxmlformats.org/officeDocument/2006/relationships/notesMaster" Target="/ppt/notesMasters/notesMaster1.xml" Id="R9bf155f2bc2e41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f6453508c74aef" /><Relationship Type="http://schemas.openxmlformats.org/officeDocument/2006/relationships/notesMaster" Target="/ppt/notesMasters/notesMaster1.xml" Id="R07d3cd15176141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807e4082d4452d" /><Relationship Type="http://schemas.openxmlformats.org/officeDocument/2006/relationships/notesMaster" Target="/ppt/notesMasters/notesMaster1.xml" Id="R99f0ddd27af04d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209badeb144cad" /><Relationship Type="http://schemas.openxmlformats.org/officeDocument/2006/relationships/notesMaster" Target="/ppt/notesMasters/notesMaster1.xml" Id="Rb600bd2c205541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990d1234a94512" /><Relationship Type="http://schemas.openxmlformats.org/officeDocument/2006/relationships/notesMaster" Target="/ppt/notesMasters/notesMaster1.xml" Id="R9c18d786a62446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179e202bab43d2" /><Relationship Type="http://schemas.openxmlformats.org/officeDocument/2006/relationships/notesMaster" Target="/ppt/notesMasters/notesMaster1.xml" Id="R9fed21e49cde4a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f5025cb9844018" /><Relationship Type="http://schemas.openxmlformats.org/officeDocument/2006/relationships/notesMaster" Target="/ppt/notesMasters/notesMaster1.xml" Id="Rfbf95dcaba8240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45ff3dd3d84706" /><Relationship Type="http://schemas.openxmlformats.org/officeDocument/2006/relationships/notesMaster" Target="/ppt/notesMasters/notesMaster1.xml" Id="R7eb5714504704a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0b134b4f13419f" /><Relationship Type="http://schemas.openxmlformats.org/officeDocument/2006/relationships/notesMaster" Target="/ppt/notesMasters/notesMaster1.xml" Id="Re1f612a85dc24e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ce558c27e44543" /><Relationship Type="http://schemas.openxmlformats.org/officeDocument/2006/relationships/notesMaster" Target="/ppt/notesMasters/notesMaster1.xml" Id="Racc83eb7788e46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77151416e84662" /><Relationship Type="http://schemas.openxmlformats.org/officeDocument/2006/relationships/notesMaster" Target="/ppt/notesMasters/notesMaster1.xml" Id="R480c9db4abf2471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8766356e004ced" /><Relationship Type="http://schemas.openxmlformats.org/officeDocument/2006/relationships/notesMaster" Target="/ppt/notesMasters/notesMaster1.xml" Id="R95c79c0038a641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48e98841334c58" /><Relationship Type="http://schemas.openxmlformats.org/officeDocument/2006/relationships/notesMaster" Target="/ppt/notesMasters/notesMaster1.xml" Id="R9903e7f754fd4d5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1d95e5175d24e50" /><Relationship Type="http://schemas.openxmlformats.org/officeDocument/2006/relationships/notesMaster" Target="/ppt/notesMasters/notesMaster1.xml" Id="Rfa74ee0cdde74f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31ecbe2ef40401a" /><Relationship Type="http://schemas.openxmlformats.org/officeDocument/2006/relationships/notesMaster" Target="/ppt/notesMasters/notesMaster1.xml" Id="Rdeb9de2524d24fb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0a999079e1d4d42" /><Relationship Type="http://schemas.openxmlformats.org/officeDocument/2006/relationships/notesMaster" Target="/ppt/notesMasters/notesMaster1.xml" Id="Ra33fc8478e134b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6209d097844025" /><Relationship Type="http://schemas.openxmlformats.org/officeDocument/2006/relationships/notesMaster" Target="/ppt/notesMasters/notesMaster1.xml" Id="R1bd1c0786dcf41a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abacd9e05124537" /><Relationship Type="http://schemas.openxmlformats.org/officeDocument/2006/relationships/notesMaster" Target="/ppt/notesMasters/notesMaster1.xml" Id="R5229666a9d0649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2a3a653e9446f4" /><Relationship Type="http://schemas.openxmlformats.org/officeDocument/2006/relationships/notesMaster" Target="/ppt/notesMasters/notesMaster1.xml" Id="Rb2bbe0b1f0484a2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088e768db243ce" /><Relationship Type="http://schemas.openxmlformats.org/officeDocument/2006/relationships/notesMaster" Target="/ppt/notesMasters/notesMaster1.xml" Id="Rc4c855c8dcdb4f6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f75269e600348aa" /><Relationship Type="http://schemas.openxmlformats.org/officeDocument/2006/relationships/notesMaster" Target="/ppt/notesMasters/notesMaster1.xml" Id="R89b2075f31e34d9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c7dc746a4445af" /><Relationship Type="http://schemas.openxmlformats.org/officeDocument/2006/relationships/notesMaster" Target="/ppt/notesMasters/notesMaster1.xml" Id="R2842e603c39248c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ac4106e5cf548b9" /><Relationship Type="http://schemas.openxmlformats.org/officeDocument/2006/relationships/notesMaster" Target="/ppt/notesMasters/notesMaster1.xml" Id="R3b6a839117f24f3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8cbf4f89f74279" /><Relationship Type="http://schemas.openxmlformats.org/officeDocument/2006/relationships/notesMaster" Target="/ppt/notesMasters/notesMaster1.xml" Id="Rd2746b50c6954b8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e81356e7fb446d3" /><Relationship Type="http://schemas.openxmlformats.org/officeDocument/2006/relationships/notesMaster" Target="/ppt/notesMasters/notesMaster1.xml" Id="R2a502b3b350f439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3457cbb46b44518" /><Relationship Type="http://schemas.openxmlformats.org/officeDocument/2006/relationships/notesMaster" Target="/ppt/notesMasters/notesMaster1.xml" Id="R0046c9f0f7ee48d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89df049770148f9" /><Relationship Type="http://schemas.openxmlformats.org/officeDocument/2006/relationships/notesMaster" Target="/ppt/notesMasters/notesMaster1.xml" Id="R9635f6501cc9420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933e5b45cd34f98" /><Relationship Type="http://schemas.openxmlformats.org/officeDocument/2006/relationships/notesMaster" Target="/ppt/notesMasters/notesMaster1.xml" Id="R2a52e48790f44d4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66312b726cd4ec6" /><Relationship Type="http://schemas.openxmlformats.org/officeDocument/2006/relationships/notesMaster" Target="/ppt/notesMasters/notesMaster1.xml" Id="R18ea1558314841c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fe50730dbc54148" /><Relationship Type="http://schemas.openxmlformats.org/officeDocument/2006/relationships/notesMaster" Target="/ppt/notesMasters/notesMaster1.xml" Id="R23ebd1aab31b468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335c724b1ea42ca" /><Relationship Type="http://schemas.openxmlformats.org/officeDocument/2006/relationships/notesMaster" Target="/ppt/notesMasters/notesMaster1.xml" Id="Re522d587d3ba481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a6ca22c7c9f4ffd" /><Relationship Type="http://schemas.openxmlformats.org/officeDocument/2006/relationships/notesMaster" Target="/ppt/notesMasters/notesMaster1.xml" Id="R3eee4bd1db57479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ab12d2740de4414" /><Relationship Type="http://schemas.openxmlformats.org/officeDocument/2006/relationships/notesMaster" Target="/ppt/notesMasters/notesMaster1.xml" Id="R30d677f5e572422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c0aded7b48f4927" /><Relationship Type="http://schemas.openxmlformats.org/officeDocument/2006/relationships/notesMaster" Target="/ppt/notesMasters/notesMaster1.xml" Id="R14103df6a3b348e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3f8e5d2ed8a45c9" /><Relationship Type="http://schemas.openxmlformats.org/officeDocument/2006/relationships/notesMaster" Target="/ppt/notesMasters/notesMaster1.xml" Id="Ra9624603d67043a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6377fa5fb024986" /><Relationship Type="http://schemas.openxmlformats.org/officeDocument/2006/relationships/notesMaster" Target="/ppt/notesMasters/notesMaster1.xml" Id="Rda837cded13d46f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7fcca2a906d4645" /><Relationship Type="http://schemas.openxmlformats.org/officeDocument/2006/relationships/notesMaster" Target="/ppt/notesMasters/notesMaster1.xml" Id="R4b72b7e1b208460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36ee944d82f4a43" /><Relationship Type="http://schemas.openxmlformats.org/officeDocument/2006/relationships/notesMaster" Target="/ppt/notesMasters/notesMaster1.xml" Id="R594743d0617d462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61be4ef0a034329" /><Relationship Type="http://schemas.openxmlformats.org/officeDocument/2006/relationships/notesMaster" Target="/ppt/notesMasters/notesMaster1.xml" Id="Rd4b94a995fc5491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4c9151719d1494c" /><Relationship Type="http://schemas.openxmlformats.org/officeDocument/2006/relationships/notesMaster" Target="/ppt/notesMasters/notesMaster1.xml" Id="Rf899877f891c4d7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9a49f9e08d04a0f" /><Relationship Type="http://schemas.openxmlformats.org/officeDocument/2006/relationships/notesMaster" Target="/ppt/notesMasters/notesMaster1.xml" Id="R99257270b70a402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1fff48e81bc4b36" /><Relationship Type="http://schemas.openxmlformats.org/officeDocument/2006/relationships/notesMaster" Target="/ppt/notesMasters/notesMaster1.xml" Id="R3c064c938bab431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7646702b8ba4884" /><Relationship Type="http://schemas.openxmlformats.org/officeDocument/2006/relationships/notesMaster" Target="/ppt/notesMasters/notesMaster1.xml" Id="Rb65d684b75fc4fe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500030c4af1443e" /><Relationship Type="http://schemas.openxmlformats.org/officeDocument/2006/relationships/notesMaster" Target="/ppt/notesMasters/notesMaster1.xml" Id="R1c5cb804a5ed47e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850157a425c4bf5" /><Relationship Type="http://schemas.openxmlformats.org/officeDocument/2006/relationships/notesMaster" Target="/ppt/notesMasters/notesMaster1.xml" Id="R5dfaa45f549143e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fecf8fb66b44f5a" /><Relationship Type="http://schemas.openxmlformats.org/officeDocument/2006/relationships/notesMaster" Target="/ppt/notesMasters/notesMaster1.xml" Id="R23eb3bcd092549a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d8b9335fa634bdb" /><Relationship Type="http://schemas.openxmlformats.org/officeDocument/2006/relationships/notesMaster" Target="/ppt/notesMasters/notesMaster1.xml" Id="Rdcdf5df0d60a4f9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f8b3b0982f64174" /><Relationship Type="http://schemas.openxmlformats.org/officeDocument/2006/relationships/notesMaster" Target="/ppt/notesMasters/notesMaster1.xml" Id="R89158c5dcb47435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afd5e2fdd504f98" /><Relationship Type="http://schemas.openxmlformats.org/officeDocument/2006/relationships/notesMaster" Target="/ppt/notesMasters/notesMaster1.xml" Id="R62ee9c98cf31455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f7306f5147443e8" /><Relationship Type="http://schemas.openxmlformats.org/officeDocument/2006/relationships/notesMaster" Target="/ppt/notesMasters/notesMaster1.xml" Id="R25ebb52e2f3949d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a4d534a301c4704" /><Relationship Type="http://schemas.openxmlformats.org/officeDocument/2006/relationships/notesMaster" Target="/ppt/notesMasters/notesMaster1.xml" Id="R6f5e24f5e5e2402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27d574ec27e45b3" /><Relationship Type="http://schemas.openxmlformats.org/officeDocument/2006/relationships/notesMaster" Target="/ppt/notesMasters/notesMaster1.xml" Id="Racd34169bd29425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7dcbd47dc4a4cf6" /><Relationship Type="http://schemas.openxmlformats.org/officeDocument/2006/relationships/notesMaster" Target="/ppt/notesMasters/notesMaster1.xml" Id="R60d5940b52104b1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d1a6c81e4e24520" /><Relationship Type="http://schemas.openxmlformats.org/officeDocument/2006/relationships/notesMaster" Target="/ppt/notesMasters/notesMaster1.xml" Id="R040fd62a74d8460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c21446d3e874bbf" /><Relationship Type="http://schemas.openxmlformats.org/officeDocument/2006/relationships/notesMaster" Target="/ppt/notesMasters/notesMaster1.xml" Id="Rc2e0e23c54004ef0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9ed8ea7ddf44fce" /><Relationship Type="http://schemas.openxmlformats.org/officeDocument/2006/relationships/notesMaster" Target="/ppt/notesMasters/notesMaster1.xml" Id="Rf5ca2224a0d84c5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6fb3bda4e214931" /><Relationship Type="http://schemas.openxmlformats.org/officeDocument/2006/relationships/notesMaster" Target="/ppt/notesMasters/notesMaster1.xml" Id="R863c0c433df14be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8632c03337049f3" /><Relationship Type="http://schemas.openxmlformats.org/officeDocument/2006/relationships/notesMaster" Target="/ppt/notesMasters/notesMaster1.xml" Id="R7577568d7160462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423246747694009" /><Relationship Type="http://schemas.openxmlformats.org/officeDocument/2006/relationships/notesMaster" Target="/ppt/notesMasters/notesMaster1.xml" Id="R58b510eb50ce48e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0cb4a2618374784" /><Relationship Type="http://schemas.openxmlformats.org/officeDocument/2006/relationships/notesMaster" Target="/ppt/notesMasters/notesMaster1.xml" Id="Rd0ce390cf6af411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29adb883b214d41" /><Relationship Type="http://schemas.openxmlformats.org/officeDocument/2006/relationships/notesMaster" Target="/ppt/notesMasters/notesMaster1.xml" Id="R97d9d605347a4c0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8f3d15d627e4d8a" /><Relationship Type="http://schemas.openxmlformats.org/officeDocument/2006/relationships/notesMaster" Target="/ppt/notesMasters/notesMaster1.xml" Id="R9ff658a9b38e42d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6d468cf5f4574752" /><Relationship Type="http://schemas.openxmlformats.org/officeDocument/2006/relationships/notesMaster" Target="/ppt/notesMasters/notesMaster1.xml" Id="Re57d2bcddf4e431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7564acf969449eb" /><Relationship Type="http://schemas.openxmlformats.org/officeDocument/2006/relationships/notesMaster" Target="/ppt/notesMasters/notesMaster1.xml" Id="R7310130f513b4e6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9902ba687d34fa1" /><Relationship Type="http://schemas.openxmlformats.org/officeDocument/2006/relationships/notesMaster" Target="/ppt/notesMasters/notesMaster1.xml" Id="Re3e750b0a0d547a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f43094b1e0c431a" /><Relationship Type="http://schemas.openxmlformats.org/officeDocument/2006/relationships/notesMaster" Target="/ppt/notesMasters/notesMaster1.xml" Id="R0a4cf188e3aa477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1dcfc4b4bd3942b0" /><Relationship Type="http://schemas.openxmlformats.org/officeDocument/2006/relationships/notesMaster" Target="/ppt/notesMasters/notesMaster1.xml" Id="R196f36b44e844ba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39f63a775744189" /><Relationship Type="http://schemas.openxmlformats.org/officeDocument/2006/relationships/notesMaster" Target="/ppt/notesMasters/notesMaster1.xml" Id="R1a102e3889134c6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498fe592a3c643c1" /><Relationship Type="http://schemas.openxmlformats.org/officeDocument/2006/relationships/notesMaster" Target="/ppt/notesMasters/notesMaster1.xml" Id="R27b2e1506151420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989e2fc5734424f" /><Relationship Type="http://schemas.openxmlformats.org/officeDocument/2006/relationships/notesMaster" Target="/ppt/notesMasters/notesMaster1.xml" Id="Rce4c174e7a15447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9291cf048c03421b" /><Relationship Type="http://schemas.openxmlformats.org/officeDocument/2006/relationships/notesMaster" Target="/ppt/notesMasters/notesMaster1.xml" Id="Rb80f20b7ca5746e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ac3ad311a5634da2" /><Relationship Type="http://schemas.openxmlformats.org/officeDocument/2006/relationships/notesMaster" Target="/ppt/notesMasters/notesMaster1.xml" Id="Rdaa807c8e7fd4125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72817325e134eb1" /><Relationship Type="http://schemas.openxmlformats.org/officeDocument/2006/relationships/notesMaster" Target="/ppt/notesMasters/notesMaster1.xml" Id="Rd01dc206f634475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d2e807a15314beb" /><Relationship Type="http://schemas.openxmlformats.org/officeDocument/2006/relationships/notesMaster" Target="/ppt/notesMasters/notesMaster1.xml" Id="R0f6624c3069c447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1c6fe23e3b64414" /><Relationship Type="http://schemas.openxmlformats.org/officeDocument/2006/relationships/notesMaster" Target="/ppt/notesMasters/notesMaster1.xml" Id="R70ab0275803544df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94cae7a527044145" /><Relationship Type="http://schemas.openxmlformats.org/officeDocument/2006/relationships/notesMaster" Target="/ppt/notesMasters/notesMaster1.xml" Id="R7c11b9da557a49ee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d436bf65576403d" /><Relationship Type="http://schemas.openxmlformats.org/officeDocument/2006/relationships/notesMaster" Target="/ppt/notesMasters/notesMaster1.xml" Id="R4cdbc242c574465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f803e2e462a4cc4" /><Relationship Type="http://schemas.openxmlformats.org/officeDocument/2006/relationships/notesMaster" Target="/ppt/notesMasters/notesMaster1.xml" Id="R692d3220adb1468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13289402df70417f" /><Relationship Type="http://schemas.openxmlformats.org/officeDocument/2006/relationships/notesMaster" Target="/ppt/notesMasters/notesMaster1.xml" Id="Rbdf813d2c3bd4c9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c74d8f016654e1e" /><Relationship Type="http://schemas.openxmlformats.org/officeDocument/2006/relationships/notesMaster" Target="/ppt/notesMasters/notesMaster1.xml" Id="Rfd6dd672b28746f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a3091023a9ea4102" /><Relationship Type="http://schemas.openxmlformats.org/officeDocument/2006/relationships/notesMaster" Target="/ppt/notesMasters/notesMaster1.xml" Id="Rb496fe319bcd417d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6ad9aaa69fb4ed3" /><Relationship Type="http://schemas.openxmlformats.org/officeDocument/2006/relationships/notesMaster" Target="/ppt/notesMasters/notesMaster1.xml" Id="R64693d3340254240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a65eeba0a914f75" /><Relationship Type="http://schemas.openxmlformats.org/officeDocument/2006/relationships/notesMaster" Target="/ppt/notesMasters/notesMaster1.xml" Id="Ra6fddeb5cb844abb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8cbfec7c2d3c48b2" /><Relationship Type="http://schemas.openxmlformats.org/officeDocument/2006/relationships/notesMaster" Target="/ppt/notesMasters/notesMaster1.xml" Id="Rbe5f16aec14c4de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23d47a5bfb14da2" /><Relationship Type="http://schemas.openxmlformats.org/officeDocument/2006/relationships/notesMaster" Target="/ppt/notesMasters/notesMaster1.xml" Id="R66592311b1d345e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3c7c83f57934a8f" /><Relationship Type="http://schemas.openxmlformats.org/officeDocument/2006/relationships/notesMaster" Target="/ppt/notesMasters/notesMaster1.xml" Id="R5ef432971a7e4a5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a82f66f5786f4c93" /><Relationship Type="http://schemas.openxmlformats.org/officeDocument/2006/relationships/notesMaster" Target="/ppt/notesMasters/notesMaster1.xml" Id="Red8c98814aca4009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b2a02cf511e47e7" /><Relationship Type="http://schemas.openxmlformats.org/officeDocument/2006/relationships/notesMaster" Target="/ppt/notesMasters/notesMaster1.xml" Id="Rb3c735de016f4df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bdec4f9703334b79" /><Relationship Type="http://schemas.openxmlformats.org/officeDocument/2006/relationships/notesMaster" Target="/ppt/notesMasters/notesMaster1.xml" Id="R8b6a31d2c2f0401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5f0a222cb78432a" /><Relationship Type="http://schemas.openxmlformats.org/officeDocument/2006/relationships/notesMaster" Target="/ppt/notesMasters/notesMaster1.xml" Id="Ra687f1bca4844f5a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7cb1349b77c64232" /><Relationship Type="http://schemas.openxmlformats.org/officeDocument/2006/relationships/notesMaster" Target="/ppt/notesMasters/notesMaster1.xml" Id="R5fa24a2098104799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061a020a5fa242bd" /><Relationship Type="http://schemas.openxmlformats.org/officeDocument/2006/relationships/notesMaster" Target="/ppt/notesMasters/notesMaster1.xml" Id="R2524b4b1fbf24e5e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a68811daf234aba" /><Relationship Type="http://schemas.openxmlformats.org/officeDocument/2006/relationships/notesMaster" Target="/ppt/notesMasters/notesMaster1.xml" Id="R8d7cfda3a8d145b8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da238472fe8645e5" /><Relationship Type="http://schemas.openxmlformats.org/officeDocument/2006/relationships/notesMaster" Target="/ppt/notesMasters/notesMaster1.xml" Id="Rfa20127ad2dd4d9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fad53c30c8494edc" /><Relationship Type="http://schemas.openxmlformats.org/officeDocument/2006/relationships/notesMaster" Target="/ppt/notesMasters/notesMaster1.xml" Id="Rc8374aa8f29641a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0dfba7438054958" /><Relationship Type="http://schemas.openxmlformats.org/officeDocument/2006/relationships/notesMaster" Target="/ppt/notesMasters/notesMaster1.xml" Id="R2efe6ca0496441ef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9bfe06d11c0b45d8" /><Relationship Type="http://schemas.openxmlformats.org/officeDocument/2006/relationships/notesMaster" Target="/ppt/notesMasters/notesMaster1.xml" Id="R2d732a31b70649d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94ddc1fdd3634c5c" /><Relationship Type="http://schemas.openxmlformats.org/officeDocument/2006/relationships/notesMaster" Target="/ppt/notesMasters/notesMaster1.xml" Id="R77b3fbbd8935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Identificar la unidad y su alcance.</a:t>
            </a:r>
          </a:p>
          <a:p xmlns:a="http://schemas.openxmlformats.org/drawingml/2006/main">
            <a:r>
              <a:t>- **Explicación extendida:** La física ayuda a separar preguntas de exposición, medición e intervención. Aclarar que la unidad no es una guía de diagnóstico ni tratamiento.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física ayuda a separar preguntas de exposición, medición e intervención.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con una queja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Unidad 8 · Alteraciones y enfermedades auditivas, estudios y rehabilitación. Esquema mixto: Título, subtítulo breve y pertenencia al curso. La física ayuda a separar preguntas de exposición, medición e intervención.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8.1; PDF p. 207; BR; TPL.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Crear necesidad de distinguir evidencias.</a:t>
            </a:r>
          </a:p>
          <a:p xmlns:a="http://schemas.openxmlformats.org/drawingml/2006/main">
            <a:r>
              <a:t>- **Explicación extendida:** Subir el televisor, comprender peor en ruido y percibir tinnitus no describen el mismo fenómeno. Recoger hipótesis sin corregir todavía; evitar que el grupo diagnostique.</a:t>
            </a:r>
          </a:p>
          <a:p xmlns:a="http://schemas.openxmlformats.org/drawingml/2006/main">
            <a:r>
              <a:t>- **Guía del visual/diagrama:** Revelar y explicar en el orden previsto: Caso breve con tres observaciones y consigna “¿qué mediría primero?”. Cerrar con esta idea: Subir el televisor, comprender peor en ruido y percibir tinnitus no describen el mismo fenómeno.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Subir el televisor, comprender peor en ruido y percibir tinnitus no describen el mismo fenómeno.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que clasifiquen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queja, varias preguntas. Diagrama conceptual: Caso breve con tres observaciones y consigna “¿qué mediría primero?”. Subir el televisor, comprender peor en ruido y percibir tinnitus no describen el mismo fenómeno.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8.3; PDF pp. 208–209;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Diagnosticar concepciones iniciales.</a:t>
            </a:r>
          </a:p>
          <a:p xmlns:a="http://schemas.openxmlformats.org/drawingml/2006/main">
            <a:r>
              <a:t>- **Explicación extendida:** `95 dB(A) durante 1 h`, tinnitus referido y `40 dB HL a 4000 Hz` son datos de clases distintas. Usar las respuestas para decidir cuánto repasar de niveles y umbral.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Clasifique cada dato: exposición, síntoma o resultado.</a:t>
            </a:r>
          </a:p>
          <a:p xmlns:a="http://schemas.openxmlformats.org/drawingml/2006/main">
            <a:r>
              <a:t>- **Respuesta esperada:** 95 dB(A) durante 1 h: exposición; tinnitus referido: síntoma; 40 dB HL a 4000 Hz: resultado audiométrico.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qué conocimientos vuelven a aparecer.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¿Exposición, síntoma o resultado? Composición textual: Tres datos ficticios y tres categorías provisionales. 95 dB(A) durante 1 h, tinnitus referido y 40 dB HL a 4000 Hz son datos de clases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C2; PDF p. 223; INV;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Reactivar prerrequisitos sin reteoría extensa.</a:t>
            </a:r>
          </a:p>
          <a:p xmlns:a="http://schemas.openxmlformats.org/drawingml/2006/main">
            <a:r>
              <a:t>- **Explicación extendida:** Escalas, señal–sistema, vías auditivas y tarea perceptual reaparecen con una pregunta nueva. Formular una pregunta breve por unidad y no volver a derivar contenidos previos.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Escalas, señal–sistema, vías auditivas y tarea perceptual reaparecen con una pregunta nueva.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Declarar qué podrán hacer.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necesitamos recuperar? Diagrama conceptual: U4: niveles; U5: señal/sistema y L_Aeq,T; U6: vías/transducción; U7: umbral/tarea. Escalas, señal–sistema, vías auditivas y tarea perceptual reaparecen con una pregunta nueva.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CM; CDM; BR; PREV.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Presentar los primeros resultados observables.</a:t>
            </a:r>
          </a:p>
          <a:p xmlns:a="http://schemas.openxmlformats.org/drawingml/2006/main">
            <a:r>
              <a:t>- **Explicación extendida:** La unidad exige clasificar evidencia y comparar pruebas, no memorizar nombres. Dar ejemplos del tipo de evidencia que demostrará cada objetivo.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unidad exige clasificar evidencia y comparar pruebas, no memorizar nombres.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Completar con cálculo, dispositivos 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Objetivos: distinguir, explicar y comparar. Composición textual: Objetivos 1–4 agrupados: clasificar datos; explicar alteraciones; comparar estudios; interpretar representaciones. La unidad exige clasificar evidencia y comparar pruebas, no memorizar nombres.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TEX 8.1.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Completar expectativas sin saturar una sola slide.</a:t>
            </a:r>
          </a:p>
          <a:p xmlns:a="http://schemas.openxmlformats.org/drawingml/2006/main">
            <a:r>
              <a:t>- **Explicación extendida:** Los cálculos se interpretan y los dispositivos se comparan por su transformación física. Subrayar que “integrar” no significa diagnosticar en clase.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Los cálculos se interpretan y los dispositivos se comparan por su transformación física.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el mapa de cuatro encuentros.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Objetivos: calcular, relacionar e integrar. Esquema mixto: Objetivos 5–7: calcular diferencias compatibles; comparar dispositivos; justificar batería y evaluación integrada. Los cálculos se interpretan y los dispositivos se comparan por su transformación física.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TEX 8.1.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Orientar una unidad larga.</a:t>
            </a:r>
          </a:p>
          <a:p xmlns:a="http://schemas.openxmlformats.org/drawingml/2006/main">
            <a:r>
              <a:t>- **Explicación extendida:** El recorrido va de la clase de dato a la pregunta que una prueba o dispositivo puede responder. Mostrar la etapa actual en cada divisor posterior; no usar como agenda corporativa.</a:t>
            </a:r>
          </a:p>
          <a:p xmlns:a="http://schemas.openxmlformats.org/drawingml/2006/main">
            <a:r>
              <a:t>- **Guía del visual/diagrama:** Revelar y explicar en el orden previsto: Once bloques centrales agrupados en cuatro encuentros y un respaldo no lineal. Cerrar con esta idea: El recorrido va de la clase de dato a la pregunta que una prueba o dispositivo puede responder.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 recorrido va de la clase de dato a la pregunta que una prueba o dispositivo puede responder.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Iniciar por la naturaleza de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 la clase: evidencia, estudios, dispositivos e integración. Diagrama conceptual: Once bloques centrales agrupados en cuatro encuentros y un respaldo no lineal. El recorrido va de la clase de dato a la pregunta que una prueba o dispositivo puede responder.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EP; TPL.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Una categoría mal asignada conduce a una conclusión incorrecta. Recuperar respuestas de U08-003 sin resolverlas todavía.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categoría mal asignada conduce a una conclusión incorrecta.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las cinco categorías.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clase de dato tenemos? Esquema mixto: Pregunta guía y cinco palabras: exposición, alteración, síntoma, resultado, limitación. Una categoría mal asignada conduce a una conclusión incorrecta.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PDF p. 209;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organizador principal.</a:t>
            </a:r>
          </a:p>
          <a:p xmlns:a="http://schemas.openxmlformats.org/drawingml/2006/main">
            <a:r>
              <a:t>- **Explicación extendida:** Exposición, alteración, síntoma, resultado y limitación pueden relacionarse, pero no son equivalentes. Evitar una flecha lineal inevitable; usar conexiones posibles con rótulo “puede relacionarse”.</a:t>
            </a:r>
          </a:p>
          <a:p xmlns:a="http://schemas.openxmlformats.org/drawingml/2006/main">
            <a:r>
              <a:t>- **Guía del visual/diagrama:** Revelar y explicar en el orden previsto: Definición breve y ejemplo por categoría. Cerrar con esta idea: Exposición, alteración, síntoma, resultado y limitación pueden relacionarse, pero no son equivalentes.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Exposición, alteración, síntoma, resultado y limitación pueden relacionarse, pero no son equivalentes.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mapa al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Cinco categorías separan lo que ocurrió de lo que se midió. Diagrama conceptual: Definición breve y ejemplo por categoría. Exposición, alteración, síntoma, resultado y limitación pueden relacionarse, pero no son equivalentes.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8.1, 8.4.1; PDF pp. 207, 209;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Mostrar que cada pregunta requiere evidencia diferente.</a:t>
            </a:r>
          </a:p>
          <a:p xmlns:a="http://schemas.openxmlformats.org/drawingml/2006/main">
            <a:r>
              <a:t>- **Explicación extendida:** Exposición, umbral, oído medio, respuesta coclear/neural, comunicación y dispositivo no se reemplazan. Presentar primero tres preguntas y luego las otras tres; no convertir el diagrama en diagnóstico.</a:t>
            </a:r>
          </a:p>
          <a:p xmlns:a="http://schemas.openxmlformats.org/drawingml/2006/main">
            <a:r>
              <a:t>- **Guía del visual/diagrama:** Revelar y explicar en el orden previsto: Seis preguntas del caso, divididas en dos etapas para no usar letra pequeña. Cerrar con esta idea: Exposición, umbral, oído medio, respuesta coclear/neural, comunicación y dispositivo no se reemplazan.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Exposición, umbral, oído medio, respuesta coclear/neural, comunicación y dispositivo no se reemplazan.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una clasificación guiada.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misma consulta abre seis preguntas distintas. Diagrama conceptual: Seis preguntas del caso, divididas en dos etapas para no usar letra pequeña. Exposición, umbral, oído medio, respuesta coclear/neural, comunicación y dispositivo no se reemplazan.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8.3; PDF pp. 208–209.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la distinción organizadora.</a:t>
            </a:r>
          </a:p>
          <a:p xmlns:a="http://schemas.openxmlformats.org/drawingml/2006/main">
            <a:r>
              <a:t>- **Explicación extendida:** Nombrar la clase de dato precede a explicar su causa. Aceptar que algunos datos requieran más contexto; justificar y no adivinar diagnóstico.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Clasifique las seis tarjetas y señale qué contexto falta.</a:t>
            </a:r>
          </a:p>
          <a:p xmlns:a="http://schemas.openxmlformats.org/drawingml/2006/main">
            <a:r>
              <a:t>- **Respuesta esperada:** Nivel/duración: exposición; escotadura, porcentaje verbal y OEA ‘derivar’: resultados; tinnitus: síntoma; dificultad en ruido: limitación referida. Ninguna tarjeta aislada autoriza diagnóstico.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partes del sistema sin nombrar enfermedades.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Clasifique cada dato antes de interpretarlo. Esquema mixto: Seis tarjetas: nivel/duración, escotadura, tinnitus, porcentaje verbal, OEA “derivar”, dificultad en ruido. Nombrar la clase de dato precede a explicar su causa.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C1–C3; PDF pp. 223, 228;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Introducir clasificación funcional acotada.</a:t>
            </a:r>
          </a:p>
          <a:p xmlns:a="http://schemas.openxmlformats.org/drawingml/2006/main">
            <a:r>
              <a:t>- **Explicación extendida:** La clasificación orienta qué partes de la cadena considerar; no surge de un único dato. No desarrollar diagnóstico diferencial ni listas de patologías.</a:t>
            </a:r>
          </a:p>
          <a:p xmlns:a="http://schemas.openxmlformats.org/drawingml/2006/main">
            <a:r>
              <a:t>- **Guía del visual/diagrama:** Revelar y explicar en el orden previsto: Tres columnas breves: transmisión, cóclea/neural, combinación → batería necesaria. Cerrar con esta idea: La clasificación orienta qué partes de la cadena considerar; no surge de un único dato.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La clasificación orienta qué partes de la cadena considerar; no surge de un único dato.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Separar forma observada de causa.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Conductivo, sensorioneural y mixto describen componentes comprometidos. Diagrama conceptual: Tres columnas breves: transmisión, cóclea/neural, combinación; batería necesaria. La clasificación orienta qué partes de la cadena considerar; no surge de un único dato.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PDF p. 209; REF ashaHearingAdults;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Prevenir la inferencia central errónea.</a:t>
            </a:r>
          </a:p>
          <a:p xmlns:a="http://schemas.openxmlformats.org/drawingml/2006/main">
            <a:r>
              <a:t>- **Explicación extendida:** La forma de un audiograma o timpanograma es un resultado, no una etiología. Anticipar que la misma advertencia reaparecerá con cada estudio.</a:t>
            </a:r>
          </a:p>
          <a:p xmlns:a="http://schemas.openxmlformats.org/drawingml/2006/main">
            <a:r>
              <a:t>- **Guía del visual/diagrama:** Revelar y explicar en el orden previsto: “Es frecuente pensar…” + “En realidad…” + datos que faltan. Cerrar con esta idea: La forma de un audiograma o timpanograma es un resultado, no una etiología.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“Es frecuente pensar…” + “En realidad…” + datos que faltan.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dos términos que suelen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patrón compatible no demuestra una causa. Diagrama conceptual: “Es frecuente pensar…” + “En realidad…” + datos que faltan. La forma de un audiograma o timpanograma es un resultado, no una etiología.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8.8; PDF pp. 210, 222; 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Distinguir resultado conductual y experiencia perceptual.</a:t>
            </a:r>
          </a:p>
          <a:p xmlns:a="http://schemas.openxmlformats.org/drawingml/2006/main">
            <a:r>
              <a:t>- **Explicación extendida:** TTS compara umbrales; tinnitus es una percepción referida. No adelantar todavía la ecuación ni la acufenometría.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TTS compara umbrales; tinnitus es una percepción referida.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por qué una sola prueba no alcanza.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 y tinnitus no son el mismo fenómeno. Esquema mixto: Dos columnas con definición, dato requerido y conclusión no permitida. TTS compara umbrales; tinnitus es una percepción referida.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8.4.4; PDF pp. 209–211;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Introducir el principio de integración.</a:t>
            </a:r>
          </a:p>
          <a:p xmlns:a="http://schemas.openxmlformats.org/drawingml/2006/main">
            <a:r>
              <a:t>- **Explicación extendida:** Cada prueba aporta una pieza y también tiene límites técnicos e interpretativos. Aclarar que la selección real depende de consulta, edad y protocolo.</a:t>
            </a:r>
          </a:p>
          <a:p xmlns:a="http://schemas.openxmlformats.org/drawingml/2006/main">
            <a:r>
              <a:t>- **Guía del visual/diagrama:** Revelar y explicar en el orden previsto: Pregunta clínica general rodeada por antecedentes, prueba conductual y registros fisiológicos. Cerrar con esta idea: Cada prueba aporta una pieza y también tiene límites técnicos e interpretativos.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prueba aporta una pieza y también tiene límites técnicos e interpretativos.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las cinco categorías.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batería responde preguntas complementarias. Diagrama conceptual: Pregunta clínica general rodeada por antecedentes, prueba conductual y registros fisiológicos. Cada prueba aporta una pieza y también tiene límites técnicos e interpretativos.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el primer marco.</a:t>
            </a:r>
          </a:p>
          <a:p xmlns:a="http://schemas.openxmlformats.org/drawingml/2006/main">
            <a:r>
              <a:t>- **Explicación extendida:** Preguntar “¿qué clase de dato es?” evita confundir exposición, síntoma, medición y diagnóstico. Repetición pedagógica: usar ejemplos nuevos; no copiar las definiciones de U08-009.</a:t>
            </a:r>
          </a:p>
          <a:p xmlns:a="http://schemas.openxmlformats.org/drawingml/2006/main">
            <a:r>
              <a:t>- **Guía del visual/diagrama:** Revelar y explicar en el orden previsto: Cinco categorías, un ejemplo corregido y una pregunta de control. Cerrar con esta idea: Preguntar “¿qué clase de dato es?” evita confundir exposición, síntoma, medición y diagnóstico.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Preguntar “¿qué clase de dato es?” evita confundir exposición, síntoma, medición y diagnóstico.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categorías a cambio temporal del umbral.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primero clasificar, después interpretar. Diagrama conceptual: Cinco categorías, un ejemplo corregido y una pregunta de control. Preguntar “¿qué clase de dato es?” evita confundir exposición, síntoma, medición y diagnóstico.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8.4.1;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temporal.</a:t>
            </a:r>
          </a:p>
          <a:p xmlns:a="http://schemas.openxmlformats.org/drawingml/2006/main">
            <a:r>
              <a:t>- **Explicación extendida:** Un cambio entre mediciones necesita frecuencia, tiempo y condiciones comparables. No usar todavía palabras como recuperación completa o daño.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cambio entre mediciones necesita frecuencia, tiempo y condiciones comparables.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Caracterizar primero la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significa que un umbral cambie después de una exposición? Gráfico: Pregunta guía y dos mediciones separadas en el tiempo. Un cambio entre mediciones necesita frecuencia, tiempo y condiciones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Recuperar descriptores físicos relevantes.</a:t>
            </a:r>
          </a:p>
          <a:p xmlns:a="http://schemas.openxmlformats.org/drawingml/2006/main">
            <a:r>
              <a:t>- **Explicación extendida:** Nivel, descriptor, ponderación, duración, espectro e impulsividad condicionan la interpretación. Diferenciar lo medido de un juicio normativo o sanitario.</a:t>
            </a:r>
          </a:p>
          <a:p xmlns:a="http://schemas.openxmlformats.org/drawingml/2006/main">
            <a:r>
              <a:t>- **Guía del visual/diagrama:** Revelar y explicar en el orden previsto: Seis preguntas mínimas para describir una exposición. Cerrar con esta idea: Nivel, descriptor, ponderación, duración, espectro e impulsividad condicionan la interpretación.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Nivel, descriptor, ponderación, duración, espectro e impulsividad condicionan la interpretación.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el resultado que se comparará.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exposición no se resume en “muchos decibeles”. Diagrama conceptual: Seis preguntas mínimas para describir una exposición. Nivel, descriptor, ponderación, duración, espectro e impulsividad condicionan la interpretación.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PDF p. 210; U5;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concepto antes de la fórmula.</a:t>
            </a:r>
          </a:p>
          <a:p xmlns:a="http://schemas.openxmlformats.org/drawingml/2006/main">
            <a:r>
              <a:t>- **Explicación extendida:** Deben coincidir frecuencia, escala, vía y procedimiento; también debe constar el tiempo postexposición. Usar “desplazamiento temporal del umbral”; desarrollar TTS.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 completa, datos requeridos y contraejemplo tinnitus.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Escribir la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 es una diferencia entre dos umbrales comparables. Esquema mixto: Definición completa, datos requeridos y contraejemplo tinnitus. Deben coincidir frecuencia, escala, vía y procedimiento; también debe constar el tiempo postexposición.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209; GLO;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símbolos, unidades y signo.</a:t>
            </a:r>
          </a:p>
          <a:p xmlns:a="http://schemas.openxmlformats.org/drawingml/2006/main">
            <a:r>
              <a:t>- **Explicación extendida:** Un valor positivo indica mayor nivel de audición requerido en la segunda medición; no identifica mecanismo ni permanencia. Verificar compatibilidad de dB HL y definir el orden de la resta.</a:t>
            </a:r>
          </a:p>
          <a:p xmlns:a="http://schemas.openxmlformats.org/drawingml/2006/main">
            <a:r>
              <a:t>- **Guía del visual/diagrama:** Revelar y explicar en el orden previsto: Ecuación central, `f`, `Δt`, `L_U,0`, `L_U,1`, unidad dB y condiciones. Cerrar con esta idea: Un valor positivo indica mayor nivel de audición requerido en la segunda medición; no identifica mecanismo ni permanencia.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Modelar un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ΔL_T(f,Δt) compara el umbral posterior con el de referencia. Ecuación anotada: Ecuación central, f, Δt, L_U,0, L_U,1, unidad dB y condiciones. Un valor positivo indica mayor nivel de audición requerido en la segunda medición; no identifica mecanismo ni permanencia.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8.1; PDF pp. 209–210; NOT;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Separar operación e interpretación.</a:t>
            </a:r>
          </a:p>
          <a:p xmlns:a="http://schemas.openxmlformats.org/drawingml/2006/main">
            <a:r>
              <a:t>- **Explicación extendida:** `27 dB HL - 12 dB HL = 15 dB`; el resultado no prueba causa ni permanencia. Explicar por qué la diferencia queda en dB y no dB HL.</a:t>
            </a:r>
          </a:p>
          <a:p xmlns:a="http://schemas.openxmlformats.org/drawingml/2006/main">
            <a:r>
              <a:t>- **Guía del visual/diagrama:** Revelar y explicar en el orden previsto: Datos → compatibilidad → sustitución → resultado → límite. Cerrar con esta idea: `27 dB HL - 12 dB HL = 15 dB`; el resultado no prueba causa ni permanencia.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dos puntos a una serie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4000 Hz, el umbral aumenta 15 dB en la segunda medición. Ecuación anotada: Datos → compatibilidad → sustitución → resultado → límite. 27 dB HL - 12 dB HL = 15 dB; el resultado no prueba causa ni permanencia.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NG1/respuesta; PDF pp. 224, 229–230.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Preparar la lectura de recuperación.</a:t>
            </a:r>
          </a:p>
          <a:p xmlns:a="http://schemas.openxmlformats.org/drawingml/2006/main">
            <a:r>
              <a:t>- **Explicación extendida:** Cada punto requiere frecuencia de prueba, tiempo, procedimiento y variabilidad; una forma conceptual no aporta tiempos universales. Distinguir explícitamente esquema pedagógico de datos experimentales.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Cada punto requiere frecuencia de prueba, tiempo, procedimiento y variabilidad; una forma conceptual no aporta tiempos universales.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Contrastar con una curva cuantitativa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temporal reúne varias mediciones, no un pronóstico universal. Gráfico: Ejes Δt y ΔL_T, puntos seriados y banda/variabilidad sin números normativos. Cada punto requiere frecuencia de prueba, tiempo, procedimiento y variabilidad; una forma conceptual no aporta tiempos universales.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SA; OD-U08-02/04; EP.</a:t>
            </a:r>
          </a:p>
          <a:p xmlns:a="http://schemas.openxmlformats.org/drawingml/2006/main">
            <a:r>
              <a:t>- Asset propio aprobado: U08-CH-001.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Cubrir el tema obligatorio con trazabilidad.</a:t>
            </a:r>
          </a:p>
          <a:p xmlns:a="http://schemas.openxmlformats.org/drawingml/2006/main">
            <a:r>
              <a:t>- **Explicación extendida:** Sin fuente primaria y condiciones, no existe una curva de recuperación interpretable. Explicar denominador, dispersión y alcance de la fuente seleccionada.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Sin fuente primaria y condiciones, no existe una curva de recuperación interpretable.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Completar una cifra o regla faltante por memoria o intuición y perder la trazabilidad de la afirmación.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PO; COV U08-01; SA; OD-U08-03/04; REF por seleccionar.</a:t>
            </a:r>
          </a:p>
          <a:p xmlns:a="http://schemas.openxmlformats.org/drawingml/2006/main">
            <a:r>
              <a:t>- **Transición:** Pedir una lectura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cuantitativa necesita exposición, población y tiempos definidos. Gráfico: Curva documentada con nivel/espectro/duración, frecuencia de prueba, tiempos, muestra y variabilidad. Sin fuente primaria y condiciones, no existe una curva de recuperación interpretable.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U08-01; SA; OD-U08-03/04; REF por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interpretación con límites.</a:t>
            </a:r>
          </a:p>
          <a:p xmlns:a="http://schemas.openxmlformats.org/drawingml/2006/main">
            <a:r>
              <a:t>- **Explicación extendida:** Leer tendencia y condiciones no autoriza a predecir la recuperación individual. Aceptar como respuesta válida señalar que faltan metadatos.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Identifique ejes, frecuencia de prueba, tiempos, grupo y variabilidad. Luego escriba una conclusión permitida y una no permitida.</a:t>
            </a:r>
          </a:p>
          <a:p xmlns:a="http://schemas.openxmlformats.org/drawingml/2006/main">
            <a:r>
              <a:t>- **Respuesta esperada:** Permitida: describir la tendencia bajo las condiciones informadas. No permitida: predecir la recuperación de una persona o extrapolar a otra exposición.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Diferenciar temporal de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permite afirmar esta curva y qué queda abierto? Gráfico: Preguntas sobre ejes, frecuencia, tiempo, grupo, variabilidad y conclusiones no permitidas. Leer tendencia y condiciones no autoriza a predecir la recuperación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ejercicios gráficos; SA;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TTS frente a PAIR.</a:t>
            </a:r>
          </a:p>
          <a:p xmlns:a="http://schemas.openxmlformats.org/drawingml/2006/main">
            <a:r>
              <a:t>- **Explicación extendida:** Repetir una medición permite describir evolución; la atribución causal requiere más evidencia. No afirmar que todo TTS se resuelve sin consecuencias ni que predice PAIR.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Repetir una medición permite describir evolución; la atribución causal requiere más evidencia.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Recuperar un descriptor energético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Temporal y permanente describen cursos distintos, no causas automáticas. Gráfico: Dos columnas: diferencia temporal y cambio permanente, con datos necesarios. Repetir una medición permite describir evolución; la atribución causal requiere más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PDF pp. 209–210; REF ryan2016.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Recuperar `L_Aeq,T` sin convertirlo en norma.</a:t>
            </a:r>
          </a:p>
          <a:p xmlns:a="http://schemas.openxmlformats.org/drawingml/2006/main">
            <a:r>
              <a:t>- **Explicación extendida:** El cociente temporal es adimensional y el resultado no establece seguridad ni cumplimiento legal. Hacer visible la contribución despreciable fuera de la hora activa.</a:t>
            </a:r>
          </a:p>
          <a:p xmlns:a="http://schemas.openxmlformats.org/drawingml/2006/main">
            <a:r>
              <a:t>- **Guía del visual/diagrama:** El recurso U08-DG-011 está bloqueado o pendiente. Explicar la idea con el texto aprobado y no improvisar un diagrama alternativo.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TEX ec. 8.2; PDF p. 210; U5; NOT.</a:t>
            </a:r>
          </a:p>
          <a:p xmlns:a="http://schemas.openxmlformats.org/drawingml/2006/main">
            <a:r>
              <a:t>- **Transición:** Recapitular exposición y TTS.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Normalizar una exposición a 8 h compara energía promedio. Ecuación anotada: Ecuación y ejemplo 95 dB(A), 1 h → 86,0 dB(A), 8 h, con hipótesis. El cociente temporal es adimensional y el resultado no establece seguridad ni cumplimiento legal.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8.2; PDF p. 210; U5;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tiempo, magnitud y límite.</a:t>
            </a:r>
          </a:p>
          <a:p xmlns:a="http://schemas.openxmlformats.org/drawingml/2006/main">
            <a:r>
              <a:t>- **Explicación extendida:** TTS exige comparación; la curva exige condiciones; `L_Aeq,T` describe energía promedio, no riesgo universal. Repetir la cadena dato–condiciones–límite, no los pasos numéricos.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TTS exige comparación; la curva exige condiciones; `L_Aeq,T` describe energía promedio, no riesgo universal.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alteraciones y atribución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medir un cambio no explica por sí solo su causa ni su futuro. Esquema mixto: Tres afirmaciones y una pregunta de control con signo de ΔL_T. TTS exige comparación; la curva exige condiciones; L_Aeq,T describe energía promedio, no riesgo universal.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causal.</a:t>
            </a:r>
          </a:p>
          <a:p xmlns:a="http://schemas.openxmlformats.org/drawingml/2006/main">
            <a:r>
              <a:t>- **Explicación extendida:** Una forma, una edad o una exposición aislada no determinan etiología. Recuperar el error de U08-013 y elevarlo al nivel etiológico.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forma, una edad o una exposición aislada no determinan etiología.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pérdida inducida por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relaciones son compatibles y cuáles no prueban una causa? Esquema mixto: Pregunta guía con tres pistas: exposición, patrón, historia. Una forma, una edad o una exposición aislada no determinan etiología.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8.4; PDF pp. 209–211.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Presentar la alteración sin receta diagnóstica.</a:t>
            </a:r>
          </a:p>
          <a:p xmlns:a="http://schemas.openxmlformats.org/drawingml/2006/main">
            <a:r>
              <a:t>- **Explicación extendida:** La asociación con ruido se construye con evidencia convergente, no con una escotadura aislada. Indicar que la sigla española definitiva sigue pendiente.</a:t>
            </a:r>
          </a:p>
          <a:p xmlns:a="http://schemas.openxmlformats.org/drawingml/2006/main">
            <a:r>
              <a:t>- **Guía del visual/diagrama:** Revelar y explicar en el orden previsto: Definición, evidencia necesaria y límite. Cerrar con esta idea: La asociación con ruido se construye con evidencia convergente, no con una escotadura aislada. No repetir las cajas como párrafos.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Definición, evidencia necesaria y límite.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el patrón como descripción.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PAIR/NIHL requiere historia, patrón y causas alternativas. Diagrama conceptual: Definición, evidencia necesaria y límite. La asociación con ruido se construye con evidencia convergente, no con una escotadura aislada.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8.4.2; PDF p. 210; REF ryan2016; NOT; OD-U08-07.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lectura geométrica prudente.</a:t>
            </a:r>
          </a:p>
          <a:p xmlns:a="http://schemas.openxmlformats.org/drawingml/2006/main">
            <a:r>
              <a:t>- **Explicación extendida:** El gráfico puede ser compatible con exposición a ruido, pero no demuestra origen laboral ni excluye otras causas. Pedir dos datos adicionales antes de cualquier atribución.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gráfico puede ser compatible con exposición a ruido, pero no demuestra origen laboral ni excluye otras causas.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otros mecanismos o contextos.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escotadura describe una forma, no una etiología. Gráfico: Audiograma conceptual con escotadura, ejes y rótulo “patrón ficticio”. El gráfico puede ser compatible con exposición a ruido, pero no demuestra origen laboral ni excluye otras causas.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8.4.2, 8.8; PDF pp. 210, 222; REF ryan2016,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Ampliar causas sin invadir clínica.</a:t>
            </a:r>
          </a:p>
          <a:p xmlns:a="http://schemas.openxmlformats.org/drawingml/2006/main">
            <a:r>
              <a:t>- **Explicación extendida:** Un episodio acústico abrupto y un agente químico requieren descriptores e historias diferentes. No indicar tratamientos ni fármacos; mencionar evaluación sanitaria oportuna ante síntomas súbitos.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Un episodio acústico abrupto y un agente químico requieren descriptores e historias diferentes.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Volver a experiencias perceptuales.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Trauma acústico y ototoxicidad no describen la misma exposición. Esquema mixto: Dos columnas: agente, temporalidad, sistema posible, dato que falta y conducta de derivación general. Un episodio acústico abrupto y un agente químico requieren descriptores e historias diferentes.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8.4.3; PDF pp. 210–211; REF kurabi2017, nioshOtotoxic2018.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Fijar el concepto y su heterogeneidad.</a:t>
            </a:r>
          </a:p>
          <a:p xmlns:a="http://schemas.openxmlformats.org/drawingml/2006/main">
            <a:r>
              <a:t>- **Explicación extendida:** Puede coexistir con umbrales diversos y no se reduce a una frecuencia o nivel. Evitar representaciones que materialicen el tinnitus como tono físico interno.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Definición, tinnitus subjetivo/sonido corporal detectable como distinción acotada y límites.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Contrastar con cambios asociados a 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Tinnitus es una percepción referida, no una fuente acústica externa. Diagrama conceptual: Definición, tinnitus subjetivo/sonido corporal detectable como distinción acotada y límites. Puede coexistir con umbrales diversos y no se reduce a una frecuencia o nivel.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8.4.4; PDF p. 211; REF ashaTinnitus;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Evitar un patrón único por edad.</a:t>
            </a:r>
          </a:p>
          <a:p xmlns:a="http://schemas.openxmlformats.org/drawingml/2006/main">
            <a:r>
              <a:t>- **Explicación extendida:** Suele describirse compromiso bilateral de altas frecuencias, pero edad y pendiente no bastan para definir todos los casos. Distinguir descripción poblacional de interpretación individual.</a:t>
            </a:r>
          </a:p>
          <a:p xmlns:a="http://schemas.openxmlformats.org/drawingml/2006/main">
            <a:r>
              <a:t>- **Guía del visual/diagrama:** Revelar y explicar en el orden previsto: Factores cocleares, neurales, metabólicos, exposición, enfermedades y medicamentos. Cerrar con esta idea: Suele describirse compromiso bilateral de altas frecuencias, pero edad y pendiente no bastan para definir todos los casos.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Suele describirse compromiso bilateral de altas frecuencias, pero edad y pendiente no bastan para definir todos los casos.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hace interpretable un porcentaje.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Presbiacusia es heterogénea y multifactorial. Diagrama conceptual: Factores cocleares, neurales, metabólicos, exposición, enfermedades y medicamentos. Suele describirse compromiso bilateral de altas frecuencias, pero edad y pendiente no bastan para definir todos los casos.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8.4.5; PDF p. 211; REF gatesMills2005.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Preparar la representación obligatoria.</a:t>
            </a:r>
          </a:p>
          <a:p xmlns:a="http://schemas.openxmlformats.org/drawingml/2006/main">
            <a:r>
              <a:t>- **Explicación extendida:** La edad sola no convierte una tasa grupal en pronóstico individual. Definir numerador y denominador antes de mostrar cifras.</a:t>
            </a:r>
          </a:p>
          <a:p xmlns:a="http://schemas.openxmlformats.org/drawingml/2006/main">
            <a:r>
              <a:t>- **Guía del visual/diagrama:** Revelar y explicar en el orden previsto: Población, edad, exposición, duración, caso, comparación y período. Cerrar con esta idea: La edad sola no convierte una tasa grupal en pronóstico individual.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edad sola no convierte una tasa grupal en pronóstico individual.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datos solo con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porcentaje de riesgo necesita población, exposición y definición de caso. Diagrama conceptual: Población, edad, exposición, duración, caso, comparación y período. La edad sola no convierte una tasa grupal en pronóstico individual.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SA; OD-U08-05/06.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Cubrir el requisito cuantitativo sin universalizar.</a:t>
            </a:r>
          </a:p>
          <a:p xmlns:a="http://schemas.openxmlformats.org/drawingml/2006/main">
            <a:r>
              <a:t>- **Explicación extendida:** Una curva o tabla solo vale para la población, definición de caso y modelo declarados. Separar riesgo atribuible, prevalencia o exceso de riesgo según lo que realmente reporte la fuente.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Una curva o tabla solo vale para la población, definición de caso y modelo declarados.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PO; COV U08-06; SA; OD-U08-05/06; REF por seleccionar.</a:t>
            </a:r>
          </a:p>
          <a:p xmlns:a="http://schemas.openxmlformats.org/drawingml/2006/main">
            <a:r>
              <a:t>- **Transición:** Pedir una interpretación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Edad y exposición pueden modificar un riesgo poblacional documentado. Gráfico: Riesgo porcentual por edad y categorías de exposición, con intervalos/incertidumbre si la fuente los ofrece. Una curva o tabla solo vale para la población, definición de caso y modelo declarados.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SA; OD-U08-05/06; REF por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Consolidar lectura de riesgo y cerrar el bloque.</a:t>
            </a:r>
          </a:p>
          <a:p xmlns:a="http://schemas.openxmlformats.org/drawingml/2006/main">
            <a:r>
              <a:t>- **Explicación extendida:** Antes de aplicar un porcentaje hay que identificar grupo, caso, período y comparación. Si la fuente sigue abierta, trabajar con una tabla ficticia rotulada solo para estructura, sin valores epidemiológicos.</a:t>
            </a:r>
          </a:p>
          <a:p xmlns:a="http://schemas.openxmlformats.org/drawingml/2006/main">
            <a:r>
              <a:t>- **Guía del visual/diagrama:** El recurso U08-DG-014 está bloqueado o pendiente. Explicar la idea con el texto aprobado y no improvisar un diagrama alternativo.</a:t>
            </a:r>
          </a:p>
          <a:p xmlns:a="http://schemas.openxmlformats.org/drawingml/2006/main">
            <a:r>
              <a:t>- **Pregunta al grupo:** ¿Cuál es el evento, la población, el período, la exposición y el comparador?</a:t>
            </a:r>
          </a:p>
          <a:p xmlns:a="http://schemas.openxmlformats.org/drawingml/2006/main">
            <a:r>
              <a:t>- **Respuesta esperada:** Si alguno falta, el porcentaje no puede interpretarse ni aplicarse a un caso individual.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alteraciones a preguntas de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¿A quién representa este porcentaje? Esquema mixto: Preguntas sobre denominador, edad, exposición, incertidumbre y conclusión individual no permitida. Antes de aplicar un porcentaje hay que identificar grupo, caso, período y comparación.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SA;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el método del bloque.</a:t>
            </a:r>
          </a:p>
          <a:p xmlns:a="http://schemas.openxmlformats.org/drawingml/2006/main">
            <a:r>
              <a:t>- **Explicación extendida:** Toda prueba puede analizarse con la misma cadena y preguntas. Señalar que el marco se repetirá con una función nueva en cada estudio.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Toda prueba puede analizarse con la misma cadena y preguntas.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 cadena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se compara una prueba sin memorizar una lista? Diagrama conceptual: Pregunta guía y palabras estímulo, sistema, respuesta, sensor, dato y límite. Toda prueba puede analizarse con la misma cadena y preguntas.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pp. 211–212; BR;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Instalar la cadena común.</a:t>
            </a:r>
          </a:p>
          <a:p xmlns:a="http://schemas.openxmlformats.org/drawingml/2006/main">
            <a:r>
              <a:t>- **Explicación extendida:** Estímulo controlado → sistema auditivo → sensor o tarea → dato → interpretación condicionada. Evitar una flecha final directa a “diagnóstico”.</a:t>
            </a:r>
          </a:p>
          <a:p xmlns:a="http://schemas.openxmlformats.org/drawingml/2006/main">
            <a:r>
              <a:t>- **Guía del visual/diagrama:** Revelar y explicar en el orden previsto: Cinco etapas y bucle de control técnico/protocolo. Cerrar con esta idea: Estímulo controlado → sistema auditivo → sensor o tarea → dato → interpretación condicionada.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Estímulo controlado → sistema auditivo → sensor o tarea → dato → interpretación condicionada.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la cadena en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prueba transforma una pregunta en un dato interpretable. Diagrama conceptual: Cinco etapas y bucle de control técnico/protocolo. Estímulo controlado → sistema auditivo → sensor o tarea → dato → interpretación condicionada.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p. 211;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una herramienta estable de lectura.</a:t>
            </a:r>
          </a:p>
          <a:p xmlns:a="http://schemas.openxmlformats.org/drawingml/2006/main">
            <a:r>
              <a:t>- **Explicación extendida:** Estímulo, magnitud, sistema, conducta, resultado y limitaciones evitan memorizar descripciones aisladas. Usar este marco como repetición pedagógica en B05–B08.</a:t>
            </a:r>
          </a:p>
          <a:p xmlns:a="http://schemas.openxmlformats.org/drawingml/2006/main">
            <a:r>
              <a:t>- **Guía del visual/diagrama:** Revelar y explicar en el orden previsto: Seis preguntas con rótulos de 2–5 palabras y un ejemplo mínimo. Cerrar con esta idea: Estímulo, magnitud, sistema, conducta, resultado y limitaciones evitan memorizar descripciones aisladas.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Estímulo, magnitud, sistema, conducta, resultado y limitaciones evitan memorizar descripciones aisladas.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Distinguir dos modos de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preguntas permiten comparar cualquier estudio. Diagrama conceptual: Seis preguntas con rótulos de 2–5 palabras y un ejemplo mínimo. Estímulo, magnitud, sistema, conducta, resultado y limitaciones evitan memorizar descripciones aisladas.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BR; CDM;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Separar participación voluntaria de magnitud registrada.</a:t>
            </a:r>
          </a:p>
          <a:p xmlns:a="http://schemas.openxmlformats.org/drawingml/2006/main">
            <a:r>
              <a:t>- **Explicación extendida:** “Fisiológica” no significa automática, infalible ni libre de condiciones. Evitar el par “subjetiva/objetiva” como sinónimo de poco/muy confiable.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“Fisiológica” no significa automática, infalible ni libre de condiciones.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pruebas en la cadena auditiva.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Conductual y fisiológica describen respuestas diferentes. Esquema mixto: Dos columnas con respuesta, sensor, fortalezas, dependencias y ejemplo. “Fisiológica” no significa automática, infalible ni libre de condiciones.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PDF p. 211;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Relacionar pruebas con anatomía funcional.</a:t>
            </a:r>
          </a:p>
          <a:p xmlns:a="http://schemas.openxmlformats.org/drawingml/2006/main">
            <a:r>
              <a:t>- **Explicación extendida:** Oído externo/medio, cóclea, nervio/tronco y respuesta integrada se exploran con información complementaria. No dibujar fronteras exclusivas; mostrar dependencias compartidas, especialmente OEA y vía aérea.</a:t>
            </a:r>
          </a:p>
          <a:p xmlns:a="http://schemas.openxmlformats.org/drawingml/2006/main">
            <a:r>
              <a:t>- **Guía del visual/diagrama:** Revelar y explicar en el orden previsto: Cuatro regiones/funciones y estudios relacionados, con precaución interpretativa. Cerrar con esta idea: Oído externo/medio, cóclea, nervio/tronco y respuesta integrada se exploran con información complementaria.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Oído externo/medio, cóclea, nervio/tronco y respuesta integrada se exploran con información complementaria.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Saltar desde la entrada al resultado e ignorar la transformación, el sensor o tarea y las condiciones del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Añadir condiciones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Cada estudio ilumina una parte o función, no un oído aislado. Diagrama conceptual: Cuatro regiones/funciones y estudios relacionados, con precaución interpretativa. Oído externo/medio, cóclea, nervio/tronco y respuesta integrada se exploran con información complementaria.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8.1; PDF p. 212;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Hacer visibles condiciones técnicas.</a:t>
            </a:r>
          </a:p>
          <a:p xmlns:a="http://schemas.openxmlformats.org/drawingml/2006/main">
            <a:r>
              <a:t>- **Explicación extendida:** Un dato no existe separado del transductor, sensor, ruido, preparación y criterio. Conectar con U9 sin desarrollar cabinas ni límites de ruido.</a:t>
            </a:r>
          </a:p>
          <a:p xmlns:a="http://schemas.openxmlformats.org/drawingml/2006/main">
            <a:r>
              <a:t>- **Guía del visual/diagrama:** Revelar y explicar en el orden previsto: Cinco condiciones comunes y ejemplo de cómo alteran una medición. Cerrar con esta idea: Un dato no existe separado del transductor, sensor, ruido, preparación y criterio.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dato no existe separado del transductor, sensor, ruido, preparación y criterio.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Explicar por qué se combinan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Calibración, ambiente, colocación y consigna forman parte del resultado. Diagrama conceptual: Cinco condiciones comunes y ejemplo de cómo alteran una medición. Un dato no existe separado del transductor, sensor, ruido, preparación y criterio.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8.5; PDF pp. 212–219; U5;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Integrar fuentes de evidencia.</a:t>
            </a:r>
          </a:p>
          <a:p xmlns:a="http://schemas.openxmlformats.org/drawingml/2006/main">
            <a:r>
              <a:t>- **Explicación extendida:** Antecedentes, conducta y registros fisiológicos se controlan entre sí bajo una pregunta clínica. Usar “reduce preguntas” y “aporta evidencia”; no prometer certeza.</a:t>
            </a:r>
          </a:p>
          <a:p xmlns:a="http://schemas.openxmlformats.org/drawingml/2006/main">
            <a:r>
              <a:t>- **Guía del visual/diagrama:** Revelar y explicar en el orden previsto: Tres fuentes de evidencia y ejemplos de coherencia/discrepancia. Cerrar con esta idea: Antecedentes, conducta y registros fisiológicos se controlan entre sí bajo una pregunta clínica. No repetir las cajas como párrafos.</a:t>
            </a:r>
          </a:p>
          <a:p xmlns:a="http://schemas.openxmlformats.org/drawingml/2006/main">
            <a:r>
              <a:t>- **Pregunta al grupo:** Si dos pruebas discrepan, ¿qué revisaría antes de elegir una como ‘correcta’?</a:t>
            </a:r>
          </a:p>
          <a:p xmlns:a="http://schemas.openxmlformats.org/drawingml/2006/main">
            <a:r>
              <a:t>- **Respuesta esperada:** Pregunta inicial, generador, sensor o tarea, condiciones técnicas, ruido, protocolo y antecedentes.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Completar una cifra o regla faltante por memoria o intuición y perder la trazabilidad de la afirmación.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Resumir el método antes de la primera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batería reduce preguntas abiertas, no produce certeza automática. Diagrama conceptual: Tres fuentes de evidencia y ejemplos de coherencia/discrepancia. Antecedentes, conducta y registros fisiológicos se controlan entre sí bajo una pregunta clínica.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el organizador.</a:t>
            </a:r>
          </a:p>
          <a:p xmlns:a="http://schemas.openxmlformats.org/drawingml/2006/main">
            <a:r>
              <a:t>- **Explicación extendida:** La misma matriz se aplicará a estudios conductuales, mecanoacústicos y fisiológicos. Repetición pedagógica: pedir completar campos faltantes, no recitar seis preguntas.</a:t>
            </a:r>
          </a:p>
          <a:p xmlns:a="http://schemas.openxmlformats.org/drawingml/2006/main">
            <a:r>
              <a:t>- **Guía del visual/diagrama:** Revelar y explicar en el orden previsto: Seis preguntas, un ejemplo de audiometría incompleto y una pregunta de control. Cerrar con esta idea: La misma matriz se aplicará a estudios conductuales, mecanoacústicos y fisiológicos.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La misma matriz se aplicará a estudios conductuales, mecanoacústicos y fisiológicos.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marco a audiometría tonal.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comparar una prueba es reconstruir su cadena. Diagrama conceptual: Seis preguntas, un ejemplo de audiometría incompleto y una pregunta de control. La misma matriz se aplicará a estudios conductuales, mecanoacústicos y fisiológicos.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El audiograma organiza umbrales por frecuencia, oído y vía; no muestra una enfermedad. Preguntar qué creen que aumenta hacia abajo.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audiograma organiza umbrales por frecuencia, oído y vía; no muestra una enfermedad.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Describir estímulo y vías.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representa un audiograma y hasta dónde permite interpretar? Gráfico: Pregunta guía, ejes vacíos y dos símbolos de vía. El audiograma organiza umbrales por frecuencia, oído y vía; no muestra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8.5.2; PDF pp. 212–213.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Relacionar transductor y trayecto.</a:t>
            </a:r>
          </a:p>
          <a:p xmlns:a="http://schemas.openxmlformats.org/drawingml/2006/main">
            <a:r>
              <a:t>- **Explicación extendida:** Auricular y vibrador óseo estimulan mediante mecanismos diferentes, pero ninguna vía aísla una sola estructura. Recuperar conducción ósea multimecanismo de U6; no usar “bypass completo”.</a:t>
            </a:r>
          </a:p>
          <a:p xmlns:a="http://schemas.openxmlformats.org/drawingml/2006/main">
            <a:r>
              <a:t>- **Guía del visual/diagrama:** Revelar y explicar en el orden previsto: Estímulo tonal → transductor → trayecto → respuesta conductual. Cerrar con esta idea: Auricular y vibrador óseo estimulan mediante mecanismos diferentes, pero ninguna vía aísla una sola estructura.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Auricular y vibrador óseo estimulan mediante mecanismos diferentes, pero ninguna vía aísla una sola estructura.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Aclarar las escalas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Vía aérea y vía ósea cambian cómo se presenta el estímulo. Esquema mixto: Estímulo tonal → transductor → trayecto → respuesta conductual. Auricular y vibrador óseo estimulan mediante mecanismos diferentes, pero ninguna vía aísla una sola estructura.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p. 212; REF ashaPureTone2005, iso8253₁_2010;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Prevenir operaciones incompatibles.</a:t>
            </a:r>
          </a:p>
          <a:p xmlns:a="http://schemas.openxmlformats.org/drawingml/2006/main">
            <a:r>
              <a:t>- **Explicación extendida:** Cada escala responde una pregunta y exige una referencia distinta. Dar un contraejemplo explícito: no restar dB SPL y dB HL sin conversión/procedimiento.</a:t>
            </a:r>
          </a:p>
          <a:p xmlns:a="http://schemas.openxmlformats.org/drawingml/2006/main">
            <a:r>
              <a:t>- **Guía del visual/diagrama:** Revelar y explicar en el orden previsto: Tres filas: qué refiere, uso típico, operación permitida y error común. Cerrar con esta idea: Cada escala responde una pregunta y exige una referencia distinta.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Cada escala responde una pregunta y exige una referencia distinta.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los ejes del audiograma.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SPL, dB HL y dB SL comparten decibel, no referencia. Diagrama conceptual: Tres filas: qué refiere, uso típico, operación permitida y error común. Cada escala responde una pregunta y exige una referencia distinta.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8.5.2–8.5.5, 8.8; PDF pp. 212–216, 222;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la representación antes de interpretar datos.</a:t>
            </a:r>
          </a:p>
          <a:p xmlns:a="http://schemas.openxmlformats.org/drawingml/2006/main">
            <a:r>
              <a:t>- **Explicación extendida:** Frecuencia ocupa el eje horizontal y nivel de audición el vertical invertido; símbolos distinguen oído, vía y condición. No enseñar toda la simbología normativa en la ruta central.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Frecuencia ocupa el eje horizontal y nivel de audición el vertical invertido; símbolos distinguen oído, vía y condición.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Incorporar datos ficticios.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eje de dB HL aumenta hacia abajo por convención audiométrica. Gráfico: Ejes, octavas, sentido, unidad y leyenda mínima. Frecuencia ocupa el eje horizontal y nivel de audición el vertical invertido; símbolos distinguen oído, vía y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pp. 212–213; NOT; OD-U08-19.</a:t>
            </a:r>
          </a:p>
          <a:p xmlns:a="http://schemas.openxmlformats.org/drawingml/2006/main">
            <a:r>
              <a:t>- Asset propio aprobado: U08-CH-005A.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lectura completa.</a:t>
            </a:r>
          </a:p>
          <a:p xmlns:a="http://schemas.openxmlformats.org/drawingml/2006/main">
            <a:r>
              <a:t>- **Explicación extendida:** El patrón ficticio muestra relaciones entre puntos; no representa una patología ni un límite normativo. Señalar tres lecturas: eje, valor, diferencia; reservar etiología.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patrón ficticio muestra relaciones entre puntos; no representa una patología ni un límite normativo.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lectura activa.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audiograma permite comparar umbrales por frecuencia y vía. Gráfico: Curvas aérea/ósea, leyenda, dato de 1000 Hz y rótulo de alcance. El patrón ficticio muestra relaciones entre puntos; no representa una patología ni un límite normativo.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8.1; PDF p. 213;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lectura sin diagnóstico.</a:t>
            </a:r>
          </a:p>
          <a:p xmlns:a="http://schemas.openxmlformats.org/drawingml/2006/main">
            <a:r>
              <a:t>- **Explicación extendida:** Identificar frecuencia, vía y valor precede a calcular una diferencia. Solicitar una frase de conclusión prudente.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Lea el punto de 1000 Hz: frecuencia, vía, valor y dato faltante. ¿Qué conclusión está prohibida?</a:t>
            </a:r>
          </a:p>
          <a:p xmlns:a="http://schemas.openxmlformats.org/drawingml/2006/main">
            <a:r>
              <a:t>- **Respuesta esperada:** Primero se describe el registro; falta contexto del procedimiento y de la otra vía. No se nombra una enfermedad a partir de un punto.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la diferencia aérea–ósea.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Lea primero; interprete después. Gráfico: Preguntas: valores a 1000 Hz, sentido del eje, dato faltante y conclusión prohibida. Identificar frecuencia, vía y valor precede a calcular una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G1; PDF p. 224;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relación, símbolos y unidad.</a:t>
            </a:r>
          </a:p>
          <a:p xmlns:a="http://schemas.openxmlformats.org/drawingml/2006/main">
            <a:r>
              <a:t>- **Explicación extendida:** La diferencia describe dos registros en dB HL; no nombra una enfermedad. Validar el nombre/símbolo definitivo antes de redacción.</a:t>
            </a:r>
          </a:p>
          <a:p xmlns:a="http://schemas.openxmlformats.org/drawingml/2006/main">
            <a:r>
              <a:t>- **Guía del visual/diagrama:** Revelar y explicar en el orden previsto: Ecuación, `L_VA`, `L_VO`, `f`, unidad dB y condiciones. Cerrar con esta idea: La diferencia describe dos registros en dB HL; no nombra una enfermedad.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Resolver el ejemplo.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G_AO(f) resta umbrales compatibles a la misma frecuencia. Ecuación anotada: Ecuación, L_VA, L_VO, f, unidad dB y condiciones. La diferencia describe dos registros en dB HL; no nombra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8.3; PDF p. 213; NOT; OD-U08-16.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sustitución y límite.</a:t>
            </a:r>
          </a:p>
          <a:p xmlns:a="http://schemas.openxmlformats.org/drawingml/2006/main">
            <a:r>
              <a:t>- **Explicación extendida:** `40 dB HL - 15 dB HL = 25 dB`; el resultado no autoriza un diagnóstico. Diferenciar resultado matemático de interpretación de batería.</a:t>
            </a:r>
          </a:p>
          <a:p xmlns:a="http://schemas.openxmlformats.org/drawingml/2006/main">
            <a:r>
              <a:t>- **Guía del visual/diagrama:** Revelar y explicar en el orden previsto: Datos → escala/frecuencia común → sustitución → resultado → límite. Cerrar con esta idea: `40 dB HL - 15 dB HL = 25 dB`; el resultado no autoriza un diagnóstico.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Incorporar condiciones y limitaciones.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1000 Hz, la diferencia entre vías es 25 dB. Ecuación anotada: Datos → escala/frecuencia común → sustitución → resultado → límite. 40 dB HL - 15 dB HL = 25 dB; el resultado no autoriza un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p. 213; TEX G1/NG3.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calidad y alcance.</a:t>
            </a:r>
          </a:p>
          <a:p xmlns:a="http://schemas.openxmlformats.org/drawingml/2006/main">
            <a:r>
              <a:t>- **Explicación extendida:** La fiabilidad no pertenece solo a la persona; es propiedad del procedimiento completo. Mencionar el enmascaramiento como necesidad de protocolo, sin enseñar la técnica completa.</a:t>
            </a:r>
          </a:p>
          <a:p xmlns:a="http://schemas.openxmlformats.org/drawingml/2006/main">
            <a:r>
              <a:t>- **Guía del visual/diagrama:** Revelar y explicar en el orden previsto: Calibración, ruido ambiente, colocación, consigna, respuesta y cruce entre oídos. Cerrar con esta idea: La fiabilidad no pertenece solo a la persona; es propiedad del procedimiento completo.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fiabilidad no pertenece solo a la persona; es propiedad del procedimiento completo.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lo que sí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audiograma depende de ambiente, transductor, consigna y enmascaramiento. Diagrama conceptual: Calibración, ruido ambiente, colocación, consigna, respuesta y cruce entre oídos. La fiabilidad no pertenece solo a la persona; es propiedad del procedimiento completo.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8.5.2; PDF pp. 212–213; REF ashaPureTone2005, iso8253₁_2010; U10 puente.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escalas, vías y límites.</a:t>
            </a:r>
          </a:p>
          <a:p xmlns:a="http://schemas.openxmlformats.org/drawingml/2006/main">
            <a:r>
              <a:t>- **Explicación extendida:** Leer ejes, comparar niveles compatibles y declarar condiciones son tres operaciones distintas. Repetición pedagógica: reconstruir el procedimiento, no repetir la definición de umbral.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Leer ejes, comparar niveles compatibles y declarar condiciones son tres operaciones distintas.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agrega el habla.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el audiograma organiza umbrales, no diagnósticos. Esquema mixto: Tres pasos y una pregunta de control sobre una operación inválida. Leer ejes, comparar niveles compatibles y declarar condiciones son tres operaciones distintas.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8.5.2, 8.8;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Detectar un tono, reconocer habla y comparar tinnitus son tareas diferentes. Recuperar U7: el resultado depende de la tarea.</a:t>
            </a:r>
          </a:p>
          <a:p xmlns:a="http://schemas.openxmlformats.org/drawingml/2006/main">
            <a:r>
              <a:t>- **Guía del visual/diagrama:** Revelar y explicar en el orden previsto: Tres tareas conductuales con el mismo marco de seis preguntas. Cerrar con esta idea: Detectar un tono, reconocer habla y comparar tinnitus son tareas diferentes.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Detectar un tono, reconocer habla y comparar tinnitus son tareas diferentes.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Construir la tarea verbal.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agrega una tarea verbal o una comparación perceptual? Diagrama conceptual: Tres tareas conductuales con el mismo marco de seis preguntas. Detectar un tono, reconocer habla y comparar tinnitus son tareas diferentes.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8.5.3, 8.5.5; PDF pp. 213–217; PREV.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la cadena de la prueba.</a:t>
            </a:r>
          </a:p>
          <a:p xmlns:a="http://schemas.openxmlformats.org/drawingml/2006/main">
            <a:r>
              <a:t>- **Explicación extendida:** Material, idioma, modo, nivel, oído, consigna y puntuación condicionan el resultado. Si se propone audio, usar `MED U08-MEDIA-001` seguro y una transcripción visual equivalente.</a:t>
            </a:r>
          </a:p>
          <a:p xmlns:a="http://schemas.openxmlformats.org/drawingml/2006/main">
            <a:r>
              <a:t>- **Guía del visual/diagrama:** Revelar y explicar en el orden previsto: Estímulo verbal → presentación → persona/tarea → respuesta → porcentaje o umbral. Cerrar con esta idea: Material, idioma, modo, nivel, oído, consigna y puntuación condicionan el resultado.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Material, idioma, modo, nivel, oído, consigna y puntuación condicionan el resultado.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una función desempeño–nivel.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logoaudiometría evalúa respuestas a material verbal controlado. Diagrama conceptual: Estímulo verbal → presentación → persona/tarea → respuesta → porcentaje o umbral. Material, idioma, modo, nivel, oído, consigna y puntuación condicionan el resultado.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8.5.3; PDF pp. 213–214; REF ashaHearingAdults;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ejes y dependencia de protocolo.</a:t>
            </a:r>
          </a:p>
          <a:p xmlns:a="http://schemas.openxmlformats.org/drawingml/2006/main">
            <a:r>
              <a:t>- **Explicación extendida:** El eje horizontal necesita escala declarada; la forma no localiza una lesión. No fijar una curva universal ni leer valores absolutos si falta HL/SL/SPL.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El eje horizontal necesita escala declarada; la forma no localiza una lesión.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Comparar porcentajes sin declarar material, idioma, nivel, escala, oído, consigna y criterio.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por qué un porcentaje aislado es insuficiente.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curva desempeño–nivel relaciona presentación y respuestas correctas. Gráfico: Nivel de presentación frente a porcentaje, puntos y curva conceptual. El eje horizontal necesita escala declarada; la forma no localiza una lesión.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8.2; PDF pp. 214–215;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metadatos mínimos.</a:t>
            </a:r>
          </a:p>
          <a:p xmlns:a="http://schemas.openxmlformats.org/drawingml/2006/main">
            <a:r>
              <a:t>- **Explicación extendida:** Material, idioma, modo, nivel, escala, oído y criterio acompañan el porcentaje. Evitar sugerir una lista o criterio universal; el ejemplo es de estructura.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Informe incompleto y versión completada con campos resaltados.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el error en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“72 % correcto” no es un resultado completo. Esquema mixto: Informe incompleto y versión completada con campos resaltados. Material, idioma, modo, nivel, escala, oído y criterio acompañan el porcentaje.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A2; PDF p. 226; 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lectura crítica.</a:t>
            </a:r>
          </a:p>
          <a:p xmlns:a="http://schemas.openxmlformats.org/drawingml/2006/main">
            <a:r>
              <a:t>- **Explicación extendida:** El porcentaje pertenece a una prueba definida, no a la persona en abstracto. Pedir que distingan dato técnico, lingüístico y conductual.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Complete al menos cinco campos del informe verbal ficticio.</a:t>
            </a:r>
          </a:p>
          <a:p xmlns:a="http://schemas.openxmlformats.org/drawingml/2006/main">
            <a:r>
              <a:t>- **Respuesta esperada:** Material, idioma, modo de presentación, nivel y escala, oído, consigna y criterio de puntuación.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tono y habla.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datos faltan para interpretar el porcentaje? Composición textual: Informe ficticio y consigna de completar al menos cinco campos. El porcentaje pertenece a una prueba definida, no a la persona en abstracto.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A2/respuesta; PDF pp. 226, 231;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Evitar equivalencia detección–comprensión.</a:t>
            </a:r>
          </a:p>
          <a:p xmlns:a="http://schemas.openxmlformats.org/drawingml/2006/main">
            <a:r>
              <a:t>- **Explicación extendida:** Detectar tonos y reconocer habla pueden controlarse entre sí, pero no miden lo mismo. Recuperar inteligibilidad U7 sin reenseñar SNR o reverberación.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Detectar tonos y reconocer habla pueden controlarse entre sí, pero no miden lo mismo.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Comparar categorías con criterios distintos o convertir una diferencia descriptiva en una jerarquía clínica.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Introducir una comparación perceptual distinta.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Umbral tonal y desempeño verbal responden preguntas distintas. Esquema mixto: Dos columnas: estímulo, tarea, resultado, fortaleza y límite. Detectar tonos y reconocer habla pueden controlarse entre sí, pero no miden lo mismo.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8.5.2–8.5.3; PDF pp. 212–215; PREV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Definir la prueba sin materializar el percepto.</a:t>
            </a:r>
          </a:p>
          <a:p xmlns:a="http://schemas.openxmlformats.org/drawingml/2006/main">
            <a:r>
              <a:t>- **Explicación extendida:** La persona elige correspondencias; el equipo no mide una fuente física interna. Desarrollar dB SL y frecuencia de correspondencia como propiedades del estímulo externo.</a:t>
            </a:r>
          </a:p>
          <a:p xmlns:a="http://schemas.openxmlformats.org/drawingml/2006/main">
            <a:r>
              <a:t>- **Guía del visual/diagrama:** Revelar y explicar en el orden previsto: Estímulos posibles, tarea, resultados y limitaciones. Cerrar con esta idea: La persona elige correspondencias; el equipo no mide una fuente física interna. No repetir las cajas como párrafos.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Estímulos posibles, tarea, resultados y limitaciones.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Separar frecuencia elegida de oscilación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acufenometría compara un tinnitus referido con sonidos externos. Diagrama conceptual: Estímulos posibles, tarea, resultados y limitaciones. La persona elige correspondencias; el equipo no mide una fuente física interna.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8.5.5; PDF pp. 216–217; REF ashaTinnitus;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una equivalencia frecuente.</a:t>
            </a:r>
          </a:p>
          <a:p xmlns:a="http://schemas.openxmlformats.org/drawingml/2006/main">
            <a:r>
              <a:t>- **Explicación extendida:** Hz describe el tono externo seleccionado; la relación con el percepto es un juicio. Recordar frecuencia/pitch de U7 y aclarar límites de la analogía tonal.</a:t>
            </a:r>
          </a:p>
          <a:p xmlns:a="http://schemas.openxmlformats.org/drawingml/2006/main">
            <a:r>
              <a:t>- **Guía del visual/diagrama:** Revelar y explicar en el orden previsto: Estímulo externo físico frente a experiencia perceptual. Cerrar con esta idea: Hz describe el tono externo seleccionado; la relación con el percepto es un juicio.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Hz describe el tono externo seleccionado; la relación con el percepto es un juicio.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Añadir nivel de correspondencia y variabilidad.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frecuencia de correspondencia no es la “frecuencia física del tinnitus”. Diagrama conceptual: Estímulo externo físico frente a experiencia perceptual. Hz describe el tono externo seleccionado; la relación con el percepto es un juicio.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8.4.4, 8.5.5, 8.8; PDF pp. 211, 216, 222; PREV;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Aplicar la tercera escala y delimitar variabilidad.</a:t>
            </a:r>
          </a:p>
          <a:p xmlns:a="http://schemas.openxmlformats.org/drawingml/2006/main">
            <a:r>
              <a:t>- **Explicación extendida:** El nivel de correspondencia no es intensidad interna ni cuantifica impacto funcional. No realizar acufenometría de aula; cualquier audio debe ser supraliminal y no diagnóstico.</a:t>
            </a:r>
          </a:p>
          <a:p xmlns:a="http://schemas.openxmlformats.org/drawingml/2006/main">
            <a:r>
              <a:t>- **Guía del visual/diagrama:** El recurso U08-DG-029 está bloqueado o pendiente. Explicar la idea con el texto aprobado y no improvisar un diagrama alternativo.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nivel de correspondencia no es intensidad interna ni cuantifica impacto funcional.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TEX 8.4.4, 8.5.5; PDF pp. 211, 216–217; NOT; OD-U08-21/32.</a:t>
            </a:r>
          </a:p>
          <a:p xmlns:a="http://schemas.openxmlformats.org/drawingml/2006/main">
            <a:r>
              <a:t>- **Transición:** Comparar tres estudios conductuales.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SL expresa nivel respecto de un umbral definido. Ecuación anotada: Umbral individual, tono de comparación, diferencia en dB SL y variabilidad entre sesiones. El nivel de correspondencia no es intensidad interna ni cuantifica impacto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8.4.4, 8.5.5; PDF pp. 211, 216–217; NOT; OD-U08-21/32.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audiometría, logoaudiometría y acufenometría.</a:t>
            </a:r>
          </a:p>
          <a:p xmlns:a="http://schemas.openxmlformats.org/drawingml/2006/main">
            <a:r>
              <a:t>- **Explicación extendida:** Tono, habla y correspondencia perceptual comparten participación, pero no estímulo, resultado ni alcance. Repetición pedagógica por comparación transversal, no por repetir cada definición.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Tono, habla y correspondencia perceptual comparten participación, pero no estímulo, resultado ni alcance.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a una prueba sin respuesta voluntaria.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tareas conductuales producen tres clases de resultado. Composición textual: Tabla de tres filas con estímulo, tarea, resultado, escala y límite. Tono, habla y correspondencia perceptual comparten participación, pero no estímulo, resultado ni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8.5.2–8.5.5; BR; INV;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pregunta del bloque.</a:t>
            </a:r>
          </a:p>
          <a:p xmlns:a="http://schemas.openxmlformats.org/drawingml/2006/main">
            <a:r>
              <a:t>- **Explicación extendida:** Un timpanograma describe transferencia mecanoacústica; no es un audiograma. Preguntar qué magnitud creen que ocupa cada eje.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timpanograma describe transferencia mecanoacústica; no es un audiograma.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el estímulo y el barrido.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mide un barrido de presión y qué no mide? Esquema mixto: Pregunta guía, sonda y curva vacía. Un timpanograma describe transferencia mecanoacústica; no es un audiograma.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8.5.4; PDF pp. 215–216.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el procedimiento físico.</a:t>
            </a:r>
          </a:p>
          <a:p xmlns:a="http://schemas.openxmlformats.org/drawingml/2006/main">
            <a:r>
              <a:t>- **Explicación extendida:** La curva surge de medir una magnitud de inmitancia bajo diferentes presiones. Diferenciar presión estática del barrido y presión acústica del tono.</a:t>
            </a:r>
          </a:p>
          <a:p xmlns:a="http://schemas.openxmlformats.org/drawingml/2006/main">
            <a:r>
              <a:t>- **Guía del visual/diagrama:** Revelar y explicar en el orden previsto: Sonda, sellado, tono, bomba/control de presión, micrófono y dato. Cerrar con esta idea: La curva surge de medir una magnitud de inmitancia bajo diferentes presiones.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curva surge de medir una magnitud de inmitancia bajo diferentes presiones.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la magnitud del eje vertical.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sonda presenta un tono mientras cambia la presión del conducto. Esquema mixto: Sonda, sellado, tono, bomba/control de presión, micrófono y dato. La curva surge de medir una magnitud de inmitancia bajo diferentes presiones.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p. 215; REF ashaHearingAdults;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Preparar la lectura sin fijar una unidad universal.</a:t>
            </a:r>
          </a:p>
          <a:p xmlns:a="http://schemas.openxmlformats.org/drawingml/2006/main">
            <a:r>
              <a:t>- **Explicación extendida:** El equipo debe declarar qué magnitud y unidad muestra; `Y/Y_max` es una normalización conceptual. Evitar enseñar la curva normalizada del libro como salida clínica estándar.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condición debe acompañar esta definición para poder usarla?</a:t>
            </a:r>
          </a:p>
          <a:p xmlns:a="http://schemas.openxmlformats.org/drawingml/2006/main">
            <a:r>
              <a:t>- **Respuesta esperada:** Término, símbolo posible, presión en daPa y advertencia de equipo/protocolo.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cómo se construye la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Inmitancia es la categoría; admitancia es una magnitud habitual. Composición textual: Término, símbolo posible, presión en daPa y advertencia de equipo/protocolo. El equipo debe declarar qué magnitud y unidad muestra; Y/Y_max es una normalización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p. 215; SA;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Hacer visible el proceso oculto por la curva final.</a:t>
            </a:r>
          </a:p>
          <a:p xmlns:a="http://schemas.openxmlformats.org/drawingml/2006/main">
            <a:r>
              <a:t>- **Explicación extendida:** Cada presión aporta una medición; la morfología resume el conjunto. La alternativa estática debe permitir reconstruir el proceso completo.</a:t>
            </a:r>
          </a:p>
          <a:p xmlns:a="http://schemas.openxmlformats.org/drawingml/2006/main">
            <a:r>
              <a:t>- **Guía del visual/diagrama:** Revelar y explicar en el orden previsto: Animación presión → medición → punto → curva, con alternativa de cuatro cuadros. Cerrar con esta idea: Cada presión aporta una medición; la morfología resume el conjunto.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presión aporta una medición; la morfología resume el conjunto.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Comparar morfologías.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timpanograma se construye punto por punto durante el barrido. Secuencia audiovisual con alternativa estática: Animación presión → medición → punto → curva, con alternativa de cuatro cuadros. Cada presión aporta una medición; la morfología resume el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PDF pp. 215–216;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Enseñar lectura visual prudente.</a:t>
            </a:r>
          </a:p>
          <a:p xmlns:a="http://schemas.openxmlformats.org/drawingml/2006/main">
            <a:r>
              <a:t>- **Explicación extendida:** Pico centrado, trazado plano y pico desplazado son descripciones dependientes del protocolo. Evitar rotular A/B/C en el primer encuentro con la figura.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Pico centrado, trazado plano y pico desplazado son descripciones dependientes del protocolo.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identificar forma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morfologías describen curvas, no enfermedades. Gráfico: Tres paneles con presión, admitancia normalizada y rótulo de alcance. Pico centrado, trazado plano y pico desplazado son descripciones dependientes del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8.3; PDF p. 216;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Practicar lenguaje de resultado.</a:t>
            </a:r>
          </a:p>
          <a:p xmlns:a="http://schemas.openxmlformats.org/drawingml/2006/main">
            <a:r>
              <a:t>- **Explicación extendida:** La interpretación inicial identifica pico/planitud/desplazamiento y revisa condiciones antes de inferir. Pedir dos condiciones técnicas que deben verificarse.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Describa eje, unidad, presencia/posición de pico y condición que revisaría.</a:t>
            </a:r>
          </a:p>
          <a:p xmlns:a="http://schemas.openxmlformats.org/drawingml/2006/main">
            <a:r>
              <a:t>- **Respuesta esperada:** Se describe la forma y el protocolo; no se asigna una patología ni se estima cuánto oye la persona.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Hacer explícitas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Describa la forma sin nombrar una patología. Gráfico: Preguntas sobre ejes, Y/Y_max, presión, forma y conclusión no permitida. La interpretación inicial identifica pico/planitud/desplazamiento y revisa condiciones antes de inferir.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G3, A3; PDF pp. 224, 226;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forma = diagnóstico/umbral.</a:t>
            </a:r>
          </a:p>
          <a:p xmlns:a="http://schemas.openxmlformats.org/drawingml/2006/main">
            <a:r>
              <a:t>- **Explicación extendida:** Sellado, sonda, movimiento y volumen estimado del conducto forman parte de la interpretación. No enumerar diagnósticos diferenciales; mantener el foco en medición.</a:t>
            </a:r>
          </a:p>
          <a:p xmlns:a="http://schemas.openxmlformats.org/drawingml/2006/main">
            <a:r>
              <a:t>- **Guía del visual/diagrama:** Revelar y explicar en el orden previsto: Error, corrección y lista breve de verificaciones. Cerrar con esta idea: Sellado, sonda, movimiento y volumen estimado del conducto forman parte de la interpretación.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Error, corrección y lista breve de verificaciones.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Consolidar y pasar a sensores fisiológicos.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trazado plano no mide cuánto oye la persona. Diagrama conceptual: Error, corrección y lista breve de verificaciones. Sellado, sonda, movimiento y volumen estimado del conducto forman parte de la interpretación.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8.5.4, 8.8, A3; PDF pp. 215, 222, 226.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estímulo, magnitud y límite.</a:t>
            </a:r>
          </a:p>
          <a:p xmlns:a="http://schemas.openxmlformats.org/drawingml/2006/main">
            <a:r>
              <a:t>- **Explicación extendida:** Tono y presión son entradas; inmitancia es el dato; audición y patología requieren otras pruebas. Repetición pedagógica: reconstruir la cadena desde la curva hacia el procedimiento.</a:t>
            </a:r>
          </a:p>
          <a:p xmlns:a="http://schemas.openxmlformats.org/drawingml/2006/main">
            <a:r>
              <a:t>- **Guía del visual/diagrama:** Revelar y explicar en el orden previsto: Cadena de cuatro pasos y una pregunta de control. Cerrar con esta idea: Tono y presión son entradas; inmitancia es el dato; audición y patología requieren otras pruebas.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Tono y presión son entradas; inmitancia es el dato; audición y patología requieren otras pruebas.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Usar la forma de una curva como sinónimo exclusivo de patología o como medida directa de cuánto oye la persona.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Preguntar qué registra una sonda o un electrodo sin respuesta voluntaria.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la curva resume transferencia bajo un barrido controlado. Diagrama conceptual: Cadena de cuatro pasos y una pregunta de control. Tono y presión son entradas; inmitancia es el dato; audición y patología requieren otras pruebas.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8.5.4;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comparación fisiológica.</a:t>
            </a:r>
          </a:p>
          <a:p xmlns:a="http://schemas.openxmlformats.org/drawingml/2006/main">
            <a:r>
              <a:t>- **Explicación extendida:** OEA, PEAT y electrococleografía comparten estímulos acústicos generales, pero no generador, sensor ni magnitud. Evitar llamar a las tres “pruebas objetivas” sin especificar qué registran.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OEA, PEAT y electrococleografía comparten estímulos acústicos generales, pero no generador, sensor ni magnitud.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Seguir la cadena de OEA.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¿Qué señal registra cada sensor? Esquema mixto: Pregunta guía y tres salidas: acústica, bioeléctrica superficial y coclear/neural distal. OEA, PEAT y electrococleografía comparten estímulos acústicos generales, pero no generador, sensor ni magnitud.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8.5.6–8.5.8; PDF pp. 216–219.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ida, generador y retorno.</a:t>
            </a:r>
          </a:p>
          <a:p xmlns:a="http://schemas.openxmlformats.org/drawingml/2006/main">
            <a:r>
              <a:t>- **Explicación extendida:** El registro se asocia principalmente con CCE y depende también de oído externo y medio. Marcar con flechas distintas trayecto de ida y retorno, sin cruzar texto.</a:t>
            </a:r>
          </a:p>
          <a:p xmlns:a="http://schemas.openxmlformats.org/drawingml/2006/main">
            <a:r>
              <a:t>- **Guía del visual/diagrama:** Revelar y explicar en el orden previsto: Estímulo → oído externo/medio → cóclea/CCE → retorno → micrófono. Cerrar con esta idea: El registro se asocia principalmente con CCE y depende también de oído externo y medio.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 registro se asocia principalmente con CCE y depende también de oído externo y medio.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Nombrar magnitudes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 OEA, la sonda presenta sonido y registra presión de retorno. Esquema mixto: Estímulo → oído externo/medio → cóclea/CCE → retorno → micrófono. El registro se asocia principalmente con CCE y depende también de oído externo y medio.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8.5.6; PDF pp. 216–217, 219; REF ashaHearingAdults; U6.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Relacionar sensor, unidad y resultado.</a:t>
            </a:r>
          </a:p>
          <a:p xmlns:a="http://schemas.openxmlformats.org/drawingml/2006/main">
            <a:r>
              <a:t>- **Explicación extendida:** “Presente”, “ausente” o “derivar” depende de señal, ruido, sonda y transmisión. No fijar umbrales de pasa/derivar ni valores de SNR sin protocolo.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“Presente”, “ausente” o “derivar” depende de señal, ruido, sonda y transmisión.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Corregir la inferencia “presente = normal”.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OEA registra Pa, dB SPL y SNR bajo criterios del protocolo. Gráfico: Presión acústica, nivel, ruido, SNR, banda y salida operativa. “Presente”, “ausente” o “derivar” depende de señal, ruido, sonda y transmisión.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8.5.6; PDF p. 217; NOT; REF ashaHearingAdults.</a:t>
            </a:r>
          </a:p>
          <a:p xmlns:a="http://schemas.openxmlformats.org/drawingml/2006/main">
            <a:r>
              <a:t>- Asset propio aprobado: U08-CH-010.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Delimitar qué parte de la cadena informa.</a:t>
            </a:r>
          </a:p>
          <a:p xmlns:a="http://schemas.openxmlformats.org/drawingml/2006/main">
            <a:r>
              <a:t>- **Explicación extendida:** OEA no evalúa por sí sola respuesta neural, percepción, lenguaje ni todas las frecuencias. Incluir también que una OEA ausente no localiza por sí sola una lesión.</a:t>
            </a:r>
          </a:p>
          <a:p xmlns:a="http://schemas.openxmlformats.org/drawingml/2006/main">
            <a:r>
              <a:t>- **Guía del visual/diagrama:** Revelar y explicar en el orden previsto: Error, corrección y cuatro preguntas que permanecen abiertas. Cerrar con esta idea: OEA no evalúa por sí sola respuesta neural, percepción, lenguaje ni todas las frecuencias.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Error, corrección y cuatro preguntas que permanecen abiertas.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Seguir una respuesta bioeléctrica.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OEA presente no demuestra audición normal. Diagrama conceptual: Error, corrección y cuatro preguntas que permanecen abiertas. OEA no evalúa por sí sola respuesta neural, percepción, lenguaje ni todas las frecuencias.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8.5.6, 8.8; PDF pp. 217, 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estímulo, generador y sensor.</a:t>
            </a:r>
          </a:p>
          <a:p xmlns:a="http://schemas.openxmlformats.org/drawingml/2006/main">
            <a:r>
              <a:t>- **Explicación extendida:** La señal es acústica hasta la transducción; el registro es una diferencia de potencial en función del tiempo. Diferenciar potencial registrado de presión acústica y de respuesta voluntaria.</a:t>
            </a:r>
          </a:p>
          <a:p xmlns:a="http://schemas.openxmlformats.org/drawingml/2006/main">
            <a:r>
              <a:t>- **Guía del visual/diagrama:** Revelar y explicar en el orden previsto: Estímulo → transductor → vía auditiva → electrodos → `V(t)` en µV y ms. Cerrar con esta idea: La señal es acústica hasta la transducción; el registro es una diferencia de potencial en función del tiempo.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señal es acústica hasta la transducción; el registro es una diferencia de potencial en función del tiempo.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Leer una forma de onda con cautela.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 PEAT, electrodos registran una respuesta neural sincronizada. Esquema mixto: Estímulo → transductor → vía auditiva → electrodos → V(t) en µV y ms. La señal es acústica hasta la transducción; el registro es una diferencia de potencial en función del tiempo.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8.5.7; PDF pp. 217–219; REF skinnerGlattke1977,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la representación sin criterios clínicos universales.</a:t>
            </a:r>
          </a:p>
          <a:p xmlns:a="http://schemas.openxmlformats.org/drawingml/2006/main">
            <a:r>
              <a:t>- **Explicación extendida:** Componentes, latencias y amplitudes dependen de estímulo, nivel, tasa, estado y promedio. No enseñar latencias normales ni localizar lesiones en esta slide.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Componentes, latencias y amplitudes dependen de estímulo, nivel, tasa, estado y promedio.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Delimitar qué no mide.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forma de onda PEAT organiza amplitud y latencia. Gráfico: Forma de onda conceptual V(t); eje µV, eje ms y componentes sin valores normativos. Componentes, latencias y amplitudes dependen de estímulo, nivel, tasa, estado y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8.5.7; PDF pp. 217–218; SA; OD-U08-23.</a:t>
            </a:r>
          </a:p>
          <a:p xmlns:a="http://schemas.openxmlformats.org/drawingml/2006/main">
            <a:r>
              <a:t>- Asset propio aprobado: U08-CH-008.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Separar registro neural y desempeño comunicativo.</a:t>
            </a:r>
          </a:p>
          <a:p xmlns:a="http://schemas.openxmlformats.org/drawingml/2006/main">
            <a:r>
              <a:t>- **Explicación extendida:** Una respuesta bioeléctrica y una tarea verbal pertenecen a niveles diferentes de la cadena. Aclarar que una estimación electrofisiológica tampoco es idéntica a un umbral conductual.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PEAT frente a logoaudiometría: señal, respuesta y conclusión.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Introducir un registro más próximo a cóclea/nervio distal.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potencial evocado no mide comprensión del habla. Esquema mixto: PEAT frente a logoaudiometría: señal, respuesta y conclusión. Una respuesta bioeléctrica y una tarea verbal pertenecen a niveles diferentes de la cadena.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8.5.7, 8.8; PDF pp. 218, 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Ubicar la tercera cadena fisiológica.</a:t>
            </a:r>
          </a:p>
          <a:p xmlns:a="http://schemas.openxmlformats.org/drawingml/2006/main">
            <a:r>
              <a:t>- **Explicación extendida:** Electrodo, invasividad, amplitud y componentes dependen del montaje y del protocolo. No detallar técnica invasiva ni criterios diagnósticos; mostrar solo la pregunta funcional.</a:t>
            </a:r>
          </a:p>
          <a:p xmlns:a="http://schemas.openxmlformats.org/drawingml/2006/main">
            <a:r>
              <a:t>- **Guía del visual/diagrama:** Revelar y explicar en el orden previsto: Estímulo → cóclea/nervio distal → electrodo extra/transtimpánico → potenciales. Cerrar con esta idea: Electrodo, invasividad, amplitud y componentes dependen del montaje y del protocolo.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Electrodo, invasividad, amplitud y componentes dependen del montaje y del protocolo.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Equiparar una respuesta eléctrica registrada con audición normal, comprensión o localización diagnóstica automática.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Nombrar componentes como ampliación.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electrococleografía registra potenciales cocleares y neurales distales. Diagrama conceptual: Estímulo → cóclea/nervio distal → electrodo extra/transtimpánico → potenciales. Electrodo, invasividad, amplitud y componentes dependen del montaje y del protocolo.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8.5.8; PDF p. 218; REF simpson2020.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vocabulario mínimo para leer una ECoG.</a:t>
            </a:r>
          </a:p>
          <a:p xmlns:a="http://schemas.openxmlformats.org/drawingml/2006/main">
            <a:r>
              <a:t>- **Explicación extendida:** Los componentes tienen generadores y comportamientos distintos; sus relaciones dependen del protocolo. Mantenerlo en ampliación; no presentar criterios o razones diagnósticas universales.</a:t>
            </a:r>
          </a:p>
          <a:p xmlns:a="http://schemas.openxmlformats.org/drawingml/2006/main">
            <a:r>
              <a:t>- **Guía del visual/diagrama:** Revelar y explicar en el orden previsto: CM, SP y AP desarrollados, ubicación general y unidad común. Cerrar con esta idea: Los componentes tienen generadores y comportamientos distintos; sus relaciones dependen del protocolo.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Los componentes tienen generadores y comportamientos distintos; sus relaciones dependen del protocolo.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Comparar las tres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Microfónico, sumación y acción compuesto no son el mismo componente. Diagrama conceptual: CM, SP y AP desarrollados, ubicación general y unidad común. Los componentes tienen generadores y comportamientos distintos; sus relaciones dependen del protocolo.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8.5.8; PDF p. 218; REF simpson2020.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Integrar estudios fisiológicos con criterios comunes.</a:t>
            </a:r>
          </a:p>
          <a:p xmlns:a="http://schemas.openxmlformats.org/drawingml/2006/main">
            <a:r>
              <a:t>- **Explicación extendida:** Compartir una entrada acústica no vuelve equivalentes sus resultados. Dividir en dos slides durante producción si la tipografía baja de 20–22 pt.</a:t>
            </a:r>
          </a:p>
          <a:p xmlns:a="http://schemas.openxmlformats.org/drawingml/2006/main">
            <a:r>
              <a:t>- **Guía del visual/diagrama:** Revelar y explicar en el orden previsto: Tabla: estímulo, generador, sensor, magnitud, respuesta voluntaria y límite. Cerrar con esta idea: Compartir una entrada acústica no vuelve equivalentes sus resultados.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Compartir una entrada acústica no vuelve equivalentes sus resultados.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Probar complementariedad con un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OEA, PEAT y ECoG registran magnitudes y generadores diferentes. Diagrama conceptual: Tabla: estímulo, generador, sensor, magnitud, respuesta voluntaria y límite. Compartir una entrada acústica no vuelve equivalentes sus resultados.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8.5.6–8.5.8; PDF pp. 216–219; fig. 8.4;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Comprobar razonamiento de cadena.</a:t>
            </a:r>
          </a:p>
          <a:p xmlns:a="http://schemas.openxmlformats.org/drawingml/2006/main">
            <a:r>
              <a:t>- **Explicación extendida:** Para decidir coherencia hay que preguntar qué generador, sensor y parte del trayecto intervienen. Aceptar varias explicaciones compatibles; no pedir una etiología única.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OEA ausente y PEAT presente: proponga dos preguntas antes de hablar de contradicción.</a:t>
            </a:r>
          </a:p>
          <a:p xmlns:a="http://schemas.openxmlformats.org/drawingml/2006/main">
            <a:r>
              <a:t>- **Respuesta esperada:** Revisar transmisión por oído externo/medio, colocación y ruido de la sonda; recordar que OEA y PEAT tienen generadores y sensores diferentes.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Leer ‘presente’, ‘ausente’ o ‘derivar’ como diagnóstico, sin revisar ruido, sonda, transmisión y protocolo.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Pasar de medición a transformación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resultados distintos no son necesariamente contradictorios. Diagrama conceptual: Caso OEA ausente/PEAT presente y preguntas sobre transmisión, ruido y generador. Para decidir coherencia hay que preguntar qué generador, sensor y parte del trayecto intervienen.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C5; PDF pp. 223, 228;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Formular la comparación tecnológica.</a:t>
            </a:r>
          </a:p>
          <a:p xmlns:a="http://schemas.openxmlformats.org/drawingml/2006/main">
            <a:r>
              <a:t>- **Explicación extendida:** Un dispositivo transforma una señal; no borra la alteración ni garantiza comprensión. No comenzar por “para quién sirve”; comenzar por qué transforma.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 dispositivo transforma una señal; no borra la alteración ni garantiza comprensión.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Instalar una cadena común de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cambia la naturaleza física de la señal en cada dispositivo? Esquema mixto: Pregunta guía y salidas acústica, eléctrica y mecánica. Un dispositivo transforma una señal; no borra la alteración ni garantiza comprensión.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8.6; PDF pp. 219–221;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Instalar el marco tecnológico.</a:t>
            </a:r>
          </a:p>
          <a:p xmlns:a="http://schemas.openxmlformats.org/drawingml/2006/main">
            <a:r>
              <a:t>- **Explicación extendida:** La salida física y el punto de entrega distinguen estrategias que no son intercambiables. Separar transformación técnica de beneficio medido y selección clínica.</a:t>
            </a:r>
          </a:p>
          <a:p xmlns:a="http://schemas.openxmlformats.org/drawingml/2006/main">
            <a:r>
              <a:t>- **Guía del visual/diagrama:** Revelar y explicar en el orden previsto: Sonido de entrada → transducción/procesamiento → salida → sistema auditivo → resultado funcional a evaluar. Cerrar con esta idea: La salida física y el punto de entrega distinguen estrategias que no son intercambiables.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La salida física y el punto de entrega distinguen estrategias que no son intercambiables.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al audífono.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Entrada, procesamiento, salida y acoplamiento permiten comparar dispositivos. Diagrama conceptual: Sonido de entrada → transducción/procesamiento → salida → sistema auditivo → resultado funcional a evaluar. La salida física y el punto de entrega distinguen estrategias que no son intercambiables.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8.6–8.7; PDF pp. 219–222; REF whoHearing2021.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su cadena física.</a:t>
            </a:r>
          </a:p>
          <a:p xmlns:a="http://schemas.openxmlformats.org/drawingml/2006/main">
            <a:r>
              <a:t>- **Explicación extendida:** Micrófono → señal eléctrica procesada → receptor → salida acústica. No representar el procesamiento como una ganancia fija lineal universal.</a:t>
            </a:r>
          </a:p>
          <a:p xmlns:a="http://schemas.openxmlformats.org/drawingml/2006/main">
            <a:r>
              <a:t>- **Guía del visual/diagrama:** Revelar y explicar en el orden previsto: Entrada en Pa/dB SPL, procesamiento dependiente de `f`, nivel y tiempo, salida acústica. Cerrar con esta idea: Micrófono → señal eléctrica procesada → receptor → salida acústica.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Micrófono → señal eléctrica procesada → receptor → salida acústica.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Definir ganancia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audífono vuelve a producir presión acústica cerca del oído. Esquema mixto: Entrada en Pa/dB SPL, procesamiento dependiente de f, nivel y tiempo, salida acústica. Micrófono → señal eléctrica procesada → receptor → salida acústica.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8.6.1; PDF p. 219; REF whoHearing2021; U5.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Introducir ganancia electroacústica.</a:t>
            </a:r>
          </a:p>
          <a:p xmlns:a="http://schemas.openxmlformats.org/drawingml/2006/main">
            <a:r>
              <a:t>- **Explicación extendida:** Entrada y salida en dB SPL bajo la misma condición permiten una diferencia en dB. Diferenciar ganancia de sonoridad, beneficio o prescripción.</a:t>
            </a:r>
          </a:p>
          <a:p xmlns:a="http://schemas.openxmlformats.org/drawingml/2006/main">
            <a:r>
              <a:t>- **Guía del visual/diagrama:** Revelar y explicar en el orden previsto: Ecuación, símbolos, unidades, frecuencia y condición de medición. Cerrar con esta idea: Entrada y salida en dB SPL bajo la misma condición permiten una diferencia en dB. No repetir las cajas como párrafos.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Resolver un ejemplo.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G(f) compara salida y entrada en la misma escala. Ecuación anotada: Ecuación, símbolos, unidades, frecuencia y condición de medición. Entrada y salida en dB SPL bajo la misma condición permiten una diferencia en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ec. 8.4; PDF p. 219; NOT;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Modelar cálculo y límite.</a:t>
            </a:r>
          </a:p>
          <a:p xmlns:a="http://schemas.openxmlformats.org/drawingml/2006/main">
            <a:r>
              <a:t>- **Explicación extendida:** `70 dB SPL - 52 dB SPL = 18 dB`; el dato no informa comprensión ni comodidad. Pedir qué medición adicional sería necesaria para hablar de desempeño.</a:t>
            </a:r>
          </a:p>
          <a:p xmlns:a="http://schemas.openxmlformats.org/drawingml/2006/main">
            <a:r>
              <a:t>- **Guía del visual/diagrama:** Explicar en orden: entrada 52 dB SPL → salida 70 dB SPL → resta de magnitudes compatibles → ganancia 18 dB → límite: la ganancia no equivale por sí sola a beneficio clínico. No usar las cifras actuales del asset U08-DG-042 hasta corregirlo.</a:t>
            </a:r>
          </a:p>
          <a:p xmlns:a="http://schemas.openxmlformats.org/drawingml/2006/main">
            <a:r>
              <a:t>- **Pregunta al grupo:** ¿Son compatibles las magnitudes y unidades antes de operar?</a:t>
            </a:r>
          </a:p>
          <a:p xmlns:a="http://schemas.openxmlformats.org/drawingml/2006/main">
            <a:r>
              <a:t>- **Respuesta esperada:** Sí solo si coinciden frecuencia, referencia y condiciones indicadas; después se interpreta el resultado con su límite.</a:t>
            </a:r>
          </a:p>
          <a:p xmlns:a="http://schemas.openxmlformats.org/drawingml/2006/main">
            <a:r>
              <a:t>- **Demostración o dinámica:** Señalar datos y unidades antes de operar; resolver un paso por vez y separar el resultado matemático de su interpretación física o clínica.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**Control de consistencia:** Usar 70−52=18 dB según el storyboard. El asset U08-DG-042 actual usa 82−60=22 dB y debe alinearse antes de construir el deck.</a:t>
            </a:r>
          </a:p>
          <a:p xmlns:a="http://schemas.openxmlformats.org/drawingml/2006/main">
            <a:r>
              <a:t>- **Transición:** Mostrar procesamiento no lineal/dependiente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Esquema del cálculo de ganancia a 2000 Hz. La entrada es 52 dB SPL, la salida es 70 dB SPL y la diferencia es 18 dB. Un aviso aclara que esta ganancia no equivale a beneficio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8.6.1; PDF p. 219; TEX NG4.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Evitar reducir audífono a “subir volumen”.</a:t>
            </a:r>
          </a:p>
          <a:p xmlns:a="http://schemas.openxmlformats.org/drawingml/2006/main">
            <a:r>
              <a:t>- **Explicación extendida:** Compresión, direccionalidad, reducción de ruido y control de realimentación modifican aspectos distintos. No prometer beneficio ni comparar marcas; mantener el foco físico.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muestran los ejes o variables, y qué conclusión no autoriza la figura?</a:t>
            </a:r>
          </a:p>
          <a:p xmlns:a="http://schemas.openxmlformats.org/drawingml/2006/main">
            <a:r>
              <a:t>- **Respuesta esperada:** Compresión, direccionalidad, reducción de ruido y control de realimentación modifican aspectos distintos.</a:t>
            </a:r>
          </a:p>
          <a:p xmlns:a="http://schemas.openxmlformats.org/drawingml/2006/main">
            <a:r>
              <a:t>- **Demostración o dinámica:** Leer en este orden: ejes, unidades, escala, condición o muestra y tendencia. Recién después formular una conclusión y un límite.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Cambiar de salida acústica a eléctrica.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procesamiento puede depender de frecuencia, nivel y tiempo. Esquema mixto: Cuatro funciones con un gráfico entrada–salida o respuesta conceptual y límites. Compresión, direccionalidad, reducción de ruido y control de realimentación modifican aspectos distintos.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8.6.1; PDF p. 219; REF whoHearing2021; U5.</a:t>
            </a:r>
          </a:p>
          <a:p xmlns:a="http://schemas.openxmlformats.org/drawingml/2006/main">
            <a:r>
              <a:t>- Asset propio aprobado: U08-CH-009.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Reconstruir una cadena de naturaleza distinta.</a:t>
            </a:r>
          </a:p>
          <a:p xmlns:a="http://schemas.openxmlformats.org/drawingml/2006/main">
            <a:r>
              <a:t>- **Explicación extendida:** Micrófono y procesador codifican; el receptor–estimulador y los electrodos producen estimulación eléctrica. No sugerir que el implante restituye una cóclea habitual ni mostrar cirugía.</a:t>
            </a:r>
          </a:p>
          <a:p xmlns:a="http://schemas.openxmlformats.org/drawingml/2006/main">
            <a:r>
              <a:t>- **Guía del visual/diagrama:** Revelar y explicar en el orden previsto: Sonido → procesador → enlace → receptor–estimulador → guía de electrodos. Cerrar con esta idea: Micrófono y procesador codifican; el receptor–estimulador y los electrodos producen estimulación eléctrica. No repetir las cajas como párrafos.</a:t>
            </a:r>
          </a:p>
          <a:p xmlns:a="http://schemas.openxmlformats.org/drawingml/2006/main">
            <a:r>
              <a:t>- **Pregunta al grupo:** ¿Qué cambia de una etapa o nodo al siguiente?</a:t>
            </a:r>
          </a:p>
          <a:p xmlns:a="http://schemas.openxmlformats.org/drawingml/2006/main">
            <a:r>
              <a:t>- **Respuesta esperada:** Micrófono y procesador codifican; el receptor–estimulador y los electrodos producen estimulación eléctrica.</a:t>
            </a:r>
          </a:p>
          <a:p xmlns:a="http://schemas.openxmlformats.org/drawingml/2006/main">
            <a:r>
              <a:t>- **Demostración o dinámica:** Revelar la secuencia por etapas y pedir que el grupo nombre qué entra, qué se transforma y qué se registra o entrega.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Distinguir cantidades que suelen igualarse.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implante coclear entrega pulsos eléctricos en la cóclea. Esquema mixto: Sonido → procesador → enlace → receptor–estimulador → guía de electrodos. Micrófono y procesador codifican; el receptor–estimulador y los electrodos producen estimulación eléctrica.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8.6.2; PDF pp. 219–220;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Corregir una cuantificación simplista.</a:t>
            </a:r>
          </a:p>
          <a:p xmlns:a="http://schemas.openxmlformats.org/drawingml/2006/main">
            <a:r>
              <a:t>- **Explicación extendida:** La interacción eléctrica, programación y sistema neural limitan la independencia perceptual. No fijar cifras comerciales ni resultados universales.</a:t>
            </a:r>
          </a:p>
          <a:p xmlns:a="http://schemas.openxmlformats.org/drawingml/2006/main">
            <a:r>
              <a:t>- **Guía del visual/diagrama:** Revelar y explicar en el orden previsto: Tres cantidades, relaciones no uno-a-uno y conclusión no permitida. Cerrar con esta idea: La interacción eléctrica, programación y sistema neural limitan la independencia perceptual. No repetir las cajas como párrafos.</a:t>
            </a:r>
          </a:p>
          <a:p xmlns:a="http://schemas.openxmlformats.org/drawingml/2006/main">
            <a:r>
              <a:t>- **Pregunta al grupo:** ¿Qué información falta para corregir esta conclusión?</a:t>
            </a:r>
          </a:p>
          <a:p xmlns:a="http://schemas.openxmlformats.org/drawingml/2006/main">
            <a:r>
              <a:t>- **Respuesta esperada:** Tres cantidades, relaciones no uno-a-uno y conclusión no permitida.</a:t>
            </a:r>
          </a:p>
          <a:p xmlns:a="http://schemas.openxmlformats.org/drawingml/2006/main">
            <a:r>
              <a:t>- **Demostración o dinámica:** Mostrar primero la afirmación problemática, pedir que identifiquen el salto lógico y revelar después la corrección.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Recurso opcional: reproducir solo si está disponible y verificado. Presentar antes la consigna de observación y ofrecer la alternativa estática; no usarlo como prueba diagnóstica.</a:t>
            </a:r>
          </a:p>
          <a:p xmlns:a="http://schemas.openxmlformats.org/drawingml/2006/main">
            <a:r>
              <a:t>- **Transición:** Comparar audífono e implante.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Electrodos, canales y perceptos independientes no son equivalentes. Esquema mixto: Tres cantidades, relaciones no uno-a-uno y conclusión no permitida. La interacción eléctrica, programación y sistema neural limitan la independencia perceptual.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8.6.2, 8.8; PDF pp. 220, 222;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Distinguir salida y punto de entrega.</a:t>
            </a:r>
          </a:p>
          <a:p xmlns:a="http://schemas.openxmlformats.org/drawingml/2006/main">
            <a:r>
              <a:t>- **Explicación extendida:** Audífono mantiene una salida acústica; implante produce estimulación eléctrica intracoclear. Evitar adjudicar indicaciones; la selección depende de evaluación individual.</a:t>
            </a:r>
          </a:p>
          <a:p xmlns:a="http://schemas.openxmlformats.org/drawingml/2006/main">
            <a:r>
              <a:t>- **Guía del visual/diagrama:** Revelar y explicar en el orden previsto: Entrada, procesamiento, salida, acoplamiento y límite en dos columnas. Cerrar con esta idea: Audífono mantiene una salida acústica; implante produce estimulación eléctrica intracoclear.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Audífono mantiene una salida acústica; implante produce estimulación eléctrica intracoclear.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Presentar alternativas como complemento.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implante coclear no es un audífono más potente. Diagrama conceptual: Entrada, procesamiento, salida, acoplamiento y límite en dos columnas. Audífono mantiene una salida acústica; implante produce estimulación eléctrica intracoclear.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8.6.1–8.6.2; PDF pp. 219–220; REF nidcdCI2024.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Ubicar ampliaciones sin desplazar el núcleo.</a:t>
            </a:r>
          </a:p>
          <a:p xmlns:a="http://schemas.openxmlformats.org/drawingml/2006/main">
            <a:r>
              <a:t>- **Explicación extendida:** Vibración del cráneo y salida acústica+eléctrica son estrategias físicas diferentes y no universales. No listar indicaciones ni fijar frecuencia de separación.</a:t>
            </a:r>
          </a:p>
          <a:p xmlns:a="http://schemas.openxmlformats.org/drawingml/2006/main">
            <a:r>
              <a:t>- **Guía del visual/diagrama:** Revelar y explicar en el orden previsto: Dispositivo óseo: salida mecánica y ambas cócleas → EAS: bandas acústicas y eléctricas individualizadas. Cerrar con esta idea: Vibración del cráneo y salida acústica+eléctrica son estrategias físicas diferentes y no universales. No repetir las cajas como párrafos.</a:t>
            </a:r>
          </a:p>
          <a:p xmlns:a="http://schemas.openxmlformats.org/drawingml/2006/main">
            <a:r>
              <a:t>- **Pregunta al grupo:** ¿Cuál es la diferencia que organiza esta comparación?</a:t>
            </a:r>
          </a:p>
          <a:p xmlns:a="http://schemas.openxmlformats.org/drawingml/2006/main">
            <a:r>
              <a:t>- **Respuesta esperada:** Vibración del cráneo y salida acústica+eléctrica son estrategias físicas diferentes y no universales.</a:t>
            </a:r>
          </a:p>
          <a:p xmlns:a="http://schemas.openxmlformats.org/drawingml/2006/main">
            <a:r>
              <a:t>- **Demostración o dinámica:** Recorrer una misma fila o criterio entre columnas; evitar leer cada columna como una lista aislada.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Recapitular dispositivos y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Conducción ósea y electroacústica agregan otras salidas o combinaciones. Esquema mixto: Dispositivo óseo: salida mecánica y ambas cócleas; EAS: bandas acústicas y eléctricas individualizadas. Vibración del cráneo y salida acústica+eléctrica son estrategias físicas diferentes y no universales.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8.6.3–8.6.4; PDF pp. 220–221; REF stenfeltGoode2005, whoHearing2021.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transformación y límites.</a:t>
            </a:r>
          </a:p>
          <a:p xmlns:a="http://schemas.openxmlformats.org/drawingml/2006/main">
            <a:r>
              <a:t>- **Explicación extendida:** Sonido, pulsos eléctricos y vibración mecánica deben relacionarse con evaluación, necesidades y seguimiento. Repetición pedagógica: comparar puntos de cambio de dominio, no volver a describir componentes.</a:t>
            </a:r>
          </a:p>
          <a:p xmlns:a="http://schemas.openxmlformats.org/drawingml/2006/main">
            <a:r>
              <a:t>- **Guía del visual/diagrama:** Revelar y explicar en el orden previsto: Tabla de tres dispositivos + “qué transforma / qué no permite decidir”. Cerrar con esta idea: Sonido, pulsos eléctricos y vibración mecánica deben relacionarse con evaluación, necesidades y seguimiento.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Sonido, pulsos eléctricos y vibración mecánica deben relacionarse con evaluación, necesidades y seguimiento.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Retomar el caso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Hasta acá: la salida física distingue dispositivos, no decide la indicación. Diagrama conceptual: Tabla de tres dispositivos + “qué transforma / qué no permite decidir”. Sonido, pulsos eléctricos y vibración mecánica deben relacionarse con evaluación, necesidades y seguimiento.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8.2, fig. 8.5; PDF p. 221;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Reabrir el caso con herramientas completas.</a:t>
            </a:r>
          </a:p>
          <a:p xmlns:a="http://schemas.openxmlformats.org/drawingml/2006/main">
            <a:r>
              <a:t>- **Explicación extendida:** La pregunta profesional guía qué dato buscar y cómo limitar la conclusión. Pedir qué cambió en la forma de razonar desde el inicio.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pregunta profesional guía qué dato buscar y cómo limitar la conclusión.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Organizar datos y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¿Cómo se construye una respuesta sin exceder la evidencia? Esquema mixto: Caso inicial y cuatro tipos de evidencia ya disponibles. La pregunta profesional guía qué dato buscar y cómo limitar la conclusión.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8.3, 8.7; PDF pp. 208–209, 221–222.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2–4 min.</a:t>
            </a:r>
          </a:p>
          <a:p xmlns:a="http://schemas.openxmlformats.org/drawingml/2006/main">
            <a:r>
              <a:t>- **Objetivo oral:** Integrar categorías sin diagnosticar.</a:t>
            </a:r>
          </a:p>
          <a:p xmlns:a="http://schemas.openxmlformats.org/drawingml/2006/main">
            <a:r>
              <a:t>- **Explicación extendida:** Cada dato responde una pregunta y deja otras abiertas. Usar los valores ficticios del ejercicio integrador y no agregar resultados clínicos.</a:t>
            </a:r>
          </a:p>
          <a:p xmlns:a="http://schemas.openxmlformats.org/drawingml/2006/main">
            <a:r>
              <a:t>- **Guía del visual/diagrama:** Revelar y explicar en el orden previsto: `L_Aeq,T`, tinnitus/dB SL, umbral/dB HL y OEA “derivar” clasificados. Cerrar con esta idea: Cada dato responde una pregunta y deja otras abiertas.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Cada dato responde una pregunta y deja otras abiertas.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Pedir seleccionar estudios complementarios.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mismo caso reúne exposición, percepción, conducta y fisiología. Diagrama conceptual: L_Aeq,T, tinnitus/dB SL, umbral/dB HL y OEA “derivar” clasificados. Cada dato responde una pregunta y deja otras abiertas.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INT1; PDF pp. 226–227, 231–232.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Transferir el marco a decisión razonada.</a:t>
            </a:r>
          </a:p>
          <a:p xmlns:a="http://schemas.openxmlformats.org/drawingml/2006/main">
            <a:r>
              <a:t>- **Explicación extendida:** Timpanometría, audiometría, logoaudiometría, OEA o PEAT aportan información diferente. Aceptar varias combinaciones justificadas; no pedir un diagnóstico final.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Asigne una prueba a cada pregunta y justifique magnitud y límite.</a:t>
            </a:r>
          </a:p>
          <a:p xmlns:a="http://schemas.openxmlformats.org/drawingml/2006/main">
            <a:r>
              <a:t>- **Respuesta esperada:** Se aceptan combinaciones distintas si la prueba responde la pregunta, se identifica qué registra y se declara qué queda abierto.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Mostrar qué conclusiones siguen abiertas.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Elija una prueba para cada pregunta, no una batería automática. Composición textual: Cinco preguntas abiertas, estudio propuesto, magnitud y limitación. Timpanometría, audiometría, logoaudiometría, OEA o PEAT aportan información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A1, INT1; PDF pp. 226–227; BR;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Enseñar integración no binaria.</a:t>
            </a:r>
          </a:p>
          <a:p xmlns:a="http://schemas.openxmlformats.org/drawingml/2006/main">
            <a:r>
              <a:t>- **Explicación extendida:** Una batería no “vota” un diagnóstico: verifica trayectos, tareas y condiciones. Evitar ejemplos que permitan inferir una enfermedad concreta.</a:t>
            </a:r>
          </a:p>
          <a:p xmlns:a="http://schemas.openxmlformats.org/drawingml/2006/main">
            <a:r>
              <a:t>- **Guía del visual/diagrama:** Revelar y explicar en el orden previsto: Dos escenarios: convergencia parcial y discrepancia técnica/funcional. Cerrar con esta idea: Una batería no “vota” un diagnóstico: verifica trayectos, tareas y condiciones.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Una batería no “vota” un diagnóstico: verifica trayectos, tareas y condiciones.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Aplicar el mismo límite a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Resultados coherentes reducen incertidumbre; discrepancias abren nuevas preguntas. Diagrama conceptual: Dos escenarios: convergencia parcial y discrepancia técnica/funcional. Una batería no “vota” un diagnóstico: verifica trayectos, tareas y condiciones.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8.5.1, 8.7; PDF pp. 211–212, 221–222; REF ashaHearingAdults.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Comprobar comparación tecnológica.</a:t>
            </a:r>
          </a:p>
          <a:p xmlns:a="http://schemas.openxmlformats.org/drawingml/2006/main">
            <a:r>
              <a:t>- **Explicación extendida:** Pa cerca del oído, corriente en electrodos y desplazamiento del cráneo distinguen audífono, implante y conducción ósea. Pedir explícitamente por qué la identificación no basta para indicar.</a:t>
            </a:r>
          </a:p>
          <a:p xmlns:a="http://schemas.openxmlformats.org/drawingml/2006/main">
            <a:r>
              <a:t>- **Guía del visual/diagrama:** Revelar y explicar en el orden previsto: Tres salidas, tres dispositivos y pregunta sobre qué falta para seleccionar. Cerrar con esta idea: Pa cerca del oído, corriente en electrodos y desplazamiento del cráneo distinguen audífono, implante y conducción ósea. No repetir las cajas como párrafos.</a:t>
            </a:r>
          </a:p>
          <a:p xmlns:a="http://schemas.openxmlformats.org/drawingml/2006/main">
            <a:r>
              <a:t>- **Pregunta al grupo:** Relacione presión acústica, corriente eléctrica y vibración mecánica con un dispositivo.</a:t>
            </a:r>
          </a:p>
          <a:p xmlns:a="http://schemas.openxmlformats.org/drawingml/2006/main">
            <a:r>
              <a:t>- **Respuesta esperada:** Presión: audífono; corriente en electrodos: implante coclear; vibración del cráneo: conducción ósea. Falta evaluación individual para seleccionar.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Ubicar la decisión en el equipo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Identifique el dispositivo por su salida física. Diagrama conceptual: Tres salidas, tres dispositivos y pregunta sobre qué falta para seleccionar. Pa cerca del oído, corriente en electrodos y desplazamiento del cráneo distinguen audífono, implante y conducción ósea.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A5; PDF p. 226;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Conectar el marco físico con la práctica profesional.</a:t>
            </a:r>
          </a:p>
          <a:p xmlns:a="http://schemas.openxmlformats.org/drawingml/2006/main">
            <a:r>
              <a:t>- **Explicación extendida:** La física hace explícita la cadena; la interpretación e intervención integran antecedentes, necesidades y protocolos. Reconocer incumbencias sin convertir la slide en protocolo clínico.</a:t>
            </a:r>
          </a:p>
          <a:p xmlns:a="http://schemas.openxmlformats.org/drawingml/2006/main">
            <a:r>
              <a:t>- **Guía del visual/diagrama:** Revelar y explicar en el orden previsto: Cinco acciones: identificar entrada, transformación, sensor/respuesta, dato y límite. Cerrar con esta idea: La física hace explícita la cadena; la interpretación e intervención integran antecedentes, necesidades y protocolos.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 física hace explícita la cadena; la interpretación e intervención integran antecedentes, necesidades y protocolos.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Convertir el proceso en herramienta de repaso.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La Fonoaudiología integra medición, comunicación y seguimiento. Diagrama conceptual: Cinco acciones: identificar entrada, transformación, sensor/respuesta, dato y límite. La física hace explícita la cadena; la interpretación e intervención integran antecedentes, necesidades y protocolos.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 objetivos; TEX 8.7; PDF pp. 221–222;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Dar una herramienta durable.</a:t>
            </a:r>
          </a:p>
          <a:p xmlns:a="http://schemas.openxmlformats.org/drawingml/2006/main">
            <a:r>
              <a:t>- **Explicación extendida:** ¿Qué entra?, ¿qué sistema?, ¿qué se transforma?, ¿qué se registra/entrega?, ¿en qué unidad?, ¿qué no concluye? Repetición pedagógica final: ampliar la matriz de pruebas para incluir dispositivos, no copiar U08-039.</a:t>
            </a:r>
          </a:p>
          <a:p xmlns:a="http://schemas.openxmlformats.org/drawingml/2006/main">
            <a:r>
              <a:t>- **Guía del visual/diagrama:** Revelar y explicar en el orden previsto: Seis preguntas con un ejemplo de prueba y uno de dispositivo. Cerrar con esta idea: ¿Qué entra?, ¿qué sistema?, ¿qué se transforma?, ¿qué se registra/entrega?, ¿en qué unidad?, ¿qué no concluye? No repetir las cajas como párrafos.</a:t>
            </a:r>
          </a:p>
          <a:p xmlns:a="http://schemas.openxmlformats.org/drawingml/2006/main">
            <a:r>
              <a:t>- **Pregunta al grupo:** ¿Qué regla de este bloque usaría primero ante un dato nuevo?</a:t>
            </a:r>
          </a:p>
          <a:p xmlns:a="http://schemas.openxmlformats.org/drawingml/2006/main">
            <a:r>
              <a:t>- **Respuesta esperada:** ¿Qué entra?, ¿qué sistema?, ¿qué se transforma?, ¿qué se registra/entrega?, ¿en qué unidad?, ¿qué no concluye?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Cerrar con puente hacia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preguntas permiten revisar cualquier estudio o dispositivo. Diagrama conceptual: Seis preguntas con un ejemplo de prueba y uno de dispositivo. ¿Qué entra?, ¿qué sistema?, ¿qué se transforma?, ¿qué se registra/entrega?, ¿en qué unidad?, ¿qué no concluye?.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TEX cap. 8;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Cerrar y anticipar U10.</a:t>
            </a:r>
          </a:p>
          <a:p xmlns:a="http://schemas.openxmlformats.org/drawingml/2006/main">
            <a:r>
              <a:t>- **Explicación extendida:** U10 profundizará tipos de ruido, SNR, exposición y enmascaramiento aplicado. No adelantar taxonomía de ruido ni técnica completa de enmascaramiento.</a:t>
            </a:r>
          </a:p>
          <a:p xmlns:a="http://schemas.openxmlformats.org/drawingml/2006/main">
            <a:r>
              <a:t>- **Guía del visual/diagrama:** Revelar y explicar en el orden previsto: Tres ideas que U8 entrega y tres preguntas que quedan abiertas. Cerrar con esta idea: U10 profundizará tipos de ruido, SNR, exposición y enmascaramiento aplicado. No repetir las cajas como párrafos.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U10 profundizará tipos de ruido, SNR, exposición y enmascaramiento aplicado.</a:t>
            </a:r>
          </a:p>
          <a:p xmlns:a="http://schemas.openxmlformats.org/drawingml/2006/main">
            <a:r>
              <a:t>- **Demostración o dinámica:** Pedir una regla de decisión en una frase y conectarla con una situación de práctica fonoaudiológica.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Fin central; abrir respaldo solo según necesidad.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 la evaluación auditiva a la exposición y el ruido. Diagrama conceptual: Tres ideas que U8 entrega y tres preguntas que quedan abiertas. U10 profundizará tipos de ruido, SNR, exposición y enmascaramiento aplicado. Esquema conceptual no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CM; CDM; COV; PO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1–2 min.</a:t>
            </a:r>
          </a:p>
          <a:p xmlns:a="http://schemas.openxmlformats.org/drawingml/2006/main">
            <a:r>
              <a:t>- **Objetivo oral:** Orientar el uso no lineal.</a:t>
            </a:r>
          </a:p>
          <a:p xmlns:a="http://schemas.openxmlformats.org/drawingml/2006/main">
            <a:r>
              <a:t>- **Explicación extendida:** Estas slides responden dudas sin interrumpir la secuencia central. Aclarar que el respaldo no es un quinto encuentro obligatorio.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Estas slides responden dudas sin interrumpir la secuencia central.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Navegar según la duda.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Respaldo: escalas, tablas, cálculos y fuentes. Composición textual: Índice por escalas, estudios, dispositivos, ejercicios y brechas documentales. Estas slides responden dudas sin interrumpir la secuencia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INV; 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Consolidar notación y operaciones.</a:t>
            </a:r>
          </a:p>
          <a:p xmlns:a="http://schemas.openxmlformats.org/drawingml/2006/main">
            <a:r>
              <a:t>- **Explicación extendida:** Compartir dB no habilita sumas o restas entre escalas distintas. Mantener la forma desarrollada de cada escala.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Compartir dB no habilita sumas o restas entre escalas distintas.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Convertir un umbral, una forma o una diferencia entre vías en un diagnóstico sin integrar procedimiento y batería.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Consultar la matriz completa de estudios.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dB SPL, dB HL y dB SL: referencia rápida. Composición textual: Tabla de referencia, uso, ejemplo y operación válida. Compartir dB no habilita sumas o restas entre escalas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NOT; GLO; TEX cap.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Ofrecer consulta comparativa.</a:t>
            </a:r>
          </a:p>
          <a:p xmlns:a="http://schemas.openxmlformats.org/drawingml/2006/main">
            <a:r>
              <a:t>- **Explicación extendida:** Las siete pruebas se distinguen por estímulo, magnitud, sensor/tarea, resultado y límite. Si no entra, duplicar en dos slides durante producción y actualizar numeración.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Las siete pruebas se distinguen por estímulo, magnitud, sensor/tarea, resultado y límite.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Interpretar la correspondencia con un tono externo como medición de una fuente o intensidad sonora interna.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Consultar dispositivos.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completa de estudios auditivos. Composición textual: Audiometría, logoaudiometría, timpanometría, acufenometría, OEA, PEAT y ECoG. Las siete pruebas se distinguen por estímulo, magnitud, sensor/tarea, resultado y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8.5; PDF pp. 211–219;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Ofrecer consulta tecnológica.</a:t>
            </a:r>
          </a:p>
          <a:p xmlns:a="http://schemas.openxmlformats.org/drawingml/2006/main">
            <a:r>
              <a:t>- **Explicación extendida:** Entrada, procesamiento, salida y límite permiten comparación sin indicación clínica. Mantener una frase de lectura y separar criterios clínicos.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Entrada, procesamiento, salida y límite permiten comparación sin indicación clínica.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Abrir ejercicios alternativos.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completa de dispositivos. Composición textual: Audífono, implante, conducción ósea y electroacústica. Entrada, procesamiento, salida y límite permiten comparación sin indicación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tabla 8.2; PDF p. 221; INV.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cálculo vectorial simple.</a:t>
            </a:r>
          </a:p>
          <a:p xmlns:a="http://schemas.openxmlformats.org/drawingml/2006/main">
            <a:r>
              <a:t>- **Explicación extendida:** La mayor diferencia medida no determina causa ni evolución. Solución completa en notas futuras.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ΔL_T en cada frecuencia y señale la mayor diferencia.</a:t>
            </a:r>
          </a:p>
          <a:p xmlns:a="http://schemas.openxmlformats.org/drawingml/2006/main">
            <a:r>
              <a:t>- **Respuesta esperada:** Restar posterior menos referencia frecuencia por frecuencia; la mayor diferencia no explica causa ni evolución.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exposición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TTS: diferencias en tres frecuencias. Ecuación anotada: Tabla de umbrales antes/después, cálculo de ΔL_T y conclusión limitada. La mayor diferencia medida no determina causa ni 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NA1; PDF pp. 225, 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logaritmo y condiciones.</a:t>
            </a:r>
          </a:p>
          <a:p xmlns:a="http://schemas.openxmlformats.org/drawingml/2006/main">
            <a:r>
              <a:t>- **Explicación extendida:** El resultado energético no prueba seguridad ni cumplimiento. Verificar descriptor normativo antes de producción.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Normalice la exposición de 0,5 h al intervalo de 8 h y declare las hipótesis.</a:t>
            </a:r>
          </a:p>
          <a:p xmlns:a="http://schemas.openxmlformats.org/drawingml/2006/main">
            <a:r>
              <a:t>- **Respuesta esperada:** Aplicar el cociente temporal dentro del logaritmo. El resultado energético no demuestra seguridad ni cumplimiento.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diferencia entre vías.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L_Aeq,T: normalización temporal alternativa. Ecuación anotada: 96 dB(A) durante 0,5 h → intervalo de 8 h, con hipótesis. El resultado energético no prueba seguridad ni cumplimiento.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NA2; PDF pp. 225, 230; OD-U08-14.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Reforzar compatibilidad y lectura.</a:t>
            </a:r>
          </a:p>
          <a:p xmlns:a="http://schemas.openxmlformats.org/drawingml/2006/main">
            <a:r>
              <a:t>- **Explicación extendida:** Una diferencia máxima puede repetirse y sigue sin identificar una enfermedad. No incluir categorías diagnósticas en la respuesta.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G_AO(f) en cada frecuencia y compare los resultados.</a:t>
            </a:r>
          </a:p>
          <a:p xmlns:a="http://schemas.openxmlformats.org/drawingml/2006/main">
            <a:r>
              <a:t>- **Respuesta esperada:** Restar vía ósea a vía aérea en la misma frecuencia y escala; no convertir la diferencia en diagnóstico.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Convertir un dato aislado en causa, diagnóstico, pronóstico o indicación sin declarar condiciones y evidencia complementaria.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Ofrecer ganancia por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Diferencia aérea–ósea en varias frecuencias. Ecuación anotada: Tabla VA/VO, cálculo por frecuencia y pregunta de interpretación. Una diferencia máxima puede repetirse y sigue sin identificar una enfermedad.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NA4; PDF pp. 225–226, 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3–5 min.</a:t>
            </a:r>
          </a:p>
          <a:p xmlns:a="http://schemas.openxmlformats.org/drawingml/2006/main">
            <a:r>
              <a:t>- **Objetivo oral:** Relacionar respuesta en frecuencia y cálculo.</a:t>
            </a:r>
          </a:p>
          <a:p xmlns:a="http://schemas.openxmlformats.org/drawingml/2006/main">
            <a:r>
              <a:t>- **Explicación extendida:** Mayor ganancia en una frecuencia no implica mayor sonoridad, comodidad o comprensión. Mantener datos ficticios y escalas compatibles.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Calcule G(f) para las tres frecuencias e identifique el máximo.</a:t>
            </a:r>
          </a:p>
          <a:p xmlns:a="http://schemas.openxmlformats.org/drawingml/2006/main">
            <a:r>
              <a:t>- **Respuesta esperada:** Restar entrada a salida en cada frecuencia. El máximo de ganancia no equivale a mayor sonoridad, comodidad o comprensión.</a:t>
            </a:r>
          </a:p>
          <a:p xmlns:a="http://schemas.openxmlformats.org/drawingml/2006/main">
            <a:r>
              <a:t>- **Demostración o dinámica:** Dar primero tiempo individual, luego contrastar justificaciones. Mantener la participación en clasificación, lectura o cálculo; no pedir diagnóstico ni experiencia auditiva personal.</a:t>
            </a:r>
          </a:p>
          <a:p xmlns:a="http://schemas.openxmlformats.org/drawingml/2006/main">
            <a:r>
              <a:t>- **Error frecuente a anticipar:** Suponer que salida, ganancia, cantidad de canales o activación técnica equivalen por sí solas a beneficio funcional.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Documentar la curva pos-exposición.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Ganancia de audífono en tres frecuencias. Gráfico: Tabla entrada/salida, cálculo de G(f) y pregunta de límite. Mayor ganancia en una frecuencia no implica mayor sonoridad, comodidad o comprensión.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NA3; PDF pp. 225, 230; U5.</a:t>
            </a:r>
          </a:p>
          <a:p xmlns:a="http://schemas.openxmlformats.org/drawingml/2006/main">
            <a:r>
              <a:t>- Asset propio aprobado: U08-CH-011.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Documentar la brecha obligatoria.</a:t>
            </a:r>
          </a:p>
          <a:p xmlns:a="http://schemas.openxmlformats.org/drawingml/2006/main">
            <a:r>
              <a:t>- **Explicación extendida:** Ninguna curva se usa sin exposición, frecuencia, tiempos, muestra, variabilidad y fuente. Mantener bloqueada si no existe fuente primaria seleccionada.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Ninguna curva se usa sin exposición, frecuencia, tiempos, muestra, variabilidad y fuente.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PO; COV U08-01; SA; OD-U08-02/03/04.</a:t>
            </a:r>
          </a:p>
          <a:p xmlns:a="http://schemas.openxmlformats.org/drawingml/2006/main">
            <a:r>
              <a:t>- **Transición:** Documentar el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Curvas pos-exposición: ficha de trazabilidad. Gráfico: Checklist, cita completa y miniatura de CH U08-CH-002 cuando exista. Ninguna curva se usa sin exposición, frecuencia, tiempos, muestra, variabilidad y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U08-01; SA; OD-U08-02/03/04.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Documentar la segunda brecha obligatoria.</a:t>
            </a:r>
          </a:p>
          <a:p xmlns:a="http://schemas.openxmlformats.org/drawingml/2006/main">
            <a:r>
              <a:t>- **Explicación extendida:** El porcentaje debe nombrar exactamente qué riesgo, para quién y en qué período. No mezclar prevalencia, riesgo atribuible, exceso de riesgo o probabilidad individual.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El porcentaje debe nombrar exactamente qué riesgo, para quién y en qué período.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Trasladar un porcentaje poblacional a una persona sin conservar población, período, comparador e incertidumbre.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**Condición de producción:** No completar cifras, curva o convención pendiente. Mantener la slide como estructura de trazabilidad hasta resolver: PO; COV U08-06; SA; OD-U08-05/06.</a:t>
            </a:r>
          </a:p>
          <a:p xmlns:a="http://schemas.openxmlformats.org/drawingml/2006/main">
            <a:r>
              <a:t>- **Transición:** Consolidar siglas.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Riesgo porcentual: población, caso y modelo. Gráfico: Definiciones, denominador, grupo comparador, edad, exposición e incertidumbre. El porcentaje debe nombrar exactamente qué riesgo, para quién y en qué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COV U08-06; SA; OD-U08-05/06.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Servir de referencia rápida.</a:t>
            </a:r>
          </a:p>
          <a:p xmlns:a="http://schemas.openxmlformats.org/drawingml/2006/main">
            <a:r>
              <a:t>- **Explicación extendida:** TTS, PAIR/HIR/NIHL, OEA, PEAT/PEATC y ECoG deben desarrollarse y mantenerse consistentes. Actualizar cuando la cátedra resuelva OD-U08-07–09.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TTS, PAIR/HIR/NIHL, OEA, PEAT/PEATC y ECoG deben desarrollarse y mantenerse consistentes.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Confundir una diferencia temporal de umbral con tinnitus, daño permanente o pronóstico individual.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Cerrar con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Siglas y términos de la unidad. Composición textual: Tabla término español, sigla, magnitud asociada y decisión pendiente. TTS, PAIR/HIR/NIHL, OEA, PEAT/PEATC y ECoG deben desarrollarse y mantenerse consistentes.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NOT; GLO; OD; TEX glosario.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2–3 min.</a:t>
            </a:r>
          </a:p>
          <a:p xmlns:a="http://schemas.openxmlformats.org/drawingml/2006/main">
            <a:r>
              <a:t>- **Objetivo oral:** Centralizar trazabilidad.</a:t>
            </a:r>
          </a:p>
          <a:p xmlns:a="http://schemas.openxmlformats.org/drawingml/2006/main">
            <a:r>
              <a:t>- **Explicación extendida:** Programa y libro fijan alcance; normas y fuentes externas solo amplían o verifican bajo condiciones. Distinguir fuente primaria, guía profesional, norma y elaboración pedagógica.</a:t>
            </a:r>
          </a:p>
          <a:p xmlns:a="http://schemas.openxmlformats.org/drawingml/2006/main">
            <a:r>
              <a:t>- **Guía del visual/diagrama:** No corresponde guía de diagrama.</a:t>
            </a:r>
          </a:p>
          <a:p xmlns:a="http://schemas.openxmlformats.org/drawingml/2006/main">
            <a:r>
              <a:t>- **Pregunta al grupo:** ¿Qué idea permite esta slide y qué conclusión deja abierta?</a:t>
            </a:r>
          </a:p>
          <a:p xmlns:a="http://schemas.openxmlformats.org/drawingml/2006/main">
            <a:r>
              <a:t>- **Respuesta esperada:** Programa y libro fijan alcance; normas y fuentes externas solo amplían o verifican bajo condiciones.</a:t>
            </a:r>
          </a:p>
          <a:p xmlns:a="http://schemas.openxmlformats.org/drawingml/2006/main">
            <a:r>
              <a:t>- **Demostración o dinámica:** Usar el visual para señalar el dato, la condición y el límite; ampliar oralmente sin convertir las cajas o bullets en párrafos.</a:t>
            </a:r>
          </a:p>
          <a:p xmlns:a="http://schemas.openxmlformats.org/drawingml/2006/main">
            <a:r>
              <a:t>- **Error frecuente a anticipar:** Operar con valores en decibelios sin comprobar referencia, frecuencia, transductor y condición de medición.</a:t>
            </a:r>
          </a:p>
          <a:p xmlns:a="http://schemas.openxmlformats.org/drawingml/2006/main">
            <a:r>
              <a:t>- **Multimedia:** No corresponde reproducción multimedia.</a:t>
            </a:r>
          </a:p>
          <a:p xmlns:a="http://schemas.openxmlformats.org/drawingml/2006/main">
            <a:r>
              <a:t>- **Transición:** Fin.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Fuentes y límites de uso de la unidad. Composición textual: Programa, capítulo, PDF, referencias principales, normas por validar y decisiones abiertas. Programa y libro fijan alcance; normas y fuentes externas solo amplían o verifican bajo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TEX; PDF; SA; REF; 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65d0182cc4c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0af7ddbd249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a4d561ce843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baa0e8884e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7670029649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c6aa62a0548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a1bf9f9cd40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e81e207a746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f963c577647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2d0470d1447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0231def694f1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99b8b3d054b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89591c54e4a1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6f6e8d4e143f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d171d7f49425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e19dbbd7f40e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682e6bf39489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ca22ec26d448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030089d134de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ef601d726400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2408c2f0548d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c178b46a7495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e7e3d45ec4b5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479a4720d408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74bd892f3647f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729ed19506494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4eafa6e1d74a89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a7a8f5a82f14cc8" /><Relationship Type="http://schemas.openxmlformats.org/officeDocument/2006/relationships/theme" Target="/ppt/slideMasters/theme/theme2.xml" Id="Rbb5642af98de4a63" /><Relationship Type="http://schemas.openxmlformats.org/officeDocument/2006/relationships/slideLayout" Target="/ppt/slideLayouts/slideLayout1.xml" Id="R6f737c782072496b" /><Relationship Type="http://schemas.openxmlformats.org/officeDocument/2006/relationships/slideLayout" Target="/ppt/slideLayouts/slideLayout2.xml" Id="Ra2331d53f1f24612" /><Relationship Type="http://schemas.openxmlformats.org/officeDocument/2006/relationships/slideLayout" Target="/ppt/slideLayouts/slideLayout3.xml" Id="R93b98d82e89041aa" /><Relationship Type="http://schemas.openxmlformats.org/officeDocument/2006/relationships/slideLayout" Target="/ppt/slideLayouts/slideLayout4.xml" Id="R8f54c1f329314094" /><Relationship Type="http://schemas.openxmlformats.org/officeDocument/2006/relationships/slideLayout" Target="/ppt/slideLayouts/slideLayout5.xml" Id="R4cb5442ea08f49b0" /><Relationship Type="http://schemas.openxmlformats.org/officeDocument/2006/relationships/slideLayout" Target="/ppt/slideLayouts/slideLayout6.xml" Id="R8e14fe893d5d4cf0" /><Relationship Type="http://schemas.openxmlformats.org/officeDocument/2006/relationships/slideLayout" Target="/ppt/slideLayouts/slideLayout7.xml" Id="Rd8e1434cc9d24ccf" /><Relationship Type="http://schemas.openxmlformats.org/officeDocument/2006/relationships/slideLayout" Target="/ppt/slideLayouts/slideLayout8.xml" Id="Re987d87d8f284c24" /><Relationship Type="http://schemas.openxmlformats.org/officeDocument/2006/relationships/slideLayout" Target="/ppt/slideLayouts/slideLayout9.xml" Id="Rc21d17c2a5404124" /><Relationship Type="http://schemas.openxmlformats.org/officeDocument/2006/relationships/slideLayout" Target="/ppt/slideLayouts/slideLayout10.xml" Id="R62816096a0834e7c" /><Relationship Type="http://schemas.openxmlformats.org/officeDocument/2006/relationships/slideLayout" Target="/ppt/slideLayouts/slideLayout11.xml" Id="R5a91e5f6543341ce" /><Relationship Type="http://schemas.openxmlformats.org/officeDocument/2006/relationships/slideLayout" Target="/ppt/slideLayouts/slideLayout12.xml" Id="Rdd6f6a8c55634302" /><Relationship Type="http://schemas.openxmlformats.org/officeDocument/2006/relationships/slideLayout" Target="/ppt/slideLayouts/slideLayout13.xml" Id="R4666f9da047b43c5" /><Relationship Type="http://schemas.openxmlformats.org/officeDocument/2006/relationships/slideLayout" Target="/ppt/slideLayouts/slideLayout14.xml" Id="Ra1b7f65bf9d04776" /><Relationship Type="http://schemas.openxmlformats.org/officeDocument/2006/relationships/slideLayout" Target="/ppt/slideLayouts/slideLayout15.xml" Id="R84688bcfd5aa4d8e" /><Relationship Type="http://schemas.openxmlformats.org/officeDocument/2006/relationships/slideLayout" Target="/ppt/slideLayouts/slideLayout16.xml" Id="R28c75b44289649c0" /><Relationship Type="http://schemas.openxmlformats.org/officeDocument/2006/relationships/slideLayout" Target="/ppt/slideLayouts/slideLayout17.xml" Id="Rbf3dd52d345e4d45" /><Relationship Type="http://schemas.openxmlformats.org/officeDocument/2006/relationships/slideLayout" Target="/ppt/slideLayouts/slideLayout18.xml" Id="R9726184d7c0949ed" /><Relationship Type="http://schemas.openxmlformats.org/officeDocument/2006/relationships/slideLayout" Target="/ppt/slideLayouts/slideLayout19.xml" Id="R4c25a820cbea4cce" /><Relationship Type="http://schemas.openxmlformats.org/officeDocument/2006/relationships/slideLayout" Target="/ppt/slideLayouts/slideLayout20.xml" Id="Rf12f3ed178b34a8f" /><Relationship Type="http://schemas.openxmlformats.org/officeDocument/2006/relationships/slideLayout" Target="/ppt/slideLayouts/slideLayout21.xml" Id="Rc9ea7f08efcc4a4b" /><Relationship Type="http://schemas.openxmlformats.org/officeDocument/2006/relationships/slideLayout" Target="/ppt/slideLayouts/slideLayout22.xml" Id="Rdbe6c726496240c2" /><Relationship Type="http://schemas.openxmlformats.org/officeDocument/2006/relationships/slideLayout" Target="/ppt/slideLayouts/slideLayout23.xml" Id="R53883eb644394187" /><Relationship Type="http://schemas.openxmlformats.org/officeDocument/2006/relationships/slideLayout" Target="/ppt/slideLayouts/slideLayout24.xml" Id="R5089c2171101444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2c73b86209694141" /><Relationship Type="http://schemas.openxmlformats.org/officeDocument/2006/relationships/theme" Target="/ppt/slideMasters/theme/theme3.xml" Id="R9e5201e14a124f42" /><Relationship Type="http://schemas.openxmlformats.org/officeDocument/2006/relationships/slideLayout" Target="/ppt/slideLayouts/slideLayout25.xml" Id="R860fc5ef62fc4a63" /><Relationship Type="http://schemas.openxmlformats.org/officeDocument/2006/relationships/slideLayout" Target="/ppt/slideLayouts/slideLayout26.xml" Id="R2aa56ccf08114cbd" /><Relationship Type="http://schemas.openxmlformats.org/officeDocument/2006/relationships/slideLayout" Target="/ppt/slideLayouts/slideLayout27.xml" Id="R65a756d245ac4709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a8f5a82f1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737c782072496b"/>
    <p:sldLayoutId xmlns:r="http://schemas.openxmlformats.org/officeDocument/2006/relationships" id="2147483650" r:id="Ra2331d53f1f24612"/>
    <p:sldLayoutId xmlns:r="http://schemas.openxmlformats.org/officeDocument/2006/relationships" id="2147483651" r:id="R93b98d82e89041aa"/>
    <p:sldLayoutId xmlns:r="http://schemas.openxmlformats.org/officeDocument/2006/relationships" id="2147483652" r:id="R8f54c1f329314094"/>
    <p:sldLayoutId xmlns:r="http://schemas.openxmlformats.org/officeDocument/2006/relationships" id="2147483653" r:id="R4cb5442ea08f49b0"/>
    <p:sldLayoutId xmlns:r="http://schemas.openxmlformats.org/officeDocument/2006/relationships" id="2147483654" r:id="R8e14fe893d5d4cf0"/>
    <p:sldLayoutId xmlns:r="http://schemas.openxmlformats.org/officeDocument/2006/relationships" id="2147483655" r:id="Rd8e1434cc9d24ccf"/>
    <p:sldLayoutId xmlns:r="http://schemas.openxmlformats.org/officeDocument/2006/relationships" id="2147483656" r:id="Re987d87d8f284c24"/>
    <p:sldLayoutId xmlns:r="http://schemas.openxmlformats.org/officeDocument/2006/relationships" id="2147483657" r:id="Rc21d17c2a5404124"/>
    <p:sldLayoutId xmlns:r="http://schemas.openxmlformats.org/officeDocument/2006/relationships" id="2147483658" r:id="R62816096a0834e7c"/>
    <p:sldLayoutId xmlns:r="http://schemas.openxmlformats.org/officeDocument/2006/relationships" id="2147483659" r:id="R5a91e5f6543341ce"/>
    <p:sldLayoutId xmlns:r="http://schemas.openxmlformats.org/officeDocument/2006/relationships" id="2147483660" r:id="Rdd6f6a8c55634302"/>
    <p:sldLayoutId xmlns:r="http://schemas.openxmlformats.org/officeDocument/2006/relationships" id="2147483661" r:id="R4666f9da047b43c5"/>
    <p:sldLayoutId xmlns:r="http://schemas.openxmlformats.org/officeDocument/2006/relationships" id="2147483662" r:id="Ra1b7f65bf9d04776"/>
    <p:sldLayoutId xmlns:r="http://schemas.openxmlformats.org/officeDocument/2006/relationships" id="2147483663" r:id="R84688bcfd5aa4d8e"/>
    <p:sldLayoutId xmlns:r="http://schemas.openxmlformats.org/officeDocument/2006/relationships" id="2147483664" r:id="R28c75b44289649c0"/>
    <p:sldLayoutId xmlns:r="http://schemas.openxmlformats.org/officeDocument/2006/relationships" id="2147483665" r:id="Rbf3dd52d345e4d45"/>
    <p:sldLayoutId xmlns:r="http://schemas.openxmlformats.org/officeDocument/2006/relationships" id="2147483666" r:id="R9726184d7c0949ed"/>
    <p:sldLayoutId xmlns:r="http://schemas.openxmlformats.org/officeDocument/2006/relationships" id="2147483667" r:id="R4c25a820cbea4cce"/>
    <p:sldLayoutId xmlns:r="http://schemas.openxmlformats.org/officeDocument/2006/relationships" id="2147483668" r:id="Rf12f3ed178b34a8f"/>
    <p:sldLayoutId xmlns:r="http://schemas.openxmlformats.org/officeDocument/2006/relationships" id="2147483669" r:id="Rc9ea7f08efcc4a4b"/>
    <p:sldLayoutId xmlns:r="http://schemas.openxmlformats.org/officeDocument/2006/relationships" id="2147483670" r:id="Rdbe6c726496240c2"/>
    <p:sldLayoutId xmlns:r="http://schemas.openxmlformats.org/officeDocument/2006/relationships" id="2147483671" r:id="R53883eb644394187"/>
    <p:sldLayoutId xmlns:r="http://schemas.openxmlformats.org/officeDocument/2006/relationships" id="2147483672" r:id="R5089c21711014445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3b86209694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860fc5ef62fc4a63"/>
    <p:sldLayoutId xmlns:r="http://schemas.openxmlformats.org/officeDocument/2006/relationships" id="2147483675" r:id="R2aa56ccf08114cbd"/>
    <p:sldLayoutId xmlns:r="http://schemas.openxmlformats.org/officeDocument/2006/relationships" id="2147483676" r:id="R65a756d245ac470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0fb015f96d14eeb" /><Relationship Type="http://schemas.openxmlformats.org/officeDocument/2006/relationships/notesSlide" Target="/ppt/notesSlides/notesSlide1.xml" Id="R3c0935db3cfc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f632b5732f4d3d" /><Relationship Type="http://schemas.openxmlformats.org/officeDocument/2006/relationships/notesSlide" Target="/ppt/notesSlides/notesSlide2.xml" Id="R8529a8e9eea3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5da11996ca4819" /><Relationship Type="http://schemas.openxmlformats.org/officeDocument/2006/relationships/notesSlide" Target="/ppt/notesSlides/notesSlide3.xml" Id="R3909924ed4b842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a786cba2df744ff" /><Relationship Type="http://schemas.openxmlformats.org/officeDocument/2006/relationships/notesSlide" Target="/ppt/notesSlides/notesSlide4.xml" Id="Re3d4a241f3ba47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e7c33472840f4" /><Relationship Type="http://schemas.openxmlformats.org/officeDocument/2006/relationships/notesSlide" Target="/ppt/notesSlides/notesSlide5.xml" Id="R9455ba674da2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860abd8148b2" /><Relationship Type="http://schemas.openxmlformats.org/officeDocument/2006/relationships/notesSlide" Target="/ppt/notesSlides/notesSlide6.xml" Id="Ra32c2a9d3b4345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94b17a1a9ef4402" /><Relationship Type="http://schemas.openxmlformats.org/officeDocument/2006/relationships/notesSlide" Target="/ppt/notesSlides/notesSlide7.xml" Id="R9e5791c4070848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355d5d0ed0d48dc" /><Relationship Type="http://schemas.openxmlformats.org/officeDocument/2006/relationships/notesSlide" Target="/ppt/notesSlides/notesSlide8.xml" Id="R79b45051710642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e387bd39cb4ea1" /><Relationship Type="http://schemas.openxmlformats.org/officeDocument/2006/relationships/notesSlide" Target="/ppt/notesSlides/notesSlide9.xml" Id="Ra77cf0be182341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0b18ae1e413440c" /><Relationship Type="http://schemas.openxmlformats.org/officeDocument/2006/relationships/notesSlide" Target="/ppt/notesSlides/notesSlide10.xml" Id="R8588bf1e412b4b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4f6b7354bb84d95" /><Relationship Type="http://schemas.openxmlformats.org/officeDocument/2006/relationships/notesSlide" Target="/ppt/notesSlides/notesSlide11.xml" Id="Rfc4fae7c214342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a322c5c7e40a9" /><Relationship Type="http://schemas.openxmlformats.org/officeDocument/2006/relationships/notesSlide" Target="/ppt/notesSlides/notesSlide12.xml" Id="R8f36cb8604f74d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e196651736d47ad" /><Relationship Type="http://schemas.openxmlformats.org/officeDocument/2006/relationships/notesSlide" Target="/ppt/notesSlides/notesSlide13.xml" Id="Rfb7de01068184f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ac428450a3a49a7" /><Relationship Type="http://schemas.openxmlformats.org/officeDocument/2006/relationships/notesSlide" Target="/ppt/notesSlides/notesSlide14.xml" Id="Rd2ac349cf1dd41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511692349f48b2" /><Relationship Type="http://schemas.openxmlformats.org/officeDocument/2006/relationships/notesSlide" Target="/ppt/notesSlides/notesSlide15.xml" Id="Rf6ec415b66264e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7e43c1e776f4e2c" /><Relationship Type="http://schemas.openxmlformats.org/officeDocument/2006/relationships/notesSlide" Target="/ppt/notesSlides/notesSlide16.xml" Id="R9897ba55429144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21b70023ed54edb" /><Relationship Type="http://schemas.openxmlformats.org/officeDocument/2006/relationships/notesSlide" Target="/ppt/notesSlides/notesSlide17.xml" Id="R5a404c8b79c146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d3cdfdcbe80d4ec5" /><Relationship Type="http://schemas.openxmlformats.org/officeDocument/2006/relationships/notesSlide" Target="/ppt/notesSlides/notesSlide18.xml" Id="R3a4aa96f7d9345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0c236eff3354e82" /><Relationship Type="http://schemas.openxmlformats.org/officeDocument/2006/relationships/notesSlide" Target="/ppt/notesSlides/notesSlide19.xml" Id="R7de271f6f0724a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098ea6b39e440c6" /><Relationship Type="http://schemas.openxmlformats.org/officeDocument/2006/relationships/notesSlide" Target="/ppt/notesSlides/notesSlide20.xml" Id="Rc067ae660ba347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c1f4258a827420e" /><Relationship Type="http://schemas.openxmlformats.org/officeDocument/2006/relationships/notesSlide" Target="/ppt/notesSlides/notesSlide21.xml" Id="R54eba0618df042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e725f302d7c4141" /><Relationship Type="http://schemas.openxmlformats.org/officeDocument/2006/relationships/image" Target="/ppt/media/image2.png" Id="R65235b79c7e14be8" /><Relationship Type="http://schemas.openxmlformats.org/officeDocument/2006/relationships/image" Target="/ppt/media/image.svg" Id="R95fbaf9d2bb640f5" /><Relationship Type="http://schemas.openxmlformats.org/officeDocument/2006/relationships/notesSlide" Target="/ppt/notesSlides/notesSlide22.xml" Id="Rcfd3b5daba8942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feb813b0b6344b7" /><Relationship Type="http://schemas.openxmlformats.org/officeDocument/2006/relationships/notesSlide" Target="/ppt/notesSlides/notesSlide23.xml" Id="R9b60fbe0419d44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d62a3a3244b4af5" /><Relationship Type="http://schemas.openxmlformats.org/officeDocument/2006/relationships/notesSlide" Target="/ppt/notesSlides/notesSlide24.xml" Id="Ra71fde444bf546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24d31c33d104be6" /><Relationship Type="http://schemas.openxmlformats.org/officeDocument/2006/relationships/notesSlide" Target="/ppt/notesSlides/notesSlide25.xml" Id="R1c5128f1c82c4a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8a4a127a54f4526" /><Relationship Type="http://schemas.openxmlformats.org/officeDocument/2006/relationships/notesSlide" Target="/ppt/notesSlides/notesSlide26.xml" Id="R25a484c15d61467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e2b15e147504a14" /><Relationship Type="http://schemas.openxmlformats.org/officeDocument/2006/relationships/notesSlide" Target="/ppt/notesSlides/notesSlide27.xml" Id="Rd9bf0ff59b0b43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151f1b75e3940f9" /><Relationship Type="http://schemas.openxmlformats.org/officeDocument/2006/relationships/notesSlide" Target="/ppt/notesSlides/notesSlide28.xml" Id="Ra13c09f7b8e74b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b2f3e4a2ebb45bf" /><Relationship Type="http://schemas.openxmlformats.org/officeDocument/2006/relationships/notesSlide" Target="/ppt/notesSlides/notesSlide29.xml" Id="R366c652a4b5a46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26c55bd44374dc7" /><Relationship Type="http://schemas.openxmlformats.org/officeDocument/2006/relationships/notesSlide" Target="/ppt/notesSlides/notesSlide30.xml" Id="Ree7a556a8ea940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8adb8c376e84092" /><Relationship Type="http://schemas.openxmlformats.org/officeDocument/2006/relationships/notesSlide" Target="/ppt/notesSlides/notesSlide31.xml" Id="Ra9d848ce11ef4a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bcae7186c464fce" /><Relationship Type="http://schemas.openxmlformats.org/officeDocument/2006/relationships/notesSlide" Target="/ppt/notesSlides/notesSlide32.xml" Id="Rd720240e327a47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be1d9b99ff04136" /><Relationship Type="http://schemas.openxmlformats.org/officeDocument/2006/relationships/notesSlide" Target="/ppt/notesSlides/notesSlide33.xml" Id="R46d46b3520934ee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91b16fc75884aee" /><Relationship Type="http://schemas.openxmlformats.org/officeDocument/2006/relationships/notesSlide" Target="/ppt/notesSlides/notesSlide34.xml" Id="R5cab3a63ea2c4b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6e2f92d1b3b4ac4" /><Relationship Type="http://schemas.openxmlformats.org/officeDocument/2006/relationships/notesSlide" Target="/ppt/notesSlides/notesSlide35.xml" Id="Rd50758de2f5f48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ad933eaa6b14397" /><Relationship Type="http://schemas.openxmlformats.org/officeDocument/2006/relationships/notesSlide" Target="/ppt/notesSlides/notesSlide36.xml" Id="Ra14c820c3d704c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f164be077554b62" /><Relationship Type="http://schemas.openxmlformats.org/officeDocument/2006/relationships/notesSlide" Target="/ppt/notesSlides/notesSlide37.xml" Id="Ra5ca446bc7f149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a5c93816c5949d7" /><Relationship Type="http://schemas.openxmlformats.org/officeDocument/2006/relationships/notesSlide" Target="/ppt/notesSlides/notesSlide38.xml" Id="Rc49d24c06f584be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5b0f51c90f34886" /><Relationship Type="http://schemas.openxmlformats.org/officeDocument/2006/relationships/notesSlide" Target="/ppt/notesSlides/notesSlide39.xml" Id="R3c04bd6122d9491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277552b4931476a" /><Relationship Type="http://schemas.openxmlformats.org/officeDocument/2006/relationships/notesSlide" Target="/ppt/notesSlides/notesSlide40.xml" Id="Ra46bc47e335b43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c59d9d6c224f39" /><Relationship Type="http://schemas.openxmlformats.org/officeDocument/2006/relationships/notesSlide" Target="/ppt/notesSlides/notesSlide41.xml" Id="Rb7672669e90f484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10f02b3184a5407d" /><Relationship Type="http://schemas.openxmlformats.org/officeDocument/2006/relationships/notesSlide" Target="/ppt/notesSlides/notesSlide42.xml" Id="R9c4f033105644c0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4f9546af5b44d9" /><Relationship Type="http://schemas.openxmlformats.org/officeDocument/2006/relationships/notesSlide" Target="/ppt/notesSlides/notesSlide43.xml" Id="Rdfc59d9198db4b3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8fc8ecb44074fa1" /><Relationship Type="http://schemas.openxmlformats.org/officeDocument/2006/relationships/notesSlide" Target="/ppt/notesSlides/notesSlide44.xml" Id="R1d3451767474485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9bf93d83c0c4bba" /><Relationship Type="http://schemas.openxmlformats.org/officeDocument/2006/relationships/notesSlide" Target="/ppt/notesSlides/notesSlide45.xml" Id="Rdffb68d9ead0477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524f9203d53c437d" /><Relationship Type="http://schemas.openxmlformats.org/officeDocument/2006/relationships/notesSlide" Target="/ppt/notesSlides/notesSlide46.xml" Id="Rfdadcc57779241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098ae8d1e4ab6" /><Relationship Type="http://schemas.openxmlformats.org/officeDocument/2006/relationships/notesSlide" Target="/ppt/notesSlides/notesSlide47.xml" Id="R33cfae8a4acf45a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1fa3021dddf4dfd" /><Relationship Type="http://schemas.openxmlformats.org/officeDocument/2006/relationships/image" Target="/ppt/media/image3.png" Id="R210146759af24cf1" /><Relationship Type="http://schemas.openxmlformats.org/officeDocument/2006/relationships/image" Target="/ppt/media/image2.svg" Id="Rbfc6ae9b298b4b24" /><Relationship Type="http://schemas.openxmlformats.org/officeDocument/2006/relationships/notesSlide" Target="/ppt/notesSlides/notesSlide48.xml" Id="Ra2d323e25a0b4a4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ef1e5f884e43a9" /><Relationship Type="http://schemas.openxmlformats.org/officeDocument/2006/relationships/notesSlide" Target="/ppt/notesSlides/notesSlide49.xml" Id="Rc6cd970fbc9749b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a93695d89854986" /><Relationship Type="http://schemas.openxmlformats.org/officeDocument/2006/relationships/notesSlide" Target="/ppt/notesSlides/notesSlide50.xml" Id="R4dc88fd029c64f4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f09a46c7e4b4dca" /><Relationship Type="http://schemas.openxmlformats.org/officeDocument/2006/relationships/notesSlide" Target="/ppt/notesSlides/notesSlide51.xml" Id="R0cac7b1c0e0f47a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df84b3eceae4a3a" /><Relationship Type="http://schemas.openxmlformats.org/officeDocument/2006/relationships/notesSlide" Target="/ppt/notesSlides/notesSlide52.xml" Id="R6a0ad9e01b1245a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74251e806ced4677" /><Relationship Type="http://schemas.openxmlformats.org/officeDocument/2006/relationships/notesSlide" Target="/ppt/notesSlides/notesSlide53.xml" Id="R998d21dcf2fb48f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42bfdb92856444d" /><Relationship Type="http://schemas.openxmlformats.org/officeDocument/2006/relationships/notesSlide" Target="/ppt/notesSlides/notesSlide54.xml" Id="R0bc2f95975fd4ee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030f7e766a245d0" /><Relationship Type="http://schemas.openxmlformats.org/officeDocument/2006/relationships/notesSlide" Target="/ppt/notesSlides/notesSlide55.xml" Id="R6b8f9487d01c48d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4ebcb7a83e94287" /><Relationship Type="http://schemas.openxmlformats.org/officeDocument/2006/relationships/notesSlide" Target="/ppt/notesSlides/notesSlide56.xml" Id="Re33f749d70a0460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c56b7c29c734498" /><Relationship Type="http://schemas.openxmlformats.org/officeDocument/2006/relationships/notesSlide" Target="/ppt/notesSlides/notesSlide57.xml" Id="R8e87f0e5093d4e3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c4ef9ca102945b4" /><Relationship Type="http://schemas.openxmlformats.org/officeDocument/2006/relationships/notesSlide" Target="/ppt/notesSlides/notesSlide58.xml" Id="Rc725a8750e7b475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aa49f5b79a04f48" /><Relationship Type="http://schemas.openxmlformats.org/officeDocument/2006/relationships/notesSlide" Target="/ppt/notesSlides/notesSlide59.xml" Id="R5e0a2019c7694e4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6f81253bbb94416" /><Relationship Type="http://schemas.openxmlformats.org/officeDocument/2006/relationships/notesSlide" Target="/ppt/notesSlides/notesSlide60.xml" Id="Rc16a313104694ca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538ce13264f4f38" /><Relationship Type="http://schemas.openxmlformats.org/officeDocument/2006/relationships/notesSlide" Target="/ppt/notesSlides/notesSlide61.xml" Id="Raedfa34e4c474fd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098b72768db4665" /><Relationship Type="http://schemas.openxmlformats.org/officeDocument/2006/relationships/notesSlide" Target="/ppt/notesSlides/notesSlide62.xml" Id="R022c656c6eb9477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957b753059c406a" /><Relationship Type="http://schemas.openxmlformats.org/officeDocument/2006/relationships/notesSlide" Target="/ppt/notesSlides/notesSlide63.xml" Id="R4630647a9f6b464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af67dfd454a41c1" /><Relationship Type="http://schemas.openxmlformats.org/officeDocument/2006/relationships/notesSlide" Target="/ppt/notesSlides/notesSlide64.xml" Id="R611463178a4a429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f76b85631514bd2" /><Relationship Type="http://schemas.openxmlformats.org/officeDocument/2006/relationships/notesSlide" Target="/ppt/notesSlides/notesSlide65.xml" Id="R65b05bb4ff94440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be7cf4f25a34b86" /><Relationship Type="http://schemas.openxmlformats.org/officeDocument/2006/relationships/notesSlide" Target="/ppt/notesSlides/notesSlide66.xml" Id="Rc1eae4857522451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5b661684d664408" /><Relationship Type="http://schemas.openxmlformats.org/officeDocument/2006/relationships/notesSlide" Target="/ppt/notesSlides/notesSlide67.xml" Id="R9db51d3620ad416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b06aa22f65445d" /><Relationship Type="http://schemas.openxmlformats.org/officeDocument/2006/relationships/notesSlide" Target="/ppt/notesSlides/notesSlide68.xml" Id="R14abe92e02c647b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6f6322a5c54b6b" /><Relationship Type="http://schemas.openxmlformats.org/officeDocument/2006/relationships/notesSlide" Target="/ppt/notesSlides/notesSlide69.xml" Id="R8e6a33ea24144d0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d1501b8801745e1" /><Relationship Type="http://schemas.openxmlformats.org/officeDocument/2006/relationships/notesSlide" Target="/ppt/notesSlides/notesSlide70.xml" Id="R395475ba293a442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e0769f05bfb468c" /><Relationship Type="http://schemas.openxmlformats.org/officeDocument/2006/relationships/notesSlide" Target="/ppt/notesSlides/notesSlide71.xml" Id="Rf84c676b4bac474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8f5e0ccaaa405b" /><Relationship Type="http://schemas.openxmlformats.org/officeDocument/2006/relationships/notesSlide" Target="/ppt/notesSlides/notesSlide72.xml" Id="Rf1f516ff755a4a1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182f8b3cfbf41df" /><Relationship Type="http://schemas.openxmlformats.org/officeDocument/2006/relationships/notesSlide" Target="/ppt/notesSlides/notesSlide73.xml" Id="Re4902ea1208b4675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c6be38c47494c5b" /><Relationship Type="http://schemas.openxmlformats.org/officeDocument/2006/relationships/notesSlide" Target="/ppt/notesSlides/notesSlide74.xml" Id="R7c7c7897514f462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d998d355b564590" /><Relationship Type="http://schemas.openxmlformats.org/officeDocument/2006/relationships/image" Target="/ppt/media/image4.png" Id="R2993602fbe8644fc" /><Relationship Type="http://schemas.openxmlformats.org/officeDocument/2006/relationships/image" Target="/ppt/media/image3.svg" Id="R019b79feecc1425f" /><Relationship Type="http://schemas.openxmlformats.org/officeDocument/2006/relationships/notesSlide" Target="/ppt/notesSlides/notesSlide75.xml" Id="R63e3693b56aa460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fce4e477cb743e3" /><Relationship Type="http://schemas.openxmlformats.org/officeDocument/2006/relationships/notesSlide" Target="/ppt/notesSlides/notesSlide76.xml" Id="R587ac5ee270d4200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a3e6e7d5158431b" /><Relationship Type="http://schemas.openxmlformats.org/officeDocument/2006/relationships/notesSlide" Target="/ppt/notesSlides/notesSlide77.xml" Id="R56c99af700244f8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a7b8ea173c34266" /><Relationship Type="http://schemas.openxmlformats.org/officeDocument/2006/relationships/image" Target="/ppt/media/image5.png" Id="R3f8442eaf2074882" /><Relationship Type="http://schemas.openxmlformats.org/officeDocument/2006/relationships/image" Target="/ppt/media/image4.svg" Id="R49522a1e9ce04f99" /><Relationship Type="http://schemas.openxmlformats.org/officeDocument/2006/relationships/notesSlide" Target="/ppt/notesSlides/notesSlide78.xml" Id="R445928e7821343f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e067c34587e48bb" /><Relationship Type="http://schemas.openxmlformats.org/officeDocument/2006/relationships/notesSlide" Target="/ppt/notesSlides/notesSlide79.xml" Id="R31c85509c7ec4a6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c4481d67e4948a9" /><Relationship Type="http://schemas.openxmlformats.org/officeDocument/2006/relationships/notesSlide" Target="/ppt/notesSlides/notesSlide80.xml" Id="R9b5de2984c844efc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f5e8e10a5a234431" /><Relationship Type="http://schemas.openxmlformats.org/officeDocument/2006/relationships/notesSlide" Target="/ppt/notesSlides/notesSlide81.xml" Id="Rfa8d9c0706ff4b2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77a4ce43340fc" /><Relationship Type="http://schemas.openxmlformats.org/officeDocument/2006/relationships/notesSlide" Target="/ppt/notesSlides/notesSlide82.xml" Id="R7b84c89c8672423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2dc0963aa54bea" /><Relationship Type="http://schemas.openxmlformats.org/officeDocument/2006/relationships/notesSlide" Target="/ppt/notesSlides/notesSlide83.xml" Id="Rdd173542ad044f5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42e65315921450b" /><Relationship Type="http://schemas.openxmlformats.org/officeDocument/2006/relationships/notesSlide" Target="/ppt/notesSlides/notesSlide84.xml" Id="R66de6ece42744b3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bcce4047b10475a" /><Relationship Type="http://schemas.openxmlformats.org/officeDocument/2006/relationships/notesSlide" Target="/ppt/notesSlides/notesSlide85.xml" Id="R950b88b0370945c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35f4ee0f8ed41bd" /><Relationship Type="http://schemas.openxmlformats.org/officeDocument/2006/relationships/notesSlide" Target="/ppt/notesSlides/notesSlide86.xml" Id="Rb66ea48f761a478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2a429c7346341b4" /><Relationship Type="http://schemas.openxmlformats.org/officeDocument/2006/relationships/notesSlide" Target="/ppt/notesSlides/notesSlide87.xml" Id="Rc575a8f616f04737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7d0d86c879f49f4" /><Relationship Type="http://schemas.openxmlformats.org/officeDocument/2006/relationships/notesSlide" Target="/ppt/notesSlides/notesSlide88.xml" Id="Rb0e3cb51c6514170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b938718bbea43b9" /><Relationship Type="http://schemas.openxmlformats.org/officeDocument/2006/relationships/image" Target="/ppt/media/image6.png" Id="Re032185834be4aed" /><Relationship Type="http://schemas.openxmlformats.org/officeDocument/2006/relationships/image" Target="/ppt/media/image5.svg" Id="R36fc7497075f4a5c" /><Relationship Type="http://schemas.openxmlformats.org/officeDocument/2006/relationships/notesSlide" Target="/ppt/notesSlides/notesSlide89.xml" Id="Reef3826d7af1428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c9145ca8b7c4116" /><Relationship Type="http://schemas.openxmlformats.org/officeDocument/2006/relationships/notesSlide" Target="/ppt/notesSlides/notesSlide90.xml" Id="R1be9328a2afe4fc1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6664bc3ba7148e3" /><Relationship Type="http://schemas.openxmlformats.org/officeDocument/2006/relationships/notesSlide" Target="/ppt/notesSlides/notesSlide91.xml" Id="Rde224af4f0f44efd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b92caa80ff4baf" /><Relationship Type="http://schemas.openxmlformats.org/officeDocument/2006/relationships/notesSlide" Target="/ppt/notesSlides/notesSlide92.xml" Id="Rdf80d8a6187440e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c26655acc234d07" /><Relationship Type="http://schemas.openxmlformats.org/officeDocument/2006/relationships/notesSlide" Target="/ppt/notesSlides/notesSlide93.xml" Id="Rde21eda24be944a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be977bf9e5c4bb8" /><Relationship Type="http://schemas.openxmlformats.org/officeDocument/2006/relationships/notesSlide" Target="/ppt/notesSlides/notesSlide94.xml" Id="R50dd726fba38426d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6d0e679ccc44981" /><Relationship Type="http://schemas.openxmlformats.org/officeDocument/2006/relationships/notesSlide" Target="/ppt/notesSlides/notesSlide95.xml" Id="R75bfa39f6ff241f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b4b4c4469c4e92" /><Relationship Type="http://schemas.openxmlformats.org/officeDocument/2006/relationships/notesSlide" Target="/ppt/notesSlides/notesSlide96.xml" Id="Rfb3e194eb2844e15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896455db2454620" /><Relationship Type="http://schemas.openxmlformats.org/officeDocument/2006/relationships/notesSlide" Target="/ppt/notesSlides/notesSlide97.xml" Id="Rec11059aee944c42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6921dc2518824a2f" /><Relationship Type="http://schemas.openxmlformats.org/officeDocument/2006/relationships/notesSlide" Target="/ppt/notesSlides/notesSlide98.xml" Id="Rd16259f4da62461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9852b78c8e0496e" /><Relationship Type="http://schemas.openxmlformats.org/officeDocument/2006/relationships/notesSlide" Target="/ppt/notesSlides/notesSlide99.xml" Id="Rd85c325d53584035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9b3893c0ca4d0d" /><Relationship Type="http://schemas.openxmlformats.org/officeDocument/2006/relationships/notesSlide" Target="/ppt/notesSlides/notesSlide100.xml" Id="R36cfc9ad7d6f4d0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11728a2f39430a" /><Relationship Type="http://schemas.openxmlformats.org/officeDocument/2006/relationships/notesSlide" Target="/ppt/notesSlides/notesSlide101.xml" Id="Rbfc1940904e445c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427300a8e55c4efd" /><Relationship Type="http://schemas.openxmlformats.org/officeDocument/2006/relationships/notesSlide" Target="/ppt/notesSlides/notesSlide102.xml" Id="Rdd43e381a3c54d90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7d03844a5cf4594" /><Relationship Type="http://schemas.openxmlformats.org/officeDocument/2006/relationships/notesSlide" Target="/ppt/notesSlides/notesSlide103.xml" Id="R24cc2d5adef14e2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a6846199a947de" /><Relationship Type="http://schemas.openxmlformats.org/officeDocument/2006/relationships/notesSlide" Target="/ppt/notesSlides/notesSlide104.xml" Id="R184d7c848e2f447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bba8e6d39445a" /><Relationship Type="http://schemas.openxmlformats.org/officeDocument/2006/relationships/notesSlide" Target="/ppt/notesSlides/notesSlide105.xml" Id="Rf9dbdbd548b8474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ea2f0f408439c" /><Relationship Type="http://schemas.openxmlformats.org/officeDocument/2006/relationships/notesSlide" Target="/ppt/notesSlides/notesSlide106.xml" Id="R767a5428da1b4107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68ac3947257473d" /><Relationship Type="http://schemas.openxmlformats.org/officeDocument/2006/relationships/notesSlide" Target="/ppt/notesSlides/notesSlide107.xml" Id="R30ac39fc173b4aa7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0d1db5329f4476" /><Relationship Type="http://schemas.openxmlformats.org/officeDocument/2006/relationships/notesSlide" Target="/ppt/notesSlides/notesSlide108.xml" Id="R3414bbaedb104e59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3694e88b56b4b25" /><Relationship Type="http://schemas.openxmlformats.org/officeDocument/2006/relationships/notesSlide" Target="/ppt/notesSlides/notesSlide109.xml" Id="R40d2c60107d7433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7aaa05280e74ec8" /><Relationship Type="http://schemas.openxmlformats.org/officeDocument/2006/relationships/image" Target="/ppt/media/image7.png" Id="Rcbad9d5faf314415" /><Relationship Type="http://schemas.openxmlformats.org/officeDocument/2006/relationships/image" Target="/ppt/media/image6.svg" Id="R7debdc3522da49ae" /><Relationship Type="http://schemas.openxmlformats.org/officeDocument/2006/relationships/notesSlide" Target="/ppt/notesSlides/notesSlide110.xml" Id="R5af787402f7f4555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cab7104ea41fc" /><Relationship Type="http://schemas.openxmlformats.org/officeDocument/2006/relationships/notesSlide" Target="/ppt/notesSlides/notesSlide111.xml" Id="Rc96072d3252b45a4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b10721dde4bd5" /><Relationship Type="http://schemas.openxmlformats.org/officeDocument/2006/relationships/notesSlide" Target="/ppt/notesSlides/notesSlide112.xml" Id="R2ac3667059ed49d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3298b07ea45da" /><Relationship Type="http://schemas.openxmlformats.org/officeDocument/2006/relationships/notesSlide" Target="/ppt/notesSlides/notesSlide113.xml" Id="Rae5329aac376487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5051cecb7384961" /><Relationship Type="http://schemas.openxmlformats.org/officeDocument/2006/relationships/notesSlide" Target="/ppt/notesSlides/notesSlide114.xml" Id="R82a214b7e9f14f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896AC1B-3F7F-4E5C-AEFF-DB41115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8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964653-D77F-45A1-A804-A865C05C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8 · Alteraciones y enfermedades auditivas, estudios y rehabilitación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CC16B03-FFB4-4EFB-864E-552E32A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De la exposición y la medición a una interpretación con límites</a:t>
            </a:r>
          </a:p>
        </p:txBody>
      </p:sp>
      <p:sp>
        <p:nvSpPr>
          <p:cNvPr id="4" name="cover-step-1-anchor">
            <a:extLst xmlns:a="http://schemas.openxmlformats.org/drawingml/2006/main">
              <a:ext uri="{FF2B5EF4-FFF2-40B4-BE49-F238E27FC236}">
                <a16:creationId xmlns:a16="http://schemas.microsoft.com/office/drawing/2014/main" id="{CAABCDB7-C66A-4E61-89B1-08D0CFB1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over-step-2-anchor">
            <a:extLst xmlns:a="http://schemas.openxmlformats.org/drawingml/2006/main">
              <a:ext uri="{FF2B5EF4-FFF2-40B4-BE49-F238E27FC236}">
                <a16:creationId xmlns:a16="http://schemas.microsoft.com/office/drawing/2014/main" id="{863AFC6D-F2BA-4699-A897-9060955A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over-step-3-anchor">
            <a:extLst xmlns:a="http://schemas.openxmlformats.org/drawingml/2006/main">
              <a:ext uri="{FF2B5EF4-FFF2-40B4-BE49-F238E27FC236}">
                <a16:creationId xmlns:a16="http://schemas.microsoft.com/office/drawing/2014/main" id="{9B353E3D-F923-4E5A-85A3-B7AD31B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ver-step-4-anchor">
            <a:extLst xmlns:a="http://schemas.openxmlformats.org/drawingml/2006/main">
              <a:ext uri="{FF2B5EF4-FFF2-40B4-BE49-F238E27FC236}">
                <a16:creationId xmlns:a16="http://schemas.microsoft.com/office/drawing/2014/main" id="{8C0F2E06-6EBB-4D71-B373-336C9B44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048750" y="2286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8239125" y="2809875"/>
            <a:ext cx="195262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48750" y="3905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0B9CB"/>
            </a:solidFill>
            <a:prstDash val="solid"/>
            <a:tailEnd type="arrow" w="med" len="med"/>
          </a:ln>
        </p:spPr>
      </p:cxnSp>
      <p:sp>
        <p:nvSpPr>
          <p:cNvPr id="11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9FDD5474-747F-413D-A4E3-8D798B9A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A2447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2" name="cover-step-1-text">
            <a:extLst xmlns:a="http://schemas.openxmlformats.org/drawingml/2006/main">
              <a:ext uri="{FF2B5EF4-FFF2-40B4-BE49-F238E27FC236}">
                <a16:creationId xmlns:a16="http://schemas.microsoft.com/office/drawing/2014/main" id="{235274DA-D117-4304-8F16-EF27175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exposición</a:t>
            </a:r>
          </a:p>
        </p:txBody>
      </p:sp>
      <p:sp>
        <p:nvSpPr>
          <p:cNvPr id="13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83876427-2534-471D-A3C0-0A881D7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A2447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4" name="cover-step-2-text">
            <a:extLst xmlns:a="http://schemas.openxmlformats.org/drawingml/2006/main">
              <a:ext uri="{FF2B5EF4-FFF2-40B4-BE49-F238E27FC236}">
                <a16:creationId xmlns:a16="http://schemas.microsoft.com/office/drawing/2014/main" id="{7BACC5AC-A026-4738-9A46-B6AB772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estudio</a:t>
            </a:r>
          </a:p>
        </p:txBody>
      </p:sp>
      <p:sp>
        <p:nvSpPr>
          <p:cNvPr id="15" name="cover-step-3">
            <a:extLst xmlns:a="http://schemas.openxmlformats.org/drawingml/2006/main">
              <a:ext uri="{FF2B5EF4-FFF2-40B4-BE49-F238E27FC236}">
                <a16:creationId xmlns:a16="http://schemas.microsoft.com/office/drawing/2014/main" id="{DEDDC652-8759-499B-8D0C-667BCE1E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7384F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6" name="cover-step-3-text">
            <a:extLst xmlns:a="http://schemas.openxmlformats.org/drawingml/2006/main">
              <a:ext uri="{FF2B5EF4-FFF2-40B4-BE49-F238E27FC236}">
                <a16:creationId xmlns:a16="http://schemas.microsoft.com/office/drawing/2014/main" id="{C62FE088-09AE-4F03-A8FC-76CD59E8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17" name="cover-step-4">
            <a:extLst xmlns:a="http://schemas.openxmlformats.org/drawingml/2006/main">
              <a:ext uri="{FF2B5EF4-FFF2-40B4-BE49-F238E27FC236}">
                <a16:creationId xmlns:a16="http://schemas.microsoft.com/office/drawing/2014/main" id="{E7210B44-851E-43D7-BA99-A64A5656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1619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7384F"/>
          </a:solidFill>
          <a:ln xmlns:a="http://schemas.openxmlformats.org/drawingml/2006/main" w="14288">
            <a:solidFill>
              <a:srgbClr val="CFA7BA"/>
            </a:solidFill>
            <a:prstDash val="solid"/>
          </a:ln>
        </p:spPr>
      </p:sp>
      <p:sp>
        <p:nvSpPr>
          <p:cNvPr id="18" name="cover-step-4-text">
            <a:extLst xmlns:a="http://schemas.openxmlformats.org/drawingml/2006/main">
              <a:ext uri="{FF2B5EF4-FFF2-40B4-BE49-F238E27FC236}">
                <a16:creationId xmlns:a16="http://schemas.microsoft.com/office/drawing/2014/main" id="{809723FA-E830-4F4D-B785-458E0593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intervención</a:t>
            </a:r>
          </a:p>
        </p:txBody>
      </p:sp>
      <p:sp>
        <p:nvSpPr>
          <p:cNvPr id="19" name="cover-route">
            <a:extLst xmlns:a="http://schemas.openxmlformats.org/drawingml/2006/main">
              <a:ext uri="{FF2B5EF4-FFF2-40B4-BE49-F238E27FC236}">
                <a16:creationId xmlns:a16="http://schemas.microsoft.com/office/drawing/2014/main" id="{2D7142A7-B8D0-4874-B70F-E6B09B1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4 encuentros · ruta central + ampliaciones + respaldo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4F106A-1AFE-4548-882A-8557DB0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949D24-1248-43D3-AD06-4CCB6CC9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queja, varias preguntas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676F1804-87D7-43CD-8BB4-BBB5229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Subir el televisor, comprender peor en ruido y percibir tinnitus no describen el mismo fenómeno.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breve con tres observaciones y consigna “¿qué mediría primero?”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59533E5-CE05-435C-826C-92AC3568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8CFAFD64-32AA-45EA-B811-C760D3D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545A2B9-6127-4150-8830-DC7BFF70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breve con tres observaciones y consigna “¿qué mediría primero?”.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87D3C5E-0A54-4FAA-853F-093210D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E5777155-3FB4-4967-B35E-A68210DE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D22B766C-F2D8-45CF-8137-2DE946B1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03969191-28F4-4073-8EB8-6E04CA4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E676C6-505F-4895-A4A2-17417413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E567AB-1A28-4FF3-835E-86EB6ECB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¿Exposición, síntoma o resultado?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F15BAD1B-9898-4EF9-89E7-EA976F5C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A7DEB46-3BA4-4208-927C-BEFDCD3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1F133867-3B6F-4B61-BFBB-757A7DB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Clasifique cada dato: exposición, síntoma o resultado.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E0361C8A-84DA-4E0D-B185-87299C1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CFF47850-C1FB-4187-A417-B3334CF4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BDE96C6A-4A47-45C6-B3EF-5898286B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42A0DC51-9072-4C62-B8FE-E172486F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837A64-965B-4E7F-B6C9-898588E7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0D9ADD35-38E5-461A-92E7-E9A1339A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93EF29D7-D529-441C-8799-2412F54C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FC534E-84CD-4817-AB2E-477223D0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7AF30A-DEF0-40E8-BB5D-63A5514F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C921772A-BF2F-4237-8A82-56CA328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Escalas, señal–sistema, vías auditivas y tarea perceptual reaparecen con una pregunta nueva.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U4: niveles U5: señal/sistema y L_Aeq,T U6: vías/transducción U7: umbral/tarea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F5FDE6F-301C-42F7-B192-23FFF53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CA9D95-0032-4CA6-9110-A27A6A1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C67DA47B-13C7-4FCF-8072-84C5B529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29F2EC5-A6BA-432D-B76B-7C36836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B828F7-E75C-4E43-9103-7CD7C28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DFEC18-B3EC-4273-85C9-0E58E28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Objetivos: distinguir, explicar y comparar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4CFD61-2BE0-4851-8447-11A8175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Resultados de aprendizaje observables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A584BEA8-9CCF-4600-A510-93C037B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Clasificar exposición, alteración, síntoma, resultado y limitación.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TTS, pérdida inducida por ruido, tinnitus y presbiacusia con alcance introductorio.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estudios por estímulo, sistema, sensor o tarea, magnitud y límite.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audiogramas, curvas y registros sin convertirlos en diagnósticos.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8CFBDEE-E72A-41FB-823F-FF2A14A4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FEFEC54B-D2A9-4383-9E5F-0833A91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CF2DB9B2-DB25-44FC-87B1-A87C47AC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32DAC8D-C9D3-42F4-B696-03DC6EB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7DE275-6F72-471D-A433-BA9047B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3F65C-0D93-482B-A2EF-4214429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Objetivos: calcular, relacionar e integrar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43145F-253F-4EA5-A030-E161A02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Resultados de aprendizaje observables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A60396D0-44F0-48EB-B2F8-3BE82E0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diferencias entre mediciones compatibles y explicar sus unidades.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dispositivos por entrada, procesamiento, salida y punto de entrega.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Justificar por qué una batería integra evidencia sin producir certeza automática.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191A88-AE6D-405E-BD7F-348687D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C5750341-4F42-4BA6-AC20-ACAE4808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5F5A8CA2-5D1F-40A0-AFA8-5304B1D7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0D713F5-2144-4069-85DB-31CBEF4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30FDF8-ADD6-4044-A3FB-35770EDC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EECC7-0AF7-4CA8-95EB-722E2A1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Mapa de la clase: evidencia, estudios, dispositivos e integración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7CA761C3-A945-4098-B7A9-13A3525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recorrido va de la clase de dato a la pregunta que una prueba o dispositivo puede responder.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Once bloques centrales agrupados en cuatro encuentros y un respaldo no lineal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16036A6-6B2B-4014-A61B-5B7E686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5670148E-2AEC-46FB-9D52-BE1297D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EBAF7C4B-0A72-4924-91D2-C8C1122D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C8D9F31-4E8C-44F7-BF7F-D52992A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3FA5D1-19AE-4047-A4B9-75BC8163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5CEC9BA-7E04-43F4-ADB0-5ACF2B33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CB0C538B-F432-4EDC-B2D6-8D3E2044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clase de dato tenemos?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1E8EEEC-EC6D-41F1-B828-2CA54B1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EFE52C-B69F-4691-AF89-6F84D645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1C705-E4DB-4353-BFBF-9615705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categorías separan lo que ocurrió de lo que se midió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02814DA1-8788-4C4F-A0D4-ED7EEE3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Exposición: qué señal o agente actuó y durante cuánto tiempo.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Alteración: cambio físico o funcional del sistema.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Síntoma: experiencia referida por la persona.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dato obtenido mediante una prueba definida.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Limitación: dificultad en una actividad o situación concreta.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A91D9B-F099-46F6-A519-DCF5812D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C4E83BC4-4DDD-4C24-BED7-D87F6939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927CEE39-5FA4-4BFE-A957-9AB80DD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A433FAC-6263-4101-8E4F-EFF29FA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0A8C73-8AA2-4B6A-B073-FEA2D5D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AA1F16-8875-4024-8352-6C8AD5E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misma consulta abre seis preguntas distintas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81F74215-1E68-4F91-9204-C4CF207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3D1C8C45-ABD4-4A7C-AF80-6B83EE8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fue la exposición?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883866AC-C1C7-4B0C-A47F-5344A853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E6978692-A87B-4D55-9A50-2DA74B5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umbral se obtuvo?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66CC0EE6-0C36-44E0-ADDC-0E5239A4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62881426-82CB-4232-AB74-3756ACF8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informa el oído medio?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44626E1D-ADD4-497D-A905-E15E533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1B8134E0-B4F2-43C5-8A68-B7CC1E0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respuesta coclear o neural se registró?</a:t>
            </a:r>
          </a:p>
        </p:txBody>
      </p:sp>
      <p:sp>
        <p:nvSpPr>
          <p:cNvPr id="10" name="process-5">
            <a:extLst xmlns:a="http://schemas.openxmlformats.org/drawingml/2006/main">
              <a:ext uri="{FF2B5EF4-FFF2-40B4-BE49-F238E27FC236}">
                <a16:creationId xmlns:a16="http://schemas.microsoft.com/office/drawing/2014/main" id="{914775B7-F052-4230-8CAD-012E9AF7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294BEED8-5603-45F0-9D7B-DEF2003F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se desempeña la persona al comunicarse?</a:t>
            </a:r>
          </a:p>
        </p:txBody>
      </p:sp>
      <p:sp>
        <p:nvSpPr>
          <p:cNvPr id="12" name="process-6">
            <a:extLst xmlns:a="http://schemas.openxmlformats.org/drawingml/2006/main">
              <a:ext uri="{FF2B5EF4-FFF2-40B4-BE49-F238E27FC236}">
                <a16:creationId xmlns:a16="http://schemas.microsoft.com/office/drawing/2014/main" id="{7ED8AD69-D332-498B-8703-A5B5BB95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process-6-text">
            <a:extLst xmlns:a="http://schemas.openxmlformats.org/drawingml/2006/main">
              <a:ext uri="{FF2B5EF4-FFF2-40B4-BE49-F238E27FC236}">
                <a16:creationId xmlns:a16="http://schemas.microsoft.com/office/drawing/2014/main" id="{80919517-B48C-4925-978E-32482D1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transforma y entrega un dispositivo?</a:t>
            </a:r>
          </a:p>
        </p:txBody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860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529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867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536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5D1EDA93-C7F7-4B4D-B509-B7BA1E4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 xmlns:a="http://schemas.openxmlformats.org/drawingml/2006/main">
              <a:ext uri="{FF2B5EF4-FFF2-40B4-BE49-F238E27FC236}">
                <a16:creationId xmlns:a16="http://schemas.microsoft.com/office/drawing/2014/main" id="{00DCD9B2-48EC-4363-B524-0BBEA2E4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 xmlns:a="http://schemas.openxmlformats.org/drawingml/2006/main">
              <a:ext uri="{FF2B5EF4-FFF2-40B4-BE49-F238E27FC236}">
                <a16:creationId xmlns:a16="http://schemas.microsoft.com/office/drawing/2014/main" id="{C0610D12-4A9A-4867-85B3-11E4715B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8E86F8D5-9DF0-48B4-B4DD-161BA0B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7F9BE7-A41A-438B-871A-81C090A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EB7AB1-4CA2-4CF8-AED4-E317804A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Clasifique cada dato antes de interpretarlo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435DA477-4B0D-42CA-B814-5F478D64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3FB9C20-11AF-4AE3-BFE6-A1D33025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5F20CB2B-0925-40ED-89BD-544A46B7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Clasifique las seis tarjetas y señale qué contexto falta.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B4E53827-3CAA-4AF5-8864-3F11DAD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5413309F-C076-41AA-8641-CAA159D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86B38A07-458E-449F-8A58-A0A832F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4CB560A-7A9B-4BAB-BEA0-FA199AF8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B8ED329E-6AC8-4396-9544-CE771FD5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62D0DA68-8DD9-4BEF-8218-D241AE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08FA598-6209-440B-A0AE-2BB3546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C9726F-1079-4833-93BC-D22678D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C6CDA8-789C-4678-BB26-F2D2F226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Conductivo, sensorioneural y mixto describen componentes comprometidos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BB096B9F-F5BC-4B4C-9B32-28DAC34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clasificación orienta qué partes de la cadena considerar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surge de un único dato.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columnas breves: transmisión, cóclea/neural, combinación batería necesaria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A6CD7527-C58A-429E-B6C3-D317F4F2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0507BBA9-E2C2-4F37-8D39-095CCAE1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40A861C1-AF25-4A6A-BE0C-8933E68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5E0958C-FAF2-40F6-9AC0-A583C4BF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A15548-6BAA-4D7E-86DF-5727457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35A1D0-5B2B-457F-AB5A-15E6252C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patrón compatible no demuestra una causa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A3793CE0-8EBF-439F-86A1-B0C6C5AE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D710C311-456C-461A-B4F1-89BBC603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C6F8AD7E-D9D9-4D7D-89AE-CD631724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frecuente: Un patrón compatible no demuestra una causa Corrección: La forma de un audiograma o timpanograma es un resultado, no una etiología. Antes de concluir: “Es frecuente pensar…” + “En realidad…” + datos que faltan.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29EECA1C-77A2-41B9-93B2-008965EC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75E73CC0-DCA4-4B2F-A42E-94F0FD7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2EA0C36-124C-45D0-98C0-698B42D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174D810-CB70-429E-9133-97786AC4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18CFA8-0901-4F2C-A564-74A0ABE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BB7EE59B-D0C8-4565-A253-40181528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57419F0C-B4F3-4577-A5C2-22CB15E6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A03410-E01F-44B8-B905-747D8633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42C840-5697-47D4-A6FB-6BC53E9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 y tinnitus no son el mismo fenómeno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E6F9FAC0-B96E-47B6-9379-5BBEB391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DF0FB4EA-B980-4D62-A636-F33895AD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2EB5B20A-2DF5-4B01-8EE4-0F41BF69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TTS: diferencia entre umbrales comparables, con frecuencia y tiempo declarados. Tinnitus: percepción referida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06E67B03-9DE3-4B61-94BF-7AF6F048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6373093D-00C3-4734-8328-2506793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742F6648-412E-4F7C-BD21-42ADE6F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necesita una fuente acústica externa. No intercambiar: un resultado conductual no describe por sí solo una experiencia perceptual.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DD6EB99-C557-44C6-8272-7A8F550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4A91BD5D-AA09-41E8-B879-66018FA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4E5F74-9767-437A-A25C-744A2CAC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A11E7FE-3102-464B-8801-C1C1C56A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535339-19F0-400D-B2F7-0A1652E8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0A7B3B-E9A9-4A0E-909E-86AC56D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batería responde preguntas complementarias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11831D36-2B29-42F8-A785-FC7D9B5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prueba aporta una pieza y también tiene límites técnicos e interpretativos.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 clínica general rodeada por antecedentes, prueba conductual y registros fisiológicos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63A67AB3-4036-4565-AD0B-624BD526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F2575915-A436-4D4E-A520-8AD3C22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60B9B3C-D54D-4188-BFE9-33692446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 clínica general rodeada por antecedentes, prueba conductual y registros fisiológicos.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DD93D5-34BD-4972-A9B8-2CCF0A6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6118CF42-439C-49AC-A5AB-845EE63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6B45A0D2-E9BF-46BC-8C36-460508C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5BD57EC-F17C-4E93-9FAA-541CF823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446B80-7CAB-47B6-AB55-07BF7DD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C8BDA4-91C4-4A3F-B9DF-1842E6C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primero clasificar, después interpretar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CCE5BA8-F2DC-42A1-9EFF-77CD64CD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640519DC-32B3-4DAF-A89E-C13486A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898D3021-F832-4E56-8149-B68B1AEF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Preguntar “¿qué clase de dato es?” evita confundir exposición, síntoma, medición y diagnóstico Cinco categorías, un ejemplo corregido y una pregunta de control</a:t>
            </a:r>
          </a:p>
        </p:txBody>
      </p:sp>
      <p:sp>
        <p:nvSpPr>
          <p:cNvPr id="5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14A822-4CC4-4181-82D7-D5B1F27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 xmlns:a="http://schemas.openxmlformats.org/drawingml/2006/main">
              <a:ext uri="{FF2B5EF4-FFF2-40B4-BE49-F238E27FC236}">
                <a16:creationId xmlns:a16="http://schemas.microsoft.com/office/drawing/2014/main" id="{9199E56D-8344-4ADD-AA14-CA0A5270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 xmlns:a="http://schemas.openxmlformats.org/drawingml/2006/main">
              <a:ext uri="{FF2B5EF4-FFF2-40B4-BE49-F238E27FC236}">
                <a16:creationId xmlns:a16="http://schemas.microsoft.com/office/drawing/2014/main" id="{F73A0A3F-5C3E-45DB-83B7-1444FBFC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7E70C2F-4F85-4036-AFF2-C7AA858A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75F1E6-B8A6-4598-81E8-FD334BA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F2D6ABDF-BF8F-4D40-9BE1-D72F665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E07B537-70D0-42AA-89A3-7D7072F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significa que un umbral cambie después de una exposición?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2F8DD56-5E6A-4F86-8705-EFAF61E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CFAA7A-348A-4989-9F87-118DCF3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1D698-8A46-4EED-97C7-82C6867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exposición no se resume en “muchos decibeles”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F7FD5C46-96BC-4B05-99EB-2990D08D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y descriptor: ¿qué magnitud se informó?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Ponderación: ¿se declaró A u otra respuesta?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Duración: ¿durante cuánto tiempo?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Espectro: ¿cómo se distribuye la energía en frecuencia?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Temporalidad: ¿continua, variable o impulsiva?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Contexto: describir no equivale a juzgar seguridad o legalidad.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866DF94-4686-467E-B7C5-44531866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B444AB-7E5F-4F19-9B6A-713D0EE2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86B311-E974-4ADA-A9A1-91976CEE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F14A811-EAC0-42AD-BD4F-DD62D16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D93C6D-445A-4C5C-A2FC-0503C71B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98400-C5DE-4BC3-B854-9B50AA9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 es una diferencia entre dos umbrales comparables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76E0F074-8D95-4A15-BFF4-7DC54DC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Definición: el desplazamiento temporal del umbral (TTS) es la diferencia entre un umbral posterior y uno de referencia.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Condiciones: misma frecuencia, escala, vía y procedimiento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 postexposición explícito.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confundir con tinnitus ni usar como pronóstico individual.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61E27376-6119-408C-8C09-BD9FE213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3AA5B8BF-B559-4FF4-AB74-8022D03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40250E76-BCE7-418A-B22E-22AA2044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Deben coincidir frecuencia, escala, vía y procedimiento también debe constar el tiempo postexposición.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A7098427-AD74-4C0D-96B8-F935A48B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C537B6C2-36D0-4188-9A92-7C19CEA6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986FA2D7-D769-4337-9660-A3F9878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7178D00-BF8D-4FB6-8DBF-73DEAA7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E5DC0B-31D8-46B2-9B03-8289EAC3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288465-36FE-4111-A987-C4976AC6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ΔL_T(f,Δt) compara el umbral posterior con el de referencia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CF82593-3EBA-4DAA-8176-5C85B73F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9E95D83C-CA71-46D2-9531-66206AB8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ΔL_T(f, Δt) = L_U,1(f, Δt) − L_U,0(f)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CA0CD34-032A-41F1-9670-242576D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3E228A3B-6FD9-42DF-A77D-4403CEA8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030206B-E30C-4A4B-A091-97C9B16A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positivo indica mayor nivel de audición requerido en la segunda medición no identifica mecanismo ni permanencia.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BDF46B2-CAA2-44E7-8B88-7767F75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11ECDE0-5EAE-4D87-9358-FE195AD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ED6AA03C-985E-466D-A7E3-F26F25F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positivo indica mayor nivel de audición requerido en la segunda medición no identifica mecanismo ni permanencia. Ecuación central, f, Δt, L_U,0, L_U,1, unidad dB y condiciones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39DBD621-F1DB-4213-B018-1D3112A3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0126A5EA-AFC3-4D65-837F-11052AD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59F363CA-2655-4CD7-BEDD-08C5410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5967DDD-A933-4315-9573-94B478E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0F92B9-124B-4F4D-8ABB-6EE066DB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A2286E-3E4C-48C1-9BAE-A4189D83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4000 Hz, el umbral aumenta 15 dB en la segunda medición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40D2564-CA3F-4001-9AAA-D13081EA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99244046-05AC-4E27-8BB7-D54EA3D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ΔL_T(4000 Hz, Δt) = 27 dB HL − 12 dB HL = 15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7BD87C89-2B14-49C4-A772-CA8E8DA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22EFCA2-8D46-44D2-BE88-25F9D5B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DDF35D5-CDD1-4F7F-8965-0CC821E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27 dB HL - 12 dB HL = 15 dB el resultado no prueba causa ni permanencia. Datos compatibilidad sustitución resultado límite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EFA439B-2373-4DD6-B3C8-124A3EB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18D6EF5-FE02-47E2-AC22-906979F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040D822-90E3-451F-8051-98F870E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ΔL_T(4000 Hz, Δt) = 27 dB HL − 12 dB HL = 15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561676B0-AC57-4FBC-AF36-630535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37E3F273-6C80-434D-86C4-B801D93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8A9820DC-24D5-45BB-B259-E3B2B9D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1621DA11-3740-4323-A91C-E0D11220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127768-3FDD-4826-AC2D-4B6832B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B73FB9-FD87-44ED-B8A3-05602E8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temporal reúne varias mediciones, no un pronóstico universal</a:t>
            </a:r>
          </a:p>
        </p:txBody>
      </p:sp>
      <p:pic>
        <p:nvPicPr>
          <p:cNvPr id="10" name="U08-022-U08-CH-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35b79c7e14be8">
            <a:extLst>
              <a:ext uri="{96DAC541-7B7A-43D3-8B79-37D633B846F1}">
                <asvg:svgBlip xmlns:asvg="http://schemas.microsoft.com/office/drawing/2016/SVG/main" r:embed="R95fbaf9d2bb640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524000"/>
            <a:ext cx="11334750" cy="43815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B2964587-4C5F-41AF-AD1D-CBFD679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punto requiere frecuencia de prueba, tiempo, procedimiento y variabilidad; una forma conceptual no aporta tiempo… · Producción propia UCASAL · U08-CH-001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AD2953B-AFC2-4785-8ACB-AE627C9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B44B9FD9-C9DB-4AE2-8193-B26B78A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0932252A-22F8-4290-853D-1BF3ED63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82F1377-1EBA-4679-AF0E-F7871F31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D59061-9224-4450-9495-7C82B52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C9E9DF-7F6A-42E7-9786-750804C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cuantitativa necesita exposición, población y tiempos definidos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35736E74-627E-46FF-9441-68B40D4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fuente primaria y condiciones, no existe una curva de recuperación interpretable.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 documentada con nivel/espectro/duración, frecuencia de prueba, tiempos, muestra y variabilidad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63A97E86-8A91-4C99-9159-BDBE349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1504660B-F85A-4774-BFED-5188166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72769F1C-44C0-4084-A134-5DE91203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94265FB-033C-4C15-B92D-A5F52CD6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3B3EB5-A95D-4A85-A73F-1E5652B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1B72E7-5CBB-497E-8276-285FF57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permite afirmar esta curva y qué queda abierto?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38672734-1A05-4EAE-BB7B-58E8779D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A82D763-3CA2-4F93-B8D3-55982FD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60328A67-7E2C-4A12-A366-F1B4D8A3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Identifique ejes, frecuencia de prueba, tiempos, grupo y variabilidad. Luego escriba una conclusión permitida y una no permitida.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98560E7A-A2E4-48B2-89BF-3E2DBCD2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8B865C94-690A-4754-815A-44C83006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C950879A-762D-43A4-8927-7BB36AF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8423C2A7-13FD-4426-9881-E94C0AC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4681AE5F-2015-4D05-BD0B-E23B67B1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D24CB48B-5EBF-4362-98FD-208C6BA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EDDEDB2-3A13-463C-95CA-E2BB956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7F2ADF-864D-49E4-A35A-BD802D44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702C7-0C1E-42E8-AAD1-7F8F7B9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Temporal y permanente describen cursos distintos, no causas automáticas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C9DF0B2A-52C8-48A2-8D54-3CA1B9BF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DE94A38-0022-4ABC-81EE-E1EBA3E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C6ECC05B-4DCF-4297-9C0C-E7A8EC1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Temporal: se describe mediante mediciones seriadas y tiempos postexposición. Permanente: requiere evidencia de persistencia y condiciones comparables.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8C1BFCEA-F733-4F8A-A84F-6DB96F0C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6EED561-DFEB-4E94-86F9-0E4947B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D1C3914D-6957-4E98-9742-BB386F0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ambos casos, el curso medido no identifica por sí solo la causa.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840D8E0-8D2D-4D19-95D8-327B8D5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02832A82-D5F6-4828-9495-16D89ED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4B47C045-C090-43D0-969C-E731D3A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E0FE2DB3-B05B-495A-8209-9E2C8EE5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F0078F-D163-47B3-8143-1AF3439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484EF-F4A1-4563-8D0A-4873E6BF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Normalizar una exposición a 8 h compara energía promedio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05DD37F2-089F-4483-B6DD-3C3CE18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12D50FF4-820A-489A-B65F-DB221E8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L_Aeq,8h = 95 dB(A) + 10 log₁₀(1 h / 8 h) ≈ 86,0 dB(A)</a:t>
            </a:r>
          </a:p>
        </p:txBody>
      </p:sp>
      <p:sp>
        <p:nvSpPr>
          <p:cNvPr id="4" name="equation-interpretation-box">
            <a:extLst xmlns:a="http://schemas.openxmlformats.org/drawingml/2006/main">
              <a:ext uri="{FF2B5EF4-FFF2-40B4-BE49-F238E27FC236}">
                <a16:creationId xmlns:a16="http://schemas.microsoft.com/office/drawing/2014/main" id="{33B79497-370B-46A5-BDFA-4F32B99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895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569EB4E3-BC89-4AAC-A2E7-54C282E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28975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6" name="equation-interpretation-body">
            <a:extLst xmlns:a="http://schemas.openxmlformats.org/drawingml/2006/main">
              <a:ext uri="{FF2B5EF4-FFF2-40B4-BE49-F238E27FC236}">
                <a16:creationId xmlns:a16="http://schemas.microsoft.com/office/drawing/2014/main" id="{83823612-DF67-4667-B625-6B159E9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29025"/>
            <a:ext cx="8610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cociente temporal es adimensional y el resultado no establece seguridad ni cumplimiento legal. Ecuación y ejemplo 95 dB(A), 1 h 86,0 dB(A), 8 h, con hipótesis</a:t>
            </a:r>
          </a:p>
        </p:txBody>
      </p:sp>
      <p:sp>
        <p:nvSpPr>
          <p:cNvPr id="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B403492-4E0B-434E-8E01-D5396E4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8" name="top-rail-2">
            <a:extLst xmlns:a="http://schemas.openxmlformats.org/drawingml/2006/main">
              <a:ext uri="{FF2B5EF4-FFF2-40B4-BE49-F238E27FC236}">
                <a16:creationId xmlns:a16="http://schemas.microsoft.com/office/drawing/2014/main" id="{C8E19E33-1306-4300-A9D5-A3B4B5FE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9" name="top-rail-3">
            <a:extLst xmlns:a="http://schemas.openxmlformats.org/drawingml/2006/main">
              <a:ext uri="{FF2B5EF4-FFF2-40B4-BE49-F238E27FC236}">
                <a16:creationId xmlns:a16="http://schemas.microsoft.com/office/drawing/2014/main" id="{FDC45252-531D-45F3-A57F-57A1C85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40C4ADB-A87A-4465-BD26-BF72821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C649B6-727F-4CE1-B013-998C163F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3BD3F1-A60B-4ADF-96ED-9D1FFA6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medir un cambio no explica por sí solo su causa ni su futuro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4D1F3C97-DE1C-4066-9DE6-8D050A7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77B20424-B269-448C-8858-8678695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C50229D1-A09D-4914-9D6B-F766206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 exige comparación la curva exige condiciones L_Aeq,T describe energía promedio, no riesgo universal Tres afirmaciones y una pregunta de control con signo de ΔL_T</a:t>
            </a:r>
          </a:p>
        </p:txBody>
      </p:sp>
      <p:sp>
        <p:nvSpPr>
          <p:cNvPr id="5" name="top-rail-1">
            <a:extLst xmlns:a="http://schemas.openxmlformats.org/drawingml/2006/main">
              <a:ext uri="{FF2B5EF4-FFF2-40B4-BE49-F238E27FC236}">
                <a16:creationId xmlns:a16="http://schemas.microsoft.com/office/drawing/2014/main" id="{A527139E-1FE1-4DAF-AA80-5C5E502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 xmlns:a="http://schemas.openxmlformats.org/drawingml/2006/main">
              <a:ext uri="{FF2B5EF4-FFF2-40B4-BE49-F238E27FC236}">
                <a16:creationId xmlns:a16="http://schemas.microsoft.com/office/drawing/2014/main" id="{17FAEDC2-7488-4B6E-9D4D-C1AF056F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 xmlns:a="http://schemas.openxmlformats.org/drawingml/2006/main">
              <a:ext uri="{FF2B5EF4-FFF2-40B4-BE49-F238E27FC236}">
                <a16:creationId xmlns:a16="http://schemas.microsoft.com/office/drawing/2014/main" id="{C95C36AF-2B5C-4D06-919F-C49223B7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4DF0A0F-95E6-4368-8FAD-5FA53B6E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CEB7ED-882E-45EB-9CB2-84428A7E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120476BC-F026-4606-8134-64EBDF5D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514E56-FD37-4340-81C1-55BE21B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relaciones son compatibles y cuáles no prueban una causa?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F7DF758-BC57-40AB-94C7-D8FB41C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940093-B1D2-4FBF-B302-3D964D0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EC0A1D-F969-40C5-9A8D-A465A14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PAIR/NIHL requiere historia, patrón y causas alternativas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9A3C9D2B-A9A7-4B2C-9D2B-EC08ABE3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PAIR/NIHL: pérdida auditiva asociada con exposición a ruido, evaluada mediante evidencia convergente.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necesita: historia de exposición, patrón medido, antecedentes y consideración de causas alternativas.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escotadura aislada solo describe una forma compatible.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E5D90DE0-ABA4-4C6F-8697-371D119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D5C78F11-3DF6-49F2-A1E8-4C569186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B1E596AD-97C1-410B-9398-CA2A1FE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asociación con ruido se construye con evidencia convergente, no con una escotadura aislada.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FA6893E8-687C-41BC-AA7B-6E6FFC0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8304B35A-A3A9-4771-9CBE-3C5FAEFD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116BF9-F29E-4B2F-84C6-CA0FF029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9C1C777-01E5-438A-A046-17AB415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9067C8-392D-4C70-805E-27FCED5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347A1F-D285-44F6-A42B-1E37D3E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escotadura describe una forma, no una etiología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D6801386-9775-42D2-9276-6F685FC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gráfico puede ser compatible con exposición a ruido, pero no demuestra origen laboral ni excluye otras causas.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Audiograma conceptual con escotadura, ejes y rótulo “patrón ficticio”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535F344-168C-4EA3-847B-453380C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A88868-20EF-489A-95F2-B582A90C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DCF188DF-9FE2-4788-867F-91AA0355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0037915-BA94-4A47-B5B2-D91A600B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B813D7-5FD7-4342-ACA5-F02B6EE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3719EA-523E-490B-A969-69999EC5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Trauma acústico y ototoxicidad no describen la misma exposición</a:t>
            </a:r>
          </a:p>
        </p:txBody>
      </p:sp>
      <p:sp>
        <p:nvSpPr>
          <p:cNvPr id="2" name="u08-031-trauma-box">
            <a:extLst xmlns:a="http://schemas.openxmlformats.org/drawingml/2006/main">
              <a:ext uri="{FF2B5EF4-FFF2-40B4-BE49-F238E27FC236}">
                <a16:creationId xmlns:a16="http://schemas.microsoft.com/office/drawing/2014/main" id="{85598C05-2ECE-4F9A-BB27-8499D6C4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31-trauma-title">
            <a:extLst xmlns:a="http://schemas.openxmlformats.org/drawingml/2006/main">
              <a:ext uri="{FF2B5EF4-FFF2-40B4-BE49-F238E27FC236}">
                <a16:creationId xmlns:a16="http://schemas.microsoft.com/office/drawing/2014/main" id="{C2417600-35D2-4981-898A-42D8CDC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Trauma acústico</a:t>
            </a:r>
          </a:p>
        </p:txBody>
      </p:sp>
      <p:sp>
        <p:nvSpPr>
          <p:cNvPr id="4" name="u08-031-trauma-body">
            <a:extLst xmlns:a="http://schemas.openxmlformats.org/drawingml/2006/main">
              <a:ext uri="{FF2B5EF4-FFF2-40B4-BE49-F238E27FC236}">
                <a16:creationId xmlns:a16="http://schemas.microsoft.com/office/drawing/2014/main" id="{E2DDF7AF-44ED-48AF-8EA0-BFA1848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800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Episodio acústico abrupto. Registrar: nivel o pico con su referencia, duración, distancia, protección y síntomas temporales.</a:t>
            </a:r>
          </a:p>
        </p:txBody>
      </p:sp>
      <p:sp>
        <p:nvSpPr>
          <p:cNvPr id="5" name="u08-031-ototoxicity-box">
            <a:extLst xmlns:a="http://schemas.openxmlformats.org/drawingml/2006/main">
              <a:ext uri="{FF2B5EF4-FFF2-40B4-BE49-F238E27FC236}">
                <a16:creationId xmlns:a16="http://schemas.microsoft.com/office/drawing/2014/main" id="{D709F469-5F0A-4630-8AFE-4255F9B4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u08-031-ototoxicity-title">
            <a:extLst xmlns:a="http://schemas.openxmlformats.org/drawingml/2006/main">
              <a:ext uri="{FF2B5EF4-FFF2-40B4-BE49-F238E27FC236}">
                <a16:creationId xmlns:a16="http://schemas.microsoft.com/office/drawing/2014/main" id="{0FDDED35-349A-4E8F-B392-07F1593D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Ototoxicidad</a:t>
            </a:r>
          </a:p>
        </p:txBody>
      </p:sp>
      <p:sp>
        <p:nvSpPr>
          <p:cNvPr id="7" name="u08-031-ototoxicity-body">
            <a:extLst xmlns:a="http://schemas.openxmlformats.org/drawingml/2006/main">
              <a:ext uri="{FF2B5EF4-FFF2-40B4-BE49-F238E27FC236}">
                <a16:creationId xmlns:a16="http://schemas.microsoft.com/office/drawing/2014/main" id="{A2B8C046-731F-4629-98C3-A33C9BFA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800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 farmacológica o química. Registrar: agente, dosis, duración, vía, función renal y posibles coexposiciones.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9FD6440-9502-4081-A69E-0450CB46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F82C9398-426D-4D20-A8D7-798A4FC9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6AC54C1A-FD33-4167-80D2-F54D1829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18838A9-38EC-481A-A1E3-DA12FE94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43FAD5-8D06-45DC-A0C6-E509BD2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67C1B-7A08-44CE-B23B-7C35606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Tinnitus es una percepción referida, no una fuente acústica externa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AD9ADC1E-F169-495B-A74E-319B303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Tinnitus o acúfeno: percepción sonora referida sin una fuente acústica externa correspondiente.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coexistir con umbrales diferentes entre personas y situaciones.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frecuencia o un nivel de correspondencia describe una tarea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materializa una fuente interna.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2A7388C8-5EE1-419B-8CDE-63B85A4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4E087F38-84AA-4F7C-89C4-ED2AA09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9D6143E6-63C4-4737-BC81-A9E284F4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coexistir con umbrales diversos y no se reduce a una frecuencia o nivel.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9D6468-18A0-4E5B-84D4-6888982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9E18B1D0-A253-45D5-8AC2-F2B5F43E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5D23B91B-43FD-48A4-9814-4407561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AF223598-C681-4BAD-855E-D26326A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A3BDC0-CD0F-47C7-A492-209672C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821F2-B8B6-4261-ABF5-3427D35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Presbiacusia es heterogénea y multifactorial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6B5952E1-8950-433C-A4F7-7367CD1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edad puede coexistir con cambios cocleares, neurales o metabólicos.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Exposición, salud, enfermedades, medicamentos y variabilidad individual también importan.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pendiente en altas frecuencias no resume todos los casos ni establece una causa única.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DF943A3-3F43-44A7-AF37-0890F1A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B130E1AC-F0D9-4623-8143-7B116F1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1729ABA6-AF0E-4588-9CBE-6DFB21A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5C9034A-207D-4A70-A4CB-0F6B667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61BAAE-D00F-4D94-848F-831FA0C7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1413F1-F1E7-467F-A05C-5B6BA903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porcentaje de riesgo necesita población, exposición y definición de caso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980100CF-9787-4014-A868-C7BBE3C1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D9FAAA98-7075-4719-8DFE-C63E2A3B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edad sola no convierte una tasa grupal en pronóstico individual.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22681744-5BD6-46A0-BCA8-20AED44A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C10572EE-1CA1-4E67-A447-C35B14C6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Población, edad, exposición, duración, caso, comparación y período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72175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7" name="top-rail-1">
            <a:extLst xmlns:a="http://schemas.openxmlformats.org/drawingml/2006/main">
              <a:ext uri="{FF2B5EF4-FFF2-40B4-BE49-F238E27FC236}">
                <a16:creationId xmlns:a16="http://schemas.microsoft.com/office/drawing/2014/main" id="{0DA9CDAB-8D10-409C-874D-9B2EEA88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8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25A04F-347A-4266-970B-B6F1BB7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9" name="top-rail-3">
            <a:extLst xmlns:a="http://schemas.openxmlformats.org/drawingml/2006/main">
              <a:ext uri="{FF2B5EF4-FFF2-40B4-BE49-F238E27FC236}">
                <a16:creationId xmlns:a16="http://schemas.microsoft.com/office/drawing/2014/main" id="{AA0322C7-DD2B-4434-8F94-D2198AC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783BB43-D5C4-450A-89EB-81A968C8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DAE636-31B3-4A4D-BFD4-AB6B4DA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766CE-36B6-4387-8141-81E78E68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Edad y exposición pueden modificar un riesgo poblacional documentado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E7A4BFA7-8392-4641-817E-B694E22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curva o tabla solo vale para la población, definición de caso y modelo declarados.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Riesgo porcentual por edad y categorías de exposición, con intervalos/incertidumbre si la fuente los ofrece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C938B63-1B8F-423F-88A2-4BEF18BD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5CB7C0-0942-4F9E-B14E-EDCD4FD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D0962F4B-A675-4B16-BCBF-3279BA0D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3E8D342-62CC-482C-87CE-BC06CF9B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37E924-8AD9-4E1D-847E-34B15F3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ED1DC9-4B9E-4F8C-A9C5-9165AEF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¿A quién representa este porcentaje?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DBBA69BC-147A-4CA1-B5FE-09C8EC61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FF2DF81-D125-40A0-979F-8F28675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2CFF3E4-6D2D-4A39-8CFE-933C88A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¿Cuál es el evento, la población, el período, la exposición y el comparador?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3945A189-9FA5-43E8-91C3-D44BFD49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7207B1C1-780F-4AFF-994E-9C67674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9AC5AF6A-BE36-43EE-A7A9-33907FA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1E498378-4011-469F-BD01-181979A7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3D7E7566-153A-4B2E-AB37-81C36CD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5BE9341C-9CB6-4577-8B1D-4B074A7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F78DA44-5AA4-4653-8AC9-0CE9651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0AB8F2-C2A5-4B97-BD7B-2185349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85B02AE4-CC90-4EE6-8D1D-C8AC5D9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341B58D2-65D4-4058-AB9E-0E3BB80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compara una prueba sin memorizar una lista?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7031599-9156-4267-ADC9-952982F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F9FBA6-3D54-4B6B-B188-8570F11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13E884-11D0-408E-9CA4-CDC68B5D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prueba transforma una pregunta en un dato interpretable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354367F4-5BB3-4C82-9C25-F9AE0AB2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267BC104-64A8-407F-B430-F771F0C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00C6AA92-C650-4846-AE03-4E2AAD6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85C94472-BA74-4175-82CF-14E24748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Presentar un estímulo controlado.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0B1B5B3E-09DE-4D11-9AE4-CD10FD9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8772B31A-50CA-4919-ACBC-6BB0AAF8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DBDE77C2-DCD7-4DA8-AF7B-463AF1B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0DA9710D-B332-4DD3-B5A7-2C6900B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Observar la interacción con el sistema auditivo.</a:t>
            </a:r>
          </a:p>
        </p:txBody>
      </p:sp>
      <p:sp>
        <p:nvSpPr>
          <p:cNvPr id="10" name="process-5">
            <a:extLst xmlns:a="http://schemas.openxmlformats.org/drawingml/2006/main">
              <a:ext uri="{FF2B5EF4-FFF2-40B4-BE49-F238E27FC236}">
                <a16:creationId xmlns:a16="http://schemas.microsoft.com/office/drawing/2014/main" id="{51E6ED12-143E-4EAE-9248-9C65275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98BC9DE3-900C-45DA-BC5C-AC2E7DA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12" name="process-6">
            <a:extLst xmlns:a="http://schemas.openxmlformats.org/drawingml/2006/main">
              <a:ext uri="{FF2B5EF4-FFF2-40B4-BE49-F238E27FC236}">
                <a16:creationId xmlns:a16="http://schemas.microsoft.com/office/drawing/2014/main" id="{41D0E1D6-0D6F-452B-B2C2-4985656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process-6-text">
            <a:extLst xmlns:a="http://schemas.openxmlformats.org/drawingml/2006/main">
              <a:ext uri="{FF2B5EF4-FFF2-40B4-BE49-F238E27FC236}">
                <a16:creationId xmlns:a16="http://schemas.microsoft.com/office/drawing/2014/main" id="{D858A826-2109-4C2A-855F-5D2B204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Captar una respuesta mediante sensor o tarea. 4. Representar el dato con magnitud y unidad. 5. Interpretar bajo condiciones técnicas y de protocolo.</a:t>
            </a:r>
          </a:p>
        </p:txBody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860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529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867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536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D9F4C1B9-FC05-49FB-AF42-3B0754B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 xmlns:a="http://schemas.openxmlformats.org/drawingml/2006/main">
              <a:ext uri="{FF2B5EF4-FFF2-40B4-BE49-F238E27FC236}">
                <a16:creationId xmlns:a16="http://schemas.microsoft.com/office/drawing/2014/main" id="{83DF9125-CFB9-47D3-8945-EEF79A0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 xmlns:a="http://schemas.openxmlformats.org/drawingml/2006/main">
              <a:ext uri="{FF2B5EF4-FFF2-40B4-BE49-F238E27FC236}">
                <a16:creationId xmlns:a16="http://schemas.microsoft.com/office/drawing/2014/main" id="{2AAE54C1-0601-4AD5-89B4-09594E36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DC57EC54-40DA-41BA-A7C6-90B949E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4CB594-39DF-4CDB-A70B-1171D576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C74E0-E631-45A8-AE79-541722F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preguntas permiten comparar cualquier estudio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265C2179-B6F7-43FC-A863-9EA63732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estímulo entra?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parte o función interviene?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magnitud cambia?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sensor o tarea produce la respuesta?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dato y unidad se informan?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conclusión no permite?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00F69A7-D065-4049-B66D-0D7B35A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E551EE8A-2916-4D61-A467-C4BA3D7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B5E5BAE9-4767-473B-AEBD-31C6F53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2AFFFF0-F3DF-40B2-A599-EA603FF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1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FC9785-3AE2-4490-9300-4177CC20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B261E3-462A-4309-BDDC-61D43B9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Conductual y fisiológica describen respuestas diferentes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DBEF7D15-90B5-4E8D-B81D-C7460ED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42622B2-B828-40C4-AC34-B3B3305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C8AFB269-4E75-467A-9F22-3911DC1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Conductual: requiere una tarea y una respuesta de la persona. Fisiológica: usa un sensor para registrar una respuesta del sistema.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051BA218-EFFF-43DC-9E12-3D2FC37A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A07F2685-1957-48DE-8B44-BF158AE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476E392F-3E3F-4C92-814C-9705385C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Ambas dependen de estímulo, condiciones, protocolo y criterio ninguna es infalible.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23E3C6D-F4C5-4768-BDB5-53FD841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EC9A4607-CE9C-4320-A9F4-528170A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5773A6B1-10BA-48A2-9298-40780B3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EF5F6F16-9600-431B-B80F-C22E201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EDD509-D42B-425D-ADC9-BF72FBEF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151BC-150B-404D-8156-D495D96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estudio ilumina una parte o función, no un oído aislado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E33C3E4E-95AA-494F-A460-20B8115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externo/medio, cóclea, nervio/tronco y respuesta integrada se exploran con información complementaria.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Cuatro regiones/funciones y estudios relacionados, con precaución interpretativa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9C24A7CE-493B-4A24-BC7C-1BC6EE4D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CEBFA2B6-C972-4F53-BA56-2BCE951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0216D456-B349-4323-BCA7-096B97A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73E8BBC-43F8-4FE7-9F25-17EAF78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172C02-9B76-4EF3-BD0B-2FEE23E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EE93E-6A24-4A1C-B3F1-568F182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Calibración, ambiente, colocación y consigna forman parte del resultado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F724079D-D692-4C5A-81A4-1C59E99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dato no existe separado del transductor, sensor, ruido, preparación y criterio.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Cinco condiciones comunes y ejemplo de cómo alteran una medición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6D60061-FE88-4F2F-995D-94E2FDB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6C2679B5-2501-4750-8A99-AE647F9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92D7E26C-DA06-436D-8CCB-DFFF9A80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2434A77-FB47-49A4-AF1E-A69E285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14F0B5-6048-488E-B61D-0C670D8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343BD3-AA55-4086-8A53-4CF9915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batería reduce preguntas abiertas, no produce certeza automática</a:t>
            </a:r>
          </a:p>
        </p:txBody>
      </p:sp>
      <p:sp>
        <p:nvSpPr>
          <p:cNvPr id="2" name="u08-043-review-list">
            <a:extLst xmlns:a="http://schemas.openxmlformats.org/drawingml/2006/main">
              <a:ext uri="{FF2B5EF4-FFF2-40B4-BE49-F238E27FC236}">
                <a16:creationId xmlns:a16="http://schemas.microsoft.com/office/drawing/2014/main" id="{C6ECD47B-FE48-49AE-93ED-F386355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95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Verifique qué magnitud registra cada prueba y con qué unidad.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Revise estímulo, transductor, calibración y condiciones de medición.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Considere repetibilidad, estado del paciente y coherencia con la historia.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0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Explique qué hipótesis apoya cada resultado y cuál deja abierta.</a:t>
            </a:r>
          </a:p>
        </p:txBody>
      </p:sp>
      <p:sp>
        <p:nvSpPr>
          <p:cNvPr id="3" name="u08-043-central-box">
            <a:extLst xmlns:a="http://schemas.openxmlformats.org/drawingml/2006/main">
              <a:ext uri="{FF2B5EF4-FFF2-40B4-BE49-F238E27FC236}">
                <a16:creationId xmlns:a16="http://schemas.microsoft.com/office/drawing/2014/main" id="{5E603692-9D55-4EF3-B121-7DD343E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8-043-central-title">
            <a:extLst xmlns:a="http://schemas.openxmlformats.org/drawingml/2006/main">
              <a:ext uri="{FF2B5EF4-FFF2-40B4-BE49-F238E27FC236}">
                <a16:creationId xmlns:a16="http://schemas.microsoft.com/office/drawing/2014/main" id="{0741738A-66F5-44B0-B64D-0DD7460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478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5" name="u08-043-central-body">
            <a:extLst xmlns:a="http://schemas.openxmlformats.org/drawingml/2006/main">
              <a:ext uri="{FF2B5EF4-FFF2-40B4-BE49-F238E27FC236}">
                <a16:creationId xmlns:a16="http://schemas.microsoft.com/office/drawing/2014/main" id="{1F80526A-ADE5-4E38-8FA6-3B72A54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47900"/>
            <a:ext cx="32766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batería integra evidencia convergente. La discrepancia exige revisar condiciones y supuestos; no autoriza a descartar automáticamente una prueba.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A85D78F2-C55C-48BC-9228-A2DEED0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5C929DB6-54E5-4D41-9A0B-9AF7C68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4E6A0E94-883C-442B-88A6-C9F15FD6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4E66796-0E36-45DC-B762-DB6F04F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4D602C-FE06-4D42-B1ED-7559D0B3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F6C25A-389D-4B82-9D5B-5163798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comparar una prueba es reconstruir su cadena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5C6020D5-AED8-4DAC-B474-4DD0472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47D50C84-9FFE-4DED-BF58-8FF28369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ECF9680E-C557-4701-93DC-1887A6C6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misma matriz se aplicará a estudios conductuales, mecanoacústicos y fisiológicos Seis preguntas, un ejemplo de audiometría incompleto y una pregunta de control</a:t>
            </a:r>
          </a:p>
        </p:txBody>
      </p:sp>
      <p:sp>
        <p:nvSpPr>
          <p:cNvPr id="5" name="top-rail-1">
            <a:extLst xmlns:a="http://schemas.openxmlformats.org/drawingml/2006/main">
              <a:ext uri="{FF2B5EF4-FFF2-40B4-BE49-F238E27FC236}">
                <a16:creationId xmlns:a16="http://schemas.microsoft.com/office/drawing/2014/main" id="{BCFC7C54-01AA-4BDB-8EE4-98F235C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 xmlns:a="http://schemas.openxmlformats.org/drawingml/2006/main">
              <a:ext uri="{FF2B5EF4-FFF2-40B4-BE49-F238E27FC236}">
                <a16:creationId xmlns:a16="http://schemas.microsoft.com/office/drawing/2014/main" id="{2ECF2384-054C-4C70-955E-6684AAC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 xmlns:a="http://schemas.openxmlformats.org/drawingml/2006/main">
              <a:ext uri="{FF2B5EF4-FFF2-40B4-BE49-F238E27FC236}">
                <a16:creationId xmlns:a16="http://schemas.microsoft.com/office/drawing/2014/main" id="{BC058516-DD36-4B1A-A00F-E013A5B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7AF0DB4-74D0-4521-A2B2-499B8B3F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F05601-97EB-44B4-8519-A43B46E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A8F8C635-185C-42E4-9221-681668B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5FA046ED-3946-4B2E-BAE8-87D4459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representa un audiograma y hasta dónde permite interpretar?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05BFD21-5B43-4951-BA9B-FD77C573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BD8781-ED99-4A03-A8B3-C6EC9D1A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BAA536-A1AD-4EDC-A425-F244AFA1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Vía aérea y vía ósea cambian cómo se presenta el estímulo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D0CC6AAE-C4C6-4205-A6DD-865A8E52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Auricular y vibrador óseo estimulan mediante mecanismos diferentes, pero ninguna vía aísla una sola estructura.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 tonal transductor trayecto respuesta conductual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8B01BB70-9C54-4750-92C9-1ECD8565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489E886D-F21E-4B3F-87D2-7EA80D8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B67F57-6023-4456-A97E-FEC5ED6D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88BDA14-BB4B-4174-8313-DCD951C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8C6463-F292-4F69-BCBB-39780716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B94B1-1167-43F4-AC77-471CC87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comparten decibel, no referencia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61FA2DC1-559F-4E73-AE46-50D1873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SPL: referencia física de presión acústica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usar con señales acústicas.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HL: referencia audiométrica dependiente de frecuencia y transductor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usar con umbrales audiométricos.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SL: referencia al umbral individual en una condición declarada.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Compartir ‘dB’ no autoriza convertir ni restar escalas incompatibles.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9B37A3-0342-4227-A634-BC69B28F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C3461F5D-1EEA-4651-A1A1-7149D6B6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CDB4E3B9-ED0A-4D10-A235-B843EFF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4BBC0E9-747E-490C-9724-066B7EB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6C9888-A716-467A-A359-6486F68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EC4BD-A50C-4232-A2F9-19D8817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eje de dB HL aumenta hacia abajo por convención audiométrica</a:t>
            </a:r>
          </a:p>
        </p:txBody>
      </p:sp>
      <p:pic>
        <p:nvPicPr>
          <p:cNvPr id="10" name="U08-048-U08-CH-005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146759af24cf1">
            <a:extLst>
              <a:ext uri="{96DAC541-7B7A-43D3-8B79-37D633B846F1}">
                <asvg:svgBlip xmlns:asvg="http://schemas.microsoft.com/office/drawing/2016/SVG/main" r:embed="Rbfc6ae9b298b4b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0FE9C031-F15E-4387-947C-9809C61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Frecuencia ocupa el eje horizontal y nivel de audición el vertical invertido; símbolos distinguen oído, vía y condición. · Producción propia UCASAL · U08-CH-005A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3499981-E2C7-4201-80F8-2BAA76B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D2D3B2-8839-411D-92B8-9781C08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A24CC774-4D07-4DD0-8FFD-52AE4BE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D80EF4C4-BA60-451F-89AF-2EF07DD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819E26-B81D-4A57-A787-2F018D5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BA50F9-DC03-4226-A3EB-ABDDABB4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audiograma permite comparar umbrales por frecuencia y vía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28C2379B-83F7-4CF7-99EE-128054F7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patrón ficticio muestra relaciones entre puntos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representa una patología ni un límite normativo.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Curvas aérea/ósea, leyenda, dato de 1000 Hz y rótulo de alcance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1D2E349-D9AE-4CE9-86C9-C0D6E84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628A77-F74B-4554-8687-AF1A64A9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4B200329-E811-4EA6-A573-7D36A452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2E82784-1824-4108-8D87-3108E21E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166A3E-C691-4D29-A43D-5EE5E61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39637-D718-45E6-A7A4-F110C3E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Lea primero; interprete después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6602AA48-7C8B-43D2-A189-2631804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3260DEB-79FE-4D3C-9EC9-3AEB156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BFBC00FD-1419-4FC0-B946-16EA6606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Lea el punto de 1000 Hz: frecuencia, vía, valor y dato faltante. ¿Qué conclusión está prohibida?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DA2E5595-B8D1-4485-96A5-B097D62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7E0A3840-EB82-40EA-BC08-23058A58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CFCB94DB-C73D-4D77-86A4-071864E1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8AC4A61-C3BC-48AE-B317-C6982F62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D3810FD0-A992-4EBC-9887-30D0B4D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BA181403-A8B3-4072-B65A-58ED4B9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B68FA280-8530-41B5-9F07-57BC5681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54D193-764E-481A-BA27-22040EA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90972E-DA42-4582-96AA-0C6FECB6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G_AO(f) resta umbrales compatibles a la misma frecuencia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00EC30D-019F-4255-9B1B-433DDF95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D6CF635F-DEB5-4D35-AA50-E359E95D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G_AO(f) = L_VA(f) − L_VO(f)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55555E5-F240-44DB-AAFC-2309B4EF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5626DECC-3B08-4E19-A2C2-024ABA6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EC02AF09-A15C-4C4A-B1B8-86557D9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describe dos registros en dB HL no nombra una enfermedad.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6D5B566A-6083-4577-AC32-F53351E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14686392-32F1-4DBA-8996-236B47A4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EA6AD675-0EBA-4911-8587-7251D34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Dentro del modelo, 70 fon corresponden a 8 sones. No implica que 70 fon equivalgan siempre a 70 dB SPL.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ACD2D6E6-7EF4-4366-9CA0-15FB1CF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6C3E3447-0BCC-4A2E-A36F-A53055B0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2FBA5D09-530B-451E-94D0-745E983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C7027BB-67B6-4EFA-8623-CA4F21C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B8AF45-F157-4575-B7F7-5FF6C00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4B610B-DC6A-463B-B466-DE807A3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1000 Hz, la diferencia entre vías es 25 dB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F59A1D3-9715-4AE5-B963-7CC18CF4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89B41048-43A7-4155-8160-C9DEAE76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G_AO(1000 Hz) = 40 dB HL − 15 dB HL = 25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CDC636D-1F82-49A4-BEE3-D17117A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49305BB-0FEC-419A-A997-CF1DBB2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606E342C-BDBA-4E92-8E83-FB04CCE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40 dB HL - 15 dB HL = 25 dB el resultado no autoriza un diagnóstico. Datos escala/frecuencia común sustitución resultado límite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04F3011-B72A-4DB4-8B76-3D98AB4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3ABCD87-9786-46EE-9655-8A4319B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B43A68B-C89D-4DF2-8CE1-3706423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G_AO(1000 Hz) = 40 dB HL − 15 dB HL = 25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D06B32E5-6BED-426A-8C43-4100BD79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292BFD4A-ECE5-4965-94C2-77C10C7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B097AFA3-45D5-4360-8F97-3121F934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B2999B5-9CEF-4854-BEA1-B8074EF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246E03-1BA2-42FD-B997-4192A547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9F02FD-ECC8-403C-A8C9-FAB0AD9F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audiograma depende de ambiente, transductor, consigna y enmascaramiento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6D7E8CCA-C8D0-4DC4-9BE9-FA521967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fiabilidad no pertenece solo a la persona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 propiedad del procedimiento completo.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Calibración, ruido ambiente, colocación, consigna, respuesta y cruce entre oídos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878AA4C-3BA0-48D7-B439-A4A413A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4E7A2AA7-2BF0-473C-8C81-FFB0A22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C43DFD94-E75C-407E-B9C1-CA01679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112CBA1-66F3-4FAB-8580-02114AE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63CDDB-1590-4B6D-9359-CE3AEA9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DF389-59E5-4008-AF14-532210B1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el audiograma organiza umbrales, no diagnósticos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ADDF314E-9E43-4A0A-82A7-49A0097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CF77DA9C-34BC-468E-9334-2633A20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4F871AAE-399F-4747-BB39-31E7292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Leer: frecuencia, vía, oído, símbolo y nivel.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C89EAFC-0576-4F7C-9673-B28D6D3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09983DED-66D3-4294-9328-37602F2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C950AC4F-A90C-4F27-80E2-728754B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Comparar: solo mediciones compatibles y en la misma frecuencia.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C5FEE173-51EF-48DD-BF2C-C6BB4CA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26311907-CB22-4234-BC73-9FC2DCF8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212C0B42-04FF-446F-9CE7-275415DF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Limitar: el audiograma organiza umbrales</a:t>
            </a:r>
          </a:p>
        </p:txBody>
      </p:sp>
      <p:sp>
        <p:nvSpPr>
          <p:cNvPr id="11" name="recap-4-box">
            <a:extLst xmlns:a="http://schemas.openxmlformats.org/drawingml/2006/main">
              <a:ext uri="{FF2B5EF4-FFF2-40B4-BE49-F238E27FC236}">
                <a16:creationId xmlns:a16="http://schemas.microsoft.com/office/drawing/2014/main" id="{9E1D502D-C11F-4705-8415-59244BB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A8FF4A63-77EB-4696-84FE-528A6031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D532BF4D-C77C-4717-86D6-DA030879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nombra una enfermedad.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8188E360-8CBF-4020-A117-568F6D3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7D54E9DC-44C9-456D-8383-DE112F75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514DD6D1-EB17-4423-AC92-8DFA6D7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FBB9AD1-ADDE-406D-9FD7-14E6BEDF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43D51E-4EA5-471D-89C8-A1239D8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C6717CEB-4FC7-442F-A7AD-19B4DBF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3794A647-73C8-4108-AC37-E4A4E7A7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agrega una tarea verbal o una comparación perceptual?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2784A12-9EF8-4A6B-8174-9182F297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95E1B6-355B-4833-87E9-26AF2AC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688D0-B368-460D-9A09-6D126128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logoaudiometría evalúa respuestas a material verbal controlado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45BE6F10-3136-404F-A50C-44C98C6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0DBD063D-13FE-48B2-A1C6-9A60585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Material verbal e idioma definidos.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561D033A-DC6B-42E8-B068-9D3DEE4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C24048C8-ADBB-4390-8895-D728F45B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Nivel, escala, oído y modo de presentación declarados.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9161B9FB-3996-4A94-96A8-72A23AB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E6D5C716-9065-44DF-8496-8682095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 y respuesta observables.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43B49B34-E781-45B1-B5E5-95331FB0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3A600490-4AB2-430B-9F9E-C341648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Puntuación: porcentaje correcto o umbral, según la tarea.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9090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72175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5345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C7DB8393-91A6-477A-B3FA-97C7859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 xmlns:a="http://schemas.openxmlformats.org/drawingml/2006/main">
              <a:ext uri="{FF2B5EF4-FFF2-40B4-BE49-F238E27FC236}">
                <a16:creationId xmlns:a16="http://schemas.microsoft.com/office/drawing/2014/main" id="{9FFDCA6A-E85A-45B4-AD1D-FA6B63F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81C5CF-4BF9-4C29-B0D2-7B750F3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068A6439-9E7F-4E83-9A0A-021F12C0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69860E-DA1B-4F37-96A7-9902F522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FCA3F9-9814-463D-93C9-43EF5FB3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desempeño–nivel relaciona presentación y respuestas correctas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224BC6A1-A5FB-4D5A-A6AE-58EB036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eje horizontal necesita escala declarada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 no localiza una lesión.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de presentación frente a porcentaje, puntos y curva conceptual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CCAB0A-5DC4-4BC8-815F-1E757AAC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E316B0B6-D538-46E7-BE2B-8A0A989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0F04F7FB-A114-44EF-A164-5EBC251A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0BB3C27-C801-46FA-9DA7-8F4949BD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AB407D-57C1-4800-86B3-4D13544F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9D305-D990-45C5-B948-C12FD84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“72 % correcto” no es un resultado completo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D9AE0FE4-D2C1-4766-BA55-7CB1997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1CA51B89-C64C-442D-B7B5-D8C91E2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E6B8C062-26CC-4C47-8CAA-EF2A47E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Informe incompleto: “72 % correcto”. Para interpretarlo faltan material, idioma, modo, nivel y escala, oído, consigna y criterio. El porcentaje no describe a la persona fuera de esa prueba.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E5B702B0-2EF8-4975-A344-6E690A4B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D0F8ACEC-D34A-4883-AB78-17C07F4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C6F80B76-29A7-4FAD-A54B-B4D45BBF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49F2996B-1DAA-45A5-863B-D962D92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252E8968-75DD-4102-AF8B-3BE180B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537B4A49-494D-4352-83A4-6EFE619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1F5CE11-78C2-42A9-A25F-1F7A53C0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E22DB2-1B52-44CC-97F9-A641569A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43C5A4-1C11-408D-8D2D-F4F43F4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datos faltan para interpretar el porcentaje?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82A35D9D-79AE-4D0D-9CF1-A6FD071B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5BF049B-D9BA-455E-AE16-96ACD27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78B7EE6C-37FB-4AD5-AAB8-5C924A6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Complete al menos cinco campos del informe verbal ficticio.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34197E7C-E07F-4AF0-AEEF-B47B441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DFDE9C3D-2B8C-410F-BC95-2C1B3E3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AC2871C3-A0B3-4557-BBA9-2DBD34DC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F2A7C9A-4297-432B-A46D-3979C74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85626E9A-66A6-4812-B207-480EA8CA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E0DCC455-A13E-4673-B036-7E6EE1B4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AB16311-4934-4003-A42A-B83C8224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3D45E3-8107-423E-B354-C9654A8B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C5E3E9-3267-4EAD-B4B1-44F73814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Umbral tonal y desempeño verbal responden preguntas distintas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CFB9187B-A985-4562-8090-1771B53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453B053-9CA7-4AF3-B061-2D13D52F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B5E56CF7-150D-43D9-81E9-12BA405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tonal: detectar tonos resultado principal, umbral por frecuencia. Logoaudiometría: responder a material verbal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94BFACFA-BC64-4CD5-BDF3-1FA91E3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7F74BAE0-EEBC-4808-9359-1B714FA5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C5F33E10-C957-4CAC-ACBA-17D088B8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resultado, porcentaje o umbral bajo condiciones definidas. Se complementan, pero no miden la misma tarea.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9B4F88B-0ACA-4282-B3A4-5ED7DA2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9008F242-D221-4E37-8AA2-20E3501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C4CC6780-A263-48F0-A8B1-5B3D9DC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BB16DBF-99B7-47CD-9177-783B403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394E59-9708-4077-B513-52EB0EF8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3B3CBD-51EE-41CF-A3C8-85D5B37E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acufenometría compara un tinnitus referido con sonidos externos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935421D8-5875-4695-BA17-6E1C608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persona compara su percepto referido con un estímulo externo ajustable.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Puede elegir una correspondencia de frecuencia y nivel bajo una consigna definida.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resultado pertenece a la tarea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equipo no mide una fuente sonora interna.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2FA3BC00-D907-4E7A-B55A-3F34406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D07F151-D508-4416-A99D-67A0AB2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7A82E34-74D5-40E7-B328-38A3F89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persona elige correspondencias el equipo no mide una fuente física interna.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10127A2-903E-4B40-86AA-7ACBA73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355CCF-5B20-499A-BCFA-7BDD1E6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AE01CEE3-6B4B-4E93-B407-FF5C46E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6D946D02-3487-4B88-8399-24D576D3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0B8E7D-63AD-43C6-9A76-1694C665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8A84BF-A3C4-45FD-B2B4-75930D8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de correspondencia no es la “frecuencia física del tinnitus”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EDFCF78-14B9-4652-A130-000E844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1E8F735B-2C81-499D-BFBA-AD72D116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400BA04-1B58-47CC-853C-8CEE2BD2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Físico: el tono externo tiene frecuencia medible en Hz. Perceptual: el tinnitus es una experiencia referida.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C1F1FCE7-E90B-4806-827D-B6B10075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0A1A5BCA-C9E7-4C0B-84AB-0FEEF9C8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E41B7EF7-BDB0-4441-88B1-CF8B7E0F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Correspondencia: juicio de semejanza no igualdad física entre dos fuentes.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B30BAA1-EE27-4061-B4D1-6869F5F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14062420-EE80-4452-9352-6044EA7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206B1ED0-5EC9-4E1B-9F6A-A1A701A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3F3E34B-7618-427A-A233-9A57F777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4CB7B9-10A6-49E8-AADA-209F507C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320134-DFFC-49CC-921F-8443CAA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SL expresa nivel respecto de un umbral definido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7209FD3-16F8-4678-ACBD-EED229CC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D79F77A9-E37C-4D0B-8F2D-FA18675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L_SL = L_presentación − L_umbral individual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89C7D429-E8CD-4FAC-8233-E0C3EFE0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CC005EF-EE75-42E6-9E40-2A7BF67C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F1D077A-B639-4F51-983D-E824F04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de correspondencia no es intensidad interna ni cuantifica impacto funcional.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33E381E5-E9B9-4E73-93DB-FDDE96F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0886A24-B782-4C42-AB1C-A91E0C5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3621DA2-D9D0-45B7-8D84-CD719703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de correspondencia no es intensidad interna ni cuantifica impacto funcional. Umbral individual, tono de comparación, diferencia en dB SL y variabilidad entre sesiones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6E7154EF-4935-4A5D-9237-F445CF23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7AB40EAA-AAF4-485F-AFAA-637E228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0463CBC6-B8AC-4F6E-ACCA-E0F910EA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C6495DE0-A6A8-4FFD-9F00-BCA50426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62E645-8824-49EF-83FB-45D792F2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D6F9AD-2BC7-47D8-9545-C9679D64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tareas conductuales producen tres clases de resultado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DE2E5349-4F2B-4108-AD6D-4467657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83F75B9B-35D1-4736-AE4A-C141454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A5C746B7-3D0F-491C-A003-61233BB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Tono: detectar → umbral por frecuencia → dB HL.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1F6A75FD-5117-4ED5-ABB0-AF7FC9F8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25431910-AE93-4EB4-8611-0BE32F92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BB38FF81-4D60-4A4D-BA33-7156A54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Habla: reconocer → porcentaje o umbral → escala declarada.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A67B1306-1266-464A-9D2D-2994FED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CC0E45DB-BF7D-41BE-8AC7-2118B66F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28F48B36-844C-460C-BCCE-F7D5E8B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Correspondencia: comparar → frecuencia/nivel elegidos → Hz y dB SL bajo referencia individual.</a:t>
            </a:r>
          </a:p>
        </p:txBody>
      </p:sp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3E4B7C36-33D8-4B52-9ACF-60D4040B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7FEA276-340E-40F0-8176-7837400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A4BFFD2-AE69-4573-9291-4F1E209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54AD189A-4D32-41EE-95EE-24A0B2E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AAD00C-3C9E-4DD3-993B-B754F06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B65899FF-1226-464E-91C4-ADD5634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1AF2308F-850A-40FC-99A2-9EDE329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mide un barrido de presión y qué no mide?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A48332A-43B6-4520-8ADA-E63CB9F8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5F7BD4-816C-4CC5-B20D-90E3313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6272CF-1A6C-42AD-9A9F-AED1B9A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sonda presenta un tono mientras cambia la presión del conducto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7274283B-6CD5-4044-BEF5-040C6C2A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7EE1A298-7D7D-46F7-8523-3C50D196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sonda sella el conducto y presenta un tono.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4858800A-422E-40E4-B239-9A8CEB3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EA1FC467-BB2C-403F-A566-748774D1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sistema modifica la presión del conducto de manera controlada.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890DE314-8530-4B94-9C10-B596E452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B189A227-0442-4AD4-B2EB-A839DB6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micrófono registra la respuesta acústica.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DAD9EA8C-47E8-404B-89A3-98F8E4D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7EF54A3D-43A6-48A7-B7F9-D84FAD0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curva representa una magnitud de inmitancia frente a presión.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9090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72175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5345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6DCE5D2-894C-424A-9338-A1D7E9C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 xmlns:a="http://schemas.openxmlformats.org/drawingml/2006/main">
              <a:ext uri="{FF2B5EF4-FFF2-40B4-BE49-F238E27FC236}">
                <a16:creationId xmlns:a16="http://schemas.microsoft.com/office/drawing/2014/main" id="{309F22A6-28B1-4AB2-81A1-667E0480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 xmlns:a="http://schemas.openxmlformats.org/drawingml/2006/main">
              <a:ext uri="{FF2B5EF4-FFF2-40B4-BE49-F238E27FC236}">
                <a16:creationId xmlns:a16="http://schemas.microsoft.com/office/drawing/2014/main" id="{3F0A8C0C-BD7B-43A9-8C7A-1B5151D1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953EDAA-0E80-4983-AB21-AF247EE8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1D0410-EF1B-4929-8E8A-83800FB4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F36238-82B2-460A-A291-AD10280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Inmitancia es la categoría; admitancia es una magnitud habitual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EA0639F4-082A-4FF2-9929-08B07A0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Inmitancia: categoría que reúne oposición y facilidad de transferencia.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Admitancia Y: magnitud habitual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unidad depende del equipo y protocolo.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del conducto: daPa.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Y/Y_max: normalización conceptual, sin unidad.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B0F597A6-7A29-4613-B57D-0242647B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3F2748C6-B090-4C6E-A015-F941031E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0D4BFFB-D27C-4D1B-BA89-75DFD20C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equipo debe declarar qué magnitud y unidad muestra Y/Y_max es una normalización conceptual.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CD5C5DA-372B-4898-9B62-10723D3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D4348CEA-39A4-4EF1-8C77-39502E3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B29AF6-6567-4EB3-A4BD-26B90CE1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E7A1062-6B55-4C1D-A567-416DAA9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E8852E-E40B-45FF-BE4B-E157B08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D636A5-7498-4A30-B745-EEA57FF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timpanograma se construye punto por punto durante el barrido</a:t>
            </a:r>
          </a:p>
        </p:txBody>
      </p:sp>
      <p:sp>
        <p:nvSpPr>
          <p:cNvPr id="2" name="media-static-box">
            <a:extLst xmlns:a="http://schemas.openxmlformats.org/drawingml/2006/main">
              <a:ext uri="{FF2B5EF4-FFF2-40B4-BE49-F238E27FC236}">
                <a16:creationId xmlns:a16="http://schemas.microsoft.com/office/drawing/2014/main" id="{12C03FE1-ED2C-4545-8522-132E02A9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143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media-static-title">
            <a:extLst xmlns:a="http://schemas.openxmlformats.org/drawingml/2006/main">
              <a:ext uri="{FF2B5EF4-FFF2-40B4-BE49-F238E27FC236}">
                <a16:creationId xmlns:a16="http://schemas.microsoft.com/office/drawing/2014/main" id="{03E56B54-5EDD-49C8-8976-AAB9D03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4" name="media-static-body">
            <a:extLst xmlns:a="http://schemas.openxmlformats.org/drawingml/2006/main">
              <a:ext uri="{FF2B5EF4-FFF2-40B4-BE49-F238E27FC236}">
                <a16:creationId xmlns:a16="http://schemas.microsoft.com/office/drawing/2014/main" id="{69D0528F-6BC1-4DA1-B020-0ACE6A53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05025"/>
            <a:ext cx="68008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presión aporta una medición la morfología resume el conjunto. Animación presión medición punto curva, con alternativa de cuatro cuadros</a:t>
            </a:r>
          </a:p>
        </p:txBody>
      </p:sp>
      <p:sp>
        <p:nvSpPr>
          <p:cNvPr id="5" name="media-id-box">
            <a:extLst xmlns:a="http://schemas.openxmlformats.org/drawingml/2006/main">
              <a:ext uri="{FF2B5EF4-FFF2-40B4-BE49-F238E27FC236}">
                <a16:creationId xmlns:a16="http://schemas.microsoft.com/office/drawing/2014/main" id="{E609BCAC-13C5-4711-8BA9-157BE72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media-id-title">
            <a:extLst xmlns:a="http://schemas.openxmlformats.org/drawingml/2006/main">
              <a:ext uri="{FF2B5EF4-FFF2-40B4-BE49-F238E27FC236}">
                <a16:creationId xmlns:a16="http://schemas.microsoft.com/office/drawing/2014/main" id="{EED008DD-3162-4C65-9308-850C05A2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 de escucha</a:t>
            </a:r>
          </a:p>
        </p:txBody>
      </p:sp>
      <p:sp>
        <p:nvSpPr>
          <p:cNvPr id="7" name="media-id-body">
            <a:extLst xmlns:a="http://schemas.openxmlformats.org/drawingml/2006/main">
              <a:ext uri="{FF2B5EF4-FFF2-40B4-BE49-F238E27FC236}">
                <a16:creationId xmlns:a16="http://schemas.microsoft.com/office/drawing/2014/main" id="{903DDCEB-7D92-462D-BDE6-64958478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8956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Formule una predicción antes de escuchar y describa solo el cambio perceptual relevante. La escucha es cualitativa y no reemplaza una medición calibrada.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5EABC8-4647-4BEB-B456-4092D01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DE2497-723E-43EB-83FB-123B852F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B936C5DE-A11F-4816-AE6A-1ADA624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FDB696F2-766B-44E3-AD19-4A90323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0F3C09-FE83-41C1-9533-91183C8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F4F050-584B-4EA1-9FD2-026FD2A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morfologías describen curvas, no enfermedades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01E72C8B-FB44-42BC-AF9E-1F4E0ED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Pico centrado, trazado plano y pico desplazado: tres descripciones geométricas.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 horizontal: presión (daPa).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 vertical: admitancia normalizada Y/Y_max.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 no corresponde de manera exclusiva a una enfermedad.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188BF2-0B1A-4AEB-9240-8D6BA3EA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033ABFF8-FD57-415B-879D-E1093B7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183609B7-75E0-4262-BF54-9E1007C5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74D75F1-715F-474E-B867-E517093F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BE79A2-2C57-4160-9BDA-9B083DF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1ADDD6-DBF8-48E6-A15F-2E65A16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Describa la forma sin nombrar una patología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E4C2FA6B-DB2F-4841-B4E9-703B0B17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2F8EED-0B07-4DCD-B25A-B09863B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4B656239-35A3-434C-AB07-9E338123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Describa eje, unidad, presencia/posición de pico y condición que revisaría.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98A51689-B364-4DD0-AD59-F8D3FA47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755ADF11-F66C-448A-B520-631AB0A8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E4C3965B-E304-4E78-9399-0A63EDB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47816288-DB4E-4DEB-B3AA-9CF6A4E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A68C05EA-99A3-421A-9646-7FF499A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2B20FDE4-260C-4F96-BFAD-37EFFAC7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3852BB3-C3C0-422B-9693-A315B399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194465-A555-43C8-AC82-7C02E67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DD7F6A-31DD-4C08-A52A-185D152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trazado plano no mide cuánto oye la persona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3C4D60C7-6FD2-42B3-954C-C913542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2D7A1011-BBE6-4162-BF95-35EBF9D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5EF47169-B57D-4919-8A94-C350312C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frecuente: Un trazado plano no mide cuánto oye la persona Corrección: Sellado, sonda, movimiento y volumen estimado del conducto forman parte de la interpretación. Antes de concluir: Error, corrección y lista breve de verificaciones.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81320E8D-3E6C-46ED-BFE8-B3AA0D3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4AD90BDB-4D42-424A-AF0A-209930A0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F98D5BBE-5E4C-4975-AC28-8176707E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55C69799-98E5-4949-A512-08AFBCD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46EA8E47-359C-4D03-8187-6AB4E84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1B96D271-8A8D-4D8B-80B2-008B6E8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A535B9A-3C15-4908-AF74-67D82BD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2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EC7264-27E1-4E83-9D99-784E5776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30F24F-A70C-435E-B9E4-7C8EA42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la curva resume transferencia bajo un barrido controlado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B39D2676-9AB9-41CF-816B-E8E758E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35B1514E-CA43-4C4E-B9F6-C2861DBA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03A316AA-4262-4067-A5FC-F056E0DE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Entradas: tono de sonda y presión del conducto.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0E1B01B7-9850-46AE-A90A-D7D4C72E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09A832F7-FDF4-4310-B20F-CDF2404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7167AD0C-B206-4DA8-AA26-91C4C4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Sistema: oído externo y medio bajo condiciones de sellado.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A24B4163-5426-4D67-9A9C-99E51E73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C7CFF9E4-FDAC-4B61-A187-364C7CAB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1F9FF1E5-63E5-4BEF-B374-F9DFF37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magnitud de inmitancia en función de la presión.</a:t>
            </a:r>
          </a:p>
        </p:txBody>
      </p:sp>
      <p:sp>
        <p:nvSpPr>
          <p:cNvPr id="11" name="recap-4-box">
            <a:extLst xmlns:a="http://schemas.openxmlformats.org/drawingml/2006/main">
              <a:ext uri="{FF2B5EF4-FFF2-40B4-BE49-F238E27FC236}">
                <a16:creationId xmlns:a16="http://schemas.microsoft.com/office/drawing/2014/main" id="{55C81F21-90FA-4D4E-ACB4-CC3A0E4E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00250"/>
            <a:ext cx="2476500" cy="2714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20AD5425-CB62-4F43-AFC8-70998EE2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33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EBAE30D0-3535-4CD4-AA96-1E89B6E1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33650"/>
            <a:ext cx="2133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Límite: no mide por sí solo audición ni patología.</a:t>
            </a:r>
          </a:p>
        </p:txBody>
      </p:sp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33CC3D1-505C-4930-93B9-13F6926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 xmlns:a="http://schemas.openxmlformats.org/drawingml/2006/main">
              <a:ext uri="{FF2B5EF4-FFF2-40B4-BE49-F238E27FC236}">
                <a16:creationId xmlns:a16="http://schemas.microsoft.com/office/drawing/2014/main" id="{A0B42F86-D986-4265-A9AC-27813025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 xmlns:a="http://schemas.openxmlformats.org/drawingml/2006/main">
              <a:ext uri="{FF2B5EF4-FFF2-40B4-BE49-F238E27FC236}">
                <a16:creationId xmlns:a16="http://schemas.microsoft.com/office/drawing/2014/main" id="{FD77D840-4187-4E55-BC07-4958EEA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E50CE23-41CB-4E3E-A422-E366EE9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787266-66B2-4D37-B674-6842632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644A780-DFAD-4AB9-8B5A-4CB5985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37C72AC-300E-4B1B-8FAD-E926428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señal registra cada sensor?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17F7EDE-F345-4301-929F-2CDB311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4902C9-2879-4487-9C78-46D8320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198F0E-9A29-4304-BCAA-0C93916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OEA, la sonda presenta sonido y registra presión de retorno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253EA74B-CBAB-4B8F-8368-9050C69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8F281F60-91B4-4725-8E04-1614455C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Ida: la sonda presenta un estímulo acústico.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0C914CB6-E1DC-4B29-90E4-8E64BA88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3F1DC55F-F6F4-4A55-BC33-CD2E82F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Interacción: oído externo/medio y cóclea condicionan la señal.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0B2CFCE5-BBCD-44A0-B0E9-63258744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425AEC33-A748-4D4A-8404-D5EDB31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Retorno: presión acústica que vuelve al conducto.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D32CDE6E-6CB3-441D-8E14-B2D7C5E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E7266D19-04F5-4ABD-B422-4CDEB22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micrófono de la sonda</a:t>
            </a:r>
          </a:p>
        </p:txBody>
      </p:sp>
      <p:sp>
        <p:nvSpPr>
          <p:cNvPr id="10" name="process-5">
            <a:extLst xmlns:a="http://schemas.openxmlformats.org/drawingml/2006/main">
              <a:ext uri="{FF2B5EF4-FFF2-40B4-BE49-F238E27FC236}">
                <a16:creationId xmlns:a16="http://schemas.microsoft.com/office/drawing/2014/main" id="{FF01F6A6-4B9A-467D-BB5E-27233184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2D7646E3-9A6E-4D30-AB31-F6216FCB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bajo protocolo.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5938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9966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3994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8022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9EDECBDE-A64E-4C0C-8573-63F6E8E9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7" name="top-rail-2">
            <a:extLst xmlns:a="http://schemas.openxmlformats.org/drawingml/2006/main">
              <a:ext uri="{FF2B5EF4-FFF2-40B4-BE49-F238E27FC236}">
                <a16:creationId xmlns:a16="http://schemas.microsoft.com/office/drawing/2014/main" id="{5CAAE061-FEAD-4895-8C01-64E1FABB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8" name="top-rail-3">
            <a:extLst xmlns:a="http://schemas.openxmlformats.org/drawingml/2006/main">
              <a:ext uri="{FF2B5EF4-FFF2-40B4-BE49-F238E27FC236}">
                <a16:creationId xmlns:a16="http://schemas.microsoft.com/office/drawing/2014/main" id="{727493A6-CCDB-4E1E-BAC2-ECF7E9C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89F3574-C417-436C-8428-7280E0EB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75F103-CC2A-4A2A-824F-62194F7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53EFA1-A6AF-4B9D-AF9C-554D13C8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OEA registra Pa, dB SPL y SNR bajo criterios del protocolo</a:t>
            </a:r>
          </a:p>
        </p:txBody>
      </p:sp>
      <p:pic>
        <p:nvPicPr>
          <p:cNvPr id="10" name="U08-075-U08-CH-0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3602fbe8644fc">
            <a:extLst>
              <a:ext uri="{96DAC541-7B7A-43D3-8B79-37D633B846F1}">
                <asvg:svgBlip xmlns:asvg="http://schemas.microsoft.com/office/drawing/2016/SVG/main" r:embed="R019b79feecc142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08D6FE74-94C6-4EBC-AB78-49B27339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“Presente”, “ausente” o “derivar” depende de señal, ruido, sonda y transmisión. · Producción propia UCASAL · U08-CH-010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1274A3FA-07D4-4445-8DB3-DA5EBF4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17484092-3C12-4412-99AD-6D3976B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70B0CA69-2EED-4C62-AB7B-FAD75A2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3BCD2A4-3260-48B2-AAC2-163B246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1C6894-0B84-4F1C-BC16-7354C5A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DC59C7-C3D9-4EFD-8B7E-FD09D76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OEA presente no demuestra audición normal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0C8CD120-E245-47D6-A5BC-FB2ED06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39416F98-C16A-4317-937D-4815879E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01FBE78D-6A0D-4DAA-B14C-387F9DC8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frecuente: Una OEA presente no demuestra audición normal Corrección: OEA no evalúa por sí sola respuesta neural, percepción, lenguaje ni todas las frecuencias. Antes de concluir: Error, corrección y cuatro preguntas que permanecen abiertas.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1101CD15-DAF2-45D5-8492-691D692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1C7D50AB-4BC3-48AA-956F-52F30BE0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0AB27ED1-3E7E-441B-A8E1-303F3F5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5B3186-1A57-4E4A-A6AA-03ECCE1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9519A715-BC70-4EBA-B5A8-64FF69C8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DBCB6C2B-7347-46F8-B91A-1D6A923C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E7D1E15-D065-475A-B79A-58B2565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DC2617-0154-4220-8687-C424A94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B5321-43DF-435A-A9D7-8663075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PEAT, electrodos registran una respuesta neural sincronizada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A1A35DEE-9B39-45D7-8526-13D27EAE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6CEE74FA-C095-4131-A541-B850C52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V(t): diferencia de potencial (µV) en función del tiempo (ms)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C512A8EE-B9D3-49AC-8A06-4E1455C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C2FD4491-D53A-4859-BDD2-66D46A2F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D9D8BE23-9062-40CF-AE5C-42DA3547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señal es acústica hasta la transducción el registro es una diferencia de potencial en función del tiempo.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9AF9E1C-C24C-4E32-A3D9-981DDB51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81CE4FC-1A59-4924-A259-272617B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7853151-98FA-4BDF-83B9-5902533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estímulo llega por un transductor acústico. La vía auditiva genera una respuesta sincronizada. Electrodos superficiales registran una diferencia de potencial. El promedio permite representar V(t) en µV y ms.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BC398909-B379-43F7-A3DD-8ACA49A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882C785A-F0D0-49CB-99EF-A09C4EF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F82E5C77-1E61-4EB0-8B04-FB6BE9CF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F006F20-E192-440E-8DB1-1AF5FCF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3E9BB1-52A5-4D14-AC74-8BAF482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6088BE-2C28-4759-8EE5-369E9C5A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PEAT organiza amplitud y latencia</a:t>
            </a:r>
          </a:p>
        </p:txBody>
      </p:sp>
      <p:pic>
        <p:nvPicPr>
          <p:cNvPr id="10" name="U08-078-U08-CH-0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442eaf2074882">
            <a:extLst>
              <a:ext uri="{96DAC541-7B7A-43D3-8B79-37D633B846F1}">
                <asvg:svgBlip xmlns:asvg="http://schemas.microsoft.com/office/drawing/2016/SVG/main" r:embed="R49522a1e9ce04f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13E12C0-DE8E-4C5E-9CA6-C5C473B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Componentes, latencias y amplitudes dependen de estímulo, nivel, tasa, estado y promedio. · Producción propia UCASAL · U08-CH-008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D83F86F9-6EFB-4BB7-A00C-A1D5326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1FC794F6-9466-4D9D-BADE-C851D6D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08B5D5EC-8D5E-400A-B7FB-754F6A1E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AB2752E9-52F3-41A8-B742-B95A8E6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05A85F-543F-4880-9FF7-A67E75A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957E53-81D7-4E2B-97F1-2B318858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potencial evocado no mide comprensión del habla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A4E28E89-697E-40E8-B4AE-CBABC94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2DD36528-54D3-4A12-8251-A4E68E8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3C07FABA-E195-4DEC-B4BA-E153F6A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frecuente: Un potencial evocado no mide comprensión del habla Corrección: Una respuesta bioeléctrica y una tarea verbal pertenecen a niveles diferentes de la cadena. Antes de concluir: PEAT frente a logoaudiometría: señal, respuesta y conclusión.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EEBE1719-FD1B-408C-9D40-985134A6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40C5516A-C522-42FD-A10D-DDC9083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C99D069D-CAD2-46F7-8574-D275ADA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DF40EFD-72DA-44E1-B903-F820099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72A1EC-D7B2-460E-82FE-75C46E6B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7ED0A12B-CF91-4626-9679-029159E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F54AC5F-A6FC-4457-9FE4-960725EF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304E2B-C4CE-4802-AC8A-F892E89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DCE462-498D-4FF4-BA59-D1D067AE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electrococleografía registra potenciales cocleares y neurales distales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F8BCDBFD-DB12-4DAA-8432-B9AE3C9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765CCD2D-5DBA-4D1A-99C2-4810F206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 acústico controlado.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32E24AC4-64D3-48D1-B9F2-8F0CB1F1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566E4E18-E8B3-4F0A-B70A-8452A46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Generadores cocleares y neurales distales.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CC77BD27-9033-491A-9F3E-2C4DABA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B7C9156-E0FB-479C-9EFE-DF0A6F0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Electrodo próximo según montaje extra- o transtimpánico.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9D8A4F4C-9F64-4B97-B4D4-C6E67EE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948917ED-408F-4B40-B365-C2EBF53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 de potenciales</a:t>
            </a:r>
          </a:p>
        </p:txBody>
      </p:sp>
      <p:sp>
        <p:nvSpPr>
          <p:cNvPr id="10" name="process-5">
            <a:extLst xmlns:a="http://schemas.openxmlformats.org/drawingml/2006/main">
              <a:ext uri="{FF2B5EF4-FFF2-40B4-BE49-F238E27FC236}">
                <a16:creationId xmlns:a16="http://schemas.microsoft.com/office/drawing/2014/main" id="{42BE39BD-D508-46C7-9161-D8617C7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2238375"/>
            <a:ext cx="208788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FEE3565A-F666-4A5D-B259-D24B3E16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409825"/>
            <a:ext cx="18211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 y componentes dependen del protocolo.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5938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9966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3994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8022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8EE9D565-EB96-4107-A985-0AF37257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7" name="top-rail-2">
            <a:extLst xmlns:a="http://schemas.openxmlformats.org/drawingml/2006/main">
              <a:ext uri="{FF2B5EF4-FFF2-40B4-BE49-F238E27FC236}">
                <a16:creationId xmlns:a16="http://schemas.microsoft.com/office/drawing/2014/main" id="{5EF7F345-4149-4F82-A54A-D3A802F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8" name="top-rail-3">
            <a:extLst xmlns:a="http://schemas.openxmlformats.org/drawingml/2006/main">
              <a:ext uri="{FF2B5EF4-FFF2-40B4-BE49-F238E27FC236}">
                <a16:creationId xmlns:a16="http://schemas.microsoft.com/office/drawing/2014/main" id="{B6063814-847B-4EB3-BE73-C14DD56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A5502E9-712F-44E7-B81D-4EBB2C83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21119A-0B34-4358-B7A4-12B8448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165F5-6EAD-493D-B928-0B3A60E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Microfónico, sumación y acción compuesto no son el mismo componente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51B81A3F-C9A1-4458-8370-FBC86FD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componentes tienen generadores y comportamientos distintos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sus relaciones dependen del protocolo.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CM, SP y AP desarrollados, ubicación general y unidad común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3B9269C-DFE1-4806-A333-417D933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3EBC65-B705-47EB-A33B-A22047E1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DF3D3F0E-2838-450B-9655-1BB0F57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57A0CC7-4730-4DD0-AE02-30F302C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9A6D64-2F69-4A6A-B8A1-BA86F29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2C88B-CBA2-47DE-B72A-78A13CD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OEA, PEAT y ECoG registran magnitudes y generadores diferentes</a:t>
            </a:r>
          </a:p>
        </p:txBody>
      </p:sp>
      <p:sp>
        <p:nvSpPr>
          <p:cNvPr id="2" name="u08-082-oea-box">
            <a:extLst xmlns:a="http://schemas.openxmlformats.org/drawingml/2006/main">
              <a:ext uri="{FF2B5EF4-FFF2-40B4-BE49-F238E27FC236}">
                <a16:creationId xmlns:a16="http://schemas.microsoft.com/office/drawing/2014/main" id="{2FA08FD2-D6AC-4670-AD26-7FBA2D6D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08-082-oea-title">
            <a:extLst xmlns:a="http://schemas.openxmlformats.org/drawingml/2006/main">
              <a:ext uri="{FF2B5EF4-FFF2-40B4-BE49-F238E27FC236}">
                <a16:creationId xmlns:a16="http://schemas.microsoft.com/office/drawing/2014/main" id="{CEA5431E-4AFD-4E5A-BFA8-F084D41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OEA</a:t>
            </a:r>
          </a:p>
        </p:txBody>
      </p:sp>
      <p:sp>
        <p:nvSpPr>
          <p:cNvPr id="4" name="u08-082-oea-body">
            <a:extLst xmlns:a="http://schemas.openxmlformats.org/drawingml/2006/main">
              <a:ext uri="{FF2B5EF4-FFF2-40B4-BE49-F238E27FC236}">
                <a16:creationId xmlns:a16="http://schemas.microsoft.com/office/drawing/2014/main" id="{C10A87E2-C8DE-472A-873B-7F1617B4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micrófono Magnitud: presión acústica Generador predominante: cóclea / CCE</a:t>
            </a:r>
          </a:p>
        </p:txBody>
      </p:sp>
      <p:sp>
        <p:nvSpPr>
          <p:cNvPr id="5" name="u08-082-peat-box">
            <a:extLst xmlns:a="http://schemas.openxmlformats.org/drawingml/2006/main">
              <a:ext uri="{FF2B5EF4-FFF2-40B4-BE49-F238E27FC236}">
                <a16:creationId xmlns:a16="http://schemas.microsoft.com/office/drawing/2014/main" id="{93FACEF1-8551-4FAF-9D29-408FCBF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u08-082-peat-title">
            <a:extLst xmlns:a="http://schemas.openxmlformats.org/drawingml/2006/main">
              <a:ext uri="{FF2B5EF4-FFF2-40B4-BE49-F238E27FC236}">
                <a16:creationId xmlns:a16="http://schemas.microsoft.com/office/drawing/2014/main" id="{0171DB07-EC43-46A4-812C-274E9E1E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PEAT</a:t>
            </a:r>
          </a:p>
        </p:txBody>
      </p:sp>
      <p:sp>
        <p:nvSpPr>
          <p:cNvPr id="7" name="u08-082-peat-body">
            <a:extLst xmlns:a="http://schemas.openxmlformats.org/drawingml/2006/main">
              <a:ext uri="{FF2B5EF4-FFF2-40B4-BE49-F238E27FC236}">
                <a16:creationId xmlns:a16="http://schemas.microsoft.com/office/drawing/2014/main" id="{C1953F7F-C08C-40E9-96CA-68DF91D5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electrodos superficiales Magnitud: V(t), en µV y ms Generador: respuesta sincronizada de la vía auditiva</a:t>
            </a:r>
          </a:p>
        </p:txBody>
      </p:sp>
      <p:sp>
        <p:nvSpPr>
          <p:cNvPr id="8" name="u08-082-ecog-box">
            <a:extLst xmlns:a="http://schemas.openxmlformats.org/drawingml/2006/main">
              <a:ext uri="{FF2B5EF4-FFF2-40B4-BE49-F238E27FC236}">
                <a16:creationId xmlns:a16="http://schemas.microsoft.com/office/drawing/2014/main" id="{44151121-4468-4B12-81FC-3557833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8-082-ecog-title">
            <a:extLst xmlns:a="http://schemas.openxmlformats.org/drawingml/2006/main">
              <a:ext uri="{FF2B5EF4-FFF2-40B4-BE49-F238E27FC236}">
                <a16:creationId xmlns:a16="http://schemas.microsoft.com/office/drawing/2014/main" id="{D5DBD814-DC9D-4B8F-8131-F40DBC3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0022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ECoG</a:t>
            </a:r>
          </a:p>
        </p:txBody>
      </p:sp>
      <p:sp>
        <p:nvSpPr>
          <p:cNvPr id="10" name="u08-082-ecog-body">
            <a:extLst xmlns:a="http://schemas.openxmlformats.org/drawingml/2006/main">
              <a:ext uri="{FF2B5EF4-FFF2-40B4-BE49-F238E27FC236}">
                <a16:creationId xmlns:a16="http://schemas.microsoft.com/office/drawing/2014/main" id="{20273788-98E7-42B2-9913-80BB419E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00275"/>
            <a:ext cx="2990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Sensor: electrodo próximo Magnitud: potencial eléctrico Generadores: cóclea y porción neural distal</a:t>
            </a:r>
          </a:p>
        </p:txBody>
      </p:sp>
      <p:sp>
        <p:nvSpPr>
          <p:cNvPr id="11" name="u08-082-limit">
            <a:extLst xmlns:a="http://schemas.openxmlformats.org/drawingml/2006/main">
              <a:ext uri="{FF2B5EF4-FFF2-40B4-BE49-F238E27FC236}">
                <a16:creationId xmlns:a16="http://schemas.microsoft.com/office/drawing/2014/main" id="{1F94ECE0-61A2-4D5F-B3AB-A5447F9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Comparten una entrada acústica; no registran la misma magnitud ni permiten la misma inferencia.</a:t>
            </a:r>
          </a:p>
        </p:txBody>
      </p:sp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837577BE-AF56-445D-9904-1DDC2C96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3" name="top-rail-2">
            <a:extLst xmlns:a="http://schemas.openxmlformats.org/drawingml/2006/main">
              <a:ext uri="{FF2B5EF4-FFF2-40B4-BE49-F238E27FC236}">
                <a16:creationId xmlns:a16="http://schemas.microsoft.com/office/drawing/2014/main" id="{88D29280-37BB-4132-834D-4C2130D6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4" name="top-rail-3">
            <a:extLst xmlns:a="http://schemas.openxmlformats.org/drawingml/2006/main">
              <a:ext uri="{FF2B5EF4-FFF2-40B4-BE49-F238E27FC236}">
                <a16:creationId xmlns:a16="http://schemas.microsoft.com/office/drawing/2014/main" id="{C5B439EC-082E-4A31-AD83-231FC4D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A73C5F3-D647-45B7-8CA2-25C47DB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F07C86-2FDC-4346-B524-59B3F10F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E2C24-3261-45B2-8364-8AA725C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resultados distintos no son necesariamente contradictorios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9EB212AB-E248-404D-8983-A24B2929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40D58FD-DD36-463D-8149-B953306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FC9D997F-B18D-410A-8D99-A332EF2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OEA ausente y PEAT presente: proponga dos preguntas antes de hablar de contradicción.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BE8948E9-7405-4F7F-9E86-26669E6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F4BD3236-4D2C-47FB-9447-DFBEF5B2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9787B6BB-F29B-4BF5-87FA-2B813394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B098C7-1686-4E14-BD89-9E652BB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69DC10DC-B932-425A-9436-4B88082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0DEC4555-B7BA-4024-BE2C-82EE096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E198A2A6-8965-43CE-B934-2210F44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43C9A1-E373-4A11-AD95-3244468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C3B4767C-89F5-4C99-810A-3F9511F3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8EB80B77-CE41-4430-BE72-E4A17992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cambia la naturaleza física de la señal en cada dispositivo?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D2EE912-BB97-4224-829B-8B012E7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1CB3F2-2B03-4E07-8417-A2943FE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3F686C-1D46-4454-BA20-9A02627C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Entrada, procesamiento, salida y acoplamiento permiten comparar dispositivos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AFA701DD-1C89-48FC-A954-D4A333B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A5E768E0-3FDE-410D-820A-CF4CA86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Entrada: señal que recibe el dispositivo.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09A7D453-6B65-4A09-B845-D9EB819C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8B4EC58E-B038-4DE0-9FFF-5DFB10D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Transducción y procesamiento: cambio de dominio y modificación de la señal.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FF9399DC-86FC-4C81-A4BD-E06D57C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1BB9527C-2870-4AAD-B453-9307920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Salida: acústica, eléctrica, mecánica o combinada.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62F03EAE-F811-4C1C-B2B7-15511BE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27E9B61C-0378-4FA4-9161-967F6E9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Acoplamiento: punto donde la salida interactúa con el sistema auditivo remanente.</a:t>
            </a:r>
          </a:p>
        </p:txBody>
      </p:sp>
      <p:sp>
        <p:nvSpPr>
          <p:cNvPr id="10" name="process-5">
            <a:extLst xmlns:a="http://schemas.openxmlformats.org/drawingml/2006/main">
              <a:ext uri="{FF2B5EF4-FFF2-40B4-BE49-F238E27FC236}">
                <a16:creationId xmlns:a16="http://schemas.microsoft.com/office/drawing/2014/main" id="{5E524F46-1D22-42AA-93DF-27AAD7C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9519403A-2AF8-4F0C-8228-FDC7536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funcional: debe evaluarse</a:t>
            </a:r>
          </a:p>
        </p:txBody>
      </p:sp>
      <p:sp>
        <p:nvSpPr>
          <p:cNvPr id="12" name="process-6">
            <a:extLst xmlns:a="http://schemas.openxmlformats.org/drawingml/2006/main">
              <a:ext uri="{FF2B5EF4-FFF2-40B4-BE49-F238E27FC236}">
                <a16:creationId xmlns:a16="http://schemas.microsoft.com/office/drawing/2014/main" id="{82412C8E-28DB-4482-B8E1-F5A476D4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process-6-text">
            <a:extLst xmlns:a="http://schemas.openxmlformats.org/drawingml/2006/main">
              <a:ext uri="{FF2B5EF4-FFF2-40B4-BE49-F238E27FC236}">
                <a16:creationId xmlns:a16="http://schemas.microsoft.com/office/drawing/2014/main" id="{CC8F8721-464F-4FED-8DA0-8C2CD1D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9825"/>
            <a:ext cx="144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está garantizado por la cadena.</a:t>
            </a:r>
          </a:p>
        </p:txBody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860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529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867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53600" y="30003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9D61D07C-3945-49D7-BF36-4D6E68C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 xmlns:a="http://schemas.openxmlformats.org/drawingml/2006/main">
              <a:ext uri="{FF2B5EF4-FFF2-40B4-BE49-F238E27FC236}">
                <a16:creationId xmlns:a16="http://schemas.microsoft.com/office/drawing/2014/main" id="{5A9FBF3C-F39E-47BF-AFE1-A45F8CC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 xmlns:a="http://schemas.openxmlformats.org/drawingml/2006/main">
              <a:ext uri="{FF2B5EF4-FFF2-40B4-BE49-F238E27FC236}">
                <a16:creationId xmlns:a16="http://schemas.microsoft.com/office/drawing/2014/main" id="{DCAADCE0-E9AF-4D28-ABCF-14568FC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F97123D1-C73E-4F48-A027-93770F7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872075-A441-4B90-BA6C-F3A6BC3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DAF24-EB1E-49FC-98BF-0EE971C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audífono vuelve a producir presión acústica cerca del oído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FD0D09C0-205D-43C5-AB03-EA8F7CA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3FB6D219-F9DD-4DDD-A682-92D21E4D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Entrada: presión acústica cerca del micrófono (Pa o dB SPL).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8EB3D6A9-F46D-4DBB-841F-1D947EC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B78AB60F-9747-4733-8335-0244A23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Procesamiento: depende de frecuencia f, nivel y tiempo.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882B3CF9-A537-4387-B8F2-CB58F9B0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5983E5F-79B6-4824-BC59-ED4BE8C9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Receptor: convierte la señal procesada en salida acústica.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6BF1BA58-3A5D-499B-9ADD-F441D3B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E126560F-1407-47FC-86DB-EA1AF2F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presión entregada cerca del oído no equivale automáticamente a comprensión.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9090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72175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5345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D132CA76-62C5-49DE-8A40-4EEA34E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 xmlns:a="http://schemas.openxmlformats.org/drawingml/2006/main">
              <a:ext uri="{FF2B5EF4-FFF2-40B4-BE49-F238E27FC236}">
                <a16:creationId xmlns:a16="http://schemas.microsoft.com/office/drawing/2014/main" id="{824DE32C-11FD-4678-A207-DCBD39F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 xmlns:a="http://schemas.openxmlformats.org/drawingml/2006/main">
              <a:ext uri="{FF2B5EF4-FFF2-40B4-BE49-F238E27FC236}">
                <a16:creationId xmlns:a16="http://schemas.microsoft.com/office/drawing/2014/main" id="{76D1AD40-D72F-4CED-BA7B-FD7542EA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41398993-8772-42EC-84F4-E486E9F3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2EF24C-C758-4705-9D54-7F2B8E8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DCA57F-C653-4119-97E5-13A03A0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G(f) compara salida y entrada en la misma escala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3F022D2-480C-4F62-B9E3-6459AB7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863905CC-6D65-4AB3-8749-248DA85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G(f) = L_salida(f) − L_entrada(f)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6FB56FF5-BD32-4925-9EDA-3CF4B32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EC65521-4D1F-48EE-BEFA-03AAB3CF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EE55987-30CC-4286-B523-1168AE3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y salida en dB SPL bajo la misma condición permiten una diferencia en dB.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056C492-24D0-4AE3-BC85-18A9343B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D7817A7-8258-4A54-9FB9-8BA0C5C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C114F62-B6B3-42E7-9C20-283D1C73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y salida en dB SPL bajo la misma condición permiten una diferencia en dB.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365FD4DF-0DED-4011-AADA-6DFF99C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983B095C-56DE-430B-B6FC-CD7B4EE3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FFFBF980-0DBC-479F-9F2A-D7FD879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B01889D6-45C6-4B3B-997E-492E1683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7CFC9C-9439-438A-A61B-8EDFDFE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A4B02A-DA52-45DA-A157-1EB371A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2000 Hz, la ganancia del ejemplo es 18 dB</a:t>
            </a:r>
          </a:p>
        </p:txBody>
      </p:sp>
      <p:sp>
        <p:nvSpPr>
          <p:cNvPr id="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5FB12FE-D529-4170-A3A6-FEB436E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962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3" name="equation">
            <a:extLst xmlns:a="http://schemas.openxmlformats.org/drawingml/2006/main">
              <a:ext uri="{FF2B5EF4-FFF2-40B4-BE49-F238E27FC236}">
                <a16:creationId xmlns:a16="http://schemas.microsoft.com/office/drawing/2014/main" id="{3B7D3D5A-A21F-4A42-9EC5-FDE233D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47850"/>
            <a:ext cx="9163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G(2000 Hz) = 70 dB SPL − 52 dB SPL = 18 dB</a:t>
            </a:r>
          </a:p>
        </p:txBody>
      </p:sp>
      <p:sp>
        <p:nvSpPr>
          <p:cNvPr id="4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9FB19C0D-2413-469B-95AB-E55CC7AB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3EC4096F-67FF-4D9E-B731-BF18B3A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6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4037E79B-8BA4-4A8E-BFF8-9EF50C81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70 dB SPL - 52 dB SPL = 18 dB el dato no informa comprensión ni comodidad. Datos compatibilidad resta resultado pregunta abierta</a:t>
            </a:r>
          </a:p>
        </p:txBody>
      </p:sp>
      <p:sp>
        <p:nvSpPr>
          <p:cNvPr id="7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3AA13A1D-61C9-45A1-A916-FE3DBC27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01D73B91-9E49-46F6-9ADF-A12887DB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9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76B450D-BB27-4F6E-B2F6-4AC30EDF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29025"/>
            <a:ext cx="4610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G(2000 Hz) = 70 dB SPL − 52 dB SPL = 18 dB. Interpretar el resultado por separado del cálculo.</a:t>
            </a:r>
          </a:p>
        </p:txBody>
      </p:sp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194D7C8B-B0CF-4C29-9057-F9CB8A36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 xmlns:a="http://schemas.openxmlformats.org/drawingml/2006/main">
              <a:ext uri="{FF2B5EF4-FFF2-40B4-BE49-F238E27FC236}">
                <a16:creationId xmlns:a16="http://schemas.microsoft.com/office/drawing/2014/main" id="{9F70398B-3D0A-45F6-B53A-6ED9552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 xmlns:a="http://schemas.openxmlformats.org/drawingml/2006/main">
              <a:ext uri="{FF2B5EF4-FFF2-40B4-BE49-F238E27FC236}">
                <a16:creationId xmlns:a16="http://schemas.microsoft.com/office/drawing/2014/main" id="{1A93D28C-BFE2-4D21-87F4-1F830DF7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90C77A3-E0EC-434D-AA50-74B89F3C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8A7C66-F3A1-4BD0-9717-4B0AAFE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F1C8E-DD74-4800-9AFE-20D1E8F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procesamiento puede depender de frecuencia, nivel y tiempo</a:t>
            </a:r>
          </a:p>
        </p:txBody>
      </p:sp>
      <p:pic>
        <p:nvPicPr>
          <p:cNvPr id="10" name="U08-089-U08-CH-0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2185834be4aed">
            <a:extLst>
              <a:ext uri="{96DAC541-7B7A-43D3-8B79-37D633B846F1}">
                <asvg:svgBlip xmlns:asvg="http://schemas.microsoft.com/office/drawing/2016/SVG/main" r:embed="R36fc7497075f4a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355EEF77-98CC-463B-9327-DCEA9A52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Compresión, direccionalidad, reducción de ruido y control de realimentación modifican aspectos distintos. Figura conc… · Producción propia UCASAL · U08-CH-009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1AB829C-D153-4037-82D7-BE76263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E6A545C9-BD16-4954-AD1E-A7827B6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3AC3D071-965E-4559-B7EC-B1A2DEA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DC5B239B-DB82-4B15-BBE2-79A711E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AA7B8B-3051-4712-BE6C-4108662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45CE12-ED79-4CC0-A3E5-C228AF6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implante coclear entrega pulsos eléctricos en la cóclea</a:t>
            </a:r>
          </a:p>
        </p:txBody>
      </p:sp>
      <p:sp>
        <p:nvSpPr>
          <p:cNvPr id="2" name="process-1">
            <a:extLst xmlns:a="http://schemas.openxmlformats.org/drawingml/2006/main">
              <a:ext uri="{FF2B5EF4-FFF2-40B4-BE49-F238E27FC236}">
                <a16:creationId xmlns:a16="http://schemas.microsoft.com/office/drawing/2014/main" id="{3587DFB5-6195-4034-986B-69DDF55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BC896764-1893-418E-B24F-68D14EC9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Sonido → micrófono → procesador.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C2FB006C-CA05-4DB0-BF5A-3AEF232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715FFB71-235D-4831-B24A-AC4D270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enlace transmite la información codificada.</a:t>
            </a:r>
          </a:p>
        </p:txBody>
      </p:sp>
      <p:sp>
        <p:nvSpPr>
          <p:cNvPr id="6" name="process-3">
            <a:extLst xmlns:a="http://schemas.openxmlformats.org/drawingml/2006/main">
              <a:ext uri="{FF2B5EF4-FFF2-40B4-BE49-F238E27FC236}">
                <a16:creationId xmlns:a16="http://schemas.microsoft.com/office/drawing/2014/main" id="{D326BCED-D2A0-436C-9130-59C0F5B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CBAC65A3-DD9C-4FA1-AC52-4B0560B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receptor–estimulador produce pulsos eléctricos.</a:t>
            </a:r>
          </a:p>
        </p:txBody>
      </p:sp>
      <p:sp>
        <p:nvSpPr>
          <p:cNvPr id="8" name="process-4">
            <a:extLst xmlns:a="http://schemas.openxmlformats.org/drawingml/2006/main">
              <a:ext uri="{FF2B5EF4-FFF2-40B4-BE49-F238E27FC236}">
                <a16:creationId xmlns:a16="http://schemas.microsoft.com/office/drawing/2014/main" id="{D9E959A8-FCBC-4B5A-ACD9-A7A0071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9FC40247-0D30-4226-A130-D876E8F2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2066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guía de electrodos entrega estimulación intracoclear.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9090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72175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53450" y="30003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04E0DDD2-F8A9-4BF3-8651-2EE699AE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C7D61C-0CA9-47A8-B495-C06E7F8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 xmlns:a="http://schemas.openxmlformats.org/drawingml/2006/main">
              <a:ext uri="{FF2B5EF4-FFF2-40B4-BE49-F238E27FC236}">
                <a16:creationId xmlns:a16="http://schemas.microsoft.com/office/drawing/2014/main" id="{B826613E-37BD-48D8-9261-B0750DBB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84B84D6-5AB7-4F1E-9F32-D882046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328F4E-1B30-4DA6-9CB0-D6639F8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938ECF-3AAF-42EB-828B-82B6120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Electrodos, canales y perceptos independientes no son equivalentes</a:t>
            </a:r>
          </a:p>
        </p:txBody>
      </p:sp>
      <p:sp>
        <p:nvSpPr>
          <p:cNvPr id="2" name="error-box">
            <a:extLst xmlns:a="http://schemas.openxmlformats.org/drawingml/2006/main">
              <a:ext uri="{FF2B5EF4-FFF2-40B4-BE49-F238E27FC236}">
                <a16:creationId xmlns:a16="http://schemas.microsoft.com/office/drawing/2014/main" id="{32FCCE7C-DBDD-4A40-BCD5-8A51039C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3" name="error-title">
            <a:extLst xmlns:a="http://schemas.openxmlformats.org/drawingml/2006/main">
              <a:ext uri="{FF2B5EF4-FFF2-40B4-BE49-F238E27FC236}">
                <a16:creationId xmlns:a16="http://schemas.microsoft.com/office/drawing/2014/main" id="{815E68A4-4514-4E2C-9309-7EC6757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4" name="error-body">
            <a:extLst xmlns:a="http://schemas.openxmlformats.org/drawingml/2006/main">
              <a:ext uri="{FF2B5EF4-FFF2-40B4-BE49-F238E27FC236}">
                <a16:creationId xmlns:a16="http://schemas.microsoft.com/office/drawing/2014/main" id="{349DB26B-CD7D-4ABC-8102-1DDB7A41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66103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frecuente: Electrodos, canales y perceptos independientes no son equivalentes Corrección: La interacción eléctrica, programación y sistema neural limitan la independencia perceptual. Antes de concluir: Tres cantidades, relaciones no uno-a-uno y conclusión no permitida.</a:t>
            </a:r>
          </a:p>
        </p:txBody>
      </p:sp>
      <p:sp>
        <p:nvSpPr>
          <p:cNvPr id="5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AFD36B3C-F3A3-49E6-8F6B-98755DC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E3C76D0B-9AA4-4F7D-AFA5-289FA8CD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7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2910D247-5C61-4C1C-AC59-A5595E8D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2766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 SPL es un nivel físico de referencia. El umbral auditivo depende de la frecuencia, la tarea, el procedimiento y la persona.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48BCE77-D984-4609-A5E0-908E45FA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5C609A0A-0F00-4194-95E9-89270C9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42BC0D81-D73F-4133-988B-AB65987A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085E5AC-20E6-4FEC-9BE4-6C798AE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CF7115-08AE-4A7F-95F0-B3E36E8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3964F9-080F-42B1-9B25-B8094B8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implante coclear no es un audífono más potente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8259F40C-50DD-4F00-96D3-AE6267E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A32DC3B3-E56F-4317-A855-CB137E03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CEF00BFD-BB10-4ABF-9414-A6C4B0B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Audífono: procesa y vuelve a entregar presión acústica. Implante coclear: codifica y entrega pulsos eléctricos intracocleares.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43B7D5C8-B9E4-44C5-8908-555FA060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A5C7383B-736C-41DB-A7E1-E930055A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420C98D3-FCD2-410F-A371-1855D5C5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forman una escala de ‘potencia’ cambian el dominio y el punto de entrega.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F034341-1A40-4B6B-BF3F-9AFDE9A6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9F0BC1AA-7205-424A-B496-E4FC7633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07E802A2-9D77-444E-9B6D-E6215846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9175B832-4451-438E-93B2-46D1AD0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AA839D-5190-4A2E-9AA3-7A90E93E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2C076-701A-4B23-89E4-F29CFE3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Conducción ósea y electroacústica agregan otras salidas o combinaciones</a:t>
            </a:r>
          </a:p>
        </p:txBody>
      </p:sp>
      <p:sp>
        <p:nvSpPr>
          <p:cNvPr id="2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DA735497-8E73-4A38-AF37-6E3336FF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1E4F9A52-06F7-4867-8D8B-421F518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Situación A</a:t>
            </a:r>
          </a:p>
        </p:txBody>
      </p:sp>
      <p:sp>
        <p:nvSpPr>
          <p:cNvPr id="4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C4AE827E-5C3C-469B-99F4-D09A3CA7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Vibración del cráneo y salida acústica+eléctrica son estrategias físicas diferentes y no universales.</a:t>
            </a:r>
          </a:p>
        </p:txBody>
      </p:sp>
      <p:sp>
        <p:nvSpPr>
          <p:cNvPr id="5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FA310C6E-6F38-4A3D-847C-87E410B3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86B03BF2-9081-4725-9D21-A887B45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48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Situación B</a:t>
            </a:r>
          </a:p>
        </p:txBody>
      </p:sp>
      <p:sp>
        <p:nvSpPr>
          <p:cNvPr id="7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087C8EC3-D376-419A-8B4E-C51E22D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482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Dispositivo óseo: salida mecánica y ambas cócleas EAS: bandas acústicas y eléctricas individualizadas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31E06D-F482-443F-B81C-F94AC2F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67307F3D-B123-4AA5-958B-C1D41369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67E912EF-6FA8-4027-934A-1FE2DDB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FE453D77-CAAA-4455-B095-50E26FAC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3 · AMPLIACIÓN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A0FEC2-A496-4DE8-B1C7-72BC485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3DD172-9E32-4197-8263-ABE0C07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la salida física distingue dispositivos, no decide la indicación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93C0291B-F9C9-4AC5-BCC0-AFB033C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087880" cy="2714625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BB6BF2A6-E79D-4286-BBB1-F5285DDD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DC3511F2-FB18-437A-B0F4-5F63E30A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74498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 → salida acústica.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04B32582-017B-46E7-9E7D-3DF2A0D7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000250"/>
            <a:ext cx="2087880" cy="2714625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D79EF06C-4080-44C6-B0F8-453FE2C9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13360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414D98B7-BC3A-40F7-BC0B-E5412E5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533650"/>
            <a:ext cx="174498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Implante coclear → salida eléctrica.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7B438857-784A-45DE-A60A-82C1FFF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000250"/>
            <a:ext cx="2087880" cy="2714625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E65956EC-6024-41C0-8DDD-20AC339A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13360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BC37501B-443A-408D-8601-072E4F55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533650"/>
            <a:ext cx="174498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 → salida mecánica.</a:t>
            </a:r>
          </a:p>
        </p:txBody>
      </p:sp>
      <p:sp>
        <p:nvSpPr>
          <p:cNvPr id="11" name="recap-4-box">
            <a:extLst xmlns:a="http://schemas.openxmlformats.org/drawingml/2006/main">
              <a:ext uri="{FF2B5EF4-FFF2-40B4-BE49-F238E27FC236}">
                <a16:creationId xmlns:a16="http://schemas.microsoft.com/office/drawing/2014/main" id="{16DD2950-1586-4C52-9426-2B2E24E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000250"/>
            <a:ext cx="2087880" cy="2714625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BF5645D0-591C-408D-BB8C-7E0CA414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13360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3D2E1E37-9E78-4319-A288-B830AEA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33650"/>
            <a:ext cx="174498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salida distingue el mecanismo</a:t>
            </a:r>
          </a:p>
        </p:txBody>
      </p:sp>
      <p:sp>
        <p:nvSpPr>
          <p:cNvPr id="14" name="recap-5-box">
            <a:extLst xmlns:a="http://schemas.openxmlformats.org/drawingml/2006/main">
              <a:ext uri="{FF2B5EF4-FFF2-40B4-BE49-F238E27FC236}">
                <a16:creationId xmlns:a16="http://schemas.microsoft.com/office/drawing/2014/main" id="{4952A6CF-87DA-4BB6-A03C-2101CE8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2000250"/>
            <a:ext cx="2087880" cy="2714625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5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9B1BE15E-DBA7-4B16-BB55-CDCC875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13360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6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747BD6CB-F018-44A8-AFE3-A4E2E5D1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533650"/>
            <a:ext cx="174498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indicación requiere evaluación, necesidades y seguimiento.</a:t>
            </a:r>
          </a:p>
        </p:txBody>
      </p:sp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B42E674-0587-4527-AB87-0F43785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 xmlns:a="http://schemas.openxmlformats.org/drawingml/2006/main">
              <a:ext uri="{FF2B5EF4-FFF2-40B4-BE49-F238E27FC236}">
                <a16:creationId xmlns:a16="http://schemas.microsoft.com/office/drawing/2014/main" id="{CC7223DD-E6BA-4AE6-97DB-82E80DBF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B47B0E-7F0B-4AB1-B575-A791695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9FCC486-30AB-4617-A514-386A612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EE51D5-FD7F-4B79-B423-B962D013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0D28754-8974-4431-8512-474B4A19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BC830A2-D218-471F-AC45-AAB6552B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construye una respuesta sin exceder la evidencia?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A5B568A-0BF7-42AE-ABA5-4255616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 del bloque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72480C-B019-428F-B4C7-CBA7B8C5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69653D-D0AD-4304-B457-0039680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mismo caso reúne exposición, percepción, conducta y fisiología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8EE541DA-42BA-4A09-87F1-4825CD1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L_Aeq,T: dato de exposición.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Tinnitus y dB SL: percepto y resultado de correspondencia.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Umbral en dB HL: resultado conductual.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 ‘derivar’: salida operativa bajo un protocolo.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dato abre una pregunta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ninguno resuelve todo el caso.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C27F2BF-5791-4690-8135-F8E4EED9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4BB68BC9-B39D-40B7-A3CE-383315D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AA5E97BE-8EFF-4F04-B169-D52873B6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L_Aeq,T, tinnitus/dB SL, umbral/dB HL y OEA “derivar” clasificados.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46E1815-17EC-4730-B5C0-EFCDDF6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704BAEA4-900A-4DBC-B840-3580529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9A9ADE1F-8E72-4BB2-8205-10E0EC1A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CE5DEE8-BCBF-474E-B5C7-8D095A6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CCD605-E27A-49AD-B921-E42A6EE3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2E4ED-8D15-4E70-93D2-D623940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Elija una prueba para cada pregunta, no una batería automática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F4FD3EDB-16D3-4B5A-97AC-9190F746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6D77DC-22BE-45DC-A357-A81A721E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276B4530-FAA5-44AF-A8F7-E7E342A8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Asigne una prueba a cada pregunta y justifique magnitud y límite.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954F0D24-1996-41C0-9A7A-A1B1D38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C01CA6AF-57C7-4B88-94F3-86ABF8E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6A2B6A52-B00D-48B9-8A8C-415FCD8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F85B2B5-1E16-438B-800B-D11D266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7090C2-5AEC-4B17-A26C-D8FA9E0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F1C362FA-3F85-46AE-961D-12E7D54A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B61DCA9-A178-4D9B-8EB8-635AFB0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841DB8-AB12-4BDB-A6CD-2D8844E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45F89E-5F24-475B-9D49-D5E88D36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Resultados coherentes reducen incertidumbre; discrepancias abren nuevas preguntas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00956AB0-EEC0-4E7E-A714-D16CFFE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Convergencia parcial: resultados compatibles reducen algunas preguntas abiertas.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Discrepancia: revisar generador, sensor/tarea, condiciones y protocolo.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Integrar no es votar: es explicar qué aporta y qué limita cada dato.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4A7762A-276A-4578-93B6-AEC0669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E6FA8A98-2DAA-4D85-96C9-8995E2E6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A9FAC5BC-5188-41CD-899D-BF6EF252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9E0DB9F-B655-4AE4-8725-98E768C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236AF7-F38D-473B-AEBE-4C1452B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A175DF-4CB5-420E-B23E-5768E45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Identifique el dispositivo por su salida física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5D637DD5-AD44-45AE-91F8-E12451AE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294454E-93ED-4772-8048-653B72C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5536C601-4951-4C79-A069-B2027B1E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Relacione presión acústica, corriente eléctrica y vibración mecánica con un dispositivo.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9E9CFFB0-5606-4DBF-B7A7-D7866FE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74DBE837-3588-45F0-8ADC-8F6ED1F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E74C1FF6-C0D6-4963-A43F-EBC58EC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ED6B0B2-4A38-45B3-AECC-51A1B1E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D55DCB2F-5C67-4CD9-B005-FD92666C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F372ADA7-04F5-40A9-943A-5B744A8C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D48BC6-11E8-41D1-A217-E177A81D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D15F13-3686-4644-956F-61B01D26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185AD7-0419-4187-9579-90C9D6B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Fonoaudiología integra medición, comunicación y seguimiento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63C509DD-B66E-4D12-86BD-622D6375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Formular la pregunta.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Recuperar antecedentes pertinentes.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Seleccionar pruebas por la información que aportan. 4. Controlar condiciones técnicas. 5. Integrar, comunicar límites y planificar seguimiento.</a:t>
            </a:r>
          </a:p>
        </p:txBody>
      </p:sp>
      <p:sp>
        <p:nvSpPr>
          <p:cNvPr id="3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9B34B91-760F-4C3C-9B15-02DBB0E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571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0EA1DBA4-1D8A-4914-82A6-5C2FDE09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5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7E4EAE34-8C9C-461D-892B-1AF83AF7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Cinco acciones: identificar entrada, transformación, sensor/respuesta, dato y límite.</a:t>
            </a:r>
          </a:p>
        </p:txBody>
      </p:sp>
      <p:sp>
        <p:nvSpPr>
          <p:cNvPr id="6" name="top-rail-1">
            <a:extLst xmlns:a="http://schemas.openxmlformats.org/drawingml/2006/main">
              <a:ext uri="{FF2B5EF4-FFF2-40B4-BE49-F238E27FC236}">
                <a16:creationId xmlns:a16="http://schemas.microsoft.com/office/drawing/2014/main" id="{EE373F4B-3C21-481B-A5DA-ECC7186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 xmlns:a="http://schemas.openxmlformats.org/drawingml/2006/main">
              <a:ext uri="{FF2B5EF4-FFF2-40B4-BE49-F238E27FC236}">
                <a16:creationId xmlns:a16="http://schemas.microsoft.com/office/drawing/2014/main" id="{2DB667A9-EEF5-42DA-9DBB-85435C23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 xmlns:a="http://schemas.openxmlformats.org/drawingml/2006/main">
              <a:ext uri="{FF2B5EF4-FFF2-40B4-BE49-F238E27FC236}">
                <a16:creationId xmlns:a16="http://schemas.microsoft.com/office/drawing/2014/main" id="{897A5110-E3F8-45A5-9FE1-ED3DD168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49B2B0F-6210-4F3D-B250-627E0FF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4BDE35-FA8A-41AA-B403-159E201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DE918-D536-4550-A729-0D27118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preguntas permiten revisar cualquier estudio o dispositivo</a:t>
            </a:r>
          </a:p>
        </p:txBody>
      </p:sp>
      <p:sp>
        <p:nvSpPr>
          <p:cNvPr id="2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A59C5C2-65AA-4E9E-AF06-3D8D8D5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7AFC9289-0782-446D-B3C1-401240A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9EB34D7-7D73-44B4-86DD-B1BA169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entra?</a:t>
            </a:r>
          </a:p>
        </p:txBody>
      </p:sp>
      <p:sp>
        <p:nvSpPr>
          <p:cNvPr id="5" name="recap-2-box">
            <a:extLst xmlns:a="http://schemas.openxmlformats.org/drawingml/2006/main">
              <a:ext uri="{FF2B5EF4-FFF2-40B4-BE49-F238E27FC236}">
                <a16:creationId xmlns:a16="http://schemas.microsoft.com/office/drawing/2014/main" id="{1A370A37-5F78-4936-BE4A-DAC99CB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D67C8B25-3BBD-494A-8262-E568713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D6DCE5C0-88C1-4CF4-AB72-ED010693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sistema interviene?</a:t>
            </a:r>
          </a:p>
        </p:txBody>
      </p:sp>
      <p:sp>
        <p:nvSpPr>
          <p:cNvPr id="8" name="recap-3-box">
            <a:extLst xmlns:a="http://schemas.openxmlformats.org/drawingml/2006/main">
              <a:ext uri="{FF2B5EF4-FFF2-40B4-BE49-F238E27FC236}">
                <a16:creationId xmlns:a16="http://schemas.microsoft.com/office/drawing/2014/main" id="{C03FFF8F-89F4-4DDC-A4C0-9FA3C92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8FC1C072-9D55-4D06-98E8-A7BB3F3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4A3E576C-ED9B-4E47-B42C-56125DA2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transforma?</a:t>
            </a:r>
          </a:p>
        </p:txBody>
      </p:sp>
      <p:sp>
        <p:nvSpPr>
          <p:cNvPr id="11" name="recap-4-box">
            <a:extLst xmlns:a="http://schemas.openxmlformats.org/drawingml/2006/main">
              <a:ext uri="{FF2B5EF4-FFF2-40B4-BE49-F238E27FC236}">
                <a16:creationId xmlns:a16="http://schemas.microsoft.com/office/drawing/2014/main" id="{CFECF964-A47E-441C-987A-795AF112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3B2D233A-EC57-420F-A6F1-7420085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3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2D5EF571-E436-41BD-A061-7CA1D965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registra o entrega?</a:t>
            </a:r>
          </a:p>
        </p:txBody>
      </p:sp>
      <p:sp>
        <p:nvSpPr>
          <p:cNvPr id="14" name="recap-5-box">
            <a:extLst xmlns:a="http://schemas.openxmlformats.org/drawingml/2006/main">
              <a:ext uri="{FF2B5EF4-FFF2-40B4-BE49-F238E27FC236}">
                <a16:creationId xmlns:a16="http://schemas.microsoft.com/office/drawing/2014/main" id="{22C77C10-0B46-4E7A-A84B-7D9BA8F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5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DAC7F854-D99B-453F-BD2E-F98DF4E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6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B23EF0A6-FEDA-4B46-B1EA-F266C55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¿En qué magnitud y unidad?</a:t>
            </a:r>
          </a:p>
        </p:txBody>
      </p:sp>
      <p:sp>
        <p:nvSpPr>
          <p:cNvPr id="17" name="recap-6-box">
            <a:extLst xmlns:a="http://schemas.openxmlformats.org/drawingml/2006/main">
              <a:ext uri="{FF2B5EF4-FFF2-40B4-BE49-F238E27FC236}">
                <a16:creationId xmlns:a16="http://schemas.microsoft.com/office/drawing/2014/main" id="{1A46B547-A1C6-42F2-929C-5D8BE8AC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714500" cy="2714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8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D3BE35E3-D301-4AC6-AA1D-EB443384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33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9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2BF388D2-DFF3-442A-BA60-AA4CF14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13716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no permite concluir?</a:t>
            </a:r>
          </a:p>
        </p:txBody>
      </p:sp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16A0A674-EE85-46F1-9967-C95DCF8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21" name="top-rail-2">
            <a:extLst xmlns:a="http://schemas.openxmlformats.org/drawingml/2006/main">
              <a:ext uri="{FF2B5EF4-FFF2-40B4-BE49-F238E27FC236}">
                <a16:creationId xmlns:a16="http://schemas.microsoft.com/office/drawing/2014/main" id="{617B82FD-A9B2-4060-9E53-2928C1C7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22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81A635-BF5C-43FD-BB5C-3224F33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A292C130-8C63-4BDB-A9AF-DF71FAC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06532D-D4FE-4910-8669-5DED425F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F0F82347-D324-45F2-B0E1-82A5C0F0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8 · ENCUENTRO 4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27C14A2-A448-4DED-BED2-FF934DE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evaluación auditiva a la exposición y el ruido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498AB9-D5E5-4AB9-8599-7A5F8464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A7A489-490D-4B68-9A87-B22BC5E5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Respaldo: escalas, tablas, cálculos y fuentes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F96A90-81F0-41D1-9BC3-012551E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consulta no lineal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C3E2B2C6-26A1-49E1-AE49-2ECCA10D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Escalas: U08-104.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Estudios auditivos: U08-105.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Dispositivos: U08-106.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Ejercicios: U08-107–110.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Brechas y trazabilidad: U08-111–114.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5C008E2-1382-4822-AF5E-4B73BC7B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EEA7F3FB-53F7-459E-AFCD-D3B700A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C6D2E2B7-D445-44DE-8696-8A2D63DB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A7262D69-E0E7-4C88-84EB-4EC3767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282DE4-A174-419F-B7DC-A89A48B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8EAD83-3410-4077-AD62-B4ECAFA1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SL: referencia rápida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E029926B-60C0-4CDF-9B2F-34351DC2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 | referencia física de presión | señales acústicas | no convertir a HL sin referencia.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 | cero audiométrico por frecuencia/transductor | umbrales | comparar solo condiciones compatibles.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SL | umbral individual declarado | nivel relativo | no describe intensidad interna.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B434B98-FF72-4B7C-8CC6-C9AC5A5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37B7E362-9AE9-4C0D-BE65-37FEB4B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16BCE0F0-B370-4E37-9F01-75F9606C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5226AD7-7F87-45C4-A251-D6EFE3D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2C78AC-2DD4-4A43-B200-234DD25F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5D4AD6-00FA-4EC0-A24B-81B89CB9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Matriz completa de estudios auditivos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12B3AEBC-71C7-4D40-9CB7-EA53D2A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 tonal | tono | tarea conductual | umbral por frecuencia | no diagnostica sola.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Logoaudiometría | habla | tarea verbal | porcentaje/umbral | depende de material y nivel.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Timpanometría | tono + presión | micrófono | inmitancia | no mide audición.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Acufenometría | sonido ajustable | juicio de semejanza | correspondencia | no mide fuente interna.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 | sonido | micrófono | presión/SNR | integra batería.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PEAT | sonido | electrodos | V(t) | no mide comprensión. ECoG | sonido | electrodo próximo | potenciales | depende del montaje.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647D3D08-CA79-42EE-B883-578DB8F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F0FAD676-A24C-4337-B19C-1AA0B20E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8D4912EE-B18F-497D-B54D-3225A12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2DD88D2-4809-4555-86AC-E2F7716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35EFAB-B5F2-4A11-B0A2-5C81AFB9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92BD7E-5923-4C67-AE2D-E760468B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Matriz completa de dispositivos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8A8B3D88-5A0E-45E6-B579-DD92D6D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 | entrada acústica | procesamiento | salida acústica | beneficio a evaluar.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Implante coclear | entrada acústica | codificación | salida eléctrica | no garantiza perceptos independientes.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 | entrada acústica | transducción | vibración mecánica | selección individual.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Electroacústica | entrada acústica | procesamiento por bandas | salidas acústica + eléctrica | separación individualizada.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8AC72E7-A231-49C2-A0CB-5D0AFDDA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51AEBB1C-62F4-4A07-A490-5793DE3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F33B4757-B6FD-49F5-A348-9AD9864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2202DCE-A7D8-402B-A181-3F37E6C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919F16-316F-4B24-AFA2-D90BCFB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896B7B-13E3-444F-B052-B012024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TTS: diferencias en tres frecuencias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406DF54E-98FE-4C82-AB48-7B07252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4629511-4CA7-47F6-A281-45AB834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19B7119-326B-46F2-A3A4-D9F7AB66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Calcule ΔL_T en cada frecuencia y señale la mayor diferencia.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56EFEA87-0A94-4207-ACFA-C050A11C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C48943E7-AAE1-4454-83A2-9BF09799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CEC213AC-8131-47B4-9AAD-BFA25C33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8F313DE8-3970-42FA-8952-C30819C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8B8B51-E77C-4B9C-88F5-E98B26A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F9D664C1-DA69-4FEE-BF8C-2478BAE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30B1EBB-1874-445B-9AF3-1617932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EE1A98-E552-46E3-B085-A87857F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6F99C4-5227-4A1D-8F8A-8243727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L_Aeq,T: normalización temporal alternativa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938BBDA0-EBDF-4DDF-99D5-7895255C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26AF27B-5672-4DA9-8824-5072A89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6C9F7AD0-03D0-4E01-B778-828258E0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Normalice la exposición de 0,5 h al intervalo de 8 h y declare las hipótesis.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A2A59F5A-63C0-42AF-B81D-870B93C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C802CBA4-CBC6-4B43-A94E-4E0BA6C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276EDB9D-D89B-4C91-92AB-ABB197D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AF290CE-FF7F-4CED-B4AC-ED761F1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7EFAA48C-7AD4-4B66-8AF7-5F6C5A9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AAC15483-CCCE-4CA8-B316-C0D9ECA1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20198D26-ADAD-4ED5-A79F-7CCE4C20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5F92AE-7F42-4DE8-8DB8-14CA18A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AE2495-0BE5-445A-AC8B-B8E7DD9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Diferencia aérea–ósea en varias frecuencias</a:t>
            </a:r>
          </a:p>
        </p:txBody>
      </p:sp>
      <p:sp>
        <p:nvSpPr>
          <p:cNvPr id="2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3EA310C3-986C-45B0-B712-F0B2B1F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191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4E9E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D0E43F7-256E-4832-B781-9F94ED5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684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22D7EE80-9F0A-471A-9385-00D5F96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68484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Consigna: Calcule G_AO(f) en cada frecuencia y compare los resultados. Justifique con la magnitud, la unidad y el límite de la conclusión.</a:t>
            </a:r>
          </a:p>
        </p:txBody>
      </p:sp>
      <p:sp>
        <p:nvSpPr>
          <p:cNvPr id="5" name="answer-guide-box">
            <a:extLst xmlns:a="http://schemas.openxmlformats.org/drawingml/2006/main">
              <a:ext uri="{FF2B5EF4-FFF2-40B4-BE49-F238E27FC236}">
                <a16:creationId xmlns:a16="http://schemas.microsoft.com/office/drawing/2014/main" id="{5836259F-D35D-4DBF-A002-4FF47C0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286125" cy="3476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answer-guide-title">
            <a:extLst xmlns:a="http://schemas.openxmlformats.org/drawingml/2006/main">
              <a:ext uri="{FF2B5EF4-FFF2-40B4-BE49-F238E27FC236}">
                <a16:creationId xmlns:a16="http://schemas.microsoft.com/office/drawing/2014/main" id="{C2D2786F-7D5C-4BA7-B92E-5839E95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0497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7" name="answer-guide-body">
            <a:extLst xmlns:a="http://schemas.openxmlformats.org/drawingml/2006/main">
              <a:ext uri="{FF2B5EF4-FFF2-40B4-BE49-F238E27FC236}">
                <a16:creationId xmlns:a16="http://schemas.microsoft.com/office/drawing/2014/main" id="{6B2C918D-E5F9-468D-9BFA-528FCCE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294322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dato o dispositivo, identificá la magnitud y la unidad, y justificá qué conclusión permite y cuál deja abierta.</a:t>
            </a:r>
          </a:p>
        </p:txBody>
      </p:sp>
      <p:sp>
        <p:nvSpPr>
          <p:cNvPr id="8" name="top-rail-1">
            <a:extLst xmlns:a="http://schemas.openxmlformats.org/drawingml/2006/main">
              <a:ext uri="{FF2B5EF4-FFF2-40B4-BE49-F238E27FC236}">
                <a16:creationId xmlns:a16="http://schemas.microsoft.com/office/drawing/2014/main" id="{576CF2DC-6B03-4C1D-ACF3-495B32D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 xmlns:a="http://schemas.openxmlformats.org/drawingml/2006/main">
              <a:ext uri="{FF2B5EF4-FFF2-40B4-BE49-F238E27FC236}">
                <a16:creationId xmlns:a16="http://schemas.microsoft.com/office/drawing/2014/main" id="{A8F0DF0E-4314-4980-9BDB-FBB8BF0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 xmlns:a="http://schemas.openxmlformats.org/drawingml/2006/main">
              <a:ext uri="{FF2B5EF4-FFF2-40B4-BE49-F238E27FC236}">
                <a16:creationId xmlns:a16="http://schemas.microsoft.com/office/drawing/2014/main" id="{B7FEF204-EFC4-4C0F-BC32-7F4C532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DE086DE-E09A-4F91-8E24-93A8E445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CC989C-2110-47E6-9402-13F28AD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E4C602-68C2-4800-80C8-DF5C9A7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Ganancia de audífono en tres frecuencias</a:t>
            </a:r>
          </a:p>
        </p:txBody>
      </p:sp>
      <p:pic>
        <p:nvPicPr>
          <p:cNvPr id="10" name="U08-110-U08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d9d5faf314415">
            <a:extLst>
              <a:ext uri="{96DAC541-7B7A-43D3-8B79-37D633B846F1}">
                <asvg:svgBlip xmlns:asvg="http://schemas.microsoft.com/office/drawing/2016/SVG/main" r:embed="R7debdc3522da49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333500"/>
            <a:ext cx="1133475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938ED906-A75C-4AE3-82C2-6CF643C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Mayor ganancia en una frecuencia no implica mayor sonoridad, comodidad o comprensión. · Producción propia UCASAL · U08-CH-011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A6943D83-5889-4F0A-BF6D-2EB2267A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12A4C275-7763-416D-9995-64C0211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C9354351-346C-401C-A182-00272820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C8704E1-B0A6-431C-95E8-E9A0EC2A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ECF7B64-6448-47C0-B541-9E46EB3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9BFA2-2C6C-4E4B-B457-8E5F447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Curvas pos-exposición: ficha de trazabilidad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1ECB2F54-6FA9-4FB8-A1B0-338447B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insertar curva hasta documentar exposición, frecuencia de prueba, tiempos, muestra, variabilidad y fuente primaria.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ficha debe conservar cita completa y límites de extrapolación.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B79E824E-5772-4992-8783-F2892421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41E0DA62-9538-408B-B837-0ABC332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DAE44DD8-9900-435A-800F-46697BA7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34494A9-0E5D-4717-80A9-06B58EC4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7F173B-C8EA-4082-A1DD-9AAA384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EF0B5A-8536-4EE9-9A89-C85ADFB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Riesgo porcentual: población, caso y modelo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418665C3-7CE4-4CCE-8E0E-B95AA721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insertar porcentaje hasta definir evento, población, período, exposición, comparador e incertidumbre.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Distinguir riesgo poblacional de probabilidad individual.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9C55557-3BFE-4313-A42D-4B19B36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65EF9850-9B4D-4D82-8CCD-538E450F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AC9720BB-4011-42AB-87DB-6026958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BC5477C-C071-44AE-B822-AA9C531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8779C6-F9A5-4115-B227-17B7D2C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FEC724-748F-4B70-A5DA-ECF1F29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Siglas y términos de la unidad</a:t>
            </a:r>
          </a:p>
        </p:txBody>
      </p:sp>
      <p:sp>
        <p:nvSpPr>
          <p:cNvPr id="2" name="main-ideas">
            <a:extLst xmlns:a="http://schemas.openxmlformats.org/drawingml/2006/main">
              <a:ext uri="{FF2B5EF4-FFF2-40B4-BE49-F238E27FC236}">
                <a16:creationId xmlns:a16="http://schemas.microsoft.com/office/drawing/2014/main" id="{26BFCDD8-D7BC-438F-9CF0-122A94F3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TTS: desplazamiento temporal del umbral.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PAIR/HIR/NIHL: forma institucional pendiente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desarrollar en primera aparición.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OEA: otoemisiones acústicas.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PEAT/PEATC: forma preferida pendiente de validación docente.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ECoG: electrococleografía.</a:t>
            </a:r>
          </a:p>
        </p:txBody>
      </p:sp>
      <p:sp>
        <p:nvSpPr>
          <p:cNvPr id="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1ABAC93-2ADA-4BC0-AE07-41C9367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 xmlns:a="http://schemas.openxmlformats.org/drawingml/2006/main">
              <a:ext uri="{FF2B5EF4-FFF2-40B4-BE49-F238E27FC236}">
                <a16:creationId xmlns:a16="http://schemas.microsoft.com/office/drawing/2014/main" id="{1B0C8386-C7CE-4C5D-8FC6-93006FC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3967BF-2669-456B-80BF-C03DC41F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78C73BD-31D3-4546-AC1D-B69DFD9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4C8736-CC12-4271-94F9-264DD53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8273A2-3CB3-4837-89CB-7A6D310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y límites de uso de la unidad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5E4253-4DEE-41BE-BD32-CE9FB66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Trazabilidad y límites de uso</a:t>
            </a:r>
          </a:p>
        </p:txBody>
      </p:sp>
      <p:sp>
        <p:nvSpPr>
          <p:cNvPr id="3" name="main-ideas">
            <a:extLst xmlns:a="http://schemas.openxmlformats.org/drawingml/2006/main">
              <a:ext uri="{FF2B5EF4-FFF2-40B4-BE49-F238E27FC236}">
                <a16:creationId xmlns:a16="http://schemas.microsoft.com/office/drawing/2014/main" id="{4274AA33-A773-47B4-823A-902ECC7D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108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Alcance: programa oficial y capítulo 8 del libro del curso.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Verificación: PDF del libro y análisis de fuentes de la unidad.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Ampliaciones: referencias técnicas ya citadas en el libro.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Condición: normas, cifras y convenciones pendientes deben validarse antes del deck.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Uso: material académico</a:t>
            </a:r>
          </a:p>
          <a:p xmlns:a="http://schemas.openxmlformats.org/drawingml/2006/main">
            <a:pPr marL="28" indent="-15">
              <a:lnSpc>
                <a:spcPct val="104000"/>
              </a:lnSpc>
              <a:spcAft>
                <a:spcPts val="11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sustituye evaluación, protocolo ni indicación clínica.</a:t>
            </a:r>
          </a:p>
        </p:txBody>
      </p:sp>
      <p:sp>
        <p:nvSpPr>
          <p:cNvPr id="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D5E8E3A-C967-48FA-A267-1679647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 xmlns:a="http://schemas.openxmlformats.org/drawingml/2006/main">
              <a:ext uri="{FF2B5EF4-FFF2-40B4-BE49-F238E27FC236}">
                <a16:creationId xmlns:a16="http://schemas.microsoft.com/office/drawing/2014/main" id="{34326412-21B4-404E-A2BC-D589AF1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 xmlns:a="http://schemas.openxmlformats.org/drawingml/2006/main">
              <a:ext uri="{FF2B5EF4-FFF2-40B4-BE49-F238E27FC236}">
                <a16:creationId xmlns:a16="http://schemas.microsoft.com/office/drawing/2014/main" id="{9F926CD5-06CA-410F-9CB9-E0805963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756320A-3495-429D-BC81-B5A42AF2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8 · RESPALDO · A DEMANDA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2EF014-898F-4922-99B5-36F0FF0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2026-08-12T15:05:57.1160000Z</dcterms:created>
  <dcterms:modified xsi:type="dcterms:W3CDTF">2026-08-12T15:05:57.1160000Z</dcterms:modified>
</coreProperties>
</file>