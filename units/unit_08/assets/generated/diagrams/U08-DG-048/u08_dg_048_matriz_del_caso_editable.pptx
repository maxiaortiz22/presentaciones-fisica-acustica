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48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Matriz del caso</a:t>
            </a:r>
          </a:p>
        </p:txBody>
      </p:sp>
      <p:sp>
        <p:nvSpPr>
          <p:cNvPr id="6" name="U08-DG-048_NODE_01"/>
          <p:cNvSpPr/>
          <p:nvPr/>
        </p:nvSpPr>
        <p:spPr>
          <a:xfrm>
            <a:off x="1661007" y="1679387"/>
            <a:ext cx="2600553" cy="704453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Dato</a:t>
            </a:r>
          </a:p>
        </p:txBody>
      </p:sp>
      <p:sp>
        <p:nvSpPr>
          <p:cNvPr id="7" name="U08-DG-048_NODE_02"/>
          <p:cNvSpPr/>
          <p:nvPr/>
        </p:nvSpPr>
        <p:spPr>
          <a:xfrm>
            <a:off x="4622749" y="1679387"/>
            <a:ext cx="2600553" cy="704453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Clase</a:t>
            </a:r>
          </a:p>
        </p:txBody>
      </p:sp>
      <p:sp>
        <p:nvSpPr>
          <p:cNvPr id="8" name="U08-DG-048_NODE_03"/>
          <p:cNvSpPr/>
          <p:nvPr/>
        </p:nvSpPr>
        <p:spPr>
          <a:xfrm>
            <a:off x="7584490" y="1679387"/>
            <a:ext cx="2600553" cy="704453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Pregunta que habilita</a:t>
            </a:r>
          </a:p>
        </p:txBody>
      </p:sp>
      <p:sp>
        <p:nvSpPr>
          <p:cNvPr id="9" name="U08-DG-048_NODE_04"/>
          <p:cNvSpPr/>
          <p:nvPr/>
        </p:nvSpPr>
        <p:spPr>
          <a:xfrm>
            <a:off x="1661007" y="2403408"/>
            <a:ext cx="2600553" cy="704453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L_Aeq,T</a:t>
            </a:r>
          </a:p>
        </p:txBody>
      </p:sp>
      <p:sp>
        <p:nvSpPr>
          <p:cNvPr id="10" name="U08-DG-048_NODE_05"/>
          <p:cNvSpPr/>
          <p:nvPr/>
        </p:nvSpPr>
        <p:spPr>
          <a:xfrm>
            <a:off x="4622749" y="2403408"/>
            <a:ext cx="2600553" cy="704453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exposición</a:t>
            </a:r>
          </a:p>
        </p:txBody>
      </p:sp>
      <p:sp>
        <p:nvSpPr>
          <p:cNvPr id="11" name="U08-DG-048_NODE_06"/>
          <p:cNvSpPr/>
          <p:nvPr/>
        </p:nvSpPr>
        <p:spPr>
          <a:xfrm>
            <a:off x="7584490" y="2403408"/>
            <a:ext cx="2600553" cy="704453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¿cómo se describió?</a:t>
            </a:r>
          </a:p>
        </p:txBody>
      </p:sp>
      <p:sp>
        <p:nvSpPr>
          <p:cNvPr id="12" name="U08-DG-048_NODE_07"/>
          <p:cNvSpPr/>
          <p:nvPr/>
        </p:nvSpPr>
        <p:spPr>
          <a:xfrm>
            <a:off x="1661007" y="3127430"/>
            <a:ext cx="2600553" cy="704453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Tinnitus referido</a:t>
            </a:r>
          </a:p>
        </p:txBody>
      </p:sp>
      <p:sp>
        <p:nvSpPr>
          <p:cNvPr id="13" name="U08-DG-048_NODE_08"/>
          <p:cNvSpPr/>
          <p:nvPr/>
        </p:nvSpPr>
        <p:spPr>
          <a:xfrm>
            <a:off x="4622749" y="3127430"/>
            <a:ext cx="2600553" cy="704453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síntoma</a:t>
            </a:r>
          </a:p>
        </p:txBody>
      </p:sp>
      <p:sp>
        <p:nvSpPr>
          <p:cNvPr id="14" name="U08-DG-048_NODE_09"/>
          <p:cNvSpPr/>
          <p:nvPr/>
        </p:nvSpPr>
        <p:spPr>
          <a:xfrm>
            <a:off x="7584490" y="3127430"/>
            <a:ext cx="2600553" cy="704453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¿qué percibe?</a:t>
            </a:r>
          </a:p>
        </p:txBody>
      </p:sp>
      <p:sp>
        <p:nvSpPr>
          <p:cNvPr id="15" name="U08-DG-048_NODE_10"/>
          <p:cNvSpPr/>
          <p:nvPr/>
        </p:nvSpPr>
        <p:spPr>
          <a:xfrm>
            <a:off x="1661007" y="3851452"/>
            <a:ext cx="2600553" cy="704453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Umbral dB HL</a:t>
            </a:r>
          </a:p>
        </p:txBody>
      </p:sp>
      <p:sp>
        <p:nvSpPr>
          <p:cNvPr id="16" name="U08-DG-048_NODE_11"/>
          <p:cNvSpPr/>
          <p:nvPr/>
        </p:nvSpPr>
        <p:spPr>
          <a:xfrm>
            <a:off x="4622749" y="3851452"/>
            <a:ext cx="2600553" cy="704453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resultado</a:t>
            </a:r>
          </a:p>
        </p:txBody>
      </p:sp>
      <p:sp>
        <p:nvSpPr>
          <p:cNvPr id="17" name="U08-DG-048_NODE_12"/>
          <p:cNvSpPr/>
          <p:nvPr/>
        </p:nvSpPr>
        <p:spPr>
          <a:xfrm>
            <a:off x="7584490" y="3851452"/>
            <a:ext cx="2600553" cy="704453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¿bajo qué tarea?</a:t>
            </a:r>
          </a:p>
        </p:txBody>
      </p:sp>
      <p:sp>
        <p:nvSpPr>
          <p:cNvPr id="18" name="U08-DG-048_NODE_13"/>
          <p:cNvSpPr/>
          <p:nvPr/>
        </p:nvSpPr>
        <p:spPr>
          <a:xfrm>
            <a:off x="1661007" y="4575474"/>
            <a:ext cx="2600553" cy="704453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OEA: derivar</a:t>
            </a:r>
          </a:p>
        </p:txBody>
      </p:sp>
      <p:sp>
        <p:nvSpPr>
          <p:cNvPr id="19" name="U08-DG-048_NODE_14"/>
          <p:cNvSpPr/>
          <p:nvPr/>
        </p:nvSpPr>
        <p:spPr>
          <a:xfrm>
            <a:off x="4622749" y="4575474"/>
            <a:ext cx="2600553" cy="704453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resultado</a:t>
            </a:r>
          </a:p>
        </p:txBody>
      </p:sp>
      <p:sp>
        <p:nvSpPr>
          <p:cNvPr id="20" name="U08-DG-048_NODE_15"/>
          <p:cNvSpPr/>
          <p:nvPr/>
        </p:nvSpPr>
        <p:spPr>
          <a:xfrm>
            <a:off x="7584490" y="4575474"/>
            <a:ext cx="2600553" cy="704453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¿qué condición revisar?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