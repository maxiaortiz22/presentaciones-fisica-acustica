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12648" y="246888"/>
            <a:ext cx="3657600" cy="54864"/>
          </a:xfrm>
          <a:prstGeom prst="rect">
            <a:avLst/>
          </a:prstGeom>
          <a:solidFill>
            <a:srgbClr val="4D14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361688" y="246888"/>
            <a:ext cx="3657600" cy="54864"/>
          </a:xfrm>
          <a:prstGeom prst="rect">
            <a:avLst/>
          </a:prstGeom>
          <a:solidFill>
            <a:srgbClr val="9031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110727" y="246888"/>
            <a:ext cx="3465576" cy="54864"/>
          </a:xfrm>
          <a:prstGeom prst="rect">
            <a:avLst/>
          </a:prstGeom>
          <a:solidFill>
            <a:srgbClr val="969F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U08-DG-052_TITLE"/>
          <p:cNvSpPr txBox="1"/>
          <p:nvPr/>
        </p:nvSpPr>
        <p:spPr>
          <a:xfrm>
            <a:off x="713232" y="512064"/>
            <a:ext cx="1078992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3D3D3D"/>
                </a:solidFill>
                <a:latin typeface="Aptos Display"/>
              </a:rPr>
              <a:t>Puente de U8 a U10</a:t>
            </a:r>
          </a:p>
        </p:txBody>
      </p:sp>
      <p:cxnSp>
        <p:nvCxnSpPr>
          <p:cNvPr id="6" name="U08-DG-052_CONNECTOR_01"/>
          <p:cNvCxnSpPr/>
          <p:nvPr/>
        </p:nvCxnSpPr>
        <p:spPr>
          <a:xfrm flipH="1" flipV="1">
            <a:off x="5453481" y="2897504"/>
            <a:ext cx="650139" cy="366903"/>
          </a:xfrm>
          <a:prstGeom prst="bentConnector3">
            <a:avLst/>
          </a:prstGeom>
          <a:ln w="25400">
            <a:solidFill>
              <a:srgbClr val="969FA7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U08-DG-052_CONNECTOR_02"/>
          <p:cNvCxnSpPr/>
          <p:nvPr/>
        </p:nvCxnSpPr>
        <p:spPr>
          <a:xfrm flipH="1" flipV="1">
            <a:off x="3141597" y="3413052"/>
            <a:ext cx="1553389" cy="340559"/>
          </a:xfrm>
          <a:prstGeom prst="bentConnector3">
            <a:avLst/>
          </a:prstGeom>
          <a:ln w="25400">
            <a:solidFill>
              <a:srgbClr val="969FA7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U08-DG-052_CONNECTOR_03"/>
          <p:cNvCxnSpPr/>
          <p:nvPr/>
        </p:nvCxnSpPr>
        <p:spPr>
          <a:xfrm flipH="1">
            <a:off x="3288011" y="4242816"/>
            <a:ext cx="2815609" cy="291638"/>
          </a:xfrm>
          <a:prstGeom prst="line">
            <a:avLst/>
          </a:prstGeom>
          <a:ln w="25400">
            <a:solidFill>
              <a:srgbClr val="969FA7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U08-DG-052_CONNECTOR_04"/>
          <p:cNvCxnSpPr/>
          <p:nvPr/>
        </p:nvCxnSpPr>
        <p:spPr>
          <a:xfrm>
            <a:off x="6103620" y="4242816"/>
            <a:ext cx="1515331" cy="291638"/>
          </a:xfrm>
          <a:prstGeom prst="line">
            <a:avLst/>
          </a:prstGeom>
          <a:ln w="25400">
            <a:solidFill>
              <a:srgbClr val="969FA7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U08-DG-052_CONNECTOR_05"/>
          <p:cNvCxnSpPr/>
          <p:nvPr/>
        </p:nvCxnSpPr>
        <p:spPr>
          <a:xfrm flipV="1">
            <a:off x="7512253" y="3413052"/>
            <a:ext cx="253112" cy="340559"/>
          </a:xfrm>
          <a:prstGeom prst="line">
            <a:avLst/>
          </a:prstGeom>
          <a:ln w="25400">
            <a:solidFill>
              <a:srgbClr val="969FA7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U08-DG-052_NODE_01"/>
          <p:cNvSpPr/>
          <p:nvPr/>
        </p:nvSpPr>
        <p:spPr>
          <a:xfrm>
            <a:off x="4694986" y="3264407"/>
            <a:ext cx="2817266" cy="978408"/>
          </a:xfrm>
          <a:prstGeom prst="roundRect">
            <a:avLst/>
          </a:prstGeom>
          <a:solidFill>
            <a:srgbClr val="E7F1F1"/>
          </a:solidFill>
          <a:ln w="19050">
            <a:solidFill>
              <a:srgbClr val="2F7E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164592" bIns="164592" wrap="square"/>
          <a:lstStyle/>
          <a:p>
            <a:pPr algn="ctr"/>
            <a:r>
              <a:rPr sz="2200" b="1">
                <a:solidFill>
                  <a:srgbClr val="3D3D3D"/>
                </a:solidFill>
                <a:latin typeface="Aptos"/>
              </a:rPr>
              <a:t>Unidad 8
medición y límites</a:t>
            </a:r>
          </a:p>
        </p:txBody>
      </p:sp>
      <p:sp>
        <p:nvSpPr>
          <p:cNvPr id="12" name="U08-DG-052_NODE_02"/>
          <p:cNvSpPr/>
          <p:nvPr/>
        </p:nvSpPr>
        <p:spPr>
          <a:xfrm>
            <a:off x="4261561" y="1968017"/>
            <a:ext cx="2383840" cy="929487"/>
          </a:xfrm>
          <a:prstGeom prst="roundRect">
            <a:avLst/>
          </a:prstGeom>
          <a:solidFill>
            <a:srgbClr val="F7F6F2"/>
          </a:solidFill>
          <a:ln w="19050">
            <a:solidFill>
              <a:srgbClr val="9031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164592" bIns="164592" wrap="square"/>
          <a:lstStyle/>
          <a:p>
            <a:pPr algn="ctr"/>
            <a:r>
              <a:rPr sz="2200" b="0">
                <a:solidFill>
                  <a:srgbClr val="3D3D3D"/>
                </a:solidFill>
                <a:latin typeface="Aptos"/>
              </a:rPr>
              <a:t>Exposición</a:t>
            </a:r>
          </a:p>
        </p:txBody>
      </p:sp>
      <p:sp>
        <p:nvSpPr>
          <p:cNvPr id="13" name="U08-DG-052_NODE_03"/>
          <p:cNvSpPr/>
          <p:nvPr/>
        </p:nvSpPr>
        <p:spPr>
          <a:xfrm>
            <a:off x="757757" y="2948309"/>
            <a:ext cx="2383840" cy="929487"/>
          </a:xfrm>
          <a:prstGeom prst="roundRect">
            <a:avLst/>
          </a:prstGeom>
          <a:solidFill>
            <a:srgbClr val="E7F1F1"/>
          </a:solidFill>
          <a:ln w="19050">
            <a:solidFill>
              <a:srgbClr val="2F7E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164592" bIns="164592" wrap="square"/>
          <a:lstStyle/>
          <a:p>
            <a:pPr algn="ctr"/>
            <a:r>
              <a:rPr sz="2200" b="0">
                <a:solidFill>
                  <a:srgbClr val="3D3D3D"/>
                </a:solidFill>
                <a:latin typeface="Aptos"/>
              </a:rPr>
              <a:t>Descriptor</a:t>
            </a:r>
          </a:p>
        </p:txBody>
      </p:sp>
      <p:sp>
        <p:nvSpPr>
          <p:cNvPr id="14" name="U08-DG-052_NODE_04"/>
          <p:cNvSpPr/>
          <p:nvPr/>
        </p:nvSpPr>
        <p:spPr>
          <a:xfrm>
            <a:off x="2096091" y="4534454"/>
            <a:ext cx="2383840" cy="929487"/>
          </a:xfrm>
          <a:prstGeom prst="roundRect">
            <a:avLst/>
          </a:prstGeom>
          <a:solidFill>
            <a:srgbClr val="F7F6F2"/>
          </a:solidFill>
          <a:ln w="19050">
            <a:solidFill>
              <a:srgbClr val="9031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164592" bIns="164592" wrap="square"/>
          <a:lstStyle/>
          <a:p>
            <a:pPr algn="ctr"/>
            <a:r>
              <a:rPr sz="2200" b="0">
                <a:solidFill>
                  <a:srgbClr val="3D3D3D"/>
                </a:solidFill>
                <a:latin typeface="Aptos"/>
              </a:rPr>
              <a:t>Efecto</a:t>
            </a:r>
          </a:p>
        </p:txBody>
      </p:sp>
      <p:sp>
        <p:nvSpPr>
          <p:cNvPr id="15" name="U08-DG-052_NODE_05"/>
          <p:cNvSpPr/>
          <p:nvPr/>
        </p:nvSpPr>
        <p:spPr>
          <a:xfrm>
            <a:off x="6427031" y="4534454"/>
            <a:ext cx="2383840" cy="929487"/>
          </a:xfrm>
          <a:prstGeom prst="roundRect">
            <a:avLst/>
          </a:prstGeom>
          <a:solidFill>
            <a:srgbClr val="E7F1F1"/>
          </a:solidFill>
          <a:ln w="19050">
            <a:solidFill>
              <a:srgbClr val="2F7E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164592" bIns="164592" wrap="square"/>
          <a:lstStyle/>
          <a:p>
            <a:pPr algn="ctr"/>
            <a:r>
              <a:rPr sz="2200" b="0">
                <a:solidFill>
                  <a:srgbClr val="3D3D3D"/>
                </a:solidFill>
                <a:latin typeface="Aptos"/>
              </a:rPr>
              <a:t>Control</a:t>
            </a:r>
          </a:p>
        </p:txBody>
      </p:sp>
      <p:sp>
        <p:nvSpPr>
          <p:cNvPr id="16" name="U08-DG-052_NODE_06"/>
          <p:cNvSpPr/>
          <p:nvPr/>
        </p:nvSpPr>
        <p:spPr>
          <a:xfrm>
            <a:off x="7765365" y="2948309"/>
            <a:ext cx="2383840" cy="929487"/>
          </a:xfrm>
          <a:prstGeom prst="roundRect">
            <a:avLst/>
          </a:prstGeom>
          <a:solidFill>
            <a:srgbClr val="F7F6F2"/>
          </a:solidFill>
          <a:ln w="19050">
            <a:solidFill>
              <a:srgbClr val="9031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164592" bIns="164592" wrap="square"/>
          <a:lstStyle/>
          <a:p>
            <a:pPr algn="ctr"/>
            <a:r>
              <a:rPr sz="2200" b="0">
                <a:solidFill>
                  <a:srgbClr val="3D3D3D"/>
                </a:solidFill>
                <a:latin typeface="Aptos"/>
              </a:rPr>
              <a:t>Unidad 10
ruido</a:t>
            </a:r>
          </a:p>
        </p:txBody>
      </p:sp>
      <p:sp>
        <p:nvSpPr>
          <p:cNvPr id="17" name="U08-DG-052_LABEL_01"/>
          <p:cNvSpPr txBox="1"/>
          <p:nvPr/>
        </p:nvSpPr>
        <p:spPr>
          <a:xfrm>
            <a:off x="4964734" y="2660332"/>
            <a:ext cx="1627632" cy="31089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none" lIns="27432" rIns="27432" tIns="9144" bIns="9144">
            <a:spAutoFit/>
          </a:bodyPr>
          <a:lstStyle/>
          <a:p>
            <a:pPr algn="ctr"/>
            <a:r>
              <a:rPr sz="2000">
                <a:solidFill>
                  <a:srgbClr val="3D3D3D"/>
                </a:solidFill>
                <a:latin typeface="Aptos"/>
              </a:rPr>
              <a:t>preguntar</a:t>
            </a:r>
          </a:p>
        </p:txBody>
      </p:sp>
      <p:sp>
        <p:nvSpPr>
          <p:cNvPr id="18" name="U08-DG-052_LABEL_02"/>
          <p:cNvSpPr txBox="1"/>
          <p:nvPr/>
        </p:nvSpPr>
        <p:spPr>
          <a:xfrm>
            <a:off x="3104476" y="3162708"/>
            <a:ext cx="1627632" cy="31089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none" lIns="27432" rIns="27432" tIns="9144" bIns="9144">
            <a:spAutoFit/>
          </a:bodyPr>
          <a:lstStyle/>
          <a:p>
            <a:pPr algn="ctr"/>
            <a:r>
              <a:rPr sz="2000">
                <a:solidFill>
                  <a:srgbClr val="3D3D3D"/>
                </a:solidFill>
                <a:latin typeface="Aptos"/>
              </a:rPr>
              <a:t>preguntar</a:t>
            </a:r>
          </a:p>
        </p:txBody>
      </p:sp>
      <p:sp>
        <p:nvSpPr>
          <p:cNvPr id="19" name="U08-DG-052_LABEL_03"/>
          <p:cNvSpPr txBox="1"/>
          <p:nvPr/>
        </p:nvSpPr>
        <p:spPr>
          <a:xfrm>
            <a:off x="3881999" y="3968011"/>
            <a:ext cx="1627632" cy="31089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none" lIns="27432" rIns="27432" tIns="9144" bIns="9144">
            <a:spAutoFit/>
          </a:bodyPr>
          <a:lstStyle/>
          <a:p>
            <a:pPr algn="ctr"/>
            <a:r>
              <a:rPr sz="2000">
                <a:solidFill>
                  <a:srgbClr val="3D3D3D"/>
                </a:solidFill>
                <a:latin typeface="Aptos"/>
              </a:rPr>
              <a:t>preguntar</a:t>
            </a:r>
          </a:p>
        </p:txBody>
      </p:sp>
      <p:sp>
        <p:nvSpPr>
          <p:cNvPr id="20" name="U08-DG-052_LABEL_04"/>
          <p:cNvSpPr txBox="1"/>
          <p:nvPr/>
        </p:nvSpPr>
        <p:spPr>
          <a:xfrm>
            <a:off x="6047469" y="3968011"/>
            <a:ext cx="1627632" cy="31089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none" lIns="27432" rIns="27432" tIns="9144" bIns="9144">
            <a:spAutoFit/>
          </a:bodyPr>
          <a:lstStyle/>
          <a:p>
            <a:pPr algn="ctr"/>
            <a:r>
              <a:rPr sz="2000">
                <a:solidFill>
                  <a:srgbClr val="3D3D3D"/>
                </a:solidFill>
                <a:latin typeface="Aptos"/>
              </a:rPr>
              <a:t>preguntar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503920" y="6419088"/>
            <a:ext cx="2926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969FA7"/>
                </a:solidFill>
                <a:latin typeface="Aptos"/>
              </a:rPr>
              <a:t>Esquema conceptual; no está a escala.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