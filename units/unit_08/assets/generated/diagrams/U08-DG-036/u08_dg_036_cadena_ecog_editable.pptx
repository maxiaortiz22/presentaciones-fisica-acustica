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12648" y="246888"/>
            <a:ext cx="3657600" cy="54864"/>
          </a:xfrm>
          <a:prstGeom prst="rect">
            <a:avLst/>
          </a:prstGeom>
          <a:solidFill>
            <a:srgbClr val="4D14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361688" y="246888"/>
            <a:ext cx="3657600" cy="54864"/>
          </a:xfrm>
          <a:prstGeom prst="rect">
            <a:avLst/>
          </a:prstGeom>
          <a:solidFill>
            <a:srgbClr val="9031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110727" y="246888"/>
            <a:ext cx="3465576" cy="54864"/>
          </a:xfrm>
          <a:prstGeom prst="rect">
            <a:avLst/>
          </a:prstGeom>
          <a:solidFill>
            <a:srgbClr val="969F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U08-DG-036_TITLE"/>
          <p:cNvSpPr txBox="1"/>
          <p:nvPr/>
        </p:nvSpPr>
        <p:spPr>
          <a:xfrm>
            <a:off x="713232" y="512064"/>
            <a:ext cx="1078992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3D3D3D"/>
                </a:solidFill>
                <a:latin typeface="Aptos Display"/>
              </a:rPr>
              <a:t>Cadena ECoG</a:t>
            </a:r>
          </a:p>
        </p:txBody>
      </p:sp>
      <p:cxnSp>
        <p:nvCxnSpPr>
          <p:cNvPr id="6" name="U08-DG-036_CONNECTOR_01"/>
          <p:cNvCxnSpPr/>
          <p:nvPr/>
        </p:nvCxnSpPr>
        <p:spPr>
          <a:xfrm>
            <a:off x="3828135" y="2603982"/>
            <a:ext cx="1029386" cy="0"/>
          </a:xfrm>
          <a:prstGeom prst="line">
            <a:avLst/>
          </a:prstGeom>
          <a:ln w="25400">
            <a:solidFill>
              <a:srgbClr val="969FA7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U08-DG-036_CONNECTOR_02"/>
          <p:cNvCxnSpPr/>
          <p:nvPr/>
        </p:nvCxnSpPr>
        <p:spPr>
          <a:xfrm>
            <a:off x="7241362" y="2603982"/>
            <a:ext cx="1029386" cy="0"/>
          </a:xfrm>
          <a:prstGeom prst="line">
            <a:avLst/>
          </a:prstGeom>
          <a:ln w="25400">
            <a:solidFill>
              <a:srgbClr val="969FA7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U08-DG-036_CONNECTOR_03"/>
          <p:cNvCxnSpPr/>
          <p:nvPr/>
        </p:nvCxnSpPr>
        <p:spPr>
          <a:xfrm>
            <a:off x="9462668" y="3166567"/>
            <a:ext cx="0" cy="733806"/>
          </a:xfrm>
          <a:prstGeom prst="line">
            <a:avLst/>
          </a:prstGeom>
          <a:ln w="25400">
            <a:solidFill>
              <a:srgbClr val="969FA7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U08-DG-036_CONNECTOR_04"/>
          <p:cNvCxnSpPr/>
          <p:nvPr/>
        </p:nvCxnSpPr>
        <p:spPr>
          <a:xfrm flipH="1">
            <a:off x="7241362" y="4462957"/>
            <a:ext cx="1029386" cy="0"/>
          </a:xfrm>
          <a:prstGeom prst="line">
            <a:avLst/>
          </a:prstGeom>
          <a:ln w="25400">
            <a:solidFill>
              <a:srgbClr val="969FA7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U08-DG-036_NODE_01"/>
          <p:cNvSpPr/>
          <p:nvPr/>
        </p:nvSpPr>
        <p:spPr>
          <a:xfrm>
            <a:off x="1444294" y="2041398"/>
            <a:ext cx="2383840" cy="1125169"/>
          </a:xfrm>
          <a:prstGeom prst="roundRect">
            <a:avLst/>
          </a:prstGeom>
          <a:solidFill>
            <a:srgbClr val="E7F1F1"/>
          </a:solidFill>
          <a:ln w="19050">
            <a:solidFill>
              <a:srgbClr val="2F7E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64592" bIns="164592" wrap="square"/>
          <a:lstStyle/>
          <a:p>
            <a:pPr algn="ctr"/>
            <a:r>
              <a:rPr sz="2200" b="0">
                <a:solidFill>
                  <a:srgbClr val="3D3D3D"/>
                </a:solidFill>
                <a:latin typeface="Aptos"/>
              </a:rPr>
              <a:t>Estímulo</a:t>
            </a:r>
          </a:p>
        </p:txBody>
      </p:sp>
      <p:sp>
        <p:nvSpPr>
          <p:cNvPr id="11" name="U08-DG-036_NODE_02"/>
          <p:cNvSpPr/>
          <p:nvPr/>
        </p:nvSpPr>
        <p:spPr>
          <a:xfrm>
            <a:off x="4857521" y="2041398"/>
            <a:ext cx="2383840" cy="1125169"/>
          </a:xfrm>
          <a:prstGeom prst="roundRect">
            <a:avLst/>
          </a:prstGeom>
          <a:solidFill>
            <a:srgbClr val="F7F6F2"/>
          </a:solidFill>
          <a:ln w="19050">
            <a:solidFill>
              <a:srgbClr val="9031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64592" bIns="164592" wrap="square"/>
          <a:lstStyle/>
          <a:p>
            <a:pPr algn="ctr"/>
            <a:r>
              <a:rPr sz="2200" b="0">
                <a:solidFill>
                  <a:srgbClr val="3D3D3D"/>
                </a:solidFill>
                <a:latin typeface="Aptos"/>
              </a:rPr>
              <a:t>Generadores cocleares/neural</a:t>
            </a:r>
          </a:p>
        </p:txBody>
      </p:sp>
      <p:sp>
        <p:nvSpPr>
          <p:cNvPr id="12" name="U08-DG-036_NODE_03"/>
          <p:cNvSpPr/>
          <p:nvPr/>
        </p:nvSpPr>
        <p:spPr>
          <a:xfrm>
            <a:off x="8270748" y="2041398"/>
            <a:ext cx="2383840" cy="1125169"/>
          </a:xfrm>
          <a:prstGeom prst="roundRect">
            <a:avLst/>
          </a:prstGeom>
          <a:solidFill>
            <a:srgbClr val="E7F1F1"/>
          </a:solidFill>
          <a:ln w="19050">
            <a:solidFill>
              <a:srgbClr val="2F7E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64592" bIns="164592" wrap="square"/>
          <a:lstStyle/>
          <a:p>
            <a:pPr algn="ctr"/>
            <a:r>
              <a:rPr sz="2200" b="0">
                <a:solidFill>
                  <a:srgbClr val="3D3D3D"/>
                </a:solidFill>
                <a:latin typeface="Aptos"/>
              </a:rPr>
              <a:t>Electrodo cercano</a:t>
            </a:r>
          </a:p>
        </p:txBody>
      </p:sp>
      <p:sp>
        <p:nvSpPr>
          <p:cNvPr id="13" name="U08-DG-036_NODE_04"/>
          <p:cNvSpPr/>
          <p:nvPr/>
        </p:nvSpPr>
        <p:spPr>
          <a:xfrm>
            <a:off x="8270748" y="3900373"/>
            <a:ext cx="2383840" cy="1125169"/>
          </a:xfrm>
          <a:prstGeom prst="roundRect">
            <a:avLst/>
          </a:prstGeom>
          <a:solidFill>
            <a:srgbClr val="F7F6F2"/>
          </a:solidFill>
          <a:ln w="19050">
            <a:solidFill>
              <a:srgbClr val="9031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64592" bIns="164592" wrap="square"/>
          <a:lstStyle/>
          <a:p>
            <a:pPr algn="ctr"/>
            <a:r>
              <a:rPr sz="2200" b="0">
                <a:solidFill>
                  <a:srgbClr val="3D3D3D"/>
                </a:solidFill>
                <a:latin typeface="Aptos"/>
              </a:rPr>
              <a:t>Amplificación</a:t>
            </a:r>
          </a:p>
        </p:txBody>
      </p:sp>
      <p:sp>
        <p:nvSpPr>
          <p:cNvPr id="14" name="U08-DG-036_NODE_05"/>
          <p:cNvSpPr/>
          <p:nvPr/>
        </p:nvSpPr>
        <p:spPr>
          <a:xfrm>
            <a:off x="4857521" y="3900373"/>
            <a:ext cx="2383840" cy="1125169"/>
          </a:xfrm>
          <a:prstGeom prst="roundRect">
            <a:avLst/>
          </a:prstGeom>
          <a:solidFill>
            <a:srgbClr val="E7F1F1"/>
          </a:solidFill>
          <a:ln w="19050">
            <a:solidFill>
              <a:srgbClr val="2F7E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64592" bIns="164592" wrap="square"/>
          <a:lstStyle/>
          <a:p>
            <a:pPr algn="ctr"/>
            <a:r>
              <a:rPr sz="2200" b="0">
                <a:solidFill>
                  <a:srgbClr val="3D3D3D"/>
                </a:solidFill>
                <a:latin typeface="Aptos"/>
              </a:rPr>
              <a:t>Registro</a:t>
            </a:r>
          </a:p>
        </p:txBody>
      </p:sp>
      <p:sp>
        <p:nvSpPr>
          <p:cNvPr id="15" name="U08-DG-036_LABEL_01"/>
          <p:cNvSpPr txBox="1"/>
          <p:nvPr/>
        </p:nvSpPr>
        <p:spPr>
          <a:xfrm>
            <a:off x="3839908" y="1675638"/>
            <a:ext cx="1005840" cy="3108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 lIns="27432" rIns="27432" tIns="9144" bIns="9144">
            <a:spAutoFit/>
          </a:bodyPr>
          <a:lstStyle/>
          <a:p>
            <a:pPr algn="ctr"/>
            <a:r>
              <a:rPr sz="2000">
                <a:solidFill>
                  <a:srgbClr val="3D3D3D"/>
                </a:solidFill>
                <a:latin typeface="Aptos"/>
              </a:rPr>
              <a:t>evoca</a:t>
            </a:r>
          </a:p>
        </p:txBody>
      </p:sp>
      <p:sp>
        <p:nvSpPr>
          <p:cNvPr id="16" name="U08-DG-036_LABEL_02"/>
          <p:cNvSpPr txBox="1"/>
          <p:nvPr/>
        </p:nvSpPr>
        <p:spPr>
          <a:xfrm>
            <a:off x="6942239" y="1675638"/>
            <a:ext cx="1627632" cy="3108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 lIns="27432" rIns="27432" tIns="9144" bIns="9144">
            <a:spAutoFit/>
          </a:bodyPr>
          <a:lstStyle/>
          <a:p>
            <a:pPr algn="ctr"/>
            <a:r>
              <a:rPr sz="2000">
                <a:solidFill>
                  <a:srgbClr val="3D3D3D"/>
                </a:solidFill>
                <a:latin typeface="Aptos"/>
              </a:rPr>
              <a:t>potencial</a:t>
            </a:r>
          </a:p>
        </p:txBody>
      </p:sp>
      <p:sp>
        <p:nvSpPr>
          <p:cNvPr id="17" name="U08-DG-036_LABEL_03"/>
          <p:cNvSpPr txBox="1"/>
          <p:nvPr/>
        </p:nvSpPr>
        <p:spPr>
          <a:xfrm>
            <a:off x="9608972" y="3378022"/>
            <a:ext cx="1005840" cy="3108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 lIns="27432" rIns="27432" tIns="9144" bIns="9144">
            <a:spAutoFit/>
          </a:bodyPr>
          <a:lstStyle/>
          <a:p>
            <a:pPr algn="ctr"/>
            <a:r>
              <a:rPr sz="2000">
                <a:solidFill>
                  <a:srgbClr val="3D3D3D"/>
                </a:solidFill>
                <a:latin typeface="Aptos"/>
              </a:rPr>
              <a:t>capta</a:t>
            </a:r>
          </a:p>
        </p:txBody>
      </p:sp>
      <p:sp>
        <p:nvSpPr>
          <p:cNvPr id="18" name="U08-DG-036_LABEL_04"/>
          <p:cNvSpPr txBox="1"/>
          <p:nvPr/>
        </p:nvSpPr>
        <p:spPr>
          <a:xfrm>
            <a:off x="6864515" y="3534613"/>
            <a:ext cx="1783080" cy="3108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 lIns="27432" rIns="27432" tIns="9144" bIns="9144">
            <a:spAutoFit/>
          </a:bodyPr>
          <a:lstStyle/>
          <a:p>
            <a:pPr algn="ctr"/>
            <a:r>
              <a:rPr sz="2000">
                <a:solidFill>
                  <a:srgbClr val="3D3D3D"/>
                </a:solidFill>
                <a:latin typeface="Aptos"/>
              </a:rPr>
              <a:t>representa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0" y="6419088"/>
            <a:ext cx="2926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969FA7"/>
                </a:solidFill>
                <a:latin typeface="Aptos"/>
              </a:rPr>
              <a:t>Esquema conceptual; no está a escala.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