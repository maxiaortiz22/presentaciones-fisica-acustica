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2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Diferencia aérea–ósea</a:t>
            </a:r>
          </a:p>
        </p:txBody>
      </p:sp>
      <p:sp>
        <p:nvSpPr>
          <p:cNvPr id="6" name="U08-DG-022_EQ"/>
          <p:cNvSpPr/>
          <p:nvPr/>
        </p:nvSpPr>
        <p:spPr>
          <a:xfrm>
            <a:off x="2057400" y="2423160"/>
            <a:ext cx="8092440" cy="1143000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4D1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3400" b="0">
                <a:solidFill>
                  <a:srgbClr val="3D3D3D"/>
                </a:solidFill>
                <a:latin typeface="Aptos"/>
              </a:rPr>
              <a:t>G_AO(f) = L_VA(f) − L_VO(f)</a:t>
            </a:r>
          </a:p>
        </p:txBody>
      </p:sp>
      <p:cxnSp>
        <p:nvCxnSpPr>
          <p:cNvPr id="7" name="U08-DG-022_LEADER_01"/>
          <p:cNvCxnSpPr/>
          <p:nvPr/>
        </p:nvCxnSpPr>
        <p:spPr>
          <a:xfrm>
            <a:off x="2331720" y="2075688"/>
            <a:ext cx="1965960" cy="283464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22_LEADER_02"/>
          <p:cNvCxnSpPr/>
          <p:nvPr/>
        </p:nvCxnSpPr>
        <p:spPr>
          <a:xfrm flipH="1">
            <a:off x="7909560" y="2075688"/>
            <a:ext cx="1920240" cy="283464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22_LEADER_03"/>
          <p:cNvCxnSpPr/>
          <p:nvPr/>
        </p:nvCxnSpPr>
        <p:spPr>
          <a:xfrm flipV="1">
            <a:off x="2331720" y="3639312"/>
            <a:ext cx="1965960" cy="429768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22_LEADER_04"/>
          <p:cNvCxnSpPr/>
          <p:nvPr/>
        </p:nvCxnSpPr>
        <p:spPr>
          <a:xfrm flipH="1" flipV="1">
            <a:off x="7909560" y="3639312"/>
            <a:ext cx="1920240" cy="429768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22_CALLOUT_01"/>
          <p:cNvSpPr/>
          <p:nvPr/>
        </p:nvSpPr>
        <p:spPr>
          <a:xfrm>
            <a:off x="777240" y="141732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f: frecuencia</a:t>
            </a:r>
          </a:p>
        </p:txBody>
      </p:sp>
      <p:sp>
        <p:nvSpPr>
          <p:cNvPr id="12" name="U08-DG-022_CALLOUT_02"/>
          <p:cNvSpPr/>
          <p:nvPr/>
        </p:nvSpPr>
        <p:spPr>
          <a:xfrm>
            <a:off x="8275320" y="141732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L_VA: nivel por vía aérea</a:t>
            </a:r>
          </a:p>
        </p:txBody>
      </p:sp>
      <p:sp>
        <p:nvSpPr>
          <p:cNvPr id="13" name="U08-DG-022_CALLOUT_03"/>
          <p:cNvSpPr/>
          <p:nvPr/>
        </p:nvSpPr>
        <p:spPr>
          <a:xfrm>
            <a:off x="777240" y="406908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L_VO: nivel por vía ósea</a:t>
            </a:r>
          </a:p>
        </p:txBody>
      </p:sp>
      <p:sp>
        <p:nvSpPr>
          <p:cNvPr id="14" name="U08-DG-022_CALLOUT_04"/>
          <p:cNvSpPr/>
          <p:nvPr/>
        </p:nvSpPr>
        <p:spPr>
          <a:xfrm>
            <a:off x="8275320" y="406908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Resultado: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