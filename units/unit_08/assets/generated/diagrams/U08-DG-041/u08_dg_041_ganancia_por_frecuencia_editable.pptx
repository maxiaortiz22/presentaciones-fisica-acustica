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12648" y="246888"/>
            <a:ext cx="3657600" cy="54864"/>
          </a:xfrm>
          <a:prstGeom prst="rect">
            <a:avLst/>
          </a:prstGeom>
          <a:solidFill>
            <a:srgbClr val="4D14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361688" y="246888"/>
            <a:ext cx="3657600" cy="54864"/>
          </a:xfrm>
          <a:prstGeom prst="rect">
            <a:avLst/>
          </a:prstGeom>
          <a:solidFill>
            <a:srgbClr val="9031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110727" y="246888"/>
            <a:ext cx="3465576" cy="54864"/>
          </a:xfrm>
          <a:prstGeom prst="rect">
            <a:avLst/>
          </a:prstGeom>
          <a:solidFill>
            <a:srgbClr val="969F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U08-DG-041_TITLE"/>
          <p:cNvSpPr txBox="1"/>
          <p:nvPr/>
        </p:nvSpPr>
        <p:spPr>
          <a:xfrm>
            <a:off x="713232" y="512064"/>
            <a:ext cx="1078992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3D3D3D"/>
                </a:solidFill>
                <a:latin typeface="Aptos Display"/>
              </a:rPr>
              <a:t>Ganancia por frecuencia</a:t>
            </a:r>
          </a:p>
        </p:txBody>
      </p:sp>
      <p:sp>
        <p:nvSpPr>
          <p:cNvPr id="6" name="U08-DG-041_EQ"/>
          <p:cNvSpPr/>
          <p:nvPr/>
        </p:nvSpPr>
        <p:spPr>
          <a:xfrm>
            <a:off x="2057400" y="2423160"/>
            <a:ext cx="8092440" cy="1143000"/>
          </a:xfrm>
          <a:prstGeom prst="roundRect">
            <a:avLst/>
          </a:prstGeom>
          <a:solidFill>
            <a:srgbClr val="F7F6F2"/>
          </a:solidFill>
          <a:ln w="19050">
            <a:solidFill>
              <a:srgbClr val="4D14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64592" bIns="164592" wrap="square"/>
          <a:lstStyle/>
          <a:p>
            <a:pPr algn="ctr"/>
            <a:r>
              <a:rPr sz="3400" b="0">
                <a:solidFill>
                  <a:srgbClr val="3D3D3D"/>
                </a:solidFill>
                <a:latin typeface="Aptos"/>
              </a:rPr>
              <a:t>G(f) = L_salida(f) − L_entrada(f)</a:t>
            </a:r>
          </a:p>
        </p:txBody>
      </p:sp>
      <p:cxnSp>
        <p:nvCxnSpPr>
          <p:cNvPr id="7" name="U08-DG-041_LEADER_01"/>
          <p:cNvCxnSpPr/>
          <p:nvPr/>
        </p:nvCxnSpPr>
        <p:spPr>
          <a:xfrm>
            <a:off x="2331720" y="2075688"/>
            <a:ext cx="1965960" cy="283464"/>
          </a:xfrm>
          <a:prstGeom prst="line">
            <a:avLst/>
          </a:prstGeom>
          <a:ln w="19050">
            <a:solidFill>
              <a:srgbClr val="969FA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U08-DG-041_LEADER_02"/>
          <p:cNvCxnSpPr/>
          <p:nvPr/>
        </p:nvCxnSpPr>
        <p:spPr>
          <a:xfrm flipH="1">
            <a:off x="7909560" y="2075688"/>
            <a:ext cx="1920240" cy="283464"/>
          </a:xfrm>
          <a:prstGeom prst="line">
            <a:avLst/>
          </a:prstGeom>
          <a:ln w="19050">
            <a:solidFill>
              <a:srgbClr val="969FA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U08-DG-041_LEADER_03"/>
          <p:cNvCxnSpPr/>
          <p:nvPr/>
        </p:nvCxnSpPr>
        <p:spPr>
          <a:xfrm flipV="1">
            <a:off x="2331720" y="3639312"/>
            <a:ext cx="1965960" cy="429768"/>
          </a:xfrm>
          <a:prstGeom prst="line">
            <a:avLst/>
          </a:prstGeom>
          <a:ln w="19050">
            <a:solidFill>
              <a:srgbClr val="969FA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U08-DG-041_LEADER_04"/>
          <p:cNvCxnSpPr/>
          <p:nvPr/>
        </p:nvCxnSpPr>
        <p:spPr>
          <a:xfrm flipH="1" flipV="1">
            <a:off x="7909560" y="3639312"/>
            <a:ext cx="1920240" cy="429768"/>
          </a:xfrm>
          <a:prstGeom prst="line">
            <a:avLst/>
          </a:prstGeom>
          <a:ln w="19050">
            <a:solidFill>
              <a:srgbClr val="969FA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U08-DG-041_CALLOUT_01"/>
          <p:cNvSpPr/>
          <p:nvPr/>
        </p:nvSpPr>
        <p:spPr>
          <a:xfrm>
            <a:off x="777240" y="1417320"/>
            <a:ext cx="3108960" cy="658368"/>
          </a:xfrm>
          <a:prstGeom prst="roundRect">
            <a:avLst/>
          </a:prstGeom>
          <a:solidFill>
            <a:srgbClr val="E7F1F1"/>
          </a:solidFill>
          <a:ln w="19050">
            <a:solidFill>
              <a:srgbClr val="2F7E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64592" bIns="164592" wrap="square"/>
          <a:lstStyle/>
          <a:p>
            <a:pPr algn="ctr"/>
            <a:r>
              <a:rPr sz="2000" b="0">
                <a:solidFill>
                  <a:srgbClr val="3D3D3D"/>
                </a:solidFill>
                <a:latin typeface="Aptos"/>
              </a:rPr>
              <a:t>f: frecuencia</a:t>
            </a:r>
          </a:p>
        </p:txBody>
      </p:sp>
      <p:sp>
        <p:nvSpPr>
          <p:cNvPr id="12" name="U08-DG-041_CALLOUT_02"/>
          <p:cNvSpPr/>
          <p:nvPr/>
        </p:nvSpPr>
        <p:spPr>
          <a:xfrm>
            <a:off x="8275320" y="1417320"/>
            <a:ext cx="3108960" cy="658368"/>
          </a:xfrm>
          <a:prstGeom prst="roundRect">
            <a:avLst/>
          </a:prstGeom>
          <a:solidFill>
            <a:srgbClr val="E7F1F1"/>
          </a:solidFill>
          <a:ln w="19050">
            <a:solidFill>
              <a:srgbClr val="2F7E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64592" bIns="164592" wrap="square"/>
          <a:lstStyle/>
          <a:p>
            <a:pPr algn="ctr"/>
            <a:r>
              <a:rPr sz="2000" b="0">
                <a:solidFill>
                  <a:srgbClr val="3D3D3D"/>
                </a:solidFill>
                <a:latin typeface="Aptos"/>
              </a:rPr>
              <a:t>L_entrada: nivel de entrada</a:t>
            </a:r>
          </a:p>
        </p:txBody>
      </p:sp>
      <p:sp>
        <p:nvSpPr>
          <p:cNvPr id="13" name="U08-DG-041_CALLOUT_03"/>
          <p:cNvSpPr/>
          <p:nvPr/>
        </p:nvSpPr>
        <p:spPr>
          <a:xfrm>
            <a:off x="777240" y="4069080"/>
            <a:ext cx="3108960" cy="658368"/>
          </a:xfrm>
          <a:prstGeom prst="roundRect">
            <a:avLst/>
          </a:prstGeom>
          <a:solidFill>
            <a:srgbClr val="E7F1F1"/>
          </a:solidFill>
          <a:ln w="19050">
            <a:solidFill>
              <a:srgbClr val="2F7E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64592" bIns="164592" wrap="square"/>
          <a:lstStyle/>
          <a:p>
            <a:pPr algn="ctr"/>
            <a:r>
              <a:rPr sz="2000" b="0">
                <a:solidFill>
                  <a:srgbClr val="3D3D3D"/>
                </a:solidFill>
                <a:latin typeface="Aptos"/>
              </a:rPr>
              <a:t>L_salida: nivel de salida</a:t>
            </a:r>
          </a:p>
        </p:txBody>
      </p:sp>
      <p:sp>
        <p:nvSpPr>
          <p:cNvPr id="14" name="U08-DG-041_CALLOUT_04"/>
          <p:cNvSpPr/>
          <p:nvPr/>
        </p:nvSpPr>
        <p:spPr>
          <a:xfrm>
            <a:off x="8275320" y="4069080"/>
            <a:ext cx="3108960" cy="658368"/>
          </a:xfrm>
          <a:prstGeom prst="roundRect">
            <a:avLst/>
          </a:prstGeom>
          <a:solidFill>
            <a:srgbClr val="E7F1F1"/>
          </a:solidFill>
          <a:ln w="19050">
            <a:solidFill>
              <a:srgbClr val="2F7E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64592" bIns="164592" wrap="square"/>
          <a:lstStyle/>
          <a:p>
            <a:pPr algn="ctr"/>
            <a:r>
              <a:rPr sz="2000" b="0">
                <a:solidFill>
                  <a:srgbClr val="3D3D3D"/>
                </a:solidFill>
                <a:latin typeface="Aptos"/>
              </a:rPr>
              <a:t>Resultado: dB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03920" y="6419088"/>
            <a:ext cx="2926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969FA7"/>
                </a:solidFill>
                <a:latin typeface="Aptos"/>
              </a:rPr>
              <a:t>Esquema conceptual; no está a escala.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