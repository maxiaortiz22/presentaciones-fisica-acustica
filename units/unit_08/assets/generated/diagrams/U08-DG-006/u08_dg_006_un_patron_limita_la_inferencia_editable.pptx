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06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Un patrón limita la inferencia</a:t>
            </a:r>
          </a:p>
        </p:txBody>
      </p:sp>
      <p:cxnSp>
        <p:nvCxnSpPr>
          <p:cNvPr id="6" name="U08-DG-006_CONNECTOR_01"/>
          <p:cNvCxnSpPr/>
          <p:nvPr/>
        </p:nvCxnSpPr>
        <p:spPr>
          <a:xfrm flipH="1" flipV="1">
            <a:off x="5453481" y="2897504"/>
            <a:ext cx="650139" cy="366903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06_CONNECTOR_02"/>
          <p:cNvCxnSpPr/>
          <p:nvPr/>
        </p:nvCxnSpPr>
        <p:spPr>
          <a:xfrm flipH="1">
            <a:off x="2961284" y="3753611"/>
            <a:ext cx="1733702" cy="97841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06_CONNECTOR_03"/>
          <p:cNvCxnSpPr/>
          <p:nvPr/>
        </p:nvCxnSpPr>
        <p:spPr>
          <a:xfrm flipH="1">
            <a:off x="5453481" y="4242816"/>
            <a:ext cx="650139" cy="562584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06_CONNECTOR_04"/>
          <p:cNvCxnSpPr/>
          <p:nvPr/>
        </p:nvCxnSpPr>
        <p:spPr>
          <a:xfrm>
            <a:off x="7512253" y="3753611"/>
            <a:ext cx="433425" cy="97841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U08-DG-006_NODE_01"/>
          <p:cNvSpPr/>
          <p:nvPr/>
        </p:nvSpPr>
        <p:spPr>
          <a:xfrm>
            <a:off x="4694986" y="3264407"/>
            <a:ext cx="2817266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1">
                <a:solidFill>
                  <a:srgbClr val="3D3D3D"/>
                </a:solidFill>
                <a:latin typeface="Aptos"/>
              </a:rPr>
              <a:t>Patrón observado</a:t>
            </a:r>
          </a:p>
        </p:txBody>
      </p:sp>
      <p:sp>
        <p:nvSpPr>
          <p:cNvPr id="11" name="U08-DG-006_NODE_02"/>
          <p:cNvSpPr/>
          <p:nvPr/>
        </p:nvSpPr>
        <p:spPr>
          <a:xfrm>
            <a:off x="4261561" y="1968017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¿Cómo se midió?</a:t>
            </a:r>
          </a:p>
        </p:txBody>
      </p:sp>
      <p:sp>
        <p:nvSpPr>
          <p:cNvPr id="12" name="U08-DG-006_NODE_03"/>
          <p:cNvSpPr/>
          <p:nvPr/>
        </p:nvSpPr>
        <p:spPr>
          <a:xfrm>
            <a:off x="577443" y="3386708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¿Qué antecedentes hay?</a:t>
            </a:r>
          </a:p>
        </p:txBody>
      </p:sp>
      <p:sp>
        <p:nvSpPr>
          <p:cNvPr id="13" name="U08-DG-006_NODE_04"/>
          <p:cNvSpPr/>
          <p:nvPr/>
        </p:nvSpPr>
        <p:spPr>
          <a:xfrm>
            <a:off x="4261561" y="4805400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¿Qué dato falta?</a:t>
            </a:r>
          </a:p>
        </p:txBody>
      </p:sp>
      <p:sp>
        <p:nvSpPr>
          <p:cNvPr id="14" name="U08-DG-006_NODE_05"/>
          <p:cNvSpPr/>
          <p:nvPr/>
        </p:nvSpPr>
        <p:spPr>
          <a:xfrm>
            <a:off x="7945678" y="3386709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Patrón ≠ causa única</a:t>
            </a:r>
          </a:p>
        </p:txBody>
      </p:sp>
      <p:sp>
        <p:nvSpPr>
          <p:cNvPr id="15" name="U08-DG-006_LABEL_01"/>
          <p:cNvSpPr txBox="1"/>
          <p:nvPr/>
        </p:nvSpPr>
        <p:spPr>
          <a:xfrm>
            <a:off x="4964734" y="2660332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preguntar</a:t>
            </a:r>
          </a:p>
        </p:txBody>
      </p:sp>
      <p:sp>
        <p:nvSpPr>
          <p:cNvPr id="16" name="U08-DG-006_LABEL_02"/>
          <p:cNvSpPr txBox="1"/>
          <p:nvPr/>
        </p:nvSpPr>
        <p:spPr>
          <a:xfrm>
            <a:off x="3014319" y="3381908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preguntar</a:t>
            </a:r>
          </a:p>
        </p:txBody>
      </p:sp>
      <p:sp>
        <p:nvSpPr>
          <p:cNvPr id="17" name="U08-DG-006_LABEL_03"/>
          <p:cNvSpPr txBox="1"/>
          <p:nvPr/>
        </p:nvSpPr>
        <p:spPr>
          <a:xfrm>
            <a:off x="4964734" y="4103484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preguntar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