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12648" y="246888"/>
            <a:ext cx="3657600" cy="54864"/>
          </a:xfrm>
          <a:prstGeom prst="rect">
            <a:avLst/>
          </a:prstGeom>
          <a:solidFill>
            <a:srgbClr val="4D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361688" y="246888"/>
            <a:ext cx="3657600" cy="54864"/>
          </a:xfrm>
          <a:prstGeom prst="rect">
            <a:avLst/>
          </a:prstGeom>
          <a:solidFill>
            <a:srgbClr val="903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10727" y="246888"/>
            <a:ext cx="3465576" cy="54864"/>
          </a:xfrm>
          <a:prstGeom prst="rect">
            <a:avLst/>
          </a:prstGeom>
          <a:solidFill>
            <a:srgbClr val="969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U08-DG-017_TITLE"/>
          <p:cNvSpPr txBox="1"/>
          <p:nvPr/>
        </p:nvSpPr>
        <p:spPr>
          <a:xfrm>
            <a:off x="713232" y="512064"/>
            <a:ext cx="107899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3D3D3D"/>
                </a:solidFill>
                <a:latin typeface="Aptos Display"/>
              </a:rPr>
              <a:t>Mapa anatómico-funcional</a:t>
            </a:r>
          </a:p>
        </p:txBody>
      </p:sp>
      <p:sp>
        <p:nvSpPr>
          <p:cNvPr id="6" name="U08-DG-017_NODE_01"/>
          <p:cNvSpPr/>
          <p:nvPr/>
        </p:nvSpPr>
        <p:spPr>
          <a:xfrm>
            <a:off x="1661007" y="1405432"/>
            <a:ext cx="1950415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Transmisión</a:t>
            </a:r>
          </a:p>
        </p:txBody>
      </p:sp>
      <p:sp>
        <p:nvSpPr>
          <p:cNvPr id="7" name="U08-DG-017_NODE_02"/>
          <p:cNvSpPr/>
          <p:nvPr/>
        </p:nvSpPr>
        <p:spPr>
          <a:xfrm>
            <a:off x="3882313" y="1405432"/>
            <a:ext cx="1950415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Oído medio</a:t>
            </a:r>
          </a:p>
        </p:txBody>
      </p:sp>
      <p:sp>
        <p:nvSpPr>
          <p:cNvPr id="8" name="U08-DG-017_NODE_03"/>
          <p:cNvSpPr/>
          <p:nvPr/>
        </p:nvSpPr>
        <p:spPr>
          <a:xfrm>
            <a:off x="6103620" y="1405432"/>
            <a:ext cx="1950415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Cóclea</a:t>
            </a:r>
          </a:p>
        </p:txBody>
      </p:sp>
      <p:sp>
        <p:nvSpPr>
          <p:cNvPr id="9" name="U08-DG-017_NODE_04"/>
          <p:cNvSpPr/>
          <p:nvPr/>
        </p:nvSpPr>
        <p:spPr>
          <a:xfrm>
            <a:off x="8324926" y="1405432"/>
            <a:ext cx="1950415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Vía neural</a:t>
            </a:r>
          </a:p>
        </p:txBody>
      </p:sp>
      <p:sp>
        <p:nvSpPr>
          <p:cNvPr id="10" name="U08-DG-017_NODE_05"/>
          <p:cNvSpPr/>
          <p:nvPr/>
        </p:nvSpPr>
        <p:spPr>
          <a:xfrm>
            <a:off x="1661007" y="2612136"/>
            <a:ext cx="1950415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Audiometría</a:t>
            </a:r>
          </a:p>
        </p:txBody>
      </p:sp>
      <p:sp>
        <p:nvSpPr>
          <p:cNvPr id="11" name="U08-DG-017_NODE_06"/>
          <p:cNvSpPr/>
          <p:nvPr/>
        </p:nvSpPr>
        <p:spPr>
          <a:xfrm>
            <a:off x="3882313" y="2612136"/>
            <a:ext cx="1950415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Timpanometría</a:t>
            </a:r>
          </a:p>
        </p:txBody>
      </p:sp>
      <p:sp>
        <p:nvSpPr>
          <p:cNvPr id="12" name="U08-DG-017_NODE_07"/>
          <p:cNvSpPr/>
          <p:nvPr/>
        </p:nvSpPr>
        <p:spPr>
          <a:xfrm>
            <a:off x="6103620" y="2612136"/>
            <a:ext cx="1950415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OEA</a:t>
            </a:r>
          </a:p>
        </p:txBody>
      </p:sp>
      <p:sp>
        <p:nvSpPr>
          <p:cNvPr id="13" name="U08-DG-017_NODE_08"/>
          <p:cNvSpPr/>
          <p:nvPr/>
        </p:nvSpPr>
        <p:spPr>
          <a:xfrm>
            <a:off x="8324926" y="2612136"/>
            <a:ext cx="1950415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PEAT</a:t>
            </a:r>
          </a:p>
        </p:txBody>
      </p:sp>
      <p:sp>
        <p:nvSpPr>
          <p:cNvPr id="14" name="U08-DG-017_NODE_09"/>
          <p:cNvSpPr/>
          <p:nvPr/>
        </p:nvSpPr>
        <p:spPr>
          <a:xfrm>
            <a:off x="1661007" y="3818839"/>
            <a:ext cx="1950415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ECoG</a:t>
            </a:r>
          </a:p>
        </p:txBody>
      </p:sp>
      <p:sp>
        <p:nvSpPr>
          <p:cNvPr id="15" name="U08-DG-017_NODE_10"/>
          <p:cNvSpPr/>
          <p:nvPr/>
        </p:nvSpPr>
        <p:spPr>
          <a:xfrm>
            <a:off x="3882313" y="3818839"/>
            <a:ext cx="1950415" cy="978408"/>
          </a:xfrm>
          <a:prstGeom prst="roundRect">
            <a:avLst/>
          </a:prstGeom>
          <a:solidFill>
            <a:srgbClr val="F7F6F2"/>
          </a:solidFill>
          <a:ln w="19050">
            <a:solidFill>
              <a:srgbClr val="9031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Logoaudiometría</a:t>
            </a:r>
          </a:p>
        </p:txBody>
      </p:sp>
      <p:sp>
        <p:nvSpPr>
          <p:cNvPr id="16" name="U08-DG-017_NODE_11"/>
          <p:cNvSpPr/>
          <p:nvPr/>
        </p:nvSpPr>
        <p:spPr>
          <a:xfrm>
            <a:off x="6103620" y="3818839"/>
            <a:ext cx="1950415" cy="978408"/>
          </a:xfrm>
          <a:prstGeom prst="roundRect">
            <a:avLst/>
          </a:prstGeom>
          <a:solidFill>
            <a:srgbClr val="E7F1F1"/>
          </a:solidFill>
          <a:ln w="19050">
            <a:solidFill>
              <a:srgbClr val="2F7E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ctr"/>
            <a:r>
              <a:rPr sz="2200" b="0">
                <a:solidFill>
                  <a:srgbClr val="3D3D3D"/>
                </a:solidFill>
                <a:latin typeface="Aptos"/>
              </a:rPr>
              <a:t>Acufenometría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6419088"/>
            <a:ext cx="2926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969FA7"/>
                </a:solidFill>
                <a:latin typeface="Aptos"/>
              </a:rPr>
              <a:t>Esquema conceptual; no está a escala.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