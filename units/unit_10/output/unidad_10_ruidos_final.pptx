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26536484a84cb2" /><Relationship Type="http://schemas.openxmlformats.org/officeDocument/2006/relationships/extended-properties" Target="/docProps/app.xml" Id="Re35595fdde824e6f" /><Relationship Type="http://schemas.openxmlformats.org/officeDocument/2006/relationships/officeDocument" Target="/ppt/presentation.xml" Id="Rf12b5c86ea3b4c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90698cd12d4428"/>
    <p:sldMasterId xmlns:r="http://schemas.openxmlformats.org/officeDocument/2006/relationships" id="2147483673" r:id="Rd308df700c4d4a32"/>
  </p:sldMasterIdLst>
  <p:notesMasterIdLst>
    <p:notesMasterId xmlns:r="http://schemas.openxmlformats.org/officeDocument/2006/relationships" r:id="R6a8331c9f8e44796"/>
  </p:notesMasterIdLst>
  <p:sldIdLst>
    <p:sldId xmlns:r="http://schemas.openxmlformats.org/officeDocument/2006/relationships" id="256" r:id="R890d378fb002404f"/>
    <p:sldId xmlns:r="http://schemas.openxmlformats.org/officeDocument/2006/relationships" id="257" r:id="R4e629f615c10457d"/>
    <p:sldId xmlns:r="http://schemas.openxmlformats.org/officeDocument/2006/relationships" id="258" r:id="R242be20ba7fa4a7f"/>
    <p:sldId xmlns:r="http://schemas.openxmlformats.org/officeDocument/2006/relationships" id="259" r:id="R57c9fd60259b43a7"/>
    <p:sldId xmlns:r="http://schemas.openxmlformats.org/officeDocument/2006/relationships" id="260" r:id="R841ab1e93b1549e9"/>
    <p:sldId xmlns:r="http://schemas.openxmlformats.org/officeDocument/2006/relationships" id="261" r:id="R85064478f62c40a5"/>
    <p:sldId xmlns:r="http://schemas.openxmlformats.org/officeDocument/2006/relationships" id="262" r:id="R931397fca81748d3"/>
    <p:sldId xmlns:r="http://schemas.openxmlformats.org/officeDocument/2006/relationships" id="263" r:id="R0605e685ac5c4708"/>
    <p:sldId xmlns:r="http://schemas.openxmlformats.org/officeDocument/2006/relationships" id="264" r:id="R11dd459e0e6241e1"/>
    <p:sldId xmlns:r="http://schemas.openxmlformats.org/officeDocument/2006/relationships" id="265" r:id="R2bca62ec2aaf4a17"/>
    <p:sldId xmlns:r="http://schemas.openxmlformats.org/officeDocument/2006/relationships" id="266" r:id="Rabff9c32bbcc46c1"/>
    <p:sldId xmlns:r="http://schemas.openxmlformats.org/officeDocument/2006/relationships" id="267" r:id="R62bf1e37089d4a55"/>
    <p:sldId xmlns:r="http://schemas.openxmlformats.org/officeDocument/2006/relationships" id="268" r:id="R96dc2008955f4d46"/>
    <p:sldId xmlns:r="http://schemas.openxmlformats.org/officeDocument/2006/relationships" id="269" r:id="Ra76b8250ac0246a2"/>
    <p:sldId xmlns:r="http://schemas.openxmlformats.org/officeDocument/2006/relationships" id="270" r:id="Reefd0c18e2ae40a1"/>
    <p:sldId xmlns:r="http://schemas.openxmlformats.org/officeDocument/2006/relationships" id="271" r:id="R43f3224058d14801"/>
    <p:sldId xmlns:r="http://schemas.openxmlformats.org/officeDocument/2006/relationships" id="272" r:id="R5b0ebd3fd039482b"/>
    <p:sldId xmlns:r="http://schemas.openxmlformats.org/officeDocument/2006/relationships" id="273" r:id="R2c2e2fc627ce4ad4"/>
    <p:sldId xmlns:r="http://schemas.openxmlformats.org/officeDocument/2006/relationships" id="274" r:id="R7697da6ba3a24e68"/>
    <p:sldId xmlns:r="http://schemas.openxmlformats.org/officeDocument/2006/relationships" id="275" r:id="Rfae3f3ff62ae490f"/>
    <p:sldId xmlns:r="http://schemas.openxmlformats.org/officeDocument/2006/relationships" id="276" r:id="R3121a11bda514454"/>
    <p:sldId xmlns:r="http://schemas.openxmlformats.org/officeDocument/2006/relationships" id="277" r:id="R52a3c6af80a44108"/>
    <p:sldId xmlns:r="http://schemas.openxmlformats.org/officeDocument/2006/relationships" id="278" r:id="R100fc91568ac4d9d"/>
    <p:sldId xmlns:r="http://schemas.openxmlformats.org/officeDocument/2006/relationships" id="279" r:id="R4df7f532e66642bb"/>
    <p:sldId xmlns:r="http://schemas.openxmlformats.org/officeDocument/2006/relationships" id="280" r:id="R7be0457f93f94f6b"/>
    <p:sldId xmlns:r="http://schemas.openxmlformats.org/officeDocument/2006/relationships" id="281" r:id="R0009114bbe634292"/>
    <p:sldId xmlns:r="http://schemas.openxmlformats.org/officeDocument/2006/relationships" id="282" r:id="R884c1830e5814c87"/>
    <p:sldId xmlns:r="http://schemas.openxmlformats.org/officeDocument/2006/relationships" id="283" r:id="R907c11da24874d2e"/>
    <p:sldId xmlns:r="http://schemas.openxmlformats.org/officeDocument/2006/relationships" id="284" r:id="R65698aa7598c4ba5"/>
    <p:sldId xmlns:r="http://schemas.openxmlformats.org/officeDocument/2006/relationships" id="285" r:id="R5245fdf4fad4403e"/>
    <p:sldId xmlns:r="http://schemas.openxmlformats.org/officeDocument/2006/relationships" id="286" r:id="R5b9407065aa14f58"/>
    <p:sldId xmlns:r="http://schemas.openxmlformats.org/officeDocument/2006/relationships" id="287" r:id="Rfbd0db27a3f4429a"/>
    <p:sldId xmlns:r="http://schemas.openxmlformats.org/officeDocument/2006/relationships" id="288" r:id="R0cf61228d2ac4c06"/>
    <p:sldId xmlns:r="http://schemas.openxmlformats.org/officeDocument/2006/relationships" id="289" r:id="Red7ab37092024d98"/>
    <p:sldId xmlns:r="http://schemas.openxmlformats.org/officeDocument/2006/relationships" id="290" r:id="R40215a92e16245bd"/>
    <p:sldId xmlns:r="http://schemas.openxmlformats.org/officeDocument/2006/relationships" id="291" r:id="R5d467c13513f4775"/>
    <p:sldId xmlns:r="http://schemas.openxmlformats.org/officeDocument/2006/relationships" id="292" r:id="R505269c10abd4334"/>
    <p:sldId xmlns:r="http://schemas.openxmlformats.org/officeDocument/2006/relationships" id="293" r:id="Rb354e1320c3d43cc"/>
    <p:sldId xmlns:r="http://schemas.openxmlformats.org/officeDocument/2006/relationships" id="294" r:id="Rc22b1004c1d544bd"/>
    <p:sldId xmlns:r="http://schemas.openxmlformats.org/officeDocument/2006/relationships" id="295" r:id="R28b7ea3460b1431d"/>
    <p:sldId xmlns:r="http://schemas.openxmlformats.org/officeDocument/2006/relationships" id="296" r:id="R9c4937d0a9ee4e1a"/>
    <p:sldId xmlns:r="http://schemas.openxmlformats.org/officeDocument/2006/relationships" id="297" r:id="Re3ac60cf9edb406e"/>
    <p:sldId xmlns:r="http://schemas.openxmlformats.org/officeDocument/2006/relationships" id="298" r:id="R03db779a52d94f8c"/>
    <p:sldId xmlns:r="http://schemas.openxmlformats.org/officeDocument/2006/relationships" id="299" r:id="R4e1b68be2c604fa9"/>
    <p:sldId xmlns:r="http://schemas.openxmlformats.org/officeDocument/2006/relationships" id="300" r:id="Rd5ae7443f46544ca"/>
    <p:sldId xmlns:r="http://schemas.openxmlformats.org/officeDocument/2006/relationships" id="301" r:id="R6c2d4dae379f4499"/>
    <p:sldId xmlns:r="http://schemas.openxmlformats.org/officeDocument/2006/relationships" id="302" r:id="R6666d97411df4964"/>
    <p:sldId xmlns:r="http://schemas.openxmlformats.org/officeDocument/2006/relationships" id="303" r:id="R1413c959889346d3"/>
    <p:sldId xmlns:r="http://schemas.openxmlformats.org/officeDocument/2006/relationships" id="304" r:id="R81b97a99620c4ca3"/>
    <p:sldId xmlns:r="http://schemas.openxmlformats.org/officeDocument/2006/relationships" id="305" r:id="R38c0037aa34349fe"/>
    <p:sldId xmlns:r="http://schemas.openxmlformats.org/officeDocument/2006/relationships" id="306" r:id="Raf1869212a2745ed"/>
    <p:sldId xmlns:r="http://schemas.openxmlformats.org/officeDocument/2006/relationships" id="307" r:id="R128eff65c4ca4052"/>
    <p:sldId xmlns:r="http://schemas.openxmlformats.org/officeDocument/2006/relationships" id="308" r:id="R42e36d1a780a4f9b"/>
    <p:sldId xmlns:r="http://schemas.openxmlformats.org/officeDocument/2006/relationships" id="309" r:id="R76a09dca9a224d56"/>
    <p:sldId xmlns:r="http://schemas.openxmlformats.org/officeDocument/2006/relationships" id="310" r:id="R24912ef7b2d94752"/>
    <p:sldId xmlns:r="http://schemas.openxmlformats.org/officeDocument/2006/relationships" id="311" r:id="R061867152ddd4c49"/>
    <p:sldId xmlns:r="http://schemas.openxmlformats.org/officeDocument/2006/relationships" id="312" r:id="Rd4f3a3b6ebf54158"/>
    <p:sldId xmlns:r="http://schemas.openxmlformats.org/officeDocument/2006/relationships" id="313" r:id="R08503f627e3e47b2"/>
    <p:sldId xmlns:r="http://schemas.openxmlformats.org/officeDocument/2006/relationships" id="314" r:id="R1dcc59bf948149ab"/>
    <p:sldId xmlns:r="http://schemas.openxmlformats.org/officeDocument/2006/relationships" id="315" r:id="Rfe8ea263a3f449ee"/>
    <p:sldId xmlns:r="http://schemas.openxmlformats.org/officeDocument/2006/relationships" id="316" r:id="R0b9c9a42da444a33"/>
    <p:sldId xmlns:r="http://schemas.openxmlformats.org/officeDocument/2006/relationships" id="317" r:id="Rf31ca3fd0b5545b4"/>
    <p:sldId xmlns:r="http://schemas.openxmlformats.org/officeDocument/2006/relationships" id="318" r:id="Raf199ac125f04712"/>
    <p:sldId xmlns:r="http://schemas.openxmlformats.org/officeDocument/2006/relationships" id="319" r:id="Rab9711bc87224d82"/>
    <p:sldId xmlns:r="http://schemas.openxmlformats.org/officeDocument/2006/relationships" id="320" r:id="Raa466ed3321d42c0"/>
    <p:sldId xmlns:r="http://schemas.openxmlformats.org/officeDocument/2006/relationships" id="321" r:id="R81dcd6f920a34fd3"/>
    <p:sldId xmlns:r="http://schemas.openxmlformats.org/officeDocument/2006/relationships" id="322" r:id="R462b43c828294a19"/>
    <p:sldId xmlns:r="http://schemas.openxmlformats.org/officeDocument/2006/relationships" id="323" r:id="Rbf69fa52777641fa"/>
    <p:sldId xmlns:r="http://schemas.openxmlformats.org/officeDocument/2006/relationships" id="324" r:id="Ra85085c7a1bc458b"/>
    <p:sldId xmlns:r="http://schemas.openxmlformats.org/officeDocument/2006/relationships" id="325" r:id="R2a154833fb9541e5"/>
    <p:sldId xmlns:r="http://schemas.openxmlformats.org/officeDocument/2006/relationships" id="326" r:id="R6844b059a56948a9"/>
    <p:sldId xmlns:r="http://schemas.openxmlformats.org/officeDocument/2006/relationships" id="327" r:id="R700b80799c8b4807"/>
    <p:sldId xmlns:r="http://schemas.openxmlformats.org/officeDocument/2006/relationships" id="328" r:id="R8957278ad6d84a12"/>
    <p:sldId xmlns:r="http://schemas.openxmlformats.org/officeDocument/2006/relationships" id="329" r:id="R6887e8963c754f51"/>
    <p:sldId xmlns:r="http://schemas.openxmlformats.org/officeDocument/2006/relationships" id="330" r:id="Rce73c015199e46a6"/>
    <p:sldId xmlns:r="http://schemas.openxmlformats.org/officeDocument/2006/relationships" id="331" r:id="R250e1a091cc84d8d"/>
    <p:sldId xmlns:r="http://schemas.openxmlformats.org/officeDocument/2006/relationships" id="332" r:id="R12643c095f29429d"/>
    <p:sldId xmlns:r="http://schemas.openxmlformats.org/officeDocument/2006/relationships" id="333" r:id="R746024f12e304039"/>
    <p:sldId xmlns:r="http://schemas.openxmlformats.org/officeDocument/2006/relationships" id="334" r:id="Re361bcb0ffd74c75"/>
    <p:sldId xmlns:r="http://schemas.openxmlformats.org/officeDocument/2006/relationships" id="335" r:id="Ra81e525cdb844942"/>
    <p:sldId xmlns:r="http://schemas.openxmlformats.org/officeDocument/2006/relationships" id="336" r:id="R6c0bd49fb0d2415f"/>
    <p:sldId xmlns:r="http://schemas.openxmlformats.org/officeDocument/2006/relationships" id="337" r:id="R0e3400f28d384bfa"/>
    <p:sldId xmlns:r="http://schemas.openxmlformats.org/officeDocument/2006/relationships" id="338" r:id="R7399fc77b72f48ef"/>
    <p:sldId xmlns:r="http://schemas.openxmlformats.org/officeDocument/2006/relationships" id="339" r:id="R7ba342dd1f464e9e"/>
    <p:sldId xmlns:r="http://schemas.openxmlformats.org/officeDocument/2006/relationships" id="340" r:id="R3df125fad9654da1"/>
    <p:sldId xmlns:r="http://schemas.openxmlformats.org/officeDocument/2006/relationships" id="341" r:id="Rcc0be35897214ee1"/>
    <p:sldId xmlns:r="http://schemas.openxmlformats.org/officeDocument/2006/relationships" id="342" r:id="Rfaf7b5c0158940eb"/>
    <p:sldId xmlns:r="http://schemas.openxmlformats.org/officeDocument/2006/relationships" id="343" r:id="R63d82a150e454bdd"/>
    <p:sldId xmlns:r="http://schemas.openxmlformats.org/officeDocument/2006/relationships" id="344" r:id="R732bdef68f6c4bcc"/>
    <p:sldId xmlns:r="http://schemas.openxmlformats.org/officeDocument/2006/relationships" id="345" r:id="Rebebccaf88414ab7"/>
    <p:sldId xmlns:r="http://schemas.openxmlformats.org/officeDocument/2006/relationships" id="346" r:id="R52ec42b5d98b4f8c"/>
    <p:sldId xmlns:r="http://schemas.openxmlformats.org/officeDocument/2006/relationships" id="347" r:id="R8e4291fb3c5043fe"/>
    <p:sldId xmlns:r="http://schemas.openxmlformats.org/officeDocument/2006/relationships" id="348" r:id="Rdff56c9f0ec647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3c1ea577194c95" /><Relationship Type="http://schemas.openxmlformats.org/officeDocument/2006/relationships/slideMaster" Target="/ppt/slideMasters/slideMaster1.xml" Id="R7e90698cd12d4428" /><Relationship Type="http://schemas.openxmlformats.org/officeDocument/2006/relationships/slideMaster" Target="/ppt/slideMasters/slideMaster2.xml" Id="Rd308df700c4d4a32" /><Relationship Type="http://schemas.openxmlformats.org/officeDocument/2006/relationships/notesMaster" Target="/ppt/notesMasters/notesMaster1.xml" Id="R6a8331c9f8e44796" /><Relationship Type="http://schemas.openxmlformats.org/officeDocument/2006/relationships/presProps" Target="/ppt/presProps.xml" Id="R1e038ccd90e94db8" /><Relationship Type="http://schemas.openxmlformats.org/officeDocument/2006/relationships/viewProps" Target="/ppt/viewProps.xml" Id="Rf81887766eac4fb8" /><Relationship Type="http://schemas.openxmlformats.org/officeDocument/2006/relationships/tableStyles" Target="/ppt/tableStyles.xml" Id="R3d634c9489b7447a" /><Relationship Type="http://schemas.openxmlformats.org/officeDocument/2006/relationships/slide" Target="/ppt/slides/slide1.xml" Id="R890d378fb002404f" /><Relationship Type="http://schemas.openxmlformats.org/officeDocument/2006/relationships/slide" Target="/ppt/slides/slide2.xml" Id="R4e629f615c10457d" /><Relationship Type="http://schemas.openxmlformats.org/officeDocument/2006/relationships/slide" Target="/ppt/slides/slide3.xml" Id="R242be20ba7fa4a7f" /><Relationship Type="http://schemas.openxmlformats.org/officeDocument/2006/relationships/slide" Target="/ppt/slides/slide4.xml" Id="R57c9fd60259b43a7" /><Relationship Type="http://schemas.openxmlformats.org/officeDocument/2006/relationships/slide" Target="/ppt/slides/slide5.xml" Id="R841ab1e93b1549e9" /><Relationship Type="http://schemas.openxmlformats.org/officeDocument/2006/relationships/slide" Target="/ppt/slides/slide6.xml" Id="R85064478f62c40a5" /><Relationship Type="http://schemas.openxmlformats.org/officeDocument/2006/relationships/slide" Target="/ppt/slides/slide7.xml" Id="R931397fca81748d3" /><Relationship Type="http://schemas.openxmlformats.org/officeDocument/2006/relationships/slide" Target="/ppt/slides/slide8.xml" Id="R0605e685ac5c4708" /><Relationship Type="http://schemas.openxmlformats.org/officeDocument/2006/relationships/slide" Target="/ppt/slides/slide9.xml" Id="R11dd459e0e6241e1" /><Relationship Type="http://schemas.openxmlformats.org/officeDocument/2006/relationships/slide" Target="/ppt/slides/slide10.xml" Id="R2bca62ec2aaf4a17" /><Relationship Type="http://schemas.openxmlformats.org/officeDocument/2006/relationships/slide" Target="/ppt/slides/slide11.xml" Id="Rabff9c32bbcc46c1" /><Relationship Type="http://schemas.openxmlformats.org/officeDocument/2006/relationships/slide" Target="/ppt/slides/slide12.xml" Id="R62bf1e37089d4a55" /><Relationship Type="http://schemas.openxmlformats.org/officeDocument/2006/relationships/slide" Target="/ppt/slides/slide13.xml" Id="R96dc2008955f4d46" /><Relationship Type="http://schemas.openxmlformats.org/officeDocument/2006/relationships/slide" Target="/ppt/slides/slide14.xml" Id="Ra76b8250ac0246a2" /><Relationship Type="http://schemas.openxmlformats.org/officeDocument/2006/relationships/slide" Target="/ppt/slides/slide15.xml" Id="Reefd0c18e2ae40a1" /><Relationship Type="http://schemas.openxmlformats.org/officeDocument/2006/relationships/slide" Target="/ppt/slides/slide16.xml" Id="R43f3224058d14801" /><Relationship Type="http://schemas.openxmlformats.org/officeDocument/2006/relationships/slide" Target="/ppt/slides/slide17.xml" Id="R5b0ebd3fd039482b" /><Relationship Type="http://schemas.openxmlformats.org/officeDocument/2006/relationships/slide" Target="/ppt/slides/slide18.xml" Id="R2c2e2fc627ce4ad4" /><Relationship Type="http://schemas.openxmlformats.org/officeDocument/2006/relationships/slide" Target="/ppt/slides/slide19.xml" Id="R7697da6ba3a24e68" /><Relationship Type="http://schemas.openxmlformats.org/officeDocument/2006/relationships/slide" Target="/ppt/slides/slide20.xml" Id="Rfae3f3ff62ae490f" /><Relationship Type="http://schemas.openxmlformats.org/officeDocument/2006/relationships/slide" Target="/ppt/slides/slide21.xml" Id="R3121a11bda514454" /><Relationship Type="http://schemas.openxmlformats.org/officeDocument/2006/relationships/slide" Target="/ppt/slides/slide22.xml" Id="R52a3c6af80a44108" /><Relationship Type="http://schemas.openxmlformats.org/officeDocument/2006/relationships/slide" Target="/ppt/slides/slide23.xml" Id="R100fc91568ac4d9d" /><Relationship Type="http://schemas.openxmlformats.org/officeDocument/2006/relationships/slide" Target="/ppt/slides/slide24.xml" Id="R4df7f532e66642bb" /><Relationship Type="http://schemas.openxmlformats.org/officeDocument/2006/relationships/slide" Target="/ppt/slides/slide25.xml" Id="R7be0457f93f94f6b" /><Relationship Type="http://schemas.openxmlformats.org/officeDocument/2006/relationships/slide" Target="/ppt/slides/slide26.xml" Id="R0009114bbe634292" /><Relationship Type="http://schemas.openxmlformats.org/officeDocument/2006/relationships/slide" Target="/ppt/slides/slide27.xml" Id="R884c1830e5814c87" /><Relationship Type="http://schemas.openxmlformats.org/officeDocument/2006/relationships/slide" Target="/ppt/slides/slide28.xml" Id="R907c11da24874d2e" /><Relationship Type="http://schemas.openxmlformats.org/officeDocument/2006/relationships/slide" Target="/ppt/slides/slide29.xml" Id="R65698aa7598c4ba5" /><Relationship Type="http://schemas.openxmlformats.org/officeDocument/2006/relationships/slide" Target="/ppt/slides/slide30.xml" Id="R5245fdf4fad4403e" /><Relationship Type="http://schemas.openxmlformats.org/officeDocument/2006/relationships/slide" Target="/ppt/slides/slide31.xml" Id="R5b9407065aa14f58" /><Relationship Type="http://schemas.openxmlformats.org/officeDocument/2006/relationships/slide" Target="/ppt/slides/slide32.xml" Id="Rfbd0db27a3f4429a" /><Relationship Type="http://schemas.openxmlformats.org/officeDocument/2006/relationships/slide" Target="/ppt/slides/slide33.xml" Id="R0cf61228d2ac4c06" /><Relationship Type="http://schemas.openxmlformats.org/officeDocument/2006/relationships/slide" Target="/ppt/slides/slide34.xml" Id="Red7ab37092024d98" /><Relationship Type="http://schemas.openxmlformats.org/officeDocument/2006/relationships/slide" Target="/ppt/slides/slide35.xml" Id="R40215a92e16245bd" /><Relationship Type="http://schemas.openxmlformats.org/officeDocument/2006/relationships/slide" Target="/ppt/slides/slide36.xml" Id="R5d467c13513f4775" /><Relationship Type="http://schemas.openxmlformats.org/officeDocument/2006/relationships/slide" Target="/ppt/slides/slide37.xml" Id="R505269c10abd4334" /><Relationship Type="http://schemas.openxmlformats.org/officeDocument/2006/relationships/slide" Target="/ppt/slides/slide38.xml" Id="Rb354e1320c3d43cc" /><Relationship Type="http://schemas.openxmlformats.org/officeDocument/2006/relationships/slide" Target="/ppt/slides/slide39.xml" Id="Rc22b1004c1d544bd" /><Relationship Type="http://schemas.openxmlformats.org/officeDocument/2006/relationships/slide" Target="/ppt/slides/slide40.xml" Id="R28b7ea3460b1431d" /><Relationship Type="http://schemas.openxmlformats.org/officeDocument/2006/relationships/slide" Target="/ppt/slides/slide41.xml" Id="R9c4937d0a9ee4e1a" /><Relationship Type="http://schemas.openxmlformats.org/officeDocument/2006/relationships/slide" Target="/ppt/slides/slide42.xml" Id="Re3ac60cf9edb406e" /><Relationship Type="http://schemas.openxmlformats.org/officeDocument/2006/relationships/slide" Target="/ppt/slides/slide43.xml" Id="R03db779a52d94f8c" /><Relationship Type="http://schemas.openxmlformats.org/officeDocument/2006/relationships/slide" Target="/ppt/slides/slide44.xml" Id="R4e1b68be2c604fa9" /><Relationship Type="http://schemas.openxmlformats.org/officeDocument/2006/relationships/slide" Target="/ppt/slides/slide45.xml" Id="Rd5ae7443f46544ca" /><Relationship Type="http://schemas.openxmlformats.org/officeDocument/2006/relationships/slide" Target="/ppt/slides/slide46.xml" Id="R6c2d4dae379f4499" /><Relationship Type="http://schemas.openxmlformats.org/officeDocument/2006/relationships/slide" Target="/ppt/slides/slide47.xml" Id="R6666d97411df4964" /><Relationship Type="http://schemas.openxmlformats.org/officeDocument/2006/relationships/slide" Target="/ppt/slides/slide48.xml" Id="R1413c959889346d3" /><Relationship Type="http://schemas.openxmlformats.org/officeDocument/2006/relationships/slide" Target="/ppt/slides/slide49.xml" Id="R81b97a99620c4ca3" /><Relationship Type="http://schemas.openxmlformats.org/officeDocument/2006/relationships/slide" Target="/ppt/slides/slide50.xml" Id="R38c0037aa34349fe" /><Relationship Type="http://schemas.openxmlformats.org/officeDocument/2006/relationships/slide" Target="/ppt/slides/slide51.xml" Id="Raf1869212a2745ed" /><Relationship Type="http://schemas.openxmlformats.org/officeDocument/2006/relationships/slide" Target="/ppt/slides/slide52.xml" Id="R128eff65c4ca4052" /><Relationship Type="http://schemas.openxmlformats.org/officeDocument/2006/relationships/slide" Target="/ppt/slides/slide53.xml" Id="R42e36d1a780a4f9b" /><Relationship Type="http://schemas.openxmlformats.org/officeDocument/2006/relationships/slide" Target="/ppt/slides/slide54.xml" Id="R76a09dca9a224d56" /><Relationship Type="http://schemas.openxmlformats.org/officeDocument/2006/relationships/slide" Target="/ppt/slides/slide55.xml" Id="R24912ef7b2d94752" /><Relationship Type="http://schemas.openxmlformats.org/officeDocument/2006/relationships/slide" Target="/ppt/slides/slide56.xml" Id="R061867152ddd4c49" /><Relationship Type="http://schemas.openxmlformats.org/officeDocument/2006/relationships/slide" Target="/ppt/slides/slide57.xml" Id="Rd4f3a3b6ebf54158" /><Relationship Type="http://schemas.openxmlformats.org/officeDocument/2006/relationships/slide" Target="/ppt/slides/slide58.xml" Id="R08503f627e3e47b2" /><Relationship Type="http://schemas.openxmlformats.org/officeDocument/2006/relationships/slide" Target="/ppt/slides/slide59.xml" Id="R1dcc59bf948149ab" /><Relationship Type="http://schemas.openxmlformats.org/officeDocument/2006/relationships/slide" Target="/ppt/slides/slide60.xml" Id="Rfe8ea263a3f449ee" /><Relationship Type="http://schemas.openxmlformats.org/officeDocument/2006/relationships/slide" Target="/ppt/slides/slide61.xml" Id="R0b9c9a42da444a33" /><Relationship Type="http://schemas.openxmlformats.org/officeDocument/2006/relationships/slide" Target="/ppt/slides/slide62.xml" Id="Rf31ca3fd0b5545b4" /><Relationship Type="http://schemas.openxmlformats.org/officeDocument/2006/relationships/slide" Target="/ppt/slides/slide63.xml" Id="Raf199ac125f04712" /><Relationship Type="http://schemas.openxmlformats.org/officeDocument/2006/relationships/slide" Target="/ppt/slides/slide64.xml" Id="Rab9711bc87224d82" /><Relationship Type="http://schemas.openxmlformats.org/officeDocument/2006/relationships/slide" Target="/ppt/slides/slide65.xml" Id="Raa466ed3321d42c0" /><Relationship Type="http://schemas.openxmlformats.org/officeDocument/2006/relationships/slide" Target="/ppt/slides/slide66.xml" Id="R81dcd6f920a34fd3" /><Relationship Type="http://schemas.openxmlformats.org/officeDocument/2006/relationships/slide" Target="/ppt/slides/slide67.xml" Id="R462b43c828294a19" /><Relationship Type="http://schemas.openxmlformats.org/officeDocument/2006/relationships/slide" Target="/ppt/slides/slide68.xml" Id="Rbf69fa52777641fa" /><Relationship Type="http://schemas.openxmlformats.org/officeDocument/2006/relationships/slide" Target="/ppt/slides/slide69.xml" Id="Ra85085c7a1bc458b" /><Relationship Type="http://schemas.openxmlformats.org/officeDocument/2006/relationships/slide" Target="/ppt/slides/slide70.xml" Id="R2a154833fb9541e5" /><Relationship Type="http://schemas.openxmlformats.org/officeDocument/2006/relationships/slide" Target="/ppt/slides/slide71.xml" Id="R6844b059a56948a9" /><Relationship Type="http://schemas.openxmlformats.org/officeDocument/2006/relationships/slide" Target="/ppt/slides/slide72.xml" Id="R700b80799c8b4807" /><Relationship Type="http://schemas.openxmlformats.org/officeDocument/2006/relationships/slide" Target="/ppt/slides/slide73.xml" Id="R8957278ad6d84a12" /><Relationship Type="http://schemas.openxmlformats.org/officeDocument/2006/relationships/slide" Target="/ppt/slides/slide74.xml" Id="R6887e8963c754f51" /><Relationship Type="http://schemas.openxmlformats.org/officeDocument/2006/relationships/slide" Target="/ppt/slides/slide75.xml" Id="Rce73c015199e46a6" /><Relationship Type="http://schemas.openxmlformats.org/officeDocument/2006/relationships/slide" Target="/ppt/slides/slide76.xml" Id="R250e1a091cc84d8d" /><Relationship Type="http://schemas.openxmlformats.org/officeDocument/2006/relationships/slide" Target="/ppt/slides/slide77.xml" Id="R12643c095f29429d" /><Relationship Type="http://schemas.openxmlformats.org/officeDocument/2006/relationships/slide" Target="/ppt/slides/slide78.xml" Id="R746024f12e304039" /><Relationship Type="http://schemas.openxmlformats.org/officeDocument/2006/relationships/slide" Target="/ppt/slides/slide79.xml" Id="Re361bcb0ffd74c75" /><Relationship Type="http://schemas.openxmlformats.org/officeDocument/2006/relationships/slide" Target="/ppt/slides/slide80.xml" Id="Ra81e525cdb844942" /><Relationship Type="http://schemas.openxmlformats.org/officeDocument/2006/relationships/slide" Target="/ppt/slides/slide81.xml" Id="R6c0bd49fb0d2415f" /><Relationship Type="http://schemas.openxmlformats.org/officeDocument/2006/relationships/slide" Target="/ppt/slides/slide82.xml" Id="R0e3400f28d384bfa" /><Relationship Type="http://schemas.openxmlformats.org/officeDocument/2006/relationships/slide" Target="/ppt/slides/slide83.xml" Id="R7399fc77b72f48ef" /><Relationship Type="http://schemas.openxmlformats.org/officeDocument/2006/relationships/slide" Target="/ppt/slides/slide84.xml" Id="R7ba342dd1f464e9e" /><Relationship Type="http://schemas.openxmlformats.org/officeDocument/2006/relationships/slide" Target="/ppt/slides/slide85.xml" Id="R3df125fad9654da1" /><Relationship Type="http://schemas.openxmlformats.org/officeDocument/2006/relationships/slide" Target="/ppt/slides/slide86.xml" Id="Rcc0be35897214ee1" /><Relationship Type="http://schemas.openxmlformats.org/officeDocument/2006/relationships/slide" Target="/ppt/slides/slide87.xml" Id="Rfaf7b5c0158940eb" /><Relationship Type="http://schemas.openxmlformats.org/officeDocument/2006/relationships/slide" Target="/ppt/slides/slide88.xml" Id="R63d82a150e454bdd" /><Relationship Type="http://schemas.openxmlformats.org/officeDocument/2006/relationships/slide" Target="/ppt/slides/slide89.xml" Id="R732bdef68f6c4bcc" /><Relationship Type="http://schemas.openxmlformats.org/officeDocument/2006/relationships/slide" Target="/ppt/slides/slide90.xml" Id="Rebebccaf88414ab7" /><Relationship Type="http://schemas.openxmlformats.org/officeDocument/2006/relationships/slide" Target="/ppt/slides/slide91.xml" Id="R52ec42b5d98b4f8c" /><Relationship Type="http://schemas.openxmlformats.org/officeDocument/2006/relationships/slide" Target="/ppt/slides/slide92.xml" Id="R8e4291fb3c5043fe" /><Relationship Type="http://schemas.openxmlformats.org/officeDocument/2006/relationships/slide" Target="/ppt/slides/slide93.xml" Id="Rdff56c9f0ec647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530f93e4e2c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414b3f1cc2407c" /><Relationship Type="http://schemas.openxmlformats.org/officeDocument/2006/relationships/notesMaster" Target="/ppt/notesMasters/notesMaster1.xml" Id="R822ea60ffeec4e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4acbf9ef6c4ea2" /><Relationship Type="http://schemas.openxmlformats.org/officeDocument/2006/relationships/notesMaster" Target="/ppt/notesMasters/notesMaster1.xml" Id="R8df6b96e36174c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e6ac8a59a7419c" /><Relationship Type="http://schemas.openxmlformats.org/officeDocument/2006/relationships/notesMaster" Target="/ppt/notesMasters/notesMaster1.xml" Id="R563431a3605d41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253f24e6dd423b" /><Relationship Type="http://schemas.openxmlformats.org/officeDocument/2006/relationships/notesMaster" Target="/ppt/notesMasters/notesMaster1.xml" Id="Rca536d4e6e2a47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e1a26b06f34772" /><Relationship Type="http://schemas.openxmlformats.org/officeDocument/2006/relationships/notesMaster" Target="/ppt/notesMasters/notesMaster1.xml" Id="R9aa2a0020cf64f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a3842493e44689" /><Relationship Type="http://schemas.openxmlformats.org/officeDocument/2006/relationships/notesMaster" Target="/ppt/notesMasters/notesMaster1.xml" Id="R9c5bbfbf1d5445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d0ce6a2d0b4592" /><Relationship Type="http://schemas.openxmlformats.org/officeDocument/2006/relationships/notesMaster" Target="/ppt/notesMasters/notesMaster1.xml" Id="R044f3799e6774d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401146a74543da" /><Relationship Type="http://schemas.openxmlformats.org/officeDocument/2006/relationships/notesMaster" Target="/ppt/notesMasters/notesMaster1.xml" Id="Re2b76d3738bb44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752f1298ce4786" /><Relationship Type="http://schemas.openxmlformats.org/officeDocument/2006/relationships/notesMaster" Target="/ppt/notesMasters/notesMaster1.xml" Id="Ra4fc1156baa844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eafffd0a944dce" /><Relationship Type="http://schemas.openxmlformats.org/officeDocument/2006/relationships/notesMaster" Target="/ppt/notesMasters/notesMaster1.xml" Id="R3bd183c5ed9a40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6e93eb630944bf" /><Relationship Type="http://schemas.openxmlformats.org/officeDocument/2006/relationships/notesMaster" Target="/ppt/notesMasters/notesMaster1.xml" Id="Re000dc45402e46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8ade0874594d8b" /><Relationship Type="http://schemas.openxmlformats.org/officeDocument/2006/relationships/notesMaster" Target="/ppt/notesMasters/notesMaster1.xml" Id="Rcf5daa50b47e44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d52955acc649ac" /><Relationship Type="http://schemas.openxmlformats.org/officeDocument/2006/relationships/notesMaster" Target="/ppt/notesMasters/notesMaster1.xml" Id="R87b034d3412d43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feb2a3569646e8" /><Relationship Type="http://schemas.openxmlformats.org/officeDocument/2006/relationships/notesMaster" Target="/ppt/notesMasters/notesMaster1.xml" Id="Rf5773ff9badf4c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c05c48b1554247" /><Relationship Type="http://schemas.openxmlformats.org/officeDocument/2006/relationships/notesMaster" Target="/ppt/notesMasters/notesMaster1.xml" Id="R4cc3605c2f1a43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e925bfa2bf4815" /><Relationship Type="http://schemas.openxmlformats.org/officeDocument/2006/relationships/notesMaster" Target="/ppt/notesMasters/notesMaster1.xml" Id="R966faa3c46104a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0ee45b01a045b5" /><Relationship Type="http://schemas.openxmlformats.org/officeDocument/2006/relationships/notesMaster" Target="/ppt/notesMasters/notesMaster1.xml" Id="R8a57ed7ff1bd4e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ed1f3485a84142" /><Relationship Type="http://schemas.openxmlformats.org/officeDocument/2006/relationships/notesMaster" Target="/ppt/notesMasters/notesMaster1.xml" Id="R445a30b5ac5549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f24d7bddbe4c93" /><Relationship Type="http://schemas.openxmlformats.org/officeDocument/2006/relationships/notesMaster" Target="/ppt/notesMasters/notesMaster1.xml" Id="R4ed41511ffdf45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083f0ee8eb42ea" /><Relationship Type="http://schemas.openxmlformats.org/officeDocument/2006/relationships/notesMaster" Target="/ppt/notesMasters/notesMaster1.xml" Id="Ra4ec828b646243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6ad8282e694c79" /><Relationship Type="http://schemas.openxmlformats.org/officeDocument/2006/relationships/notesMaster" Target="/ppt/notesMasters/notesMaster1.xml" Id="R29ea3cfc3e9f4d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3172a31cba24765" /><Relationship Type="http://schemas.openxmlformats.org/officeDocument/2006/relationships/notesMaster" Target="/ppt/notesMasters/notesMaster1.xml" Id="Rb3b14f8ed23b42e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5ac422ec3649f3" /><Relationship Type="http://schemas.openxmlformats.org/officeDocument/2006/relationships/notesMaster" Target="/ppt/notesMasters/notesMaster1.xml" Id="R5dddde45d10b4b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bd4b0b991b4f60" /><Relationship Type="http://schemas.openxmlformats.org/officeDocument/2006/relationships/notesMaster" Target="/ppt/notesMasters/notesMaster1.xml" Id="Rc0958d5a1a4148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c6fb776ccab4d67" /><Relationship Type="http://schemas.openxmlformats.org/officeDocument/2006/relationships/notesMaster" Target="/ppt/notesMasters/notesMaster1.xml" Id="Ra5a26ea5205f4f9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8d66114920452f" /><Relationship Type="http://schemas.openxmlformats.org/officeDocument/2006/relationships/notesMaster" Target="/ppt/notesMasters/notesMaster1.xml" Id="Rcb6f5abe02a74e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f86d580ea9a4b0c" /><Relationship Type="http://schemas.openxmlformats.org/officeDocument/2006/relationships/notesMaster" Target="/ppt/notesMasters/notesMaster1.xml" Id="R036dc9bf2ec246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6e9199f69db4884" /><Relationship Type="http://schemas.openxmlformats.org/officeDocument/2006/relationships/notesMaster" Target="/ppt/notesMasters/notesMaster1.xml" Id="R5ee4d3fc43f24f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7497e434bfe4ead" /><Relationship Type="http://schemas.openxmlformats.org/officeDocument/2006/relationships/notesMaster" Target="/ppt/notesMasters/notesMaster1.xml" Id="R8b9f36d6a13f4e3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c34d520b7854619" /><Relationship Type="http://schemas.openxmlformats.org/officeDocument/2006/relationships/notesMaster" Target="/ppt/notesMasters/notesMaster1.xml" Id="R3ea1902bd07d466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e591d4710f74094" /><Relationship Type="http://schemas.openxmlformats.org/officeDocument/2006/relationships/notesMaster" Target="/ppt/notesMasters/notesMaster1.xml" Id="Rf0066019a6aa48f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61e2becb30045a4" /><Relationship Type="http://schemas.openxmlformats.org/officeDocument/2006/relationships/notesMaster" Target="/ppt/notesMasters/notesMaster1.xml" Id="Rf3d01a9d1b50425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0a351cec2b94cce" /><Relationship Type="http://schemas.openxmlformats.org/officeDocument/2006/relationships/notesMaster" Target="/ppt/notesMasters/notesMaster1.xml" Id="Rd4f10fd1455e458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ad92c3ceda343fb" /><Relationship Type="http://schemas.openxmlformats.org/officeDocument/2006/relationships/notesMaster" Target="/ppt/notesMasters/notesMaster1.xml" Id="R84acc55f0f23482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6d790753164b47" /><Relationship Type="http://schemas.openxmlformats.org/officeDocument/2006/relationships/notesMaster" Target="/ppt/notesMasters/notesMaster1.xml" Id="Re12e1ed233d5458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ae45902777c4bcf" /><Relationship Type="http://schemas.openxmlformats.org/officeDocument/2006/relationships/notesMaster" Target="/ppt/notesMasters/notesMaster1.xml" Id="R9a6f67de41d0435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3d1e21c38204a39" /><Relationship Type="http://schemas.openxmlformats.org/officeDocument/2006/relationships/notesMaster" Target="/ppt/notesMasters/notesMaster1.xml" Id="Ra0fbe388b6324fe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f7d2d6f2b1e4e6f" /><Relationship Type="http://schemas.openxmlformats.org/officeDocument/2006/relationships/notesMaster" Target="/ppt/notesMasters/notesMaster1.xml" Id="R4ccefe643e994bc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00bb1081a184e6c" /><Relationship Type="http://schemas.openxmlformats.org/officeDocument/2006/relationships/notesMaster" Target="/ppt/notesMasters/notesMaster1.xml" Id="R6484a325bfba469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46c8c7040484945" /><Relationship Type="http://schemas.openxmlformats.org/officeDocument/2006/relationships/notesMaster" Target="/ppt/notesMasters/notesMaster1.xml" Id="R8de59616db904be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aa0b6e690cd47d1" /><Relationship Type="http://schemas.openxmlformats.org/officeDocument/2006/relationships/notesMaster" Target="/ppt/notesMasters/notesMaster1.xml" Id="R498d0142dd48457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25e42d5d17a472f" /><Relationship Type="http://schemas.openxmlformats.org/officeDocument/2006/relationships/notesMaster" Target="/ppt/notesMasters/notesMaster1.xml" Id="Rfb7b9cc1f49844f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a71bad1230943cb" /><Relationship Type="http://schemas.openxmlformats.org/officeDocument/2006/relationships/notesMaster" Target="/ppt/notesMasters/notesMaster1.xml" Id="Rf1bde78b29c9400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71f2f3cb5d34dd3" /><Relationship Type="http://schemas.openxmlformats.org/officeDocument/2006/relationships/notesMaster" Target="/ppt/notesMasters/notesMaster1.xml" Id="Rc5d0829a1be043c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144cda31b8a4990" /><Relationship Type="http://schemas.openxmlformats.org/officeDocument/2006/relationships/notesMaster" Target="/ppt/notesMasters/notesMaster1.xml" Id="Re520d5923b664cc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a91906b2c4a4b59" /><Relationship Type="http://schemas.openxmlformats.org/officeDocument/2006/relationships/notesMaster" Target="/ppt/notesMasters/notesMaster1.xml" Id="R74139a1dd620482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0c75f1f699f48df" /><Relationship Type="http://schemas.openxmlformats.org/officeDocument/2006/relationships/notesMaster" Target="/ppt/notesMasters/notesMaster1.xml" Id="Rd64466d56ea54de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0007d087941443e" /><Relationship Type="http://schemas.openxmlformats.org/officeDocument/2006/relationships/notesMaster" Target="/ppt/notesMasters/notesMaster1.xml" Id="R4574557999c54f8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a92118320b24d7f" /><Relationship Type="http://schemas.openxmlformats.org/officeDocument/2006/relationships/notesMaster" Target="/ppt/notesMasters/notesMaster1.xml" Id="R9a9e4abcbbf4459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9e47991875d4498" /><Relationship Type="http://schemas.openxmlformats.org/officeDocument/2006/relationships/notesMaster" Target="/ppt/notesMasters/notesMaster1.xml" Id="Rf856da1786fb4af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6ba2af42a2e4c30" /><Relationship Type="http://schemas.openxmlformats.org/officeDocument/2006/relationships/notesMaster" Target="/ppt/notesMasters/notesMaster1.xml" Id="R9fafbc0d19e1400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c5d9cc9131447ea" /><Relationship Type="http://schemas.openxmlformats.org/officeDocument/2006/relationships/notesMaster" Target="/ppt/notesMasters/notesMaster1.xml" Id="R0bf2f5c83b31428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c911bf857b24812" /><Relationship Type="http://schemas.openxmlformats.org/officeDocument/2006/relationships/notesMaster" Target="/ppt/notesMasters/notesMaster1.xml" Id="Rd20310374f2149c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c3214e5bfb5456b" /><Relationship Type="http://schemas.openxmlformats.org/officeDocument/2006/relationships/notesMaster" Target="/ppt/notesMasters/notesMaster1.xml" Id="R78d3cddcb53a4d5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683d3bc99ed45da" /><Relationship Type="http://schemas.openxmlformats.org/officeDocument/2006/relationships/notesMaster" Target="/ppt/notesMasters/notesMaster1.xml" Id="Rba702404e06b4cc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45006a8ed234b82" /><Relationship Type="http://schemas.openxmlformats.org/officeDocument/2006/relationships/notesMaster" Target="/ppt/notesMasters/notesMaster1.xml" Id="R63affbda981b450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79950a5f8e44894" /><Relationship Type="http://schemas.openxmlformats.org/officeDocument/2006/relationships/notesMaster" Target="/ppt/notesMasters/notesMaster1.xml" Id="Rcd86befc1fd9464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cb3e78e276d4fa1" /><Relationship Type="http://schemas.openxmlformats.org/officeDocument/2006/relationships/notesMaster" Target="/ppt/notesMasters/notesMaster1.xml" Id="Rf044334828ef487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8fda73a7eef4451" /><Relationship Type="http://schemas.openxmlformats.org/officeDocument/2006/relationships/notesMaster" Target="/ppt/notesMasters/notesMaster1.xml" Id="R761f067d7c9e436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b2e9efe7d464635" /><Relationship Type="http://schemas.openxmlformats.org/officeDocument/2006/relationships/notesMaster" Target="/ppt/notesMasters/notesMaster1.xml" Id="R3bda9f0ed3604c8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b06192e4bc24c08" /><Relationship Type="http://schemas.openxmlformats.org/officeDocument/2006/relationships/notesMaster" Target="/ppt/notesMasters/notesMaster1.xml" Id="Ra4354fabd55948e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ddd8120fc7c34032" /><Relationship Type="http://schemas.openxmlformats.org/officeDocument/2006/relationships/notesMaster" Target="/ppt/notesMasters/notesMaster1.xml" Id="Rf6bffd9ec6e24728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18c75d9c39446b8" /><Relationship Type="http://schemas.openxmlformats.org/officeDocument/2006/relationships/notesMaster" Target="/ppt/notesMasters/notesMaster1.xml" Id="Rab8d62c2816c471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f6fe4279584f47e5" /><Relationship Type="http://schemas.openxmlformats.org/officeDocument/2006/relationships/notesMaster" Target="/ppt/notesMasters/notesMaster1.xml" Id="R7af3c007eb1d450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64e8e38f6374e33" /><Relationship Type="http://schemas.openxmlformats.org/officeDocument/2006/relationships/notesMaster" Target="/ppt/notesMasters/notesMaster1.xml" Id="R65909678020040e3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2da5dec61904a27" /><Relationship Type="http://schemas.openxmlformats.org/officeDocument/2006/relationships/notesMaster" Target="/ppt/notesMasters/notesMaster1.xml" Id="R49703070a0294f96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9fc7cae51294ae6" /><Relationship Type="http://schemas.openxmlformats.org/officeDocument/2006/relationships/notesMaster" Target="/ppt/notesMasters/notesMaster1.xml" Id="R93eeff5405194f8a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c9f619bf7f44d63" /><Relationship Type="http://schemas.openxmlformats.org/officeDocument/2006/relationships/notesMaster" Target="/ppt/notesMasters/notesMaster1.xml" Id="R32307ddb3ab54512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a102e73c02f49cb" /><Relationship Type="http://schemas.openxmlformats.org/officeDocument/2006/relationships/notesMaster" Target="/ppt/notesMasters/notesMaster1.xml" Id="Reefac3e057f845a0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1ed62e396ee249c7" /><Relationship Type="http://schemas.openxmlformats.org/officeDocument/2006/relationships/notesMaster" Target="/ppt/notesMasters/notesMaster1.xml" Id="R6b731c8598a94143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b16cff81ff004ee1" /><Relationship Type="http://schemas.openxmlformats.org/officeDocument/2006/relationships/notesMaster" Target="/ppt/notesMasters/notesMaster1.xml" Id="R8b9eebcda6d4471b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a15741d178b540d1" /><Relationship Type="http://schemas.openxmlformats.org/officeDocument/2006/relationships/notesMaster" Target="/ppt/notesMasters/notesMaster1.xml" Id="Rc6dfbb0ddc3c4517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bf411db524b47f9" /><Relationship Type="http://schemas.openxmlformats.org/officeDocument/2006/relationships/notesMaster" Target="/ppt/notesMasters/notesMaster1.xml" Id="Rab387dd3ce964ca7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7ce5a50120443d5" /><Relationship Type="http://schemas.openxmlformats.org/officeDocument/2006/relationships/notesMaster" Target="/ppt/notesMasters/notesMaster1.xml" Id="R4c6f0bc353464a63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dfdb38bc642a4e60" /><Relationship Type="http://schemas.openxmlformats.org/officeDocument/2006/relationships/notesMaster" Target="/ppt/notesMasters/notesMaster1.xml" Id="Rbaba61715ef8425e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50b01ce2f9f45ea" /><Relationship Type="http://schemas.openxmlformats.org/officeDocument/2006/relationships/notesMaster" Target="/ppt/notesMasters/notesMaster1.xml" Id="R699689a34c43469d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39dba272b1844207" /><Relationship Type="http://schemas.openxmlformats.org/officeDocument/2006/relationships/notesMaster" Target="/ppt/notesMasters/notesMaster1.xml" Id="R676c18497d9145b6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16fe96699a64828" /><Relationship Type="http://schemas.openxmlformats.org/officeDocument/2006/relationships/notesMaster" Target="/ppt/notesMasters/notesMaster1.xml" Id="R5fa0b660544244d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3416111f9eb9427c" /><Relationship Type="http://schemas.openxmlformats.org/officeDocument/2006/relationships/notesMaster" Target="/ppt/notesMasters/notesMaster1.xml" Id="Rb2c9318b3b124ccf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db6e07579fe4073" /><Relationship Type="http://schemas.openxmlformats.org/officeDocument/2006/relationships/notesMaster" Target="/ppt/notesMasters/notesMaster1.xml" Id="Rf41418b1718d44a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201a982f89fb4e6f" /><Relationship Type="http://schemas.openxmlformats.org/officeDocument/2006/relationships/notesMaster" Target="/ppt/notesMasters/notesMaster1.xml" Id="R41224f0bbd754131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05db1e462bd44946" /><Relationship Type="http://schemas.openxmlformats.org/officeDocument/2006/relationships/notesMaster" Target="/ppt/notesMasters/notesMaster1.xml" Id="R415a5c1c0450455b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7fc2a278d5ef4944" /><Relationship Type="http://schemas.openxmlformats.org/officeDocument/2006/relationships/notesMaster" Target="/ppt/notesMasters/notesMaster1.xml" Id="R0e477d54755a4bbd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f4a084956253467e" /><Relationship Type="http://schemas.openxmlformats.org/officeDocument/2006/relationships/notesMaster" Target="/ppt/notesMasters/notesMaster1.xml" Id="R74d100b825be428c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dacacfdbc8f4450b" /><Relationship Type="http://schemas.openxmlformats.org/officeDocument/2006/relationships/notesMaster" Target="/ppt/notesMasters/notesMaster1.xml" Id="R67513ab75b94436c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519e195df51243e9" /><Relationship Type="http://schemas.openxmlformats.org/officeDocument/2006/relationships/notesMaster" Target="/ppt/notesMasters/notesMaster1.xml" Id="R0f53cb3fc341414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7d94d41744bb4d56" /><Relationship Type="http://schemas.openxmlformats.org/officeDocument/2006/relationships/notesMaster" Target="/ppt/notesMasters/notesMaster1.xml" Id="R7b2782eb4d1b4d91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49aa28fd2f8c4a03" /><Relationship Type="http://schemas.openxmlformats.org/officeDocument/2006/relationships/notesMaster" Target="/ppt/notesMasters/notesMaster1.xml" Id="R9f123dd9350445c9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a29200bc4cdc4014" /><Relationship Type="http://schemas.openxmlformats.org/officeDocument/2006/relationships/notesMaster" Target="/ppt/notesMasters/notesMaster1.xml" Id="R1802770e5d354f23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e7552cfbcfbb43c2" /><Relationship Type="http://schemas.openxmlformats.org/officeDocument/2006/relationships/notesMaster" Target="/ppt/notesMasters/notesMaster1.xml" Id="R24d29ea1365244df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55721590fc8f468e" /><Relationship Type="http://schemas.openxmlformats.org/officeDocument/2006/relationships/notesMaster" Target="/ppt/notesMasters/notesMaster1.xml" Id="R573fc91fe0ff4dea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b9451cceb9b7496f" /><Relationship Type="http://schemas.openxmlformats.org/officeDocument/2006/relationships/notesMaster" Target="/ppt/notesMasters/notesMaster1.xml" Id="R2292c21329ec41ad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e89ed65b841f4ca3" /><Relationship Type="http://schemas.openxmlformats.org/officeDocument/2006/relationships/notesMaster" Target="/ppt/notesMasters/notesMaster1.xml" Id="R25c3a2eb94504f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Situar el cierre integrador. Partir de esta idea: Un ruido se comprende por su señal, su contexto y su función. Presentar U10 como integración de todo el curso, no como catálogo de colores.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Portada conceptual: anticipar cuatro ejes de caracterización. Onda central; tiempo; frecuencia; nivel; efecto. Orden de lectura: Cuatro ramales sin rótulo largo.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Abrir con un mismo sonido que crea problemas distintos.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Portada conceptual: anticipar cuatro ejes de caracterización. Onda central; tiempo; frecuencia; nivel; efecto. Orden de lectura: Cuatro ramales sin rótulo largo.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2025 p. 5; brief U10.</a:t>
            </a:r>
          </a:p>
          <a:p xmlns:a="http://schemas.openxmlformats.org/drawingml/2006/main">
            <a:r>
              <a:t>- Asset propio aprobado: U10-DG-001.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Activar conocimientos y mostrar la multiplicidad de preguntas. Partir de esta idea: Una medición aislada no identifica interferencia, exposición ni solución. Recoger hipótesis sin resolver; distinguir qué preocupa en cada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Escena técnica del caso disparador. Avenida, fachada, consultorio, conversación, climatización, portazo, receptor. Orden de lectura: Rutas “entra”, “interfiere”, “se evalúa”; numeradas.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Convertir las hipótesis en desempeños observables.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Escena técnica del caso disparador. Avenida, fachada, consultorio, conversación, climatización, portazo, receptor. Orden de lectura: Rutas “entra”, “interfiere”, “se evalúa”; numeradas.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10.3; PDF 262; caso U9.</a:t>
            </a:r>
          </a:p>
          <a:p xmlns:a="http://schemas.openxmlformats.org/drawingml/2006/main">
            <a:r>
              <a:t>- Asset propio aprobado: U10-DG-002.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Declarar ocho objetivos observables. Partir de esta idea: La unidad exige clasificar, calcular, comparar, interpretar y proponer. Aclarar que no se certifican cabinas ni se enseña un protocolo clínico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Ruta de objetivos. Distinguir, describir, calcular, interpretar, proponer. Orden de lectura: Flecha de progresión; sin etiquetas.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Preguntar qué herramientas previas sostienen esos objetivos.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Ruta de objetivos. Distinguir, describir, calcular, interpretar, proponer. Orden de lectura: Flecha de progresión; sin etiquetas.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objetivos 1–8; course_map.</a:t>
            </a:r>
          </a:p>
          <a:p xmlns:a="http://schemas.openxmlformats.org/drawingml/2006/main">
            <a:r>
              <a:t>- Asset propio aprobado: U10-DG-003.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Reactivar prerrequisitos sin reteaching. Partir de esta idea: RMS, dB, bandas, SNR, enmascaramiento y propagación ya tienen significado. Detectar confusiones sobre RMS, banda y dB antes de avanzar.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Red de prerrequisitos. Presión/RMS; dB; espectro; SNR; percepción; propagación. Orden de lectura: “sostiene” hacia U10, agrupados por unidad previa.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Antes de medir, ¿qué tres decisiones debemos explicitar?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Qué fenómeno interesa, con qué descriptor se lo representará y para qué decisión se usará.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cómo se reorganizan esos saberes.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Red de prerrequisitos. Presión/RMS; dB; espectro; SNR; percepción; propagación. Orden de lectura: “sostiene” hacia U10, agrupados por unidad previa.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course_dependency_map U10; brief U10.</a:t>
            </a:r>
          </a:p>
          <a:p xmlns:a="http://schemas.openxmlformats.org/drawingml/2006/main">
            <a:r>
              <a:t>- Asset propio aprobado: U10-DG-004.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Reducir incertidumbre y mostrar recapitulaciones. Partir de esta idea: La secuencia combina tiempo, estadística, frecuencia, medición y aplicación. Señalar bloques de carga muy alta y criterios de pausa.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Mapa completo de clase. Nueve bloques y tres pausas. Orden de lectura: Trayecto principal; ramal punteado a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Entrar por la pregunta más cotidiana: cuándo algo es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completo de clase. Nueve bloques y tres pausas. Orden de lectura: Trayecto principal; ramal punteado a respaldo.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U10; course_map.</a:t>
            </a:r>
          </a:p>
          <a:p xmlns:a="http://schemas.openxmlformats.org/drawingml/2006/main">
            <a:r>
              <a:t>- Asset propio aprobado: U10-DG-005.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El nombre depende de la relación señal–tarea–receptor. Volver al caso sin clasificar aún los tipos.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cadena mínima.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Comenzar por el fenómeno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cadena mínima.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bloque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Separar fenómeno de registro. Partir de esta idea: Un micrófono no captura “el sonido completo”: transforma una magnitud en señal. Recuperar transducción sin entrar en instrumentación.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Cadena fenómeno–representación. Fuente; presión p(t); micrófono; señal; medición; receptor/efecto. Orden de lectura: “genera”, “transduce”, “resume”, “interpreta”.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Añadir ahora la tarea y el contexto.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Cadena fenómeno–representación. Fuente; presión p(t); micrófono; señal; medición; receptor/efecto. Orden de lectura: “genera”, “transduce”, “resume”, “interpreta”.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10.3–10.4; PDF 262–263.</a:t>
            </a:r>
          </a:p>
          <a:p xmlns:a="http://schemas.openxmlformats.org/drawingml/2006/main">
            <a:r>
              <a:t>- Asset propio aprobado: U10-DG-006.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dependencia contextual. Partir de esta idea: Una conversación puede ser objetivo, interferencia o señal de prueba según la tarea. Pedir al grupo que cambie solo la tarea y describa qué permanece.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Misma señal, tres funciones. Forma de onda común; escuchar; medir; enmascarar. Orden de lectura: Ramales “tarea”.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Formalizar los usos del término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Misma señal, tres funciones. Forma de onda común; escuchar; medir; enmascarar. Orden de lectura: Ramales “tarea”.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10.3–10.4; PDF 262–263.</a:t>
            </a:r>
          </a:p>
          <a:p xmlns:a="http://schemas.openxmlformats.org/drawingml/2006/main">
            <a:r>
              <a:t>- Asset propio aprobado: U10-DG-007.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Fijar los tres usos compatibles. Partir de esta idea: Contextual, físico/de señales y operativo responden preguntas distintas. Evitar equiparar ruido con nivel alto o molestia.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Mapa semántico del término ruido. Contextual; físico/de señales; operativo. Orden de lectura: Desde nodo “ruido”; etiqueta “uso”.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Definir ruido como sinónimo de sonido fuerte o desagradable.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Comprobar si el criterio se aplica a casos nuevos.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semántico del término ruido. Contextual; físico/de señales; operativo. Orden de lectura: Desde nodo “ruido”; etiqueta “uso”.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 p. 5; LaTeX 10.4; PDF 263; glossary.</a:t>
            </a:r>
          </a:p>
          <a:p xmlns:a="http://schemas.openxmlformats.org/drawingml/2006/main">
            <a:r>
              <a:t>- Asset propio aprobado: U10-DG-008.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Verificar separación entre señal y valoración. Partir de esta idea: Presión, espectro y duración no cambian solo porque cambie el nombre. Aceptar respuestas múltiples si se explicita la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Actividad de clasificación contextual. Cuatro casos; tarea; función elegida. Orden de lectura: Conectores revelables, sin cruce.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¿El ruido está definido por la fuente o por la tarea?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Por la relación entre señal, contexto y tarea; una misma fuente puede cambiar de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Pasar de la función a la predictibilidad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Actividad de clasificación contextual. Cuatro casos; tarea; función elegida. Orden de lectura: Conectores revelables, sin cruce.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 C1; PDF 281/285.</a:t>
            </a:r>
          </a:p>
          <a:p xmlns:a="http://schemas.openxmlformats.org/drawingml/2006/main">
            <a:r>
              <a:t>- Asset propio aprobado: U10-DG-009.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Introducir la distinción sin formalismo probabilístico. Partir de esta idea: Un modelo predice la sinusoide; un proceso aleatorio se describe por propiedades. Insistir en que aleatorio no significa sin 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Dos paneles con ejes comunes comparan una sinusoide conocida y ruido limitado en banda, ambos con RMS 1 mPa.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Confundir aleatorio con desordenado o carente de 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Nombrar una realización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paneles con ejes comunes comparan una sinusoide conocida y ruido limitado en banda, ambos con RMS 1 mPa.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10.5; PDF 263; ejercicio C2.</a:t>
            </a:r>
          </a:p>
          <a:p xmlns:a="http://schemas.openxmlformats.org/drawingml/2006/main">
            <a:r>
              <a:t>- Asset propio aprobado: U10-CH-015.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Distinguir registro, proceso y pseudoaleatoriedad. Partir de esta idea: Dos registros pueden diferir muestra a muestra y compartir estadísticas. Explicar por qué una señal de ensayo puede repetirse sin negar el modelo aleatorio.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Dos paneles muestran realizaciones gaussianas distintas con los mismos ejes. En cada panel se indican media cero y RMS de 1 mPa.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Preguntar qué propiedad puede permanecer 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paneles muestran realizaciones gaussianas distintas con los mismos ejes. En cada panel se indican media cero y RMS de 1 mPa.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10.5; PDF 263.</a:t>
            </a:r>
          </a:p>
          <a:p xmlns:a="http://schemas.openxmlformats.org/drawingml/2006/main">
            <a:r>
              <a:t>- Asset propio aprobado: U10-CH-001.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el primer marco. Partir de esta idea: “Ruido” no determina por sí solo nivel, espectro, duración ni aleatoriedad. Distinguir repetición funcional de la definición de U10-009.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Recap señal–contexto–receptor. Tres vértices + pregunta central. Orden de lectura: Flechas bidireccionales sin etiqueta o con verbos de 1 palabra.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comparten y qué no comparten dos realizaciones?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Comparten el proceso o modelo estadístico; no comparten necesariamente las muestras instantáneas.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Abrir el eje temporal con estacionariedad.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Recap señal–contexto–receptor. Tres vértices + pregunta central. Orden de lectura: Flechas bidireccionales sin etiqueta o con verbos de 1 palabra.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propia basada en 10.3–10.5.</a:t>
            </a:r>
          </a:p>
          <a:p xmlns:a="http://schemas.openxmlformats.org/drawingml/2006/main">
            <a:r>
              <a:t>- Asset propio aprobado: U10-DG-010.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La variación instantánea no impide describir regularidades. Preparar la idea de ventana antes de nombrar estacionariedad.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ventana sobre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Definir estacionariedad de forma práctica.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ventana sobre señal.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bloques 2–3.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Corregir el error central. Partir de esta idea: Los valores cambian; ciertas estadísticas permanecen aproximadamente estables. Evitar una definición matemática formal; declarar “aproximadamente” e intervalo.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Una traza de ocho segundos contiene dos ventanas resaltadas. Debajo, dos ampliaciones muestran formas distintas y valores RMS próximos.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Tomar estacionariedad como constancia muestra por muestra.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Cambiar la escala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Una traza de ocho segundos contiene dos ventanas resaltadas. Debajo, dos ampliaciones muestran formas distintas y valores RMS próximos.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10.5.1; PDF 263–264; glossary.</a:t>
            </a:r>
          </a:p>
          <a:p xmlns:a="http://schemas.openxmlformats.org/drawingml/2006/main">
            <a:r>
              <a:t>- Asset propio aprobado: U10-CH-002.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dependencia de escala. Partir de esta idea: La estacionariedad siempre depende de la ventana y del criterio. Relacionar la escala con la pregunta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Un registro sintético de dos minutos tiene una envolvente lenta. Un recuadro enlaza una ventana de cinco segundos con su ampliación exacta.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Clasificar patrones visibles sin confundirlos con estadística.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registro sintético de dos minutos tiene una envolvente lenta. Un recuadro enlaza una ventana de cinco segundos con su ampliación exacta.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10.5.1; PDF 264.</a:t>
            </a:r>
          </a:p>
          <a:p xmlns:a="http://schemas.openxmlformats.org/drawingml/2006/main">
            <a:r>
              <a:t>- Asset propio aprobado: U10-CH-003.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Reconocer continuo, fluctuante, intermitente e impulsivo. Partir de esta idea: Las categorías describen forma temporal y pueden coexistir. Guiar lectura de ejes antes de nombrar cada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Cuatro paneles con ejes comunes muestran ruido continuo estable, fluctuante, intermitente e impulsivo.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Tratar las categorías temporales como casilleros universales y excluyentes.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Probar clasificación múltiple.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Cuatro paneles con ejes comunes muestran ruido continuo estable, fluctuante, intermitente e impulsivo.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10.6, fig. 10.1; PDF 264–265.</a:t>
            </a:r>
          </a:p>
          <a:p xmlns:a="http://schemas.openxmlformats.org/drawingml/2006/main">
            <a:r>
              <a:t>- Asset propio aprobado: U10-CH-004.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4–6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Evitar categorías excluyentes. Partir de esta idea: La clasificación depende del rasgo que se describe. Pedir dos etiquetas cuando correspondan y justificar. Dar primero un tiempo breve de respuesta individual; pedir luego una justificación con magnitud, condición y evidencia antes de la puesta en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Clasificación temporal no excluyente. Predictibilidad; continuidad; impulsividad; ejemplos. Orden de lectura: Árbol con retorno “puede coexistir”.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rasgo temporal distingue a la máquina fluctuante de los golpes?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primera cambia de forma relativamente continua; los golpes concentran energía en eventos breves.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Preguntar por qué una muestra no resume el intervalo.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Clasificación temporal no excluyente. Predictibilidad; continuidad; impulsividad; ejemplos. Orden de lectura: Árbol con retorno “puede coexistir”.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10.6; ejercicios C4/V1.</a:t>
            </a:r>
          </a:p>
          <a:p xmlns:a="http://schemas.openxmlformats.org/drawingml/2006/main">
            <a:r>
              <a:t>- Asset propio aprobado: U10-DG-011.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Crear necesidad de descriptores. Partir de esta idea: Cada descriptor conserva una parte diferente de la información. No introducir todavía todas las fórmulas.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Crear necesidad de estadísticos. Muestra; ventana; registro; descriptores. Orden de lectura: “amplía contexto”, “resume”.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Introducir primero la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Crear necesidad de estadísticos. Muestra; ventana; registro; descriptores. Orden de lectura: “amplía contexto”, “resume”.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10.7; PDF 264–265.</a:t>
            </a:r>
          </a:p>
          <a:p xmlns:a="http://schemas.openxmlformats.org/drawingml/2006/main">
            <a:r>
              <a:t>- Asset propio aprobado: U10-DG-012.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Definir media con unidades y significado. Partir de esta idea: Valores positivos y negativos pueden compensarse. Conectar con presión respecto de la atmosférica.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Ecuación de media anotada. Ecuación central; callouts N, p_i, p̄; unidad. Orden de lectura: Líderes cortos sin flecha.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Concluir que media cercana a cero implica ausencia de sonido.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por qué media cero no implica silencio.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de media anotada. Ecuación central; callouts N, pᵢ, p̄; unidad. Orden de lectura: Líderes cortos sin flecha.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10.1; PDF 264–266; notation_guide.</a:t>
            </a:r>
          </a:p>
          <a:p xmlns:a="http://schemas.openxmlformats.org/drawingml/2006/main">
            <a:r>
              <a:t>- Asset propio aprobado: U10-DG-013.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Definir RMS y recuperar U4. Partir de esta idea: Cuadrar evita cancelación; la raíz devuelve la unidad original. Relacionar RMS con nivel sin derivar dB todavía.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Proceso conceptual de RMS. Cuadrar; promediar; raíz; unidad recuperada. Orden de lectura: Flechas “evita cancelación”, “promedia”, “devuelve Pa”.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Confundir RMS con promedio aritmético.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Comparar ahora dispersión alrededor de la 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Proceso conceptual de RMS. Cuadrar; promediar; raíz; unidad recuperada. Orden de lectura: Flechas “evita cancelación”, “promedia”, “devuelve Pa”.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10.2; PDF 266; U4.</a:t>
            </a:r>
          </a:p>
          <a:p xmlns:a="http://schemas.openxmlformats.org/drawingml/2006/main">
            <a:r>
              <a:t>- Asset propio aprobado: U10-DG-014.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Diferenciar varianza y RMS. Partir de esta idea: La varianza usa desviaciones; su unidad es Pa². Señalar que para media cero coinciden los cuadrados, no los conceptos.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Varianza frente a RMS. Media; desviaciones; cuadrado; promedio; caja contraste. Orden de lectura: Secuencia con etiqueta breve.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Usar varianza y RMS como sinónimos cuando la media no es nula.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Aplicar los tres descriptores a pocas muestras.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Varianza frente a RMS. Media; desviaciones; cuadrado; promedio; caja contraste. Orden de lectura: Secuencia con etiqueta breve.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10.3–10.4; PDF 266; notation_guide.</a:t>
            </a:r>
          </a:p>
          <a:p xmlns:a="http://schemas.openxmlformats.org/drawingml/2006/main">
            <a:r>
              <a:t>- Asset propio aprobado: U10-DG-015.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Modelar un cálculo accesible. Partir de esta idea: Las muestras simétricas tienen media cero y RMS distinto de cero. Hacer cálculo paso a paso y control dimensional.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Ejemplo media cero/RMS no cero. Datos; media; cuadrados; RMS; varianza; interpretación. Orden de lectura: Flechas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lo que los tres números todavía pierden.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Ejemplo media cero/RMS no cero. Datos; media; cuadrados; RMS; varianza; interpretación. Orden de lectura: Flechas de cálculo.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ejemplo 10.7.1; PDF 266.</a:t>
            </a:r>
          </a:p>
          <a:p xmlns:a="http://schemas.openxmlformats.org/drawingml/2006/main">
            <a:r>
              <a:t>- Asset propio aprobado: U10-DG-016.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Demostrar límites de un resumen numérico. Partir de esta idea: Un histograma revela valores frecuentes y extremos que el RMS no conserva. Leer primero los descriptores compartidos y después la diferencia.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Dos trazas y dos histogramas comparan ruido gaussiano continuo con una secuencia de dos niveles, ambos con media cero, RMS 1 mPa y varianza 1 mPa cuadrado.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Consolidar antes de cambiar al dominio frecuencial.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trazas y dos histogramas comparan ruido gaussiano continuo con una secuencia de dos niveles, ambos con media cero, RMS 1 mPa y varianza 1 mPa cuadrado.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10.7.2, fig. 10.2; PDF 267.</a:t>
            </a:r>
          </a:p>
          <a:p xmlns:a="http://schemas.openxmlformats.org/drawingml/2006/main">
            <a:r>
              <a:t>- Asset propio aprobado: U10-CH-005.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un bloque de carga muy alta. Partir de esta idea: Media, RMS, varianza y distribución responden preguntas distintas. Repetir con función de síntesis, no volver a derivar fórmulas.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Matriz de descriptores. Filas media/RMS/varianza/distribución; columnas pregunta/unidad/límite. Orden de lectura: Sin flechas; relación por alineación.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descriptor falta si dos señales tienen igual RMS pero una posee picos mucho mayores?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Un descriptor de extremos, como el pico o el factor de cresta, y la forma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Recordar espectro de U5 para describir otra dimensión.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de descriptores. Filas media/RMS/varianza/distribución; columnas pregunta/unidad/límite. Orden de lectura: Sin flechas; relación por alineación.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10.7; ejercicios C5–C6.</a:t>
            </a:r>
          </a:p>
          <a:p xmlns:a="http://schemas.openxmlformats.org/drawingml/2006/main">
            <a:r>
              <a:t>- Asset propio aprobado: U10-DG-017.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Un ruido también se caracteriza por dónde concentra contenido cuadrático. Aclarar que “color” es un modelo espectral, no una cualidad perceptual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espectro mínimo.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Recuperar lectura de espectro.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espectro mínimo.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bloque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Reactivar U5 sin repetir Fourier. Partir de esta idea: Tiempo muestra evolución; frecuencia muestra distribución. Distinguir espectro de señal y respuesta de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A la izquierda aparece una realización temporal; a la derecha, su densidad espectral estimada por Welch, con la banda útil resaltada.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Introducir la idea “por unidad de frecuencia”.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 la izquierda aparece una realización temporal; a la derecha, su densidad espectral estimada por Welch, con la banda útil resaltada.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U5; LaTeX 10.8; PDF 268.</a:t>
            </a:r>
          </a:p>
          <a:p xmlns:a="http://schemas.openxmlformats.org/drawingml/2006/main">
            <a:r>
              <a:t>- Asset propio aprobado: U10-CH-006.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Preparar unidades antes de la integral. Partir de esta idea: Pa²/Hz se convierte en Pa² al acumular sobre Hz. Usar suma de franjas; no asumir cálculo integral.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Densidad × ancho de banda. Rectángulo espectral; altura S_pp; base Δf; área. Orden de lectura: Callouts externos.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Formalizar la relación de banda.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Densidad × ancho de banda. Rectángulo espectral; altura S_pp; base Δf; área. Orden de lectura: Callouts externos.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10.8; PDF 268; content_inventory.</a:t>
            </a:r>
          </a:p>
          <a:p xmlns:a="http://schemas.openxmlformats.org/drawingml/2006/main">
            <a:r>
              <a:t>- Asset propio aprobado: U10-DG-018.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Introducir PSD con significado físico. Partir de esta idea: Integrar S_pp(f) entre f_L y f_H produce presión cuadrática media. Leer la integral como suma; normalizar p_ref en notas.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Ecuación de potencia de banda. Integral; f_L, f_H, S_pp, resultado/unidad. Orden de lectura: Máximo cuatro líderes.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Leer la altura de la PSD como si fuera el contenido total de una banda.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Comprobar con una banda rectangular.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de potencia de banda. Integral; f_L, f_H, S_pp, resultado/unidad. Orden de lectura: Máximo cuatro líderes.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10.5; PDF 268; notation_guide.</a:t>
            </a:r>
          </a:p>
          <a:p xmlns:a="http://schemas.openxmlformats.org/drawingml/2006/main">
            <a:r>
              <a:t>- Asset propio aprobado: U10-DG-019.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Modelar unidades y conversión. Partir de esta idea: Densidad × ancho da Pa²; la raíz da Pa; el nivel requiere referencia. Evitar presentar el resultado como límite de exposición.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Cálculo de potencia en una banda. Datos; Δf; producto; p_rms²; interpretación. Orden de lectura: Flechas “calcular”, “integrar”.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Aplicar la idea al ruido blanco.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Cálculo de potencia en una banda. Datos; Δf; producto; p_rms²; interpretación. Orden de lectura: Flechas “calcular”, “integrar”.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ejemplo 10.8; PDF 268.</a:t>
            </a:r>
          </a:p>
          <a:p xmlns:a="http://schemas.openxmlformats.org/drawingml/2006/main">
            <a:r>
              <a:t>- Asset propio aprobado: U10-DG-020.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Fijar la definición correcta. Partir de esta idea: Bandas de igual ancho en Hz contienen igual contenido cuadrático. Rechazar el ideal de 0 a infinito y declarar banda.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Un rectángulo espectral muestra densidad S cero constante dentro de una banda finita y un intervalo delta f sombreado.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Suponer ruido blanco ideal de ancho de banda infinito en un sistema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Cambiar el modo de agrupar frecuencias.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Un rectángulo espectral muestra densidad S cero constante dentro de una banda finita y un intervalo delta f sombreado.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10.8.1; PDF 268–269; glossary.</a:t>
            </a:r>
          </a:p>
          <a:p xmlns:a="http://schemas.openxmlformats.org/drawingml/2006/main">
            <a:r>
              <a:t>- Asset propio aprobado: U10-CH-007.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Explicar por qué blanco no es constante por octava. Partir de esta idea: Con densidad blanca, el contenido crece cuando la banda se ensancha. Hacer comparar primero ancho de banda, luego barras.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Barras en centros de octava desde 125 hasta 8000 Hz aumentan por factor dos; cada barra indica su ancho de banda.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Introducir el modelo rosa.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Barras en centros de octava desde 125 hasta 8000 Hz aumentan por factor dos; cada barra indica su ancho de banda.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10.8.1; PDF 269–270.</a:t>
            </a:r>
          </a:p>
          <a:p xmlns:a="http://schemas.openxmlformats.org/drawingml/2006/main">
            <a:r>
              <a:t>- Asset propio aprobado: U10-CH-008.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Fijar el criterio central del ruido rosa. Partir de esta idea: Densidad aproximada 1/f; contenido aproximadamente constante por octava. Explicar que −3 dB/octava se refiere a densidad, no al total de cada octava.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Curva recta descendente en ejes logarítmicos entre 125 y 8000 Hz, rotulada con pendiente menos 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Creer que el ruido rosa tiene menor contenido en cada octava sucesiva.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Comparar ambos modelos con los mismos ejes.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Curva recta descendente en ejes logarítmicos entre 125 y 8000 Hz, rotulada con pendiente menos uno.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10.8.2; PDF 269–270; glossary.</a:t>
            </a:r>
          </a:p>
          <a:p xmlns:a="http://schemas.openxmlformats.org/drawingml/2006/main">
            <a:r>
              <a:t>- Asset propio aprobado: U10-CH-009.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Integrar las dos definiciones. Partir de esta idea: La diferencia aparece al especificar qué magnitud y qué agrupamiento se mantiene. No presentar el color como etiqueta memorizada; pedir lectura de ejes.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Dos paneles coordinados comparan PSD normalizada y contenido relativo por octava para ruido blanco y rosa.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Ofrecer una escucha opcional y luego sintetizar.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Dos paneles coordinados comparan PSD normalizada y contenido relativo por octava para ruido blanco y rosa.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fig. 10.3; PDF 270; ejercicio V3.</a:t>
            </a:r>
          </a:p>
          <a:p xmlns:a="http://schemas.openxmlformats.org/drawingml/2006/main">
            <a:r>
              <a:t>- Asset propio aprobado: U10-CH-010.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Vincular representación y experiencia auditiva. Partir de esta idea: La escucha depende de reproducción y nivel; el espectro define el modelo. No afirmar igualdad de sonoridad; registrar cadena de reproducción.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U10-AS-001 y U10-AS-002; audio seguro y normalizado; fuente por seleccionar.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diferencia perceptual esperarían entre ruido blanco y rosa al igualar el nivel global?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blanco suele percibirse más brillante; el rosa distribuye de modo más equilibrado el contenido por octavas.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Reproducir audio solo si los clips propios están documentados y el nivel es seguro; si no, usar U10-CH-010 como alternativa estática.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Confundir una diferencia de timbre con una comparación controlada de sonoridad.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Cerrar el bloque con una regla de lectura.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[Media]</a:t>
            </a:r>
          </a:p>
          <a:p xmlns:a="http://schemas.openxmlformats.org/drawingml/2006/main">
            <a:r>
              <a:t>U10-AS-001 y U10-AS-002 identificados; no embebidos porque continúan propuestos y sin archivo local aprobado. Usar U10-CH-010 como alternativa estática.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U10-AS-001 y U10-AS-002; audio seguro y normalizado; fuente por seleccionar.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Elaboración propia propuesta; LaTeX 10.8.1–2.</a:t>
            </a:r>
          </a:p>
          <a:p xmlns:a="http://schemas.openxmlformats.org/drawingml/2006/main">
            <a:r>
              <a:t>- Asset propio aprobado: U10-CH-010.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PSD, banda y modelos. Partir de esta idea: Densidad, agrupamiento y límites definen la comparación. Repetir la unidad Pa²/Hz con función de control dimensional.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Recap color–pendiente–banda. Blanco; rosa; PSD; octava; experiencia. Orden de lectura: Relaciones “constante por Hz”, “constante por octava”.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debe acompañar siempre al nombre de un color de ruido?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definición espectral, la banda efectiva, el nivel y el método de generación.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Pasar de modelos ideales a señales de prueba filtradas.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Recap color–pendiente–banda. Blanco; rosa; PSD; octava; experiencia. Orden de lectura: Relaciones “constante por Hz”, “constante por octava”.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10.8.</a:t>
            </a:r>
          </a:p>
          <a:p xmlns:a="http://schemas.openxmlformats.org/drawingml/2006/main">
            <a:r>
              <a:t>- Asset propio aprobado: U10-DG-021.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Un nombre de señal no reemplaza espectro, banda, nivel y procedimiento. Conectar con filtros U5.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cadena de filtrado.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Comenzar por el término del programa.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cadena de filtrado.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tipos obligatorios.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Normalizar terminología. Partir de esta idea: No existe una curva universal deducible del nombre. Indicar que un ejemplo cuantitativo exige fuente/equipo definido.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Ruido conformado al habla. Ruido base; filtro; envolvente objetivo; salida. Orden de lectura: “filtra según”; “conserva contorno, no habla”.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Presentar una única curva de habla como universal para toda tarea o idioma.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Comparar con un pasabanda estrecho.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Ruido conformado al habla. Ruido base; filtro; envolvente objetivo; salida. Orden de lectura: “filtra según”; “conserva contorno, no habla”.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10.8.3; PDF 269; glossary.</a:t>
            </a:r>
          </a:p>
          <a:p xmlns:a="http://schemas.openxmlformats.org/drawingml/2006/main">
            <a:r>
              <a:t>- Asset propio aprobado: U10-DG-022.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Mostrar conformación espectral. Partir de esta idea: La respuesta del filtro determina la forma de salida. Mantener magnitudes cualitativas y no simular calibración.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Banco de filtros. Entrada banda ancha; pasa-bajos; pasa-altos; pasabanda; salidas. Orden de lectura: Flechas ancladas; etiquetas de banda.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Definir NBN con parámetros.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Banco de filtros. Entrada banda ancha; pasa-bajos; pasa-altos; pasabanda; salidas. Orden de lectura: Flechas ancladas; etiquetas de banda.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fig. 10.4; PDF 271.</a:t>
            </a:r>
          </a:p>
          <a:p xmlns:a="http://schemas.openxmlformats.org/drawingml/2006/main">
            <a:r>
              <a:t>- Asset propio aprobado: U10-DG-023.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Fijar límites y frecuencia central. Partir de esta idea: Banda estrecha no significa automáticamente tercio de octava. Desarrollar la sigla en primera aparición.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Definición visual de NBN. Espectro amplio; filtro centrado; banda de salida; f_L/f_c/f_H. Orden de lectura: “selecciona”.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Nombrar NBN sin informar banda, forma espectral y nivel.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Calcular el ancho sin confundirlo con bin.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Definición visual de NBN. Espectro amplio; filtro centrado; banda de salida; f_L/f_c/f_H. Orden de lectura: “selecciona”.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10.8.4; PDF 269–271; glossary.</a:t>
            </a:r>
          </a:p>
          <a:p xmlns:a="http://schemas.openxmlformats.org/drawingml/2006/main">
            <a:r>
              <a:t>- Asset propio aprobado: U10-DG-024.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Aplicar B=f_H-f_L y detectar faltantes. Partir de esta idea: Calcular 200 Hz es necesario, pero no suficiente para una señal de prueba. Pedir primero el cálculo y luego los datos faltantes.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Parámetros de NBN. Eje de frecuencia; límites; centro; ancho; pendientes. Orden de lectura: Callouts sin cruces.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¿Cuál es el ancho de una banda entre 900 Hz y 1100 Hz?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200 Hz.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Comparar los cuatro tipos obligatorios.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Parámetros de NBN. Eje de frecuencia; límites; centro; ancho; pendientes. Orden de lectura: Callouts sin cruces.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10.9; ejercicio G4; PDF 269/283/287.</a:t>
            </a:r>
          </a:p>
          <a:p xmlns:a="http://schemas.openxmlformats.org/drawingml/2006/main">
            <a:r>
              <a:t>- Asset propio aprobado: U10-DG-025.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Integrar blanco, rosa, habla y NBN. Partir de esta idea: Cada nombre responde a una regla diferente y necesita banda. Evitar asociar automáticamente cada tipo con un único uso clínico.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Tabla nativa; sin imágenes.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Comprobar selección según una tarea.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Tabla nativa; sin imágenes.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10.8; PDF 268–271.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4–6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Practicar sin prescribir protocolo. Partir de esta idea: Elegir un tipo no basta: hay que justificar función y parámetros. Mantener escenarios no clínicos o audiométricos sin niveles. Dar primero un tiempo breve de respuesta individual; pedir luego una justificación con magnitud, condición y evidencia antes de la puesta en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Árbol para elegir señal de prueba. Objetivo; región espectral; ancho; tipo; parámetros faltantes. Orden de lectura: Preguntas en conectores de 1–3 palabras.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se prioriza al elegir una señal: su nombre o su función?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Su función en la tarea, junto con banda, nivel y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Cerrar con la cadena banda–filtro–función.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Árbol para elegir señal de prueba. Objetivo; región espectral; ancho; tipo; parámetros faltantes. Orden de lectura: Preguntas en conectores de 1–3 palabras.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Ejercicios V4/G4; aplicaciones F1/F3.</a:t>
            </a:r>
          </a:p>
          <a:p xmlns:a="http://schemas.openxmlformats.org/drawingml/2006/main">
            <a:r>
              <a:t>- Asset propio aprobado: U10-DG-026.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tipos obligatorios. Partir de esta idea: Una señal de prueba se especifica; no se adivina por su etiqueta. Marcar la transición de “qué señal es” a “qué número medimos”.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Tabla visual de familias. Blanco, rosa, habla, NBN; forma/uso/cautela. Orden de lectura: Sin conectores.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eje permite distinguir variación continua de eventos breves?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El eje temporal; luego se complementa con frecuencia, nivel y función.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Entrar a descriptores temporales.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Tabla visual de familias. Blanco, rosa, habla, NBN; forma/uso/cautela. Orden de lectura: Sin conectores.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10.8.</a:t>
            </a:r>
          </a:p>
          <a:p xmlns:a="http://schemas.openxmlformats.org/drawingml/2006/main">
            <a:r>
              <a:t>- Asset propio aprobado: U10-DG-027.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Detector, ponderación e intervalo forman parte del resultado. Recuperar sonómetro U5 sin explicar el instrumento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cuatro marcadores temporales.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Comenzar por condiciones de lectura.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cuatro marcadores temporales.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bloque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Construir una rutina de lectura. Partir de esta idea: Un valor en dB sin configuración está incompleto. Diferenciar ponderación frecuencial y temporal.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Cadena de medición. Fuente; micrófono; ponderación; detector; integración; indicador; metadatos. Orden de lectura: “transduce”, “pondera”, “integra”, “reporta”.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Aplicar la rutina a una misma señal.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Cadena de medición. Fuente; micrófono; ponderación; detector; integración; indicador; metadatos. Orden de lectura: “transduce”, “pondera”, “integra”, “reporta”.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10.9; PDF 272; U5.</a:t>
            </a:r>
          </a:p>
          <a:p xmlns:a="http://schemas.openxmlformats.org/drawingml/2006/main">
            <a:r>
              <a:t>- Asset propio aprobado: U10-DG-028.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Comparar preguntas sobre la misma traza. Partir de esta idea: Instantáneo, máximo, pico y equivalente no son intercambiables. Señalar que cada anotación proviene de una operación diferente.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El panel superior muestra presión con un impulso y marca el pico. El inferior muestra nivel Fast, máximo y nivel equivalente durante todo el intervalo.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¿Puede Lmax,F reemplazar al nivel de pico?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No. Responden a detectores y constantes temporales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Aislar el error máximo/pico.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El panel superior muestra presión con un impulso y marca el pico. El inferior muestra nivel Fast, máximo y nivel equivalente durante todo el intervalo.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10.9; PDF 272–273.</a:t>
            </a:r>
          </a:p>
          <a:p xmlns:a="http://schemas.openxmlformats.org/drawingml/2006/main">
            <a:r>
              <a:t>- Asset propio aprobado: U10-CH-011.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Corregir una confusión instrumental. Partir de esta idea: L_max depende de respuesta temporal; L_peak usa un detector de pico. No fijar configuraciones normativas no decididas.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Máximo frente a pico. Evento común; detector temporal; detector de pico; dos salidas. Orden de lectura: “aplica ponderación/constante”, “busca extremo”.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Usar pico, máximo y equivalente como nombres intercambiables.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Introducir el descriptor energético en el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Máximo frente a pico. Evento común; detector temporal; detector de pico; dos salidas. Orden de lectura: “aplica ponderación/constante”, “busca extremo”.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 y errores; PDF 272/280.</a:t>
            </a:r>
          </a:p>
          <a:p xmlns:a="http://schemas.openxmlformats.org/drawingml/2006/main">
            <a:r>
              <a:t>- Asset propio aprobado: U10-DG-029.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Recuperar nivel equivalente con intervalo. Partir de esta idea: No es media aritmética de dB ni describe picos. Usar notación L_Aeq,T cuando corresponda.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Significado de nivel equivalente. Evento variable; energía acumulada; nivel constante equivalente; intervalo T. Orden de lectura: “misma energía en T”.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Promediar niveles en dB de manera aritmética.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combinación de intervalos iguales.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Significado de nivel equivalente. Evento variable; energía acumulada; nivel constante equivalente; intervalo T. Orden de lectura: “misma energía en T”.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10.9; PDF 272–273; notation_guide.</a:t>
            </a:r>
          </a:p>
          <a:p xmlns:a="http://schemas.openxmlformats.org/drawingml/2006/main">
            <a:r>
              <a:t>- Asset propio aprobado: U10-DG-030.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Modelar promedio energético. Partir de esta idea: Se convierten cantidades lineales, se promedian y se vuelve a dB. Advertir que la fórmula mostrada supone igual duración.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Seis etapas: cuatro intervalos de 15 minutos a 88, 92, 86 y 90 dB(A), seguidos por el promedio lineal energético y el resultado L_Aeq,1 h de aproximadamente 89,6 dB(A).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Calcular el promedio aritmético de los cuatro valores en dB(A).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Presentar percentiles como descriptor distinto.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Seis etapas: cuatro intervalos de 15 minutos a 88, 92, 86 y 90 dB(A), seguidos por el promedio lineal energético y el resultado L_Aeq,1 h de aproximadamente 89,6 dB(A).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10.10 y ejemplo; PDF 272–273.</a:t>
            </a:r>
          </a:p>
          <a:p xmlns:a="http://schemas.openxmlformats.org/drawingml/2006/main">
            <a:r>
              <a:t>- Asset propio aprobado: U10-DG-031.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Introducir percentiles sin convertirlos en ruido de fondo universal. Partir de esta idea: El subíndice es porcentaje de tiempo excedido. Evitar valores normativos y explicar por qué L_90 no basta para cabina.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Curva monótona de excedencia de niveles A sintéticos, con líneas para L10 y L90.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significa que un nivel sea L10?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Que fue excedido durante el 10 % del intervalo declarado.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Interpretar L90 como sinónimo universal de ruido de fondo.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Separar ruido presente y señal deliberada.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Curva monótona de excedencia de niveles A sintéticos, con líneas para L10 y L90.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10.9; PDF 273.</a:t>
            </a:r>
          </a:p>
          <a:p xmlns:a="http://schemas.openxmlformats.org/drawingml/2006/main">
            <a:r>
              <a:t>- Asset propio aprobado: U10-CH-012.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Distinguir presencia contextual e introducción deliberada. Partir de esta idea: El mismo tipo espectral puede ser fondo o enmascarante según uso. Preparar enmascaramiento sin adelantar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Fondo, señal objetivo y enmascarador. Receptor central; tres capas acústicas; tarea. Orden de lectura: “se desea”, “interfiere”, “se agrega deliberadamente”.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Definir la relación señal–ruido.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Fondo, señal objetivo y enmascarador. Receptor central; tres capas acústicas; tarea. Orden de lectura: “se desea”, “interfiere”, “se agrega deliberadamente”.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10.10; PDF 273; glossary.</a:t>
            </a:r>
          </a:p>
          <a:p xmlns:a="http://schemas.openxmlformats.org/drawingml/2006/main">
            <a:r>
              <a:t>- Asset propio aprobado: U10-DG-032.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Introducir cálculo y condiciones. Partir de esta idea: Restar niveles solo es válido con banda, posición, referencia e intervalo comparables. Interpretar signo sin prometer detección o comprensión.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Ecuación de SNR. L_señal, L_ruido, diferencia y regla de signo. Orden de lectura: Callouts exteriores.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¿Cuál es la SNR para 65 dB de señal y 58 dB de ruido?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+7 dB, si ambos niveles son comparables.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Inferir inteligibilidad solo a partir de una SNR global.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Visualizar el cambio de relación.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Ecuación de SNR. L_señal, L_ruido, diferencia y regla de signo. Orden de lectura: Callouts exteriores.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10.11; PDF 273–274; notation_guide.</a:t>
            </a:r>
          </a:p>
          <a:p xmlns:a="http://schemas.openxmlformats.org/drawingml/2006/main">
            <a:r>
              <a:t>- Asset propio aprobado: U10-DG-033.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Hacer visible +12, 0 y −6 dB. Partir de esta idea: Menor SNR significa mayor contribución relativa del ruido, no resultado perceptual automático. Pedir ordenar paneles y explicar qué se mantiene.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Identificar primero ejes, unidades y escala; luego señalar el patrón relevante y, por último, vincularlo con la pregunta física. Referencia descriptiva: Tres paneles temporales con ejes comunes muestran mezclas sintéticas con SNR más 12, cero y menos 6 dB.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mezcla facilita más la detección de la señal?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de mayor SNR; la respuesta debe justificarse comparando niveles compatibles.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Revelar las tres mezclas de menor a mayor SNR y pedir una predicción antes de mostrar la etiqueta.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Llevar la relación a comunicación.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paneles temporales con ejes comunes muestran mezclas sintéticas con SNR más 12, cero y menos 6 dB.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fig. 10.5; PDF 274; ejercicio V5.</a:t>
            </a:r>
          </a:p>
          <a:p xmlns:a="http://schemas.openxmlformats.org/drawingml/2006/main">
            <a:r>
              <a:t>- Asset propio aprobado: U10-CH-013.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Conectar con voz, aula y consultorio. Partir de esta idea: Espectro, tiempo, reverberación, tarea y oyente también importan. Recuperar U7 sin introducir índices nuevos.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Palancas de SNR en comunicación. Fuente vocal; distancia; ruido; oyente; tratamiento/control. Orden de lectura: “aumenta señal”, “reduce ruido”, “modifica tarea”.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Recapitular la rutina de lectura.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Palancas de SNR en comunicación. Fuente vocal; distancia; ruido; oyente; tratamiento/control. Orden de lectura: “aumenta señal”, “reduce ruido”, “modifica tarea”.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10.10/10.12; PDF 273–276; ejercicio F1.</a:t>
            </a:r>
          </a:p>
          <a:p xmlns:a="http://schemas.openxmlformats.org/drawingml/2006/main">
            <a:r>
              <a:t>- Asset propio aprobado: U10-DG-034.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medición y SNR. Partir de esta idea: Ningún número interpreta por sí solo una situación. Repetir la ventana con nueva función: condiciones de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Selector de descriptor. Preguntas sobre instante/extremo/energía/distribución/contraste; salidas. Orden de lectura: Pregunta → indicador.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descriptor usarían para energía promedio durante una consulta?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Leq,T, declarando el intervalo T; podrían sumarse percentiles o picos según la pregunta.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Entrar al uso deliberado del enmascarante.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Selector de descriptor. Preguntas sobre instante/extremo/energía/distribución/contraste; salidas. Orden de lectura: Pregunta → indicador.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10.9–10.10.</a:t>
            </a:r>
          </a:p>
          <a:p xmlns:a="http://schemas.openxmlformats.org/drawingml/2006/main">
            <a:r>
              <a:t>- Asset propio aprobado: U10-DG-035.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La función clínica depende de una arquitectura de prueba, no solo del tipo de ruido. Delimitar desde el inicio: revisión conceptual, no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dos oídos esquemáticos.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Recuperar el fenómeno perceptual.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dos oídos esquemáticos.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brief U10.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Reactivar U7 sin repetirla. Partir de esta idea: El umbral puede elevarse por otra señal; eso no indica protección. Mencionar dependencia frecuencial/temporal y detenerse allí.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Puente físico-perceptual al masking. Ruido externo; representación interna; señal; detectabilidad. Orden de lectura: “eleva competencia”, “reduce detectabilidad”.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Confundir enmascaramiento con protección auditiva.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Identificar los cuatro elementos de una situación controlada.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Puente físico-perceptual al masking. Ruido externo; representación interna; señal; detectabilidad. Orden de lectura: “eleva competencia”, “reduce detectabilidad”.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10.11; PDF 275; U7.</a:t>
            </a:r>
          </a:p>
          <a:p xmlns:a="http://schemas.openxmlformats.org/drawingml/2006/main">
            <a:r>
              <a:t>- Asset propio aprobado: U10-DG-036.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Organizar prueba antes de audiometría. Partir de esta idea: Señal de prueba, enmascarante, canal/receptor y respuesta deben declararse. Usar lenguaje general y luego particularizar.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Cuatro elementos del enmascaramiento. Señal; enmascarador; receptor/oído; criterio de respuesta. Orden de lectura: Relaciones numeradas.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Aplicar a ruta cruzada.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Cuatro elementos del enmascaramiento. Señal; enmascarador; receptor/oído; criterio de respuesta. Orden de lectura: Relaciones numeradas.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10.11; PDF 275.</a:t>
            </a:r>
          </a:p>
          <a:p xmlns:a="http://schemas.openxmlformats.org/drawingml/2006/main">
            <a:r>
              <a:t>- Asset propio aprobado: U10-DG-037.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Explicar la función audiométrica. Partir de esta idea: La señal enmascarante reduce la detectabilidad de la ruta cruzada en el oído no evaluado. Repetir que no fija indicaciones, niveles, incrementos ni finalización.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Arquitectura audiométrica conceptual. Oído evaluado; oído no evaluado; transductor; ruta cruzada; enmascarante; respuesta. Orden de lectura: “señal de prueba”, “posible cruce”, “controla”.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función cumple el enmascarante en este esquema conceptual?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Reducir la detectabilidad de una posible respuesta cruzada en el oído no evaluado; la slide no define el protocolo clínico.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Aplicar una regla clínica sin explicitar el protocolo validado.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Pedir lectura del diagrama.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Arquitectura audiométrica conceptual. Oído evaluado; oído no evaluado; transductor; ruta cruzada; enmascarante; respuesta. Orden de lectura: “señal de prueba”, “posible cruce”, “controla”.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10.11, fig. 10.6; PDF 275; ASHA citada en capítulo.</a:t>
            </a:r>
          </a:p>
          <a:p xmlns:a="http://schemas.openxmlformats.org/drawingml/2006/main">
            <a:r>
              <a:t>- Asset propio aprobado: U10-DG-038.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4–6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Comprobar comprensión del diagrama. Partir de esta idea: Identificar roles evita aplicar una receta sin entender el objetivo. No introducir atenuación interaural ni plateau. Dar primero un tiempo breve de respuesta individual; pedir luego una justificación con magnitud, condición y evidencia antes de la puesta en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Arquitectura audiométrica conceptual. Oído evaluado; oído no evaluado; transductor; ruta cruzada; enmascarante; respuesta. Orden de lectura: “señal de prueba”, “posible cruce”, “controla”.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¿Cuándo conviene un enmascarante de banda estrecha?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Cuando el protocolo requiere concentrar la energía alrededor de una región frecuencial definida.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Contrastar con protección.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Arquitectura audiométrica conceptual. Oído evaluado; oído no evaluado; transductor; ruta cruzada; enmascarante; respuesta. Orden de lectura: “señal de prueba”, “posible cruce”, “controla”.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 V6; PDF 282/286.</a:t>
            </a:r>
          </a:p>
          <a:p xmlns:a="http://schemas.openxmlformats.org/drawingml/2006/main">
            <a:r>
              <a:t>- Asset propio aprobado: U10-DG-038.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Corregir el error más probable. Partir de esta idea: Uno manipula detectabilidad en una prueba; el otro reduce exposición. Añadir cancelación activa solo como tercer caso verbal.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Enmascaramiento vs protección. Propósito perceptual; propósito de exposición; acción; resultado medido. Orden de lectura: Bifurcación “¿qué se intenta cambiar?”.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¿La presencia de enmascaramiento permite inferir automáticamente un diagnóstico?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No. Es un fenómeno perceptual que debe interpretarse dentro de una tarea y un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una aplicación complementaria con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Enmascaramiento vs protección. Propósito perceptual; propósito de exposición; acción; resultado medido. Orden de lectura: Bifurcación “¿qué se intenta cambiar?”.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10.11/10.13.1; PDF 275/278/280.</a:t>
            </a:r>
          </a:p>
          <a:p xmlns:a="http://schemas.openxmlformats.org/drawingml/2006/main">
            <a:r>
              <a:t>- Asset propio aprobado: U10-DG-039.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Reconocer una aplicación sin consejo clínico. Partir de esta idea: Tonos o ruidos pueden usarse en evaluación; la terapia exige evidencia y protocolo. Evitar tipos/niveles terapéuticos y recomendaciones individuales.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Encuadre prudente de ruido y tinnitus. Percepción; apoyo sonoro; evaluación; evidencia/plan individual. Orden de lectura: “puede integrar”, “no sustituye”.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Cerrar el alcance del bloque.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Encuadre prudente de ruido y tinnitus. Percepción; apoyo sonoro; evaluación; evidencia/plan individual. Orden de lectura: “puede integrar”, “no sustituye”.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10.11; PDF 275; ASHA citada.</a:t>
            </a:r>
          </a:p>
          <a:p xmlns:a="http://schemas.openxmlformats.org/drawingml/2006/main">
            <a:r>
              <a:t>- Asset propio aprobado: U10-DG-040.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y marcar frontera. Partir de esta idea: El tipo de ruido no determina por sí solo la técnica clínica. Nombrar explícitamente lo no desarrollado.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Recap de función y frontera. Señal; ruta; control; respuesta; caja “protocolo requerido”. Orden de lectura: Cadena y ramal de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Pasar de una prueba controlada a exposición y control ambiental.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Recap de función y frontera. Señal; ruta; control; respuesta; caja “protocolo requerido”. Orden de lectura: Cadena y ramal de límite.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source_analysis; 10.11.</a:t>
            </a:r>
          </a:p>
          <a:p xmlns:a="http://schemas.openxmlformats.org/drawingml/2006/main">
            <a:r>
              <a:t>- Asset propio aprobado: U10-DG-041.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guía. Partir de esta idea: Medición, efecto y control pertenecen a planos relacionados pero distintos. Evitar que el bloque se vuelva una lista normativa.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tres planos.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Separar primero los niveles de inferencia.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tres planos.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U10, bloque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Evitar inferencias clínicas automáticas. Partir de esta idea: Nivel/duración describen exposición; molestia o alteración requieren otra evidencia. Usar ejemplos sin causalidad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Tres planos de análisis. Exposición; resultado funcional; salud/diagnóstico; evidencia requerida. Orden de lectura: “informa”, no “determina”.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¿Exposición, desempeño funcional y diagnóstico son equivalentes?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No. Son planos relacionados, pero requieren medidas y evidencias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Convertir una medida de exposición en un diagnóstico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el límite de una medición aislada.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Tres planos de análisis. Exposición; resultado funcional; salud/diagnóstico; evidencia requerida. Orden de lectura: “informa”, no “determina”.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10.12; PDF 276; U8.</a:t>
            </a:r>
          </a:p>
          <a:p xmlns:a="http://schemas.openxmlformats.org/drawingml/2006/main">
            <a:r>
              <a:t>- Asset propio aprobado: U10-DG-042.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Profundizar el límite de inferencia. Partir de esta idea: Riesgo poblacional y situación individual requieren contexto y evaluación. Mencionar efectos auditivos/no auditivos sin enumerar patologías.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Límite causal individual. Medición; historia de exposición; función; evaluación clínica; variables mediadoras. Orden de lectura: “contribuye a”, “requiere”.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Explicar por qué los documentos no son intercambiables.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Límite causal individual. Medición; historia de exposición; función; evaluación clínica; variables mediadoras. Orden de lectura: “contribuye a”, “requiere”.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10.12; PDF 276; WHO/NIOSH citados.</a:t>
            </a:r>
          </a:p>
          <a:p xmlns:a="http://schemas.openxmlformats.org/drawingml/2006/main">
            <a:r>
              <a:t>- Asset propio aprobado: U10-DG-043.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Enseñar lectura documental. Partir de esta idea: Un número no puede trasladarse entre propósitos y jurisdicciones. No afirmar vigencia nueva; citar metadatos del libro y pedir verificación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Tabla nativa; U10-AS-008 reservado a miniaturas de documentos solo tras verificar edición y licencia.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Aplicar el criterio a cabinas.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Tabla nativa; U10-AS-008 reservado a miniaturas de documentos solo tras verificar edición y licencia.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10.12.1; PDF 276–277.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Recuperar U9 en una tarea U10. Partir de esta idea: Prueba, vía, transductor, bandas y criterio determinan la aptitud. No repetir aislamiento/cabina; enfocar descriptor y ruido residual.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Ruido de fondo en cabina. Cabina; fuente residual; transductor; oído; banda; prueba; criterio. Orden de lectura: Rutas “entra”, “se presenta”, “puede limitar”.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¿Una lectura global en dBA basta para certificar una cabina?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No. Hace falta el procedimiento y el criterio normativo aplicable, además del control instrumental.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Usar una lectura orientativa para declarar cumplimiento normativo.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Pasar de evaluar a intervenir.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Ruido de fondo en cabina. Cabina; fuente residual; transductor; oído; banda; prueba; criterio. Orden de lectura: Rutas “entra”, “se presenta”, “puede limitar”.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10.12.1; PDF 277; U9 073–075.</a:t>
            </a:r>
          </a:p>
          <a:p xmlns:a="http://schemas.openxmlformats.org/drawingml/2006/main">
            <a:r>
              <a:t>- Asset propio aprobado: U10-DG-044.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Integrar U9 con prevención. Partir de esta idea: Primero se identifica el eslabón; después se elige intervención y métrica. Priorizar fuente/ingeniería de forma general sin citar jerarquía legal específica.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Jerarquía fuente–trayecto–receptor. Fuente; mantenimiento/sustitución; barrera/encapsulado; receptor/organización/EPP; verificación. Orden de lectura: “controlar primero”, “comprobar después”.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Distinguir resultado y mecanismo.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Jerarquía fuente–trayecto–receptor. Fuente; mantenimiento/sustitución; barrera/encapsulado; receptor/organización/EPP; verificación. Orden de lectura: “controlar primero”, “comprobar después”.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10.13, fig. 10.7; PDF 277–278; U9.</a:t>
            </a:r>
          </a:p>
          <a:p xmlns:a="http://schemas.openxmlformats.org/drawingml/2006/main">
            <a:r>
              <a:t>- Asset propio aprobado: U10-DG-045.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Normalizar vocabulario. Partir de esta idea: Reducir una métrica no explica cómo se logró. Evitar símbolo R para reducción; reservarlo a U9.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Diferenciar reducción, absorción, aislamiento, cancelación y protección. Cinco términos; mecanismo; dato de verificación. Orden de lectura: Sin flechas o una relación por fila.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Confundir absorción, aislamiento, cancelación y protección personal.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Pedir selección de intervención.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Diferenciar reducción, absorción, aislamiento, cancelación y protección. Cinco términos; mecanismo; dato de verificación. Orden de lectura: Sin flechas o una relación por fila.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10.13.1; PDF 278; glossary/notation.</a:t>
            </a:r>
          </a:p>
          <a:p xmlns:a="http://schemas.openxmlformats.org/drawingml/2006/main">
            <a:r>
              <a:t>- Asset propio aprobado: U10-DG-046.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4–6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Aplicar la cadena a casos. Partir de esta idea: Una intervención se justifica por mecanismo y comparación de la misma métrica. Pedir ubicación, mecanismo y descriptor; aceptar combinaciones. Dar primero un tiempo breve de respuesta individual; pedir luego una justificación con magnitud, condición y evidencia antes de la puesta en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Actividad: dónde intervenir. Caso; fuente; trayecto; receptor; opciones; métrica antes/después. Orden de lectura: Tarjetas conectables; solución oculta.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¿Dónde suele ser más eficaz intervenir primero?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En la fuente, si es viable; luego en el trayecto y finalmente sobre el receptor.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Conectar con incumbencias fonoaudiológicas.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Actividad: dónde intervenir. Caso; fuente; trayecto; receptor; opciones; métrica antes/después. Orden de lectura: Tarjetas conectables; solución oculta.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 V7; PDF 282/286; F4.</a:t>
            </a:r>
          </a:p>
          <a:p xmlns:a="http://schemas.openxmlformats.org/drawingml/2006/main">
            <a:r>
              <a:t>- Asset propio aprobado: U10-DG-047.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Integrar aplicaciones sin diagnóstico. Partir de esta idea: La contribución es formular preguntas correctas y reconocer límites. Evitar una lista genérica; ejemplificar qué dato cambia una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Red de aplicaciones fonoaudiológicas. Evaluación auditiva; voz/habla; ambiente clínico; prevención; pregunta física central. Orden de lectura: Desde nodo “caracterizar”.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Examinar una medición exploratoria.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Red de aplicaciones fonoaudiológicas. Evaluación auditiva; voz/habla; ambiente clínico; prevención; pregunta física central. Orden de lectura: Desde nodo “caracterizar”.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10.14; PDF 279.</a:t>
            </a:r>
          </a:p>
          <a:p xmlns:a="http://schemas.openxmlformats.org/drawingml/2006/main">
            <a:r>
              <a:t>- Asset propio aprobado: U10-DG-048.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Diferenciar observación y trazabilidad. Partir de esta idea: Sin calibración, respuesta, posición e incertidumbre no hay certificación. No promocionar una app ni sugerir equivalencia con sonómetro.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Imagen externa de medición con teléfono/sonómetro o diagrama alternativo; U10-AS-005.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¿Para qué sirve una aplicación no calibrada?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Para exploración y comparación orientativa, no para certificar cumplimiento ni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Mostrar la lectura del teléfono como exploración; contrastarla verbalmente con una medición calibrada.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Presentar el teléfono como sustituto de un sonómetro calibrado.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Recapitular medición, inferencia y 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Imagen externa de medición con teléfono/sonómetro o diagrama alternativo; U10-AS-005.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Ejercicio F2; PDF 284/288.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Consolidar el bloque. Partir de esta idea: Cada paso necesita propósito, condiciones y límites. Repetir fuente–trayecto–receptor con función de decisión, no de propagación.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Cadena medir–interpretar–controlar–verificar. Propósito; configuración; dato; inferencia; acción; comprobación. Orden de lectura: Verbos en flechas.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Volver al caso inicial y resolverlo por capas.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Cadena medir–interpretar–controlar–verificar. Propósito; configuración; dato; inferencia; acción; comprobación. Orden de lectura: Verbos en flechas.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Síntesis 10.12–10.14.</a:t>
            </a:r>
          </a:p>
          <a:p xmlns:a="http://schemas.openxmlformats.org/drawingml/2006/main">
            <a:r>
              <a:t>- Asset propio aprobado: U10-DG-049.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0,5–1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Enunciar la pregunta final. Partir de esta idea: Un plan sólido separa fuentes, representaciones, descriptores, funciones y decisiones. Recuperar preguntas iniciales de U10-002.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 con mapa del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Mostrar el mapa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 con mapa del caso.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Brief; pregunta integradora.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Reponer el caso con información organizada. Partir de esta idea: Tránsito, climatización y portazos no se describen igual. No resolver todavía; asignar grupos o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Base del caso integrador. Avenida; HVAC; puerta; consultorio; conversación; prueba; tres receptores. Orden de lectura: Rutas numeradas y leyenda estable.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Añadir la capa temporal/estadística.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Base del caso integrador. Avenida; HVAC; puerta; consultorio; conversación; prueba; tres receptores. Orden de lectura: Rutas numeradas y leyenda estable.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pregunta I1; PDF 284/289.</a:t>
            </a:r>
          </a:p>
          <a:p xmlns:a="http://schemas.openxmlformats.org/drawingml/2006/main">
            <a:r>
              <a:t>- Asset propio aprobado: U10-DG-050.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Aplicar clasificación y descriptores. Partir de esta idea: Cada fuente requiere ventana, categoría y resumen apropiados. Hacer justificar ventanas y no inferir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Capa temporal del caso. DG-050 + ventanas y trazas CH-014. Orden de lectura: Líderes desde fuente a minigráfico. Tres minipaneles muestran nivel relativo por tránsito con envolvente lenta, climatización continua y portazos impulsivos.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información aporta el tiempo que no aporta por sí solo el espectro?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La ocurrencia, duración, repetición y carácter impulsivo o intermitente de los eventos.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Añadir frecuencia y niveles.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Capa temporal del caso. DG-050 + ventanas y trazas CH-014. Orden de lectura: Líderes desde fuente a minigráfico. Tres minipaneles muestran nivel relativo por tránsito con envolvente lenta, climatización continua y portazos impulsivos.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I1; B02.</a:t>
            </a:r>
          </a:p>
          <a:p xmlns:a="http://schemas.openxmlformats.org/drawingml/2006/main">
            <a:r>
              <a:t>- Asset propio aprobado: U10-CH-014.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Aplicar selección de métricas. Partir de esta idea: Bandas, L_Aeq,T, máximo/pico y SNR responden preguntas distintas. Pedir qué configuración debe acompañar cada número.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Capa espectro/nivel/SNR. DG-050 + bandas, indicador por fuente y conversación objetivo. Orden de lectura: Líderes “medir por bandas”, “comparar”.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preguntarían antes de elegir un descriptor?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Qué decisión se necesita tomar y qué propiedad del fenómeno es relevante.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Añadir enmascaramiento, control y decisiones externas.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Capa espectro/nivel/SNR. DG-050 + bandas, indicador por fuente y conversación objetivo. Orden de lectura: Líderes “medir por bandas”, “comparar”.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I1; B03–B05.</a:t>
            </a:r>
          </a:p>
          <a:p xmlns:a="http://schemas.openxmlformats.org/drawingml/2006/main">
            <a:r>
              <a:t>- Asset propio aprobado: U10-DG-052.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Integrar masking, control y normas. Partir de esta idea: Enmascarante, ruido de fondo y protección ocupan lugares distintos. Marcar decisiones que requieren profesional, norma o protocolo.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Capa señal deliberada/control/autoridad. DG-050 + enmascarador; controles; cajas norma/protocolo. Orden de lectura: “requiere fuente”, “actuar aquí”.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tres separaciones conceptuales debemos conservar?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Fuente versus función, promedio versus pico y exposición versus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Pedir una decisión final justificada.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Capa señal deliberada/control/autoridad. DG-050 + enmascarador; controles; cajas norma/protocolo. Orden de lectura: “requiere fuente”, “actuar aquí”.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I1; B06–B07.</a:t>
            </a:r>
          </a:p>
          <a:p xmlns:a="http://schemas.openxmlformats.org/drawingml/2006/main">
            <a:r>
              <a:t>- Asset propio aprobado: U10-DG-053.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4–6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Evaluar desempeño completo. Partir de esta idea: La respuesta debe declarar qué medir, por qué, dónde y con qué límite. Usar la solución de respaldo solo después de discusión. Dar primero un tiempo breve de respuesta individual; pedir luego una justificación con magnitud, condición y evidencia antes de la puesta en común.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Matriz de respuesta integradora. Evidencia; descriptor; configuración; interpretación; acción; límite. Orden de lectura: Sin flechas; alineación por fila.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¿Cuál es el primer paso del plan?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Formular la pregunta y reconocer la tarea antes de elegir instrumentos o descriptores.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Probar errores persistentes antes de cerrar.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Matriz de respuesta integradora. Evidencia; descriptor; configuración; interpretación; acción; límite. Orden de lectura: Sin flechas; alineación por fila.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I1; PDF 284/289.</a:t>
            </a:r>
          </a:p>
          <a:p xmlns:a="http://schemas.openxmlformats.org/drawingml/2006/main">
            <a:r>
              <a:t>- Asset propio aprobado: U10-DG-054.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Diagnosticar concepciones residuales. Partir de esta idea: Una corrección vale si usa magnitud, condición y evidencia. Discutir 4–6 en vivo y dejar el resto para respaldo/guía.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Lista progresiva con revelado; sin grilla de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¿Por qué “igual L_eq,T implica iguales picos” es incorrecto?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Porque L_eq,T conserva el promedio cuadrático durante T, pero no la forma temporal ni los extremos.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Responder solo “verdadero” o “falso” sin nombrar la magnitud, condición o evidencia que corrige la afirmación.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Convertir correcciones en síntesis positiva.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Lista progresiva con revelado; sin grilla de checks.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10.15 y distractores; PDF 279–280/284/289.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Sintetizar aprendizajes acumulativos. Partir de esta idea: Tiempo, estadística, frecuencia, función y contexto se complementan. Evitar repetir títulos; formular relaciones y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Mapa final de síntesis. Señal/contexto; tiempo; estadística; frecuencia; nivel; función; receptor; control; límite. Orden de lectura: Relaciones selectivas, no red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Cerrar el curso con transferencia profesional.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Mapa final de síntesis. Señal/contexto; tiempo; estadística; frecuencia; nivel; función; receptor; control; límite. Orden de lectura: Relaciones selectivas, no red completa.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síntesis 10.16; course_map.</a:t>
            </a:r>
          </a:p>
          <a:p xmlns:a="http://schemas.openxmlformats.org/drawingml/2006/main">
            <a:r>
              <a:t>- Asset propio aprobado: U10-DG-055.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Cerrar y transferir. Partir de esta idea: Medir bien incluye saber qué no puede concluirse. Pedir una pregunta que ahora formularían antes de medir ruido.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Fondo bordó; sin visual decorativo.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¿Qué idea de la unidad usarían mañana en una observación clínica?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Respuesta abierta, pero debe vincular una pregunta concreta con un descriptor y una limitación.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Derivar solo si hace falta al material de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Fondo bordó; sin visual decorativo.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brief U10; propósito general del curso.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Facilitar consulta. Partir de esta idea: Cada término conserva definición, unidad y advertencia. Usar solo si aparece una duda terminológica.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Tabla nativa.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Tabla nativa.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10.19; PDF 289–290; glossary.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Conservar fundamento algebraico. Partir de esta idea: RMS y varianza coinciden solo bajo condición de media cero. No usar si la identidad no fue discutida.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Identidad RMS–varianza–media. Ecuación; tres términos; condición media cero; unidades. Orden de lectura: Tres callouts.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¿Por qué RMS y desvío estándar coinciden cuando la media es cero?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Porque p_rms² = σ_p² + p̄²; si p̄ = 0, sus cuadrados son iguales.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Identidad RMS–varianza–media. Ecuación; tres términos; condición media cero; unidades. Orden de lectura: Tres callouts.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10.4; PDF 266.</a:t>
            </a:r>
          </a:p>
          <a:p xmlns:a="http://schemas.openxmlformats.org/drawingml/2006/main">
            <a:r>
              <a:t>- Asset propio aprobado: U10-DG-056.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Conservar la demostración matemática. Partir de esta idea: La integral de K/f entre f y 2f vale K ln 2. Presentar solo con grupo cómodo con logaritmo natural.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Integral del rosa por octava. Intervalo f a 2f; integral; resultado K ln 2; dos bandas. Orden de lectura: Líderes cortos.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¿Por qué cada octava de ruido rosa contiene el mismo valor cuadrático?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Porque integrar K/f entre f y 2f da K ln 2, independiente de 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Integral del rosa por octava. Intervalo f a 2f; integral; resultado K ln 2; dos bandas. Orden de lectura: Líderes cortos.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ec. 10.8; PDF 269.</a:t>
            </a:r>
          </a:p>
          <a:p xmlns:a="http://schemas.openxmlformats.org/drawingml/2006/main">
            <a:r>
              <a:t>- Asset propio aprobado: U10-DG-057.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 min mientras permanezca bloqueada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Evitar generalizar el promedio de intervalos iguales. Partir de esta idea: Cada nivel debe ponderarse por su duración lineal. Verificar fórmula y ejemplo antes de producción. No presentar esta slide en clase ni completar sus campos hasta resolver la fuente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Recurso visual previsto: Ecuación anotada U10-DG-058; candidata para diagram-generation.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mostrar ni reproducir este recurso mientras continúe bloqueado por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Completar el ejemplo con valores o fórmulas antes de verificar la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Ecuación anotada U10-DG-058; candidata para diagram-generation.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Extensión de LaTeX 10.9; fuente académica/normativa por seleccionar. Estado: bloqueada; no completar sin la referencia requerida.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3–4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Ofrecer autocorrección. Partir de esta idea: La solución debe mostrar unidades, condiciones y límite de interpretación. No comprimir cinco cálculos en una sola slide final. Definir cada símbolo y su unidad antes de operar; leer la igualdad como una relación física, no como una receta.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Recurso visual previsto: Dos slides o revelado si no respeta 22 pt; U10-DG-059, candidata para diagram-generation.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Dos slides o revelado si no respeta 22 pt; U10-DG-059, candidata para diagram-generation.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soluciones G/A; PDF 285–288.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Conservar referencia rápida. Partir de esta idea: Cada descriptor necesita ponderación, detector e intervalo. Usar como consulta, no como slide de desarrollo.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Tabla nativa basada en capítulo.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no lineal.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Tabla nativa basada en capítulo.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LaTeX 10.9; PDF 272.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 min mientras permanezca bloqueada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Reservar una ampliación solicitada por programa si la cátedra la valida. Partir de esta idea: No se puede producir sin protocolo institucional y fuente completa. Mantener bloqueada; no completar de memoria. No presentar esta slide en clase ni completar sus campos hasta resolver la fuente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1. Enunciar la idea central antes de recorrer el esquema. 2. Leer los nodos en el orden marcado. 3. Explicar las relaciones sin repetir literalmente cada caja. 4. Cerrar volviendo a la pregunta de la slide. Referencia descriptiva: Recurso visual previsto: U10-DG-060, candidata para diagram-generation solo tras validación de fuente; no diseñar aún.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mostrar ni reproducir este recurso mientras continúe bloqueado por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Improvisar reglas de enmascaramiento clínico.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condicionado.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U10-DG-060, candidata para diagram-generation solo tras validación de fuente; no diseñar aún.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Fuente clínica institucional pendiente; matrix U10-08. Estado: bloqueada; no completar sin la referencia requerida.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0 min mientras permanezca bloqueada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Reservar cifras solo si son aplicables. Partir de esta idea: Norma, edición, jurisdicción, población y descriptor deben coincidir. Mantener bloqueada hasta decisión institucional. No presentar esta slide en clase ni completar sus campos hasta resolver la fuente indicada.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Gráfico o tabla cuantitativa y documentos U10-AS-008 por definir tras validar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No mostrar ni reproducir este recurso mientras continúe bloqueado por fuente.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Mostrar límites de exposición sin jurisdicción, versión y fuente vigentes.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Respaldo condicionado.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Gráfico o tabla cuantitativa y documentos U10-AS-008 por definir tras validar fuente. 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ISO/NIOSH/normativa argentina citada; fuente completa pendiente. Estado: bloqueada; no completar sin la referencia requerida.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**Duración aproximada:** 2–3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**Explicación extendida:** Registrar bases y límites. Partir de esta idea: Programa, libro, normas y guías cumplen funciones diferentes. Incluir bloques [Sources] en notas durante redacción.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**Guía del visual:** Usar el recurso como apoyo y no como decoración. Referencia descriptiva: Recurso visual previsto: Tabla de referencias; sin QR hasta verificar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**Pregunta a los alumnos:**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**Respuesta esperada:** 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**Demostración o multimedia:** Recorrer el visual en el orden indicado; no requiere reproducción multimedia.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**Error frecuente:** No convertir la clasificación o el descriptor presentado en una conclusión más amplia que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**Transición oral:** Fin del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[Alt text]</a:t>
            </a:r>
          </a:p>
          <a:p xmlns:a="http://schemas.openxmlformats.org/drawingml/2006/main">
            <a:r>
              <a:t>Recurso visual previsto: Tabla de referencias; sin QR hasta verificar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Fuentes de contenido: Programa; LaTeX 10.20; references.bib; style guides.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4e13ecc8f44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09e3833164e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82dfb89474b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d99eaeaf34e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ede53633042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2b306ecc04fb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33cc00dd8486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00d76404640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26a89452444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d95207ac242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f1735345141d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1abebd08a4b5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069b55afc4c7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d9193c65f460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c6280a011475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2a0e07ad2482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e466674264c2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0edf5bc7f442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8696e9a684f3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c8e378e194fb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ecbdc8906451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d6def47c0432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6ad4e2e384d4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f3517a03f452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6dc08da7ad43c2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9f1a7ae32045c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f1c5f8029f4adb" /></Relationships>
</file>

<file path=ppt/slideLayouts/slideLayout1.xml><?xml version="1.0" encoding="utf-8"?>
<p:sldLayout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Objetivos de aprendizaje</a:t>
            </a:r>
          </a:p>
        </p:txBody>
      </p:sp>
      <p:sp>
        <p:nvSpPr>
          <p:cNvPr id="3" name="ph_body_0">
            <a:extLst xmlns:a="http://schemas.openxmlformats.org/drawingml/2006/main"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00100" y="1733550"/>
            <a:ext cx="8001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9144000" y="1752600"/>
            <a:ext cx="2286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.xml><?xml version="1.0" encoding="utf-8"?>
<p:sldLayout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Apéndice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hf hdr="0" ftr="0" dt="0"/>
</p:sldLayout>
</file>

<file path=ppt/slideLayouts/slideLayout3.xml><?xml version="1.0" encoding="utf-8"?>
<p:sldLayout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562100"/>
            <a:ext cx="10668000" cy="421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Visual principal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4.xml><?xml version="1.0" encoding="utf-8"?>
<p:sldLayout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Bibliografía y recursos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10668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5.xml><?xml version="1.0" encoding="utf-8"?>
<p:sldLayout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7" name="ph_media_0">
            <a:extLst xmlns:a="http://schemas.openxmlformats.org/drawingml/2006/main"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xmlns:a="http://schemas.openxmlformats.org/drawingml/2006/main" noGrp="1"/>
          </p:cNvSpPr>
          <p:nvPr>
            <p:ph type="media" idx="11" hasCustomPrompt="1"/>
          </p:nvPr>
        </p:nvSpPr>
        <p:spPr>
          <a:xfrm xmlns:a="http://schemas.openxmlformats.org/drawingml/2006/main">
            <a:off x="762000" y="1657350"/>
            <a:ext cx="7239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Video, GIF o audio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82000" y="1657350"/>
            <a:ext cx="304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Tabla o datos</a:t>
            </a:r>
          </a:p>
        </p:txBody>
      </p:sp>
      <p:sp>
        <p:nvSpPr>
          <p:cNvPr id="7" name="ph_table_0">
            <a:extLst xmlns:a="http://schemas.openxmlformats.org/drawingml/2006/main"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xmlns:a="http://schemas.openxmlformats.org/drawingml/2006/main" noGrp="1"/>
          </p:cNvSpPr>
          <p:nvPr>
            <p:ph type="tbl" idx="11" hasCustomPrompt="1"/>
          </p:nvPr>
        </p:nvSpPr>
        <p:spPr>
          <a:xfrm xmlns:a="http://schemas.openxmlformats.org/drawingml/2006/main">
            <a:off x="762000" y="167640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Tabla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558165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Recapitulación final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695450"/>
            <a:ext cx="1066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8.xml><?xml version="1.0" encoding="utf-8"?>
<p:sldLayout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Resumen parcial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8580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8001000" y="1676400"/>
            <a:ext cx="34290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Error frecuente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952500" y="1809750"/>
            <a:ext cx="10287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143000" y="3905250"/>
            <a:ext cx="990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Mini ejercicio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6477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7620000" y="1695450"/>
            <a:ext cx="3810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1.xml><?xml version="1.0" encoding="utf-8"?>
<p:sldLayout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Pregunta al curso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333500" y="2000250"/>
            <a:ext cx="9525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524000" y="4457700"/>
            <a:ext cx="9144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2.xml><?xml version="1.0" encoding="utf-8"?>
<p:sldLayout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Aplicación a Fonoaudiología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5715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xmlns:a="http://schemas.openxmlformats.org/drawingml/2006/main" noGrp="1"/>
          </p:cNvSpPr>
          <p:nvPr>
            <p:ph idx="12" hasCustomPrompt="1"/>
          </p:nvPr>
        </p:nvSpPr>
        <p:spPr>
          <a:xfrm xmlns:a="http://schemas.openxmlformats.org/drawingml/2006/main">
            <a:off x="6858000" y="1714500"/>
            <a:ext cx="4572000" cy="342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3.xml><?xml version="1.0" encoding="utf-8"?>
<p:sldLayout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Proceso secuencial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924050"/>
            <a:ext cx="106680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14400" y="5219700"/>
            <a:ext cx="10363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4.xml><?xml version="1.0" encoding="utf-8"?>
<p:sldLayout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Comparación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95450"/>
            <a:ext cx="49530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5.xml><?xml version="1.0" encoding="utf-8"?>
<p:sldLayout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Ejemplo resuelto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57350"/>
            <a:ext cx="4000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143500" y="1657350"/>
            <a:ext cx="628650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6.xml><?xml version="1.0" encoding="utf-8"?>
<p:sldLayout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52600"/>
            <a:ext cx="10668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2000" y="3638550"/>
            <a:ext cx="10668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7.xml><?xml version="1.0" encoding="utf-8"?>
<p:sldLayout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Concepto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1143000" y="1981200"/>
            <a:ext cx="9906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33500" y="4686300"/>
            <a:ext cx="9525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8.xml><?xml version="1.0" encoding="utf-8"?>
<p:sldLayout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chart_0">
            <a:extLst xmlns:a="http://schemas.openxmlformats.org/drawingml/2006/main"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xmlns:a="http://schemas.openxmlformats.org/drawingml/2006/main" noGrp="1"/>
          </p:cNvSpPr>
          <p:nvPr>
            <p:ph type="chart" idx="11" hasCustomPrompt="1"/>
          </p:nvPr>
        </p:nvSpPr>
        <p:spPr>
          <a:xfrm xmlns:a="http://schemas.openxmlformats.org/drawingml/2006/main">
            <a:off x="762000" y="1676400"/>
            <a:ext cx="68580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Gráfico editable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039100" y="1676400"/>
            <a:ext cx="339090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hf hdr="0" ftr="0" dt="0"/>
</p:sldLayout>
</file>

<file path=ppt/slideLayouts/slideLayout19.xml><?xml version="1.0" encoding="utf-8"?>
<p:sldLayout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6764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0.xml><?xml version="1.0" encoding="utf-8"?>
<p:sldLayout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8" name="ph_body_0">
            <a:extLst xmlns:a="http://schemas.openxmlformats.org/drawingml/2006/main"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23875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1.xml><?xml version="1.0" encoding="utf-8"?>
<p:sldLayout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76400"/>
            <a:ext cx="6191250" cy="3905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 xmlns:a="http://schemas.openxmlformats.org/drawingml/2006/main"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334250" y="1676400"/>
            <a:ext cx="4095750" cy="3371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r>
              <a:t>Imagen o diagrama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2.xml><?xml version="1.0" encoding="utf-8"?>
<p:sldLayout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informativo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695450"/>
            <a:ext cx="10668000" cy="411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3.xml><?xml version="1.0" encoding="utf-8"?>
<p:sldLayout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Mapa de la clase</a:t>
            </a:r>
          </a:p>
        </p:txBody>
      </p:sp>
      <p:sp>
        <p:nvSpPr>
          <p:cNvPr id="7" name="ph_content_0">
            <a:extLst xmlns:a="http://schemas.openxmlformats.org/drawingml/2006/main"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762000" y="1790700"/>
            <a:ext cx="10668000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4.xml><?xml version="1.0" encoding="utf-8"?>
<p:sldLayout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h_title_0">
            <a:extLst xmlns:a="http://schemas.openxmlformats.org/drawingml/2006/main"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609600" y="695325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Conocimientos previos</a:t>
            </a:r>
          </a:p>
        </p:txBody>
      </p:sp>
      <p:sp>
        <p:nvSpPr>
          <p:cNvPr id="7" name="ph_body_0">
            <a:extLst xmlns:a="http://schemas.openxmlformats.org/drawingml/2006/main"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 xmlns:a="http://schemas.openxmlformats.org/drawingml/2006/main"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77000" y="1714500"/>
            <a:ext cx="4953000" cy="409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5.xml><?xml version="1.0" encoding="utf-8"?>
<p:sldLayout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h_title_0">
            <a:extLst xmlns:a="http://schemas.openxmlformats.org/drawingml/2006/main"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1543049"/>
            <a:ext cx="8572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 la unidad</a:t>
            </a:r>
          </a:p>
        </p:txBody>
      </p:sp>
      <p:sp>
        <p:nvSpPr>
          <p:cNvPr id="8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143250"/>
            <a:ext cx="723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Subtítulo o alcance</a:t>
            </a:r>
          </a:p>
        </p:txBody>
      </p:sp>
      <p:sp>
        <p:nvSpPr>
          <p:cNvPr id="9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6.xml><?xml version="1.0" encoding="utf-8"?>
<p:sldLayout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19300"/>
            <a:ext cx="8953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Cierre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314700"/>
            <a:ext cx="8191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Puente hacia la próxima clase</a:t>
            </a:r>
            <a:endParaRPr/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hf hdr="0" ftr="0" dt="0"/>
</p:sldLayout>
</file>

<file path=ppt/slideLayouts/slideLayout27.xml><?xml version="1.0" encoding="utf-8"?>
<p:sldLayout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h_title_0">
            <a:extLst xmlns:a="http://schemas.openxmlformats.org/drawingml/2006/main"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xmlns:a="http://schemas.openxmlformats.org/drawingml/2006/main" noGrp="1"/>
          </p:cNvSpPr>
          <p:nvPr>
            <p:ph type="title" idx="10" hasCustomPrompt="1"/>
          </p:nvPr>
        </p:nvSpPr>
        <p:spPr>
          <a:xfrm xmlns:a="http://schemas.openxmlformats.org/drawingml/2006/main">
            <a:off x="800100" y="2095500"/>
            <a:ext cx="9334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r>
              <a:t>Título del bloque</a:t>
            </a:r>
          </a:p>
        </p:txBody>
      </p:sp>
      <p:sp>
        <p:nvSpPr>
          <p:cNvPr id="3" name="ph_subtitle_0">
            <a:extLst xmlns:a="http://schemas.openxmlformats.org/drawingml/2006/main"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xmlns:a="http://schemas.openxmlformats.org/drawingml/2006/main" noGrp="1"/>
          </p:cNvSpPr>
          <p:nvPr>
            <p:ph type="subTitle" idx="11" hasCustomPrompt="1"/>
          </p:nvPr>
        </p:nvSpPr>
        <p:spPr>
          <a:xfrm xmlns:a="http://schemas.openxmlformats.org/drawingml/2006/main">
            <a:off x="838200" y="3295650"/>
            <a:ext cx="781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Pregunta guía o propósito</a:t>
            </a:r>
          </a:p>
        </p:txBody>
      </p:sp>
      <p:sp>
        <p:nvSpPr>
          <p:cNvPr id="4" name="fa_slide_number">
            <a:extLst xmlns:a="http://schemas.openxmlformats.org/drawingml/2006/main"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20450" y="6448425"/>
            <a:ext cx="36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hf hdr="0" ftr="0" dt="0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cd21ace38d04028" /><Relationship Type="http://schemas.openxmlformats.org/officeDocument/2006/relationships/theme" Target="/ppt/slideMasters/theme/theme2.xml" Id="R6f0b12f6266c4dd6" /><Relationship Type="http://schemas.openxmlformats.org/officeDocument/2006/relationships/slideLayout" Target="/ppt/slideLayouts/slideLayout1.xml" Id="R2171b1e11d3d4619" /><Relationship Type="http://schemas.openxmlformats.org/officeDocument/2006/relationships/slideLayout" Target="/ppt/slideLayouts/slideLayout2.xml" Id="Reb561fbfcf9243cf" /><Relationship Type="http://schemas.openxmlformats.org/officeDocument/2006/relationships/slideLayout" Target="/ppt/slideLayouts/slideLayout3.xml" Id="R2cfe7098056b4cf0" /><Relationship Type="http://schemas.openxmlformats.org/officeDocument/2006/relationships/slideLayout" Target="/ppt/slideLayouts/slideLayout4.xml" Id="R7d0d8da89d344e30" /><Relationship Type="http://schemas.openxmlformats.org/officeDocument/2006/relationships/slideLayout" Target="/ppt/slideLayouts/slideLayout5.xml" Id="Rbd9fbbe0ceec4b2a" /><Relationship Type="http://schemas.openxmlformats.org/officeDocument/2006/relationships/slideLayout" Target="/ppt/slideLayouts/slideLayout6.xml" Id="R8b0b752914c04dd1" /><Relationship Type="http://schemas.openxmlformats.org/officeDocument/2006/relationships/slideLayout" Target="/ppt/slideLayouts/slideLayout7.xml" Id="R27aa4b234e944888" /><Relationship Type="http://schemas.openxmlformats.org/officeDocument/2006/relationships/slideLayout" Target="/ppt/slideLayouts/slideLayout8.xml" Id="Ra9a826bfaaad4973" /><Relationship Type="http://schemas.openxmlformats.org/officeDocument/2006/relationships/slideLayout" Target="/ppt/slideLayouts/slideLayout9.xml" Id="Rfc70b77ad57743c6" /><Relationship Type="http://schemas.openxmlformats.org/officeDocument/2006/relationships/slideLayout" Target="/ppt/slideLayouts/slideLayout10.xml" Id="R83df428fbda3418b" /><Relationship Type="http://schemas.openxmlformats.org/officeDocument/2006/relationships/slideLayout" Target="/ppt/slideLayouts/slideLayout11.xml" Id="R70013a6b5fe24d77" /><Relationship Type="http://schemas.openxmlformats.org/officeDocument/2006/relationships/slideLayout" Target="/ppt/slideLayouts/slideLayout12.xml" Id="R38ef4e840036488d" /><Relationship Type="http://schemas.openxmlformats.org/officeDocument/2006/relationships/slideLayout" Target="/ppt/slideLayouts/slideLayout13.xml" Id="Ra75c1f2c384b4fa1" /><Relationship Type="http://schemas.openxmlformats.org/officeDocument/2006/relationships/slideLayout" Target="/ppt/slideLayouts/slideLayout14.xml" Id="R5b47860d37fd4b9b" /><Relationship Type="http://schemas.openxmlformats.org/officeDocument/2006/relationships/slideLayout" Target="/ppt/slideLayouts/slideLayout15.xml" Id="R606fb0ae73644eb3" /><Relationship Type="http://schemas.openxmlformats.org/officeDocument/2006/relationships/slideLayout" Target="/ppt/slideLayouts/slideLayout16.xml" Id="R618f009a33c64387" /><Relationship Type="http://schemas.openxmlformats.org/officeDocument/2006/relationships/slideLayout" Target="/ppt/slideLayouts/slideLayout17.xml" Id="R4945c227c9c94341" /><Relationship Type="http://schemas.openxmlformats.org/officeDocument/2006/relationships/slideLayout" Target="/ppt/slideLayouts/slideLayout18.xml" Id="Rf250ca11025f463a" /><Relationship Type="http://schemas.openxmlformats.org/officeDocument/2006/relationships/slideLayout" Target="/ppt/slideLayouts/slideLayout19.xml" Id="R2573775bdcb3486a" /><Relationship Type="http://schemas.openxmlformats.org/officeDocument/2006/relationships/slideLayout" Target="/ppt/slideLayouts/slideLayout20.xml" Id="R0cb95ff84a3e4881" /><Relationship Type="http://schemas.openxmlformats.org/officeDocument/2006/relationships/slideLayout" Target="/ppt/slideLayouts/slideLayout21.xml" Id="Rb8279180adc548ac" /><Relationship Type="http://schemas.openxmlformats.org/officeDocument/2006/relationships/slideLayout" Target="/ppt/slideLayouts/slideLayout22.xml" Id="R470e779ab41d449f" /><Relationship Type="http://schemas.openxmlformats.org/officeDocument/2006/relationships/slideLayout" Target="/ppt/slideLayouts/slideLayout23.xml" Id="R99cea7a060c749b3" /><Relationship Type="http://schemas.openxmlformats.org/officeDocument/2006/relationships/slideLayout" Target="/ppt/slideLayouts/slideLayout24.xml" Id="Rfd4ad7dc2965434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5c26c9a4f4604753" /><Relationship Type="http://schemas.openxmlformats.org/officeDocument/2006/relationships/theme" Target="/ppt/slideMasters/theme/theme3.xml" Id="R18e2db084e8e4de8" /><Relationship Type="http://schemas.openxmlformats.org/officeDocument/2006/relationships/slideLayout" Target="/ppt/slideLayouts/slideLayout25.xml" Id="Rccee1261180443ae" /><Relationship Type="http://schemas.openxmlformats.org/officeDocument/2006/relationships/slideLayout" Target="/ppt/slideLayouts/slideLayout26.xml" Id="Rf9621c23c60a4f3b" /><Relationship Type="http://schemas.openxmlformats.org/officeDocument/2006/relationships/slideLayout" Target="/ppt/slideLayouts/slideLayout27.xml" Id="Rbd236a536b6b4edc" /></Relationships>
</file>

<file path=ppt/slideMasters/slideMaster1.xml><?xml version="1.0" encoding="utf-8"?>
<p:sldMaster xmlns:p="http://schemas.openxmlformats.org/presentationml/2006/main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ule_maroon">
            <a:extLst xmlns:a="http://schemas.openxmlformats.org/drawingml/2006/main"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ule_berry">
            <a:extLst xmlns:a="http://schemas.openxmlformats.org/drawingml/2006/main"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ule_gray">
            <a:extLst xmlns:a="http://schemas.openxmlformats.org/drawingml/2006/main"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0"/>
          </a:solidFill>
          <a:ln xmlns:a="http://schemas.openxmlformats.org/drawingml/2006/main" w="1905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21ace38d04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429375"/>
            <a:ext cx="10287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footer_course_light">
            <a:extLst xmlns:a="http://schemas.openxmlformats.org/drawingml/2006/main"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667079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71b1e11d3d4619"/>
    <p:sldLayoutId xmlns:r="http://schemas.openxmlformats.org/officeDocument/2006/relationships" id="2147483650" r:id="Reb561fbfcf9243cf"/>
    <p:sldLayoutId xmlns:r="http://schemas.openxmlformats.org/officeDocument/2006/relationships" id="2147483651" r:id="R2cfe7098056b4cf0"/>
    <p:sldLayoutId xmlns:r="http://schemas.openxmlformats.org/officeDocument/2006/relationships" id="2147483652" r:id="R7d0d8da89d344e30"/>
    <p:sldLayoutId xmlns:r="http://schemas.openxmlformats.org/officeDocument/2006/relationships" id="2147483653" r:id="Rbd9fbbe0ceec4b2a"/>
    <p:sldLayoutId xmlns:r="http://schemas.openxmlformats.org/officeDocument/2006/relationships" id="2147483654" r:id="R8b0b752914c04dd1"/>
    <p:sldLayoutId xmlns:r="http://schemas.openxmlformats.org/officeDocument/2006/relationships" id="2147483655" r:id="R27aa4b234e944888"/>
    <p:sldLayoutId xmlns:r="http://schemas.openxmlformats.org/officeDocument/2006/relationships" id="2147483656" r:id="Ra9a826bfaaad4973"/>
    <p:sldLayoutId xmlns:r="http://schemas.openxmlformats.org/officeDocument/2006/relationships" id="2147483657" r:id="Rfc70b77ad57743c6"/>
    <p:sldLayoutId xmlns:r="http://schemas.openxmlformats.org/officeDocument/2006/relationships" id="2147483658" r:id="R83df428fbda3418b"/>
    <p:sldLayoutId xmlns:r="http://schemas.openxmlformats.org/officeDocument/2006/relationships" id="2147483659" r:id="R70013a6b5fe24d77"/>
    <p:sldLayoutId xmlns:r="http://schemas.openxmlformats.org/officeDocument/2006/relationships" id="2147483660" r:id="R38ef4e840036488d"/>
    <p:sldLayoutId xmlns:r="http://schemas.openxmlformats.org/officeDocument/2006/relationships" id="2147483661" r:id="Ra75c1f2c384b4fa1"/>
    <p:sldLayoutId xmlns:r="http://schemas.openxmlformats.org/officeDocument/2006/relationships" id="2147483662" r:id="R5b47860d37fd4b9b"/>
    <p:sldLayoutId xmlns:r="http://schemas.openxmlformats.org/officeDocument/2006/relationships" id="2147483663" r:id="R606fb0ae73644eb3"/>
    <p:sldLayoutId xmlns:r="http://schemas.openxmlformats.org/officeDocument/2006/relationships" id="2147483664" r:id="R618f009a33c64387"/>
    <p:sldLayoutId xmlns:r="http://schemas.openxmlformats.org/officeDocument/2006/relationships" id="2147483665" r:id="R4945c227c9c94341"/>
    <p:sldLayoutId xmlns:r="http://schemas.openxmlformats.org/officeDocument/2006/relationships" id="2147483666" r:id="Rf250ca11025f463a"/>
    <p:sldLayoutId xmlns:r="http://schemas.openxmlformats.org/officeDocument/2006/relationships" id="2147483667" r:id="R2573775bdcb3486a"/>
    <p:sldLayoutId xmlns:r="http://schemas.openxmlformats.org/officeDocument/2006/relationships" id="2147483668" r:id="R0cb95ff84a3e4881"/>
    <p:sldLayoutId xmlns:r="http://schemas.openxmlformats.org/officeDocument/2006/relationships" id="2147483669" r:id="Rb8279180adc548ac"/>
    <p:sldLayoutId xmlns:r="http://schemas.openxmlformats.org/officeDocument/2006/relationships" id="2147483670" r:id="R470e779ab41d449f"/>
    <p:sldLayoutId xmlns:r="http://schemas.openxmlformats.org/officeDocument/2006/relationships" id="2147483671" r:id="R99cea7a060c749b3"/>
    <p:sldLayoutId xmlns:r="http://schemas.openxmlformats.org/officeDocument/2006/relationships" id="2147483672" r:id="Rfd4ad7dc2965434d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ule_berry">
            <a:extLst xmlns:a="http://schemas.openxmlformats.org/drawingml/2006/main"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ule_white">
            <a:extLst xmlns:a="http://schemas.openxmlformats.org/drawingml/2006/main"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ule_gray">
            <a:extLst xmlns:a="http://schemas.openxmlformats.org/drawingml/2006/main"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"/>
            <a:ext cx="3467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footer_rule">
            <a:extLst xmlns:a="http://schemas.openxmlformats.org/drawingml/2006/main"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logo_backing">
            <a:extLst xmlns:a="http://schemas.openxmlformats.org/drawingml/2006/main"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6c9a4f460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6467475"/>
            <a:ext cx="990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footer_course_dark">
            <a:extLst xmlns:a="http://schemas.openxmlformats.org/drawingml/2006/main"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467475"/>
            <a:ext cx="4953000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  <a:endParaRPr sz="105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ccee1261180443ae"/>
    <p:sldLayoutId xmlns:r="http://schemas.openxmlformats.org/officeDocument/2006/relationships" id="2147483675" r:id="Rf9621c23c60a4f3b"/>
    <p:sldLayoutId xmlns:r="http://schemas.openxmlformats.org/officeDocument/2006/relationships" id="2147483676" r:id="Rbd236a536b6b4ed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5.xml" Id="R2e2b81ab199d4edf" /><Relationship Type="http://schemas.openxmlformats.org/officeDocument/2006/relationships/notesSlide" Target="/ppt/notesSlides/notesSlide1.xml" Id="R45e75050430b49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646e704f3640da" /><Relationship Type="http://schemas.openxmlformats.org/officeDocument/2006/relationships/notesSlide" Target="/ppt/notesSlides/notesSlide2.xml" Id="R708155571a0145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3b9a2bc4843cd" /><Relationship Type="http://schemas.openxmlformats.org/officeDocument/2006/relationships/notesSlide" Target="/ppt/notesSlides/notesSlide3.xml" Id="Rcd990971cad041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7051cf2bd9d455b" /><Relationship Type="http://schemas.openxmlformats.org/officeDocument/2006/relationships/notesSlide" Target="/ppt/notesSlides/notesSlide4.xml" Id="R3e41a514950f41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d9fa094d59254199" /><Relationship Type="http://schemas.openxmlformats.org/officeDocument/2006/relationships/notesSlide" Target="/ppt/notesSlides/notesSlide5.xml" Id="Rcd8ceeaa0b1a46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7b5920e885814b43" /><Relationship Type="http://schemas.openxmlformats.org/officeDocument/2006/relationships/notesSlide" Target="/ppt/notesSlides/notesSlide6.xml" Id="Rcb40cf51df6a49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49cdfc81f0648a6" /><Relationship Type="http://schemas.openxmlformats.org/officeDocument/2006/relationships/notesSlide" Target="/ppt/notesSlides/notesSlide7.xml" Id="Reb872fbfe9cd47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f26eec87a0c45e4" /><Relationship Type="http://schemas.openxmlformats.org/officeDocument/2006/relationships/notesSlide" Target="/ppt/notesSlides/notesSlide8.xml" Id="Ra8fb4048c51e4c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2a526539589d4591" /><Relationship Type="http://schemas.openxmlformats.org/officeDocument/2006/relationships/notesSlide" Target="/ppt/notesSlides/notesSlide9.xml" Id="R678358bdbd1047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c39aa5f50464822" /><Relationship Type="http://schemas.openxmlformats.org/officeDocument/2006/relationships/notesSlide" Target="/ppt/notesSlides/notesSlide10.xml" Id="R64ec192b21e645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e5c84a3c3c74108" /><Relationship Type="http://schemas.openxmlformats.org/officeDocument/2006/relationships/image" Target="/ppt/media/image2.png" Id="R35bf45d9920e4d0c" /><Relationship Type="http://schemas.openxmlformats.org/officeDocument/2006/relationships/image" Target="/ppt/media/image.svg" Id="R7f70c24bc36145be" /><Relationship Type="http://schemas.openxmlformats.org/officeDocument/2006/relationships/notesSlide" Target="/ppt/notesSlides/notesSlide11.xml" Id="R45d6cd2916e047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ee0350ab06d4e1a" /><Relationship Type="http://schemas.openxmlformats.org/officeDocument/2006/relationships/image" Target="/ppt/media/image3.png" Id="R0d51f0dc98de49df" /><Relationship Type="http://schemas.openxmlformats.org/officeDocument/2006/relationships/image" Target="/ppt/media/image2.svg" Id="R7df821681d58425a" /><Relationship Type="http://schemas.openxmlformats.org/officeDocument/2006/relationships/notesSlide" Target="/ppt/notesSlides/notesSlide12.xml" Id="R0aafadec4d5a40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ff589678682431b" /><Relationship Type="http://schemas.openxmlformats.org/officeDocument/2006/relationships/notesSlide" Target="/ppt/notesSlides/notesSlide13.xml" Id="R54ebaea6b09140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377cc487f27e42d2" /><Relationship Type="http://schemas.openxmlformats.org/officeDocument/2006/relationships/notesSlide" Target="/ppt/notesSlides/notesSlide14.xml" Id="Rae2fa15a113644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1c5b4085aee4fb3" /><Relationship Type="http://schemas.openxmlformats.org/officeDocument/2006/relationships/image" Target="/ppt/media/image4.png" Id="R78c8af5a9e5949bc" /><Relationship Type="http://schemas.openxmlformats.org/officeDocument/2006/relationships/image" Target="/ppt/media/image3.svg" Id="R9a8050a1d8c64c00" /><Relationship Type="http://schemas.openxmlformats.org/officeDocument/2006/relationships/notesSlide" Target="/ppt/notesSlides/notesSlide15.xml" Id="Rec7cb3775ba74c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e18b5b39fc94715" /><Relationship Type="http://schemas.openxmlformats.org/officeDocument/2006/relationships/image" Target="/ppt/media/image5.png" Id="R52cd7accf1db4970" /><Relationship Type="http://schemas.openxmlformats.org/officeDocument/2006/relationships/image" Target="/ppt/media/image4.svg" Id="R0089b4b34d1f439d" /><Relationship Type="http://schemas.openxmlformats.org/officeDocument/2006/relationships/notesSlide" Target="/ppt/notesSlides/notesSlide16.xml" Id="R5e52276b12294f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995e58171c4f6d" /><Relationship Type="http://schemas.openxmlformats.org/officeDocument/2006/relationships/image" Target="/ppt/media/image6.png" Id="Rff53b377246741cf" /><Relationship Type="http://schemas.openxmlformats.org/officeDocument/2006/relationships/image" Target="/ppt/media/image5.svg" Id="Rb8008049bb8e4ab8" /><Relationship Type="http://schemas.openxmlformats.org/officeDocument/2006/relationships/notesSlide" Target="/ppt/notesSlides/notesSlide17.xml" Id="R6d2ffdfa3db84b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a98408a6c334b6f" /><Relationship Type="http://schemas.openxmlformats.org/officeDocument/2006/relationships/notesSlide" Target="/ppt/notesSlides/notesSlide18.xml" Id="Rdd5f5f0706c74b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ffcfa1fd1f6457f" /><Relationship Type="http://schemas.openxmlformats.org/officeDocument/2006/relationships/notesSlide" Target="/ppt/notesSlides/notesSlide19.xml" Id="R02ba93bf1ea347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f75af937c4e4551" /><Relationship Type="http://schemas.openxmlformats.org/officeDocument/2006/relationships/notesSlide" Target="/ppt/notesSlides/notesSlide20.xml" Id="R7874fbf872554f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b901765d3c94498" /><Relationship Type="http://schemas.openxmlformats.org/officeDocument/2006/relationships/notesSlide" Target="/ppt/notesSlides/notesSlide21.xml" Id="Rc661a6f2866247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cbcc98989ca4af9" /><Relationship Type="http://schemas.openxmlformats.org/officeDocument/2006/relationships/notesSlide" Target="/ppt/notesSlides/notesSlide22.xml" Id="R3373b5cde79149a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75b4af4570ec4575" /><Relationship Type="http://schemas.openxmlformats.org/officeDocument/2006/relationships/notesSlide" Target="/ppt/notesSlides/notesSlide23.xml" Id="R5acb522aff4d444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0fc08269f4344a9" /><Relationship Type="http://schemas.openxmlformats.org/officeDocument/2006/relationships/image" Target="/ppt/media/image7.png" Id="R781032d1e7cb4cf3" /><Relationship Type="http://schemas.openxmlformats.org/officeDocument/2006/relationships/image" Target="/ppt/media/image6.svg" Id="R617a89ccf2ec448a" /><Relationship Type="http://schemas.openxmlformats.org/officeDocument/2006/relationships/notesSlide" Target="/ppt/notesSlides/notesSlide24.xml" Id="R2375918dbecc4b7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cd1a9b27932444b" /><Relationship Type="http://schemas.openxmlformats.org/officeDocument/2006/relationships/notesSlide" Target="/ppt/notesSlides/notesSlide25.xml" Id="R63f2b0d42b65476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670f9b7877294bec" /><Relationship Type="http://schemas.openxmlformats.org/officeDocument/2006/relationships/notesSlide" Target="/ppt/notesSlides/notesSlide26.xml" Id="R05f9615b0d7a417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971c227ff0f4a6f" /><Relationship Type="http://schemas.openxmlformats.org/officeDocument/2006/relationships/image" Target="/ppt/media/image8.png" Id="Ra910f4fa348f47c8" /><Relationship Type="http://schemas.openxmlformats.org/officeDocument/2006/relationships/image" Target="/ppt/media/image7.svg" Id="Rd5396636350e423b" /><Relationship Type="http://schemas.openxmlformats.org/officeDocument/2006/relationships/notesSlide" Target="/ppt/notesSlides/notesSlide27.xml" Id="R4099ea2f65f4479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a5692601eb88423a" /><Relationship Type="http://schemas.openxmlformats.org/officeDocument/2006/relationships/notesSlide" Target="/ppt/notesSlides/notesSlide28.xml" Id="R77d630442b7b499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75f7568e60d449c" /><Relationship Type="http://schemas.openxmlformats.org/officeDocument/2006/relationships/notesSlide" Target="/ppt/notesSlides/notesSlide29.xml" Id="R32afc420c643452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ca79917585345ec" /><Relationship Type="http://schemas.openxmlformats.org/officeDocument/2006/relationships/notesSlide" Target="/ppt/notesSlides/notesSlide30.xml" Id="R700dec5bf55f4c7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4345fdc17414181" /><Relationship Type="http://schemas.openxmlformats.org/officeDocument/2006/relationships/image" Target="/ppt/media/image9.png" Id="R903db56924094b4e" /><Relationship Type="http://schemas.openxmlformats.org/officeDocument/2006/relationships/image" Target="/ppt/media/image8.svg" Id="R2f161141c6ee4ae3" /><Relationship Type="http://schemas.openxmlformats.org/officeDocument/2006/relationships/notesSlide" Target="/ppt/notesSlides/notesSlide31.xml" Id="R6cd3fc9e1e5144f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94b4d51f4004b2e" /><Relationship Type="http://schemas.openxmlformats.org/officeDocument/2006/relationships/image" Target="/ppt/media/image10.png" Id="R2ef649142fe14a48" /><Relationship Type="http://schemas.openxmlformats.org/officeDocument/2006/relationships/image" Target="/ppt/media/image9.svg" Id="Ra721281710224b66" /><Relationship Type="http://schemas.openxmlformats.org/officeDocument/2006/relationships/notesSlide" Target="/ppt/notesSlides/notesSlide32.xml" Id="R32bda7a45f8445a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b385e7775404dd5" /><Relationship Type="http://schemas.openxmlformats.org/officeDocument/2006/relationships/image" Target="/ppt/media/image11.png" Id="R1b0bb34c2b6c4c39" /><Relationship Type="http://schemas.openxmlformats.org/officeDocument/2006/relationships/image" Target="/ppt/media/image10.svg" Id="Rc989a0bda659436c" /><Relationship Type="http://schemas.openxmlformats.org/officeDocument/2006/relationships/notesSlide" Target="/ppt/notesSlides/notesSlide33.xml" Id="R6c9a60772e09489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605f44b056433f" /><Relationship Type="http://schemas.openxmlformats.org/officeDocument/2006/relationships/image" Target="/ppt/media/image12.png" Id="Rd5fef2c0232e41c8" /><Relationship Type="http://schemas.openxmlformats.org/officeDocument/2006/relationships/image" Target="/ppt/media/image11.svg" Id="Rd51874a9bcf74e37" /><Relationship Type="http://schemas.openxmlformats.org/officeDocument/2006/relationships/notesSlide" Target="/ppt/notesSlides/notesSlide34.xml" Id="Ref793177d5b340d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fefb9dbedf943e2" /><Relationship Type="http://schemas.openxmlformats.org/officeDocument/2006/relationships/image" Target="/ppt/media/image13.png" Id="R425a82d667b640b9" /><Relationship Type="http://schemas.openxmlformats.org/officeDocument/2006/relationships/image" Target="/ppt/media/image12.svg" Id="R83ada16d17fd4143" /><Relationship Type="http://schemas.openxmlformats.org/officeDocument/2006/relationships/notesSlide" Target="/ppt/notesSlides/notesSlide35.xml" Id="R0dbc5288de3d4ba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53b7fc68c714613" /><Relationship Type="http://schemas.openxmlformats.org/officeDocument/2006/relationships/notesSlide" Target="/ppt/notesSlides/notesSlide36.xml" Id="R84b43d69a4214fb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1f01291c21a14427" /><Relationship Type="http://schemas.openxmlformats.org/officeDocument/2006/relationships/notesSlide" Target="/ppt/notesSlides/notesSlide37.xml" Id="Rf50253d04798474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59b50b3b3154994" /><Relationship Type="http://schemas.openxmlformats.org/officeDocument/2006/relationships/notesSlide" Target="/ppt/notesSlides/notesSlide38.xml" Id="Rd7e126ba7f2940f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31290eef412439e" /><Relationship Type="http://schemas.openxmlformats.org/officeDocument/2006/relationships/notesSlide" Target="/ppt/notesSlides/notesSlide39.xml" Id="Rff4908272196490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9c57ae1cbb24218" /><Relationship Type="http://schemas.openxmlformats.org/officeDocument/2006/relationships/notesSlide" Target="/ppt/notesSlides/notesSlide40.xml" Id="R9d23a8acbb38423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a05e6069fa074522" /><Relationship Type="http://schemas.openxmlformats.org/officeDocument/2006/relationships/notesSlide" Target="/ppt/notesSlides/notesSlide41.xml" Id="Rce11924caeb94ed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d282bc2a3d480c" /><Relationship Type="http://schemas.openxmlformats.org/officeDocument/2006/relationships/notesSlide" Target="/ppt/notesSlides/notesSlide42.xml" Id="R7d2a7ea9704e472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0962f7e637c4c9c" /><Relationship Type="http://schemas.openxmlformats.org/officeDocument/2006/relationships/notesSlide" Target="/ppt/notesSlides/notesSlide43.xml" Id="Rc4d55751a86e437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59d040e635f48f7" /><Relationship Type="http://schemas.openxmlformats.org/officeDocument/2006/relationships/notesSlide" Target="/ppt/notesSlides/notesSlide44.xml" Id="R925f756d7822449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b8fdeb991cf34815" /><Relationship Type="http://schemas.openxmlformats.org/officeDocument/2006/relationships/notesSlide" Target="/ppt/notesSlides/notesSlide45.xml" Id="R53b7c82d042f463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04e48ff4cbb40a9" /><Relationship Type="http://schemas.openxmlformats.org/officeDocument/2006/relationships/notesSlide" Target="/ppt/notesSlides/notesSlide46.xml" Id="Rdb2366ff570a4b8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ea472e247ea467f" /><Relationship Type="http://schemas.openxmlformats.org/officeDocument/2006/relationships/image" Target="/ppt/media/image14.png" Id="R4a582040325541b4" /><Relationship Type="http://schemas.openxmlformats.org/officeDocument/2006/relationships/image" Target="/ppt/media/image13.svg" Id="R2fff6b7158b14420" /><Relationship Type="http://schemas.openxmlformats.org/officeDocument/2006/relationships/notesSlide" Target="/ppt/notesSlides/notesSlide47.xml" Id="R42ea6145cb7d471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822f4f8b55549c5" /><Relationship Type="http://schemas.openxmlformats.org/officeDocument/2006/relationships/notesSlide" Target="/ppt/notesSlides/notesSlide48.xml" Id="R1fa5cb1386f4436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4e8a2dc5cf244129" /><Relationship Type="http://schemas.openxmlformats.org/officeDocument/2006/relationships/notesSlide" Target="/ppt/notesSlides/notesSlide49.xml" Id="Rd18393aa83094eb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42fe9713150d4a8f" /><Relationship Type="http://schemas.openxmlformats.org/officeDocument/2006/relationships/notesSlide" Target="/ppt/notesSlides/notesSlide50.xml" Id="R74b7106db54a445e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4fd9b56684847b6" /><Relationship Type="http://schemas.openxmlformats.org/officeDocument/2006/relationships/image" Target="/ppt/media/image15.png" Id="Re5d656c37e894b6a" /><Relationship Type="http://schemas.openxmlformats.org/officeDocument/2006/relationships/image" Target="/ppt/media/image14.svg" Id="R5f73550aa6524ee9" /><Relationship Type="http://schemas.openxmlformats.org/officeDocument/2006/relationships/notesSlide" Target="/ppt/notesSlides/notesSlide51.xml" Id="Rd6e3a1da93e6492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3215700482c46b5" /><Relationship Type="http://schemas.openxmlformats.org/officeDocument/2006/relationships/notesSlide" Target="/ppt/notesSlides/notesSlide52.xml" Id="Rb14533f70a844ee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05fad30f63f4938" /><Relationship Type="http://schemas.openxmlformats.org/officeDocument/2006/relationships/notesSlide" Target="/ppt/notesSlides/notesSlide53.xml" Id="Rf46bd71d8b284bf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595124f55a49b9" /><Relationship Type="http://schemas.openxmlformats.org/officeDocument/2006/relationships/image" Target="/ppt/media/image16.png" Id="Rb25e551ed7174bcf" /><Relationship Type="http://schemas.openxmlformats.org/officeDocument/2006/relationships/image" Target="/ppt/media/image15.svg" Id="Rcf068520b4ee48ab" /><Relationship Type="http://schemas.openxmlformats.org/officeDocument/2006/relationships/notesSlide" Target="/ppt/notesSlides/notesSlide54.xml" Id="Rfadfd44d72404c1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e41ddee95f948d5" /><Relationship Type="http://schemas.openxmlformats.org/officeDocument/2006/relationships/notesSlide" Target="/ppt/notesSlides/notesSlide55.xml" Id="R5410e7b812f647a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d5d3304b4b54c51" /><Relationship Type="http://schemas.openxmlformats.org/officeDocument/2006/relationships/notesSlide" Target="/ppt/notesSlides/notesSlide56.xml" Id="Rfb2cad03a7cb444b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2ceb9f54f2894d0b" /><Relationship Type="http://schemas.openxmlformats.org/officeDocument/2006/relationships/notesSlide" Target="/ppt/notesSlides/notesSlide57.xml" Id="R4cbd30735b00495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7d51f83662e417c" /><Relationship Type="http://schemas.openxmlformats.org/officeDocument/2006/relationships/notesSlide" Target="/ppt/notesSlides/notesSlide58.xml" Id="R859ab52a328f4d3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ae802baf37f414b" /><Relationship Type="http://schemas.openxmlformats.org/officeDocument/2006/relationships/notesSlide" Target="/ppt/notesSlides/notesSlide59.xml" Id="Rba9f8111550549a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6190a423ee4c2a" /><Relationship Type="http://schemas.openxmlformats.org/officeDocument/2006/relationships/notesSlide" Target="/ppt/notesSlides/notesSlide60.xml" Id="R6eddde70f639474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fbefb47b2e34069" /><Relationship Type="http://schemas.openxmlformats.org/officeDocument/2006/relationships/notesSlide" Target="/ppt/notesSlides/notesSlide61.xml" Id="R94d7f27540594d09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3f29fe53dc0478c" /><Relationship Type="http://schemas.openxmlformats.org/officeDocument/2006/relationships/notesSlide" Target="/ppt/notesSlides/notesSlide62.xml" Id="R788feea104d4405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7af70bcf5734ccb" /><Relationship Type="http://schemas.openxmlformats.org/officeDocument/2006/relationships/notesSlide" Target="/ppt/notesSlides/notesSlide63.xml" Id="R9a0651580af443b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47b7223f1db403f" /><Relationship Type="http://schemas.openxmlformats.org/officeDocument/2006/relationships/notesSlide" Target="/ppt/notesSlides/notesSlide64.xml" Id="R8e493847383c463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8279a04dad3a4562" /><Relationship Type="http://schemas.openxmlformats.org/officeDocument/2006/relationships/notesSlide" Target="/ppt/notesSlides/notesSlide65.xml" Id="R9360f232705f4ff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93a20a6534642df" /><Relationship Type="http://schemas.openxmlformats.org/officeDocument/2006/relationships/notesSlide" Target="/ppt/notesSlides/notesSlide66.xml" Id="R05b3fad094ef4990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f9d9bcc0291e40c8" /><Relationship Type="http://schemas.openxmlformats.org/officeDocument/2006/relationships/notesSlide" Target="/ppt/notesSlides/notesSlide67.xml" Id="Rec7d1c9c44cd4cc7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7c15bd6ab4a04" /><Relationship Type="http://schemas.openxmlformats.org/officeDocument/2006/relationships/notesSlide" Target="/ppt/notesSlides/notesSlide68.xml" Id="R911740bafca04c8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822401654dd4159" /><Relationship Type="http://schemas.openxmlformats.org/officeDocument/2006/relationships/notesSlide" Target="/ppt/notesSlides/notesSlide69.xml" Id="Rba8dee4b0db84633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0783d6765ab441c3" /><Relationship Type="http://schemas.openxmlformats.org/officeDocument/2006/relationships/notesSlide" Target="/ppt/notesSlides/notesSlide70.xml" Id="R912ae59d778f4c88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695813b6331434d" /><Relationship Type="http://schemas.openxmlformats.org/officeDocument/2006/relationships/notesSlide" Target="/ppt/notesSlides/notesSlide71.xml" Id="Rd50b1a966242468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1b8093b8f614819" /><Relationship Type="http://schemas.openxmlformats.org/officeDocument/2006/relationships/notesSlide" Target="/ppt/notesSlides/notesSlide72.xml" Id="Rb971fa6bbfaf4c3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6df67bdbac4e3a" /><Relationship Type="http://schemas.openxmlformats.org/officeDocument/2006/relationships/notesSlide" Target="/ppt/notesSlides/notesSlide73.xml" Id="R79e5423f711942b8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2bf67502b0264096" /><Relationship Type="http://schemas.openxmlformats.org/officeDocument/2006/relationships/notesSlide" Target="/ppt/notesSlides/notesSlide74.xml" Id="R5b3c591aeaed4220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817301ef73a4617" /><Relationship Type="http://schemas.openxmlformats.org/officeDocument/2006/relationships/notesSlide" Target="/ppt/notesSlides/notesSlide75.xml" Id="R777fc9c8415d4485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7.xml" Id="R31b10adcb90544a2" /><Relationship Type="http://schemas.openxmlformats.org/officeDocument/2006/relationships/notesSlide" Target="/ppt/notesSlides/notesSlide76.xml" Id="R976fbd4857cd4518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d2fd5a36544387" /><Relationship Type="http://schemas.openxmlformats.org/officeDocument/2006/relationships/notesSlide" Target="/ppt/notesSlides/notesSlide77.xml" Id="R1cdc83073f994eee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e15ddce9fdf14c07" /><Relationship Type="http://schemas.openxmlformats.org/officeDocument/2006/relationships/image" Target="/ppt/media/image17.png" Id="Rf0687d20589b4d05" /><Relationship Type="http://schemas.openxmlformats.org/officeDocument/2006/relationships/image" Target="/ppt/media/image16.svg" Id="R96d26e2e409a4a6e" /><Relationship Type="http://schemas.openxmlformats.org/officeDocument/2006/relationships/notesSlide" Target="/ppt/notesSlides/notesSlide78.xml" Id="Ra7d85cb823a44f0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14c4883f872467f" /><Relationship Type="http://schemas.openxmlformats.org/officeDocument/2006/relationships/notesSlide" Target="/ppt/notesSlides/notesSlide79.xml" Id="R5d81219d97f946d4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1dcc877a8dac41f3" /><Relationship Type="http://schemas.openxmlformats.org/officeDocument/2006/relationships/notesSlide" Target="/ppt/notesSlides/notesSlide80.xml" Id="R1ac9cbf77ba743e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2a73a2e245b48ed" /><Relationship Type="http://schemas.openxmlformats.org/officeDocument/2006/relationships/notesSlide" Target="/ppt/notesSlides/notesSlide81.xml" Id="R7541e67fcbdc4012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4517efba0c0409a" /><Relationship Type="http://schemas.openxmlformats.org/officeDocument/2006/relationships/notesSlide" Target="/ppt/notesSlides/notesSlide82.xml" Id="R1c87bea3011f4b10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8da648f84f4794" /><Relationship Type="http://schemas.openxmlformats.org/officeDocument/2006/relationships/notesSlide" Target="/ppt/notesSlides/notesSlide83.xml" Id="Rb02e33f5ab774763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17d707e97b9a4b6d" /><Relationship Type="http://schemas.openxmlformats.org/officeDocument/2006/relationships/notesSlide" Target="/ppt/notesSlides/notesSlide84.xml" Id="R4e2020ba60754ec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143b51aa854cc3" /><Relationship Type="http://schemas.openxmlformats.org/officeDocument/2006/relationships/notesSlide" Target="/ppt/notesSlides/notesSlide85.xml" Id="Ra842748329ff44ea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93b52276e84593" /><Relationship Type="http://schemas.openxmlformats.org/officeDocument/2006/relationships/notesSlide" Target="/ppt/notesSlides/notesSlide86.xml" Id="Rb52a27fb64aa476e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486d61d50474b" /><Relationship Type="http://schemas.openxmlformats.org/officeDocument/2006/relationships/notesSlide" Target="/ppt/notesSlides/notesSlide87.xml" Id="Rff0b49a0932b4c90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577a4ca604625" /><Relationship Type="http://schemas.openxmlformats.org/officeDocument/2006/relationships/notesSlide" Target="/ppt/notesSlides/notesSlide88.xml" Id="Rcc1b61c74df846bc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176795a89d484d" /><Relationship Type="http://schemas.openxmlformats.org/officeDocument/2006/relationships/notesSlide" Target="/ppt/notesSlides/notesSlide89.xml" Id="R1ac53c939f764148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1d5d4b6acd4ffa" /><Relationship Type="http://schemas.openxmlformats.org/officeDocument/2006/relationships/notesSlide" Target="/ppt/notesSlides/notesSlide90.xml" Id="Rce674460534a4320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3fc1c828524f23" /><Relationship Type="http://schemas.openxmlformats.org/officeDocument/2006/relationships/notesSlide" Target="/ppt/notesSlides/notesSlide91.xml" Id="Rd8a1e9dc5ea64105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8bb238b85f460c" /><Relationship Type="http://schemas.openxmlformats.org/officeDocument/2006/relationships/notesSlide" Target="/ppt/notesSlides/notesSlide92.xml" Id="R109fee41f80c488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0b2b6256aa9432f" /><Relationship Type="http://schemas.openxmlformats.org/officeDocument/2006/relationships/notesSlide" Target="/ppt/notesSlides/notesSlide93.xml" Id="R64eaac94b88143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39DD161-7967-497F-952B-D040E816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10 · FÍSICA ACÚSTICA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824E2B4-944D-4A47-9CF8-6E5582FB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657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75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ruido y su caracterización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8B1AC40-C142-467A-9236-EA16B12F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Tiempo · frecuencia · nivel · función</a:t>
            </a:r>
          </a:p>
        </p:txBody>
      </p:sp>
      <p:sp>
        <p:nvSpPr>
          <p:cNvPr id="4" name="cover-claim">
            <a:extLst xmlns:a="http://schemas.openxmlformats.org/drawingml/2006/main">
              <a:ext uri="{FF2B5EF4-FFF2-40B4-BE49-F238E27FC236}">
                <a16:creationId xmlns:a16="http://schemas.microsoft.com/office/drawing/2014/main" id="{E0B275C0-630F-4143-A7C0-EDA35CC4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EADDE4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EADDE4"/>
                </a:solidFill>
                <a:latin typeface="Calibri"/>
                <a:ea typeface="Calibri"/>
                <a:cs typeface="Calibri"/>
              </a:rPr>
              <a:t>Un ruido se comprende por su señal, su contexto y su función.</a:t>
            </a:r>
          </a:p>
        </p:txBody>
      </p:sp>
      <p:sp>
        <p:nvSpPr>
          <p:cNvPr id="5" name="U10-DG-001-visual-alt" descr="Portada conceptual: anticipar cuatro ejes de caracterización. Onda central; tiempo; frecuencia; nivel; efecto. Orden de lectura: Cuatro ramales sin rótulo largo. ---">
            <a:extLst xmlns:a="http://schemas.openxmlformats.org/drawingml/2006/main">
              <a:ext uri="{FF2B5EF4-FFF2-40B4-BE49-F238E27FC236}">
                <a16:creationId xmlns:a16="http://schemas.microsoft.com/office/drawing/2014/main" id="{25D24B4F-1CF2-4F9B-9E2E-723CE9D2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247650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6" name="U10-DG-001-concept_1-text">
            <a:extLst xmlns:a="http://schemas.openxmlformats.org/drawingml/2006/main">
              <a:ext uri="{FF2B5EF4-FFF2-40B4-BE49-F238E27FC236}">
                <a16:creationId xmlns:a16="http://schemas.microsoft.com/office/drawing/2014/main" id="{9E8644BA-870E-4B86-9BC3-A5C0CCDC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Tiempo</a:t>
            </a:r>
          </a:p>
        </p:txBody>
      </p:sp>
      <p:sp>
        <p:nvSpPr>
          <p:cNvPr id="7" name="U10-DG-001-concept_2-box">
            <a:extLst xmlns:a="http://schemas.openxmlformats.org/drawingml/2006/main">
              <a:ext uri="{FF2B5EF4-FFF2-40B4-BE49-F238E27FC236}">
                <a16:creationId xmlns:a16="http://schemas.microsoft.com/office/drawing/2014/main" id="{5E00C0A1-EAA5-4365-8E64-E26D9BEB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619750"/>
            <a:ext cx="247650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8" name="U10-DG-001-concept_2-text">
            <a:extLst xmlns:a="http://schemas.openxmlformats.org/drawingml/2006/main">
              <a:ext uri="{FF2B5EF4-FFF2-40B4-BE49-F238E27FC236}">
                <a16:creationId xmlns:a16="http://schemas.microsoft.com/office/drawing/2014/main" id="{DBF742E7-7799-4F19-9A66-2A5EE22C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15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Frecuencia</a:t>
            </a:r>
          </a:p>
        </p:txBody>
      </p:sp>
      <p:sp>
        <p:nvSpPr>
          <p:cNvPr id="9" name="U10-DG-001-concept_3-box">
            <a:extLst xmlns:a="http://schemas.openxmlformats.org/drawingml/2006/main">
              <a:ext uri="{FF2B5EF4-FFF2-40B4-BE49-F238E27FC236}">
                <a16:creationId xmlns:a16="http://schemas.microsoft.com/office/drawing/2014/main" id="{68A29AFA-32B2-412A-B084-36D69522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19750"/>
            <a:ext cx="247650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0" name="U10-DG-001-concept_3-text">
            <a:extLst xmlns:a="http://schemas.openxmlformats.org/drawingml/2006/main">
              <a:ext uri="{FF2B5EF4-FFF2-40B4-BE49-F238E27FC236}">
                <a16:creationId xmlns:a16="http://schemas.microsoft.com/office/drawing/2014/main" id="{AF3557F5-99A7-4D8B-A521-3FEDA365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15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</a:t>
            </a:r>
          </a:p>
        </p:txBody>
      </p:sp>
      <p:sp>
        <p:nvSpPr>
          <p:cNvPr id="11" name="U10-DG-001-concept_4-box">
            <a:extLst xmlns:a="http://schemas.openxmlformats.org/drawingml/2006/main">
              <a:ext uri="{FF2B5EF4-FFF2-40B4-BE49-F238E27FC236}">
                <a16:creationId xmlns:a16="http://schemas.microsoft.com/office/drawing/2014/main" id="{F6852A54-EAA7-4331-9236-2CCEE53E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619750"/>
            <a:ext cx="247650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2" name="U10-DG-001-concept_4-text">
            <a:extLst xmlns:a="http://schemas.openxmlformats.org/drawingml/2006/main">
              <a:ext uri="{FF2B5EF4-FFF2-40B4-BE49-F238E27FC236}">
                <a16:creationId xmlns:a16="http://schemas.microsoft.com/office/drawing/2014/main" id="{4D57514D-30EB-4172-BDFB-7A7573F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715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Efecto / tarea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CC92CD0-947C-4293-8E66-AB57F970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B203DA6D-8AF9-4006-A458-9CA5E264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DE3A738-C131-489E-9D30-9495A1B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3128ED0-C59C-4A22-9759-AC9AD0A2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899BA76-70E5-454B-B2D5-9D765C92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BBCD78-201C-45B0-A61A-A95510BD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clínica junto a la avenida, ahora como problema de ruido</a:t>
            </a:r>
          </a:p>
        </p:txBody>
      </p:sp>
      <p:sp>
        <p:nvSpPr>
          <p:cNvPr id="6" name="U10-DG-002-source-anchor">
            <a:extLst xmlns:a="http://schemas.openxmlformats.org/drawingml/2006/main">
              <a:ext uri="{FF2B5EF4-FFF2-40B4-BE49-F238E27FC236}">
                <a16:creationId xmlns:a16="http://schemas.microsoft.com/office/drawing/2014/main" id="{8E6FB2A0-61CC-41EB-AE91-C0175044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2-path_top-anchor">
            <a:extLst xmlns:a="http://schemas.openxmlformats.org/drawingml/2006/main">
              <a:ext uri="{FF2B5EF4-FFF2-40B4-BE49-F238E27FC236}">
                <a16:creationId xmlns:a16="http://schemas.microsoft.com/office/drawing/2014/main" id="{03D25825-8496-40BE-B662-9D50F95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2-path_bottom-anchor">
            <a:extLst xmlns:a="http://schemas.openxmlformats.org/drawingml/2006/main">
              <a:ext uri="{FF2B5EF4-FFF2-40B4-BE49-F238E27FC236}">
                <a16:creationId xmlns:a16="http://schemas.microsoft.com/office/drawing/2014/main" id="{3D5F8AC0-FBEE-4221-BDE1-79547211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2-space-anchor">
            <a:extLst xmlns:a="http://schemas.openxmlformats.org/drawingml/2006/main">
              <a:ext uri="{FF2B5EF4-FFF2-40B4-BE49-F238E27FC236}">
                <a16:creationId xmlns:a16="http://schemas.microsoft.com/office/drawing/2014/main" id="{01B14521-BD52-4C54-902D-35912E05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2-receiver-anchor">
            <a:extLst xmlns:a="http://schemas.openxmlformats.org/drawingml/2006/main">
              <a:ext uri="{FF2B5EF4-FFF2-40B4-BE49-F238E27FC236}">
                <a16:creationId xmlns:a16="http://schemas.microsoft.com/office/drawing/2014/main" id="{DF63C0B3-5F42-45A6-93C3-D37D22B4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02-condition-anchor">
            <a:extLst xmlns:a="http://schemas.openxmlformats.org/drawingml/2006/main">
              <a:ext uri="{FF2B5EF4-FFF2-40B4-BE49-F238E27FC236}">
                <a16:creationId xmlns:a16="http://schemas.microsoft.com/office/drawing/2014/main" id="{40937D1E-D43D-44A3-9519-435D100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02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02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02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02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02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02-visual-alt" descr="Escena técnica del caso disparador. Avenida, fachada, consultorio, conversación, climatización, portazo, receptor. Orden de lectura: Rutas “entra”, “interfiere”, “se evalúa”; numeradas. ---">
            <a:extLst xmlns:a="http://schemas.openxmlformats.org/drawingml/2006/main">
              <a:ext uri="{FF2B5EF4-FFF2-40B4-BE49-F238E27FC236}">
                <a16:creationId xmlns:a16="http://schemas.microsoft.com/office/drawing/2014/main" id="{E16AEF2F-4B0C-4279-ADBB-74E517E8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02-source-text">
            <a:extLst xmlns:a="http://schemas.openxmlformats.org/drawingml/2006/main">
              <a:ext uri="{FF2B5EF4-FFF2-40B4-BE49-F238E27FC236}">
                <a16:creationId xmlns:a16="http://schemas.microsoft.com/office/drawing/2014/main" id="{4E70F23F-647C-475F-A5C6-750299C9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Avenida</a:t>
            </a:r>
          </a:p>
        </p:txBody>
      </p:sp>
      <p:sp>
        <p:nvSpPr>
          <p:cNvPr id="19" name="U10-DG-002-path_top-box">
            <a:extLst xmlns:a="http://schemas.openxmlformats.org/drawingml/2006/main">
              <a:ext uri="{FF2B5EF4-FFF2-40B4-BE49-F238E27FC236}">
                <a16:creationId xmlns:a16="http://schemas.microsoft.com/office/drawing/2014/main" id="{500D9601-9D14-440E-A969-C5C77597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02-path_top-text">
            <a:extLst xmlns:a="http://schemas.openxmlformats.org/drawingml/2006/main">
              <a:ext uri="{FF2B5EF4-FFF2-40B4-BE49-F238E27FC236}">
                <a16:creationId xmlns:a16="http://schemas.microsoft.com/office/drawing/2014/main" id="{61467BDB-C0AC-4BA3-85F3-8BBAD18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Fachada</a:t>
            </a:r>
          </a:p>
        </p:txBody>
      </p:sp>
      <p:sp>
        <p:nvSpPr>
          <p:cNvPr id="21" name="U10-DG-002-path_bottom-box">
            <a:extLst xmlns:a="http://schemas.openxmlformats.org/drawingml/2006/main">
              <a:ext uri="{FF2B5EF4-FFF2-40B4-BE49-F238E27FC236}">
                <a16:creationId xmlns:a16="http://schemas.microsoft.com/office/drawing/2014/main" id="{3EC89906-1026-49E9-892A-31A61017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02-path_bottom-text">
            <a:extLst xmlns:a="http://schemas.openxmlformats.org/drawingml/2006/main">
              <a:ext uri="{FF2B5EF4-FFF2-40B4-BE49-F238E27FC236}">
                <a16:creationId xmlns:a16="http://schemas.microsoft.com/office/drawing/2014/main" id="{51CF0785-0AF3-4CF9-B465-DAA20462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Consultorio</a:t>
            </a:r>
          </a:p>
        </p:txBody>
      </p:sp>
      <p:sp>
        <p:nvSpPr>
          <p:cNvPr id="23" name="U10-DG-002-space-box">
            <a:extLst xmlns:a="http://schemas.openxmlformats.org/drawingml/2006/main">
              <a:ext uri="{FF2B5EF4-FFF2-40B4-BE49-F238E27FC236}">
                <a16:creationId xmlns:a16="http://schemas.microsoft.com/office/drawing/2014/main" id="{561031C4-1F6F-4A2E-8FA0-BD56A3BE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02-space-text">
            <a:extLst xmlns:a="http://schemas.openxmlformats.org/drawingml/2006/main">
              <a:ext uri="{FF2B5EF4-FFF2-40B4-BE49-F238E27FC236}">
                <a16:creationId xmlns:a16="http://schemas.microsoft.com/office/drawing/2014/main" id="{E9960ED0-A066-4CFE-B7A4-0ED72B2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25" name="U10-DG-002-receiver-box">
            <a:extLst xmlns:a="http://schemas.openxmlformats.org/drawingml/2006/main">
              <a:ext uri="{FF2B5EF4-FFF2-40B4-BE49-F238E27FC236}">
                <a16:creationId xmlns:a16="http://schemas.microsoft.com/office/drawing/2014/main" id="{DAE633F7-8168-42F7-A563-195BF50D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02-receiver-text">
            <a:extLst xmlns:a="http://schemas.openxmlformats.org/drawingml/2006/main">
              <a:ext uri="{FF2B5EF4-FFF2-40B4-BE49-F238E27FC236}">
                <a16:creationId xmlns:a16="http://schemas.microsoft.com/office/drawing/2014/main" id="{911D4EC8-C559-4F87-B63A-F61E315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Climatización</a:t>
            </a:r>
          </a:p>
        </p:txBody>
      </p:sp>
      <p:sp>
        <p:nvSpPr>
          <p:cNvPr id="27" name="U10-DG-002-condition-box">
            <a:extLst xmlns:a="http://schemas.openxmlformats.org/drawingml/2006/main">
              <a:ext uri="{FF2B5EF4-FFF2-40B4-BE49-F238E27FC236}">
                <a16:creationId xmlns:a16="http://schemas.microsoft.com/office/drawing/2014/main" id="{F2606DDD-C60F-4FA9-B7D1-603ADA8D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02-condition-text">
            <a:extLst xmlns:a="http://schemas.openxmlformats.org/drawingml/2006/main">
              <a:ext uri="{FF2B5EF4-FFF2-40B4-BE49-F238E27FC236}">
                <a16:creationId xmlns:a16="http://schemas.microsoft.com/office/drawing/2014/main" id="{F2642BAA-C327-4822-9447-8E90BE4D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Portazo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36E1E0E9-AB86-412E-82F1-FAFCE856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Escena técnica del caso disparador. Avenida, fachada, consultorio, conversación, climatización, portazo, receptor.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F3B4857-3964-4A30-BDCE-DA2EB73A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8C3E5714-9A4B-414D-BBD3-D88E9392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5A05C85-8A83-494F-BBF3-FB263A1D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CAC3C4D-BAE9-4775-83BC-9D24B784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AA083C0-8B36-46C1-8667-667D76D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848F53-BFA9-45CC-8587-8288084A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describir, calcular y decidir</a:t>
            </a:r>
          </a:p>
        </p:txBody>
      </p:sp>
      <p:sp>
        <p:nvSpPr>
          <p:cNvPr id="6" name="U10-DG-003-step_1-anchor">
            <a:extLst xmlns:a="http://schemas.openxmlformats.org/drawingml/2006/main">
              <a:ext uri="{FF2B5EF4-FFF2-40B4-BE49-F238E27FC236}">
                <a16:creationId xmlns:a16="http://schemas.microsoft.com/office/drawing/2014/main" id="{47B55EFD-721A-4D91-8C9E-9A5F9DF9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3-step_2-anchor">
            <a:extLst xmlns:a="http://schemas.openxmlformats.org/drawingml/2006/main">
              <a:ext uri="{FF2B5EF4-FFF2-40B4-BE49-F238E27FC236}">
                <a16:creationId xmlns:a16="http://schemas.microsoft.com/office/drawing/2014/main" id="{7526A545-A6B4-483A-9005-A9CAA60E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3-step_3-anchor">
            <a:extLst xmlns:a="http://schemas.openxmlformats.org/drawingml/2006/main">
              <a:ext uri="{FF2B5EF4-FFF2-40B4-BE49-F238E27FC236}">
                <a16:creationId xmlns:a16="http://schemas.microsoft.com/office/drawing/2014/main" id="{ABCDEA8C-A321-4C3F-B90B-1C25138D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3-step_4-anchor">
            <a:extLst xmlns:a="http://schemas.openxmlformats.org/drawingml/2006/main">
              <a:ext uri="{FF2B5EF4-FFF2-40B4-BE49-F238E27FC236}">
                <a16:creationId xmlns:a16="http://schemas.microsoft.com/office/drawing/2014/main" id="{94534091-3D85-4EAE-81D0-40C19203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3-step_5-anchor">
            <a:extLst xmlns:a="http://schemas.openxmlformats.org/drawingml/2006/main">
              <a:ext uri="{FF2B5EF4-FFF2-40B4-BE49-F238E27FC236}">
                <a16:creationId xmlns:a16="http://schemas.microsoft.com/office/drawing/2014/main" id="{0E12B785-F093-49C6-B80F-43C8EEFD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03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03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03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03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03-visual-alt" descr="Ruta de objetivos. Distinguir, describir, calcular, interpretar, proponer. Orden de lectura: Flecha de progresión; sin etiquetas. ---">
            <a:extLst xmlns:a="http://schemas.openxmlformats.org/drawingml/2006/main">
              <a:ext uri="{FF2B5EF4-FFF2-40B4-BE49-F238E27FC236}">
                <a16:creationId xmlns:a16="http://schemas.microsoft.com/office/drawing/2014/main" id="{102A6F71-2B31-4DE7-BDE0-6FF0BCE9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03-step_1-text">
            <a:extLst xmlns:a="http://schemas.openxmlformats.org/drawingml/2006/main">
              <a:ext uri="{FF2B5EF4-FFF2-40B4-BE49-F238E27FC236}">
                <a16:creationId xmlns:a16="http://schemas.microsoft.com/office/drawing/2014/main" id="{230F2855-21A6-49EC-B685-870FAA93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Señal y contexto</a:t>
            </a:r>
          </a:p>
        </p:txBody>
      </p:sp>
      <p:sp>
        <p:nvSpPr>
          <p:cNvPr id="17" name="U10-DG-003-step_2-box">
            <a:extLst xmlns:a="http://schemas.openxmlformats.org/drawingml/2006/main">
              <a:ext uri="{FF2B5EF4-FFF2-40B4-BE49-F238E27FC236}">
                <a16:creationId xmlns:a16="http://schemas.microsoft.com/office/drawing/2014/main" id="{23485568-6BAD-4BE6-9ED6-92AA15E8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03-step_2-text">
            <a:extLst xmlns:a="http://schemas.openxmlformats.org/drawingml/2006/main">
              <a:ext uri="{FF2B5EF4-FFF2-40B4-BE49-F238E27FC236}">
                <a16:creationId xmlns:a16="http://schemas.microsoft.com/office/drawing/2014/main" id="{8AE62CE5-A73A-4454-AADE-DC908D31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Tiempo y espectro</a:t>
            </a:r>
          </a:p>
        </p:txBody>
      </p:sp>
      <p:sp>
        <p:nvSpPr>
          <p:cNvPr id="19" name="U10-DG-003-step_3-box">
            <a:extLst xmlns:a="http://schemas.openxmlformats.org/drawingml/2006/main">
              <a:ext uri="{FF2B5EF4-FFF2-40B4-BE49-F238E27FC236}">
                <a16:creationId xmlns:a16="http://schemas.microsoft.com/office/drawing/2014/main" id="{61BE1C5B-D4E2-4BDE-96E3-1119AA63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03-step_3-text">
            <a:extLst xmlns:a="http://schemas.openxmlformats.org/drawingml/2006/main">
              <a:ext uri="{FF2B5EF4-FFF2-40B4-BE49-F238E27FC236}">
                <a16:creationId xmlns:a16="http://schemas.microsoft.com/office/drawing/2014/main" id="{44685A0B-B73C-4606-861B-9AE0C887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Calcular descriptores</a:t>
            </a:r>
          </a:p>
        </p:txBody>
      </p:sp>
      <p:sp>
        <p:nvSpPr>
          <p:cNvPr id="21" name="U10-DG-003-step_4-box">
            <a:extLst xmlns:a="http://schemas.openxmlformats.org/drawingml/2006/main">
              <a:ext uri="{FF2B5EF4-FFF2-40B4-BE49-F238E27FC236}">
                <a16:creationId xmlns:a16="http://schemas.microsoft.com/office/drawing/2014/main" id="{38D10D7B-79DC-47CF-AD13-ECE878A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03-step_4-text">
            <a:extLst xmlns:a="http://schemas.openxmlformats.org/drawingml/2006/main">
              <a:ext uri="{FF2B5EF4-FFF2-40B4-BE49-F238E27FC236}">
                <a16:creationId xmlns:a16="http://schemas.microsoft.com/office/drawing/2014/main" id="{3618534A-75E3-449F-9AC6-39AC7667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Interpretar con límites</a:t>
            </a:r>
          </a:p>
        </p:txBody>
      </p:sp>
      <p:sp>
        <p:nvSpPr>
          <p:cNvPr id="23" name="U10-DG-003-step_5-box">
            <a:extLst xmlns:a="http://schemas.openxmlformats.org/drawingml/2006/main">
              <a:ext uri="{FF2B5EF4-FFF2-40B4-BE49-F238E27FC236}">
                <a16:creationId xmlns:a16="http://schemas.microsoft.com/office/drawing/2014/main" id="{DA492DAC-9243-4786-8DD8-13319353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03-step_5-text">
            <a:extLst xmlns:a="http://schemas.openxmlformats.org/drawingml/2006/main">
              <a:ext uri="{FF2B5EF4-FFF2-40B4-BE49-F238E27FC236}">
                <a16:creationId xmlns:a16="http://schemas.microsoft.com/office/drawing/2014/main" id="{4C559A3D-5D70-41A6-A61F-568D99BB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Proponer control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6746BC03-9CAB-47FE-91AF-F63697E0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Ruta de objetivos. Distinguir, describir, calcular, interpretar, proponer.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35C165-47D8-4ECB-AF73-EB823003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B5D562CC-46FF-468D-AC40-A932614C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46C3B32-258D-4763-B4CA-7C63B4B3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A4C185E-C1D1-4E06-8AEC-DC88DA7F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5489966-C10C-47DA-93D2-E35AB5DC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148E93-A877-4E36-9A67-2CFFCF59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necesitamos recuperar</a:t>
            </a:r>
          </a:p>
        </p:txBody>
      </p:sp>
      <p:sp>
        <p:nvSpPr>
          <p:cNvPr id="6" name="U10-DG-004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D47F8C43-9E20-4546-93A8-C3A9299E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4-branch_1-anchor">
            <a:extLst xmlns:a="http://schemas.openxmlformats.org/drawingml/2006/main">
              <a:ext uri="{FF2B5EF4-FFF2-40B4-BE49-F238E27FC236}">
                <a16:creationId xmlns:a16="http://schemas.microsoft.com/office/drawing/2014/main" id="{4F60834B-610D-4538-8ECC-D6D8496E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885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4-branch_2-anchor">
            <a:extLst xmlns:a="http://schemas.openxmlformats.org/drawingml/2006/main">
              <a:ext uri="{FF2B5EF4-FFF2-40B4-BE49-F238E27FC236}">
                <a16:creationId xmlns:a16="http://schemas.microsoft.com/office/drawing/2014/main" id="{FB3A9E4F-360C-416A-B520-D34AEDA3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26961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4-branch_3-anchor">
            <a:extLst xmlns:a="http://schemas.openxmlformats.org/drawingml/2006/main">
              <a:ext uri="{FF2B5EF4-FFF2-40B4-BE49-F238E27FC236}">
                <a16:creationId xmlns:a16="http://schemas.microsoft.com/office/drawing/2014/main" id="{88680EA7-94B6-4D79-8403-2E7F924B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0506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4-branch_4-anchor">
            <a:extLst xmlns:a="http://schemas.openxmlformats.org/drawingml/2006/main">
              <a:ext uri="{FF2B5EF4-FFF2-40B4-BE49-F238E27FC236}">
                <a16:creationId xmlns:a16="http://schemas.microsoft.com/office/drawing/2014/main" id="{79319F37-14A9-441A-AC87-CFC7B960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83171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04-branch_5-anchor">
            <a:extLst xmlns:a="http://schemas.openxmlformats.org/drawingml/2006/main">
              <a:ext uri="{FF2B5EF4-FFF2-40B4-BE49-F238E27FC236}">
                <a16:creationId xmlns:a16="http://schemas.microsoft.com/office/drawing/2014/main" id="{CEF28C71-DA44-4935-8570-203A807D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6127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04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1808798"/>
            <a:ext cx="2847975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04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335655" y="2589848"/>
            <a:ext cx="2847975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04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04-branch_edge_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5655" y="3234215"/>
            <a:ext cx="2847975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04-branch_edge_5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5655" y="3234215"/>
            <a:ext cx="2847975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04-visual-alt" descr="Red de prerrequisitos. Presión/RMS; dB; espectro; SNR; percepción; propagación. Orden de lectura: “sostiene” hacia U10, agrupados por unidad previa. ---">
            <a:extLst xmlns:a="http://schemas.openxmlformats.org/drawingml/2006/main">
              <a:ext uri="{FF2B5EF4-FFF2-40B4-BE49-F238E27FC236}">
                <a16:creationId xmlns:a16="http://schemas.microsoft.com/office/drawing/2014/main" id="{E1081B16-8C43-4BCB-A950-2AC04F93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04-branch_source-text">
            <a:extLst xmlns:a="http://schemas.openxmlformats.org/drawingml/2006/main">
              <a:ext uri="{FF2B5EF4-FFF2-40B4-BE49-F238E27FC236}">
                <a16:creationId xmlns:a16="http://schemas.microsoft.com/office/drawing/2014/main" id="{458AE30F-49FA-4F7B-930C-EC5F1BA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Presión y RMS</a:t>
            </a:r>
          </a:p>
        </p:txBody>
      </p:sp>
      <p:sp>
        <p:nvSpPr>
          <p:cNvPr id="19" name="U10-DG-004-branch_1-box">
            <a:extLst xmlns:a="http://schemas.openxmlformats.org/drawingml/2006/main">
              <a:ext uri="{FF2B5EF4-FFF2-40B4-BE49-F238E27FC236}">
                <a16:creationId xmlns:a16="http://schemas.microsoft.com/office/drawing/2014/main" id="{1C9C5A59-6F25-4B47-B1A8-65A7983F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885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04-branch_1-text">
            <a:extLst xmlns:a="http://schemas.openxmlformats.org/drawingml/2006/main">
              <a:ext uri="{FF2B5EF4-FFF2-40B4-BE49-F238E27FC236}">
                <a16:creationId xmlns:a16="http://schemas.microsoft.com/office/drawing/2014/main" id="{441E1775-DA5C-480D-A0E5-2E1880A0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123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Niveles en dB</a:t>
            </a:r>
          </a:p>
        </p:txBody>
      </p:sp>
      <p:sp>
        <p:nvSpPr>
          <p:cNvPr id="21" name="U10-DG-004-branch_2-box">
            <a:extLst xmlns:a="http://schemas.openxmlformats.org/drawingml/2006/main">
              <a:ext uri="{FF2B5EF4-FFF2-40B4-BE49-F238E27FC236}">
                <a16:creationId xmlns:a16="http://schemas.microsoft.com/office/drawing/2014/main" id="{83B27A68-3EA0-4AA2-B4A7-329E66C5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26961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04-branch_2-text">
            <a:extLst xmlns:a="http://schemas.openxmlformats.org/drawingml/2006/main">
              <a:ext uri="{FF2B5EF4-FFF2-40B4-BE49-F238E27FC236}">
                <a16:creationId xmlns:a16="http://schemas.microsoft.com/office/drawing/2014/main" id="{995BE379-B0BE-42CB-9C6A-D6273929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9344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Espectro y bandas</a:t>
            </a:r>
          </a:p>
        </p:txBody>
      </p:sp>
      <p:sp>
        <p:nvSpPr>
          <p:cNvPr id="23" name="U10-DG-004-branch_3-box">
            <a:extLst xmlns:a="http://schemas.openxmlformats.org/drawingml/2006/main">
              <a:ext uri="{FF2B5EF4-FFF2-40B4-BE49-F238E27FC236}">
                <a16:creationId xmlns:a16="http://schemas.microsoft.com/office/drawing/2014/main" id="{BCF461B0-8575-4059-8624-C7850687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0506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04-branch_3-text">
            <a:extLst xmlns:a="http://schemas.openxmlformats.org/drawingml/2006/main">
              <a:ext uri="{FF2B5EF4-FFF2-40B4-BE49-F238E27FC236}">
                <a16:creationId xmlns:a16="http://schemas.microsoft.com/office/drawing/2014/main" id="{5CEEE18C-786C-4179-B68C-B2A703A2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744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SNR</a:t>
            </a:r>
          </a:p>
        </p:txBody>
      </p:sp>
      <p:sp>
        <p:nvSpPr>
          <p:cNvPr id="25" name="U10-DG-004-branch_4-box">
            <a:extLst xmlns:a="http://schemas.openxmlformats.org/drawingml/2006/main">
              <a:ext uri="{FF2B5EF4-FFF2-40B4-BE49-F238E27FC236}">
                <a16:creationId xmlns:a16="http://schemas.microsoft.com/office/drawing/2014/main" id="{2FCDA954-FB50-4507-B172-EF692254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83171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6" name="U10-DG-004-branch_4-text">
            <a:extLst xmlns:a="http://schemas.openxmlformats.org/drawingml/2006/main">
              <a:ext uri="{FF2B5EF4-FFF2-40B4-BE49-F238E27FC236}">
                <a16:creationId xmlns:a16="http://schemas.microsoft.com/office/drawing/2014/main" id="{C828A71E-B549-4FA2-973B-B08DD63B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5554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Percepción</a:t>
            </a:r>
          </a:p>
        </p:txBody>
      </p:sp>
      <p:sp>
        <p:nvSpPr>
          <p:cNvPr id="27" name="U10-DG-004-branch_5-box">
            <a:extLst xmlns:a="http://schemas.openxmlformats.org/drawingml/2006/main">
              <a:ext uri="{FF2B5EF4-FFF2-40B4-BE49-F238E27FC236}">
                <a16:creationId xmlns:a16="http://schemas.microsoft.com/office/drawing/2014/main" id="{A39A8566-40E5-4B2B-8C61-BC7017DB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6127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8" name="U10-DG-004-branch_5-text">
            <a:extLst xmlns:a="http://schemas.openxmlformats.org/drawingml/2006/main">
              <a:ext uri="{FF2B5EF4-FFF2-40B4-BE49-F238E27FC236}">
                <a16:creationId xmlns:a16="http://schemas.microsoft.com/office/drawing/2014/main" id="{77223F5E-B0F9-41B9-A18E-EB2EB264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7365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Propagación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109366A8-B146-4109-AAC9-D4DBD11E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Red de prerrequisitos. Presión/RMS; dB; espectro; SNR; percepción; propagación.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2F0591-7E8C-4806-BDBB-EBAB7C4E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-1">
            <a:extLst xmlns:a="http://schemas.openxmlformats.org/drawingml/2006/main">
              <a:ext uri="{FF2B5EF4-FFF2-40B4-BE49-F238E27FC236}">
                <a16:creationId xmlns:a16="http://schemas.microsoft.com/office/drawing/2014/main" id="{77DF4EED-D9AE-4C8B-92B9-554F5B2E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5526256-F530-417E-AC8B-D1503B1C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694CD06-D2DA-4420-B28B-EAFFDDF6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BA1C2A8-FCFD-49AE-A1DD-5895CC1F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4B55BA-8FDA-4AE2-BE70-F1DFBC43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la señal al control</a:t>
            </a:r>
          </a:p>
        </p:txBody>
      </p:sp>
      <p:sp>
        <p:nvSpPr>
          <p:cNvPr id="6" name="U10-DG-005-concept_1-anchor">
            <a:extLst xmlns:a="http://schemas.openxmlformats.org/drawingml/2006/main">
              <a:ext uri="{FF2B5EF4-FFF2-40B4-BE49-F238E27FC236}">
                <a16:creationId xmlns:a16="http://schemas.microsoft.com/office/drawing/2014/main" id="{B86F29A2-AA2F-4A65-A69B-D9F6DC34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5-concept_2-anchor">
            <a:extLst xmlns:a="http://schemas.openxmlformats.org/drawingml/2006/main">
              <a:ext uri="{FF2B5EF4-FFF2-40B4-BE49-F238E27FC236}">
                <a16:creationId xmlns:a16="http://schemas.microsoft.com/office/drawing/2014/main" id="{433F5B8E-E40B-4ECE-B8EB-75E6FC9D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5-concept_3-anchor">
            <a:extLst xmlns:a="http://schemas.openxmlformats.org/drawingml/2006/main">
              <a:ext uri="{FF2B5EF4-FFF2-40B4-BE49-F238E27FC236}">
                <a16:creationId xmlns:a16="http://schemas.microsoft.com/office/drawing/2014/main" id="{519F68C5-3F3C-49A9-BB00-C90976C9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5-concept_4-anchor">
            <a:extLst xmlns:a="http://schemas.openxmlformats.org/drawingml/2006/main">
              <a:ext uri="{FF2B5EF4-FFF2-40B4-BE49-F238E27FC236}">
                <a16:creationId xmlns:a16="http://schemas.microsoft.com/office/drawing/2014/main" id="{1B3F5025-2273-4C85-AB20-4AE5CAB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5-concept_5-anchor">
            <a:extLst xmlns:a="http://schemas.openxmlformats.org/drawingml/2006/main">
              <a:ext uri="{FF2B5EF4-FFF2-40B4-BE49-F238E27FC236}">
                <a16:creationId xmlns:a16="http://schemas.microsoft.com/office/drawing/2014/main" id="{EF73C799-A207-4D5D-A0F5-1C90B23A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05-concept_6-anchor">
            <a:extLst xmlns:a="http://schemas.openxmlformats.org/drawingml/2006/main">
              <a:ext uri="{FF2B5EF4-FFF2-40B4-BE49-F238E27FC236}">
                <a16:creationId xmlns:a16="http://schemas.microsoft.com/office/drawing/2014/main" id="{B79522CE-12B0-4447-BD7E-63768B60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05-concept_7-anchor">
            <a:extLst xmlns:a="http://schemas.openxmlformats.org/drawingml/2006/main">
              <a:ext uri="{FF2B5EF4-FFF2-40B4-BE49-F238E27FC236}">
                <a16:creationId xmlns:a16="http://schemas.microsoft.com/office/drawing/2014/main" id="{B53C4552-79F5-417B-85C3-9BAC8446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U10-DG-005-concept_8-anchor">
            <a:extLst xmlns:a="http://schemas.openxmlformats.org/drawingml/2006/main">
              <a:ext uri="{FF2B5EF4-FFF2-40B4-BE49-F238E27FC236}">
                <a16:creationId xmlns:a16="http://schemas.microsoft.com/office/drawing/2014/main" id="{BD1612FB-F60E-45C1-A0B1-3F2A228C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U10-DG-005-concept_9-anchor">
            <a:extLst xmlns:a="http://schemas.openxmlformats.org/drawingml/2006/main">
              <a:ext uri="{FF2B5EF4-FFF2-40B4-BE49-F238E27FC236}">
                <a16:creationId xmlns:a16="http://schemas.microsoft.com/office/drawing/2014/main" id="{288DF0D5-215D-47B6-BB62-1270DE1C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U10-DG-005-visual-alt" descr="Mapa completo de clase. Nueve bloques y tres pausas. Orden de lectura: Trayecto principal; ramal punteado a respaldo. ---">
            <a:extLst xmlns:a="http://schemas.openxmlformats.org/drawingml/2006/main">
              <a:ext uri="{FF2B5EF4-FFF2-40B4-BE49-F238E27FC236}">
                <a16:creationId xmlns:a16="http://schemas.microsoft.com/office/drawing/2014/main" id="{20FE91A5-DB67-45E9-B490-451208D2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05-concept_1-text">
            <a:extLst xmlns:a="http://schemas.openxmlformats.org/drawingml/2006/main">
              <a:ext uri="{FF2B5EF4-FFF2-40B4-BE49-F238E27FC236}">
                <a16:creationId xmlns:a16="http://schemas.microsoft.com/office/drawing/2014/main" id="{56701899-4796-49AF-BDDE-F7A545C6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 y contexto</a:t>
            </a:r>
          </a:p>
        </p:txBody>
      </p:sp>
      <p:sp>
        <p:nvSpPr>
          <p:cNvPr id="17" name="U10-DG-005-concept_2-box">
            <a:extLst xmlns:a="http://schemas.openxmlformats.org/drawingml/2006/main">
              <a:ext uri="{FF2B5EF4-FFF2-40B4-BE49-F238E27FC236}">
                <a16:creationId xmlns:a16="http://schemas.microsoft.com/office/drawing/2014/main" id="{5D9E1FDA-D365-478E-9394-572C4338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05-concept_2-text">
            <a:extLst xmlns:a="http://schemas.openxmlformats.org/drawingml/2006/main">
              <a:ext uri="{FF2B5EF4-FFF2-40B4-BE49-F238E27FC236}">
                <a16:creationId xmlns:a16="http://schemas.microsoft.com/office/drawing/2014/main" id="{84DED40C-24A2-443D-8F70-73178FD7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Tiempo</a:t>
            </a:r>
          </a:p>
        </p:txBody>
      </p:sp>
      <p:sp>
        <p:nvSpPr>
          <p:cNvPr id="19" name="U10-DG-005-concept_3-box">
            <a:extLst xmlns:a="http://schemas.openxmlformats.org/drawingml/2006/main">
              <a:ext uri="{FF2B5EF4-FFF2-40B4-BE49-F238E27FC236}">
                <a16:creationId xmlns:a16="http://schemas.microsoft.com/office/drawing/2014/main" id="{24147114-10CD-40B2-A24F-D78EE2D2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05-concept_3-text">
            <a:extLst xmlns:a="http://schemas.openxmlformats.org/drawingml/2006/main">
              <a:ext uri="{FF2B5EF4-FFF2-40B4-BE49-F238E27FC236}">
                <a16:creationId xmlns:a16="http://schemas.microsoft.com/office/drawing/2014/main" id="{00153F71-0105-457B-A111-0DE6DE30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Estadística</a:t>
            </a:r>
          </a:p>
        </p:txBody>
      </p:sp>
      <p:sp>
        <p:nvSpPr>
          <p:cNvPr id="21" name="U10-DG-005-concept_4-box">
            <a:extLst xmlns:a="http://schemas.openxmlformats.org/drawingml/2006/main">
              <a:ext uri="{FF2B5EF4-FFF2-40B4-BE49-F238E27FC236}">
                <a16:creationId xmlns:a16="http://schemas.microsoft.com/office/drawing/2014/main" id="{EDA08E5F-E054-415C-844A-EFA98849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05-concept_4-text">
            <a:extLst xmlns:a="http://schemas.openxmlformats.org/drawingml/2006/main">
              <a:ext uri="{FF2B5EF4-FFF2-40B4-BE49-F238E27FC236}">
                <a16:creationId xmlns:a16="http://schemas.microsoft.com/office/drawing/2014/main" id="{CC1F4B5C-B643-4712-A834-0E4D795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Frecuencia y colores</a:t>
            </a:r>
          </a:p>
        </p:txBody>
      </p:sp>
      <p:sp>
        <p:nvSpPr>
          <p:cNvPr id="23" name="U10-DG-005-concept_5-box">
            <a:extLst xmlns:a="http://schemas.openxmlformats.org/drawingml/2006/main">
              <a:ext uri="{FF2B5EF4-FFF2-40B4-BE49-F238E27FC236}">
                <a16:creationId xmlns:a16="http://schemas.microsoft.com/office/drawing/2014/main" id="{F3EC143E-01DE-4F27-8EDC-FDDFA809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05-concept_5-text">
            <a:extLst xmlns:a="http://schemas.openxmlformats.org/drawingml/2006/main">
              <a:ext uri="{FF2B5EF4-FFF2-40B4-BE49-F238E27FC236}">
                <a16:creationId xmlns:a16="http://schemas.microsoft.com/office/drawing/2014/main" id="{28C0F104-B29F-41D4-92F9-8D2C1739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Señales de prueba</a:t>
            </a:r>
          </a:p>
        </p:txBody>
      </p:sp>
      <p:sp>
        <p:nvSpPr>
          <p:cNvPr id="25" name="U10-DG-005-concept_6-box">
            <a:extLst xmlns:a="http://schemas.openxmlformats.org/drawingml/2006/main">
              <a:ext uri="{FF2B5EF4-FFF2-40B4-BE49-F238E27FC236}">
                <a16:creationId xmlns:a16="http://schemas.microsoft.com/office/drawing/2014/main" id="{949ED12D-49E4-415A-A71D-0C6C60CB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6" name="U10-DG-005-concept_6-text">
            <a:extLst xmlns:a="http://schemas.openxmlformats.org/drawingml/2006/main">
              <a:ext uri="{FF2B5EF4-FFF2-40B4-BE49-F238E27FC236}">
                <a16:creationId xmlns:a16="http://schemas.microsoft.com/office/drawing/2014/main" id="{18C25DAF-DD3F-4002-B501-C108CC1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Descriptores y SNR</a:t>
            </a:r>
          </a:p>
        </p:txBody>
      </p:sp>
      <p:sp>
        <p:nvSpPr>
          <p:cNvPr id="27" name="U10-DG-005-concept_7-box">
            <a:extLst xmlns:a="http://schemas.openxmlformats.org/drawingml/2006/main">
              <a:ext uri="{FF2B5EF4-FFF2-40B4-BE49-F238E27FC236}">
                <a16:creationId xmlns:a16="http://schemas.microsoft.com/office/drawing/2014/main" id="{B412F5B3-A612-45FB-909F-5AB8FB39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05-concept_7-text">
            <a:extLst xmlns:a="http://schemas.openxmlformats.org/drawingml/2006/main">
              <a:ext uri="{FF2B5EF4-FFF2-40B4-BE49-F238E27FC236}">
                <a16:creationId xmlns:a16="http://schemas.microsoft.com/office/drawing/2014/main" id="{5B2BD5BC-FFD2-4C86-AC50-75D812A2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Enmascaramiento</a:t>
            </a:r>
          </a:p>
        </p:txBody>
      </p:sp>
      <p:sp>
        <p:nvSpPr>
          <p:cNvPr id="29" name="U10-DG-005-concept_8-box">
            <a:extLst xmlns:a="http://schemas.openxmlformats.org/drawingml/2006/main">
              <a:ext uri="{FF2B5EF4-FFF2-40B4-BE49-F238E27FC236}">
                <a16:creationId xmlns:a16="http://schemas.microsoft.com/office/drawing/2014/main" id="{BA3EB6FC-2E24-4E11-8411-C24D448C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30" name="U10-DG-005-concept_8-text">
            <a:extLst xmlns:a="http://schemas.openxmlformats.org/drawingml/2006/main">
              <a:ext uri="{FF2B5EF4-FFF2-40B4-BE49-F238E27FC236}">
                <a16:creationId xmlns:a16="http://schemas.microsoft.com/office/drawing/2014/main" id="{12B83B0A-8C13-4E5F-86EC-77C8E5AE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Exposición y control</a:t>
            </a:r>
          </a:p>
        </p:txBody>
      </p:sp>
      <p:sp>
        <p:nvSpPr>
          <p:cNvPr id="31" name="U10-DG-005-concept_9-box">
            <a:extLst xmlns:a="http://schemas.openxmlformats.org/drawingml/2006/main">
              <a:ext uri="{FF2B5EF4-FFF2-40B4-BE49-F238E27FC236}">
                <a16:creationId xmlns:a16="http://schemas.microsoft.com/office/drawing/2014/main" id="{4B3D798D-D291-4DB4-AF86-11ED9095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32" name="U10-DG-005-concept_9-text">
            <a:extLst xmlns:a="http://schemas.openxmlformats.org/drawingml/2006/main">
              <a:ext uri="{FF2B5EF4-FFF2-40B4-BE49-F238E27FC236}">
                <a16:creationId xmlns:a16="http://schemas.microsoft.com/office/drawing/2014/main" id="{530D793D-C1D5-414C-81B3-5FC9F13F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33" name="caption">
            <a:extLst xmlns:a="http://schemas.openxmlformats.org/drawingml/2006/main">
              <a:ext uri="{FF2B5EF4-FFF2-40B4-BE49-F238E27FC236}">
                <a16:creationId xmlns:a16="http://schemas.microsoft.com/office/drawing/2014/main" id="{D3B9179F-64E9-42CF-B4A5-F0217828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Mapa completo de clase. Nueve bloques y tres pausas.</a:t>
            </a:r>
          </a:p>
        </p:txBody>
      </p:sp>
      <p:sp>
        <p:nvSpPr>
          <p:cNvPr id="3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14B6DF-65DE-4EE1-A731-D1F7AB8B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8A9F8BF2-839B-4187-AAB0-381B5E9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9597FA5F-794C-407E-9D88-569129FB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¿Cuándo una misma señal funciona como ruido?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FED97EB3-6CCA-4D4D-819B-09123EAD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3C7173-E26A-4A96-BA59-3E1396C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75E154D8-8CEE-4ED3-842A-F037387A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179FD4B-2BDA-44AC-B246-3619021A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DB9685E-F285-4C7D-8CD1-275B1BE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6DAA306-D5DC-4766-A8D2-96AB3A99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FD44BF-6C10-4BA2-9F2E-70D1629C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sonido ocurre; la señal lo representa</a:t>
            </a:r>
          </a:p>
        </p:txBody>
      </p:sp>
      <p:sp>
        <p:nvSpPr>
          <p:cNvPr id="6" name="U10-DG-006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66F116B6-32EA-43DE-A4C0-9583B99C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6-branch_1-anchor">
            <a:extLst xmlns:a="http://schemas.openxmlformats.org/drawingml/2006/main">
              <a:ext uri="{FF2B5EF4-FFF2-40B4-BE49-F238E27FC236}">
                <a16:creationId xmlns:a16="http://schemas.microsoft.com/office/drawing/2014/main" id="{F9FC6FFA-E265-40AD-BFED-50BA109E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885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6-branch_2-anchor">
            <a:extLst xmlns:a="http://schemas.openxmlformats.org/drawingml/2006/main">
              <a:ext uri="{FF2B5EF4-FFF2-40B4-BE49-F238E27FC236}">
                <a16:creationId xmlns:a16="http://schemas.microsoft.com/office/drawing/2014/main" id="{4B203E97-6CB1-490F-8082-D74B199D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26961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6-branch_3-anchor">
            <a:extLst xmlns:a="http://schemas.openxmlformats.org/drawingml/2006/main">
              <a:ext uri="{FF2B5EF4-FFF2-40B4-BE49-F238E27FC236}">
                <a16:creationId xmlns:a16="http://schemas.microsoft.com/office/drawing/2014/main" id="{72B7F130-CBD8-4544-9317-B234B369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0506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6-branch_4-anchor">
            <a:extLst xmlns:a="http://schemas.openxmlformats.org/drawingml/2006/main">
              <a:ext uri="{FF2B5EF4-FFF2-40B4-BE49-F238E27FC236}">
                <a16:creationId xmlns:a16="http://schemas.microsoft.com/office/drawing/2014/main" id="{449CCDF0-CEF4-42FF-914F-4AB04882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83171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06-branch_5-anchor">
            <a:extLst xmlns:a="http://schemas.openxmlformats.org/drawingml/2006/main">
              <a:ext uri="{FF2B5EF4-FFF2-40B4-BE49-F238E27FC236}">
                <a16:creationId xmlns:a16="http://schemas.microsoft.com/office/drawing/2014/main" id="{57B1B6D0-A65A-4AAC-97C9-30F03831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612767"/>
            <a:ext cx="3768090" cy="64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06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1808798"/>
            <a:ext cx="2847975" cy="142541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06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335655" y="2589848"/>
            <a:ext cx="2847975" cy="64436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06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06-branch_edge_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5655" y="3234215"/>
            <a:ext cx="2847975" cy="91773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06-branch_edge_5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5655" y="3234215"/>
            <a:ext cx="2847975" cy="16987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06-visual-alt" descr="Cadena fenómeno–representación. Fuente; presión p(t); micrófono; señal; medición; receptor/efecto. Orden de lectura: “genera”, “transduce”, “resume”, “interpreta”. ---">
            <a:extLst xmlns:a="http://schemas.openxmlformats.org/drawingml/2006/main">
              <a:ext uri="{FF2B5EF4-FFF2-40B4-BE49-F238E27FC236}">
                <a16:creationId xmlns:a16="http://schemas.microsoft.com/office/drawing/2014/main" id="{CA1F8CCC-B5B6-4005-9C84-E861B5FC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06-branch_source-text">
            <a:extLst xmlns:a="http://schemas.openxmlformats.org/drawingml/2006/main">
              <a:ext uri="{FF2B5EF4-FFF2-40B4-BE49-F238E27FC236}">
                <a16:creationId xmlns:a16="http://schemas.microsoft.com/office/drawing/2014/main" id="{D9604136-4EEA-4461-A10B-315F4F02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9" name="U10-DG-006-branch_1-box">
            <a:extLst xmlns:a="http://schemas.openxmlformats.org/drawingml/2006/main">
              <a:ext uri="{FF2B5EF4-FFF2-40B4-BE49-F238E27FC236}">
                <a16:creationId xmlns:a16="http://schemas.microsoft.com/office/drawing/2014/main" id="{E2FEBD47-7A04-44F8-8D21-41DB1DED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885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06-branch_1-text">
            <a:extLst xmlns:a="http://schemas.openxmlformats.org/drawingml/2006/main">
              <a:ext uri="{FF2B5EF4-FFF2-40B4-BE49-F238E27FC236}">
                <a16:creationId xmlns:a16="http://schemas.microsoft.com/office/drawing/2014/main" id="{2F2EA6C9-D11A-4E6B-BF23-76178CF9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123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Presión p(t) · Pa</a:t>
            </a:r>
          </a:p>
        </p:txBody>
      </p:sp>
      <p:sp>
        <p:nvSpPr>
          <p:cNvPr id="21" name="U10-DG-006-branch_2-box">
            <a:extLst xmlns:a="http://schemas.openxmlformats.org/drawingml/2006/main">
              <a:ext uri="{FF2B5EF4-FFF2-40B4-BE49-F238E27FC236}">
                <a16:creationId xmlns:a16="http://schemas.microsoft.com/office/drawing/2014/main" id="{75F7EF40-2CDE-4F4B-BBBB-7C14742C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26961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06-branch_2-text">
            <a:extLst xmlns:a="http://schemas.openxmlformats.org/drawingml/2006/main">
              <a:ext uri="{FF2B5EF4-FFF2-40B4-BE49-F238E27FC236}">
                <a16:creationId xmlns:a16="http://schemas.microsoft.com/office/drawing/2014/main" id="{9F9D901F-684A-4369-A102-4858CFA1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9344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Micrófono</a:t>
            </a:r>
          </a:p>
        </p:txBody>
      </p:sp>
      <p:sp>
        <p:nvSpPr>
          <p:cNvPr id="23" name="U10-DG-006-branch_3-box">
            <a:extLst xmlns:a="http://schemas.openxmlformats.org/drawingml/2006/main">
              <a:ext uri="{FF2B5EF4-FFF2-40B4-BE49-F238E27FC236}">
                <a16:creationId xmlns:a16="http://schemas.microsoft.com/office/drawing/2014/main" id="{50DC27D2-6BE5-4DCC-95A7-CC15BEEB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0506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06-branch_3-text">
            <a:extLst xmlns:a="http://schemas.openxmlformats.org/drawingml/2006/main">
              <a:ext uri="{FF2B5EF4-FFF2-40B4-BE49-F238E27FC236}">
                <a16:creationId xmlns:a16="http://schemas.microsoft.com/office/drawing/2014/main" id="{992F5028-9F8F-4648-8BE8-FCEC422B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744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Señal eléctrica</a:t>
            </a:r>
          </a:p>
        </p:txBody>
      </p:sp>
      <p:sp>
        <p:nvSpPr>
          <p:cNvPr id="25" name="U10-DG-006-branch_4-box">
            <a:extLst xmlns:a="http://schemas.openxmlformats.org/drawingml/2006/main">
              <a:ext uri="{FF2B5EF4-FFF2-40B4-BE49-F238E27FC236}">
                <a16:creationId xmlns:a16="http://schemas.microsoft.com/office/drawing/2014/main" id="{17BB39DB-A0EF-4577-AD14-05EE517A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83171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6" name="U10-DG-006-branch_4-text">
            <a:extLst xmlns:a="http://schemas.openxmlformats.org/drawingml/2006/main">
              <a:ext uri="{FF2B5EF4-FFF2-40B4-BE49-F238E27FC236}">
                <a16:creationId xmlns:a16="http://schemas.microsoft.com/office/drawing/2014/main" id="{A65C86DC-2F09-4BA0-8ECD-4FA04F8A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5554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7" name="U10-DG-006-branch_5-box">
            <a:extLst xmlns:a="http://schemas.openxmlformats.org/drawingml/2006/main">
              <a:ext uri="{FF2B5EF4-FFF2-40B4-BE49-F238E27FC236}">
                <a16:creationId xmlns:a16="http://schemas.microsoft.com/office/drawing/2014/main" id="{7E8FEF94-A3C4-4A9B-A9FE-4354CB03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612767"/>
            <a:ext cx="3768090" cy="640461"/>
          </a:xfrm>
          <a:prstGeom xmlns:a="http://schemas.openxmlformats.org/drawingml/2006/main" prst="roundRect">
            <a:avLst>
              <a:gd name="adj" fmla="val 1041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8" name="U10-DG-006-branch_5-text">
            <a:extLst xmlns:a="http://schemas.openxmlformats.org/drawingml/2006/main">
              <a:ext uri="{FF2B5EF4-FFF2-40B4-BE49-F238E27FC236}">
                <a16:creationId xmlns:a16="http://schemas.microsoft.com/office/drawing/2014/main" id="{09D7B27C-DD7D-48C4-9C72-00C85EBD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736592"/>
            <a:ext cx="3425190" cy="3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Receptor / efecto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688F8AF5-4469-4C07-85AD-9F45F425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Cadena fenómeno–representación. Fuente; presión p(t); micrófono; señal; medición; receptor/efecto.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CE021E9-276B-4F93-BCC3-6FB8D6C5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DDC84038-1FA6-4DDD-89A4-313D71C3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CDFB378-FFC8-4BBA-B73A-D4D78F3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5C1894D-A3FB-41CD-844B-91C6E3E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1B4C1F6-83FB-4D2D-AA10-93402086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9B77CB-007E-4503-88FC-15064AC2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señal puede cumplir tres funciones</a:t>
            </a:r>
          </a:p>
        </p:txBody>
      </p:sp>
      <p:sp>
        <p:nvSpPr>
          <p:cNvPr id="6" name="U10-DG-007-source-anchor">
            <a:extLst xmlns:a="http://schemas.openxmlformats.org/drawingml/2006/main">
              <a:ext uri="{FF2B5EF4-FFF2-40B4-BE49-F238E27FC236}">
                <a16:creationId xmlns:a16="http://schemas.microsoft.com/office/drawing/2014/main" id="{4DD3475E-9BA0-47F4-8C93-75E12F84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7-path_top-anchor">
            <a:extLst xmlns:a="http://schemas.openxmlformats.org/drawingml/2006/main">
              <a:ext uri="{FF2B5EF4-FFF2-40B4-BE49-F238E27FC236}">
                <a16:creationId xmlns:a16="http://schemas.microsoft.com/office/drawing/2014/main" id="{D70F6296-49F9-48FB-8B9B-05A4B8DB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7-path_bottom-anchor">
            <a:extLst xmlns:a="http://schemas.openxmlformats.org/drawingml/2006/main">
              <a:ext uri="{FF2B5EF4-FFF2-40B4-BE49-F238E27FC236}">
                <a16:creationId xmlns:a16="http://schemas.microsoft.com/office/drawing/2014/main" id="{6D4E0A82-1050-4637-9334-8E3C3975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7-space-anchor">
            <a:extLst xmlns:a="http://schemas.openxmlformats.org/drawingml/2006/main">
              <a:ext uri="{FF2B5EF4-FFF2-40B4-BE49-F238E27FC236}">
                <a16:creationId xmlns:a16="http://schemas.microsoft.com/office/drawing/2014/main" id="{2CF3D75B-C53A-4845-96A1-FF3B08F6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07-receiver-anchor">
            <a:extLst xmlns:a="http://schemas.openxmlformats.org/drawingml/2006/main">
              <a:ext uri="{FF2B5EF4-FFF2-40B4-BE49-F238E27FC236}">
                <a16:creationId xmlns:a16="http://schemas.microsoft.com/office/drawing/2014/main" id="{BA6EC1D1-E8F2-4705-A58D-232F5B38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07-condition-anchor">
            <a:extLst xmlns:a="http://schemas.openxmlformats.org/drawingml/2006/main">
              <a:ext uri="{FF2B5EF4-FFF2-40B4-BE49-F238E27FC236}">
                <a16:creationId xmlns:a16="http://schemas.microsoft.com/office/drawing/2014/main" id="{F83047FC-D2CB-44DD-A8F2-2E803F92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07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07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07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07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07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07-visual-alt" descr="Misma señal, tres funciones. Forma de onda común; escuchar; medir; enmascarar. Orden de lectura: Ramales “tarea”. ---">
            <a:extLst xmlns:a="http://schemas.openxmlformats.org/drawingml/2006/main">
              <a:ext uri="{FF2B5EF4-FFF2-40B4-BE49-F238E27FC236}">
                <a16:creationId xmlns:a16="http://schemas.microsoft.com/office/drawing/2014/main" id="{06BBBF9B-8B32-4B60-B62F-D5EBF43D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07-source-text">
            <a:extLst xmlns:a="http://schemas.openxmlformats.org/drawingml/2006/main">
              <a:ext uri="{FF2B5EF4-FFF2-40B4-BE49-F238E27FC236}">
                <a16:creationId xmlns:a16="http://schemas.microsoft.com/office/drawing/2014/main" id="{ECE4051F-FB5E-4930-B5B2-A565417C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Misma señal física</a:t>
            </a:r>
          </a:p>
        </p:txBody>
      </p:sp>
      <p:sp>
        <p:nvSpPr>
          <p:cNvPr id="19" name="U10-DG-007-path_top-box">
            <a:extLst xmlns:a="http://schemas.openxmlformats.org/drawingml/2006/main">
              <a:ext uri="{FF2B5EF4-FFF2-40B4-BE49-F238E27FC236}">
                <a16:creationId xmlns:a16="http://schemas.microsoft.com/office/drawing/2014/main" id="{BD750755-3EB9-4526-A92B-5C2F31DC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07-path_top-text">
            <a:extLst xmlns:a="http://schemas.openxmlformats.org/drawingml/2006/main">
              <a:ext uri="{FF2B5EF4-FFF2-40B4-BE49-F238E27FC236}">
                <a16:creationId xmlns:a16="http://schemas.microsoft.com/office/drawing/2014/main" id="{FCF09119-137A-4E91-9D7E-FE6ADD6E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Escuchar: contenido</a:t>
            </a:r>
          </a:p>
        </p:txBody>
      </p:sp>
      <p:sp>
        <p:nvSpPr>
          <p:cNvPr id="21" name="U10-DG-007-path_bottom-box">
            <a:extLst xmlns:a="http://schemas.openxmlformats.org/drawingml/2006/main">
              <a:ext uri="{FF2B5EF4-FFF2-40B4-BE49-F238E27FC236}">
                <a16:creationId xmlns:a16="http://schemas.microsoft.com/office/drawing/2014/main" id="{75562BD2-79F9-4D29-95B0-08F37226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07-path_bottom-text">
            <a:extLst xmlns:a="http://schemas.openxmlformats.org/drawingml/2006/main">
              <a:ext uri="{FF2B5EF4-FFF2-40B4-BE49-F238E27FC236}">
                <a16:creationId xmlns:a16="http://schemas.microsoft.com/office/drawing/2014/main" id="{7B6531E8-06A0-441B-ACA7-AEBD4FD2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Medir: descriptor</a:t>
            </a:r>
          </a:p>
        </p:txBody>
      </p:sp>
      <p:sp>
        <p:nvSpPr>
          <p:cNvPr id="23" name="U10-DG-007-space-box">
            <a:extLst xmlns:a="http://schemas.openxmlformats.org/drawingml/2006/main">
              <a:ext uri="{FF2B5EF4-FFF2-40B4-BE49-F238E27FC236}">
                <a16:creationId xmlns:a16="http://schemas.microsoft.com/office/drawing/2014/main" id="{9520029A-7800-4BC7-90A0-7FC4DBAD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07-space-text">
            <a:extLst xmlns:a="http://schemas.openxmlformats.org/drawingml/2006/main">
              <a:ext uri="{FF2B5EF4-FFF2-40B4-BE49-F238E27FC236}">
                <a16:creationId xmlns:a16="http://schemas.microsoft.com/office/drawing/2014/main" id="{C46F5A98-6C1D-412B-A1C9-B590E17C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Enmascarar: función</a:t>
            </a:r>
          </a:p>
        </p:txBody>
      </p:sp>
      <p:sp>
        <p:nvSpPr>
          <p:cNvPr id="25" name="U10-DG-007-receiver-box">
            <a:extLst xmlns:a="http://schemas.openxmlformats.org/drawingml/2006/main">
              <a:ext uri="{FF2B5EF4-FFF2-40B4-BE49-F238E27FC236}">
                <a16:creationId xmlns:a16="http://schemas.microsoft.com/office/drawing/2014/main" id="{44E7446E-D0E2-40A9-8BE6-DD3152F8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07-receiver-text">
            <a:extLst xmlns:a="http://schemas.openxmlformats.org/drawingml/2006/main">
              <a:ext uri="{FF2B5EF4-FFF2-40B4-BE49-F238E27FC236}">
                <a16:creationId xmlns:a16="http://schemas.microsoft.com/office/drawing/2014/main" id="{5B635360-099C-4C6D-BC77-6AD0A6AD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7" name="U10-DG-007-condition-box">
            <a:extLst xmlns:a="http://schemas.openxmlformats.org/drawingml/2006/main">
              <a:ext uri="{FF2B5EF4-FFF2-40B4-BE49-F238E27FC236}">
                <a16:creationId xmlns:a16="http://schemas.microsoft.com/office/drawing/2014/main" id="{BDC01A61-10DA-46E4-AFC4-40524A24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07-condition-text">
            <a:extLst xmlns:a="http://schemas.openxmlformats.org/drawingml/2006/main">
              <a:ext uri="{FF2B5EF4-FFF2-40B4-BE49-F238E27FC236}">
                <a16:creationId xmlns:a16="http://schemas.microsoft.com/office/drawing/2014/main" id="{179455D1-26BD-415E-9039-A30893B7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933E400E-FE7E-4FAF-A238-7D867676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Misma señal, tres funciones. Forma de onda común; escuchar; medir; enmascarar.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8AB21D5-C276-4276-B90E-B236D327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-1">
            <a:extLst xmlns:a="http://schemas.openxmlformats.org/drawingml/2006/main">
              <a:ext uri="{FF2B5EF4-FFF2-40B4-BE49-F238E27FC236}">
                <a16:creationId xmlns:a16="http://schemas.microsoft.com/office/drawing/2014/main" id="{5D463A41-420C-4402-B1BE-0E596A84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6F70B3F-6592-4F59-B397-DE5C0EC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89D782E-C4AC-4799-8AAD-AB60923A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70FE4B0-0841-4605-9F1F-E34A83DC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CF106B-1326-4BC5-9499-54BA8D1D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“Ruido” no nombra una propiedad física única</a:t>
            </a:r>
          </a:p>
        </p:txBody>
      </p:sp>
      <p:sp>
        <p:nvSpPr>
          <p:cNvPr id="6" name="U10-DG-008-concept_1-anchor">
            <a:extLst xmlns:a="http://schemas.openxmlformats.org/drawingml/2006/main">
              <a:ext uri="{FF2B5EF4-FFF2-40B4-BE49-F238E27FC236}">
                <a16:creationId xmlns:a16="http://schemas.microsoft.com/office/drawing/2014/main" id="{C84F246A-C8BC-41D7-A1E6-FB89530B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8-concept_2-anchor">
            <a:extLst xmlns:a="http://schemas.openxmlformats.org/drawingml/2006/main">
              <a:ext uri="{FF2B5EF4-FFF2-40B4-BE49-F238E27FC236}">
                <a16:creationId xmlns:a16="http://schemas.microsoft.com/office/drawing/2014/main" id="{28F3B4F8-558A-451E-8F94-997692D7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8-concept_3-anchor">
            <a:extLst xmlns:a="http://schemas.openxmlformats.org/drawingml/2006/main">
              <a:ext uri="{FF2B5EF4-FFF2-40B4-BE49-F238E27FC236}">
                <a16:creationId xmlns:a16="http://schemas.microsoft.com/office/drawing/2014/main" id="{B2679920-E010-4112-9BA6-1F9DDAC2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8-visual-alt" descr="Mapa semántico del término ruido. Contextual; físico/de señales; operativo. Orden de lectura: Desde nodo “ruido”; etiqueta “uso”. ---">
            <a:extLst xmlns:a="http://schemas.openxmlformats.org/drawingml/2006/main">
              <a:ext uri="{FF2B5EF4-FFF2-40B4-BE49-F238E27FC236}">
                <a16:creationId xmlns:a16="http://schemas.microsoft.com/office/drawing/2014/main" id="{D9821230-8B9E-4043-A067-E55FACC6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0" name="U10-DG-008-concept_1-text">
            <a:extLst xmlns:a="http://schemas.openxmlformats.org/drawingml/2006/main">
              <a:ext uri="{FF2B5EF4-FFF2-40B4-BE49-F238E27FC236}">
                <a16:creationId xmlns:a16="http://schemas.microsoft.com/office/drawing/2014/main" id="{0EBF9AEC-7A1F-4F8D-ADCE-A3466B0C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Contextual: depende de la tarea</a:t>
            </a:r>
          </a:p>
        </p:txBody>
      </p:sp>
      <p:sp>
        <p:nvSpPr>
          <p:cNvPr id="11" name="U10-DG-008-concept_2-box">
            <a:extLst xmlns:a="http://schemas.openxmlformats.org/drawingml/2006/main">
              <a:ext uri="{FF2B5EF4-FFF2-40B4-BE49-F238E27FC236}">
                <a16:creationId xmlns:a16="http://schemas.microsoft.com/office/drawing/2014/main" id="{E4328C60-EDF0-4F8A-B626-5AE865FF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2" name="U10-DG-008-concept_2-text">
            <a:extLst xmlns:a="http://schemas.openxmlformats.org/drawingml/2006/main">
              <a:ext uri="{FF2B5EF4-FFF2-40B4-BE49-F238E27FC236}">
                <a16:creationId xmlns:a16="http://schemas.microsoft.com/office/drawing/2014/main" id="{3AD837D6-E882-438B-9C15-B733F62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Físico: señal aleatoria</a:t>
            </a:r>
          </a:p>
        </p:txBody>
      </p:sp>
      <p:sp>
        <p:nvSpPr>
          <p:cNvPr id="13" name="U10-DG-008-concept_3-box">
            <a:extLst xmlns:a="http://schemas.openxmlformats.org/drawingml/2006/main">
              <a:ext uri="{FF2B5EF4-FFF2-40B4-BE49-F238E27FC236}">
                <a16:creationId xmlns:a16="http://schemas.microsoft.com/office/drawing/2014/main" id="{0519F0E0-0A71-473E-968F-3D59C2FB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4" name="U10-DG-008-concept_3-text">
            <a:extLst xmlns:a="http://schemas.openxmlformats.org/drawingml/2006/main">
              <a:ext uri="{FF2B5EF4-FFF2-40B4-BE49-F238E27FC236}">
                <a16:creationId xmlns:a16="http://schemas.microsoft.com/office/drawing/2014/main" id="{668A50FF-2631-4F81-9B45-0DD2D789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Operativo: señal de prueba</a:t>
            </a:r>
          </a:p>
        </p:txBody>
      </p:sp>
      <p:sp>
        <p:nvSpPr>
          <p:cNvPr id="15" name="caption">
            <a:extLst xmlns:a="http://schemas.openxmlformats.org/drawingml/2006/main">
              <a:ext uri="{FF2B5EF4-FFF2-40B4-BE49-F238E27FC236}">
                <a16:creationId xmlns:a16="http://schemas.microsoft.com/office/drawing/2014/main" id="{DB1B4458-A8A1-4225-8D5B-2A86919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Mapa semántico del término ruido. Contextual; físico/de señales; operativo.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BEDEAD3-2E09-4881-92C2-B3AF0BF1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0532E8C5-6E1B-4142-AAB4-479934B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C67BA26-FDCD-446E-A985-4AA2F7D7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2B5DF66-89EC-4C9F-952B-C41D0AE4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9EFF7CB-D97F-4B28-96A4-C492B845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CD3BED-B3B7-4EC1-B8CF-31FD716E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cambia cuando cambia la tarea?</a:t>
            </a:r>
          </a:p>
        </p:txBody>
      </p:sp>
      <p:sp>
        <p:nvSpPr>
          <p:cNvPr id="6" name="U10-DG-009-step_1-anchor">
            <a:extLst xmlns:a="http://schemas.openxmlformats.org/drawingml/2006/main">
              <a:ext uri="{FF2B5EF4-FFF2-40B4-BE49-F238E27FC236}">
                <a16:creationId xmlns:a16="http://schemas.microsoft.com/office/drawing/2014/main" id="{5B638B41-E675-4022-A781-00D2B471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09-step_2-anchor">
            <a:extLst xmlns:a="http://schemas.openxmlformats.org/drawingml/2006/main">
              <a:ext uri="{FF2B5EF4-FFF2-40B4-BE49-F238E27FC236}">
                <a16:creationId xmlns:a16="http://schemas.microsoft.com/office/drawing/2014/main" id="{3B0B7DAD-ECC9-4B4E-A046-54D4E98A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09-step_3-anchor">
            <a:extLst xmlns:a="http://schemas.openxmlformats.org/drawingml/2006/main">
              <a:ext uri="{FF2B5EF4-FFF2-40B4-BE49-F238E27FC236}">
                <a16:creationId xmlns:a16="http://schemas.microsoft.com/office/drawing/2014/main" id="{84EAD3C6-C2BE-4869-A454-3BB7007C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09-step_4-anchor">
            <a:extLst xmlns:a="http://schemas.openxmlformats.org/drawingml/2006/main">
              <a:ext uri="{FF2B5EF4-FFF2-40B4-BE49-F238E27FC236}">
                <a16:creationId xmlns:a16="http://schemas.microsoft.com/office/drawing/2014/main" id="{C1F52420-AAE1-422A-9011-C5CB4A44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U10-DG-009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10-DG-009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10-DG-009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10-DG-009-visual-alt" descr="Actividad de clasificación contextual. Cuatro casos; tarea; función elegida. Orden de lectura: Conectores revelables, sin cruce. ---">
            <a:extLst xmlns:a="http://schemas.openxmlformats.org/drawingml/2006/main">
              <a:ext uri="{FF2B5EF4-FFF2-40B4-BE49-F238E27FC236}">
                <a16:creationId xmlns:a16="http://schemas.microsoft.com/office/drawing/2014/main" id="{AE8D8BEF-FBDA-43C2-92A2-6E36810F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10-DG-009-step_1-text">
            <a:extLst xmlns:a="http://schemas.openxmlformats.org/drawingml/2006/main">
              <a:ext uri="{FF2B5EF4-FFF2-40B4-BE49-F238E27FC236}">
                <a16:creationId xmlns:a16="http://schemas.microsoft.com/office/drawing/2014/main" id="{18005FE9-1081-42FD-9E48-B5FB8CCE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Voz vecina</a:t>
            </a:r>
          </a:p>
        </p:txBody>
      </p:sp>
      <p:sp>
        <p:nvSpPr>
          <p:cNvPr id="15" name="U10-DG-009-step_2-box">
            <a:extLst xmlns:a="http://schemas.openxmlformats.org/drawingml/2006/main">
              <a:ext uri="{FF2B5EF4-FFF2-40B4-BE49-F238E27FC236}">
                <a16:creationId xmlns:a16="http://schemas.microsoft.com/office/drawing/2014/main" id="{36D7B1DA-EEBD-4426-B02F-D6B08134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09-step_2-text">
            <a:extLst xmlns:a="http://schemas.openxmlformats.org/drawingml/2006/main">
              <a:ext uri="{FF2B5EF4-FFF2-40B4-BE49-F238E27FC236}">
                <a16:creationId xmlns:a16="http://schemas.microsoft.com/office/drawing/2014/main" id="{C24C15C2-FD4C-4B04-9F5D-FB619963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Ruido del equipo</a:t>
            </a:r>
          </a:p>
        </p:txBody>
      </p:sp>
      <p:sp>
        <p:nvSpPr>
          <p:cNvPr id="17" name="U10-DG-009-step_3-box">
            <a:extLst xmlns:a="http://schemas.openxmlformats.org/drawingml/2006/main">
              <a:ext uri="{FF2B5EF4-FFF2-40B4-BE49-F238E27FC236}">
                <a16:creationId xmlns:a16="http://schemas.microsoft.com/office/drawing/2014/main" id="{2BDC2B90-1585-4416-A68D-0B58680E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10-DG-009-step_3-text">
            <a:extLst xmlns:a="http://schemas.openxmlformats.org/drawingml/2006/main">
              <a:ext uri="{FF2B5EF4-FFF2-40B4-BE49-F238E27FC236}">
                <a16:creationId xmlns:a16="http://schemas.microsoft.com/office/drawing/2014/main" id="{8B49EE68-7217-4C4C-9597-AD45FCF2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Señal de prueba</a:t>
            </a:r>
          </a:p>
        </p:txBody>
      </p:sp>
      <p:sp>
        <p:nvSpPr>
          <p:cNvPr id="19" name="U10-DG-009-step_4-box">
            <a:extLst xmlns:a="http://schemas.openxmlformats.org/drawingml/2006/main">
              <a:ext uri="{FF2B5EF4-FFF2-40B4-BE49-F238E27FC236}">
                <a16:creationId xmlns:a16="http://schemas.microsoft.com/office/drawing/2014/main" id="{725296AC-E2E4-482A-864C-CD867FAC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10-DG-009-step_4-text">
            <a:extLst xmlns:a="http://schemas.openxmlformats.org/drawingml/2006/main">
              <a:ext uri="{FF2B5EF4-FFF2-40B4-BE49-F238E27FC236}">
                <a16:creationId xmlns:a16="http://schemas.microsoft.com/office/drawing/2014/main" id="{7CAAE3E1-9DF9-40CA-949F-EDDE05A5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Tránsito exterior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3EF12390-DF77-462F-928C-9CF9AB81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Actividad de clasificación contextual. Cuatro casos; tarea; función elegida.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020D6E-3796-40C6-828F-75EDE2E8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DE37C816-DF85-473E-AB57-D305BCCB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9E4C2BB-3871-4B9A-924C-13FF0F6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2995EFC-39D4-47FF-8852-E5C72B8A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AD0B234-1560-403D-A388-8334690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F282D8-FF81-45D0-AEB2-3A0A379F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Determinístico y aleatorio responden con herramientas distintas</a:t>
            </a:r>
          </a:p>
        </p:txBody>
      </p:sp>
      <p:pic>
        <p:nvPicPr>
          <p:cNvPr id="17" name="U10-CH-015-chart" descr="Dos paneles con ejes comunes comparan una sinusoide conocida y ruido limitado en banda, ambos con RMS 1 mP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f45d9920e4d0c">
            <a:extLst>
              <a:ext uri="{96DAC541-7B7A-43D3-8B79-37D633B846F1}">
                <asvg:svgBlip xmlns:asvg="http://schemas.microsoft.com/office/drawing/2016/SVG/main" r:embed="R7f70c24bc36145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42FB5C90-BD62-429D-A1A7-ABC59826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8F23FFCF-3C75-44E0-B83D-CA49773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573723F0-74E3-43E5-9938-BE0D6F15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Determinística Un modelo y sus parámetros permiten predecir cada muestra. Ejemplo: una sinusoide ideal de amplitud y frecuencia conocidas.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6C128036-8543-49EC-9BB7-EAE2CB67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sinusoide se predice muestra a muestra; una realización aleatoria se describe por propiedades, aun con el mismo RMS.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CF8B04C-3AEB-438D-9601-195B7489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3CAE242C-B38D-4B6A-B9C8-58493707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BB1E5A9-41FB-42D4-A620-4554F02D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6346F6F-ED3E-4FAD-889B-0D8AE00C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7CC50D3-D777-4337-BF8D-FD77DF5D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78DD47-993E-4C9B-B29D-A35B0A52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realización no es todo el proceso</a:t>
            </a:r>
          </a:p>
        </p:txBody>
      </p:sp>
      <p:pic>
        <p:nvPicPr>
          <p:cNvPr id="17" name="U10-CH-001-chart" descr="Dos paneles muestran realizaciones gaussianas distintas con los mismos ejes. En cada panel se indican media cero y RMS de 1 mP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1f0dc98de49df">
            <a:extLst>
              <a:ext uri="{96DAC541-7B7A-43D3-8B79-37D633B846F1}">
                <asvg:svgBlip xmlns:asvg="http://schemas.microsoft.com/office/drawing/2016/SVG/main" r:embed="R7df821681d5842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C01ED9F2-D281-487B-A696-6E544C71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AF4A2EE3-E05C-474F-AA7E-3685C469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F040324F-1772-4AC0-B2EA-C25C9D05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Realización: registro concreto de un proceso durante un intervalo. A y B difieren muestra a muestra. Ambas fueron normalizadas a media 0 mPa y RMS 1 mPa.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58368AE4-0692-4AA0-9449-A8C6ACE2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Dos realizaciones sintéticas no coinciden muestra a muestra, aunque ambas tienen media cero y RMS de 1 mPa.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923626-C1E3-45E1-B95A-68986304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1FFD3BAA-4A39-4DFC-8127-AEBF29D4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787CB47-8B7E-4E13-8000-F492D2F3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6D6A019-1446-4DB6-B20D-BB09D04E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772BA8E-316F-430C-A8C3-368DDA4E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7AB6B4-B237-497E-B653-00C794F2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Señal, función y predictibilidad son ejes distintos</a:t>
            </a:r>
          </a:p>
        </p:txBody>
      </p:sp>
      <p:sp>
        <p:nvSpPr>
          <p:cNvPr id="6" name="U10-DG-010-signal-anchor">
            <a:extLst xmlns:a="http://schemas.openxmlformats.org/drawingml/2006/main">
              <a:ext uri="{FF2B5EF4-FFF2-40B4-BE49-F238E27FC236}">
                <a16:creationId xmlns:a16="http://schemas.microsoft.com/office/drawing/2014/main" id="{E4EF12F0-3DDE-410A-9DF2-EDCC6F08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1808798"/>
            <a:ext cx="262890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0-context-anchor">
            <a:extLst xmlns:a="http://schemas.openxmlformats.org/drawingml/2006/main">
              <a:ext uri="{FF2B5EF4-FFF2-40B4-BE49-F238E27FC236}">
                <a16:creationId xmlns:a16="http://schemas.microsoft.com/office/drawing/2014/main" id="{6081CBE1-563A-4D6A-855F-7A2DF2F8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230" y="1808798"/>
            <a:ext cx="262890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0-receiver-anchor">
            <a:extLst xmlns:a="http://schemas.openxmlformats.org/drawingml/2006/main">
              <a:ext uri="{FF2B5EF4-FFF2-40B4-BE49-F238E27FC236}">
                <a16:creationId xmlns:a16="http://schemas.microsoft.com/office/drawing/2014/main" id="{C8629432-1593-4A01-B932-042CD1D8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4191000"/>
            <a:ext cx="262890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0-question-anchor">
            <a:extLst xmlns:a="http://schemas.openxmlformats.org/drawingml/2006/main">
              <a:ext uri="{FF2B5EF4-FFF2-40B4-BE49-F238E27FC236}">
                <a16:creationId xmlns:a16="http://schemas.microsoft.com/office/drawing/2014/main" id="{D92B5C71-60A1-4747-B2C8-B8E6A3E3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2667953"/>
            <a:ext cx="2628900" cy="1015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U10-DG-010-relation_signal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54730" y="2316481"/>
            <a:ext cx="876300" cy="85915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10-DG-010-relation_context"/>
          <p:cNvCxnSpPr>
            <a:stCxn xmlns:a="http://schemas.openxmlformats.org/drawingml/2006/main" id="7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059930" y="2316481"/>
            <a:ext cx="876300" cy="85915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10-DG-010-relation_receiver"/>
          <p:cNvCxnSpPr>
            <a:stCxn xmlns:a="http://schemas.openxmlformats.org/drawingml/2006/main" id="8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5745480" y="3683318"/>
            <a:ext cx="0" cy="50768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10-DG-010-visual-alt" descr="Recap señal–contexto–receptor. Tres vértices + pregunta central. Orden de lectura: Flechas bidireccionales sin etiqueta o con verbos de 1 palabra. ---">
            <a:extLst xmlns:a="http://schemas.openxmlformats.org/drawingml/2006/main">
              <a:ext uri="{FF2B5EF4-FFF2-40B4-BE49-F238E27FC236}">
                <a16:creationId xmlns:a16="http://schemas.microsoft.com/office/drawing/2014/main" id="{3C3A7469-0559-4A63-B20B-272EB101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" y="1808798"/>
            <a:ext cx="262890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10-DG-010-signal-text">
            <a:extLst xmlns:a="http://schemas.openxmlformats.org/drawingml/2006/main">
              <a:ext uri="{FF2B5EF4-FFF2-40B4-BE49-F238E27FC236}">
                <a16:creationId xmlns:a16="http://schemas.microsoft.com/office/drawing/2014/main" id="{087C970F-B0E2-4BFE-9B24-B2F37B3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32623"/>
            <a:ext cx="228600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15" name="U10-DG-010-context-box">
            <a:extLst xmlns:a="http://schemas.openxmlformats.org/drawingml/2006/main">
              <a:ext uri="{FF2B5EF4-FFF2-40B4-BE49-F238E27FC236}">
                <a16:creationId xmlns:a16="http://schemas.microsoft.com/office/drawing/2014/main" id="{4FF7ADD2-7E50-4AEA-A1F1-D23724A9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230" y="1808798"/>
            <a:ext cx="262890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0-context-text">
            <a:extLst xmlns:a="http://schemas.openxmlformats.org/drawingml/2006/main">
              <a:ext uri="{FF2B5EF4-FFF2-40B4-BE49-F238E27FC236}">
                <a16:creationId xmlns:a16="http://schemas.microsoft.com/office/drawing/2014/main" id="{C34860A8-3094-47CD-A279-B8F8D8F9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932623"/>
            <a:ext cx="228600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Contexto</a:t>
            </a:r>
          </a:p>
        </p:txBody>
      </p:sp>
      <p:sp>
        <p:nvSpPr>
          <p:cNvPr id="17" name="U10-DG-010-receiver-box">
            <a:extLst xmlns:a="http://schemas.openxmlformats.org/drawingml/2006/main">
              <a:ext uri="{FF2B5EF4-FFF2-40B4-BE49-F238E27FC236}">
                <a16:creationId xmlns:a16="http://schemas.microsoft.com/office/drawing/2014/main" id="{7900610A-F3AD-4EBC-9626-7DB9A662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4191000"/>
            <a:ext cx="262890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10-receiver-text">
            <a:extLst xmlns:a="http://schemas.openxmlformats.org/drawingml/2006/main">
              <a:ext uri="{FF2B5EF4-FFF2-40B4-BE49-F238E27FC236}">
                <a16:creationId xmlns:a16="http://schemas.microsoft.com/office/drawing/2014/main" id="{83C6608D-0C6F-4781-B879-96F855D9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4314825"/>
            <a:ext cx="228600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19" name="U10-DG-010-question-box">
            <a:extLst xmlns:a="http://schemas.openxmlformats.org/drawingml/2006/main">
              <a:ext uri="{FF2B5EF4-FFF2-40B4-BE49-F238E27FC236}">
                <a16:creationId xmlns:a16="http://schemas.microsoft.com/office/drawing/2014/main" id="{D89AA022-B25D-4D37-A146-2A3F058B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2667953"/>
            <a:ext cx="2628900" cy="1015365"/>
          </a:xfrm>
          <a:prstGeom xmlns:a="http://schemas.openxmlformats.org/drawingml/2006/main" prst="roundRect">
            <a:avLst>
              <a:gd name="adj" fmla="val 65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10-question-text">
            <a:extLst xmlns:a="http://schemas.openxmlformats.org/drawingml/2006/main">
              <a:ext uri="{FF2B5EF4-FFF2-40B4-BE49-F238E27FC236}">
                <a16:creationId xmlns:a16="http://schemas.microsoft.com/office/drawing/2014/main" id="{62BD32B5-CF63-419F-9758-64623F01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2791778"/>
            <a:ext cx="2286000" cy="767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función cumple?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1824D61E-3E96-43C9-941E-2247C64D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Recap señal–contexto–receptor. Tres vértices + pregunta central.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294D96-914E-4EF5-B735-A32858CB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D9D99E28-29B5-4BA0-BB7D-BB8A2CCF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D0EF8118-12E1-4E85-BF1D-7CA15AF7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cambia muestra a muestra y qué permanece describible?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51CF07F3-775D-4167-8162-529125FC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C79A81-8286-44C5-B221-2178BF9C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E1967C59-CE92-43CD-A75E-23121C14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DB13B03-A397-407C-AF85-CE3A14B1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0BD65DF-9D65-48B7-96D5-7189F440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082D174-628B-42FD-A9F1-A9CD7C00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3B6047-DEA9-4434-A0A6-09DB9EC0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Estacionario no significa constante</a:t>
            </a:r>
          </a:p>
        </p:txBody>
      </p:sp>
      <p:pic>
        <p:nvPicPr>
          <p:cNvPr id="17" name="U10-CH-002-chart" descr="Una traza de ocho segundos contiene dos ventanas resaltadas. Debajo, dos ampliaciones muestran formas distintas y valores RMS próximos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8af5a9e5949bc">
            <a:extLst>
              <a:ext uri="{96DAC541-7B7A-43D3-8B79-37D633B846F1}">
                <asvg:svgBlip xmlns:asvg="http://schemas.microsoft.com/office/drawing/2016/SVG/main" r:embed="R9a8050a1d8c64c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4F1D2854-4F8D-407F-8D2A-8B5D6E7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81994803-E821-412F-B955-15D44C61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3860D0B6-439F-459E-8F2F-0FE6F536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señal puede variar en cada instante y ser aproximadamente estacionaria durante una ventana. Criterio práctico: dentro del intervalo declarado, propiedades como media, varianza o espectro permanecen aproximadamente estables. Estacionario no significa que p(t) sea constante.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507DBF8A-48C7-4549-82EE-FF21611B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Dos ventanas de una señal sintética cambian muestra a muestra mientras su RMS permanece aproximadamente estable.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EC289C-DB75-4FA9-9F58-D7855BDE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35FD71C4-64DB-4A5B-8BCF-561606E0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A4981CB-3D05-4C34-A83B-C5606572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59C0103-B858-4B7B-81BC-41571BB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9CAD4E8-1BD1-4C80-8D61-0FAA997F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0B4E03-D25F-4427-9C71-B715B34B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señal puede parecer estable en 2 s y cambiar en 20 min</a:t>
            </a:r>
          </a:p>
        </p:txBody>
      </p:sp>
      <p:pic>
        <p:nvPicPr>
          <p:cNvPr id="17" name="U10-CH-003-chart" descr="Un registro sintético de dos minutos tiene una envolvente lenta. Un recuadro enlaza una ventana de cinco segundos con su ampliación exact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d7accf1db4970">
            <a:extLst>
              <a:ext uri="{96DAC541-7B7A-43D3-8B79-37D633B846F1}">
                <asvg:svgBlip xmlns:asvg="http://schemas.microsoft.com/office/drawing/2016/SVG/main" r:embed="R0089b4b34d1f43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3D442461-BF92-4730-9995-6B20400A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38208DAE-B5CB-4CDC-A53B-9F4F6488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00BFB13C-55BD-455C-B465-176E015B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El gráfico muestra el mismo registro en dos escalas: en una ventana breve, las propiedades pueden parecer estables; durante minutos, una envolvente lenta revela cambios;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E37A31A6-2520-4121-B70E-E46E5075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mismo registro puede parecer estable en una ventana breve y variar cuando se observa durante minutos.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0BFCB9-93D8-42A6-B7FC-651F6842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B5CAC245-6AD3-4E47-BE56-D0169B3C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9EEF3B3-EF56-458D-AB4A-A6E8A5B0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7B6032B-8AA3-4C43-8841-344831AB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6445D31-37C9-42AF-A709-3B883BD1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984719-0780-4090-8AA2-8E2F1F21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evoluciones temporales, cuatro patrones</a:t>
            </a:r>
          </a:p>
        </p:txBody>
      </p:sp>
      <p:pic>
        <p:nvPicPr>
          <p:cNvPr id="17" name="U10-CH-004-chart" descr="Cuatro paneles con ejes comunes muestran ruido continuo estable, fluctuante, intermitente e impulsivo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3b377246741cf">
            <a:extLst>
              <a:ext uri="{96DAC541-7B7A-43D3-8B79-37D633B846F1}">
                <asvg:svgBlip xmlns:asvg="http://schemas.microsoft.com/office/drawing/2016/SVG/main" r:embed="Rb8008049bb8e4a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8FA84957-6E94-4557-AAAF-5053B5A4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51B9449E-7A9B-4C73-AA3C-03ABEC22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D4901B2E-5017-4F44-B434-5412898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Antes de nombrar cada panel, lea los ejes: t en segundos y p(t) en milipascales. continuo aproximadamente estable; continuo fluctuante;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2B0DDDA6-6381-429E-B38F-11EEE778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Patrones sintéticos continuo estable, fluctuante, intermitente e impulsivo; las categorías describen rasgos que pueden coexistir.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23786A-C6EC-4868-B7A6-5670634A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5E754BAD-7287-4CBC-81BA-52F50886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C79A966-E193-45B9-883E-C826A2D3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70FF6B5-6424-4212-9E0A-1BBB8639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E524809-6231-4A5B-B5A6-058BD057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D2F197-3600-4C95-B155-F6DDBAF4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señal puede ser impulsiva e intermitente</a:t>
            </a:r>
          </a:p>
        </p:txBody>
      </p:sp>
      <p:sp>
        <p:nvSpPr>
          <p:cNvPr id="6" name="U10-DG-011-concept_1-anchor">
            <a:extLst xmlns:a="http://schemas.openxmlformats.org/drawingml/2006/main">
              <a:ext uri="{FF2B5EF4-FFF2-40B4-BE49-F238E27FC236}">
                <a16:creationId xmlns:a16="http://schemas.microsoft.com/office/drawing/2014/main" id="{6A0CD686-87E9-420C-9FE9-AE63DCE9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1-concept_2-anchor">
            <a:extLst xmlns:a="http://schemas.openxmlformats.org/drawingml/2006/main">
              <a:ext uri="{FF2B5EF4-FFF2-40B4-BE49-F238E27FC236}">
                <a16:creationId xmlns:a16="http://schemas.microsoft.com/office/drawing/2014/main" id="{C7C775EE-91E7-43CA-B819-CE48ECBF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1-concept_3-anchor">
            <a:extLst xmlns:a="http://schemas.openxmlformats.org/drawingml/2006/main">
              <a:ext uri="{FF2B5EF4-FFF2-40B4-BE49-F238E27FC236}">
                <a16:creationId xmlns:a16="http://schemas.microsoft.com/office/drawing/2014/main" id="{F6432C87-270F-4127-88B1-3FDA6B94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1-concept_4-anchor">
            <a:extLst xmlns:a="http://schemas.openxmlformats.org/drawingml/2006/main">
              <a:ext uri="{FF2B5EF4-FFF2-40B4-BE49-F238E27FC236}">
                <a16:creationId xmlns:a16="http://schemas.microsoft.com/office/drawing/2014/main" id="{351C534E-EE09-4857-9932-3B24A308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1-concept_5-anchor">
            <a:extLst xmlns:a="http://schemas.openxmlformats.org/drawingml/2006/main">
              <a:ext uri="{FF2B5EF4-FFF2-40B4-BE49-F238E27FC236}">
                <a16:creationId xmlns:a16="http://schemas.microsoft.com/office/drawing/2014/main" id="{4E05BB93-F50B-4222-957D-7FDB0505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11-concept_6-anchor">
            <a:extLst xmlns:a="http://schemas.openxmlformats.org/drawingml/2006/main">
              <a:ext uri="{FF2B5EF4-FFF2-40B4-BE49-F238E27FC236}">
                <a16:creationId xmlns:a16="http://schemas.microsoft.com/office/drawing/2014/main" id="{D980FE6E-452C-4FC1-91E3-E097C797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11-visual-alt" descr="Clasificación temporal no excluyente. Predictibilidad; continuidad; impulsividad; ejemplos. Orden de lectura: Árbol con retorno “puede coexistir”. ---">
            <a:extLst xmlns:a="http://schemas.openxmlformats.org/drawingml/2006/main">
              <a:ext uri="{FF2B5EF4-FFF2-40B4-BE49-F238E27FC236}">
                <a16:creationId xmlns:a16="http://schemas.microsoft.com/office/drawing/2014/main" id="{4F540FF8-2162-4438-8154-32477E4F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11-concept_1-text">
            <a:extLst xmlns:a="http://schemas.openxmlformats.org/drawingml/2006/main">
              <a:ext uri="{FF2B5EF4-FFF2-40B4-BE49-F238E27FC236}">
                <a16:creationId xmlns:a16="http://schemas.microsoft.com/office/drawing/2014/main" id="{A3EAD7C1-CFF5-4E87-B535-2D2F8D0F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Predictibilidad</a:t>
            </a:r>
          </a:p>
        </p:txBody>
      </p:sp>
      <p:sp>
        <p:nvSpPr>
          <p:cNvPr id="14" name="U10-DG-011-concept_2-box">
            <a:extLst xmlns:a="http://schemas.openxmlformats.org/drawingml/2006/main">
              <a:ext uri="{FF2B5EF4-FFF2-40B4-BE49-F238E27FC236}">
                <a16:creationId xmlns:a16="http://schemas.microsoft.com/office/drawing/2014/main" id="{8B18FCCC-C3DA-4190-93FA-8E6D7359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10-DG-011-concept_2-text">
            <a:extLst xmlns:a="http://schemas.openxmlformats.org/drawingml/2006/main">
              <a:ext uri="{FF2B5EF4-FFF2-40B4-BE49-F238E27FC236}">
                <a16:creationId xmlns:a16="http://schemas.microsoft.com/office/drawing/2014/main" id="{F15280DF-105C-4FA2-BDA2-BD6454B1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Continuidad</a:t>
            </a:r>
          </a:p>
        </p:txBody>
      </p:sp>
      <p:sp>
        <p:nvSpPr>
          <p:cNvPr id="16" name="U10-DG-011-concept_3-box">
            <a:extLst xmlns:a="http://schemas.openxmlformats.org/drawingml/2006/main">
              <a:ext uri="{FF2B5EF4-FFF2-40B4-BE49-F238E27FC236}">
                <a16:creationId xmlns:a16="http://schemas.microsoft.com/office/drawing/2014/main" id="{AE72F9DE-D3BA-44D0-A8E1-45E3FCEF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11-concept_3-text">
            <a:extLst xmlns:a="http://schemas.openxmlformats.org/drawingml/2006/main">
              <a:ext uri="{FF2B5EF4-FFF2-40B4-BE49-F238E27FC236}">
                <a16:creationId xmlns:a16="http://schemas.microsoft.com/office/drawing/2014/main" id="{9C0A5DA6-9AA5-4C44-9D90-57E17176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Impulsividad</a:t>
            </a:r>
          </a:p>
        </p:txBody>
      </p:sp>
      <p:sp>
        <p:nvSpPr>
          <p:cNvPr id="18" name="U10-DG-011-concept_4-box">
            <a:extLst xmlns:a="http://schemas.openxmlformats.org/drawingml/2006/main">
              <a:ext uri="{FF2B5EF4-FFF2-40B4-BE49-F238E27FC236}">
                <a16:creationId xmlns:a16="http://schemas.microsoft.com/office/drawing/2014/main" id="{102703A4-8546-4055-8E14-7928EA34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10-DG-011-concept_4-text">
            <a:extLst xmlns:a="http://schemas.openxmlformats.org/drawingml/2006/main">
              <a:ext uri="{FF2B5EF4-FFF2-40B4-BE49-F238E27FC236}">
                <a16:creationId xmlns:a16="http://schemas.microsoft.com/office/drawing/2014/main" id="{3BA1EA18-EF94-4758-A6EF-E522D2CC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Los rasgos pueden coexistir</a:t>
            </a:r>
          </a:p>
        </p:txBody>
      </p:sp>
      <p:sp>
        <p:nvSpPr>
          <p:cNvPr id="20" name="U10-DG-011-concept_5-box">
            <a:extLst xmlns:a="http://schemas.openxmlformats.org/drawingml/2006/main">
              <a:ext uri="{FF2B5EF4-FFF2-40B4-BE49-F238E27FC236}">
                <a16:creationId xmlns:a16="http://schemas.microsoft.com/office/drawing/2014/main" id="{FB1CB1D5-E3FF-4331-8196-7FE88232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11-concept_5-text">
            <a:extLst xmlns:a="http://schemas.openxmlformats.org/drawingml/2006/main">
              <a:ext uri="{FF2B5EF4-FFF2-40B4-BE49-F238E27FC236}">
                <a16:creationId xmlns:a16="http://schemas.microsoft.com/office/drawing/2014/main" id="{7B59EC47-70C5-425B-A89F-196B8DC1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Ejemplo: máquina fluctuante</a:t>
            </a:r>
          </a:p>
        </p:txBody>
      </p:sp>
      <p:sp>
        <p:nvSpPr>
          <p:cNvPr id="22" name="U10-DG-011-concept_6-box">
            <a:extLst xmlns:a="http://schemas.openxmlformats.org/drawingml/2006/main">
              <a:ext uri="{FF2B5EF4-FFF2-40B4-BE49-F238E27FC236}">
                <a16:creationId xmlns:a16="http://schemas.microsoft.com/office/drawing/2014/main" id="{9DB9B2EA-3A9F-42FF-B2E3-FE65266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3" name="U10-DG-011-concept_6-text">
            <a:extLst xmlns:a="http://schemas.openxmlformats.org/drawingml/2006/main">
              <a:ext uri="{FF2B5EF4-FFF2-40B4-BE49-F238E27FC236}">
                <a16:creationId xmlns:a16="http://schemas.microsoft.com/office/drawing/2014/main" id="{105E41BF-17DA-4883-9958-D5121491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Ejemplo: portazos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7D60D460-D948-44C5-91A9-A94D493F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Clasificación temporal no excluyente. Predictibilidad; continuidad; impulsividad; ejemplos.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0609DF-DDEE-451D-BEFE-97D815E3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27F09463-7AD3-4A26-8FF9-708A917A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1EEA544-D5F9-434E-A42F-1D25C30A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B7A867F-A7B8-4975-BD3E-A8BB9023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1BA6A76-2355-4D42-B582-C5AAD48D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DF3DEE-42A8-472F-AE6C-FA6817B5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sola muestra no describe una señal variable</a:t>
            </a:r>
          </a:p>
        </p:txBody>
      </p:sp>
      <p:sp>
        <p:nvSpPr>
          <p:cNvPr id="6" name="U10-DG-012-concept_1-anchor">
            <a:extLst xmlns:a="http://schemas.openxmlformats.org/drawingml/2006/main">
              <a:ext uri="{FF2B5EF4-FFF2-40B4-BE49-F238E27FC236}">
                <a16:creationId xmlns:a16="http://schemas.microsoft.com/office/drawing/2014/main" id="{96E831E4-67E4-470D-B53A-DD58D226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2-concept_2-anchor">
            <a:extLst xmlns:a="http://schemas.openxmlformats.org/drawingml/2006/main">
              <a:ext uri="{FF2B5EF4-FFF2-40B4-BE49-F238E27FC236}">
                <a16:creationId xmlns:a16="http://schemas.microsoft.com/office/drawing/2014/main" id="{4C813E36-BC7E-4C4B-ABBA-523FF61D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2-concept_3-anchor">
            <a:extLst xmlns:a="http://schemas.openxmlformats.org/drawingml/2006/main">
              <a:ext uri="{FF2B5EF4-FFF2-40B4-BE49-F238E27FC236}">
                <a16:creationId xmlns:a16="http://schemas.microsoft.com/office/drawing/2014/main" id="{DF8355D4-5C9E-47F3-A350-5C95D3E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2-concept_4-anchor">
            <a:extLst xmlns:a="http://schemas.openxmlformats.org/drawingml/2006/main">
              <a:ext uri="{FF2B5EF4-FFF2-40B4-BE49-F238E27FC236}">
                <a16:creationId xmlns:a16="http://schemas.microsoft.com/office/drawing/2014/main" id="{0F1EE75A-354A-4DF6-A4F8-A967F45D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394329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2-visual-alt" descr="Crear necesidad de estadísticos. Muestra; ventana; registro; descriptores. Orden de lectura: “amplía contexto”, “resume”. ---">
            <a:extLst xmlns:a="http://schemas.openxmlformats.org/drawingml/2006/main">
              <a:ext uri="{FF2B5EF4-FFF2-40B4-BE49-F238E27FC236}">
                <a16:creationId xmlns:a16="http://schemas.microsoft.com/office/drawing/2014/main" id="{6ADD6B46-9CE1-49D2-A3C8-BB177BE8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10-DG-012-concept_1-text">
            <a:extLst xmlns:a="http://schemas.openxmlformats.org/drawingml/2006/main">
              <a:ext uri="{FF2B5EF4-FFF2-40B4-BE49-F238E27FC236}">
                <a16:creationId xmlns:a16="http://schemas.microsoft.com/office/drawing/2014/main" id="{8C3CE399-2B32-41F3-A8AE-C2E4CDBF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Muestra instantánea</a:t>
            </a:r>
          </a:p>
        </p:txBody>
      </p:sp>
      <p:sp>
        <p:nvSpPr>
          <p:cNvPr id="12" name="U10-DG-012-concept_2-box">
            <a:extLst xmlns:a="http://schemas.openxmlformats.org/drawingml/2006/main">
              <a:ext uri="{FF2B5EF4-FFF2-40B4-BE49-F238E27FC236}">
                <a16:creationId xmlns:a16="http://schemas.microsoft.com/office/drawing/2014/main" id="{D96C6240-3E2A-4C41-8BE3-28449A40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3" name="U10-DG-012-concept_2-text">
            <a:extLst xmlns:a="http://schemas.openxmlformats.org/drawingml/2006/main">
              <a:ext uri="{FF2B5EF4-FFF2-40B4-BE49-F238E27FC236}">
                <a16:creationId xmlns:a16="http://schemas.microsoft.com/office/drawing/2014/main" id="{C263DC22-178A-4095-94E4-D8A780AF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Ventana de observación</a:t>
            </a:r>
          </a:p>
        </p:txBody>
      </p:sp>
      <p:sp>
        <p:nvSpPr>
          <p:cNvPr id="14" name="U10-DG-012-concept_3-box">
            <a:extLst xmlns:a="http://schemas.openxmlformats.org/drawingml/2006/main">
              <a:ext uri="{FF2B5EF4-FFF2-40B4-BE49-F238E27FC236}">
                <a16:creationId xmlns:a16="http://schemas.microsoft.com/office/drawing/2014/main" id="{07914D89-EB4B-411F-A8E2-2F61E18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10-DG-012-concept_3-text">
            <a:extLst xmlns:a="http://schemas.openxmlformats.org/drawingml/2006/main">
              <a:ext uri="{FF2B5EF4-FFF2-40B4-BE49-F238E27FC236}">
                <a16:creationId xmlns:a16="http://schemas.microsoft.com/office/drawing/2014/main" id="{44F9328F-119D-4FEC-9745-922DFCC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Registro</a:t>
            </a:r>
          </a:p>
        </p:txBody>
      </p:sp>
      <p:sp>
        <p:nvSpPr>
          <p:cNvPr id="16" name="U10-DG-012-concept_4-box">
            <a:extLst xmlns:a="http://schemas.openxmlformats.org/drawingml/2006/main">
              <a:ext uri="{FF2B5EF4-FFF2-40B4-BE49-F238E27FC236}">
                <a16:creationId xmlns:a16="http://schemas.microsoft.com/office/drawing/2014/main" id="{44E500F0-A54B-424B-9592-C410E502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394329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7" name="U10-DG-012-concept_4-text">
            <a:extLst xmlns:a="http://schemas.openxmlformats.org/drawingml/2006/main">
              <a:ext uri="{FF2B5EF4-FFF2-40B4-BE49-F238E27FC236}">
                <a16:creationId xmlns:a16="http://schemas.microsoft.com/office/drawing/2014/main" id="{4FEDD879-FC6E-4CFF-8F6F-D85CDF99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518154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Descriptores</a:t>
            </a:r>
          </a:p>
        </p:txBody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B3AB6F67-23F6-45CB-9136-98589F30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Crear necesidad de estadísticos. Muestra; ventana; registro; descriptores.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FF88A0F-4C82-4904-95DD-B034C5C3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79FC811C-891F-41AF-B164-BE3C338E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1E0C156-A25B-4A49-B9AA-E4BDE963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97C8203-E888-4CAB-A97A-33F5265E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08DAF7C-A89D-4BA4-B097-A8E7D890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5E1F54-225C-4E1D-857E-5FAE8E5F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media conserva el signo</a:t>
            </a:r>
          </a:p>
        </p:txBody>
      </p:sp>
      <p:sp>
        <p:nvSpPr>
          <p:cNvPr id="6" name="U10-DG-013-equation-anchor">
            <a:extLst xmlns:a="http://schemas.openxmlformats.org/drawingml/2006/main">
              <a:ext uri="{FF2B5EF4-FFF2-40B4-BE49-F238E27FC236}">
                <a16:creationId xmlns:a16="http://schemas.microsoft.com/office/drawing/2014/main" id="{F3E1F67A-7060-4907-8CDF-AF48600F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3-callout_1-anchor">
            <a:extLst xmlns:a="http://schemas.openxmlformats.org/drawingml/2006/main">
              <a:ext uri="{FF2B5EF4-FFF2-40B4-BE49-F238E27FC236}">
                <a16:creationId xmlns:a16="http://schemas.microsoft.com/office/drawing/2014/main" id="{D197D9BE-FF38-4920-BEFA-A79084E0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3-callout_2-anchor">
            <a:extLst xmlns:a="http://schemas.openxmlformats.org/drawingml/2006/main">
              <a:ext uri="{FF2B5EF4-FFF2-40B4-BE49-F238E27FC236}">
                <a16:creationId xmlns:a16="http://schemas.microsoft.com/office/drawing/2014/main" id="{F3F7F87A-A5CA-4CDD-B804-67FD1BE9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3-callout_3-anchor">
            <a:extLst xmlns:a="http://schemas.openxmlformats.org/drawingml/2006/main">
              <a:ext uri="{FF2B5EF4-FFF2-40B4-BE49-F238E27FC236}">
                <a16:creationId xmlns:a16="http://schemas.microsoft.com/office/drawing/2014/main" id="{CCD0A5F7-5EB5-4B32-9F3C-F8A5C342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3-callout_4-anchor">
            <a:extLst xmlns:a="http://schemas.openxmlformats.org/drawingml/2006/main">
              <a:ext uri="{FF2B5EF4-FFF2-40B4-BE49-F238E27FC236}">
                <a16:creationId xmlns:a16="http://schemas.microsoft.com/office/drawing/2014/main" id="{7ED99CC8-244F-444D-8ADD-E93C8BD1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13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13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13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13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13-visual-alt" descr="Ecuación de media anotada. Ecuación central; callouts N, pᵢ, p̄; unidad. Orden de lectura: Líderes cortos sin flecha. ---">
            <a:extLst xmlns:a="http://schemas.openxmlformats.org/drawingml/2006/main">
              <a:ext uri="{FF2B5EF4-FFF2-40B4-BE49-F238E27FC236}">
                <a16:creationId xmlns:a16="http://schemas.microsoft.com/office/drawing/2014/main" id="{77A114E5-821D-4398-8954-F6A8A242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3-equation-text">
            <a:extLst xmlns:a="http://schemas.openxmlformats.org/drawingml/2006/main">
              <a:ext uri="{FF2B5EF4-FFF2-40B4-BE49-F238E27FC236}">
                <a16:creationId xmlns:a16="http://schemas.microsoft.com/office/drawing/2014/main" id="{50360530-3EC7-48BC-BB74-690CE769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p̄ = (1/N) Σᵢ₌₁ᴺ pᵢ</a:t>
            </a:r>
          </a:p>
        </p:txBody>
      </p:sp>
      <p:sp>
        <p:nvSpPr>
          <p:cNvPr id="17" name="U10-DG-013-callout_1-box">
            <a:extLst xmlns:a="http://schemas.openxmlformats.org/drawingml/2006/main">
              <a:ext uri="{FF2B5EF4-FFF2-40B4-BE49-F238E27FC236}">
                <a16:creationId xmlns:a16="http://schemas.microsoft.com/office/drawing/2014/main" id="{7BA72A8D-7D27-4994-ACD8-0AFA0EC3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13-callout_1-text">
            <a:extLst xmlns:a="http://schemas.openxmlformats.org/drawingml/2006/main">
              <a:ext uri="{FF2B5EF4-FFF2-40B4-BE49-F238E27FC236}">
                <a16:creationId xmlns:a16="http://schemas.microsoft.com/office/drawing/2014/main" id="{2730FF0E-D573-49EA-86B1-2CDF20D5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N: cantidad de muestras</a:t>
            </a:r>
          </a:p>
        </p:txBody>
      </p:sp>
      <p:sp>
        <p:nvSpPr>
          <p:cNvPr id="19" name="U10-DG-013-callout_2-box">
            <a:extLst xmlns:a="http://schemas.openxmlformats.org/drawingml/2006/main">
              <a:ext uri="{FF2B5EF4-FFF2-40B4-BE49-F238E27FC236}">
                <a16:creationId xmlns:a16="http://schemas.microsoft.com/office/drawing/2014/main" id="{72DEFDE6-69E9-453F-AC43-2CADDAC6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13-callout_2-text">
            <a:extLst xmlns:a="http://schemas.openxmlformats.org/drawingml/2006/main">
              <a:ext uri="{FF2B5EF4-FFF2-40B4-BE49-F238E27FC236}">
                <a16:creationId xmlns:a16="http://schemas.microsoft.com/office/drawing/2014/main" id="{F48623E4-8D4B-4F69-8BA6-992E5B18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pᵢ: presión (Pa)</a:t>
            </a:r>
          </a:p>
        </p:txBody>
      </p:sp>
      <p:sp>
        <p:nvSpPr>
          <p:cNvPr id="21" name="U10-DG-013-callout_3-box">
            <a:extLst xmlns:a="http://schemas.openxmlformats.org/drawingml/2006/main">
              <a:ext uri="{FF2B5EF4-FFF2-40B4-BE49-F238E27FC236}">
                <a16:creationId xmlns:a16="http://schemas.microsoft.com/office/drawing/2014/main" id="{C8F62D6F-277B-4CA8-93BD-C7C019A1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13-callout_3-text">
            <a:extLst xmlns:a="http://schemas.openxmlformats.org/drawingml/2006/main">
              <a:ext uri="{FF2B5EF4-FFF2-40B4-BE49-F238E27FC236}">
                <a16:creationId xmlns:a16="http://schemas.microsoft.com/office/drawing/2014/main" id="{0C7C9ABD-99A0-473C-AFAB-145727A3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p̄: media (Pa)</a:t>
            </a:r>
          </a:p>
        </p:txBody>
      </p:sp>
      <p:sp>
        <p:nvSpPr>
          <p:cNvPr id="23" name="U10-DG-013-callout_4-box">
            <a:extLst xmlns:a="http://schemas.openxmlformats.org/drawingml/2006/main">
              <a:ext uri="{FF2B5EF4-FFF2-40B4-BE49-F238E27FC236}">
                <a16:creationId xmlns:a16="http://schemas.microsoft.com/office/drawing/2014/main" id="{47C582EB-33D8-42B3-9E46-38B5847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13-callout_4-text">
            <a:extLst xmlns:a="http://schemas.openxmlformats.org/drawingml/2006/main">
              <a:ext uri="{FF2B5EF4-FFF2-40B4-BE49-F238E27FC236}">
                <a16:creationId xmlns:a16="http://schemas.microsoft.com/office/drawing/2014/main" id="{6C21B907-D0FB-4633-9917-790B9B5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Conserva el signo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0E1E96C9-7B06-44FE-9889-E5CFD55C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Ecuación de media anotada. Ecuación central; callouts N, pᵢ, p̄; unidad.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C7958D0-0EEF-41DC-8F2B-7EC8D1AF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4D6361FF-4F0D-4183-8B8A-19F270E9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561657A-5443-4C52-BEDA-622F2F81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056AB54-A7E8-41EB-9883-F3D39507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18DCA49-8642-43C8-B446-42A94E5E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5FCE1B-5D68-4BEF-87A4-28B93F1E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RMS mide tamaño cuadrático, no promedio con signo</a:t>
            </a:r>
          </a:p>
        </p:txBody>
      </p:sp>
      <p:sp>
        <p:nvSpPr>
          <p:cNvPr id="6" name="U10-DG-014-equation-anchor">
            <a:extLst xmlns:a="http://schemas.openxmlformats.org/drawingml/2006/main">
              <a:ext uri="{FF2B5EF4-FFF2-40B4-BE49-F238E27FC236}">
                <a16:creationId xmlns:a16="http://schemas.microsoft.com/office/drawing/2014/main" id="{342BFE85-5D72-4C89-AA21-2B2DD79D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4-callout_1-anchor">
            <a:extLst xmlns:a="http://schemas.openxmlformats.org/drawingml/2006/main">
              <a:ext uri="{FF2B5EF4-FFF2-40B4-BE49-F238E27FC236}">
                <a16:creationId xmlns:a16="http://schemas.microsoft.com/office/drawing/2014/main" id="{11718210-3F32-48EE-8B4D-3FFC3078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4-callout_2-anchor">
            <a:extLst xmlns:a="http://schemas.openxmlformats.org/drawingml/2006/main">
              <a:ext uri="{FF2B5EF4-FFF2-40B4-BE49-F238E27FC236}">
                <a16:creationId xmlns:a16="http://schemas.microsoft.com/office/drawing/2014/main" id="{7EED8B47-E686-4DDD-99EB-36717C0A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4-callout_3-anchor">
            <a:extLst xmlns:a="http://schemas.openxmlformats.org/drawingml/2006/main">
              <a:ext uri="{FF2B5EF4-FFF2-40B4-BE49-F238E27FC236}">
                <a16:creationId xmlns:a16="http://schemas.microsoft.com/office/drawing/2014/main" id="{3E91F7D1-BA39-4D3F-889F-E3423B46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4-callout_4-anchor">
            <a:extLst xmlns:a="http://schemas.openxmlformats.org/drawingml/2006/main">
              <a:ext uri="{FF2B5EF4-FFF2-40B4-BE49-F238E27FC236}">
                <a16:creationId xmlns:a16="http://schemas.microsoft.com/office/drawing/2014/main" id="{7A36F7D9-9B31-46DD-9BCE-147651F7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14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14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14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14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14-visual-alt" descr="Proceso conceptual de RMS. Cuadrar; promediar; raíz; unidad recuperada. Orden de lectura: Flechas “evita cancelación”, “promedia”, “devuelve Pa”. ---">
            <a:extLst xmlns:a="http://schemas.openxmlformats.org/drawingml/2006/main">
              <a:ext uri="{FF2B5EF4-FFF2-40B4-BE49-F238E27FC236}">
                <a16:creationId xmlns:a16="http://schemas.microsoft.com/office/drawing/2014/main" id="{47BF8298-0BF7-4EDE-A265-FCABE954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4-equation-text">
            <a:extLst xmlns:a="http://schemas.openxmlformats.org/drawingml/2006/main">
              <a:ext uri="{FF2B5EF4-FFF2-40B4-BE49-F238E27FC236}">
                <a16:creationId xmlns:a16="http://schemas.microsoft.com/office/drawing/2014/main" id="{2529B602-81F8-4EAD-9DCC-F8CDF7D8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pᵣₘₛ = √[(1/N) Σᵢ₌₁ᴺ pᵢ²]</a:t>
            </a:r>
          </a:p>
        </p:txBody>
      </p:sp>
      <p:sp>
        <p:nvSpPr>
          <p:cNvPr id="17" name="U10-DG-014-callout_1-box">
            <a:extLst xmlns:a="http://schemas.openxmlformats.org/drawingml/2006/main">
              <a:ext uri="{FF2B5EF4-FFF2-40B4-BE49-F238E27FC236}">
                <a16:creationId xmlns:a16="http://schemas.microsoft.com/office/drawing/2014/main" id="{E210C5D5-2AF9-4AF6-976C-4CBFACBF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14-callout_1-text">
            <a:extLst xmlns:a="http://schemas.openxmlformats.org/drawingml/2006/main">
              <a:ext uri="{FF2B5EF4-FFF2-40B4-BE49-F238E27FC236}">
                <a16:creationId xmlns:a16="http://schemas.microsoft.com/office/drawing/2014/main" id="{7CEDE8D2-C149-4D80-85C2-1EAADC8D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Cuadrar pᵢ</a:t>
            </a:r>
          </a:p>
        </p:txBody>
      </p:sp>
      <p:sp>
        <p:nvSpPr>
          <p:cNvPr id="19" name="U10-DG-014-callout_2-box">
            <a:extLst xmlns:a="http://schemas.openxmlformats.org/drawingml/2006/main">
              <a:ext uri="{FF2B5EF4-FFF2-40B4-BE49-F238E27FC236}">
                <a16:creationId xmlns:a16="http://schemas.microsoft.com/office/drawing/2014/main" id="{B9E92CDE-2C19-4C76-8015-29461BFD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14-callout_2-text">
            <a:extLst xmlns:a="http://schemas.openxmlformats.org/drawingml/2006/main">
              <a:ext uri="{FF2B5EF4-FFF2-40B4-BE49-F238E27FC236}">
                <a16:creationId xmlns:a16="http://schemas.microsoft.com/office/drawing/2014/main" id="{E9D57DDE-F441-45C5-B901-7D532CBE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Promediar</a:t>
            </a:r>
          </a:p>
        </p:txBody>
      </p:sp>
      <p:sp>
        <p:nvSpPr>
          <p:cNvPr id="21" name="U10-DG-014-callout_3-box">
            <a:extLst xmlns:a="http://schemas.openxmlformats.org/drawingml/2006/main">
              <a:ext uri="{FF2B5EF4-FFF2-40B4-BE49-F238E27FC236}">
                <a16:creationId xmlns:a16="http://schemas.microsoft.com/office/drawing/2014/main" id="{3AA44145-F6AA-41C7-8858-F79EE1B7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14-callout_3-text">
            <a:extLst xmlns:a="http://schemas.openxmlformats.org/drawingml/2006/main">
              <a:ext uri="{FF2B5EF4-FFF2-40B4-BE49-F238E27FC236}">
                <a16:creationId xmlns:a16="http://schemas.microsoft.com/office/drawing/2014/main" id="{EF10C63C-EBE7-4ED4-A848-E7DF12A9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Extraer raíz</a:t>
            </a:r>
          </a:p>
        </p:txBody>
      </p:sp>
      <p:sp>
        <p:nvSpPr>
          <p:cNvPr id="23" name="U10-DG-014-callout_4-box">
            <a:extLst xmlns:a="http://schemas.openxmlformats.org/drawingml/2006/main">
              <a:ext uri="{FF2B5EF4-FFF2-40B4-BE49-F238E27FC236}">
                <a16:creationId xmlns:a16="http://schemas.microsoft.com/office/drawing/2014/main" id="{8FFA0CA5-5E73-41FC-9723-0ADBE18F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14-callout_4-text">
            <a:extLst xmlns:a="http://schemas.openxmlformats.org/drawingml/2006/main">
              <a:ext uri="{FF2B5EF4-FFF2-40B4-BE49-F238E27FC236}">
                <a16:creationId xmlns:a16="http://schemas.microsoft.com/office/drawing/2014/main" id="{389DA641-DDD7-4B6C-ACC4-A6458A33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Resultado en Pa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D0E90251-E644-4217-811E-0C23A2E0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Proceso conceptual de RMS. Cuadrar; promediar; raíz; unidad recuperada.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363608-3DC3-4D4E-A4DD-FE9C8417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1BCE69BD-3946-456E-96F8-75685F51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2A91362-2166-4D12-85A4-5C408086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248A0E4-8A4B-40EF-AF3F-B5CD1CB6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75E01F3-786C-4D71-8978-9739F98E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AA9A43-B84C-47C0-A1FF-655FD9F1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varianza mide dispersión respecto de la media</a:t>
            </a:r>
          </a:p>
        </p:txBody>
      </p:sp>
      <p:sp>
        <p:nvSpPr>
          <p:cNvPr id="6" name="U10-DG-015-equation-anchor">
            <a:extLst xmlns:a="http://schemas.openxmlformats.org/drawingml/2006/main">
              <a:ext uri="{FF2B5EF4-FFF2-40B4-BE49-F238E27FC236}">
                <a16:creationId xmlns:a16="http://schemas.microsoft.com/office/drawing/2014/main" id="{E00B3BB0-638D-429C-B159-560BB5F6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5-callout_1-anchor">
            <a:extLst xmlns:a="http://schemas.openxmlformats.org/drawingml/2006/main">
              <a:ext uri="{FF2B5EF4-FFF2-40B4-BE49-F238E27FC236}">
                <a16:creationId xmlns:a16="http://schemas.microsoft.com/office/drawing/2014/main" id="{8AA87F4C-5456-47E5-90BD-F9198A82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5-callout_2-anchor">
            <a:extLst xmlns:a="http://schemas.openxmlformats.org/drawingml/2006/main">
              <a:ext uri="{FF2B5EF4-FFF2-40B4-BE49-F238E27FC236}">
                <a16:creationId xmlns:a16="http://schemas.microsoft.com/office/drawing/2014/main" id="{3B6B2A65-9CD1-4DF2-817A-1598B019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5-callout_3-anchor">
            <a:extLst xmlns:a="http://schemas.openxmlformats.org/drawingml/2006/main">
              <a:ext uri="{FF2B5EF4-FFF2-40B4-BE49-F238E27FC236}">
                <a16:creationId xmlns:a16="http://schemas.microsoft.com/office/drawing/2014/main" id="{CAE60E4A-8656-4FEF-8DBB-10461916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5-callout_4-anchor">
            <a:extLst xmlns:a="http://schemas.openxmlformats.org/drawingml/2006/main">
              <a:ext uri="{FF2B5EF4-FFF2-40B4-BE49-F238E27FC236}">
                <a16:creationId xmlns:a16="http://schemas.microsoft.com/office/drawing/2014/main" id="{F97D7F47-BDD9-485E-B21D-2CFDFE52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15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15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15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15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15-visual-alt" descr="Varianza frente a RMS. Media; desviaciones; cuadrado; promedio; caja contraste. Orden de lectura: Secuencia con etiqueta breve. ---">
            <a:extLst xmlns:a="http://schemas.openxmlformats.org/drawingml/2006/main">
              <a:ext uri="{FF2B5EF4-FFF2-40B4-BE49-F238E27FC236}">
                <a16:creationId xmlns:a16="http://schemas.microsoft.com/office/drawing/2014/main" id="{8073D05E-9CAE-4CAD-A022-8CACF388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5-equation-text">
            <a:extLst xmlns:a="http://schemas.openxmlformats.org/drawingml/2006/main">
              <a:ext uri="{FF2B5EF4-FFF2-40B4-BE49-F238E27FC236}">
                <a16:creationId xmlns:a16="http://schemas.microsoft.com/office/drawing/2014/main" id="{FF699EEA-0EDC-4CFF-878D-C37BC0CD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σₚ² = (1/N) Σᵢ₌₁ᴺ (pᵢ − p̄)²</a:t>
            </a:r>
          </a:p>
        </p:txBody>
      </p:sp>
      <p:sp>
        <p:nvSpPr>
          <p:cNvPr id="17" name="U10-DG-015-callout_1-box">
            <a:extLst xmlns:a="http://schemas.openxmlformats.org/drawingml/2006/main">
              <a:ext uri="{FF2B5EF4-FFF2-40B4-BE49-F238E27FC236}">
                <a16:creationId xmlns:a16="http://schemas.microsoft.com/office/drawing/2014/main" id="{EB4200F2-C246-40B7-A04D-1E10726D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15-callout_1-text">
            <a:extLst xmlns:a="http://schemas.openxmlformats.org/drawingml/2006/main">
              <a:ext uri="{FF2B5EF4-FFF2-40B4-BE49-F238E27FC236}">
                <a16:creationId xmlns:a16="http://schemas.microsoft.com/office/drawing/2014/main" id="{912EF389-D18C-4BC9-BB71-07C398C4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p̄: centro de referencia</a:t>
            </a:r>
          </a:p>
        </p:txBody>
      </p:sp>
      <p:sp>
        <p:nvSpPr>
          <p:cNvPr id="19" name="U10-DG-015-callout_2-box">
            <a:extLst xmlns:a="http://schemas.openxmlformats.org/drawingml/2006/main">
              <a:ext uri="{FF2B5EF4-FFF2-40B4-BE49-F238E27FC236}">
                <a16:creationId xmlns:a16="http://schemas.microsoft.com/office/drawing/2014/main" id="{7168D0D0-66F7-4D08-871C-0C834DE0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15-callout_2-text">
            <a:extLst xmlns:a="http://schemas.openxmlformats.org/drawingml/2006/main">
              <a:ext uri="{FF2B5EF4-FFF2-40B4-BE49-F238E27FC236}">
                <a16:creationId xmlns:a16="http://schemas.microsoft.com/office/drawing/2014/main" id="{1F077121-70B8-4F34-8A5C-593878E0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pᵢ−p̄: desviación</a:t>
            </a:r>
          </a:p>
        </p:txBody>
      </p:sp>
      <p:sp>
        <p:nvSpPr>
          <p:cNvPr id="21" name="U10-DG-015-callout_3-box">
            <a:extLst xmlns:a="http://schemas.openxmlformats.org/drawingml/2006/main">
              <a:ext uri="{FF2B5EF4-FFF2-40B4-BE49-F238E27FC236}">
                <a16:creationId xmlns:a16="http://schemas.microsoft.com/office/drawing/2014/main" id="{B62210CD-1BA7-42BD-AB51-8ACF3A58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15-callout_3-text">
            <a:extLst xmlns:a="http://schemas.openxmlformats.org/drawingml/2006/main">
              <a:ext uri="{FF2B5EF4-FFF2-40B4-BE49-F238E27FC236}">
                <a16:creationId xmlns:a16="http://schemas.microsoft.com/office/drawing/2014/main" id="{A9FD8F0D-D4CA-4549-A322-BF822EC8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Cuadrar evita cancelación</a:t>
            </a:r>
          </a:p>
        </p:txBody>
      </p:sp>
      <p:sp>
        <p:nvSpPr>
          <p:cNvPr id="23" name="U10-DG-015-callout_4-box">
            <a:extLst xmlns:a="http://schemas.openxmlformats.org/drawingml/2006/main">
              <a:ext uri="{FF2B5EF4-FFF2-40B4-BE49-F238E27FC236}">
                <a16:creationId xmlns:a16="http://schemas.microsoft.com/office/drawing/2014/main" id="{AEFFEE83-D1EC-4325-9999-CDE6C087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15-callout_4-text">
            <a:extLst xmlns:a="http://schemas.openxmlformats.org/drawingml/2006/main">
              <a:ext uri="{FF2B5EF4-FFF2-40B4-BE49-F238E27FC236}">
                <a16:creationId xmlns:a16="http://schemas.microsoft.com/office/drawing/2014/main" id="{6F2F3C1F-2A60-4E75-8B73-E56AFC9E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σₚ² en Pa²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2173163D-BE62-4C19-924E-3B108CB4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Varianza frente a RMS. Media; desviaciones; cuadrado; promedio; caja contraste.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517CCF-9478-421A-8C10-BE849A5E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12401DBA-56C3-481A-AF57-7D19C110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E5E27CE-FBA0-4813-92C8-1E48202A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497D3F5-4C8F-4B90-B796-062E0D29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BC77A11-493B-48CF-BC3E-D05C403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0CF5BB-DF9D-45C6-8995-EBB2C25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Media cero no significa ausencia de señal</a:t>
            </a:r>
          </a:p>
        </p:txBody>
      </p:sp>
      <p:sp>
        <p:nvSpPr>
          <p:cNvPr id="6" name="U10-DG-016-concept_1-anchor">
            <a:extLst xmlns:a="http://schemas.openxmlformats.org/drawingml/2006/main">
              <a:ext uri="{FF2B5EF4-FFF2-40B4-BE49-F238E27FC236}">
                <a16:creationId xmlns:a16="http://schemas.microsoft.com/office/drawing/2014/main" id="{ABFEBEA7-19B0-456C-8FCD-478F0675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6-concept_2-anchor">
            <a:extLst xmlns:a="http://schemas.openxmlformats.org/drawingml/2006/main">
              <a:ext uri="{FF2B5EF4-FFF2-40B4-BE49-F238E27FC236}">
                <a16:creationId xmlns:a16="http://schemas.microsoft.com/office/drawing/2014/main" id="{1D2E3B0C-68F4-44E6-9B54-EBC501D6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6-concept_3-anchor">
            <a:extLst xmlns:a="http://schemas.openxmlformats.org/drawingml/2006/main">
              <a:ext uri="{FF2B5EF4-FFF2-40B4-BE49-F238E27FC236}">
                <a16:creationId xmlns:a16="http://schemas.microsoft.com/office/drawing/2014/main" id="{13DFA981-DC87-4EAF-8280-A6949237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6-concept_4-anchor">
            <a:extLst xmlns:a="http://schemas.openxmlformats.org/drawingml/2006/main">
              <a:ext uri="{FF2B5EF4-FFF2-40B4-BE49-F238E27FC236}">
                <a16:creationId xmlns:a16="http://schemas.microsoft.com/office/drawing/2014/main" id="{19C514E0-F5DF-4FEE-8E90-CD228257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6-concept_5-anchor">
            <a:extLst xmlns:a="http://schemas.openxmlformats.org/drawingml/2006/main">
              <a:ext uri="{FF2B5EF4-FFF2-40B4-BE49-F238E27FC236}">
                <a16:creationId xmlns:a16="http://schemas.microsoft.com/office/drawing/2014/main" id="{8AF35967-53D1-4F5C-A18B-C624D053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16-concept_6-anchor">
            <a:extLst xmlns:a="http://schemas.openxmlformats.org/drawingml/2006/main">
              <a:ext uri="{FF2B5EF4-FFF2-40B4-BE49-F238E27FC236}">
                <a16:creationId xmlns:a16="http://schemas.microsoft.com/office/drawing/2014/main" id="{A9E5C0E9-E371-4EF9-9FE9-18CD6970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16-visual-alt" descr="Ejemplo media cero/RMS no cero. Datos; media; cuadrados; RMS; varianza; interpretación. Orden de lectura: Flechas de cálculo. ---">
            <a:extLst xmlns:a="http://schemas.openxmlformats.org/drawingml/2006/main">
              <a:ext uri="{FF2B5EF4-FFF2-40B4-BE49-F238E27FC236}">
                <a16:creationId xmlns:a16="http://schemas.microsoft.com/office/drawing/2014/main" id="{61DBEBD8-0CDF-4219-8AD1-C56ABA4A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16-concept_1-text">
            <a:extLst xmlns:a="http://schemas.openxmlformats.org/drawingml/2006/main">
              <a:ext uri="{FF2B5EF4-FFF2-40B4-BE49-F238E27FC236}">
                <a16:creationId xmlns:a16="http://schemas.microsoft.com/office/drawing/2014/main" id="{41CA85D3-0F19-4D98-9EF4-F251C099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Datos: −2, −1, 0, 1, 2 mPa</a:t>
            </a:r>
          </a:p>
        </p:txBody>
      </p:sp>
      <p:sp>
        <p:nvSpPr>
          <p:cNvPr id="14" name="U10-DG-016-concept_2-box">
            <a:extLst xmlns:a="http://schemas.openxmlformats.org/drawingml/2006/main">
              <a:ext uri="{FF2B5EF4-FFF2-40B4-BE49-F238E27FC236}">
                <a16:creationId xmlns:a16="http://schemas.microsoft.com/office/drawing/2014/main" id="{AFF20075-F420-48DD-9CD6-739FD2B6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10-DG-016-concept_2-text">
            <a:extLst xmlns:a="http://schemas.openxmlformats.org/drawingml/2006/main">
              <a:ext uri="{FF2B5EF4-FFF2-40B4-BE49-F238E27FC236}">
                <a16:creationId xmlns:a16="http://schemas.microsoft.com/office/drawing/2014/main" id="{2B53136B-D425-45D9-BD2C-9263D57B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Media = 0 mPa</a:t>
            </a:r>
          </a:p>
        </p:txBody>
      </p:sp>
      <p:sp>
        <p:nvSpPr>
          <p:cNvPr id="16" name="U10-DG-016-concept_3-box">
            <a:extLst xmlns:a="http://schemas.openxmlformats.org/drawingml/2006/main">
              <a:ext uri="{FF2B5EF4-FFF2-40B4-BE49-F238E27FC236}">
                <a16:creationId xmlns:a16="http://schemas.microsoft.com/office/drawing/2014/main" id="{B31E0CF9-27F6-45D8-97A5-BFEA63FB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16-concept_3-text">
            <a:extLst xmlns:a="http://schemas.openxmlformats.org/drawingml/2006/main">
              <a:ext uri="{FF2B5EF4-FFF2-40B4-BE49-F238E27FC236}">
                <a16:creationId xmlns:a16="http://schemas.microsoft.com/office/drawing/2014/main" id="{6014BE68-6FCE-4AB7-ACF1-74FAAC50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Media de p² = 2 mPa²</a:t>
            </a:r>
          </a:p>
        </p:txBody>
      </p:sp>
      <p:sp>
        <p:nvSpPr>
          <p:cNvPr id="18" name="U10-DG-016-concept_4-box">
            <a:extLst xmlns:a="http://schemas.openxmlformats.org/drawingml/2006/main">
              <a:ext uri="{FF2B5EF4-FFF2-40B4-BE49-F238E27FC236}">
                <a16:creationId xmlns:a16="http://schemas.microsoft.com/office/drawing/2014/main" id="{1274CE95-2464-4ECD-A124-1657DCB9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10-DG-016-concept_4-text">
            <a:extLst xmlns:a="http://schemas.openxmlformats.org/drawingml/2006/main">
              <a:ext uri="{FF2B5EF4-FFF2-40B4-BE49-F238E27FC236}">
                <a16:creationId xmlns:a16="http://schemas.microsoft.com/office/drawing/2014/main" id="{553BDE80-B3E2-44F1-8EB8-DB0CB84B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RMS = √2 ≈ 1,41 mPa</a:t>
            </a:r>
          </a:p>
        </p:txBody>
      </p:sp>
      <p:sp>
        <p:nvSpPr>
          <p:cNvPr id="20" name="U10-DG-016-concept_5-box">
            <a:extLst xmlns:a="http://schemas.openxmlformats.org/drawingml/2006/main">
              <a:ext uri="{FF2B5EF4-FFF2-40B4-BE49-F238E27FC236}">
                <a16:creationId xmlns:a16="http://schemas.microsoft.com/office/drawing/2014/main" id="{1F5B8C5E-B6E1-44D4-BC12-D8D7FD8D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16-concept_5-text">
            <a:extLst xmlns:a="http://schemas.openxmlformats.org/drawingml/2006/main">
              <a:ext uri="{FF2B5EF4-FFF2-40B4-BE49-F238E27FC236}">
                <a16:creationId xmlns:a16="http://schemas.microsoft.com/office/drawing/2014/main" id="{D3F67583-02C9-471D-A72F-32929AE2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Varianza = 2 mPa²</a:t>
            </a:r>
          </a:p>
        </p:txBody>
      </p:sp>
      <p:sp>
        <p:nvSpPr>
          <p:cNvPr id="22" name="U10-DG-016-concept_6-box">
            <a:extLst xmlns:a="http://schemas.openxmlformats.org/drawingml/2006/main">
              <a:ext uri="{FF2B5EF4-FFF2-40B4-BE49-F238E27FC236}">
                <a16:creationId xmlns:a16="http://schemas.microsoft.com/office/drawing/2014/main" id="{76D6D230-435C-4C1F-BF66-F55093BA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3" name="U10-DG-016-concept_6-text">
            <a:extLst xmlns:a="http://schemas.openxmlformats.org/drawingml/2006/main">
              <a:ext uri="{FF2B5EF4-FFF2-40B4-BE49-F238E27FC236}">
                <a16:creationId xmlns:a16="http://schemas.microsoft.com/office/drawing/2014/main" id="{6CFF21A2-4E55-4CE1-AB2A-8CE1C50C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Media cero no implica silencio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5C60E55E-2AA7-4F19-8499-CC314ACD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Ejemplo media cero/RMS no cero. Datos; media; cuadrados; RMS; varianza; interpretación.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EEF3011-2666-46E1-AE44-D1F31548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06714548-9EDC-4BFD-A3E8-5657B55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8E9C026-83BE-4535-84CA-358DB32A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1FF4994-711E-41D3-8A37-4818A049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F4DE57-5B93-4ED5-81A7-59408F30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F692BA-A233-4272-84FE-F72823E6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Igual media, RMS y varianza; distinta distribución</a:t>
            </a:r>
          </a:p>
        </p:txBody>
      </p:sp>
      <p:pic>
        <p:nvPicPr>
          <p:cNvPr id="17" name="U10-CH-005-chart" descr="Dos trazas y dos histogramas comparan ruido gaussiano continuo con una secuencia de dos niveles, ambos con media cero, RMS 1 mPa y varianza 1 mPa cuadrado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032d1e7cb4cf3">
            <a:extLst>
              <a:ext uri="{96DAC541-7B7A-43D3-8B79-37D633B846F1}">
                <asvg:svgBlip xmlns:asvg="http://schemas.microsoft.com/office/drawing/2016/SVG/main" r:embed="R617a89ccf2ec44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D9EF2DD5-E7C4-4D3E-B214-C7B5AE69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EBD7EDD6-61B8-4BC3-8D6D-31FA05E0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3EB3E0D9-B794-46CD-B1B0-24789DE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Ambos registros tienen: p̄ = 0 mPa; p_rms = 1 mPa;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A9BE4626-31A7-4C8E-96D3-602456B4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Dos registros sintéticos comparten media, RMS y varianza, pero sus histogramas son diferentes.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52D694-000A-49C3-A1F0-014F3036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CA27FDA1-D01D-4BBD-BC7A-7113F7FA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12C13E6-12AB-4A40-8AFC-5A567FFB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DF1B3B7-0A6A-4ADB-BB3A-45EA17A4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9B3E191-C542-4241-ACBA-1BF9376F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204258-BDD8-490C-BF44-E396B3F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conserva cada descriptor</a:t>
            </a:r>
          </a:p>
        </p:txBody>
      </p:sp>
      <p:sp>
        <p:nvSpPr>
          <p:cNvPr id="6" name="U10-DG-017-compare_1-anchor">
            <a:extLst xmlns:a="http://schemas.openxmlformats.org/drawingml/2006/main">
              <a:ext uri="{FF2B5EF4-FFF2-40B4-BE49-F238E27FC236}">
                <a16:creationId xmlns:a16="http://schemas.microsoft.com/office/drawing/2014/main" id="{89C78FC3-C8F5-426D-838E-113802C9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7-compare_2-anchor">
            <a:extLst xmlns:a="http://schemas.openxmlformats.org/drawingml/2006/main">
              <a:ext uri="{FF2B5EF4-FFF2-40B4-BE49-F238E27FC236}">
                <a16:creationId xmlns:a16="http://schemas.microsoft.com/office/drawing/2014/main" id="{C0A1864B-7CE1-48B4-A70C-EC9A9F8E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7-compare_3-anchor">
            <a:extLst xmlns:a="http://schemas.openxmlformats.org/drawingml/2006/main">
              <a:ext uri="{FF2B5EF4-FFF2-40B4-BE49-F238E27FC236}">
                <a16:creationId xmlns:a16="http://schemas.microsoft.com/office/drawing/2014/main" id="{C6B151F6-0F21-475C-9F88-19B7F89D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7-compare_4-anchor">
            <a:extLst xmlns:a="http://schemas.openxmlformats.org/drawingml/2006/main">
              <a:ext uri="{FF2B5EF4-FFF2-40B4-BE49-F238E27FC236}">
                <a16:creationId xmlns:a16="http://schemas.microsoft.com/office/drawing/2014/main" id="{B28088B0-8453-4A1C-A4F9-595F1335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7-visual-alt" descr="Matriz de descriptores. Filas media/RMS/varianza/distribución; columnas pregunta/unidad/límite. Orden de lectura: Sin flechas; relación por alineación. ---">
            <a:extLst xmlns:a="http://schemas.openxmlformats.org/drawingml/2006/main">
              <a:ext uri="{FF2B5EF4-FFF2-40B4-BE49-F238E27FC236}">
                <a16:creationId xmlns:a16="http://schemas.microsoft.com/office/drawing/2014/main" id="{AA5EE32A-233C-4E2D-9CE3-8E0DC3B2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10-DG-017-compare_1-text">
            <a:extLst xmlns:a="http://schemas.openxmlformats.org/drawingml/2006/main">
              <a:ext uri="{FF2B5EF4-FFF2-40B4-BE49-F238E27FC236}">
                <a16:creationId xmlns:a16="http://schemas.microsoft.com/office/drawing/2014/main" id="{CD849B3B-32E4-40F5-8F1A-07B1672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Media · signo · Pa</a:t>
            </a:r>
          </a:p>
        </p:txBody>
      </p:sp>
      <p:sp>
        <p:nvSpPr>
          <p:cNvPr id="12" name="U10-DG-017-compare_2-box">
            <a:extLst xmlns:a="http://schemas.openxmlformats.org/drawingml/2006/main">
              <a:ext uri="{FF2B5EF4-FFF2-40B4-BE49-F238E27FC236}">
                <a16:creationId xmlns:a16="http://schemas.microsoft.com/office/drawing/2014/main" id="{562DC513-DC1B-4094-BA69-97053548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3" name="U10-DG-017-compare_2-text">
            <a:extLst xmlns:a="http://schemas.openxmlformats.org/drawingml/2006/main">
              <a:ext uri="{FF2B5EF4-FFF2-40B4-BE49-F238E27FC236}">
                <a16:creationId xmlns:a16="http://schemas.microsoft.com/office/drawing/2014/main" id="{0ED7A3E8-BF40-494F-BFB4-97FAD58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RMS · tamaño cuadrático · Pa</a:t>
            </a:r>
          </a:p>
        </p:txBody>
      </p:sp>
      <p:sp>
        <p:nvSpPr>
          <p:cNvPr id="14" name="U10-DG-017-compare_3-box">
            <a:extLst xmlns:a="http://schemas.openxmlformats.org/drawingml/2006/main">
              <a:ext uri="{FF2B5EF4-FFF2-40B4-BE49-F238E27FC236}">
                <a16:creationId xmlns:a16="http://schemas.microsoft.com/office/drawing/2014/main" id="{885514B7-FBBD-4E98-91C8-6A5234FF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10-DG-017-compare_3-text">
            <a:extLst xmlns:a="http://schemas.openxmlformats.org/drawingml/2006/main">
              <a:ext uri="{FF2B5EF4-FFF2-40B4-BE49-F238E27FC236}">
                <a16:creationId xmlns:a16="http://schemas.microsoft.com/office/drawing/2014/main" id="{0139E22F-723A-448A-B9D9-49B48552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Varianza · dispersión · Pa²</a:t>
            </a:r>
          </a:p>
        </p:txBody>
      </p:sp>
      <p:sp>
        <p:nvSpPr>
          <p:cNvPr id="16" name="U10-DG-017-compare_4-box">
            <a:extLst xmlns:a="http://schemas.openxmlformats.org/drawingml/2006/main">
              <a:ext uri="{FF2B5EF4-FFF2-40B4-BE49-F238E27FC236}">
                <a16:creationId xmlns:a16="http://schemas.microsoft.com/office/drawing/2014/main" id="{8F96E9CD-8639-4E2E-9F56-6439527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10-DG-017-compare_4-text">
            <a:extLst xmlns:a="http://schemas.openxmlformats.org/drawingml/2006/main">
              <a:ext uri="{FF2B5EF4-FFF2-40B4-BE49-F238E27FC236}">
                <a16:creationId xmlns:a16="http://schemas.microsoft.com/office/drawing/2014/main" id="{6FD684C5-92ED-4E31-81BF-1A9044ED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Distribución · frecuencia relativa · 1</a:t>
            </a:r>
          </a:p>
        </p:txBody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E8195C21-8454-4932-8F1C-7A3657B6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Matriz de descriptores. Filas media/RMS/varianza/distribución; columnas pregunta/unidad/límite.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361FC8C-34C0-44CD-B84A-CE39B2DC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D13D987F-527C-4156-AF45-716A6513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8B88C1D4-45B2-4F1D-A195-2D756D02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se reparte el contenido entre frecuencias y bandas?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B0BF20E8-FC8F-4D4D-B4D6-14B8815E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50CD05-D68E-408E-AC6A-A3062FB0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91F4BDCB-A677-4133-B8ED-1266ABAC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66ECF9F-1D3C-426C-A6B6-A20A31A7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65B3221-062D-4FED-9B94-F44B5F3D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F33535B-51E0-41AB-BCE0-83B62976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D97629-BAF5-40F9-A938-91058EBF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registro temporal al contenido frecuencial</a:t>
            </a:r>
          </a:p>
        </p:txBody>
      </p:sp>
      <p:pic>
        <p:nvPicPr>
          <p:cNvPr id="17" name="U10-CH-006-chart" descr="A la izquierda aparece una realización temporal; a la derecha, su densidad espectral estimada por Welch, con la banda útil resaltad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0f4fa348f47c8">
            <a:extLst>
              <a:ext uri="{96DAC541-7B7A-43D3-8B79-37D633B846F1}">
                <asvg:svgBlip xmlns:asvg="http://schemas.microsoft.com/office/drawing/2016/SVG/main" r:embed="Rd5396636350e42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0C4C2D40-7E0B-4757-B163-AA685FD1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147CCF18-F14D-4A2A-91E9-D8B0CC87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4976B2AB-8C2B-4965-AF29-377B3620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representaciones de una misma realización: el dominio temporal muestra cómo cambia p(t); la densidad espectral muestra cómo se distribuye el valor cuadrático entre frecuencias;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E3B54BDF-9031-4815-BF05-7F0955B6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traza temporal y la PSD describen la misma realización de ruido limitado en banda.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6A52D76-DCB7-412B-96BA-DCD67536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DB207E97-D11B-409A-8C32-0610158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4915037-BBEA-4C79-A4E6-73381422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13CA103-4C51-421D-AF70-7C2C33D1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91DAC60-0698-4754-991A-6B43CD26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2E5568-0D02-4005-B78D-21669F3A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densidad necesita un ancho de banda</a:t>
            </a:r>
          </a:p>
        </p:txBody>
      </p:sp>
      <p:sp>
        <p:nvSpPr>
          <p:cNvPr id="6" name="U10-DG-018-equation-anchor">
            <a:extLst xmlns:a="http://schemas.openxmlformats.org/drawingml/2006/main">
              <a:ext uri="{FF2B5EF4-FFF2-40B4-BE49-F238E27FC236}">
                <a16:creationId xmlns:a16="http://schemas.microsoft.com/office/drawing/2014/main" id="{3117DF64-6568-476F-8F71-E6C94FF0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8-callout_1-anchor">
            <a:extLst xmlns:a="http://schemas.openxmlformats.org/drawingml/2006/main">
              <a:ext uri="{FF2B5EF4-FFF2-40B4-BE49-F238E27FC236}">
                <a16:creationId xmlns:a16="http://schemas.microsoft.com/office/drawing/2014/main" id="{61623C31-00A7-4587-BD72-628FB99C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8-callout_2-anchor">
            <a:extLst xmlns:a="http://schemas.openxmlformats.org/drawingml/2006/main">
              <a:ext uri="{FF2B5EF4-FFF2-40B4-BE49-F238E27FC236}">
                <a16:creationId xmlns:a16="http://schemas.microsoft.com/office/drawing/2014/main" id="{BA54F7B0-AC37-4CB0-8E87-01F6759B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8-callout_3-anchor">
            <a:extLst xmlns:a="http://schemas.openxmlformats.org/drawingml/2006/main">
              <a:ext uri="{FF2B5EF4-FFF2-40B4-BE49-F238E27FC236}">
                <a16:creationId xmlns:a16="http://schemas.microsoft.com/office/drawing/2014/main" id="{E4115E8E-BB0A-4AD0-BB11-94E12077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8-callout_4-anchor">
            <a:extLst xmlns:a="http://schemas.openxmlformats.org/drawingml/2006/main">
              <a:ext uri="{FF2B5EF4-FFF2-40B4-BE49-F238E27FC236}">
                <a16:creationId xmlns:a16="http://schemas.microsoft.com/office/drawing/2014/main" id="{C8E492C5-B66F-40BB-AA27-8B83790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18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18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18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18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18-visual-alt" descr="Densidad × ancho de banda. Rectángulo espectral; altura S_pp; base Δf; área. Orden de lectura: Callouts externos. ---">
            <a:extLst xmlns:a="http://schemas.openxmlformats.org/drawingml/2006/main">
              <a:ext uri="{FF2B5EF4-FFF2-40B4-BE49-F238E27FC236}">
                <a16:creationId xmlns:a16="http://schemas.microsoft.com/office/drawing/2014/main" id="{D4BE3533-798C-4AA1-9EDC-F574E909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8-equation-text">
            <a:extLst xmlns:a="http://schemas.openxmlformats.org/drawingml/2006/main">
              <a:ext uri="{FF2B5EF4-FFF2-40B4-BE49-F238E27FC236}">
                <a16:creationId xmlns:a16="http://schemas.microsoft.com/office/drawing/2014/main" id="{BAEEFE9E-AB71-448F-B644-C96DEDD9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p²(B,rms) ≈ Sₚₚ · Δf</a:t>
            </a:r>
          </a:p>
        </p:txBody>
      </p:sp>
      <p:sp>
        <p:nvSpPr>
          <p:cNvPr id="17" name="U10-DG-018-callout_1-box">
            <a:extLst xmlns:a="http://schemas.openxmlformats.org/drawingml/2006/main">
              <a:ext uri="{FF2B5EF4-FFF2-40B4-BE49-F238E27FC236}">
                <a16:creationId xmlns:a16="http://schemas.microsoft.com/office/drawing/2014/main" id="{CDEDB929-9EB7-4B0B-8B77-5FA6E9DB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18-callout_1-text">
            <a:extLst xmlns:a="http://schemas.openxmlformats.org/drawingml/2006/main">
              <a:ext uri="{FF2B5EF4-FFF2-40B4-BE49-F238E27FC236}">
                <a16:creationId xmlns:a16="http://schemas.microsoft.com/office/drawing/2014/main" id="{5293C0B4-7E93-4E26-A519-D6899E65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Altura: Sₚₚ (Pa²/Hz)</a:t>
            </a:r>
          </a:p>
        </p:txBody>
      </p:sp>
      <p:sp>
        <p:nvSpPr>
          <p:cNvPr id="19" name="U10-DG-018-callout_2-box">
            <a:extLst xmlns:a="http://schemas.openxmlformats.org/drawingml/2006/main">
              <a:ext uri="{FF2B5EF4-FFF2-40B4-BE49-F238E27FC236}">
                <a16:creationId xmlns:a16="http://schemas.microsoft.com/office/drawing/2014/main" id="{21C3A245-4937-4630-929E-8044212D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18-callout_2-text">
            <a:extLst xmlns:a="http://schemas.openxmlformats.org/drawingml/2006/main">
              <a:ext uri="{FF2B5EF4-FFF2-40B4-BE49-F238E27FC236}">
                <a16:creationId xmlns:a16="http://schemas.microsoft.com/office/drawing/2014/main" id="{360F5BE9-C08E-4C2E-8B89-5F0A3B0A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Base: Δf (Hz)</a:t>
            </a:r>
          </a:p>
        </p:txBody>
      </p:sp>
      <p:sp>
        <p:nvSpPr>
          <p:cNvPr id="21" name="U10-DG-018-callout_3-box">
            <a:extLst xmlns:a="http://schemas.openxmlformats.org/drawingml/2006/main">
              <a:ext uri="{FF2B5EF4-FFF2-40B4-BE49-F238E27FC236}">
                <a16:creationId xmlns:a16="http://schemas.microsoft.com/office/drawing/2014/main" id="{D0B119A6-FD1D-4C27-BDCD-42EDE16E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18-callout_3-text">
            <a:extLst xmlns:a="http://schemas.openxmlformats.org/drawingml/2006/main">
              <a:ext uri="{FF2B5EF4-FFF2-40B4-BE49-F238E27FC236}">
                <a16:creationId xmlns:a16="http://schemas.microsoft.com/office/drawing/2014/main" id="{62B95F03-66DB-48F4-B9AD-5C0996C9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Área (Pa²): p²_B,rms</a:t>
            </a:r>
          </a:p>
        </p:txBody>
      </p:sp>
      <p:sp>
        <p:nvSpPr>
          <p:cNvPr id="23" name="U10-DG-018-callout_4-box">
            <a:extLst xmlns:a="http://schemas.openxmlformats.org/drawingml/2006/main">
              <a:ext uri="{FF2B5EF4-FFF2-40B4-BE49-F238E27FC236}">
                <a16:creationId xmlns:a16="http://schemas.microsoft.com/office/drawing/2014/main" id="{F75F01B7-D18A-48D4-91F0-940C6CE6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18-callout_4-text">
            <a:extLst xmlns:a="http://schemas.openxmlformats.org/drawingml/2006/main">
              <a:ext uri="{FF2B5EF4-FFF2-40B4-BE49-F238E27FC236}">
                <a16:creationId xmlns:a16="http://schemas.microsoft.com/office/drawing/2014/main" id="{298E0174-B04D-4CFA-B0E3-1C150780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Esquema no a escala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4B58D6BB-CF2E-4D3C-92F7-0DAE679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Densidad × ancho de banda. Rectángulo espectral; altura S_pp; base Δf; área.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E8F202B-24D8-4EEB-96B7-13356C84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B0BB3A45-F9DF-44A8-AEAA-9B7CDA3B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57D9B6C-2CE2-4485-A91F-01281133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3CC4035-B912-4EAA-B33F-34F08851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B9F1726-B022-4B10-8353-C04EBBD5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8C17C2-28CB-4F91-8367-281106A8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contenido de una banda es el área bajo la densidad</a:t>
            </a:r>
          </a:p>
        </p:txBody>
      </p:sp>
      <p:sp>
        <p:nvSpPr>
          <p:cNvPr id="6" name="U10-DG-019-equation-anchor">
            <a:extLst xmlns:a="http://schemas.openxmlformats.org/drawingml/2006/main">
              <a:ext uri="{FF2B5EF4-FFF2-40B4-BE49-F238E27FC236}">
                <a16:creationId xmlns:a16="http://schemas.microsoft.com/office/drawing/2014/main" id="{8E35177A-B8C8-4F97-8230-3F21647C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19-callout_1-anchor">
            <a:extLst xmlns:a="http://schemas.openxmlformats.org/drawingml/2006/main">
              <a:ext uri="{FF2B5EF4-FFF2-40B4-BE49-F238E27FC236}">
                <a16:creationId xmlns:a16="http://schemas.microsoft.com/office/drawing/2014/main" id="{D44822D3-96F0-4B0C-91AE-486B1D6E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19-callout_2-anchor">
            <a:extLst xmlns:a="http://schemas.openxmlformats.org/drawingml/2006/main">
              <a:ext uri="{FF2B5EF4-FFF2-40B4-BE49-F238E27FC236}">
                <a16:creationId xmlns:a16="http://schemas.microsoft.com/office/drawing/2014/main" id="{976D8E7D-B8BC-453F-AC75-432BC6D6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19-callout_3-anchor">
            <a:extLst xmlns:a="http://schemas.openxmlformats.org/drawingml/2006/main">
              <a:ext uri="{FF2B5EF4-FFF2-40B4-BE49-F238E27FC236}">
                <a16:creationId xmlns:a16="http://schemas.microsoft.com/office/drawing/2014/main" id="{54CF7A06-1948-4C49-95C6-AEB873A4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19-callout_4-anchor">
            <a:extLst xmlns:a="http://schemas.openxmlformats.org/drawingml/2006/main">
              <a:ext uri="{FF2B5EF4-FFF2-40B4-BE49-F238E27FC236}">
                <a16:creationId xmlns:a16="http://schemas.microsoft.com/office/drawing/2014/main" id="{C712A499-20EE-4FF2-9D11-E183B19C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19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19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19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19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19-visual-alt" descr="Ecuación de potencia de banda. Integral; f_L, f_H, S_pp, resultado/unidad. Orden de lectura: Máximo cuatro líderes. ---">
            <a:extLst xmlns:a="http://schemas.openxmlformats.org/drawingml/2006/main">
              <a:ext uri="{FF2B5EF4-FFF2-40B4-BE49-F238E27FC236}">
                <a16:creationId xmlns:a16="http://schemas.microsoft.com/office/drawing/2014/main" id="{6A604FC9-2B5F-4C7B-8503-368E1BF0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19-equation-text">
            <a:extLst xmlns:a="http://schemas.openxmlformats.org/drawingml/2006/main">
              <a:ext uri="{FF2B5EF4-FFF2-40B4-BE49-F238E27FC236}">
                <a16:creationId xmlns:a16="http://schemas.microsoft.com/office/drawing/2014/main" id="{D7398C15-CF0A-4F84-B5AF-E8672C98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p²(B,rms) = ∫₍fₗ₎⁽fₕ⁾ Sₚₚ(f) df</a:t>
            </a:r>
          </a:p>
        </p:txBody>
      </p:sp>
      <p:sp>
        <p:nvSpPr>
          <p:cNvPr id="17" name="U10-DG-019-callout_1-box">
            <a:extLst xmlns:a="http://schemas.openxmlformats.org/drawingml/2006/main">
              <a:ext uri="{FF2B5EF4-FFF2-40B4-BE49-F238E27FC236}">
                <a16:creationId xmlns:a16="http://schemas.microsoft.com/office/drawing/2014/main" id="{21236CF4-15DF-4E32-9CEB-BB7F747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19-callout_1-text">
            <a:extLst xmlns:a="http://schemas.openxmlformats.org/drawingml/2006/main">
              <a:ext uri="{FF2B5EF4-FFF2-40B4-BE49-F238E27FC236}">
                <a16:creationId xmlns:a16="http://schemas.microsoft.com/office/drawing/2014/main" id="{6CC7D1BE-4FF9-46F7-833B-0FF4344E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f_L: límite inferior (Hz)</a:t>
            </a:r>
          </a:p>
        </p:txBody>
      </p:sp>
      <p:sp>
        <p:nvSpPr>
          <p:cNvPr id="19" name="U10-DG-019-callout_2-box">
            <a:extLst xmlns:a="http://schemas.openxmlformats.org/drawingml/2006/main">
              <a:ext uri="{FF2B5EF4-FFF2-40B4-BE49-F238E27FC236}">
                <a16:creationId xmlns:a16="http://schemas.microsoft.com/office/drawing/2014/main" id="{97E08A7E-7047-42C1-BCAD-0DC0D779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19-callout_2-text">
            <a:extLst xmlns:a="http://schemas.openxmlformats.org/drawingml/2006/main">
              <a:ext uri="{FF2B5EF4-FFF2-40B4-BE49-F238E27FC236}">
                <a16:creationId xmlns:a16="http://schemas.microsoft.com/office/drawing/2014/main" id="{3C66A9D1-AE1E-46EE-A878-5693353F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f_H: límite superior (Hz)</a:t>
            </a:r>
          </a:p>
        </p:txBody>
      </p:sp>
      <p:sp>
        <p:nvSpPr>
          <p:cNvPr id="21" name="U10-DG-019-callout_3-box">
            <a:extLst xmlns:a="http://schemas.openxmlformats.org/drawingml/2006/main">
              <a:ext uri="{FF2B5EF4-FFF2-40B4-BE49-F238E27FC236}">
                <a16:creationId xmlns:a16="http://schemas.microsoft.com/office/drawing/2014/main" id="{6A8EEB18-599E-4912-A45D-4003CB15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19-callout_3-text">
            <a:extLst xmlns:a="http://schemas.openxmlformats.org/drawingml/2006/main">
              <a:ext uri="{FF2B5EF4-FFF2-40B4-BE49-F238E27FC236}">
                <a16:creationId xmlns:a16="http://schemas.microsoft.com/office/drawing/2014/main" id="{0D496591-705F-46F6-B65F-0D4DE603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Sₚₚ: densidad (Pa²/Hz)</a:t>
            </a:r>
          </a:p>
        </p:txBody>
      </p:sp>
      <p:sp>
        <p:nvSpPr>
          <p:cNvPr id="23" name="U10-DG-019-callout_4-box">
            <a:extLst xmlns:a="http://schemas.openxmlformats.org/drawingml/2006/main">
              <a:ext uri="{FF2B5EF4-FFF2-40B4-BE49-F238E27FC236}">
                <a16:creationId xmlns:a16="http://schemas.microsoft.com/office/drawing/2014/main" id="{0652580B-ED3C-454D-9124-825E5B10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19-callout_4-text">
            <a:extLst xmlns:a="http://schemas.openxmlformats.org/drawingml/2006/main">
              <a:ext uri="{FF2B5EF4-FFF2-40B4-BE49-F238E27FC236}">
                <a16:creationId xmlns:a16="http://schemas.microsoft.com/office/drawing/2014/main" id="{B5172F83-FA1C-4E34-A7E5-6BC5D8B3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p²_B,rms · Pa²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29C7062D-F93D-40F5-ABC4-92D706B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Ecuación de potencia de banda. Integral; f_L, f_H, S_pp, resultado/unidad.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17E63C4-E092-44C5-8222-900361D1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FAA856D5-E422-480A-9B92-ECC1E6B5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94687AF-29C5-479C-9FB8-E1FBA8D3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7BD0AE2-6EBC-4AFB-B105-2562DD5F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CBFDDE6-AD2F-46E5-87EC-FD3EB5AB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D6A070-C6FA-4FB5-B982-A09BD853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Densidad constante por 100 Hz: qué se obtiene</a:t>
            </a:r>
          </a:p>
        </p:txBody>
      </p:sp>
      <p:sp>
        <p:nvSpPr>
          <p:cNvPr id="6" name="U10-DG-020-concept_1-anchor">
            <a:extLst xmlns:a="http://schemas.openxmlformats.org/drawingml/2006/main">
              <a:ext uri="{FF2B5EF4-FFF2-40B4-BE49-F238E27FC236}">
                <a16:creationId xmlns:a16="http://schemas.microsoft.com/office/drawing/2014/main" id="{C1CB1EC2-58E1-4B09-A7D7-95014B11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0-concept_2-anchor">
            <a:extLst xmlns:a="http://schemas.openxmlformats.org/drawingml/2006/main">
              <a:ext uri="{FF2B5EF4-FFF2-40B4-BE49-F238E27FC236}">
                <a16:creationId xmlns:a16="http://schemas.microsoft.com/office/drawing/2014/main" id="{012F4D17-B45D-42F4-AFCE-0224DC69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0-concept_3-anchor">
            <a:extLst xmlns:a="http://schemas.openxmlformats.org/drawingml/2006/main">
              <a:ext uri="{FF2B5EF4-FFF2-40B4-BE49-F238E27FC236}">
                <a16:creationId xmlns:a16="http://schemas.microsoft.com/office/drawing/2014/main" id="{590F3623-FE04-4326-8629-3088D278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0-concept_4-anchor">
            <a:extLst xmlns:a="http://schemas.openxmlformats.org/drawingml/2006/main">
              <a:ext uri="{FF2B5EF4-FFF2-40B4-BE49-F238E27FC236}">
                <a16:creationId xmlns:a16="http://schemas.microsoft.com/office/drawing/2014/main" id="{892F9FB1-F59E-4AA7-BDF9-FA7E22BA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0-concept_5-anchor">
            <a:extLst xmlns:a="http://schemas.openxmlformats.org/drawingml/2006/main">
              <a:ext uri="{FF2B5EF4-FFF2-40B4-BE49-F238E27FC236}">
                <a16:creationId xmlns:a16="http://schemas.microsoft.com/office/drawing/2014/main" id="{F85B2908-D8A2-41BD-BD0F-F95ACF47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20-visual-alt" descr="Cálculo de potencia en una banda. Datos; Δf; producto; p_rms²; interpretación. Orden de lectura: Flechas “calcular”, “integrar”. ---">
            <a:extLst xmlns:a="http://schemas.openxmlformats.org/drawingml/2006/main">
              <a:ext uri="{FF2B5EF4-FFF2-40B4-BE49-F238E27FC236}">
                <a16:creationId xmlns:a16="http://schemas.microsoft.com/office/drawing/2014/main" id="{E0644096-2EC7-4439-9CB4-9EE19C39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20-concept_1-text">
            <a:extLst xmlns:a="http://schemas.openxmlformats.org/drawingml/2006/main">
              <a:ext uri="{FF2B5EF4-FFF2-40B4-BE49-F238E27FC236}">
                <a16:creationId xmlns:a16="http://schemas.microsoft.com/office/drawing/2014/main" id="{B38DD9C3-376C-40B2-AB38-479F1A83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Sₚₚ = 4,0×10⁻⁸ Pa²/Hz</a:t>
            </a:r>
          </a:p>
        </p:txBody>
      </p:sp>
      <p:sp>
        <p:nvSpPr>
          <p:cNvPr id="13" name="U10-DG-020-concept_2-box">
            <a:extLst xmlns:a="http://schemas.openxmlformats.org/drawingml/2006/main">
              <a:ext uri="{FF2B5EF4-FFF2-40B4-BE49-F238E27FC236}">
                <a16:creationId xmlns:a16="http://schemas.microsoft.com/office/drawing/2014/main" id="{5C14449D-2655-4A00-935B-C6265168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20-concept_2-text">
            <a:extLst xmlns:a="http://schemas.openxmlformats.org/drawingml/2006/main">
              <a:ext uri="{FF2B5EF4-FFF2-40B4-BE49-F238E27FC236}">
                <a16:creationId xmlns:a16="http://schemas.microsoft.com/office/drawing/2014/main" id="{9A042EE8-C744-4764-92E2-87FA581C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Δf = 100 Hz</a:t>
            </a:r>
          </a:p>
        </p:txBody>
      </p:sp>
      <p:sp>
        <p:nvSpPr>
          <p:cNvPr id="15" name="U10-DG-020-concept_3-box">
            <a:extLst xmlns:a="http://schemas.openxmlformats.org/drawingml/2006/main">
              <a:ext uri="{FF2B5EF4-FFF2-40B4-BE49-F238E27FC236}">
                <a16:creationId xmlns:a16="http://schemas.microsoft.com/office/drawing/2014/main" id="{3B84790B-5463-4ED4-BC2F-D35CBEC0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20-concept_3-text">
            <a:extLst xmlns:a="http://schemas.openxmlformats.org/drawingml/2006/main">
              <a:ext uri="{FF2B5EF4-FFF2-40B4-BE49-F238E27FC236}">
                <a16:creationId xmlns:a16="http://schemas.microsoft.com/office/drawing/2014/main" id="{7199D5EF-6321-493B-9E3F-AE9D0BD6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p²_B,rms = 4,0×10⁻⁶ Pa²</a:t>
            </a:r>
          </a:p>
        </p:txBody>
      </p:sp>
      <p:sp>
        <p:nvSpPr>
          <p:cNvPr id="17" name="U10-DG-020-concept_4-box">
            <a:extLst xmlns:a="http://schemas.openxmlformats.org/drawingml/2006/main">
              <a:ext uri="{FF2B5EF4-FFF2-40B4-BE49-F238E27FC236}">
                <a16:creationId xmlns:a16="http://schemas.microsoft.com/office/drawing/2014/main" id="{86966419-D4E1-4492-BD49-8C9AB2D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20-concept_4-text">
            <a:extLst xmlns:a="http://schemas.openxmlformats.org/drawingml/2006/main">
              <a:ext uri="{FF2B5EF4-FFF2-40B4-BE49-F238E27FC236}">
                <a16:creationId xmlns:a16="http://schemas.microsoft.com/office/drawing/2014/main" id="{1FAEDAE7-0D6A-4EEA-A4C4-3CA9D073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p_B,rms = 2,0 mPa</a:t>
            </a:r>
          </a:p>
        </p:txBody>
      </p:sp>
      <p:sp>
        <p:nvSpPr>
          <p:cNvPr id="19" name="U10-DG-020-concept_5-box">
            <a:extLst xmlns:a="http://schemas.openxmlformats.org/drawingml/2006/main">
              <a:ext uri="{FF2B5EF4-FFF2-40B4-BE49-F238E27FC236}">
                <a16:creationId xmlns:a16="http://schemas.microsoft.com/office/drawing/2014/main" id="{E0C5FBA9-7D84-43F5-AB6D-14DF0A23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20-concept_5-text">
            <a:extLst xmlns:a="http://schemas.openxmlformats.org/drawingml/2006/main">
              <a:ext uri="{FF2B5EF4-FFF2-40B4-BE49-F238E27FC236}">
                <a16:creationId xmlns:a16="http://schemas.microsoft.com/office/drawing/2014/main" id="{4E7BE8BC-D597-4EA7-BA92-866FDDB3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Lₚ = 40 dB SPL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4621AE2E-709A-4152-9EA7-1E69004C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Cálculo de potencia en una banda. Datos; Δf; producto; p_rms²; interpretación.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06928EF-3926-4A56-91E1-1794DF9F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E5B4166E-AE15-4162-9E87-6FC8FB5E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F71855F-C4E5-40E5-9EC1-2A92C6E0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A02082E-D459-4F60-B826-66C57937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F3A3AE6-F15C-471B-AC35-DF4B10E2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B36C64-F30E-443A-939F-2EBC935C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Blanco significa densidad constante por hertz</a:t>
            </a:r>
          </a:p>
        </p:txBody>
      </p:sp>
      <p:pic>
        <p:nvPicPr>
          <p:cNvPr id="17" name="U10-CH-007-chart" descr="Un rectángulo espectral muestra densidad S cero constante dentro de una banda finita y un intervalo delta f sombreado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db56924094b4e">
            <a:extLst>
              <a:ext uri="{96DAC541-7B7A-43D3-8B79-37D633B846F1}">
                <asvg:svgBlip xmlns:asvg="http://schemas.microsoft.com/office/drawing/2016/SVG/main" r:embed="R2f161141c6ee4a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BB1ECCB7-2857-4A3E-B505-DDF495D5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C336ACAE-3222-4686-84EC-7ECF640C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2EE78995-F929-4DD9-A3FB-1E76AEB7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una banda finita declarada: S_pp(f) = S₀ la densidad es constante por hertz;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7222F642-1E23-4362-9761-0D4D0530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Una PSD blanca idealizada mantiene densidad constante por hertz entre 125 y 8000 Hz.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57C8C56-4D9D-45FD-BBAD-D26EE01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6159BC82-9011-4847-8195-463C6E06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5458264-01AA-41E2-958B-EA2B4157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7F65517-8CD7-4BBD-B134-055C11BE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4ADC69A-25EF-4D69-B50C-BE7BEE3D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8F9D88-9A38-434F-9682-28CC871B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octava superior contiene más hertz</a:t>
            </a:r>
          </a:p>
        </p:txBody>
      </p:sp>
      <p:pic>
        <p:nvPicPr>
          <p:cNvPr id="17" name="U10-CH-008-chart" descr="Barras en centros de octava desde 125 hasta 8000 Hz aumentan por factor dos; cada barra indica su ancho de band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649142fe14a48">
            <a:extLst>
              <a:ext uri="{96DAC541-7B7A-43D3-8B79-37D633B846F1}">
                <asvg:svgBlip xmlns:asvg="http://schemas.microsoft.com/office/drawing/2016/SVG/main" r:embed="Ra721281710224b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96D86842-9524-41D4-9F99-51186A77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38A64433-954D-479D-BF1B-10FA54CA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A25B40A6-AF8E-4B1D-98FF-8F1241FB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Las bandas de octava sucesivas duplican su ancho en hertz. Con PSD blanca constante: banda centrada en 125 Hz: contenido relativo ×1;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A6B045A6-2E60-454B-A988-78C1477C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Con densidad constante por hertz, el contenido por octava se duplica porque cada banda abarca el doble de hertz.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FD8187F-74F0-4B1D-BBF1-32782207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4487CD0D-6A59-49DA-A8DE-87FBE550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69E6DA2-548F-4358-83D9-970D0EA5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B961F6B-EA64-43CB-8F8A-6418AFF7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C3BDD58-1F39-4371-963E-6676B671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1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7CCE2C-69F6-40A5-A8D7-B38055BA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Rosa compensa el ancho creciente de las octavas</a:t>
            </a:r>
          </a:p>
        </p:txBody>
      </p:sp>
      <p:pic>
        <p:nvPicPr>
          <p:cNvPr id="17" name="U10-CH-009-chart" descr="Curva recta descendente en ejes logarítmicos entre 125 y 8000 Hz, rotulada con pendiente menos uno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b34c2b6c4c39">
            <a:extLst>
              <a:ext uri="{96DAC541-7B7A-43D3-8B79-37D633B846F1}">
                <asvg:svgBlip xmlns:asvg="http://schemas.microsoft.com/office/drawing/2016/SVG/main" r:embed="Rc989a0bda65943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C8C0B2C5-939C-4EEF-A508-776223A1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2A85B242-1535-4F61-B0AA-D5AD122B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B17FF15B-AA5B-4945-A26D-A6584BBA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una banda finita, el ruido rosa ideal se modela como: S_pp(f) = K/f la densidad disminuye cuando aumenta f;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A002C90F-AAF8-4090-91B8-8E99593A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En escala logarítmica, la densidad espectral rosa idealizada cae con pendiente menos uno dentro de una banda finita.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E0E139-AF08-4E49-98AE-56F42BD5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A192CE46-7934-4E03-AA09-DF6D73FA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3FE789A-2E51-44EF-9FD0-FA4CFDC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D9ABCFA-8B16-4335-85A1-0F53B10E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F9CEAEC-097F-4D13-8D0D-EB8AB7C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C78B5B-A5E0-4E2E-8497-D1CDF40A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Blanco por hertz; rosa por octava</a:t>
            </a:r>
          </a:p>
        </p:txBody>
      </p:sp>
      <p:pic>
        <p:nvPicPr>
          <p:cNvPr id="17" name="U10-CH-010-chart" descr="Dos paneles coordinados comparan PSD normalizada y contenido relativo por octava para ruido blanco y rosa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ef2c0232e41c8">
            <a:extLst>
              <a:ext uri="{96DAC541-7B7A-43D3-8B79-37D633B846F1}">
                <asvg:svgBlip xmlns:asvg="http://schemas.microsoft.com/office/drawing/2016/SVG/main" r:embed="Rd51874a9bcf74e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2BBB15E0-BCAB-4674-A0FC-C9ED4617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38315BCC-408D-4376-A020-F655EAF8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D6D38F06-26C8-4D00-B0C0-EED6DEE5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Ruido blanco PSD constante por Hz; contenido creciente por octava.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3F13AF87-0F7E-429A-B646-FB4AF1AD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El blanco es constante por hertz y crece por octava; el rosa cae como 1/f y conserva contenido por octava.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BDF1F8-12D0-430B-A9C1-C2E772E1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rail-1">
            <a:extLst xmlns:a="http://schemas.openxmlformats.org/drawingml/2006/main">
              <a:ext uri="{FF2B5EF4-FFF2-40B4-BE49-F238E27FC236}">
                <a16:creationId xmlns:a16="http://schemas.microsoft.com/office/drawing/2014/main" id="{FFB9EAD2-10FF-4CB1-AA06-7B5E8DB4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024E0F2-D82F-48DA-A033-25737025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B4F9876-4B7D-44CA-9D2E-13F195EC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4FF36CD-F9FB-4DA2-839F-E14D1693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726AF-4743-4FEF-AE89-B206F4B0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Escuchar blanco y rosa sin confundir sonoridad con espectro</a:t>
            </a:r>
          </a:p>
        </p:txBody>
      </p:sp>
      <p:pic>
        <p:nvPicPr>
          <p:cNvPr id="18" name="U10-CH-010-chart" descr="Recurso visual previsto: U10-AS-001 y U10-AS-002; audio seguro y normalizado; fuente por seleccionar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a82d667b640b9">
            <a:extLst>
              <a:ext uri="{96DAC541-7B7A-43D3-8B79-37D633B846F1}">
                <asvg:svgBlip xmlns:asvg="http://schemas.microsoft.com/office/drawing/2016/SVG/main" r:embed="R83ada16d17fd41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1476375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audio-optional-box">
            <a:extLst xmlns:a="http://schemas.openxmlformats.org/drawingml/2006/main">
              <a:ext uri="{FF2B5EF4-FFF2-40B4-BE49-F238E27FC236}">
                <a16:creationId xmlns:a16="http://schemas.microsoft.com/office/drawing/2014/main" id="{6680EF14-0A70-46CC-A1B9-43618025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286125" cy="2714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</p:sp>
      <p:sp>
        <p:nvSpPr>
          <p:cNvPr id="8" name="audio-optional-title">
            <a:extLst xmlns:a="http://schemas.openxmlformats.org/drawingml/2006/main">
              <a:ext uri="{FF2B5EF4-FFF2-40B4-BE49-F238E27FC236}">
                <a16:creationId xmlns:a16="http://schemas.microsoft.com/office/drawing/2014/main" id="{5ADD2FE4-012C-4B32-89C2-D2F3FBE9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24075"/>
            <a:ext cx="2867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Audio opcional</a:t>
            </a:r>
          </a:p>
        </p:txBody>
      </p:sp>
      <p:sp>
        <p:nvSpPr>
          <p:cNvPr id="9" name="audio-optional-body">
            <a:extLst xmlns:a="http://schemas.openxmlformats.org/drawingml/2006/main">
              <a:ext uri="{FF2B5EF4-FFF2-40B4-BE49-F238E27FC236}">
                <a16:creationId xmlns:a16="http://schemas.microsoft.com/office/drawing/2014/main" id="{EA319C41-2F73-4607-AF28-AE65BE3A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38425"/>
            <a:ext cx="28670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Dos clips propios de 10 s, con cadena y nivel documentados. Si no están disponibles, la comparación visual permite completar la actividad.</a:t>
            </a:r>
          </a:p>
        </p:txBody>
      </p:sp>
      <p:sp>
        <p:nvSpPr>
          <p:cNvPr id="10" name="audio-safety">
            <a:extLst xmlns:a="http://schemas.openxmlformats.org/drawingml/2006/main">
              <a:ext uri="{FF2B5EF4-FFF2-40B4-BE49-F238E27FC236}">
                <a16:creationId xmlns:a16="http://schemas.microsoft.com/office/drawing/2014/main" id="{8F4B5851-FB76-4B18-BC73-2A54BB19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9A641E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9A641E"/>
                </a:solidFill>
                <a:latin typeface="Calibri"/>
                <a:ea typeface="Calibri"/>
                <a:cs typeface="Calibri"/>
              </a:rPr>
              <a:t>No elevar el volumen para “notar mejor” la diferencia.</a:t>
            </a:r>
          </a:p>
        </p:txBody>
      </p:sp>
      <p:sp>
        <p:nvSpPr>
          <p:cNvPr id="11" name="caption">
            <a:extLst xmlns:a="http://schemas.openxmlformats.org/drawingml/2006/main">
              <a:ext uri="{FF2B5EF4-FFF2-40B4-BE49-F238E27FC236}">
                <a16:creationId xmlns:a16="http://schemas.microsoft.com/office/drawing/2014/main" id="{347B2D99-1050-45C0-BBDC-248FBA94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escucha depende de reproducción y nivel; el espectro define el modelo.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25A568-F946-4949-AB99-094734AA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EAD233D6-1778-46B5-87EF-3C6D6B17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79EB5BE-EDCE-46C4-8163-53F09B69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179ABC6-9A49-4804-8163-336BAC8B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1F1726B-81ED-4DC4-9581-0DB16631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061A1D-51EC-4A78-BF95-F583065A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Para nombrar un color hay que declarar la banda</a:t>
            </a:r>
          </a:p>
        </p:txBody>
      </p:sp>
      <p:sp>
        <p:nvSpPr>
          <p:cNvPr id="6" name="U10-DG-021-concept_1-anchor">
            <a:extLst xmlns:a="http://schemas.openxmlformats.org/drawingml/2006/main">
              <a:ext uri="{FF2B5EF4-FFF2-40B4-BE49-F238E27FC236}">
                <a16:creationId xmlns:a16="http://schemas.microsoft.com/office/drawing/2014/main" id="{F0A5D1EA-BA78-4671-BBED-E01B0CC7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1-concept_2-anchor">
            <a:extLst xmlns:a="http://schemas.openxmlformats.org/drawingml/2006/main">
              <a:ext uri="{FF2B5EF4-FFF2-40B4-BE49-F238E27FC236}">
                <a16:creationId xmlns:a16="http://schemas.microsoft.com/office/drawing/2014/main" id="{5D479BA4-FF44-4A65-A9FE-8EF783D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1-concept_3-anchor">
            <a:extLst xmlns:a="http://schemas.openxmlformats.org/drawingml/2006/main">
              <a:ext uri="{FF2B5EF4-FFF2-40B4-BE49-F238E27FC236}">
                <a16:creationId xmlns:a16="http://schemas.microsoft.com/office/drawing/2014/main" id="{9E8BA982-B958-499D-9DF9-3659F187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1-concept_4-anchor">
            <a:extLst xmlns:a="http://schemas.openxmlformats.org/drawingml/2006/main">
              <a:ext uri="{FF2B5EF4-FFF2-40B4-BE49-F238E27FC236}">
                <a16:creationId xmlns:a16="http://schemas.microsoft.com/office/drawing/2014/main" id="{8329FA61-4DFF-4049-93A6-4B222511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1-concept_5-anchor">
            <a:extLst xmlns:a="http://schemas.openxmlformats.org/drawingml/2006/main">
              <a:ext uri="{FF2B5EF4-FFF2-40B4-BE49-F238E27FC236}">
                <a16:creationId xmlns:a16="http://schemas.microsoft.com/office/drawing/2014/main" id="{16C096DE-D0C0-45C0-9722-AF6316C2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21-visual-alt" descr="Recap color–pendiente–banda. Blanco; rosa; PSD; octava; experiencia. Orden de lectura: Relaciones “constante por Hz”, “constante por octava”. ---">
            <a:extLst xmlns:a="http://schemas.openxmlformats.org/drawingml/2006/main">
              <a:ext uri="{FF2B5EF4-FFF2-40B4-BE49-F238E27FC236}">
                <a16:creationId xmlns:a16="http://schemas.microsoft.com/office/drawing/2014/main" id="{1A0E514F-9C66-4D3E-86D8-E0306ACF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21-concept_1-text">
            <a:extLst xmlns:a="http://schemas.openxmlformats.org/drawingml/2006/main">
              <a:ext uri="{FF2B5EF4-FFF2-40B4-BE49-F238E27FC236}">
                <a16:creationId xmlns:a16="http://schemas.microsoft.com/office/drawing/2014/main" id="{7EA9AA0B-CA2E-472F-8F83-B71AB33A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Blanco: S₀ por Hz</a:t>
            </a:r>
          </a:p>
        </p:txBody>
      </p:sp>
      <p:sp>
        <p:nvSpPr>
          <p:cNvPr id="13" name="U10-DG-021-concept_2-box">
            <a:extLst xmlns:a="http://schemas.openxmlformats.org/drawingml/2006/main">
              <a:ext uri="{FF2B5EF4-FFF2-40B4-BE49-F238E27FC236}">
                <a16:creationId xmlns:a16="http://schemas.microsoft.com/office/drawing/2014/main" id="{5257EBA0-0CAF-47CE-A399-1E68E8C9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21-concept_2-text">
            <a:extLst xmlns:a="http://schemas.openxmlformats.org/drawingml/2006/main">
              <a:ext uri="{FF2B5EF4-FFF2-40B4-BE49-F238E27FC236}">
                <a16:creationId xmlns:a16="http://schemas.microsoft.com/office/drawing/2014/main" id="{A02FECC0-4075-4CE9-A954-7B649CBA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Por octava: crece</a:t>
            </a:r>
          </a:p>
        </p:txBody>
      </p:sp>
      <p:sp>
        <p:nvSpPr>
          <p:cNvPr id="15" name="U10-DG-021-concept_3-box">
            <a:extLst xmlns:a="http://schemas.openxmlformats.org/drawingml/2006/main">
              <a:ext uri="{FF2B5EF4-FFF2-40B4-BE49-F238E27FC236}">
                <a16:creationId xmlns:a16="http://schemas.microsoft.com/office/drawing/2014/main" id="{74E9EDE5-7ECD-4DA1-B358-499DE1DA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21-concept_3-text">
            <a:extLst xmlns:a="http://schemas.openxmlformats.org/drawingml/2006/main">
              <a:ext uri="{FF2B5EF4-FFF2-40B4-BE49-F238E27FC236}">
                <a16:creationId xmlns:a16="http://schemas.microsoft.com/office/drawing/2014/main" id="{B342029F-2829-4C06-8A46-C71BDC8E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Rosa: K/f</a:t>
            </a:r>
          </a:p>
        </p:txBody>
      </p:sp>
      <p:sp>
        <p:nvSpPr>
          <p:cNvPr id="17" name="U10-DG-021-concept_4-box">
            <a:extLst xmlns:a="http://schemas.openxmlformats.org/drawingml/2006/main">
              <a:ext uri="{FF2B5EF4-FFF2-40B4-BE49-F238E27FC236}">
                <a16:creationId xmlns:a16="http://schemas.microsoft.com/office/drawing/2014/main" id="{516A696F-1EAB-448B-BD61-D2248D6D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21-concept_4-text">
            <a:extLst xmlns:a="http://schemas.openxmlformats.org/drawingml/2006/main">
              <a:ext uri="{FF2B5EF4-FFF2-40B4-BE49-F238E27FC236}">
                <a16:creationId xmlns:a16="http://schemas.microsoft.com/office/drawing/2014/main" id="{B5298833-CE58-447D-8284-2ADF7AF7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Por octava: constante</a:t>
            </a:r>
          </a:p>
        </p:txBody>
      </p:sp>
      <p:sp>
        <p:nvSpPr>
          <p:cNvPr id="19" name="U10-DG-021-concept_5-box">
            <a:extLst xmlns:a="http://schemas.openxmlformats.org/drawingml/2006/main">
              <a:ext uri="{FF2B5EF4-FFF2-40B4-BE49-F238E27FC236}">
                <a16:creationId xmlns:a16="http://schemas.microsoft.com/office/drawing/2014/main" id="{F68FBCA9-EEAF-4289-BE0A-5F81A4EE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21-concept_5-text">
            <a:extLst xmlns:a="http://schemas.openxmlformats.org/drawingml/2006/main">
              <a:ext uri="{FF2B5EF4-FFF2-40B4-BE49-F238E27FC236}">
                <a16:creationId xmlns:a16="http://schemas.microsoft.com/office/drawing/2014/main" id="{D84F123A-9E60-4C5B-95D6-3EFDC47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Escucha no define el modelo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66E98515-8887-4C62-894C-5174DA1A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Recap color–pendiente–banda. Blanco; rosa; PSD; octava; experiencia.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B835CC0-F5C5-4AC0-B239-9470FBE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E879A253-DD3F-43EC-BDCD-A535ADC4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28460071-CFC0-47FB-875B-B36C8B3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convierte un ruido de banda ancha en una señal especificada?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01D08A73-8B8A-4976-A3F0-42677D8F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D22FE8-94AB-4E7A-B1B3-C4611BA6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9B89410C-3D14-4A94-964F-720B141B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ACAB783-5F1F-400D-9BE8-99AFDFAA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9F772F0D-C3C5-45DB-9B08-1B0760B1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6199F39-4305-4F64-8B72-A6A01FC3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E8B4A2-BF4D-42C6-81FF-6839C947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“Ruido vocal” se especifica como ruido con espectro de habla</a:t>
            </a:r>
          </a:p>
        </p:txBody>
      </p:sp>
      <p:sp>
        <p:nvSpPr>
          <p:cNvPr id="6" name="U10-DG-022-concept_1-anchor">
            <a:extLst xmlns:a="http://schemas.openxmlformats.org/drawingml/2006/main">
              <a:ext uri="{FF2B5EF4-FFF2-40B4-BE49-F238E27FC236}">
                <a16:creationId xmlns:a16="http://schemas.microsoft.com/office/drawing/2014/main" id="{307FFF4C-340C-4385-AFD0-9B4BB991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2-concept_2-anchor">
            <a:extLst xmlns:a="http://schemas.openxmlformats.org/drawingml/2006/main">
              <a:ext uri="{FF2B5EF4-FFF2-40B4-BE49-F238E27FC236}">
                <a16:creationId xmlns:a16="http://schemas.microsoft.com/office/drawing/2014/main" id="{FFFFFDF7-6615-467D-AC4A-80E09B8D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2-concept_3-anchor">
            <a:extLst xmlns:a="http://schemas.openxmlformats.org/drawingml/2006/main">
              <a:ext uri="{FF2B5EF4-FFF2-40B4-BE49-F238E27FC236}">
                <a16:creationId xmlns:a16="http://schemas.microsoft.com/office/drawing/2014/main" id="{BF60D5EC-5269-4407-8287-B2497951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2-concept_4-anchor">
            <a:extLst xmlns:a="http://schemas.openxmlformats.org/drawingml/2006/main">
              <a:ext uri="{FF2B5EF4-FFF2-40B4-BE49-F238E27FC236}">
                <a16:creationId xmlns:a16="http://schemas.microsoft.com/office/drawing/2014/main" id="{6077259B-448A-41AC-BE3E-1F973587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2-concept_5-anchor">
            <a:extLst xmlns:a="http://schemas.openxmlformats.org/drawingml/2006/main">
              <a:ext uri="{FF2B5EF4-FFF2-40B4-BE49-F238E27FC236}">
                <a16:creationId xmlns:a16="http://schemas.microsoft.com/office/drawing/2014/main" id="{7A9E42C2-7C1E-47BD-9B61-C9D2F80C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22-visual-alt" descr="Ruido conformado al habla. Ruido base; filtro; envolvente objetivo; salida. Orden de lectura: “filtra según”; “conserva contorno, no habla”. ---">
            <a:extLst xmlns:a="http://schemas.openxmlformats.org/drawingml/2006/main">
              <a:ext uri="{FF2B5EF4-FFF2-40B4-BE49-F238E27FC236}">
                <a16:creationId xmlns:a16="http://schemas.microsoft.com/office/drawing/2014/main" id="{F373F401-1870-4353-A778-2821E7F9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22-concept_1-text">
            <a:extLst xmlns:a="http://schemas.openxmlformats.org/drawingml/2006/main">
              <a:ext uri="{FF2B5EF4-FFF2-40B4-BE49-F238E27FC236}">
                <a16:creationId xmlns:a16="http://schemas.microsoft.com/office/drawing/2014/main" id="{0B439B41-4782-44E7-AA34-394D3DDF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Ruido de banda ancha</a:t>
            </a:r>
          </a:p>
        </p:txBody>
      </p:sp>
      <p:sp>
        <p:nvSpPr>
          <p:cNvPr id="13" name="U10-DG-022-concept_2-box">
            <a:extLst xmlns:a="http://schemas.openxmlformats.org/drawingml/2006/main">
              <a:ext uri="{FF2B5EF4-FFF2-40B4-BE49-F238E27FC236}">
                <a16:creationId xmlns:a16="http://schemas.microsoft.com/office/drawing/2014/main" id="{5C73D4C5-437A-48F4-B2BA-9E811AC6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22-concept_2-text">
            <a:extLst xmlns:a="http://schemas.openxmlformats.org/drawingml/2006/main">
              <a:ext uri="{FF2B5EF4-FFF2-40B4-BE49-F238E27FC236}">
                <a16:creationId xmlns:a16="http://schemas.microsoft.com/office/drawing/2014/main" id="{572A0F44-445F-4A74-9676-89D89752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Filtro H(f)</a:t>
            </a:r>
          </a:p>
        </p:txBody>
      </p:sp>
      <p:sp>
        <p:nvSpPr>
          <p:cNvPr id="15" name="U10-DG-022-concept_3-box">
            <a:extLst xmlns:a="http://schemas.openxmlformats.org/drawingml/2006/main">
              <a:ext uri="{FF2B5EF4-FFF2-40B4-BE49-F238E27FC236}">
                <a16:creationId xmlns:a16="http://schemas.microsoft.com/office/drawing/2014/main" id="{77415E1D-8E3C-4960-9B5C-8C6F87F3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22-concept_3-text">
            <a:extLst xmlns:a="http://schemas.openxmlformats.org/drawingml/2006/main">
              <a:ext uri="{FF2B5EF4-FFF2-40B4-BE49-F238E27FC236}">
                <a16:creationId xmlns:a16="http://schemas.microsoft.com/office/drawing/2014/main" id="{F57741DB-4DBE-45B9-AD66-C8B6FD7A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Contorno objetivo</a:t>
            </a:r>
          </a:p>
        </p:txBody>
      </p:sp>
      <p:sp>
        <p:nvSpPr>
          <p:cNvPr id="17" name="U10-DG-022-concept_4-box">
            <a:extLst xmlns:a="http://schemas.openxmlformats.org/drawingml/2006/main">
              <a:ext uri="{FF2B5EF4-FFF2-40B4-BE49-F238E27FC236}">
                <a16:creationId xmlns:a16="http://schemas.microsoft.com/office/drawing/2014/main" id="{CC16D544-C9B8-4AC3-85E1-E1FA4002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22-concept_4-text">
            <a:extLst xmlns:a="http://schemas.openxmlformats.org/drawingml/2006/main">
              <a:ext uri="{FF2B5EF4-FFF2-40B4-BE49-F238E27FC236}">
                <a16:creationId xmlns:a16="http://schemas.microsoft.com/office/drawing/2014/main" id="{8C9C0396-E305-4D46-A263-F0D1F56E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Ruido con forma de habla</a:t>
            </a:r>
          </a:p>
        </p:txBody>
      </p:sp>
      <p:sp>
        <p:nvSpPr>
          <p:cNvPr id="19" name="U10-DG-022-concept_5-box">
            <a:extLst xmlns:a="http://schemas.openxmlformats.org/drawingml/2006/main">
              <a:ext uri="{FF2B5EF4-FFF2-40B4-BE49-F238E27FC236}">
                <a16:creationId xmlns:a16="http://schemas.microsoft.com/office/drawing/2014/main" id="{09F4AB0B-1ADA-4937-926E-A62AA1C6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22-concept_5-text">
            <a:extLst xmlns:a="http://schemas.openxmlformats.org/drawingml/2006/main">
              <a:ext uri="{FF2B5EF4-FFF2-40B4-BE49-F238E27FC236}">
                <a16:creationId xmlns:a16="http://schemas.microsoft.com/office/drawing/2014/main" id="{E8CD6114-0722-4DC3-967A-88165AB6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Conserva forma; no es habla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D4D9E630-784C-475A-B654-0262F8B5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Ruido conformado al habla. Ruido base; filtro; envolvente objetivo; salida.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831DFD-C800-4BB4-A77C-653DA91E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55543F45-E0DF-4455-BA14-84CA3C6D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C07B85D-C83C-451F-8483-78DBB989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DA802D1-1D63-4064-BDF3-01C5EEBC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3E8D8BC-9939-4279-AA53-1CDE47E9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21CEC8-34B3-4D6D-9347-84088C54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filtros producen señales con funciones distintas</a:t>
            </a:r>
          </a:p>
        </p:txBody>
      </p:sp>
      <p:sp>
        <p:nvSpPr>
          <p:cNvPr id="6" name="U10-DG-023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13CD0806-5DE2-4811-AE86-DE16EE2D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3-branch_1-anchor">
            <a:extLst xmlns:a="http://schemas.openxmlformats.org/drawingml/2006/main">
              <a:ext uri="{FF2B5EF4-FFF2-40B4-BE49-F238E27FC236}">
                <a16:creationId xmlns:a16="http://schemas.microsoft.com/office/drawing/2014/main" id="{736F3249-4E22-44E0-9B3B-95573FE8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26083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3-branch_2-anchor">
            <a:extLst xmlns:a="http://schemas.openxmlformats.org/drawingml/2006/main">
              <a:ext uri="{FF2B5EF4-FFF2-40B4-BE49-F238E27FC236}">
                <a16:creationId xmlns:a16="http://schemas.microsoft.com/office/drawing/2014/main" id="{D663DED1-D3D6-4596-9D84-DEE2E8D9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449259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3-branch_3-anchor">
            <a:extLst xmlns:a="http://schemas.openxmlformats.org/drawingml/2006/main">
              <a:ext uri="{FF2B5EF4-FFF2-40B4-BE49-F238E27FC236}">
                <a16:creationId xmlns:a16="http://schemas.microsoft.com/office/drawing/2014/main" id="{AC0606E7-C4E8-445F-BC58-6B4C9DA7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472434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3-branch_4-anchor">
            <a:extLst xmlns:a="http://schemas.openxmlformats.org/drawingml/2006/main">
              <a:ext uri="{FF2B5EF4-FFF2-40B4-BE49-F238E27FC236}">
                <a16:creationId xmlns:a16="http://schemas.microsoft.com/office/drawing/2014/main" id="{86DE653D-90EA-482A-B4F8-3DAFD1D6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495610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23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1836135"/>
            <a:ext cx="2847975" cy="13980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23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335655" y="2859310"/>
            <a:ext cx="2847975" cy="37490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23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64827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23-branch_edge_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5655" y="3234215"/>
            <a:ext cx="2847975" cy="167144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23-visual-alt" descr="Banco de filtros. Entrada banda ancha; pasa-bajos; pasa-altos; pasabanda; salidas. Orden de lectura: Flechas ancladas; etiquetas de banda. ---">
            <a:extLst xmlns:a="http://schemas.openxmlformats.org/drawingml/2006/main">
              <a:ext uri="{FF2B5EF4-FFF2-40B4-BE49-F238E27FC236}">
                <a16:creationId xmlns:a16="http://schemas.microsoft.com/office/drawing/2014/main" id="{E4AF5E11-BDCA-4767-864B-71D8DD50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23-branch_source-text">
            <a:extLst xmlns:a="http://schemas.openxmlformats.org/drawingml/2006/main">
              <a:ext uri="{FF2B5EF4-FFF2-40B4-BE49-F238E27FC236}">
                <a16:creationId xmlns:a16="http://schemas.microsoft.com/office/drawing/2014/main" id="{31CE2CEE-57C5-4D13-8D8E-4353C9CE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Entrada de banda ancha</a:t>
            </a:r>
          </a:p>
        </p:txBody>
      </p:sp>
      <p:sp>
        <p:nvSpPr>
          <p:cNvPr id="17" name="U10-DG-023-branch_1-box">
            <a:extLst xmlns:a="http://schemas.openxmlformats.org/drawingml/2006/main">
              <a:ext uri="{FF2B5EF4-FFF2-40B4-BE49-F238E27FC236}">
                <a16:creationId xmlns:a16="http://schemas.microsoft.com/office/drawing/2014/main" id="{58541B83-4ADF-4AF2-A171-9062CF1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26083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23-branch_1-text">
            <a:extLst xmlns:a="http://schemas.openxmlformats.org/drawingml/2006/main">
              <a:ext uri="{FF2B5EF4-FFF2-40B4-BE49-F238E27FC236}">
                <a16:creationId xmlns:a16="http://schemas.microsoft.com/office/drawing/2014/main" id="{271ADB5B-9454-4469-80B3-C170083F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49908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Pasa-bajos</a:t>
            </a:r>
          </a:p>
        </p:txBody>
      </p:sp>
      <p:sp>
        <p:nvSpPr>
          <p:cNvPr id="19" name="U10-DG-023-branch_2-box">
            <a:extLst xmlns:a="http://schemas.openxmlformats.org/drawingml/2006/main">
              <a:ext uri="{FF2B5EF4-FFF2-40B4-BE49-F238E27FC236}">
                <a16:creationId xmlns:a16="http://schemas.microsoft.com/office/drawing/2014/main" id="{1BEC8D7F-FFCB-407D-B052-E917DA46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449259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23-branch_2-text">
            <a:extLst xmlns:a="http://schemas.openxmlformats.org/drawingml/2006/main">
              <a:ext uri="{FF2B5EF4-FFF2-40B4-BE49-F238E27FC236}">
                <a16:creationId xmlns:a16="http://schemas.microsoft.com/office/drawing/2014/main" id="{788CFEBB-0639-49D7-B586-541C1433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73084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Pasa-altos</a:t>
            </a:r>
          </a:p>
        </p:txBody>
      </p:sp>
      <p:sp>
        <p:nvSpPr>
          <p:cNvPr id="21" name="U10-DG-023-branch_3-box">
            <a:extLst xmlns:a="http://schemas.openxmlformats.org/drawingml/2006/main">
              <a:ext uri="{FF2B5EF4-FFF2-40B4-BE49-F238E27FC236}">
                <a16:creationId xmlns:a16="http://schemas.microsoft.com/office/drawing/2014/main" id="{C61298D1-FCDB-4767-A081-40E17D9B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472434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23-branch_3-text">
            <a:extLst xmlns:a="http://schemas.openxmlformats.org/drawingml/2006/main">
              <a:ext uri="{FF2B5EF4-FFF2-40B4-BE49-F238E27FC236}">
                <a16:creationId xmlns:a16="http://schemas.microsoft.com/office/drawing/2014/main" id="{94730AA8-5131-48F5-8BC5-04666A0D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96259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Pasabanda</a:t>
            </a:r>
          </a:p>
        </p:txBody>
      </p:sp>
      <p:sp>
        <p:nvSpPr>
          <p:cNvPr id="23" name="U10-DG-023-branch_4-box">
            <a:extLst xmlns:a="http://schemas.openxmlformats.org/drawingml/2006/main">
              <a:ext uri="{FF2B5EF4-FFF2-40B4-BE49-F238E27FC236}">
                <a16:creationId xmlns:a16="http://schemas.microsoft.com/office/drawing/2014/main" id="{BE2C7BD2-A3CD-4B5B-9A11-791237AC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495610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23-branch_4-text">
            <a:extLst xmlns:a="http://schemas.openxmlformats.org/drawingml/2006/main">
              <a:ext uri="{FF2B5EF4-FFF2-40B4-BE49-F238E27FC236}">
                <a16:creationId xmlns:a16="http://schemas.microsoft.com/office/drawing/2014/main" id="{B15221C3-E59D-4F06-AB69-9E5110BF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19435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Tres salidas filtradas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916FB555-FE58-4850-81B0-672E67D3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Banco de filtros. Entrada banda ancha; pasa-bajos; pasa-altos; pasabanda; salidas.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1F40DE-D235-4D08-B018-90CC2580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16716DD1-B778-4C37-BF5D-EB5C1ABE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7084D31-F94E-4D20-81CB-C6CB7333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098F9DC-EF1F-45F8-831E-CCAE2034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AE08A57-A16A-420E-9167-9D75BAB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04428B-1588-43D1-9C62-86A18F3D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NBN significa contenido concentrado en una banda declarada</a:t>
            </a:r>
          </a:p>
        </p:txBody>
      </p:sp>
      <p:sp>
        <p:nvSpPr>
          <p:cNvPr id="6" name="U10-DG-024-equation-anchor">
            <a:extLst xmlns:a="http://schemas.openxmlformats.org/drawingml/2006/main">
              <a:ext uri="{FF2B5EF4-FFF2-40B4-BE49-F238E27FC236}">
                <a16:creationId xmlns:a16="http://schemas.microsoft.com/office/drawing/2014/main" id="{311D11FC-42F2-4949-9F69-3FCD03CF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4-callout_1-anchor">
            <a:extLst xmlns:a="http://schemas.openxmlformats.org/drawingml/2006/main">
              <a:ext uri="{FF2B5EF4-FFF2-40B4-BE49-F238E27FC236}">
                <a16:creationId xmlns:a16="http://schemas.microsoft.com/office/drawing/2014/main" id="{E01EAD66-9A06-427C-B285-5BD827CA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4-callout_2-anchor">
            <a:extLst xmlns:a="http://schemas.openxmlformats.org/drawingml/2006/main">
              <a:ext uri="{FF2B5EF4-FFF2-40B4-BE49-F238E27FC236}">
                <a16:creationId xmlns:a16="http://schemas.microsoft.com/office/drawing/2014/main" id="{B049C6CA-D081-4A18-B93B-90BEDB7C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4-callout_3-anchor">
            <a:extLst xmlns:a="http://schemas.openxmlformats.org/drawingml/2006/main">
              <a:ext uri="{FF2B5EF4-FFF2-40B4-BE49-F238E27FC236}">
                <a16:creationId xmlns:a16="http://schemas.microsoft.com/office/drawing/2014/main" id="{C9764DB6-1260-41A4-BE0D-61CF6D7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4-callout_4-anchor">
            <a:extLst xmlns:a="http://schemas.openxmlformats.org/drawingml/2006/main">
              <a:ext uri="{FF2B5EF4-FFF2-40B4-BE49-F238E27FC236}">
                <a16:creationId xmlns:a16="http://schemas.microsoft.com/office/drawing/2014/main" id="{BAC4D7A0-7D6E-4470-B1C1-D3C39C44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24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24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24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24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24-visual-alt" descr="Definición visual de NBN. Espectro amplio; filtro centrado; banda de salida; f_L/f_c/f_H. Orden de lectura: “selecciona”. ---">
            <a:extLst xmlns:a="http://schemas.openxmlformats.org/drawingml/2006/main">
              <a:ext uri="{FF2B5EF4-FFF2-40B4-BE49-F238E27FC236}">
                <a16:creationId xmlns:a16="http://schemas.microsoft.com/office/drawing/2014/main" id="{70218937-A2C9-47C6-B3A9-58607EA8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24-equation-text">
            <a:extLst xmlns:a="http://schemas.openxmlformats.org/drawingml/2006/main">
              <a:ext uri="{FF2B5EF4-FFF2-40B4-BE49-F238E27FC236}">
                <a16:creationId xmlns:a16="http://schemas.microsoft.com/office/drawing/2014/main" id="{500461ED-432D-40C5-B1D3-9BB3CD0F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NBN: fₗ — f꜀ — fₕ</a:t>
            </a:r>
          </a:p>
        </p:txBody>
      </p:sp>
      <p:sp>
        <p:nvSpPr>
          <p:cNvPr id="17" name="U10-DG-024-callout_1-box">
            <a:extLst xmlns:a="http://schemas.openxmlformats.org/drawingml/2006/main">
              <a:ext uri="{FF2B5EF4-FFF2-40B4-BE49-F238E27FC236}">
                <a16:creationId xmlns:a16="http://schemas.microsoft.com/office/drawing/2014/main" id="{D517127D-7761-4047-911B-7C2B3F11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24-callout_1-text">
            <a:extLst xmlns:a="http://schemas.openxmlformats.org/drawingml/2006/main">
              <a:ext uri="{FF2B5EF4-FFF2-40B4-BE49-F238E27FC236}">
                <a16:creationId xmlns:a16="http://schemas.microsoft.com/office/drawing/2014/main" id="{3EFDF097-C928-405E-983F-80F660EF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Espectro amplio</a:t>
            </a:r>
          </a:p>
        </p:txBody>
      </p:sp>
      <p:sp>
        <p:nvSpPr>
          <p:cNvPr id="19" name="U10-DG-024-callout_2-box">
            <a:extLst xmlns:a="http://schemas.openxmlformats.org/drawingml/2006/main">
              <a:ext uri="{FF2B5EF4-FFF2-40B4-BE49-F238E27FC236}">
                <a16:creationId xmlns:a16="http://schemas.microsoft.com/office/drawing/2014/main" id="{91C78000-52B8-48D1-B4D6-D3894755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24-callout_2-text">
            <a:extLst xmlns:a="http://schemas.openxmlformats.org/drawingml/2006/main">
              <a:ext uri="{FF2B5EF4-FFF2-40B4-BE49-F238E27FC236}">
                <a16:creationId xmlns:a16="http://schemas.microsoft.com/office/drawing/2014/main" id="{D009E761-2307-4E3C-90BD-4EECF933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Filtro centrado</a:t>
            </a:r>
          </a:p>
        </p:txBody>
      </p:sp>
      <p:sp>
        <p:nvSpPr>
          <p:cNvPr id="21" name="U10-DG-024-callout_3-box">
            <a:extLst xmlns:a="http://schemas.openxmlformats.org/drawingml/2006/main">
              <a:ext uri="{FF2B5EF4-FFF2-40B4-BE49-F238E27FC236}">
                <a16:creationId xmlns:a16="http://schemas.microsoft.com/office/drawing/2014/main" id="{46412731-223C-4A7C-87DC-CA87DB73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24-callout_3-text">
            <a:extLst xmlns:a="http://schemas.openxmlformats.org/drawingml/2006/main">
              <a:ext uri="{FF2B5EF4-FFF2-40B4-BE49-F238E27FC236}">
                <a16:creationId xmlns:a16="http://schemas.microsoft.com/office/drawing/2014/main" id="{0BD92F35-5001-4EC5-B5D4-EC96382F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fₗ: límite inferior</a:t>
            </a:r>
          </a:p>
        </p:txBody>
      </p:sp>
      <p:sp>
        <p:nvSpPr>
          <p:cNvPr id="23" name="U10-DG-024-callout_4-box">
            <a:extLst xmlns:a="http://schemas.openxmlformats.org/drawingml/2006/main">
              <a:ext uri="{FF2B5EF4-FFF2-40B4-BE49-F238E27FC236}">
                <a16:creationId xmlns:a16="http://schemas.microsoft.com/office/drawing/2014/main" id="{3BB3E6CE-89EA-4720-8363-112778F1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24-callout_4-text">
            <a:extLst xmlns:a="http://schemas.openxmlformats.org/drawingml/2006/main">
              <a:ext uri="{FF2B5EF4-FFF2-40B4-BE49-F238E27FC236}">
                <a16:creationId xmlns:a16="http://schemas.microsoft.com/office/drawing/2014/main" id="{F39556CE-AF3C-4DDF-91B3-9CE90AE7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f꜀: centro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76B831C5-C43F-4867-80CA-6997F470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Definición visual de NBN. Espectro amplio; filtro centrado; banda de salida; f_L/f_c/f_H.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5E4411-F621-4200-977C-D88A832E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9DAA9E63-D33E-40C5-AF1D-93B30189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C1CDDAC-E18C-4E10-9DA1-389CC997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417269E-F411-4A8A-BE7F-46ED1D12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8A06055-D97E-4B08-9604-1816B57A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294769-BEED-4DA0-97EA-797B47C0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banda de 900 a 1100 Hz no queda especificada solo por su ancho</a:t>
            </a:r>
          </a:p>
        </p:txBody>
      </p:sp>
      <p:sp>
        <p:nvSpPr>
          <p:cNvPr id="6" name="U10-DG-025-equation-anchor">
            <a:extLst xmlns:a="http://schemas.openxmlformats.org/drawingml/2006/main">
              <a:ext uri="{FF2B5EF4-FFF2-40B4-BE49-F238E27FC236}">
                <a16:creationId xmlns:a16="http://schemas.microsoft.com/office/drawing/2014/main" id="{08759267-F2AF-4BD3-91BD-0268E274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5-callout_1-anchor">
            <a:extLst xmlns:a="http://schemas.openxmlformats.org/drawingml/2006/main">
              <a:ext uri="{FF2B5EF4-FFF2-40B4-BE49-F238E27FC236}">
                <a16:creationId xmlns:a16="http://schemas.microsoft.com/office/drawing/2014/main" id="{E6409211-606D-4F74-A6FD-3D171CBF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5-callout_2-anchor">
            <a:extLst xmlns:a="http://schemas.openxmlformats.org/drawingml/2006/main">
              <a:ext uri="{FF2B5EF4-FFF2-40B4-BE49-F238E27FC236}">
                <a16:creationId xmlns:a16="http://schemas.microsoft.com/office/drawing/2014/main" id="{03E4A50D-61A4-40BF-9AD7-F951356C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5-callout_3-anchor">
            <a:extLst xmlns:a="http://schemas.openxmlformats.org/drawingml/2006/main">
              <a:ext uri="{FF2B5EF4-FFF2-40B4-BE49-F238E27FC236}">
                <a16:creationId xmlns:a16="http://schemas.microsoft.com/office/drawing/2014/main" id="{8D271C9F-0DD5-485D-B45E-65401062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5-callout_4-anchor">
            <a:extLst xmlns:a="http://schemas.openxmlformats.org/drawingml/2006/main">
              <a:ext uri="{FF2B5EF4-FFF2-40B4-BE49-F238E27FC236}">
                <a16:creationId xmlns:a16="http://schemas.microsoft.com/office/drawing/2014/main" id="{835DFC43-19A3-4449-ABF5-3C4CC0E4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25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25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25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25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25-visual-alt" descr="Parámetros de NBN. Eje de frecuencia; límites; centro; ancho; pendientes. Orden de lectura: Callouts sin cruces. ---">
            <a:extLst xmlns:a="http://schemas.openxmlformats.org/drawingml/2006/main">
              <a:ext uri="{FF2B5EF4-FFF2-40B4-BE49-F238E27FC236}">
                <a16:creationId xmlns:a16="http://schemas.microsoft.com/office/drawing/2014/main" id="{AF5F71B6-B2B7-4221-86E6-F5273A7F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25-equation-text">
            <a:extLst xmlns:a="http://schemas.openxmlformats.org/drawingml/2006/main">
              <a:ext uri="{FF2B5EF4-FFF2-40B4-BE49-F238E27FC236}">
                <a16:creationId xmlns:a16="http://schemas.microsoft.com/office/drawing/2014/main" id="{A054248D-A49A-4F93-90E4-DBEEA16C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B = fₕ − fₗ</a:t>
            </a:r>
          </a:p>
        </p:txBody>
      </p:sp>
      <p:sp>
        <p:nvSpPr>
          <p:cNvPr id="17" name="U10-DG-025-callout_1-box">
            <a:extLst xmlns:a="http://schemas.openxmlformats.org/drawingml/2006/main">
              <a:ext uri="{FF2B5EF4-FFF2-40B4-BE49-F238E27FC236}">
                <a16:creationId xmlns:a16="http://schemas.microsoft.com/office/drawing/2014/main" id="{E0B98D72-8F30-4725-AD9F-4B880ADD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25-callout_1-text">
            <a:extLst xmlns:a="http://schemas.openxmlformats.org/drawingml/2006/main">
              <a:ext uri="{FF2B5EF4-FFF2-40B4-BE49-F238E27FC236}">
                <a16:creationId xmlns:a16="http://schemas.microsoft.com/office/drawing/2014/main" id="{0F21C98D-CBEF-4F84-A7A7-F50B1B85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fₗ: límite inferior</a:t>
            </a:r>
          </a:p>
        </p:txBody>
      </p:sp>
      <p:sp>
        <p:nvSpPr>
          <p:cNvPr id="19" name="U10-DG-025-callout_2-box">
            <a:extLst xmlns:a="http://schemas.openxmlformats.org/drawingml/2006/main">
              <a:ext uri="{FF2B5EF4-FFF2-40B4-BE49-F238E27FC236}">
                <a16:creationId xmlns:a16="http://schemas.microsoft.com/office/drawing/2014/main" id="{06BF6162-4255-48D5-96F7-BBD23958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25-callout_2-text">
            <a:extLst xmlns:a="http://schemas.openxmlformats.org/drawingml/2006/main">
              <a:ext uri="{FF2B5EF4-FFF2-40B4-BE49-F238E27FC236}">
                <a16:creationId xmlns:a16="http://schemas.microsoft.com/office/drawing/2014/main" id="{540AD6B4-CF75-4D4A-A88C-838AA59B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f꜀: centro declarado</a:t>
            </a:r>
          </a:p>
        </p:txBody>
      </p:sp>
      <p:sp>
        <p:nvSpPr>
          <p:cNvPr id="21" name="U10-DG-025-callout_3-box">
            <a:extLst xmlns:a="http://schemas.openxmlformats.org/drawingml/2006/main">
              <a:ext uri="{FF2B5EF4-FFF2-40B4-BE49-F238E27FC236}">
                <a16:creationId xmlns:a16="http://schemas.microsoft.com/office/drawing/2014/main" id="{56270AE7-D195-406E-A47D-4AB6B7A5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25-callout_3-text">
            <a:extLst xmlns:a="http://schemas.openxmlformats.org/drawingml/2006/main">
              <a:ext uri="{FF2B5EF4-FFF2-40B4-BE49-F238E27FC236}">
                <a16:creationId xmlns:a16="http://schemas.microsoft.com/office/drawing/2014/main" id="{0294773C-B928-4A70-872C-6C91C143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fₕ: límite superior</a:t>
            </a:r>
          </a:p>
        </p:txBody>
      </p:sp>
      <p:sp>
        <p:nvSpPr>
          <p:cNvPr id="23" name="U10-DG-025-callout_4-box">
            <a:extLst xmlns:a="http://schemas.openxmlformats.org/drawingml/2006/main">
              <a:ext uri="{FF2B5EF4-FFF2-40B4-BE49-F238E27FC236}">
                <a16:creationId xmlns:a16="http://schemas.microsoft.com/office/drawing/2014/main" id="{B90FC410-26CE-4B66-AD0D-09263CF1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25-callout_4-text">
            <a:extLst xmlns:a="http://schemas.openxmlformats.org/drawingml/2006/main">
              <a:ext uri="{FF2B5EF4-FFF2-40B4-BE49-F238E27FC236}">
                <a16:creationId xmlns:a16="http://schemas.microsoft.com/office/drawing/2014/main" id="{4965CEE2-F1BA-4FF9-963B-98B79F7C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B = fₕ − fₗ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D326C0DF-4CE8-41EB-ACC8-6A929DB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Parámetros de NBN. Eje de frecuencia; límites; centro; ancho; pendientes.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289D48-A00A-4766-991C-3512EA48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-1">
            <a:extLst xmlns:a="http://schemas.openxmlformats.org/drawingml/2006/main">
              <a:ext uri="{FF2B5EF4-FFF2-40B4-BE49-F238E27FC236}">
                <a16:creationId xmlns:a16="http://schemas.microsoft.com/office/drawing/2014/main" id="{B668FD69-30A4-4F89-9991-A0D5836A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9B166FC-5F1A-459D-8CC3-5416BA41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03F1078-BA63-402E-BBCE-DD4101FD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5E81C3A-B89F-48E9-B104-A1C2B0D2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5EA696-D2F4-471C-B9DB-D0A9383E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ruidos se distinguen por el criterio espectral</a:t>
            </a:r>
          </a:p>
        </p:txBody>
      </p:sp>
      <p:sp>
        <p:nvSpPr>
          <p:cNvPr id="6" name="U10-042-claim-alt" descr="Recurso visual previsto: Tabla nativa; sin imágenes. ---">
            <a:extLst xmlns:a="http://schemas.openxmlformats.org/drawingml/2006/main">
              <a:ext uri="{FF2B5EF4-FFF2-40B4-BE49-F238E27FC236}">
                <a16:creationId xmlns:a16="http://schemas.microsoft.com/office/drawing/2014/main" id="{F2E51DD9-92F2-4195-A3C2-2190F9F7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7" name="U10-042-cell-text-0-0">
            <a:extLst xmlns:a="http://schemas.openxmlformats.org/drawingml/2006/main">
              <a:ext uri="{FF2B5EF4-FFF2-40B4-BE49-F238E27FC236}">
                <a16:creationId xmlns:a16="http://schemas.microsoft.com/office/drawing/2014/main" id="{22A669E2-75B1-41A6-A5B1-7F3FD7B1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8" name="U10-042-cell-0-1">
            <a:extLst xmlns:a="http://schemas.openxmlformats.org/drawingml/2006/main">
              <a:ext uri="{FF2B5EF4-FFF2-40B4-BE49-F238E27FC236}">
                <a16:creationId xmlns:a16="http://schemas.microsoft.com/office/drawing/2014/main" id="{FE3F4B81-5513-4F2E-A1BC-B54B8E29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5716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9" name="U10-042-cell-text-0-1">
            <a:extLst xmlns:a="http://schemas.openxmlformats.org/drawingml/2006/main">
              <a:ext uri="{FF2B5EF4-FFF2-40B4-BE49-F238E27FC236}">
                <a16:creationId xmlns:a16="http://schemas.microsoft.com/office/drawing/2014/main" id="{11F83107-C0D7-464B-B3FD-890122F7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1925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Regla espectral</a:t>
            </a:r>
          </a:p>
        </p:txBody>
      </p:sp>
      <p:sp>
        <p:nvSpPr>
          <p:cNvPr id="10" name="U10-042-cell-0-2">
            <a:extLst xmlns:a="http://schemas.openxmlformats.org/drawingml/2006/main">
              <a:ext uri="{FF2B5EF4-FFF2-40B4-BE49-F238E27FC236}">
                <a16:creationId xmlns:a16="http://schemas.microsoft.com/office/drawing/2014/main" id="{87535E5B-86E4-43BC-B8CA-607EAF41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716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1" name="U10-042-cell-text-0-2">
            <a:extLst xmlns:a="http://schemas.openxmlformats.org/drawingml/2006/main">
              <a:ext uri="{FF2B5EF4-FFF2-40B4-BE49-F238E27FC236}">
                <a16:creationId xmlns:a16="http://schemas.microsoft.com/office/drawing/2014/main" id="{DA684324-8DA6-4CD3-8816-1D143CBF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61925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Agrupamiento útil</a:t>
            </a:r>
          </a:p>
        </p:txBody>
      </p:sp>
      <p:sp>
        <p:nvSpPr>
          <p:cNvPr id="12" name="U10-042-cell-0-3">
            <a:extLst xmlns:a="http://schemas.openxmlformats.org/drawingml/2006/main">
              <a:ext uri="{FF2B5EF4-FFF2-40B4-BE49-F238E27FC236}">
                <a16:creationId xmlns:a16="http://schemas.microsoft.com/office/drawing/2014/main" id="{45D618C0-0874-4396-A8F9-A5CA0179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71625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3" name="U10-042-cell-text-0-3">
            <a:extLst xmlns:a="http://schemas.openxmlformats.org/drawingml/2006/main">
              <a:ext uri="{FF2B5EF4-FFF2-40B4-BE49-F238E27FC236}">
                <a16:creationId xmlns:a16="http://schemas.microsoft.com/office/drawing/2014/main" id="{F40FB88D-BE4E-41F6-90D0-D0DF6A05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19250"/>
            <a:ext cx="4038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Parámetros que deben declararse</a:t>
            </a:r>
          </a:p>
        </p:txBody>
      </p:sp>
      <p:sp>
        <p:nvSpPr>
          <p:cNvPr id="14" name="U10-042-cell-1-0">
            <a:extLst xmlns:a="http://schemas.openxmlformats.org/drawingml/2006/main">
              <a:ext uri="{FF2B5EF4-FFF2-40B4-BE49-F238E27FC236}">
                <a16:creationId xmlns:a16="http://schemas.microsoft.com/office/drawing/2014/main" id="{0A467DD0-08FC-41F6-A5A7-403671CA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1457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5" name="U10-042-cell-text-1-0">
            <a:extLst xmlns:a="http://schemas.openxmlformats.org/drawingml/2006/main">
              <a:ext uri="{FF2B5EF4-FFF2-40B4-BE49-F238E27FC236}">
                <a16:creationId xmlns:a16="http://schemas.microsoft.com/office/drawing/2014/main" id="{F7E540F1-4FE2-4C36-A1A5-DF55399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6220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Blanco</a:t>
            </a:r>
          </a:p>
        </p:txBody>
      </p:sp>
      <p:sp>
        <p:nvSpPr>
          <p:cNvPr id="16" name="U10-042-cell-1-1">
            <a:extLst xmlns:a="http://schemas.openxmlformats.org/drawingml/2006/main">
              <a:ext uri="{FF2B5EF4-FFF2-40B4-BE49-F238E27FC236}">
                <a16:creationId xmlns:a16="http://schemas.microsoft.com/office/drawing/2014/main" id="{CA4505A7-0EC9-4493-86F5-5181A735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1457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7" name="U10-042-cell-text-1-1">
            <a:extLst xmlns:a="http://schemas.openxmlformats.org/drawingml/2006/main">
              <a:ext uri="{FF2B5EF4-FFF2-40B4-BE49-F238E27FC236}">
                <a16:creationId xmlns:a16="http://schemas.microsoft.com/office/drawing/2014/main" id="{FB0F96A2-D32D-4F2D-842B-13A302C5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622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S_pp = S₀</a:t>
            </a:r>
          </a:p>
        </p:txBody>
      </p:sp>
      <p:sp>
        <p:nvSpPr>
          <p:cNvPr id="18" name="U10-042-cell-1-2">
            <a:extLst xmlns:a="http://schemas.openxmlformats.org/drawingml/2006/main">
              <a:ext uri="{FF2B5EF4-FFF2-40B4-BE49-F238E27FC236}">
                <a16:creationId xmlns:a16="http://schemas.microsoft.com/office/drawing/2014/main" id="{60C196C3-C03F-46D2-A773-9838903F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1457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9" name="U10-042-cell-text-1-2">
            <a:extLst xmlns:a="http://schemas.openxmlformats.org/drawingml/2006/main">
              <a:ext uri="{FF2B5EF4-FFF2-40B4-BE49-F238E27FC236}">
                <a16:creationId xmlns:a16="http://schemas.microsoft.com/office/drawing/2014/main" id="{8FF35917-E68A-4903-B489-A201619D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622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intervalos iguales en Hz</a:t>
            </a:r>
          </a:p>
        </p:txBody>
      </p:sp>
      <p:sp>
        <p:nvSpPr>
          <p:cNvPr id="20" name="U10-042-cell-1-3">
            <a:extLst xmlns:a="http://schemas.openxmlformats.org/drawingml/2006/main">
              <a:ext uri="{FF2B5EF4-FFF2-40B4-BE49-F238E27FC236}">
                <a16:creationId xmlns:a16="http://schemas.microsoft.com/office/drawing/2014/main" id="{4268DA42-FD16-4987-B6D3-1035061D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14575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1" name="U10-042-cell-text-1-3">
            <a:extLst xmlns:a="http://schemas.openxmlformats.org/drawingml/2006/main">
              <a:ext uri="{FF2B5EF4-FFF2-40B4-BE49-F238E27FC236}">
                <a16:creationId xmlns:a16="http://schemas.microsoft.com/office/drawing/2014/main" id="{A080729B-12DF-4C1F-8F0F-5CCD32B5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62200"/>
            <a:ext cx="4038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 y nivel</a:t>
            </a:r>
          </a:p>
        </p:txBody>
      </p:sp>
      <p:sp>
        <p:nvSpPr>
          <p:cNvPr id="22" name="U10-042-cell-2-0">
            <a:extLst xmlns:a="http://schemas.openxmlformats.org/drawingml/2006/main">
              <a:ext uri="{FF2B5EF4-FFF2-40B4-BE49-F238E27FC236}">
                <a16:creationId xmlns:a16="http://schemas.microsoft.com/office/drawing/2014/main" id="{0EBD38A5-288E-4CFD-A2D5-366512BF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575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3" name="U10-042-cell-text-2-0">
            <a:extLst xmlns:a="http://schemas.openxmlformats.org/drawingml/2006/main">
              <a:ext uri="{FF2B5EF4-FFF2-40B4-BE49-F238E27FC236}">
                <a16:creationId xmlns:a16="http://schemas.microsoft.com/office/drawing/2014/main" id="{74C9D611-41BA-4A13-8870-7A782DEB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515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Rosa</a:t>
            </a:r>
          </a:p>
        </p:txBody>
      </p:sp>
      <p:sp>
        <p:nvSpPr>
          <p:cNvPr id="24" name="U10-042-cell-2-1">
            <a:extLst xmlns:a="http://schemas.openxmlformats.org/drawingml/2006/main">
              <a:ext uri="{FF2B5EF4-FFF2-40B4-BE49-F238E27FC236}">
                <a16:creationId xmlns:a16="http://schemas.microsoft.com/office/drawing/2014/main" id="{5136CE01-D139-44F0-93E3-8E0AA8C3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575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5" name="U10-042-cell-text-2-1">
            <a:extLst xmlns:a="http://schemas.openxmlformats.org/drawingml/2006/main">
              <a:ext uri="{FF2B5EF4-FFF2-40B4-BE49-F238E27FC236}">
                <a16:creationId xmlns:a16="http://schemas.microsoft.com/office/drawing/2014/main" id="{253B457A-3B4A-4FD8-A8AE-DD2653D1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0515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S_pp ∝ 1/f</a:t>
            </a:r>
          </a:p>
        </p:txBody>
      </p:sp>
      <p:sp>
        <p:nvSpPr>
          <p:cNvPr id="26" name="U10-042-cell-2-2">
            <a:extLst xmlns:a="http://schemas.openxmlformats.org/drawingml/2006/main">
              <a:ext uri="{FF2B5EF4-FFF2-40B4-BE49-F238E27FC236}">
                <a16:creationId xmlns:a16="http://schemas.microsoft.com/office/drawing/2014/main" id="{AF1C4D6C-2799-4D43-89F7-61FDE04B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575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7" name="U10-042-cell-text-2-2">
            <a:extLst xmlns:a="http://schemas.openxmlformats.org/drawingml/2006/main">
              <a:ext uri="{FF2B5EF4-FFF2-40B4-BE49-F238E27FC236}">
                <a16:creationId xmlns:a16="http://schemas.microsoft.com/office/drawing/2014/main" id="{E3955047-CA25-440A-AA6A-0B499D7C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0515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octavas</a:t>
            </a:r>
          </a:p>
        </p:txBody>
      </p:sp>
      <p:sp>
        <p:nvSpPr>
          <p:cNvPr id="28" name="U10-042-cell-2-3">
            <a:extLst xmlns:a="http://schemas.openxmlformats.org/drawingml/2006/main">
              <a:ext uri="{FF2B5EF4-FFF2-40B4-BE49-F238E27FC236}">
                <a16:creationId xmlns:a16="http://schemas.microsoft.com/office/drawing/2014/main" id="{330DEE67-C224-45F3-B6FD-B1182DB6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57525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9" name="U10-042-cell-text-2-3">
            <a:extLst xmlns:a="http://schemas.openxmlformats.org/drawingml/2006/main">
              <a:ext uri="{FF2B5EF4-FFF2-40B4-BE49-F238E27FC236}">
                <a16:creationId xmlns:a16="http://schemas.microsoft.com/office/drawing/2014/main" id="{8E522291-B06D-40E3-903D-ADB5921F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05150"/>
            <a:ext cx="4038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 y nivel</a:t>
            </a:r>
          </a:p>
        </p:txBody>
      </p:sp>
      <p:sp>
        <p:nvSpPr>
          <p:cNvPr id="30" name="U10-042-cell-3-0">
            <a:extLst xmlns:a="http://schemas.openxmlformats.org/drawingml/2006/main">
              <a:ext uri="{FF2B5EF4-FFF2-40B4-BE49-F238E27FC236}">
                <a16:creationId xmlns:a16="http://schemas.microsoft.com/office/drawing/2014/main" id="{F87BB46F-E034-49A2-A4CB-EDF09477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0047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1" name="U10-042-cell-text-3-0">
            <a:extLst xmlns:a="http://schemas.openxmlformats.org/drawingml/2006/main">
              <a:ext uri="{FF2B5EF4-FFF2-40B4-BE49-F238E27FC236}">
                <a16:creationId xmlns:a16="http://schemas.microsoft.com/office/drawing/2014/main" id="{70043EC3-40D0-42F2-B9BF-C07E2253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4810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Forma de habla</a:t>
            </a:r>
          </a:p>
        </p:txBody>
      </p:sp>
      <p:sp>
        <p:nvSpPr>
          <p:cNvPr id="32" name="U10-042-cell-3-1">
            <a:extLst xmlns:a="http://schemas.openxmlformats.org/drawingml/2006/main">
              <a:ext uri="{FF2B5EF4-FFF2-40B4-BE49-F238E27FC236}">
                <a16:creationId xmlns:a16="http://schemas.microsoft.com/office/drawing/2014/main" id="{9D7FECEA-2E29-4915-8AB4-8B1A0445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0047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3" name="U10-042-cell-text-3-1">
            <a:extLst xmlns:a="http://schemas.openxmlformats.org/drawingml/2006/main">
              <a:ext uri="{FF2B5EF4-FFF2-40B4-BE49-F238E27FC236}">
                <a16:creationId xmlns:a16="http://schemas.microsoft.com/office/drawing/2014/main" id="{578BBF8A-2EC0-4742-B3B4-53D3F1B4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8481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contorno objetivo</a:t>
            </a:r>
          </a:p>
        </p:txBody>
      </p:sp>
      <p:sp>
        <p:nvSpPr>
          <p:cNvPr id="34" name="U10-042-cell-3-2">
            <a:extLst xmlns:a="http://schemas.openxmlformats.org/drawingml/2006/main">
              <a:ext uri="{FF2B5EF4-FFF2-40B4-BE49-F238E27FC236}">
                <a16:creationId xmlns:a16="http://schemas.microsoft.com/office/drawing/2014/main" id="{5952587D-DA9F-4B01-9D37-54C36336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0047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5" name="U10-042-cell-text-3-2">
            <a:extLst xmlns:a="http://schemas.openxmlformats.org/drawingml/2006/main">
              <a:ext uri="{FF2B5EF4-FFF2-40B4-BE49-F238E27FC236}">
                <a16:creationId xmlns:a16="http://schemas.microsoft.com/office/drawing/2014/main" id="{4A536956-9F04-4DBB-A0F4-4FB5FFB9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8481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bandas del espectro objetivo</a:t>
            </a:r>
          </a:p>
        </p:txBody>
      </p:sp>
      <p:sp>
        <p:nvSpPr>
          <p:cNvPr id="36" name="U10-042-cell-3-3">
            <a:extLst xmlns:a="http://schemas.openxmlformats.org/drawingml/2006/main">
              <a:ext uri="{FF2B5EF4-FFF2-40B4-BE49-F238E27FC236}">
                <a16:creationId xmlns:a16="http://schemas.microsoft.com/office/drawing/2014/main" id="{EA78010A-92DC-4288-9F18-91E76244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00475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7" name="U10-042-cell-text-3-3">
            <a:extLst xmlns:a="http://schemas.openxmlformats.org/drawingml/2006/main">
              <a:ext uri="{FF2B5EF4-FFF2-40B4-BE49-F238E27FC236}">
                <a16:creationId xmlns:a16="http://schemas.microsoft.com/office/drawing/2014/main" id="{260F0DA7-DB79-4F5F-988F-28A5B956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48100"/>
            <a:ext cx="4038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curva, equipo y calibración</a:t>
            </a:r>
          </a:p>
        </p:txBody>
      </p:sp>
      <p:sp>
        <p:nvSpPr>
          <p:cNvPr id="38" name="U10-042-cell-4-0">
            <a:extLst xmlns:a="http://schemas.openxmlformats.org/drawingml/2006/main">
              <a:ext uri="{FF2B5EF4-FFF2-40B4-BE49-F238E27FC236}">
                <a16:creationId xmlns:a16="http://schemas.microsoft.com/office/drawing/2014/main" id="{C21D2965-BB25-46C4-AB98-8F07E070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9" name="U10-042-cell-text-4-0">
            <a:extLst xmlns:a="http://schemas.openxmlformats.org/drawingml/2006/main">
              <a:ext uri="{FF2B5EF4-FFF2-40B4-BE49-F238E27FC236}">
                <a16:creationId xmlns:a16="http://schemas.microsoft.com/office/drawing/2014/main" id="{2208B9CC-7843-43DF-AD39-5A226AD8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91050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NBN</a:t>
            </a:r>
          </a:p>
        </p:txBody>
      </p:sp>
      <p:sp>
        <p:nvSpPr>
          <p:cNvPr id="40" name="U10-042-cell-4-1">
            <a:extLst xmlns:a="http://schemas.openxmlformats.org/drawingml/2006/main">
              <a:ext uri="{FF2B5EF4-FFF2-40B4-BE49-F238E27FC236}">
                <a16:creationId xmlns:a16="http://schemas.microsoft.com/office/drawing/2014/main" id="{07480D8E-6EEB-4C81-8F43-7049881A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434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1" name="U10-042-cell-text-4-1">
            <a:extLst xmlns:a="http://schemas.openxmlformats.org/drawingml/2006/main">
              <a:ext uri="{FF2B5EF4-FFF2-40B4-BE49-F238E27FC236}">
                <a16:creationId xmlns:a16="http://schemas.microsoft.com/office/drawing/2014/main" id="{DE3BC48C-729B-4C0F-BE70-56FD519F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9105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contenido concentrado</a:t>
            </a:r>
          </a:p>
        </p:txBody>
      </p:sp>
      <p:sp>
        <p:nvSpPr>
          <p:cNvPr id="42" name="U10-042-cell-4-2">
            <a:extLst xmlns:a="http://schemas.openxmlformats.org/drawingml/2006/main">
              <a:ext uri="{FF2B5EF4-FFF2-40B4-BE49-F238E27FC236}">
                <a16:creationId xmlns:a16="http://schemas.microsoft.com/office/drawing/2014/main" id="{49801DE5-C20B-4070-8069-1D66E53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43425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3" name="U10-042-cell-text-4-2">
            <a:extLst xmlns:a="http://schemas.openxmlformats.org/drawingml/2006/main">
              <a:ext uri="{FF2B5EF4-FFF2-40B4-BE49-F238E27FC236}">
                <a16:creationId xmlns:a16="http://schemas.microsoft.com/office/drawing/2014/main" id="{297AEC8F-41B8-4C4F-A551-283834A9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59105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banda declarada</a:t>
            </a:r>
          </a:p>
        </p:txBody>
      </p:sp>
      <p:sp>
        <p:nvSpPr>
          <p:cNvPr id="44" name="U10-042-cell-4-3">
            <a:extLst xmlns:a="http://schemas.openxmlformats.org/drawingml/2006/main">
              <a:ext uri="{FF2B5EF4-FFF2-40B4-BE49-F238E27FC236}">
                <a16:creationId xmlns:a16="http://schemas.microsoft.com/office/drawing/2014/main" id="{685DC398-B5CF-41B0-AB71-38F5B08C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43425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5" name="U10-042-cell-text-4-3">
            <a:extLst xmlns:a="http://schemas.openxmlformats.org/drawingml/2006/main">
              <a:ext uri="{FF2B5EF4-FFF2-40B4-BE49-F238E27FC236}">
                <a16:creationId xmlns:a16="http://schemas.microsoft.com/office/drawing/2014/main" id="{78553B6C-3174-4DB2-B42F-3B9B85DF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91050"/>
            <a:ext cx="4038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f_L, f_c, f_H, pendientes y nivel</a:t>
            </a:r>
          </a:p>
        </p:txBody>
      </p:sp>
      <p:sp>
        <p:nvSpPr>
          <p:cNvPr id="4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5113196-F050-4478-B9BE-292E071A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F869EB67-0917-4B13-827E-6EFF903E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6AAA535-8F95-4977-B435-CE3B5254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1A2F58A-9FE1-4282-8149-2DA7BA2C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3A3BF10F-285E-4E5D-B5F0-F90760A7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5B053D-01C5-4FFB-BA6D-D9A6CD86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señal elegiría y qué falta especificar?</a:t>
            </a:r>
          </a:p>
        </p:txBody>
      </p:sp>
      <p:sp>
        <p:nvSpPr>
          <p:cNvPr id="6" name="U10-DG-026-step_1-anchor">
            <a:extLst xmlns:a="http://schemas.openxmlformats.org/drawingml/2006/main">
              <a:ext uri="{FF2B5EF4-FFF2-40B4-BE49-F238E27FC236}">
                <a16:creationId xmlns:a16="http://schemas.microsoft.com/office/drawing/2014/main" id="{3960B2EE-ECCA-4F2A-B754-2876C6F1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6-step_2-anchor">
            <a:extLst xmlns:a="http://schemas.openxmlformats.org/drawingml/2006/main">
              <a:ext uri="{FF2B5EF4-FFF2-40B4-BE49-F238E27FC236}">
                <a16:creationId xmlns:a16="http://schemas.microsoft.com/office/drawing/2014/main" id="{449104AE-94D3-42B9-B57D-ECD1A85B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6-step_3-anchor">
            <a:extLst xmlns:a="http://schemas.openxmlformats.org/drawingml/2006/main">
              <a:ext uri="{FF2B5EF4-FFF2-40B4-BE49-F238E27FC236}">
                <a16:creationId xmlns:a16="http://schemas.microsoft.com/office/drawing/2014/main" id="{50A09A19-F95D-4D38-85B0-4AA2E0CE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6-step_4-anchor">
            <a:extLst xmlns:a="http://schemas.openxmlformats.org/drawingml/2006/main">
              <a:ext uri="{FF2B5EF4-FFF2-40B4-BE49-F238E27FC236}">
                <a16:creationId xmlns:a16="http://schemas.microsoft.com/office/drawing/2014/main" id="{53E58565-E0C7-4150-9898-735E30A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6-step_5-anchor">
            <a:extLst xmlns:a="http://schemas.openxmlformats.org/drawingml/2006/main">
              <a:ext uri="{FF2B5EF4-FFF2-40B4-BE49-F238E27FC236}">
                <a16:creationId xmlns:a16="http://schemas.microsoft.com/office/drawing/2014/main" id="{F1112C5A-BBAE-4ED8-892A-F18142AB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26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26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26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26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26-visual-alt" descr="Árbol para elegir señal de prueba. Objetivo; región espectral; ancho; tipo; parámetros faltantes. Orden de lectura: Preguntas en conectores de 1–3 palabras. ---">
            <a:extLst xmlns:a="http://schemas.openxmlformats.org/drawingml/2006/main">
              <a:ext uri="{FF2B5EF4-FFF2-40B4-BE49-F238E27FC236}">
                <a16:creationId xmlns:a16="http://schemas.microsoft.com/office/drawing/2014/main" id="{7B0BAF51-AB2B-4B48-BE07-AC220A07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26-step_1-text">
            <a:extLst xmlns:a="http://schemas.openxmlformats.org/drawingml/2006/main">
              <a:ext uri="{FF2B5EF4-FFF2-40B4-BE49-F238E27FC236}">
                <a16:creationId xmlns:a16="http://schemas.microsoft.com/office/drawing/2014/main" id="{47370AD4-D2C5-4924-BDDD-0B703476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¿Cuál es el objetivo?</a:t>
            </a:r>
          </a:p>
        </p:txBody>
      </p:sp>
      <p:sp>
        <p:nvSpPr>
          <p:cNvPr id="17" name="U10-DG-026-step_2-box">
            <a:extLst xmlns:a="http://schemas.openxmlformats.org/drawingml/2006/main">
              <a:ext uri="{FF2B5EF4-FFF2-40B4-BE49-F238E27FC236}">
                <a16:creationId xmlns:a16="http://schemas.microsoft.com/office/drawing/2014/main" id="{2C0CFDB7-DF04-4929-96FC-6096D89D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26-step_2-text">
            <a:extLst xmlns:a="http://schemas.openxmlformats.org/drawingml/2006/main">
              <a:ext uri="{FF2B5EF4-FFF2-40B4-BE49-F238E27FC236}">
                <a16:creationId xmlns:a16="http://schemas.microsoft.com/office/drawing/2014/main" id="{7264BC2A-C287-4F34-BD5E-91578914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¿Qué región espectral?</a:t>
            </a:r>
          </a:p>
        </p:txBody>
      </p:sp>
      <p:sp>
        <p:nvSpPr>
          <p:cNvPr id="19" name="U10-DG-026-step_3-box">
            <a:extLst xmlns:a="http://schemas.openxmlformats.org/drawingml/2006/main">
              <a:ext uri="{FF2B5EF4-FFF2-40B4-BE49-F238E27FC236}">
                <a16:creationId xmlns:a16="http://schemas.microsoft.com/office/drawing/2014/main" id="{C679103E-EC26-41E9-BEA1-65332579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26-step_3-text">
            <a:extLst xmlns:a="http://schemas.openxmlformats.org/drawingml/2006/main">
              <a:ext uri="{FF2B5EF4-FFF2-40B4-BE49-F238E27FC236}">
                <a16:creationId xmlns:a16="http://schemas.microsoft.com/office/drawing/2014/main" id="{4614ECD6-8B07-4440-9087-EEE255D3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¿Qué ancho de banda?</a:t>
            </a:r>
          </a:p>
        </p:txBody>
      </p:sp>
      <p:sp>
        <p:nvSpPr>
          <p:cNvPr id="21" name="U10-DG-026-step_4-box">
            <a:extLst xmlns:a="http://schemas.openxmlformats.org/drawingml/2006/main">
              <a:ext uri="{FF2B5EF4-FFF2-40B4-BE49-F238E27FC236}">
                <a16:creationId xmlns:a16="http://schemas.microsoft.com/office/drawing/2014/main" id="{C5DB1962-0DAF-4F83-9E38-8E4A452B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26-step_4-text">
            <a:extLst xmlns:a="http://schemas.openxmlformats.org/drawingml/2006/main">
              <a:ext uri="{FF2B5EF4-FFF2-40B4-BE49-F238E27FC236}">
                <a16:creationId xmlns:a16="http://schemas.microsoft.com/office/drawing/2014/main" id="{AC3561A9-B804-496F-89F2-0EDAD093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Elegir tipo de señal</a:t>
            </a:r>
          </a:p>
        </p:txBody>
      </p:sp>
      <p:sp>
        <p:nvSpPr>
          <p:cNvPr id="23" name="U10-DG-026-step_5-box">
            <a:extLst xmlns:a="http://schemas.openxmlformats.org/drawingml/2006/main">
              <a:ext uri="{FF2B5EF4-FFF2-40B4-BE49-F238E27FC236}">
                <a16:creationId xmlns:a16="http://schemas.microsoft.com/office/drawing/2014/main" id="{6BF1BE0A-3196-473B-B2BB-89AD93DA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26-step_5-text">
            <a:extLst xmlns:a="http://schemas.openxmlformats.org/drawingml/2006/main">
              <a:ext uri="{FF2B5EF4-FFF2-40B4-BE49-F238E27FC236}">
                <a16:creationId xmlns:a16="http://schemas.microsoft.com/office/drawing/2014/main" id="{C66AD1FE-4732-4B6F-89B1-B32DE675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Nivel + calibración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F221C5A1-94E7-43DF-81C7-A3C6F80F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Árbol para elegir señal de prueba. Objetivo; región espectral; ancho; tipo; parámetros faltantes.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D8295B6-55EE-46F5-84E3-361E6E2D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3342E428-5BA2-401E-8307-3491AD3A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30AC1E4-FC97-496A-9886-A75434C3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839618B-C587-47E8-AE0B-C1E1ADE4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C9D51D4-FA61-4311-AC78-53523D8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D2A7B2-F673-4E49-9561-9EAC9DD0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Espectro, banda, nivel y procedimiento acompañan al nombre</a:t>
            </a:r>
          </a:p>
        </p:txBody>
      </p:sp>
      <p:sp>
        <p:nvSpPr>
          <p:cNvPr id="6" name="U10-DG-027-compare_1-anchor">
            <a:extLst xmlns:a="http://schemas.openxmlformats.org/drawingml/2006/main">
              <a:ext uri="{FF2B5EF4-FFF2-40B4-BE49-F238E27FC236}">
                <a16:creationId xmlns:a16="http://schemas.microsoft.com/office/drawing/2014/main" id="{2C772210-965D-47E7-B4CB-73CBA805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7-compare_2-anchor">
            <a:extLst xmlns:a="http://schemas.openxmlformats.org/drawingml/2006/main">
              <a:ext uri="{FF2B5EF4-FFF2-40B4-BE49-F238E27FC236}">
                <a16:creationId xmlns:a16="http://schemas.microsoft.com/office/drawing/2014/main" id="{0777988C-3D6E-4711-8420-B51A8F54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7-compare_3-anchor">
            <a:extLst xmlns:a="http://schemas.openxmlformats.org/drawingml/2006/main">
              <a:ext uri="{FF2B5EF4-FFF2-40B4-BE49-F238E27FC236}">
                <a16:creationId xmlns:a16="http://schemas.microsoft.com/office/drawing/2014/main" id="{C4318554-2C1A-4E74-84EB-B3B0416F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7-compare_4-anchor">
            <a:extLst xmlns:a="http://schemas.openxmlformats.org/drawingml/2006/main">
              <a:ext uri="{FF2B5EF4-FFF2-40B4-BE49-F238E27FC236}">
                <a16:creationId xmlns:a16="http://schemas.microsoft.com/office/drawing/2014/main" id="{626D6C29-C318-460E-9F4A-BDF22BAE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7-visual-alt" descr="Tabla visual de familias. Blanco, rosa, habla, NBN; forma/uso/cautela. Orden de lectura: Sin conectores. ---">
            <a:extLst xmlns:a="http://schemas.openxmlformats.org/drawingml/2006/main">
              <a:ext uri="{FF2B5EF4-FFF2-40B4-BE49-F238E27FC236}">
                <a16:creationId xmlns:a16="http://schemas.microsoft.com/office/drawing/2014/main" id="{4080287E-0555-4841-BECF-279C2C18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10-DG-027-compare_1-text">
            <a:extLst xmlns:a="http://schemas.openxmlformats.org/drawingml/2006/main">
              <a:ext uri="{FF2B5EF4-FFF2-40B4-BE49-F238E27FC236}">
                <a16:creationId xmlns:a16="http://schemas.microsoft.com/office/drawing/2014/main" id="{D7D76E95-64DF-40DF-AF10-F6807DE4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Blanco · constante/Hz · prueba</a:t>
            </a:r>
          </a:p>
        </p:txBody>
      </p:sp>
      <p:sp>
        <p:nvSpPr>
          <p:cNvPr id="12" name="U10-DG-027-compare_2-box">
            <a:extLst xmlns:a="http://schemas.openxmlformats.org/drawingml/2006/main">
              <a:ext uri="{FF2B5EF4-FFF2-40B4-BE49-F238E27FC236}">
                <a16:creationId xmlns:a16="http://schemas.microsoft.com/office/drawing/2014/main" id="{C10D801D-5DC5-41F5-A98B-44B8BE06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3" name="U10-DG-027-compare_2-text">
            <a:extLst xmlns:a="http://schemas.openxmlformats.org/drawingml/2006/main">
              <a:ext uri="{FF2B5EF4-FFF2-40B4-BE49-F238E27FC236}">
                <a16:creationId xmlns:a16="http://schemas.microsoft.com/office/drawing/2014/main" id="{3E535050-D7D5-4A05-A5E2-F1EB8A66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Rosa · constante/octava · prueba</a:t>
            </a:r>
          </a:p>
        </p:txBody>
      </p:sp>
      <p:sp>
        <p:nvSpPr>
          <p:cNvPr id="14" name="U10-DG-027-compare_3-box">
            <a:extLst xmlns:a="http://schemas.openxmlformats.org/drawingml/2006/main">
              <a:ext uri="{FF2B5EF4-FFF2-40B4-BE49-F238E27FC236}">
                <a16:creationId xmlns:a16="http://schemas.microsoft.com/office/drawing/2014/main" id="{6F52ECE1-2442-4822-BF4C-3B7EDE00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10-DG-027-compare_3-text">
            <a:extLst xmlns:a="http://schemas.openxmlformats.org/drawingml/2006/main">
              <a:ext uri="{FF2B5EF4-FFF2-40B4-BE49-F238E27FC236}">
                <a16:creationId xmlns:a16="http://schemas.microsoft.com/office/drawing/2014/main" id="{74EC6CA8-EC5E-4789-A935-D21C550C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Forma de habla · contorno · comunicación</a:t>
            </a:r>
          </a:p>
        </p:txBody>
      </p:sp>
      <p:sp>
        <p:nvSpPr>
          <p:cNvPr id="16" name="U10-DG-027-compare_4-box">
            <a:extLst xmlns:a="http://schemas.openxmlformats.org/drawingml/2006/main">
              <a:ext uri="{FF2B5EF4-FFF2-40B4-BE49-F238E27FC236}">
                <a16:creationId xmlns:a16="http://schemas.microsoft.com/office/drawing/2014/main" id="{BE6BCFC2-B377-401F-9BF8-92C5FD60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10-DG-027-compare_4-text">
            <a:extLst xmlns:a="http://schemas.openxmlformats.org/drawingml/2006/main">
              <a:ext uri="{FF2B5EF4-FFF2-40B4-BE49-F238E27FC236}">
                <a16:creationId xmlns:a16="http://schemas.microsoft.com/office/drawing/2014/main" id="{9AAA8534-84FD-44ED-A346-05C3BDE1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NBN · banda declarada · audiometría</a:t>
            </a:r>
          </a:p>
        </p:txBody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345FA8CB-BD9C-4707-9398-DF73308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Tabla visual de familias. Blanco, rosa, habla, NBN; forma/uso/cautela.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98E5CE9-2160-4A4E-8142-838A9A2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56FFA0B1-5035-45AC-BCB9-C6D31096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E4CD33F5-4990-4610-AFB9-6109FE15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pregunta responde cada número de una medición?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10C7723E-12E9-415A-A75D-ADCF59DD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D539A2-9E68-4DE5-A981-EA1683A8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990E0FBA-9347-47F8-BC89-A023F45C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270B8A1-5B42-4B99-83AF-88546436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2C8B2D2-09E4-4D94-B84D-E3E2B745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B53DBDD-C6DA-46AD-A437-DE0ECD2B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AED943-B5D0-4068-8AE6-88F549E1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del número: señal, ponderación, detector e intervalo</a:t>
            </a:r>
          </a:p>
        </p:txBody>
      </p:sp>
      <p:sp>
        <p:nvSpPr>
          <p:cNvPr id="6" name="U10-DG-028-step_1-anchor">
            <a:extLst xmlns:a="http://schemas.openxmlformats.org/drawingml/2006/main">
              <a:ext uri="{FF2B5EF4-FFF2-40B4-BE49-F238E27FC236}">
                <a16:creationId xmlns:a16="http://schemas.microsoft.com/office/drawing/2014/main" id="{94F54848-474B-4D98-97A5-6A0CE5FE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8-step_2-anchor">
            <a:extLst xmlns:a="http://schemas.openxmlformats.org/drawingml/2006/main">
              <a:ext uri="{FF2B5EF4-FFF2-40B4-BE49-F238E27FC236}">
                <a16:creationId xmlns:a16="http://schemas.microsoft.com/office/drawing/2014/main" id="{7A81F6D4-9F68-4172-A0D4-CCF3A088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8-step_3-anchor">
            <a:extLst xmlns:a="http://schemas.openxmlformats.org/drawingml/2006/main">
              <a:ext uri="{FF2B5EF4-FFF2-40B4-BE49-F238E27FC236}">
                <a16:creationId xmlns:a16="http://schemas.microsoft.com/office/drawing/2014/main" id="{60E803DE-9D38-4A03-943B-9C929AFD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8-step_4-anchor">
            <a:extLst xmlns:a="http://schemas.openxmlformats.org/drawingml/2006/main">
              <a:ext uri="{FF2B5EF4-FFF2-40B4-BE49-F238E27FC236}">
                <a16:creationId xmlns:a16="http://schemas.microsoft.com/office/drawing/2014/main" id="{2D4C1AEE-4733-4241-8982-58F75F35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8-step_5-anchor">
            <a:extLst xmlns:a="http://schemas.openxmlformats.org/drawingml/2006/main">
              <a:ext uri="{FF2B5EF4-FFF2-40B4-BE49-F238E27FC236}">
                <a16:creationId xmlns:a16="http://schemas.microsoft.com/office/drawing/2014/main" id="{0A974B5A-4C12-42EA-A9FC-1C8C4B65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28-step_6-anchor">
            <a:extLst xmlns:a="http://schemas.openxmlformats.org/drawingml/2006/main">
              <a:ext uri="{FF2B5EF4-FFF2-40B4-BE49-F238E27FC236}">
                <a16:creationId xmlns:a16="http://schemas.microsoft.com/office/drawing/2014/main" id="{FD44A3D5-146B-487A-B9BC-9428B778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28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28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28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28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28-flow_5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28-visual-alt" descr="Cadena de medición. Fuente; micrófono; ponderación; detector; integración; indicador; metadatos. Orden de lectura: “transduce”, “pondera”, “integra”, “reporta”. ---">
            <a:extLst xmlns:a="http://schemas.openxmlformats.org/drawingml/2006/main">
              <a:ext uri="{FF2B5EF4-FFF2-40B4-BE49-F238E27FC236}">
                <a16:creationId xmlns:a16="http://schemas.microsoft.com/office/drawing/2014/main" id="{ACA878FA-6933-4FD2-B6A8-BA7A6395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28-step_1-text">
            <a:extLst xmlns:a="http://schemas.openxmlformats.org/drawingml/2006/main">
              <a:ext uri="{FF2B5EF4-FFF2-40B4-BE49-F238E27FC236}">
                <a16:creationId xmlns:a16="http://schemas.microsoft.com/office/drawing/2014/main" id="{7A5CE7C5-4099-4345-8108-5CC0869D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Fuente</a:t>
            </a:r>
          </a:p>
        </p:txBody>
      </p:sp>
      <p:sp>
        <p:nvSpPr>
          <p:cNvPr id="19" name="U10-DG-028-step_2-box">
            <a:extLst xmlns:a="http://schemas.openxmlformats.org/drawingml/2006/main">
              <a:ext uri="{FF2B5EF4-FFF2-40B4-BE49-F238E27FC236}">
                <a16:creationId xmlns:a16="http://schemas.microsoft.com/office/drawing/2014/main" id="{F4CB53E7-7168-4FF4-A902-4A0DCD18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28-step_2-text">
            <a:extLst xmlns:a="http://schemas.openxmlformats.org/drawingml/2006/main">
              <a:ext uri="{FF2B5EF4-FFF2-40B4-BE49-F238E27FC236}">
                <a16:creationId xmlns:a16="http://schemas.microsoft.com/office/drawing/2014/main" id="{AC03F7F2-02D1-4192-B23C-DF9B29D1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Micrófono</a:t>
            </a:r>
          </a:p>
        </p:txBody>
      </p:sp>
      <p:sp>
        <p:nvSpPr>
          <p:cNvPr id="21" name="U10-DG-028-step_3-box">
            <a:extLst xmlns:a="http://schemas.openxmlformats.org/drawingml/2006/main">
              <a:ext uri="{FF2B5EF4-FFF2-40B4-BE49-F238E27FC236}">
                <a16:creationId xmlns:a16="http://schemas.microsoft.com/office/drawing/2014/main" id="{D103BA8B-5840-490A-9844-41F05810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28-step_3-text">
            <a:extLst xmlns:a="http://schemas.openxmlformats.org/drawingml/2006/main">
              <a:ext uri="{FF2B5EF4-FFF2-40B4-BE49-F238E27FC236}">
                <a16:creationId xmlns:a16="http://schemas.microsoft.com/office/drawing/2014/main" id="{538D3AB3-57E1-41BA-ABE9-96391D82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Ponderación</a:t>
            </a:r>
          </a:p>
        </p:txBody>
      </p:sp>
      <p:sp>
        <p:nvSpPr>
          <p:cNvPr id="23" name="U10-DG-028-step_4-box">
            <a:extLst xmlns:a="http://schemas.openxmlformats.org/drawingml/2006/main">
              <a:ext uri="{FF2B5EF4-FFF2-40B4-BE49-F238E27FC236}">
                <a16:creationId xmlns:a16="http://schemas.microsoft.com/office/drawing/2014/main" id="{D9D7C40D-E1F1-421F-9A82-7F885D9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28-step_4-text">
            <a:extLst xmlns:a="http://schemas.openxmlformats.org/drawingml/2006/main">
              <a:ext uri="{FF2B5EF4-FFF2-40B4-BE49-F238E27FC236}">
                <a16:creationId xmlns:a16="http://schemas.microsoft.com/office/drawing/2014/main" id="{AD452E24-FFFD-4EED-813A-46C11995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Detector temporal</a:t>
            </a:r>
          </a:p>
        </p:txBody>
      </p:sp>
      <p:sp>
        <p:nvSpPr>
          <p:cNvPr id="25" name="U10-DG-028-step_5-box">
            <a:extLst xmlns:a="http://schemas.openxmlformats.org/drawingml/2006/main">
              <a:ext uri="{FF2B5EF4-FFF2-40B4-BE49-F238E27FC236}">
                <a16:creationId xmlns:a16="http://schemas.microsoft.com/office/drawing/2014/main" id="{828785A4-A272-4F22-B0DB-4692E051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6" name="U10-DG-028-step_5-text">
            <a:extLst xmlns:a="http://schemas.openxmlformats.org/drawingml/2006/main">
              <a:ext uri="{FF2B5EF4-FFF2-40B4-BE49-F238E27FC236}">
                <a16:creationId xmlns:a16="http://schemas.microsoft.com/office/drawing/2014/main" id="{23C5B6A9-113A-4C30-831D-7F6E8781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Integración → indicador</a:t>
            </a:r>
          </a:p>
        </p:txBody>
      </p:sp>
      <p:sp>
        <p:nvSpPr>
          <p:cNvPr id="27" name="U10-DG-028-step_6-box">
            <a:extLst xmlns:a="http://schemas.openxmlformats.org/drawingml/2006/main">
              <a:ext uri="{FF2B5EF4-FFF2-40B4-BE49-F238E27FC236}">
                <a16:creationId xmlns:a16="http://schemas.microsoft.com/office/drawing/2014/main" id="{82C12905-F0FE-4AC9-A661-86A1EF3D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8" name="U10-DG-028-step_6-text">
            <a:extLst xmlns:a="http://schemas.openxmlformats.org/drawingml/2006/main">
              <a:ext uri="{FF2B5EF4-FFF2-40B4-BE49-F238E27FC236}">
                <a16:creationId xmlns:a16="http://schemas.microsoft.com/office/drawing/2014/main" id="{B316B4D3-692D-46E8-9FEE-78BB046B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Metadatos obligatorios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3E84B02E-2EF6-44F2-A1B9-96965813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Cadena de medición. Fuente; micrófono; ponderación; detector; integración; indicador; metadatos.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3AE347-F51E-4053-BF39-FA46374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6BEAB0EB-3AD6-4DA1-A4D3-3E8E6025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5DCAF90-A3AC-4D2D-B3A6-AE173E4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8773E7E-A096-496F-B17F-FFEAB250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BADE90B-0437-4703-A051-0CE47162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DEFF71-7A61-4DE4-BF3B-B45340F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señal variable admite descriptores distintos</a:t>
            </a:r>
          </a:p>
        </p:txBody>
      </p:sp>
      <p:pic>
        <p:nvPicPr>
          <p:cNvPr id="17" name="U10-CH-011-chart" descr="El panel superior muestra presión con un impulso y marca el pico. El inferior muestra nivel Fast, máximo y nivel equivalente durante todo el intervalo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82040325541b4">
            <a:extLst>
              <a:ext uri="{96DAC541-7B7A-43D3-8B79-37D633B846F1}">
                <asvg:svgBlip xmlns:asvg="http://schemas.microsoft.com/office/drawing/2016/SVG/main" r:embed="R2fff6b7158b144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D6A01266-2E13-4BF6-BACA-7770FEC4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4CA680AF-75D8-4150-B393-56A83DD9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8F9D9E89-5A33-4DEF-B160-2157B699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Sobre el mismo evento sintético: p_peak: mayor valor absoluto de la presión instantánea; L_max,F: mayor indicación del detector Fast (τ = 125 ms en este ejemplo);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9BA05B1F-1710-460B-88E8-FBBEA056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Presión de pico, nivel máximo con detector Fast y nivel equivalente responden preguntas diferentes sobre el mismo evento sintético.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2ADFFD6-127A-4E90-B6E4-74B4CE8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62E31FEC-546F-4805-AFB1-04681C4A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BE22AD4-0C3C-4C9B-A0CC-E772C7C8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FB49B1A-5655-4DBD-9D5B-D3E4A9C2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1DD119A-0648-492D-8EC5-106385F7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7F7225-7620-497D-81BC-EEE7850E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Máximo, pico e Impulse no son sinónimos</a:t>
            </a:r>
          </a:p>
        </p:txBody>
      </p:sp>
      <p:sp>
        <p:nvSpPr>
          <p:cNvPr id="6" name="U10-DG-029-compare_1-anchor">
            <a:extLst xmlns:a="http://schemas.openxmlformats.org/drawingml/2006/main">
              <a:ext uri="{FF2B5EF4-FFF2-40B4-BE49-F238E27FC236}">
                <a16:creationId xmlns:a16="http://schemas.microsoft.com/office/drawing/2014/main" id="{953A1097-766B-4CEE-A51C-8D016037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29-compare_2-anchor">
            <a:extLst xmlns:a="http://schemas.openxmlformats.org/drawingml/2006/main">
              <a:ext uri="{FF2B5EF4-FFF2-40B4-BE49-F238E27FC236}">
                <a16:creationId xmlns:a16="http://schemas.microsoft.com/office/drawing/2014/main" id="{71DE3B12-0664-46FA-BF69-496575BC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29-compare_3-anchor">
            <a:extLst xmlns:a="http://schemas.openxmlformats.org/drawingml/2006/main">
              <a:ext uri="{FF2B5EF4-FFF2-40B4-BE49-F238E27FC236}">
                <a16:creationId xmlns:a16="http://schemas.microsoft.com/office/drawing/2014/main" id="{FC243D3F-A54D-4615-982C-402B28FC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29-compare_4-anchor">
            <a:extLst xmlns:a="http://schemas.openxmlformats.org/drawingml/2006/main">
              <a:ext uri="{FF2B5EF4-FFF2-40B4-BE49-F238E27FC236}">
                <a16:creationId xmlns:a16="http://schemas.microsoft.com/office/drawing/2014/main" id="{B680A0A7-C4A6-47F9-B546-A07306B3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29-compare_5-anchor">
            <a:extLst xmlns:a="http://schemas.openxmlformats.org/drawingml/2006/main">
              <a:ext uri="{FF2B5EF4-FFF2-40B4-BE49-F238E27FC236}">
                <a16:creationId xmlns:a16="http://schemas.microsoft.com/office/drawing/2014/main" id="{329F39E7-0FDC-4364-8F22-23EB3A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29-visual-alt" descr="Máximo frente a pico. Evento común; detector temporal; detector de pico; dos salidas. Orden de lectura: “aplica ponderación/constante”, “busca extremo”. ---">
            <a:extLst xmlns:a="http://schemas.openxmlformats.org/drawingml/2006/main">
              <a:ext uri="{FF2B5EF4-FFF2-40B4-BE49-F238E27FC236}">
                <a16:creationId xmlns:a16="http://schemas.microsoft.com/office/drawing/2014/main" id="{232DFE40-FFBA-45A8-8E2B-E2A1391B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29-compare_1-text">
            <a:extLst xmlns:a="http://schemas.openxmlformats.org/drawingml/2006/main">
              <a:ext uri="{FF2B5EF4-FFF2-40B4-BE49-F238E27FC236}">
                <a16:creationId xmlns:a16="http://schemas.microsoft.com/office/drawing/2014/main" id="{46109F33-55A9-423E-A32B-6B5C42FD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Evento común</a:t>
            </a:r>
          </a:p>
        </p:txBody>
      </p:sp>
      <p:sp>
        <p:nvSpPr>
          <p:cNvPr id="13" name="U10-DG-029-compare_2-box">
            <a:extLst xmlns:a="http://schemas.openxmlformats.org/drawingml/2006/main">
              <a:ext uri="{FF2B5EF4-FFF2-40B4-BE49-F238E27FC236}">
                <a16:creationId xmlns:a16="http://schemas.microsoft.com/office/drawing/2014/main" id="{C7D4B681-7D98-489F-8EB6-362613E5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4" name="U10-DG-029-compare_2-text">
            <a:extLst xmlns:a="http://schemas.openxmlformats.org/drawingml/2006/main">
              <a:ext uri="{FF2B5EF4-FFF2-40B4-BE49-F238E27FC236}">
                <a16:creationId xmlns:a16="http://schemas.microsoft.com/office/drawing/2014/main" id="{BDDF21E5-77D9-4D04-8598-9E50428D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Detector temporal</a:t>
            </a:r>
          </a:p>
        </p:txBody>
      </p:sp>
      <p:sp>
        <p:nvSpPr>
          <p:cNvPr id="15" name="U10-DG-029-compare_3-box">
            <a:extLst xmlns:a="http://schemas.openxmlformats.org/drawingml/2006/main">
              <a:ext uri="{FF2B5EF4-FFF2-40B4-BE49-F238E27FC236}">
                <a16:creationId xmlns:a16="http://schemas.microsoft.com/office/drawing/2014/main" id="{AA5A5022-0F02-4C5E-8B99-65D9A14A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29-compare_3-text">
            <a:extLst xmlns:a="http://schemas.openxmlformats.org/drawingml/2006/main">
              <a:ext uri="{FF2B5EF4-FFF2-40B4-BE49-F238E27FC236}">
                <a16:creationId xmlns:a16="http://schemas.microsoft.com/office/drawing/2014/main" id="{CE2EC1FF-485B-45F3-AFB1-4F26D952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L_max</a:t>
            </a:r>
          </a:p>
        </p:txBody>
      </p:sp>
      <p:sp>
        <p:nvSpPr>
          <p:cNvPr id="17" name="U10-DG-029-compare_4-box">
            <a:extLst xmlns:a="http://schemas.openxmlformats.org/drawingml/2006/main">
              <a:ext uri="{FF2B5EF4-FFF2-40B4-BE49-F238E27FC236}">
                <a16:creationId xmlns:a16="http://schemas.microsoft.com/office/drawing/2014/main" id="{05B87CD8-10BA-4155-BF48-532C06F1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29-compare_4-text">
            <a:extLst xmlns:a="http://schemas.openxmlformats.org/drawingml/2006/main">
              <a:ext uri="{FF2B5EF4-FFF2-40B4-BE49-F238E27FC236}">
                <a16:creationId xmlns:a16="http://schemas.microsoft.com/office/drawing/2014/main" id="{D6FB0E19-F3B7-4BB0-8FC5-7FFC405C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Detector de pico</a:t>
            </a:r>
          </a:p>
        </p:txBody>
      </p:sp>
      <p:sp>
        <p:nvSpPr>
          <p:cNvPr id="19" name="U10-DG-029-compare_5-box">
            <a:extLst xmlns:a="http://schemas.openxmlformats.org/drawingml/2006/main">
              <a:ext uri="{FF2B5EF4-FFF2-40B4-BE49-F238E27FC236}">
                <a16:creationId xmlns:a16="http://schemas.microsoft.com/office/drawing/2014/main" id="{627AC6AE-1BA3-4DBE-B0C5-C000B908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29-compare_5-text">
            <a:extLst xmlns:a="http://schemas.openxmlformats.org/drawingml/2006/main">
              <a:ext uri="{FF2B5EF4-FFF2-40B4-BE49-F238E27FC236}">
                <a16:creationId xmlns:a16="http://schemas.microsoft.com/office/drawing/2014/main" id="{CF5EBCDD-88E0-4B81-B5A2-57F1F8C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27373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L_peak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BB3E9320-647C-42F7-929F-BF773344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Máximo frente a pico. Evento común; detector temporal; detector de pico; dos salidas.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EE075B9-26B3-43A1-9B98-726BC068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FC971F09-0FB9-4E9F-A32A-8D0DFB07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4590135-BB4C-4BC8-B7EC-C0A86C7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2BE9262-7921-4798-8697-634FC5F0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F0D3C57-742A-438F-9DB8-CAE6D44B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FA5833-FB22-4906-9658-44FAA75B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Lₑq,T conserva el promedio cuadrático durante T</a:t>
            </a:r>
          </a:p>
        </p:txBody>
      </p:sp>
      <p:sp>
        <p:nvSpPr>
          <p:cNvPr id="6" name="U10-DG-030-equation-anchor">
            <a:extLst xmlns:a="http://schemas.openxmlformats.org/drawingml/2006/main">
              <a:ext uri="{FF2B5EF4-FFF2-40B4-BE49-F238E27FC236}">
                <a16:creationId xmlns:a16="http://schemas.microsoft.com/office/drawing/2014/main" id="{F876A45A-DC38-4C1A-A1AD-AA18B268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0-callout_1-anchor">
            <a:extLst xmlns:a="http://schemas.openxmlformats.org/drawingml/2006/main">
              <a:ext uri="{FF2B5EF4-FFF2-40B4-BE49-F238E27FC236}">
                <a16:creationId xmlns:a16="http://schemas.microsoft.com/office/drawing/2014/main" id="{3A38797E-4804-41AA-A77C-A3D8C1C6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0-callout_2-anchor">
            <a:extLst xmlns:a="http://schemas.openxmlformats.org/drawingml/2006/main">
              <a:ext uri="{FF2B5EF4-FFF2-40B4-BE49-F238E27FC236}">
                <a16:creationId xmlns:a16="http://schemas.microsoft.com/office/drawing/2014/main" id="{C4274A3F-8703-46E9-9E92-AC81B323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0-callout_3-anchor">
            <a:extLst xmlns:a="http://schemas.openxmlformats.org/drawingml/2006/main">
              <a:ext uri="{FF2B5EF4-FFF2-40B4-BE49-F238E27FC236}">
                <a16:creationId xmlns:a16="http://schemas.microsoft.com/office/drawing/2014/main" id="{6C7EFCF1-2265-4E55-9AE2-5193C4BB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0-callout_4-anchor">
            <a:extLst xmlns:a="http://schemas.openxmlformats.org/drawingml/2006/main">
              <a:ext uri="{FF2B5EF4-FFF2-40B4-BE49-F238E27FC236}">
                <a16:creationId xmlns:a16="http://schemas.microsoft.com/office/drawing/2014/main" id="{8A081A19-962C-41FD-BEE8-302543C2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30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30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30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30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30-visual-alt" descr="Significado de nivel equivalente. Evento variable; energía acumulada; nivel constante equivalente; intervalo T. Orden de lectura: “misma energía en T”. ---">
            <a:extLst xmlns:a="http://schemas.openxmlformats.org/drawingml/2006/main">
              <a:ext uri="{FF2B5EF4-FFF2-40B4-BE49-F238E27FC236}">
                <a16:creationId xmlns:a16="http://schemas.microsoft.com/office/drawing/2014/main" id="{FC9017BC-FB68-4A3A-9598-6D9127AA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30-equation-text">
            <a:extLst xmlns:a="http://schemas.openxmlformats.org/drawingml/2006/main">
              <a:ext uri="{FF2B5EF4-FFF2-40B4-BE49-F238E27FC236}">
                <a16:creationId xmlns:a16="http://schemas.microsoft.com/office/drawing/2014/main" id="{F823599B-8393-49B2-9947-96B7833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Lₑq,T ↔ igual p² medio en T</a:t>
            </a:r>
          </a:p>
        </p:txBody>
      </p:sp>
      <p:sp>
        <p:nvSpPr>
          <p:cNvPr id="17" name="U10-DG-030-callout_1-box">
            <a:extLst xmlns:a="http://schemas.openxmlformats.org/drawingml/2006/main">
              <a:ext uri="{FF2B5EF4-FFF2-40B4-BE49-F238E27FC236}">
                <a16:creationId xmlns:a16="http://schemas.microsoft.com/office/drawing/2014/main" id="{C44C6807-D5C4-4BC2-848C-E38A5D4F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30-callout_1-text">
            <a:extLst xmlns:a="http://schemas.openxmlformats.org/drawingml/2006/main">
              <a:ext uri="{FF2B5EF4-FFF2-40B4-BE49-F238E27FC236}">
                <a16:creationId xmlns:a16="http://schemas.microsoft.com/office/drawing/2014/main" id="{FEB810AA-31B2-4897-85A5-8ED39635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Evento variable</a:t>
            </a:r>
          </a:p>
        </p:txBody>
      </p:sp>
      <p:sp>
        <p:nvSpPr>
          <p:cNvPr id="19" name="U10-DG-030-callout_2-box">
            <a:extLst xmlns:a="http://schemas.openxmlformats.org/drawingml/2006/main">
              <a:ext uri="{FF2B5EF4-FFF2-40B4-BE49-F238E27FC236}">
                <a16:creationId xmlns:a16="http://schemas.microsoft.com/office/drawing/2014/main" id="{D94DB146-CAAB-418D-81EE-C6B3139E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30-callout_2-text">
            <a:extLst xmlns:a="http://schemas.openxmlformats.org/drawingml/2006/main">
              <a:ext uri="{FF2B5EF4-FFF2-40B4-BE49-F238E27FC236}">
                <a16:creationId xmlns:a16="http://schemas.microsoft.com/office/drawing/2014/main" id="{FE9E0C24-2C1F-4AFD-95EE-5B4E8EE3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Energía en T</a:t>
            </a:r>
          </a:p>
        </p:txBody>
      </p:sp>
      <p:sp>
        <p:nvSpPr>
          <p:cNvPr id="21" name="U10-DG-030-callout_3-box">
            <a:extLst xmlns:a="http://schemas.openxmlformats.org/drawingml/2006/main">
              <a:ext uri="{FF2B5EF4-FFF2-40B4-BE49-F238E27FC236}">
                <a16:creationId xmlns:a16="http://schemas.microsoft.com/office/drawing/2014/main" id="{7F0F14B6-71B8-4BB1-B206-67F21E4A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30-callout_3-text">
            <a:extLst xmlns:a="http://schemas.openxmlformats.org/drawingml/2006/main">
              <a:ext uri="{FF2B5EF4-FFF2-40B4-BE49-F238E27FC236}">
                <a16:creationId xmlns:a16="http://schemas.microsoft.com/office/drawing/2014/main" id="{71CC2752-2EC7-4150-8C1A-7437A297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 equivalente</a:t>
            </a:r>
          </a:p>
        </p:txBody>
      </p:sp>
      <p:sp>
        <p:nvSpPr>
          <p:cNvPr id="23" name="U10-DG-030-callout_4-box">
            <a:extLst xmlns:a="http://schemas.openxmlformats.org/drawingml/2006/main">
              <a:ext uri="{FF2B5EF4-FFF2-40B4-BE49-F238E27FC236}">
                <a16:creationId xmlns:a16="http://schemas.microsoft.com/office/drawing/2014/main" id="{7C8E0B54-C0B5-4069-9B72-7F65A98C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30-callout_4-text">
            <a:extLst xmlns:a="http://schemas.openxmlformats.org/drawingml/2006/main">
              <a:ext uri="{FF2B5EF4-FFF2-40B4-BE49-F238E27FC236}">
                <a16:creationId xmlns:a16="http://schemas.microsoft.com/office/drawing/2014/main" id="{65F3D4BA-083E-42E7-B5CF-FD02C37A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Mismo p² medio en T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E679DC90-4E38-4236-A7E4-400846F6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Significado de nivel equivalente. Evento variable; energía acumulada; nivel constante equivalente; intervalo T.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F2D0AE-9E8A-4F8F-9640-19451C6A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D2019576-2180-423B-82F9-B58C973E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DC284F9-E7BA-461D-8F64-D578C6E9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9E430D3-C5EB-4E22-8575-B8E24CA2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853C6B0-EE2E-493E-B648-88342449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B64338-DFB6-48EE-B2FB-11D5FEA3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Promediar 88, 92, 86 y 90 dB(A) no da un promedio común</a:t>
            </a:r>
          </a:p>
        </p:txBody>
      </p:sp>
      <p:sp>
        <p:nvSpPr>
          <p:cNvPr id="6" name="U10-DG-031-concept_1-anchor">
            <a:extLst xmlns:a="http://schemas.openxmlformats.org/drawingml/2006/main">
              <a:ext uri="{FF2B5EF4-FFF2-40B4-BE49-F238E27FC236}">
                <a16:creationId xmlns:a16="http://schemas.microsoft.com/office/drawing/2014/main" id="{4A908BB1-1041-4FF9-A8AC-4F2C4451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1-concept_2-anchor">
            <a:extLst xmlns:a="http://schemas.openxmlformats.org/drawingml/2006/main">
              <a:ext uri="{FF2B5EF4-FFF2-40B4-BE49-F238E27FC236}">
                <a16:creationId xmlns:a16="http://schemas.microsoft.com/office/drawing/2014/main" id="{72EC44CF-DF68-4808-865A-AF08B981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1-concept_3-anchor">
            <a:extLst xmlns:a="http://schemas.openxmlformats.org/drawingml/2006/main">
              <a:ext uri="{FF2B5EF4-FFF2-40B4-BE49-F238E27FC236}">
                <a16:creationId xmlns:a16="http://schemas.microsoft.com/office/drawing/2014/main" id="{6F37AF2E-5E49-4F67-BDB8-336E759B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1-concept_4-anchor">
            <a:extLst xmlns:a="http://schemas.openxmlformats.org/drawingml/2006/main">
              <a:ext uri="{FF2B5EF4-FFF2-40B4-BE49-F238E27FC236}">
                <a16:creationId xmlns:a16="http://schemas.microsoft.com/office/drawing/2014/main" id="{731C28CB-7647-407E-9EB0-C30665B8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1-concept_5-anchor">
            <a:extLst xmlns:a="http://schemas.openxmlformats.org/drawingml/2006/main">
              <a:ext uri="{FF2B5EF4-FFF2-40B4-BE49-F238E27FC236}">
                <a16:creationId xmlns:a16="http://schemas.microsoft.com/office/drawing/2014/main" id="{C564232F-F0E3-4C79-84D4-0C4F0546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1-concept_6-anchor">
            <a:extLst xmlns:a="http://schemas.openxmlformats.org/drawingml/2006/main">
              <a:ext uri="{FF2B5EF4-FFF2-40B4-BE49-F238E27FC236}">
                <a16:creationId xmlns:a16="http://schemas.microsoft.com/office/drawing/2014/main" id="{57F71B85-0E33-47A7-B4DC-8C8368F7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31-visual-alt" descr="Seis etapas: cuatro intervalos de 15 minutos a 88, 92, 86 y 90 dB(A), seguidos por el promedio lineal energético y el resultado L_Aeq,1 h de aproximadamente 89,6 dB(A). ---">
            <a:extLst xmlns:a="http://schemas.openxmlformats.org/drawingml/2006/main">
              <a:ext uri="{FF2B5EF4-FFF2-40B4-BE49-F238E27FC236}">
                <a16:creationId xmlns:a16="http://schemas.microsoft.com/office/drawing/2014/main" id="{96900548-8D8E-4167-89E5-CBF62A0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31-concept_1-text">
            <a:extLst xmlns:a="http://schemas.openxmlformats.org/drawingml/2006/main">
              <a:ext uri="{FF2B5EF4-FFF2-40B4-BE49-F238E27FC236}">
                <a16:creationId xmlns:a16="http://schemas.microsoft.com/office/drawing/2014/main" id="{3F7B4851-5E55-4407-BF45-28659354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15 min: 88 dB(A)</a:t>
            </a:r>
          </a:p>
        </p:txBody>
      </p:sp>
      <p:sp>
        <p:nvSpPr>
          <p:cNvPr id="14" name="U10-DG-031-concept_2-box">
            <a:extLst xmlns:a="http://schemas.openxmlformats.org/drawingml/2006/main">
              <a:ext uri="{FF2B5EF4-FFF2-40B4-BE49-F238E27FC236}">
                <a16:creationId xmlns:a16="http://schemas.microsoft.com/office/drawing/2014/main" id="{39550EAF-DB0A-4F6D-8617-CEBF1739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10-DG-031-concept_2-text">
            <a:extLst xmlns:a="http://schemas.openxmlformats.org/drawingml/2006/main">
              <a:ext uri="{FF2B5EF4-FFF2-40B4-BE49-F238E27FC236}">
                <a16:creationId xmlns:a16="http://schemas.microsoft.com/office/drawing/2014/main" id="{002D1209-4D73-49D2-A195-EB15CD3A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15 min: 92 dB(A)</a:t>
            </a:r>
          </a:p>
        </p:txBody>
      </p:sp>
      <p:sp>
        <p:nvSpPr>
          <p:cNvPr id="16" name="U10-DG-031-concept_3-box">
            <a:extLst xmlns:a="http://schemas.openxmlformats.org/drawingml/2006/main">
              <a:ext uri="{FF2B5EF4-FFF2-40B4-BE49-F238E27FC236}">
                <a16:creationId xmlns:a16="http://schemas.microsoft.com/office/drawing/2014/main" id="{5F3FB105-A568-4E5B-B0B9-EA90BB7A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31-concept_3-text">
            <a:extLst xmlns:a="http://schemas.openxmlformats.org/drawingml/2006/main">
              <a:ext uri="{FF2B5EF4-FFF2-40B4-BE49-F238E27FC236}">
                <a16:creationId xmlns:a16="http://schemas.microsoft.com/office/drawing/2014/main" id="{97F25411-232E-41A3-8292-FDC2603D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15 min: 86 dB(A)</a:t>
            </a:r>
          </a:p>
        </p:txBody>
      </p:sp>
      <p:sp>
        <p:nvSpPr>
          <p:cNvPr id="18" name="U10-DG-031-concept_4-box">
            <a:extLst xmlns:a="http://schemas.openxmlformats.org/drawingml/2006/main">
              <a:ext uri="{FF2B5EF4-FFF2-40B4-BE49-F238E27FC236}">
                <a16:creationId xmlns:a16="http://schemas.microsoft.com/office/drawing/2014/main" id="{F192CA1C-D04B-4A83-B6CF-2BC6BE24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10-DG-031-concept_4-text">
            <a:extLst xmlns:a="http://schemas.openxmlformats.org/drawingml/2006/main">
              <a:ext uri="{FF2B5EF4-FFF2-40B4-BE49-F238E27FC236}">
                <a16:creationId xmlns:a16="http://schemas.microsoft.com/office/drawing/2014/main" id="{1933B3BD-6F94-4485-8BEE-F12ABB28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15 min: 90 dB(A)</a:t>
            </a:r>
          </a:p>
        </p:txBody>
      </p:sp>
      <p:sp>
        <p:nvSpPr>
          <p:cNvPr id="20" name="U10-DG-031-concept_5-box">
            <a:extLst xmlns:a="http://schemas.openxmlformats.org/drawingml/2006/main">
              <a:ext uri="{FF2B5EF4-FFF2-40B4-BE49-F238E27FC236}">
                <a16:creationId xmlns:a16="http://schemas.microsoft.com/office/drawing/2014/main" id="{2486E5CE-E905-4C97-85A2-741CC57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31-concept_5-text">
            <a:extLst xmlns:a="http://schemas.openxmlformats.org/drawingml/2006/main">
              <a:ext uri="{FF2B5EF4-FFF2-40B4-BE49-F238E27FC236}">
                <a16:creationId xmlns:a16="http://schemas.microsoft.com/office/drawing/2014/main" id="{2989A949-8C96-438F-BDC0-F708C59F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Promedio lineal energético</a:t>
            </a:r>
          </a:p>
        </p:txBody>
      </p:sp>
      <p:sp>
        <p:nvSpPr>
          <p:cNvPr id="22" name="U10-DG-031-concept_6-box">
            <a:extLst xmlns:a="http://schemas.openxmlformats.org/drawingml/2006/main">
              <a:ext uri="{FF2B5EF4-FFF2-40B4-BE49-F238E27FC236}">
                <a16:creationId xmlns:a16="http://schemas.microsoft.com/office/drawing/2014/main" id="{BD6E2499-D863-4E36-B9F2-9CD06057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3" name="U10-DG-031-concept_6-text">
            <a:extLst xmlns:a="http://schemas.openxmlformats.org/drawingml/2006/main">
              <a:ext uri="{FF2B5EF4-FFF2-40B4-BE49-F238E27FC236}">
                <a16:creationId xmlns:a16="http://schemas.microsoft.com/office/drawing/2014/main" id="{ED804DFE-6F62-4E56-B3B4-5886ADB1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Lₐeq,1 h ≈ 89,6 dB(A)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265E69C3-5071-46A1-B10F-F23F2C71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Ejemplo de nivel equivalente para cuatro intervalos iguales: conversión lineal, promedio energético y retorno a decibeles.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15E9A8-C338-4097-9CA7-C35F96B6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EC1B8986-C078-430D-AB38-8B99128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4376496-7D6E-4FD6-AD7E-CF87E670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8858CAE-D53E-4D83-9A14-30D65E20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8B21AC5-CAA5-43A5-BE30-DA124099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A1334E-17BD-46C3-A46F-0C03E2E6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L_10,T y L_90,T describen excedencia, no causas</a:t>
            </a:r>
          </a:p>
        </p:txBody>
      </p:sp>
      <p:pic>
        <p:nvPicPr>
          <p:cNvPr id="17" name="U10-CH-012-chart" descr="Curva monótona de excedencia de niveles A sintéticos, con líneas para L10 y L90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656c37e894b6a">
            <a:extLst>
              <a:ext uri="{96DAC541-7B7A-43D3-8B79-37D633B846F1}">
                <asvg:svgBlip xmlns:asvg="http://schemas.microsoft.com/office/drawing/2016/SVG/main" r:embed="R5f73550aa6524e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7965807B-FD6B-4A46-8AFA-16E0D284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F755B5CE-494B-4AEF-B0D9-F7DEE9EF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482EA5CB-804E-4122-820B-25DEB051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L_N,T es el nivel excedido durante N % del intervalo T. L_10,T: nivel excedido durante 10 % de T; L_90,T: nivel excedido durante 90 % de T;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36815A8E-4983-4724-A64D-4DFA5238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 N,T es el nivel excedido durante N por ciento del intervalo; no equivale automáticamente a ruido de fondo.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86BA0A0-BFDD-42F6-AB8E-99B92E70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02387D81-80DE-4F2D-B8BB-3CFEF9BD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FE0F588-9F54-4BB8-AEA4-6178CEA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38DB8F09-828F-4080-9BD5-FFA6AB8F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919EE59-0BCD-4806-842D-21EF9FA8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BF6248-66C4-49BA-9962-A8894F3E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Ruido de fondo y enmascarante cumplen funciones distintas</a:t>
            </a:r>
          </a:p>
        </p:txBody>
      </p:sp>
      <p:sp>
        <p:nvSpPr>
          <p:cNvPr id="6" name="U10-DG-032-concept_1-anchor">
            <a:extLst xmlns:a="http://schemas.openxmlformats.org/drawingml/2006/main">
              <a:ext uri="{FF2B5EF4-FFF2-40B4-BE49-F238E27FC236}">
                <a16:creationId xmlns:a16="http://schemas.microsoft.com/office/drawing/2014/main" id="{5B8AE47B-59B6-4C69-853E-19F6DE94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2-concept_2-anchor">
            <a:extLst xmlns:a="http://schemas.openxmlformats.org/drawingml/2006/main">
              <a:ext uri="{FF2B5EF4-FFF2-40B4-BE49-F238E27FC236}">
                <a16:creationId xmlns:a16="http://schemas.microsoft.com/office/drawing/2014/main" id="{251CB44D-CE74-4BD5-850F-B3FDDA16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2-concept_3-anchor">
            <a:extLst xmlns:a="http://schemas.openxmlformats.org/drawingml/2006/main">
              <a:ext uri="{FF2B5EF4-FFF2-40B4-BE49-F238E27FC236}">
                <a16:creationId xmlns:a16="http://schemas.microsoft.com/office/drawing/2014/main" id="{D3946663-B821-44E7-9635-0667311B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2-concept_4-anchor">
            <a:extLst xmlns:a="http://schemas.openxmlformats.org/drawingml/2006/main">
              <a:ext uri="{FF2B5EF4-FFF2-40B4-BE49-F238E27FC236}">
                <a16:creationId xmlns:a16="http://schemas.microsoft.com/office/drawing/2014/main" id="{8BA34698-5489-4A5C-8502-E1FC4D51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394329"/>
            <a:ext cx="4784598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2-visual-alt" descr="Fondo, señal objetivo y enmascarador. Receptor central; tres capas acústicas; tarea. Orden de lectura: “se desea”, “interfiere”, “se agrega deliberadamente”. ---">
            <a:extLst xmlns:a="http://schemas.openxmlformats.org/drawingml/2006/main">
              <a:ext uri="{FF2B5EF4-FFF2-40B4-BE49-F238E27FC236}">
                <a16:creationId xmlns:a16="http://schemas.microsoft.com/office/drawing/2014/main" id="{1BA8348D-042D-4222-AB54-4BB6D337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10-DG-032-concept_1-text">
            <a:extLst xmlns:a="http://schemas.openxmlformats.org/drawingml/2006/main">
              <a:ext uri="{FF2B5EF4-FFF2-40B4-BE49-F238E27FC236}">
                <a16:creationId xmlns:a16="http://schemas.microsoft.com/office/drawing/2014/main" id="{9C688C87-B6D5-4B84-B926-D5B9F0CC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 objetivo: se desea</a:t>
            </a:r>
          </a:p>
        </p:txBody>
      </p:sp>
      <p:sp>
        <p:nvSpPr>
          <p:cNvPr id="12" name="U10-DG-032-concept_2-box">
            <a:extLst xmlns:a="http://schemas.openxmlformats.org/drawingml/2006/main">
              <a:ext uri="{FF2B5EF4-FFF2-40B4-BE49-F238E27FC236}">
                <a16:creationId xmlns:a16="http://schemas.microsoft.com/office/drawing/2014/main" id="{906633BC-80C7-4C9A-9F79-7B085A8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1691640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3" name="U10-DG-032-concept_2-text">
            <a:extLst xmlns:a="http://schemas.openxmlformats.org/drawingml/2006/main">
              <a:ext uri="{FF2B5EF4-FFF2-40B4-BE49-F238E27FC236}">
                <a16:creationId xmlns:a16="http://schemas.microsoft.com/office/drawing/2014/main" id="{B3C7A66E-BCD0-4FF8-AB91-44CE20DB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1815465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Ruido de fondo: interfiere</a:t>
            </a:r>
          </a:p>
        </p:txBody>
      </p:sp>
      <p:sp>
        <p:nvSpPr>
          <p:cNvPr id="14" name="U10-DG-032-concept_3-box">
            <a:extLst xmlns:a="http://schemas.openxmlformats.org/drawingml/2006/main">
              <a:ext uri="{FF2B5EF4-FFF2-40B4-BE49-F238E27FC236}">
                <a16:creationId xmlns:a16="http://schemas.microsoft.com/office/drawing/2014/main" id="{BA5D70DF-522C-4CB3-BF23-274D4A81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10-DG-032-concept_3-text">
            <a:extLst xmlns:a="http://schemas.openxmlformats.org/drawingml/2006/main">
              <a:ext uri="{FF2B5EF4-FFF2-40B4-BE49-F238E27FC236}">
                <a16:creationId xmlns:a16="http://schemas.microsoft.com/office/drawing/2014/main" id="{CA0FEB84-2189-40F5-B94D-B1F860D8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Enmascarador: se agrega</a:t>
            </a:r>
          </a:p>
        </p:txBody>
      </p:sp>
      <p:sp>
        <p:nvSpPr>
          <p:cNvPr id="16" name="U10-DG-032-concept_4-box">
            <a:extLst xmlns:a="http://schemas.openxmlformats.org/drawingml/2006/main">
              <a:ext uri="{FF2B5EF4-FFF2-40B4-BE49-F238E27FC236}">
                <a16:creationId xmlns:a16="http://schemas.microsoft.com/office/drawing/2014/main" id="{E6B68229-47A7-406F-963B-DD7FAB1A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62" y="3394329"/>
            <a:ext cx="4784598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7" name="U10-DG-032-concept_4-text">
            <a:extLst xmlns:a="http://schemas.openxmlformats.org/drawingml/2006/main">
              <a:ext uri="{FF2B5EF4-FFF2-40B4-BE49-F238E27FC236}">
                <a16:creationId xmlns:a16="http://schemas.microsoft.com/office/drawing/2014/main" id="{F4F59A6E-C552-4F7F-A32D-722B3C17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612" y="3518154"/>
            <a:ext cx="4441698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 y tarea</a:t>
            </a:r>
          </a:p>
        </p:txBody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E2954AFB-2EC9-4B93-8DB7-FB7BF65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Fondo, señal objetivo y enmascarador. Receptor central; tres capas acústicas; tarea.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81B4C1-8091-4EC2-8A8F-7036AD1B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EC8751A4-65E5-4E39-93B5-4485BD5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C6A2AA1-EA6E-48EC-9BC7-8879FD82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957E03F-9D13-4C9E-B363-2E11FB8C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AA0D842-8816-40A2-B5BC-B4BB3C5E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526D5F-2776-4C4E-B281-217F2566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SNR compara niveles compatibles</a:t>
            </a:r>
          </a:p>
        </p:txBody>
      </p:sp>
      <p:sp>
        <p:nvSpPr>
          <p:cNvPr id="6" name="U10-DG-033-equation-anchor">
            <a:extLst xmlns:a="http://schemas.openxmlformats.org/drawingml/2006/main">
              <a:ext uri="{FF2B5EF4-FFF2-40B4-BE49-F238E27FC236}">
                <a16:creationId xmlns:a16="http://schemas.microsoft.com/office/drawing/2014/main" id="{C2F6DEB9-CD01-40A2-8843-7EA30256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3-callout_1-anchor">
            <a:extLst xmlns:a="http://schemas.openxmlformats.org/drawingml/2006/main">
              <a:ext uri="{FF2B5EF4-FFF2-40B4-BE49-F238E27FC236}">
                <a16:creationId xmlns:a16="http://schemas.microsoft.com/office/drawing/2014/main" id="{0E9BED34-2F4B-4ECD-8221-3E1FA56C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3-callout_2-anchor">
            <a:extLst xmlns:a="http://schemas.openxmlformats.org/drawingml/2006/main">
              <a:ext uri="{FF2B5EF4-FFF2-40B4-BE49-F238E27FC236}">
                <a16:creationId xmlns:a16="http://schemas.microsoft.com/office/drawing/2014/main" id="{0CF5B8E5-01B7-4D7C-B449-38F8F3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3-callout_3-anchor">
            <a:extLst xmlns:a="http://schemas.openxmlformats.org/drawingml/2006/main">
              <a:ext uri="{FF2B5EF4-FFF2-40B4-BE49-F238E27FC236}">
                <a16:creationId xmlns:a16="http://schemas.microsoft.com/office/drawing/2014/main" id="{82FC09A5-8AD1-4C4F-BED5-A07E8FE4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3-callout_4-anchor">
            <a:extLst xmlns:a="http://schemas.openxmlformats.org/drawingml/2006/main">
              <a:ext uri="{FF2B5EF4-FFF2-40B4-BE49-F238E27FC236}">
                <a16:creationId xmlns:a16="http://schemas.microsoft.com/office/drawing/2014/main" id="{F1093632-F0CF-4304-BFF2-BD9577A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33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33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33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33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33-visual-alt" descr="Ecuación de SNR. L_señal, L_ruido, diferencia y regla de signo. Orden de lectura: Callouts exteriores. ---">
            <a:extLst xmlns:a="http://schemas.openxmlformats.org/drawingml/2006/main">
              <a:ext uri="{FF2B5EF4-FFF2-40B4-BE49-F238E27FC236}">
                <a16:creationId xmlns:a16="http://schemas.microsoft.com/office/drawing/2014/main" id="{2BE4B230-BFDC-4D92-8B1B-6D5F8B50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33-equation-text">
            <a:extLst xmlns:a="http://schemas.openxmlformats.org/drawingml/2006/main">
              <a:ext uri="{FF2B5EF4-FFF2-40B4-BE49-F238E27FC236}">
                <a16:creationId xmlns:a16="http://schemas.microsoft.com/office/drawing/2014/main" id="{4F897631-E2BD-4BB7-9822-686BB129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SNR = L(señal) − L(ruido)</a:t>
            </a:r>
          </a:p>
        </p:txBody>
      </p:sp>
      <p:sp>
        <p:nvSpPr>
          <p:cNvPr id="17" name="U10-DG-033-callout_1-box">
            <a:extLst xmlns:a="http://schemas.openxmlformats.org/drawingml/2006/main">
              <a:ext uri="{FF2B5EF4-FFF2-40B4-BE49-F238E27FC236}">
                <a16:creationId xmlns:a16="http://schemas.microsoft.com/office/drawing/2014/main" id="{C8109870-3513-4C31-B7B9-E7351FA2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33-callout_1-text">
            <a:extLst xmlns:a="http://schemas.openxmlformats.org/drawingml/2006/main">
              <a:ext uri="{FF2B5EF4-FFF2-40B4-BE49-F238E27FC236}">
                <a16:creationId xmlns:a16="http://schemas.microsoft.com/office/drawing/2014/main" id="{782A2974-0686-4744-8606-9C14DDE0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L(señal): comparable</a:t>
            </a:r>
          </a:p>
        </p:txBody>
      </p:sp>
      <p:sp>
        <p:nvSpPr>
          <p:cNvPr id="19" name="U10-DG-033-callout_2-box">
            <a:extLst xmlns:a="http://schemas.openxmlformats.org/drawingml/2006/main">
              <a:ext uri="{FF2B5EF4-FFF2-40B4-BE49-F238E27FC236}">
                <a16:creationId xmlns:a16="http://schemas.microsoft.com/office/drawing/2014/main" id="{EA747D0F-6CA3-45F6-BA0C-C3AF806C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33-callout_2-text">
            <a:extLst xmlns:a="http://schemas.openxmlformats.org/drawingml/2006/main">
              <a:ext uri="{FF2B5EF4-FFF2-40B4-BE49-F238E27FC236}">
                <a16:creationId xmlns:a16="http://schemas.microsoft.com/office/drawing/2014/main" id="{2CB93AC6-FAB4-4F2C-9951-A9ECF1EF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L(ruido): comparable</a:t>
            </a:r>
          </a:p>
        </p:txBody>
      </p:sp>
      <p:sp>
        <p:nvSpPr>
          <p:cNvPr id="21" name="U10-DG-033-callout_3-box">
            <a:extLst xmlns:a="http://schemas.openxmlformats.org/drawingml/2006/main">
              <a:ext uri="{FF2B5EF4-FFF2-40B4-BE49-F238E27FC236}">
                <a16:creationId xmlns:a16="http://schemas.microsoft.com/office/drawing/2014/main" id="{216D1D2F-51FB-4F63-B039-8B1DCF5C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33-callout_3-text">
            <a:extLst xmlns:a="http://schemas.openxmlformats.org/drawingml/2006/main">
              <a:ext uri="{FF2B5EF4-FFF2-40B4-BE49-F238E27FC236}">
                <a16:creationId xmlns:a16="http://schemas.microsoft.com/office/drawing/2014/main" id="{C288E02E-786D-4F20-8F68-4D803CC2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SNR &gt; 0: señal mayor</a:t>
            </a:r>
          </a:p>
        </p:txBody>
      </p:sp>
      <p:sp>
        <p:nvSpPr>
          <p:cNvPr id="23" name="U10-DG-033-callout_4-box">
            <a:extLst xmlns:a="http://schemas.openxmlformats.org/drawingml/2006/main">
              <a:ext uri="{FF2B5EF4-FFF2-40B4-BE49-F238E27FC236}">
                <a16:creationId xmlns:a16="http://schemas.microsoft.com/office/drawing/2014/main" id="{E555A3A6-270C-4BEC-97DA-A843F9A2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33-callout_4-text">
            <a:extLst xmlns:a="http://schemas.openxmlformats.org/drawingml/2006/main">
              <a:ext uri="{FF2B5EF4-FFF2-40B4-BE49-F238E27FC236}">
                <a16:creationId xmlns:a16="http://schemas.microsoft.com/office/drawing/2014/main" id="{F7A58ABA-F03D-49A6-8598-146A50A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SNR &lt; 0: ruido mayor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656BDBBD-62E0-4C7F-9841-40371033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Ecuación de SNR. L_señal, L_ruido, diferencia y regla de signo.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5C4B8B-F503-4ABB-AC6A-C99D28E2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54FE1D7D-05DF-481D-98A5-9B31EC75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4CD650F-58F7-457D-9D27-1FAB484C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D75B3B2-E3EC-4C07-86D7-ED784951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17482F5-E99D-497E-ACDE-97A9CA6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DD711B-E345-4A10-9182-11B14564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señal permanece; cambia la escala del ruido</a:t>
            </a:r>
          </a:p>
        </p:txBody>
      </p:sp>
      <p:pic>
        <p:nvPicPr>
          <p:cNvPr id="17" name="U10-CH-013-chart" descr="Tres paneles temporales con ejes comunes muestran mezclas sintéticas con SNR más 12, cero y menos 6 dB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e551ed7174bcf">
            <a:extLst>
              <a:ext uri="{96DAC541-7B7A-43D3-8B79-37D633B846F1}">
                <asvg:svgBlip xmlns:asvg="http://schemas.microsoft.com/office/drawing/2016/SVG/main" r:embed="Rcf068520b4ee48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1476375"/>
            <a:ext cx="7048500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chart-reading-box">
            <a:extLst xmlns:a="http://schemas.openxmlformats.org/drawingml/2006/main">
              <a:ext uri="{FF2B5EF4-FFF2-40B4-BE49-F238E27FC236}">
                <a16:creationId xmlns:a16="http://schemas.microsoft.com/office/drawing/2014/main" id="{8CA19C5F-CC39-43C9-B721-CF2684BA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290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9525">
            <a:solidFill>
              <a:srgbClr val="D9DCE0"/>
            </a:solidFill>
            <a:prstDash val="solid"/>
          </a:ln>
        </p:spPr>
      </p:sp>
      <p:sp>
        <p:nvSpPr>
          <p:cNvPr id="8" name="chart-reading-title">
            <a:extLst xmlns:a="http://schemas.openxmlformats.org/drawingml/2006/main">
              <a:ext uri="{FF2B5EF4-FFF2-40B4-BE49-F238E27FC236}">
                <a16:creationId xmlns:a16="http://schemas.microsoft.com/office/drawing/2014/main" id="{207329DF-46E0-49CE-B9F8-E37DA106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observar</a:t>
            </a:r>
          </a:p>
        </p:txBody>
      </p:sp>
      <p:sp>
        <p:nvSpPr>
          <p:cNvPr id="9" name="chart-reading-body">
            <a:extLst xmlns:a="http://schemas.openxmlformats.org/drawingml/2006/main">
              <a:ext uri="{FF2B5EF4-FFF2-40B4-BE49-F238E27FC236}">
                <a16:creationId xmlns:a16="http://schemas.microsoft.com/office/drawing/2014/main" id="{C34627DA-E486-4371-AE6E-704E122F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 los tres paneles se mantienen: la señal objetivo; la realización temporal del ruido;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ECD68C29-9D98-4540-8986-F1CFE3A4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La misma señal y la misma realización de ruido se combinan con SNR de más 12, cero y menos 6 decibeles.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49AEF5A-2640-4BE3-B71F-6CCA539D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B6730980-390C-4A46-A795-A520FCFA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7F514A1-E9BE-40EF-B70E-A39A83CF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B5BEFBE-1EC6-4DE2-922D-D572EED5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2666973-9161-4763-8175-C2A24057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50CB9F-E1A1-43FD-B562-A9CE8338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SNR ayuda, pero no predice sola la inteligibilidad</a:t>
            </a:r>
          </a:p>
        </p:txBody>
      </p:sp>
      <p:sp>
        <p:nvSpPr>
          <p:cNvPr id="6" name="U10-DG-034-source-anchor">
            <a:extLst xmlns:a="http://schemas.openxmlformats.org/drawingml/2006/main">
              <a:ext uri="{FF2B5EF4-FFF2-40B4-BE49-F238E27FC236}">
                <a16:creationId xmlns:a16="http://schemas.microsoft.com/office/drawing/2014/main" id="{C30083F9-E5F3-49A0-97DC-8D304A57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4-path_top-anchor">
            <a:extLst xmlns:a="http://schemas.openxmlformats.org/drawingml/2006/main">
              <a:ext uri="{FF2B5EF4-FFF2-40B4-BE49-F238E27FC236}">
                <a16:creationId xmlns:a16="http://schemas.microsoft.com/office/drawing/2014/main" id="{94BC77D7-26E4-4103-B41F-DC4B9E33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4-path_bottom-anchor">
            <a:extLst xmlns:a="http://schemas.openxmlformats.org/drawingml/2006/main">
              <a:ext uri="{FF2B5EF4-FFF2-40B4-BE49-F238E27FC236}">
                <a16:creationId xmlns:a16="http://schemas.microsoft.com/office/drawing/2014/main" id="{B1432C63-8BEA-4165-8E74-73803369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4-space-anchor">
            <a:extLst xmlns:a="http://schemas.openxmlformats.org/drawingml/2006/main">
              <a:ext uri="{FF2B5EF4-FFF2-40B4-BE49-F238E27FC236}">
                <a16:creationId xmlns:a16="http://schemas.microsoft.com/office/drawing/2014/main" id="{44A32238-73A2-4AAF-B2B1-4FE7D2EE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4-receiver-anchor">
            <a:extLst xmlns:a="http://schemas.openxmlformats.org/drawingml/2006/main">
              <a:ext uri="{FF2B5EF4-FFF2-40B4-BE49-F238E27FC236}">
                <a16:creationId xmlns:a16="http://schemas.microsoft.com/office/drawing/2014/main" id="{9595F12A-2918-44A9-A24C-3FFAB11D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4-condition-anchor">
            <a:extLst xmlns:a="http://schemas.openxmlformats.org/drawingml/2006/main">
              <a:ext uri="{FF2B5EF4-FFF2-40B4-BE49-F238E27FC236}">
                <a16:creationId xmlns:a16="http://schemas.microsoft.com/office/drawing/2014/main" id="{3F85CFDD-AFB5-4F82-BD28-DE606744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34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34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34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34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34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34-visual-alt" descr="Palancas de SNR en comunicación. Fuente vocal; distancia; ruido; oyente; tratamiento/control. Orden de lectura: “aumenta señal”, “reduce ruido”, “modifica tarea”. ---">
            <a:extLst xmlns:a="http://schemas.openxmlformats.org/drawingml/2006/main">
              <a:ext uri="{FF2B5EF4-FFF2-40B4-BE49-F238E27FC236}">
                <a16:creationId xmlns:a16="http://schemas.microsoft.com/office/drawing/2014/main" id="{6617EFC6-128D-47AB-AC88-4BE5AB1C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34-source-text">
            <a:extLst xmlns:a="http://schemas.openxmlformats.org/drawingml/2006/main">
              <a:ext uri="{FF2B5EF4-FFF2-40B4-BE49-F238E27FC236}">
                <a16:creationId xmlns:a16="http://schemas.microsoft.com/office/drawing/2014/main" id="{77ACEB4E-F54A-4690-815E-7FF3DD45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 vocal</a:t>
            </a:r>
          </a:p>
        </p:txBody>
      </p:sp>
      <p:sp>
        <p:nvSpPr>
          <p:cNvPr id="19" name="U10-DG-034-path_top-box">
            <a:extLst xmlns:a="http://schemas.openxmlformats.org/drawingml/2006/main">
              <a:ext uri="{FF2B5EF4-FFF2-40B4-BE49-F238E27FC236}">
                <a16:creationId xmlns:a16="http://schemas.microsoft.com/office/drawing/2014/main" id="{C03C49F7-1F69-4802-86E3-6614F505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34-path_top-text">
            <a:extLst xmlns:a="http://schemas.openxmlformats.org/drawingml/2006/main">
              <a:ext uri="{FF2B5EF4-FFF2-40B4-BE49-F238E27FC236}">
                <a16:creationId xmlns:a16="http://schemas.microsoft.com/office/drawing/2014/main" id="{09CB0D9A-8E07-4297-B345-70DF5B5D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Reducir distancia</a:t>
            </a:r>
          </a:p>
        </p:txBody>
      </p:sp>
      <p:sp>
        <p:nvSpPr>
          <p:cNvPr id="21" name="U10-DG-034-path_bottom-box">
            <a:extLst xmlns:a="http://schemas.openxmlformats.org/drawingml/2006/main">
              <a:ext uri="{FF2B5EF4-FFF2-40B4-BE49-F238E27FC236}">
                <a16:creationId xmlns:a16="http://schemas.microsoft.com/office/drawing/2014/main" id="{0CB25867-E907-4D52-A73C-D475676E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34-path_bottom-text">
            <a:extLst xmlns:a="http://schemas.openxmlformats.org/drawingml/2006/main">
              <a:ext uri="{FF2B5EF4-FFF2-40B4-BE49-F238E27FC236}">
                <a16:creationId xmlns:a16="http://schemas.microsoft.com/office/drawing/2014/main" id="{5D73ADF1-22B9-4C90-B1ED-7905126A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Reducir ruido</a:t>
            </a:r>
          </a:p>
        </p:txBody>
      </p:sp>
      <p:sp>
        <p:nvSpPr>
          <p:cNvPr id="23" name="U10-DG-034-space-box">
            <a:extLst xmlns:a="http://schemas.openxmlformats.org/drawingml/2006/main">
              <a:ext uri="{FF2B5EF4-FFF2-40B4-BE49-F238E27FC236}">
                <a16:creationId xmlns:a16="http://schemas.microsoft.com/office/drawing/2014/main" id="{AB56A1F9-2922-4E60-8240-8854C8AD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34-space-text">
            <a:extLst xmlns:a="http://schemas.openxmlformats.org/drawingml/2006/main">
              <a:ext uri="{FF2B5EF4-FFF2-40B4-BE49-F238E27FC236}">
                <a16:creationId xmlns:a16="http://schemas.microsoft.com/office/drawing/2014/main" id="{076AB294-4617-405C-B3D2-91451ADE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Oyente</a:t>
            </a:r>
          </a:p>
        </p:txBody>
      </p:sp>
      <p:sp>
        <p:nvSpPr>
          <p:cNvPr id="25" name="U10-DG-034-receiver-box">
            <a:extLst xmlns:a="http://schemas.openxmlformats.org/drawingml/2006/main">
              <a:ext uri="{FF2B5EF4-FFF2-40B4-BE49-F238E27FC236}">
                <a16:creationId xmlns:a16="http://schemas.microsoft.com/office/drawing/2014/main" id="{8B54EF8F-98F8-4041-917A-0783B091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34-receiver-text">
            <a:extLst xmlns:a="http://schemas.openxmlformats.org/drawingml/2006/main">
              <a:ext uri="{FF2B5EF4-FFF2-40B4-BE49-F238E27FC236}">
                <a16:creationId xmlns:a16="http://schemas.microsoft.com/office/drawing/2014/main" id="{1F85CAD5-34EF-4C96-BA8A-13214ABB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Tratamiento del recinto</a:t>
            </a:r>
          </a:p>
        </p:txBody>
      </p:sp>
      <p:sp>
        <p:nvSpPr>
          <p:cNvPr id="27" name="U10-DG-034-condition-box">
            <a:extLst xmlns:a="http://schemas.openxmlformats.org/drawingml/2006/main">
              <a:ext uri="{FF2B5EF4-FFF2-40B4-BE49-F238E27FC236}">
                <a16:creationId xmlns:a16="http://schemas.microsoft.com/office/drawing/2014/main" id="{CE89CA92-48EE-4426-8803-F0F94DC3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34-condition-text">
            <a:extLst xmlns:a="http://schemas.openxmlformats.org/drawingml/2006/main">
              <a:ext uri="{FF2B5EF4-FFF2-40B4-BE49-F238E27FC236}">
                <a16:creationId xmlns:a16="http://schemas.microsoft.com/office/drawing/2014/main" id="{4E8106A5-2B88-4A07-B0E0-1D30B01E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SNR no garantiza inteligibilidad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6C467BA6-216F-4114-B80F-F5E81927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Palancas de SNR en comunicación. Fuente vocal; distancia; ruido; oyente; tratamiento/control.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83BDFCF-4ADD-4000-BCCE-97867DD9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23416D4F-ACF1-4BD1-AC7B-5E2E4A7E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6E1E07B-E024-4AF3-BE1B-1BB0E979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A655028-2F36-4564-9E0F-E3D57DFF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7C6EE8A-0437-4F4C-8017-FCF62BEB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2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589842-2B04-43A5-9E62-F67C1BC2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Descriptor, configuración, intervalo y pregunta deben coincidir</a:t>
            </a:r>
          </a:p>
        </p:txBody>
      </p:sp>
      <p:sp>
        <p:nvSpPr>
          <p:cNvPr id="6" name="U10-DG-035-compare_1-anchor">
            <a:extLst xmlns:a="http://schemas.openxmlformats.org/drawingml/2006/main">
              <a:ext uri="{FF2B5EF4-FFF2-40B4-BE49-F238E27FC236}">
                <a16:creationId xmlns:a16="http://schemas.microsoft.com/office/drawing/2014/main" id="{46BB5C3C-CC53-49C6-866A-F80EAE95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5-compare_2-anchor">
            <a:extLst xmlns:a="http://schemas.openxmlformats.org/drawingml/2006/main">
              <a:ext uri="{FF2B5EF4-FFF2-40B4-BE49-F238E27FC236}">
                <a16:creationId xmlns:a16="http://schemas.microsoft.com/office/drawing/2014/main" id="{FA642475-9A0A-4D40-9967-A4E42F01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5-compare_3-anchor">
            <a:extLst xmlns:a="http://schemas.openxmlformats.org/drawingml/2006/main">
              <a:ext uri="{FF2B5EF4-FFF2-40B4-BE49-F238E27FC236}">
                <a16:creationId xmlns:a16="http://schemas.microsoft.com/office/drawing/2014/main" id="{44630790-BEFD-4EB4-8887-3CEB265C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5-compare_4-anchor">
            <a:extLst xmlns:a="http://schemas.openxmlformats.org/drawingml/2006/main">
              <a:ext uri="{FF2B5EF4-FFF2-40B4-BE49-F238E27FC236}">
                <a16:creationId xmlns:a16="http://schemas.microsoft.com/office/drawing/2014/main" id="{29E4DA6C-0ACC-42A9-8DEB-A91F7732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5-compare_5-anchor">
            <a:extLst xmlns:a="http://schemas.openxmlformats.org/drawingml/2006/main">
              <a:ext uri="{FF2B5EF4-FFF2-40B4-BE49-F238E27FC236}">
                <a16:creationId xmlns:a16="http://schemas.microsoft.com/office/drawing/2014/main" id="{B188A4D3-3CC0-4CE4-AFC8-9333300D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5-compare_6-anchor">
            <a:extLst xmlns:a="http://schemas.openxmlformats.org/drawingml/2006/main">
              <a:ext uri="{FF2B5EF4-FFF2-40B4-BE49-F238E27FC236}">
                <a16:creationId xmlns:a16="http://schemas.microsoft.com/office/drawing/2014/main" id="{8650C12A-D1F4-4A88-A97D-7189AEF9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003548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35-visual-alt" descr="Selector de descriptor. Preguntas sobre instante/extremo/energía/distribución/contraste; salidas. Orden de lectura: Pregunta → indicador. ---">
            <a:extLst xmlns:a="http://schemas.openxmlformats.org/drawingml/2006/main">
              <a:ext uri="{FF2B5EF4-FFF2-40B4-BE49-F238E27FC236}">
                <a16:creationId xmlns:a16="http://schemas.microsoft.com/office/drawing/2014/main" id="{C5873B8D-545B-445F-AA11-66B6CE76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35-compare_1-text">
            <a:extLst xmlns:a="http://schemas.openxmlformats.org/drawingml/2006/main">
              <a:ext uri="{FF2B5EF4-FFF2-40B4-BE49-F238E27FC236}">
                <a16:creationId xmlns:a16="http://schemas.microsoft.com/office/drawing/2014/main" id="{D4B08A1A-2A6C-4E03-A2E1-3510E07F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¿Nivel en cada instante? → L(t)</a:t>
            </a:r>
          </a:p>
        </p:txBody>
      </p:sp>
      <p:sp>
        <p:nvSpPr>
          <p:cNvPr id="14" name="U10-DG-035-compare_2-box">
            <a:extLst xmlns:a="http://schemas.openxmlformats.org/drawingml/2006/main">
              <a:ext uri="{FF2B5EF4-FFF2-40B4-BE49-F238E27FC236}">
                <a16:creationId xmlns:a16="http://schemas.microsoft.com/office/drawing/2014/main" id="{D500FD34-8224-47BF-A998-9708FA16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5" name="U10-DG-035-compare_2-text">
            <a:extLst xmlns:a="http://schemas.openxmlformats.org/drawingml/2006/main">
              <a:ext uri="{FF2B5EF4-FFF2-40B4-BE49-F238E27FC236}">
                <a16:creationId xmlns:a16="http://schemas.microsoft.com/office/drawing/2014/main" id="{E9F4B45A-7316-468F-A2FD-433D7138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¿Extremo con detector? → L_max</a:t>
            </a:r>
          </a:p>
        </p:txBody>
      </p:sp>
      <p:sp>
        <p:nvSpPr>
          <p:cNvPr id="16" name="U10-DG-035-compare_3-box">
            <a:extLst xmlns:a="http://schemas.openxmlformats.org/drawingml/2006/main">
              <a:ext uri="{FF2B5EF4-FFF2-40B4-BE49-F238E27FC236}">
                <a16:creationId xmlns:a16="http://schemas.microsoft.com/office/drawing/2014/main" id="{2A1C6EAB-5F44-477B-8A10-42F17206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35-compare_3-text">
            <a:extLst xmlns:a="http://schemas.openxmlformats.org/drawingml/2006/main">
              <a:ext uri="{FF2B5EF4-FFF2-40B4-BE49-F238E27FC236}">
                <a16:creationId xmlns:a16="http://schemas.microsoft.com/office/drawing/2014/main" id="{6246FE93-0E54-45E6-99B0-050B227A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¿Pico de presión? → L_peak</a:t>
            </a:r>
          </a:p>
        </p:txBody>
      </p:sp>
      <p:sp>
        <p:nvSpPr>
          <p:cNvPr id="18" name="U10-DG-035-compare_4-box">
            <a:extLst xmlns:a="http://schemas.openxmlformats.org/drawingml/2006/main">
              <a:ext uri="{FF2B5EF4-FFF2-40B4-BE49-F238E27FC236}">
                <a16:creationId xmlns:a16="http://schemas.microsoft.com/office/drawing/2014/main" id="{4FD00886-572B-4B2D-8071-13CD2944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10-DG-035-compare_4-text">
            <a:extLst xmlns:a="http://schemas.openxmlformats.org/drawingml/2006/main">
              <a:ext uri="{FF2B5EF4-FFF2-40B4-BE49-F238E27FC236}">
                <a16:creationId xmlns:a16="http://schemas.microsoft.com/office/drawing/2014/main" id="{AE8A2FB1-9DDA-4994-A2E8-ACEE8120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¿Energía en T? → Lₑq,T</a:t>
            </a:r>
          </a:p>
        </p:txBody>
      </p:sp>
      <p:sp>
        <p:nvSpPr>
          <p:cNvPr id="20" name="U10-DG-035-compare_5-box">
            <a:extLst xmlns:a="http://schemas.openxmlformats.org/drawingml/2006/main">
              <a:ext uri="{FF2B5EF4-FFF2-40B4-BE49-F238E27FC236}">
                <a16:creationId xmlns:a16="http://schemas.microsoft.com/office/drawing/2014/main" id="{D3667B2B-FC9D-4BDA-BC61-6CC51DE5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35-compare_5-text">
            <a:extLst xmlns:a="http://schemas.openxmlformats.org/drawingml/2006/main">
              <a:ext uri="{FF2B5EF4-FFF2-40B4-BE49-F238E27FC236}">
                <a16:creationId xmlns:a16="http://schemas.microsoft.com/office/drawing/2014/main" id="{70A3D5DB-846C-4B53-A883-913DA24C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27373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¿Excedencia? → L_N,T</a:t>
            </a:r>
          </a:p>
        </p:txBody>
      </p:sp>
      <p:sp>
        <p:nvSpPr>
          <p:cNvPr id="22" name="U10-DG-035-compare_6-box">
            <a:extLst xmlns:a="http://schemas.openxmlformats.org/drawingml/2006/main">
              <a:ext uri="{FF2B5EF4-FFF2-40B4-BE49-F238E27FC236}">
                <a16:creationId xmlns:a16="http://schemas.microsoft.com/office/drawing/2014/main" id="{06A7F63C-0EB3-4F79-9FFA-633CDC9E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003548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10-DG-035-compare_6-text">
            <a:extLst xmlns:a="http://schemas.openxmlformats.org/drawingml/2006/main">
              <a:ext uri="{FF2B5EF4-FFF2-40B4-BE49-F238E27FC236}">
                <a16:creationId xmlns:a16="http://schemas.microsoft.com/office/drawing/2014/main" id="{E4C7E799-48F8-46FB-99EC-25796C65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27373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¿Contraste? → SNR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26CDE48A-AEF4-416F-AA79-7C1D9106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Selector de descriptor. Preguntas sobre instante/extremo/energía/distribución/contraste; salidas.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DE25B08-516E-49A3-905A-6FD9BFC7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07D970B1-D290-42B5-987A-0A551EFA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52097C02-4A19-4517-8E2D-02232275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señal se presenta, a qué oído y con qué finalidad?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1BA17DE9-7AF4-42BF-A241-ACF82FF0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754CAD-F0C3-40A3-9241-41C88C79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3E004559-DC29-4AC0-9D2C-3AEB3056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7F47973-A4C2-4BC6-B9A1-F6BB1E37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A824BF03-8C8C-4EAF-B78A-2DA57774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97C85AB-1721-43AF-AE0E-9AFBC8B3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05CF87-B2F5-463C-9D5B-F9FE0508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Enmascarar es reducir detectabilidad</a:t>
            </a:r>
          </a:p>
        </p:txBody>
      </p:sp>
      <p:sp>
        <p:nvSpPr>
          <p:cNvPr id="6" name="U10-DG-036-concept_1-anchor">
            <a:extLst xmlns:a="http://schemas.openxmlformats.org/drawingml/2006/main">
              <a:ext uri="{FF2B5EF4-FFF2-40B4-BE49-F238E27FC236}">
                <a16:creationId xmlns:a16="http://schemas.microsoft.com/office/drawing/2014/main" id="{927006CD-9F4B-494D-88E1-4AB8CF26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6-concept_2-anchor">
            <a:extLst xmlns:a="http://schemas.openxmlformats.org/drawingml/2006/main">
              <a:ext uri="{FF2B5EF4-FFF2-40B4-BE49-F238E27FC236}">
                <a16:creationId xmlns:a16="http://schemas.microsoft.com/office/drawing/2014/main" id="{10F69403-9483-4141-9D32-8928EB1C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6-concept_3-anchor">
            <a:extLst xmlns:a="http://schemas.openxmlformats.org/drawingml/2006/main">
              <a:ext uri="{FF2B5EF4-FFF2-40B4-BE49-F238E27FC236}">
                <a16:creationId xmlns:a16="http://schemas.microsoft.com/office/drawing/2014/main" id="{68A541CF-B8E7-4141-BB87-3BE7A46B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6-concept_4-anchor">
            <a:extLst xmlns:a="http://schemas.openxmlformats.org/drawingml/2006/main">
              <a:ext uri="{FF2B5EF4-FFF2-40B4-BE49-F238E27FC236}">
                <a16:creationId xmlns:a16="http://schemas.microsoft.com/office/drawing/2014/main" id="{56980D1A-E01D-48A2-9B09-A3CFB568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6-concept_5-anchor">
            <a:extLst xmlns:a="http://schemas.openxmlformats.org/drawingml/2006/main">
              <a:ext uri="{FF2B5EF4-FFF2-40B4-BE49-F238E27FC236}">
                <a16:creationId xmlns:a16="http://schemas.microsoft.com/office/drawing/2014/main" id="{8AF262B6-2020-4822-890B-3F6FBC9D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6-visual-alt" descr="Puente físico-perceptual al masking. Ruido externo; representación interna; señal; detectabilidad. Orden de lectura: “eleva competencia”, “reduce detectabilidad”. ---">
            <a:extLst xmlns:a="http://schemas.openxmlformats.org/drawingml/2006/main">
              <a:ext uri="{FF2B5EF4-FFF2-40B4-BE49-F238E27FC236}">
                <a16:creationId xmlns:a16="http://schemas.microsoft.com/office/drawing/2014/main" id="{8021BF91-60DC-405A-93B5-C3288FEA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36-concept_1-text">
            <a:extLst xmlns:a="http://schemas.openxmlformats.org/drawingml/2006/main">
              <a:ext uri="{FF2B5EF4-FFF2-40B4-BE49-F238E27FC236}">
                <a16:creationId xmlns:a16="http://schemas.microsoft.com/office/drawing/2014/main" id="{A5CE6F51-60AF-4926-8DE0-3ECE526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Ruido externo</a:t>
            </a:r>
          </a:p>
        </p:txBody>
      </p:sp>
      <p:sp>
        <p:nvSpPr>
          <p:cNvPr id="13" name="U10-DG-036-concept_2-box">
            <a:extLst xmlns:a="http://schemas.openxmlformats.org/drawingml/2006/main">
              <a:ext uri="{FF2B5EF4-FFF2-40B4-BE49-F238E27FC236}">
                <a16:creationId xmlns:a16="http://schemas.microsoft.com/office/drawing/2014/main" id="{3FCDECB2-FFA3-4B23-803E-567FBBFF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36-concept_2-text">
            <a:extLst xmlns:a="http://schemas.openxmlformats.org/drawingml/2006/main">
              <a:ext uri="{FF2B5EF4-FFF2-40B4-BE49-F238E27FC236}">
                <a16:creationId xmlns:a16="http://schemas.microsoft.com/office/drawing/2014/main" id="{60F2D825-27AA-4791-8B5D-0EB57434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Representación interna</a:t>
            </a:r>
          </a:p>
        </p:txBody>
      </p:sp>
      <p:sp>
        <p:nvSpPr>
          <p:cNvPr id="15" name="U10-DG-036-concept_3-box">
            <a:extLst xmlns:a="http://schemas.openxmlformats.org/drawingml/2006/main">
              <a:ext uri="{FF2B5EF4-FFF2-40B4-BE49-F238E27FC236}">
                <a16:creationId xmlns:a16="http://schemas.microsoft.com/office/drawing/2014/main" id="{E55DB494-F0C3-4E69-A940-1BB6A26B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36-concept_3-text">
            <a:extLst xmlns:a="http://schemas.openxmlformats.org/drawingml/2006/main">
              <a:ext uri="{FF2B5EF4-FFF2-40B4-BE49-F238E27FC236}">
                <a16:creationId xmlns:a16="http://schemas.microsoft.com/office/drawing/2014/main" id="{23DF4153-0009-45CA-A5B4-E17F405E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objetivo</a:t>
            </a:r>
          </a:p>
        </p:txBody>
      </p:sp>
      <p:sp>
        <p:nvSpPr>
          <p:cNvPr id="17" name="U10-DG-036-concept_4-box">
            <a:extLst xmlns:a="http://schemas.openxmlformats.org/drawingml/2006/main">
              <a:ext uri="{FF2B5EF4-FFF2-40B4-BE49-F238E27FC236}">
                <a16:creationId xmlns:a16="http://schemas.microsoft.com/office/drawing/2014/main" id="{08E4EDC0-5652-4D44-AC0B-AED9BD48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36-concept_4-text">
            <a:extLst xmlns:a="http://schemas.openxmlformats.org/drawingml/2006/main">
              <a:ext uri="{FF2B5EF4-FFF2-40B4-BE49-F238E27FC236}">
                <a16:creationId xmlns:a16="http://schemas.microsoft.com/office/drawing/2014/main" id="{6EFF8ECA-5916-4B2D-B19F-3B848ABC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Competencia</a:t>
            </a:r>
          </a:p>
        </p:txBody>
      </p:sp>
      <p:sp>
        <p:nvSpPr>
          <p:cNvPr id="19" name="U10-DG-036-concept_5-box">
            <a:extLst xmlns:a="http://schemas.openxmlformats.org/drawingml/2006/main">
              <a:ext uri="{FF2B5EF4-FFF2-40B4-BE49-F238E27FC236}">
                <a16:creationId xmlns:a16="http://schemas.microsoft.com/office/drawing/2014/main" id="{6B4DBA21-ED9B-445A-9FB1-6371A985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36-concept_5-text">
            <a:extLst xmlns:a="http://schemas.openxmlformats.org/drawingml/2006/main">
              <a:ext uri="{FF2B5EF4-FFF2-40B4-BE49-F238E27FC236}">
                <a16:creationId xmlns:a16="http://schemas.microsoft.com/office/drawing/2014/main" id="{0F0B1FB3-6BE4-4817-8513-531AF419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Detectabilidad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2E601428-7A67-477E-9547-8649EF7D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Puente físico-perceptual al masking. Ruido externo; representación interna; señal; detectabilidad.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95BEAF-670E-499F-91B0-9F7EAA4B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40905044-6A63-4C52-8CCF-EA3F0358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CFD7205-E44B-48F6-84B0-F7E16F0B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ED2BFF2-F2D3-4691-B867-BDD96DC8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B09D955-6AE1-4DFC-B6BE-72B1657E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0FAB11-C3D2-4306-BB2E-2094B57A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Toda situación controlada necesita cuatro identificaciones</a:t>
            </a:r>
          </a:p>
        </p:txBody>
      </p:sp>
      <p:sp>
        <p:nvSpPr>
          <p:cNvPr id="6" name="U10-DG-037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6013FCDA-29DE-4C1E-BA8D-B8D0D192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7-branch_1-anchor">
            <a:extLst xmlns:a="http://schemas.openxmlformats.org/drawingml/2006/main">
              <a:ext uri="{FF2B5EF4-FFF2-40B4-BE49-F238E27FC236}">
                <a16:creationId xmlns:a16="http://schemas.microsoft.com/office/drawing/2014/main" id="{8816E25B-2E46-45EE-9B2E-A9A2C8EF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937671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7-branch_2-anchor">
            <a:extLst xmlns:a="http://schemas.openxmlformats.org/drawingml/2006/main">
              <a:ext uri="{FF2B5EF4-FFF2-40B4-BE49-F238E27FC236}">
                <a16:creationId xmlns:a16="http://schemas.microsoft.com/office/drawing/2014/main" id="{80EE051C-A7C1-439D-8A56-5085A113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960846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7-branch_3-anchor">
            <a:extLst xmlns:a="http://schemas.openxmlformats.org/drawingml/2006/main">
              <a:ext uri="{FF2B5EF4-FFF2-40B4-BE49-F238E27FC236}">
                <a16:creationId xmlns:a16="http://schemas.microsoft.com/office/drawing/2014/main" id="{FC1E8572-D004-4DD9-864F-89962C6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984022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U10-DG-037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2347723"/>
            <a:ext cx="2847975" cy="88649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10-DG-037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5655" y="3234215"/>
            <a:ext cx="2847975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10-DG-037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115985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10-DG-037-visual-alt" descr="Cuatro elementos del enmascaramiento. Señal; enmascarador; receptor/oído; criterio de respuesta. Orden de lectura: Relaciones numeradas. ---">
            <a:extLst xmlns:a="http://schemas.openxmlformats.org/drawingml/2006/main">
              <a:ext uri="{FF2B5EF4-FFF2-40B4-BE49-F238E27FC236}">
                <a16:creationId xmlns:a16="http://schemas.microsoft.com/office/drawing/2014/main" id="{AC1DF907-6EB4-41D3-A7CC-3BFFA999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10-DG-037-branch_source-text">
            <a:extLst xmlns:a="http://schemas.openxmlformats.org/drawingml/2006/main">
              <a:ext uri="{FF2B5EF4-FFF2-40B4-BE49-F238E27FC236}">
                <a16:creationId xmlns:a16="http://schemas.microsoft.com/office/drawing/2014/main" id="{B72C6C30-025C-4C7E-BDC3-11AFBD7A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15" name="U10-DG-037-branch_1-box">
            <a:extLst xmlns:a="http://schemas.openxmlformats.org/drawingml/2006/main">
              <a:ext uri="{FF2B5EF4-FFF2-40B4-BE49-F238E27FC236}">
                <a16:creationId xmlns:a16="http://schemas.microsoft.com/office/drawing/2014/main" id="{C7D4DFC9-B5BF-4C7E-8BB8-A875E58E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937671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37-branch_1-text">
            <a:extLst xmlns:a="http://schemas.openxmlformats.org/drawingml/2006/main">
              <a:ext uri="{FF2B5EF4-FFF2-40B4-BE49-F238E27FC236}">
                <a16:creationId xmlns:a16="http://schemas.microsoft.com/office/drawing/2014/main" id="{D80E9453-EF40-4296-B911-B958EBCF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61496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Enmascarador</a:t>
            </a:r>
          </a:p>
        </p:txBody>
      </p:sp>
      <p:sp>
        <p:nvSpPr>
          <p:cNvPr id="17" name="U10-DG-037-branch_2-box">
            <a:extLst xmlns:a="http://schemas.openxmlformats.org/drawingml/2006/main">
              <a:ext uri="{FF2B5EF4-FFF2-40B4-BE49-F238E27FC236}">
                <a16:creationId xmlns:a16="http://schemas.microsoft.com/office/drawing/2014/main" id="{DE1F060E-8D7E-4031-86D6-78E06562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960846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10-DG-037-branch_2-text">
            <a:extLst xmlns:a="http://schemas.openxmlformats.org/drawingml/2006/main">
              <a:ext uri="{FF2B5EF4-FFF2-40B4-BE49-F238E27FC236}">
                <a16:creationId xmlns:a16="http://schemas.microsoft.com/office/drawing/2014/main" id="{2F78087F-D60C-41C2-991E-15D34D01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84671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 / oído</a:t>
            </a:r>
          </a:p>
        </p:txBody>
      </p:sp>
      <p:sp>
        <p:nvSpPr>
          <p:cNvPr id="19" name="U10-DG-037-branch_3-box">
            <a:extLst xmlns:a="http://schemas.openxmlformats.org/drawingml/2006/main">
              <a:ext uri="{FF2B5EF4-FFF2-40B4-BE49-F238E27FC236}">
                <a16:creationId xmlns:a16="http://schemas.microsoft.com/office/drawing/2014/main" id="{BF34BB5B-4609-41B3-825D-B207C606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984022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10-DG-037-branch_3-text">
            <a:extLst xmlns:a="http://schemas.openxmlformats.org/drawingml/2006/main">
              <a:ext uri="{FF2B5EF4-FFF2-40B4-BE49-F238E27FC236}">
                <a16:creationId xmlns:a16="http://schemas.microsoft.com/office/drawing/2014/main" id="{D3B7AAEA-12F9-4F7F-A70A-3978C0DB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7847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Criterio de respuesta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3FD1BB86-69D0-4392-88DF-805D95B5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Cuatro elementos del enmascaramiento. Señal; enmascarador; receptor/oído; criterio de respuesta.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CA8006-1D85-40D6-BF91-8E241BCE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6EBB5CA7-06F2-4590-B185-C90798B8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B6DB23D-2EBB-480B-AC53-AFEDA4B4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A1E3D98-AA7E-455E-91E1-000EC495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E3974D3-4F2A-4519-8FEE-39A40664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913BBE-B8B1-4C21-B370-1208B12A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325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enmascarante controla el oído no evaluado cuando hay respuesta cruzada posible</a:t>
            </a:r>
          </a:p>
        </p:txBody>
      </p:sp>
      <p:sp>
        <p:nvSpPr>
          <p:cNvPr id="6" name="U10-DG-038-source-anchor">
            <a:extLst xmlns:a="http://schemas.openxmlformats.org/drawingml/2006/main">
              <a:ext uri="{FF2B5EF4-FFF2-40B4-BE49-F238E27FC236}">
                <a16:creationId xmlns:a16="http://schemas.microsoft.com/office/drawing/2014/main" id="{F08A7DAB-6229-43CB-8B90-3C65AF1C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8-path_top-anchor">
            <a:extLst xmlns:a="http://schemas.openxmlformats.org/drawingml/2006/main">
              <a:ext uri="{FF2B5EF4-FFF2-40B4-BE49-F238E27FC236}">
                <a16:creationId xmlns:a16="http://schemas.microsoft.com/office/drawing/2014/main" id="{C7A2AD77-038A-42F5-9AD6-B6977686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8-path_bottom-anchor">
            <a:extLst xmlns:a="http://schemas.openxmlformats.org/drawingml/2006/main">
              <a:ext uri="{FF2B5EF4-FFF2-40B4-BE49-F238E27FC236}">
                <a16:creationId xmlns:a16="http://schemas.microsoft.com/office/drawing/2014/main" id="{39A762B7-D75B-4C66-B4AD-41D275F5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8-space-anchor">
            <a:extLst xmlns:a="http://schemas.openxmlformats.org/drawingml/2006/main">
              <a:ext uri="{FF2B5EF4-FFF2-40B4-BE49-F238E27FC236}">
                <a16:creationId xmlns:a16="http://schemas.microsoft.com/office/drawing/2014/main" id="{36F7FFA9-83D7-4C14-9603-F911342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8-receiver-anchor">
            <a:extLst xmlns:a="http://schemas.openxmlformats.org/drawingml/2006/main">
              <a:ext uri="{FF2B5EF4-FFF2-40B4-BE49-F238E27FC236}">
                <a16:creationId xmlns:a16="http://schemas.microsoft.com/office/drawing/2014/main" id="{E400D31F-6C2F-4FCF-A160-B8D6804E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8-condition-anchor">
            <a:extLst xmlns:a="http://schemas.openxmlformats.org/drawingml/2006/main">
              <a:ext uri="{FF2B5EF4-FFF2-40B4-BE49-F238E27FC236}">
                <a16:creationId xmlns:a16="http://schemas.microsoft.com/office/drawing/2014/main" id="{DED0FA79-6046-49E0-A113-96138EF0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38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38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38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38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38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38-visual-alt" descr="Arquitectura audiométrica conceptual. Oído evaluado; oído no evaluado; transductor; ruta cruzada; enmascarante; respuesta. Orden de lectura: “señal de prueba”, “posible cruce”, “controla”. ---">
            <a:extLst xmlns:a="http://schemas.openxmlformats.org/drawingml/2006/main">
              <a:ext uri="{FF2B5EF4-FFF2-40B4-BE49-F238E27FC236}">
                <a16:creationId xmlns:a16="http://schemas.microsoft.com/office/drawing/2014/main" id="{3E853EBE-B6D6-4763-8F81-3B5651B2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38-source-text">
            <a:extLst xmlns:a="http://schemas.openxmlformats.org/drawingml/2006/main">
              <a:ext uri="{FF2B5EF4-FFF2-40B4-BE49-F238E27FC236}">
                <a16:creationId xmlns:a16="http://schemas.microsoft.com/office/drawing/2014/main" id="{C34844E5-8130-4C0C-92C6-A458DE14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Oído evaluado</a:t>
            </a:r>
          </a:p>
        </p:txBody>
      </p:sp>
      <p:sp>
        <p:nvSpPr>
          <p:cNvPr id="19" name="U10-DG-038-path_top-box">
            <a:extLst xmlns:a="http://schemas.openxmlformats.org/drawingml/2006/main">
              <a:ext uri="{FF2B5EF4-FFF2-40B4-BE49-F238E27FC236}">
                <a16:creationId xmlns:a16="http://schemas.microsoft.com/office/drawing/2014/main" id="{D3504FFE-30DA-4F04-9FA3-E38493B1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38-path_top-text">
            <a:extLst xmlns:a="http://schemas.openxmlformats.org/drawingml/2006/main">
              <a:ext uri="{FF2B5EF4-FFF2-40B4-BE49-F238E27FC236}">
                <a16:creationId xmlns:a16="http://schemas.microsoft.com/office/drawing/2014/main" id="{D2DD67CC-99B9-452F-82C8-8BB52AC1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de prueba</a:t>
            </a:r>
          </a:p>
        </p:txBody>
      </p:sp>
      <p:sp>
        <p:nvSpPr>
          <p:cNvPr id="21" name="U10-DG-038-path_bottom-box">
            <a:extLst xmlns:a="http://schemas.openxmlformats.org/drawingml/2006/main">
              <a:ext uri="{FF2B5EF4-FFF2-40B4-BE49-F238E27FC236}">
                <a16:creationId xmlns:a16="http://schemas.microsoft.com/office/drawing/2014/main" id="{DFEC3203-5743-4321-A625-36B7FC71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38-path_bottom-text">
            <a:extLst xmlns:a="http://schemas.openxmlformats.org/drawingml/2006/main">
              <a:ext uri="{FF2B5EF4-FFF2-40B4-BE49-F238E27FC236}">
                <a16:creationId xmlns:a16="http://schemas.microsoft.com/office/drawing/2014/main" id="{C77C5C9C-7BCA-4CF3-9392-F0418DA3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Posible ruta cruzada</a:t>
            </a:r>
          </a:p>
        </p:txBody>
      </p:sp>
      <p:sp>
        <p:nvSpPr>
          <p:cNvPr id="23" name="U10-DG-038-space-box">
            <a:extLst xmlns:a="http://schemas.openxmlformats.org/drawingml/2006/main">
              <a:ext uri="{FF2B5EF4-FFF2-40B4-BE49-F238E27FC236}">
                <a16:creationId xmlns:a16="http://schemas.microsoft.com/office/drawing/2014/main" id="{43444949-D483-448E-ACBF-03194B60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38-space-text">
            <a:extLst xmlns:a="http://schemas.openxmlformats.org/drawingml/2006/main">
              <a:ext uri="{FF2B5EF4-FFF2-40B4-BE49-F238E27FC236}">
                <a16:creationId xmlns:a16="http://schemas.microsoft.com/office/drawing/2014/main" id="{3DE01F7D-F9E2-4901-9252-B2E85DEE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no evaluado</a:t>
            </a:r>
          </a:p>
        </p:txBody>
      </p:sp>
      <p:sp>
        <p:nvSpPr>
          <p:cNvPr id="25" name="U10-DG-038-receiver-box">
            <a:extLst xmlns:a="http://schemas.openxmlformats.org/drawingml/2006/main">
              <a:ext uri="{FF2B5EF4-FFF2-40B4-BE49-F238E27FC236}">
                <a16:creationId xmlns:a16="http://schemas.microsoft.com/office/drawing/2014/main" id="{916B4CA4-6948-4592-89AF-09B8C46A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38-receiver-text">
            <a:extLst xmlns:a="http://schemas.openxmlformats.org/drawingml/2006/main">
              <a:ext uri="{FF2B5EF4-FFF2-40B4-BE49-F238E27FC236}">
                <a16:creationId xmlns:a16="http://schemas.microsoft.com/office/drawing/2014/main" id="{7857976B-091A-4C96-A33C-7369DDDC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Enmascarante</a:t>
            </a:r>
          </a:p>
        </p:txBody>
      </p:sp>
      <p:sp>
        <p:nvSpPr>
          <p:cNvPr id="27" name="U10-DG-038-condition-box">
            <a:extLst xmlns:a="http://schemas.openxmlformats.org/drawingml/2006/main">
              <a:ext uri="{FF2B5EF4-FFF2-40B4-BE49-F238E27FC236}">
                <a16:creationId xmlns:a16="http://schemas.microsoft.com/office/drawing/2014/main" id="{7672C957-5CCA-43ED-923B-DCB7E56F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38-condition-text">
            <a:extLst xmlns:a="http://schemas.openxmlformats.org/drawingml/2006/main">
              <a:ext uri="{FF2B5EF4-FFF2-40B4-BE49-F238E27FC236}">
                <a16:creationId xmlns:a16="http://schemas.microsoft.com/office/drawing/2014/main" id="{BB415559-9D14-48ED-B08C-D4E95F25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controlada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2F4DA7CD-C1C5-45D9-9752-86CD695B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Arquitectura audiométrica conceptual. Oído evaluado; oído no evaluado; transductor; ruta cruzada; enmascarante; respuesta.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CB46647-8A48-4AD8-814A-7C8FA45D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8DBFE5D6-8D57-42FA-9AE5-7DDAE7ED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2EC344A2-12BF-4AD9-BFAB-3BF4BC70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3AE1532-6B88-4B69-B8B9-FDE0B61E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22AB3B2-FE24-4E1B-A28F-08CABD9A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8E970-7BE1-47BE-81AD-4B0E1A3D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función cumple cada señal y cada oído?</a:t>
            </a:r>
          </a:p>
        </p:txBody>
      </p:sp>
      <p:sp>
        <p:nvSpPr>
          <p:cNvPr id="6" name="U10-DG-038-source-anchor">
            <a:extLst xmlns:a="http://schemas.openxmlformats.org/drawingml/2006/main">
              <a:ext uri="{FF2B5EF4-FFF2-40B4-BE49-F238E27FC236}">
                <a16:creationId xmlns:a16="http://schemas.microsoft.com/office/drawing/2014/main" id="{72937EFF-168E-4016-8593-A4336D34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8-path_top-anchor">
            <a:extLst xmlns:a="http://schemas.openxmlformats.org/drawingml/2006/main">
              <a:ext uri="{FF2B5EF4-FFF2-40B4-BE49-F238E27FC236}">
                <a16:creationId xmlns:a16="http://schemas.microsoft.com/office/drawing/2014/main" id="{63890989-83D7-403C-B7DE-D20046F8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8-path_bottom-anchor">
            <a:extLst xmlns:a="http://schemas.openxmlformats.org/drawingml/2006/main">
              <a:ext uri="{FF2B5EF4-FFF2-40B4-BE49-F238E27FC236}">
                <a16:creationId xmlns:a16="http://schemas.microsoft.com/office/drawing/2014/main" id="{7A7D7971-F9AF-4546-9B09-5A6DD5AE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8-space-anchor">
            <a:extLst xmlns:a="http://schemas.openxmlformats.org/drawingml/2006/main">
              <a:ext uri="{FF2B5EF4-FFF2-40B4-BE49-F238E27FC236}">
                <a16:creationId xmlns:a16="http://schemas.microsoft.com/office/drawing/2014/main" id="{C61EF96D-F515-409B-AB5C-5D24FD0A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8-receiver-anchor">
            <a:extLst xmlns:a="http://schemas.openxmlformats.org/drawingml/2006/main">
              <a:ext uri="{FF2B5EF4-FFF2-40B4-BE49-F238E27FC236}">
                <a16:creationId xmlns:a16="http://schemas.microsoft.com/office/drawing/2014/main" id="{85EC95FE-1DDC-4DF0-91F2-0BA1A4D5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8-condition-anchor">
            <a:extLst xmlns:a="http://schemas.openxmlformats.org/drawingml/2006/main">
              <a:ext uri="{FF2B5EF4-FFF2-40B4-BE49-F238E27FC236}">
                <a16:creationId xmlns:a16="http://schemas.microsoft.com/office/drawing/2014/main" id="{F881DF19-470E-483B-A4F8-092477AE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38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38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38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38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38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38-visual-alt" descr="Arquitectura audiométrica conceptual. Oído evaluado; oído no evaluado; transductor; ruta cruzada; enmascarante; respuesta. Orden de lectura: “señal de prueba”, “posible cruce”, “controla”. ---">
            <a:extLst xmlns:a="http://schemas.openxmlformats.org/drawingml/2006/main">
              <a:ext uri="{FF2B5EF4-FFF2-40B4-BE49-F238E27FC236}">
                <a16:creationId xmlns:a16="http://schemas.microsoft.com/office/drawing/2014/main" id="{72F23ECB-9E25-4323-AAE9-E068514A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38-source-text">
            <a:extLst xmlns:a="http://schemas.openxmlformats.org/drawingml/2006/main">
              <a:ext uri="{FF2B5EF4-FFF2-40B4-BE49-F238E27FC236}">
                <a16:creationId xmlns:a16="http://schemas.microsoft.com/office/drawing/2014/main" id="{72D804EB-8A6D-42B8-A07F-1DD09A8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Oído evaluado</a:t>
            </a:r>
          </a:p>
        </p:txBody>
      </p:sp>
      <p:sp>
        <p:nvSpPr>
          <p:cNvPr id="19" name="U10-DG-038-path_top-box">
            <a:extLst xmlns:a="http://schemas.openxmlformats.org/drawingml/2006/main">
              <a:ext uri="{FF2B5EF4-FFF2-40B4-BE49-F238E27FC236}">
                <a16:creationId xmlns:a16="http://schemas.microsoft.com/office/drawing/2014/main" id="{7117EF06-8241-4CED-AE62-4BE75F8E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38-path_top-text">
            <a:extLst xmlns:a="http://schemas.openxmlformats.org/drawingml/2006/main">
              <a:ext uri="{FF2B5EF4-FFF2-40B4-BE49-F238E27FC236}">
                <a16:creationId xmlns:a16="http://schemas.microsoft.com/office/drawing/2014/main" id="{478F721D-6143-4DE4-B516-C005E9BE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de prueba</a:t>
            </a:r>
          </a:p>
        </p:txBody>
      </p:sp>
      <p:sp>
        <p:nvSpPr>
          <p:cNvPr id="21" name="U10-DG-038-path_bottom-box">
            <a:extLst xmlns:a="http://schemas.openxmlformats.org/drawingml/2006/main">
              <a:ext uri="{FF2B5EF4-FFF2-40B4-BE49-F238E27FC236}">
                <a16:creationId xmlns:a16="http://schemas.microsoft.com/office/drawing/2014/main" id="{03990DFB-2FFB-45A4-8D1A-BB56A121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38-path_bottom-text">
            <a:extLst xmlns:a="http://schemas.openxmlformats.org/drawingml/2006/main">
              <a:ext uri="{FF2B5EF4-FFF2-40B4-BE49-F238E27FC236}">
                <a16:creationId xmlns:a16="http://schemas.microsoft.com/office/drawing/2014/main" id="{586730CB-9A69-421E-A15F-4141472A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Posible ruta cruzada</a:t>
            </a:r>
          </a:p>
        </p:txBody>
      </p:sp>
      <p:sp>
        <p:nvSpPr>
          <p:cNvPr id="23" name="U10-DG-038-space-box">
            <a:extLst xmlns:a="http://schemas.openxmlformats.org/drawingml/2006/main">
              <a:ext uri="{FF2B5EF4-FFF2-40B4-BE49-F238E27FC236}">
                <a16:creationId xmlns:a16="http://schemas.microsoft.com/office/drawing/2014/main" id="{5DCE03D7-2D33-42DE-BBA4-664E8120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38-space-text">
            <a:extLst xmlns:a="http://schemas.openxmlformats.org/drawingml/2006/main">
              <a:ext uri="{FF2B5EF4-FFF2-40B4-BE49-F238E27FC236}">
                <a16:creationId xmlns:a16="http://schemas.microsoft.com/office/drawing/2014/main" id="{0AAF9839-10E8-4BD7-B2AC-B7AA18D6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no evaluado</a:t>
            </a:r>
          </a:p>
        </p:txBody>
      </p:sp>
      <p:sp>
        <p:nvSpPr>
          <p:cNvPr id="25" name="U10-DG-038-receiver-box">
            <a:extLst xmlns:a="http://schemas.openxmlformats.org/drawingml/2006/main">
              <a:ext uri="{FF2B5EF4-FFF2-40B4-BE49-F238E27FC236}">
                <a16:creationId xmlns:a16="http://schemas.microsoft.com/office/drawing/2014/main" id="{5D68D14C-B526-452C-A2E3-BE390F89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38-receiver-text">
            <a:extLst xmlns:a="http://schemas.openxmlformats.org/drawingml/2006/main">
              <a:ext uri="{FF2B5EF4-FFF2-40B4-BE49-F238E27FC236}">
                <a16:creationId xmlns:a16="http://schemas.microsoft.com/office/drawing/2014/main" id="{CEFE97AF-A8E7-4F19-AFB2-050B53E3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Enmascarante</a:t>
            </a:r>
          </a:p>
        </p:txBody>
      </p:sp>
      <p:sp>
        <p:nvSpPr>
          <p:cNvPr id="27" name="U10-DG-038-condition-box">
            <a:extLst xmlns:a="http://schemas.openxmlformats.org/drawingml/2006/main">
              <a:ext uri="{FF2B5EF4-FFF2-40B4-BE49-F238E27FC236}">
                <a16:creationId xmlns:a16="http://schemas.microsoft.com/office/drawing/2014/main" id="{E4863F7F-3CFE-492B-A1F5-4D592303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38-condition-text">
            <a:extLst xmlns:a="http://schemas.openxmlformats.org/drawingml/2006/main">
              <a:ext uri="{FF2B5EF4-FFF2-40B4-BE49-F238E27FC236}">
                <a16:creationId xmlns:a16="http://schemas.microsoft.com/office/drawing/2014/main" id="{ACB29F2A-BF14-42BE-BE87-A8E0FD1F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controlada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566A5007-B25C-4328-98A3-2DF55FB2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Arquitectura audiométrica conceptual. Oído evaluado; oído no evaluado; transductor; ruta cruzada; enmascarante; respuesta.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0DCDBCB-D44A-461F-8FDA-48899FAC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2821715C-2920-488F-8BD0-C11BA87F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10D83A4-1642-42B1-909D-3E155DD6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B52B563-A4E8-44BC-9775-F2F5926C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732A134-8AF9-4DCB-B419-3FA33B86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6D382-686D-4932-97ED-C4EAA5C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Enmascarar no es proteger el oído</a:t>
            </a:r>
          </a:p>
        </p:txBody>
      </p:sp>
      <p:sp>
        <p:nvSpPr>
          <p:cNvPr id="6" name="U10-DG-039-concept_1-anchor">
            <a:extLst xmlns:a="http://schemas.openxmlformats.org/drawingml/2006/main">
              <a:ext uri="{FF2B5EF4-FFF2-40B4-BE49-F238E27FC236}">
                <a16:creationId xmlns:a16="http://schemas.microsoft.com/office/drawing/2014/main" id="{A8731211-06A0-4573-9419-F8A07B2B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39-concept_2-anchor">
            <a:extLst xmlns:a="http://schemas.openxmlformats.org/drawingml/2006/main">
              <a:ext uri="{FF2B5EF4-FFF2-40B4-BE49-F238E27FC236}">
                <a16:creationId xmlns:a16="http://schemas.microsoft.com/office/drawing/2014/main" id="{FABAB8CD-D9FF-4A7E-B3C5-6FE178BA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39-concept_3-anchor">
            <a:extLst xmlns:a="http://schemas.openxmlformats.org/drawingml/2006/main">
              <a:ext uri="{FF2B5EF4-FFF2-40B4-BE49-F238E27FC236}">
                <a16:creationId xmlns:a16="http://schemas.microsoft.com/office/drawing/2014/main" id="{EC848B11-767F-4CFC-B4DF-DB0AA867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39-concept_4-anchor">
            <a:extLst xmlns:a="http://schemas.openxmlformats.org/drawingml/2006/main">
              <a:ext uri="{FF2B5EF4-FFF2-40B4-BE49-F238E27FC236}">
                <a16:creationId xmlns:a16="http://schemas.microsoft.com/office/drawing/2014/main" id="{1DCCD534-51B7-4000-955A-BA35F854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39-concept_5-anchor">
            <a:extLst xmlns:a="http://schemas.openxmlformats.org/drawingml/2006/main">
              <a:ext uri="{FF2B5EF4-FFF2-40B4-BE49-F238E27FC236}">
                <a16:creationId xmlns:a16="http://schemas.microsoft.com/office/drawing/2014/main" id="{9B21BCA3-2EAE-42AA-8E18-CC66C84D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39-visual-alt" descr="Enmascaramiento vs protección. Propósito perceptual; propósito de exposición; acción; resultado medido. Orden de lectura: Bifurcación “¿qué se intenta cambiar?”. ---">
            <a:extLst xmlns:a="http://schemas.openxmlformats.org/drawingml/2006/main">
              <a:ext uri="{FF2B5EF4-FFF2-40B4-BE49-F238E27FC236}">
                <a16:creationId xmlns:a16="http://schemas.microsoft.com/office/drawing/2014/main" id="{52F59B12-67EB-4DCC-B774-2E87323F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39-concept_1-text">
            <a:extLst xmlns:a="http://schemas.openxmlformats.org/drawingml/2006/main">
              <a:ext uri="{FF2B5EF4-FFF2-40B4-BE49-F238E27FC236}">
                <a16:creationId xmlns:a16="http://schemas.microsoft.com/office/drawing/2014/main" id="{15C2B593-1BD8-4217-A46A-FDBCBAB8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¿Qué se intenta cambiar?</a:t>
            </a:r>
          </a:p>
        </p:txBody>
      </p:sp>
      <p:sp>
        <p:nvSpPr>
          <p:cNvPr id="13" name="U10-DG-039-concept_2-box">
            <a:extLst xmlns:a="http://schemas.openxmlformats.org/drawingml/2006/main">
              <a:ext uri="{FF2B5EF4-FFF2-40B4-BE49-F238E27FC236}">
                <a16:creationId xmlns:a16="http://schemas.microsoft.com/office/drawing/2014/main" id="{95D64D04-844E-4A3A-95DC-C806BB69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39-concept_2-text">
            <a:extLst xmlns:a="http://schemas.openxmlformats.org/drawingml/2006/main">
              <a:ext uri="{FF2B5EF4-FFF2-40B4-BE49-F238E27FC236}">
                <a16:creationId xmlns:a16="http://schemas.microsoft.com/office/drawing/2014/main" id="{CB6E3B7C-F05E-48D6-9B6E-562B2071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Enmascarar: respuesta</a:t>
            </a:r>
          </a:p>
        </p:txBody>
      </p:sp>
      <p:sp>
        <p:nvSpPr>
          <p:cNvPr id="15" name="U10-DG-039-concept_3-box">
            <a:extLst xmlns:a="http://schemas.openxmlformats.org/drawingml/2006/main">
              <a:ext uri="{FF2B5EF4-FFF2-40B4-BE49-F238E27FC236}">
                <a16:creationId xmlns:a16="http://schemas.microsoft.com/office/drawing/2014/main" id="{CC2A3AC5-0B60-4E2D-A1F0-955E0958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39-concept_3-text">
            <a:extLst xmlns:a="http://schemas.openxmlformats.org/drawingml/2006/main">
              <a:ext uri="{FF2B5EF4-FFF2-40B4-BE49-F238E27FC236}">
                <a16:creationId xmlns:a16="http://schemas.microsoft.com/office/drawing/2014/main" id="{A63FF4B8-1DFB-4A5F-9A4C-6E54C8AC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Señal al oído no evaluado</a:t>
            </a:r>
          </a:p>
        </p:txBody>
      </p:sp>
      <p:sp>
        <p:nvSpPr>
          <p:cNvPr id="17" name="U10-DG-039-concept_4-box">
            <a:extLst xmlns:a="http://schemas.openxmlformats.org/drawingml/2006/main">
              <a:ext uri="{FF2B5EF4-FFF2-40B4-BE49-F238E27FC236}">
                <a16:creationId xmlns:a16="http://schemas.microsoft.com/office/drawing/2014/main" id="{8812DB4B-8C82-40E4-9783-0223796E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39-concept_4-text">
            <a:extLst xmlns:a="http://schemas.openxmlformats.org/drawingml/2006/main">
              <a:ext uri="{FF2B5EF4-FFF2-40B4-BE49-F238E27FC236}">
                <a16:creationId xmlns:a16="http://schemas.microsoft.com/office/drawing/2014/main" id="{F8565A5C-808A-439C-8ACC-2D22A655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Protección: exposición</a:t>
            </a:r>
          </a:p>
        </p:txBody>
      </p:sp>
      <p:sp>
        <p:nvSpPr>
          <p:cNvPr id="19" name="U10-DG-039-concept_5-box">
            <a:extLst xmlns:a="http://schemas.openxmlformats.org/drawingml/2006/main">
              <a:ext uri="{FF2B5EF4-FFF2-40B4-BE49-F238E27FC236}">
                <a16:creationId xmlns:a16="http://schemas.microsoft.com/office/drawing/2014/main" id="{EFEA3268-6CD0-40AF-A70C-36E8D2F7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39-concept_5-text">
            <a:extLst xmlns:a="http://schemas.openxmlformats.org/drawingml/2006/main">
              <a:ext uri="{FF2B5EF4-FFF2-40B4-BE49-F238E27FC236}">
                <a16:creationId xmlns:a16="http://schemas.microsoft.com/office/drawing/2014/main" id="{788AC2CA-3954-4B7A-863E-89566091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Reduce energía que llega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C3B49CEE-91D6-4476-851B-F2C3ED35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Enmascaramiento vs protección. Propósito perceptual; propósito de exposición; acción; resultado medido.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E199AF-F775-43AB-983D-54F2B97A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08E11F05-BC82-482B-BADA-F0B2D7A7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1A91794-696E-42E2-9C05-E40CE63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CC521D6-100B-4135-9544-E268FF30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D7DBB6F-6E11-43CA-B534-6F893939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842776-4793-4E28-8893-B82A860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Acufenometría: comparar no es prescribir</a:t>
            </a:r>
          </a:p>
        </p:txBody>
      </p:sp>
      <p:sp>
        <p:nvSpPr>
          <p:cNvPr id="6" name="U10-DG-040-concept_1-anchor">
            <a:extLst xmlns:a="http://schemas.openxmlformats.org/drawingml/2006/main">
              <a:ext uri="{FF2B5EF4-FFF2-40B4-BE49-F238E27FC236}">
                <a16:creationId xmlns:a16="http://schemas.microsoft.com/office/drawing/2014/main" id="{659E9AED-0BCD-4178-9B86-B6443CA8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0-concept_2-anchor">
            <a:extLst xmlns:a="http://schemas.openxmlformats.org/drawingml/2006/main">
              <a:ext uri="{FF2B5EF4-FFF2-40B4-BE49-F238E27FC236}">
                <a16:creationId xmlns:a16="http://schemas.microsoft.com/office/drawing/2014/main" id="{3E895E0C-FE03-434B-B8CF-57390236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0-concept_3-anchor">
            <a:extLst xmlns:a="http://schemas.openxmlformats.org/drawingml/2006/main">
              <a:ext uri="{FF2B5EF4-FFF2-40B4-BE49-F238E27FC236}">
                <a16:creationId xmlns:a16="http://schemas.microsoft.com/office/drawing/2014/main" id="{8F3BB1A4-2690-4CEA-9229-8BEDCEE4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0-concept_4-anchor">
            <a:extLst xmlns:a="http://schemas.openxmlformats.org/drawingml/2006/main">
              <a:ext uri="{FF2B5EF4-FFF2-40B4-BE49-F238E27FC236}">
                <a16:creationId xmlns:a16="http://schemas.microsoft.com/office/drawing/2014/main" id="{69A6D99A-A7E1-4E4B-AAE5-B9B9A0C4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0-concept_5-anchor">
            <a:extLst xmlns:a="http://schemas.openxmlformats.org/drawingml/2006/main">
              <a:ext uri="{FF2B5EF4-FFF2-40B4-BE49-F238E27FC236}">
                <a16:creationId xmlns:a16="http://schemas.microsoft.com/office/drawing/2014/main" id="{2E14C96C-986A-4046-9CEA-FB6CFB60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40-visual-alt" descr="Encuadre prudente de ruido y tinnitus. Percepción; apoyo sonoro; evaluación; evidencia/plan individual. Orden de lectura: “puede integrar”, “no sustituye”. ---">
            <a:extLst xmlns:a="http://schemas.openxmlformats.org/drawingml/2006/main">
              <a:ext uri="{FF2B5EF4-FFF2-40B4-BE49-F238E27FC236}">
                <a16:creationId xmlns:a16="http://schemas.microsoft.com/office/drawing/2014/main" id="{38704962-3435-4673-8989-A65D78F5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40-concept_1-text">
            <a:extLst xmlns:a="http://schemas.openxmlformats.org/drawingml/2006/main">
              <a:ext uri="{FF2B5EF4-FFF2-40B4-BE49-F238E27FC236}">
                <a16:creationId xmlns:a16="http://schemas.microsoft.com/office/drawing/2014/main" id="{2E28B68F-8272-4B84-810C-7E529E64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Percepción de tinnitus</a:t>
            </a:r>
          </a:p>
        </p:txBody>
      </p:sp>
      <p:sp>
        <p:nvSpPr>
          <p:cNvPr id="13" name="U10-DG-040-concept_2-box">
            <a:extLst xmlns:a="http://schemas.openxmlformats.org/drawingml/2006/main">
              <a:ext uri="{FF2B5EF4-FFF2-40B4-BE49-F238E27FC236}">
                <a16:creationId xmlns:a16="http://schemas.microsoft.com/office/drawing/2014/main" id="{796D2FCB-A300-4A6D-92EC-CC96D396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40-concept_2-text">
            <a:extLst xmlns:a="http://schemas.openxmlformats.org/drawingml/2006/main">
              <a:ext uri="{FF2B5EF4-FFF2-40B4-BE49-F238E27FC236}">
                <a16:creationId xmlns:a16="http://schemas.microsoft.com/office/drawing/2014/main" id="{A2A22924-B823-4587-9E26-1ADEF9BA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Evaluación clínica</a:t>
            </a:r>
          </a:p>
        </p:txBody>
      </p:sp>
      <p:sp>
        <p:nvSpPr>
          <p:cNvPr id="15" name="U10-DG-040-concept_3-box">
            <a:extLst xmlns:a="http://schemas.openxmlformats.org/drawingml/2006/main">
              <a:ext uri="{FF2B5EF4-FFF2-40B4-BE49-F238E27FC236}">
                <a16:creationId xmlns:a16="http://schemas.microsoft.com/office/drawing/2014/main" id="{8E0B9939-5FAE-4868-91AB-FA97EA33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40-concept_3-text">
            <a:extLst xmlns:a="http://schemas.openxmlformats.org/drawingml/2006/main">
              <a:ext uri="{FF2B5EF4-FFF2-40B4-BE49-F238E27FC236}">
                <a16:creationId xmlns:a16="http://schemas.microsoft.com/office/drawing/2014/main" id="{F1E6FDF8-9627-4211-81F0-AE54FC9A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Apoyo sonoro posible</a:t>
            </a:r>
          </a:p>
        </p:txBody>
      </p:sp>
      <p:sp>
        <p:nvSpPr>
          <p:cNvPr id="17" name="U10-DG-040-concept_4-box">
            <a:extLst xmlns:a="http://schemas.openxmlformats.org/drawingml/2006/main">
              <a:ext uri="{FF2B5EF4-FFF2-40B4-BE49-F238E27FC236}">
                <a16:creationId xmlns:a16="http://schemas.microsoft.com/office/drawing/2014/main" id="{66738728-544A-4EE6-A023-612359E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40-concept_4-text">
            <a:extLst xmlns:a="http://schemas.openxmlformats.org/drawingml/2006/main">
              <a:ext uri="{FF2B5EF4-FFF2-40B4-BE49-F238E27FC236}">
                <a16:creationId xmlns:a16="http://schemas.microsoft.com/office/drawing/2014/main" id="{B0012CA5-A94A-4AFA-A0A2-54BCB44E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Plan individual y evidencia</a:t>
            </a:r>
          </a:p>
        </p:txBody>
      </p:sp>
      <p:sp>
        <p:nvSpPr>
          <p:cNvPr id="19" name="U10-DG-040-concept_5-box">
            <a:extLst xmlns:a="http://schemas.openxmlformats.org/drawingml/2006/main">
              <a:ext uri="{FF2B5EF4-FFF2-40B4-BE49-F238E27FC236}">
                <a16:creationId xmlns:a16="http://schemas.microsoft.com/office/drawing/2014/main" id="{DC9AE266-866A-4BFE-843D-FF37214A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40-concept_5-text">
            <a:extLst xmlns:a="http://schemas.openxmlformats.org/drawingml/2006/main">
              <a:ext uri="{FF2B5EF4-FFF2-40B4-BE49-F238E27FC236}">
                <a16:creationId xmlns:a16="http://schemas.microsoft.com/office/drawing/2014/main" id="{BBDE4408-568D-4823-A353-DD37F513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No prescribe ruido ni nivel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9847EF62-6258-4A78-B625-B8AD1422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Encuadre prudente de ruido y tinnitus. Percepción; apoyo sonoro; evaluación; evidencia/plan individual.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94768C-6937-4D83-96ED-574A8456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1EE789FD-7204-4BC6-8EC6-AAA44A43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477AD98-4A32-4126-A7ED-0E9A80DF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FEF15AF5-3A5A-4DF8-ADED-154AA480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323E40B-37E1-48F3-98D2-277F1880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CEA407-C1E0-4EC4-9D35-523CFE14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Función clara; protocolo pendiente</a:t>
            </a:r>
          </a:p>
        </p:txBody>
      </p:sp>
      <p:sp>
        <p:nvSpPr>
          <p:cNvPr id="6" name="U10-DG-041-step_1-anchor">
            <a:extLst xmlns:a="http://schemas.openxmlformats.org/drawingml/2006/main">
              <a:ext uri="{FF2B5EF4-FFF2-40B4-BE49-F238E27FC236}">
                <a16:creationId xmlns:a16="http://schemas.microsoft.com/office/drawing/2014/main" id="{BE651206-5D34-4C64-BD57-C11470F8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1-step_2-anchor">
            <a:extLst xmlns:a="http://schemas.openxmlformats.org/drawingml/2006/main">
              <a:ext uri="{FF2B5EF4-FFF2-40B4-BE49-F238E27FC236}">
                <a16:creationId xmlns:a16="http://schemas.microsoft.com/office/drawing/2014/main" id="{6D6A13F3-1081-4E28-A7F7-AB6A736F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1-step_3-anchor">
            <a:extLst xmlns:a="http://schemas.openxmlformats.org/drawingml/2006/main">
              <a:ext uri="{FF2B5EF4-FFF2-40B4-BE49-F238E27FC236}">
                <a16:creationId xmlns:a16="http://schemas.microsoft.com/office/drawing/2014/main" id="{67A1BFDC-70A5-481C-8146-B949B44A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1-step_4-anchor">
            <a:extLst xmlns:a="http://schemas.openxmlformats.org/drawingml/2006/main">
              <a:ext uri="{FF2B5EF4-FFF2-40B4-BE49-F238E27FC236}">
                <a16:creationId xmlns:a16="http://schemas.microsoft.com/office/drawing/2014/main" id="{11F889DA-A0B2-4BCD-857A-347A7A2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1-step_5-anchor">
            <a:extLst xmlns:a="http://schemas.openxmlformats.org/drawingml/2006/main">
              <a:ext uri="{FF2B5EF4-FFF2-40B4-BE49-F238E27FC236}">
                <a16:creationId xmlns:a16="http://schemas.microsoft.com/office/drawing/2014/main" id="{A2AE3E3C-6894-4A9A-A255-B4173FAA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41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41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41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41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41-visual-alt" descr="Recap de función y frontera. Señal; ruta; control; respuesta; caja “protocolo requerido”. Orden de lectura: Cadena y ramal de límite. ---">
            <a:extLst xmlns:a="http://schemas.openxmlformats.org/drawingml/2006/main">
              <a:ext uri="{FF2B5EF4-FFF2-40B4-BE49-F238E27FC236}">
                <a16:creationId xmlns:a16="http://schemas.microsoft.com/office/drawing/2014/main" id="{FF545ABF-DA1A-4B0C-80D0-E0CDA48A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41-step_1-text">
            <a:extLst xmlns:a="http://schemas.openxmlformats.org/drawingml/2006/main">
              <a:ext uri="{FF2B5EF4-FFF2-40B4-BE49-F238E27FC236}">
                <a16:creationId xmlns:a16="http://schemas.microsoft.com/office/drawing/2014/main" id="{FD630300-49FC-4DD3-AEE7-35FF9BA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Señal de prueba</a:t>
            </a:r>
          </a:p>
        </p:txBody>
      </p:sp>
      <p:sp>
        <p:nvSpPr>
          <p:cNvPr id="17" name="U10-DG-041-step_2-box">
            <a:extLst xmlns:a="http://schemas.openxmlformats.org/drawingml/2006/main">
              <a:ext uri="{FF2B5EF4-FFF2-40B4-BE49-F238E27FC236}">
                <a16:creationId xmlns:a16="http://schemas.microsoft.com/office/drawing/2014/main" id="{570FB668-34F8-4FB8-9E68-B5D443FB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41-step_2-text">
            <a:extLst xmlns:a="http://schemas.openxmlformats.org/drawingml/2006/main">
              <a:ext uri="{FF2B5EF4-FFF2-40B4-BE49-F238E27FC236}">
                <a16:creationId xmlns:a16="http://schemas.microsoft.com/office/drawing/2014/main" id="{C32AE954-A883-4695-A0B4-A6144F71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Ruta posible</a:t>
            </a:r>
          </a:p>
        </p:txBody>
      </p:sp>
      <p:sp>
        <p:nvSpPr>
          <p:cNvPr id="19" name="U10-DG-041-step_3-box">
            <a:extLst xmlns:a="http://schemas.openxmlformats.org/drawingml/2006/main">
              <a:ext uri="{FF2B5EF4-FFF2-40B4-BE49-F238E27FC236}">
                <a16:creationId xmlns:a16="http://schemas.microsoft.com/office/drawing/2014/main" id="{89132017-971F-40A4-8EB5-81A61700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41-step_3-text">
            <a:extLst xmlns:a="http://schemas.openxmlformats.org/drawingml/2006/main">
              <a:ext uri="{FF2B5EF4-FFF2-40B4-BE49-F238E27FC236}">
                <a16:creationId xmlns:a16="http://schemas.microsoft.com/office/drawing/2014/main" id="{D4EFD4C1-619E-4FCD-9A5E-BD5895E6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Control: enmascarar</a:t>
            </a:r>
          </a:p>
        </p:txBody>
      </p:sp>
      <p:sp>
        <p:nvSpPr>
          <p:cNvPr id="21" name="U10-DG-041-step_4-box">
            <a:extLst xmlns:a="http://schemas.openxmlformats.org/drawingml/2006/main">
              <a:ext uri="{FF2B5EF4-FFF2-40B4-BE49-F238E27FC236}">
                <a16:creationId xmlns:a16="http://schemas.microsoft.com/office/drawing/2014/main" id="{B83374F8-E370-470D-B165-34BB0A11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41-step_4-text">
            <a:extLst xmlns:a="http://schemas.openxmlformats.org/drawingml/2006/main">
              <a:ext uri="{FF2B5EF4-FFF2-40B4-BE49-F238E27FC236}">
                <a16:creationId xmlns:a16="http://schemas.microsoft.com/office/drawing/2014/main" id="{EEFF2820-716A-4DC0-8155-89CAC377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Respuesta</a:t>
            </a:r>
          </a:p>
        </p:txBody>
      </p:sp>
      <p:sp>
        <p:nvSpPr>
          <p:cNvPr id="23" name="U10-DG-041-step_5-box">
            <a:extLst xmlns:a="http://schemas.openxmlformats.org/drawingml/2006/main">
              <a:ext uri="{FF2B5EF4-FFF2-40B4-BE49-F238E27FC236}">
                <a16:creationId xmlns:a16="http://schemas.microsoft.com/office/drawing/2014/main" id="{5767E18D-B4F6-4E2D-A5B5-B4960CC6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41-step_5-text">
            <a:extLst xmlns:a="http://schemas.openxmlformats.org/drawingml/2006/main">
              <a:ext uri="{FF2B5EF4-FFF2-40B4-BE49-F238E27FC236}">
                <a16:creationId xmlns:a16="http://schemas.microsoft.com/office/drawing/2014/main" id="{67416634-FD21-44AA-AED7-A03BDEDA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Protocolo requerido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648A817E-5C94-4356-AD27-22E04274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Recap de función y frontera. Señal; ruta; control; respuesta; caja “protocolo requerido”.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B91ECD7-A7DE-4902-AFF3-03812166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EAE9892A-432D-4F66-8FF7-D605A83F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7187FD91-6127-45C6-B415-3B41FDF1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¿Qué puede medirse, qué puede inferirse y dónde conviene actuar?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E74DC265-382E-4E2A-8DEA-F6E04A9C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guía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B4E0FA-C9F2-44FE-ACD9-6729E2DD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-1">
            <a:extLst xmlns:a="http://schemas.openxmlformats.org/drawingml/2006/main">
              <a:ext uri="{FF2B5EF4-FFF2-40B4-BE49-F238E27FC236}">
                <a16:creationId xmlns:a16="http://schemas.microsoft.com/office/drawing/2014/main" id="{D405EF9C-E407-425B-A1C7-80F903CC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8E6D937F-137E-4697-A4A7-3287A233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891D04B-1E1C-4C13-A2AB-C18ECBFF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FF93A8E-7729-45D8-B103-1E736AB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2B3E98-6E0C-4B62-BC49-26B8F63B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Exposición, resultado funcional y salud no son la misma afirmación</a:t>
            </a:r>
          </a:p>
        </p:txBody>
      </p:sp>
      <p:sp>
        <p:nvSpPr>
          <p:cNvPr id="6" name="U10-DG-042-compare_1-anchor">
            <a:extLst xmlns:a="http://schemas.openxmlformats.org/drawingml/2006/main">
              <a:ext uri="{FF2B5EF4-FFF2-40B4-BE49-F238E27FC236}">
                <a16:creationId xmlns:a16="http://schemas.microsoft.com/office/drawing/2014/main" id="{73A572AC-83AE-4CF4-B2E7-C1E66CCC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2-compare_2-anchor">
            <a:extLst xmlns:a="http://schemas.openxmlformats.org/drawingml/2006/main">
              <a:ext uri="{FF2B5EF4-FFF2-40B4-BE49-F238E27FC236}">
                <a16:creationId xmlns:a16="http://schemas.microsoft.com/office/drawing/2014/main" id="{1C4DDF6D-A6F4-4A1E-96F6-5B449A6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2-compare_3-anchor">
            <a:extLst xmlns:a="http://schemas.openxmlformats.org/drawingml/2006/main">
              <a:ext uri="{FF2B5EF4-FFF2-40B4-BE49-F238E27FC236}">
                <a16:creationId xmlns:a16="http://schemas.microsoft.com/office/drawing/2014/main" id="{79711678-17DE-42CB-AF59-0B2C5BAD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2-compare_4-anchor">
            <a:extLst xmlns:a="http://schemas.openxmlformats.org/drawingml/2006/main">
              <a:ext uri="{FF2B5EF4-FFF2-40B4-BE49-F238E27FC236}">
                <a16:creationId xmlns:a16="http://schemas.microsoft.com/office/drawing/2014/main" id="{AE36F57F-548B-42F5-B944-91761178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2-visual-alt" descr="Tres planos de análisis. Exposición; resultado funcional; salud/diagnóstico; evidencia requerida. Orden de lectura: “informa”, no “determina”. ---">
            <a:extLst xmlns:a="http://schemas.openxmlformats.org/drawingml/2006/main">
              <a:ext uri="{FF2B5EF4-FFF2-40B4-BE49-F238E27FC236}">
                <a16:creationId xmlns:a16="http://schemas.microsoft.com/office/drawing/2014/main" id="{6D3A7DE3-4426-44C9-A3A7-C696C0F9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1" name="U10-DG-042-compare_1-text">
            <a:extLst xmlns:a="http://schemas.openxmlformats.org/drawingml/2006/main">
              <a:ext uri="{FF2B5EF4-FFF2-40B4-BE49-F238E27FC236}">
                <a16:creationId xmlns:a16="http://schemas.microsoft.com/office/drawing/2014/main" id="{2EDA6C32-26B4-46A7-B70D-6AF3C7F8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Exposición · medición física</a:t>
            </a:r>
          </a:p>
        </p:txBody>
      </p:sp>
      <p:sp>
        <p:nvSpPr>
          <p:cNvPr id="12" name="U10-DG-042-compare_2-box">
            <a:extLst xmlns:a="http://schemas.openxmlformats.org/drawingml/2006/main">
              <a:ext uri="{FF2B5EF4-FFF2-40B4-BE49-F238E27FC236}">
                <a16:creationId xmlns:a16="http://schemas.microsoft.com/office/drawing/2014/main" id="{AD4A204B-76CC-4D1A-B035-FB5F3EC3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3" name="U10-DG-042-compare_2-text">
            <a:extLst xmlns:a="http://schemas.openxmlformats.org/drawingml/2006/main">
              <a:ext uri="{FF2B5EF4-FFF2-40B4-BE49-F238E27FC236}">
                <a16:creationId xmlns:a16="http://schemas.microsoft.com/office/drawing/2014/main" id="{EC48A777-0DB8-4EBE-B1ED-E107B182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Resultado funcional · prueba</a:t>
            </a:r>
          </a:p>
        </p:txBody>
      </p:sp>
      <p:sp>
        <p:nvSpPr>
          <p:cNvPr id="14" name="U10-DG-042-compare_3-box">
            <a:extLst xmlns:a="http://schemas.openxmlformats.org/drawingml/2006/main">
              <a:ext uri="{FF2B5EF4-FFF2-40B4-BE49-F238E27FC236}">
                <a16:creationId xmlns:a16="http://schemas.microsoft.com/office/drawing/2014/main" id="{EBA91412-AC5C-4F85-A4B1-A6FCEDCC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5" name="U10-DG-042-compare_3-text">
            <a:extLst xmlns:a="http://schemas.openxmlformats.org/drawingml/2006/main">
              <a:ext uri="{FF2B5EF4-FFF2-40B4-BE49-F238E27FC236}">
                <a16:creationId xmlns:a16="http://schemas.microsoft.com/office/drawing/2014/main" id="{398A048E-D56A-423F-937C-1EC3EB55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Salud / diagnóstico · evaluación</a:t>
            </a:r>
          </a:p>
        </p:txBody>
      </p:sp>
      <p:sp>
        <p:nvSpPr>
          <p:cNvPr id="16" name="U10-DG-042-compare_4-box">
            <a:extLst xmlns:a="http://schemas.openxmlformats.org/drawingml/2006/main">
              <a:ext uri="{FF2B5EF4-FFF2-40B4-BE49-F238E27FC236}">
                <a16:creationId xmlns:a16="http://schemas.microsoft.com/office/drawing/2014/main" id="{9E0FB0FC-8B22-44F6-8FA8-348F7390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238119"/>
            <a:ext cx="4469130" cy="1327785"/>
          </a:xfrm>
          <a:prstGeom xmlns:a="http://schemas.openxmlformats.org/drawingml/2006/main" prst="roundRect">
            <a:avLst>
              <a:gd name="adj" fmla="val 50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7" name="U10-DG-042-compare_4-text">
            <a:extLst xmlns:a="http://schemas.openxmlformats.org/drawingml/2006/main">
              <a:ext uri="{FF2B5EF4-FFF2-40B4-BE49-F238E27FC236}">
                <a16:creationId xmlns:a16="http://schemas.microsoft.com/office/drawing/2014/main" id="{602DD3B8-0509-43E9-A65B-797D789B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361944"/>
            <a:ext cx="4126230" cy="1080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Una medición informa; no determina</a:t>
            </a:r>
          </a:p>
        </p:txBody>
      </p:sp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CF037505-F5AB-42AB-9F6B-9B8EA26A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Tres planos de análisis. Exposición; resultado funcional; salud/diagnóstico; evidencia requerida.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CCD9B38-0840-4F44-8360-6FFA0FE5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DECCE7B5-842E-460F-94C4-3C05D536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45D2145F-BD49-493C-B0E9-E0BCCFDE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8E5F8CE7-53CA-4998-8835-A8969C76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4E479CF-60B8-4A95-8525-81BFD93D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D5AEE9-9573-4DEF-9A07-B33AB008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medición aislada no establece diagnóstico ni causalidad individual</a:t>
            </a:r>
          </a:p>
        </p:txBody>
      </p:sp>
      <p:sp>
        <p:nvSpPr>
          <p:cNvPr id="6" name="U10-DG-043-concept_1-anchor">
            <a:extLst xmlns:a="http://schemas.openxmlformats.org/drawingml/2006/main">
              <a:ext uri="{FF2B5EF4-FFF2-40B4-BE49-F238E27FC236}">
                <a16:creationId xmlns:a16="http://schemas.microsoft.com/office/drawing/2014/main" id="{BA18E62B-5CAB-48BD-AE7D-83ECBD5A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3-concept_2-anchor">
            <a:extLst xmlns:a="http://schemas.openxmlformats.org/drawingml/2006/main">
              <a:ext uri="{FF2B5EF4-FFF2-40B4-BE49-F238E27FC236}">
                <a16:creationId xmlns:a16="http://schemas.microsoft.com/office/drawing/2014/main" id="{DED3156A-351F-4020-92A5-FD3636E7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3-concept_3-anchor">
            <a:extLst xmlns:a="http://schemas.openxmlformats.org/drawingml/2006/main">
              <a:ext uri="{FF2B5EF4-FFF2-40B4-BE49-F238E27FC236}">
                <a16:creationId xmlns:a16="http://schemas.microsoft.com/office/drawing/2014/main" id="{252FA067-9DB6-4A14-A114-ADE313FE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3-concept_4-anchor">
            <a:extLst xmlns:a="http://schemas.openxmlformats.org/drawingml/2006/main">
              <a:ext uri="{FF2B5EF4-FFF2-40B4-BE49-F238E27FC236}">
                <a16:creationId xmlns:a16="http://schemas.microsoft.com/office/drawing/2014/main" id="{D55CE9E9-47DC-4181-A1E2-AF7C4EF3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3-concept_5-anchor">
            <a:extLst xmlns:a="http://schemas.openxmlformats.org/drawingml/2006/main">
              <a:ext uri="{FF2B5EF4-FFF2-40B4-BE49-F238E27FC236}">
                <a16:creationId xmlns:a16="http://schemas.microsoft.com/office/drawing/2014/main" id="{5563E3A2-BB09-42A2-A9E7-F96B9154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43-concept_6-anchor">
            <a:extLst xmlns:a="http://schemas.openxmlformats.org/drawingml/2006/main">
              <a:ext uri="{FF2B5EF4-FFF2-40B4-BE49-F238E27FC236}">
                <a16:creationId xmlns:a16="http://schemas.microsoft.com/office/drawing/2014/main" id="{4398C95E-078F-44B9-A1A7-FB7C7B2C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43-visual-alt" descr="Límite causal individual. Medición; historia de exposición; función; evaluación clínica; variables mediadoras. Orden de lectura: “contribuye a”, “requiere”. ---">
            <a:extLst xmlns:a="http://schemas.openxmlformats.org/drawingml/2006/main">
              <a:ext uri="{FF2B5EF4-FFF2-40B4-BE49-F238E27FC236}">
                <a16:creationId xmlns:a16="http://schemas.microsoft.com/office/drawing/2014/main" id="{14E26146-C2E9-44EC-AE98-01CAFF97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43-concept_1-text">
            <a:extLst xmlns:a="http://schemas.openxmlformats.org/drawingml/2006/main">
              <a:ext uri="{FF2B5EF4-FFF2-40B4-BE49-F238E27FC236}">
                <a16:creationId xmlns:a16="http://schemas.microsoft.com/office/drawing/2014/main" id="{E3613973-98CB-4F50-B30C-E32021C6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14" name="U10-DG-043-concept_2-box">
            <a:extLst xmlns:a="http://schemas.openxmlformats.org/drawingml/2006/main">
              <a:ext uri="{FF2B5EF4-FFF2-40B4-BE49-F238E27FC236}">
                <a16:creationId xmlns:a16="http://schemas.microsoft.com/office/drawing/2014/main" id="{0BF41BB8-401D-4574-ADFD-4705A1AD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5" name="U10-DG-043-concept_2-text">
            <a:extLst xmlns:a="http://schemas.openxmlformats.org/drawingml/2006/main">
              <a:ext uri="{FF2B5EF4-FFF2-40B4-BE49-F238E27FC236}">
                <a16:creationId xmlns:a16="http://schemas.microsoft.com/office/drawing/2014/main" id="{236D722F-D1A4-40AB-BA7F-555932F5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Historia de exposición</a:t>
            </a:r>
          </a:p>
        </p:txBody>
      </p:sp>
      <p:sp>
        <p:nvSpPr>
          <p:cNvPr id="16" name="U10-DG-043-concept_3-box">
            <a:extLst xmlns:a="http://schemas.openxmlformats.org/drawingml/2006/main">
              <a:ext uri="{FF2B5EF4-FFF2-40B4-BE49-F238E27FC236}">
                <a16:creationId xmlns:a16="http://schemas.microsoft.com/office/drawing/2014/main" id="{3E73C673-1750-42C9-B6E0-81A4A446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43-concept_3-text">
            <a:extLst xmlns:a="http://schemas.openxmlformats.org/drawingml/2006/main">
              <a:ext uri="{FF2B5EF4-FFF2-40B4-BE49-F238E27FC236}">
                <a16:creationId xmlns:a16="http://schemas.microsoft.com/office/drawing/2014/main" id="{407FE2F5-22B2-47F5-90DF-A2D05EE8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Función</a:t>
            </a:r>
          </a:p>
        </p:txBody>
      </p:sp>
      <p:sp>
        <p:nvSpPr>
          <p:cNvPr id="18" name="U10-DG-043-concept_4-box">
            <a:extLst xmlns:a="http://schemas.openxmlformats.org/drawingml/2006/main">
              <a:ext uri="{FF2B5EF4-FFF2-40B4-BE49-F238E27FC236}">
                <a16:creationId xmlns:a16="http://schemas.microsoft.com/office/drawing/2014/main" id="{B41D9BBC-28EC-4DF2-BB58-FA70E3B8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9" name="U10-DG-043-concept_4-text">
            <a:extLst xmlns:a="http://schemas.openxmlformats.org/drawingml/2006/main">
              <a:ext uri="{FF2B5EF4-FFF2-40B4-BE49-F238E27FC236}">
                <a16:creationId xmlns:a16="http://schemas.microsoft.com/office/drawing/2014/main" id="{C315B0E1-7E8F-481D-AFF9-2BB6EA9D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Evaluación clínica</a:t>
            </a:r>
          </a:p>
        </p:txBody>
      </p:sp>
      <p:sp>
        <p:nvSpPr>
          <p:cNvPr id="20" name="U10-DG-043-concept_5-box">
            <a:extLst xmlns:a="http://schemas.openxmlformats.org/drawingml/2006/main">
              <a:ext uri="{FF2B5EF4-FFF2-40B4-BE49-F238E27FC236}">
                <a16:creationId xmlns:a16="http://schemas.microsoft.com/office/drawing/2014/main" id="{25FD05EB-5709-47A6-BCC1-A5FE9D25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43-concept_5-text">
            <a:extLst xmlns:a="http://schemas.openxmlformats.org/drawingml/2006/main">
              <a:ext uri="{FF2B5EF4-FFF2-40B4-BE49-F238E27FC236}">
                <a16:creationId xmlns:a16="http://schemas.microsoft.com/office/drawing/2014/main" id="{87B16D84-9DD0-4396-B1B7-6CD7829E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Variables mediadoras</a:t>
            </a:r>
          </a:p>
        </p:txBody>
      </p:sp>
      <p:sp>
        <p:nvSpPr>
          <p:cNvPr id="22" name="U10-DG-043-concept_6-box">
            <a:extLst xmlns:a="http://schemas.openxmlformats.org/drawingml/2006/main">
              <a:ext uri="{FF2B5EF4-FFF2-40B4-BE49-F238E27FC236}">
                <a16:creationId xmlns:a16="http://schemas.microsoft.com/office/drawing/2014/main" id="{88B80092-98D9-458E-B763-98479D36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3" name="U10-DG-043-concept_6-text">
            <a:extLst xmlns:a="http://schemas.openxmlformats.org/drawingml/2006/main">
              <a:ext uri="{FF2B5EF4-FFF2-40B4-BE49-F238E27FC236}">
                <a16:creationId xmlns:a16="http://schemas.microsoft.com/office/drawing/2014/main" id="{17293208-7231-4F0D-83DA-BAE416D7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Conclusión acotada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397CEC26-A95D-4013-8499-522ED248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Límite causal individual. Medición; historia de exposición; función; evaluación clínica; variables mediadoras.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22976E3-F932-415B-BD4E-AE30F6C1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95087370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-1">
            <a:extLst xmlns:a="http://schemas.openxmlformats.org/drawingml/2006/main">
              <a:ext uri="{FF2B5EF4-FFF2-40B4-BE49-F238E27FC236}">
                <a16:creationId xmlns:a16="http://schemas.microsoft.com/office/drawing/2014/main" id="{7605A6E9-3C53-4734-AF99-396A9D31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98DC611-BFDA-451C-A27E-945E8E7E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A6EA174-8776-40FE-93BF-F1881D73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C572E65-BA17-4C0B-9F82-FCF3CD07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6125F9-90F6-49CB-9390-31C8E60F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325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Norma de medición, guía sanitaria y criterio legal responden preguntas distintas</a:t>
            </a:r>
          </a:p>
        </p:txBody>
      </p:sp>
      <p:sp>
        <p:nvSpPr>
          <p:cNvPr id="6" name="U10-068-claim-alt" descr="Recurso visual previsto: Tabla nativa; U10-AS-008 reservado a miniaturas de documentos solo tras verificar edición y licencia. ---">
            <a:extLst xmlns:a="http://schemas.openxmlformats.org/drawingml/2006/main">
              <a:ext uri="{FF2B5EF4-FFF2-40B4-BE49-F238E27FC236}">
                <a16:creationId xmlns:a16="http://schemas.microsoft.com/office/drawing/2014/main" id="{CEBB29B5-B6CF-4394-9977-96ABD5B9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7" name="U10-068-cell-text-0-0">
            <a:extLst xmlns:a="http://schemas.openxmlformats.org/drawingml/2006/main">
              <a:ext uri="{FF2B5EF4-FFF2-40B4-BE49-F238E27FC236}">
                <a16:creationId xmlns:a16="http://schemas.microsoft.com/office/drawing/2014/main" id="{1DCD496B-90B4-454C-BE21-9C576E55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Documento</a:t>
            </a:r>
          </a:p>
        </p:txBody>
      </p:sp>
      <p:sp>
        <p:nvSpPr>
          <p:cNvPr id="8" name="U10-068-cell-0-1">
            <a:extLst xmlns:a="http://schemas.openxmlformats.org/drawingml/2006/main">
              <a:ext uri="{FF2B5EF4-FFF2-40B4-BE49-F238E27FC236}">
                <a16:creationId xmlns:a16="http://schemas.microsoft.com/office/drawing/2014/main" id="{571E46D0-6635-44EC-9D78-1FD83CF3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71625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9" name="U10-068-cell-text-0-1">
            <a:extLst xmlns:a="http://schemas.openxmlformats.org/drawingml/2006/main">
              <a:ext uri="{FF2B5EF4-FFF2-40B4-BE49-F238E27FC236}">
                <a16:creationId xmlns:a16="http://schemas.microsoft.com/office/drawing/2014/main" id="{B0AA57FF-110A-4CB4-8FCB-CCC98CE3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619250"/>
            <a:ext cx="327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Pregunta principal</a:t>
            </a:r>
          </a:p>
        </p:txBody>
      </p:sp>
      <p:sp>
        <p:nvSpPr>
          <p:cNvPr id="10" name="U10-068-cell-0-2">
            <a:extLst xmlns:a="http://schemas.openxmlformats.org/drawingml/2006/main">
              <a:ext uri="{FF2B5EF4-FFF2-40B4-BE49-F238E27FC236}">
                <a16:creationId xmlns:a16="http://schemas.microsoft.com/office/drawing/2014/main" id="{A34C6B77-1507-45BD-AD45-59BB4EB4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1" name="U10-068-cell-text-0-2">
            <a:extLst xmlns:a="http://schemas.openxmlformats.org/drawingml/2006/main">
              <a:ext uri="{FF2B5EF4-FFF2-40B4-BE49-F238E27FC236}">
                <a16:creationId xmlns:a16="http://schemas.microsoft.com/office/drawing/2014/main" id="{F4C0D486-1F6F-4337-BAB3-CC2FF8F4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19250"/>
            <a:ext cx="4991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Metadatos imprescindibles</a:t>
            </a:r>
          </a:p>
        </p:txBody>
      </p:sp>
      <p:sp>
        <p:nvSpPr>
          <p:cNvPr id="12" name="U10-068-cell-1-0">
            <a:extLst xmlns:a="http://schemas.openxmlformats.org/drawingml/2006/main">
              <a:ext uri="{FF2B5EF4-FFF2-40B4-BE49-F238E27FC236}">
                <a16:creationId xmlns:a16="http://schemas.microsoft.com/office/drawing/2014/main" id="{86873C3C-4D5F-41DF-8211-E9CB70C9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1457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3" name="U10-068-cell-text-1-0">
            <a:extLst xmlns:a="http://schemas.openxmlformats.org/drawingml/2006/main">
              <a:ext uri="{FF2B5EF4-FFF2-40B4-BE49-F238E27FC236}">
                <a16:creationId xmlns:a16="http://schemas.microsoft.com/office/drawing/2014/main" id="{D83B77E4-B806-4BE2-BD50-3D6D0A7C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6220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Norma de medición</a:t>
            </a:r>
          </a:p>
        </p:txBody>
      </p:sp>
      <p:sp>
        <p:nvSpPr>
          <p:cNvPr id="14" name="U10-068-cell-1-1">
            <a:extLst xmlns:a="http://schemas.openxmlformats.org/drawingml/2006/main">
              <a:ext uri="{FF2B5EF4-FFF2-40B4-BE49-F238E27FC236}">
                <a16:creationId xmlns:a16="http://schemas.microsoft.com/office/drawing/2014/main" id="{4C583431-A481-42FE-BC86-7F90CE86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14575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5" name="U10-068-cell-text-1-1">
            <a:extLst xmlns:a="http://schemas.openxmlformats.org/drawingml/2006/main">
              <a:ext uri="{FF2B5EF4-FFF2-40B4-BE49-F238E27FC236}">
                <a16:creationId xmlns:a16="http://schemas.microsoft.com/office/drawing/2014/main" id="{D684D915-4BC7-4BEF-A592-12ECCA6C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62200"/>
            <a:ext cx="327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¿cómo medir y reportar?</a:t>
            </a:r>
          </a:p>
        </p:txBody>
      </p:sp>
      <p:sp>
        <p:nvSpPr>
          <p:cNvPr id="16" name="U10-068-cell-1-2">
            <a:extLst xmlns:a="http://schemas.openxmlformats.org/drawingml/2006/main">
              <a:ext uri="{FF2B5EF4-FFF2-40B4-BE49-F238E27FC236}">
                <a16:creationId xmlns:a16="http://schemas.microsoft.com/office/drawing/2014/main" id="{64820FA9-CAC5-46C5-9F30-532828E4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14575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7" name="U10-068-cell-text-1-2">
            <a:extLst xmlns:a="http://schemas.openxmlformats.org/drawingml/2006/main">
              <a:ext uri="{FF2B5EF4-FFF2-40B4-BE49-F238E27FC236}">
                <a16:creationId xmlns:a16="http://schemas.microsoft.com/office/drawing/2014/main" id="{28D55BFE-4625-4208-9139-7FB585E5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62200"/>
            <a:ext cx="4991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número, edición, instrumento y procedimiento</a:t>
            </a:r>
          </a:p>
        </p:txBody>
      </p:sp>
      <p:sp>
        <p:nvSpPr>
          <p:cNvPr id="18" name="U10-068-cell-2-0">
            <a:extLst xmlns:a="http://schemas.openxmlformats.org/drawingml/2006/main">
              <a:ext uri="{FF2B5EF4-FFF2-40B4-BE49-F238E27FC236}">
                <a16:creationId xmlns:a16="http://schemas.microsoft.com/office/drawing/2014/main" id="{FBAB881E-9AE6-4A8E-82F2-35CD7600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5752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9" name="U10-068-cell-text-2-0">
            <a:extLst xmlns:a="http://schemas.openxmlformats.org/drawingml/2006/main">
              <a:ext uri="{FF2B5EF4-FFF2-40B4-BE49-F238E27FC236}">
                <a16:creationId xmlns:a16="http://schemas.microsoft.com/office/drawing/2014/main" id="{FB9001B1-52F1-4352-81CC-839FA0A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515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Guía sanitaria</a:t>
            </a:r>
          </a:p>
        </p:txBody>
      </p:sp>
      <p:sp>
        <p:nvSpPr>
          <p:cNvPr id="20" name="U10-068-cell-2-1">
            <a:extLst xmlns:a="http://schemas.openxmlformats.org/drawingml/2006/main">
              <a:ext uri="{FF2B5EF4-FFF2-40B4-BE49-F238E27FC236}">
                <a16:creationId xmlns:a16="http://schemas.microsoft.com/office/drawing/2014/main" id="{E4A79166-BF2F-4328-8F65-7DD98C73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57525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1" name="U10-068-cell-text-2-1">
            <a:extLst xmlns:a="http://schemas.openxmlformats.org/drawingml/2006/main">
              <a:ext uri="{FF2B5EF4-FFF2-40B4-BE49-F238E27FC236}">
                <a16:creationId xmlns:a16="http://schemas.microsoft.com/office/drawing/2014/main" id="{B566B049-8819-4052-BFA1-3BCE1DA6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05150"/>
            <a:ext cx="327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efectos o recomendaciones considera?</a:t>
            </a:r>
          </a:p>
        </p:txBody>
      </p:sp>
      <p:sp>
        <p:nvSpPr>
          <p:cNvPr id="22" name="U10-068-cell-2-2">
            <a:extLst xmlns:a="http://schemas.openxmlformats.org/drawingml/2006/main">
              <a:ext uri="{FF2B5EF4-FFF2-40B4-BE49-F238E27FC236}">
                <a16:creationId xmlns:a16="http://schemas.microsoft.com/office/drawing/2014/main" id="{1CCA2403-938F-4224-8469-03CDE4F5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57525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3" name="U10-068-cell-text-2-2">
            <a:extLst xmlns:a="http://schemas.openxmlformats.org/drawingml/2006/main">
              <a:ext uri="{FF2B5EF4-FFF2-40B4-BE49-F238E27FC236}">
                <a16:creationId xmlns:a16="http://schemas.microsoft.com/office/drawing/2014/main" id="{48006461-B54D-430F-867B-8A1031C7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05150"/>
            <a:ext cx="4991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población, alcance y fecha</a:t>
            </a:r>
          </a:p>
        </p:txBody>
      </p:sp>
      <p:sp>
        <p:nvSpPr>
          <p:cNvPr id="24" name="U10-068-cell-3-0">
            <a:extLst xmlns:a="http://schemas.openxmlformats.org/drawingml/2006/main">
              <a:ext uri="{FF2B5EF4-FFF2-40B4-BE49-F238E27FC236}">
                <a16:creationId xmlns:a16="http://schemas.microsoft.com/office/drawing/2014/main" id="{77715EA8-463C-4B07-ACA4-96D596A6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0047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5" name="U10-068-cell-text-3-0">
            <a:extLst xmlns:a="http://schemas.openxmlformats.org/drawingml/2006/main">
              <a:ext uri="{FF2B5EF4-FFF2-40B4-BE49-F238E27FC236}">
                <a16:creationId xmlns:a16="http://schemas.microsoft.com/office/drawing/2014/main" id="{5C7B4B3B-84FB-44F0-B682-19704F05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4810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Criterio legal</a:t>
            </a:r>
          </a:p>
        </p:txBody>
      </p:sp>
      <p:sp>
        <p:nvSpPr>
          <p:cNvPr id="26" name="U10-068-cell-3-1">
            <a:extLst xmlns:a="http://schemas.openxmlformats.org/drawingml/2006/main">
              <a:ext uri="{FF2B5EF4-FFF2-40B4-BE49-F238E27FC236}">
                <a16:creationId xmlns:a16="http://schemas.microsoft.com/office/drawing/2014/main" id="{938260B7-4149-48A8-9644-DFAE1DB2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00475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7" name="U10-068-cell-text-3-1">
            <a:extLst xmlns:a="http://schemas.openxmlformats.org/drawingml/2006/main">
              <a:ext uri="{FF2B5EF4-FFF2-40B4-BE49-F238E27FC236}">
                <a16:creationId xmlns:a16="http://schemas.microsoft.com/office/drawing/2014/main" id="{4E62B1D0-358E-4C53-8F95-A51F34F4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48100"/>
            <a:ext cx="3276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¿qué obligación rige?</a:t>
            </a:r>
          </a:p>
        </p:txBody>
      </p:sp>
      <p:sp>
        <p:nvSpPr>
          <p:cNvPr id="28" name="U10-068-cell-3-2">
            <a:extLst xmlns:a="http://schemas.openxmlformats.org/drawingml/2006/main">
              <a:ext uri="{FF2B5EF4-FFF2-40B4-BE49-F238E27FC236}">
                <a16:creationId xmlns:a16="http://schemas.microsoft.com/office/drawing/2014/main" id="{45BC15B8-8269-4DE9-97BC-A439F024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00475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9" name="U10-068-cell-text-3-2">
            <a:extLst xmlns:a="http://schemas.openxmlformats.org/drawingml/2006/main">
              <a:ext uri="{FF2B5EF4-FFF2-40B4-BE49-F238E27FC236}">
                <a16:creationId xmlns:a16="http://schemas.microsoft.com/office/drawing/2014/main" id="{AE6EF13C-148D-4409-B181-C92D740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48100"/>
            <a:ext cx="4991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jurisdicción, vigencia y descriptor</a:t>
            </a:r>
          </a:p>
        </p:txBody>
      </p:sp>
      <p:sp>
        <p:nvSpPr>
          <p:cNvPr id="30" name="U10-068-table-note">
            <a:extLst xmlns:a="http://schemas.openxmlformats.org/drawingml/2006/main">
              <a:ext uri="{FF2B5EF4-FFF2-40B4-BE49-F238E27FC236}">
                <a16:creationId xmlns:a16="http://schemas.microsoft.com/office/drawing/2014/main" id="{C83B03BE-0421-4BA2-B628-D6EF8AB9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72025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No trasladar un número entre documentos con propósitos distintos.</a:t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206BA08-B401-40DB-8CAB-467B2685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4BCA8725-21DB-4DC3-B776-E9D5F0F9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4390CD6-EC70-49B8-80FA-6F26C9B8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FB15851-F5D9-43CE-92D1-0E573CE4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4D5AACF-C450-4C55-8C7F-1D94B84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8E4AB2-80DA-47A2-AEAC-C76CF96E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valor global en dB(A) no certifica una cabina</a:t>
            </a:r>
          </a:p>
        </p:txBody>
      </p:sp>
      <p:sp>
        <p:nvSpPr>
          <p:cNvPr id="6" name="U10-DG-044-source-anchor">
            <a:extLst xmlns:a="http://schemas.openxmlformats.org/drawingml/2006/main">
              <a:ext uri="{FF2B5EF4-FFF2-40B4-BE49-F238E27FC236}">
                <a16:creationId xmlns:a16="http://schemas.microsoft.com/office/drawing/2014/main" id="{1194987B-1426-4BE7-9C7E-0B8C4261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4-path_top-anchor">
            <a:extLst xmlns:a="http://schemas.openxmlformats.org/drawingml/2006/main">
              <a:ext uri="{FF2B5EF4-FFF2-40B4-BE49-F238E27FC236}">
                <a16:creationId xmlns:a16="http://schemas.microsoft.com/office/drawing/2014/main" id="{63FC6462-9E38-41B1-95D1-DAEDFC23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4-path_bottom-anchor">
            <a:extLst xmlns:a="http://schemas.openxmlformats.org/drawingml/2006/main">
              <a:ext uri="{FF2B5EF4-FFF2-40B4-BE49-F238E27FC236}">
                <a16:creationId xmlns:a16="http://schemas.microsoft.com/office/drawing/2014/main" id="{22576F5D-939B-4672-BA94-C1E4FBDE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4-space-anchor">
            <a:extLst xmlns:a="http://schemas.openxmlformats.org/drawingml/2006/main">
              <a:ext uri="{FF2B5EF4-FFF2-40B4-BE49-F238E27FC236}">
                <a16:creationId xmlns:a16="http://schemas.microsoft.com/office/drawing/2014/main" id="{FBAABF97-9329-41DA-85FE-4954C731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4-receiver-anchor">
            <a:extLst xmlns:a="http://schemas.openxmlformats.org/drawingml/2006/main">
              <a:ext uri="{FF2B5EF4-FFF2-40B4-BE49-F238E27FC236}">
                <a16:creationId xmlns:a16="http://schemas.microsoft.com/office/drawing/2014/main" id="{A2726562-B757-47C2-904E-5CFD6C3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44-condition-anchor">
            <a:extLst xmlns:a="http://schemas.openxmlformats.org/drawingml/2006/main">
              <a:ext uri="{FF2B5EF4-FFF2-40B4-BE49-F238E27FC236}">
                <a16:creationId xmlns:a16="http://schemas.microsoft.com/office/drawing/2014/main" id="{7D979066-F692-4B97-819B-BC82CB91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44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44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44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44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44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44-visual-alt" descr="Ruido de fondo en cabina. Cabina; fuente residual; transductor; oído; banda; prueba; criterio. Orden de lectura: Rutas “entra”, “se presenta”, “puede limitar”. ---">
            <a:extLst xmlns:a="http://schemas.openxmlformats.org/drawingml/2006/main">
              <a:ext uri="{FF2B5EF4-FFF2-40B4-BE49-F238E27FC236}">
                <a16:creationId xmlns:a16="http://schemas.microsoft.com/office/drawing/2014/main" id="{8B735D2D-2800-4C9C-9EA7-04A88EBF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44-source-text">
            <a:extLst xmlns:a="http://schemas.openxmlformats.org/drawingml/2006/main">
              <a:ext uri="{FF2B5EF4-FFF2-40B4-BE49-F238E27FC236}">
                <a16:creationId xmlns:a16="http://schemas.microsoft.com/office/drawing/2014/main" id="{31ED89DA-FFC8-4116-8D15-F3ACEBBD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 residual</a:t>
            </a:r>
          </a:p>
        </p:txBody>
      </p:sp>
      <p:sp>
        <p:nvSpPr>
          <p:cNvPr id="19" name="U10-DG-044-path_top-box">
            <a:extLst xmlns:a="http://schemas.openxmlformats.org/drawingml/2006/main">
              <a:ext uri="{FF2B5EF4-FFF2-40B4-BE49-F238E27FC236}">
                <a16:creationId xmlns:a16="http://schemas.microsoft.com/office/drawing/2014/main" id="{1F2AFB91-5EE3-49E3-B759-621BEEF3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44-path_top-text">
            <a:extLst xmlns:a="http://schemas.openxmlformats.org/drawingml/2006/main">
              <a:ext uri="{FF2B5EF4-FFF2-40B4-BE49-F238E27FC236}">
                <a16:creationId xmlns:a16="http://schemas.microsoft.com/office/drawing/2014/main" id="{6306F362-E072-4DEB-A624-F2566695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Cabina</a:t>
            </a:r>
          </a:p>
        </p:txBody>
      </p:sp>
      <p:sp>
        <p:nvSpPr>
          <p:cNvPr id="21" name="U10-DG-044-path_bottom-box">
            <a:extLst xmlns:a="http://schemas.openxmlformats.org/drawingml/2006/main">
              <a:ext uri="{FF2B5EF4-FFF2-40B4-BE49-F238E27FC236}">
                <a16:creationId xmlns:a16="http://schemas.microsoft.com/office/drawing/2014/main" id="{CCC0EFE9-5740-4876-9806-4B5E9ECC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44-path_bottom-text">
            <a:extLst xmlns:a="http://schemas.openxmlformats.org/drawingml/2006/main">
              <a:ext uri="{FF2B5EF4-FFF2-40B4-BE49-F238E27FC236}">
                <a16:creationId xmlns:a16="http://schemas.microsoft.com/office/drawing/2014/main" id="{2891E48C-FE1B-4475-8A63-E704495A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Transductor</a:t>
            </a:r>
          </a:p>
        </p:txBody>
      </p:sp>
      <p:sp>
        <p:nvSpPr>
          <p:cNvPr id="23" name="U10-DG-044-space-box">
            <a:extLst xmlns:a="http://schemas.openxmlformats.org/drawingml/2006/main">
              <a:ext uri="{FF2B5EF4-FFF2-40B4-BE49-F238E27FC236}">
                <a16:creationId xmlns:a16="http://schemas.microsoft.com/office/drawing/2014/main" id="{747FFB2B-55B8-40CD-B539-C4B63C7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44-space-text">
            <a:extLst xmlns:a="http://schemas.openxmlformats.org/drawingml/2006/main">
              <a:ext uri="{FF2B5EF4-FFF2-40B4-BE49-F238E27FC236}">
                <a16:creationId xmlns:a16="http://schemas.microsoft.com/office/drawing/2014/main" id="{04B24AA1-9A5B-4B5E-AB5D-D62B1B3E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</a:t>
            </a:r>
          </a:p>
        </p:txBody>
      </p:sp>
      <p:sp>
        <p:nvSpPr>
          <p:cNvPr id="25" name="U10-DG-044-receiver-box">
            <a:extLst xmlns:a="http://schemas.openxmlformats.org/drawingml/2006/main">
              <a:ext uri="{FF2B5EF4-FFF2-40B4-BE49-F238E27FC236}">
                <a16:creationId xmlns:a16="http://schemas.microsoft.com/office/drawing/2014/main" id="{6780CE1B-A5BF-4D4E-B53E-428D264A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44-receiver-text">
            <a:extLst xmlns:a="http://schemas.openxmlformats.org/drawingml/2006/main">
              <a:ext uri="{FF2B5EF4-FFF2-40B4-BE49-F238E27FC236}">
                <a16:creationId xmlns:a16="http://schemas.microsoft.com/office/drawing/2014/main" id="{C3CF91C1-F43A-470E-B8C4-BDBDE689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Banda de prueba</a:t>
            </a:r>
          </a:p>
        </p:txBody>
      </p:sp>
      <p:sp>
        <p:nvSpPr>
          <p:cNvPr id="27" name="U10-DG-044-condition-box">
            <a:extLst xmlns:a="http://schemas.openxmlformats.org/drawingml/2006/main">
              <a:ext uri="{FF2B5EF4-FFF2-40B4-BE49-F238E27FC236}">
                <a16:creationId xmlns:a16="http://schemas.microsoft.com/office/drawing/2014/main" id="{61AF640F-3D5F-4152-B59B-34279795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44-condition-text">
            <a:extLst xmlns:a="http://schemas.openxmlformats.org/drawingml/2006/main">
              <a:ext uri="{FF2B5EF4-FFF2-40B4-BE49-F238E27FC236}">
                <a16:creationId xmlns:a16="http://schemas.microsoft.com/office/drawing/2014/main" id="{1AD45623-00AF-4108-8EB9-AEA69A35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Criterio por banda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2D80D77D-228C-4554-A10E-4BCE323B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Ruido de fondo en cabina. Cabina; fuente residual; transductor; oído; banda; prueba; criterio.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9D5801-6DC8-41E7-B818-E2F3E58F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173D1ED3-57AF-45F6-A9B0-887AC6CE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30FEDAD-A402-4A03-A5CD-A15D290B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B827464-45DA-4E86-BA1E-374F13F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A55714B-545F-4365-9EA1-7561F1C6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FBA28D-A802-47BF-8439-CB4BD97C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control se organiza en fuente, trayecto y receptor</a:t>
            </a:r>
          </a:p>
        </p:txBody>
      </p:sp>
      <p:sp>
        <p:nvSpPr>
          <p:cNvPr id="6" name="U10-DG-045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2497F9A1-F7E8-428C-87F9-C3296A57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5-branch_1-anchor">
            <a:extLst xmlns:a="http://schemas.openxmlformats.org/drawingml/2006/main">
              <a:ext uri="{FF2B5EF4-FFF2-40B4-BE49-F238E27FC236}">
                <a16:creationId xmlns:a16="http://schemas.microsoft.com/office/drawing/2014/main" id="{C36A34BD-B408-4FC3-A672-0E7B52EA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937671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5-branch_2-anchor">
            <a:extLst xmlns:a="http://schemas.openxmlformats.org/drawingml/2006/main">
              <a:ext uri="{FF2B5EF4-FFF2-40B4-BE49-F238E27FC236}">
                <a16:creationId xmlns:a16="http://schemas.microsoft.com/office/drawing/2014/main" id="{374DA66A-6832-423F-B5C6-DC00A82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960846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5-branch_3-anchor">
            <a:extLst xmlns:a="http://schemas.openxmlformats.org/drawingml/2006/main">
              <a:ext uri="{FF2B5EF4-FFF2-40B4-BE49-F238E27FC236}">
                <a16:creationId xmlns:a16="http://schemas.microsoft.com/office/drawing/2014/main" id="{61EE9759-6C2D-4300-A426-F074E149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984022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U10-DG-045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2347723"/>
            <a:ext cx="2847975" cy="88649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U10-DG-045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5655" y="3234215"/>
            <a:ext cx="2847975" cy="13668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U10-DG-045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115985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3" name="U10-DG-045-visual-alt" descr="Jerarquía fuente–trayecto–receptor. Fuente; mantenimiento/sustitución; barrera/encapsulado; receptor/organización/EPP; verificación. Orden de lectura: “controlar primero”, “comprobar después”. ---">
            <a:extLst xmlns:a="http://schemas.openxmlformats.org/drawingml/2006/main">
              <a:ext uri="{FF2B5EF4-FFF2-40B4-BE49-F238E27FC236}">
                <a16:creationId xmlns:a16="http://schemas.microsoft.com/office/drawing/2014/main" id="{45E43E0D-9B5E-4173-977C-B8D9C945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4" name="U10-DG-045-branch_source-text">
            <a:extLst xmlns:a="http://schemas.openxmlformats.org/drawingml/2006/main">
              <a:ext uri="{FF2B5EF4-FFF2-40B4-BE49-F238E27FC236}">
                <a16:creationId xmlns:a16="http://schemas.microsoft.com/office/drawing/2014/main" id="{D6BCB7F5-89BE-4167-9AEE-C98BB11E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Fuente: menos emisión</a:t>
            </a:r>
          </a:p>
        </p:txBody>
      </p:sp>
      <p:sp>
        <p:nvSpPr>
          <p:cNvPr id="15" name="U10-DG-045-branch_1-box">
            <a:extLst xmlns:a="http://schemas.openxmlformats.org/drawingml/2006/main">
              <a:ext uri="{FF2B5EF4-FFF2-40B4-BE49-F238E27FC236}">
                <a16:creationId xmlns:a16="http://schemas.microsoft.com/office/drawing/2014/main" id="{86A51D21-686F-45DB-8BF7-BFC187BF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937671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45-branch_1-text">
            <a:extLst xmlns:a="http://schemas.openxmlformats.org/drawingml/2006/main">
              <a:ext uri="{FF2B5EF4-FFF2-40B4-BE49-F238E27FC236}">
                <a16:creationId xmlns:a16="http://schemas.microsoft.com/office/drawing/2014/main" id="{C020BE4D-E159-4E33-AD85-C3CF995B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61496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Trayecto: barrera / encapsulado</a:t>
            </a:r>
          </a:p>
        </p:txBody>
      </p:sp>
      <p:sp>
        <p:nvSpPr>
          <p:cNvPr id="17" name="U10-DG-045-branch_2-box">
            <a:extLst xmlns:a="http://schemas.openxmlformats.org/drawingml/2006/main">
              <a:ext uri="{FF2B5EF4-FFF2-40B4-BE49-F238E27FC236}">
                <a16:creationId xmlns:a16="http://schemas.microsoft.com/office/drawing/2014/main" id="{9F23420C-5D40-4FB4-84AE-BCABE96A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960846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8" name="U10-DG-045-branch_2-text">
            <a:extLst xmlns:a="http://schemas.openxmlformats.org/drawingml/2006/main">
              <a:ext uri="{FF2B5EF4-FFF2-40B4-BE49-F238E27FC236}">
                <a16:creationId xmlns:a16="http://schemas.microsoft.com/office/drawing/2014/main" id="{C3F7C0BC-E676-4443-B409-B28E777B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84671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Receptor: organización / EPP</a:t>
            </a:r>
          </a:p>
        </p:txBody>
      </p:sp>
      <p:sp>
        <p:nvSpPr>
          <p:cNvPr id="19" name="U10-DG-045-branch_3-box">
            <a:extLst xmlns:a="http://schemas.openxmlformats.org/drawingml/2006/main">
              <a:ext uri="{FF2B5EF4-FFF2-40B4-BE49-F238E27FC236}">
                <a16:creationId xmlns:a16="http://schemas.microsoft.com/office/drawing/2014/main" id="{C2370A7F-1263-4A05-8F34-08BD2F22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984022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0" name="U10-DG-045-branch_3-text">
            <a:extLst xmlns:a="http://schemas.openxmlformats.org/drawingml/2006/main">
              <a:ext uri="{FF2B5EF4-FFF2-40B4-BE49-F238E27FC236}">
                <a16:creationId xmlns:a16="http://schemas.microsoft.com/office/drawing/2014/main" id="{79B26F42-164A-43A8-8A43-F45912B5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7847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Verificar antes y después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DB86D5A5-99DB-4CA0-9BAD-6A4BD05F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Jerarquía fuente–trayecto–receptor. Fuente; mantenimiento/sustitución; barrera/encapsulado; receptor/organización/EPP; verificación.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32A1BF-3299-40B1-AE92-F8B1CE1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D559B40A-68D3-48C6-A4DC-76395E6C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96ACBDF8-5EC4-42DD-8F90-0BD38365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E39EBD9F-3CA8-4F0D-B6DF-31688304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A44A4A1-6CE5-4B34-83C9-B063F6C8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23C8FD-EEC2-46D8-9B7B-4BFADE42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Reducción es resultado; absorción y aislamiento son mecanismos distintos</a:t>
            </a:r>
          </a:p>
        </p:txBody>
      </p:sp>
      <p:sp>
        <p:nvSpPr>
          <p:cNvPr id="6" name="U10-DG-046-branch_source-anchor">
            <a:extLst xmlns:a="http://schemas.openxmlformats.org/drawingml/2006/main">
              <a:ext uri="{FF2B5EF4-FFF2-40B4-BE49-F238E27FC236}">
                <a16:creationId xmlns:a16="http://schemas.microsoft.com/office/drawing/2014/main" id="{CB3894A9-42BE-4067-BC1D-E2241680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6-branch_1-anchor">
            <a:extLst xmlns:a="http://schemas.openxmlformats.org/drawingml/2006/main">
              <a:ext uri="{FF2B5EF4-FFF2-40B4-BE49-F238E27FC236}">
                <a16:creationId xmlns:a16="http://schemas.microsoft.com/office/drawing/2014/main" id="{A6AB6A55-50A1-48B7-BA4D-D8FFB6BB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26083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6-branch_2-anchor">
            <a:extLst xmlns:a="http://schemas.openxmlformats.org/drawingml/2006/main">
              <a:ext uri="{FF2B5EF4-FFF2-40B4-BE49-F238E27FC236}">
                <a16:creationId xmlns:a16="http://schemas.microsoft.com/office/drawing/2014/main" id="{DBCCF7B9-70A6-46F7-A9AA-128543B0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449259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6-branch_3-anchor">
            <a:extLst xmlns:a="http://schemas.openxmlformats.org/drawingml/2006/main">
              <a:ext uri="{FF2B5EF4-FFF2-40B4-BE49-F238E27FC236}">
                <a16:creationId xmlns:a16="http://schemas.microsoft.com/office/drawing/2014/main" id="{939815E3-2582-49AE-A365-04250D89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472434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6-branch_4-anchor">
            <a:extLst xmlns:a="http://schemas.openxmlformats.org/drawingml/2006/main">
              <a:ext uri="{FF2B5EF4-FFF2-40B4-BE49-F238E27FC236}">
                <a16:creationId xmlns:a16="http://schemas.microsoft.com/office/drawing/2014/main" id="{178414BC-349F-4B80-AD4F-2D024C5F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495610"/>
            <a:ext cx="3768090" cy="820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46-branch_edge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5655" y="1836135"/>
            <a:ext cx="2847975" cy="13980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46-branch_edge_2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335655" y="2859310"/>
            <a:ext cx="2847975" cy="37490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46-branch_edge_3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5655" y="3234215"/>
            <a:ext cx="2847975" cy="64827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46-branch_edge_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5655" y="3234215"/>
            <a:ext cx="2847975" cy="167144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46-visual-alt" descr="Diferenciar reducción, absorción, aislamiento, cancelación y protección. Cinco términos; mecanismo; dato de verificación. Orden de lectura: Sin flechas o una relación por fila. ---">
            <a:extLst xmlns:a="http://schemas.openxmlformats.org/drawingml/2006/main">
              <a:ext uri="{FF2B5EF4-FFF2-40B4-BE49-F238E27FC236}">
                <a16:creationId xmlns:a16="http://schemas.microsoft.com/office/drawing/2014/main" id="{40ACE8C4-6B63-404B-8308-C664B61D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953"/>
            <a:ext cx="2497455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46-branch_source-text">
            <a:extLst xmlns:a="http://schemas.openxmlformats.org/drawingml/2006/main">
              <a:ext uri="{FF2B5EF4-FFF2-40B4-BE49-F238E27FC236}">
                <a16:creationId xmlns:a16="http://schemas.microsoft.com/office/drawing/2014/main" id="{9420B175-526E-4DE7-BF0F-BBD09393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1778"/>
            <a:ext cx="2154555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Resultado: reducción</a:t>
            </a:r>
          </a:p>
        </p:txBody>
      </p:sp>
      <p:sp>
        <p:nvSpPr>
          <p:cNvPr id="17" name="U10-DG-046-branch_1-box">
            <a:extLst xmlns:a="http://schemas.openxmlformats.org/drawingml/2006/main">
              <a:ext uri="{FF2B5EF4-FFF2-40B4-BE49-F238E27FC236}">
                <a16:creationId xmlns:a16="http://schemas.microsoft.com/office/drawing/2014/main" id="{8559D2E0-F552-402B-BFF8-CF2E2614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426083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46-branch_1-text">
            <a:extLst xmlns:a="http://schemas.openxmlformats.org/drawingml/2006/main">
              <a:ext uri="{FF2B5EF4-FFF2-40B4-BE49-F238E27FC236}">
                <a16:creationId xmlns:a16="http://schemas.microsoft.com/office/drawing/2014/main" id="{02B79E8A-B425-4C70-B4A6-7285EE2E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49908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Absorción · superficie · α / Aₑq</a:t>
            </a:r>
          </a:p>
        </p:txBody>
      </p:sp>
      <p:sp>
        <p:nvSpPr>
          <p:cNvPr id="19" name="U10-DG-046-branch_2-box">
            <a:extLst xmlns:a="http://schemas.openxmlformats.org/drawingml/2006/main">
              <a:ext uri="{FF2B5EF4-FFF2-40B4-BE49-F238E27FC236}">
                <a16:creationId xmlns:a16="http://schemas.microsoft.com/office/drawing/2014/main" id="{BAB835BE-55AF-4F48-9577-9B428A08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449259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46-branch_2-text">
            <a:extLst xmlns:a="http://schemas.openxmlformats.org/drawingml/2006/main">
              <a:ext uri="{FF2B5EF4-FFF2-40B4-BE49-F238E27FC236}">
                <a16:creationId xmlns:a16="http://schemas.microsoft.com/office/drawing/2014/main" id="{9C0330A7-7197-408B-9C19-5A19F114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573084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Aislamiento · transmisión · R/DnT</a:t>
            </a:r>
          </a:p>
        </p:txBody>
      </p:sp>
      <p:sp>
        <p:nvSpPr>
          <p:cNvPr id="21" name="U10-DG-046-branch_3-box">
            <a:extLst xmlns:a="http://schemas.openxmlformats.org/drawingml/2006/main">
              <a:ext uri="{FF2B5EF4-FFF2-40B4-BE49-F238E27FC236}">
                <a16:creationId xmlns:a16="http://schemas.microsoft.com/office/drawing/2014/main" id="{32A651D8-113D-4CC1-9514-11F45626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3472434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46-branch_3-text">
            <a:extLst xmlns:a="http://schemas.openxmlformats.org/drawingml/2006/main">
              <a:ext uri="{FF2B5EF4-FFF2-40B4-BE49-F238E27FC236}">
                <a16:creationId xmlns:a16="http://schemas.microsoft.com/office/drawing/2014/main" id="{22C419AB-68C9-4017-9A3D-CA60D24F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596259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Cancelación · interferencia · banda</a:t>
            </a:r>
          </a:p>
        </p:txBody>
      </p:sp>
      <p:sp>
        <p:nvSpPr>
          <p:cNvPr id="23" name="U10-DG-046-branch_4-box">
            <a:extLst xmlns:a="http://schemas.openxmlformats.org/drawingml/2006/main">
              <a:ext uri="{FF2B5EF4-FFF2-40B4-BE49-F238E27FC236}">
                <a16:creationId xmlns:a16="http://schemas.microsoft.com/office/drawing/2014/main" id="{0FA246BE-CEAD-486A-94F7-4AB23AEB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495610"/>
            <a:ext cx="3768090" cy="820103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46-branch_4-text">
            <a:extLst xmlns:a="http://schemas.openxmlformats.org/drawingml/2006/main">
              <a:ext uri="{FF2B5EF4-FFF2-40B4-BE49-F238E27FC236}">
                <a16:creationId xmlns:a16="http://schemas.microsoft.com/office/drawing/2014/main" id="{E75172B7-923D-465D-8E8B-7D0766F8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19435"/>
            <a:ext cx="3425190" cy="572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Protección · receptor · atenuación real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CB39F56B-8C97-489A-8049-AC5BE36B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Diferenciar reducción, absorción, aislamiento, cancelación y protección. Cinco términos; mecanismo; dato de verificación.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F241AD6-5DFA-4253-8D27-93651027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4AE39112-894F-4FF5-BF10-2D7D2C17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D071092D-BB59-4126-A5CF-62827D38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4616D9E-0960-44A3-8CF0-FB355BD3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FF5EA26-5BDB-4B65-ABE1-BC922A90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BC0F1B-4708-4E10-80FE-BC8F05D2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¿Dónde actuaría y qué mediría antes y después?</a:t>
            </a:r>
          </a:p>
        </p:txBody>
      </p:sp>
      <p:sp>
        <p:nvSpPr>
          <p:cNvPr id="6" name="U10-DG-047-step_1-anchor">
            <a:extLst xmlns:a="http://schemas.openxmlformats.org/drawingml/2006/main">
              <a:ext uri="{FF2B5EF4-FFF2-40B4-BE49-F238E27FC236}">
                <a16:creationId xmlns:a16="http://schemas.microsoft.com/office/drawing/2014/main" id="{006F3DEC-A78D-4DCF-8BF0-AF76A47D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7-step_2-anchor">
            <a:extLst xmlns:a="http://schemas.openxmlformats.org/drawingml/2006/main">
              <a:ext uri="{FF2B5EF4-FFF2-40B4-BE49-F238E27FC236}">
                <a16:creationId xmlns:a16="http://schemas.microsoft.com/office/drawing/2014/main" id="{5F42B0F5-72CF-4197-823D-E9BF7AB4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7-step_3-anchor">
            <a:extLst xmlns:a="http://schemas.openxmlformats.org/drawingml/2006/main">
              <a:ext uri="{FF2B5EF4-FFF2-40B4-BE49-F238E27FC236}">
                <a16:creationId xmlns:a16="http://schemas.microsoft.com/office/drawing/2014/main" id="{6C0DDAE1-2E95-4016-B77E-96D229A9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7-step_4-anchor">
            <a:extLst xmlns:a="http://schemas.openxmlformats.org/drawingml/2006/main">
              <a:ext uri="{FF2B5EF4-FFF2-40B4-BE49-F238E27FC236}">
                <a16:creationId xmlns:a16="http://schemas.microsoft.com/office/drawing/2014/main" id="{91882A72-DF69-4601-B2E9-172C37E6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7-step_5-anchor">
            <a:extLst xmlns:a="http://schemas.openxmlformats.org/drawingml/2006/main">
              <a:ext uri="{FF2B5EF4-FFF2-40B4-BE49-F238E27FC236}">
                <a16:creationId xmlns:a16="http://schemas.microsoft.com/office/drawing/2014/main" id="{BD7A38B3-BE34-47BB-9C3A-1F56E282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47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47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47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47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47-visual-alt" descr="Actividad: dónde intervenir. Caso; fuente; trayecto; receptor; opciones; métrica antes/después. Orden de lectura: Tarjetas conectables; solución oculta. ---">
            <a:extLst xmlns:a="http://schemas.openxmlformats.org/drawingml/2006/main">
              <a:ext uri="{FF2B5EF4-FFF2-40B4-BE49-F238E27FC236}">
                <a16:creationId xmlns:a16="http://schemas.microsoft.com/office/drawing/2014/main" id="{5F36EC9B-738D-4C13-AE40-A47854E0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6" name="U10-DG-047-step_1-text">
            <a:extLst xmlns:a="http://schemas.openxmlformats.org/drawingml/2006/main">
              <a:ext uri="{FF2B5EF4-FFF2-40B4-BE49-F238E27FC236}">
                <a16:creationId xmlns:a16="http://schemas.microsoft.com/office/drawing/2014/main" id="{D4A92CC9-5F3A-4EA8-8E56-E4A0CF9A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Caso de ruido</a:t>
            </a:r>
          </a:p>
        </p:txBody>
      </p:sp>
      <p:sp>
        <p:nvSpPr>
          <p:cNvPr id="17" name="U10-DG-047-step_2-box">
            <a:extLst xmlns:a="http://schemas.openxmlformats.org/drawingml/2006/main">
              <a:ext uri="{FF2B5EF4-FFF2-40B4-BE49-F238E27FC236}">
                <a16:creationId xmlns:a16="http://schemas.microsoft.com/office/drawing/2014/main" id="{56543D28-65AF-49C0-8F44-653727C7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8" name="U10-DG-047-step_2-text">
            <a:extLst xmlns:a="http://schemas.openxmlformats.org/drawingml/2006/main">
              <a:ext uri="{FF2B5EF4-FFF2-40B4-BE49-F238E27FC236}">
                <a16:creationId xmlns:a16="http://schemas.microsoft.com/office/drawing/2014/main" id="{B86E8E89-094D-434A-82CC-E321DC32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Intervenir en fuente</a:t>
            </a:r>
          </a:p>
        </p:txBody>
      </p:sp>
      <p:sp>
        <p:nvSpPr>
          <p:cNvPr id="19" name="U10-DG-047-step_3-box">
            <a:extLst xmlns:a="http://schemas.openxmlformats.org/drawingml/2006/main">
              <a:ext uri="{FF2B5EF4-FFF2-40B4-BE49-F238E27FC236}">
                <a16:creationId xmlns:a16="http://schemas.microsoft.com/office/drawing/2014/main" id="{DC03F823-0FA1-48E7-AE7D-2E7313E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47-step_3-text">
            <a:extLst xmlns:a="http://schemas.openxmlformats.org/drawingml/2006/main">
              <a:ext uri="{FF2B5EF4-FFF2-40B4-BE49-F238E27FC236}">
                <a16:creationId xmlns:a16="http://schemas.microsoft.com/office/drawing/2014/main" id="{CF0368E8-7024-4A6F-82D3-BF2FBC63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Intervenir en trayecto</a:t>
            </a:r>
          </a:p>
        </p:txBody>
      </p:sp>
      <p:sp>
        <p:nvSpPr>
          <p:cNvPr id="21" name="U10-DG-047-step_4-box">
            <a:extLst xmlns:a="http://schemas.openxmlformats.org/drawingml/2006/main">
              <a:ext uri="{FF2B5EF4-FFF2-40B4-BE49-F238E27FC236}">
                <a16:creationId xmlns:a16="http://schemas.microsoft.com/office/drawing/2014/main" id="{4BBBF068-DEA5-4359-81A8-EE88C1C3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2" name="U10-DG-047-step_4-text">
            <a:extLst xmlns:a="http://schemas.openxmlformats.org/drawingml/2006/main">
              <a:ext uri="{FF2B5EF4-FFF2-40B4-BE49-F238E27FC236}">
                <a16:creationId xmlns:a16="http://schemas.microsoft.com/office/drawing/2014/main" id="{0D968306-4CAB-4814-9803-B7A01D61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Intervenir en receptor</a:t>
            </a:r>
          </a:p>
        </p:txBody>
      </p:sp>
      <p:sp>
        <p:nvSpPr>
          <p:cNvPr id="23" name="U10-DG-047-step_5-box">
            <a:extLst xmlns:a="http://schemas.openxmlformats.org/drawingml/2006/main">
              <a:ext uri="{FF2B5EF4-FFF2-40B4-BE49-F238E27FC236}">
                <a16:creationId xmlns:a16="http://schemas.microsoft.com/office/drawing/2014/main" id="{8879B9D4-0373-4572-BE3B-67253836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4" name="U10-DG-047-step_5-text">
            <a:extLst xmlns:a="http://schemas.openxmlformats.org/drawingml/2006/main">
              <a:ext uri="{FF2B5EF4-FFF2-40B4-BE49-F238E27FC236}">
                <a16:creationId xmlns:a16="http://schemas.microsoft.com/office/drawing/2014/main" id="{66E8FC76-7A88-4772-A6CE-CC1DC9EB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Métrica antes / después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8E84662E-06C1-4C7C-9A4D-07472365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Actividad: dónde intervenir. Caso; fuente; trayecto; receptor; opciones; métrica antes/después.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CB7042-9DAB-4F62-9CB7-E1610535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1187AFEB-9A27-4B8A-9350-91D22A87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E717C66-C9FD-4F0C-BD82-8EF28F85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91E5718-7553-4ADC-A0E8-848EE4D8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4F8A343-EE8E-4FE4-9143-D3DE475C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5BBA3E-D397-441F-B487-0ACF2C8F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Fonoaudiología conecta señal física y tarea comunicativa</a:t>
            </a:r>
          </a:p>
        </p:txBody>
      </p:sp>
      <p:sp>
        <p:nvSpPr>
          <p:cNvPr id="6" name="U10-DG-048-source-anchor">
            <a:extLst xmlns:a="http://schemas.openxmlformats.org/drawingml/2006/main">
              <a:ext uri="{FF2B5EF4-FFF2-40B4-BE49-F238E27FC236}">
                <a16:creationId xmlns:a16="http://schemas.microsoft.com/office/drawing/2014/main" id="{16FAA7CB-81DC-46A5-8BD2-DFBC6B6C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8-path_top-anchor">
            <a:extLst xmlns:a="http://schemas.openxmlformats.org/drawingml/2006/main">
              <a:ext uri="{FF2B5EF4-FFF2-40B4-BE49-F238E27FC236}">
                <a16:creationId xmlns:a16="http://schemas.microsoft.com/office/drawing/2014/main" id="{FAD4AF8A-7BAF-4BB3-AFB0-FBE97F73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8-path_bottom-anchor">
            <a:extLst xmlns:a="http://schemas.openxmlformats.org/drawingml/2006/main">
              <a:ext uri="{FF2B5EF4-FFF2-40B4-BE49-F238E27FC236}">
                <a16:creationId xmlns:a16="http://schemas.microsoft.com/office/drawing/2014/main" id="{67BAF612-4FD6-487E-BB06-1A4C9DF5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8-space-anchor">
            <a:extLst xmlns:a="http://schemas.openxmlformats.org/drawingml/2006/main">
              <a:ext uri="{FF2B5EF4-FFF2-40B4-BE49-F238E27FC236}">
                <a16:creationId xmlns:a16="http://schemas.microsoft.com/office/drawing/2014/main" id="{1792BB79-47E8-4E5A-ACC2-7AB719F0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8-receiver-anchor">
            <a:extLst xmlns:a="http://schemas.openxmlformats.org/drawingml/2006/main">
              <a:ext uri="{FF2B5EF4-FFF2-40B4-BE49-F238E27FC236}">
                <a16:creationId xmlns:a16="http://schemas.microsoft.com/office/drawing/2014/main" id="{5FF893FC-F94A-4B39-A5B8-A7977A5A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48-condition-anchor">
            <a:extLst xmlns:a="http://schemas.openxmlformats.org/drawingml/2006/main">
              <a:ext uri="{FF2B5EF4-FFF2-40B4-BE49-F238E27FC236}">
                <a16:creationId xmlns:a16="http://schemas.microsoft.com/office/drawing/2014/main" id="{49FD599E-F274-4BC3-8395-D447AD3E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48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48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48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48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48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48-visual-alt" descr="Red de aplicaciones fonoaudiológicas. Evaluación auditiva; voz/habla; ambiente clínico; prevención; pregunta física central. Orden de lectura: Desde nodo “caracterizar”. ---">
            <a:extLst xmlns:a="http://schemas.openxmlformats.org/drawingml/2006/main">
              <a:ext uri="{FF2B5EF4-FFF2-40B4-BE49-F238E27FC236}">
                <a16:creationId xmlns:a16="http://schemas.microsoft.com/office/drawing/2014/main" id="{C8DC3CB1-A0BB-48E9-A52C-71FC0BFC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48-source-text">
            <a:extLst xmlns:a="http://schemas.openxmlformats.org/drawingml/2006/main">
              <a:ext uri="{FF2B5EF4-FFF2-40B4-BE49-F238E27FC236}">
                <a16:creationId xmlns:a16="http://schemas.microsoft.com/office/drawing/2014/main" id="{A6DE85F9-1D9F-4B57-A26B-9DD90393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Caracterizar</a:t>
            </a:r>
          </a:p>
        </p:txBody>
      </p:sp>
      <p:sp>
        <p:nvSpPr>
          <p:cNvPr id="19" name="U10-DG-048-path_top-box">
            <a:extLst xmlns:a="http://schemas.openxmlformats.org/drawingml/2006/main">
              <a:ext uri="{FF2B5EF4-FFF2-40B4-BE49-F238E27FC236}">
                <a16:creationId xmlns:a16="http://schemas.microsoft.com/office/drawing/2014/main" id="{F0DD6C81-F859-4FA6-8856-6A8C532B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48-path_top-text">
            <a:extLst xmlns:a="http://schemas.openxmlformats.org/drawingml/2006/main">
              <a:ext uri="{FF2B5EF4-FFF2-40B4-BE49-F238E27FC236}">
                <a16:creationId xmlns:a16="http://schemas.microsoft.com/office/drawing/2014/main" id="{EACA87F4-1D77-455C-A76F-F0E9691D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Evaluación auditiva</a:t>
            </a:r>
          </a:p>
        </p:txBody>
      </p:sp>
      <p:sp>
        <p:nvSpPr>
          <p:cNvPr id="21" name="U10-DG-048-path_bottom-box">
            <a:extLst xmlns:a="http://schemas.openxmlformats.org/drawingml/2006/main">
              <a:ext uri="{FF2B5EF4-FFF2-40B4-BE49-F238E27FC236}">
                <a16:creationId xmlns:a16="http://schemas.microsoft.com/office/drawing/2014/main" id="{59C1B486-BEAD-41B6-A866-DF774680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48-path_bottom-text">
            <a:extLst xmlns:a="http://schemas.openxmlformats.org/drawingml/2006/main">
              <a:ext uri="{FF2B5EF4-FFF2-40B4-BE49-F238E27FC236}">
                <a16:creationId xmlns:a16="http://schemas.microsoft.com/office/drawing/2014/main" id="{4E0E1D21-D1EF-48F3-8C53-6CD1FDE2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Voz y habla</a:t>
            </a:r>
          </a:p>
        </p:txBody>
      </p:sp>
      <p:sp>
        <p:nvSpPr>
          <p:cNvPr id="23" name="U10-DG-048-space-box">
            <a:extLst xmlns:a="http://schemas.openxmlformats.org/drawingml/2006/main">
              <a:ext uri="{FF2B5EF4-FFF2-40B4-BE49-F238E27FC236}">
                <a16:creationId xmlns:a16="http://schemas.microsoft.com/office/drawing/2014/main" id="{A02C7B70-A1E5-471D-A15B-92E78084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48-space-text">
            <a:extLst xmlns:a="http://schemas.openxmlformats.org/drawingml/2006/main">
              <a:ext uri="{FF2B5EF4-FFF2-40B4-BE49-F238E27FC236}">
                <a16:creationId xmlns:a16="http://schemas.microsoft.com/office/drawing/2014/main" id="{8AA4CEA7-0182-449C-B50E-A6BF42DC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Ambiente clínico</a:t>
            </a:r>
          </a:p>
        </p:txBody>
      </p:sp>
      <p:sp>
        <p:nvSpPr>
          <p:cNvPr id="25" name="U10-DG-048-receiver-box">
            <a:extLst xmlns:a="http://schemas.openxmlformats.org/drawingml/2006/main">
              <a:ext uri="{FF2B5EF4-FFF2-40B4-BE49-F238E27FC236}">
                <a16:creationId xmlns:a16="http://schemas.microsoft.com/office/drawing/2014/main" id="{54765132-01D0-4B7D-946B-B6E954E0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48-receiver-text">
            <a:extLst xmlns:a="http://schemas.openxmlformats.org/drawingml/2006/main">
              <a:ext uri="{FF2B5EF4-FFF2-40B4-BE49-F238E27FC236}">
                <a16:creationId xmlns:a16="http://schemas.microsoft.com/office/drawing/2014/main" id="{461FFB9B-5865-47F5-A579-3312A7A5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Prevención</a:t>
            </a:r>
          </a:p>
        </p:txBody>
      </p:sp>
      <p:sp>
        <p:nvSpPr>
          <p:cNvPr id="27" name="U10-DG-048-condition-box">
            <a:extLst xmlns:a="http://schemas.openxmlformats.org/drawingml/2006/main">
              <a:ext uri="{FF2B5EF4-FFF2-40B4-BE49-F238E27FC236}">
                <a16:creationId xmlns:a16="http://schemas.microsoft.com/office/drawing/2014/main" id="{97FC9764-68F9-4B0A-BE89-74E07D7F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48-condition-text">
            <a:extLst xmlns:a="http://schemas.openxmlformats.org/drawingml/2006/main">
              <a:ext uri="{FF2B5EF4-FFF2-40B4-BE49-F238E27FC236}">
                <a16:creationId xmlns:a16="http://schemas.microsoft.com/office/drawing/2014/main" id="{422BD97B-1347-43C9-A523-1F31FD8F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B46CEFC6-BB00-4D0C-AB65-F3CCE50C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Red de aplicaciones fonoaudiológicas. Evaluación auditiva; voz/habla; ambiente clínico; prevención; pregunta física central.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F27538-BD6B-44C9-98A9-9D4393C2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-1">
            <a:extLst xmlns:a="http://schemas.openxmlformats.org/drawingml/2006/main">
              <a:ext uri="{FF2B5EF4-FFF2-40B4-BE49-F238E27FC236}">
                <a16:creationId xmlns:a16="http://schemas.microsoft.com/office/drawing/2014/main" id="{E443C8B6-4735-4671-B219-735EECED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16A1B5D0-6575-409D-8C6E-58569AB0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4CA5641-D413-4DDC-8783-BE05B928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0E5A66A-BEE9-41DD-961C-B90015A1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AMPLIACIÓN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1FF215-DF60-4B60-B10D-57EE9D1A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app puede explorar; no certificar</a:t>
            </a:r>
          </a:p>
        </p:txBody>
      </p:sp>
      <p:sp>
        <p:nvSpPr>
          <p:cNvPr id="6" name="app-use-heading">
            <a:extLst xmlns:a="http://schemas.openxmlformats.org/drawingml/2006/main">
              <a:ext uri="{FF2B5EF4-FFF2-40B4-BE49-F238E27FC236}">
                <a16:creationId xmlns:a16="http://schemas.microsoft.com/office/drawing/2014/main" id="{EA541386-7C67-4889-87AB-D0154E73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Uso exploratorio posible</a:t>
            </a:r>
          </a:p>
        </p:txBody>
      </p:sp>
      <p:sp>
        <p:nvSpPr>
          <p:cNvPr id="7" name="app-bullet-0">
            <a:extLst xmlns:a="http://schemas.openxmlformats.org/drawingml/2006/main">
              <a:ext uri="{FF2B5EF4-FFF2-40B4-BE49-F238E27FC236}">
                <a16:creationId xmlns:a16="http://schemas.microsoft.com/office/drawing/2014/main" id="{18F88CF0-7077-49E9-9664-DFBD4034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pp-use-0">
            <a:extLst xmlns:a="http://schemas.openxmlformats.org/drawingml/2006/main">
              <a:ext uri="{FF2B5EF4-FFF2-40B4-BE49-F238E27FC236}">
                <a16:creationId xmlns:a16="http://schemas.microsoft.com/office/drawing/2014/main" id="{0F125F65-CD7A-4023-A27A-0D20ED4D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Comparar momentos o lugares con el mismo dispositivo y procedimiento.</a:t>
            </a:r>
          </a:p>
        </p:txBody>
      </p:sp>
      <p:sp>
        <p:nvSpPr>
          <p:cNvPr id="9" name="app-bullet-1">
            <a:extLst xmlns:a="http://schemas.openxmlformats.org/drawingml/2006/main">
              <a:ext uri="{FF2B5EF4-FFF2-40B4-BE49-F238E27FC236}">
                <a16:creationId xmlns:a16="http://schemas.microsoft.com/office/drawing/2014/main" id="{E4852B9A-9E09-4406-A926-85D0020A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pp-use-1">
            <a:extLst xmlns:a="http://schemas.openxmlformats.org/drawingml/2006/main">
              <a:ext uri="{FF2B5EF4-FFF2-40B4-BE49-F238E27FC236}">
                <a16:creationId xmlns:a16="http://schemas.microsoft.com/office/drawing/2014/main" id="{FD0D89C8-7568-4E0F-B84C-2BA80626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Detectar cambios grandes que justifiquen una medición formal.</a:t>
            </a:r>
          </a:p>
        </p:txBody>
      </p:sp>
      <p:sp>
        <p:nvSpPr>
          <p:cNvPr id="11" name="app-bullet-2">
            <a:extLst xmlns:a="http://schemas.openxmlformats.org/drawingml/2006/main">
              <a:ext uri="{FF2B5EF4-FFF2-40B4-BE49-F238E27FC236}">
                <a16:creationId xmlns:a16="http://schemas.microsoft.com/office/drawing/2014/main" id="{849CDB72-65A1-4D24-9DE0-409A4AEE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use-2">
            <a:extLst xmlns:a="http://schemas.openxmlformats.org/drawingml/2006/main">
              <a:ext uri="{FF2B5EF4-FFF2-40B4-BE49-F238E27FC236}">
                <a16:creationId xmlns:a16="http://schemas.microsoft.com/office/drawing/2014/main" id="{2CFB8E27-8A1B-436B-A293-C5FCF75B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Registrar observaciones preliminares.</a:t>
            </a:r>
          </a:p>
        </p:txBody>
      </p:sp>
      <p:sp>
        <p:nvSpPr>
          <p:cNvPr id="13" name="U10-074-claim-alt" descr="Recurso visual previsto: Imagen externa de medición con teléfono/sonómetro o diagrama alternativo; U10-AS-005. ---">
            <a:extLst xmlns:a="http://schemas.openxmlformats.org/drawingml/2006/main">
              <a:ext uri="{FF2B5EF4-FFF2-40B4-BE49-F238E27FC236}">
                <a16:creationId xmlns:a16="http://schemas.microsoft.com/office/drawing/2014/main" id="{8321938A-AD6F-4245-B5C3-D26A5087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0382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1430">
            <a:solidFill>
              <a:srgbClr val="9F541A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9A641E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9A641E"/>
                </a:solidFill>
                <a:latin typeface="Calibri"/>
                <a:ea typeface="Calibri"/>
                <a:cs typeface="Calibri"/>
              </a:rPr>
              <a:t>No certifica sin calibración, respuesta frecuencial conocida, posición, intervalo, ponderaciones, rango e incertidumbre.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53F8FA2-491C-4ECD-9609-7726B1A6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486025BB-C6A0-4C0C-86ED-B5205022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A7197750-EE5C-4E74-AB36-4B29B012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9320746-4975-49C4-8242-B4D9FD73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0351DAD-4E95-4672-8FAD-7D607279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5E681E-4212-4CE3-8005-C5B9F86A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Medir, interpretar y controlar son decisiones encadenadas</a:t>
            </a:r>
          </a:p>
        </p:txBody>
      </p:sp>
      <p:sp>
        <p:nvSpPr>
          <p:cNvPr id="6" name="U10-DG-049-step_1-anchor">
            <a:extLst xmlns:a="http://schemas.openxmlformats.org/drawingml/2006/main">
              <a:ext uri="{FF2B5EF4-FFF2-40B4-BE49-F238E27FC236}">
                <a16:creationId xmlns:a16="http://schemas.microsoft.com/office/drawing/2014/main" id="{E0EBAAB3-4BE7-4461-9298-7FEA24C0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49-step_2-anchor">
            <a:extLst xmlns:a="http://schemas.openxmlformats.org/drawingml/2006/main">
              <a:ext uri="{FF2B5EF4-FFF2-40B4-BE49-F238E27FC236}">
                <a16:creationId xmlns:a16="http://schemas.microsoft.com/office/drawing/2014/main" id="{36F5CE1F-FAF1-47D7-A607-4FDF623F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49-step_3-anchor">
            <a:extLst xmlns:a="http://schemas.openxmlformats.org/drawingml/2006/main">
              <a:ext uri="{FF2B5EF4-FFF2-40B4-BE49-F238E27FC236}">
                <a16:creationId xmlns:a16="http://schemas.microsoft.com/office/drawing/2014/main" id="{D772C649-73A0-46A4-8328-01D5666E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49-step_4-anchor">
            <a:extLst xmlns:a="http://schemas.openxmlformats.org/drawingml/2006/main">
              <a:ext uri="{FF2B5EF4-FFF2-40B4-BE49-F238E27FC236}">
                <a16:creationId xmlns:a16="http://schemas.microsoft.com/office/drawing/2014/main" id="{98AA3A7C-DFB5-418E-88EF-5990C245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49-step_5-anchor">
            <a:extLst xmlns:a="http://schemas.openxmlformats.org/drawingml/2006/main">
              <a:ext uri="{FF2B5EF4-FFF2-40B4-BE49-F238E27FC236}">
                <a16:creationId xmlns:a16="http://schemas.microsoft.com/office/drawing/2014/main" id="{A2D6C287-CF18-4B09-B324-284499E2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49-step_6-anchor">
            <a:extLst xmlns:a="http://schemas.openxmlformats.org/drawingml/2006/main">
              <a:ext uri="{FF2B5EF4-FFF2-40B4-BE49-F238E27FC236}">
                <a16:creationId xmlns:a16="http://schemas.microsoft.com/office/drawing/2014/main" id="{9202C4D4-33E4-4CCF-A79B-1ED7210A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49-flow_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6710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49-flow_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59930" y="237506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49-flow_3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338310" y="2941321"/>
            <a:ext cx="0" cy="74199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49-flow_4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05993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49-flow_5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467100" y="4249580"/>
            <a:ext cx="96393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49-visual-alt" descr="Cadena medir–interpretar–controlar–verificar. Propósito; configuración; dato; inferencia; acción; comprobación. Orden de lectura: Verbos en flechas. ---">
            <a:extLst xmlns:a="http://schemas.openxmlformats.org/drawingml/2006/main">
              <a:ext uri="{FF2B5EF4-FFF2-40B4-BE49-F238E27FC236}">
                <a16:creationId xmlns:a16="http://schemas.microsoft.com/office/drawing/2014/main" id="{4A0A7302-EB77-401C-BCB1-4BB9BB34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49-step_1-text">
            <a:extLst xmlns:a="http://schemas.openxmlformats.org/drawingml/2006/main">
              <a:ext uri="{FF2B5EF4-FFF2-40B4-BE49-F238E27FC236}">
                <a16:creationId xmlns:a16="http://schemas.microsoft.com/office/drawing/2014/main" id="{1F31607F-BB05-47B0-88CD-01AF2DD5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· Definir propósito</a:t>
            </a:r>
          </a:p>
        </p:txBody>
      </p:sp>
      <p:sp>
        <p:nvSpPr>
          <p:cNvPr id="19" name="U10-DG-049-step_2-box">
            <a:extLst xmlns:a="http://schemas.openxmlformats.org/drawingml/2006/main">
              <a:ext uri="{FF2B5EF4-FFF2-40B4-BE49-F238E27FC236}">
                <a16:creationId xmlns:a16="http://schemas.microsoft.com/office/drawing/2014/main" id="{2AB01158-016A-427A-8B52-0472C88F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49-step_2-text">
            <a:extLst xmlns:a="http://schemas.openxmlformats.org/drawingml/2006/main">
              <a:ext uri="{FF2B5EF4-FFF2-40B4-BE49-F238E27FC236}">
                <a16:creationId xmlns:a16="http://schemas.microsoft.com/office/drawing/2014/main" id="{A5789CDE-051C-49BD-9987-C29C8AAB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 · Configurar medición</a:t>
            </a:r>
          </a:p>
        </p:txBody>
      </p:sp>
      <p:sp>
        <p:nvSpPr>
          <p:cNvPr id="21" name="U10-DG-049-step_3-box">
            <a:extLst xmlns:a="http://schemas.openxmlformats.org/drawingml/2006/main">
              <a:ext uri="{FF2B5EF4-FFF2-40B4-BE49-F238E27FC236}">
                <a16:creationId xmlns:a16="http://schemas.microsoft.com/office/drawing/2014/main" id="{9F37E761-E915-46A6-B733-AE7CCE7E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180879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49-step_3-text">
            <a:extLst xmlns:a="http://schemas.openxmlformats.org/drawingml/2006/main">
              <a:ext uri="{FF2B5EF4-FFF2-40B4-BE49-F238E27FC236}">
                <a16:creationId xmlns:a16="http://schemas.microsoft.com/office/drawing/2014/main" id="{22BAB343-3DD4-485E-82A1-234C4468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93262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 · Obtener dato</a:t>
            </a:r>
          </a:p>
        </p:txBody>
      </p:sp>
      <p:sp>
        <p:nvSpPr>
          <p:cNvPr id="23" name="U10-DG-049-step_4-box">
            <a:extLst xmlns:a="http://schemas.openxmlformats.org/drawingml/2006/main">
              <a:ext uri="{FF2B5EF4-FFF2-40B4-BE49-F238E27FC236}">
                <a16:creationId xmlns:a16="http://schemas.microsoft.com/office/drawing/2014/main" id="{E315D207-833E-4C19-8561-8D663D3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49-step_4-text">
            <a:extLst xmlns:a="http://schemas.openxmlformats.org/drawingml/2006/main">
              <a:ext uri="{FF2B5EF4-FFF2-40B4-BE49-F238E27FC236}">
                <a16:creationId xmlns:a16="http://schemas.microsoft.com/office/drawing/2014/main" id="{BAE0AC7E-B66B-4E21-BAB9-30C95E5C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 · Interpretar</a:t>
            </a:r>
          </a:p>
        </p:txBody>
      </p:sp>
      <p:sp>
        <p:nvSpPr>
          <p:cNvPr id="25" name="U10-DG-049-step_5-box">
            <a:extLst xmlns:a="http://schemas.openxmlformats.org/drawingml/2006/main">
              <a:ext uri="{FF2B5EF4-FFF2-40B4-BE49-F238E27FC236}">
                <a16:creationId xmlns:a16="http://schemas.microsoft.com/office/drawing/2014/main" id="{8FCE5407-2A95-4B79-BDCA-49D8A831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03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6" name="U10-DG-049-step_5-text">
            <a:extLst xmlns:a="http://schemas.openxmlformats.org/drawingml/2006/main">
              <a:ext uri="{FF2B5EF4-FFF2-40B4-BE49-F238E27FC236}">
                <a16:creationId xmlns:a16="http://schemas.microsoft.com/office/drawing/2014/main" id="{C496BF62-E0A6-4607-B5F3-1D28E8EF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 · Actuar</a:t>
            </a:r>
          </a:p>
        </p:txBody>
      </p:sp>
      <p:sp>
        <p:nvSpPr>
          <p:cNvPr id="27" name="U10-DG-049-step_6-box">
            <a:extLst xmlns:a="http://schemas.openxmlformats.org/drawingml/2006/main">
              <a:ext uri="{FF2B5EF4-FFF2-40B4-BE49-F238E27FC236}">
                <a16:creationId xmlns:a16="http://schemas.microsoft.com/office/drawing/2014/main" id="{184D617E-73FD-4E6E-8A5C-2E4BD306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3318"/>
            <a:ext cx="262890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8" name="U10-DG-049-step_6-text">
            <a:extLst xmlns:a="http://schemas.openxmlformats.org/drawingml/2006/main">
              <a:ext uri="{FF2B5EF4-FFF2-40B4-BE49-F238E27FC236}">
                <a16:creationId xmlns:a16="http://schemas.microsoft.com/office/drawing/2014/main" id="{6DF8D67B-EAB1-4E29-B9EF-69FEB7B0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07143"/>
            <a:ext cx="228600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6 · Verificar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56B29720-FFFA-4EB6-A139-79666B5F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Cadena medir–interpretar–controlar–verificar. Propósito; configuración; dato; inferencia; acción; comprobación.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68E6A99-BCCC-4F92-B284-AF43DFB9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7E97DA4C-2350-4F19-9226-65B06B3B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1DD62A37-FC28-40A7-B2D4-DB1B3EBB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¿Cómo se caracteriza un problema real sin saltar pasos?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6707AD2B-459E-4E60-A42C-107ECBC3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Pregunta integradora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68C159-FE2A-46C3-ACCE-5348B3C1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rail-1">
            <a:extLst xmlns:a="http://schemas.openxmlformats.org/drawingml/2006/main">
              <a:ext uri="{FF2B5EF4-FFF2-40B4-BE49-F238E27FC236}">
                <a16:creationId xmlns:a16="http://schemas.microsoft.com/office/drawing/2014/main" id="{DC366BDA-C471-44DD-932E-1C2A6E67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6AE5398-ED30-4896-A523-68563B4E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679812A-BA12-43F8-ABD4-D3126458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67AFE1D-AAED-4671-AE87-0F36605C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ENCUENTRO 3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EB97CB-9D93-4FBF-B293-F801B54B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consultorio contiene varias señales y varias tareas</a:t>
            </a:r>
          </a:p>
        </p:txBody>
      </p:sp>
      <p:sp>
        <p:nvSpPr>
          <p:cNvPr id="6" name="U10-DG-050-source-anchor">
            <a:extLst xmlns:a="http://schemas.openxmlformats.org/drawingml/2006/main">
              <a:ext uri="{FF2B5EF4-FFF2-40B4-BE49-F238E27FC236}">
                <a16:creationId xmlns:a16="http://schemas.microsoft.com/office/drawing/2014/main" id="{170D6A35-FE4A-4273-99BA-43812DAF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0-path_top-anchor">
            <a:extLst xmlns:a="http://schemas.openxmlformats.org/drawingml/2006/main">
              <a:ext uri="{FF2B5EF4-FFF2-40B4-BE49-F238E27FC236}">
                <a16:creationId xmlns:a16="http://schemas.microsoft.com/office/drawing/2014/main" id="{D20FBBBE-4D2D-4760-A38C-9A423D4A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0-path_bottom-anchor">
            <a:extLst xmlns:a="http://schemas.openxmlformats.org/drawingml/2006/main">
              <a:ext uri="{FF2B5EF4-FFF2-40B4-BE49-F238E27FC236}">
                <a16:creationId xmlns:a16="http://schemas.microsoft.com/office/drawing/2014/main" id="{811036D1-7DD4-4B7F-B0C9-A2C74811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0-space-anchor">
            <a:extLst xmlns:a="http://schemas.openxmlformats.org/drawingml/2006/main">
              <a:ext uri="{FF2B5EF4-FFF2-40B4-BE49-F238E27FC236}">
                <a16:creationId xmlns:a16="http://schemas.microsoft.com/office/drawing/2014/main" id="{0552D365-A7EE-4AF2-8014-9C3EF672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0-receiver-anchor">
            <a:extLst xmlns:a="http://schemas.openxmlformats.org/drawingml/2006/main">
              <a:ext uri="{FF2B5EF4-FFF2-40B4-BE49-F238E27FC236}">
                <a16:creationId xmlns:a16="http://schemas.microsoft.com/office/drawing/2014/main" id="{FE1B7C75-11D7-4B4A-8BD9-79DE8908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50-condition-anchor">
            <a:extLst xmlns:a="http://schemas.openxmlformats.org/drawingml/2006/main">
              <a:ext uri="{FF2B5EF4-FFF2-40B4-BE49-F238E27FC236}">
                <a16:creationId xmlns:a16="http://schemas.microsoft.com/office/drawing/2014/main" id="{A3F9E9B5-C30F-43F1-BF51-FF5EFEFC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U10-DG-050-route_1a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77540" y="1577340"/>
            <a:ext cx="2594610" cy="140303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U10-DG-050-route_1b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57850" y="2140744"/>
            <a:ext cx="262890" cy="83962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U10-DG-050-route_2a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77540" y="2980373"/>
            <a:ext cx="2594610" cy="1676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5" name="U10-DG-050-route_2b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657850" y="2980373"/>
            <a:ext cx="262890" cy="1112996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6" name="U10-DG-050-route_3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11490" y="2980373"/>
            <a:ext cx="3067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7" name="U10-DG-050-visual-alt" descr="Base del caso integrador. Avenida; HVAC; puerta; consultorio; conversación; prueba; tres receptores. Orden de lectura: Rutas numeradas y leyenda estable. ---">
            <a:extLst xmlns:a="http://schemas.openxmlformats.org/drawingml/2006/main">
              <a:ext uri="{FF2B5EF4-FFF2-40B4-BE49-F238E27FC236}">
                <a16:creationId xmlns:a16="http://schemas.microsoft.com/office/drawing/2014/main" id="{8A8F076A-0B30-4D31-82D7-F558AAE4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2433638"/>
            <a:ext cx="2409825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50-source-text">
            <a:extLst xmlns:a="http://schemas.openxmlformats.org/drawingml/2006/main">
              <a:ext uri="{FF2B5EF4-FFF2-40B4-BE49-F238E27FC236}">
                <a16:creationId xmlns:a16="http://schemas.microsoft.com/office/drawing/2014/main" id="{DF10D54A-5616-4220-AB4B-4EF536D3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2557463"/>
            <a:ext cx="2066925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Avenida</a:t>
            </a:r>
          </a:p>
        </p:txBody>
      </p:sp>
      <p:sp>
        <p:nvSpPr>
          <p:cNvPr id="19" name="U10-DG-050-path_top-box">
            <a:extLst xmlns:a="http://schemas.openxmlformats.org/drawingml/2006/main">
              <a:ext uri="{FF2B5EF4-FFF2-40B4-BE49-F238E27FC236}">
                <a16:creationId xmlns:a16="http://schemas.microsoft.com/office/drawing/2014/main" id="{2C15D340-2358-4974-ACB0-901C9BA8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0" name="U10-DG-050-path_top-text">
            <a:extLst xmlns:a="http://schemas.openxmlformats.org/drawingml/2006/main">
              <a:ext uri="{FF2B5EF4-FFF2-40B4-BE49-F238E27FC236}">
                <a16:creationId xmlns:a16="http://schemas.microsoft.com/office/drawing/2014/main" id="{DC387DA7-D34B-4876-AC10-4DEDDEA6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1815465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HVAC</a:t>
            </a:r>
          </a:p>
        </p:txBody>
      </p:sp>
      <p:sp>
        <p:nvSpPr>
          <p:cNvPr id="21" name="U10-DG-050-path_bottom-box">
            <a:extLst xmlns:a="http://schemas.openxmlformats.org/drawingml/2006/main">
              <a:ext uri="{FF2B5EF4-FFF2-40B4-BE49-F238E27FC236}">
                <a16:creationId xmlns:a16="http://schemas.microsoft.com/office/drawing/2014/main" id="{0E644E79-294D-4831-8178-C9496AB6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44265"/>
            <a:ext cx="2366010" cy="898208"/>
          </a:xfrm>
          <a:prstGeom xmlns:a="http://schemas.openxmlformats.org/drawingml/2006/main" prst="roundRect">
            <a:avLst>
              <a:gd name="adj" fmla="val 742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50-path_bottom-text">
            <a:extLst xmlns:a="http://schemas.openxmlformats.org/drawingml/2006/main">
              <a:ext uri="{FF2B5EF4-FFF2-40B4-BE49-F238E27FC236}">
                <a16:creationId xmlns:a16="http://schemas.microsoft.com/office/drawing/2014/main" id="{50212389-949D-47BE-9E4B-C02B54C3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3768090"/>
            <a:ext cx="2023110" cy="650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Puerta</a:t>
            </a:r>
          </a:p>
        </p:txBody>
      </p:sp>
      <p:sp>
        <p:nvSpPr>
          <p:cNvPr id="23" name="U10-DG-050-space-box">
            <a:extLst xmlns:a="http://schemas.openxmlformats.org/drawingml/2006/main">
              <a:ext uri="{FF2B5EF4-FFF2-40B4-BE49-F238E27FC236}">
                <a16:creationId xmlns:a16="http://schemas.microsoft.com/office/drawing/2014/main" id="{61DEE00F-C768-4798-9825-6A404226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40" y="2433638"/>
            <a:ext cx="219075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50-space-text">
            <a:extLst xmlns:a="http://schemas.openxmlformats.org/drawingml/2006/main">
              <a:ext uri="{FF2B5EF4-FFF2-40B4-BE49-F238E27FC236}">
                <a16:creationId xmlns:a16="http://schemas.microsoft.com/office/drawing/2014/main" id="{0190996C-DFE9-415B-8788-61C5538E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2557463"/>
            <a:ext cx="184785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Consultorio</a:t>
            </a:r>
          </a:p>
        </p:txBody>
      </p:sp>
      <p:sp>
        <p:nvSpPr>
          <p:cNvPr id="25" name="U10-DG-050-receiver-box">
            <a:extLst xmlns:a="http://schemas.openxmlformats.org/drawingml/2006/main">
              <a:ext uri="{FF2B5EF4-FFF2-40B4-BE49-F238E27FC236}">
                <a16:creationId xmlns:a16="http://schemas.microsoft.com/office/drawing/2014/main" id="{34CFB52E-D347-4964-8CCD-839867A5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2433638"/>
            <a:ext cx="2278380" cy="109347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50-receiver-text">
            <a:extLst xmlns:a="http://schemas.openxmlformats.org/drawingml/2006/main">
              <a:ext uri="{FF2B5EF4-FFF2-40B4-BE49-F238E27FC236}">
                <a16:creationId xmlns:a16="http://schemas.microsoft.com/office/drawing/2014/main" id="{8083719C-346F-4539-8B65-50B018AD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645" y="2557463"/>
            <a:ext cx="1935480" cy="845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27" name="U10-DG-050-condition-box">
            <a:extLst xmlns:a="http://schemas.openxmlformats.org/drawingml/2006/main">
              <a:ext uri="{FF2B5EF4-FFF2-40B4-BE49-F238E27FC236}">
                <a16:creationId xmlns:a16="http://schemas.microsoft.com/office/drawing/2014/main" id="{D88A3D41-602F-41BA-9BD0-A2462C78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15840"/>
            <a:ext cx="5476875" cy="54673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8" name="U10-DG-050-condition-text">
            <a:extLst xmlns:a="http://schemas.openxmlformats.org/drawingml/2006/main">
              <a:ext uri="{FF2B5EF4-FFF2-40B4-BE49-F238E27FC236}">
                <a16:creationId xmlns:a16="http://schemas.microsoft.com/office/drawing/2014/main" id="{D70CD4C6-1B46-4E20-A2FB-58E6AA06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290" y="4939665"/>
            <a:ext cx="5133975" cy="299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Prueba · tres receptores</a:t>
            </a:r>
          </a:p>
        </p:txBody>
      </p:sp>
      <p:sp>
        <p:nvSpPr>
          <p:cNvPr id="29" name="caption">
            <a:extLst xmlns:a="http://schemas.openxmlformats.org/drawingml/2006/main">
              <a:ext uri="{FF2B5EF4-FFF2-40B4-BE49-F238E27FC236}">
                <a16:creationId xmlns:a16="http://schemas.microsoft.com/office/drawing/2014/main" id="{3CA537F1-8EF7-40E1-BE05-95D20EE0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Base del caso integrador. Avenida; HVAC; puerta; consultorio; conversación; prueba; tres receptores.</a:t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931195F-6BCD-49E4-B282-DB65DD64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967ABF49-F6C1-4A18-894E-2FB880CE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49D9D34-139E-4B25-BB4E-9FEE9364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ED99D94-DE07-471B-B386-51EE0806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C42F1BC-77FC-4C1C-978F-CC5A7F01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E655E3-FBEA-4D40-AF03-BBFA7936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Primera capa: evolución temporal y estadística</a:t>
            </a:r>
          </a:p>
        </p:txBody>
      </p:sp>
      <p:pic>
        <p:nvPicPr>
          <p:cNvPr id="17" name="U10-CH-014-chart" descr="Capa temporal del caso. DG-050 + ventanas y trazas CH-014. Orden de lectura: Líderes desde fuente a minigráfico. Tres minipaneles muestran nivel relativo por tránsito con envolvente lenta, climatización continua y portazos impulsivos. ---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87d20589b4d05">
            <a:extLst>
              <a:ext uri="{96DAC541-7B7A-43D3-8B79-37D633B846F1}">
                <asvg:svgBlip xmlns:asvg="http://schemas.microsoft.com/office/drawing/2016/SVG/main" r:embed="R96d26e2e409a4a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1504950"/>
            <a:ext cx="7191375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case-temporal-0">
            <a:extLst xmlns:a="http://schemas.openxmlformats.org/drawingml/2006/main">
              <a:ext uri="{FF2B5EF4-FFF2-40B4-BE49-F238E27FC236}">
                <a16:creationId xmlns:a16="http://schemas.microsoft.com/office/drawing/2014/main" id="{BB2E8FAF-CF1F-43A7-9306-F959783D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47662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2383">
            <a:solidFill>
              <a:srgbClr val="2F7E8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Tránsito · ventana larga · Lₑq,T</a:t>
            </a:r>
          </a:p>
        </p:txBody>
      </p:sp>
      <p:sp>
        <p:nvSpPr>
          <p:cNvPr id="8" name="case-temporal-1">
            <a:extLst xmlns:a="http://schemas.openxmlformats.org/drawingml/2006/main">
              <a:ext uri="{FF2B5EF4-FFF2-40B4-BE49-F238E27FC236}">
                <a16:creationId xmlns:a16="http://schemas.microsoft.com/office/drawing/2014/main" id="{FCC782A3-1541-4D6D-BEF4-479164A4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28950"/>
            <a:ext cx="347662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2383">
            <a:solidFill>
              <a:srgbClr val="4D1434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Climatización · ventana estable · Lₑq,T</a:t>
            </a:r>
          </a:p>
        </p:txBody>
      </p:sp>
      <p:sp>
        <p:nvSpPr>
          <p:cNvPr id="9" name="case-temporal-2">
            <a:extLst xmlns:a="http://schemas.openxmlformats.org/drawingml/2006/main">
              <a:ext uri="{FF2B5EF4-FFF2-40B4-BE49-F238E27FC236}">
                <a16:creationId xmlns:a16="http://schemas.microsoft.com/office/drawing/2014/main" id="{BC47B9DB-3612-4DBC-9CB1-C8CEAC9D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48150"/>
            <a:ext cx="3476625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2383">
            <a:solidFill>
              <a:srgbClr val="9F541A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Portazos · ventana de evento · Lₚₑₐₖ / Lₘₐₓ</a:t>
            </a:r>
          </a:p>
        </p:txBody>
      </p:sp>
      <p:sp>
        <p:nvSpPr>
          <p:cNvPr id="10" name="caption">
            <a:extLst xmlns:a="http://schemas.openxmlformats.org/drawingml/2006/main">
              <a:ext uri="{FF2B5EF4-FFF2-40B4-BE49-F238E27FC236}">
                <a16:creationId xmlns:a16="http://schemas.microsoft.com/office/drawing/2014/main" id="{4296AF15-D03A-4C10-9D0B-55B21F0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Caso simulado: ventanas temporales, trazas y elección del descriptor; niveles relativos, no mediciones.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EB75B3-14D6-4C14-BE11-BBCB9A1E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DDBB2546-9187-48AA-BFCB-D4F7B4B2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AA1A418-B341-4FC3-B3D6-5CF83DB2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D2258A3-A3B9-4A58-8376-7B2026EF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46771CE-88EA-431E-AABD-9F60D5AF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464D34-66C6-41FF-A2EF-A207BC27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Segunda capa: espectro, equivalente, extremos y SNR</a:t>
            </a:r>
          </a:p>
        </p:txBody>
      </p:sp>
      <p:sp>
        <p:nvSpPr>
          <p:cNvPr id="6" name="U10-DG-052-concept_1-anchor">
            <a:extLst xmlns:a="http://schemas.openxmlformats.org/drawingml/2006/main">
              <a:ext uri="{FF2B5EF4-FFF2-40B4-BE49-F238E27FC236}">
                <a16:creationId xmlns:a16="http://schemas.microsoft.com/office/drawing/2014/main" id="{62771D3A-6CB7-4319-8522-29C4D75A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2-concept_2-anchor">
            <a:extLst xmlns:a="http://schemas.openxmlformats.org/drawingml/2006/main">
              <a:ext uri="{FF2B5EF4-FFF2-40B4-BE49-F238E27FC236}">
                <a16:creationId xmlns:a16="http://schemas.microsoft.com/office/drawing/2014/main" id="{3A612C8A-B7F6-461B-868D-376635E8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2-concept_3-anchor">
            <a:extLst xmlns:a="http://schemas.openxmlformats.org/drawingml/2006/main">
              <a:ext uri="{FF2B5EF4-FFF2-40B4-BE49-F238E27FC236}">
                <a16:creationId xmlns:a16="http://schemas.microsoft.com/office/drawing/2014/main" id="{FE310878-5ED5-4C1A-B874-DB12275D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2-concept_4-anchor">
            <a:extLst xmlns:a="http://schemas.openxmlformats.org/drawingml/2006/main">
              <a:ext uri="{FF2B5EF4-FFF2-40B4-BE49-F238E27FC236}">
                <a16:creationId xmlns:a16="http://schemas.microsoft.com/office/drawing/2014/main" id="{767A82F0-75B3-4261-B4AB-FFD1D8FA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2-concept_5-anchor">
            <a:extLst xmlns:a="http://schemas.openxmlformats.org/drawingml/2006/main">
              <a:ext uri="{FF2B5EF4-FFF2-40B4-BE49-F238E27FC236}">
                <a16:creationId xmlns:a16="http://schemas.microsoft.com/office/drawing/2014/main" id="{BD0B1716-9FDA-49A2-9A46-621F87C7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52-visual-alt" descr="Capa espectro/nivel/SNR. DG-050 + bandas, indicador por fuente y conversación objetivo. Orden de lectura: Líderes “medir por bandas”, “comparar”. ---">
            <a:extLst xmlns:a="http://schemas.openxmlformats.org/drawingml/2006/main">
              <a:ext uri="{FF2B5EF4-FFF2-40B4-BE49-F238E27FC236}">
                <a16:creationId xmlns:a16="http://schemas.microsoft.com/office/drawing/2014/main" id="{9DA09D3B-F814-4EDB-9AB7-DFE82F1C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52-concept_1-text">
            <a:extLst xmlns:a="http://schemas.openxmlformats.org/drawingml/2006/main">
              <a:ext uri="{FF2B5EF4-FFF2-40B4-BE49-F238E27FC236}">
                <a16:creationId xmlns:a16="http://schemas.microsoft.com/office/drawing/2014/main" id="{F1FA2C12-B77C-48A9-986E-0B9F7C20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Tránsito · medir por bandas</a:t>
            </a:r>
          </a:p>
        </p:txBody>
      </p:sp>
      <p:sp>
        <p:nvSpPr>
          <p:cNvPr id="13" name="U10-DG-052-concept_2-box">
            <a:extLst xmlns:a="http://schemas.openxmlformats.org/drawingml/2006/main">
              <a:ext uri="{FF2B5EF4-FFF2-40B4-BE49-F238E27FC236}">
                <a16:creationId xmlns:a16="http://schemas.microsoft.com/office/drawing/2014/main" id="{77DD8AAF-EAC8-4414-AE37-D85D7FF8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52-concept_2-text">
            <a:extLst xmlns:a="http://schemas.openxmlformats.org/drawingml/2006/main">
              <a:ext uri="{FF2B5EF4-FFF2-40B4-BE49-F238E27FC236}">
                <a16:creationId xmlns:a16="http://schemas.microsoft.com/office/drawing/2014/main" id="{B371620E-7D0D-4CAC-AFC8-1C772320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HVAC · Lₐeq,T</a:t>
            </a:r>
          </a:p>
        </p:txBody>
      </p:sp>
      <p:sp>
        <p:nvSpPr>
          <p:cNvPr id="15" name="U10-DG-052-concept_3-box">
            <a:extLst xmlns:a="http://schemas.openxmlformats.org/drawingml/2006/main">
              <a:ext uri="{FF2B5EF4-FFF2-40B4-BE49-F238E27FC236}">
                <a16:creationId xmlns:a16="http://schemas.microsoft.com/office/drawing/2014/main" id="{0965FE29-DC47-4E7C-90E3-A9827481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52-concept_3-text">
            <a:extLst xmlns:a="http://schemas.openxmlformats.org/drawingml/2006/main">
              <a:ext uri="{FF2B5EF4-FFF2-40B4-BE49-F238E27FC236}">
                <a16:creationId xmlns:a16="http://schemas.microsoft.com/office/drawing/2014/main" id="{CEB4CD1F-C900-4738-8725-7E49ABC5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Portazo · pico / máximo</a:t>
            </a:r>
          </a:p>
        </p:txBody>
      </p:sp>
      <p:sp>
        <p:nvSpPr>
          <p:cNvPr id="17" name="U10-DG-052-concept_4-box">
            <a:extLst xmlns:a="http://schemas.openxmlformats.org/drawingml/2006/main">
              <a:ext uri="{FF2B5EF4-FFF2-40B4-BE49-F238E27FC236}">
                <a16:creationId xmlns:a16="http://schemas.microsoft.com/office/drawing/2014/main" id="{DD76AA08-D1F7-4CF8-A97B-B75E7C6B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52-concept_4-text">
            <a:extLst xmlns:a="http://schemas.openxmlformats.org/drawingml/2006/main">
              <a:ext uri="{FF2B5EF4-FFF2-40B4-BE49-F238E27FC236}">
                <a16:creationId xmlns:a16="http://schemas.microsoft.com/office/drawing/2014/main" id="{81551CCD-07FA-4C54-A7D5-1D0EA502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Conversación · SNR</a:t>
            </a:r>
          </a:p>
        </p:txBody>
      </p:sp>
      <p:sp>
        <p:nvSpPr>
          <p:cNvPr id="19" name="U10-DG-052-concept_5-box">
            <a:extLst xmlns:a="http://schemas.openxmlformats.org/drawingml/2006/main">
              <a:ext uri="{FF2B5EF4-FFF2-40B4-BE49-F238E27FC236}">
                <a16:creationId xmlns:a16="http://schemas.microsoft.com/office/drawing/2014/main" id="{3C60770C-51F7-4474-85D3-0F0D7B83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52-concept_5-text">
            <a:extLst xmlns:a="http://schemas.openxmlformats.org/drawingml/2006/main">
              <a:ext uri="{FF2B5EF4-FFF2-40B4-BE49-F238E27FC236}">
                <a16:creationId xmlns:a16="http://schemas.microsoft.com/office/drawing/2014/main" id="{DE45CA2C-5E9B-4FF8-AD1A-A48C7A5F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Sin valores inventados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A839A4A2-DA53-4A3B-89AC-CB41810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Capa espectro/nivel/SNR. DG-050 + bandas, indicador por fuente y conversación objetivo.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AFBAAB-4E0D-4CCE-8054-882CCD76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-1">
            <a:extLst xmlns:a="http://schemas.openxmlformats.org/drawingml/2006/main">
              <a:ext uri="{FF2B5EF4-FFF2-40B4-BE49-F238E27FC236}">
                <a16:creationId xmlns:a16="http://schemas.microsoft.com/office/drawing/2014/main" id="{5636C942-F37C-474E-B1A0-1E940D9A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741C9A3-A97C-4715-8ED6-42C6FA83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007EEDEB-E8DC-45F1-BDFA-E216B996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E7348C1-1781-4A82-8290-F2E27A8E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BC6230-6D44-40ED-986E-F0F6D4CC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25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Tercera capa: señal deliberada, control y fuente de autoridad</a:t>
            </a:r>
          </a:p>
        </p:txBody>
      </p:sp>
      <p:sp>
        <p:nvSpPr>
          <p:cNvPr id="6" name="U10-DG-053-concept_1-anchor">
            <a:extLst xmlns:a="http://schemas.openxmlformats.org/drawingml/2006/main">
              <a:ext uri="{FF2B5EF4-FFF2-40B4-BE49-F238E27FC236}">
                <a16:creationId xmlns:a16="http://schemas.microsoft.com/office/drawing/2014/main" id="{7F38F725-DDC6-40F5-A0F9-C468AEF0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3-concept_2-anchor">
            <a:extLst xmlns:a="http://schemas.openxmlformats.org/drawingml/2006/main">
              <a:ext uri="{FF2B5EF4-FFF2-40B4-BE49-F238E27FC236}">
                <a16:creationId xmlns:a16="http://schemas.microsoft.com/office/drawing/2014/main" id="{6A266C41-881D-473E-BEBC-30474991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3-concept_3-anchor">
            <a:extLst xmlns:a="http://schemas.openxmlformats.org/drawingml/2006/main">
              <a:ext uri="{FF2B5EF4-FFF2-40B4-BE49-F238E27FC236}">
                <a16:creationId xmlns:a16="http://schemas.microsoft.com/office/drawing/2014/main" id="{35BC1A1A-6664-4E68-8C27-DBCED16A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3-concept_4-anchor">
            <a:extLst xmlns:a="http://schemas.openxmlformats.org/drawingml/2006/main">
              <a:ext uri="{FF2B5EF4-FFF2-40B4-BE49-F238E27FC236}">
                <a16:creationId xmlns:a16="http://schemas.microsoft.com/office/drawing/2014/main" id="{BFA0C704-4C9F-422C-9BAA-95D7DDC5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3-concept_5-anchor">
            <a:extLst xmlns:a="http://schemas.openxmlformats.org/drawingml/2006/main">
              <a:ext uri="{FF2B5EF4-FFF2-40B4-BE49-F238E27FC236}">
                <a16:creationId xmlns:a16="http://schemas.microsoft.com/office/drawing/2014/main" id="{5AF6BA04-F5C7-47C0-A49B-523317C5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53-visual-alt" descr="Capa señal deliberada/control/autoridad. DG-050 + enmascarador; controles; cajas norma/protocolo. Orden de lectura: “requiere fuente”, “actuar aquí”. ---">
            <a:extLst xmlns:a="http://schemas.openxmlformats.org/drawingml/2006/main">
              <a:ext uri="{FF2B5EF4-FFF2-40B4-BE49-F238E27FC236}">
                <a16:creationId xmlns:a16="http://schemas.microsoft.com/office/drawing/2014/main" id="{85BB71F3-AE43-4D1D-BE24-B63D1988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2" name="U10-DG-053-concept_1-text">
            <a:extLst xmlns:a="http://schemas.openxmlformats.org/drawingml/2006/main">
              <a:ext uri="{FF2B5EF4-FFF2-40B4-BE49-F238E27FC236}">
                <a16:creationId xmlns:a16="http://schemas.microsoft.com/office/drawing/2014/main" id="{E95F48C7-D703-4571-AF31-AA02801E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Enmascarador deliberado</a:t>
            </a:r>
          </a:p>
        </p:txBody>
      </p:sp>
      <p:sp>
        <p:nvSpPr>
          <p:cNvPr id="13" name="U10-DG-053-concept_2-box">
            <a:extLst xmlns:a="http://schemas.openxmlformats.org/drawingml/2006/main">
              <a:ext uri="{FF2B5EF4-FFF2-40B4-BE49-F238E27FC236}">
                <a16:creationId xmlns:a16="http://schemas.microsoft.com/office/drawing/2014/main" id="{42F2C08B-D3C1-466D-B225-3F0DA978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4" name="U10-DG-053-concept_2-text">
            <a:extLst xmlns:a="http://schemas.openxmlformats.org/drawingml/2006/main">
              <a:ext uri="{FF2B5EF4-FFF2-40B4-BE49-F238E27FC236}">
                <a16:creationId xmlns:a16="http://schemas.microsoft.com/office/drawing/2014/main" id="{B1B0F61D-C154-4F99-848E-ACFF6549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Control en fuente</a:t>
            </a:r>
          </a:p>
        </p:txBody>
      </p:sp>
      <p:sp>
        <p:nvSpPr>
          <p:cNvPr id="15" name="U10-DG-053-concept_3-box">
            <a:extLst xmlns:a="http://schemas.openxmlformats.org/drawingml/2006/main">
              <a:ext uri="{FF2B5EF4-FFF2-40B4-BE49-F238E27FC236}">
                <a16:creationId xmlns:a16="http://schemas.microsoft.com/office/drawing/2014/main" id="{AD8208ED-5BD3-44D0-A760-F95232D6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6" name="U10-DG-053-concept_3-text">
            <a:extLst xmlns:a="http://schemas.openxmlformats.org/drawingml/2006/main">
              <a:ext uri="{FF2B5EF4-FFF2-40B4-BE49-F238E27FC236}">
                <a16:creationId xmlns:a16="http://schemas.microsoft.com/office/drawing/2014/main" id="{706F71BC-E4D1-49CA-A8CF-BFE0F0A7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Control en trayecto</a:t>
            </a:r>
          </a:p>
        </p:txBody>
      </p:sp>
      <p:sp>
        <p:nvSpPr>
          <p:cNvPr id="17" name="U10-DG-053-concept_4-box">
            <a:extLst xmlns:a="http://schemas.openxmlformats.org/drawingml/2006/main">
              <a:ext uri="{FF2B5EF4-FFF2-40B4-BE49-F238E27FC236}">
                <a16:creationId xmlns:a16="http://schemas.microsoft.com/office/drawing/2014/main" id="{05058FAA-1CE6-4192-870F-C0266DE8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8" name="U10-DG-053-concept_4-text">
            <a:extLst xmlns:a="http://schemas.openxmlformats.org/drawingml/2006/main">
              <a:ext uri="{FF2B5EF4-FFF2-40B4-BE49-F238E27FC236}">
                <a16:creationId xmlns:a16="http://schemas.microsoft.com/office/drawing/2014/main" id="{DAD82551-C18D-462C-8BEB-515F65EF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Norma: fuente requerida</a:t>
            </a:r>
          </a:p>
        </p:txBody>
      </p:sp>
      <p:sp>
        <p:nvSpPr>
          <p:cNvPr id="19" name="U10-DG-053-concept_5-box">
            <a:extLst xmlns:a="http://schemas.openxmlformats.org/drawingml/2006/main">
              <a:ext uri="{FF2B5EF4-FFF2-40B4-BE49-F238E27FC236}">
                <a16:creationId xmlns:a16="http://schemas.microsoft.com/office/drawing/2014/main" id="{9CB77720-AF75-4524-BB3D-4EA5F989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3394329"/>
            <a:ext cx="3107944" cy="1483995"/>
          </a:xfrm>
          <a:prstGeom xmlns:a="http://schemas.openxmlformats.org/drawingml/2006/main" prst="roundRect">
            <a:avLst>
              <a:gd name="adj" fmla="val 449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53-concept_5-text">
            <a:extLst xmlns:a="http://schemas.openxmlformats.org/drawingml/2006/main">
              <a:ext uri="{FF2B5EF4-FFF2-40B4-BE49-F238E27FC236}">
                <a16:creationId xmlns:a16="http://schemas.microsoft.com/office/drawing/2014/main" id="{E4D8D540-CA43-4F08-B7EB-39BF230E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518154"/>
            <a:ext cx="2765044" cy="123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Protocolo: autoridad clínica</a:t>
            </a:r>
          </a:p>
        </p:txBody>
      </p:sp>
      <p:sp>
        <p:nvSpPr>
          <p:cNvPr id="21" name="caption">
            <a:extLst xmlns:a="http://schemas.openxmlformats.org/drawingml/2006/main">
              <a:ext uri="{FF2B5EF4-FFF2-40B4-BE49-F238E27FC236}">
                <a16:creationId xmlns:a16="http://schemas.microsoft.com/office/drawing/2014/main" id="{A79855D4-B16F-44A4-88B2-8FA1317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Capa señal deliberada/control/autoridad. DG-050 + enmascarador; controles; cajas norma/protocolo.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47B881-28D1-4788-85FD-F69EB469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-1">
            <a:extLst xmlns:a="http://schemas.openxmlformats.org/drawingml/2006/main">
              <a:ext uri="{FF2B5EF4-FFF2-40B4-BE49-F238E27FC236}">
                <a16:creationId xmlns:a16="http://schemas.microsoft.com/office/drawing/2014/main" id="{DE6B7E43-2BB3-4A8C-A35F-88C826D0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3788DA2-17D7-4454-983D-E6312CBE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126CE2C6-9B60-4CAB-BE69-E4BFBBB5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355A5E5-A412-4B29-B974-BC6FC2D5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3F1E15-E247-42A6-B2F2-F98FF442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Diseñar un plan de caracterización y control</a:t>
            </a:r>
          </a:p>
        </p:txBody>
      </p:sp>
      <p:sp>
        <p:nvSpPr>
          <p:cNvPr id="6" name="U10-DG-054-compare_1-anchor">
            <a:extLst xmlns:a="http://schemas.openxmlformats.org/drawingml/2006/main">
              <a:ext uri="{FF2B5EF4-FFF2-40B4-BE49-F238E27FC236}">
                <a16:creationId xmlns:a16="http://schemas.microsoft.com/office/drawing/2014/main" id="{AB68425D-B188-4C54-AAA9-46AD650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4-compare_2-anchor">
            <a:extLst xmlns:a="http://schemas.openxmlformats.org/drawingml/2006/main">
              <a:ext uri="{FF2B5EF4-FFF2-40B4-BE49-F238E27FC236}">
                <a16:creationId xmlns:a16="http://schemas.microsoft.com/office/drawing/2014/main" id="{6251B86A-270F-4E7F-8287-4CBC637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4-compare_3-anchor">
            <a:extLst xmlns:a="http://schemas.openxmlformats.org/drawingml/2006/main">
              <a:ext uri="{FF2B5EF4-FFF2-40B4-BE49-F238E27FC236}">
                <a16:creationId xmlns:a16="http://schemas.microsoft.com/office/drawing/2014/main" id="{985E2F42-99DD-4487-A7BD-A450A9F2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4-compare_4-anchor">
            <a:extLst xmlns:a="http://schemas.openxmlformats.org/drawingml/2006/main">
              <a:ext uri="{FF2B5EF4-FFF2-40B4-BE49-F238E27FC236}">
                <a16:creationId xmlns:a16="http://schemas.microsoft.com/office/drawing/2014/main" id="{4DA80D9E-98C1-4D62-951C-890AA8B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4-compare_5-anchor">
            <a:extLst xmlns:a="http://schemas.openxmlformats.org/drawingml/2006/main">
              <a:ext uri="{FF2B5EF4-FFF2-40B4-BE49-F238E27FC236}">
                <a16:creationId xmlns:a16="http://schemas.microsoft.com/office/drawing/2014/main" id="{F2EB25DE-9F31-4D75-A2DA-4847240A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U10-DG-054-compare_6-anchor">
            <a:extLst xmlns:a="http://schemas.openxmlformats.org/drawingml/2006/main">
              <a:ext uri="{FF2B5EF4-FFF2-40B4-BE49-F238E27FC236}">
                <a16:creationId xmlns:a16="http://schemas.microsoft.com/office/drawing/2014/main" id="{A4FDE97A-73B2-4853-9369-3C8A268B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003548"/>
            <a:ext cx="4469130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U10-DG-054-visual-alt" descr="Matriz de respuesta integradora. Evidencia; descriptor; configuración; interpretación; acción; límite. Orden de lectura: Sin flechas; alineación por fila. ---">
            <a:extLst xmlns:a="http://schemas.openxmlformats.org/drawingml/2006/main">
              <a:ext uri="{FF2B5EF4-FFF2-40B4-BE49-F238E27FC236}">
                <a16:creationId xmlns:a16="http://schemas.microsoft.com/office/drawing/2014/main" id="{C5BA66BC-D4CE-487F-9BAC-0CF8A761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3" name="U10-DG-054-compare_1-text">
            <a:extLst xmlns:a="http://schemas.openxmlformats.org/drawingml/2006/main">
              <a:ext uri="{FF2B5EF4-FFF2-40B4-BE49-F238E27FC236}">
                <a16:creationId xmlns:a16="http://schemas.microsoft.com/office/drawing/2014/main" id="{119525E8-CA8D-4E69-8D46-44580FC6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Evidencia + configuración</a:t>
            </a:r>
          </a:p>
        </p:txBody>
      </p:sp>
      <p:sp>
        <p:nvSpPr>
          <p:cNvPr id="14" name="U10-DG-054-compare_2-box">
            <a:extLst xmlns:a="http://schemas.openxmlformats.org/drawingml/2006/main">
              <a:ext uri="{FF2B5EF4-FFF2-40B4-BE49-F238E27FC236}">
                <a16:creationId xmlns:a16="http://schemas.microsoft.com/office/drawing/2014/main" id="{C25D9FB3-A979-46EB-A7FF-F91EA0D4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1691640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15" name="U10-DG-054-compare_2-text">
            <a:extLst xmlns:a="http://schemas.openxmlformats.org/drawingml/2006/main">
              <a:ext uri="{FF2B5EF4-FFF2-40B4-BE49-F238E27FC236}">
                <a16:creationId xmlns:a16="http://schemas.microsoft.com/office/drawing/2014/main" id="{5EF19149-3962-4531-9FE6-7FA1694F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815465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Descriptor + unidad</a:t>
            </a:r>
          </a:p>
        </p:txBody>
      </p:sp>
      <p:sp>
        <p:nvSpPr>
          <p:cNvPr id="16" name="U10-DG-054-compare_3-box">
            <a:extLst xmlns:a="http://schemas.openxmlformats.org/drawingml/2006/main">
              <a:ext uri="{FF2B5EF4-FFF2-40B4-BE49-F238E27FC236}">
                <a16:creationId xmlns:a16="http://schemas.microsoft.com/office/drawing/2014/main" id="{020EBE8B-ED53-4F3F-B4C4-E1C5A526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17" name="U10-DG-054-compare_3-text">
            <a:extLst xmlns:a="http://schemas.openxmlformats.org/drawingml/2006/main">
              <a:ext uri="{FF2B5EF4-FFF2-40B4-BE49-F238E27FC236}">
                <a16:creationId xmlns:a16="http://schemas.microsoft.com/office/drawing/2014/main" id="{4732E7B9-B9C7-48D5-97A4-87F2151A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Interpretación acotada</a:t>
            </a:r>
          </a:p>
        </p:txBody>
      </p:sp>
      <p:sp>
        <p:nvSpPr>
          <p:cNvPr id="18" name="U10-DG-054-compare_4-box">
            <a:extLst xmlns:a="http://schemas.openxmlformats.org/drawingml/2006/main">
              <a:ext uri="{FF2B5EF4-FFF2-40B4-BE49-F238E27FC236}">
                <a16:creationId xmlns:a16="http://schemas.microsoft.com/office/drawing/2014/main" id="{A01B77B3-098D-449A-956A-238A3CEA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2847594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9" name="U10-DG-054-compare_4-text">
            <a:extLst xmlns:a="http://schemas.openxmlformats.org/drawingml/2006/main">
              <a:ext uri="{FF2B5EF4-FFF2-40B4-BE49-F238E27FC236}">
                <a16:creationId xmlns:a16="http://schemas.microsoft.com/office/drawing/2014/main" id="{C0DF8EEB-9A80-4930-A2F2-6EA49969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971419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Acción + mecanismo</a:t>
            </a:r>
          </a:p>
        </p:txBody>
      </p:sp>
      <p:sp>
        <p:nvSpPr>
          <p:cNvPr id="20" name="U10-DG-054-compare_5-box">
            <a:extLst xmlns:a="http://schemas.openxmlformats.org/drawingml/2006/main">
              <a:ext uri="{FF2B5EF4-FFF2-40B4-BE49-F238E27FC236}">
                <a16:creationId xmlns:a16="http://schemas.microsoft.com/office/drawing/2014/main" id="{56D8CE66-D728-4501-8B15-5723134B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3548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1" name="U10-DG-054-compare_5-text">
            <a:extLst xmlns:a="http://schemas.openxmlformats.org/drawingml/2006/main">
              <a:ext uri="{FF2B5EF4-FFF2-40B4-BE49-F238E27FC236}">
                <a16:creationId xmlns:a16="http://schemas.microsoft.com/office/drawing/2014/main" id="{AAFACD67-F43A-47B4-890A-D3991133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27373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Verificación</a:t>
            </a:r>
          </a:p>
        </p:txBody>
      </p:sp>
      <p:sp>
        <p:nvSpPr>
          <p:cNvPr id="22" name="U10-DG-054-compare_6-box">
            <a:extLst xmlns:a="http://schemas.openxmlformats.org/drawingml/2006/main">
              <a:ext uri="{FF2B5EF4-FFF2-40B4-BE49-F238E27FC236}">
                <a16:creationId xmlns:a16="http://schemas.microsoft.com/office/drawing/2014/main" id="{7231CFD1-A07B-49EC-9893-68F1536B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30" y="4003548"/>
            <a:ext cx="4469130" cy="937260"/>
          </a:xfrm>
          <a:prstGeom xmlns:a="http://schemas.openxmlformats.org/drawingml/2006/main" prst="roundRect">
            <a:avLst>
              <a:gd name="adj" fmla="val 71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3" name="U10-DG-054-compare_6-text">
            <a:extLst xmlns:a="http://schemas.openxmlformats.org/drawingml/2006/main">
              <a:ext uri="{FF2B5EF4-FFF2-40B4-BE49-F238E27FC236}">
                <a16:creationId xmlns:a16="http://schemas.microsoft.com/office/drawing/2014/main" id="{553EB4A1-D6D8-401C-A45E-4F5E2079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27373"/>
            <a:ext cx="4126230" cy="689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Límite / autoridad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A39FA062-E00A-49BE-8A4D-26ACCDDC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Matriz de respuesta integradora. Evidencia; descriptor; configuración; interpretación; acción; límite.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83E206-CABB-48DE-9D5E-596D16A1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op-rail-1">
            <a:extLst xmlns:a="http://schemas.openxmlformats.org/drawingml/2006/main">
              <a:ext uri="{FF2B5EF4-FFF2-40B4-BE49-F238E27FC236}">
                <a16:creationId xmlns:a16="http://schemas.microsoft.com/office/drawing/2014/main" id="{FF2C333D-3391-4ECC-9D4F-9DA014B1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05E38676-7EFF-4F94-ABFF-B15D2B95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CA1DDD78-08FB-4954-9F18-F79F6C2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06A1F710-EDF0-4846-B30A-16E8C134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INTEGRACIÓN · RUTA CENTRAL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B1DE55-F3EF-4BEB-8F9F-93CB471E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Doce afirmaciones para decidir, corregir y justificar</a:t>
            </a:r>
          </a:p>
        </p:txBody>
      </p:sp>
      <p:sp>
        <p:nvSpPr>
          <p:cNvPr id="6" name="U10-082-claim-alt" descr="Recurso visual previsto: Lista progresiva con revelado; sin grilla de checks. ---">
            <a:extLst xmlns:a="http://schemas.openxmlformats.org/drawingml/2006/main">
              <a:ext uri="{FF2B5EF4-FFF2-40B4-BE49-F238E27FC236}">
                <a16:creationId xmlns:a16="http://schemas.microsoft.com/office/drawing/2014/main" id="{17518075-FB23-49C5-BF77-014A80A1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107632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7" name="errors-instruction">
            <a:extLst xmlns:a="http://schemas.openxmlformats.org/drawingml/2006/main">
              <a:ext uri="{FF2B5EF4-FFF2-40B4-BE49-F238E27FC236}">
                <a16:creationId xmlns:a16="http://schemas.microsoft.com/office/drawing/2014/main" id="{97EF8C06-38F3-4D6B-A4EC-587B92D1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Decida: correcta, incorrecta o incompleta, y justifique cuatro en clase.</a:t>
            </a:r>
          </a:p>
        </p:txBody>
      </p:sp>
      <p:sp>
        <p:nvSpPr>
          <p:cNvPr id="8" name="error-n-0">
            <a:extLst xmlns:a="http://schemas.openxmlformats.org/drawingml/2006/main">
              <a:ext uri="{FF2B5EF4-FFF2-40B4-BE49-F238E27FC236}">
                <a16:creationId xmlns:a16="http://schemas.microsoft.com/office/drawing/2014/main" id="{5BF8EA42-5CDA-41BF-A9E5-B6EAE738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9" name="error-num-0">
            <a:extLst xmlns:a="http://schemas.openxmlformats.org/drawingml/2006/main">
              <a:ext uri="{FF2B5EF4-FFF2-40B4-BE49-F238E27FC236}">
                <a16:creationId xmlns:a16="http://schemas.microsoft.com/office/drawing/2014/main" id="{6F3E3C24-2988-49A5-97FC-8881F23D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error-claim-0">
            <a:extLst xmlns:a="http://schemas.openxmlformats.org/drawingml/2006/main">
              <a:ext uri="{FF2B5EF4-FFF2-40B4-BE49-F238E27FC236}">
                <a16:creationId xmlns:a16="http://schemas.microsoft.com/office/drawing/2014/main" id="{BCA0C139-E31B-4606-9172-0F91F719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52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Aleatorio significa imposible de medir.</a:t>
            </a:r>
          </a:p>
        </p:txBody>
      </p:sp>
      <p:sp>
        <p:nvSpPr>
          <p:cNvPr id="11" name="error-n-1">
            <a:extLst xmlns:a="http://schemas.openxmlformats.org/drawingml/2006/main">
              <a:ext uri="{FF2B5EF4-FFF2-40B4-BE49-F238E27FC236}">
                <a16:creationId xmlns:a16="http://schemas.microsoft.com/office/drawing/2014/main" id="{F7E7DAB4-1B35-4D68-91E5-F4C60067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12" name="error-num-1">
            <a:extLst xmlns:a="http://schemas.openxmlformats.org/drawingml/2006/main">
              <a:ext uri="{FF2B5EF4-FFF2-40B4-BE49-F238E27FC236}">
                <a16:creationId xmlns:a16="http://schemas.microsoft.com/office/drawing/2014/main" id="{45F59175-726B-450D-82E5-EC10F5DC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error-claim-1">
            <a:extLst xmlns:a="http://schemas.openxmlformats.org/drawingml/2006/main">
              <a:ext uri="{FF2B5EF4-FFF2-40B4-BE49-F238E27FC236}">
                <a16:creationId xmlns:a16="http://schemas.microsoft.com/office/drawing/2014/main" id="{1133E7F1-C1BF-4A85-8B1D-049DDAAD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955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Estacionario significa constante.</a:t>
            </a:r>
          </a:p>
        </p:txBody>
      </p:sp>
      <p:sp>
        <p:nvSpPr>
          <p:cNvPr id="14" name="error-n-2">
            <a:extLst xmlns:a="http://schemas.openxmlformats.org/drawingml/2006/main">
              <a:ext uri="{FF2B5EF4-FFF2-40B4-BE49-F238E27FC236}">
                <a16:creationId xmlns:a16="http://schemas.microsoft.com/office/drawing/2014/main" id="{B90755AE-4FBF-4E52-83CD-D9D74CD6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15" name="error-num-2">
            <a:extLst xmlns:a="http://schemas.openxmlformats.org/drawingml/2006/main">
              <a:ext uri="{FF2B5EF4-FFF2-40B4-BE49-F238E27FC236}">
                <a16:creationId xmlns:a16="http://schemas.microsoft.com/office/drawing/2014/main" id="{8F82DC9A-C6A3-43B4-9B7E-F4F7552F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error-claim-2">
            <a:extLst xmlns:a="http://schemas.openxmlformats.org/drawingml/2006/main">
              <a:ext uri="{FF2B5EF4-FFF2-40B4-BE49-F238E27FC236}">
                <a16:creationId xmlns:a16="http://schemas.microsoft.com/office/drawing/2014/main" id="{9057C25B-619B-4803-8C2E-49894E95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Blanco conserva igual contenido por octava.</a:t>
            </a:r>
          </a:p>
        </p:txBody>
      </p:sp>
      <p:sp>
        <p:nvSpPr>
          <p:cNvPr id="17" name="error-n-3">
            <a:extLst xmlns:a="http://schemas.openxmlformats.org/drawingml/2006/main">
              <a:ext uri="{FF2B5EF4-FFF2-40B4-BE49-F238E27FC236}">
                <a16:creationId xmlns:a16="http://schemas.microsoft.com/office/drawing/2014/main" id="{7BAF6315-D5AF-4893-9E5A-25E57CA8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18" name="error-num-3">
            <a:extLst xmlns:a="http://schemas.openxmlformats.org/drawingml/2006/main">
              <a:ext uri="{FF2B5EF4-FFF2-40B4-BE49-F238E27FC236}">
                <a16:creationId xmlns:a16="http://schemas.microsoft.com/office/drawing/2014/main" id="{00495671-8166-444D-B193-334F209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error-claim-3">
            <a:extLst xmlns:a="http://schemas.openxmlformats.org/drawingml/2006/main">
              <a:ext uri="{FF2B5EF4-FFF2-40B4-BE49-F238E27FC236}">
                <a16:creationId xmlns:a16="http://schemas.microsoft.com/office/drawing/2014/main" id="{7ABEDC67-9E4C-4387-9EDB-A214A753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8142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Rosa conserva igual densidad por hertz.</a:t>
            </a:r>
          </a:p>
        </p:txBody>
      </p:sp>
      <p:sp>
        <p:nvSpPr>
          <p:cNvPr id="20" name="error-n-4">
            <a:extLst xmlns:a="http://schemas.openxmlformats.org/drawingml/2006/main">
              <a:ext uri="{FF2B5EF4-FFF2-40B4-BE49-F238E27FC236}">
                <a16:creationId xmlns:a16="http://schemas.microsoft.com/office/drawing/2014/main" id="{1ED6140F-10FA-4E31-BBFF-2D9164CE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21" name="error-num-4">
            <a:extLst xmlns:a="http://schemas.openxmlformats.org/drawingml/2006/main">
              <a:ext uri="{FF2B5EF4-FFF2-40B4-BE49-F238E27FC236}">
                <a16:creationId xmlns:a16="http://schemas.microsoft.com/office/drawing/2014/main" id="{E32A0335-B9FD-442C-BD72-4423D2B6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error-claim-4">
            <a:extLst xmlns:a="http://schemas.openxmlformats.org/drawingml/2006/main">
              <a:ext uri="{FF2B5EF4-FFF2-40B4-BE49-F238E27FC236}">
                <a16:creationId xmlns:a16="http://schemas.microsoft.com/office/drawing/2014/main" id="{119FC3E1-572E-4938-A803-7101F986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Igual Lₑq,T implica iguales picos.</a:t>
            </a:r>
          </a:p>
        </p:txBody>
      </p:sp>
      <p:sp>
        <p:nvSpPr>
          <p:cNvPr id="23" name="error-n-5">
            <a:extLst xmlns:a="http://schemas.openxmlformats.org/drawingml/2006/main">
              <a:ext uri="{FF2B5EF4-FFF2-40B4-BE49-F238E27FC236}">
                <a16:creationId xmlns:a16="http://schemas.microsoft.com/office/drawing/2014/main" id="{2413F1F2-329B-4043-897E-6CD9FDDA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24" name="error-num-5">
            <a:extLst xmlns:a="http://schemas.openxmlformats.org/drawingml/2006/main">
              <a:ext uri="{FF2B5EF4-FFF2-40B4-BE49-F238E27FC236}">
                <a16:creationId xmlns:a16="http://schemas.microsoft.com/office/drawing/2014/main" id="{DD124D5B-7ED9-44EA-96C3-C5FE5EA5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5" name="error-claim-5">
            <a:extLst xmlns:a="http://schemas.openxmlformats.org/drawingml/2006/main">
              <a:ext uri="{FF2B5EF4-FFF2-40B4-BE49-F238E27FC236}">
                <a16:creationId xmlns:a16="http://schemas.microsoft.com/office/drawing/2014/main" id="{19143D58-8516-480B-BB35-101744A4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672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Impulse mide L_peak.</a:t>
            </a:r>
          </a:p>
        </p:txBody>
      </p:sp>
      <p:sp>
        <p:nvSpPr>
          <p:cNvPr id="26" name="error-n-6">
            <a:extLst xmlns:a="http://schemas.openxmlformats.org/drawingml/2006/main">
              <a:ext uri="{FF2B5EF4-FFF2-40B4-BE49-F238E27FC236}">
                <a16:creationId xmlns:a16="http://schemas.microsoft.com/office/drawing/2014/main" id="{1FACD27E-006D-4F70-88A9-9E9AC162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27" name="error-num-6">
            <a:extLst xmlns:a="http://schemas.openxmlformats.org/drawingml/2006/main">
              <a:ext uri="{FF2B5EF4-FFF2-40B4-BE49-F238E27FC236}">
                <a16:creationId xmlns:a16="http://schemas.microsoft.com/office/drawing/2014/main" id="{E127CF48-21CC-41AE-BC71-CD8E2A9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28" name="error-claim-6">
            <a:extLst xmlns:a="http://schemas.openxmlformats.org/drawingml/2006/main">
              <a:ext uri="{FF2B5EF4-FFF2-40B4-BE49-F238E27FC236}">
                <a16:creationId xmlns:a16="http://schemas.microsoft.com/office/drawing/2014/main" id="{5B1220CC-0D01-488B-87D0-D06867A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52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Todo NBN ocupa un tercio de octava.</a:t>
            </a:r>
          </a:p>
        </p:txBody>
      </p:sp>
      <p:sp>
        <p:nvSpPr>
          <p:cNvPr id="29" name="error-n-7">
            <a:extLst xmlns:a="http://schemas.openxmlformats.org/drawingml/2006/main">
              <a:ext uri="{FF2B5EF4-FFF2-40B4-BE49-F238E27FC236}">
                <a16:creationId xmlns:a16="http://schemas.microsoft.com/office/drawing/2014/main" id="{2E1C8282-8D38-4B1D-8142-EE65CB27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30" name="error-num-7">
            <a:extLst xmlns:a="http://schemas.openxmlformats.org/drawingml/2006/main">
              <a:ext uri="{FF2B5EF4-FFF2-40B4-BE49-F238E27FC236}">
                <a16:creationId xmlns:a16="http://schemas.microsoft.com/office/drawing/2014/main" id="{3376FCB8-76F0-4A87-9E21-15D87993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1" name="error-claim-7">
            <a:extLst xmlns:a="http://schemas.openxmlformats.org/drawingml/2006/main">
              <a:ext uri="{FF2B5EF4-FFF2-40B4-BE49-F238E27FC236}">
                <a16:creationId xmlns:a16="http://schemas.microsoft.com/office/drawing/2014/main" id="{65A8DC3C-FB2E-4427-9FBA-714C1CEE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955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L_90,T siempre es ruido de fondo.</a:t>
            </a:r>
          </a:p>
        </p:txBody>
      </p:sp>
      <p:sp>
        <p:nvSpPr>
          <p:cNvPr id="32" name="error-n-8">
            <a:extLst xmlns:a="http://schemas.openxmlformats.org/drawingml/2006/main">
              <a:ext uri="{FF2B5EF4-FFF2-40B4-BE49-F238E27FC236}">
                <a16:creationId xmlns:a16="http://schemas.microsoft.com/office/drawing/2014/main" id="{859DAAC6-6E1E-4C9F-AC4C-4A59F14A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051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33" name="error-num-8">
            <a:extLst xmlns:a="http://schemas.openxmlformats.org/drawingml/2006/main">
              <a:ext uri="{FF2B5EF4-FFF2-40B4-BE49-F238E27FC236}">
                <a16:creationId xmlns:a16="http://schemas.microsoft.com/office/drawing/2014/main" id="{93A01441-8E0D-4BE2-9098-63D00106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4" name="error-claim-8">
            <a:extLst xmlns:a="http://schemas.openxmlformats.org/drawingml/2006/main">
              <a:ext uri="{FF2B5EF4-FFF2-40B4-BE49-F238E27FC236}">
                <a16:creationId xmlns:a16="http://schemas.microsoft.com/office/drawing/2014/main" id="{C0BDBF81-B8D3-45BB-82DC-8D7E2559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385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La SNR predice sola inteligibilidad.</a:t>
            </a:r>
          </a:p>
        </p:txBody>
      </p:sp>
      <p:sp>
        <p:nvSpPr>
          <p:cNvPr id="35" name="error-n-9">
            <a:extLst xmlns:a="http://schemas.openxmlformats.org/drawingml/2006/main">
              <a:ext uri="{FF2B5EF4-FFF2-40B4-BE49-F238E27FC236}">
                <a16:creationId xmlns:a16="http://schemas.microsoft.com/office/drawing/2014/main" id="{040DE519-F948-44D7-B540-F260B55E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36" name="error-num-9">
            <a:extLst xmlns:a="http://schemas.openxmlformats.org/drawingml/2006/main">
              <a:ext uri="{FF2B5EF4-FFF2-40B4-BE49-F238E27FC236}">
                <a16:creationId xmlns:a16="http://schemas.microsoft.com/office/drawing/2014/main" id="{BA44CE0B-8423-4A3F-B009-9FD87D2C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957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7" name="error-claim-9">
            <a:extLst xmlns:a="http://schemas.openxmlformats.org/drawingml/2006/main">
              <a:ext uri="{FF2B5EF4-FFF2-40B4-BE49-F238E27FC236}">
                <a16:creationId xmlns:a16="http://schemas.microsoft.com/office/drawing/2014/main" id="{73C1BE7F-C026-4A89-83B8-20431D88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Enmascarar protege el oído.</a:t>
            </a:r>
          </a:p>
        </p:txBody>
      </p:sp>
      <p:sp>
        <p:nvSpPr>
          <p:cNvPr id="38" name="error-n-10">
            <a:extLst xmlns:a="http://schemas.openxmlformats.org/drawingml/2006/main">
              <a:ext uri="{FF2B5EF4-FFF2-40B4-BE49-F238E27FC236}">
                <a16:creationId xmlns:a16="http://schemas.microsoft.com/office/drawing/2014/main" id="{F43E01E9-5E2A-4619-8220-A496E2EA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91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39" name="error-num-10">
            <a:extLst xmlns:a="http://schemas.openxmlformats.org/drawingml/2006/main">
              <a:ext uri="{FF2B5EF4-FFF2-40B4-BE49-F238E27FC236}">
                <a16:creationId xmlns:a16="http://schemas.microsoft.com/office/drawing/2014/main" id="{80280FD0-EF4E-4B08-BC26-1F66A8DA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0" name="error-claim-10">
            <a:extLst xmlns:a="http://schemas.openxmlformats.org/drawingml/2006/main">
              <a:ext uri="{FF2B5EF4-FFF2-40B4-BE49-F238E27FC236}">
                <a16:creationId xmlns:a16="http://schemas.microsoft.com/office/drawing/2014/main" id="{CF7521F0-C218-460D-9862-E38FAD29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243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 valor dB(A) certifica una cabina.</a:t>
            </a:r>
          </a:p>
        </p:txBody>
      </p:sp>
      <p:sp>
        <p:nvSpPr>
          <p:cNvPr id="41" name="error-n-11">
            <a:extLst xmlns:a="http://schemas.openxmlformats.org/drawingml/2006/main">
              <a:ext uri="{FF2B5EF4-FFF2-40B4-BE49-F238E27FC236}">
                <a16:creationId xmlns:a16="http://schemas.microsoft.com/office/drawing/2014/main" id="{F0020A2E-C4BF-45CF-8561-3882C71F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2F7E83"/>
            </a:solidFill>
            <a:prstDash val="solid"/>
          </a:ln>
        </p:spPr>
      </p:sp>
      <p:sp>
        <p:nvSpPr>
          <p:cNvPr id="42" name="error-num-11">
            <a:extLst xmlns:a="http://schemas.openxmlformats.org/drawingml/2006/main">
              <a:ext uri="{FF2B5EF4-FFF2-40B4-BE49-F238E27FC236}">
                <a16:creationId xmlns:a16="http://schemas.microsoft.com/office/drawing/2014/main" id="{E5D4FA91-4DB4-4B43-ACCD-1C11E1AC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815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3" name="error-claim-11">
            <a:extLst xmlns:a="http://schemas.openxmlformats.org/drawingml/2006/main">
              <a:ext uri="{FF2B5EF4-FFF2-40B4-BE49-F238E27FC236}">
                <a16:creationId xmlns:a16="http://schemas.microsoft.com/office/drawing/2014/main" id="{73C6EBF7-87A0-432A-9633-8287102D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67275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Absorber y aislar son equivalentes.</a:t>
            </a:r>
          </a:p>
        </p:txBody>
      </p:sp>
      <p:sp>
        <p:nvSpPr>
          <p:cNvPr id="4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6CFDDB-557C-421D-B102-859383D0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49A8BA-8640-4640-803B-02AA701C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registro a la decisión responsable</a:t>
            </a:r>
          </a:p>
        </p:txBody>
      </p:sp>
      <p:sp>
        <p:nvSpPr>
          <p:cNvPr id="2" name="U10-DG-055-concept_1-anchor">
            <a:extLst xmlns:a="http://schemas.openxmlformats.org/drawingml/2006/main">
              <a:ext uri="{FF2B5EF4-FFF2-40B4-BE49-F238E27FC236}">
                <a16:creationId xmlns:a16="http://schemas.microsoft.com/office/drawing/2014/main" id="{FCC67A0E-2103-4725-BB23-451C15E4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U10-DG-055-concept_2-anchor">
            <a:extLst xmlns:a="http://schemas.openxmlformats.org/drawingml/2006/main">
              <a:ext uri="{FF2B5EF4-FFF2-40B4-BE49-F238E27FC236}">
                <a16:creationId xmlns:a16="http://schemas.microsoft.com/office/drawing/2014/main" id="{884074C1-1849-4C6D-9B58-9C295CD8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U10-DG-055-concept_3-anchor">
            <a:extLst xmlns:a="http://schemas.openxmlformats.org/drawingml/2006/main">
              <a:ext uri="{FF2B5EF4-FFF2-40B4-BE49-F238E27FC236}">
                <a16:creationId xmlns:a16="http://schemas.microsoft.com/office/drawing/2014/main" id="{6EA28743-B409-4B2F-ADC7-A1B5FE23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U10-DG-055-concept_4-anchor">
            <a:extLst xmlns:a="http://schemas.openxmlformats.org/drawingml/2006/main">
              <a:ext uri="{FF2B5EF4-FFF2-40B4-BE49-F238E27FC236}">
                <a16:creationId xmlns:a16="http://schemas.microsoft.com/office/drawing/2014/main" id="{56CD7231-C186-44D5-B513-3057AAE4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U10-DG-055-concept_5-anchor">
            <a:extLst xmlns:a="http://schemas.openxmlformats.org/drawingml/2006/main">
              <a:ext uri="{FF2B5EF4-FFF2-40B4-BE49-F238E27FC236}">
                <a16:creationId xmlns:a16="http://schemas.microsoft.com/office/drawing/2014/main" id="{40CE40FC-EF8F-406F-BC19-58DC830A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5-concept_6-anchor">
            <a:extLst xmlns:a="http://schemas.openxmlformats.org/drawingml/2006/main">
              <a:ext uri="{FF2B5EF4-FFF2-40B4-BE49-F238E27FC236}">
                <a16:creationId xmlns:a16="http://schemas.microsoft.com/office/drawing/2014/main" id="{94B90F44-1BA6-4E18-AED5-FA4DABB3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294132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5-concept_7-anchor">
            <a:extLst xmlns:a="http://schemas.openxmlformats.org/drawingml/2006/main">
              <a:ext uri="{FF2B5EF4-FFF2-40B4-BE49-F238E27FC236}">
                <a16:creationId xmlns:a16="http://schemas.microsoft.com/office/drawing/2014/main" id="{1E64B5DF-74D7-49E3-84DF-69AFF824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5-concept_8-anchor">
            <a:extLst xmlns:a="http://schemas.openxmlformats.org/drawingml/2006/main">
              <a:ext uri="{FF2B5EF4-FFF2-40B4-BE49-F238E27FC236}">
                <a16:creationId xmlns:a16="http://schemas.microsoft.com/office/drawing/2014/main" id="{DF267709-AFBE-495E-9B8C-FFFDFE89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5-concept_9-anchor">
            <a:extLst xmlns:a="http://schemas.openxmlformats.org/drawingml/2006/main">
              <a:ext uri="{FF2B5EF4-FFF2-40B4-BE49-F238E27FC236}">
                <a16:creationId xmlns:a16="http://schemas.microsoft.com/office/drawing/2014/main" id="{3EEB8212-7614-405A-80CC-0FA59324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4191000"/>
            <a:ext cx="3107944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U10-DG-055-synthesis_1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946144" y="220713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0" name="U10-DG-055-synthesis_2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299452" y="220713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1" name="U10-DG-055-synthesis_3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392172" y="2722626"/>
            <a:ext cx="6706616" cy="21869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2" name="U10-DG-055-synthesis_4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46144" y="345681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3" name="U10-DG-055-synthesis_5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99452" y="345681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4" name="U10-DG-055-synthesis_6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392172" y="3972306"/>
            <a:ext cx="6706616" cy="21869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5" name="U10-DG-055-synthesis_7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46144" y="470649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56" name="U10-DG-055-synthesis_8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99452" y="4706493"/>
            <a:ext cx="24536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  <a:tailEnd type="arrow" w="med" len="med"/>
          </a:ln>
        </p:spPr>
      </p:cxnSp>
      <p:sp>
        <p:nvSpPr>
          <p:cNvPr id="19" name="U10-DG-055-visual-alt" descr="Mapa final de síntesis. Señal/contexto; tiempo; estadística; frecuencia; nivel; función; receptor; control; límite. Orden de lectura: Relaciones selectivas, no red completa. ---">
            <a:extLst xmlns:a="http://schemas.openxmlformats.org/drawingml/2006/main">
              <a:ext uri="{FF2B5EF4-FFF2-40B4-BE49-F238E27FC236}">
                <a16:creationId xmlns:a16="http://schemas.microsoft.com/office/drawing/2014/main" id="{6587F0EE-1AAF-4297-B7BC-37CFC6FF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0" name="U10-DG-055-concept_1-text">
            <a:extLst xmlns:a="http://schemas.openxmlformats.org/drawingml/2006/main">
              <a:ext uri="{FF2B5EF4-FFF2-40B4-BE49-F238E27FC236}">
                <a16:creationId xmlns:a16="http://schemas.microsoft.com/office/drawing/2014/main" id="{B9A568A3-9E2B-4809-9F0A-DF5861FD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Señal y contexto</a:t>
            </a:r>
          </a:p>
        </p:txBody>
      </p:sp>
      <p:sp>
        <p:nvSpPr>
          <p:cNvPr id="21" name="U10-DG-055-concept_2-box">
            <a:extLst xmlns:a="http://schemas.openxmlformats.org/drawingml/2006/main">
              <a:ext uri="{FF2B5EF4-FFF2-40B4-BE49-F238E27FC236}">
                <a16:creationId xmlns:a16="http://schemas.microsoft.com/office/drawing/2014/main" id="{B6762567-A31C-42D4-AAD2-36F5C44C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2" name="U10-DG-055-concept_2-text">
            <a:extLst xmlns:a="http://schemas.openxmlformats.org/drawingml/2006/main">
              <a:ext uri="{FF2B5EF4-FFF2-40B4-BE49-F238E27FC236}">
                <a16:creationId xmlns:a16="http://schemas.microsoft.com/office/drawing/2014/main" id="{8AB70CA3-70BB-4C7E-8D73-08BE7CE3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Tiempo</a:t>
            </a:r>
          </a:p>
        </p:txBody>
      </p:sp>
      <p:sp>
        <p:nvSpPr>
          <p:cNvPr id="23" name="U10-DG-055-concept_3-box">
            <a:extLst xmlns:a="http://schemas.openxmlformats.org/drawingml/2006/main">
              <a:ext uri="{FF2B5EF4-FFF2-40B4-BE49-F238E27FC236}">
                <a16:creationId xmlns:a16="http://schemas.microsoft.com/office/drawing/2014/main" id="{3667F52C-AB55-444A-9F01-DB8D3999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169164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4" name="U10-DG-055-concept_3-text">
            <a:extLst xmlns:a="http://schemas.openxmlformats.org/drawingml/2006/main">
              <a:ext uri="{FF2B5EF4-FFF2-40B4-BE49-F238E27FC236}">
                <a16:creationId xmlns:a16="http://schemas.microsoft.com/office/drawing/2014/main" id="{1EC8A87C-33BB-4325-9D5F-EFDBF20D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181546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Estadística</a:t>
            </a:r>
          </a:p>
        </p:txBody>
      </p:sp>
      <p:sp>
        <p:nvSpPr>
          <p:cNvPr id="25" name="U10-DG-055-concept_4-box">
            <a:extLst xmlns:a="http://schemas.openxmlformats.org/drawingml/2006/main">
              <a:ext uri="{FF2B5EF4-FFF2-40B4-BE49-F238E27FC236}">
                <a16:creationId xmlns:a16="http://schemas.microsoft.com/office/drawing/2014/main" id="{BCFAF79A-72AD-46EE-B357-2684842E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6" name="U10-DG-055-concept_4-text">
            <a:extLst xmlns:a="http://schemas.openxmlformats.org/drawingml/2006/main">
              <a:ext uri="{FF2B5EF4-FFF2-40B4-BE49-F238E27FC236}">
                <a16:creationId xmlns:a16="http://schemas.microsoft.com/office/drawing/2014/main" id="{FF3BAA95-EA7C-4BC7-95B0-6C95219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Frecuencia</a:t>
            </a:r>
          </a:p>
        </p:txBody>
      </p:sp>
      <p:sp>
        <p:nvSpPr>
          <p:cNvPr id="27" name="U10-DG-055-concept_5-box">
            <a:extLst xmlns:a="http://schemas.openxmlformats.org/drawingml/2006/main">
              <a:ext uri="{FF2B5EF4-FFF2-40B4-BE49-F238E27FC236}">
                <a16:creationId xmlns:a16="http://schemas.microsoft.com/office/drawing/2014/main" id="{51B0B865-A27A-4D9E-84A0-13664B84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28" name="U10-DG-055-concept_5-text">
            <a:extLst xmlns:a="http://schemas.openxmlformats.org/drawingml/2006/main">
              <a:ext uri="{FF2B5EF4-FFF2-40B4-BE49-F238E27FC236}">
                <a16:creationId xmlns:a16="http://schemas.microsoft.com/office/drawing/2014/main" id="{DA59C1C8-DFA1-48EB-9B6B-C7F87751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Nivel</a:t>
            </a:r>
          </a:p>
        </p:txBody>
      </p:sp>
      <p:sp>
        <p:nvSpPr>
          <p:cNvPr id="29" name="U10-DG-055-concept_6-box">
            <a:extLst xmlns:a="http://schemas.openxmlformats.org/drawingml/2006/main">
              <a:ext uri="{FF2B5EF4-FFF2-40B4-BE49-F238E27FC236}">
                <a16:creationId xmlns:a16="http://schemas.microsoft.com/office/drawing/2014/main" id="{78A7763C-2DFF-4C7A-A694-009A1F22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294132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30" name="U10-DG-055-concept_6-text">
            <a:extLst xmlns:a="http://schemas.openxmlformats.org/drawingml/2006/main">
              <a:ext uri="{FF2B5EF4-FFF2-40B4-BE49-F238E27FC236}">
                <a16:creationId xmlns:a16="http://schemas.microsoft.com/office/drawing/2014/main" id="{367DC1C2-A9D8-4755-84C8-CD1F4EF7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306514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Función</a:t>
            </a:r>
          </a:p>
        </p:txBody>
      </p:sp>
      <p:sp>
        <p:nvSpPr>
          <p:cNvPr id="31" name="U10-DG-055-concept_7-box">
            <a:extLst xmlns:a="http://schemas.openxmlformats.org/drawingml/2006/main">
              <a:ext uri="{FF2B5EF4-FFF2-40B4-BE49-F238E27FC236}">
                <a16:creationId xmlns:a16="http://schemas.microsoft.com/office/drawing/2014/main" id="{D80FED5B-4140-4593-8C60-4219EF4A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32" name="U10-DG-055-concept_7-text">
            <a:extLst xmlns:a="http://schemas.openxmlformats.org/drawingml/2006/main">
              <a:ext uri="{FF2B5EF4-FFF2-40B4-BE49-F238E27FC236}">
                <a16:creationId xmlns:a16="http://schemas.microsoft.com/office/drawing/2014/main" id="{6D4830ED-02C1-4BF3-A91D-57BB72E8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33" name="U10-DG-055-concept_8-box">
            <a:extLst xmlns:a="http://schemas.openxmlformats.org/drawingml/2006/main">
              <a:ext uri="{FF2B5EF4-FFF2-40B4-BE49-F238E27FC236}">
                <a16:creationId xmlns:a16="http://schemas.microsoft.com/office/drawing/2014/main" id="{7CB8BF97-6064-4CC3-83FB-CD20E22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08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34" name="U10-DG-055-concept_8-text">
            <a:extLst xmlns:a="http://schemas.openxmlformats.org/drawingml/2006/main">
              <a:ext uri="{FF2B5EF4-FFF2-40B4-BE49-F238E27FC236}">
                <a16:creationId xmlns:a16="http://schemas.microsoft.com/office/drawing/2014/main" id="{60796ACA-95F9-467E-8FC1-F87A9CCD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958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35" name="U10-DG-055-concept_9-box">
            <a:extLst xmlns:a="http://schemas.openxmlformats.org/drawingml/2006/main">
              <a:ext uri="{FF2B5EF4-FFF2-40B4-BE49-F238E27FC236}">
                <a16:creationId xmlns:a16="http://schemas.microsoft.com/office/drawing/2014/main" id="{77C73014-FC06-43F1-9302-FEF7FF06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816" y="4191000"/>
            <a:ext cx="3107944" cy="1030986"/>
          </a:xfrm>
          <a:prstGeom xmlns:a="http://schemas.openxmlformats.org/drawingml/2006/main" prst="roundRect">
            <a:avLst>
              <a:gd name="adj" fmla="val 64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36" name="U10-DG-055-concept_9-text">
            <a:extLst xmlns:a="http://schemas.openxmlformats.org/drawingml/2006/main">
              <a:ext uri="{FF2B5EF4-FFF2-40B4-BE49-F238E27FC236}">
                <a16:creationId xmlns:a16="http://schemas.microsoft.com/office/drawing/2014/main" id="{7A013A2C-3679-4EB2-9D22-A84C2193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266" y="4314825"/>
            <a:ext cx="2765044" cy="783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640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37" name="caption">
            <a:extLst xmlns:a="http://schemas.openxmlformats.org/drawingml/2006/main">
              <a:ext uri="{FF2B5EF4-FFF2-40B4-BE49-F238E27FC236}">
                <a16:creationId xmlns:a16="http://schemas.microsoft.com/office/drawing/2014/main" id="{EF9FFD1C-7268-4754-8CF4-B8D09289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E7D7DF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E7D7DF"/>
                </a:solidFill>
                <a:latin typeface="Calibri"/>
                <a:ea typeface="Calibri"/>
                <a:cs typeface="Calibri"/>
              </a:rPr>
              <a:t>Mapa final de síntesis. Señal/contexto; tiempo; estadística; frecuencia; nivel; función; receptor; control; límite.</a:t>
            </a:r>
          </a:p>
        </p:txBody>
      </p:sp>
      <p:sp>
        <p:nvSpPr>
          <p:cNvPr id="3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CFAAD88-AB29-4F20-89D9-9BC53589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4D1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rk-eyebrow">
            <a:extLst xmlns:a="http://schemas.openxmlformats.org/drawingml/2006/main">
              <a:ext uri="{FF2B5EF4-FFF2-40B4-BE49-F238E27FC236}">
                <a16:creationId xmlns:a16="http://schemas.microsoft.com/office/drawing/2014/main" id="{ECB02E19-C275-4DC8-BB81-45E1400F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E1C8D4"/>
                </a:solidFill>
                <a:latin typeface="Calibri"/>
                <a:ea typeface="Calibri"/>
                <a:cs typeface="Calibri"/>
              </a:rPr>
              <a:t>UNIDAD 10 · RUTA CENTRAL</a:t>
            </a:r>
          </a:p>
        </p:txBody>
      </p:sp>
      <p:sp>
        <p:nvSpPr>
          <p:cNvPr id="2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284DA6EB-A0F8-4368-BB31-E0B9B6ED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600" b="0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curso termina; la caracterización sigue siendo una práctica de preguntas</a:t>
            </a:r>
          </a:p>
        </p:txBody>
      </p:sp>
      <p:sp>
        <p:nvSpPr>
          <p:cNvPr id="3" name="divider-subtitle">
            <a:extLst xmlns:a="http://schemas.openxmlformats.org/drawingml/2006/main">
              <a:ext uri="{FF2B5EF4-FFF2-40B4-BE49-F238E27FC236}">
                <a16:creationId xmlns:a16="http://schemas.microsoft.com/office/drawing/2014/main" id="{7B21F18E-61F0-46CC-BCD5-7B7DC3DC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E6D5DD"/>
                </a:solidFill>
                <a:latin typeface="Calibri"/>
                <a:ea typeface="Calibri"/>
                <a:cs typeface="Calibri"/>
              </a:rPr>
              <a:t>Medir bien también es saber qué no puede concluirse.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ECCB6F7-571B-4E22-AE14-AF988724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DFC9D4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top-rail-1">
            <a:extLst xmlns:a="http://schemas.openxmlformats.org/drawingml/2006/main">
              <a:ext uri="{FF2B5EF4-FFF2-40B4-BE49-F238E27FC236}">
                <a16:creationId xmlns:a16="http://schemas.microsoft.com/office/drawing/2014/main" id="{905FD00D-7B82-4E6F-B851-5D5CDCCB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9D2848A-214E-414B-98CB-34C73430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74F56B8E-CD5A-4EF5-8469-170BF0CD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E7A1318-94C4-419A-8C1B-115B8805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AFBC5B-EC48-4584-ABF3-6DD17D0B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Glosario mínimo de ruido y medición</a:t>
            </a:r>
          </a:p>
        </p:txBody>
      </p:sp>
      <p:sp>
        <p:nvSpPr>
          <p:cNvPr id="6" name="U10-085-claim-alt" descr="Recurso visual previsto: Tabla nativa. ---">
            <a:extLst xmlns:a="http://schemas.openxmlformats.org/drawingml/2006/main">
              <a:ext uri="{FF2B5EF4-FFF2-40B4-BE49-F238E27FC236}">
                <a16:creationId xmlns:a16="http://schemas.microsoft.com/office/drawing/2014/main" id="{B4147FD5-D786-4BE9-85BE-3A771C15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7" name="U10-085-cell-text-0-0">
            <a:extLst xmlns:a="http://schemas.openxmlformats.org/drawingml/2006/main">
              <a:ext uri="{FF2B5EF4-FFF2-40B4-BE49-F238E27FC236}">
                <a16:creationId xmlns:a16="http://schemas.microsoft.com/office/drawing/2014/main" id="{9DC078BE-4B8A-4177-862B-5C37AB9E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Término</a:t>
            </a:r>
          </a:p>
        </p:txBody>
      </p:sp>
      <p:sp>
        <p:nvSpPr>
          <p:cNvPr id="8" name="U10-085-cell-0-1">
            <a:extLst xmlns:a="http://schemas.openxmlformats.org/drawingml/2006/main">
              <a:ext uri="{FF2B5EF4-FFF2-40B4-BE49-F238E27FC236}">
                <a16:creationId xmlns:a16="http://schemas.microsoft.com/office/drawing/2014/main" id="{5FA89984-F1CA-4DA5-8959-0DB71676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71625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9" name="U10-085-cell-text-0-1">
            <a:extLst xmlns:a="http://schemas.openxmlformats.org/drawingml/2006/main">
              <a:ext uri="{FF2B5EF4-FFF2-40B4-BE49-F238E27FC236}">
                <a16:creationId xmlns:a16="http://schemas.microsoft.com/office/drawing/2014/main" id="{F88C7BE4-D4EA-459F-A546-CC73E812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19250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Definición mínima</a:t>
            </a:r>
          </a:p>
        </p:txBody>
      </p:sp>
      <p:sp>
        <p:nvSpPr>
          <p:cNvPr id="10" name="U10-085-cell-0-2">
            <a:extLst xmlns:a="http://schemas.openxmlformats.org/drawingml/2006/main">
              <a:ext uri="{FF2B5EF4-FFF2-40B4-BE49-F238E27FC236}">
                <a16:creationId xmlns:a16="http://schemas.microsoft.com/office/drawing/2014/main" id="{6A22432A-420A-4FC1-9EE5-EA6E4377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71625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1" name="U10-085-cell-text-0-2">
            <a:extLst xmlns:a="http://schemas.openxmlformats.org/drawingml/2006/main">
              <a:ext uri="{FF2B5EF4-FFF2-40B4-BE49-F238E27FC236}">
                <a16:creationId xmlns:a16="http://schemas.microsoft.com/office/drawing/2014/main" id="{F1E78CAA-B250-49E5-95BD-433605A8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19250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/ condición</a:t>
            </a:r>
          </a:p>
        </p:txBody>
      </p:sp>
      <p:sp>
        <p:nvSpPr>
          <p:cNvPr id="12" name="U10-085-cell-1-0">
            <a:extLst xmlns:a="http://schemas.openxmlformats.org/drawingml/2006/main">
              <a:ext uri="{FF2B5EF4-FFF2-40B4-BE49-F238E27FC236}">
                <a16:creationId xmlns:a16="http://schemas.microsoft.com/office/drawing/2014/main" id="{E5E7F794-D4EE-4C04-B0AE-728C308B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83594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3" name="U10-085-cell-text-1-0">
            <a:extLst xmlns:a="http://schemas.openxmlformats.org/drawingml/2006/main">
              <a:ext uri="{FF2B5EF4-FFF2-40B4-BE49-F238E27FC236}">
                <a16:creationId xmlns:a16="http://schemas.microsoft.com/office/drawing/2014/main" id="{6F0E65A2-C5E4-4DDC-9778-57722A56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31219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Aleatorio</a:t>
            </a:r>
          </a:p>
        </p:txBody>
      </p:sp>
      <p:sp>
        <p:nvSpPr>
          <p:cNvPr id="14" name="U10-085-cell-1-1">
            <a:extLst xmlns:a="http://schemas.openxmlformats.org/drawingml/2006/main">
              <a:ext uri="{FF2B5EF4-FFF2-40B4-BE49-F238E27FC236}">
                <a16:creationId xmlns:a16="http://schemas.microsoft.com/office/drawing/2014/main" id="{36971A1E-0C32-45CF-8E20-055AA21B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83594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5" name="U10-085-cell-text-1-1">
            <a:extLst xmlns:a="http://schemas.openxmlformats.org/drawingml/2006/main">
              <a:ext uri="{FF2B5EF4-FFF2-40B4-BE49-F238E27FC236}">
                <a16:creationId xmlns:a16="http://schemas.microsoft.com/office/drawing/2014/main" id="{2AFF6AC0-370B-480A-AB83-9027E27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31219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muestras descritas probabilísticamente</a:t>
            </a:r>
          </a:p>
        </p:txBody>
      </p:sp>
      <p:sp>
        <p:nvSpPr>
          <p:cNvPr id="16" name="U10-085-cell-1-2">
            <a:extLst xmlns:a="http://schemas.openxmlformats.org/drawingml/2006/main">
              <a:ext uri="{FF2B5EF4-FFF2-40B4-BE49-F238E27FC236}">
                <a16:creationId xmlns:a16="http://schemas.microsoft.com/office/drawing/2014/main" id="{C936B1E0-B350-4E5B-81F8-1937E8AE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83594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7" name="U10-085-cell-text-1-2">
            <a:extLst xmlns:a="http://schemas.openxmlformats.org/drawingml/2006/main">
              <a:ext uri="{FF2B5EF4-FFF2-40B4-BE49-F238E27FC236}">
                <a16:creationId xmlns:a16="http://schemas.microsoft.com/office/drawing/2014/main" id="{FCE68BF3-0921-4BB1-B381-510DC487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131219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proceso/realización</a:t>
            </a:r>
          </a:p>
        </p:txBody>
      </p:sp>
      <p:sp>
        <p:nvSpPr>
          <p:cNvPr id="18" name="U10-085-cell-2-0">
            <a:extLst xmlns:a="http://schemas.openxmlformats.org/drawingml/2006/main">
              <a:ext uri="{FF2B5EF4-FFF2-40B4-BE49-F238E27FC236}">
                <a16:creationId xmlns:a16="http://schemas.microsoft.com/office/drawing/2014/main" id="{C54496B8-6CEF-4DFF-BC82-17E6788E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95563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9" name="U10-085-cell-text-2-0">
            <a:extLst xmlns:a="http://schemas.openxmlformats.org/drawingml/2006/main">
              <a:ext uri="{FF2B5EF4-FFF2-40B4-BE49-F238E27FC236}">
                <a16:creationId xmlns:a16="http://schemas.microsoft.com/office/drawing/2014/main" id="{6DA8A24A-E830-4E9C-8C98-8D2EC4DC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43188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Estacionario</a:t>
            </a:r>
          </a:p>
        </p:txBody>
      </p:sp>
      <p:sp>
        <p:nvSpPr>
          <p:cNvPr id="20" name="U10-085-cell-2-1">
            <a:extLst xmlns:a="http://schemas.openxmlformats.org/drawingml/2006/main">
              <a:ext uri="{FF2B5EF4-FFF2-40B4-BE49-F238E27FC236}">
                <a16:creationId xmlns:a16="http://schemas.microsoft.com/office/drawing/2014/main" id="{CCF82E1B-58CE-4324-9E01-A9E587A0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95563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1" name="U10-085-cell-text-2-1">
            <a:extLst xmlns:a="http://schemas.openxmlformats.org/drawingml/2006/main">
              <a:ext uri="{FF2B5EF4-FFF2-40B4-BE49-F238E27FC236}">
                <a16:creationId xmlns:a16="http://schemas.microsoft.com/office/drawing/2014/main" id="{C6857EA9-F866-48D6-BEFA-CBB12E34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3188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propiedades estables en una ventana</a:t>
            </a:r>
          </a:p>
        </p:txBody>
      </p:sp>
      <p:sp>
        <p:nvSpPr>
          <p:cNvPr id="22" name="U10-085-cell-2-2">
            <a:extLst xmlns:a="http://schemas.openxmlformats.org/drawingml/2006/main">
              <a:ext uri="{FF2B5EF4-FFF2-40B4-BE49-F238E27FC236}">
                <a16:creationId xmlns:a16="http://schemas.microsoft.com/office/drawing/2014/main" id="{CFF7D5A2-9880-4DFC-AC7C-61A4A095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95563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3" name="U10-085-cell-text-2-2">
            <a:extLst xmlns:a="http://schemas.openxmlformats.org/drawingml/2006/main">
              <a:ext uri="{FF2B5EF4-FFF2-40B4-BE49-F238E27FC236}">
                <a16:creationId xmlns:a16="http://schemas.microsoft.com/office/drawing/2014/main" id="{A27203B4-B0E8-4556-8AC5-A7590D67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43188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intervalo declarado</a:t>
            </a:r>
          </a:p>
        </p:txBody>
      </p:sp>
      <p:sp>
        <p:nvSpPr>
          <p:cNvPr id="24" name="U10-085-cell-3-0">
            <a:extLst xmlns:a="http://schemas.openxmlformats.org/drawingml/2006/main">
              <a:ext uri="{FF2B5EF4-FFF2-40B4-BE49-F238E27FC236}">
                <a16:creationId xmlns:a16="http://schemas.microsoft.com/office/drawing/2014/main" id="{E5EC5D3D-8C31-4D4D-BA07-99C8BDA6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7531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5" name="U10-085-cell-text-3-0">
            <a:extLst xmlns:a="http://schemas.openxmlformats.org/drawingml/2006/main">
              <a:ext uri="{FF2B5EF4-FFF2-40B4-BE49-F238E27FC236}">
                <a16:creationId xmlns:a16="http://schemas.microsoft.com/office/drawing/2014/main" id="{C53F1738-8B21-4861-A264-D427E3BC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55156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PSD S_pp</a:t>
            </a:r>
          </a:p>
        </p:txBody>
      </p:sp>
      <p:sp>
        <p:nvSpPr>
          <p:cNvPr id="26" name="U10-085-cell-3-1">
            <a:extLst xmlns:a="http://schemas.openxmlformats.org/drawingml/2006/main">
              <a:ext uri="{FF2B5EF4-FFF2-40B4-BE49-F238E27FC236}">
                <a16:creationId xmlns:a16="http://schemas.microsoft.com/office/drawing/2014/main" id="{F4DA7192-43A0-47E8-895C-DC855D9D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07531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7" name="U10-085-cell-text-3-1">
            <a:extLst xmlns:a="http://schemas.openxmlformats.org/drawingml/2006/main">
              <a:ext uri="{FF2B5EF4-FFF2-40B4-BE49-F238E27FC236}">
                <a16:creationId xmlns:a16="http://schemas.microsoft.com/office/drawing/2014/main" id="{A6A2CB45-C1E7-492F-A30D-BA50D1A4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55156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 cuadrática por ancho de banda</a:t>
            </a:r>
          </a:p>
        </p:txBody>
      </p:sp>
      <p:sp>
        <p:nvSpPr>
          <p:cNvPr id="28" name="U10-085-cell-3-2">
            <a:extLst xmlns:a="http://schemas.openxmlformats.org/drawingml/2006/main">
              <a:ext uri="{FF2B5EF4-FFF2-40B4-BE49-F238E27FC236}">
                <a16:creationId xmlns:a16="http://schemas.microsoft.com/office/drawing/2014/main" id="{C1BDDFD5-B6D3-4DE5-806E-D9B9DB82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07531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9" name="U10-085-cell-text-3-2">
            <a:extLst xmlns:a="http://schemas.openxmlformats.org/drawingml/2006/main">
              <a:ext uri="{FF2B5EF4-FFF2-40B4-BE49-F238E27FC236}">
                <a16:creationId xmlns:a16="http://schemas.microsoft.com/office/drawing/2014/main" id="{82EEF9E4-6639-4616-A7D2-DFEECE3A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55156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Pa²/Hz</a:t>
            </a:r>
          </a:p>
        </p:txBody>
      </p:sp>
      <p:sp>
        <p:nvSpPr>
          <p:cNvPr id="30" name="U10-085-cell-4-0">
            <a:extLst xmlns:a="http://schemas.openxmlformats.org/drawingml/2006/main">
              <a:ext uri="{FF2B5EF4-FFF2-40B4-BE49-F238E27FC236}">
                <a16:creationId xmlns:a16="http://schemas.microsoft.com/office/drawing/2014/main" id="{32C1717E-EC72-4345-B669-14F61704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1" name="U10-085-cell-text-4-0">
            <a:extLst xmlns:a="http://schemas.openxmlformats.org/drawingml/2006/main">
              <a:ext uri="{FF2B5EF4-FFF2-40B4-BE49-F238E27FC236}">
                <a16:creationId xmlns:a16="http://schemas.microsoft.com/office/drawing/2014/main" id="{95EA4817-367A-41FA-B78C-FE501FD0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67125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RMS</a:t>
            </a:r>
          </a:p>
        </p:txBody>
      </p:sp>
      <p:sp>
        <p:nvSpPr>
          <p:cNvPr id="32" name="U10-085-cell-4-1">
            <a:extLst xmlns:a="http://schemas.openxmlformats.org/drawingml/2006/main">
              <a:ext uri="{FF2B5EF4-FFF2-40B4-BE49-F238E27FC236}">
                <a16:creationId xmlns:a16="http://schemas.microsoft.com/office/drawing/2014/main" id="{6BEF5B68-BE6A-4C4E-BCA5-0C616CB1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19500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3" name="U10-085-cell-text-4-1">
            <a:extLst xmlns:a="http://schemas.openxmlformats.org/drawingml/2006/main">
              <a:ext uri="{FF2B5EF4-FFF2-40B4-BE49-F238E27FC236}">
                <a16:creationId xmlns:a16="http://schemas.microsoft.com/office/drawing/2014/main" id="{1B933AFE-ECC5-44CF-A660-8E0C03A9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67125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raíz del promedio de cuadrados</a:t>
            </a:r>
          </a:p>
        </p:txBody>
      </p:sp>
      <p:sp>
        <p:nvSpPr>
          <p:cNvPr id="34" name="U10-085-cell-4-2">
            <a:extLst xmlns:a="http://schemas.openxmlformats.org/drawingml/2006/main">
              <a:ext uri="{FF2B5EF4-FFF2-40B4-BE49-F238E27FC236}">
                <a16:creationId xmlns:a16="http://schemas.microsoft.com/office/drawing/2014/main" id="{AF52A1AC-49C2-46A9-A9B6-E8F6867F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19500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5" name="U10-085-cell-text-4-2">
            <a:extLst xmlns:a="http://schemas.openxmlformats.org/drawingml/2006/main">
              <a:ext uri="{FF2B5EF4-FFF2-40B4-BE49-F238E27FC236}">
                <a16:creationId xmlns:a16="http://schemas.microsoft.com/office/drawing/2014/main" id="{7128017A-E951-43C2-91E9-1CCD5A86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67125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</a:t>
            </a:r>
          </a:p>
        </p:txBody>
      </p:sp>
      <p:sp>
        <p:nvSpPr>
          <p:cNvPr id="36" name="U10-085-cell-5-0">
            <a:extLst xmlns:a="http://schemas.openxmlformats.org/drawingml/2006/main">
              <a:ext uri="{FF2B5EF4-FFF2-40B4-BE49-F238E27FC236}">
                <a16:creationId xmlns:a16="http://schemas.microsoft.com/office/drawing/2014/main" id="{04972CBB-37E9-4787-AE0E-86F8E9D4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31469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7" name="U10-085-cell-text-5-0">
            <a:extLst xmlns:a="http://schemas.openxmlformats.org/drawingml/2006/main">
              <a:ext uri="{FF2B5EF4-FFF2-40B4-BE49-F238E27FC236}">
                <a16:creationId xmlns:a16="http://schemas.microsoft.com/office/drawing/2014/main" id="{1048DF0B-4CB2-4224-A4A8-27F926F2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79094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NBN</a:t>
            </a:r>
          </a:p>
        </p:txBody>
      </p:sp>
      <p:sp>
        <p:nvSpPr>
          <p:cNvPr id="38" name="U10-085-cell-5-1">
            <a:extLst xmlns:a="http://schemas.openxmlformats.org/drawingml/2006/main">
              <a:ext uri="{FF2B5EF4-FFF2-40B4-BE49-F238E27FC236}">
                <a16:creationId xmlns:a16="http://schemas.microsoft.com/office/drawing/2014/main" id="{78909893-CDFC-452E-BB7E-A778528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31469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9" name="U10-085-cell-text-5-1">
            <a:extLst xmlns:a="http://schemas.openxmlformats.org/drawingml/2006/main">
              <a:ext uri="{FF2B5EF4-FFF2-40B4-BE49-F238E27FC236}">
                <a16:creationId xmlns:a16="http://schemas.microsoft.com/office/drawing/2014/main" id="{34C79C28-F530-4F55-ABEB-98F196A8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179094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ruido concentrado en banda declarada</a:t>
            </a:r>
          </a:p>
        </p:txBody>
      </p:sp>
      <p:sp>
        <p:nvSpPr>
          <p:cNvPr id="40" name="U10-085-cell-5-2">
            <a:extLst xmlns:a="http://schemas.openxmlformats.org/drawingml/2006/main">
              <a:ext uri="{FF2B5EF4-FFF2-40B4-BE49-F238E27FC236}">
                <a16:creationId xmlns:a16="http://schemas.microsoft.com/office/drawing/2014/main" id="{D739EAA8-D8DC-40A8-9A17-67FE171A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1469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1" name="U10-085-cell-text-5-2">
            <a:extLst xmlns:a="http://schemas.openxmlformats.org/drawingml/2006/main">
              <a:ext uri="{FF2B5EF4-FFF2-40B4-BE49-F238E27FC236}">
                <a16:creationId xmlns:a16="http://schemas.microsoft.com/office/drawing/2014/main" id="{12FF3241-6BC3-4F5A-81DC-26C0E1EF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79094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f_L, f_c, f_H</a:t>
            </a:r>
          </a:p>
        </p:txBody>
      </p:sp>
      <p:sp>
        <p:nvSpPr>
          <p:cNvPr id="42" name="U10-085-cell-6-0">
            <a:extLst xmlns:a="http://schemas.openxmlformats.org/drawingml/2006/main">
              <a:ext uri="{FF2B5EF4-FFF2-40B4-BE49-F238E27FC236}">
                <a16:creationId xmlns:a16="http://schemas.microsoft.com/office/drawing/2014/main" id="{2EB370CB-8925-4F74-9B4C-26590886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3438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3" name="U10-085-cell-text-6-0">
            <a:extLst xmlns:a="http://schemas.openxmlformats.org/drawingml/2006/main">
              <a:ext uri="{FF2B5EF4-FFF2-40B4-BE49-F238E27FC236}">
                <a16:creationId xmlns:a16="http://schemas.microsoft.com/office/drawing/2014/main" id="{12940D23-8CCE-447E-BFA6-E83272AA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91063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Fondo</a:t>
            </a:r>
          </a:p>
        </p:txBody>
      </p:sp>
      <p:sp>
        <p:nvSpPr>
          <p:cNvPr id="44" name="U10-085-cell-6-1">
            <a:extLst xmlns:a="http://schemas.openxmlformats.org/drawingml/2006/main">
              <a:ext uri="{FF2B5EF4-FFF2-40B4-BE49-F238E27FC236}">
                <a16:creationId xmlns:a16="http://schemas.microsoft.com/office/drawing/2014/main" id="{830E1031-1537-4B2C-B6F0-271BF9D4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43438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5" name="U10-085-cell-text-6-1">
            <a:extLst xmlns:a="http://schemas.openxmlformats.org/drawingml/2006/main">
              <a:ext uri="{FF2B5EF4-FFF2-40B4-BE49-F238E27FC236}">
                <a16:creationId xmlns:a16="http://schemas.microsoft.com/office/drawing/2014/main" id="{D3647873-82C9-4193-AE6C-2CF75602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91063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interferencia presente según tarea</a:t>
            </a:r>
          </a:p>
        </p:txBody>
      </p:sp>
      <p:sp>
        <p:nvSpPr>
          <p:cNvPr id="46" name="U10-085-cell-6-2">
            <a:extLst xmlns:a="http://schemas.openxmlformats.org/drawingml/2006/main">
              <a:ext uri="{FF2B5EF4-FFF2-40B4-BE49-F238E27FC236}">
                <a16:creationId xmlns:a16="http://schemas.microsoft.com/office/drawing/2014/main" id="{9FF638EA-3F73-44EC-BAB8-03A7F26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3438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7" name="U10-085-cell-text-6-2">
            <a:extLst xmlns:a="http://schemas.openxmlformats.org/drawingml/2006/main">
              <a:ext uri="{FF2B5EF4-FFF2-40B4-BE49-F238E27FC236}">
                <a16:creationId xmlns:a16="http://schemas.microsoft.com/office/drawing/2014/main" id="{69C107C3-BD58-4579-B226-6751D0AD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91063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contexto</a:t>
            </a:r>
          </a:p>
        </p:txBody>
      </p:sp>
      <p:sp>
        <p:nvSpPr>
          <p:cNvPr id="48" name="U10-085-cell-7-0">
            <a:extLst xmlns:a="http://schemas.openxmlformats.org/drawingml/2006/main">
              <a:ext uri="{FF2B5EF4-FFF2-40B4-BE49-F238E27FC236}">
                <a16:creationId xmlns:a16="http://schemas.microsoft.com/office/drawing/2014/main" id="{5AE30B86-16A6-49C7-8A96-09468276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55406"/>
            <a:ext cx="200025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49" name="U10-085-cell-text-7-0">
            <a:extLst xmlns:a="http://schemas.openxmlformats.org/drawingml/2006/main">
              <a:ext uri="{FF2B5EF4-FFF2-40B4-BE49-F238E27FC236}">
                <a16:creationId xmlns:a16="http://schemas.microsoft.com/office/drawing/2014/main" id="{464AFE63-529D-4CA4-89AD-0B8B7ACD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03031"/>
            <a:ext cx="184785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Lₑq,T</a:t>
            </a:r>
          </a:p>
        </p:txBody>
      </p:sp>
      <p:sp>
        <p:nvSpPr>
          <p:cNvPr id="50" name="U10-085-cell-7-1">
            <a:extLst xmlns:a="http://schemas.openxmlformats.org/drawingml/2006/main">
              <a:ext uri="{FF2B5EF4-FFF2-40B4-BE49-F238E27FC236}">
                <a16:creationId xmlns:a16="http://schemas.microsoft.com/office/drawing/2014/main" id="{0DF63FF2-CD0B-466F-A28F-44F988E8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55406"/>
            <a:ext cx="5715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51" name="U10-085-cell-text-7-1">
            <a:extLst xmlns:a="http://schemas.openxmlformats.org/drawingml/2006/main">
              <a:ext uri="{FF2B5EF4-FFF2-40B4-BE49-F238E27FC236}">
                <a16:creationId xmlns:a16="http://schemas.microsoft.com/office/drawing/2014/main" id="{CA049B18-B1F2-4D54-8025-79A63EF7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203031"/>
            <a:ext cx="5562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promedio cuadrático expresado como nivel</a:t>
            </a:r>
          </a:p>
        </p:txBody>
      </p:sp>
      <p:sp>
        <p:nvSpPr>
          <p:cNvPr id="52" name="U10-085-cell-7-2">
            <a:extLst xmlns:a="http://schemas.openxmlformats.org/drawingml/2006/main">
              <a:ext uri="{FF2B5EF4-FFF2-40B4-BE49-F238E27FC236}">
                <a16:creationId xmlns:a16="http://schemas.microsoft.com/office/drawing/2014/main" id="{77F2B7E6-480C-4157-95EC-342042C4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55406"/>
            <a:ext cx="3048000" cy="511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53" name="U10-085-cell-text-7-2">
            <a:extLst xmlns:a="http://schemas.openxmlformats.org/drawingml/2006/main">
              <a:ext uri="{FF2B5EF4-FFF2-40B4-BE49-F238E27FC236}">
                <a16:creationId xmlns:a16="http://schemas.microsoft.com/office/drawing/2014/main" id="{603D385A-A535-469A-BE3B-3C1C8684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203031"/>
            <a:ext cx="2895600" cy="4167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dB, referencia y T</a:t>
            </a:r>
          </a:p>
        </p:txBody>
      </p:sp>
      <p:sp>
        <p:nvSpPr>
          <p:cNvPr id="5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DB29864-45CC-41F4-81BD-BFFE743C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D88A2E68-B01C-441A-B6F6-A9F8B596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FCD0D65F-E4FA-4237-B2D3-07B91F60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534001D7-9B77-4E51-B320-22DAAAAC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6B0F793-D2D0-4C71-8F79-F699F0A3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A10A5D-5DA5-48EA-A0F0-2C46A3FC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Por qué p_rms²=σₚ²+p̄²</a:t>
            </a:r>
          </a:p>
        </p:txBody>
      </p:sp>
      <p:sp>
        <p:nvSpPr>
          <p:cNvPr id="6" name="U10-DG-056-equation-anchor">
            <a:extLst xmlns:a="http://schemas.openxmlformats.org/drawingml/2006/main">
              <a:ext uri="{FF2B5EF4-FFF2-40B4-BE49-F238E27FC236}">
                <a16:creationId xmlns:a16="http://schemas.microsoft.com/office/drawing/2014/main" id="{E5DFD1BB-3D9C-4EAC-8D28-792A87D6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6-callout_1-anchor">
            <a:extLst xmlns:a="http://schemas.openxmlformats.org/drawingml/2006/main">
              <a:ext uri="{FF2B5EF4-FFF2-40B4-BE49-F238E27FC236}">
                <a16:creationId xmlns:a16="http://schemas.microsoft.com/office/drawing/2014/main" id="{6FB0B6D4-D38E-4AB1-AD80-B3ACB1F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6-callout_2-anchor">
            <a:extLst xmlns:a="http://schemas.openxmlformats.org/drawingml/2006/main">
              <a:ext uri="{FF2B5EF4-FFF2-40B4-BE49-F238E27FC236}">
                <a16:creationId xmlns:a16="http://schemas.microsoft.com/office/drawing/2014/main" id="{D0B66597-CBCC-49C0-BCC7-1D022597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6-callout_3-anchor">
            <a:extLst xmlns:a="http://schemas.openxmlformats.org/drawingml/2006/main">
              <a:ext uri="{FF2B5EF4-FFF2-40B4-BE49-F238E27FC236}">
                <a16:creationId xmlns:a16="http://schemas.microsoft.com/office/drawing/2014/main" id="{1364B7A4-1507-436A-8DA6-93051FB6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6-callout_4-anchor">
            <a:extLst xmlns:a="http://schemas.openxmlformats.org/drawingml/2006/main">
              <a:ext uri="{FF2B5EF4-FFF2-40B4-BE49-F238E27FC236}">
                <a16:creationId xmlns:a16="http://schemas.microsoft.com/office/drawing/2014/main" id="{048D8FD7-431D-4CE0-AE48-5010B08D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56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56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56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56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56-visual-alt" descr="Identidad RMS–varianza–media. Ecuación; tres términos; condición media cero; unidades. Orden de lectura: Tres callouts. ---">
            <a:extLst xmlns:a="http://schemas.openxmlformats.org/drawingml/2006/main">
              <a:ext uri="{FF2B5EF4-FFF2-40B4-BE49-F238E27FC236}">
                <a16:creationId xmlns:a16="http://schemas.microsoft.com/office/drawing/2014/main" id="{006168CD-C88E-4627-83F0-14835824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56-equation-text">
            <a:extLst xmlns:a="http://schemas.openxmlformats.org/drawingml/2006/main">
              <a:ext uri="{FF2B5EF4-FFF2-40B4-BE49-F238E27FC236}">
                <a16:creationId xmlns:a16="http://schemas.microsoft.com/office/drawing/2014/main" id="{70328DD7-24CA-4AEE-8933-2894E6C9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p²ᵣₘₛ = σₚ² + p̄²</a:t>
            </a:r>
          </a:p>
        </p:txBody>
      </p:sp>
      <p:sp>
        <p:nvSpPr>
          <p:cNvPr id="17" name="U10-DG-056-callout_1-box">
            <a:extLst xmlns:a="http://schemas.openxmlformats.org/drawingml/2006/main">
              <a:ext uri="{FF2B5EF4-FFF2-40B4-BE49-F238E27FC236}">
                <a16:creationId xmlns:a16="http://schemas.microsoft.com/office/drawing/2014/main" id="{0072FC8F-0D56-4FB9-894B-53F89B6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56-callout_1-text">
            <a:extLst xmlns:a="http://schemas.openxmlformats.org/drawingml/2006/main">
              <a:ext uri="{FF2B5EF4-FFF2-40B4-BE49-F238E27FC236}">
                <a16:creationId xmlns:a16="http://schemas.microsoft.com/office/drawing/2014/main" id="{3F09CDFB-B89A-46C3-AE60-C6A5A86D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p²_rms: valor cuadrático</a:t>
            </a:r>
          </a:p>
        </p:txBody>
      </p:sp>
      <p:sp>
        <p:nvSpPr>
          <p:cNvPr id="19" name="U10-DG-056-callout_2-box">
            <a:extLst xmlns:a="http://schemas.openxmlformats.org/drawingml/2006/main">
              <a:ext uri="{FF2B5EF4-FFF2-40B4-BE49-F238E27FC236}">
                <a16:creationId xmlns:a16="http://schemas.microsoft.com/office/drawing/2014/main" id="{08BC77E9-EFEC-4C2E-B4B0-3EA11642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56-callout_2-text">
            <a:extLst xmlns:a="http://schemas.openxmlformats.org/drawingml/2006/main">
              <a:ext uri="{FF2B5EF4-FFF2-40B4-BE49-F238E27FC236}">
                <a16:creationId xmlns:a16="http://schemas.microsoft.com/office/drawing/2014/main" id="{E33D750D-DE34-4252-B994-71A7F914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σₚ²: dispersión</a:t>
            </a:r>
          </a:p>
        </p:txBody>
      </p:sp>
      <p:sp>
        <p:nvSpPr>
          <p:cNvPr id="21" name="U10-DG-056-callout_3-box">
            <a:extLst xmlns:a="http://schemas.openxmlformats.org/drawingml/2006/main">
              <a:ext uri="{FF2B5EF4-FFF2-40B4-BE49-F238E27FC236}">
                <a16:creationId xmlns:a16="http://schemas.microsoft.com/office/drawing/2014/main" id="{C9593A82-BA91-49F3-9B08-85925C3A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56-callout_3-text">
            <a:extLst xmlns:a="http://schemas.openxmlformats.org/drawingml/2006/main">
              <a:ext uri="{FF2B5EF4-FFF2-40B4-BE49-F238E27FC236}">
                <a16:creationId xmlns:a16="http://schemas.microsoft.com/office/drawing/2014/main" id="{30F7E3BD-30AD-47E9-A59D-63695989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p̄²: término de media</a:t>
            </a:r>
          </a:p>
        </p:txBody>
      </p:sp>
      <p:sp>
        <p:nvSpPr>
          <p:cNvPr id="23" name="U10-DG-056-callout_4-box">
            <a:extLst xmlns:a="http://schemas.openxmlformats.org/drawingml/2006/main">
              <a:ext uri="{FF2B5EF4-FFF2-40B4-BE49-F238E27FC236}">
                <a16:creationId xmlns:a16="http://schemas.microsoft.com/office/drawing/2014/main" id="{D3DCD6BE-2229-404C-BBCE-FD4A9E32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56-callout_4-text">
            <a:extLst xmlns:a="http://schemas.openxmlformats.org/drawingml/2006/main">
              <a:ext uri="{FF2B5EF4-FFF2-40B4-BE49-F238E27FC236}">
                <a16:creationId xmlns:a16="http://schemas.microsoft.com/office/drawing/2014/main" id="{4750719F-7A7E-433A-B678-37D0ACC9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Si p̄=0, p²_rms=σₚ²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DAA975D7-F6B7-40D8-9AC4-B995DE6C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Identidad RMS–varianza–media. Ecuación; tres términos; condición media cero; unidades.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C62821-BBD5-42CC-B736-82137170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ail-1">
            <a:extLst xmlns:a="http://schemas.openxmlformats.org/drawingml/2006/main">
              <a:ext uri="{FF2B5EF4-FFF2-40B4-BE49-F238E27FC236}">
                <a16:creationId xmlns:a16="http://schemas.microsoft.com/office/drawing/2014/main" id="{E6A1ACC8-8250-43C3-A1AA-848415D0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5BA7865F-1324-4821-8016-44478963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2B324BE7-24DE-44E9-AAF7-1DB63A44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F9226455-400F-457C-9051-D9EB4D34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BB6417-F6EF-4907-A967-B5EF10EE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Por qué el rosa conserva contenido por octava</a:t>
            </a:r>
          </a:p>
        </p:txBody>
      </p:sp>
      <p:sp>
        <p:nvSpPr>
          <p:cNvPr id="6" name="U10-DG-057-equation-anchor">
            <a:extLst xmlns:a="http://schemas.openxmlformats.org/drawingml/2006/main">
              <a:ext uri="{FF2B5EF4-FFF2-40B4-BE49-F238E27FC236}">
                <a16:creationId xmlns:a16="http://schemas.microsoft.com/office/drawing/2014/main" id="{80BAE06F-E4AE-4749-9A71-31E52895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U10-DG-057-callout_1-anchor">
            <a:extLst xmlns:a="http://schemas.openxmlformats.org/drawingml/2006/main">
              <a:ext uri="{FF2B5EF4-FFF2-40B4-BE49-F238E27FC236}">
                <a16:creationId xmlns:a16="http://schemas.microsoft.com/office/drawing/2014/main" id="{1C75E970-AA46-4197-9A8C-3B5A4F58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U10-DG-057-callout_2-anchor">
            <a:extLst xmlns:a="http://schemas.openxmlformats.org/drawingml/2006/main">
              <a:ext uri="{FF2B5EF4-FFF2-40B4-BE49-F238E27FC236}">
                <a16:creationId xmlns:a16="http://schemas.microsoft.com/office/drawing/2014/main" id="{3C6F1F4D-902C-49A6-9007-805D5ED7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U10-DG-057-callout_3-anchor">
            <a:extLst xmlns:a="http://schemas.openxmlformats.org/drawingml/2006/main">
              <a:ext uri="{FF2B5EF4-FFF2-40B4-BE49-F238E27FC236}">
                <a16:creationId xmlns:a16="http://schemas.microsoft.com/office/drawing/2014/main" id="{6E9D483D-5B7B-4587-88E5-79EE9B53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U10-DG-057-callout_4-anchor">
            <a:extLst xmlns:a="http://schemas.openxmlformats.org/drawingml/2006/main">
              <a:ext uri="{FF2B5EF4-FFF2-40B4-BE49-F238E27FC236}">
                <a16:creationId xmlns:a16="http://schemas.microsoft.com/office/drawing/2014/main" id="{DDC9C0F3-79C1-4959-9303-9F1F1A4D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U10-DG-057-leader_1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0395" y="2004061"/>
            <a:ext cx="87630" cy="1152049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U10-DG-057-leader_2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172450" y="1460183"/>
            <a:ext cx="2594610" cy="1695927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9" name="U10-DG-057-leader_3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60395" y="3156110"/>
            <a:ext cx="87630" cy="1503521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0" name="U10-DG-057-leader_4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8172450" y="3156110"/>
            <a:ext cx="184785" cy="1503521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5" name="U10-DG-057-visual-alt" descr="Integral del rosa por octava. Intervalo f a 2f; integral; resultado K ln 2; dos bandas. Orden de lectura: Líderes cortos. ---">
            <a:extLst xmlns:a="http://schemas.openxmlformats.org/drawingml/2006/main">
              <a:ext uri="{FF2B5EF4-FFF2-40B4-BE49-F238E27FC236}">
                <a16:creationId xmlns:a16="http://schemas.microsoft.com/office/drawing/2014/main" id="{C5969B26-D301-43DE-BEC1-72776C76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89848"/>
            <a:ext cx="4994910" cy="1132523"/>
          </a:xfrm>
          <a:prstGeom xmlns:a="http://schemas.openxmlformats.org/drawingml/2006/main" prst="roundRect">
            <a:avLst>
              <a:gd name="adj" fmla="val 5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16" name="U10-DG-057-equation-text">
            <a:extLst xmlns:a="http://schemas.openxmlformats.org/drawingml/2006/main">
              <a:ext uri="{FF2B5EF4-FFF2-40B4-BE49-F238E27FC236}">
                <a16:creationId xmlns:a16="http://schemas.microsoft.com/office/drawing/2014/main" id="{F7EF6FDE-3B2E-4D4C-8F04-6A74C2C4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3673"/>
            <a:ext cx="4652010" cy="884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960" b="0" i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∫[f→2f] K/ν dν = K·ln 2</a:t>
            </a:r>
          </a:p>
        </p:txBody>
      </p:sp>
      <p:sp>
        <p:nvSpPr>
          <p:cNvPr id="17" name="U10-DG-057-callout_1-box">
            <a:extLst xmlns:a="http://schemas.openxmlformats.org/drawingml/2006/main">
              <a:ext uri="{FF2B5EF4-FFF2-40B4-BE49-F238E27FC236}">
                <a16:creationId xmlns:a16="http://schemas.microsoft.com/office/drawing/2014/main" id="{7867E142-F414-40CD-B075-B5695172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F7E83"/>
            </a:solidFill>
            <a:prstDash val="solid"/>
          </a:ln>
        </p:spPr>
      </p:sp>
      <p:sp>
        <p:nvSpPr>
          <p:cNvPr id="18" name="U10-DG-057-callout_1-text">
            <a:extLst xmlns:a="http://schemas.openxmlformats.org/drawingml/2006/main">
              <a:ext uri="{FF2B5EF4-FFF2-40B4-BE49-F238E27FC236}">
                <a16:creationId xmlns:a16="http://schemas.microsoft.com/office/drawing/2014/main" id="{04F0630E-E38F-4AE8-9097-DD60BD38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Banda de f a 2f</a:t>
            </a:r>
          </a:p>
        </p:txBody>
      </p:sp>
      <p:sp>
        <p:nvSpPr>
          <p:cNvPr id="19" name="U10-DG-057-callout_2-box">
            <a:extLst xmlns:a="http://schemas.openxmlformats.org/drawingml/2006/main">
              <a:ext uri="{FF2B5EF4-FFF2-40B4-BE49-F238E27FC236}">
                <a16:creationId xmlns:a16="http://schemas.microsoft.com/office/drawing/2014/main" id="{86DC9887-9908-47E0-9015-BBCA2003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448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4288">
            <a:solidFill>
              <a:srgbClr val="4D1434"/>
            </a:solidFill>
            <a:prstDash val="solid"/>
          </a:ln>
        </p:spPr>
      </p:sp>
      <p:sp>
        <p:nvSpPr>
          <p:cNvPr id="20" name="U10-DG-057-callout_2-text">
            <a:extLst xmlns:a="http://schemas.openxmlformats.org/drawingml/2006/main">
              <a:ext uri="{FF2B5EF4-FFF2-40B4-BE49-F238E27FC236}">
                <a16:creationId xmlns:a16="http://schemas.microsoft.com/office/drawing/2014/main" id="{7D2AC360-B192-43AB-BF48-141EAC9D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830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PSD rosa K/ν</a:t>
            </a:r>
          </a:p>
        </p:txBody>
      </p:sp>
      <p:sp>
        <p:nvSpPr>
          <p:cNvPr id="21" name="U10-DG-057-callout_3-box">
            <a:extLst xmlns:a="http://schemas.openxmlformats.org/drawingml/2006/main">
              <a:ext uri="{FF2B5EF4-FFF2-40B4-BE49-F238E27FC236}">
                <a16:creationId xmlns:a16="http://schemas.microsoft.com/office/drawing/2014/main" id="{8F7DA440-FFCB-4BED-80DE-9B7AD2ED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69FA7"/>
            </a:solidFill>
            <a:prstDash val="solid"/>
          </a:ln>
        </p:spPr>
      </p:sp>
      <p:sp>
        <p:nvSpPr>
          <p:cNvPr id="22" name="U10-DG-057-callout_3-text">
            <a:extLst xmlns:a="http://schemas.openxmlformats.org/drawingml/2006/main">
              <a:ext uri="{FF2B5EF4-FFF2-40B4-BE49-F238E27FC236}">
                <a16:creationId xmlns:a16="http://schemas.microsoft.com/office/drawing/2014/main" id="{93691B46-8BD4-49C2-9916-9322EABC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 K·ln 2</a:t>
            </a:r>
          </a:p>
        </p:txBody>
      </p:sp>
      <p:sp>
        <p:nvSpPr>
          <p:cNvPr id="23" name="U10-DG-057-callout_4-box">
            <a:extLst xmlns:a="http://schemas.openxmlformats.org/drawingml/2006/main">
              <a:ext uri="{FF2B5EF4-FFF2-40B4-BE49-F238E27FC236}">
                <a16:creationId xmlns:a16="http://schemas.microsoft.com/office/drawing/2014/main" id="{3C80466C-B7C7-43B3-BCDA-7E4EBA16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30053"/>
            <a:ext cx="2366010" cy="85915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4288">
            <a:solidFill>
              <a:srgbClr val="9F541A"/>
            </a:solidFill>
            <a:prstDash val="solid"/>
          </a:ln>
        </p:spPr>
      </p:sp>
      <p:sp>
        <p:nvSpPr>
          <p:cNvPr id="24" name="U10-DG-057-callout_4-text">
            <a:extLst xmlns:a="http://schemas.openxmlformats.org/drawingml/2006/main">
              <a:ext uri="{FF2B5EF4-FFF2-40B4-BE49-F238E27FC236}">
                <a16:creationId xmlns:a16="http://schemas.microsoft.com/office/drawing/2014/main" id="{CAA47A0F-A3B9-4EEC-B648-4CCD4B3F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53878"/>
            <a:ext cx="202311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7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Igual en cada octava</a:t>
            </a:r>
          </a:p>
        </p:txBody>
      </p:sp>
      <p:sp>
        <p:nvSpPr>
          <p:cNvPr id="25" name="caption">
            <a:extLst xmlns:a="http://schemas.openxmlformats.org/drawingml/2006/main">
              <a:ext uri="{FF2B5EF4-FFF2-40B4-BE49-F238E27FC236}">
                <a16:creationId xmlns:a16="http://schemas.microsoft.com/office/drawing/2014/main" id="{BEB83890-F74E-4C16-BA27-1375D693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15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975" b="0" i="1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Integral del rosa por octava. Intervalo f a 2f; integral; resultado K ln 2; dos bandas.</a:t>
            </a:r>
          </a:p>
        </p:txBody>
      </p:sp>
      <p:sp>
        <p:nvSpPr>
          <p:cNvPr id="2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030FE5-F113-4AE4-9392-D689E943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-1">
            <a:extLst xmlns:a="http://schemas.openxmlformats.org/drawingml/2006/main">
              <a:ext uri="{FF2B5EF4-FFF2-40B4-BE49-F238E27FC236}">
                <a16:creationId xmlns:a16="http://schemas.microsoft.com/office/drawing/2014/main" id="{7B4F24EB-6B75-46DC-858E-D478985D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7FDE65D5-5F44-4947-8244-F5B74A52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01220C0-8CFC-45D4-AD73-BC085495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4CB1945-3D80-4941-8F4C-4890678B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C220FB-5D0F-4579-8B12-6AF28EA7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Combinar intervalos de distinta duración</a:t>
            </a:r>
          </a:p>
        </p:txBody>
      </p:sp>
      <p:sp>
        <p:nvSpPr>
          <p:cNvPr id="6" name="U10-088-conditional-alt" descr="Recurso visual previsto: Ecuación anotada U10-DG-058; candidata para diagram-generation. ---">
            <a:extLst xmlns:a="http://schemas.openxmlformats.org/drawingml/2006/main">
              <a:ext uri="{FF2B5EF4-FFF2-40B4-BE49-F238E27FC236}">
                <a16:creationId xmlns:a16="http://schemas.microsoft.com/office/drawing/2014/main" id="{84AEB2DC-1CE4-40BB-A781-F134DEFE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7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F869572E-9AB5-4938-9A77-98B9370E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Principio cualitativo</a:t>
            </a:r>
          </a:p>
        </p:txBody>
      </p:sp>
      <p:sp>
        <p:nvSpPr>
          <p:cNvPr id="8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9DA81BA0-FC45-44D5-AD47-2F946B95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 los intervalos duran distinto, cada contribución debe ponderarse por su duración antes de volver a decibeles.</a:t>
            </a:r>
          </a:p>
        </p:txBody>
      </p:sp>
      <p:sp>
        <p:nvSpPr>
          <p:cNvPr id="9" name="conditional-foot">
            <a:extLst xmlns:a="http://schemas.openxmlformats.org/drawingml/2006/main">
              <a:ext uri="{FF2B5EF4-FFF2-40B4-BE49-F238E27FC236}">
                <a16:creationId xmlns:a16="http://schemas.microsoft.com/office/drawing/2014/main" id="{7395F03C-9241-4A2F-8434-AB8F402E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rPr>
              <a:t>No se muestra una fórmula ni un ejemplo sin fuente verificada.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66D0E60-991C-4C16-983B-D7F8ED8D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-1">
            <a:extLst xmlns:a="http://schemas.openxmlformats.org/drawingml/2006/main">
              <a:ext uri="{FF2B5EF4-FFF2-40B4-BE49-F238E27FC236}">
                <a16:creationId xmlns:a16="http://schemas.microsoft.com/office/drawing/2014/main" id="{80ADEA11-E761-4036-A0CD-3F70C2C7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3B739024-B87B-4FC8-BC61-72DA8E84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199354D-80F7-4973-B01E-B7D5FEA4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083A800-A022-4C5D-834F-4EA6DF49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FE8F3-35A4-45FB-B482-EE635227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Ejercicios numéricos seleccionados</a:t>
            </a:r>
          </a:p>
        </p:txBody>
      </p:sp>
      <p:sp>
        <p:nvSpPr>
          <p:cNvPr id="6" name="U10-089-claim-alt" descr="Recurso visual previsto: Dos slides o revelado si no respeta 22 pt; U10-DG-059, candidata para diagram-generation. ---">
            <a:extLst xmlns:a="http://schemas.openxmlformats.org/drawingml/2006/main">
              <a:ext uri="{FF2B5EF4-FFF2-40B4-BE49-F238E27FC236}">
                <a16:creationId xmlns:a16="http://schemas.microsoft.com/office/drawing/2014/main" id="{6B1F2247-74F9-4C8B-9972-A810D51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76325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9525">
            <a:solidFill>
              <a:srgbClr val="903163"/>
            </a:solidFill>
            <a:prstDash val="solid"/>
          </a:ln>
        </p:spPr>
      </p:sp>
      <p:sp>
        <p:nvSpPr>
          <p:cNvPr id="7" name="solutions-heading">
            <a:extLst xmlns:a="http://schemas.openxmlformats.org/drawingml/2006/main">
              <a:ext uri="{FF2B5EF4-FFF2-40B4-BE49-F238E27FC236}">
                <a16:creationId xmlns:a16="http://schemas.microsoft.com/office/drawing/2014/main" id="{9DEB101B-70A4-4D6E-99CF-CE82B6BD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Cinco resultados: mostrar procedimiento, unidades y límite de interpretación</a:t>
            </a:r>
          </a:p>
        </p:txBody>
      </p:sp>
      <p:sp>
        <p:nvSpPr>
          <p:cNvPr id="8" name="solution-0-box">
            <a:extLst xmlns:a="http://schemas.openxmlformats.org/drawingml/2006/main">
              <a:ext uri="{FF2B5EF4-FFF2-40B4-BE49-F238E27FC236}">
                <a16:creationId xmlns:a16="http://schemas.microsoft.com/office/drawing/2014/main" id="{2D897144-FE5A-4BC2-B0EB-CF40C469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143500" cy="97155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</p:sp>
      <p:sp>
        <p:nvSpPr>
          <p:cNvPr id="9" name="solution-0-number">
            <a:extLst xmlns:a="http://schemas.openxmlformats.org/drawingml/2006/main">
              <a:ext uri="{FF2B5EF4-FFF2-40B4-BE49-F238E27FC236}">
                <a16:creationId xmlns:a16="http://schemas.microsoft.com/office/drawing/2014/main" id="{2ADC83E1-85E6-4A37-A39A-DFCC9EBF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solution-0-body">
            <a:extLst xmlns:a="http://schemas.openxmlformats.org/drawingml/2006/main">
              <a:ext uri="{FF2B5EF4-FFF2-40B4-BE49-F238E27FC236}">
                <a16:creationId xmlns:a16="http://schemas.microsoft.com/office/drawing/2014/main" id="{F8FC2E63-603B-405A-924A-35B2DAE1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443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0, 2, 2, 4 mPa → p̄=2 mPa; pᵣₘₛ≈2,45 mPa; σₚ²=2 mPa².</a:t>
            </a:r>
          </a:p>
        </p:txBody>
      </p:sp>
      <p:sp>
        <p:nvSpPr>
          <p:cNvPr id="11" name="solution-1-box">
            <a:extLst xmlns:a="http://schemas.openxmlformats.org/drawingml/2006/main">
              <a:ext uri="{FF2B5EF4-FFF2-40B4-BE49-F238E27FC236}">
                <a16:creationId xmlns:a16="http://schemas.microsoft.com/office/drawing/2014/main" id="{0863222F-81DC-4BF2-8EED-2B04FB22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5143500" cy="97155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1430">
            <a:solidFill>
              <a:srgbClr val="4D1434"/>
            </a:solidFill>
            <a:prstDash val="solid"/>
          </a:ln>
        </p:spPr>
      </p:sp>
      <p:sp>
        <p:nvSpPr>
          <p:cNvPr id="12" name="solution-1-number">
            <a:extLst xmlns:a="http://schemas.openxmlformats.org/drawingml/2006/main">
              <a:ext uri="{FF2B5EF4-FFF2-40B4-BE49-F238E27FC236}">
                <a16:creationId xmlns:a16="http://schemas.microsoft.com/office/drawing/2014/main" id="{AEC878CC-9487-4BAE-903A-EC5AF963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solution-1-body">
            <a:extLst xmlns:a="http://schemas.openxmlformats.org/drawingml/2006/main">
              <a:ext uri="{FF2B5EF4-FFF2-40B4-BE49-F238E27FC236}">
                <a16:creationId xmlns:a16="http://schemas.microsoft.com/office/drawing/2014/main" id="{34A5FD7A-D41E-4497-AFF2-5E393C95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43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9,0×10⁻¹⁰ Pa²/Hz · 2000 Hz → pᵣₘₛ≈1,34 mPa → 36,5 dB SPL.</a:t>
            </a:r>
          </a:p>
        </p:txBody>
      </p:sp>
      <p:sp>
        <p:nvSpPr>
          <p:cNvPr id="14" name="solution-2-box">
            <a:extLst xmlns:a="http://schemas.openxmlformats.org/drawingml/2006/main">
              <a:ext uri="{FF2B5EF4-FFF2-40B4-BE49-F238E27FC236}">
                <a16:creationId xmlns:a16="http://schemas.microsoft.com/office/drawing/2014/main" id="{AEC69572-CF82-4E69-85E5-106CC3D5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97155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1430">
            <a:solidFill>
              <a:srgbClr val="969FA7"/>
            </a:solidFill>
            <a:prstDash val="solid"/>
          </a:ln>
        </p:spPr>
      </p:sp>
      <p:sp>
        <p:nvSpPr>
          <p:cNvPr id="15" name="solution-2-number">
            <a:extLst xmlns:a="http://schemas.openxmlformats.org/drawingml/2006/main">
              <a:ext uri="{FF2B5EF4-FFF2-40B4-BE49-F238E27FC236}">
                <a16:creationId xmlns:a16="http://schemas.microsoft.com/office/drawing/2014/main" id="{85DC2B5C-971B-4D5E-8F99-650A686C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solution-2-body">
            <a:extLst xmlns:a="http://schemas.openxmlformats.org/drawingml/2006/main">
              <a:ext uri="{FF2B5EF4-FFF2-40B4-BE49-F238E27FC236}">
                <a16:creationId xmlns:a16="http://schemas.microsoft.com/office/drawing/2014/main" id="{75526277-8AD8-49BF-8D00-77B5D983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81500"/>
            <a:ext cx="443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900–1100 Hz → B=200 Hz; faltan f꜀, forma, pendientes, nivel y calibración.</a:t>
            </a:r>
          </a:p>
        </p:txBody>
      </p:sp>
      <p:sp>
        <p:nvSpPr>
          <p:cNvPr id="17" name="solution-3-box">
            <a:extLst xmlns:a="http://schemas.openxmlformats.org/drawingml/2006/main">
              <a:ext uri="{FF2B5EF4-FFF2-40B4-BE49-F238E27FC236}">
                <a16:creationId xmlns:a16="http://schemas.microsoft.com/office/drawing/2014/main" id="{BF5AFF0F-2930-49CE-BCC6-F0EA984D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97155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1430">
            <a:solidFill>
              <a:srgbClr val="9F541A"/>
            </a:solidFill>
            <a:prstDash val="solid"/>
          </a:ln>
        </p:spPr>
      </p:sp>
      <p:sp>
        <p:nvSpPr>
          <p:cNvPr id="18" name="solution-3-number">
            <a:extLst xmlns:a="http://schemas.openxmlformats.org/drawingml/2006/main">
              <a:ext uri="{FF2B5EF4-FFF2-40B4-BE49-F238E27FC236}">
                <a16:creationId xmlns:a16="http://schemas.microsoft.com/office/drawing/2014/main" id="{BEADDD8C-15F8-4B19-9BA8-CA98DE7A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98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solution-3-body">
            <a:extLst xmlns:a="http://schemas.openxmlformats.org/drawingml/2006/main">
              <a:ext uri="{FF2B5EF4-FFF2-40B4-BE49-F238E27FC236}">
                <a16:creationId xmlns:a16="http://schemas.microsoft.com/office/drawing/2014/main" id="{B1CF75AB-BE5D-4678-A0C3-C64CF220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443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68−73=−5 dB: el ruido es 5 dB mayor en condiciones comparables.</a:t>
            </a:r>
          </a:p>
        </p:txBody>
      </p:sp>
      <p:sp>
        <p:nvSpPr>
          <p:cNvPr id="20" name="solution-4-box">
            <a:extLst xmlns:a="http://schemas.openxmlformats.org/drawingml/2006/main">
              <a:ext uri="{FF2B5EF4-FFF2-40B4-BE49-F238E27FC236}">
                <a16:creationId xmlns:a16="http://schemas.microsoft.com/office/drawing/2014/main" id="{C9166B1C-E2C8-4150-B878-CF8062D6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5143500" cy="97155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2F7E83"/>
            </a:solidFill>
            <a:prstDash val="solid"/>
          </a:ln>
        </p:spPr>
      </p:sp>
      <p:sp>
        <p:nvSpPr>
          <p:cNvPr id="21" name="solution-4-number">
            <a:extLst xmlns:a="http://schemas.openxmlformats.org/drawingml/2006/main">
              <a:ext uri="{FF2B5EF4-FFF2-40B4-BE49-F238E27FC236}">
                <a16:creationId xmlns:a16="http://schemas.microsoft.com/office/drawing/2014/main" id="{930B7E4F-7DEA-42EA-9AF4-A23DBFAB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147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solution-4-body">
            <a:extLst xmlns:a="http://schemas.openxmlformats.org/drawingml/2006/main">
              <a:ext uri="{FF2B5EF4-FFF2-40B4-BE49-F238E27FC236}">
                <a16:creationId xmlns:a16="http://schemas.microsoft.com/office/drawing/2014/main" id="{4A3188CC-05F3-4E92-BE08-FB0786DF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76600"/>
            <a:ext cx="4438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74, 78, 82 dB(A) → Lₐeq,30 min≈79,2 dB(A).</a:t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223345-BC43-4C16-AE6A-B2FA947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-1">
            <a:extLst xmlns:a="http://schemas.openxmlformats.org/drawingml/2006/main">
              <a:ext uri="{FF2B5EF4-FFF2-40B4-BE49-F238E27FC236}">
                <a16:creationId xmlns:a16="http://schemas.microsoft.com/office/drawing/2014/main" id="{05361E73-86DA-40F0-BFE8-89036D65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6A8E540C-255F-46D7-990D-F613C6BF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66A9823C-B75C-45FD-8903-BAEA650F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4A5E9E6-DDB1-4D8F-9453-33DE5C80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25CF2A-7DCC-4020-8B64-6FB5518F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Descriptores y datos que deben acompañarlos</a:t>
            </a:r>
          </a:p>
        </p:txBody>
      </p:sp>
      <p:sp>
        <p:nvSpPr>
          <p:cNvPr id="6" name="U10-090-claim-alt" descr="Recurso visual previsto: Tabla nativa basada en capítulo. ---">
            <a:extLst xmlns:a="http://schemas.openxmlformats.org/drawingml/2006/main">
              <a:ext uri="{FF2B5EF4-FFF2-40B4-BE49-F238E27FC236}">
                <a16:creationId xmlns:a16="http://schemas.microsoft.com/office/drawing/2014/main" id="{2571BCEC-48F7-45CF-BED8-32D91723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47650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7" name="U10-090-cell-text-0-0">
            <a:extLst xmlns:a="http://schemas.openxmlformats.org/drawingml/2006/main">
              <a:ext uri="{FF2B5EF4-FFF2-40B4-BE49-F238E27FC236}">
                <a16:creationId xmlns:a16="http://schemas.microsoft.com/office/drawing/2014/main" id="{BE94ADE2-07A9-4428-81FB-94192496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19250"/>
            <a:ext cx="232410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Descriptor</a:t>
            </a:r>
          </a:p>
        </p:txBody>
      </p:sp>
      <p:sp>
        <p:nvSpPr>
          <p:cNvPr id="8" name="U10-090-cell-0-1">
            <a:extLst xmlns:a="http://schemas.openxmlformats.org/drawingml/2006/main">
              <a:ext uri="{FF2B5EF4-FFF2-40B4-BE49-F238E27FC236}">
                <a16:creationId xmlns:a16="http://schemas.microsoft.com/office/drawing/2014/main" id="{C8085E7B-FD32-4012-8737-6EF33FB5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71625"/>
            <a:ext cx="828675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9" name="U10-090-cell-text-0-1">
            <a:extLst xmlns:a="http://schemas.openxmlformats.org/drawingml/2006/main">
              <a:ext uri="{FF2B5EF4-FFF2-40B4-BE49-F238E27FC236}">
                <a16:creationId xmlns:a16="http://schemas.microsoft.com/office/drawing/2014/main" id="{A3EC1FA2-A5AC-4462-BAA9-B071515D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19250"/>
            <a:ext cx="813435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Debe acompañarse por</a:t>
            </a:r>
          </a:p>
        </p:txBody>
      </p:sp>
      <p:sp>
        <p:nvSpPr>
          <p:cNvPr id="10" name="U10-090-cell-1-0">
            <a:extLst xmlns:a="http://schemas.openxmlformats.org/drawingml/2006/main">
              <a:ext uri="{FF2B5EF4-FFF2-40B4-BE49-F238E27FC236}">
                <a16:creationId xmlns:a16="http://schemas.microsoft.com/office/drawing/2014/main" id="{EF8E8E07-9F2A-461B-B8C1-9AB3328E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6732"/>
            <a:ext cx="247650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1" name="U10-090-cell-text-1-0">
            <a:extLst xmlns:a="http://schemas.openxmlformats.org/drawingml/2006/main">
              <a:ext uri="{FF2B5EF4-FFF2-40B4-BE49-F238E27FC236}">
                <a16:creationId xmlns:a16="http://schemas.microsoft.com/office/drawing/2014/main" id="{EA7804CE-5A21-46DE-A353-FFBC4CCE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4357"/>
            <a:ext cx="232410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L(t)</a:t>
            </a:r>
          </a:p>
        </p:txBody>
      </p:sp>
      <p:sp>
        <p:nvSpPr>
          <p:cNvPr id="12" name="U10-090-cell-1-1">
            <a:extLst xmlns:a="http://schemas.openxmlformats.org/drawingml/2006/main">
              <a:ext uri="{FF2B5EF4-FFF2-40B4-BE49-F238E27FC236}">
                <a16:creationId xmlns:a16="http://schemas.microsoft.com/office/drawing/2014/main" id="{E4A50809-2ED2-4AD2-9A83-3B102700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56732"/>
            <a:ext cx="828675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3" name="U10-090-cell-text-1-1">
            <a:extLst xmlns:a="http://schemas.openxmlformats.org/drawingml/2006/main">
              <a:ext uri="{FF2B5EF4-FFF2-40B4-BE49-F238E27FC236}">
                <a16:creationId xmlns:a16="http://schemas.microsoft.com/office/drawing/2014/main" id="{5A473BF2-CFB0-480A-AF60-A76686AD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04357"/>
            <a:ext cx="813435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ponderación frecuencial y temporal; instante/registro</a:t>
            </a:r>
          </a:p>
        </p:txBody>
      </p:sp>
      <p:sp>
        <p:nvSpPr>
          <p:cNvPr id="14" name="U10-090-cell-2-0">
            <a:extLst xmlns:a="http://schemas.openxmlformats.org/drawingml/2006/main">
              <a:ext uri="{FF2B5EF4-FFF2-40B4-BE49-F238E27FC236}">
                <a16:creationId xmlns:a16="http://schemas.microsoft.com/office/drawing/2014/main" id="{FFA635FF-E805-48F8-A997-BC7FD40C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1839"/>
            <a:ext cx="247650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5" name="U10-090-cell-text-2-0">
            <a:extLst xmlns:a="http://schemas.openxmlformats.org/drawingml/2006/main">
              <a:ext uri="{FF2B5EF4-FFF2-40B4-BE49-F238E27FC236}">
                <a16:creationId xmlns:a16="http://schemas.microsoft.com/office/drawing/2014/main" id="{F6B60235-D6C6-45CE-A47D-DB3428C5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9464"/>
            <a:ext cx="232410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L_max</a:t>
            </a:r>
          </a:p>
        </p:txBody>
      </p:sp>
      <p:sp>
        <p:nvSpPr>
          <p:cNvPr id="16" name="U10-090-cell-2-1">
            <a:extLst xmlns:a="http://schemas.openxmlformats.org/drawingml/2006/main">
              <a:ext uri="{FF2B5EF4-FFF2-40B4-BE49-F238E27FC236}">
                <a16:creationId xmlns:a16="http://schemas.microsoft.com/office/drawing/2014/main" id="{AFC5AEDA-B910-43AF-835B-667CC386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41839"/>
            <a:ext cx="828675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7" name="U10-090-cell-text-2-1">
            <a:extLst xmlns:a="http://schemas.openxmlformats.org/drawingml/2006/main">
              <a:ext uri="{FF2B5EF4-FFF2-40B4-BE49-F238E27FC236}">
                <a16:creationId xmlns:a16="http://schemas.microsoft.com/office/drawing/2014/main" id="{958864B2-292E-421B-A5FA-1B8420CA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789464"/>
            <a:ext cx="813435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detector, ponderación e intervalo de búsqueda</a:t>
            </a:r>
          </a:p>
        </p:txBody>
      </p:sp>
      <p:sp>
        <p:nvSpPr>
          <p:cNvPr id="18" name="U10-090-cell-3-0">
            <a:extLst xmlns:a="http://schemas.openxmlformats.org/drawingml/2006/main">
              <a:ext uri="{FF2B5EF4-FFF2-40B4-BE49-F238E27FC236}">
                <a16:creationId xmlns:a16="http://schemas.microsoft.com/office/drawing/2014/main" id="{8001B581-ADB2-4ECB-BD81-44A232F9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26946"/>
            <a:ext cx="247650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19" name="U10-090-cell-text-3-0">
            <a:extLst xmlns:a="http://schemas.openxmlformats.org/drawingml/2006/main">
              <a:ext uri="{FF2B5EF4-FFF2-40B4-BE49-F238E27FC236}">
                <a16:creationId xmlns:a16="http://schemas.microsoft.com/office/drawing/2014/main" id="{38BEE728-2A3A-4339-B7A5-8FF90AA5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74571"/>
            <a:ext cx="232410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L_peak</a:t>
            </a:r>
          </a:p>
        </p:txBody>
      </p:sp>
      <p:sp>
        <p:nvSpPr>
          <p:cNvPr id="20" name="U10-090-cell-3-1">
            <a:extLst xmlns:a="http://schemas.openxmlformats.org/drawingml/2006/main">
              <a:ext uri="{FF2B5EF4-FFF2-40B4-BE49-F238E27FC236}">
                <a16:creationId xmlns:a16="http://schemas.microsoft.com/office/drawing/2014/main" id="{10847BF7-717D-47B7-8E4E-AA8206D9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26946"/>
            <a:ext cx="828675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1" name="U10-090-cell-text-3-1">
            <a:extLst xmlns:a="http://schemas.openxmlformats.org/drawingml/2006/main">
              <a:ext uri="{FF2B5EF4-FFF2-40B4-BE49-F238E27FC236}">
                <a16:creationId xmlns:a16="http://schemas.microsoft.com/office/drawing/2014/main" id="{0B6690BC-CFE0-4E20-ACEC-867870B5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74571"/>
            <a:ext cx="813435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detector de pico, rango, referencia y procedimiento</a:t>
            </a:r>
          </a:p>
        </p:txBody>
      </p:sp>
      <p:sp>
        <p:nvSpPr>
          <p:cNvPr id="22" name="U10-090-cell-4-0">
            <a:extLst xmlns:a="http://schemas.openxmlformats.org/drawingml/2006/main">
              <a:ext uri="{FF2B5EF4-FFF2-40B4-BE49-F238E27FC236}">
                <a16:creationId xmlns:a16="http://schemas.microsoft.com/office/drawing/2014/main" id="{FB3EDE4E-A762-4222-B06D-5B1168BE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12054"/>
            <a:ext cx="247650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3" name="U10-090-cell-text-4-0">
            <a:extLst xmlns:a="http://schemas.openxmlformats.org/drawingml/2006/main">
              <a:ext uri="{FF2B5EF4-FFF2-40B4-BE49-F238E27FC236}">
                <a16:creationId xmlns:a16="http://schemas.microsoft.com/office/drawing/2014/main" id="{FACCC3FA-4BAB-45CD-8CDB-6BE98D0F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59679"/>
            <a:ext cx="232410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Lₑq,T</a:t>
            </a:r>
          </a:p>
        </p:txBody>
      </p:sp>
      <p:sp>
        <p:nvSpPr>
          <p:cNvPr id="24" name="U10-090-cell-4-1">
            <a:extLst xmlns:a="http://schemas.openxmlformats.org/drawingml/2006/main">
              <a:ext uri="{FF2B5EF4-FFF2-40B4-BE49-F238E27FC236}">
                <a16:creationId xmlns:a16="http://schemas.microsoft.com/office/drawing/2014/main" id="{7BB16C2C-8D25-4C4B-BC2F-E58F1CE4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12054"/>
            <a:ext cx="828675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5" name="U10-090-cell-text-4-1">
            <a:extLst xmlns:a="http://schemas.openxmlformats.org/drawingml/2006/main">
              <a:ext uri="{FF2B5EF4-FFF2-40B4-BE49-F238E27FC236}">
                <a16:creationId xmlns:a16="http://schemas.microsoft.com/office/drawing/2014/main" id="{1847F490-1CAC-4C96-AEB7-A6FED5BA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959679"/>
            <a:ext cx="813435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ponderación frecuencial e intervalo T</a:t>
            </a:r>
          </a:p>
        </p:txBody>
      </p:sp>
      <p:sp>
        <p:nvSpPr>
          <p:cNvPr id="26" name="U10-090-cell-5-0">
            <a:extLst xmlns:a="http://schemas.openxmlformats.org/drawingml/2006/main">
              <a:ext uri="{FF2B5EF4-FFF2-40B4-BE49-F238E27FC236}">
                <a16:creationId xmlns:a16="http://schemas.microsoft.com/office/drawing/2014/main" id="{987E9911-E1B5-48D4-B73B-88969E2E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7161"/>
            <a:ext cx="247650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7" name="U10-090-cell-text-5-0">
            <a:extLst xmlns:a="http://schemas.openxmlformats.org/drawingml/2006/main">
              <a:ext uri="{FF2B5EF4-FFF2-40B4-BE49-F238E27FC236}">
                <a16:creationId xmlns:a16="http://schemas.microsoft.com/office/drawing/2014/main" id="{D79582B7-A3A4-4AA1-8A00-E0BF2249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44786"/>
            <a:ext cx="232410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L_N,T</a:t>
            </a:r>
          </a:p>
        </p:txBody>
      </p:sp>
      <p:sp>
        <p:nvSpPr>
          <p:cNvPr id="28" name="U10-090-cell-5-1">
            <a:extLst xmlns:a="http://schemas.openxmlformats.org/drawingml/2006/main">
              <a:ext uri="{FF2B5EF4-FFF2-40B4-BE49-F238E27FC236}">
                <a16:creationId xmlns:a16="http://schemas.microsoft.com/office/drawing/2014/main" id="{28C4F2CB-B870-4530-A1F1-8A7393BB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97161"/>
            <a:ext cx="828675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29" name="U10-090-cell-text-5-1">
            <a:extLst xmlns:a="http://schemas.openxmlformats.org/drawingml/2006/main">
              <a:ext uri="{FF2B5EF4-FFF2-40B4-BE49-F238E27FC236}">
                <a16:creationId xmlns:a16="http://schemas.microsoft.com/office/drawing/2014/main" id="{673972D2-7485-47C4-AF44-D964598C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44786"/>
            <a:ext cx="813435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N, T, ponderación y muestreo</a:t>
            </a:r>
          </a:p>
        </p:txBody>
      </p:sp>
      <p:sp>
        <p:nvSpPr>
          <p:cNvPr id="30" name="U10-090-cell-6-0">
            <a:extLst xmlns:a="http://schemas.openxmlformats.org/drawingml/2006/main">
              <a:ext uri="{FF2B5EF4-FFF2-40B4-BE49-F238E27FC236}">
                <a16:creationId xmlns:a16="http://schemas.microsoft.com/office/drawing/2014/main" id="{6F69BBAD-20AD-4C53-9225-5538AD2B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82268"/>
            <a:ext cx="247650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1" name="U10-090-cell-text-6-0">
            <a:extLst xmlns:a="http://schemas.openxmlformats.org/drawingml/2006/main">
              <a:ext uri="{FF2B5EF4-FFF2-40B4-BE49-F238E27FC236}">
                <a16:creationId xmlns:a16="http://schemas.microsoft.com/office/drawing/2014/main" id="{618B2C0E-26B5-4CD2-8152-44FFCE14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29893"/>
            <a:ext cx="232410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Exposición/dosis</a:t>
            </a:r>
          </a:p>
        </p:txBody>
      </p:sp>
      <p:sp>
        <p:nvSpPr>
          <p:cNvPr id="32" name="U10-090-cell-6-1">
            <a:extLst xmlns:a="http://schemas.openxmlformats.org/drawingml/2006/main">
              <a:ext uri="{FF2B5EF4-FFF2-40B4-BE49-F238E27FC236}">
                <a16:creationId xmlns:a16="http://schemas.microsoft.com/office/drawing/2014/main" id="{604A6099-2E13-476D-BAAB-D80A135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082268"/>
            <a:ext cx="8286750" cy="58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</p:sp>
      <p:sp>
        <p:nvSpPr>
          <p:cNvPr id="33" name="U10-090-cell-text-6-1">
            <a:extLst xmlns:a="http://schemas.openxmlformats.org/drawingml/2006/main">
              <a:ext uri="{FF2B5EF4-FFF2-40B4-BE49-F238E27FC236}">
                <a16:creationId xmlns:a16="http://schemas.microsoft.com/office/drawing/2014/main" id="{6DC6A9B0-04C7-45E3-A5FE-CEF83BD7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129893"/>
            <a:ext cx="8134350" cy="48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nivel, duración, norma, jurisdicción y regla aplicable</a:t>
            </a:r>
          </a:p>
        </p:txBody>
      </p:sp>
      <p:sp>
        <p:nvSpPr>
          <p:cNvPr id="3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64183B-C938-47C6-8F04-21AB751B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-1">
            <a:extLst xmlns:a="http://schemas.openxmlformats.org/drawingml/2006/main">
              <a:ext uri="{FF2B5EF4-FFF2-40B4-BE49-F238E27FC236}">
                <a16:creationId xmlns:a16="http://schemas.microsoft.com/office/drawing/2014/main" id="{3F0B2B2F-C0F3-4D69-9A0F-49C6C15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E95033E9-188F-4108-B06D-823BE3F8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4C80E382-666D-4968-A5E1-9E1EF5E7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86AB79B-C023-43CB-B83C-F28C09F4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DC3E91-69C7-40F5-BE4B-EAE05B16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Técnica clínica completa de enmascaramiento</a:t>
            </a:r>
          </a:p>
        </p:txBody>
      </p:sp>
      <p:sp>
        <p:nvSpPr>
          <p:cNvPr id="6" name="U10-091-conditional-alt" descr="Recurso visual previsto: U10-DG-060, candidata para diagram-generation solo tras validación de fuente; no diseñar aún. ---">
            <a:extLst xmlns:a="http://schemas.openxmlformats.org/drawingml/2006/main">
              <a:ext uri="{FF2B5EF4-FFF2-40B4-BE49-F238E27FC236}">
                <a16:creationId xmlns:a16="http://schemas.microsoft.com/office/drawing/2014/main" id="{221F741B-A325-4B13-BB60-33D1B34F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7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82EC7830-56CF-434D-90E3-EE3743AC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Límite de alcance clínico</a:t>
            </a:r>
          </a:p>
        </p:txBody>
      </p:sp>
      <p:sp>
        <p:nvSpPr>
          <p:cNvPr id="8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46757458-6E06-464A-B38E-E5E27136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Una técnica completa exige indicaciones, niveles, incrementos, criterio de meseta, detención y control de sobreenmascaramiento definidos por un protocolo validado.</a:t>
            </a:r>
          </a:p>
        </p:txBody>
      </p:sp>
      <p:sp>
        <p:nvSpPr>
          <p:cNvPr id="9" name="conditional-foot">
            <a:extLst xmlns:a="http://schemas.openxmlformats.org/drawingml/2006/main">
              <a:ext uri="{FF2B5EF4-FFF2-40B4-BE49-F238E27FC236}">
                <a16:creationId xmlns:a16="http://schemas.microsoft.com/office/drawing/2014/main" id="{923FB0C0-7CA2-43C5-8379-41AA032B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rPr>
              <a:t>No sustituye el entrenamiento ni el protocolo institucional.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AB322BF-907F-4F60-AC14-EF188A38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-1">
            <a:extLst xmlns:a="http://schemas.openxmlformats.org/drawingml/2006/main">
              <a:ext uri="{FF2B5EF4-FFF2-40B4-BE49-F238E27FC236}">
                <a16:creationId xmlns:a16="http://schemas.microsoft.com/office/drawing/2014/main" id="{49307984-2C8D-42B1-8BFB-A88FE53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C2E18767-E54E-4DBA-81BD-117C31A3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D6EAA562-5948-4670-A8CF-25773242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DAF14E4-C757-466E-A415-ECE4649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7B5F54-16B4-4EF0-BEB2-CD2A9F5F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Límites de exposición o ruido admisible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3C092F-847C-4BFF-9977-293358AE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0287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5E6267"/>
                </a:solidFill>
                <a:latin typeface="Calibri"/>
                <a:ea typeface="Calibri"/>
                <a:cs typeface="Calibri"/>
              </a:rPr>
              <a:t>Material de respaldo · criterios para aplicar un límite</a:t>
            </a:r>
          </a:p>
        </p:txBody>
      </p:sp>
      <p:sp>
        <p:nvSpPr>
          <p:cNvPr id="7" name="U10-092-conditional-alt" descr="Recurso visual previsto: Gráfico o tabla cuantitativa y documentos U10-AS-008 por definir tras validar fuente. ---">
            <a:extLst xmlns:a="http://schemas.openxmlformats.org/drawingml/2006/main">
              <a:ext uri="{FF2B5EF4-FFF2-40B4-BE49-F238E27FC236}">
                <a16:creationId xmlns:a16="http://schemas.microsoft.com/office/drawing/2014/main" id="{87DC1099-2962-4DAC-86CB-B55F55F9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96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4288">
            <a:solidFill>
              <a:srgbClr val="9A641E"/>
            </a:solidFill>
            <a:prstDash val="solid"/>
          </a:ln>
        </p:spPr>
      </p:sp>
      <p:sp>
        <p:nvSpPr>
          <p:cNvPr id="8" name="conditional-title">
            <a:extLst xmlns:a="http://schemas.openxmlformats.org/drawingml/2006/main">
              <a:ext uri="{FF2B5EF4-FFF2-40B4-BE49-F238E27FC236}">
                <a16:creationId xmlns:a16="http://schemas.microsoft.com/office/drawing/2014/main" id="{8DA0F8FF-A942-4FCD-A0E3-8811CA94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Antes de comparar un límite</a:t>
            </a:r>
          </a:p>
        </p:txBody>
      </p:sp>
      <p:sp>
        <p:nvSpPr>
          <p:cNvPr id="9" name="conditional-message">
            <a:extLst xmlns:a="http://schemas.openxmlformats.org/drawingml/2006/main">
              <a:ext uri="{FF2B5EF4-FFF2-40B4-BE49-F238E27FC236}">
                <a16:creationId xmlns:a16="http://schemas.microsoft.com/office/drawing/2014/main" id="{DC3D51AC-AE12-49DB-838B-07174FBC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Primero deben coincidir norma, edición, jurisdicción, población, descriptor, ponderación, intervalo y regla aplicable.</a:t>
            </a:r>
          </a:p>
        </p:txBody>
      </p:sp>
      <p:sp>
        <p:nvSpPr>
          <p:cNvPr id="10" name="conditional-foot">
            <a:extLst xmlns:a="http://schemas.openxmlformats.org/drawingml/2006/main">
              <a:ext uri="{FF2B5EF4-FFF2-40B4-BE49-F238E27FC236}">
                <a16:creationId xmlns:a16="http://schemas.microsoft.com/office/drawing/2014/main" id="{DB61480F-69B6-4CED-8362-321006AC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9A641E"/>
                </a:solidFill>
                <a:latin typeface="Calibri"/>
                <a:ea typeface="Calibri"/>
                <a:cs typeface="Calibri"/>
              </a:rPr>
              <a:t>No fusionar normas o jurisdicciones en una curva única.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E541DA-85F6-4FB1-96F6-C9A63662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-1">
            <a:extLst xmlns:a="http://schemas.openxmlformats.org/drawingml/2006/main">
              <a:ext uri="{FF2B5EF4-FFF2-40B4-BE49-F238E27FC236}">
                <a16:creationId xmlns:a16="http://schemas.microsoft.com/office/drawing/2014/main" id="{352AE425-0A43-4870-A2B5-BDD8854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rail-2">
            <a:extLst xmlns:a="http://schemas.openxmlformats.org/drawingml/2006/main">
              <a:ext uri="{FF2B5EF4-FFF2-40B4-BE49-F238E27FC236}">
                <a16:creationId xmlns:a16="http://schemas.microsoft.com/office/drawing/2014/main" id="{BE132B8B-F08F-4043-8319-23235717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7175"/>
            <a:ext cx="3657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rail-3">
            <a:extLst xmlns:a="http://schemas.openxmlformats.org/drawingml/2006/main">
              <a:ext uri="{FF2B5EF4-FFF2-40B4-BE49-F238E27FC236}">
                <a16:creationId xmlns:a16="http://schemas.microsoft.com/office/drawing/2014/main" id="{B74C9ED7-9492-41D6-9C31-773D6BC9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57175"/>
            <a:ext cx="3457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CC1A029-E7B3-4114-B1EC-7E756082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10 · RESPALDO · A DEMANDA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F7B621-8890-4577-A689-77BDF953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72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0" i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Bibliografía y trazabilidad</a:t>
            </a:r>
          </a:p>
        </p:txBody>
      </p:sp>
      <p:sp>
        <p:nvSpPr>
          <p:cNvPr id="6" name="U10-093-claim-alt" descr="Recurso visual previsto: Tabla de referencias; sin QR hasta verificar URL.">
            <a:extLst xmlns:a="http://schemas.openxmlformats.org/drawingml/2006/main">
              <a:ext uri="{FF2B5EF4-FFF2-40B4-BE49-F238E27FC236}">
                <a16:creationId xmlns:a16="http://schemas.microsoft.com/office/drawing/2014/main" id="{FE2924C2-E993-4BE8-8031-1DA50C50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Fuentes primarias</a:t>
            </a:r>
          </a:p>
        </p:txBody>
      </p:sp>
      <p:sp>
        <p:nvSpPr>
          <p:cNvPr id="7" name="source-body-0">
            <a:extLst xmlns:a="http://schemas.openxmlformats.org/drawingml/2006/main">
              <a:ext uri="{FF2B5EF4-FFF2-40B4-BE49-F238E27FC236}">
                <a16:creationId xmlns:a16="http://schemas.microsoft.com/office/drawing/2014/main" id="{62657F6E-7998-4124-9720-16633129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24000"/>
            <a:ext cx="7762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Programa oficial 2025 · Libro del curso, capítulo 10 (LaTeX y PDF).</a:t>
            </a:r>
          </a:p>
        </p:txBody>
      </p:sp>
      <p:sp>
        <p:nvSpPr>
          <p:cNvPr id="8" name="source-heading-1">
            <a:extLst xmlns:a="http://schemas.openxmlformats.org/drawingml/2006/main">
              <a:ext uri="{FF2B5EF4-FFF2-40B4-BE49-F238E27FC236}">
                <a16:creationId xmlns:a16="http://schemas.microsoft.com/office/drawing/2014/main" id="{6BCDC6A0-0001-4374-9D21-D1E67389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Apoyo transversal</a:t>
            </a:r>
          </a:p>
        </p:txBody>
      </p:sp>
      <p:sp>
        <p:nvSpPr>
          <p:cNvPr id="9" name="source-body-1">
            <a:extLst xmlns:a="http://schemas.openxmlformats.org/drawingml/2006/main">
              <a:ext uri="{FF2B5EF4-FFF2-40B4-BE49-F238E27FC236}">
                <a16:creationId xmlns:a16="http://schemas.microsoft.com/office/drawing/2014/main" id="{CA75D442-8535-46CE-94AA-50D4C5D2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81300"/>
            <a:ext cx="7762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Guías de estilo, notación y glosario · Unidades 4, 5, 7, 8 y 9.</a:t>
            </a:r>
          </a:p>
        </p:txBody>
      </p:sp>
      <p:sp>
        <p:nvSpPr>
          <p:cNvPr id="10" name="source-heading-2">
            <a:extLst xmlns:a="http://schemas.openxmlformats.org/drawingml/2006/main">
              <a:ext uri="{FF2B5EF4-FFF2-40B4-BE49-F238E27FC236}">
                <a16:creationId xmlns:a16="http://schemas.microsoft.com/office/drawing/2014/main" id="{9D524693-F369-4929-9B44-0350DFDB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714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Fuentes externas</a:t>
            </a:r>
          </a:p>
        </p:txBody>
      </p:sp>
      <p:sp>
        <p:nvSpPr>
          <p:cNvPr id="11" name="source-body-2">
            <a:extLst xmlns:a="http://schemas.openxmlformats.org/drawingml/2006/main">
              <a:ext uri="{FF2B5EF4-FFF2-40B4-BE49-F238E27FC236}">
                <a16:creationId xmlns:a16="http://schemas.microsoft.com/office/drawing/2014/main" id="{49810F9E-1BE0-4EB9-8BA8-20DFC4D7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38600"/>
            <a:ext cx="7762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9DCE0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Normas de medición y audiometría · Guías sanitarias y clínicas · Normativa jurisdiccional.</a:t>
            </a:r>
          </a:p>
        </p:txBody>
      </p:sp>
      <p:sp>
        <p:nvSpPr>
          <p:cNvPr id="12" name="source-warning">
            <a:extLst xmlns:a="http://schemas.openxmlformats.org/drawingml/2006/main">
              <a:ext uri="{FF2B5EF4-FFF2-40B4-BE49-F238E27FC236}">
                <a16:creationId xmlns:a16="http://schemas.microsoft.com/office/drawing/2014/main" id="{A0167A57-2CF1-4C1B-83BB-2876685D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47625" rIns="66675" bIns="47625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9A641E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9A641E"/>
                </a:solidFill>
                <a:latin typeface="Calibri"/>
                <a:ea typeface="Calibri"/>
                <a:cs typeface="Calibri"/>
              </a:rPr>
              <a:t>Consultar source_map.md; no usar QR ni URL sin verificación final.</a:t>
            </a:r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9E005E1-8942-4F23-B70D-F8217A55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969FA7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2026-08-13T02:12:57.9420000Z</dcterms:created>
  <dcterms:modified xsi:type="dcterms:W3CDTF">2026-08-13T02:12:57.9420000Z</dcterms:modified>
</coreProperties>
</file>