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92ca4721bf4f0b" /><Relationship Type="http://schemas.openxmlformats.org/officeDocument/2006/relationships/extended-properties" Target="/docProps/app.xml" Id="R42b17b529f4c4432" /><Relationship Type="http://schemas.openxmlformats.org/officeDocument/2006/relationships/officeDocument" Target="/ppt/presentation.xml" Id="R7cc32a66c1f84e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bc824590de4df3"/>
    <p:sldMasterId xmlns:r="http://schemas.openxmlformats.org/officeDocument/2006/relationships" id="2147483673" r:id="Rfb961a6980b0446c"/>
  </p:sldMasterIdLst>
  <p:notesMasterIdLst>
    <p:notesMasterId xmlns:r="http://schemas.openxmlformats.org/officeDocument/2006/relationships" r:id="Rd87165f3c7624b3a"/>
  </p:notesMasterIdLst>
  <p:sldIdLst>
    <p:sldId xmlns:r="http://schemas.openxmlformats.org/officeDocument/2006/relationships" id="256" r:id="R59405ede760f428e"/>
    <p:sldId xmlns:r="http://schemas.openxmlformats.org/officeDocument/2006/relationships" id="257" r:id="Rea63c19b4314462f"/>
    <p:sldId xmlns:r="http://schemas.openxmlformats.org/officeDocument/2006/relationships" id="258" r:id="R4e3544060de049a4"/>
    <p:sldId xmlns:r="http://schemas.openxmlformats.org/officeDocument/2006/relationships" id="259" r:id="R14f8a3c0ba1b4658"/>
    <p:sldId xmlns:r="http://schemas.openxmlformats.org/officeDocument/2006/relationships" id="260" r:id="R9a7f73f113534509"/>
    <p:sldId xmlns:r="http://schemas.openxmlformats.org/officeDocument/2006/relationships" id="261" r:id="Rb9df8cb51f9c4c3a"/>
    <p:sldId xmlns:r="http://schemas.openxmlformats.org/officeDocument/2006/relationships" id="262" r:id="R2dd2ba79bb9b45f9"/>
    <p:sldId xmlns:r="http://schemas.openxmlformats.org/officeDocument/2006/relationships" id="263" r:id="R56360728a9b84ece"/>
    <p:sldId xmlns:r="http://schemas.openxmlformats.org/officeDocument/2006/relationships" id="264" r:id="Rf7454abfb5ae4686"/>
    <p:sldId xmlns:r="http://schemas.openxmlformats.org/officeDocument/2006/relationships" id="265" r:id="R1ab55aa8e47b43c4"/>
    <p:sldId xmlns:r="http://schemas.openxmlformats.org/officeDocument/2006/relationships" id="266" r:id="R52f76ae72a284a1a"/>
    <p:sldId xmlns:r="http://schemas.openxmlformats.org/officeDocument/2006/relationships" id="267" r:id="R4b80a7ac76d248e2"/>
    <p:sldId xmlns:r="http://schemas.openxmlformats.org/officeDocument/2006/relationships" id="268" r:id="R6ed97dc87da9465f"/>
    <p:sldId xmlns:r="http://schemas.openxmlformats.org/officeDocument/2006/relationships" id="269" r:id="Rd570336620eb4df0"/>
    <p:sldId xmlns:r="http://schemas.openxmlformats.org/officeDocument/2006/relationships" id="270" r:id="R86a2b9ae6d4b43df"/>
    <p:sldId xmlns:r="http://schemas.openxmlformats.org/officeDocument/2006/relationships" id="271" r:id="Rd03a179befb94f11"/>
    <p:sldId xmlns:r="http://schemas.openxmlformats.org/officeDocument/2006/relationships" id="272" r:id="Rcf43d1b9238b4892"/>
    <p:sldId xmlns:r="http://schemas.openxmlformats.org/officeDocument/2006/relationships" id="273" r:id="R282260ef40414a6d"/>
    <p:sldId xmlns:r="http://schemas.openxmlformats.org/officeDocument/2006/relationships" id="274" r:id="R9b764a5a502c4c91"/>
    <p:sldId xmlns:r="http://schemas.openxmlformats.org/officeDocument/2006/relationships" id="275" r:id="Rd2e07c120ccd49f1"/>
    <p:sldId xmlns:r="http://schemas.openxmlformats.org/officeDocument/2006/relationships" id="276" r:id="R752c351ebca245fa"/>
    <p:sldId xmlns:r="http://schemas.openxmlformats.org/officeDocument/2006/relationships" id="277" r:id="R71e4f451c07c4be2"/>
    <p:sldId xmlns:r="http://schemas.openxmlformats.org/officeDocument/2006/relationships" id="278" r:id="Rf03e40ffc85046d2"/>
    <p:sldId xmlns:r="http://schemas.openxmlformats.org/officeDocument/2006/relationships" id="279" r:id="Rf6c1affa955b4db5"/>
    <p:sldId xmlns:r="http://schemas.openxmlformats.org/officeDocument/2006/relationships" id="280" r:id="Rb574b091676b469b"/>
    <p:sldId xmlns:r="http://schemas.openxmlformats.org/officeDocument/2006/relationships" id="281" r:id="R188f8cf802cd4ad5"/>
    <p:sldId xmlns:r="http://schemas.openxmlformats.org/officeDocument/2006/relationships" id="282" r:id="R369882ed13364a9c"/>
    <p:sldId xmlns:r="http://schemas.openxmlformats.org/officeDocument/2006/relationships" id="283" r:id="R7016699925a54f45"/>
    <p:sldId xmlns:r="http://schemas.openxmlformats.org/officeDocument/2006/relationships" id="284" r:id="R978b63a37fd34e57"/>
    <p:sldId xmlns:r="http://schemas.openxmlformats.org/officeDocument/2006/relationships" id="285" r:id="R9413c34b4318406a"/>
    <p:sldId xmlns:r="http://schemas.openxmlformats.org/officeDocument/2006/relationships" id="286" r:id="R8425a3423b1d414d"/>
    <p:sldId xmlns:r="http://schemas.openxmlformats.org/officeDocument/2006/relationships" id="287" r:id="Reac11e5b1aed4585"/>
    <p:sldId xmlns:r="http://schemas.openxmlformats.org/officeDocument/2006/relationships" id="288" r:id="Ra0d4306d2cb647ea"/>
    <p:sldId xmlns:r="http://schemas.openxmlformats.org/officeDocument/2006/relationships" id="289" r:id="Rcc2435787470424d"/>
    <p:sldId xmlns:r="http://schemas.openxmlformats.org/officeDocument/2006/relationships" id="290" r:id="R6e3a3e6011124b32"/>
    <p:sldId xmlns:r="http://schemas.openxmlformats.org/officeDocument/2006/relationships" id="291" r:id="R39c407c8c784426b"/>
    <p:sldId xmlns:r="http://schemas.openxmlformats.org/officeDocument/2006/relationships" id="292" r:id="R5dd09936ea2749ca"/>
    <p:sldId xmlns:r="http://schemas.openxmlformats.org/officeDocument/2006/relationships" id="293" r:id="R04803ddc10974f89"/>
    <p:sldId xmlns:r="http://schemas.openxmlformats.org/officeDocument/2006/relationships" id="294" r:id="R006a434f3b4347a4"/>
    <p:sldId xmlns:r="http://schemas.openxmlformats.org/officeDocument/2006/relationships" id="295" r:id="R80f0779babd845d3"/>
    <p:sldId xmlns:r="http://schemas.openxmlformats.org/officeDocument/2006/relationships" id="296" r:id="R4013aeafa4dd45a8"/>
    <p:sldId xmlns:r="http://schemas.openxmlformats.org/officeDocument/2006/relationships" id="297" r:id="Ra8f298d659a449b7"/>
    <p:sldId xmlns:r="http://schemas.openxmlformats.org/officeDocument/2006/relationships" id="298" r:id="R619e24601e484385"/>
    <p:sldId xmlns:r="http://schemas.openxmlformats.org/officeDocument/2006/relationships" id="299" r:id="R70305b712c244d96"/>
    <p:sldId xmlns:r="http://schemas.openxmlformats.org/officeDocument/2006/relationships" id="300" r:id="R765600112ec54c3d"/>
    <p:sldId xmlns:r="http://schemas.openxmlformats.org/officeDocument/2006/relationships" id="301" r:id="Rd00612891acc478e"/>
    <p:sldId xmlns:r="http://schemas.openxmlformats.org/officeDocument/2006/relationships" id="302" r:id="Re20be7cac4a44cc0"/>
    <p:sldId xmlns:r="http://schemas.openxmlformats.org/officeDocument/2006/relationships" id="303" r:id="R6cbe490f987f4fef"/>
    <p:sldId xmlns:r="http://schemas.openxmlformats.org/officeDocument/2006/relationships" id="304" r:id="R2e8b7c41695948f5"/>
    <p:sldId xmlns:r="http://schemas.openxmlformats.org/officeDocument/2006/relationships" id="305" r:id="Rf4cf8f729c72472a"/>
    <p:sldId xmlns:r="http://schemas.openxmlformats.org/officeDocument/2006/relationships" id="306" r:id="R8db4d76333e14521"/>
    <p:sldId xmlns:r="http://schemas.openxmlformats.org/officeDocument/2006/relationships" id="307" r:id="Re1a0a6b86db847c2"/>
    <p:sldId xmlns:r="http://schemas.openxmlformats.org/officeDocument/2006/relationships" id="308" r:id="R5d5f87c79dc14ae5"/>
    <p:sldId xmlns:r="http://schemas.openxmlformats.org/officeDocument/2006/relationships" id="309" r:id="R6ffa4c3d47c7408b"/>
    <p:sldId xmlns:r="http://schemas.openxmlformats.org/officeDocument/2006/relationships" id="310" r:id="R359073c771c143df"/>
    <p:sldId xmlns:r="http://schemas.openxmlformats.org/officeDocument/2006/relationships" id="311" r:id="Re4b6d0163d4d43b8"/>
    <p:sldId xmlns:r="http://schemas.openxmlformats.org/officeDocument/2006/relationships" id="312" r:id="R9873ee2911174066"/>
    <p:sldId xmlns:r="http://schemas.openxmlformats.org/officeDocument/2006/relationships" id="313" r:id="Rab4f8b0a54ff4bc8"/>
    <p:sldId xmlns:r="http://schemas.openxmlformats.org/officeDocument/2006/relationships" id="314" r:id="R76c216dac3fa43ab"/>
    <p:sldId xmlns:r="http://schemas.openxmlformats.org/officeDocument/2006/relationships" id="315" r:id="Ra3fdaafbfc9340d9"/>
    <p:sldId xmlns:r="http://schemas.openxmlformats.org/officeDocument/2006/relationships" id="316" r:id="R9567fb93d5de4195"/>
    <p:sldId xmlns:r="http://schemas.openxmlformats.org/officeDocument/2006/relationships" id="317" r:id="R40cdfa66a693436f"/>
    <p:sldId xmlns:r="http://schemas.openxmlformats.org/officeDocument/2006/relationships" id="318" r:id="R32d7285271fe4404"/>
    <p:sldId xmlns:r="http://schemas.openxmlformats.org/officeDocument/2006/relationships" id="319" r:id="R34e92d3843654a92"/>
    <p:sldId xmlns:r="http://schemas.openxmlformats.org/officeDocument/2006/relationships" id="320" r:id="R6c63f203d2f74556"/>
    <p:sldId xmlns:r="http://schemas.openxmlformats.org/officeDocument/2006/relationships" id="321" r:id="Re300cd923d0b40d8"/>
    <p:sldId xmlns:r="http://schemas.openxmlformats.org/officeDocument/2006/relationships" id="322" r:id="Rdda65f393de34f10"/>
    <p:sldId xmlns:r="http://schemas.openxmlformats.org/officeDocument/2006/relationships" id="323" r:id="Ra70a1662518f4508"/>
    <p:sldId xmlns:r="http://schemas.openxmlformats.org/officeDocument/2006/relationships" id="324" r:id="Rb8f3e74546cb4378"/>
    <p:sldId xmlns:r="http://schemas.openxmlformats.org/officeDocument/2006/relationships" id="325" r:id="R038136c827e54738"/>
    <p:sldId xmlns:r="http://schemas.openxmlformats.org/officeDocument/2006/relationships" id="326" r:id="R865c9c119328429e"/>
    <p:sldId xmlns:r="http://schemas.openxmlformats.org/officeDocument/2006/relationships" id="327" r:id="Rea6cff4545a54716"/>
    <p:sldId xmlns:r="http://schemas.openxmlformats.org/officeDocument/2006/relationships" id="328" r:id="R27a2576abfae4fd0"/>
    <p:sldId xmlns:r="http://schemas.openxmlformats.org/officeDocument/2006/relationships" id="329" r:id="Rbf0af75ae6b2487b"/>
    <p:sldId xmlns:r="http://schemas.openxmlformats.org/officeDocument/2006/relationships" id="330" r:id="R8c823e5a83e9459b"/>
    <p:sldId xmlns:r="http://schemas.openxmlformats.org/officeDocument/2006/relationships" id="331" r:id="Rd86f38baa4c344f6"/>
    <p:sldId xmlns:r="http://schemas.openxmlformats.org/officeDocument/2006/relationships" id="332" r:id="R7cc54d0b3440436f"/>
    <p:sldId xmlns:r="http://schemas.openxmlformats.org/officeDocument/2006/relationships" id="333" r:id="R1563250eabc34081"/>
    <p:sldId xmlns:r="http://schemas.openxmlformats.org/officeDocument/2006/relationships" id="334" r:id="R43e9503994624939"/>
    <p:sldId xmlns:r="http://schemas.openxmlformats.org/officeDocument/2006/relationships" id="335" r:id="R15e9420baf364625"/>
    <p:sldId xmlns:r="http://schemas.openxmlformats.org/officeDocument/2006/relationships" id="336" r:id="Rb4360f0374a841a6"/>
    <p:sldId xmlns:r="http://schemas.openxmlformats.org/officeDocument/2006/relationships" id="337" r:id="Rb8b94d296fc64bc9"/>
    <p:sldId xmlns:r="http://schemas.openxmlformats.org/officeDocument/2006/relationships" id="338" r:id="R397f2be167634fb2"/>
    <p:sldId xmlns:r="http://schemas.openxmlformats.org/officeDocument/2006/relationships" id="339" r:id="Rb21b9c4c88a541b7"/>
    <p:sldId xmlns:r="http://schemas.openxmlformats.org/officeDocument/2006/relationships" id="340" r:id="Rd92d3ce9b94a4519"/>
    <p:sldId xmlns:r="http://schemas.openxmlformats.org/officeDocument/2006/relationships" id="341" r:id="Ra0bba355543d439c"/>
    <p:sldId xmlns:r="http://schemas.openxmlformats.org/officeDocument/2006/relationships" id="342" r:id="R99b8c780b3124157"/>
    <p:sldId xmlns:r="http://schemas.openxmlformats.org/officeDocument/2006/relationships" id="343" r:id="Rd343bbc75bb246fe"/>
    <p:sldId xmlns:r="http://schemas.openxmlformats.org/officeDocument/2006/relationships" id="344" r:id="Rc9c98bf27794411e"/>
    <p:sldId xmlns:r="http://schemas.openxmlformats.org/officeDocument/2006/relationships" id="345" r:id="R1afacd3057924f85"/>
    <p:sldId xmlns:r="http://schemas.openxmlformats.org/officeDocument/2006/relationships" id="346" r:id="R05812a35da954781"/>
    <p:sldId xmlns:r="http://schemas.openxmlformats.org/officeDocument/2006/relationships" id="347" r:id="R24898da65b784165"/>
    <p:sldId xmlns:r="http://schemas.openxmlformats.org/officeDocument/2006/relationships" id="348" r:id="R287ae5bbfbb84f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24653930764d4d" /><Relationship Type="http://schemas.openxmlformats.org/officeDocument/2006/relationships/slideMaster" Target="/ppt/slideMasters/slideMaster1.xml" Id="R0ebc824590de4df3" /><Relationship Type="http://schemas.openxmlformats.org/officeDocument/2006/relationships/slideMaster" Target="/ppt/slideMasters/slideMaster2.xml" Id="Rfb961a6980b0446c" /><Relationship Type="http://schemas.openxmlformats.org/officeDocument/2006/relationships/notesMaster" Target="/ppt/notesMasters/notesMaster1.xml" Id="Rd87165f3c7624b3a" /><Relationship Type="http://schemas.openxmlformats.org/officeDocument/2006/relationships/presProps" Target="/ppt/presProps.xml" Id="R6abd72d287564d43" /><Relationship Type="http://schemas.openxmlformats.org/officeDocument/2006/relationships/viewProps" Target="/ppt/viewProps.xml" Id="R525db32f539a47c9" /><Relationship Type="http://schemas.openxmlformats.org/officeDocument/2006/relationships/tableStyles" Target="/ppt/tableStyles.xml" Id="R11a4d93408d34b06" /><Relationship Type="http://schemas.openxmlformats.org/officeDocument/2006/relationships/slide" Target="/ppt/slides/slide1.xml" Id="R59405ede760f428e" /><Relationship Type="http://schemas.openxmlformats.org/officeDocument/2006/relationships/slide" Target="/ppt/slides/slide2.xml" Id="Rea63c19b4314462f" /><Relationship Type="http://schemas.openxmlformats.org/officeDocument/2006/relationships/slide" Target="/ppt/slides/slide3.xml" Id="R4e3544060de049a4" /><Relationship Type="http://schemas.openxmlformats.org/officeDocument/2006/relationships/slide" Target="/ppt/slides/slide4.xml" Id="R14f8a3c0ba1b4658" /><Relationship Type="http://schemas.openxmlformats.org/officeDocument/2006/relationships/slide" Target="/ppt/slides/slide5.xml" Id="R9a7f73f113534509" /><Relationship Type="http://schemas.openxmlformats.org/officeDocument/2006/relationships/slide" Target="/ppt/slides/slide6.xml" Id="Rb9df8cb51f9c4c3a" /><Relationship Type="http://schemas.openxmlformats.org/officeDocument/2006/relationships/slide" Target="/ppt/slides/slide7.xml" Id="R2dd2ba79bb9b45f9" /><Relationship Type="http://schemas.openxmlformats.org/officeDocument/2006/relationships/slide" Target="/ppt/slides/slide8.xml" Id="R56360728a9b84ece" /><Relationship Type="http://schemas.openxmlformats.org/officeDocument/2006/relationships/slide" Target="/ppt/slides/slide9.xml" Id="Rf7454abfb5ae4686" /><Relationship Type="http://schemas.openxmlformats.org/officeDocument/2006/relationships/slide" Target="/ppt/slides/slide10.xml" Id="R1ab55aa8e47b43c4" /><Relationship Type="http://schemas.openxmlformats.org/officeDocument/2006/relationships/slide" Target="/ppt/slides/slide11.xml" Id="R52f76ae72a284a1a" /><Relationship Type="http://schemas.openxmlformats.org/officeDocument/2006/relationships/slide" Target="/ppt/slides/slide12.xml" Id="R4b80a7ac76d248e2" /><Relationship Type="http://schemas.openxmlformats.org/officeDocument/2006/relationships/slide" Target="/ppt/slides/slide13.xml" Id="R6ed97dc87da9465f" /><Relationship Type="http://schemas.openxmlformats.org/officeDocument/2006/relationships/slide" Target="/ppt/slides/slide14.xml" Id="Rd570336620eb4df0" /><Relationship Type="http://schemas.openxmlformats.org/officeDocument/2006/relationships/slide" Target="/ppt/slides/slide15.xml" Id="R86a2b9ae6d4b43df" /><Relationship Type="http://schemas.openxmlformats.org/officeDocument/2006/relationships/slide" Target="/ppt/slides/slide16.xml" Id="Rd03a179befb94f11" /><Relationship Type="http://schemas.openxmlformats.org/officeDocument/2006/relationships/slide" Target="/ppt/slides/slide17.xml" Id="Rcf43d1b9238b4892" /><Relationship Type="http://schemas.openxmlformats.org/officeDocument/2006/relationships/slide" Target="/ppt/slides/slide18.xml" Id="R282260ef40414a6d" /><Relationship Type="http://schemas.openxmlformats.org/officeDocument/2006/relationships/slide" Target="/ppt/slides/slide19.xml" Id="R9b764a5a502c4c91" /><Relationship Type="http://schemas.openxmlformats.org/officeDocument/2006/relationships/slide" Target="/ppt/slides/slide20.xml" Id="Rd2e07c120ccd49f1" /><Relationship Type="http://schemas.openxmlformats.org/officeDocument/2006/relationships/slide" Target="/ppt/slides/slide21.xml" Id="R752c351ebca245fa" /><Relationship Type="http://schemas.openxmlformats.org/officeDocument/2006/relationships/slide" Target="/ppt/slides/slide22.xml" Id="R71e4f451c07c4be2" /><Relationship Type="http://schemas.openxmlformats.org/officeDocument/2006/relationships/slide" Target="/ppt/slides/slide23.xml" Id="Rf03e40ffc85046d2" /><Relationship Type="http://schemas.openxmlformats.org/officeDocument/2006/relationships/slide" Target="/ppt/slides/slide24.xml" Id="Rf6c1affa955b4db5" /><Relationship Type="http://schemas.openxmlformats.org/officeDocument/2006/relationships/slide" Target="/ppt/slides/slide25.xml" Id="Rb574b091676b469b" /><Relationship Type="http://schemas.openxmlformats.org/officeDocument/2006/relationships/slide" Target="/ppt/slides/slide26.xml" Id="R188f8cf802cd4ad5" /><Relationship Type="http://schemas.openxmlformats.org/officeDocument/2006/relationships/slide" Target="/ppt/slides/slide27.xml" Id="R369882ed13364a9c" /><Relationship Type="http://schemas.openxmlformats.org/officeDocument/2006/relationships/slide" Target="/ppt/slides/slide28.xml" Id="R7016699925a54f45" /><Relationship Type="http://schemas.openxmlformats.org/officeDocument/2006/relationships/slide" Target="/ppt/slides/slide29.xml" Id="R978b63a37fd34e57" /><Relationship Type="http://schemas.openxmlformats.org/officeDocument/2006/relationships/slide" Target="/ppt/slides/slide30.xml" Id="R9413c34b4318406a" /><Relationship Type="http://schemas.openxmlformats.org/officeDocument/2006/relationships/slide" Target="/ppt/slides/slide31.xml" Id="R8425a3423b1d414d" /><Relationship Type="http://schemas.openxmlformats.org/officeDocument/2006/relationships/slide" Target="/ppt/slides/slide32.xml" Id="Reac11e5b1aed4585" /><Relationship Type="http://schemas.openxmlformats.org/officeDocument/2006/relationships/slide" Target="/ppt/slides/slide33.xml" Id="Ra0d4306d2cb647ea" /><Relationship Type="http://schemas.openxmlformats.org/officeDocument/2006/relationships/slide" Target="/ppt/slides/slide34.xml" Id="Rcc2435787470424d" /><Relationship Type="http://schemas.openxmlformats.org/officeDocument/2006/relationships/slide" Target="/ppt/slides/slide35.xml" Id="R6e3a3e6011124b32" /><Relationship Type="http://schemas.openxmlformats.org/officeDocument/2006/relationships/slide" Target="/ppt/slides/slide36.xml" Id="R39c407c8c784426b" /><Relationship Type="http://schemas.openxmlformats.org/officeDocument/2006/relationships/slide" Target="/ppt/slides/slide37.xml" Id="R5dd09936ea2749ca" /><Relationship Type="http://schemas.openxmlformats.org/officeDocument/2006/relationships/slide" Target="/ppt/slides/slide38.xml" Id="R04803ddc10974f89" /><Relationship Type="http://schemas.openxmlformats.org/officeDocument/2006/relationships/slide" Target="/ppt/slides/slide39.xml" Id="R006a434f3b4347a4" /><Relationship Type="http://schemas.openxmlformats.org/officeDocument/2006/relationships/slide" Target="/ppt/slides/slide40.xml" Id="R80f0779babd845d3" /><Relationship Type="http://schemas.openxmlformats.org/officeDocument/2006/relationships/slide" Target="/ppt/slides/slide41.xml" Id="R4013aeafa4dd45a8" /><Relationship Type="http://schemas.openxmlformats.org/officeDocument/2006/relationships/slide" Target="/ppt/slides/slide42.xml" Id="Ra8f298d659a449b7" /><Relationship Type="http://schemas.openxmlformats.org/officeDocument/2006/relationships/slide" Target="/ppt/slides/slide43.xml" Id="R619e24601e484385" /><Relationship Type="http://schemas.openxmlformats.org/officeDocument/2006/relationships/slide" Target="/ppt/slides/slide44.xml" Id="R70305b712c244d96" /><Relationship Type="http://schemas.openxmlformats.org/officeDocument/2006/relationships/slide" Target="/ppt/slides/slide45.xml" Id="R765600112ec54c3d" /><Relationship Type="http://schemas.openxmlformats.org/officeDocument/2006/relationships/slide" Target="/ppt/slides/slide46.xml" Id="Rd00612891acc478e" /><Relationship Type="http://schemas.openxmlformats.org/officeDocument/2006/relationships/slide" Target="/ppt/slides/slide47.xml" Id="Re20be7cac4a44cc0" /><Relationship Type="http://schemas.openxmlformats.org/officeDocument/2006/relationships/slide" Target="/ppt/slides/slide48.xml" Id="R6cbe490f987f4fef" /><Relationship Type="http://schemas.openxmlformats.org/officeDocument/2006/relationships/slide" Target="/ppt/slides/slide49.xml" Id="R2e8b7c41695948f5" /><Relationship Type="http://schemas.openxmlformats.org/officeDocument/2006/relationships/slide" Target="/ppt/slides/slide50.xml" Id="Rf4cf8f729c72472a" /><Relationship Type="http://schemas.openxmlformats.org/officeDocument/2006/relationships/slide" Target="/ppt/slides/slide51.xml" Id="R8db4d76333e14521" /><Relationship Type="http://schemas.openxmlformats.org/officeDocument/2006/relationships/slide" Target="/ppt/slides/slide52.xml" Id="Re1a0a6b86db847c2" /><Relationship Type="http://schemas.openxmlformats.org/officeDocument/2006/relationships/slide" Target="/ppt/slides/slide53.xml" Id="R5d5f87c79dc14ae5" /><Relationship Type="http://schemas.openxmlformats.org/officeDocument/2006/relationships/slide" Target="/ppt/slides/slide54.xml" Id="R6ffa4c3d47c7408b" /><Relationship Type="http://schemas.openxmlformats.org/officeDocument/2006/relationships/slide" Target="/ppt/slides/slide55.xml" Id="R359073c771c143df" /><Relationship Type="http://schemas.openxmlformats.org/officeDocument/2006/relationships/slide" Target="/ppt/slides/slide56.xml" Id="Re4b6d0163d4d43b8" /><Relationship Type="http://schemas.openxmlformats.org/officeDocument/2006/relationships/slide" Target="/ppt/slides/slide57.xml" Id="R9873ee2911174066" /><Relationship Type="http://schemas.openxmlformats.org/officeDocument/2006/relationships/slide" Target="/ppt/slides/slide58.xml" Id="Rab4f8b0a54ff4bc8" /><Relationship Type="http://schemas.openxmlformats.org/officeDocument/2006/relationships/slide" Target="/ppt/slides/slide59.xml" Id="R76c216dac3fa43ab" /><Relationship Type="http://schemas.openxmlformats.org/officeDocument/2006/relationships/slide" Target="/ppt/slides/slide60.xml" Id="Ra3fdaafbfc9340d9" /><Relationship Type="http://schemas.openxmlformats.org/officeDocument/2006/relationships/slide" Target="/ppt/slides/slide61.xml" Id="R9567fb93d5de4195" /><Relationship Type="http://schemas.openxmlformats.org/officeDocument/2006/relationships/slide" Target="/ppt/slides/slide62.xml" Id="R40cdfa66a693436f" /><Relationship Type="http://schemas.openxmlformats.org/officeDocument/2006/relationships/slide" Target="/ppt/slides/slide63.xml" Id="R32d7285271fe4404" /><Relationship Type="http://schemas.openxmlformats.org/officeDocument/2006/relationships/slide" Target="/ppt/slides/slide64.xml" Id="R34e92d3843654a92" /><Relationship Type="http://schemas.openxmlformats.org/officeDocument/2006/relationships/slide" Target="/ppt/slides/slide65.xml" Id="R6c63f203d2f74556" /><Relationship Type="http://schemas.openxmlformats.org/officeDocument/2006/relationships/slide" Target="/ppt/slides/slide66.xml" Id="Re300cd923d0b40d8" /><Relationship Type="http://schemas.openxmlformats.org/officeDocument/2006/relationships/slide" Target="/ppt/slides/slide67.xml" Id="Rdda65f393de34f10" /><Relationship Type="http://schemas.openxmlformats.org/officeDocument/2006/relationships/slide" Target="/ppt/slides/slide68.xml" Id="Ra70a1662518f4508" /><Relationship Type="http://schemas.openxmlformats.org/officeDocument/2006/relationships/slide" Target="/ppt/slides/slide69.xml" Id="Rb8f3e74546cb4378" /><Relationship Type="http://schemas.openxmlformats.org/officeDocument/2006/relationships/slide" Target="/ppt/slides/slide70.xml" Id="R038136c827e54738" /><Relationship Type="http://schemas.openxmlformats.org/officeDocument/2006/relationships/slide" Target="/ppt/slides/slide71.xml" Id="R865c9c119328429e" /><Relationship Type="http://schemas.openxmlformats.org/officeDocument/2006/relationships/slide" Target="/ppt/slides/slide72.xml" Id="Rea6cff4545a54716" /><Relationship Type="http://schemas.openxmlformats.org/officeDocument/2006/relationships/slide" Target="/ppt/slides/slide73.xml" Id="R27a2576abfae4fd0" /><Relationship Type="http://schemas.openxmlformats.org/officeDocument/2006/relationships/slide" Target="/ppt/slides/slide74.xml" Id="Rbf0af75ae6b2487b" /><Relationship Type="http://schemas.openxmlformats.org/officeDocument/2006/relationships/slide" Target="/ppt/slides/slide75.xml" Id="R8c823e5a83e9459b" /><Relationship Type="http://schemas.openxmlformats.org/officeDocument/2006/relationships/slide" Target="/ppt/slides/slide76.xml" Id="Rd86f38baa4c344f6" /><Relationship Type="http://schemas.openxmlformats.org/officeDocument/2006/relationships/slide" Target="/ppt/slides/slide77.xml" Id="R7cc54d0b3440436f" /><Relationship Type="http://schemas.openxmlformats.org/officeDocument/2006/relationships/slide" Target="/ppt/slides/slide78.xml" Id="R1563250eabc34081" /><Relationship Type="http://schemas.openxmlformats.org/officeDocument/2006/relationships/slide" Target="/ppt/slides/slide79.xml" Id="R43e9503994624939" /><Relationship Type="http://schemas.openxmlformats.org/officeDocument/2006/relationships/slide" Target="/ppt/slides/slide80.xml" Id="R15e9420baf364625" /><Relationship Type="http://schemas.openxmlformats.org/officeDocument/2006/relationships/slide" Target="/ppt/slides/slide81.xml" Id="Rb4360f0374a841a6" /><Relationship Type="http://schemas.openxmlformats.org/officeDocument/2006/relationships/slide" Target="/ppt/slides/slide82.xml" Id="Rb8b94d296fc64bc9" /><Relationship Type="http://schemas.openxmlformats.org/officeDocument/2006/relationships/slide" Target="/ppt/slides/slide83.xml" Id="R397f2be167634fb2" /><Relationship Type="http://schemas.openxmlformats.org/officeDocument/2006/relationships/slide" Target="/ppt/slides/slide84.xml" Id="Rb21b9c4c88a541b7" /><Relationship Type="http://schemas.openxmlformats.org/officeDocument/2006/relationships/slide" Target="/ppt/slides/slide85.xml" Id="Rd92d3ce9b94a4519" /><Relationship Type="http://schemas.openxmlformats.org/officeDocument/2006/relationships/slide" Target="/ppt/slides/slide86.xml" Id="Ra0bba355543d439c" /><Relationship Type="http://schemas.openxmlformats.org/officeDocument/2006/relationships/slide" Target="/ppt/slides/slide87.xml" Id="R99b8c780b3124157" /><Relationship Type="http://schemas.openxmlformats.org/officeDocument/2006/relationships/slide" Target="/ppt/slides/slide88.xml" Id="Rd343bbc75bb246fe" /><Relationship Type="http://schemas.openxmlformats.org/officeDocument/2006/relationships/slide" Target="/ppt/slides/slide89.xml" Id="Rc9c98bf27794411e" /><Relationship Type="http://schemas.openxmlformats.org/officeDocument/2006/relationships/slide" Target="/ppt/slides/slide90.xml" Id="R1afacd3057924f85" /><Relationship Type="http://schemas.openxmlformats.org/officeDocument/2006/relationships/slide" Target="/ppt/slides/slide91.xml" Id="R05812a35da954781" /><Relationship Type="http://schemas.openxmlformats.org/officeDocument/2006/relationships/slide" Target="/ppt/slides/slide92.xml" Id="R24898da65b784165" /><Relationship Type="http://schemas.openxmlformats.org/officeDocument/2006/relationships/slide" Target="/ppt/slides/slide93.xml" Id="R287ae5bbfbb84f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b06d8941017549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fd6bd4095b4262" /><Relationship Type="http://schemas.openxmlformats.org/officeDocument/2006/relationships/notesMaster" Target="/ppt/notesMasters/notesMaster1.xml" Id="R1b2ff663aff94a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8ada970d394b71" /><Relationship Type="http://schemas.openxmlformats.org/officeDocument/2006/relationships/notesMaster" Target="/ppt/notesMasters/notesMaster1.xml" Id="R3e7a6cb1084944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e046362dc24bfc" /><Relationship Type="http://schemas.openxmlformats.org/officeDocument/2006/relationships/notesMaster" Target="/ppt/notesMasters/notesMaster1.xml" Id="Rebf8d8a2afa447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cc5019182840a6" /><Relationship Type="http://schemas.openxmlformats.org/officeDocument/2006/relationships/notesMaster" Target="/ppt/notesMasters/notesMaster1.xml" Id="Re1626aec12b14b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26cb77a2004e91" /><Relationship Type="http://schemas.openxmlformats.org/officeDocument/2006/relationships/notesMaster" Target="/ppt/notesMasters/notesMaster1.xml" Id="Rb0b7dae618294d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f8a04ef032464a" /><Relationship Type="http://schemas.openxmlformats.org/officeDocument/2006/relationships/notesMaster" Target="/ppt/notesMasters/notesMaster1.xml" Id="Re8483cf4bb5b45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7c6e691e9f4a62" /><Relationship Type="http://schemas.openxmlformats.org/officeDocument/2006/relationships/notesMaster" Target="/ppt/notesMasters/notesMaster1.xml" Id="Rcafc816b00bf4f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7a5d48bab34fc0" /><Relationship Type="http://schemas.openxmlformats.org/officeDocument/2006/relationships/notesMaster" Target="/ppt/notesMasters/notesMaster1.xml" Id="R6d8583b1cd4a4d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fdd2bb7a204b9f" /><Relationship Type="http://schemas.openxmlformats.org/officeDocument/2006/relationships/notesMaster" Target="/ppt/notesMasters/notesMaster1.xml" Id="R2ecfcaaf699f48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88b7f172e549e2" /><Relationship Type="http://schemas.openxmlformats.org/officeDocument/2006/relationships/notesMaster" Target="/ppt/notesMasters/notesMaster1.xml" Id="Re66713e5cfe34b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ff29f03a4e4b67" /><Relationship Type="http://schemas.openxmlformats.org/officeDocument/2006/relationships/notesMaster" Target="/ppt/notesMasters/notesMaster1.xml" Id="R0d51a0e075ed4a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81d011f79f7469f" /><Relationship Type="http://schemas.openxmlformats.org/officeDocument/2006/relationships/notesMaster" Target="/ppt/notesMasters/notesMaster1.xml" Id="Rba35d2ddae7743a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6736a2a1c31465a" /><Relationship Type="http://schemas.openxmlformats.org/officeDocument/2006/relationships/notesMaster" Target="/ppt/notesMasters/notesMaster1.xml" Id="R9ca666bdf1fe47f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43d5ffcf0c24d04" /><Relationship Type="http://schemas.openxmlformats.org/officeDocument/2006/relationships/notesMaster" Target="/ppt/notesMasters/notesMaster1.xml" Id="Rc01731c59f9c42b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24b0d3677c74ad2" /><Relationship Type="http://schemas.openxmlformats.org/officeDocument/2006/relationships/notesMaster" Target="/ppt/notesMasters/notesMaster1.xml" Id="Rf8744947842f4a9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b4988d7228748dd" /><Relationship Type="http://schemas.openxmlformats.org/officeDocument/2006/relationships/notesMaster" Target="/ppt/notesMasters/notesMaster1.xml" Id="R5a828d75109b454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4de8ad537dd4467" /><Relationship Type="http://schemas.openxmlformats.org/officeDocument/2006/relationships/notesMaster" Target="/ppt/notesMasters/notesMaster1.xml" Id="Rb1ddacf6aa0744a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5a4555de47a4207" /><Relationship Type="http://schemas.openxmlformats.org/officeDocument/2006/relationships/notesMaster" Target="/ppt/notesMasters/notesMaster1.xml" Id="Rd55a7adb23044de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f68eb3503e8422d" /><Relationship Type="http://schemas.openxmlformats.org/officeDocument/2006/relationships/notesMaster" Target="/ppt/notesMasters/notesMaster1.xml" Id="Radc5a85a45eb4d2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270740af13545eb" /><Relationship Type="http://schemas.openxmlformats.org/officeDocument/2006/relationships/notesMaster" Target="/ppt/notesMasters/notesMaster1.xml" Id="R1a89420e4fa24ce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9450ac2f4ba42c0" /><Relationship Type="http://schemas.openxmlformats.org/officeDocument/2006/relationships/notesMaster" Target="/ppt/notesMasters/notesMaster1.xml" Id="Rafba463e12fa49b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631dfc091094a25" /><Relationship Type="http://schemas.openxmlformats.org/officeDocument/2006/relationships/notesMaster" Target="/ppt/notesMasters/notesMaster1.xml" Id="R2f0aa9ef30aa4ac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9a0b3b7ec074fa5" /><Relationship Type="http://schemas.openxmlformats.org/officeDocument/2006/relationships/notesMaster" Target="/ppt/notesMasters/notesMaster1.xml" Id="Reb4c132b4f244e6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620864351b84926" /><Relationship Type="http://schemas.openxmlformats.org/officeDocument/2006/relationships/notesMaster" Target="/ppt/notesMasters/notesMaster1.xml" Id="R5ace4a64685d422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9fafd9d265e485d" /><Relationship Type="http://schemas.openxmlformats.org/officeDocument/2006/relationships/notesMaster" Target="/ppt/notesMasters/notesMaster1.xml" Id="Rbc56a1587abc49e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e00c9dedc124b02" /><Relationship Type="http://schemas.openxmlformats.org/officeDocument/2006/relationships/notesMaster" Target="/ppt/notesMasters/notesMaster1.xml" Id="R0765c183b8aa446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db90cc6b6dd4e86" /><Relationship Type="http://schemas.openxmlformats.org/officeDocument/2006/relationships/notesMaster" Target="/ppt/notesMasters/notesMaster1.xml" Id="R9cc020b1fea64bc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3e1856772fa4a2a" /><Relationship Type="http://schemas.openxmlformats.org/officeDocument/2006/relationships/notesMaster" Target="/ppt/notesMasters/notesMaster1.xml" Id="Rf7ef8148f8f6496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c5a1ba6138847fa" /><Relationship Type="http://schemas.openxmlformats.org/officeDocument/2006/relationships/notesMaster" Target="/ppt/notesMasters/notesMaster1.xml" Id="R8a830fa432c04fe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1de8b8015734759" /><Relationship Type="http://schemas.openxmlformats.org/officeDocument/2006/relationships/notesMaster" Target="/ppt/notesMasters/notesMaster1.xml" Id="Ra45c0ff42d2546b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c265c929231429c" /><Relationship Type="http://schemas.openxmlformats.org/officeDocument/2006/relationships/notesMaster" Target="/ppt/notesMasters/notesMaster1.xml" Id="R455132ba9a62410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34b33c83b314b7a" /><Relationship Type="http://schemas.openxmlformats.org/officeDocument/2006/relationships/notesMaster" Target="/ppt/notesMasters/notesMaster1.xml" Id="R9cfbf8f5105144c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d66d7cdf7594825" /><Relationship Type="http://schemas.openxmlformats.org/officeDocument/2006/relationships/notesMaster" Target="/ppt/notesMasters/notesMaster1.xml" Id="R78f79faaed3a46e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90546ae63ea4c7d" /><Relationship Type="http://schemas.openxmlformats.org/officeDocument/2006/relationships/notesMaster" Target="/ppt/notesMasters/notesMaster1.xml" Id="R5ab236ea36bc4f5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5700c94aa584934" /><Relationship Type="http://schemas.openxmlformats.org/officeDocument/2006/relationships/notesMaster" Target="/ppt/notesMasters/notesMaster1.xml" Id="R0c035dc79d59456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799cb5f3c394901" /><Relationship Type="http://schemas.openxmlformats.org/officeDocument/2006/relationships/notesMaster" Target="/ppt/notesMasters/notesMaster1.xml" Id="R1e92f03362114aa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ebd0cd298374a5b" /><Relationship Type="http://schemas.openxmlformats.org/officeDocument/2006/relationships/notesMaster" Target="/ppt/notesMasters/notesMaster1.xml" Id="R872f16e39daa48e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784cc1174974e4d" /><Relationship Type="http://schemas.openxmlformats.org/officeDocument/2006/relationships/notesMaster" Target="/ppt/notesMasters/notesMaster1.xml" Id="Rc14018be1ddb4d7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b9a020b33104849" /><Relationship Type="http://schemas.openxmlformats.org/officeDocument/2006/relationships/notesMaster" Target="/ppt/notesMasters/notesMaster1.xml" Id="R1dcd303d8b4949e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251669133844ff4" /><Relationship Type="http://schemas.openxmlformats.org/officeDocument/2006/relationships/notesMaster" Target="/ppt/notesMasters/notesMaster1.xml" Id="R15f32a106df0420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72ccb8c030f646c8" /><Relationship Type="http://schemas.openxmlformats.org/officeDocument/2006/relationships/notesMaster" Target="/ppt/notesMasters/notesMaster1.xml" Id="R01891b17120942b9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533884eadf7540e7" /><Relationship Type="http://schemas.openxmlformats.org/officeDocument/2006/relationships/notesMaster" Target="/ppt/notesMasters/notesMaster1.xml" Id="R435b5fa415e44a3c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21e66dce502c478a" /><Relationship Type="http://schemas.openxmlformats.org/officeDocument/2006/relationships/notesMaster" Target="/ppt/notesMasters/notesMaster1.xml" Id="R10e1c42268ed4f5b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6d90d9000bc0447d" /><Relationship Type="http://schemas.openxmlformats.org/officeDocument/2006/relationships/notesMaster" Target="/ppt/notesMasters/notesMaster1.xml" Id="R39f19f782f2c4ed2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ff8040d6db6f48b4" /><Relationship Type="http://schemas.openxmlformats.org/officeDocument/2006/relationships/notesMaster" Target="/ppt/notesMasters/notesMaster1.xml" Id="R5f50003a36704c14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f7dd4a04bbb64314" /><Relationship Type="http://schemas.openxmlformats.org/officeDocument/2006/relationships/notesMaster" Target="/ppt/notesMasters/notesMaster1.xml" Id="R7f9ee9d9d3b84cca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0498830ef5ec4ef7" /><Relationship Type="http://schemas.openxmlformats.org/officeDocument/2006/relationships/notesMaster" Target="/ppt/notesMasters/notesMaster1.xml" Id="Ra256a2dcccaf4a4f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b8f5186da3d34936" /><Relationship Type="http://schemas.openxmlformats.org/officeDocument/2006/relationships/notesMaster" Target="/ppt/notesMasters/notesMaster1.xml" Id="Rd584b1eb27e14fec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32ebe4f2d70c4b10" /><Relationship Type="http://schemas.openxmlformats.org/officeDocument/2006/relationships/notesMaster" Target="/ppt/notesMasters/notesMaster1.xml" Id="Rb15acdaa81494608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35d35308588844ca" /><Relationship Type="http://schemas.openxmlformats.org/officeDocument/2006/relationships/notesMaster" Target="/ppt/notesMasters/notesMaster1.xml" Id="Rb6d8dcf24ac04825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4d0ced4652244d0c" /><Relationship Type="http://schemas.openxmlformats.org/officeDocument/2006/relationships/notesMaster" Target="/ppt/notesMasters/notesMaster1.xml" Id="R4f31c843232044b9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d97f5035e0ed46b7" /><Relationship Type="http://schemas.openxmlformats.org/officeDocument/2006/relationships/notesMaster" Target="/ppt/notesMasters/notesMaster1.xml" Id="R105a2f450dc64c67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95d8f05839454fac" /><Relationship Type="http://schemas.openxmlformats.org/officeDocument/2006/relationships/notesMaster" Target="/ppt/notesMasters/notesMaster1.xml" Id="Ra7d3b1c3fc8245ce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e68326ca53244fb6" /><Relationship Type="http://schemas.openxmlformats.org/officeDocument/2006/relationships/notesMaster" Target="/ppt/notesMasters/notesMaster1.xml" Id="R23eec26626eb4626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db1291700d89488c" /><Relationship Type="http://schemas.openxmlformats.org/officeDocument/2006/relationships/notesMaster" Target="/ppt/notesMasters/notesMaster1.xml" Id="R2d8ff36cdc4e4010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76e7191c84df476e" /><Relationship Type="http://schemas.openxmlformats.org/officeDocument/2006/relationships/notesMaster" Target="/ppt/notesMasters/notesMaster1.xml" Id="R977cdf07e8e94c63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b4a6769c7cb94749" /><Relationship Type="http://schemas.openxmlformats.org/officeDocument/2006/relationships/notesMaster" Target="/ppt/notesMasters/notesMaster1.xml" Id="R48e361e533d74179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ee71f0d2b48a4dc2" /><Relationship Type="http://schemas.openxmlformats.org/officeDocument/2006/relationships/notesMaster" Target="/ppt/notesMasters/notesMaster1.xml" Id="R0e6e16bbb20a4c79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442c6274db744275" /><Relationship Type="http://schemas.openxmlformats.org/officeDocument/2006/relationships/notesMaster" Target="/ppt/notesMasters/notesMaster1.xml" Id="R933482ee8ea94123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da1b02d5e259469e" /><Relationship Type="http://schemas.openxmlformats.org/officeDocument/2006/relationships/notesMaster" Target="/ppt/notesMasters/notesMaster1.xml" Id="Rec963572bbf74d6f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0e672aa1f1d34335" /><Relationship Type="http://schemas.openxmlformats.org/officeDocument/2006/relationships/notesMaster" Target="/ppt/notesMasters/notesMaster1.xml" Id="R164a70da5bd54c9b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193d35f94e6542f5" /><Relationship Type="http://schemas.openxmlformats.org/officeDocument/2006/relationships/notesMaster" Target="/ppt/notesMasters/notesMaster1.xml" Id="Re77b93eb1ddd47c2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0983f9ed8c964502" /><Relationship Type="http://schemas.openxmlformats.org/officeDocument/2006/relationships/notesMaster" Target="/ppt/notesMasters/notesMaster1.xml" Id="Ra395dbe735554a27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628e476268f74f83" /><Relationship Type="http://schemas.openxmlformats.org/officeDocument/2006/relationships/notesMaster" Target="/ppt/notesMasters/notesMaster1.xml" Id="Rf5a5d080705449e4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8916d227da28437e" /><Relationship Type="http://schemas.openxmlformats.org/officeDocument/2006/relationships/notesMaster" Target="/ppt/notesMasters/notesMaster1.xml" Id="R95e1375683f44e0c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42875eec71de418e" /><Relationship Type="http://schemas.openxmlformats.org/officeDocument/2006/relationships/notesMaster" Target="/ppt/notesMasters/notesMaster1.xml" Id="R56039c9e0efe420c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ee95510947e44b51" /><Relationship Type="http://schemas.openxmlformats.org/officeDocument/2006/relationships/notesMaster" Target="/ppt/notesMasters/notesMaster1.xml" Id="R874cac21fd8144a0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90ba7c67de0a48b7" /><Relationship Type="http://schemas.openxmlformats.org/officeDocument/2006/relationships/notesMaster" Target="/ppt/notesMasters/notesMaster1.xml" Id="R204353d02d984fb9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d9f1e6519f6942fb" /><Relationship Type="http://schemas.openxmlformats.org/officeDocument/2006/relationships/notesMaster" Target="/ppt/notesMasters/notesMaster1.xml" Id="Rd0e9d882b0554b56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2136a86f60f54348" /><Relationship Type="http://schemas.openxmlformats.org/officeDocument/2006/relationships/notesMaster" Target="/ppt/notesMasters/notesMaster1.xml" Id="R6c2cb1573ffb4d23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3c745d0d00a04ca8" /><Relationship Type="http://schemas.openxmlformats.org/officeDocument/2006/relationships/notesMaster" Target="/ppt/notesMasters/notesMaster1.xml" Id="Re444207fabb844e1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60d094414bd24ab8" /><Relationship Type="http://schemas.openxmlformats.org/officeDocument/2006/relationships/notesMaster" Target="/ppt/notesMasters/notesMaster1.xml" Id="R716da90d89724b64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acbd647bb7884268" /><Relationship Type="http://schemas.openxmlformats.org/officeDocument/2006/relationships/notesMaster" Target="/ppt/notesMasters/notesMaster1.xml" Id="Rf1b2a36cac454ae6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9e29178ced56431b" /><Relationship Type="http://schemas.openxmlformats.org/officeDocument/2006/relationships/notesMaster" Target="/ppt/notesMasters/notesMaster1.xml" Id="R25323f40f7d54617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522b518c82e94f41" /><Relationship Type="http://schemas.openxmlformats.org/officeDocument/2006/relationships/notesMaster" Target="/ppt/notesMasters/notesMaster1.xml" Id="R1db2c158714149a4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c16203d0481844cd" /><Relationship Type="http://schemas.openxmlformats.org/officeDocument/2006/relationships/notesMaster" Target="/ppt/notesMasters/notesMaster1.xml" Id="R5ed83a8f5467435a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47c632a9f70a4ec2" /><Relationship Type="http://schemas.openxmlformats.org/officeDocument/2006/relationships/notesMaster" Target="/ppt/notesMasters/notesMaster1.xml" Id="Rdf017fa6ba614892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e32a2d698de54c13" /><Relationship Type="http://schemas.openxmlformats.org/officeDocument/2006/relationships/notesMaster" Target="/ppt/notesMasters/notesMaster1.xml" Id="Rcda5572fe9814bb8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b564b8de89cb4c72" /><Relationship Type="http://schemas.openxmlformats.org/officeDocument/2006/relationships/notesMaster" Target="/ppt/notesMasters/notesMaster1.xml" Id="Rfcf4e15fa79e49ae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2c6586f051074cf2" /><Relationship Type="http://schemas.openxmlformats.org/officeDocument/2006/relationships/notesMaster" Target="/ppt/notesMasters/notesMaster1.xml" Id="R78f13fd817e34615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f32b74f587e14550" /><Relationship Type="http://schemas.openxmlformats.org/officeDocument/2006/relationships/notesMaster" Target="/ppt/notesMasters/notesMaster1.xml" Id="R4f80cfc7c5f14191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c30b55904b984cf8" /><Relationship Type="http://schemas.openxmlformats.org/officeDocument/2006/relationships/notesMaster" Target="/ppt/notesMasters/notesMaster1.xml" Id="R4dfad42598ef4d0b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1e66229795d44632" /><Relationship Type="http://schemas.openxmlformats.org/officeDocument/2006/relationships/notesMaster" Target="/ppt/notesMasters/notesMaster1.xml" Id="R9da723dcc1564642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48d5009a7af3466a" /><Relationship Type="http://schemas.openxmlformats.org/officeDocument/2006/relationships/notesMaster" Target="/ppt/notesMasters/notesMaster1.xml" Id="R8a6901c02876460c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841d47c4d21a4e09" /><Relationship Type="http://schemas.openxmlformats.org/officeDocument/2006/relationships/notesMaster" Target="/ppt/notesMasters/notesMaster1.xml" Id="R216843a2060c4205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4bba6d3e9d394906" /><Relationship Type="http://schemas.openxmlformats.org/officeDocument/2006/relationships/notesMaster" Target="/ppt/notesMasters/notesMaster1.xml" Id="R92e5ce5787c8493e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46253acd9bfd4a33" /><Relationship Type="http://schemas.openxmlformats.org/officeDocument/2006/relationships/notesMaster" Target="/ppt/notesMasters/notesMaster1.xml" Id="R6929dba481294ea0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6b7f6d2f7b4d42ab" /><Relationship Type="http://schemas.openxmlformats.org/officeDocument/2006/relationships/notesMaster" Target="/ppt/notesMasters/notesMaster1.xml" Id="R4b1282b044c048d3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4b8d3611a77640ab" /><Relationship Type="http://schemas.openxmlformats.org/officeDocument/2006/relationships/notesMaster" Target="/ppt/notesMasters/notesMaster1.xml" Id="R38e6dfb6f8e54ade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4ac7ee108af8471c" /><Relationship Type="http://schemas.openxmlformats.org/officeDocument/2006/relationships/notesMaster" Target="/ppt/notesMasters/notesMaster1.xml" Id="Ref769d3ab94b4448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9876eb311dfe42cd" /><Relationship Type="http://schemas.openxmlformats.org/officeDocument/2006/relationships/notesMaster" Target="/ppt/notesMasters/notesMaster1.xml" Id="R543b0bd3567f46be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14bf85315e02477d" /><Relationship Type="http://schemas.openxmlformats.org/officeDocument/2006/relationships/notesMaster" Target="/ppt/notesMasters/notesMaster1.xml" Id="R78bbdf082cf14abc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04d6f60aecd34064" /><Relationship Type="http://schemas.openxmlformats.org/officeDocument/2006/relationships/notesMaster" Target="/ppt/notesMasters/notesMaster1.xml" Id="R54e824d8b6344c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0,5–1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Situar el cierre integrador. Partir de esta idea: Un ruido se comprende por su señal, su contexto y su función. Presentar U10 como integración de todo el curso, no como catálogo de colores.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Portada conceptual: anticipar cuatro ejes de caracterización. Onda central; tiempo; frecuencia; nivel; efecto. Orden de lectura: Cuatro ramales sin rótulo largo.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Abrir con un mismo sonido que crea problemas distintos.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Portada conceptual: anticipar cuatro ejes de caracterización. Onda central; tiempo; frecuencia; nivel; efecto. Orden de lectura: Cuatro ramales sin rótulo largo.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 2025 p. 5; brief U10.</a:t>
            </a:r>
          </a:p>
          <a:p xmlns:a="http://schemas.openxmlformats.org/drawingml/2006/main">
            <a:r>
              <a:t>- Asset propio aprobado: U10-DG-001.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Activar conocimientos y mostrar la multiplicidad de preguntas. Partir de esta idea: Una medición aislada no identifica interferencia, exposición ni solución. Recoger hipótesis sin resolver; distinguir qué preocupa en cada tarea.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Escena técnica del caso disparador. Avenida, fachada, consultorio, conversación, climatización, portazo, receptor. Orden de lectura: Rutas “entra”, “interfiere”, “se evalúa”; numeradas.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Convertir las hipótesis en desempeños observables.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Escena técnica del caso disparador. Avenida, fachada, consultorio, conversación, climatización, portazo, receptor. Orden de lectura: Rutas “entra”, “interfiere”, “se evalúa”; numeradas.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10.3; PDF 262; caso U9.</a:t>
            </a:r>
          </a:p>
          <a:p xmlns:a="http://schemas.openxmlformats.org/drawingml/2006/main">
            <a:r>
              <a:t>- Asset propio aprobado: U10-DG-002.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Declarar ocho objetivos observables. Partir de esta idea: La unidad exige clasificar, calcular, comparar, interpretar y proponer. Aclarar que no se certifican cabinas ni se enseña un protocolo clínico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Ruta de objetivos. Distinguir, describir, calcular, interpretar, proponer. Orden de lectura: Flecha de progresión; sin etiquetas.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Preguntar qué herramientas previas sostienen esos objetivos.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Ruta de objetivos. Distinguir, describir, calcular, interpretar, proponer. Orden de lectura: Flecha de progresión; sin etiquetas.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U10, objetivos 1–8; course_map.</a:t>
            </a:r>
          </a:p>
          <a:p xmlns:a="http://schemas.openxmlformats.org/drawingml/2006/main">
            <a:r>
              <a:t>- Asset propio aprobado: U10-DG-003.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Reactivar prerrequisitos sin reteaching. Partir de esta idea: RMS, dB, bandas, SNR, enmascaramiento y propagación ya tienen significado. Detectar confusiones sobre RMS, banda y dB antes de avanzar.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Red de prerrequisitos. Presión/RMS; dB; espectro; SNR; percepción; propagación. Orden de lectura: “sostiene” hacia U10, agrupados por unidad previa.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Antes de medir, ¿qué tres decisiones debemos explicitar?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Qué fenómeno interesa, con qué descriptor se lo representará y para qué decisión se usará.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Mostrar cómo se reorganizan esos saberes.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Red de prerrequisitos. Presión/RMS; dB; espectro; SNR; percepción; propagación. Orden de lectura: “sostiene” hacia U10, agrupados por unidad previa.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course_dependency_map U10; brief U10.</a:t>
            </a:r>
          </a:p>
          <a:p xmlns:a="http://schemas.openxmlformats.org/drawingml/2006/main">
            <a:r>
              <a:t>- Asset propio aprobado: U10-DG-004.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Reducir incertidumbre y mostrar recapitulaciones. Partir de esta idea: La secuencia combina tiempo, estadística, frecuencia, medición y aplicación. Señalar bloques de carga muy alta y criterios de pausa.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Mapa completo de clase. Nueve bloques y tres pausas. Orden de lectura: Trayecto principal; ramal punteado a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Entrar por la pregunta más cotidiana: cuándo algo es ruido.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Mapa completo de clase. Nueve bloques y tres pausas. Orden de lectura: Trayecto principal; ramal punteado a respaldo.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U10; course_map.</a:t>
            </a:r>
          </a:p>
          <a:p xmlns:a="http://schemas.openxmlformats.org/drawingml/2006/main">
            <a:r>
              <a:t>- Asset propio aprobado: U10-DG-005.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0,5–1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Enunciar la pregunta guía. Partir de esta idea: El nombre depende de la relación señal–tarea–receptor. Volver al caso sin clasificar aún los tipos.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Usar el recurso como apoyo y no como decoración. Referencia descriptiva: Recurso visual previsto: Fondo bordó con cadena mínima.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Comenzar por el fenómeno físico.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Fondo bordó con cadena mínima.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U10, bloque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Separar fenómeno de registro. Partir de esta idea: Un micrófono no captura “el sonido completo”: transforma una magnitud en señal. Recuperar transducción sin entrar en instrumentación.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Cadena fenómeno–representación. Fuente; presión p(t); micrófono; señal; medición; receptor/efecto. Orden de lectura: “genera”, “transduce”, “resume”, “interpreta”.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Añadir ahora la tarea y el contexto.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Cadena fenómeno–representación. Fuente; presión p(t); micrófono; señal; medición; receptor/efecto. Orden de lectura: “genera”, “transduce”, “resume”, “interpreta”.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10.3–10.4; PDF 262–263.</a:t>
            </a:r>
          </a:p>
          <a:p xmlns:a="http://schemas.openxmlformats.org/drawingml/2006/main">
            <a:r>
              <a:t>- Asset propio aprobado: U10-DG-006.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Mostrar dependencia contextual. Partir de esta idea: Una conversación puede ser objetivo, interferencia o señal de prueba según la tarea. Pedir al grupo que cambie solo la tarea y describa qué permanece.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Misma señal, tres funciones. Forma de onda común; escuchar; medir; enmascarar. Orden de lectura: Ramales “tarea”.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Formalizar los usos del término ruido.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Misma señal, tres funciones. Forma de onda común; escuchar; medir; enmascarar. Orden de lectura: Ramales “tarea”.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10.3–10.4; PDF 262–263.</a:t>
            </a:r>
          </a:p>
          <a:p xmlns:a="http://schemas.openxmlformats.org/drawingml/2006/main">
            <a:r>
              <a:t>- Asset propio aprobado: U10-DG-007.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Fijar los tres usos compatibles. Partir de esta idea: Contextual, físico/de señales y operativo responden preguntas distintas. Evitar equiparar ruido con nivel alto o molestia.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Mapa semántico del término ruido. Contextual; físico/de señales; operativo. Orden de lectura: Desde nodo “ruido”; etiqueta “uso”.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Definir ruido como sinónimo de sonido fuerte o desagradable.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Comprobar si el criterio se aplica a casos nuevos.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Mapa semántico del término ruido. Contextual; físico/de señales; operativo. Orden de lectura: Desde nodo “ruido”; etiqueta “uso”.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 p. 5; LaTeX 10.4; PDF 263; glossary.</a:t>
            </a:r>
          </a:p>
          <a:p xmlns:a="http://schemas.openxmlformats.org/drawingml/2006/main">
            <a:r>
              <a:t>- Asset propio aprobado: U10-DG-008.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Verificar separación entre señal y valoración. Partir de esta idea: Presión, espectro y duración no cambian solo porque cambie el nombre. Aceptar respuestas múltiples si se explicita la tarea.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Actividad de clasificación contextual. Cuatro casos; tarea; función elegida. Orden de lectura: Conectores revelables, sin cruce.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¿El ruido está definido por la fuente o por la tarea?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Por la relación entre señal, contexto y tarea; una misma fuente puede cambiar de función.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Pasar de la función a la predictibilidad temporal.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Actividad de clasificación contextual. Cuatro casos; tarea; función elegida. Orden de lectura: Conectores revelables, sin cruce.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Ejercicio C1; PDF 281/285.</a:t>
            </a:r>
          </a:p>
          <a:p xmlns:a="http://schemas.openxmlformats.org/drawingml/2006/main">
            <a:r>
              <a:t>- Asset propio aprobado: U10-DG-009.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Introducir la distinción sin formalismo probabilístico. Partir de esta idea: Un modelo predice la sinusoide; un proceso aleatorio se describe por propiedades. Insistir en que aleatorio no significa sin estructura.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Identificar primero ejes, unidades y escala; luego señalar el patrón relevante y, por último, vincularlo con la pregunta física. Referencia descriptiva: Dos paneles con ejes comunes comparan una sinusoide conocida y ruido limitado en banda, ambos con RMS 1 mPa.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Confundir aleatorio con desordenado o carente de estructura.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Nombrar una realización concreta.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Dos paneles con ejes comunes comparan una sinusoide conocida y ruido limitado en banda, ambos con RMS 1 mPa.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10.5; PDF 263; ejercicio C2.</a:t>
            </a:r>
          </a:p>
          <a:p xmlns:a="http://schemas.openxmlformats.org/drawingml/2006/main">
            <a:r>
              <a:t>- Asset propio aprobado: U10-CH-015.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Distinguir registro, proceso y pseudoaleatoriedad. Partir de esta idea: Dos registros pueden diferir muestra a muestra y compartir estadísticas. Explicar por qué una señal de ensayo puede repetirse sin negar el modelo aleatorio.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Identificar primero ejes, unidades y escala; luego señalar el patrón relevante y, por último, vincularlo con la pregunta física. Referencia descriptiva: Dos paneles muestran realizaciones gaussianas distintas con los mismos ejes. En cada panel se indican media cero y RMS de 1 mPa.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Preguntar qué propiedad puede permanecer estable.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Dos paneles muestran realizaciones gaussianas distintas con los mismos ejes. En cada panel se indican media cero y RMS de 1 mPa.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10.5; PDF 263.</a:t>
            </a:r>
          </a:p>
          <a:p xmlns:a="http://schemas.openxmlformats.org/drawingml/2006/main">
            <a:r>
              <a:t>- Asset propio aprobado: U10-CH-001.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Consolidar el primer marco. Partir de esta idea: “Ruido” no determina por sí solo nivel, espectro, duración ni aleatoriedad. Distinguir repetición funcional de la definición de U10-009.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Recap señal–contexto–receptor. Tres vértices + pregunta central. Orden de lectura: Flechas bidireccionales sin etiqueta o con verbos de 1 palabra.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¿Qué comparten y qué no comparten dos realizaciones?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Comparten el proceso o modelo estadístico; no comparten necesariamente las muestras instantáneas.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Abrir el eje temporal con estacionariedad.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Recap señal–contexto–receptor. Tres vértices + pregunta central. Orden de lectura: Flechas bidireccionales sin etiqueta o con verbos de 1 palabra.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Síntesis propia basada en 10.3–10.5.</a:t>
            </a:r>
          </a:p>
          <a:p xmlns:a="http://schemas.openxmlformats.org/drawingml/2006/main">
            <a:r>
              <a:t>- Asset propio aprobado: U10-DG-010.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0,5–1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Enunciar la pregunta guía. Partir de esta idea: La variación instantánea no impide describir regularidades. Preparar la idea de ventana antes de nombrar estacionariedad.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Usar el recurso como apoyo y no como decoración. Referencia descriptiva: Recurso visual previsto: Fondo bordó con ventana sobre señal.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Definir estacionariedad de forma práctica.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Fondo bordó con ventana sobre señal.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U10, bloques 2–3.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Corregir el error central. Partir de esta idea: Los valores cambian; ciertas estadísticas permanecen aproximadamente estables. Evitar una definición matemática formal; declarar “aproximadamente” e intervalo.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Identificar primero ejes, unidades y escala; luego señalar el patrón relevante y, por último, vincularlo con la pregunta física. Referencia descriptiva: Una traza de ocho segundos contiene dos ventanas resaltadas. Debajo, dos ampliaciones muestran formas distintas y valores RMS próximos.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Tomar estacionariedad como constancia muestra por muestra.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Cambiar la escala temporal.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Una traza de ocho segundos contiene dos ventanas resaltadas. Debajo, dos ampliaciones muestran formas distintas y valores RMS próximos.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10.5.1; PDF 263–264; glossary.</a:t>
            </a:r>
          </a:p>
          <a:p xmlns:a="http://schemas.openxmlformats.org/drawingml/2006/main">
            <a:r>
              <a:t>- Asset propio aprobado: U10-CH-002.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Mostrar dependencia de escala. Partir de esta idea: La estacionariedad siempre depende de la ventana y del criterio. Relacionar la escala con la pregunta de medición.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Identificar primero ejes, unidades y escala; luego señalar el patrón relevante y, por último, vincularlo con la pregunta física. Referencia descriptiva: Un registro sintético de dos minutos tiene una envolvente lenta. Un recuadro enlaza una ventana de cinco segundos con su ampliación exacta.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Clasificar patrones visibles sin confundirlos con estadística.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 registro sintético de dos minutos tiene una envolvente lenta. Un recuadro enlaza una ventana de cinco segundos con su ampliación exacta.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10.5.1; PDF 264.</a:t>
            </a:r>
          </a:p>
          <a:p xmlns:a="http://schemas.openxmlformats.org/drawingml/2006/main">
            <a:r>
              <a:t>- Asset propio aprobado: U10-CH-003.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Reconocer continuo, fluctuante, intermitente e impulsivo. Partir de esta idea: Las categorías describen forma temporal y pueden coexistir. Guiar lectura de ejes antes de nombrar cada panel.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Identificar primero ejes, unidades y escala; luego señalar el patrón relevante y, por último, vincularlo con la pregunta física. Referencia descriptiva: Cuatro paneles con ejes comunes muestran ruido continuo estable, fluctuante, intermitente e impulsivo.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Tratar las categorías temporales como casilleros universales y excluyentes.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Probar clasificación múltiple.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Cuatro paneles con ejes comunes muestran ruido continuo estable, fluctuante, intermitente e impulsivo.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10.6, fig. 10.1; PDF 264–265.</a:t>
            </a:r>
          </a:p>
          <a:p xmlns:a="http://schemas.openxmlformats.org/drawingml/2006/main">
            <a:r>
              <a:t>- Asset propio aprobado: U10-CH-004.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4–6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Evitar categorías excluyentes. Partir de esta idea: La clasificación depende del rasgo que se describe. Pedir dos etiquetas cuando correspondan y justificar. Dar primero un tiempo breve de respuesta individual; pedir luego una justificación con magnitud, condición y evidencia antes de la puesta en común.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Clasificación temporal no excluyente. Predictibilidad; continuidad; impulsividad; ejemplos. Orden de lectura: Árbol con retorno “puede coexistir”.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¿Qué rasgo temporal distingue a la máquina fluctuante de los golpes?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La primera cambia de forma relativamente continua; los golpes concentran energía en eventos breves.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Preguntar por qué una muestra no resume el intervalo.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Clasificación temporal no excluyente. Predictibilidad; continuidad; impulsividad; ejemplos. Orden de lectura: Árbol con retorno “puede coexistir”.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10.6; ejercicios C4/V1.</a:t>
            </a:r>
          </a:p>
          <a:p xmlns:a="http://schemas.openxmlformats.org/drawingml/2006/main">
            <a:r>
              <a:t>- Asset propio aprobado: U10-DG-011.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Crear necesidad de descriptores. Partir de esta idea: Cada descriptor conserva una parte diferente de la información. No introducir todavía todas las fórmulas.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Crear necesidad de estadísticos. Muestra; ventana; registro; descriptores. Orden de lectura: “amplía contexto”, “resume”.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Introducir primero la 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Crear necesidad de estadísticos. Muestra; ventana; registro; descriptores. Orden de lectura: “amplía contexto”, “resume”.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10.7; PDF 264–265.</a:t>
            </a:r>
          </a:p>
          <a:p xmlns:a="http://schemas.openxmlformats.org/drawingml/2006/main">
            <a:r>
              <a:t>- Asset propio aprobado: U10-DG-012.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3–4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Definir media con unidades y significado. Partir de esta idea: Valores positivos y negativos pueden compensarse. Conectar con presión respecto de la atmosférica. Definir cada símbolo y su unidad antes de operar; leer la igualdad como una relación física, no como una receta.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Ecuación de media anotada. Ecuación central; callouts N, p_i, p̄; unidad. Orden de lectura: Líderes cortos sin flecha.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Concluir que media cercana a cero implica ausencia de sonido.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Mostrar por qué media cero no implica silencio.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Ecuación de media anotada. Ecuación central; callouts N, pᵢ, p̄; unidad. Orden de lectura: Líderes cortos sin flecha.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10.1; PDF 264–266; notation_guide.</a:t>
            </a:r>
          </a:p>
          <a:p xmlns:a="http://schemas.openxmlformats.org/drawingml/2006/main">
            <a:r>
              <a:t>- Asset propio aprobado: U10-DG-013.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3–4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Definir RMS y recuperar U4. Partir de esta idea: Cuadrar evita cancelación; la raíz devuelve la unidad original. Relacionar RMS con nivel sin derivar dB todavía. Definir cada símbolo y su unidad antes de operar; leer la igualdad como una relación física, no como una receta.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Proceso conceptual de RMS. Cuadrar; promediar; raíz; unidad recuperada. Orden de lectura: Flechas “evita cancelación”, “promedia”, “devuelve Pa”.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Confundir RMS con promedio aritmético.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Comparar ahora dispersión alrededor de la 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Proceso conceptual de RMS. Cuadrar; promediar; raíz; unidad recuperada. Orden de lectura: Flechas “evita cancelación”, “promedia”, “devuelve Pa”.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10.2; PDF 266; U4.</a:t>
            </a:r>
          </a:p>
          <a:p xmlns:a="http://schemas.openxmlformats.org/drawingml/2006/main">
            <a:r>
              <a:t>- Asset propio aprobado: U10-DG-014.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3–4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Diferenciar varianza y RMS. Partir de esta idea: La varianza usa desviaciones; su unidad es Pa². Señalar que para media cero coinciden los cuadrados, no los conceptos. Definir cada símbolo y su unidad antes de operar; leer la igualdad como una relación física, no como una receta.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Varianza frente a RMS. Media; desviaciones; cuadrado; promedio; caja contraste. Orden de lectura: Secuencia con etiqueta breve.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Usar varianza y RMS como sinónimos cuando la media no es nula.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Aplicar los tres descriptores a pocas muestras.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Varianza frente a RMS. Media; desviaciones; cuadrado; promedio; caja contraste. Orden de lectura: Secuencia con etiqueta breve.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10.3–10.4; PDF 266; notation_guide.</a:t>
            </a:r>
          </a:p>
          <a:p xmlns:a="http://schemas.openxmlformats.org/drawingml/2006/main">
            <a:r>
              <a:t>- Asset propio aprobado: U10-DG-015.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3–4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Modelar un cálculo accesible. Partir de esta idea: Las muestras simétricas tienen media cero y RMS distinto de cero. Hacer cálculo paso a paso y control dimensional. Definir cada símbolo y su unidad antes de operar; leer la igualdad como una relación física, no como una receta.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Ejemplo media cero/RMS no cero. Datos; media; cuadrados; RMS; varianza; interpretación. Orden de lectura: Flechas de cálculo.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Mostrar lo que los tres números todavía pierden.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Ejemplo media cero/RMS no cero. Datos; media; cuadrados; RMS; varianza; interpretación. Orden de lectura: Flechas de cálculo.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ejemplo 10.7.1; PDF 266.</a:t>
            </a:r>
          </a:p>
          <a:p xmlns:a="http://schemas.openxmlformats.org/drawingml/2006/main">
            <a:r>
              <a:t>- Asset propio aprobado: U10-DG-016.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Demostrar límites de un resumen numérico. Partir de esta idea: Un histograma revela valores frecuentes y extremos que el RMS no conserva. Leer primero los descriptores compartidos y después la diferencia.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Identificar primero ejes, unidades y escala; luego señalar el patrón relevante y, por último, vincularlo con la pregunta física. Referencia descriptiva: Dos trazas y dos histogramas comparan ruido gaussiano continuo con una secuencia de dos niveles, ambos con media cero, RMS 1 mPa y varianza 1 mPa cuadrado.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Consolidar antes de cambiar al dominio frecuencial.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Dos trazas y dos histogramas comparan ruido gaussiano continuo con una secuencia de dos niveles, ambos con media cero, RMS 1 mPa y varianza 1 mPa cuadrado.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10.7.2, fig. 10.2; PDF 267.</a:t>
            </a:r>
          </a:p>
          <a:p xmlns:a="http://schemas.openxmlformats.org/drawingml/2006/main">
            <a:r>
              <a:t>- Asset propio aprobado: U10-CH-005.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Consolidar un bloque de carga muy alta. Partir de esta idea: Media, RMS, varianza y distribución responden preguntas distintas. Repetir con función de síntesis, no volver a derivar fórmulas.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Matriz de descriptores. Filas media/RMS/varianza/distribución; columnas pregunta/unidad/límite. Orden de lectura: Sin flechas; relación por alineación.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¿Qué descriptor falta si dos señales tienen igual RMS pero una posee picos mucho mayores?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Un descriptor de extremos, como el pico o el factor de cresta, y la forma temporal.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Recordar espectro de U5 para describir otra dimensión.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Matriz de descriptores. Filas media/RMS/varianza/distribución; columnas pregunta/unidad/límite. Orden de lectura: Sin flechas; relación por alineación.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10.7; ejercicios C5–C6.</a:t>
            </a:r>
          </a:p>
          <a:p xmlns:a="http://schemas.openxmlformats.org/drawingml/2006/main">
            <a:r>
              <a:t>- Asset propio aprobado: U10-DG-017.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0,5–1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Enunciar la pregunta guía. Partir de esta idea: Un ruido también se caracteriza por dónde concentra contenido cuadrático. Aclarar que “color” es un modelo espectral, no una cualidad perceptual universal.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Usar el recurso como apoyo y no como decoración. Referencia descriptiva: Recurso visual previsto: Fondo bordó con espectro mínimo.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Recuperar lectura de espectro.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Fondo bordó con espectro mínimo.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U10, bloque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Reactivar U5 sin repetir Fourier. Partir de esta idea: Tiempo muestra evolución; frecuencia muestra distribución. Distinguir espectro de señal y respuesta de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Identificar primero ejes, unidades y escala; luego señalar el patrón relevante y, por último, vincularlo con la pregunta física. Referencia descriptiva: A la izquierda aparece una realización temporal; a la derecha, su densidad espectral estimada por Welch, con la banda útil resaltada.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Introducir la idea “por unidad de frecuencia”.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A la izquierda aparece una realización temporal; a la derecha, su densidad espectral estimada por Welch, con la banda útil resaltada.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U5; LaTeX 10.8; PDF 268.</a:t>
            </a:r>
          </a:p>
          <a:p xmlns:a="http://schemas.openxmlformats.org/drawingml/2006/main">
            <a:r>
              <a:t>- Asset propio aprobado: U10-CH-006.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3–4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Preparar unidades antes de la integral. Partir de esta idea: Pa²/Hz se convierte en Pa² al acumular sobre Hz. Usar suma de franjas; no asumir cálculo integral. Definir cada símbolo y su unidad antes de operar; leer la igualdad como una relación física, no como una receta.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Densidad × ancho de banda. Rectángulo espectral; altura S_pp; base Δf; área. Orden de lectura: Callouts externos.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Formalizar la relación de banda.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Densidad × ancho de banda. Rectángulo espectral; altura S_pp; base Δf; área. Orden de lectura: Callouts externos.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10.8; PDF 268; content_inventory.</a:t>
            </a:r>
          </a:p>
          <a:p xmlns:a="http://schemas.openxmlformats.org/drawingml/2006/main">
            <a:r>
              <a:t>- Asset propio aprobado: U10-DG-018.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3–4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Introducir PSD con significado físico. Partir de esta idea: Integrar S_pp(f) entre f_L y f_H produce presión cuadrática media. Leer la integral como suma; normalizar p_ref en notas. Definir cada símbolo y su unidad antes de operar; leer la igualdad como una relación física, no como una receta.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Ecuación de potencia de banda. Integral; f_L, f_H, S_pp, resultado/unidad. Orden de lectura: Máximo cuatro líderes.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Leer la altura de la PSD como si fuera el contenido total de una banda.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Comprobar con una banda rectangular.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Ecuación de potencia de banda. Integral; f_L, f_H, S_pp, resultado/unidad. Orden de lectura: Máximo cuatro líderes.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10.5; PDF 268; notation_guide.</a:t>
            </a:r>
          </a:p>
          <a:p xmlns:a="http://schemas.openxmlformats.org/drawingml/2006/main">
            <a:r>
              <a:t>- Asset propio aprobado: U10-DG-019.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3–4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Modelar unidades y conversión. Partir de esta idea: Densidad × ancho da Pa²; la raíz da Pa; el nivel requiere referencia. Evitar presentar el resultado como límite de exposición. Definir cada símbolo y su unidad antes de operar; leer la igualdad como una relación física, no como una receta.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Cálculo de potencia en una banda. Datos; Δf; producto; p_rms²; interpretación. Orden de lectura: Flechas “calcular”, “integrar”.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Aplicar la idea al ruido blanco.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Cálculo de potencia en una banda. Datos; Δf; producto; p_rms²; interpretación. Orden de lectura: Flechas “calcular”, “integrar”.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ejemplo 10.8; PDF 268.</a:t>
            </a:r>
          </a:p>
          <a:p xmlns:a="http://schemas.openxmlformats.org/drawingml/2006/main">
            <a:r>
              <a:t>- Asset propio aprobado: U10-DG-020.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3–4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Fijar la definición correcta. Partir de esta idea: Bandas de igual ancho en Hz contienen igual contenido cuadrático. Rechazar el ideal de 0 a infinito y declarar banda. Definir cada símbolo y su unidad antes de operar; leer la igualdad como una relación física, no como una receta.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Identificar primero ejes, unidades y escala; luego señalar el patrón relevante y, por último, vincularlo con la pregunta física. Referencia descriptiva: Un rectángulo espectral muestra densidad S cero constante dentro de una banda finita y un intervalo delta f sombreado.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Suponer ruido blanco ideal de ancho de banda infinito en un sistema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Cambiar el modo de agrupar frecuencias.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 rectángulo espectral muestra densidad S cero constante dentro de una banda finita y un intervalo delta f sombreado.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Programa; LaTeX 10.8.1; PDF 268–269; glossary.</a:t>
            </a:r>
          </a:p>
          <a:p xmlns:a="http://schemas.openxmlformats.org/drawingml/2006/main">
            <a:r>
              <a:t>- Asset propio aprobado: U10-CH-007.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Explicar por qué blanco no es constante por octava. Partir de esta idea: Con densidad blanca, el contenido crece cuando la banda se ensancha. Hacer comparar primero ancho de banda, luego barras.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Identificar primero ejes, unidades y escala; luego señalar el patrón relevante y, por último, vincularlo con la pregunta física. Referencia descriptiva: Barras en centros de octava desde 125 hasta 8000 Hz aumentan por factor dos; cada barra indica su ancho de banda.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Introducir el modelo rosa.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Barras en centros de octava desde 125 hasta 8000 Hz aumentan por factor dos; cada barra indica su ancho de banda.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10.8.1; PDF 269–270.</a:t>
            </a:r>
          </a:p>
          <a:p xmlns:a="http://schemas.openxmlformats.org/drawingml/2006/main">
            <a:r>
              <a:t>- Asset propio aprobado: U10-CH-008.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3–4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Fijar el criterio central del ruido rosa. Partir de esta idea: Densidad aproximada 1/f; contenido aproximadamente constante por octava. Explicar que −3 dB/octava se refiere a densidad, no al total de cada octava. Definir cada símbolo y su unidad antes de operar; leer la igualdad como una relación física, no como una receta.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Identificar primero ejes, unidades y escala; luego señalar el patrón relevante y, por último, vincularlo con la pregunta física. Referencia descriptiva: Curva recta descendente en ejes logarítmicos entre 125 y 8000 Hz, rotulada con pendiente menos uno.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Creer que el ruido rosa tiene menor contenido en cada octava sucesiva.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Comparar ambos modelos con los mismos ejes.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Curva recta descendente en ejes logarítmicos entre 125 y 8000 Hz, rotulada con pendiente menos uno.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Programa; LaTeX 10.8.2; PDF 269–270; glossary.</a:t>
            </a:r>
          </a:p>
          <a:p xmlns:a="http://schemas.openxmlformats.org/drawingml/2006/main">
            <a:r>
              <a:t>- Asset propio aprobado: U10-CH-009.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Integrar las dos definiciones. Partir de esta idea: La diferencia aparece al especificar qué magnitud y qué agrupamiento se mantiene. No presentar el color como etiqueta memorizada; pedir lectura de ejes.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Identificar primero ejes, unidades y escala; luego señalar el patrón relevante y, por último, vincularlo con la pregunta física. Referencia descriptiva: Dos paneles coordinados comparan PSD normalizada y contenido relativo por octava para ruido blanco y rosa.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Ofrecer una escucha opcional y luego sintetizar.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Dos paneles coordinados comparan PSD normalizada y contenido relativo por octava para ruido blanco y rosa.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fig. 10.3; PDF 270; ejercicio V3.</a:t>
            </a:r>
          </a:p>
          <a:p xmlns:a="http://schemas.openxmlformats.org/drawingml/2006/main">
            <a:r>
              <a:t>- Asset propio aprobado: U10-CH-010.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Vincular representación y experiencia auditiva. Partir de esta idea: La escucha depende de reproducción y nivel; el espectro define el modelo. No afirmar igualdad de sonoridad; registrar cadena de reproducción.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Usar el recurso como apoyo y no como decoración. Referencia descriptiva: Recurso visual previsto: U10-AS-001 y U10-AS-002; audio seguro y normalizado; fuente por seleccionar.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¿Qué diferencia perceptual esperarían entre ruido blanco y rosa al igualar el nivel global?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El blanco suele percibirse más brillante; el rosa distribuye de modo más equilibrado el contenido por octavas.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Reproducir audio solo si los clips propios están documentados y el nivel es seguro; si no, usar U10-CH-010 como alternativa estática.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Confundir una diferencia de timbre con una comparación controlada de sonoridad.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Cerrar el bloque con una regla de lectura.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[Media]</a:t>
            </a:r>
          </a:p>
          <a:p xmlns:a="http://schemas.openxmlformats.org/drawingml/2006/main">
            <a:r>
              <a:t>U10-AS-001 y U10-AS-002 identificados; no embebidos porque continúan propuestos y sin archivo local aprobado. Usar U10-CH-010 como alternativa estática.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U10-AS-001 y U10-AS-002; audio seguro y normalizado; fuente por seleccionar.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Elaboración propia propuesta; LaTeX 10.8.1–2.</a:t>
            </a:r>
          </a:p>
          <a:p xmlns:a="http://schemas.openxmlformats.org/drawingml/2006/main">
            <a:r>
              <a:t>- Asset propio aprobado: U10-CH-010.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Consolidar PSD, banda y modelos. Partir de esta idea: Densidad, agrupamiento y límites definen la comparación. Repetir la unidad Pa²/Hz con función de control dimensional.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Recap color–pendiente–banda. Blanco; rosa; PSD; octava; experiencia. Orden de lectura: Relaciones “constante por Hz”, “constante por octava”.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¿Qué debe acompañar siempre al nombre de un color de ruido?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La definición espectral, la banda efectiva, el nivel y el método de generación.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Pasar de modelos ideales a señales de prueba filtradas.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Recap color–pendiente–banda. Blanco; rosa; PSD; octava; experiencia. Orden de lectura: Relaciones “constante por Hz”, “constante por octava”.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Síntesis 10.8.</a:t>
            </a:r>
          </a:p>
          <a:p xmlns:a="http://schemas.openxmlformats.org/drawingml/2006/main">
            <a:r>
              <a:t>- Asset propio aprobado: U10-DG-021.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0,5–1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Enunciar la pregunta guía. Partir de esta idea: Un nombre de señal no reemplaza espectro, banda, nivel y procedimiento. Conectar con filtros U5.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Usar el recurso como apoyo y no como decoración. Referencia descriptiva: Recurso visual previsto: Fondo bordó con cadena de filtrado.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Comenzar por el término del programa.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Fondo bordó con cadena de filtrado.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U10, tipos obligatorios.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Normalizar terminología. Partir de esta idea: No existe una curva universal deducible del nombre. Indicar que un ejemplo cuantitativo exige fuente/equipo definido.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Ruido conformado al habla. Ruido base; filtro; envolvente objetivo; salida. Orden de lectura: “filtra según”; “conserva contorno, no habla”.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Presentar una única curva de habla como universal para toda tarea o idioma.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Comparar con un pasabanda estrecho.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Ruido conformado al habla. Ruido base; filtro; envolvente objetivo; salida. Orden de lectura: “filtra según”; “conserva contorno, no habla”.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Programa; LaTeX 10.8.3; PDF 269; glossary.</a:t>
            </a:r>
          </a:p>
          <a:p xmlns:a="http://schemas.openxmlformats.org/drawingml/2006/main">
            <a:r>
              <a:t>- Asset propio aprobado: U10-DG-022.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Mostrar conformación espectral. Partir de esta idea: La respuesta del filtro determina la forma de salida. Mantener magnitudes cualitativas y no simular calibración.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Banco de filtros. Entrada banda ancha; pasa-bajos; pasa-altos; pasabanda; salidas. Orden de lectura: Flechas ancladas; etiquetas de banda.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Definir NBN con parámetros.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Banco de filtros. Entrada banda ancha; pasa-bajos; pasa-altos; pasabanda; salidas. Orden de lectura: Flechas ancladas; etiquetas de banda.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fig. 10.4; PDF 271.</a:t>
            </a:r>
          </a:p>
          <a:p xmlns:a="http://schemas.openxmlformats.org/drawingml/2006/main">
            <a:r>
              <a:t>- Asset propio aprobado: U10-DG-023.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Fijar límites y frecuencia central. Partir de esta idea: Banda estrecha no significa automáticamente tercio de octava. Desarrollar la sigla en primera aparición.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Definición visual de NBN. Espectro amplio; filtro centrado; banda de salida; f_L/f_c/f_H. Orden de lectura: “selecciona”.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Nombrar NBN sin informar banda, forma espectral y nivel.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Calcular el ancho sin confundirlo con bin.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Definición visual de NBN. Espectro amplio; filtro centrado; banda de salida; f_L/f_c/f_H. Orden de lectura: “selecciona”.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Programa; LaTeX 10.8.4; PDF 269–271; glossary.</a:t>
            </a:r>
          </a:p>
          <a:p xmlns:a="http://schemas.openxmlformats.org/drawingml/2006/main">
            <a:r>
              <a:t>- Asset propio aprobado: U10-DG-024.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3–4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Aplicar B=f_H-f_L y detectar faltantes. Partir de esta idea: Calcular 200 Hz es necesario, pero no suficiente para una señal de prueba. Pedir primero el cálculo y luego los datos faltantes. Definir cada símbolo y su unidad antes de operar; leer la igualdad como una relación física, no como una receta.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Parámetros de NBN. Eje de frecuencia; límites; centro; ancho; pendientes. Orden de lectura: Callouts sin cruces.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¿Cuál es el ancho de una banda entre 900 Hz y 1100 Hz?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200 Hz.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Comparar los cuatro tipos obligatorios.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Parámetros de NBN. Eje de frecuencia; límites; centro; ancho; pendientes. Orden de lectura: Callouts sin cruces.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10.9; ejercicio G4; PDF 269/283/287.</a:t>
            </a:r>
          </a:p>
          <a:p xmlns:a="http://schemas.openxmlformats.org/drawingml/2006/main">
            <a:r>
              <a:t>- Asset propio aprobado: U10-DG-025.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Integrar blanco, rosa, habla y NBN. Partir de esta idea: Cada nombre responde a una regla diferente y necesita banda. Evitar asociar automáticamente cada tipo con un único uso clínico.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Usar el recurso como apoyo y no como decoración. Referencia descriptiva: Recurso visual previsto: Tabla nativa; sin imágenes.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Comprobar selección según una tarea.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Tabla nativa; sin imágenes.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Programa; LaTeX 10.8; PDF 268–271.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4–6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Practicar sin prescribir protocolo. Partir de esta idea: Elegir un tipo no basta: hay que justificar función y parámetros. Mantener escenarios no clínicos o audiométricos sin niveles. Dar primero un tiempo breve de respuesta individual; pedir luego una justificación con magnitud, condición y evidencia antes de la puesta en común.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Árbol para elegir señal de prueba. Objetivo; región espectral; ancho; tipo; parámetros faltantes. Orden de lectura: Preguntas en conectores de 1–3 palabras.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¿Qué se prioriza al elegir una señal: su nombre o su función?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Su función en la tarea, junto con banda, nivel y protocolo.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Cerrar con la cadena banda–filtro–función.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Árbol para elegir señal de prueba. Objetivo; región espectral; ancho; tipo; parámetros faltantes. Orden de lectura: Preguntas en conectores de 1–3 palabras.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Ejercicios V4/G4; aplicaciones F1/F3.</a:t>
            </a:r>
          </a:p>
          <a:p xmlns:a="http://schemas.openxmlformats.org/drawingml/2006/main">
            <a:r>
              <a:t>- Asset propio aprobado: U10-DG-026.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Consolidar tipos obligatorios. Partir de esta idea: Una señal de prueba se especifica; no se adivina por su etiqueta. Marcar la transición de “qué señal es” a “qué número medimos”.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Tabla visual de familias. Blanco, rosa, habla, NBN; forma/uso/cautela. Orden de lectura: Sin conectores.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¿Qué eje permite distinguir variación continua de eventos breves?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El eje temporal; luego se complementa con frecuencia, nivel y función.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Entrar a descriptores temporales.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Tabla visual de familias. Blanco, rosa, habla, NBN; forma/uso/cautela. Orden de lectura: Sin conectores.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Síntesis 10.8.</a:t>
            </a:r>
          </a:p>
          <a:p xmlns:a="http://schemas.openxmlformats.org/drawingml/2006/main">
            <a:r>
              <a:t>- Asset propio aprobado: U10-DG-027.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0,5–1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Enunciar la pregunta guía. Partir de esta idea: Detector, ponderación e intervalo forman parte del resultado. Recuperar sonómetro U5 sin explicar el instrumento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Usar el recurso como apoyo y no como decoración. Referencia descriptiva: Recurso visual previsto: Fondo bordó con cuatro marcadores temporales.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Comenzar por condiciones de lectura.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Fondo bordó con cuatro marcadores temporales.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U10, bloque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Construir una rutina de lectura. Partir de esta idea: Un valor en dB sin configuración está incompleto. Diferenciar ponderación frecuencial y temporal.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Cadena de medición. Fuente; micrófono; ponderación; detector; integración; indicador; metadatos. Orden de lectura: “transduce”, “pondera”, “integra”, “reporta”.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Aplicar la rutina a una misma señal.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Cadena de medición. Fuente; micrófono; ponderación; detector; integración; indicador; metadatos. Orden de lectura: “transduce”, “pondera”, “integra”, “reporta”.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10.9; PDF 272; U5.</a:t>
            </a:r>
          </a:p>
          <a:p xmlns:a="http://schemas.openxmlformats.org/drawingml/2006/main">
            <a:r>
              <a:t>- Asset propio aprobado: U10-DG-028.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3–4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Comparar preguntas sobre la misma traza. Partir de esta idea: Instantáneo, máximo, pico y equivalente no son intercambiables. Señalar que cada anotación proviene de una operación diferente. Definir cada símbolo y su unidad antes de operar; leer la igualdad como una relación física, no como una receta.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Identificar primero ejes, unidades y escala; luego señalar el patrón relevante y, por último, vincularlo con la pregunta física. Referencia descriptiva: El panel superior muestra presión con un impulso y marca el pico. El inferior muestra nivel Fast, máximo y nivel equivalente durante todo el intervalo.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¿Puede Lmax,F reemplazar al nivel de pico?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No. Responden a detectores y constantes temporales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Aislar el error máximo/pico.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El panel superior muestra presión con un impulso y marca el pico. El inferior muestra nivel Fast, máximo y nivel equivalente durante todo el intervalo.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10.9; PDF 272–273.</a:t>
            </a:r>
          </a:p>
          <a:p xmlns:a="http://schemas.openxmlformats.org/drawingml/2006/main">
            <a:r>
              <a:t>- Asset propio aprobado: U10-CH-011.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Corregir una confusión instrumental. Partir de esta idea: L_max depende de respuesta temporal; L_peak usa un detector de pico. No fijar configuraciones normativas no decididas.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Máximo frente a pico. Evento común; detector temporal; detector de pico; dos salidas. Orden de lectura: “aplica ponderación/constante”, “busca extremo”.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Usar pico, máximo y equivalente como nombres intercambiables.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Introducir el descriptor energético en el tiempo.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Máximo frente a pico. Evento común; detector temporal; detector de pico; dos salidas. Orden de lectura: “aplica ponderación/constante”, “busca extremo”.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10.9 y errores; PDF 272/280.</a:t>
            </a:r>
          </a:p>
          <a:p xmlns:a="http://schemas.openxmlformats.org/drawingml/2006/main">
            <a:r>
              <a:t>- Asset propio aprobado: U10-DG-029.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3–4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Recuperar nivel equivalente con intervalo. Partir de esta idea: No es media aritmética de dB ni describe picos. Usar notación L_Aeq,T cuando corresponda. Definir cada símbolo y su unidad antes de operar; leer la igualdad como una relación física, no como una receta.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Significado de nivel equivalente. Evento variable; energía acumulada; nivel constante equivalente; intervalo T. Orden de lectura: “misma energía en T”.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Promediar niveles en dB de manera aritmética.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Mostrar combinación de intervalos iguales.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Significado de nivel equivalente. Evento variable; energía acumulada; nivel constante equivalente; intervalo T. Orden de lectura: “misma energía en T”.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10.9; PDF 272–273; notation_guide.</a:t>
            </a:r>
          </a:p>
          <a:p xmlns:a="http://schemas.openxmlformats.org/drawingml/2006/main">
            <a:r>
              <a:t>- Asset propio aprobado: U10-DG-030.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3–4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Modelar promedio energético. Partir de esta idea: Se convierten cantidades lineales, se promedian y se vuelve a dB. Advertir que la fórmula mostrada supone igual duración. Definir cada símbolo y su unidad antes de operar; leer la igualdad como una relación física, no como una receta.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Seis etapas: cuatro intervalos de 15 minutos a 88, 92, 86 y 90 dB(A), seguidos por el promedio lineal energético y el resultado L_Aeq,1 h de aproximadamente 89,6 dB(A).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Calcular el promedio aritmético de los cuatro valores en dB(A).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Presentar percentiles como descriptor distinto.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Seis etapas: cuatro intervalos de 15 minutos a 88, 92, 86 y 90 dB(A), seguidos por el promedio lineal energético y el resultado L_Aeq,1 h de aproximadamente 89,6 dB(A).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10.10 y ejemplo; PDF 272–273.</a:t>
            </a:r>
          </a:p>
          <a:p xmlns:a="http://schemas.openxmlformats.org/drawingml/2006/main">
            <a:r>
              <a:t>- Asset propio aprobado: U10-DG-031.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3–4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Introducir percentiles sin convertirlos en ruido de fondo universal. Partir de esta idea: El subíndice es porcentaje de tiempo excedido. Evitar valores normativos y explicar por qué L_90 no basta para cabina. Definir cada símbolo y su unidad antes de operar; leer la igualdad como una relación física, no como una receta.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Identificar primero ejes, unidades y escala; luego señalar el patrón relevante y, por último, vincularlo con la pregunta física. Referencia descriptiva: Curva monótona de excedencia de niveles A sintéticos, con líneas para L10 y L90.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¿Qué significa que un nivel sea L10?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Que fue excedido durante el 10 % del intervalo declarado.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Interpretar L90 como sinónimo universal de ruido de fondo.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Separar ruido presente y señal deliberada.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Curva monótona de excedencia de niveles A sintéticos, con líneas para L10 y L90.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10.9; PDF 273.</a:t>
            </a:r>
          </a:p>
          <a:p xmlns:a="http://schemas.openxmlformats.org/drawingml/2006/main">
            <a:r>
              <a:t>- Asset propio aprobado: U10-CH-012.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Distinguir presencia contextual e introducción deliberada. Partir de esta idea: El mismo tipo espectral puede ser fondo o enmascarante según uso. Preparar enmascaramiento sin adelantar protocolo.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Fondo, señal objetivo y enmascarador. Receptor central; tres capas acústicas; tarea. Orden de lectura: “se desea”, “interfiere”, “se agrega deliberadamente”.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Definir la relación señal–ruido.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Fondo, señal objetivo y enmascarador. Receptor central; tres capas acústicas; tarea. Orden de lectura: “se desea”, “interfiere”, “se agrega deliberadamente”.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10.10; PDF 273; glossary.</a:t>
            </a:r>
          </a:p>
          <a:p xmlns:a="http://schemas.openxmlformats.org/drawingml/2006/main">
            <a:r>
              <a:t>- Asset propio aprobado: U10-DG-032.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3–4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Introducir cálculo y condiciones. Partir de esta idea: Restar niveles solo es válido con banda, posición, referencia e intervalo comparables. Interpretar signo sin prometer detección o comprensión. Definir cada símbolo y su unidad antes de operar; leer la igualdad como una relación física, no como una receta.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Ecuación de SNR. L_señal, L_ruido, diferencia y regla de signo. Orden de lectura: Callouts exteriores.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¿Cuál es la SNR para 65 dB de señal y 58 dB de ruido?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+7 dB, si ambos niveles son comparables.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Inferir inteligibilidad solo a partir de una SNR global.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Visualizar el cambio de relación.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Ecuación de SNR. L_señal, L_ruido, diferencia y regla de signo. Orden de lectura: Callouts exteriores.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10.11; PDF 273–274; notation_guide.</a:t>
            </a:r>
          </a:p>
          <a:p xmlns:a="http://schemas.openxmlformats.org/drawingml/2006/main">
            <a:r>
              <a:t>- Asset propio aprobado: U10-DG-033.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Hacer visible +12, 0 y −6 dB. Partir de esta idea: Menor SNR significa mayor contribución relativa del ruido, no resultado perceptual automático. Pedir ordenar paneles y explicar qué se mantiene.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Identificar primero ejes, unidades y escala; luego señalar el patrón relevante y, por último, vincularlo con la pregunta física. Referencia descriptiva: Tres paneles temporales con ejes comunes muestran mezclas sintéticas con SNR más 12, cero y menos 6 dB.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¿Qué mezcla facilita más la detección de la señal?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La de mayor SNR; la respuesta debe justificarse comparando niveles compatibles.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Revelar las tres mezclas de menor a mayor SNR y pedir una predicción antes de mostrar la etiqueta.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Llevar la relación a comunicación.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Tres paneles temporales con ejes comunes muestran mezclas sintéticas con SNR más 12, cero y menos 6 dB.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fig. 10.5; PDF 274; ejercicio V5.</a:t>
            </a:r>
          </a:p>
          <a:p xmlns:a="http://schemas.openxmlformats.org/drawingml/2006/main">
            <a:r>
              <a:t>- Asset propio aprobado: U10-CH-013.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Conectar con voz, aula y consultorio. Partir de esta idea: Espectro, tiempo, reverberación, tarea y oyente también importan. Recuperar U7 sin introducir índices nuevos.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Palancas de SNR en comunicación. Fuente vocal; distancia; ruido; oyente; tratamiento/control. Orden de lectura: “aumenta señal”, “reduce ruido”, “modifica tarea”.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Recapitular la rutina de lectura.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Palancas de SNR en comunicación. Fuente vocal; distancia; ruido; oyente; tratamiento/control. Orden de lectura: “aumenta señal”, “reduce ruido”, “modifica tarea”.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10.10/10.12; PDF 273–276; ejercicio F1.</a:t>
            </a:r>
          </a:p>
          <a:p xmlns:a="http://schemas.openxmlformats.org/drawingml/2006/main">
            <a:r>
              <a:t>- Asset propio aprobado: U10-DG-034.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Consolidar medición y SNR. Partir de esta idea: Ningún número interpreta por sí solo una situación. Repetir la ventana con nueva función: condiciones de medición.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Selector de descriptor. Preguntas sobre instante/extremo/energía/distribución/contraste; salidas. Orden de lectura: Pregunta → indicador.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¿Qué descriptor usarían para energía promedio durante una consulta?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Leq,T, declarando el intervalo T; podrían sumarse percentiles o picos según la pregunta.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Entrar al uso deliberado del enmascarante.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Selector de descriptor. Preguntas sobre instante/extremo/energía/distribución/contraste; salidas. Orden de lectura: Pregunta → indicador.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Síntesis 10.9–10.10.</a:t>
            </a:r>
          </a:p>
          <a:p xmlns:a="http://schemas.openxmlformats.org/drawingml/2006/main">
            <a:r>
              <a:t>- Asset propio aprobado: U10-DG-035.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0,5–1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Enunciar la pregunta guía. Partir de esta idea: La función clínica depende de una arquitectura de prueba, no solo del tipo de ruido. Delimitar desde el inicio: revisión conceptual, no protocolo.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Usar el recurso como apoyo y no como decoración. Referencia descriptiva: Recurso visual previsto: Fondo bordó con dos oídos esquemáticos.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Recuperar el fenómeno perceptual.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Fondo bordó con dos oídos esquemáticos.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Programa; brief U10.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Reactivar U7 sin repetirla. Partir de esta idea: El umbral puede elevarse por otra señal; eso no indica protección. Mencionar dependencia frecuencial/temporal y detenerse allí.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Puente físico-perceptual al masking. Ruido externo; representación interna; señal; detectabilidad. Orden de lectura: “eleva competencia”, “reduce detectabilidad”.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Confundir enmascaramiento con protección auditiva.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Identificar los cuatro elementos de una situación controlada.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Puente físico-perceptual al masking. Ruido externo; representación interna; señal; detectabilidad. Orden de lectura: “eleva competencia”, “reduce detectabilidad”.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10.11; PDF 275; U7.</a:t>
            </a:r>
          </a:p>
          <a:p xmlns:a="http://schemas.openxmlformats.org/drawingml/2006/main">
            <a:r>
              <a:t>- Asset propio aprobado: U10-DG-036.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Organizar prueba antes de audiometría. Partir de esta idea: Señal de prueba, enmascarante, canal/receptor y respuesta deben declararse. Usar lenguaje general y luego particularizar.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Cuatro elementos del enmascaramiento. Señal; enmascarador; receptor/oído; criterio de respuesta. Orden de lectura: Relaciones numeradas.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Aplicar a ruta cruzada.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Cuatro elementos del enmascaramiento. Señal; enmascarador; receptor/oído; criterio de respuesta. Orden de lectura: Relaciones numeradas.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10.11; PDF 275.</a:t>
            </a:r>
          </a:p>
          <a:p xmlns:a="http://schemas.openxmlformats.org/drawingml/2006/main">
            <a:r>
              <a:t>- Asset propio aprobado: U10-DG-037.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Explicar la función audiométrica. Partir de esta idea: La señal enmascarante reduce la detectabilidad de la ruta cruzada en el oído no evaluado. Repetir que no fija indicaciones, niveles, incrementos ni finalización.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Arquitectura audiométrica conceptual. Oído evaluado; oído no evaluado; transductor; ruta cruzada; enmascarante; respuesta. Orden de lectura: “señal de prueba”, “posible cruce”, “controla”.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¿Qué función cumple el enmascarante en este esquema conceptual?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Reducir la detectabilidad de una posible respuesta cruzada en el oído no evaluado; la slide no define el protocolo clínico.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Aplicar una regla clínica sin explicitar el protocolo validado.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Pedir lectura del diagrama.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Arquitectura audiométrica conceptual. Oído evaluado; oído no evaluado; transductor; ruta cruzada; enmascarante; respuesta. Orden de lectura: “señal de prueba”, “posible cruce”, “controla”.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10.11, fig. 10.6; PDF 275; ASHA citada en capítulo.</a:t>
            </a:r>
          </a:p>
          <a:p xmlns:a="http://schemas.openxmlformats.org/drawingml/2006/main">
            <a:r>
              <a:t>- Asset propio aprobado: U10-DG-038.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4–6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Comprobar comprensión del diagrama. Partir de esta idea: Identificar roles evita aplicar una receta sin entender el objetivo. No introducir atenuación interaural ni plateau. Dar primero un tiempo breve de respuesta individual; pedir luego una justificación con magnitud, condición y evidencia antes de la puesta en común.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Arquitectura audiométrica conceptual. Oído evaluado; oído no evaluado; transductor; ruta cruzada; enmascarante; respuesta. Orden de lectura: “señal de prueba”, “posible cruce”, “controla”.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¿Cuándo conviene un enmascarante de banda estrecha?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Cuando el protocolo requiere concentrar la energía alrededor de una región frecuencial definida.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Contrastar con protección.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Arquitectura audiométrica conceptual. Oído evaluado; oído no evaluado; transductor; ruta cruzada; enmascarante; respuesta. Orden de lectura: “señal de prueba”, “posible cruce”, “controla”.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Ejercicio V6; PDF 282/286.</a:t>
            </a:r>
          </a:p>
          <a:p xmlns:a="http://schemas.openxmlformats.org/drawingml/2006/main">
            <a:r>
              <a:t>- Asset propio aprobado: U10-DG-038.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Corregir el error más probable. Partir de esta idea: Uno manipula detectabilidad en una prueba; el otro reduce exposición. Añadir cancelación activa solo como tercer caso verbal.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Enmascaramiento vs protección. Propósito perceptual; propósito de exposición; acción; resultado medido. Orden de lectura: Bifurcación “¿qué se intenta cambiar?”.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¿La presencia de enmascaramiento permite inferir automáticamente un diagnóstico?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No. Es un fenómeno perceptual que debe interpretarse dentro de una tarea y un protocolo.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Mostrar una aplicación complementaria con límites.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Enmascaramiento vs protección. Propósito perceptual; propósito de exposición; acción; resultado medido. Orden de lectura: Bifurcación “¿qué se intenta cambiar?”.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10.11/10.13.1; PDF 275/278/280.</a:t>
            </a:r>
          </a:p>
          <a:p xmlns:a="http://schemas.openxmlformats.org/drawingml/2006/main">
            <a:r>
              <a:t>- Asset propio aprobado: U10-DG-039.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Reconocer una aplicación sin consejo clínico. Partir de esta idea: Tonos o ruidos pueden usarse en evaluación; la terapia exige evidencia y protocolo. Evitar tipos/niveles terapéuticos y recomendaciones individuales.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Encuadre prudente de ruido y tinnitus. Percepción; apoyo sonoro; evaluación; evidencia/plan individual. Orden de lectura: “puede integrar”, “no sustituye”.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Cerrar el alcance del bloque.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Encuadre prudente de ruido y tinnitus. Percepción; apoyo sonoro; evaluación; evidencia/plan individual. Orden de lectura: “puede integrar”, “no sustituye”.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10.11; PDF 275; ASHA citada.</a:t>
            </a:r>
          </a:p>
          <a:p xmlns:a="http://schemas.openxmlformats.org/drawingml/2006/main">
            <a:r>
              <a:t>- Asset propio aprobado: U10-DG-040.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Consolidar y marcar frontera. Partir de esta idea: El tipo de ruido no determina por sí solo la técnica clínica. Nombrar explícitamente lo no desarrollado.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Recap de función y frontera. Señal; ruta; control; respuesta; caja “protocolo requerido”. Orden de lectura: Cadena y ramal de límite.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Pasar de una prueba controlada a exposición y control ambiental.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Recap de función y frontera. Señal; ruta; control; respuesta; caja “protocolo requerido”. Orden de lectura: Cadena y ramal de límite.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Programa; source_analysis; 10.11.</a:t>
            </a:r>
          </a:p>
          <a:p xmlns:a="http://schemas.openxmlformats.org/drawingml/2006/main">
            <a:r>
              <a:t>- Asset propio aprobado: U10-DG-041.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0,5–1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Enunciar la pregunta guía. Partir de esta idea: Medición, efecto y control pertenecen a planos relacionados pero distintos. Evitar que el bloque se vuelva una lista normativa.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Usar el recurso como apoyo y no como decoración. Referencia descriptiva: Recurso visual previsto: Fondo bordó con tres planos.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Separar primero los niveles de inferencia.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Fondo bordó con tres planos.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U10, bloque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Evitar inferencias clínicas automáticas. Partir de esta idea: Nivel/duración describen exposición; molestia o alteración requieren otra evidencia. Usar ejemplos sin causalidad individual.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Tres planos de análisis. Exposición; resultado funcional; salud/diagnóstico; evidencia requerida. Orden de lectura: “informa”, no “determina”.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¿Exposición, desempeño funcional y diagnóstico son equivalentes?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No. Son planos relacionados, pero requieren medidas y evidencias 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Convertir una medida de exposición en un diagnóstico individual.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Mostrar el límite de una medición aislada.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Tres planos de análisis. Exposición; resultado funcional; salud/diagnóstico; evidencia requerida. Orden de lectura: “informa”, no “determina”.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10.12; PDF 276; U8.</a:t>
            </a:r>
          </a:p>
          <a:p xmlns:a="http://schemas.openxmlformats.org/drawingml/2006/main">
            <a:r>
              <a:t>- Asset propio aprobado: U10-DG-042.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Profundizar el límite de inferencia. Partir de esta idea: Riesgo poblacional y situación individual requieren contexto y evaluación. Mencionar efectos auditivos/no auditivos sin enumerar patologías.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Límite causal individual. Medición; historia de exposición; función; evaluación clínica; variables mediadoras. Orden de lectura: “contribuye a”, “requiere”.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Explicar por qué los documentos no son intercambiables.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Límite causal individual. Medición; historia de exposición; función; evaluación clínica; variables mediadoras. Orden de lectura: “contribuye a”, “requiere”.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10.12; PDF 276; WHO/NIOSH citados.</a:t>
            </a:r>
          </a:p>
          <a:p xmlns:a="http://schemas.openxmlformats.org/drawingml/2006/main">
            <a:r>
              <a:t>- Asset propio aprobado: U10-DG-043.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Enseñar lectura documental. Partir de esta idea: Un número no puede trasladarse entre propósitos y jurisdicciones. No afirmar vigencia nueva; citar metadatos del libro y pedir verificación posterior.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Usar el recurso como apoyo y no como decoración. Referencia descriptiva: Recurso visual previsto: Tabla nativa; U10-AS-008 reservado a miniaturas de documentos solo tras verificar edición y licencia.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Aplicar el criterio a cabinas.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Tabla nativa; U10-AS-008 reservado a miniaturas de documentos solo tras verificar edición y licencia.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10.12.1; PDF 276–277.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Recuperar U9 en una tarea U10. Partir de esta idea: Prueba, vía, transductor, bandas y criterio determinan la aptitud. No repetir aislamiento/cabina; enfocar descriptor y ruido residual.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Ruido de fondo en cabina. Cabina; fuente residual; transductor; oído; banda; prueba; criterio. Orden de lectura: Rutas “entra”, “se presenta”, “puede limitar”.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¿Una lectura global en dBA basta para certificar una cabina?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No. Hace falta el procedimiento y el criterio normativo aplicable, además del control instrumental.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Usar una lectura orientativa para declarar cumplimiento normativo.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Pasar de evaluar a intervenir.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Ruido de fondo en cabina. Cabina; fuente residual; transductor; oído; banda; prueba; criterio. Orden de lectura: Rutas “entra”, “se presenta”, “puede limitar”.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10.12.1; PDF 277; U9 073–075.</a:t>
            </a:r>
          </a:p>
          <a:p xmlns:a="http://schemas.openxmlformats.org/drawingml/2006/main">
            <a:r>
              <a:t>- Asset propio aprobado: U10-DG-044.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Integrar U9 con prevención. Partir de esta idea: Primero se identifica el eslabón; después se elige intervención y métrica. Priorizar fuente/ingeniería de forma general sin citar jerarquía legal específica.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Jerarquía fuente–trayecto–receptor. Fuente; mantenimiento/sustitución; barrera/encapsulado; receptor/organización/EPP; verificación. Orden de lectura: “controlar primero”, “comprobar después”.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Distinguir resultado y mecanismo.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Jerarquía fuente–trayecto–receptor. Fuente; mantenimiento/sustitución; barrera/encapsulado; receptor/organización/EPP; verificación. Orden de lectura: “controlar primero”, “comprobar después”.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10.13, fig. 10.7; PDF 277–278; U9.</a:t>
            </a:r>
          </a:p>
          <a:p xmlns:a="http://schemas.openxmlformats.org/drawingml/2006/main">
            <a:r>
              <a:t>- Asset propio aprobado: U10-DG-045.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Normalizar vocabulario. Partir de esta idea: Reducir una métrica no explica cómo se logró. Evitar símbolo R para reducción; reservarlo a U9.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Diferenciar reducción, absorción, aislamiento, cancelación y protección. Cinco términos; mecanismo; dato de verificación. Orden de lectura: Sin flechas o una relación por fila.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Confundir absorción, aislamiento, cancelación y protección personal.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Pedir selección de intervención.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Diferenciar reducción, absorción, aislamiento, cancelación y protección. Cinco términos; mecanismo; dato de verificación. Orden de lectura: Sin flechas o una relación por fila.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10.13.1; PDF 278; glossary/notation.</a:t>
            </a:r>
          </a:p>
          <a:p xmlns:a="http://schemas.openxmlformats.org/drawingml/2006/main">
            <a:r>
              <a:t>- Asset propio aprobado: U10-DG-046.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4–6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Aplicar la cadena a casos. Partir de esta idea: Una intervención se justifica por mecanismo y comparación de la misma métrica. Pedir ubicación, mecanismo y descriptor; aceptar combinaciones. Dar primero un tiempo breve de respuesta individual; pedir luego una justificación con magnitud, condición y evidencia antes de la puesta en común.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Actividad: dónde intervenir. Caso; fuente; trayecto; receptor; opciones; métrica antes/después. Orden de lectura: Tarjetas conectables; solución oculta.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¿Dónde suele ser más eficaz intervenir primero?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En la fuente, si es viable; luego en el trayecto y finalmente sobre el receptor.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Conectar con incumbencias fonoaudiológicas.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Actividad: dónde intervenir. Caso; fuente; trayecto; receptor; opciones; métrica antes/después. Orden de lectura: Tarjetas conectables; solución oculta.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Ejercicio V7; PDF 282/286; F4.</a:t>
            </a:r>
          </a:p>
          <a:p xmlns:a="http://schemas.openxmlformats.org/drawingml/2006/main">
            <a:r>
              <a:t>- Asset propio aprobado: U10-DG-047.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Integrar aplicaciones sin diagnóstico. Partir de esta idea: La contribución es formular preguntas correctas y reconocer límites. Evitar una lista genérica; ejemplificar qué dato cambia una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Red de aplicaciones fonoaudiológicas. Evaluación auditiva; voz/habla; ambiente clínico; prevención; pregunta física central. Orden de lectura: Desde nodo “caracterizar”.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Examinar una medición exploratoria.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Red de aplicaciones fonoaudiológicas. Evaluación auditiva; voz/habla; ambiente clínico; prevención; pregunta física central. Orden de lectura: Desde nodo “caracterizar”.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10.14; PDF 279.</a:t>
            </a:r>
          </a:p>
          <a:p xmlns:a="http://schemas.openxmlformats.org/drawingml/2006/main">
            <a:r>
              <a:t>- Asset propio aprobado: U10-DG-048.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Diferenciar observación y trazabilidad. Partir de esta idea: Sin calibración, respuesta, posición e incertidumbre no hay certificación. No promocionar una app ni sugerir equivalencia con sonómetro.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Usar el recurso como apoyo y no como decoración. Referencia descriptiva: Recurso visual previsto: Imagen externa de medición con teléfono/sonómetro o diagrama alternativo; U10-AS-005.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¿Para qué sirve una aplicación no calibrada?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Para exploración y comparación orientativa, no para certificar cumplimiento ni diagnóstico.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Mostrar la lectura del teléfono como exploración; contrastarla verbalmente con una medición calibrada.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Presentar el teléfono como sustituto de un sonómetro calibrado.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Recapitular medición, inferencia y acción.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Imagen externa de medición con teléfono/sonómetro o diagrama alternativo; U10-AS-005.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Ejercicio F2; PDF 284/288.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Consolidar el bloque. Partir de esta idea: Cada paso necesita propósito, condiciones y límites. Repetir fuente–trayecto–receptor con función de decisión, no de propagación.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Cadena medir–interpretar–controlar–verificar. Propósito; configuración; dato; inferencia; acción; comprobación. Orden de lectura: Verbos en flechas.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Volver al caso inicial y resolverlo por capas.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Cadena medir–interpretar–controlar–verificar. Propósito; configuración; dato; inferencia; acción; comprobación. Orden de lectura: Verbos en flechas.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Síntesis 10.12–10.14.</a:t>
            </a:r>
          </a:p>
          <a:p xmlns:a="http://schemas.openxmlformats.org/drawingml/2006/main">
            <a:r>
              <a:t>- Asset propio aprobado: U10-DG-049.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0,5–1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Enunciar la pregunta final. Partir de esta idea: Un plan sólido separa fuentes, representaciones, descriptores, funciones y decisiones. Recuperar preguntas iniciales de U10-002.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Usar el recurso como apoyo y no como decoración. Referencia descriptiva: Recurso visual previsto: Fondo bordó con mapa del caso.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Mostrar el mapa 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Fondo bordó con mapa del caso.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Brief; pregunta integradora.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Reponer el caso con información organizada. Partir de esta idea: Tránsito, climatización y portazos no se describen igual. No resolver todavía; asignar grupos o roles.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Base del caso integrador. Avenida; HVAC; puerta; consultorio; conversación; prueba; tres receptores. Orden de lectura: Rutas numeradas y leyenda estable.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Añadir la capa temporal/estadística.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Base del caso integrador. Avenida; HVAC; puerta; consultorio; conversación; prueba; tres receptores. Orden de lectura: Rutas numeradas y leyenda estable.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pregunta I1; PDF 284/289.</a:t>
            </a:r>
          </a:p>
          <a:p xmlns:a="http://schemas.openxmlformats.org/drawingml/2006/main">
            <a:r>
              <a:t>- Asset propio aprobado: U10-DG-050.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Aplicar clasificación y descriptores. Partir de esta idea: Cada fuente requiere ventana, categoría y resumen apropiados. Hacer justificar ventanas y no inferir efecto.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Capa temporal del caso. DG-050 + ventanas y trazas CH-014. Orden de lectura: Líderes desde fuente a minigráfico. Tres minipaneles muestran nivel relativo por tránsito con envolvente lenta, climatización continua y portazos impulsivos.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¿Qué información aporta el tiempo que no aporta por sí solo el espectro?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La ocurrencia, duración, repetición y carácter impulsivo o intermitente de los eventos.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Añadir frecuencia y niveles.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Capa temporal del caso. DG-050 + ventanas y trazas CH-014. Orden de lectura: Líderes desde fuente a minigráfico. Tres minipaneles muestran nivel relativo por tránsito con envolvente lenta, climatización continua y portazos impulsivos.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I1; B02.</a:t>
            </a:r>
          </a:p>
          <a:p xmlns:a="http://schemas.openxmlformats.org/drawingml/2006/main">
            <a:r>
              <a:t>- Asset propio aprobado: U10-DG-051, U10-CH-014.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Aplicar selección de métricas. Partir de esta idea: Bandas, L_Aeq,T, máximo/pico y SNR responden preguntas distintas. Pedir qué configuración debe acompañar cada número.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Capa espectro/nivel/SNR. DG-050 + bandas, indicador por fuente y conversación objetivo. Orden de lectura: Líderes “medir por bandas”, “comparar”.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¿Qué preguntarían antes de elegir un descriptor?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Qué decisión se necesita tomar y qué propiedad del fenómeno es relevante.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Añadir enmascaramiento, control y decisiones externas.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Capa espectro/nivel/SNR. DG-050 + bandas, indicador por fuente y conversación objetivo. Orden de lectura: Líderes “medir por bandas”, “comparar”.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I1; B03–B05.</a:t>
            </a:r>
          </a:p>
          <a:p xmlns:a="http://schemas.openxmlformats.org/drawingml/2006/main">
            <a:r>
              <a:t>- Asset propio aprobado: U10-DG-052.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Integrar masking, control y normas. Partir de esta idea: Enmascarante, ruido de fondo y protección ocupan lugares distintos. Marcar decisiones que requieren profesional, norma o protocolo.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Capa señal deliberada/control/autoridad. DG-050 + enmascarador; controles; cajas norma/protocolo. Orden de lectura: “requiere fuente”, “actuar aquí”.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¿Qué tres separaciones conceptuales debemos conservar?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Fuente versus función, promedio versus pico y exposición versus diagnóstico.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Pedir una decisión final justificada.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Capa señal deliberada/control/autoridad. DG-050 + enmascarador; controles; cajas norma/protocolo. Orden de lectura: “requiere fuente”, “actuar aquí”.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I1; B06–B07.</a:t>
            </a:r>
          </a:p>
          <a:p xmlns:a="http://schemas.openxmlformats.org/drawingml/2006/main">
            <a:r>
              <a:t>- Asset propio aprobado: U10-DG-053.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4–6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Evaluar desempeño completo. Partir de esta idea: La respuesta debe declarar qué medir, por qué, dónde y con qué límite. Usar la solución de respaldo solo después de discusión. Dar primero un tiempo breve de respuesta individual; pedir luego una justificación con magnitud, condición y evidencia antes de la puesta en común.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Matriz de respuesta integradora. Evidencia; descriptor; configuración; interpretación; acción; límite. Orden de lectura: Sin flechas; alineación por fila.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¿Cuál es el primer paso del plan?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Formular la pregunta y reconocer la tarea antes de elegir instrumentos o descriptores.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Probar errores persistentes antes de cerrar.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Matriz de respuesta integradora. Evidencia; descriptor; configuración; interpretación; acción; límite. Orden de lectura: Sin flechas; alineación por fila.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I1; PDF 284/289.</a:t>
            </a:r>
          </a:p>
          <a:p xmlns:a="http://schemas.openxmlformats.org/drawingml/2006/main">
            <a:r>
              <a:t>- Asset propio aprobado: U10-DG-054.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Diagnosticar concepciones residuales. Partir de esta idea: Una corrección vale si usa magnitud, condición y evidencia. Discutir 4–6 en vivo y dejar el resto para respaldo/guía.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Usar el recurso como apoyo y no como decoración. Referencia descriptiva: Recurso visual previsto: Lista progresiva con revelado; sin grilla de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¿Por qué “igual L_eq,T implica iguales picos” es incorrecto?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Porque L_eq,T conserva el promedio cuadrático durante T, pero no la forma temporal ni los extremos.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Responder solo “verdadero” o “falso” sin nombrar la magnitud, condición o evidencia que corrige la afirmación.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Convertir correcciones en síntesis positiva.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Lista progresiva con revelado; sin grilla de checks.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10.15 y distractores; PDF 279–280/284/289.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Sintetizar aprendizajes acumulativos. Partir de esta idea: Tiempo, estadística, frecuencia, función y contexto se complementan. Evitar repetir títulos; formular relaciones y límites.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Mapa final de síntesis. Señal/contexto; tiempo; estadística; frecuencia; nivel; función; receptor; control; límite. Orden de lectura: Relaciones selectivas, no red completa.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Cerrar el curso con transferencia profesional.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Mapa final de síntesis. Señal/contexto; tiempo; estadística; frecuencia; nivel; función; receptor; control; límite. Orden de lectura: Relaciones selectivas, no red completa.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Programa; síntesis 10.16; course_map.</a:t>
            </a:r>
          </a:p>
          <a:p xmlns:a="http://schemas.openxmlformats.org/drawingml/2006/main">
            <a:r>
              <a:t>- Asset propio aprobado: U10-DG-055.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Cerrar y transferir. Partir de esta idea: Medir bien incluye saber qué no puede concluirse. Pedir una pregunta que ahora formularían antes de medir ruido.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Usar el recurso como apoyo y no como decoración. Referencia descriptiva: Recurso visual previsto: Fondo bordó; sin visual decorativo.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¿Qué idea de la unidad usarían mañana en una observación clínica?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Respuesta abierta, pero debe vincular una pregunta concreta con un descriptor y una limitación.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Derivar solo si hace falta al material de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Fondo bordó; sin visual decorativo.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U10; propósito general del curso.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Facilitar consulta. Partir de esta idea: Cada término conserva definición, unidad y advertencia. Usar solo si aparece una duda terminológica.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Usar el recurso como apoyo y no como decoración. Referencia descriptiva: Recurso visual previsto: Tabla nativa.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Respaldo no lineal.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Tabla nativa.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10.19; PDF 289–290; glossary.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3–4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Conservar fundamento algebraico. Partir de esta idea: RMS y varianza coinciden solo bajo condición de media cero. No usar si la identidad no fue discutida. Definir cada símbolo y su unidad antes de operar; leer la igualdad como una relación física, no como una receta.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Identidad RMS–varianza–media. Ecuación; tres términos; condición media cero; unidades. Orden de lectura: Tres callouts.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¿Por qué RMS y desvío estándar coinciden cuando la media es cero?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Porque p_rms² = σ_p² + p̄²; si p̄ = 0, sus cuadrados son iguales.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Respaldo no lineal.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Identidad RMS–varianza–media. Ecuación; tres términos; condición media cero; unidades. Orden de lectura: Tres callouts.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10.4; PDF 266.</a:t>
            </a:r>
          </a:p>
          <a:p xmlns:a="http://schemas.openxmlformats.org/drawingml/2006/main">
            <a:r>
              <a:t>- Asset propio aprobado: U10-DG-056.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3–4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Conservar la demostración matemática. Partir de esta idea: La integral de K/f entre f y 2f vale K ln 2. Presentar solo con grupo cómodo con logaritmo natural. Definir cada símbolo y su unidad antes de operar; leer la igualdad como una relación física, no como una receta.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Integral del rosa por octava. Intervalo f a 2f; integral; resultado K ln 2; dos bandas. Orden de lectura: Líderes cortos.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¿Por qué cada octava de ruido rosa contiene el mismo valor cuadrático?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Porque integrar K/f entre f y 2f da K ln 2, independiente de 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Respaldo no lineal.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Integral del rosa por octava. Intervalo f a 2f; integral; resultado K ln 2; dos bandas. Orden de lectura: Líderes cortos.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10.8; PDF 269.</a:t>
            </a:r>
          </a:p>
          <a:p xmlns:a="http://schemas.openxmlformats.org/drawingml/2006/main">
            <a:r>
              <a:t>- Asset propio aprobado: U10-DG-057.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0 min mientras permanezca bloqueada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Evitar generalizar el promedio de intervalos iguales. Partir de esta idea: Cada nivel debe ponderarse por su duración lineal. Verificar fórmula y ejemplo antes de producción. No presentar esta slide en clase ni completar sus campos hasta resolver la fuente indicada.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Recurso visual previsto: Ecuación anotada U10-DG-058; candidata para diagram-generation.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mostrar ni reproducir este recurso mientras continúe bloqueado por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Completar el ejemplo con valores o fórmulas antes de verificar la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Respaldo no lineal.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Ecuación anotada U10-DG-058; candidata para diagram-generation.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Extensión de LaTeX 10.9; fuente académica/normativa por seleccionar. Estado: bloqueada; no completar sin la referencia requerida.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3–4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Ofrecer autocorrección. Partir de esta idea: La solución debe mostrar unidades, condiciones y límite de interpretación. No comprimir cinco cálculos en una sola slide final. Definir cada símbolo y su unidad antes de operar; leer la igualdad como una relación física, no como una receta.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Recurso visual previsto: Dos slides o revelado si no respeta 22 pt; U10-DG-059, candidata para diagram-generation.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Respaldo no lineal.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Dos slides o revelado si no respeta 22 pt; U10-DG-059, candidata para diagram-generation.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soluciones G/A; PDF 285–288.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Conservar referencia rápida. Partir de esta idea: Cada descriptor necesita ponderación, detector e intervalo. Usar como consulta, no como slide de desarrollo.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Usar el recurso como apoyo y no como decoración. Referencia descriptiva: Recurso visual previsto: Tabla nativa basada en capítulo.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Respaldo no lineal.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Tabla nativa basada en capítulo.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10.9; PDF 272.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0 min mientras permanezca bloqueada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Reservar una ampliación solicitada por programa si la cátedra la valida. Partir de esta idea: No se puede producir sin protocolo institucional y fuente completa. Mantener bloqueada; no completar de memoria. No presentar esta slide en clase ni completar sus campos hasta resolver la fuente indicada.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Recurso visual previsto: U10-DG-060, candidata para diagram-generation solo tras validación de fuente; no diseñar aún.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mostrar ni reproducir este recurso mientras continúe bloqueado por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Improvisar reglas de enmascaramiento clínico.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Respaldo condicionado.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U10-DG-060, candidata para diagram-generation solo tras validación de fuente; no diseñar aún.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Fuente clínica institucional pendiente; matrix U10-08. Estado: bloqueada; no completar sin la referencia requerida.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0 min mientras permanezca bloqueada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Reservar cifras solo si son aplicables. Partir de esta idea: Norma, edición, jurisdicción, población y descriptor deben coincidir. Mantener bloqueada hasta decisión institucional. No presentar esta slide en clase ni completar sus campos hasta resolver la fuente indicada.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Usar el recurso como apoyo y no como decoración. Referencia descriptiva: Recurso visual previsto: Gráfico o tabla cuantitativa y documentos U10-AS-008 por definir tras validar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mostrar ni reproducir este recurso mientras continúe bloqueado por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Mostrar límites de exposición sin jurisdicción, versión y fuente vigentes.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Respaldo condicionado.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Gráfico o tabla cuantitativa y documentos U10-AS-008 por definir tras validar fuente.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ISO/NIOSH/normativa argentina citada; fuente completa pendiente. Estado: bloqueada; no completar sin la referencia requerida.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Registrar bases y límites. Partir de esta idea: Programa, libro, normas y guías cumplen funciones diferentes. Incluir bloques [Sources] en notas durante redacción.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Usar el recurso como apoyo y no como decoración. Referencia descriptiva: Recurso visual previsto: Tabla de referencias; sin QR hasta verificar URL.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Fin del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Tabla de referencias; sin QR hasta verificar URL.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Programa; LaTeX 10.20; references.bib; style guides.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bf31957ef944a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b1580a5ef341a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91c6fc417747b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5e93ca1afb494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db175120414af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b0294063ab4de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0b4f574c8a46a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c78de43e3a4ef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25a07867ea44d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ea6264fea44b2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61f0db23054b0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1f0db5cdc74f5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73058045f2457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1a3c224fd74eec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d7a1d3b38b4a83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163709d63f4792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b524e40c574ddc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874033298a4ef1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b2a8e6ce544e46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e149fd13944b15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78593d1cb641ae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f8cfda4c1743c0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4a86c7257d4153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0ba47b5c3a4ee2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90488eef4d44715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beff31c3c9c4d6b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050b7afeeb34765" /></Relationships>
</file>

<file path=ppt/slideLayouts/slideLayout1.xml><?xml version="1.0" encoding="utf-8"?>
<p:sldLayout xmlns:p="http://schemas.openxmlformats.org/presentationml/2006/main" type="title">
  <p:cSld name="FA_02_OBJETIV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4E7B686E-D1DB-4795-5290-247ED77443BC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Objetivos de aprendizaje</a:t>
            </a:r>
          </a:p>
        </p:txBody>
      </p:sp>
      <p:sp>
        <p:nvSpPr>
          <p:cNvPr id="3" name="ph_body_0">
            <a:extLst xmlns:a="http://schemas.openxmlformats.org/drawingml/2006/main">
              <a:ext uri="{FF2B5EF4-FFF2-40B4-BE49-F238E27FC236}">
                <a16:creationId xmlns:a16="http://schemas.microsoft.com/office/drawing/2014/main" id="{F07F7DEC-A90F-3966-89A5-75E897AE30F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800100" y="1733550"/>
            <a:ext cx="80010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Objetivos observables</a:t>
            </a:r>
          </a:p>
        </p:txBody>
      </p:sp>
      <p:sp>
        <p:nvSpPr>
          <p:cNvPr id="4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D4921F09-2F28-54BE-F644-07838B22BCE2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9144000" y="1752600"/>
            <a:ext cx="2286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Síntesis visual</a:t>
            </a:r>
          </a:p>
        </p:txBody>
      </p:sp>
      <p:sp>
        <p:nvSpPr>
          <p:cNvPr id="5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1912B5C8-473B-C77D-A05F-B105E16C686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93598C6-FC0D-4EB0-AFF4-EF34A4827315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.xml><?xml version="1.0" encoding="utf-8"?>
<p:sldLayout xmlns:p="http://schemas.openxmlformats.org/presentationml/2006/main" userDrawn="1">
  <p:cSld name="FA_23_APENDIC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4F817AC1-63E9-74A3-6EEF-E53D71A0508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Apéndice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3A72ED7B-043F-EB18-1C28-92B596F251B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10668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Material de consulta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4E6216A-7B06-7D20-00D4-14737599E1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89BA0A7D-AABB-4192-B838-2BA5BB3178BC}" type="slidenum">
              <a:t>‹Nº›</a:t>
            </a:fld>
            <a:endParaRPr/>
          </a:p>
        </p:txBody>
      </p:sp>
    </p:spTree>
  </p:cSld>
  <p:hf hdr="0" ftr="0" dt="0"/>
</p:sldLayout>
</file>

<file path=ppt/slideLayouts/slideLayout3.xml><?xml version="1.0" encoding="utf-8"?>
<p:sldLayout xmlns:p="http://schemas.openxmlformats.org/presentationml/2006/main" userDrawn="1">
  <p:cSld name="FA_22_VISUAL_COMPLE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B0072429-6B7A-69F4-3F2D-C2B17968DFE0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F9D8C064-C5F2-F9D4-1C9F-C48CF1E689A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62000" y="1562100"/>
            <a:ext cx="10668000" cy="421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Visual principal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EAB57CB-6BFE-7577-9B58-D0EA985A28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DBBF5632-20E4-4D54-B3A4-92C990DA26EE}" type="slidenum">
              <a:t>‹Nº›</a:t>
            </a:fld>
            <a:endParaRPr/>
          </a:p>
        </p:txBody>
      </p:sp>
    </p:spTree>
  </p:cSld>
  <p:hf hdr="0" ftr="0" dt="0"/>
</p:sldLayout>
</file>

<file path=ppt/slideLayouts/slideLayout4.xml><?xml version="1.0" encoding="utf-8"?>
<p:sldLayout xmlns:p="http://schemas.openxmlformats.org/presentationml/2006/main" userDrawn="1">
  <p:cSld name="FA_20_BIBLIO_RECURS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9FB78823-06A2-4172-6192-1B829F9AB87F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Bibliografía y recursos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009E4BB4-6F84-BBB7-BD01-0716EEE41AB5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10668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Referencias y enlaces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CDD5430-4EE5-8B4D-B583-289E640823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E8732B64-9C97-4971-8B5F-42781D287601}" type="slidenum">
              <a:t>‹Nº›</a:t>
            </a:fld>
            <a:endParaRPr/>
          </a:p>
        </p:txBody>
      </p:sp>
    </p:spTree>
  </p:cSld>
  <p:hf hdr="0" ftr="0" dt="0"/>
</p:sldLayout>
</file>

<file path=ppt/slideLayouts/slideLayout5.xml><?xml version="1.0" encoding="utf-8"?>
<p:sldLayout xmlns:p="http://schemas.openxmlformats.org/presentationml/2006/main" userDrawn="1">
  <p:cSld name="FA_19_MEDIA_AUDIO_VIDE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B0CDC979-FF33-3EDD-88CD-DF60D4B1D61C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Video, GIF o audio</a:t>
            </a:r>
          </a:p>
        </p:txBody>
      </p:sp>
      <p:sp>
        <p:nvSpPr>
          <p:cNvPr id="7" name="ph_media_0">
            <a:extLst xmlns:a="http://schemas.openxmlformats.org/drawingml/2006/main">
              <a:ext uri="{FF2B5EF4-FFF2-40B4-BE49-F238E27FC236}">
                <a16:creationId xmlns:a16="http://schemas.microsoft.com/office/drawing/2014/main" id="{079FCF96-20BE-7B92-B825-972A93B10A07}"/>
              </a:ext>
            </a:extLst>
          </p:cNvPr>
          <p:cNvSpPr>
            <a:spLocks xmlns:a="http://schemas.openxmlformats.org/drawingml/2006/main" noGrp="1"/>
          </p:cNvSpPr>
          <p:nvPr>
            <p:ph type="media" idx="11" hasCustomPrompt="1"/>
          </p:nvPr>
        </p:nvSpPr>
        <p:spPr>
          <a:xfrm xmlns:a="http://schemas.openxmlformats.org/drawingml/2006/main">
            <a:off x="762000" y="1657350"/>
            <a:ext cx="7239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Video, GIF o audio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F555F5DB-607B-02A3-9FCF-CDD66D2EF793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8382000" y="1657350"/>
            <a:ext cx="304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Consigna de observación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B834D89-9F78-BAC7-245C-165FD788A32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076EB7A8-105E-44D9-AF9B-E4B002172AD7}" type="slidenum">
              <a:t>‹Nº›</a:t>
            </a:fld>
            <a:endParaRPr/>
          </a:p>
        </p:txBody>
      </p:sp>
    </p:spTree>
  </p:cSld>
  <p:hf hdr="0" ftr="0" dt="0"/>
</p:sldLayout>
</file>

<file path=ppt/slideLayouts/slideLayout6.xml><?xml version="1.0" encoding="utf-8"?>
<p:sldLayout xmlns:p="http://schemas.openxmlformats.org/presentationml/2006/main" userDrawn="1">
  <p:cSld name="FA_18_TABLA_DAT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409A66DE-F76D-5BAF-6FEA-DF1908C43A1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Tabla o datos</a:t>
            </a:r>
          </a:p>
        </p:txBody>
      </p:sp>
      <p:sp>
        <p:nvSpPr>
          <p:cNvPr id="7" name="ph_table_0">
            <a:extLst xmlns:a="http://schemas.openxmlformats.org/drawingml/2006/main">
              <a:ext uri="{FF2B5EF4-FFF2-40B4-BE49-F238E27FC236}">
                <a16:creationId xmlns:a16="http://schemas.microsoft.com/office/drawing/2014/main" id="{4C0D0D26-F100-8659-00EA-2409004E2AEE}"/>
              </a:ext>
            </a:extLst>
          </p:cNvPr>
          <p:cNvSpPr>
            <a:spLocks xmlns:a="http://schemas.openxmlformats.org/drawingml/2006/main" noGrp="1"/>
          </p:cNvSpPr>
          <p:nvPr>
            <p:ph type="tbl" idx="11" hasCustomPrompt="1"/>
          </p:nvPr>
        </p:nvSpPr>
        <p:spPr>
          <a:xfrm xmlns:a="http://schemas.openxmlformats.org/drawingml/2006/main">
            <a:off x="762000" y="1676400"/>
            <a:ext cx="1066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Tabla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B5DAB8AD-C9A2-9783-CB90-DB0CFE8EF09E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62000" y="5581650"/>
            <a:ext cx="1066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Lectura principal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7408CF10-5CC7-0648-9A06-15F7433C703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FEE56A1-BB6C-438D-8886-FF44760C7C6B}" type="slidenum">
              <a:t>‹Nº›</a:t>
            </a:fld>
            <a:endParaRPr/>
          </a:p>
        </p:txBody>
      </p:sp>
    </p:spTree>
  </p:cSld>
  <p:hf hdr="0" ftr="0" dt="0"/>
</p:sldLayout>
</file>

<file path=ppt/slideLayouts/slideLayout7.xml><?xml version="1.0" encoding="utf-8"?>
<p:sldLayout xmlns:p="http://schemas.openxmlformats.org/presentationml/2006/main" userDrawn="1">
  <p:cSld name="FA_17_RECAP_FIN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58A1AFD7-74FA-41E6-94B3-B5C8DDCED2B7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Recapitulación final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DE1EB0DD-8791-1A8B-9D62-CD8B1EF3E7B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695450"/>
            <a:ext cx="1066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Mapa de conceptos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85F550E7-9C54-188B-FFC4-467A63CBBB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56A0307-F779-4344-B886-D9280EB668B3}" type="slidenum">
              <a:t>‹Nº›</a:t>
            </a:fld>
            <a:endParaRPr/>
          </a:p>
        </p:txBody>
      </p:sp>
    </p:spTree>
  </p:cSld>
  <p:hf hdr="0" ftr="0" dt="0"/>
</p:sldLayout>
</file>

<file path=ppt/slideLayouts/slideLayout8.xml><?xml version="1.0" encoding="utf-8"?>
<p:sldLayout xmlns:p="http://schemas.openxmlformats.org/presentationml/2006/main" userDrawn="1">
  <p:cSld name="FA_16_RECAP_PARCI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39229E1F-564D-1252-8752-640CDDC94936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Resumen parcial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26942BEC-4BB7-68A8-5D3D-0F2E7C8C878D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68580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Ideas consolidadas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8A41835-9B86-B2F7-FDEB-E572198A44F3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8001000" y="1676400"/>
            <a:ext cx="34290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Llamada de recapitulación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9448B502-DD56-36BC-C80F-26C3FDF379C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33687D1-4041-4057-AFDA-E8313599D529}" type="slidenum">
              <a:t>‹Nº›</a:t>
            </a:fld>
            <a:endParaRPr/>
          </a:p>
        </p:txBody>
      </p:sp>
    </p:spTree>
  </p:cSld>
  <p:hf hdr="0" ftr="0" dt="0"/>
</p:sldLayout>
</file>

<file path=ppt/slideLayouts/slideLayout9.xml><?xml version="1.0" encoding="utf-8"?>
<p:sldLayout xmlns:p="http://schemas.openxmlformats.org/presentationml/2006/main" userDrawn="1">
  <p:cSld name="FA_15_ERROR_FRECUEN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DF6D93D-81D3-09A3-9451-58354AAA940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Error frecuente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BEE8D141-1A7B-E1E2-4278-DACF5AEFFBB9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952500" y="1809750"/>
            <a:ext cx="10287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 incorrecta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51AAF03A-25D3-5D01-FCF9-2955539C92E3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143000" y="3905250"/>
            <a:ext cx="9906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Corrección razonada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2EC62D10-711F-D9B1-7D3A-18749CF1A78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DAFD395-8463-4588-B260-79B86AAD3E51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0.xml><?xml version="1.0" encoding="utf-8"?>
<p:sldLayout xmlns:p="http://schemas.openxmlformats.org/presentationml/2006/main" userDrawn="1">
  <p:cSld name="FA_14B_MINI_EJERCICI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C11DF7D-DCF3-07BF-2350-3CEDB78BCA73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Mini ejercicio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FFBA6A1-CB2F-C08F-96BB-D862AE72699F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6477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Consigna y datos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91DCAFC2-EA6E-2D23-3B41-A0752099656D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7620000" y="1695450"/>
            <a:ext cx="3810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Espacio de resolución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A0621BFB-671E-D2BB-46AB-1C4FC083387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81336448-9F7A-438A-9B1D-8F6491D87475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1.xml><?xml version="1.0" encoding="utf-8"?>
<p:sldLayout xmlns:p="http://schemas.openxmlformats.org/presentationml/2006/main" userDrawn="1">
  <p:cSld name="FA_14_PREGUNTA_EJERCICI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622FF81E-C3C8-AD07-DE0B-DA2CA2611D1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Pregunta al curso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FB5F4DDD-6CFB-7D47-14E7-EA043E89CA2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1333500" y="2000250"/>
            <a:ext cx="9525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Pregunta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543AE4C9-62D3-B123-DF7D-6CA4CFF8C65B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524000" y="4457700"/>
            <a:ext cx="91440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Pistas para discutir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81D1303B-53FE-8249-310B-E605F0EE156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CFE78DF-3976-48C8-961D-AA1C8CA99F09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2.xml><?xml version="1.0" encoding="utf-8"?>
<p:sldLayout xmlns:p="http://schemas.openxmlformats.org/presentationml/2006/main" userDrawn="1">
  <p:cSld name="FA_13_APLICACION_CLINIC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DDD03774-96DE-DA2F-A511-71B36099D23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Aplicación a Fonoaudiología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F907AE9-FAD6-BFC9-BD52-A97C988A7F5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714500"/>
            <a:ext cx="5715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Concepto físico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714E50E2-E1DA-3206-B850-EA65C2FD7D1A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6858000" y="1714500"/>
            <a:ext cx="4572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Aplicación clínica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1F74211-E68E-8F63-B477-ED892A0B76E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330D82D-5740-4471-AF56-8696EEE2E4B5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3.xml><?xml version="1.0" encoding="utf-8"?>
<p:sldLayout xmlns:p="http://schemas.openxmlformats.org/presentationml/2006/main" userDrawn="1">
  <p:cSld name="FA_12_PROCES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6A7C0E02-1009-E9C6-5ACC-80E7D6880A69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Proceso secuencial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8205925-FD47-66F2-A802-416BCA053AEF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924050"/>
            <a:ext cx="10668000" cy="2952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Secuencia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8685E304-E9CA-43F8-8930-8E0ED8BE728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14400" y="5219700"/>
            <a:ext cx="10363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 de cierre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0506C10D-1069-18D8-D511-E7658980284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9CA5DB51-531C-4AFB-9FB5-87CA9A3111B8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4.xml><?xml version="1.0" encoding="utf-8"?>
<p:sldLayout xmlns:p="http://schemas.openxmlformats.org/presentationml/2006/main" userDrawn="1">
  <p:cSld name="FA_11_COMPAR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C3754BA9-BA43-89AA-C70D-83CA68AF3401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Comparación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4E58697A-6AA1-094E-FB77-5ED2F72D0C9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4953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Caso 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76A280CC-0448-5099-BD8C-5F5DA7427A41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695450"/>
            <a:ext cx="4953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Caso B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22C4027-B511-C66A-3210-C4F977C71BF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5DBCCD25-7213-4B32-B316-993301A50991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5.xml><?xml version="1.0" encoding="utf-8"?>
<p:sldLayout xmlns:p="http://schemas.openxmlformats.org/presentationml/2006/main" userDrawn="1">
  <p:cSld name="FA_10_EJEMPLO_RESUEL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1EBA8C66-75F7-8786-62D4-8E39087D032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Ejemplo resuelto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3761D8C-5D3D-B5FC-3088-D429C5A6F945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57350"/>
            <a:ext cx="40005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Datos y pregunta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72C3AA6E-744B-B585-1A7D-4DBA7725171B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143500" y="1657350"/>
            <a:ext cx="62865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Resolución paso a paso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87FCAB0-F142-2C7C-6C7A-2118A60FE41C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685110A-6086-4FE8-8F00-9DEAECCAACBB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6.xml><?xml version="1.0" encoding="utf-8"?>
<p:sldLayout xmlns:p="http://schemas.openxmlformats.org/presentationml/2006/main" userDrawn="1">
  <p:cSld name="FA_09_ECUACION_INTERPRET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55D978A-66A3-12DD-6D64-38108280AE38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63049859-11E6-28FF-2063-7C84F2BCE7EA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752600"/>
            <a:ext cx="10668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Ecuación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27826603-AFCB-A7FC-DC5A-2E4905DA0F0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62000" y="3638550"/>
            <a:ext cx="10668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Interpretación y unidades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54DD594-5FD7-1BA8-C390-3B2081E1BD9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D4E3DF21-1703-4AF3-A758-2190B581AEE3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7.xml><?xml version="1.0" encoding="utf-8"?>
<p:sldLayout xmlns:p="http://schemas.openxmlformats.org/presentationml/2006/main" userDrawn="1">
  <p:cSld name="FA_08_DEFINI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A64F010A-6A76-C440-2396-A624262AB04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Concepto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314101D8-2C06-19A3-8BA4-89816CC23386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1143000" y="1981200"/>
            <a:ext cx="99060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Definición completa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4D685FE1-58B7-9044-F0E6-24526BBA1CC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333500" y="4686300"/>
            <a:ext cx="9525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Implicación o ejemplo breve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08CAD3E8-7C2E-D428-8533-9F43F7FD3565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EF7231C5-674D-43AF-A7BF-A95F7B1AC02E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8.xml><?xml version="1.0" encoding="utf-8"?>
<p:sldLayout xmlns:p="http://schemas.openxmlformats.org/presentationml/2006/main" userDrawn="1">
  <p:cSld name="FA_07_GRAFICO_EXPLIC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8E031ACD-0AD5-8809-0717-649540F4F383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chart_0">
            <a:extLst xmlns:a="http://schemas.openxmlformats.org/drawingml/2006/main">
              <a:ext uri="{FF2B5EF4-FFF2-40B4-BE49-F238E27FC236}">
                <a16:creationId xmlns:a16="http://schemas.microsoft.com/office/drawing/2014/main" id="{5380A50B-6A0F-2DF2-CF30-B0F7001B31E2}"/>
              </a:ext>
            </a:extLst>
          </p:cNvPr>
          <p:cNvSpPr>
            <a:spLocks xmlns:a="http://schemas.openxmlformats.org/drawingml/2006/main" noGrp="1"/>
          </p:cNvSpPr>
          <p:nvPr>
            <p:ph type="chart" idx="11" hasCustomPrompt="1"/>
          </p:nvPr>
        </p:nvSpPr>
        <p:spPr>
          <a:xfrm xmlns:a="http://schemas.openxmlformats.org/drawingml/2006/main">
            <a:off x="762000" y="1676400"/>
            <a:ext cx="685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Gráfico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1A6588E5-AEF0-6915-CE1D-570FEF5B4711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8039100" y="1676400"/>
            <a:ext cx="33909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Lectura guiada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61303251-BC98-15C7-91D2-8A07695826A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F56D38C4-B1D5-4C8E-BE72-930FD8BDBC8E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9.xml><?xml version="1.0" encoding="utf-8"?>
<p:sldLayout xmlns:p="http://schemas.openxmlformats.org/presentationml/2006/main" userDrawn="1">
  <p:cSld name="FA_06B_DOS_COLUMNA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08ED06A4-5573-5517-B8B5-C2075DA9624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CFF38B9F-A684-35A1-0FA9-F59A1B5AB4C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Columna izquierda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8F895085-9CE5-6EE1-5F9D-097B6BDA3C7F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6764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Columna derecha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A13ABB1-00AB-594A-F558-8175EBCF311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602F4707-DF6D-4294-BB93-51F5AE613322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0.xml><?xml version="1.0" encoding="utf-8"?>
<p:sldLayout xmlns:p="http://schemas.openxmlformats.org/presentationml/2006/main" userDrawn="1">
  <p:cSld name="FA_06_VISUAL_TEXTO_40_6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D5AED30D-A7BD-30DD-BE10-40C7E08936F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6FA99C08-D6E3-4E98-F4FE-DDBFAED84D0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62000" y="1676400"/>
            <a:ext cx="4095750" cy="3371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Imagen o diagrama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E5F7348D-D236-9EEA-2133-597F8B48097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238750" y="1676400"/>
            <a:ext cx="619125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Explicación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9B437985-0763-FCCF-F44F-242B6F5117A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A6B0A21-BCB8-4A3F-B261-5C6ED3AE2361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1.xml><?xml version="1.0" encoding="utf-8"?>
<p:sldLayout xmlns:p="http://schemas.openxmlformats.org/presentationml/2006/main" userDrawn="1">
  <p:cSld name="FA_05_TEXTO_VISUAL_60_4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3EF649E4-ADFE-13DB-6148-5183BBE49514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8F472493-280E-0CA3-7AC8-E68E8FBDBFC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619125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Explicación</a:t>
            </a:r>
          </a:p>
        </p:txBody>
      </p:sp>
      <p:sp>
        <p:nvSpPr>
          <p:cNvPr id="8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79FC630C-AD55-24EA-E53D-308D86D07925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7334250" y="1676400"/>
            <a:ext cx="4095750" cy="3371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Imagen o diagrama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3545EB75-FA22-76BE-9CE1-5BBC0905B29C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060B985-A0D6-43B6-9BE3-5D6CD61324BB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2.xml><?xml version="1.0" encoding="utf-8"?>
<p:sldLayout xmlns:p="http://schemas.openxmlformats.org/presentationml/2006/main" userDrawn="1">
  <p:cSld name="FA_04_TITULO_CONTENID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A73D0B5-44ED-C607-E4A8-F4FDBA1B460F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4067827F-3DFD-43A8-ED1D-4A061C6AADC3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10668000" cy="411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 principal y desarrollo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AB672653-EF56-0789-95CE-0ACA397242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113A982-D864-4714-BC0D-F64786B8C006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3.xml><?xml version="1.0" encoding="utf-8"?>
<p:sldLayout xmlns:p="http://schemas.openxmlformats.org/presentationml/2006/main" userDrawn="1">
  <p:cSld name="FA_03_MAPA_CLA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774C0439-FC2E-F5D5-0F77-C83354962018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Mapa de la clase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D91A08B-7367-A177-D3A1-D4D0D4FD292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790700"/>
            <a:ext cx="10668000" cy="373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Secuencia de bloques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CB1AB991-FF40-041B-F321-8D5FD60362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4F5DA17-0689-46E4-8362-81AB21D91399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4.xml><?xml version="1.0" encoding="utf-8"?>
<p:sldLayout xmlns:p="http://schemas.openxmlformats.org/presentationml/2006/main" userDrawn="1">
  <p:cSld name="FA_02B_CONOCIMIENTOS_PREVI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86E20EB-ACF6-E98B-A7F7-FAA63FE7A1AB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Conocimientos previos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DA74F11D-A621-76AD-1939-D17C951722B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7145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Ya conocemos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3F301BAB-D31B-43BA-8C3E-29D441A86035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7145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Necesitamos recuperar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485A1487-76D9-6CD2-5B5D-641F847EEAB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C017E5F8-CA14-4AD9-9C34-2654E5F0D860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5.xml><?xml version="1.0" encoding="utf-8"?>
<p:sldLayout xmlns:p="http://schemas.openxmlformats.org/presentationml/2006/main" preserve="1" userDrawn="1">
  <p:cSld name="FA_00_PORTA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h_title_0">
            <a:extLst xmlns:a="http://schemas.openxmlformats.org/drawingml/2006/main">
              <a:ext uri="{FF2B5EF4-FFF2-40B4-BE49-F238E27FC236}">
                <a16:creationId xmlns:a16="http://schemas.microsoft.com/office/drawing/2014/main" id="{BBF699B4-1B17-0944-8A64-D6854D8D6D1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1543049"/>
            <a:ext cx="8572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de la unidad</a:t>
            </a:r>
          </a:p>
        </p:txBody>
      </p:sp>
      <p:sp>
        <p:nvSpPr>
          <p:cNvPr id="8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5EEB7C2E-BFEB-6726-9C51-28E1E3242D9B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143250"/>
            <a:ext cx="7239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Subtítulo o alcance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9094F21-F8D4-117E-6486-B4FB78DA57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FBD13B0-F1EE-46B2-9204-54BDCC94E2F7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6.xml><?xml version="1.0" encoding="utf-8"?>
<p:sldLayout xmlns:p="http://schemas.openxmlformats.org/presentationml/2006/main" preserve="1" userDrawn="1">
  <p:cSld name="FA_21_CIERRE_PUEN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08E6C8A6-F9D3-7926-25DF-ED045F3A4CC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2019300"/>
            <a:ext cx="8953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Cierre</a:t>
            </a:r>
          </a:p>
        </p:txBody>
      </p:sp>
      <p:sp>
        <p:nvSpPr>
          <p:cNvPr id="3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7DB56B4A-8D9F-CA11-B9D5-A6125863F28F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314700"/>
            <a:ext cx="8191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Puente hacia la próxima clase</a:t>
            </a:r>
            <a:endParaRPr/>
          </a:p>
        </p:txBody>
      </p:sp>
      <p:sp>
        <p:nvSpPr>
          <p:cNvPr id="4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62762AF0-3B86-E082-1D9F-E94F6C836E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551B1DD-AE22-4797-A41E-B58F85D9714A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7.xml><?xml version="1.0" encoding="utf-8"?>
<p:sldLayout xmlns:p="http://schemas.openxmlformats.org/presentationml/2006/main" preserve="1" userDrawn="1">
  <p:cSld name="FA_01_DIVISO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D1F88028-AD7E-5C80-FCA4-7044C14652D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2095500"/>
            <a:ext cx="9334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del bloque</a:t>
            </a:r>
          </a:p>
        </p:txBody>
      </p:sp>
      <p:sp>
        <p:nvSpPr>
          <p:cNvPr id="3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8858B713-BB8F-93CF-76E5-B16753D5870D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295650"/>
            <a:ext cx="7810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Pregunta guía o propósito</a:t>
            </a:r>
          </a:p>
        </p:txBody>
      </p:sp>
      <p:sp>
        <p:nvSpPr>
          <p:cNvPr id="4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20025C06-92EB-B9DF-64E7-DAAC9343FA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60E8974C-1134-48A5-94B6-2428CCBD93A5}" type="slidenum">
              <a:t>‹Nº›</a:t>
            </a:fld>
            <a:endParaRPr/>
          </a:p>
        </p:txBody>
      </p:sp>
    </p:spTree>
  </p:cSld>
  <p:hf hdr="0" ftr="0" dt="0"/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5b464c596a8e4852" /><Relationship Type="http://schemas.openxmlformats.org/officeDocument/2006/relationships/theme" Target="/ppt/slideMasters/theme/theme2.xml" Id="R54c6389fbfc240b5" /><Relationship Type="http://schemas.openxmlformats.org/officeDocument/2006/relationships/slideLayout" Target="/ppt/slideLayouts/slideLayout1.xml" Id="R3e7b401f960048ab" /><Relationship Type="http://schemas.openxmlformats.org/officeDocument/2006/relationships/slideLayout" Target="/ppt/slideLayouts/slideLayout2.xml" Id="R0860c1f7b85a4046" /><Relationship Type="http://schemas.openxmlformats.org/officeDocument/2006/relationships/slideLayout" Target="/ppt/slideLayouts/slideLayout3.xml" Id="Ra72499d7c5e748e5" /><Relationship Type="http://schemas.openxmlformats.org/officeDocument/2006/relationships/slideLayout" Target="/ppt/slideLayouts/slideLayout4.xml" Id="R2935ad5bc84b4300" /><Relationship Type="http://schemas.openxmlformats.org/officeDocument/2006/relationships/slideLayout" Target="/ppt/slideLayouts/slideLayout5.xml" Id="R8659cc7fbeba4482" /><Relationship Type="http://schemas.openxmlformats.org/officeDocument/2006/relationships/slideLayout" Target="/ppt/slideLayouts/slideLayout6.xml" Id="R54ae4bb7b26d470a" /><Relationship Type="http://schemas.openxmlformats.org/officeDocument/2006/relationships/slideLayout" Target="/ppt/slideLayouts/slideLayout7.xml" Id="Rac1653474329494a" /><Relationship Type="http://schemas.openxmlformats.org/officeDocument/2006/relationships/slideLayout" Target="/ppt/slideLayouts/slideLayout8.xml" Id="R072fd63e1abc430f" /><Relationship Type="http://schemas.openxmlformats.org/officeDocument/2006/relationships/slideLayout" Target="/ppt/slideLayouts/slideLayout9.xml" Id="R492f09253ad64fdf" /><Relationship Type="http://schemas.openxmlformats.org/officeDocument/2006/relationships/slideLayout" Target="/ppt/slideLayouts/slideLayout10.xml" Id="Rc4c0d687a7d04f7d" /><Relationship Type="http://schemas.openxmlformats.org/officeDocument/2006/relationships/slideLayout" Target="/ppt/slideLayouts/slideLayout11.xml" Id="R884546568dba4d4a" /><Relationship Type="http://schemas.openxmlformats.org/officeDocument/2006/relationships/slideLayout" Target="/ppt/slideLayouts/slideLayout12.xml" Id="Ra72918059b5d4e0e" /><Relationship Type="http://schemas.openxmlformats.org/officeDocument/2006/relationships/slideLayout" Target="/ppt/slideLayouts/slideLayout13.xml" Id="Ra3d6cdf37f6b408c" /><Relationship Type="http://schemas.openxmlformats.org/officeDocument/2006/relationships/slideLayout" Target="/ppt/slideLayouts/slideLayout14.xml" Id="Rda8b1ba526414184" /><Relationship Type="http://schemas.openxmlformats.org/officeDocument/2006/relationships/slideLayout" Target="/ppt/slideLayouts/slideLayout15.xml" Id="R7ed29c6f78b044fb" /><Relationship Type="http://schemas.openxmlformats.org/officeDocument/2006/relationships/slideLayout" Target="/ppt/slideLayouts/slideLayout16.xml" Id="Rc8b309d250ea4ba5" /><Relationship Type="http://schemas.openxmlformats.org/officeDocument/2006/relationships/slideLayout" Target="/ppt/slideLayouts/slideLayout17.xml" Id="R0de2a59100d64deb" /><Relationship Type="http://schemas.openxmlformats.org/officeDocument/2006/relationships/slideLayout" Target="/ppt/slideLayouts/slideLayout18.xml" Id="R05cd8e93f0ef4cc8" /><Relationship Type="http://schemas.openxmlformats.org/officeDocument/2006/relationships/slideLayout" Target="/ppt/slideLayouts/slideLayout19.xml" Id="R64c17067d7eb4240" /><Relationship Type="http://schemas.openxmlformats.org/officeDocument/2006/relationships/slideLayout" Target="/ppt/slideLayouts/slideLayout20.xml" Id="Rb8d9a7a0c3e0402d" /><Relationship Type="http://schemas.openxmlformats.org/officeDocument/2006/relationships/slideLayout" Target="/ppt/slideLayouts/slideLayout21.xml" Id="Rbf8711840a1e40d1" /><Relationship Type="http://schemas.openxmlformats.org/officeDocument/2006/relationships/slideLayout" Target="/ppt/slideLayouts/slideLayout22.xml" Id="Re0c6754da1674c28" /><Relationship Type="http://schemas.openxmlformats.org/officeDocument/2006/relationships/slideLayout" Target="/ppt/slideLayouts/slideLayout23.xml" Id="Re90c7609d7844b0d" /><Relationship Type="http://schemas.openxmlformats.org/officeDocument/2006/relationships/slideLayout" Target="/ppt/slideLayouts/slideLayout24.xml" Id="R7ef1c11d67074783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0bd2536a1a084594" /><Relationship Type="http://schemas.openxmlformats.org/officeDocument/2006/relationships/theme" Target="/ppt/slideMasters/theme/theme3.xml" Id="Rc5f4636b7e0847ff" /><Relationship Type="http://schemas.openxmlformats.org/officeDocument/2006/relationships/slideLayout" Target="/ppt/slideLayouts/slideLayout25.xml" Id="R56f7aecdb0f04061" /><Relationship Type="http://schemas.openxmlformats.org/officeDocument/2006/relationships/slideLayout" Target="/ppt/slideLayouts/slideLayout26.xml" Id="R98cfa9c876df4afc" /><Relationship Type="http://schemas.openxmlformats.org/officeDocument/2006/relationships/slideLayout" Target="/ppt/slideLayouts/slideLayout27.xml" Id="Rdf00cd528bf94a2e" /></Relationships>
</file>

<file path=ppt/slideMasters/slideMaster1.xml><?xml version="1.0" encoding="utf-8"?>
<p:sldMaster xmlns:p="http://schemas.openxmlformats.org/presentationml/2006/main">
  <p:cSld name="Mast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ule_maroon">
            <a:extLst xmlns:a="http://schemas.openxmlformats.org/drawingml/2006/main">
              <a:ext uri="{FF2B5EF4-FFF2-40B4-BE49-F238E27FC236}">
                <a16:creationId xmlns:a16="http://schemas.microsoft.com/office/drawing/2014/main" id="{7ED400B0-4650-BD81-8872-00CCE539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ule_berry">
            <a:extLst xmlns:a="http://schemas.openxmlformats.org/drawingml/2006/main">
              <a:ext uri="{FF2B5EF4-FFF2-40B4-BE49-F238E27FC236}">
                <a16:creationId xmlns:a16="http://schemas.microsoft.com/office/drawing/2014/main" id="{19067D9B-1D69-BEBD-53A6-E2EBCE31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ule_gray">
            <a:extLst xmlns:a="http://schemas.openxmlformats.org/drawingml/2006/main">
              <a:ext uri="{FF2B5EF4-FFF2-40B4-BE49-F238E27FC236}">
                <a16:creationId xmlns:a16="http://schemas.microsoft.com/office/drawing/2014/main" id="{D5EE4B42-9A6B-A99D-63F0-0D1F0CDA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"/>
            <a:ext cx="3467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footer_rule">
            <a:extLst xmlns:a="http://schemas.openxmlformats.org/drawingml/2006/main">
              <a:ext uri="{FF2B5EF4-FFF2-40B4-BE49-F238E27FC236}">
                <a16:creationId xmlns:a16="http://schemas.microsoft.com/office/drawing/2014/main" id="{967B707C-1A6F-0D89-F330-66B1FD9D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0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4" name="ucasal_logo_master_ligh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464c596a8e48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6429375"/>
            <a:ext cx="1028700" cy="304800"/>
          </a:xfrm>
          <a:prstGeom xmlns:a="http://schemas.openxmlformats.org/drawingml/2006/main" prst="rect">
            <a:avLst/>
          </a:prstGeom>
        </p:spPr>
      </p:pic>
      <p:sp>
        <p:nvSpPr>
          <p:cNvPr id="8" name="footer_course_light">
            <a:extLst xmlns:a="http://schemas.openxmlformats.org/drawingml/2006/main">
              <a:ext uri="{FF2B5EF4-FFF2-40B4-BE49-F238E27FC236}">
                <a16:creationId xmlns:a16="http://schemas.microsoft.com/office/drawing/2014/main" id="{63C3527D-F71A-255A-556A-E956A5B2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67475"/>
            <a:ext cx="4953000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  <a:endParaRPr sz="1050" b="0">
              <a:solidFill>
                <a:srgbClr val="667079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7b401f960048ab"/>
    <p:sldLayoutId xmlns:r="http://schemas.openxmlformats.org/officeDocument/2006/relationships" id="2147483650" r:id="R0860c1f7b85a4046"/>
    <p:sldLayoutId xmlns:r="http://schemas.openxmlformats.org/officeDocument/2006/relationships" id="2147483651" r:id="Ra72499d7c5e748e5"/>
    <p:sldLayoutId xmlns:r="http://schemas.openxmlformats.org/officeDocument/2006/relationships" id="2147483652" r:id="R2935ad5bc84b4300"/>
    <p:sldLayoutId xmlns:r="http://schemas.openxmlformats.org/officeDocument/2006/relationships" id="2147483653" r:id="R8659cc7fbeba4482"/>
    <p:sldLayoutId xmlns:r="http://schemas.openxmlformats.org/officeDocument/2006/relationships" id="2147483654" r:id="R54ae4bb7b26d470a"/>
    <p:sldLayoutId xmlns:r="http://schemas.openxmlformats.org/officeDocument/2006/relationships" id="2147483655" r:id="Rac1653474329494a"/>
    <p:sldLayoutId xmlns:r="http://schemas.openxmlformats.org/officeDocument/2006/relationships" id="2147483656" r:id="R072fd63e1abc430f"/>
    <p:sldLayoutId xmlns:r="http://schemas.openxmlformats.org/officeDocument/2006/relationships" id="2147483657" r:id="R492f09253ad64fdf"/>
    <p:sldLayoutId xmlns:r="http://schemas.openxmlformats.org/officeDocument/2006/relationships" id="2147483658" r:id="Rc4c0d687a7d04f7d"/>
    <p:sldLayoutId xmlns:r="http://schemas.openxmlformats.org/officeDocument/2006/relationships" id="2147483659" r:id="R884546568dba4d4a"/>
    <p:sldLayoutId xmlns:r="http://schemas.openxmlformats.org/officeDocument/2006/relationships" id="2147483660" r:id="Ra72918059b5d4e0e"/>
    <p:sldLayoutId xmlns:r="http://schemas.openxmlformats.org/officeDocument/2006/relationships" id="2147483661" r:id="Ra3d6cdf37f6b408c"/>
    <p:sldLayoutId xmlns:r="http://schemas.openxmlformats.org/officeDocument/2006/relationships" id="2147483662" r:id="Rda8b1ba526414184"/>
    <p:sldLayoutId xmlns:r="http://schemas.openxmlformats.org/officeDocument/2006/relationships" id="2147483663" r:id="R7ed29c6f78b044fb"/>
    <p:sldLayoutId xmlns:r="http://schemas.openxmlformats.org/officeDocument/2006/relationships" id="2147483664" r:id="Rc8b309d250ea4ba5"/>
    <p:sldLayoutId xmlns:r="http://schemas.openxmlformats.org/officeDocument/2006/relationships" id="2147483665" r:id="R0de2a59100d64deb"/>
    <p:sldLayoutId xmlns:r="http://schemas.openxmlformats.org/officeDocument/2006/relationships" id="2147483666" r:id="R05cd8e93f0ef4cc8"/>
    <p:sldLayoutId xmlns:r="http://schemas.openxmlformats.org/officeDocument/2006/relationships" id="2147483667" r:id="R64c17067d7eb4240"/>
    <p:sldLayoutId xmlns:r="http://schemas.openxmlformats.org/officeDocument/2006/relationships" id="2147483668" r:id="Rb8d9a7a0c3e0402d"/>
    <p:sldLayoutId xmlns:r="http://schemas.openxmlformats.org/officeDocument/2006/relationships" id="2147483669" r:id="Rbf8711840a1e40d1"/>
    <p:sldLayoutId xmlns:r="http://schemas.openxmlformats.org/officeDocument/2006/relationships" id="2147483670" r:id="Re0c6754da1674c28"/>
    <p:sldLayoutId xmlns:r="http://schemas.openxmlformats.org/officeDocument/2006/relationships" id="2147483671" r:id="Re90c7609d7844b0d"/>
    <p:sldLayoutId xmlns:r="http://schemas.openxmlformats.org/officeDocument/2006/relationships" id="2147483672" r:id="R7ef1c11d67074783"/>
  </p:sldLayoutIdLst>
  <p:hf hdr="0" ft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ule_berry">
            <a:extLst xmlns:a="http://schemas.openxmlformats.org/drawingml/2006/main">
              <a:ext uri="{FF2B5EF4-FFF2-40B4-BE49-F238E27FC236}">
                <a16:creationId xmlns:a16="http://schemas.microsoft.com/office/drawing/2014/main" id="{54233747-3B41-236E-F508-E312E7DC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ule_white">
            <a:extLst xmlns:a="http://schemas.openxmlformats.org/drawingml/2006/main">
              <a:ext uri="{FF2B5EF4-FFF2-40B4-BE49-F238E27FC236}">
                <a16:creationId xmlns:a16="http://schemas.microsoft.com/office/drawing/2014/main" id="{AB7800AF-4B8D-3775-268D-A9432256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ule_gray">
            <a:extLst xmlns:a="http://schemas.openxmlformats.org/drawingml/2006/main">
              <a:ext uri="{FF2B5EF4-FFF2-40B4-BE49-F238E27FC236}">
                <a16:creationId xmlns:a16="http://schemas.microsoft.com/office/drawing/2014/main" id="{092696FC-D673-2DD3-4FCF-4D8518D8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"/>
            <a:ext cx="3467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footer_rule">
            <a:extLst xmlns:a="http://schemas.openxmlformats.org/drawingml/2006/main">
              <a:ext uri="{FF2B5EF4-FFF2-40B4-BE49-F238E27FC236}">
                <a16:creationId xmlns:a16="http://schemas.microsoft.com/office/drawing/2014/main" id="{99D069AE-519E-8032-14CB-9643E0EC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logo_backing">
            <a:extLst xmlns:a="http://schemas.openxmlformats.org/drawingml/2006/main">
              <a:ext uri="{FF2B5EF4-FFF2-40B4-BE49-F238E27FC236}">
                <a16:creationId xmlns:a16="http://schemas.microsoft.com/office/drawing/2014/main" id="{DED1A456-4096-91AC-8233-B33FFC94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ucasal_logo_master_dar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d2536a1a0845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6467475"/>
            <a:ext cx="990600" cy="228600"/>
          </a:xfrm>
          <a:prstGeom xmlns:a="http://schemas.openxmlformats.org/drawingml/2006/main" prst="rect">
            <a:avLst/>
          </a:prstGeom>
        </p:spPr>
      </p:pic>
      <p:sp>
        <p:nvSpPr>
          <p:cNvPr id="14" name="footer_course_dark">
            <a:extLst xmlns:a="http://schemas.openxmlformats.org/drawingml/2006/main">
              <a:ext uri="{FF2B5EF4-FFF2-40B4-BE49-F238E27FC236}">
                <a16:creationId xmlns:a16="http://schemas.microsoft.com/office/drawing/2014/main" id="{D186B626-134A-FBCD-AEA0-4A2A93AA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467475"/>
            <a:ext cx="4953000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  <a:endParaRPr sz="1050" b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4" r:id="R56f7aecdb0f04061"/>
    <p:sldLayoutId xmlns:r="http://schemas.openxmlformats.org/officeDocument/2006/relationships" id="2147483675" r:id="R98cfa9c876df4afc"/>
    <p:sldLayoutId xmlns:r="http://schemas.openxmlformats.org/officeDocument/2006/relationships" id="2147483676" r:id="Rdf00cd528bf94a2e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FA_MASTER_BORDO">
  <a:themeElements>
    <a:clrScheme name="Office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fa8de8a9f1904199" /><Relationship Type="http://schemas.openxmlformats.org/officeDocument/2006/relationships/notesSlide" Target="/ppt/notesSlides/notesSlide1.xml" Id="Rab22c57edbb548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b8412d0389e401d" /><Relationship Type="http://schemas.openxmlformats.org/officeDocument/2006/relationships/notesSlide" Target="/ppt/notesSlides/notesSlide2.xml" Id="Ra0178211f75349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d3e44879c45d8" /><Relationship Type="http://schemas.openxmlformats.org/officeDocument/2006/relationships/notesSlide" Target="/ppt/notesSlides/notesSlide3.xml" Id="R8168065a1c8d4e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c9da5deb100b4eef" /><Relationship Type="http://schemas.openxmlformats.org/officeDocument/2006/relationships/notesSlide" Target="/ppt/notesSlides/notesSlide4.xml" Id="R386cf719c2644a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4c0e55d139034cec" /><Relationship Type="http://schemas.openxmlformats.org/officeDocument/2006/relationships/notesSlide" Target="/ppt/notesSlides/notesSlide5.xml" Id="Rcd567cc7de2943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0cbcce763e7d4b91" /><Relationship Type="http://schemas.openxmlformats.org/officeDocument/2006/relationships/notesSlide" Target="/ppt/notesSlides/notesSlide6.xml" Id="Rbf2516efc05343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2e29fa202c594ff1" /><Relationship Type="http://schemas.openxmlformats.org/officeDocument/2006/relationships/notesSlide" Target="/ppt/notesSlides/notesSlide7.xml" Id="R0940e2cc7f6c41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6422ebf67cae421b" /><Relationship Type="http://schemas.openxmlformats.org/officeDocument/2006/relationships/notesSlide" Target="/ppt/notesSlides/notesSlide8.xml" Id="R54e521b9c8b041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005f638fb6d24c3b" /><Relationship Type="http://schemas.openxmlformats.org/officeDocument/2006/relationships/notesSlide" Target="/ppt/notesSlides/notesSlide9.xml" Id="Rcabcaacbc8d745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dfc0c22dec564f64" /><Relationship Type="http://schemas.openxmlformats.org/officeDocument/2006/relationships/notesSlide" Target="/ppt/notesSlides/notesSlide10.xml" Id="Ra7946d4c7e0842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9d3dd4134ccb43cb" /><Relationship Type="http://schemas.openxmlformats.org/officeDocument/2006/relationships/image" Target="/ppt/media/image2.png" Id="R055e97cbd55e43e0" /><Relationship Type="http://schemas.openxmlformats.org/officeDocument/2006/relationships/image" Target="/ppt/media/image.svg" Id="R1ea5d3913f1441ec" /><Relationship Type="http://schemas.openxmlformats.org/officeDocument/2006/relationships/notesSlide" Target="/ppt/notesSlides/notesSlide11.xml" Id="R3df7515591f445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1aaa8143d3dc4848" /><Relationship Type="http://schemas.openxmlformats.org/officeDocument/2006/relationships/image" Target="/ppt/media/image3.png" Id="Rda26cec7cef14898" /><Relationship Type="http://schemas.openxmlformats.org/officeDocument/2006/relationships/image" Target="/ppt/media/image2.svg" Id="Ra49b93dba5d94fdc" /><Relationship Type="http://schemas.openxmlformats.org/officeDocument/2006/relationships/notesSlide" Target="/ppt/notesSlides/notesSlide12.xml" Id="R964c7010a4d7492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6701559a3f845ca" /><Relationship Type="http://schemas.openxmlformats.org/officeDocument/2006/relationships/notesSlide" Target="/ppt/notesSlides/notesSlide13.xml" Id="Ra645531b7ff1495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69f47a5df1c547bd" /><Relationship Type="http://schemas.openxmlformats.org/officeDocument/2006/relationships/notesSlide" Target="/ppt/notesSlides/notesSlide14.xml" Id="Rbcaf3427b70c42a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6cca6df525a44972" /><Relationship Type="http://schemas.openxmlformats.org/officeDocument/2006/relationships/image" Target="/ppt/media/image4.png" Id="Rcb2b43218707435a" /><Relationship Type="http://schemas.openxmlformats.org/officeDocument/2006/relationships/image" Target="/ppt/media/image3.svg" Id="R5f1660c1fbe64b4e" /><Relationship Type="http://schemas.openxmlformats.org/officeDocument/2006/relationships/notesSlide" Target="/ppt/notesSlides/notesSlide15.xml" Id="R50ad8e2945ee46f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96d4e120f5f444e8" /><Relationship Type="http://schemas.openxmlformats.org/officeDocument/2006/relationships/image" Target="/ppt/media/image5.png" Id="R523c8656607149eb" /><Relationship Type="http://schemas.openxmlformats.org/officeDocument/2006/relationships/image" Target="/ppt/media/image4.svg" Id="R663534ce743a47ad" /><Relationship Type="http://schemas.openxmlformats.org/officeDocument/2006/relationships/notesSlide" Target="/ppt/notesSlides/notesSlide16.xml" Id="Rfb1e1f300f654ca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b0f32011d8d46db" /><Relationship Type="http://schemas.openxmlformats.org/officeDocument/2006/relationships/image" Target="/ppt/media/image6.png" Id="Re32e7fbca1d14b00" /><Relationship Type="http://schemas.openxmlformats.org/officeDocument/2006/relationships/image" Target="/ppt/media/image5.svg" Id="R8ed680f69d8b4bde" /><Relationship Type="http://schemas.openxmlformats.org/officeDocument/2006/relationships/notesSlide" Target="/ppt/notesSlides/notesSlide17.xml" Id="R5a98f428994c451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04c18b96f62f46fb" /><Relationship Type="http://schemas.openxmlformats.org/officeDocument/2006/relationships/notesSlide" Target="/ppt/notesSlides/notesSlide18.xml" Id="Racf400a1ee78438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60ce82967bcd4fa3" /><Relationship Type="http://schemas.openxmlformats.org/officeDocument/2006/relationships/notesSlide" Target="/ppt/notesSlides/notesSlide19.xml" Id="Ra7c724c7a65847c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cb8b5577c8fa46bd" /><Relationship Type="http://schemas.openxmlformats.org/officeDocument/2006/relationships/notesSlide" Target="/ppt/notesSlides/notesSlide20.xml" Id="Rab3e034c532e474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ac50e29f550543f5" /><Relationship Type="http://schemas.openxmlformats.org/officeDocument/2006/relationships/notesSlide" Target="/ppt/notesSlides/notesSlide21.xml" Id="R19aea533a57d4a0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613f2743b6fc4b32" /><Relationship Type="http://schemas.openxmlformats.org/officeDocument/2006/relationships/notesSlide" Target="/ppt/notesSlides/notesSlide22.xml" Id="R32127c052f944f8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7647c9c3b1cb400b" /><Relationship Type="http://schemas.openxmlformats.org/officeDocument/2006/relationships/notesSlide" Target="/ppt/notesSlides/notesSlide23.xml" Id="R2f183e7f8ec24d6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f5bdf12540ca4779" /><Relationship Type="http://schemas.openxmlformats.org/officeDocument/2006/relationships/image" Target="/ppt/media/image7.png" Id="R272ddaf918ed4375" /><Relationship Type="http://schemas.openxmlformats.org/officeDocument/2006/relationships/image" Target="/ppt/media/image6.svg" Id="Rf568d3332e334557" /><Relationship Type="http://schemas.openxmlformats.org/officeDocument/2006/relationships/notesSlide" Target="/ppt/notesSlides/notesSlide24.xml" Id="R8f885075e3d64ab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8eabf64419944a6" /><Relationship Type="http://schemas.openxmlformats.org/officeDocument/2006/relationships/notesSlide" Target="/ppt/notesSlides/notesSlide25.xml" Id="R0db43471c1df42d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a60a93b3b5f24345" /><Relationship Type="http://schemas.openxmlformats.org/officeDocument/2006/relationships/notesSlide" Target="/ppt/notesSlides/notesSlide26.xml" Id="Raa478394a0654fd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8451754a9f714fb5" /><Relationship Type="http://schemas.openxmlformats.org/officeDocument/2006/relationships/image" Target="/ppt/media/image8.png" Id="R3c84796c00d243f6" /><Relationship Type="http://schemas.openxmlformats.org/officeDocument/2006/relationships/image" Target="/ppt/media/image7.svg" Id="R3672863a3b7d4448" /><Relationship Type="http://schemas.openxmlformats.org/officeDocument/2006/relationships/notesSlide" Target="/ppt/notesSlides/notesSlide27.xml" Id="R0647b68f51f440f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84ae81c4f16046ac" /><Relationship Type="http://schemas.openxmlformats.org/officeDocument/2006/relationships/notesSlide" Target="/ppt/notesSlides/notesSlide28.xml" Id="Re6375747de204f8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9b052ef12761461a" /><Relationship Type="http://schemas.openxmlformats.org/officeDocument/2006/relationships/notesSlide" Target="/ppt/notesSlides/notesSlide29.xml" Id="Reb29a2b0eb63485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329680cbafca4f18" /><Relationship Type="http://schemas.openxmlformats.org/officeDocument/2006/relationships/notesSlide" Target="/ppt/notesSlides/notesSlide30.xml" Id="Rc58725080878455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d211cf6cabf0404d" /><Relationship Type="http://schemas.openxmlformats.org/officeDocument/2006/relationships/image" Target="/ppt/media/image9.png" Id="R28974ba2c1074cad" /><Relationship Type="http://schemas.openxmlformats.org/officeDocument/2006/relationships/image" Target="/ppt/media/image8.svg" Id="Rae84830c96084685" /><Relationship Type="http://schemas.openxmlformats.org/officeDocument/2006/relationships/notesSlide" Target="/ppt/notesSlides/notesSlide31.xml" Id="R56ca94cbef6049e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2713dde1af674ee5" /><Relationship Type="http://schemas.openxmlformats.org/officeDocument/2006/relationships/image" Target="/ppt/media/image10.png" Id="Rc384ca51497044ec" /><Relationship Type="http://schemas.openxmlformats.org/officeDocument/2006/relationships/image" Target="/ppt/media/image9.svg" Id="Rcd689b88d0004894" /><Relationship Type="http://schemas.openxmlformats.org/officeDocument/2006/relationships/notesSlide" Target="/ppt/notesSlides/notesSlide32.xml" Id="R7b3490f231eb4bd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31d86f9762cc490c" /><Relationship Type="http://schemas.openxmlformats.org/officeDocument/2006/relationships/image" Target="/ppt/media/image11.png" Id="Rb8f7f803804240e9" /><Relationship Type="http://schemas.openxmlformats.org/officeDocument/2006/relationships/image" Target="/ppt/media/image10.svg" Id="R2136fa03dcdf4e5f" /><Relationship Type="http://schemas.openxmlformats.org/officeDocument/2006/relationships/notesSlide" Target="/ppt/notesSlides/notesSlide33.xml" Id="Rd561f387373447d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4946a5641104488" /><Relationship Type="http://schemas.openxmlformats.org/officeDocument/2006/relationships/image" Target="/ppt/media/image12.png" Id="Rb3e9395a042649f3" /><Relationship Type="http://schemas.openxmlformats.org/officeDocument/2006/relationships/image" Target="/ppt/media/image11.svg" Id="R5ef89c589546459e" /><Relationship Type="http://schemas.openxmlformats.org/officeDocument/2006/relationships/notesSlide" Target="/ppt/notesSlides/notesSlide34.xml" Id="R90f5881170cd483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5ede756bf75406d" /><Relationship Type="http://schemas.openxmlformats.org/officeDocument/2006/relationships/image" Target="/ppt/media/image13.png" Id="R30cae61ee6b4417a" /><Relationship Type="http://schemas.openxmlformats.org/officeDocument/2006/relationships/image" Target="/ppt/media/image12.svg" Id="R0b2bf5ec70e44ce1" /><Relationship Type="http://schemas.openxmlformats.org/officeDocument/2006/relationships/notesSlide" Target="/ppt/notesSlides/notesSlide35.xml" Id="Ra1be442e215b410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403d8e588744f08" /><Relationship Type="http://schemas.openxmlformats.org/officeDocument/2006/relationships/notesSlide" Target="/ppt/notesSlides/notesSlide36.xml" Id="Rbd4ccd33d69f429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fd1933dc6c5c4be6" /><Relationship Type="http://schemas.openxmlformats.org/officeDocument/2006/relationships/notesSlide" Target="/ppt/notesSlides/notesSlide37.xml" Id="R2cd540a48763432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c7080780ab4a4cd0" /><Relationship Type="http://schemas.openxmlformats.org/officeDocument/2006/relationships/notesSlide" Target="/ppt/notesSlides/notesSlide38.xml" Id="R5d3a36cca6b0417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3842d0c33d3f42ee" /><Relationship Type="http://schemas.openxmlformats.org/officeDocument/2006/relationships/notesSlide" Target="/ppt/notesSlides/notesSlide39.xml" Id="Ra90b98dfa22f4f5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ff58e0c1e84746ca" /><Relationship Type="http://schemas.openxmlformats.org/officeDocument/2006/relationships/notesSlide" Target="/ppt/notesSlides/notesSlide40.xml" Id="R32040feae60a40a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42fc7bc3777d4212" /><Relationship Type="http://schemas.openxmlformats.org/officeDocument/2006/relationships/notesSlide" Target="/ppt/notesSlides/notesSlide41.xml" Id="R629557ae24154887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4dc998dfa245e7" /><Relationship Type="http://schemas.openxmlformats.org/officeDocument/2006/relationships/notesSlide" Target="/ppt/notesSlides/notesSlide42.xml" Id="Rc5730aeb9a824b7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a443c71af2074e84" /><Relationship Type="http://schemas.openxmlformats.org/officeDocument/2006/relationships/notesSlide" Target="/ppt/notesSlides/notesSlide43.xml" Id="R9a3f363fcdff495b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599e9e7b903464d" /><Relationship Type="http://schemas.openxmlformats.org/officeDocument/2006/relationships/notesSlide" Target="/ppt/notesSlides/notesSlide44.xml" Id="R8498107de9bb4e6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5417ff9c967f4c69" /><Relationship Type="http://schemas.openxmlformats.org/officeDocument/2006/relationships/notesSlide" Target="/ppt/notesSlides/notesSlide45.xml" Id="Re661cebba82349d4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7e63b1d355e04ca9" /><Relationship Type="http://schemas.openxmlformats.org/officeDocument/2006/relationships/notesSlide" Target="/ppt/notesSlides/notesSlide46.xml" Id="R6811e0dd8e044244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9711985cb984452e" /><Relationship Type="http://schemas.openxmlformats.org/officeDocument/2006/relationships/image" Target="/ppt/media/image14.png" Id="R6bac6d24cb2546a7" /><Relationship Type="http://schemas.openxmlformats.org/officeDocument/2006/relationships/image" Target="/ppt/media/image13.svg" Id="Rfac2d810e4a94d41" /><Relationship Type="http://schemas.openxmlformats.org/officeDocument/2006/relationships/notesSlide" Target="/ppt/notesSlides/notesSlide47.xml" Id="R5228637e112a4158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db98d22b15ea4173" /><Relationship Type="http://schemas.openxmlformats.org/officeDocument/2006/relationships/notesSlide" Target="/ppt/notesSlides/notesSlide48.xml" Id="R4675f6ca1f294095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d97305d8ba4f4dec" /><Relationship Type="http://schemas.openxmlformats.org/officeDocument/2006/relationships/notesSlide" Target="/ppt/notesSlides/notesSlide49.xml" Id="Re1fdf27360b7450d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3a00e90b191f44e9" /><Relationship Type="http://schemas.openxmlformats.org/officeDocument/2006/relationships/notesSlide" Target="/ppt/notesSlides/notesSlide50.xml" Id="Re6fb054eebb44b7f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2ab4e8f56ccb4ab5" /><Relationship Type="http://schemas.openxmlformats.org/officeDocument/2006/relationships/image" Target="/ppt/media/image15.png" Id="Rfad5178bd928496b" /><Relationship Type="http://schemas.openxmlformats.org/officeDocument/2006/relationships/image" Target="/ppt/media/image14.svg" Id="R21f2d901026f4274" /><Relationship Type="http://schemas.openxmlformats.org/officeDocument/2006/relationships/notesSlide" Target="/ppt/notesSlides/notesSlide51.xml" Id="Rbbf517c2102d4fcf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37aad98e1e8b420e" /><Relationship Type="http://schemas.openxmlformats.org/officeDocument/2006/relationships/notesSlide" Target="/ppt/notesSlides/notesSlide52.xml" Id="Rd211fd5a93f742f8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f10f7ec9b2554f53" /><Relationship Type="http://schemas.openxmlformats.org/officeDocument/2006/relationships/notesSlide" Target="/ppt/notesSlides/notesSlide53.xml" Id="R4c7564aa600c402e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fba1c1a1f5743d1" /><Relationship Type="http://schemas.openxmlformats.org/officeDocument/2006/relationships/image" Target="/ppt/media/image16.png" Id="R43f9074168874cb2" /><Relationship Type="http://schemas.openxmlformats.org/officeDocument/2006/relationships/image" Target="/ppt/media/image15.svg" Id="R5976b6736f0d4a72" /><Relationship Type="http://schemas.openxmlformats.org/officeDocument/2006/relationships/notesSlide" Target="/ppt/notesSlides/notesSlide54.xml" Id="R36a554a0f59f4caf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12baa6ecf744dda" /><Relationship Type="http://schemas.openxmlformats.org/officeDocument/2006/relationships/notesSlide" Target="/ppt/notesSlides/notesSlide55.xml" Id="R06223e5bcf6d4431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5f0d1f928fc44d5" /><Relationship Type="http://schemas.openxmlformats.org/officeDocument/2006/relationships/notesSlide" Target="/ppt/notesSlides/notesSlide56.xml" Id="Rf690e8c6000a4761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6d9bdbc6fd0e4734" /><Relationship Type="http://schemas.openxmlformats.org/officeDocument/2006/relationships/notesSlide" Target="/ppt/notesSlides/notesSlide57.xml" Id="Rd4d9714642614360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7c34350fdb5d4025" /><Relationship Type="http://schemas.openxmlformats.org/officeDocument/2006/relationships/notesSlide" Target="/ppt/notesSlides/notesSlide58.xml" Id="Rd2465aab82014cce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70e05711f33f41fa" /><Relationship Type="http://schemas.openxmlformats.org/officeDocument/2006/relationships/notesSlide" Target="/ppt/notesSlides/notesSlide59.xml" Id="R4bebc0acc5fd4984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0a748f26cb3493d" /><Relationship Type="http://schemas.openxmlformats.org/officeDocument/2006/relationships/notesSlide" Target="/ppt/notesSlides/notesSlide60.xml" Id="R7988befcdbcb4fd8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4e8e0fbd465749bf" /><Relationship Type="http://schemas.openxmlformats.org/officeDocument/2006/relationships/notesSlide" Target="/ppt/notesSlides/notesSlide61.xml" Id="Rbb4ac922e2f34780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ae0f7fd2262b4689" /><Relationship Type="http://schemas.openxmlformats.org/officeDocument/2006/relationships/notesSlide" Target="/ppt/notesSlides/notesSlide62.xml" Id="R38b0c5d6362144a2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62d76e7a7564b67" /><Relationship Type="http://schemas.openxmlformats.org/officeDocument/2006/relationships/notesSlide" Target="/ppt/notesSlides/notesSlide63.xml" Id="Ref996ece629b44b3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070920d798d43a6" /><Relationship Type="http://schemas.openxmlformats.org/officeDocument/2006/relationships/notesSlide" Target="/ppt/notesSlides/notesSlide64.xml" Id="R8c95936fd7af4fae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780317f2489e4e4d" /><Relationship Type="http://schemas.openxmlformats.org/officeDocument/2006/relationships/notesSlide" Target="/ppt/notesSlides/notesSlide65.xml" Id="R4f171329546c4569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00667ddc8e6b4f8c" /><Relationship Type="http://schemas.openxmlformats.org/officeDocument/2006/relationships/notesSlide" Target="/ppt/notesSlides/notesSlide66.xml" Id="Ra68d1dc89e984c7f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2.xml" Id="Rebbc6ca6e2a94af3" /><Relationship Type="http://schemas.openxmlformats.org/officeDocument/2006/relationships/notesSlide" Target="/ppt/notesSlides/notesSlide67.xml" Id="R336861b2156f4ad1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6c8ea03bdf4073" /><Relationship Type="http://schemas.openxmlformats.org/officeDocument/2006/relationships/notesSlide" Target="/ppt/notesSlides/notesSlide68.xml" Id="Raf3cc0462d48401a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848739cb9434930" /><Relationship Type="http://schemas.openxmlformats.org/officeDocument/2006/relationships/notesSlide" Target="/ppt/notesSlides/notesSlide69.xml" Id="R8cec65c61f66481f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80dcd99410c04093" /><Relationship Type="http://schemas.openxmlformats.org/officeDocument/2006/relationships/notesSlide" Target="/ppt/notesSlides/notesSlide70.xml" Id="R2c6b100e37b84eb0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b6f19088745c455e" /><Relationship Type="http://schemas.openxmlformats.org/officeDocument/2006/relationships/notesSlide" Target="/ppt/notesSlides/notesSlide71.xml" Id="R48891704e12740df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130687355a1041a5" /><Relationship Type="http://schemas.openxmlformats.org/officeDocument/2006/relationships/notesSlide" Target="/ppt/notesSlides/notesSlide72.xml" Id="R3abcdefc165f4ab8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4cdb653cc514762" /><Relationship Type="http://schemas.openxmlformats.org/officeDocument/2006/relationships/notesSlide" Target="/ppt/notesSlides/notesSlide73.xml" Id="R5f31a31e9d564622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b5bd26c13f6e4dbc" /><Relationship Type="http://schemas.openxmlformats.org/officeDocument/2006/relationships/notesSlide" Target="/ppt/notesSlides/notesSlide74.xml" Id="R3bc8717ce3ee423c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9115b0f09e94bde" /><Relationship Type="http://schemas.openxmlformats.org/officeDocument/2006/relationships/notesSlide" Target="/ppt/notesSlides/notesSlide75.xml" Id="Rcfb5d7af1a69419f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2ad930287d8e4509" /><Relationship Type="http://schemas.openxmlformats.org/officeDocument/2006/relationships/notesSlide" Target="/ppt/notesSlides/notesSlide76.xml" Id="Rb24ae31d14ba489c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b00a4232beb4630" /><Relationship Type="http://schemas.openxmlformats.org/officeDocument/2006/relationships/notesSlide" Target="/ppt/notesSlides/notesSlide77.xml" Id="R431dbd8540364531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3c6916d73a8e4240" /><Relationship Type="http://schemas.openxmlformats.org/officeDocument/2006/relationships/image" Target="/ppt/media/image17.png" Id="Reb68c6358d474217" /><Relationship Type="http://schemas.openxmlformats.org/officeDocument/2006/relationships/image" Target="/ppt/media/image16.svg" Id="R3c97e4a035b74e88" /><Relationship Type="http://schemas.openxmlformats.org/officeDocument/2006/relationships/image" Target="/ppt/media/image18.png" Id="R339edc60daf54e36" /><Relationship Type="http://schemas.openxmlformats.org/officeDocument/2006/relationships/image" Target="/ppt/media/image17.svg" Id="R657becb3596e4760" /><Relationship Type="http://schemas.openxmlformats.org/officeDocument/2006/relationships/notesSlide" Target="/ppt/notesSlides/notesSlide78.xml" Id="R49811a46e26749d8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5ab0fa060c3b4bd8" /><Relationship Type="http://schemas.openxmlformats.org/officeDocument/2006/relationships/notesSlide" Target="/ppt/notesSlides/notesSlide79.xml" Id="R6aa1e2f5da8d4e0a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ef8c435a04934214" /><Relationship Type="http://schemas.openxmlformats.org/officeDocument/2006/relationships/notesSlide" Target="/ppt/notesSlides/notesSlide80.xml" Id="R5f0cccc843944c2f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89e9396995642ef" /><Relationship Type="http://schemas.openxmlformats.org/officeDocument/2006/relationships/notesSlide" Target="/ppt/notesSlides/notesSlide81.xml" Id="Rba2ca0ee69f54961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9eb194de5e944969" /><Relationship Type="http://schemas.openxmlformats.org/officeDocument/2006/relationships/notesSlide" Target="/ppt/notesSlides/notesSlide82.xml" Id="R53e620f78c3246f4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78b3955e22345bf" /><Relationship Type="http://schemas.openxmlformats.org/officeDocument/2006/relationships/notesSlide" Target="/ppt/notesSlides/notesSlide83.xml" Id="R5c76137518e5428b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7964b709013843c4" /><Relationship Type="http://schemas.openxmlformats.org/officeDocument/2006/relationships/notesSlide" Target="/ppt/notesSlides/notesSlide84.xml" Id="Rbc684d590c7141fe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3d19b5155f434b" /><Relationship Type="http://schemas.openxmlformats.org/officeDocument/2006/relationships/notesSlide" Target="/ppt/notesSlides/notesSlide85.xml" Id="R8cd98d6b23814fb7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d9029ba35a46b9" /><Relationship Type="http://schemas.openxmlformats.org/officeDocument/2006/relationships/notesSlide" Target="/ppt/notesSlides/notesSlide86.xml" Id="R7934741922a843a6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1a9d2d186c43db" /><Relationship Type="http://schemas.openxmlformats.org/officeDocument/2006/relationships/notesSlide" Target="/ppt/notesSlides/notesSlide87.xml" Id="R6b7ca7ddec7d425e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f4d69d66944413" /><Relationship Type="http://schemas.openxmlformats.org/officeDocument/2006/relationships/notesSlide" Target="/ppt/notesSlides/notesSlide88.xml" Id="R0439000532bb434b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7a947578134432" /><Relationship Type="http://schemas.openxmlformats.org/officeDocument/2006/relationships/notesSlide" Target="/ppt/notesSlides/notesSlide89.xml" Id="R9d53aae1345c4a93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34aac6502c43a9" /><Relationship Type="http://schemas.openxmlformats.org/officeDocument/2006/relationships/notesSlide" Target="/ppt/notesSlides/notesSlide90.xml" Id="Rdc2b9789c42d42d0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a22cf4b5d24675" /><Relationship Type="http://schemas.openxmlformats.org/officeDocument/2006/relationships/notesSlide" Target="/ppt/notesSlides/notesSlide91.xml" Id="Rd50a78cf0ae04158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d2c98f10134e4a" /><Relationship Type="http://schemas.openxmlformats.org/officeDocument/2006/relationships/notesSlide" Target="/ppt/notesSlides/notesSlide92.xml" Id="Rdd5ab72e7ef444d6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0ad771d37ee433c" /><Relationship Type="http://schemas.openxmlformats.org/officeDocument/2006/relationships/notesSlide" Target="/ppt/notesSlides/notesSlide93.xml" Id="Re9ebea36201a4c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6660C8EE-2B43-46FF-987E-D342D297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10 · FÍSICA ACÚSTICA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A498675-BDBD-4CDC-83E4-48CDB30E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38250"/>
            <a:ext cx="6572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7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7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El ruido y su caracterización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B3D908C-8D2D-4D32-9F39-895CB413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 i="0">
                <a:solidFill>
                  <a:srgbClr val="EADDE4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ADDE4"/>
                </a:solidFill>
                <a:latin typeface="Calibri"/>
                <a:ea typeface="Calibri"/>
                <a:cs typeface="Calibri"/>
              </a:rPr>
              <a:t>Tiempo · frecuencia · nivel · función</a:t>
            </a:r>
          </a:p>
        </p:txBody>
      </p:sp>
      <p:sp>
        <p:nvSpPr>
          <p:cNvPr id="4" name="cover-claim">
            <a:extLst xmlns:a="http://schemas.openxmlformats.org/drawingml/2006/main">
              <a:ext uri="{FF2B5EF4-FFF2-40B4-BE49-F238E27FC236}">
                <a16:creationId xmlns:a16="http://schemas.microsoft.com/office/drawing/2014/main" id="{066D7CBD-BBAF-43EC-ADDB-265C1ED0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EADDE4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EADDE4"/>
                </a:solidFill>
                <a:latin typeface="Calibri"/>
                <a:ea typeface="Calibri"/>
                <a:cs typeface="Calibri"/>
              </a:rPr>
              <a:t>Un ruido se comprende por su señal, su contexto y su función.</a:t>
            </a:r>
          </a:p>
        </p:txBody>
      </p:sp>
      <p:sp>
        <p:nvSpPr>
          <p:cNvPr id="5" name="U10-DG-001-visual-alt" descr="Portada conceptual: anticipar cuatro ejes de caracterización. Onda central; tiempo; frecuencia; nivel; efecto. Orden de lectura: Cuatro ramales sin rótulo largo. ---">
            <a:extLst xmlns:a="http://schemas.openxmlformats.org/drawingml/2006/main">
              <a:ext uri="{FF2B5EF4-FFF2-40B4-BE49-F238E27FC236}">
                <a16:creationId xmlns:a16="http://schemas.microsoft.com/office/drawing/2014/main" id="{7AD52D4A-99B9-482D-BA5D-0CC6643D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2476500" cy="59055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6" name="U10-DG-001-concept_1-text">
            <a:extLst xmlns:a="http://schemas.openxmlformats.org/drawingml/2006/main">
              <a:ext uri="{FF2B5EF4-FFF2-40B4-BE49-F238E27FC236}">
                <a16:creationId xmlns:a16="http://schemas.microsoft.com/office/drawing/2014/main" id="{2670C5F4-9118-422F-A17E-670DB3F6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150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Tiempo</a:t>
            </a:r>
          </a:p>
        </p:txBody>
      </p:sp>
      <p:sp>
        <p:nvSpPr>
          <p:cNvPr id="7" name="U10-DG-001-concept_2-box">
            <a:extLst xmlns:a="http://schemas.openxmlformats.org/drawingml/2006/main">
              <a:ext uri="{FF2B5EF4-FFF2-40B4-BE49-F238E27FC236}">
                <a16:creationId xmlns:a16="http://schemas.microsoft.com/office/drawing/2014/main" id="{5B993129-2A4A-4E91-B500-0437125F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619750"/>
            <a:ext cx="2476500" cy="59055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8" name="U10-DG-001-concept_2-text">
            <a:extLst xmlns:a="http://schemas.openxmlformats.org/drawingml/2006/main">
              <a:ext uri="{FF2B5EF4-FFF2-40B4-BE49-F238E27FC236}">
                <a16:creationId xmlns:a16="http://schemas.microsoft.com/office/drawing/2014/main" id="{10F728F9-9728-447F-8CD5-A10F1219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7150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Frecuencia</a:t>
            </a:r>
          </a:p>
        </p:txBody>
      </p:sp>
      <p:sp>
        <p:nvSpPr>
          <p:cNvPr id="9" name="U10-DG-001-concept_3-box">
            <a:extLst xmlns:a="http://schemas.openxmlformats.org/drawingml/2006/main">
              <a:ext uri="{FF2B5EF4-FFF2-40B4-BE49-F238E27FC236}">
                <a16:creationId xmlns:a16="http://schemas.microsoft.com/office/drawing/2014/main" id="{14BD790F-1BEE-48D7-860A-763DE8B0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619750"/>
            <a:ext cx="2476500" cy="59055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0" name="U10-DG-001-concept_3-text">
            <a:extLst xmlns:a="http://schemas.openxmlformats.org/drawingml/2006/main">
              <a:ext uri="{FF2B5EF4-FFF2-40B4-BE49-F238E27FC236}">
                <a16:creationId xmlns:a16="http://schemas.microsoft.com/office/drawing/2014/main" id="{76EFD6A8-6A72-4CFE-A06B-87F8BB82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7150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Nivel</a:t>
            </a:r>
          </a:p>
        </p:txBody>
      </p:sp>
      <p:sp>
        <p:nvSpPr>
          <p:cNvPr id="11" name="U10-DG-001-concept_4-box">
            <a:extLst xmlns:a="http://schemas.openxmlformats.org/drawingml/2006/main">
              <a:ext uri="{FF2B5EF4-FFF2-40B4-BE49-F238E27FC236}">
                <a16:creationId xmlns:a16="http://schemas.microsoft.com/office/drawing/2014/main" id="{278C9F75-8A51-45DE-B5EF-D165D126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619750"/>
            <a:ext cx="2476500" cy="59055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2" name="U10-DG-001-concept_4-text">
            <a:extLst xmlns:a="http://schemas.openxmlformats.org/drawingml/2006/main">
              <a:ext uri="{FF2B5EF4-FFF2-40B4-BE49-F238E27FC236}">
                <a16:creationId xmlns:a16="http://schemas.microsoft.com/office/drawing/2014/main" id="{65107899-01C7-478B-B33F-67F320F0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7150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Efecto / tarea</a:t>
            </a:r>
          </a:p>
        </p:txBody>
      </p:sp>
      <p:sp>
        <p:nvSpPr>
          <p:cNvPr id="1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152A9EB-49DB-4998-9947-05DA669B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946631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rail-1">
            <a:extLst xmlns:a="http://schemas.openxmlformats.org/drawingml/2006/main">
              <a:ext uri="{FF2B5EF4-FFF2-40B4-BE49-F238E27FC236}">
                <a16:creationId xmlns:a16="http://schemas.microsoft.com/office/drawing/2014/main" id="{D7C94EF0-9BF9-46DB-B5DE-95828731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B58164AF-90E9-48B5-8443-BB81F391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56ABEC08-7D43-43F4-A867-FC769FCC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FDF59CB-03B3-415B-A558-6A577EE4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25C2D9-C660-4248-B530-52290EF0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clínica junto a la avenida, ahora como problema de ruido</a:t>
            </a:r>
          </a:p>
        </p:txBody>
      </p:sp>
      <p:sp>
        <p:nvSpPr>
          <p:cNvPr id="6" name="U10-DG-002-source-anchor">
            <a:extLst xmlns:a="http://schemas.openxmlformats.org/drawingml/2006/main">
              <a:ext uri="{FF2B5EF4-FFF2-40B4-BE49-F238E27FC236}">
                <a16:creationId xmlns:a16="http://schemas.microsoft.com/office/drawing/2014/main" id="{28F17128-856B-40AA-8683-EF6AEBB8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433638"/>
            <a:ext cx="2409825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02-path_top-anchor">
            <a:extLst xmlns:a="http://schemas.openxmlformats.org/drawingml/2006/main">
              <a:ext uri="{FF2B5EF4-FFF2-40B4-BE49-F238E27FC236}">
                <a16:creationId xmlns:a16="http://schemas.microsoft.com/office/drawing/2014/main" id="{60D7A392-6B88-4185-8A84-99C079AE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6601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02-path_bottom-anchor">
            <a:extLst xmlns:a="http://schemas.openxmlformats.org/drawingml/2006/main">
              <a:ext uri="{FF2B5EF4-FFF2-40B4-BE49-F238E27FC236}">
                <a16:creationId xmlns:a16="http://schemas.microsoft.com/office/drawing/2014/main" id="{6971611F-DB6F-4343-A065-0BAB2208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44265"/>
            <a:ext cx="236601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02-space-anchor">
            <a:extLst xmlns:a="http://schemas.openxmlformats.org/drawingml/2006/main">
              <a:ext uri="{FF2B5EF4-FFF2-40B4-BE49-F238E27FC236}">
                <a16:creationId xmlns:a16="http://schemas.microsoft.com/office/drawing/2014/main" id="{A1B5344C-D9AE-4907-8EB5-F2E87B59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0" y="2433638"/>
            <a:ext cx="219075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02-receiver-anchor">
            <a:extLst xmlns:a="http://schemas.openxmlformats.org/drawingml/2006/main">
              <a:ext uri="{FF2B5EF4-FFF2-40B4-BE49-F238E27FC236}">
                <a16:creationId xmlns:a16="http://schemas.microsoft.com/office/drawing/2014/main" id="{B4CD3FC1-063C-46C3-A86C-E0097CB3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433638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02-condition-anchor">
            <a:extLst xmlns:a="http://schemas.openxmlformats.org/drawingml/2006/main">
              <a:ext uri="{FF2B5EF4-FFF2-40B4-BE49-F238E27FC236}">
                <a16:creationId xmlns:a16="http://schemas.microsoft.com/office/drawing/2014/main" id="{B103375B-A523-4830-B61D-0B2601D6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815840"/>
            <a:ext cx="5476875" cy="546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2" name="U10-DG-002-route_1a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177540" y="1577340"/>
            <a:ext cx="2594610" cy="140303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10-DG-002-route_1b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57850" y="2140744"/>
            <a:ext cx="262890" cy="83962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4" name="U10-DG-002-route_2a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77540" y="2980373"/>
            <a:ext cx="2594610" cy="16764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10-DG-002-route_2b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5657850" y="2980373"/>
            <a:ext cx="26289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10-DG-002-route_3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111490" y="2980373"/>
            <a:ext cx="30670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7" name="U10-DG-002-visual-alt" descr="Escena técnica del caso disparador. Avenida, fachada, consultorio, conversación, climatización, portazo, receptor. Orden de lectura: Rutas “entra”, “interfiere”, “se evalúa”; numeradas. ---">
            <a:extLst xmlns:a="http://schemas.openxmlformats.org/drawingml/2006/main">
              <a:ext uri="{FF2B5EF4-FFF2-40B4-BE49-F238E27FC236}">
                <a16:creationId xmlns:a16="http://schemas.microsoft.com/office/drawing/2014/main" id="{0A647018-0679-4873-80BA-45033314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433638"/>
            <a:ext cx="2409825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02-source-text">
            <a:extLst xmlns:a="http://schemas.openxmlformats.org/drawingml/2006/main">
              <a:ext uri="{FF2B5EF4-FFF2-40B4-BE49-F238E27FC236}">
                <a16:creationId xmlns:a16="http://schemas.microsoft.com/office/drawing/2014/main" id="{9D76EDF1-A0E5-4A07-BF5A-D1EE1BF8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2557463"/>
            <a:ext cx="2066925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Avenida</a:t>
            </a:r>
          </a:p>
        </p:txBody>
      </p:sp>
      <p:sp>
        <p:nvSpPr>
          <p:cNvPr id="19" name="U10-DG-002-path_top-box">
            <a:extLst xmlns:a="http://schemas.openxmlformats.org/drawingml/2006/main">
              <a:ext uri="{FF2B5EF4-FFF2-40B4-BE49-F238E27FC236}">
                <a16:creationId xmlns:a16="http://schemas.microsoft.com/office/drawing/2014/main" id="{C4BBAB60-B308-4E83-9270-BEF841F0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6601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0" name="U10-DG-002-path_top-text">
            <a:extLst xmlns:a="http://schemas.openxmlformats.org/drawingml/2006/main">
              <a:ext uri="{FF2B5EF4-FFF2-40B4-BE49-F238E27FC236}">
                <a16:creationId xmlns:a16="http://schemas.microsoft.com/office/drawing/2014/main" id="{5DD17555-D631-4CB7-838A-B22D384E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1815465"/>
            <a:ext cx="202311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Fachada</a:t>
            </a:r>
          </a:p>
        </p:txBody>
      </p:sp>
      <p:sp>
        <p:nvSpPr>
          <p:cNvPr id="21" name="U10-DG-002-path_bottom-box">
            <a:extLst xmlns:a="http://schemas.openxmlformats.org/drawingml/2006/main">
              <a:ext uri="{FF2B5EF4-FFF2-40B4-BE49-F238E27FC236}">
                <a16:creationId xmlns:a16="http://schemas.microsoft.com/office/drawing/2014/main" id="{AF4E5976-F655-4AF9-AE38-A4004AB0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44265"/>
            <a:ext cx="236601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2" name="U10-DG-002-path_bottom-text">
            <a:extLst xmlns:a="http://schemas.openxmlformats.org/drawingml/2006/main">
              <a:ext uri="{FF2B5EF4-FFF2-40B4-BE49-F238E27FC236}">
                <a16:creationId xmlns:a16="http://schemas.microsoft.com/office/drawing/2014/main" id="{A3A0F94D-7709-4AF8-A209-E5DFC914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3768090"/>
            <a:ext cx="202311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Consultorio</a:t>
            </a:r>
          </a:p>
        </p:txBody>
      </p:sp>
      <p:sp>
        <p:nvSpPr>
          <p:cNvPr id="23" name="U10-DG-002-space-box">
            <a:extLst xmlns:a="http://schemas.openxmlformats.org/drawingml/2006/main">
              <a:ext uri="{FF2B5EF4-FFF2-40B4-BE49-F238E27FC236}">
                <a16:creationId xmlns:a16="http://schemas.microsoft.com/office/drawing/2014/main" id="{EE59EAEE-4342-4849-893C-37BDDCB1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0" y="2433638"/>
            <a:ext cx="219075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4" name="U10-DG-002-space-text">
            <a:extLst xmlns:a="http://schemas.openxmlformats.org/drawingml/2006/main">
              <a:ext uri="{FF2B5EF4-FFF2-40B4-BE49-F238E27FC236}">
                <a16:creationId xmlns:a16="http://schemas.microsoft.com/office/drawing/2014/main" id="{BD608B51-9387-41DC-B938-7ED12332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190" y="2557463"/>
            <a:ext cx="184785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Conversación</a:t>
            </a:r>
          </a:p>
        </p:txBody>
      </p:sp>
      <p:sp>
        <p:nvSpPr>
          <p:cNvPr id="25" name="U10-DG-002-receiver-box">
            <a:extLst xmlns:a="http://schemas.openxmlformats.org/drawingml/2006/main">
              <a:ext uri="{FF2B5EF4-FFF2-40B4-BE49-F238E27FC236}">
                <a16:creationId xmlns:a16="http://schemas.microsoft.com/office/drawing/2014/main" id="{9202DB49-80FE-40FA-9B0A-D92242B3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433638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6" name="U10-DG-002-receiver-text">
            <a:extLst xmlns:a="http://schemas.openxmlformats.org/drawingml/2006/main">
              <a:ext uri="{FF2B5EF4-FFF2-40B4-BE49-F238E27FC236}">
                <a16:creationId xmlns:a16="http://schemas.microsoft.com/office/drawing/2014/main" id="{B7460FA7-186B-4114-8BC7-9DE6E4DC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557463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Climatización</a:t>
            </a:r>
          </a:p>
        </p:txBody>
      </p:sp>
      <p:sp>
        <p:nvSpPr>
          <p:cNvPr id="27" name="U10-DG-002-condition-box">
            <a:extLst xmlns:a="http://schemas.openxmlformats.org/drawingml/2006/main">
              <a:ext uri="{FF2B5EF4-FFF2-40B4-BE49-F238E27FC236}">
                <a16:creationId xmlns:a16="http://schemas.microsoft.com/office/drawing/2014/main" id="{1FAAE1F9-1971-4CF8-9112-8EE16E07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815840"/>
            <a:ext cx="5476875" cy="546735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8" name="U10-DG-002-condition-text">
            <a:extLst xmlns:a="http://schemas.openxmlformats.org/drawingml/2006/main">
              <a:ext uri="{FF2B5EF4-FFF2-40B4-BE49-F238E27FC236}">
                <a16:creationId xmlns:a16="http://schemas.microsoft.com/office/drawing/2014/main" id="{0D5EF805-131C-4E6E-9CB6-C44030A6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4939665"/>
            <a:ext cx="5133975" cy="299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Portazo</a:t>
            </a:r>
          </a:p>
        </p:txBody>
      </p:sp>
      <p:sp>
        <p:nvSpPr>
          <p:cNvPr id="29" name="caption">
            <a:extLst xmlns:a="http://schemas.openxmlformats.org/drawingml/2006/main">
              <a:ext uri="{FF2B5EF4-FFF2-40B4-BE49-F238E27FC236}">
                <a16:creationId xmlns:a16="http://schemas.microsoft.com/office/drawing/2014/main" id="{DEB2F4F9-3FC6-42F0-85DA-AE7A1EF8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Escena técnica del caso disparador. Avenida, fachada, consultorio, conversación, climatización, portazo, receptor.</a:t>
            </a:r>
          </a:p>
        </p:txBody>
      </p:sp>
      <p:sp>
        <p:nvSpPr>
          <p:cNvPr id="3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BB13F7D-0BA5-4CAB-B2C2-00258163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0525F277-DB3E-4DA5-9F1F-1A141E3B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4E28C129-B49B-47E8-A58C-610B9786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4D401737-D721-444F-B5F5-97467AFC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7852B2FF-56D3-4B14-9184-4EC87101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5DEAE8-6F46-4FAA-82CC-B4C5E809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podremos describir, calcular y decidir</a:t>
            </a:r>
          </a:p>
        </p:txBody>
      </p:sp>
      <p:sp>
        <p:nvSpPr>
          <p:cNvPr id="6" name="U10-DG-003-step_1-anchor">
            <a:extLst xmlns:a="http://schemas.openxmlformats.org/drawingml/2006/main">
              <a:ext uri="{FF2B5EF4-FFF2-40B4-BE49-F238E27FC236}">
                <a16:creationId xmlns:a16="http://schemas.microsoft.com/office/drawing/2014/main" id="{5E78F3B5-EFE1-4369-B4F5-4125985D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03-step_2-anchor">
            <a:extLst xmlns:a="http://schemas.openxmlformats.org/drawingml/2006/main">
              <a:ext uri="{FF2B5EF4-FFF2-40B4-BE49-F238E27FC236}">
                <a16:creationId xmlns:a16="http://schemas.microsoft.com/office/drawing/2014/main" id="{37C71645-303F-4F70-BCBD-F416B00B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03-step_3-anchor">
            <a:extLst xmlns:a="http://schemas.openxmlformats.org/drawingml/2006/main">
              <a:ext uri="{FF2B5EF4-FFF2-40B4-BE49-F238E27FC236}">
                <a16:creationId xmlns:a16="http://schemas.microsoft.com/office/drawing/2014/main" id="{4D849EE8-CF08-4415-ABE7-ED4F11FD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03-step_4-anchor">
            <a:extLst xmlns:a="http://schemas.openxmlformats.org/drawingml/2006/main">
              <a:ext uri="{FF2B5EF4-FFF2-40B4-BE49-F238E27FC236}">
                <a16:creationId xmlns:a16="http://schemas.microsoft.com/office/drawing/2014/main" id="{106D3227-0368-4DCA-9AE9-16DA9E68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03-step_5-anchor">
            <a:extLst xmlns:a="http://schemas.openxmlformats.org/drawingml/2006/main">
              <a:ext uri="{FF2B5EF4-FFF2-40B4-BE49-F238E27FC236}">
                <a16:creationId xmlns:a16="http://schemas.microsoft.com/office/drawing/2014/main" id="{AB41B6B1-21A3-49ED-9091-46EAC058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U10-DG-003-flow_1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U10-DG-003-flow_2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10-DG-003-flow_3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10-DG-003-flow_4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10-DG-003-visual-alt" descr="Ruta de objetivos. Distinguir, describir, calcular, interpretar, proponer. Orden de lectura: Flecha de progresión; sin etiquetas. ---">
            <a:extLst xmlns:a="http://schemas.openxmlformats.org/drawingml/2006/main">
              <a:ext uri="{FF2B5EF4-FFF2-40B4-BE49-F238E27FC236}">
                <a16:creationId xmlns:a16="http://schemas.microsoft.com/office/drawing/2014/main" id="{4B9D95A0-364A-4442-9743-9A36C979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6" name="U10-DG-003-step_1-text">
            <a:extLst xmlns:a="http://schemas.openxmlformats.org/drawingml/2006/main">
              <a:ext uri="{FF2B5EF4-FFF2-40B4-BE49-F238E27FC236}">
                <a16:creationId xmlns:a16="http://schemas.microsoft.com/office/drawing/2014/main" id="{A184B68F-11F1-4449-9BE9-1E4E8B7B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Distinguir señal y</a:t>
            </a:r>
          </a:p>
        </p:txBody>
      </p:sp>
      <p:sp>
        <p:nvSpPr>
          <p:cNvPr id="17" name="U10-DG-003-step_2-box">
            <a:extLst xmlns:a="http://schemas.openxmlformats.org/drawingml/2006/main">
              <a:ext uri="{FF2B5EF4-FFF2-40B4-BE49-F238E27FC236}">
                <a16:creationId xmlns:a16="http://schemas.microsoft.com/office/drawing/2014/main" id="{6DF0582F-0A08-4586-8AC6-BB8EF832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8" name="U10-DG-003-step_2-text">
            <a:extLst xmlns:a="http://schemas.openxmlformats.org/drawingml/2006/main">
              <a:ext uri="{FF2B5EF4-FFF2-40B4-BE49-F238E27FC236}">
                <a16:creationId xmlns:a16="http://schemas.microsoft.com/office/drawing/2014/main" id="{BE10C53A-31A2-4A2F-A063-818F86A6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Describir tiempo y</a:t>
            </a:r>
          </a:p>
        </p:txBody>
      </p:sp>
      <p:sp>
        <p:nvSpPr>
          <p:cNvPr id="19" name="U10-DG-003-step_3-box">
            <a:extLst xmlns:a="http://schemas.openxmlformats.org/drawingml/2006/main">
              <a:ext uri="{FF2B5EF4-FFF2-40B4-BE49-F238E27FC236}">
                <a16:creationId xmlns:a16="http://schemas.microsoft.com/office/drawing/2014/main" id="{BFF32C09-57DC-46F2-BF30-5F11F7D0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0" name="U10-DG-003-step_3-text">
            <a:extLst xmlns:a="http://schemas.openxmlformats.org/drawingml/2006/main">
              <a:ext uri="{FF2B5EF4-FFF2-40B4-BE49-F238E27FC236}">
                <a16:creationId xmlns:a16="http://schemas.microsoft.com/office/drawing/2014/main" id="{19A0306A-2C56-4F68-8D8A-2F07CCAF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Calcular descriptores</a:t>
            </a:r>
          </a:p>
        </p:txBody>
      </p:sp>
      <p:sp>
        <p:nvSpPr>
          <p:cNvPr id="21" name="U10-DG-003-step_4-box">
            <a:extLst xmlns:a="http://schemas.openxmlformats.org/drawingml/2006/main">
              <a:ext uri="{FF2B5EF4-FFF2-40B4-BE49-F238E27FC236}">
                <a16:creationId xmlns:a16="http://schemas.microsoft.com/office/drawing/2014/main" id="{A9354156-4F28-4040-B9E4-E7DF47DD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2" name="U10-DG-003-step_4-text">
            <a:extLst xmlns:a="http://schemas.openxmlformats.org/drawingml/2006/main">
              <a:ext uri="{FF2B5EF4-FFF2-40B4-BE49-F238E27FC236}">
                <a16:creationId xmlns:a16="http://schemas.microsoft.com/office/drawing/2014/main" id="{DB721E8B-9895-4DDA-A2B4-3C1DF7ED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Interpretar</a:t>
            </a:r>
          </a:p>
        </p:txBody>
      </p:sp>
      <p:sp>
        <p:nvSpPr>
          <p:cNvPr id="23" name="U10-DG-003-step_5-box">
            <a:extLst xmlns:a="http://schemas.openxmlformats.org/drawingml/2006/main">
              <a:ext uri="{FF2B5EF4-FFF2-40B4-BE49-F238E27FC236}">
                <a16:creationId xmlns:a16="http://schemas.microsoft.com/office/drawing/2014/main" id="{A323931D-2BFE-4FE9-A8EF-2531960F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4" name="U10-DG-003-step_5-text">
            <a:extLst xmlns:a="http://schemas.openxmlformats.org/drawingml/2006/main">
              <a:ext uri="{FF2B5EF4-FFF2-40B4-BE49-F238E27FC236}">
                <a16:creationId xmlns:a16="http://schemas.microsoft.com/office/drawing/2014/main" id="{A24E5722-AAE0-4210-A118-ABCE61BA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Proponer control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881C0342-9BBC-4996-A3BA-F23ECBFA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Ruta de objetivos. Distinguir, describir, calcular, interpretar, proponer.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351A0A8-D292-4367-B8F7-29476B5D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619184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rail-1">
            <a:extLst xmlns:a="http://schemas.openxmlformats.org/drawingml/2006/main">
              <a:ext uri="{FF2B5EF4-FFF2-40B4-BE49-F238E27FC236}">
                <a16:creationId xmlns:a16="http://schemas.microsoft.com/office/drawing/2014/main" id="{2C5F73A8-747F-45CF-85E5-E692D583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F6AC2133-6197-40AA-9460-B4F3CAA7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BA927C74-623D-42B9-98D0-85434865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754B2A07-EC6C-4FC3-B7B0-038BFB1F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4299B4-0084-4CFB-827A-57A419FB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necesitamos recuperar</a:t>
            </a:r>
          </a:p>
        </p:txBody>
      </p:sp>
      <p:sp>
        <p:nvSpPr>
          <p:cNvPr id="6" name="U10-DG-004-branch_source-anchor">
            <a:extLst xmlns:a="http://schemas.openxmlformats.org/drawingml/2006/main">
              <a:ext uri="{FF2B5EF4-FFF2-40B4-BE49-F238E27FC236}">
                <a16:creationId xmlns:a16="http://schemas.microsoft.com/office/drawing/2014/main" id="{CFFC0C1E-93D5-4B85-87D8-B93501AB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497455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04-branch_1-anchor">
            <a:extLst xmlns:a="http://schemas.openxmlformats.org/drawingml/2006/main">
              <a:ext uri="{FF2B5EF4-FFF2-40B4-BE49-F238E27FC236}">
                <a16:creationId xmlns:a16="http://schemas.microsoft.com/office/drawing/2014/main" id="{4CAAD8E2-7125-4684-B225-2AF80344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488567"/>
            <a:ext cx="376809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04-branch_2-anchor">
            <a:extLst xmlns:a="http://schemas.openxmlformats.org/drawingml/2006/main">
              <a:ext uri="{FF2B5EF4-FFF2-40B4-BE49-F238E27FC236}">
                <a16:creationId xmlns:a16="http://schemas.microsoft.com/office/drawing/2014/main" id="{DC8378D0-1255-47AE-8B4B-F171CE75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2269617"/>
            <a:ext cx="376809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04-branch_3-anchor">
            <a:extLst xmlns:a="http://schemas.openxmlformats.org/drawingml/2006/main">
              <a:ext uri="{FF2B5EF4-FFF2-40B4-BE49-F238E27FC236}">
                <a16:creationId xmlns:a16="http://schemas.microsoft.com/office/drawing/2014/main" id="{D4B944F3-C884-448C-8731-4DF2B034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050667"/>
            <a:ext cx="376809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04-branch_4-anchor">
            <a:extLst xmlns:a="http://schemas.openxmlformats.org/drawingml/2006/main">
              <a:ext uri="{FF2B5EF4-FFF2-40B4-BE49-F238E27FC236}">
                <a16:creationId xmlns:a16="http://schemas.microsoft.com/office/drawing/2014/main" id="{A7A1F955-4DBB-4775-BAE7-4FC5EE9E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831717"/>
            <a:ext cx="376809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04-branch_5-anchor">
            <a:extLst xmlns:a="http://schemas.openxmlformats.org/drawingml/2006/main">
              <a:ext uri="{FF2B5EF4-FFF2-40B4-BE49-F238E27FC236}">
                <a16:creationId xmlns:a16="http://schemas.microsoft.com/office/drawing/2014/main" id="{9779961B-DAC9-4B76-BFCE-6496183D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4612767"/>
            <a:ext cx="376809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2" name="U10-DG-004-branch_edge_1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335655" y="1808798"/>
            <a:ext cx="2847975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10-DG-004-branch_edge_2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335655" y="2589848"/>
            <a:ext cx="2847975" cy="64436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4" name="U10-DG-004-branch_edge_3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335655" y="3234215"/>
            <a:ext cx="2847975" cy="13668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10-DG-004-branch_edge_4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335655" y="3234215"/>
            <a:ext cx="2847975" cy="91773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10-DG-004-branch_edge_5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335655" y="3234215"/>
            <a:ext cx="2847975" cy="169878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7" name="U10-DG-004-visual-alt" descr="Red de prerrequisitos. Presión/RMS; dB; espectro; SNR; percepción; propagación. Orden de lectura: “sostiene” hacia U10, agrupados por unidad previa. ---">
            <a:extLst xmlns:a="http://schemas.openxmlformats.org/drawingml/2006/main">
              <a:ext uri="{FF2B5EF4-FFF2-40B4-BE49-F238E27FC236}">
                <a16:creationId xmlns:a16="http://schemas.microsoft.com/office/drawing/2014/main" id="{04C2D39C-6C73-4EFE-9B32-A466B566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497455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04-branch_source-text">
            <a:extLst xmlns:a="http://schemas.openxmlformats.org/drawingml/2006/main">
              <a:ext uri="{FF2B5EF4-FFF2-40B4-BE49-F238E27FC236}">
                <a16:creationId xmlns:a16="http://schemas.microsoft.com/office/drawing/2014/main" id="{382FDB61-38DA-45D3-BE30-A67358F8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91778"/>
            <a:ext cx="2154555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Presión y RMS</a:t>
            </a:r>
          </a:p>
        </p:txBody>
      </p:sp>
      <p:sp>
        <p:nvSpPr>
          <p:cNvPr id="19" name="U10-DG-004-branch_1-box">
            <a:extLst xmlns:a="http://schemas.openxmlformats.org/drawingml/2006/main">
              <a:ext uri="{FF2B5EF4-FFF2-40B4-BE49-F238E27FC236}">
                <a16:creationId xmlns:a16="http://schemas.microsoft.com/office/drawing/2014/main" id="{FCF149B7-3D53-45E8-A978-00615F08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488567"/>
            <a:ext cx="376809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0" name="U10-DG-004-branch_1-text">
            <a:extLst xmlns:a="http://schemas.openxmlformats.org/drawingml/2006/main">
              <a:ext uri="{FF2B5EF4-FFF2-40B4-BE49-F238E27FC236}">
                <a16:creationId xmlns:a16="http://schemas.microsoft.com/office/drawing/2014/main" id="{21167657-3654-4BEB-BBE7-9ACC52CE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612392"/>
            <a:ext cx="342519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Niveles en dB</a:t>
            </a:r>
          </a:p>
        </p:txBody>
      </p:sp>
      <p:sp>
        <p:nvSpPr>
          <p:cNvPr id="21" name="U10-DG-004-branch_2-box">
            <a:extLst xmlns:a="http://schemas.openxmlformats.org/drawingml/2006/main">
              <a:ext uri="{FF2B5EF4-FFF2-40B4-BE49-F238E27FC236}">
                <a16:creationId xmlns:a16="http://schemas.microsoft.com/office/drawing/2014/main" id="{243BDEBA-8407-4779-B8AE-B2CC5901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2269617"/>
            <a:ext cx="376809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2" name="U10-DG-004-branch_2-text">
            <a:extLst xmlns:a="http://schemas.openxmlformats.org/drawingml/2006/main">
              <a:ext uri="{FF2B5EF4-FFF2-40B4-BE49-F238E27FC236}">
                <a16:creationId xmlns:a16="http://schemas.microsoft.com/office/drawing/2014/main" id="{7163DFBF-E2DE-4E45-AA5A-D630F774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393442"/>
            <a:ext cx="342519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Espectro y bandas</a:t>
            </a:r>
          </a:p>
        </p:txBody>
      </p:sp>
      <p:sp>
        <p:nvSpPr>
          <p:cNvPr id="23" name="U10-DG-004-branch_3-box">
            <a:extLst xmlns:a="http://schemas.openxmlformats.org/drawingml/2006/main">
              <a:ext uri="{FF2B5EF4-FFF2-40B4-BE49-F238E27FC236}">
                <a16:creationId xmlns:a16="http://schemas.microsoft.com/office/drawing/2014/main" id="{0D6ED54E-2A1F-4121-A114-79F0416B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050667"/>
            <a:ext cx="376809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4" name="U10-DG-004-branch_3-text">
            <a:extLst xmlns:a="http://schemas.openxmlformats.org/drawingml/2006/main">
              <a:ext uri="{FF2B5EF4-FFF2-40B4-BE49-F238E27FC236}">
                <a16:creationId xmlns:a16="http://schemas.microsoft.com/office/drawing/2014/main" id="{DE6DB43E-C1D4-466B-AB41-A67A71C3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174492"/>
            <a:ext cx="342519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SNR</a:t>
            </a:r>
          </a:p>
        </p:txBody>
      </p:sp>
      <p:sp>
        <p:nvSpPr>
          <p:cNvPr id="25" name="U10-DG-004-branch_4-box">
            <a:extLst xmlns:a="http://schemas.openxmlformats.org/drawingml/2006/main">
              <a:ext uri="{FF2B5EF4-FFF2-40B4-BE49-F238E27FC236}">
                <a16:creationId xmlns:a16="http://schemas.microsoft.com/office/drawing/2014/main" id="{3537F1D1-E9EA-4373-8296-B533A3C8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831717"/>
            <a:ext cx="376809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6" name="U10-DG-004-branch_4-text">
            <a:extLst xmlns:a="http://schemas.openxmlformats.org/drawingml/2006/main">
              <a:ext uri="{FF2B5EF4-FFF2-40B4-BE49-F238E27FC236}">
                <a16:creationId xmlns:a16="http://schemas.microsoft.com/office/drawing/2014/main" id="{B68F76AC-2013-42A5-A518-5C736E96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955542"/>
            <a:ext cx="342519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Percepción</a:t>
            </a:r>
          </a:p>
        </p:txBody>
      </p:sp>
      <p:sp>
        <p:nvSpPr>
          <p:cNvPr id="27" name="U10-DG-004-branch_5-box">
            <a:extLst xmlns:a="http://schemas.openxmlformats.org/drawingml/2006/main">
              <a:ext uri="{FF2B5EF4-FFF2-40B4-BE49-F238E27FC236}">
                <a16:creationId xmlns:a16="http://schemas.microsoft.com/office/drawing/2014/main" id="{ED54A2A9-883B-4DB9-8B7F-D6DA8634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4612767"/>
            <a:ext cx="376809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8" name="U10-DG-004-branch_5-text">
            <a:extLst xmlns:a="http://schemas.openxmlformats.org/drawingml/2006/main">
              <a:ext uri="{FF2B5EF4-FFF2-40B4-BE49-F238E27FC236}">
                <a16:creationId xmlns:a16="http://schemas.microsoft.com/office/drawing/2014/main" id="{4D0DBF75-5384-4252-86E5-5ACBFC3D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736592"/>
            <a:ext cx="342519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Propagación</a:t>
            </a:r>
          </a:p>
        </p:txBody>
      </p:sp>
      <p:sp>
        <p:nvSpPr>
          <p:cNvPr id="29" name="caption">
            <a:extLst xmlns:a="http://schemas.openxmlformats.org/drawingml/2006/main">
              <a:ext uri="{FF2B5EF4-FFF2-40B4-BE49-F238E27FC236}">
                <a16:creationId xmlns:a16="http://schemas.microsoft.com/office/drawing/2014/main" id="{AC3DB0AC-8EBB-4624-A97A-D54A6D41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Red de prerrequisitos. Presión/RMS; dB; espectro; SNR; percepción; propagación.</a:t>
            </a:r>
          </a:p>
        </p:txBody>
      </p:sp>
      <p:sp>
        <p:nvSpPr>
          <p:cNvPr id="3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2F39F22-4E95-4E11-B29A-357FA763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op-rail-1">
            <a:extLst xmlns:a="http://schemas.openxmlformats.org/drawingml/2006/main">
              <a:ext uri="{FF2B5EF4-FFF2-40B4-BE49-F238E27FC236}">
                <a16:creationId xmlns:a16="http://schemas.microsoft.com/office/drawing/2014/main" id="{F2359810-A025-4715-AAF5-C8EFC877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10872BDE-A7C7-444B-A2AC-2B8B39E2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415FAD47-6388-4E13-95C2-7881C8DB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ED83F482-236F-4C61-B72A-EF5FEC84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540AF0-DA13-428A-AB77-7DB28264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la señal al control</a:t>
            </a:r>
          </a:p>
        </p:txBody>
      </p:sp>
      <p:sp>
        <p:nvSpPr>
          <p:cNvPr id="6" name="U10-DG-005-concept_1-anchor">
            <a:extLst xmlns:a="http://schemas.openxmlformats.org/drawingml/2006/main">
              <a:ext uri="{FF2B5EF4-FFF2-40B4-BE49-F238E27FC236}">
                <a16:creationId xmlns:a16="http://schemas.microsoft.com/office/drawing/2014/main" id="{8D7FCE9E-726A-45E7-A55B-99B4DC69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05-concept_2-anchor">
            <a:extLst xmlns:a="http://schemas.openxmlformats.org/drawingml/2006/main">
              <a:ext uri="{FF2B5EF4-FFF2-40B4-BE49-F238E27FC236}">
                <a16:creationId xmlns:a16="http://schemas.microsoft.com/office/drawing/2014/main" id="{336E8AB6-C786-4684-8B40-48C0F92E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05-concept_3-anchor">
            <a:extLst xmlns:a="http://schemas.openxmlformats.org/drawingml/2006/main">
              <a:ext uri="{FF2B5EF4-FFF2-40B4-BE49-F238E27FC236}">
                <a16:creationId xmlns:a16="http://schemas.microsoft.com/office/drawing/2014/main" id="{425C5E09-C7C5-4F1A-9B3B-09C4909D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05-concept_4-anchor">
            <a:extLst xmlns:a="http://schemas.openxmlformats.org/drawingml/2006/main">
              <a:ext uri="{FF2B5EF4-FFF2-40B4-BE49-F238E27FC236}">
                <a16:creationId xmlns:a16="http://schemas.microsoft.com/office/drawing/2014/main" id="{012BDF04-7142-4652-BC4A-1E58E5C2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41320"/>
            <a:ext cx="3107944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05-concept_5-anchor">
            <a:extLst xmlns:a="http://schemas.openxmlformats.org/drawingml/2006/main">
              <a:ext uri="{FF2B5EF4-FFF2-40B4-BE49-F238E27FC236}">
                <a16:creationId xmlns:a16="http://schemas.microsoft.com/office/drawing/2014/main" id="{FFBE3DB3-71C8-4C67-AECA-C9610DC1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2941320"/>
            <a:ext cx="3107944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05-concept_6-anchor">
            <a:extLst xmlns:a="http://schemas.openxmlformats.org/drawingml/2006/main">
              <a:ext uri="{FF2B5EF4-FFF2-40B4-BE49-F238E27FC236}">
                <a16:creationId xmlns:a16="http://schemas.microsoft.com/office/drawing/2014/main" id="{EC9D8BF3-C00A-4B6E-BDA7-467A246B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2941320"/>
            <a:ext cx="3107944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10-DG-005-concept_7-anchor">
            <a:extLst xmlns:a="http://schemas.openxmlformats.org/drawingml/2006/main">
              <a:ext uri="{FF2B5EF4-FFF2-40B4-BE49-F238E27FC236}">
                <a16:creationId xmlns:a16="http://schemas.microsoft.com/office/drawing/2014/main" id="{0D222B01-7792-4E65-8C75-EA6B728D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107944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U10-DG-005-concept_8-anchor">
            <a:extLst xmlns:a="http://schemas.openxmlformats.org/drawingml/2006/main">
              <a:ext uri="{FF2B5EF4-FFF2-40B4-BE49-F238E27FC236}">
                <a16:creationId xmlns:a16="http://schemas.microsoft.com/office/drawing/2014/main" id="{C5087B9B-9F08-45AF-B01B-98DD0C7D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4191000"/>
            <a:ext cx="3107944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U10-DG-005-concept_9-anchor">
            <a:extLst xmlns:a="http://schemas.openxmlformats.org/drawingml/2006/main">
              <a:ext uri="{FF2B5EF4-FFF2-40B4-BE49-F238E27FC236}">
                <a16:creationId xmlns:a16="http://schemas.microsoft.com/office/drawing/2014/main" id="{6D25446D-E300-4FA3-A441-59BB9325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4191000"/>
            <a:ext cx="3107944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U10-DG-005-visual-alt" descr="Mapa completo de clase. Nueve bloques y tres pausas. Orden de lectura: Trayecto principal; ramal punteado a respaldo. ---">
            <a:extLst xmlns:a="http://schemas.openxmlformats.org/drawingml/2006/main">
              <a:ext uri="{FF2B5EF4-FFF2-40B4-BE49-F238E27FC236}">
                <a16:creationId xmlns:a16="http://schemas.microsoft.com/office/drawing/2014/main" id="{B8CEC06A-795C-4296-8D72-35F8147C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030986"/>
          </a:xfrm>
          <a:prstGeom xmlns:a="http://schemas.openxmlformats.org/drawingml/2006/main" prst="roundRect">
            <a:avLst>
              <a:gd name="adj" fmla="val 646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6" name="U10-DG-005-concept_1-text">
            <a:extLst xmlns:a="http://schemas.openxmlformats.org/drawingml/2006/main">
              <a:ext uri="{FF2B5EF4-FFF2-40B4-BE49-F238E27FC236}">
                <a16:creationId xmlns:a16="http://schemas.microsoft.com/office/drawing/2014/main" id="{62810ECF-AB9E-46A0-A16D-E3559EA4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2765044" cy="783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Señal y contexto</a:t>
            </a:r>
          </a:p>
        </p:txBody>
      </p:sp>
      <p:sp>
        <p:nvSpPr>
          <p:cNvPr id="17" name="U10-DG-005-concept_2-box">
            <a:extLst xmlns:a="http://schemas.openxmlformats.org/drawingml/2006/main">
              <a:ext uri="{FF2B5EF4-FFF2-40B4-BE49-F238E27FC236}">
                <a16:creationId xmlns:a16="http://schemas.microsoft.com/office/drawing/2014/main" id="{50746671-DAAA-4CE2-B937-7C4C3E64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030986"/>
          </a:xfrm>
          <a:prstGeom xmlns:a="http://schemas.openxmlformats.org/drawingml/2006/main" prst="roundRect">
            <a:avLst>
              <a:gd name="adj" fmla="val 646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8" name="U10-DG-005-concept_2-text">
            <a:extLst xmlns:a="http://schemas.openxmlformats.org/drawingml/2006/main">
              <a:ext uri="{FF2B5EF4-FFF2-40B4-BE49-F238E27FC236}">
                <a16:creationId xmlns:a16="http://schemas.microsoft.com/office/drawing/2014/main" id="{BE03AC78-7D52-41F2-AF1B-815BFEC0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815465"/>
            <a:ext cx="2765044" cy="783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Tiempo</a:t>
            </a:r>
          </a:p>
        </p:txBody>
      </p:sp>
      <p:sp>
        <p:nvSpPr>
          <p:cNvPr id="19" name="U10-DG-005-concept_3-box">
            <a:extLst xmlns:a="http://schemas.openxmlformats.org/drawingml/2006/main">
              <a:ext uri="{FF2B5EF4-FFF2-40B4-BE49-F238E27FC236}">
                <a16:creationId xmlns:a16="http://schemas.microsoft.com/office/drawing/2014/main" id="{F9164F3D-95E2-4467-98BA-8817194E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030986"/>
          </a:xfrm>
          <a:prstGeom xmlns:a="http://schemas.openxmlformats.org/drawingml/2006/main" prst="roundRect">
            <a:avLst>
              <a:gd name="adj" fmla="val 646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0" name="U10-DG-005-concept_3-text">
            <a:extLst xmlns:a="http://schemas.openxmlformats.org/drawingml/2006/main">
              <a:ext uri="{FF2B5EF4-FFF2-40B4-BE49-F238E27FC236}">
                <a16:creationId xmlns:a16="http://schemas.microsoft.com/office/drawing/2014/main" id="{0056E3D9-4B04-44BF-A0CF-C67BD73C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815465"/>
            <a:ext cx="2765044" cy="783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Estadística</a:t>
            </a:r>
          </a:p>
        </p:txBody>
      </p:sp>
      <p:sp>
        <p:nvSpPr>
          <p:cNvPr id="21" name="U10-DG-005-concept_4-box">
            <a:extLst xmlns:a="http://schemas.openxmlformats.org/drawingml/2006/main">
              <a:ext uri="{FF2B5EF4-FFF2-40B4-BE49-F238E27FC236}">
                <a16:creationId xmlns:a16="http://schemas.microsoft.com/office/drawing/2014/main" id="{D5C4A1E2-B728-40EE-B970-BFFECCC9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41320"/>
            <a:ext cx="3107944" cy="1030986"/>
          </a:xfrm>
          <a:prstGeom xmlns:a="http://schemas.openxmlformats.org/drawingml/2006/main" prst="roundRect">
            <a:avLst>
              <a:gd name="adj" fmla="val 646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2" name="U10-DG-005-concept_4-text">
            <a:extLst xmlns:a="http://schemas.openxmlformats.org/drawingml/2006/main">
              <a:ext uri="{FF2B5EF4-FFF2-40B4-BE49-F238E27FC236}">
                <a16:creationId xmlns:a16="http://schemas.microsoft.com/office/drawing/2014/main" id="{7A91CA9A-391A-412C-B32A-A05DF4F8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5145"/>
            <a:ext cx="2765044" cy="783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Frecuencia y colores</a:t>
            </a:r>
          </a:p>
        </p:txBody>
      </p:sp>
      <p:sp>
        <p:nvSpPr>
          <p:cNvPr id="23" name="U10-DG-005-concept_5-box">
            <a:extLst xmlns:a="http://schemas.openxmlformats.org/drawingml/2006/main">
              <a:ext uri="{FF2B5EF4-FFF2-40B4-BE49-F238E27FC236}">
                <a16:creationId xmlns:a16="http://schemas.microsoft.com/office/drawing/2014/main" id="{0781527B-79B6-4080-8E4C-37A8E812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2941320"/>
            <a:ext cx="3107944" cy="1030986"/>
          </a:xfrm>
          <a:prstGeom xmlns:a="http://schemas.openxmlformats.org/drawingml/2006/main" prst="roundRect">
            <a:avLst>
              <a:gd name="adj" fmla="val 646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4" name="U10-DG-005-concept_5-text">
            <a:extLst xmlns:a="http://schemas.openxmlformats.org/drawingml/2006/main">
              <a:ext uri="{FF2B5EF4-FFF2-40B4-BE49-F238E27FC236}">
                <a16:creationId xmlns:a16="http://schemas.microsoft.com/office/drawing/2014/main" id="{1F28B774-125D-4FAC-ACE6-FC344DFD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065145"/>
            <a:ext cx="2765044" cy="783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Señales de prueba</a:t>
            </a:r>
          </a:p>
        </p:txBody>
      </p:sp>
      <p:sp>
        <p:nvSpPr>
          <p:cNvPr id="25" name="U10-DG-005-concept_6-box">
            <a:extLst xmlns:a="http://schemas.openxmlformats.org/drawingml/2006/main">
              <a:ext uri="{FF2B5EF4-FFF2-40B4-BE49-F238E27FC236}">
                <a16:creationId xmlns:a16="http://schemas.microsoft.com/office/drawing/2014/main" id="{6DD0B36C-7556-4B47-84DC-EDB05229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2941320"/>
            <a:ext cx="3107944" cy="1030986"/>
          </a:xfrm>
          <a:prstGeom xmlns:a="http://schemas.openxmlformats.org/drawingml/2006/main" prst="roundRect">
            <a:avLst>
              <a:gd name="adj" fmla="val 646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6" name="U10-DG-005-concept_6-text">
            <a:extLst xmlns:a="http://schemas.openxmlformats.org/drawingml/2006/main">
              <a:ext uri="{FF2B5EF4-FFF2-40B4-BE49-F238E27FC236}">
                <a16:creationId xmlns:a16="http://schemas.microsoft.com/office/drawing/2014/main" id="{094ECABB-4B19-49D4-AAAA-52A1D76A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3065145"/>
            <a:ext cx="2765044" cy="783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Descriptores y SNR</a:t>
            </a:r>
          </a:p>
        </p:txBody>
      </p:sp>
      <p:sp>
        <p:nvSpPr>
          <p:cNvPr id="27" name="U10-DG-005-concept_7-box">
            <a:extLst xmlns:a="http://schemas.openxmlformats.org/drawingml/2006/main">
              <a:ext uri="{FF2B5EF4-FFF2-40B4-BE49-F238E27FC236}">
                <a16:creationId xmlns:a16="http://schemas.microsoft.com/office/drawing/2014/main" id="{5D79340B-0AB8-4236-86F3-F74CB665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107944" cy="1030986"/>
          </a:xfrm>
          <a:prstGeom xmlns:a="http://schemas.openxmlformats.org/drawingml/2006/main" prst="roundRect">
            <a:avLst>
              <a:gd name="adj" fmla="val 646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8" name="U10-DG-005-concept_7-text">
            <a:extLst xmlns:a="http://schemas.openxmlformats.org/drawingml/2006/main">
              <a:ext uri="{FF2B5EF4-FFF2-40B4-BE49-F238E27FC236}">
                <a16:creationId xmlns:a16="http://schemas.microsoft.com/office/drawing/2014/main" id="{26808D41-84A4-48F7-8A9D-C1E19CC5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2765044" cy="783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Enmascaramiento</a:t>
            </a:r>
          </a:p>
        </p:txBody>
      </p:sp>
      <p:sp>
        <p:nvSpPr>
          <p:cNvPr id="29" name="U10-DG-005-concept_8-box">
            <a:extLst xmlns:a="http://schemas.openxmlformats.org/drawingml/2006/main">
              <a:ext uri="{FF2B5EF4-FFF2-40B4-BE49-F238E27FC236}">
                <a16:creationId xmlns:a16="http://schemas.microsoft.com/office/drawing/2014/main" id="{9BB4386D-2E51-494B-B395-DE65E366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4191000"/>
            <a:ext cx="3107944" cy="1030986"/>
          </a:xfrm>
          <a:prstGeom xmlns:a="http://schemas.openxmlformats.org/drawingml/2006/main" prst="roundRect">
            <a:avLst>
              <a:gd name="adj" fmla="val 646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30" name="U10-DG-005-concept_8-text">
            <a:extLst xmlns:a="http://schemas.openxmlformats.org/drawingml/2006/main">
              <a:ext uri="{FF2B5EF4-FFF2-40B4-BE49-F238E27FC236}">
                <a16:creationId xmlns:a16="http://schemas.microsoft.com/office/drawing/2014/main" id="{BD711234-552A-4372-86E1-3859F918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4314825"/>
            <a:ext cx="2765044" cy="783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Exposición y control</a:t>
            </a:r>
          </a:p>
        </p:txBody>
      </p:sp>
      <p:sp>
        <p:nvSpPr>
          <p:cNvPr id="31" name="U10-DG-005-concept_9-box">
            <a:extLst xmlns:a="http://schemas.openxmlformats.org/drawingml/2006/main">
              <a:ext uri="{FF2B5EF4-FFF2-40B4-BE49-F238E27FC236}">
                <a16:creationId xmlns:a16="http://schemas.microsoft.com/office/drawing/2014/main" id="{AA067F84-34CD-415D-A684-83DFBEA7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4191000"/>
            <a:ext cx="3107944" cy="1030986"/>
          </a:xfrm>
          <a:prstGeom xmlns:a="http://schemas.openxmlformats.org/drawingml/2006/main" prst="roundRect">
            <a:avLst>
              <a:gd name="adj" fmla="val 646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32" name="U10-DG-005-concept_9-text">
            <a:extLst xmlns:a="http://schemas.openxmlformats.org/drawingml/2006/main">
              <a:ext uri="{FF2B5EF4-FFF2-40B4-BE49-F238E27FC236}">
                <a16:creationId xmlns:a16="http://schemas.microsoft.com/office/drawing/2014/main" id="{E597B9BE-96DA-4438-AA9E-CA8EE0E0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4314825"/>
            <a:ext cx="2765044" cy="783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Integración</a:t>
            </a:r>
          </a:p>
        </p:txBody>
      </p:sp>
      <p:sp>
        <p:nvSpPr>
          <p:cNvPr id="33" name="caption">
            <a:extLst xmlns:a="http://schemas.openxmlformats.org/drawingml/2006/main">
              <a:ext uri="{FF2B5EF4-FFF2-40B4-BE49-F238E27FC236}">
                <a16:creationId xmlns:a16="http://schemas.microsoft.com/office/drawing/2014/main" id="{5D39C34B-1510-46B2-BD12-91C6A690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Mapa completo de clase. Nueve bloques y tres pausas.</a:t>
            </a:r>
          </a:p>
        </p:txBody>
      </p:sp>
      <p:sp>
        <p:nvSpPr>
          <p:cNvPr id="3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ECB5343-6FCC-4D32-8787-77E9429E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714790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598D8F01-1E1D-4510-B397-BC571484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10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9E64F56E-3323-48F8-A8C8-D710F347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¿Cuándo una misma señal funciona como ruido?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644D3C4F-C829-4189-B0C6-DAD4F281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Pregunta guía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B385F1C-E1BC-489D-ADEA-34B84420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rail-1">
            <a:extLst xmlns:a="http://schemas.openxmlformats.org/drawingml/2006/main">
              <a:ext uri="{FF2B5EF4-FFF2-40B4-BE49-F238E27FC236}">
                <a16:creationId xmlns:a16="http://schemas.microsoft.com/office/drawing/2014/main" id="{E9D3A5F5-1385-4049-AC02-C0D33770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6E29ABC4-1187-4164-8773-1AC3DF09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288538AB-F1A7-4BF0-B50C-2F2D2FDF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8CF6A7D-08B3-480C-8146-AC5CCF4D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250DD4-5FD5-42ED-BC9D-717D529B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sonido ocurre; la señal lo representa</a:t>
            </a:r>
          </a:p>
        </p:txBody>
      </p:sp>
      <p:sp>
        <p:nvSpPr>
          <p:cNvPr id="6" name="U10-DG-006-branch_source-anchor">
            <a:extLst xmlns:a="http://schemas.openxmlformats.org/drawingml/2006/main">
              <a:ext uri="{FF2B5EF4-FFF2-40B4-BE49-F238E27FC236}">
                <a16:creationId xmlns:a16="http://schemas.microsoft.com/office/drawing/2014/main" id="{7884A145-CD6A-4170-A4ED-4ED3524B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497455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06-branch_1-anchor">
            <a:extLst xmlns:a="http://schemas.openxmlformats.org/drawingml/2006/main">
              <a:ext uri="{FF2B5EF4-FFF2-40B4-BE49-F238E27FC236}">
                <a16:creationId xmlns:a16="http://schemas.microsoft.com/office/drawing/2014/main" id="{AA239579-80BA-4B5A-9F51-09B77738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488567"/>
            <a:ext cx="376809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06-branch_2-anchor">
            <a:extLst xmlns:a="http://schemas.openxmlformats.org/drawingml/2006/main">
              <a:ext uri="{FF2B5EF4-FFF2-40B4-BE49-F238E27FC236}">
                <a16:creationId xmlns:a16="http://schemas.microsoft.com/office/drawing/2014/main" id="{03F8403D-FBEA-436C-BF4A-AA3D48D4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2269617"/>
            <a:ext cx="376809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06-branch_3-anchor">
            <a:extLst xmlns:a="http://schemas.openxmlformats.org/drawingml/2006/main">
              <a:ext uri="{FF2B5EF4-FFF2-40B4-BE49-F238E27FC236}">
                <a16:creationId xmlns:a16="http://schemas.microsoft.com/office/drawing/2014/main" id="{5F9199E5-6A25-49DD-BC3F-0147C050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050667"/>
            <a:ext cx="376809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06-branch_4-anchor">
            <a:extLst xmlns:a="http://schemas.openxmlformats.org/drawingml/2006/main">
              <a:ext uri="{FF2B5EF4-FFF2-40B4-BE49-F238E27FC236}">
                <a16:creationId xmlns:a16="http://schemas.microsoft.com/office/drawing/2014/main" id="{33C8E199-859E-42EC-8B88-35446A1B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831717"/>
            <a:ext cx="376809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06-branch_5-anchor">
            <a:extLst xmlns:a="http://schemas.openxmlformats.org/drawingml/2006/main">
              <a:ext uri="{FF2B5EF4-FFF2-40B4-BE49-F238E27FC236}">
                <a16:creationId xmlns:a16="http://schemas.microsoft.com/office/drawing/2014/main" id="{BB592EA6-D6BE-47FD-831D-AC611D9A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4612767"/>
            <a:ext cx="376809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2" name="U10-DG-006-branch_edge_1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335655" y="1808798"/>
            <a:ext cx="2847975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10-DG-006-branch_edge_2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335655" y="2589848"/>
            <a:ext cx="2847975" cy="64436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4" name="U10-DG-006-branch_edge_3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335655" y="3234215"/>
            <a:ext cx="2847975" cy="13668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10-DG-006-branch_edge_4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335655" y="3234215"/>
            <a:ext cx="2847975" cy="91773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10-DG-006-branch_edge_5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335655" y="3234215"/>
            <a:ext cx="2847975" cy="169878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7" name="U10-DG-006-visual-alt" descr="Cadena fenómeno–representación. Fuente; presión p(t); micrófono; señal; medición; receptor/efecto. Orden de lectura: “genera”, “transduce”, “resume”, “interpreta”. ---">
            <a:extLst xmlns:a="http://schemas.openxmlformats.org/drawingml/2006/main">
              <a:ext uri="{FF2B5EF4-FFF2-40B4-BE49-F238E27FC236}">
                <a16:creationId xmlns:a16="http://schemas.microsoft.com/office/drawing/2014/main" id="{CEAFB505-5720-4B68-A555-D60F52BA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497455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06-branch_source-text">
            <a:extLst xmlns:a="http://schemas.openxmlformats.org/drawingml/2006/main">
              <a:ext uri="{FF2B5EF4-FFF2-40B4-BE49-F238E27FC236}">
                <a16:creationId xmlns:a16="http://schemas.microsoft.com/office/drawing/2014/main" id="{0D913222-5422-46D2-A442-42CF0B90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91778"/>
            <a:ext cx="2154555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Fuente</a:t>
            </a:r>
          </a:p>
        </p:txBody>
      </p:sp>
      <p:sp>
        <p:nvSpPr>
          <p:cNvPr id="19" name="U10-DG-006-branch_1-box">
            <a:extLst xmlns:a="http://schemas.openxmlformats.org/drawingml/2006/main">
              <a:ext uri="{FF2B5EF4-FFF2-40B4-BE49-F238E27FC236}">
                <a16:creationId xmlns:a16="http://schemas.microsoft.com/office/drawing/2014/main" id="{2A841917-09F4-4BF5-8B83-1CEC5696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488567"/>
            <a:ext cx="376809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0" name="U10-DG-006-branch_1-text">
            <a:extLst xmlns:a="http://schemas.openxmlformats.org/drawingml/2006/main">
              <a:ext uri="{FF2B5EF4-FFF2-40B4-BE49-F238E27FC236}">
                <a16:creationId xmlns:a16="http://schemas.microsoft.com/office/drawing/2014/main" id="{2189D6EF-03C5-4DDD-9205-B09AF44E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612392"/>
            <a:ext cx="342519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Presión p(t) · Pa</a:t>
            </a:r>
          </a:p>
        </p:txBody>
      </p:sp>
      <p:sp>
        <p:nvSpPr>
          <p:cNvPr id="21" name="U10-DG-006-branch_2-box">
            <a:extLst xmlns:a="http://schemas.openxmlformats.org/drawingml/2006/main">
              <a:ext uri="{FF2B5EF4-FFF2-40B4-BE49-F238E27FC236}">
                <a16:creationId xmlns:a16="http://schemas.microsoft.com/office/drawing/2014/main" id="{0CEE267F-9CCF-4ED7-A108-66F3227F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2269617"/>
            <a:ext cx="376809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2" name="U10-DG-006-branch_2-text">
            <a:extLst xmlns:a="http://schemas.openxmlformats.org/drawingml/2006/main">
              <a:ext uri="{FF2B5EF4-FFF2-40B4-BE49-F238E27FC236}">
                <a16:creationId xmlns:a16="http://schemas.microsoft.com/office/drawing/2014/main" id="{829CDE53-48FB-45BD-AF80-8EA16CBD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393442"/>
            <a:ext cx="342519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Micrófono</a:t>
            </a:r>
          </a:p>
        </p:txBody>
      </p:sp>
      <p:sp>
        <p:nvSpPr>
          <p:cNvPr id="23" name="U10-DG-006-branch_3-box">
            <a:extLst xmlns:a="http://schemas.openxmlformats.org/drawingml/2006/main">
              <a:ext uri="{FF2B5EF4-FFF2-40B4-BE49-F238E27FC236}">
                <a16:creationId xmlns:a16="http://schemas.microsoft.com/office/drawing/2014/main" id="{123DAF9A-6279-4406-81A5-092940BB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050667"/>
            <a:ext cx="376809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4" name="U10-DG-006-branch_3-text">
            <a:extLst xmlns:a="http://schemas.openxmlformats.org/drawingml/2006/main">
              <a:ext uri="{FF2B5EF4-FFF2-40B4-BE49-F238E27FC236}">
                <a16:creationId xmlns:a16="http://schemas.microsoft.com/office/drawing/2014/main" id="{553C76C5-D52F-442E-B504-1A666404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174492"/>
            <a:ext cx="342519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Señal eléctrica</a:t>
            </a:r>
          </a:p>
        </p:txBody>
      </p:sp>
      <p:sp>
        <p:nvSpPr>
          <p:cNvPr id="25" name="U10-DG-006-branch_4-box">
            <a:extLst xmlns:a="http://schemas.openxmlformats.org/drawingml/2006/main">
              <a:ext uri="{FF2B5EF4-FFF2-40B4-BE49-F238E27FC236}">
                <a16:creationId xmlns:a16="http://schemas.microsoft.com/office/drawing/2014/main" id="{2FA963C4-D21C-4CA2-B5FB-B822FE30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831717"/>
            <a:ext cx="376809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6" name="U10-DG-006-branch_4-text">
            <a:extLst xmlns:a="http://schemas.openxmlformats.org/drawingml/2006/main">
              <a:ext uri="{FF2B5EF4-FFF2-40B4-BE49-F238E27FC236}">
                <a16:creationId xmlns:a16="http://schemas.microsoft.com/office/drawing/2014/main" id="{F92FD5F1-C80B-4386-ACE3-BCA07105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955542"/>
            <a:ext cx="342519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Medición</a:t>
            </a:r>
          </a:p>
        </p:txBody>
      </p:sp>
      <p:sp>
        <p:nvSpPr>
          <p:cNvPr id="27" name="U10-DG-006-branch_5-box">
            <a:extLst xmlns:a="http://schemas.openxmlformats.org/drawingml/2006/main">
              <a:ext uri="{FF2B5EF4-FFF2-40B4-BE49-F238E27FC236}">
                <a16:creationId xmlns:a16="http://schemas.microsoft.com/office/drawing/2014/main" id="{1523DFCD-FF3B-4A79-AC94-E5771F2C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4612767"/>
            <a:ext cx="376809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8" name="U10-DG-006-branch_5-text">
            <a:extLst xmlns:a="http://schemas.openxmlformats.org/drawingml/2006/main">
              <a:ext uri="{FF2B5EF4-FFF2-40B4-BE49-F238E27FC236}">
                <a16:creationId xmlns:a16="http://schemas.microsoft.com/office/drawing/2014/main" id="{4A286517-90C7-426A-8DB3-5E3C1F80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736592"/>
            <a:ext cx="342519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Receptor / efecto</a:t>
            </a:r>
          </a:p>
        </p:txBody>
      </p:sp>
      <p:sp>
        <p:nvSpPr>
          <p:cNvPr id="29" name="caption">
            <a:extLst xmlns:a="http://schemas.openxmlformats.org/drawingml/2006/main">
              <a:ext uri="{FF2B5EF4-FFF2-40B4-BE49-F238E27FC236}">
                <a16:creationId xmlns:a16="http://schemas.microsoft.com/office/drawing/2014/main" id="{7E2971EC-E339-4A34-82A8-18D39CCD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Cadena fenómeno–representación. Fuente; presión p(t); micrófono; señal; medición; receptor/efecto.</a:t>
            </a:r>
          </a:p>
        </p:txBody>
      </p:sp>
      <p:sp>
        <p:nvSpPr>
          <p:cNvPr id="3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2C7759A-9612-4FE4-8D5E-93220CF0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rail-1">
            <a:extLst xmlns:a="http://schemas.openxmlformats.org/drawingml/2006/main">
              <a:ext uri="{FF2B5EF4-FFF2-40B4-BE49-F238E27FC236}">
                <a16:creationId xmlns:a16="http://schemas.microsoft.com/office/drawing/2014/main" id="{B63A0786-B035-4715-8DB8-AF8A471E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880D02CF-F1F2-44DA-B709-AB76D9A7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C906CA76-D389-4CDB-987C-6F57D109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362A32D1-EAED-4E51-B9C1-5E7ACBC0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9DF25C-C324-4B9D-952C-71014A4C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misma señal puede cumplir tres funciones</a:t>
            </a:r>
          </a:p>
        </p:txBody>
      </p:sp>
      <p:sp>
        <p:nvSpPr>
          <p:cNvPr id="6" name="U10-DG-007-source-anchor">
            <a:extLst xmlns:a="http://schemas.openxmlformats.org/drawingml/2006/main">
              <a:ext uri="{FF2B5EF4-FFF2-40B4-BE49-F238E27FC236}">
                <a16:creationId xmlns:a16="http://schemas.microsoft.com/office/drawing/2014/main" id="{C71D91D8-30B9-410E-944A-ADC67DDF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433638"/>
            <a:ext cx="2409825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07-path_top-anchor">
            <a:extLst xmlns:a="http://schemas.openxmlformats.org/drawingml/2006/main">
              <a:ext uri="{FF2B5EF4-FFF2-40B4-BE49-F238E27FC236}">
                <a16:creationId xmlns:a16="http://schemas.microsoft.com/office/drawing/2014/main" id="{5A2E289E-3E14-4B51-80E6-1E61E9AC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6601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07-path_bottom-anchor">
            <a:extLst xmlns:a="http://schemas.openxmlformats.org/drawingml/2006/main">
              <a:ext uri="{FF2B5EF4-FFF2-40B4-BE49-F238E27FC236}">
                <a16:creationId xmlns:a16="http://schemas.microsoft.com/office/drawing/2014/main" id="{15F335EE-1DF7-449A-9B02-5F330900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44265"/>
            <a:ext cx="236601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07-space-anchor">
            <a:extLst xmlns:a="http://schemas.openxmlformats.org/drawingml/2006/main">
              <a:ext uri="{FF2B5EF4-FFF2-40B4-BE49-F238E27FC236}">
                <a16:creationId xmlns:a16="http://schemas.microsoft.com/office/drawing/2014/main" id="{195B22CF-202C-49C7-A605-0BF321B8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0" y="2433638"/>
            <a:ext cx="219075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07-receiver-anchor">
            <a:extLst xmlns:a="http://schemas.openxmlformats.org/drawingml/2006/main">
              <a:ext uri="{FF2B5EF4-FFF2-40B4-BE49-F238E27FC236}">
                <a16:creationId xmlns:a16="http://schemas.microsoft.com/office/drawing/2014/main" id="{79E5F0B5-726B-4FF6-8B1A-EE70EBEF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433638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07-condition-anchor">
            <a:extLst xmlns:a="http://schemas.openxmlformats.org/drawingml/2006/main">
              <a:ext uri="{FF2B5EF4-FFF2-40B4-BE49-F238E27FC236}">
                <a16:creationId xmlns:a16="http://schemas.microsoft.com/office/drawing/2014/main" id="{168AE3A1-E674-49A3-A065-DC8C3011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815840"/>
            <a:ext cx="5476875" cy="546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2" name="U10-DG-007-route_1a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177540" y="1577340"/>
            <a:ext cx="2594610" cy="140303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10-DG-007-route_1b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57850" y="2140744"/>
            <a:ext cx="262890" cy="83962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4" name="U10-DG-007-route_2a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77540" y="2980373"/>
            <a:ext cx="2594610" cy="16764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10-DG-007-route_2b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5657850" y="2980373"/>
            <a:ext cx="26289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10-DG-007-route_3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111490" y="2980373"/>
            <a:ext cx="30670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7" name="U10-DG-007-visual-alt" descr="Misma señal, tres funciones. Forma de onda común; escuchar; medir; enmascarar. Orden de lectura: Ramales “tarea”. ---">
            <a:extLst xmlns:a="http://schemas.openxmlformats.org/drawingml/2006/main">
              <a:ext uri="{FF2B5EF4-FFF2-40B4-BE49-F238E27FC236}">
                <a16:creationId xmlns:a16="http://schemas.microsoft.com/office/drawing/2014/main" id="{0D41B2A3-9F2E-4A07-8CE6-70BAF9EF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433638"/>
            <a:ext cx="2409825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07-source-text">
            <a:extLst xmlns:a="http://schemas.openxmlformats.org/drawingml/2006/main">
              <a:ext uri="{FF2B5EF4-FFF2-40B4-BE49-F238E27FC236}">
                <a16:creationId xmlns:a16="http://schemas.microsoft.com/office/drawing/2014/main" id="{B684E998-54BD-42D2-BD72-347E9600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2557463"/>
            <a:ext cx="2066925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Misma señal física</a:t>
            </a:r>
          </a:p>
        </p:txBody>
      </p:sp>
      <p:sp>
        <p:nvSpPr>
          <p:cNvPr id="19" name="U10-DG-007-path_top-box">
            <a:extLst xmlns:a="http://schemas.openxmlformats.org/drawingml/2006/main">
              <a:ext uri="{FF2B5EF4-FFF2-40B4-BE49-F238E27FC236}">
                <a16:creationId xmlns:a16="http://schemas.microsoft.com/office/drawing/2014/main" id="{5D2440AB-E26C-42EB-A42F-47AEA822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6601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0" name="U10-DG-007-path_top-text">
            <a:extLst xmlns:a="http://schemas.openxmlformats.org/drawingml/2006/main">
              <a:ext uri="{FF2B5EF4-FFF2-40B4-BE49-F238E27FC236}">
                <a16:creationId xmlns:a16="http://schemas.microsoft.com/office/drawing/2014/main" id="{520D447C-FF12-4FC7-843E-004F238D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1815465"/>
            <a:ext cx="202311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Escuchar: contenido</a:t>
            </a:r>
          </a:p>
        </p:txBody>
      </p:sp>
      <p:sp>
        <p:nvSpPr>
          <p:cNvPr id="21" name="U10-DG-007-path_bottom-box">
            <a:extLst xmlns:a="http://schemas.openxmlformats.org/drawingml/2006/main">
              <a:ext uri="{FF2B5EF4-FFF2-40B4-BE49-F238E27FC236}">
                <a16:creationId xmlns:a16="http://schemas.microsoft.com/office/drawing/2014/main" id="{B22E1D66-996F-4FD3-BBF9-1B25A836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44265"/>
            <a:ext cx="236601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2" name="U10-DG-007-path_bottom-text">
            <a:extLst xmlns:a="http://schemas.openxmlformats.org/drawingml/2006/main">
              <a:ext uri="{FF2B5EF4-FFF2-40B4-BE49-F238E27FC236}">
                <a16:creationId xmlns:a16="http://schemas.microsoft.com/office/drawing/2014/main" id="{BFF5CFDA-757E-402E-ACF6-B116923D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3768090"/>
            <a:ext cx="202311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Medir: descriptor</a:t>
            </a:r>
          </a:p>
        </p:txBody>
      </p:sp>
      <p:sp>
        <p:nvSpPr>
          <p:cNvPr id="23" name="U10-DG-007-space-box">
            <a:extLst xmlns:a="http://schemas.openxmlformats.org/drawingml/2006/main">
              <a:ext uri="{FF2B5EF4-FFF2-40B4-BE49-F238E27FC236}">
                <a16:creationId xmlns:a16="http://schemas.microsoft.com/office/drawing/2014/main" id="{DCCA8A80-497B-4353-9FA2-141B79E5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0" y="2433638"/>
            <a:ext cx="219075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4" name="U10-DG-007-space-text">
            <a:extLst xmlns:a="http://schemas.openxmlformats.org/drawingml/2006/main">
              <a:ext uri="{FF2B5EF4-FFF2-40B4-BE49-F238E27FC236}">
                <a16:creationId xmlns:a16="http://schemas.microsoft.com/office/drawing/2014/main" id="{DB8F77BB-6D5C-4495-982E-CA8A1B22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190" y="2557463"/>
            <a:ext cx="184785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Enmascarar: función</a:t>
            </a:r>
          </a:p>
        </p:txBody>
      </p:sp>
      <p:sp>
        <p:nvSpPr>
          <p:cNvPr id="25" name="U10-DG-007-receiver-box">
            <a:extLst xmlns:a="http://schemas.openxmlformats.org/drawingml/2006/main">
              <a:ext uri="{FF2B5EF4-FFF2-40B4-BE49-F238E27FC236}">
                <a16:creationId xmlns:a16="http://schemas.microsoft.com/office/drawing/2014/main" id="{46981999-8799-42A3-8812-D9F343AB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433638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6" name="U10-DG-007-receiver-text">
            <a:extLst xmlns:a="http://schemas.openxmlformats.org/drawingml/2006/main">
              <a:ext uri="{FF2B5EF4-FFF2-40B4-BE49-F238E27FC236}">
                <a16:creationId xmlns:a16="http://schemas.microsoft.com/office/drawing/2014/main" id="{C18CCDB1-B42D-43E0-B4A4-156041F5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557463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Medición</a:t>
            </a:r>
          </a:p>
        </p:txBody>
      </p:sp>
      <p:sp>
        <p:nvSpPr>
          <p:cNvPr id="27" name="U10-DG-007-condition-box">
            <a:extLst xmlns:a="http://schemas.openxmlformats.org/drawingml/2006/main">
              <a:ext uri="{FF2B5EF4-FFF2-40B4-BE49-F238E27FC236}">
                <a16:creationId xmlns:a16="http://schemas.microsoft.com/office/drawing/2014/main" id="{84F6FCBF-8C66-4072-ADA5-EDF1D91B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815840"/>
            <a:ext cx="5476875" cy="546735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8" name="U10-DG-007-condition-text">
            <a:extLst xmlns:a="http://schemas.openxmlformats.org/drawingml/2006/main">
              <a:ext uri="{FF2B5EF4-FFF2-40B4-BE49-F238E27FC236}">
                <a16:creationId xmlns:a16="http://schemas.microsoft.com/office/drawing/2014/main" id="{EF327FEF-D9EB-4B0F-BA5A-D016C6C2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4939665"/>
            <a:ext cx="5133975" cy="299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Receptor</a:t>
            </a:r>
          </a:p>
        </p:txBody>
      </p:sp>
      <p:sp>
        <p:nvSpPr>
          <p:cNvPr id="29" name="caption">
            <a:extLst xmlns:a="http://schemas.openxmlformats.org/drawingml/2006/main">
              <a:ext uri="{FF2B5EF4-FFF2-40B4-BE49-F238E27FC236}">
                <a16:creationId xmlns:a16="http://schemas.microsoft.com/office/drawing/2014/main" id="{09F48B38-8BA8-4EA7-BB4E-B3798DA3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Misma señal, tres funciones. Forma de onda común; escuchar; medir; enmascarar.</a:t>
            </a:r>
          </a:p>
        </p:txBody>
      </p:sp>
      <p:sp>
        <p:nvSpPr>
          <p:cNvPr id="3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693AFB5-34EF-4354-964F-431B56F1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rail-1">
            <a:extLst xmlns:a="http://schemas.openxmlformats.org/drawingml/2006/main">
              <a:ext uri="{FF2B5EF4-FFF2-40B4-BE49-F238E27FC236}">
                <a16:creationId xmlns:a16="http://schemas.microsoft.com/office/drawing/2014/main" id="{81528EB0-0FC7-4863-9A80-044587AD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2C036BE7-B52A-4AC2-B45D-D2E37CDD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E69472A4-CD34-4892-8B58-1B5F44C4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4260162-A53F-415F-BD09-3E678491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1E32C3-6599-421E-95D9-5BE39BEC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“Ruido” no nombra una propiedad física única</a:t>
            </a:r>
          </a:p>
        </p:txBody>
      </p:sp>
      <p:sp>
        <p:nvSpPr>
          <p:cNvPr id="6" name="U10-DG-008-concept_1-anchor">
            <a:extLst xmlns:a="http://schemas.openxmlformats.org/drawingml/2006/main">
              <a:ext uri="{FF2B5EF4-FFF2-40B4-BE49-F238E27FC236}">
                <a16:creationId xmlns:a16="http://schemas.microsoft.com/office/drawing/2014/main" id="{16EBEC2B-943E-4BC9-960E-C7CF4428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08-concept_2-anchor">
            <a:extLst xmlns:a="http://schemas.openxmlformats.org/drawingml/2006/main">
              <a:ext uri="{FF2B5EF4-FFF2-40B4-BE49-F238E27FC236}">
                <a16:creationId xmlns:a16="http://schemas.microsoft.com/office/drawing/2014/main" id="{03B6C624-0875-4F54-9CDF-17B591C1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6916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08-concept_3-anchor">
            <a:extLst xmlns:a="http://schemas.openxmlformats.org/drawingml/2006/main">
              <a:ext uri="{FF2B5EF4-FFF2-40B4-BE49-F238E27FC236}">
                <a16:creationId xmlns:a16="http://schemas.microsoft.com/office/drawing/2014/main" id="{538097BA-7E7C-489C-BC48-8E98DA39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08-visual-alt" descr="Mapa semántico del término ruido. Contextual; físico/de señales; operativo. Orden de lectura: Desde nodo “ruido”; etiqueta “uso”. ---">
            <a:extLst xmlns:a="http://schemas.openxmlformats.org/drawingml/2006/main">
              <a:ext uri="{FF2B5EF4-FFF2-40B4-BE49-F238E27FC236}">
                <a16:creationId xmlns:a16="http://schemas.microsoft.com/office/drawing/2014/main" id="{DE63ECBD-9C3C-400F-AEDA-E8E5204A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0" name="U10-DG-008-concept_1-text">
            <a:extLst xmlns:a="http://schemas.openxmlformats.org/drawingml/2006/main">
              <a:ext uri="{FF2B5EF4-FFF2-40B4-BE49-F238E27FC236}">
                <a16:creationId xmlns:a16="http://schemas.microsoft.com/office/drawing/2014/main" id="{5662F0F4-982F-4F3F-B307-11E27FF4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Contextual: depende de la tarea</a:t>
            </a:r>
          </a:p>
        </p:txBody>
      </p:sp>
      <p:sp>
        <p:nvSpPr>
          <p:cNvPr id="11" name="U10-DG-008-concept_2-box">
            <a:extLst xmlns:a="http://schemas.openxmlformats.org/drawingml/2006/main">
              <a:ext uri="{FF2B5EF4-FFF2-40B4-BE49-F238E27FC236}">
                <a16:creationId xmlns:a16="http://schemas.microsoft.com/office/drawing/2014/main" id="{DE2CF185-4A19-4A91-ACB2-4BA434A0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6916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2" name="U10-DG-008-concept_2-text">
            <a:extLst xmlns:a="http://schemas.openxmlformats.org/drawingml/2006/main">
              <a:ext uri="{FF2B5EF4-FFF2-40B4-BE49-F238E27FC236}">
                <a16:creationId xmlns:a16="http://schemas.microsoft.com/office/drawing/2014/main" id="{1D378AF2-EFFA-4BC8-A337-90FC085E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18154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Físico: señal aleatoria</a:t>
            </a:r>
          </a:p>
        </p:txBody>
      </p:sp>
      <p:sp>
        <p:nvSpPr>
          <p:cNvPr id="13" name="U10-DG-008-concept_3-box">
            <a:extLst xmlns:a="http://schemas.openxmlformats.org/drawingml/2006/main">
              <a:ext uri="{FF2B5EF4-FFF2-40B4-BE49-F238E27FC236}">
                <a16:creationId xmlns:a16="http://schemas.microsoft.com/office/drawing/2014/main" id="{E8AC75BC-8312-4FAE-ACE9-50CE7336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4" name="U10-DG-008-concept_3-text">
            <a:extLst xmlns:a="http://schemas.openxmlformats.org/drawingml/2006/main">
              <a:ext uri="{FF2B5EF4-FFF2-40B4-BE49-F238E27FC236}">
                <a16:creationId xmlns:a16="http://schemas.microsoft.com/office/drawing/2014/main" id="{D6FFF0B1-80D5-4F0B-804C-8F81A9DD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8154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Operativo: señal de prueba</a:t>
            </a:r>
          </a:p>
        </p:txBody>
      </p:sp>
      <p:sp>
        <p:nvSpPr>
          <p:cNvPr id="15" name="caption">
            <a:extLst xmlns:a="http://schemas.openxmlformats.org/drawingml/2006/main">
              <a:ext uri="{FF2B5EF4-FFF2-40B4-BE49-F238E27FC236}">
                <a16:creationId xmlns:a16="http://schemas.microsoft.com/office/drawing/2014/main" id="{112BD175-9D6A-416F-9862-7435693D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Mapa semántico del término ruido. Contextual; físico/de señales; operativo.</a:t>
            </a:r>
          </a:p>
        </p:txBody>
      </p:sp>
      <p:sp>
        <p:nvSpPr>
          <p:cNvPr id="1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57BDBD9-A470-476D-B406-B8060FC9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ail-1">
            <a:extLst xmlns:a="http://schemas.openxmlformats.org/drawingml/2006/main">
              <a:ext uri="{FF2B5EF4-FFF2-40B4-BE49-F238E27FC236}">
                <a16:creationId xmlns:a16="http://schemas.microsoft.com/office/drawing/2014/main" id="{0D508ABA-8108-4783-A542-BF4A8F4F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F63F7A8C-4AA1-438B-99CB-D3A5EC2C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38593492-A013-4ED6-A627-113DFCE1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B0F71F0-2599-41D2-8C44-61D07FB6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D565C3-6D64-4D7B-8E29-29726097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cambia cuando cambia la tarea?</a:t>
            </a:r>
          </a:p>
        </p:txBody>
      </p:sp>
      <p:sp>
        <p:nvSpPr>
          <p:cNvPr id="6" name="U10-DG-009-step_1-anchor">
            <a:extLst xmlns:a="http://schemas.openxmlformats.org/drawingml/2006/main">
              <a:ext uri="{FF2B5EF4-FFF2-40B4-BE49-F238E27FC236}">
                <a16:creationId xmlns:a16="http://schemas.microsoft.com/office/drawing/2014/main" id="{E0C7B920-BEB0-4027-9B67-BBE6A9CE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09-step_2-anchor">
            <a:extLst xmlns:a="http://schemas.openxmlformats.org/drawingml/2006/main">
              <a:ext uri="{FF2B5EF4-FFF2-40B4-BE49-F238E27FC236}">
                <a16:creationId xmlns:a16="http://schemas.microsoft.com/office/drawing/2014/main" id="{EDE3B6F1-4B5F-4B5A-A65B-E4EC785D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09-step_3-anchor">
            <a:extLst xmlns:a="http://schemas.openxmlformats.org/drawingml/2006/main">
              <a:ext uri="{FF2B5EF4-FFF2-40B4-BE49-F238E27FC236}">
                <a16:creationId xmlns:a16="http://schemas.microsoft.com/office/drawing/2014/main" id="{4D2C0F02-93FE-4AB6-96C2-F9538D55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09-step_4-anchor">
            <a:extLst xmlns:a="http://schemas.openxmlformats.org/drawingml/2006/main">
              <a:ext uri="{FF2B5EF4-FFF2-40B4-BE49-F238E27FC236}">
                <a16:creationId xmlns:a16="http://schemas.microsoft.com/office/drawing/2014/main" id="{D8625092-AF95-4D50-AA49-68FA83F1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" name="U10-DG-009-flow_1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U10-DG-009-flow_2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4" name="U10-DG-009-flow_3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3" name="U10-DG-009-visual-alt" descr="Actividad de clasificación contextual. Cuatro casos; tarea; función elegida. Orden de lectura: Conectores revelables, sin cruce. ---">
            <a:extLst xmlns:a="http://schemas.openxmlformats.org/drawingml/2006/main">
              <a:ext uri="{FF2B5EF4-FFF2-40B4-BE49-F238E27FC236}">
                <a16:creationId xmlns:a16="http://schemas.microsoft.com/office/drawing/2014/main" id="{7BBF12B5-9F14-4CDD-ADB8-E828EB47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4" name="U10-DG-009-step_1-text">
            <a:extLst xmlns:a="http://schemas.openxmlformats.org/drawingml/2006/main">
              <a:ext uri="{FF2B5EF4-FFF2-40B4-BE49-F238E27FC236}">
                <a16:creationId xmlns:a16="http://schemas.microsoft.com/office/drawing/2014/main" id="{3910DF79-1B23-4EBC-915C-63DE133A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Conversación</a:t>
            </a:r>
          </a:p>
        </p:txBody>
      </p:sp>
      <p:sp>
        <p:nvSpPr>
          <p:cNvPr id="15" name="U10-DG-009-step_2-box">
            <a:extLst xmlns:a="http://schemas.openxmlformats.org/drawingml/2006/main">
              <a:ext uri="{FF2B5EF4-FFF2-40B4-BE49-F238E27FC236}">
                <a16:creationId xmlns:a16="http://schemas.microsoft.com/office/drawing/2014/main" id="{7EBF605E-6E75-447C-A374-BCCF132E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10-DG-009-step_2-text">
            <a:extLst xmlns:a="http://schemas.openxmlformats.org/drawingml/2006/main">
              <a:ext uri="{FF2B5EF4-FFF2-40B4-BE49-F238E27FC236}">
                <a16:creationId xmlns:a16="http://schemas.microsoft.com/office/drawing/2014/main" id="{E1587474-DCEA-4D11-A2C3-6D51971E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Ruido del equipo</a:t>
            </a:r>
          </a:p>
        </p:txBody>
      </p:sp>
      <p:sp>
        <p:nvSpPr>
          <p:cNvPr id="17" name="U10-DG-009-step_3-box">
            <a:extLst xmlns:a="http://schemas.openxmlformats.org/drawingml/2006/main">
              <a:ext uri="{FF2B5EF4-FFF2-40B4-BE49-F238E27FC236}">
                <a16:creationId xmlns:a16="http://schemas.microsoft.com/office/drawing/2014/main" id="{9F1C6345-D732-4485-86A2-5B425B76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8" name="U10-DG-009-step_3-text">
            <a:extLst xmlns:a="http://schemas.openxmlformats.org/drawingml/2006/main">
              <a:ext uri="{FF2B5EF4-FFF2-40B4-BE49-F238E27FC236}">
                <a16:creationId xmlns:a16="http://schemas.microsoft.com/office/drawing/2014/main" id="{81693559-E404-4010-A2E2-A504D7D4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Señal de prueba</a:t>
            </a:r>
          </a:p>
        </p:txBody>
      </p:sp>
      <p:sp>
        <p:nvSpPr>
          <p:cNvPr id="19" name="U10-DG-009-step_4-box">
            <a:extLst xmlns:a="http://schemas.openxmlformats.org/drawingml/2006/main">
              <a:ext uri="{FF2B5EF4-FFF2-40B4-BE49-F238E27FC236}">
                <a16:creationId xmlns:a16="http://schemas.microsoft.com/office/drawing/2014/main" id="{17832470-03FC-41C9-9F84-CAF35186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0" name="U10-DG-009-step_4-text">
            <a:extLst xmlns:a="http://schemas.openxmlformats.org/drawingml/2006/main">
              <a:ext uri="{FF2B5EF4-FFF2-40B4-BE49-F238E27FC236}">
                <a16:creationId xmlns:a16="http://schemas.microsoft.com/office/drawing/2014/main" id="{4B2D433C-BDB3-4E61-A9A6-3CA1EC3F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Tránsito exterior</a:t>
            </a:r>
          </a:p>
        </p:txBody>
      </p:sp>
      <p:sp>
        <p:nvSpPr>
          <p:cNvPr id="21" name="caption">
            <a:extLst xmlns:a="http://schemas.openxmlformats.org/drawingml/2006/main">
              <a:ext uri="{FF2B5EF4-FFF2-40B4-BE49-F238E27FC236}">
                <a16:creationId xmlns:a16="http://schemas.microsoft.com/office/drawing/2014/main" id="{3A3C9775-EB1D-40B5-A311-86D3DFFA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Actividad de clasificación contextual. Cuatro casos; tarea; función elegida.</a:t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6CB0BA6-9E48-4695-BEBB-4B2D9256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-1">
            <a:extLst xmlns:a="http://schemas.openxmlformats.org/drawingml/2006/main">
              <a:ext uri="{FF2B5EF4-FFF2-40B4-BE49-F238E27FC236}">
                <a16:creationId xmlns:a16="http://schemas.microsoft.com/office/drawing/2014/main" id="{CDE47714-A447-44EA-9C31-F7D65C1B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1A0819B3-5D7C-420E-AFC1-5000D170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992A2F31-786D-4985-88CA-C7126ACB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73EC566-3E65-477C-8953-4A3FC586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9216B63-09E1-44ED-88F9-1FC0D3A7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Determinístico y aleatorio responden con herramientas distintas</a:t>
            </a:r>
          </a:p>
        </p:txBody>
      </p:sp>
      <p:pic>
        <p:nvPicPr>
          <p:cNvPr id="17" name="U10-CH-015-chart" descr="Dos paneles con ejes comunes comparan una sinusoide conocida y ruido limitado en banda, ambos con RMS 1 mPa. ---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5e97cbd55e43e0">
            <a:extLst>
              <a:ext uri="{96DAC541-7B7A-43D3-8B79-37D633B846F1}">
                <asvg:svgBlip xmlns:asvg="http://schemas.microsoft.com/office/drawing/2016/SVG/main" r:embed="R1ea5d3913f1441e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25537E17-8EE8-4B0F-A2FB-973502B6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8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F9240257-EA7B-4B7F-8592-4C8A9BC8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9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D3600801-4DFF-4BBE-BCA2-560C7AC6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Determinística Un modelo y sus parámetros permiten predecir cada muestra. Ejemplo: una sinusoide ideal de amplitud y frecuencia conocidas.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65217076-0669-41CB-B276-946E69ED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Una sinusoide se predice muestra a muestra; una realización aleatoria se describe por propiedades, aun con el mismo RMS.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B6873C6-91DD-43B9-B16C-FCDA57B7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-1">
            <a:extLst xmlns:a="http://schemas.openxmlformats.org/drawingml/2006/main">
              <a:ext uri="{FF2B5EF4-FFF2-40B4-BE49-F238E27FC236}">
                <a16:creationId xmlns:a16="http://schemas.microsoft.com/office/drawing/2014/main" id="{A8CC150B-372C-4775-BADC-417ACDFA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152AE5FC-1084-4A81-81EB-889F4579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FC9DE3F1-43F2-4605-8D3A-9148BB3D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2717511-3C5C-4F5F-81FB-C19BCC92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62B326-33D7-43CE-BB77-A1C6BAB7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realización no es todo el proceso</a:t>
            </a:r>
          </a:p>
        </p:txBody>
      </p:sp>
      <p:pic>
        <p:nvPicPr>
          <p:cNvPr id="17" name="U10-CH-001-chart" descr="Dos paneles muestran realizaciones gaussianas distintas con los mismos ejes. En cada panel se indican media cero y RMS de 1 mPa. ---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26cec7cef14898">
            <a:extLst>
              <a:ext uri="{96DAC541-7B7A-43D3-8B79-37D633B846F1}">
                <asvg:svgBlip xmlns:asvg="http://schemas.microsoft.com/office/drawing/2016/SVG/main" r:embed="Ra49b93dba5d94fd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9181FAEC-5A11-4031-82F2-99FBA4C5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8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43B37774-200D-4DFD-A7A7-76E857A6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9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82488F73-9F6B-4F41-8591-33B47E0F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Realización: registro concreto de un proceso durante un intervalo. A y B difieren muestra a muestra. Ambas fueron normalizadas a media 0 mPa y RMS 1 mPa.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979F147C-AE36-4A01-ABF7-32A16284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Dos realizaciones sintéticas no coinciden muestra a muestra, aunque ambas tienen media cero y RMS de 1 mPa.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929D2E6-38C7-48AC-A557-95015287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ail-1">
            <a:extLst xmlns:a="http://schemas.openxmlformats.org/drawingml/2006/main">
              <a:ext uri="{FF2B5EF4-FFF2-40B4-BE49-F238E27FC236}">
                <a16:creationId xmlns:a16="http://schemas.microsoft.com/office/drawing/2014/main" id="{AD0A09F9-C918-4609-8A3A-F8E552BD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5C43E4D2-DE17-4E6C-A21F-59AE2A76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608E07EA-EDE1-4CCE-8EEC-4F50F188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F98795D-B401-4B71-BB67-31E9AC54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9A7532-325F-4AA0-87E9-B46FC373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Señal, función y predictibilidad son ejes distintos</a:t>
            </a:r>
          </a:p>
        </p:txBody>
      </p:sp>
      <p:sp>
        <p:nvSpPr>
          <p:cNvPr id="6" name="U10-DG-010-signal-anchor">
            <a:extLst xmlns:a="http://schemas.openxmlformats.org/drawingml/2006/main">
              <a:ext uri="{FF2B5EF4-FFF2-40B4-BE49-F238E27FC236}">
                <a16:creationId xmlns:a16="http://schemas.microsoft.com/office/drawing/2014/main" id="{43A3FDDC-9F2B-4C8B-8D99-213631A5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" y="1808798"/>
            <a:ext cx="262890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10-context-anchor">
            <a:extLst xmlns:a="http://schemas.openxmlformats.org/drawingml/2006/main">
              <a:ext uri="{FF2B5EF4-FFF2-40B4-BE49-F238E27FC236}">
                <a16:creationId xmlns:a16="http://schemas.microsoft.com/office/drawing/2014/main" id="{73A6FBBA-1025-49BA-9145-D1B8BD35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230" y="1808798"/>
            <a:ext cx="262890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10-receiver-anchor">
            <a:extLst xmlns:a="http://schemas.openxmlformats.org/drawingml/2006/main">
              <a:ext uri="{FF2B5EF4-FFF2-40B4-BE49-F238E27FC236}">
                <a16:creationId xmlns:a16="http://schemas.microsoft.com/office/drawing/2014/main" id="{3384F622-9D56-46B4-B2E9-35910C9D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4191000"/>
            <a:ext cx="262890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10-question-anchor">
            <a:extLst xmlns:a="http://schemas.openxmlformats.org/drawingml/2006/main">
              <a:ext uri="{FF2B5EF4-FFF2-40B4-BE49-F238E27FC236}">
                <a16:creationId xmlns:a16="http://schemas.microsoft.com/office/drawing/2014/main" id="{4634C6BB-7ABF-4108-A386-0B9508C6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2667953"/>
            <a:ext cx="262890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" name="U10-DG-010-relation_signal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554730" y="2316481"/>
            <a:ext cx="876300" cy="85915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U10-DG-010-relation_context"/>
          <p:cNvCxnSpPr>
            <a:stCxn xmlns:a="http://schemas.openxmlformats.org/drawingml/2006/main" id="7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7059930" y="2316481"/>
            <a:ext cx="876300" cy="85915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4" name="U10-DG-010-relation_receiver"/>
          <p:cNvCxnSpPr>
            <a:stCxn xmlns:a="http://schemas.openxmlformats.org/drawingml/2006/main" id="8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flipV="1">
            <a:off x="5745480" y="3683318"/>
            <a:ext cx="0" cy="50768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3" name="U10-DG-010-visual-alt" descr="Recap señal–contexto–receptor. Tres vértices + pregunta central. Orden de lectura: Flechas bidireccionales sin etiqueta o con verbos de 1 palabra. ---">
            <a:extLst xmlns:a="http://schemas.openxmlformats.org/drawingml/2006/main">
              <a:ext uri="{FF2B5EF4-FFF2-40B4-BE49-F238E27FC236}">
                <a16:creationId xmlns:a16="http://schemas.microsoft.com/office/drawing/2014/main" id="{58F70FFC-E78E-4087-8479-58D00563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" y="1808798"/>
            <a:ext cx="262890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4" name="U10-DG-010-signal-text">
            <a:extLst xmlns:a="http://schemas.openxmlformats.org/drawingml/2006/main">
              <a:ext uri="{FF2B5EF4-FFF2-40B4-BE49-F238E27FC236}">
                <a16:creationId xmlns:a16="http://schemas.microsoft.com/office/drawing/2014/main" id="{2266DC51-A6B7-4237-BA57-943FE2C3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932623"/>
            <a:ext cx="228600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Señal</a:t>
            </a:r>
          </a:p>
        </p:txBody>
      </p:sp>
      <p:sp>
        <p:nvSpPr>
          <p:cNvPr id="15" name="U10-DG-010-context-box">
            <a:extLst xmlns:a="http://schemas.openxmlformats.org/drawingml/2006/main">
              <a:ext uri="{FF2B5EF4-FFF2-40B4-BE49-F238E27FC236}">
                <a16:creationId xmlns:a16="http://schemas.microsoft.com/office/drawing/2014/main" id="{D66CE242-E8F7-4ABA-BB33-9123A505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230" y="1808798"/>
            <a:ext cx="262890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10-DG-010-context-text">
            <a:extLst xmlns:a="http://schemas.openxmlformats.org/drawingml/2006/main">
              <a:ext uri="{FF2B5EF4-FFF2-40B4-BE49-F238E27FC236}">
                <a16:creationId xmlns:a16="http://schemas.microsoft.com/office/drawing/2014/main" id="{C953C7D6-CEFE-4C5A-BCEA-23226BD6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680" y="1932623"/>
            <a:ext cx="228600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Contexto</a:t>
            </a:r>
          </a:p>
        </p:txBody>
      </p:sp>
      <p:sp>
        <p:nvSpPr>
          <p:cNvPr id="17" name="U10-DG-010-receiver-box">
            <a:extLst xmlns:a="http://schemas.openxmlformats.org/drawingml/2006/main">
              <a:ext uri="{FF2B5EF4-FFF2-40B4-BE49-F238E27FC236}">
                <a16:creationId xmlns:a16="http://schemas.microsoft.com/office/drawing/2014/main" id="{9335EE96-8103-403F-8312-3EE00CD4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4191000"/>
            <a:ext cx="262890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8" name="U10-DG-010-receiver-text">
            <a:extLst xmlns:a="http://schemas.openxmlformats.org/drawingml/2006/main">
              <a:ext uri="{FF2B5EF4-FFF2-40B4-BE49-F238E27FC236}">
                <a16:creationId xmlns:a16="http://schemas.microsoft.com/office/drawing/2014/main" id="{A2A823B6-6090-41A7-92C4-BEC1E78F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4314825"/>
            <a:ext cx="228600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Receptor</a:t>
            </a:r>
          </a:p>
        </p:txBody>
      </p:sp>
      <p:sp>
        <p:nvSpPr>
          <p:cNvPr id="19" name="U10-DG-010-question-box">
            <a:extLst xmlns:a="http://schemas.openxmlformats.org/drawingml/2006/main">
              <a:ext uri="{FF2B5EF4-FFF2-40B4-BE49-F238E27FC236}">
                <a16:creationId xmlns:a16="http://schemas.microsoft.com/office/drawing/2014/main" id="{3FD8B1CC-2CA5-4D6B-8E8A-955C5DF9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2667953"/>
            <a:ext cx="262890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0" name="U10-DG-010-question-text">
            <a:extLst xmlns:a="http://schemas.openxmlformats.org/drawingml/2006/main">
              <a:ext uri="{FF2B5EF4-FFF2-40B4-BE49-F238E27FC236}">
                <a16:creationId xmlns:a16="http://schemas.microsoft.com/office/drawing/2014/main" id="{8DDB659F-7482-445C-8B77-73B48187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2791778"/>
            <a:ext cx="228600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función cumple?</a:t>
            </a:r>
          </a:p>
        </p:txBody>
      </p:sp>
      <p:sp>
        <p:nvSpPr>
          <p:cNvPr id="21" name="caption">
            <a:extLst xmlns:a="http://schemas.openxmlformats.org/drawingml/2006/main">
              <a:ext uri="{FF2B5EF4-FFF2-40B4-BE49-F238E27FC236}">
                <a16:creationId xmlns:a16="http://schemas.microsoft.com/office/drawing/2014/main" id="{EF683527-4EC9-4E04-BD07-A6622970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Recap señal–contexto–receptor. Tres vértices + pregunta central.</a:t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A9FCACA-C611-46FC-87AC-40757D22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6F9ADDF4-35BB-402A-92AB-ED7D104E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10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2E781351-338B-42A7-B0DB-8CABB34D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¿Qué cambia muestra a muestra y qué permanece describible?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78F1D8AC-8211-452D-AC6E-F354642F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Pregunta guía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EF54D9C-CB88-4357-A2EC-663DA53D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-1">
            <a:extLst xmlns:a="http://schemas.openxmlformats.org/drawingml/2006/main">
              <a:ext uri="{FF2B5EF4-FFF2-40B4-BE49-F238E27FC236}">
                <a16:creationId xmlns:a16="http://schemas.microsoft.com/office/drawing/2014/main" id="{C0328715-4EA3-4C6E-9CDD-6F1C3FD1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CBA40025-E65D-4FDF-96E3-3751DBDF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06A1CD28-F1DC-47FB-8A0C-78E6CCEC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49F011B6-9BA9-4B31-BECB-6696E9A3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AEA4C3-9AE2-43EA-B112-CA281710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Estacionario no significa constante</a:t>
            </a:r>
          </a:p>
        </p:txBody>
      </p:sp>
      <p:pic>
        <p:nvPicPr>
          <p:cNvPr id="17" name="U10-CH-002-chart" descr="Una traza de ocho segundos contiene dos ventanas resaltadas. Debajo, dos ampliaciones muestran formas distintas y valores RMS próximos. ---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2b43218707435a">
            <a:extLst>
              <a:ext uri="{96DAC541-7B7A-43D3-8B79-37D633B846F1}">
                <asvg:svgBlip xmlns:asvg="http://schemas.microsoft.com/office/drawing/2016/SVG/main" r:embed="R5f1660c1fbe64b4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C2B99F87-7A4D-4FDD-8171-42C58CF6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8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B0F97710-081D-43EA-A960-CBBC2A51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9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3A3C49A9-4BFB-4029-BC69-09284B39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Una señal puede variar en cada instante y ser aproximadamente estacionaria durante una ventana. Criterio práctico: dentro del intervalo declarado, propiedades como media, varianza o espectro permanecen aproximadamente estables. Estacionario no significa que p(t) sea constante.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6BBDD984-4D57-4A97-8DBD-E5FA685F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Dos ventanas de una señal sintética cambian muestra a muestra mientras su RMS permanece aproximadamente estable.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1893AEF-0C47-447E-8C87-83D53F15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-1">
            <a:extLst xmlns:a="http://schemas.openxmlformats.org/drawingml/2006/main">
              <a:ext uri="{FF2B5EF4-FFF2-40B4-BE49-F238E27FC236}">
                <a16:creationId xmlns:a16="http://schemas.microsoft.com/office/drawing/2014/main" id="{5541E450-07AE-476B-9B8E-B4D6982E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C80F03D0-1F82-42AD-B76C-E51DC53E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22BEBEC3-1F99-4310-90D6-1B7CA5D6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BDDF3AAF-A2D7-478F-807A-986E08FF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443508-C480-4923-AA69-2AA5D536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misma señal puede parecer estable en 2 s y cambiar en 20 min</a:t>
            </a:r>
          </a:p>
        </p:txBody>
      </p:sp>
      <p:pic>
        <p:nvPicPr>
          <p:cNvPr id="17" name="U10-CH-003-chart" descr="Un registro sintético de dos minutos tiene una envolvente lenta. Un recuadro enlaza una ventana de cinco segundos con su ampliación exacta. ---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3c8656607149eb">
            <a:extLst>
              <a:ext uri="{96DAC541-7B7A-43D3-8B79-37D633B846F1}">
                <asvg:svgBlip xmlns:asvg="http://schemas.microsoft.com/office/drawing/2016/SVG/main" r:embed="R663534ce743a47a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A6BA1D49-9403-4E77-A8FF-3D1340EA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8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400B3FFC-B866-4FB1-96EF-6626C06A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9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932E398D-2C20-42FB-B826-A6397758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gráfico muestra el mismo registro en dos escalas: en una ventana breve, las propiedades pueden parecer estables; durante minutos, una envolvente lenta revela cambios;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E29EC6D7-D207-4038-8BF2-760E22A3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mismo registro puede parecer estable en una ventana breve y variar cuando se observa durante minutos.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AFE646D-7146-42C0-AC41-E4A7D33A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-1">
            <a:extLst xmlns:a="http://schemas.openxmlformats.org/drawingml/2006/main">
              <a:ext uri="{FF2B5EF4-FFF2-40B4-BE49-F238E27FC236}">
                <a16:creationId xmlns:a16="http://schemas.microsoft.com/office/drawing/2014/main" id="{0697BFA6-BFB0-4D17-B6CB-A51C1CBA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F3367BA9-3F87-49E4-B997-7A1A8D87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2B87F874-15D2-49C0-B0D4-8B902297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7B66627F-851A-4FB4-9649-52B3F0C9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6310AF-3061-458C-A849-BABE24F4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Cuatro evoluciones temporales, cuatro patrones</a:t>
            </a:r>
          </a:p>
        </p:txBody>
      </p:sp>
      <p:pic>
        <p:nvPicPr>
          <p:cNvPr id="17" name="U10-CH-004-chart" descr="Cuatro paneles con ejes comunes muestran ruido continuo estable, fluctuante, intermitente e impulsivo. ---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e7fbca1d14b00">
            <a:extLst>
              <a:ext uri="{96DAC541-7B7A-43D3-8B79-37D633B846F1}">
                <asvg:svgBlip xmlns:asvg="http://schemas.microsoft.com/office/drawing/2016/SVG/main" r:embed="R8ed680f69d8b4bd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F3244915-7302-43B4-8828-78BC7D3E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8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D1BF76EB-F47F-483E-9DBF-68FE5DBF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9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48A8953D-7085-4284-8214-9A88DA69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Antes de nombrar cada panel, lea los ejes: t en segundos y p(t) en milipascales. continuo aproximadamente estable; continuo fluctuante;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ABD32A0F-6746-44A7-9B0A-EA68B1D6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Patrones sintéticos continuo estable, fluctuante, intermitente e impulsivo; las categorías describen rasgos que pueden coexistir.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EC8C40C-5F40-4FD5-88E0-53112B5F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rail-1">
            <a:extLst xmlns:a="http://schemas.openxmlformats.org/drawingml/2006/main">
              <a:ext uri="{FF2B5EF4-FFF2-40B4-BE49-F238E27FC236}">
                <a16:creationId xmlns:a16="http://schemas.microsoft.com/office/drawing/2014/main" id="{5262596E-B658-4C87-B48F-880AA5D8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F99CF36E-B211-49F7-8610-86D9A29A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C88FD11E-4651-452D-B3B6-7B5A8B5B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BE8B6D5-1A38-4F54-B4E9-9C5872C8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87AB9B-DF44-4CA5-A2FF-29005071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señal puede ser impulsiva e intermitente</a:t>
            </a:r>
          </a:p>
        </p:txBody>
      </p:sp>
      <p:sp>
        <p:nvSpPr>
          <p:cNvPr id="6" name="U10-DG-011-concept_1-anchor">
            <a:extLst xmlns:a="http://schemas.openxmlformats.org/drawingml/2006/main">
              <a:ext uri="{FF2B5EF4-FFF2-40B4-BE49-F238E27FC236}">
                <a16:creationId xmlns:a16="http://schemas.microsoft.com/office/drawing/2014/main" id="{7FFB332D-8942-49C1-B938-7B5D5DA4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11-concept_2-anchor">
            <a:extLst xmlns:a="http://schemas.openxmlformats.org/drawingml/2006/main">
              <a:ext uri="{FF2B5EF4-FFF2-40B4-BE49-F238E27FC236}">
                <a16:creationId xmlns:a16="http://schemas.microsoft.com/office/drawing/2014/main" id="{CD3707B9-56CF-402E-8BF2-96E00A3D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11-concept_3-anchor">
            <a:extLst xmlns:a="http://schemas.openxmlformats.org/drawingml/2006/main">
              <a:ext uri="{FF2B5EF4-FFF2-40B4-BE49-F238E27FC236}">
                <a16:creationId xmlns:a16="http://schemas.microsoft.com/office/drawing/2014/main" id="{4E2C9D23-28FF-491A-8727-9D2760F7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11-concept_4-anchor">
            <a:extLst xmlns:a="http://schemas.openxmlformats.org/drawingml/2006/main">
              <a:ext uri="{FF2B5EF4-FFF2-40B4-BE49-F238E27FC236}">
                <a16:creationId xmlns:a16="http://schemas.microsoft.com/office/drawing/2014/main" id="{61ACCF73-CEB9-4DC4-ACE7-9A05D9D9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11-concept_5-anchor">
            <a:extLst xmlns:a="http://schemas.openxmlformats.org/drawingml/2006/main">
              <a:ext uri="{FF2B5EF4-FFF2-40B4-BE49-F238E27FC236}">
                <a16:creationId xmlns:a16="http://schemas.microsoft.com/office/drawing/2014/main" id="{DD63104A-8118-4073-A8F0-4D3DCFBA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11-concept_6-anchor">
            <a:extLst xmlns:a="http://schemas.openxmlformats.org/drawingml/2006/main">
              <a:ext uri="{FF2B5EF4-FFF2-40B4-BE49-F238E27FC236}">
                <a16:creationId xmlns:a16="http://schemas.microsoft.com/office/drawing/2014/main" id="{873D2C79-251E-4185-B737-03F1525B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10-DG-011-visual-alt" descr="Clasificación temporal no excluyente. Predictibilidad; continuidad; impulsividad; ejemplos. Orden de lectura: Árbol con retorno “puede coexistir”. ---">
            <a:extLst xmlns:a="http://schemas.openxmlformats.org/drawingml/2006/main">
              <a:ext uri="{FF2B5EF4-FFF2-40B4-BE49-F238E27FC236}">
                <a16:creationId xmlns:a16="http://schemas.microsoft.com/office/drawing/2014/main" id="{DA601AC1-C14B-45B8-BD01-264A7A3F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3" name="U10-DG-011-concept_1-text">
            <a:extLst xmlns:a="http://schemas.openxmlformats.org/drawingml/2006/main">
              <a:ext uri="{FF2B5EF4-FFF2-40B4-BE49-F238E27FC236}">
                <a16:creationId xmlns:a16="http://schemas.microsoft.com/office/drawing/2014/main" id="{585B74EC-9A71-4CA7-8D43-29B93A82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Predictibilidad</a:t>
            </a:r>
          </a:p>
        </p:txBody>
      </p:sp>
      <p:sp>
        <p:nvSpPr>
          <p:cNvPr id="14" name="U10-DG-011-concept_2-box">
            <a:extLst xmlns:a="http://schemas.openxmlformats.org/drawingml/2006/main">
              <a:ext uri="{FF2B5EF4-FFF2-40B4-BE49-F238E27FC236}">
                <a16:creationId xmlns:a16="http://schemas.microsoft.com/office/drawing/2014/main" id="{B27F9F9B-5660-43B9-BC4F-DCF28624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5" name="U10-DG-011-concept_2-text">
            <a:extLst xmlns:a="http://schemas.openxmlformats.org/drawingml/2006/main">
              <a:ext uri="{FF2B5EF4-FFF2-40B4-BE49-F238E27FC236}">
                <a16:creationId xmlns:a16="http://schemas.microsoft.com/office/drawing/2014/main" id="{8AA6351E-E811-42FE-B0B3-553BA857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Continuidad</a:t>
            </a:r>
          </a:p>
        </p:txBody>
      </p:sp>
      <p:sp>
        <p:nvSpPr>
          <p:cNvPr id="16" name="U10-DG-011-concept_3-box">
            <a:extLst xmlns:a="http://schemas.openxmlformats.org/drawingml/2006/main">
              <a:ext uri="{FF2B5EF4-FFF2-40B4-BE49-F238E27FC236}">
                <a16:creationId xmlns:a16="http://schemas.microsoft.com/office/drawing/2014/main" id="{E1028B9F-A14E-4085-AAE8-F021B082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7" name="U10-DG-011-concept_3-text">
            <a:extLst xmlns:a="http://schemas.openxmlformats.org/drawingml/2006/main">
              <a:ext uri="{FF2B5EF4-FFF2-40B4-BE49-F238E27FC236}">
                <a16:creationId xmlns:a16="http://schemas.microsoft.com/office/drawing/2014/main" id="{78A94662-5C8E-4C7F-94F3-44BE5C75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Impulsividad</a:t>
            </a:r>
          </a:p>
        </p:txBody>
      </p:sp>
      <p:sp>
        <p:nvSpPr>
          <p:cNvPr id="18" name="U10-DG-011-concept_4-box">
            <a:extLst xmlns:a="http://schemas.openxmlformats.org/drawingml/2006/main">
              <a:ext uri="{FF2B5EF4-FFF2-40B4-BE49-F238E27FC236}">
                <a16:creationId xmlns:a16="http://schemas.microsoft.com/office/drawing/2014/main" id="{A1010A2A-AAEF-4B11-BE7F-9FFC3DD6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9" name="U10-DG-011-concept_4-text">
            <a:extLst xmlns:a="http://schemas.openxmlformats.org/drawingml/2006/main">
              <a:ext uri="{FF2B5EF4-FFF2-40B4-BE49-F238E27FC236}">
                <a16:creationId xmlns:a16="http://schemas.microsoft.com/office/drawing/2014/main" id="{656941E8-52BA-43EB-A409-9AE4DD4E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Los rasgos pueden coexistir</a:t>
            </a:r>
          </a:p>
        </p:txBody>
      </p:sp>
      <p:sp>
        <p:nvSpPr>
          <p:cNvPr id="20" name="U10-DG-011-concept_5-box">
            <a:extLst xmlns:a="http://schemas.openxmlformats.org/drawingml/2006/main">
              <a:ext uri="{FF2B5EF4-FFF2-40B4-BE49-F238E27FC236}">
                <a16:creationId xmlns:a16="http://schemas.microsoft.com/office/drawing/2014/main" id="{1AD2894F-ECBB-4B35-8B09-D94D80CA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1" name="U10-DG-011-concept_5-text">
            <a:extLst xmlns:a="http://schemas.openxmlformats.org/drawingml/2006/main">
              <a:ext uri="{FF2B5EF4-FFF2-40B4-BE49-F238E27FC236}">
                <a16:creationId xmlns:a16="http://schemas.microsoft.com/office/drawing/2014/main" id="{BAAE44A4-1EA0-4335-B238-1A59F08A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Ejemplo: máquina fluctuante</a:t>
            </a:r>
          </a:p>
        </p:txBody>
      </p:sp>
      <p:sp>
        <p:nvSpPr>
          <p:cNvPr id="22" name="U10-DG-011-concept_6-box">
            <a:extLst xmlns:a="http://schemas.openxmlformats.org/drawingml/2006/main">
              <a:ext uri="{FF2B5EF4-FFF2-40B4-BE49-F238E27FC236}">
                <a16:creationId xmlns:a16="http://schemas.microsoft.com/office/drawing/2014/main" id="{4C369523-6A54-49B6-BDAE-01081753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3" name="U10-DG-011-concept_6-text">
            <a:extLst xmlns:a="http://schemas.openxmlformats.org/drawingml/2006/main">
              <a:ext uri="{FF2B5EF4-FFF2-40B4-BE49-F238E27FC236}">
                <a16:creationId xmlns:a16="http://schemas.microsoft.com/office/drawing/2014/main" id="{9EAD00C7-7672-4491-BFE6-7150190D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Ejemplo: portazos</a:t>
            </a:r>
          </a:p>
        </p:txBody>
      </p:sp>
      <p:sp>
        <p:nvSpPr>
          <p:cNvPr id="24" name="caption">
            <a:extLst xmlns:a="http://schemas.openxmlformats.org/drawingml/2006/main">
              <a:ext uri="{FF2B5EF4-FFF2-40B4-BE49-F238E27FC236}">
                <a16:creationId xmlns:a16="http://schemas.microsoft.com/office/drawing/2014/main" id="{2862E181-29DF-448E-97F6-1ED116D5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Clasificación temporal no excluyente. Predictibilidad; continuidad; impulsividad; ejemplos.</a:t>
            </a:r>
          </a:p>
        </p:txBody>
      </p:sp>
      <p:sp>
        <p:nvSpPr>
          <p:cNvPr id="2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C45F0ED-1582-46E1-9D66-FA2AA983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rail-1">
            <a:extLst xmlns:a="http://schemas.openxmlformats.org/drawingml/2006/main">
              <a:ext uri="{FF2B5EF4-FFF2-40B4-BE49-F238E27FC236}">
                <a16:creationId xmlns:a16="http://schemas.microsoft.com/office/drawing/2014/main" id="{7BA5DA06-D187-4A5D-AE50-18A4AF56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65321C14-A7D1-4B27-AAFC-4263BABB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126D2255-8797-4C35-A4AC-9F9D2F45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59D2368F-74CF-4866-B71A-EBDE4B77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620569-FCC3-4787-8E55-4C0AA8B4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sola muestra no describe una señal variable</a:t>
            </a:r>
          </a:p>
        </p:txBody>
      </p:sp>
      <p:sp>
        <p:nvSpPr>
          <p:cNvPr id="6" name="U10-DG-012-concept_1-anchor">
            <a:extLst xmlns:a="http://schemas.openxmlformats.org/drawingml/2006/main">
              <a:ext uri="{FF2B5EF4-FFF2-40B4-BE49-F238E27FC236}">
                <a16:creationId xmlns:a16="http://schemas.microsoft.com/office/drawing/2014/main" id="{C50935D6-5731-4BC0-9A64-784AD90D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12-concept_2-anchor">
            <a:extLst xmlns:a="http://schemas.openxmlformats.org/drawingml/2006/main">
              <a:ext uri="{FF2B5EF4-FFF2-40B4-BE49-F238E27FC236}">
                <a16:creationId xmlns:a16="http://schemas.microsoft.com/office/drawing/2014/main" id="{B32E516E-1158-4893-8EE1-E6AC6BC5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6916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12-concept_3-anchor">
            <a:extLst xmlns:a="http://schemas.openxmlformats.org/drawingml/2006/main">
              <a:ext uri="{FF2B5EF4-FFF2-40B4-BE49-F238E27FC236}">
                <a16:creationId xmlns:a16="http://schemas.microsoft.com/office/drawing/2014/main" id="{60CCA6A2-1C0E-458C-931D-D8003044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12-concept_4-anchor">
            <a:extLst xmlns:a="http://schemas.openxmlformats.org/drawingml/2006/main">
              <a:ext uri="{FF2B5EF4-FFF2-40B4-BE49-F238E27FC236}">
                <a16:creationId xmlns:a16="http://schemas.microsoft.com/office/drawing/2014/main" id="{8FBB2B09-806B-4F87-B010-26D5ECCC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394329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12-visual-alt" descr="Crear necesidad de estadísticos. Muestra; ventana; registro; descriptores. Orden de lectura: “amplía contexto”, “resume”. ---">
            <a:extLst xmlns:a="http://schemas.openxmlformats.org/drawingml/2006/main">
              <a:ext uri="{FF2B5EF4-FFF2-40B4-BE49-F238E27FC236}">
                <a16:creationId xmlns:a16="http://schemas.microsoft.com/office/drawing/2014/main" id="{6E032ECF-B369-43CE-A39B-FAFDF627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1" name="U10-DG-012-concept_1-text">
            <a:extLst xmlns:a="http://schemas.openxmlformats.org/drawingml/2006/main">
              <a:ext uri="{FF2B5EF4-FFF2-40B4-BE49-F238E27FC236}">
                <a16:creationId xmlns:a16="http://schemas.microsoft.com/office/drawing/2014/main" id="{8F6F192D-9736-4B93-AAA0-15EFBC1C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Muestra instantánea</a:t>
            </a:r>
          </a:p>
        </p:txBody>
      </p:sp>
      <p:sp>
        <p:nvSpPr>
          <p:cNvPr id="12" name="U10-DG-012-concept_2-box">
            <a:extLst xmlns:a="http://schemas.openxmlformats.org/drawingml/2006/main">
              <a:ext uri="{FF2B5EF4-FFF2-40B4-BE49-F238E27FC236}">
                <a16:creationId xmlns:a16="http://schemas.microsoft.com/office/drawing/2014/main" id="{C31FB7E7-900E-4DE9-B00D-A2FFBE6A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6916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3" name="U10-DG-012-concept_2-text">
            <a:extLst xmlns:a="http://schemas.openxmlformats.org/drawingml/2006/main">
              <a:ext uri="{FF2B5EF4-FFF2-40B4-BE49-F238E27FC236}">
                <a16:creationId xmlns:a16="http://schemas.microsoft.com/office/drawing/2014/main" id="{22F69331-28C3-403A-9604-80BBD5FE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18154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Ventana de observación</a:t>
            </a:r>
          </a:p>
        </p:txBody>
      </p:sp>
      <p:sp>
        <p:nvSpPr>
          <p:cNvPr id="14" name="U10-DG-012-concept_3-box">
            <a:extLst xmlns:a="http://schemas.openxmlformats.org/drawingml/2006/main">
              <a:ext uri="{FF2B5EF4-FFF2-40B4-BE49-F238E27FC236}">
                <a16:creationId xmlns:a16="http://schemas.microsoft.com/office/drawing/2014/main" id="{B7877ACE-3961-47BD-B711-6B5AB60B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5" name="U10-DG-012-concept_3-text">
            <a:extLst xmlns:a="http://schemas.openxmlformats.org/drawingml/2006/main">
              <a:ext uri="{FF2B5EF4-FFF2-40B4-BE49-F238E27FC236}">
                <a16:creationId xmlns:a16="http://schemas.microsoft.com/office/drawing/2014/main" id="{181D0599-E86F-4DD6-A838-295A514A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8154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Registro</a:t>
            </a:r>
          </a:p>
        </p:txBody>
      </p:sp>
      <p:sp>
        <p:nvSpPr>
          <p:cNvPr id="16" name="U10-DG-012-concept_4-box">
            <a:extLst xmlns:a="http://schemas.openxmlformats.org/drawingml/2006/main">
              <a:ext uri="{FF2B5EF4-FFF2-40B4-BE49-F238E27FC236}">
                <a16:creationId xmlns:a16="http://schemas.microsoft.com/office/drawing/2014/main" id="{14C74C5C-DD84-486B-9147-3F163297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394329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7" name="U10-DG-012-concept_4-text">
            <a:extLst xmlns:a="http://schemas.openxmlformats.org/drawingml/2006/main">
              <a:ext uri="{FF2B5EF4-FFF2-40B4-BE49-F238E27FC236}">
                <a16:creationId xmlns:a16="http://schemas.microsoft.com/office/drawing/2014/main" id="{AE46D828-0822-40C3-9A14-58C81E3F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3518154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Descriptores</a:t>
            </a:r>
          </a:p>
        </p:txBody>
      </p:sp>
      <p:sp>
        <p:nvSpPr>
          <p:cNvPr id="18" name="caption">
            <a:extLst xmlns:a="http://schemas.openxmlformats.org/drawingml/2006/main">
              <a:ext uri="{FF2B5EF4-FFF2-40B4-BE49-F238E27FC236}">
                <a16:creationId xmlns:a16="http://schemas.microsoft.com/office/drawing/2014/main" id="{41F44F3B-F747-4316-8C73-0D466D9F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Crear necesidad de estadísticos. Muestra; ventana; registro; descriptores.</a:t>
            </a:r>
          </a:p>
        </p:txBody>
      </p:sp>
      <p:sp>
        <p:nvSpPr>
          <p:cNvPr id="1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0B5ABC3-E811-45C1-9C9B-E816E5E1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C9E9CFE4-161D-435E-874C-6C37C0A8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CF0D2224-BCBF-48A9-A579-FB48B2A2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4F18E060-1492-49AB-A0FB-553F7C5F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0A45F577-A857-4AA3-B6DF-C5312F33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970D67-0CB2-4D6D-BB96-6F44CB27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media conserva el signo</a:t>
            </a:r>
          </a:p>
        </p:txBody>
      </p:sp>
      <p:sp>
        <p:nvSpPr>
          <p:cNvPr id="6" name="U10-DG-013-equation-anchor">
            <a:extLst xmlns:a="http://schemas.openxmlformats.org/drawingml/2006/main">
              <a:ext uri="{FF2B5EF4-FFF2-40B4-BE49-F238E27FC236}">
                <a16:creationId xmlns:a16="http://schemas.microsoft.com/office/drawing/2014/main" id="{EBA229D7-2DE8-482A-B943-E670F854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13-callout_1-anchor">
            <a:extLst xmlns:a="http://schemas.openxmlformats.org/drawingml/2006/main">
              <a:ext uri="{FF2B5EF4-FFF2-40B4-BE49-F238E27FC236}">
                <a16:creationId xmlns:a16="http://schemas.microsoft.com/office/drawing/2014/main" id="{F4FA7669-C1DC-495D-A417-6E98C3C2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13-callout_2-anchor">
            <a:extLst xmlns:a="http://schemas.openxmlformats.org/drawingml/2006/main">
              <a:ext uri="{FF2B5EF4-FFF2-40B4-BE49-F238E27FC236}">
                <a16:creationId xmlns:a16="http://schemas.microsoft.com/office/drawing/2014/main" id="{8515A2D7-F59F-4D6C-B7AD-C9B92688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13-callout_3-anchor">
            <a:extLst xmlns:a="http://schemas.openxmlformats.org/drawingml/2006/main">
              <a:ext uri="{FF2B5EF4-FFF2-40B4-BE49-F238E27FC236}">
                <a16:creationId xmlns:a16="http://schemas.microsoft.com/office/drawing/2014/main" id="{D290517D-780F-4002-82DE-9875B017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13-callout_4-anchor">
            <a:extLst xmlns:a="http://schemas.openxmlformats.org/drawingml/2006/main">
              <a:ext uri="{FF2B5EF4-FFF2-40B4-BE49-F238E27FC236}">
                <a16:creationId xmlns:a16="http://schemas.microsoft.com/office/drawing/2014/main" id="{2C92D5A5-C8A2-4C57-9881-19C7E8AF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U10-DG-013-leader_1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60395" y="2004061"/>
            <a:ext cx="87630" cy="115204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U10-DG-013-leader_2"/>
          <p:cNvCxnSpPr>
            <a:stCxn xmlns:a="http://schemas.openxmlformats.org/drawingml/2006/main" id="8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8172450" y="1460183"/>
            <a:ext cx="2594610" cy="1695927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10-DG-013-leader_3"/>
          <p:cNvCxnSpPr>
            <a:stCxn xmlns:a="http://schemas.openxmlformats.org/drawingml/2006/main" id="9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160395" y="3156110"/>
            <a:ext cx="87630" cy="150352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10-DG-013-leader_4"/>
          <p:cNvCxnSpPr>
            <a:stCxn xmlns:a="http://schemas.openxmlformats.org/drawingml/2006/main" id="10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8172450" y="3156110"/>
            <a:ext cx="184785" cy="1503521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10-DG-013-visual-alt" descr="Ecuación de media anotada. Ecuación central; callouts N, pᵢ, p̄; unidad. Orden de lectura: Líderes cortos sin flecha. ---">
            <a:extLst xmlns:a="http://schemas.openxmlformats.org/drawingml/2006/main">
              <a:ext uri="{FF2B5EF4-FFF2-40B4-BE49-F238E27FC236}">
                <a16:creationId xmlns:a16="http://schemas.microsoft.com/office/drawing/2014/main" id="{714AD54D-4447-43F5-ACA6-6E028835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10-DG-013-equation-text">
            <a:extLst xmlns:a="http://schemas.openxmlformats.org/drawingml/2006/main">
              <a:ext uri="{FF2B5EF4-FFF2-40B4-BE49-F238E27FC236}">
                <a16:creationId xmlns:a16="http://schemas.microsoft.com/office/drawing/2014/main" id="{C12B8755-F0DB-4D30-955E-FE2A04A7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13673"/>
            <a:ext cx="465201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p̄ = (1/N) Σᵢ₌₁ᴺ pᵢ</a:t>
            </a:r>
          </a:p>
        </p:txBody>
      </p:sp>
      <p:sp>
        <p:nvSpPr>
          <p:cNvPr id="17" name="U10-DG-013-callout_1-box">
            <a:extLst xmlns:a="http://schemas.openxmlformats.org/drawingml/2006/main">
              <a:ext uri="{FF2B5EF4-FFF2-40B4-BE49-F238E27FC236}">
                <a16:creationId xmlns:a16="http://schemas.microsoft.com/office/drawing/2014/main" id="{72013201-A85A-4131-9131-BDC00147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13-callout_1-text">
            <a:extLst xmlns:a="http://schemas.openxmlformats.org/drawingml/2006/main">
              <a:ext uri="{FF2B5EF4-FFF2-40B4-BE49-F238E27FC236}">
                <a16:creationId xmlns:a16="http://schemas.microsoft.com/office/drawing/2014/main" id="{B0C68448-3A1D-4C86-AEDD-EF8C4710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N: cantidad de muestras</a:t>
            </a:r>
          </a:p>
        </p:txBody>
      </p:sp>
      <p:sp>
        <p:nvSpPr>
          <p:cNvPr id="19" name="U10-DG-013-callout_2-box">
            <a:extLst xmlns:a="http://schemas.openxmlformats.org/drawingml/2006/main">
              <a:ext uri="{FF2B5EF4-FFF2-40B4-BE49-F238E27FC236}">
                <a16:creationId xmlns:a16="http://schemas.microsoft.com/office/drawing/2014/main" id="{5294792E-868D-4E8F-9ED3-22E73C90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0" name="U10-DG-013-callout_2-text">
            <a:extLst xmlns:a="http://schemas.openxmlformats.org/drawingml/2006/main">
              <a:ext uri="{FF2B5EF4-FFF2-40B4-BE49-F238E27FC236}">
                <a16:creationId xmlns:a16="http://schemas.microsoft.com/office/drawing/2014/main" id="{2474EF3A-6941-4960-9913-89915882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pᵢ: muestra de presión</a:t>
            </a:r>
          </a:p>
        </p:txBody>
      </p:sp>
      <p:sp>
        <p:nvSpPr>
          <p:cNvPr id="21" name="U10-DG-013-callout_3-box">
            <a:extLst xmlns:a="http://schemas.openxmlformats.org/drawingml/2006/main">
              <a:ext uri="{FF2B5EF4-FFF2-40B4-BE49-F238E27FC236}">
                <a16:creationId xmlns:a16="http://schemas.microsoft.com/office/drawing/2014/main" id="{441573A8-87B0-48FC-91F1-14A26709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2" name="U10-DG-013-callout_3-text">
            <a:extLst xmlns:a="http://schemas.openxmlformats.org/drawingml/2006/main">
              <a:ext uri="{FF2B5EF4-FFF2-40B4-BE49-F238E27FC236}">
                <a16:creationId xmlns:a16="http://schemas.microsoft.com/office/drawing/2014/main" id="{B9C6B67F-2B6B-4055-B916-1FD8DEFE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p̄: media (Pa)</a:t>
            </a:r>
          </a:p>
        </p:txBody>
      </p:sp>
      <p:sp>
        <p:nvSpPr>
          <p:cNvPr id="23" name="U10-DG-013-callout_4-box">
            <a:extLst xmlns:a="http://schemas.openxmlformats.org/drawingml/2006/main">
              <a:ext uri="{FF2B5EF4-FFF2-40B4-BE49-F238E27FC236}">
                <a16:creationId xmlns:a16="http://schemas.microsoft.com/office/drawing/2014/main" id="{BB4C463C-A7B9-4C15-B540-6F7F32EC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4" name="U10-DG-013-callout_4-text">
            <a:extLst xmlns:a="http://schemas.openxmlformats.org/drawingml/2006/main">
              <a:ext uri="{FF2B5EF4-FFF2-40B4-BE49-F238E27FC236}">
                <a16:creationId xmlns:a16="http://schemas.microsoft.com/office/drawing/2014/main" id="{0FD7E31F-82DC-47DD-A0B5-FE0362C1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Conserva el signo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DFA1CED9-1F80-4649-B751-3FA9355F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Ecuación de media anotada. Ecuación central; callouts N, pᵢ, p̄; unidad.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6D14929-E4DA-4BDF-AB28-CBDA9659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CFC27BB6-77D4-45B6-BE48-ABEEF031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9B868E39-9BC4-43DD-B8C1-B6F5989F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9D6A48DA-1BED-4D36-9798-897AB3A8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459313A8-F72A-4F91-B09D-92F915E7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FF1E37-7A18-4B50-89DA-F2A55170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RMS mide tamaño cuadrático, no promedio con signo</a:t>
            </a:r>
          </a:p>
        </p:txBody>
      </p:sp>
      <p:sp>
        <p:nvSpPr>
          <p:cNvPr id="6" name="U10-DG-014-equation-anchor">
            <a:extLst xmlns:a="http://schemas.openxmlformats.org/drawingml/2006/main">
              <a:ext uri="{FF2B5EF4-FFF2-40B4-BE49-F238E27FC236}">
                <a16:creationId xmlns:a16="http://schemas.microsoft.com/office/drawing/2014/main" id="{FAF4108B-7632-4716-AD9E-67EEF6F5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14-callout_1-anchor">
            <a:extLst xmlns:a="http://schemas.openxmlformats.org/drawingml/2006/main">
              <a:ext uri="{FF2B5EF4-FFF2-40B4-BE49-F238E27FC236}">
                <a16:creationId xmlns:a16="http://schemas.microsoft.com/office/drawing/2014/main" id="{9C03D564-997C-431A-8477-C844D1FB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14-callout_2-anchor">
            <a:extLst xmlns:a="http://schemas.openxmlformats.org/drawingml/2006/main">
              <a:ext uri="{FF2B5EF4-FFF2-40B4-BE49-F238E27FC236}">
                <a16:creationId xmlns:a16="http://schemas.microsoft.com/office/drawing/2014/main" id="{B4877C27-51B8-4E98-84E3-B81F670C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14-callout_3-anchor">
            <a:extLst xmlns:a="http://schemas.openxmlformats.org/drawingml/2006/main">
              <a:ext uri="{FF2B5EF4-FFF2-40B4-BE49-F238E27FC236}">
                <a16:creationId xmlns:a16="http://schemas.microsoft.com/office/drawing/2014/main" id="{BDED88F2-94B8-48EB-A5C3-8770EF5A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14-callout_4-anchor">
            <a:extLst xmlns:a="http://schemas.openxmlformats.org/drawingml/2006/main">
              <a:ext uri="{FF2B5EF4-FFF2-40B4-BE49-F238E27FC236}">
                <a16:creationId xmlns:a16="http://schemas.microsoft.com/office/drawing/2014/main" id="{91962294-24B5-45E0-AC1B-8B758011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U10-DG-014-leader_1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60395" y="2004061"/>
            <a:ext cx="87630" cy="115204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U10-DG-014-leader_2"/>
          <p:cNvCxnSpPr>
            <a:stCxn xmlns:a="http://schemas.openxmlformats.org/drawingml/2006/main" id="8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8172450" y="1460183"/>
            <a:ext cx="2594610" cy="1695927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10-DG-014-leader_3"/>
          <p:cNvCxnSpPr>
            <a:stCxn xmlns:a="http://schemas.openxmlformats.org/drawingml/2006/main" id="9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160395" y="3156110"/>
            <a:ext cx="87630" cy="150352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10-DG-014-leader_4"/>
          <p:cNvCxnSpPr>
            <a:stCxn xmlns:a="http://schemas.openxmlformats.org/drawingml/2006/main" id="10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8172450" y="3156110"/>
            <a:ext cx="184785" cy="1503521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10-DG-014-visual-alt" descr="Proceso conceptual de RMS. Cuadrar; promediar; raíz; unidad recuperada. Orden de lectura: Flechas “evita cancelación”, “promedia”, “devuelve Pa”. ---">
            <a:extLst xmlns:a="http://schemas.openxmlformats.org/drawingml/2006/main">
              <a:ext uri="{FF2B5EF4-FFF2-40B4-BE49-F238E27FC236}">
                <a16:creationId xmlns:a16="http://schemas.microsoft.com/office/drawing/2014/main" id="{69DD381D-C1E3-47A6-8768-0E88A058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10-DG-014-equation-text">
            <a:extLst xmlns:a="http://schemas.openxmlformats.org/drawingml/2006/main">
              <a:ext uri="{FF2B5EF4-FFF2-40B4-BE49-F238E27FC236}">
                <a16:creationId xmlns:a16="http://schemas.microsoft.com/office/drawing/2014/main" id="{3A884EC7-97E4-4916-8B14-D4D879CF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13673"/>
            <a:ext cx="465201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pᵣₘₛ = √[(1/N) Σᵢ₌₁ᴺ pᵢ²]</a:t>
            </a:r>
          </a:p>
        </p:txBody>
      </p:sp>
      <p:sp>
        <p:nvSpPr>
          <p:cNvPr id="17" name="U10-DG-014-callout_1-box">
            <a:extLst xmlns:a="http://schemas.openxmlformats.org/drawingml/2006/main">
              <a:ext uri="{FF2B5EF4-FFF2-40B4-BE49-F238E27FC236}">
                <a16:creationId xmlns:a16="http://schemas.microsoft.com/office/drawing/2014/main" id="{1CB8B3B8-66A9-4753-B2FF-7146B12C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14-callout_1-text">
            <a:extLst xmlns:a="http://schemas.openxmlformats.org/drawingml/2006/main">
              <a:ext uri="{FF2B5EF4-FFF2-40B4-BE49-F238E27FC236}">
                <a16:creationId xmlns:a16="http://schemas.microsoft.com/office/drawing/2014/main" id="{ABF7DB9E-523D-4393-B1F1-FEEA56E6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Cuadrar pᵢ</a:t>
            </a:r>
          </a:p>
        </p:txBody>
      </p:sp>
      <p:sp>
        <p:nvSpPr>
          <p:cNvPr id="19" name="U10-DG-014-callout_2-box">
            <a:extLst xmlns:a="http://schemas.openxmlformats.org/drawingml/2006/main">
              <a:ext uri="{FF2B5EF4-FFF2-40B4-BE49-F238E27FC236}">
                <a16:creationId xmlns:a16="http://schemas.microsoft.com/office/drawing/2014/main" id="{4B98FAF1-BE12-47EA-A1EE-FFC1295A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0" name="U10-DG-014-callout_2-text">
            <a:extLst xmlns:a="http://schemas.openxmlformats.org/drawingml/2006/main">
              <a:ext uri="{FF2B5EF4-FFF2-40B4-BE49-F238E27FC236}">
                <a16:creationId xmlns:a16="http://schemas.microsoft.com/office/drawing/2014/main" id="{BFEEB8C2-C577-4CD2-A1E9-063FD500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Promediar</a:t>
            </a:r>
          </a:p>
        </p:txBody>
      </p:sp>
      <p:sp>
        <p:nvSpPr>
          <p:cNvPr id="21" name="U10-DG-014-callout_3-box">
            <a:extLst xmlns:a="http://schemas.openxmlformats.org/drawingml/2006/main">
              <a:ext uri="{FF2B5EF4-FFF2-40B4-BE49-F238E27FC236}">
                <a16:creationId xmlns:a16="http://schemas.microsoft.com/office/drawing/2014/main" id="{4288648E-C927-4BA0-B3A5-B62D5E26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2" name="U10-DG-014-callout_3-text">
            <a:extLst xmlns:a="http://schemas.openxmlformats.org/drawingml/2006/main">
              <a:ext uri="{FF2B5EF4-FFF2-40B4-BE49-F238E27FC236}">
                <a16:creationId xmlns:a16="http://schemas.microsoft.com/office/drawing/2014/main" id="{43C94322-1C7D-4FFD-8A17-C98C6527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Extraer raíz</a:t>
            </a:r>
          </a:p>
        </p:txBody>
      </p:sp>
      <p:sp>
        <p:nvSpPr>
          <p:cNvPr id="23" name="U10-DG-014-callout_4-box">
            <a:extLst xmlns:a="http://schemas.openxmlformats.org/drawingml/2006/main">
              <a:ext uri="{FF2B5EF4-FFF2-40B4-BE49-F238E27FC236}">
                <a16:creationId xmlns:a16="http://schemas.microsoft.com/office/drawing/2014/main" id="{7E152340-A8BA-42A6-A16B-36F5DD9E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4" name="U10-DG-014-callout_4-text">
            <a:extLst xmlns:a="http://schemas.openxmlformats.org/drawingml/2006/main">
              <a:ext uri="{FF2B5EF4-FFF2-40B4-BE49-F238E27FC236}">
                <a16:creationId xmlns:a16="http://schemas.microsoft.com/office/drawing/2014/main" id="{07F9F9F9-FEBD-4547-ABA6-DA02DB6B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Resultado en Pa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7B548315-4D5B-406A-BE1D-E38C6BD6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Proceso conceptual de RMS. Cuadrar; promediar; raíz; unidad recuperada.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D7287F0-E7F1-48E2-BF90-1F1F7A61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B0B299F2-9A7F-4CB9-9425-7B76C654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3472FD64-DEEC-4B93-B259-D34CABF2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DDA53BE6-79D3-455B-8BF0-8D6AFA79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0E905DE5-8327-45D0-AE6C-38013CBC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06367-AD53-4838-ADF7-632C263C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varianza mide dispersión respecto de la media</a:t>
            </a:r>
          </a:p>
        </p:txBody>
      </p:sp>
      <p:sp>
        <p:nvSpPr>
          <p:cNvPr id="6" name="U10-DG-015-equation-anchor">
            <a:extLst xmlns:a="http://schemas.openxmlformats.org/drawingml/2006/main">
              <a:ext uri="{FF2B5EF4-FFF2-40B4-BE49-F238E27FC236}">
                <a16:creationId xmlns:a16="http://schemas.microsoft.com/office/drawing/2014/main" id="{8DA09D7C-BDD8-43C2-8F93-D2C8886C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15-callout_1-anchor">
            <a:extLst xmlns:a="http://schemas.openxmlformats.org/drawingml/2006/main">
              <a:ext uri="{FF2B5EF4-FFF2-40B4-BE49-F238E27FC236}">
                <a16:creationId xmlns:a16="http://schemas.microsoft.com/office/drawing/2014/main" id="{94D10B0A-2A1A-4FA5-A9C8-427BD3D3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15-callout_2-anchor">
            <a:extLst xmlns:a="http://schemas.openxmlformats.org/drawingml/2006/main">
              <a:ext uri="{FF2B5EF4-FFF2-40B4-BE49-F238E27FC236}">
                <a16:creationId xmlns:a16="http://schemas.microsoft.com/office/drawing/2014/main" id="{F6D79341-B54E-4555-9374-D8C2DAB5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15-callout_3-anchor">
            <a:extLst xmlns:a="http://schemas.openxmlformats.org/drawingml/2006/main">
              <a:ext uri="{FF2B5EF4-FFF2-40B4-BE49-F238E27FC236}">
                <a16:creationId xmlns:a16="http://schemas.microsoft.com/office/drawing/2014/main" id="{1E440323-977D-47CD-B7A2-C880E900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15-callout_4-anchor">
            <a:extLst xmlns:a="http://schemas.openxmlformats.org/drawingml/2006/main">
              <a:ext uri="{FF2B5EF4-FFF2-40B4-BE49-F238E27FC236}">
                <a16:creationId xmlns:a16="http://schemas.microsoft.com/office/drawing/2014/main" id="{F130022B-8E3D-46AF-9F01-D5C65823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U10-DG-015-leader_1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60395" y="2004061"/>
            <a:ext cx="87630" cy="115204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U10-DG-015-leader_2"/>
          <p:cNvCxnSpPr>
            <a:stCxn xmlns:a="http://schemas.openxmlformats.org/drawingml/2006/main" id="8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8172450" y="1460183"/>
            <a:ext cx="2594610" cy="1695927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10-DG-015-leader_3"/>
          <p:cNvCxnSpPr>
            <a:stCxn xmlns:a="http://schemas.openxmlformats.org/drawingml/2006/main" id="9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160395" y="3156110"/>
            <a:ext cx="87630" cy="150352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10-DG-015-leader_4"/>
          <p:cNvCxnSpPr>
            <a:stCxn xmlns:a="http://schemas.openxmlformats.org/drawingml/2006/main" id="10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8172450" y="3156110"/>
            <a:ext cx="184785" cy="1503521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10-DG-015-visual-alt" descr="Varianza frente a RMS. Media; desviaciones; cuadrado; promedio; caja contraste. Orden de lectura: Secuencia con etiqueta breve. ---">
            <a:extLst xmlns:a="http://schemas.openxmlformats.org/drawingml/2006/main">
              <a:ext uri="{FF2B5EF4-FFF2-40B4-BE49-F238E27FC236}">
                <a16:creationId xmlns:a16="http://schemas.microsoft.com/office/drawing/2014/main" id="{B88E5564-3546-4C9E-9187-93AF40A4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10-DG-015-equation-text">
            <a:extLst xmlns:a="http://schemas.openxmlformats.org/drawingml/2006/main">
              <a:ext uri="{FF2B5EF4-FFF2-40B4-BE49-F238E27FC236}">
                <a16:creationId xmlns:a16="http://schemas.microsoft.com/office/drawing/2014/main" id="{AF6CF23D-11A5-42CA-9620-E1CEC29F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13673"/>
            <a:ext cx="465201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σₚ² = (1/N) Σᵢ₌₁ᴺ (pᵢ − p̄)²</a:t>
            </a:r>
          </a:p>
        </p:txBody>
      </p:sp>
      <p:sp>
        <p:nvSpPr>
          <p:cNvPr id="17" name="U10-DG-015-callout_1-box">
            <a:extLst xmlns:a="http://schemas.openxmlformats.org/drawingml/2006/main">
              <a:ext uri="{FF2B5EF4-FFF2-40B4-BE49-F238E27FC236}">
                <a16:creationId xmlns:a16="http://schemas.microsoft.com/office/drawing/2014/main" id="{946DB79F-704D-4781-A037-AEAC0461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15-callout_1-text">
            <a:extLst xmlns:a="http://schemas.openxmlformats.org/drawingml/2006/main">
              <a:ext uri="{FF2B5EF4-FFF2-40B4-BE49-F238E27FC236}">
                <a16:creationId xmlns:a16="http://schemas.microsoft.com/office/drawing/2014/main" id="{AA2DA241-6D95-42A7-87EF-48561CCC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p̄: centro de referencia</a:t>
            </a:r>
          </a:p>
        </p:txBody>
      </p:sp>
      <p:sp>
        <p:nvSpPr>
          <p:cNvPr id="19" name="U10-DG-015-callout_2-box">
            <a:extLst xmlns:a="http://schemas.openxmlformats.org/drawingml/2006/main">
              <a:ext uri="{FF2B5EF4-FFF2-40B4-BE49-F238E27FC236}">
                <a16:creationId xmlns:a16="http://schemas.microsoft.com/office/drawing/2014/main" id="{C66207A1-CD88-415C-8186-56CCEA7D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0" name="U10-DG-015-callout_2-text">
            <a:extLst xmlns:a="http://schemas.openxmlformats.org/drawingml/2006/main">
              <a:ext uri="{FF2B5EF4-FFF2-40B4-BE49-F238E27FC236}">
                <a16:creationId xmlns:a16="http://schemas.microsoft.com/office/drawing/2014/main" id="{BB312A97-7A6F-4D88-86AE-D83DFF32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pᵢ−p̄: desviación</a:t>
            </a:r>
          </a:p>
        </p:txBody>
      </p:sp>
      <p:sp>
        <p:nvSpPr>
          <p:cNvPr id="21" name="U10-DG-015-callout_3-box">
            <a:extLst xmlns:a="http://schemas.openxmlformats.org/drawingml/2006/main">
              <a:ext uri="{FF2B5EF4-FFF2-40B4-BE49-F238E27FC236}">
                <a16:creationId xmlns:a16="http://schemas.microsoft.com/office/drawing/2014/main" id="{718EEAC6-A1D2-471F-B05C-1C945E31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2" name="U10-DG-015-callout_3-text">
            <a:extLst xmlns:a="http://schemas.openxmlformats.org/drawingml/2006/main">
              <a:ext uri="{FF2B5EF4-FFF2-40B4-BE49-F238E27FC236}">
                <a16:creationId xmlns:a16="http://schemas.microsoft.com/office/drawing/2014/main" id="{69EFEE67-A80A-47D9-892E-79878C15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Cuadrado: evita</a:t>
            </a:r>
          </a:p>
        </p:txBody>
      </p:sp>
      <p:sp>
        <p:nvSpPr>
          <p:cNvPr id="23" name="U10-DG-015-callout_4-box">
            <a:extLst xmlns:a="http://schemas.openxmlformats.org/drawingml/2006/main">
              <a:ext uri="{FF2B5EF4-FFF2-40B4-BE49-F238E27FC236}">
                <a16:creationId xmlns:a16="http://schemas.microsoft.com/office/drawing/2014/main" id="{09E3065E-C0C0-4E4C-B957-809992D5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4" name="U10-DG-015-callout_4-text">
            <a:extLst xmlns:a="http://schemas.openxmlformats.org/drawingml/2006/main">
              <a:ext uri="{FF2B5EF4-FFF2-40B4-BE49-F238E27FC236}">
                <a16:creationId xmlns:a16="http://schemas.microsoft.com/office/drawing/2014/main" id="{AA1754A9-6628-49D8-A657-294D9C1B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σₚ² se expresa en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FE414909-73BD-4CD3-B10F-5F88FE9C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Varianza frente a RMS. Media; desviaciones; cuadrado; promedio; caja contraste.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5A9AFDF-7908-4152-9304-4AE15FD8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rail-1">
            <a:extLst xmlns:a="http://schemas.openxmlformats.org/drawingml/2006/main">
              <a:ext uri="{FF2B5EF4-FFF2-40B4-BE49-F238E27FC236}">
                <a16:creationId xmlns:a16="http://schemas.microsoft.com/office/drawing/2014/main" id="{C2C7C3B4-03D8-4F3B-9A92-7C7BB622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368F6A4D-0591-431B-9E5F-DC0BFC58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EC69C7A0-62AB-4E75-81BC-503408A6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E689B86-7711-4563-AD05-A48994BA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712785-032F-4FE2-BB67-7FC9F620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Media cero no significa ausencia de señal</a:t>
            </a:r>
          </a:p>
        </p:txBody>
      </p:sp>
      <p:sp>
        <p:nvSpPr>
          <p:cNvPr id="6" name="U10-DG-016-concept_1-anchor">
            <a:extLst xmlns:a="http://schemas.openxmlformats.org/drawingml/2006/main">
              <a:ext uri="{FF2B5EF4-FFF2-40B4-BE49-F238E27FC236}">
                <a16:creationId xmlns:a16="http://schemas.microsoft.com/office/drawing/2014/main" id="{A897C865-913F-4108-8E40-DA729B1B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16-concept_2-anchor">
            <a:extLst xmlns:a="http://schemas.openxmlformats.org/drawingml/2006/main">
              <a:ext uri="{FF2B5EF4-FFF2-40B4-BE49-F238E27FC236}">
                <a16:creationId xmlns:a16="http://schemas.microsoft.com/office/drawing/2014/main" id="{428CA9B5-6BDD-4D2C-B447-AF95A746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16-concept_3-anchor">
            <a:extLst xmlns:a="http://schemas.openxmlformats.org/drawingml/2006/main">
              <a:ext uri="{FF2B5EF4-FFF2-40B4-BE49-F238E27FC236}">
                <a16:creationId xmlns:a16="http://schemas.microsoft.com/office/drawing/2014/main" id="{D33840DC-810A-42AC-BF4B-C76963C8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16-concept_4-anchor">
            <a:extLst xmlns:a="http://schemas.openxmlformats.org/drawingml/2006/main">
              <a:ext uri="{FF2B5EF4-FFF2-40B4-BE49-F238E27FC236}">
                <a16:creationId xmlns:a16="http://schemas.microsoft.com/office/drawing/2014/main" id="{5EFA9C31-0BF6-4F44-95D2-8E2FE935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16-concept_5-anchor">
            <a:extLst xmlns:a="http://schemas.openxmlformats.org/drawingml/2006/main">
              <a:ext uri="{FF2B5EF4-FFF2-40B4-BE49-F238E27FC236}">
                <a16:creationId xmlns:a16="http://schemas.microsoft.com/office/drawing/2014/main" id="{CF1F8818-DE11-4B2B-8587-5B92C84F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16-concept_6-anchor">
            <a:extLst xmlns:a="http://schemas.openxmlformats.org/drawingml/2006/main">
              <a:ext uri="{FF2B5EF4-FFF2-40B4-BE49-F238E27FC236}">
                <a16:creationId xmlns:a16="http://schemas.microsoft.com/office/drawing/2014/main" id="{AA358B0E-713F-4DF6-92F1-8882B479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10-DG-016-visual-alt" descr="Ejemplo media cero/RMS no cero. Datos; media; cuadrados; RMS; varianza; interpretación. Orden de lectura: Flechas de cálculo. ---">
            <a:extLst xmlns:a="http://schemas.openxmlformats.org/drawingml/2006/main">
              <a:ext uri="{FF2B5EF4-FFF2-40B4-BE49-F238E27FC236}">
                <a16:creationId xmlns:a16="http://schemas.microsoft.com/office/drawing/2014/main" id="{E353F263-FAF3-4BB4-AA08-A9A64DDB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3" name="U10-DG-016-concept_1-text">
            <a:extLst xmlns:a="http://schemas.openxmlformats.org/drawingml/2006/main">
              <a:ext uri="{FF2B5EF4-FFF2-40B4-BE49-F238E27FC236}">
                <a16:creationId xmlns:a16="http://schemas.microsoft.com/office/drawing/2014/main" id="{651894EA-BCBC-4930-88F3-68861461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Datos: −2, −1, 0, 1, 2 mPa</a:t>
            </a:r>
          </a:p>
        </p:txBody>
      </p:sp>
      <p:sp>
        <p:nvSpPr>
          <p:cNvPr id="14" name="U10-DG-016-concept_2-box">
            <a:extLst xmlns:a="http://schemas.openxmlformats.org/drawingml/2006/main">
              <a:ext uri="{FF2B5EF4-FFF2-40B4-BE49-F238E27FC236}">
                <a16:creationId xmlns:a16="http://schemas.microsoft.com/office/drawing/2014/main" id="{3C6EE9F2-03D9-4429-9C89-3D913F9E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5" name="U10-DG-016-concept_2-text">
            <a:extLst xmlns:a="http://schemas.openxmlformats.org/drawingml/2006/main">
              <a:ext uri="{FF2B5EF4-FFF2-40B4-BE49-F238E27FC236}">
                <a16:creationId xmlns:a16="http://schemas.microsoft.com/office/drawing/2014/main" id="{C64C563B-4011-40DD-BC47-629BF041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Media = 0 mPa</a:t>
            </a:r>
          </a:p>
        </p:txBody>
      </p:sp>
      <p:sp>
        <p:nvSpPr>
          <p:cNvPr id="16" name="U10-DG-016-concept_3-box">
            <a:extLst xmlns:a="http://schemas.openxmlformats.org/drawingml/2006/main">
              <a:ext uri="{FF2B5EF4-FFF2-40B4-BE49-F238E27FC236}">
                <a16:creationId xmlns:a16="http://schemas.microsoft.com/office/drawing/2014/main" id="{391C698A-32AA-4CBD-AB03-AB58B75D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7" name="U10-DG-016-concept_3-text">
            <a:extLst xmlns:a="http://schemas.openxmlformats.org/drawingml/2006/main">
              <a:ext uri="{FF2B5EF4-FFF2-40B4-BE49-F238E27FC236}">
                <a16:creationId xmlns:a16="http://schemas.microsoft.com/office/drawing/2014/main" id="{9C1AD263-5FC4-4BC2-8527-728FD820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Promedio de cuadrados = 2</a:t>
            </a:r>
          </a:p>
        </p:txBody>
      </p:sp>
      <p:sp>
        <p:nvSpPr>
          <p:cNvPr id="18" name="U10-DG-016-concept_4-box">
            <a:extLst xmlns:a="http://schemas.openxmlformats.org/drawingml/2006/main">
              <a:ext uri="{FF2B5EF4-FFF2-40B4-BE49-F238E27FC236}">
                <a16:creationId xmlns:a16="http://schemas.microsoft.com/office/drawing/2014/main" id="{50137FB2-87F3-4E1C-9F71-DE29958B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9" name="U10-DG-016-concept_4-text">
            <a:extLst xmlns:a="http://schemas.openxmlformats.org/drawingml/2006/main">
              <a:ext uri="{FF2B5EF4-FFF2-40B4-BE49-F238E27FC236}">
                <a16:creationId xmlns:a16="http://schemas.microsoft.com/office/drawing/2014/main" id="{E86B73C3-2D2C-497E-81C3-E075CE5D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RMS = √2 ≈ 1,41 mPa</a:t>
            </a:r>
          </a:p>
        </p:txBody>
      </p:sp>
      <p:sp>
        <p:nvSpPr>
          <p:cNvPr id="20" name="U10-DG-016-concept_5-box">
            <a:extLst xmlns:a="http://schemas.openxmlformats.org/drawingml/2006/main">
              <a:ext uri="{FF2B5EF4-FFF2-40B4-BE49-F238E27FC236}">
                <a16:creationId xmlns:a16="http://schemas.microsoft.com/office/drawing/2014/main" id="{D9965C7B-A547-48B8-8EBC-25D58847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1" name="U10-DG-016-concept_5-text">
            <a:extLst xmlns:a="http://schemas.openxmlformats.org/drawingml/2006/main">
              <a:ext uri="{FF2B5EF4-FFF2-40B4-BE49-F238E27FC236}">
                <a16:creationId xmlns:a16="http://schemas.microsoft.com/office/drawing/2014/main" id="{411973B9-96EC-4B8C-9B91-160FFC92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Varianza = 2 mPa²</a:t>
            </a:r>
          </a:p>
        </p:txBody>
      </p:sp>
      <p:sp>
        <p:nvSpPr>
          <p:cNvPr id="22" name="U10-DG-016-concept_6-box">
            <a:extLst xmlns:a="http://schemas.openxmlformats.org/drawingml/2006/main">
              <a:ext uri="{FF2B5EF4-FFF2-40B4-BE49-F238E27FC236}">
                <a16:creationId xmlns:a16="http://schemas.microsoft.com/office/drawing/2014/main" id="{03894FE1-8730-44EB-9D03-F6E20D1C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3" name="U10-DG-016-concept_6-text">
            <a:extLst xmlns:a="http://schemas.openxmlformats.org/drawingml/2006/main">
              <a:ext uri="{FF2B5EF4-FFF2-40B4-BE49-F238E27FC236}">
                <a16:creationId xmlns:a16="http://schemas.microsoft.com/office/drawing/2014/main" id="{9DB0793B-C292-4A5C-A05C-F24EB827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Media cero no implica silencio</a:t>
            </a:r>
          </a:p>
        </p:txBody>
      </p:sp>
      <p:sp>
        <p:nvSpPr>
          <p:cNvPr id="24" name="caption">
            <a:extLst xmlns:a="http://schemas.openxmlformats.org/drawingml/2006/main">
              <a:ext uri="{FF2B5EF4-FFF2-40B4-BE49-F238E27FC236}">
                <a16:creationId xmlns:a16="http://schemas.microsoft.com/office/drawing/2014/main" id="{F0DD30EB-3DCE-4A7D-B9BA-82A4AFDC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Ejemplo media cero/RMS no cero. Datos; media; cuadrados; RMS; varianza; interpretación.</a:t>
            </a:r>
          </a:p>
        </p:txBody>
      </p:sp>
      <p:sp>
        <p:nvSpPr>
          <p:cNvPr id="2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C13E948-4018-477F-A616-54003E26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-1">
            <a:extLst xmlns:a="http://schemas.openxmlformats.org/drawingml/2006/main">
              <a:ext uri="{FF2B5EF4-FFF2-40B4-BE49-F238E27FC236}">
                <a16:creationId xmlns:a16="http://schemas.microsoft.com/office/drawing/2014/main" id="{2DA20BE7-5F8D-45AB-B098-3F035B59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B882A2D4-1E64-4438-8E09-E26E31E1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65C486BE-2366-4355-A694-A22329E3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C59352AA-AA89-4F22-96E7-9D9895A8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A1BF44-7775-44D4-8105-57269F90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Igual media, RMS y varianza; distinta distribución</a:t>
            </a:r>
          </a:p>
        </p:txBody>
      </p:sp>
      <p:pic>
        <p:nvPicPr>
          <p:cNvPr id="17" name="U10-CH-005-chart" descr="Dos trazas y dos histogramas comparan ruido gaussiano continuo con una secuencia de dos niveles, ambos con media cero, RMS 1 mPa y varianza 1 mPa cuadrado. ---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2ddaf918ed4375">
            <a:extLst>
              <a:ext uri="{96DAC541-7B7A-43D3-8B79-37D633B846F1}">
                <asvg:svgBlip xmlns:asvg="http://schemas.microsoft.com/office/drawing/2016/SVG/main" r:embed="Rf568d3332e33455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BFEFFFAA-311D-4364-9052-52C1254C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8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DC5B7C7A-E37D-4424-8262-39341D1F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9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B49FF74D-5BC6-4AEB-B98F-FF9A9C54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Ambos registros tienen: p̄ = 0 mPa; p_rms = 1 mPa;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067A35BD-B9FA-439B-9502-503C652A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Dos registros sintéticos comparten media, RMS y varianza, pero sus histogramas son diferentes.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4435B22-ABAE-46E7-AFCA-3FCBB479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rail-1">
            <a:extLst xmlns:a="http://schemas.openxmlformats.org/drawingml/2006/main">
              <a:ext uri="{FF2B5EF4-FFF2-40B4-BE49-F238E27FC236}">
                <a16:creationId xmlns:a16="http://schemas.microsoft.com/office/drawing/2014/main" id="{26117572-8EFB-4395-91F6-C32FD55F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20411765-20BB-4D1D-934E-65776443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49FA1A21-A089-42B6-9AA3-65EC0402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C7AD9D98-E5BD-44E8-8F3B-1EEF70D0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FC0399-5C2C-4194-8DE4-5291B6BC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conserva cada descriptor</a:t>
            </a:r>
          </a:p>
        </p:txBody>
      </p:sp>
      <p:sp>
        <p:nvSpPr>
          <p:cNvPr id="6" name="U10-DG-017-compare_1-anchor">
            <a:extLst xmlns:a="http://schemas.openxmlformats.org/drawingml/2006/main">
              <a:ext uri="{FF2B5EF4-FFF2-40B4-BE49-F238E27FC236}">
                <a16:creationId xmlns:a16="http://schemas.microsoft.com/office/drawing/2014/main" id="{071020BF-40B9-4BF5-9642-0A293938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4469130" cy="1327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17-compare_2-anchor">
            <a:extLst xmlns:a="http://schemas.openxmlformats.org/drawingml/2006/main">
              <a:ext uri="{FF2B5EF4-FFF2-40B4-BE49-F238E27FC236}">
                <a16:creationId xmlns:a16="http://schemas.microsoft.com/office/drawing/2014/main" id="{4C18893D-C1A2-4FC2-B18F-C6D66158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691640"/>
            <a:ext cx="4469130" cy="1327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17-compare_3-anchor">
            <a:extLst xmlns:a="http://schemas.openxmlformats.org/drawingml/2006/main">
              <a:ext uri="{FF2B5EF4-FFF2-40B4-BE49-F238E27FC236}">
                <a16:creationId xmlns:a16="http://schemas.microsoft.com/office/drawing/2014/main" id="{44331192-7A89-4838-A0BC-F9A09916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119"/>
            <a:ext cx="4469130" cy="1327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17-compare_4-anchor">
            <a:extLst xmlns:a="http://schemas.openxmlformats.org/drawingml/2006/main">
              <a:ext uri="{FF2B5EF4-FFF2-40B4-BE49-F238E27FC236}">
                <a16:creationId xmlns:a16="http://schemas.microsoft.com/office/drawing/2014/main" id="{50E71715-EE9D-4C49-A591-E7784FB2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238119"/>
            <a:ext cx="4469130" cy="1327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17-visual-alt" descr="Matriz de descriptores. Filas media/RMS/varianza/distribución; columnas pregunta/unidad/límite. Orden de lectura: Sin flechas; relación por alineación. ---">
            <a:extLst xmlns:a="http://schemas.openxmlformats.org/drawingml/2006/main">
              <a:ext uri="{FF2B5EF4-FFF2-40B4-BE49-F238E27FC236}">
                <a16:creationId xmlns:a16="http://schemas.microsoft.com/office/drawing/2014/main" id="{FE1B87FF-68A2-44D2-A5F5-4A8C490E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4469130" cy="1327785"/>
          </a:xfrm>
          <a:prstGeom xmlns:a="http://schemas.openxmlformats.org/drawingml/2006/main" prst="roundRect">
            <a:avLst>
              <a:gd name="adj" fmla="val 502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1" name="U10-DG-017-compare_1-text">
            <a:extLst xmlns:a="http://schemas.openxmlformats.org/drawingml/2006/main">
              <a:ext uri="{FF2B5EF4-FFF2-40B4-BE49-F238E27FC236}">
                <a16:creationId xmlns:a16="http://schemas.microsoft.com/office/drawing/2014/main" id="{9B72CF67-73D8-4E4D-8D29-A9EDFD55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4126230" cy="1080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Media · signo · Pa</a:t>
            </a:r>
          </a:p>
        </p:txBody>
      </p:sp>
      <p:sp>
        <p:nvSpPr>
          <p:cNvPr id="12" name="U10-DG-017-compare_2-box">
            <a:extLst xmlns:a="http://schemas.openxmlformats.org/drawingml/2006/main">
              <a:ext uri="{FF2B5EF4-FFF2-40B4-BE49-F238E27FC236}">
                <a16:creationId xmlns:a16="http://schemas.microsoft.com/office/drawing/2014/main" id="{ACCCFCB3-7E72-4D52-BB9D-887DA5EF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691640"/>
            <a:ext cx="4469130" cy="1327785"/>
          </a:xfrm>
          <a:prstGeom xmlns:a="http://schemas.openxmlformats.org/drawingml/2006/main" prst="roundRect">
            <a:avLst>
              <a:gd name="adj" fmla="val 502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3" name="U10-DG-017-compare_2-text">
            <a:extLst xmlns:a="http://schemas.openxmlformats.org/drawingml/2006/main">
              <a:ext uri="{FF2B5EF4-FFF2-40B4-BE49-F238E27FC236}">
                <a16:creationId xmlns:a16="http://schemas.microsoft.com/office/drawing/2014/main" id="{24499C2D-2BBC-4D75-8C7C-4C3A958A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815465"/>
            <a:ext cx="4126230" cy="1080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RMS · tamaño cuadrático · Pa</a:t>
            </a:r>
          </a:p>
        </p:txBody>
      </p:sp>
      <p:sp>
        <p:nvSpPr>
          <p:cNvPr id="14" name="U10-DG-017-compare_3-box">
            <a:extLst xmlns:a="http://schemas.openxmlformats.org/drawingml/2006/main">
              <a:ext uri="{FF2B5EF4-FFF2-40B4-BE49-F238E27FC236}">
                <a16:creationId xmlns:a16="http://schemas.microsoft.com/office/drawing/2014/main" id="{92A0A314-3B81-4C72-A785-880EA3A5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119"/>
            <a:ext cx="4469130" cy="1327785"/>
          </a:xfrm>
          <a:prstGeom xmlns:a="http://schemas.openxmlformats.org/drawingml/2006/main" prst="roundRect">
            <a:avLst>
              <a:gd name="adj" fmla="val 502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5" name="U10-DG-017-compare_3-text">
            <a:extLst xmlns:a="http://schemas.openxmlformats.org/drawingml/2006/main">
              <a:ext uri="{FF2B5EF4-FFF2-40B4-BE49-F238E27FC236}">
                <a16:creationId xmlns:a16="http://schemas.microsoft.com/office/drawing/2014/main" id="{F0FCE503-2971-4BD9-BAAB-A0F25F27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61944"/>
            <a:ext cx="4126230" cy="1080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Varianza · dispersión · Pa²</a:t>
            </a:r>
          </a:p>
        </p:txBody>
      </p:sp>
      <p:sp>
        <p:nvSpPr>
          <p:cNvPr id="16" name="U10-DG-017-compare_4-box">
            <a:extLst xmlns:a="http://schemas.openxmlformats.org/drawingml/2006/main">
              <a:ext uri="{FF2B5EF4-FFF2-40B4-BE49-F238E27FC236}">
                <a16:creationId xmlns:a16="http://schemas.microsoft.com/office/drawing/2014/main" id="{C6A354DB-FBD7-4B67-B247-C30754AC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238119"/>
            <a:ext cx="4469130" cy="1327785"/>
          </a:xfrm>
          <a:prstGeom xmlns:a="http://schemas.openxmlformats.org/drawingml/2006/main" prst="roundRect">
            <a:avLst>
              <a:gd name="adj" fmla="val 5022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10-DG-017-compare_4-text">
            <a:extLst xmlns:a="http://schemas.openxmlformats.org/drawingml/2006/main">
              <a:ext uri="{FF2B5EF4-FFF2-40B4-BE49-F238E27FC236}">
                <a16:creationId xmlns:a16="http://schemas.microsoft.com/office/drawing/2014/main" id="{CBA78240-ED7D-4A89-8E0A-59C47B7F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361944"/>
            <a:ext cx="4126230" cy="1080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Distribución · frecuencia relativa · 1</a:t>
            </a:r>
          </a:p>
        </p:txBody>
      </p:sp>
      <p:sp>
        <p:nvSpPr>
          <p:cNvPr id="18" name="caption">
            <a:extLst xmlns:a="http://schemas.openxmlformats.org/drawingml/2006/main">
              <a:ext uri="{FF2B5EF4-FFF2-40B4-BE49-F238E27FC236}">
                <a16:creationId xmlns:a16="http://schemas.microsoft.com/office/drawing/2014/main" id="{54EDE61B-3DBD-4C8E-937F-D860C574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Matriz de descriptores. Filas media/RMS/varianza/distribución; columnas pregunta/unidad/límite.</a:t>
            </a:r>
          </a:p>
        </p:txBody>
      </p:sp>
      <p:sp>
        <p:nvSpPr>
          <p:cNvPr id="1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AE74EC6-C531-4AEF-AEF1-F7C62878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FD349238-EED7-4789-95F3-18C3623F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10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F158D98B-7215-4E61-B8CB-96D51933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¿Cómo se reparte el contenido entre frecuencias y bandas?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1409AD26-AD23-4E95-951B-CE2F3239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Pregunta guía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9A1D097-82CB-4C05-852C-8A201724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-1">
            <a:extLst xmlns:a="http://schemas.openxmlformats.org/drawingml/2006/main">
              <a:ext uri="{FF2B5EF4-FFF2-40B4-BE49-F238E27FC236}">
                <a16:creationId xmlns:a16="http://schemas.microsoft.com/office/drawing/2014/main" id="{CAFBBE3E-3810-4707-ABEA-27E4490B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B1EFF5AB-1090-4E70-BE35-7AFB7E11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94141806-ADC6-4BBA-AF84-2AC0A5B7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7B198123-4E5F-44B4-897C-B60B52A9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81F563-C647-4910-BF78-2ABA490B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Del registro temporal al contenido frecuencial</a:t>
            </a:r>
          </a:p>
        </p:txBody>
      </p:sp>
      <p:pic>
        <p:nvPicPr>
          <p:cNvPr id="17" name="U10-CH-006-chart" descr="A la izquierda aparece una realización temporal; a la derecha, su densidad espectral estimada por Welch, con la banda útil resaltada. ---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84796c00d243f6">
            <a:extLst>
              <a:ext uri="{96DAC541-7B7A-43D3-8B79-37D633B846F1}">
                <asvg:svgBlip xmlns:asvg="http://schemas.microsoft.com/office/drawing/2016/SVG/main" r:embed="R3672863a3b7d44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B208D063-8687-45A7-9B5E-B1E8BF53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8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6AA6121D-C92D-43BC-8515-BD6D7B16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9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9785B88A-17BC-43C8-8C07-CFED6388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Dos representaciones de una misma realización: el dominio temporal muestra cómo cambia p(t); la densidad espectral muestra cómo se distribuye el valor cuadrático entre frecuencias;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500FF36A-2326-4F3A-AFAD-CEAEB10C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traza temporal y la PSD describen la misma realización de ruido limitado en banda.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AC85F55-8643-443E-99AB-88E8CB9E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767B161A-32A8-49F6-941C-F633E347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51607FEC-C428-4842-883D-CDE3C767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76C53DA2-46F3-43F3-AE19-4CFB0C58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7312EB43-7982-40DD-879C-05F75C68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F3A465-4562-49C5-A535-B31C3552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densidad necesita un ancho de banda</a:t>
            </a:r>
          </a:p>
        </p:txBody>
      </p:sp>
      <p:sp>
        <p:nvSpPr>
          <p:cNvPr id="6" name="U10-DG-018-equation-anchor">
            <a:extLst xmlns:a="http://schemas.openxmlformats.org/drawingml/2006/main">
              <a:ext uri="{FF2B5EF4-FFF2-40B4-BE49-F238E27FC236}">
                <a16:creationId xmlns:a16="http://schemas.microsoft.com/office/drawing/2014/main" id="{243992E6-3363-44C4-AA7B-7063AA38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18-callout_1-anchor">
            <a:extLst xmlns:a="http://schemas.openxmlformats.org/drawingml/2006/main">
              <a:ext uri="{FF2B5EF4-FFF2-40B4-BE49-F238E27FC236}">
                <a16:creationId xmlns:a16="http://schemas.microsoft.com/office/drawing/2014/main" id="{42FF241D-1B1A-4959-9235-8CA755AE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18-callout_2-anchor">
            <a:extLst xmlns:a="http://schemas.openxmlformats.org/drawingml/2006/main">
              <a:ext uri="{FF2B5EF4-FFF2-40B4-BE49-F238E27FC236}">
                <a16:creationId xmlns:a16="http://schemas.microsoft.com/office/drawing/2014/main" id="{824E5F91-188E-4777-8636-4D11ED4B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18-callout_3-anchor">
            <a:extLst xmlns:a="http://schemas.openxmlformats.org/drawingml/2006/main">
              <a:ext uri="{FF2B5EF4-FFF2-40B4-BE49-F238E27FC236}">
                <a16:creationId xmlns:a16="http://schemas.microsoft.com/office/drawing/2014/main" id="{1A3DB1A4-DEEF-49CC-9837-D3CC217E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18-callout_4-anchor">
            <a:extLst xmlns:a="http://schemas.openxmlformats.org/drawingml/2006/main">
              <a:ext uri="{FF2B5EF4-FFF2-40B4-BE49-F238E27FC236}">
                <a16:creationId xmlns:a16="http://schemas.microsoft.com/office/drawing/2014/main" id="{1E743991-F7D5-4BA3-941E-74686810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U10-DG-018-leader_1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60395" y="2004061"/>
            <a:ext cx="87630" cy="115204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U10-DG-018-leader_2"/>
          <p:cNvCxnSpPr>
            <a:stCxn xmlns:a="http://schemas.openxmlformats.org/drawingml/2006/main" id="8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8172450" y="1460183"/>
            <a:ext cx="2594610" cy="1695927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10-DG-018-leader_3"/>
          <p:cNvCxnSpPr>
            <a:stCxn xmlns:a="http://schemas.openxmlformats.org/drawingml/2006/main" id="9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160395" y="3156110"/>
            <a:ext cx="87630" cy="150352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10-DG-018-leader_4"/>
          <p:cNvCxnSpPr>
            <a:stCxn xmlns:a="http://schemas.openxmlformats.org/drawingml/2006/main" id="10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8172450" y="3156110"/>
            <a:ext cx="184785" cy="1503521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10-DG-018-visual-alt" descr="Densidad × ancho de banda. Rectángulo espectral; altura S_pp; base Δf; área. Orden de lectura: Callouts externos. ---">
            <a:extLst xmlns:a="http://schemas.openxmlformats.org/drawingml/2006/main">
              <a:ext uri="{FF2B5EF4-FFF2-40B4-BE49-F238E27FC236}">
                <a16:creationId xmlns:a16="http://schemas.microsoft.com/office/drawing/2014/main" id="{FC522553-9576-4F67-93E9-8AB5F12C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10-DG-018-equation-text">
            <a:extLst xmlns:a="http://schemas.openxmlformats.org/drawingml/2006/main">
              <a:ext uri="{FF2B5EF4-FFF2-40B4-BE49-F238E27FC236}">
                <a16:creationId xmlns:a16="http://schemas.microsoft.com/office/drawing/2014/main" id="{BAA02B0B-1F96-4ED3-A894-9B9495DA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13673"/>
            <a:ext cx="465201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p²(B,rms) ≈ Sₚₚ · Δf</a:t>
            </a:r>
          </a:p>
        </p:txBody>
      </p:sp>
      <p:sp>
        <p:nvSpPr>
          <p:cNvPr id="17" name="U10-DG-018-callout_1-box">
            <a:extLst xmlns:a="http://schemas.openxmlformats.org/drawingml/2006/main">
              <a:ext uri="{FF2B5EF4-FFF2-40B4-BE49-F238E27FC236}">
                <a16:creationId xmlns:a16="http://schemas.microsoft.com/office/drawing/2014/main" id="{9D658D30-0C98-46CB-AE11-AF9FCE3E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18-callout_1-text">
            <a:extLst xmlns:a="http://schemas.openxmlformats.org/drawingml/2006/main">
              <a:ext uri="{FF2B5EF4-FFF2-40B4-BE49-F238E27FC236}">
                <a16:creationId xmlns:a16="http://schemas.microsoft.com/office/drawing/2014/main" id="{574F4585-FFA5-4476-B653-7E2F9EDE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Altura: Sₚₚ (Pa²/Hz)</a:t>
            </a:r>
          </a:p>
        </p:txBody>
      </p:sp>
      <p:sp>
        <p:nvSpPr>
          <p:cNvPr id="19" name="U10-DG-018-callout_2-box">
            <a:extLst xmlns:a="http://schemas.openxmlformats.org/drawingml/2006/main">
              <a:ext uri="{FF2B5EF4-FFF2-40B4-BE49-F238E27FC236}">
                <a16:creationId xmlns:a16="http://schemas.microsoft.com/office/drawing/2014/main" id="{D1006DC3-A3D2-440C-9A67-457A2471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0" name="U10-DG-018-callout_2-text">
            <a:extLst xmlns:a="http://schemas.openxmlformats.org/drawingml/2006/main">
              <a:ext uri="{FF2B5EF4-FFF2-40B4-BE49-F238E27FC236}">
                <a16:creationId xmlns:a16="http://schemas.microsoft.com/office/drawing/2014/main" id="{F6C4345A-74D4-49F4-A456-29BB665B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Base: Δf (Hz)</a:t>
            </a:r>
          </a:p>
        </p:txBody>
      </p:sp>
      <p:sp>
        <p:nvSpPr>
          <p:cNvPr id="21" name="U10-DG-018-callout_3-box">
            <a:extLst xmlns:a="http://schemas.openxmlformats.org/drawingml/2006/main">
              <a:ext uri="{FF2B5EF4-FFF2-40B4-BE49-F238E27FC236}">
                <a16:creationId xmlns:a16="http://schemas.microsoft.com/office/drawing/2014/main" id="{5A76B348-B370-456C-A8F8-1E0A9616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2" name="U10-DG-018-callout_3-text">
            <a:extLst xmlns:a="http://schemas.openxmlformats.org/drawingml/2006/main">
              <a:ext uri="{FF2B5EF4-FFF2-40B4-BE49-F238E27FC236}">
                <a16:creationId xmlns:a16="http://schemas.microsoft.com/office/drawing/2014/main" id="{9FC6FDF9-9ECD-4A6F-B40C-A92BCDD4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Área: p²_B,rms</a:t>
            </a:r>
          </a:p>
        </p:txBody>
      </p:sp>
      <p:sp>
        <p:nvSpPr>
          <p:cNvPr id="23" name="U10-DG-018-callout_4-box">
            <a:extLst xmlns:a="http://schemas.openxmlformats.org/drawingml/2006/main">
              <a:ext uri="{FF2B5EF4-FFF2-40B4-BE49-F238E27FC236}">
                <a16:creationId xmlns:a16="http://schemas.microsoft.com/office/drawing/2014/main" id="{D8973CB5-3443-4D89-8915-9CAC7718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4" name="U10-DG-018-callout_4-text">
            <a:extLst xmlns:a="http://schemas.openxmlformats.org/drawingml/2006/main">
              <a:ext uri="{FF2B5EF4-FFF2-40B4-BE49-F238E27FC236}">
                <a16:creationId xmlns:a16="http://schemas.microsoft.com/office/drawing/2014/main" id="{3495973D-F0B1-4256-B125-9105F6F3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Figura conceptual,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72DA0855-4134-4DBF-B048-5348680C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Densidad × ancho de banda. Rectángulo espectral; altura S_pp; base Δf; área.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BDC14E5-469A-4809-A418-FEA678E4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5C5ABE30-C567-4F5C-8E84-C953B481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654E27E5-3064-4C83-83DB-83590A71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C5D4E743-198A-4781-B1A3-08F90CFE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8B217FCF-94E6-4F54-8143-2E02D8AA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91A5F8-E474-45B4-8ECC-ED0703FE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contenido de una banda es el área bajo la densidad</a:t>
            </a:r>
          </a:p>
        </p:txBody>
      </p:sp>
      <p:sp>
        <p:nvSpPr>
          <p:cNvPr id="6" name="U10-DG-019-equation-anchor">
            <a:extLst xmlns:a="http://schemas.openxmlformats.org/drawingml/2006/main">
              <a:ext uri="{FF2B5EF4-FFF2-40B4-BE49-F238E27FC236}">
                <a16:creationId xmlns:a16="http://schemas.microsoft.com/office/drawing/2014/main" id="{5C512B17-5D78-4976-9338-30E8A9DE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19-callout_1-anchor">
            <a:extLst xmlns:a="http://schemas.openxmlformats.org/drawingml/2006/main">
              <a:ext uri="{FF2B5EF4-FFF2-40B4-BE49-F238E27FC236}">
                <a16:creationId xmlns:a16="http://schemas.microsoft.com/office/drawing/2014/main" id="{4DAE27D3-7AF0-433E-993C-C9BA010E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19-callout_2-anchor">
            <a:extLst xmlns:a="http://schemas.openxmlformats.org/drawingml/2006/main">
              <a:ext uri="{FF2B5EF4-FFF2-40B4-BE49-F238E27FC236}">
                <a16:creationId xmlns:a16="http://schemas.microsoft.com/office/drawing/2014/main" id="{B61BC533-5B08-4A7F-8097-1A8D5B9F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19-callout_3-anchor">
            <a:extLst xmlns:a="http://schemas.openxmlformats.org/drawingml/2006/main">
              <a:ext uri="{FF2B5EF4-FFF2-40B4-BE49-F238E27FC236}">
                <a16:creationId xmlns:a16="http://schemas.microsoft.com/office/drawing/2014/main" id="{96CA1B35-587B-491C-9545-0E40EA23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19-callout_4-anchor">
            <a:extLst xmlns:a="http://schemas.openxmlformats.org/drawingml/2006/main">
              <a:ext uri="{FF2B5EF4-FFF2-40B4-BE49-F238E27FC236}">
                <a16:creationId xmlns:a16="http://schemas.microsoft.com/office/drawing/2014/main" id="{F82961BF-14DB-4EDC-A9BA-64A8FA55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U10-DG-019-leader_1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60395" y="2004061"/>
            <a:ext cx="87630" cy="115204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U10-DG-019-leader_2"/>
          <p:cNvCxnSpPr>
            <a:stCxn xmlns:a="http://schemas.openxmlformats.org/drawingml/2006/main" id="8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8172450" y="1460183"/>
            <a:ext cx="2594610" cy="1695927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10-DG-019-leader_3"/>
          <p:cNvCxnSpPr>
            <a:stCxn xmlns:a="http://schemas.openxmlformats.org/drawingml/2006/main" id="9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160395" y="3156110"/>
            <a:ext cx="87630" cy="150352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10-DG-019-leader_4"/>
          <p:cNvCxnSpPr>
            <a:stCxn xmlns:a="http://schemas.openxmlformats.org/drawingml/2006/main" id="10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8172450" y="3156110"/>
            <a:ext cx="184785" cy="1503521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10-DG-019-visual-alt" descr="Ecuación de potencia de banda. Integral; f_L, f_H, S_pp, resultado/unidad. Orden de lectura: Máximo cuatro líderes. ---">
            <a:extLst xmlns:a="http://schemas.openxmlformats.org/drawingml/2006/main">
              <a:ext uri="{FF2B5EF4-FFF2-40B4-BE49-F238E27FC236}">
                <a16:creationId xmlns:a16="http://schemas.microsoft.com/office/drawing/2014/main" id="{44EB2D12-E1D5-4C7B-991D-645C4D49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10-DG-019-equation-text">
            <a:extLst xmlns:a="http://schemas.openxmlformats.org/drawingml/2006/main">
              <a:ext uri="{FF2B5EF4-FFF2-40B4-BE49-F238E27FC236}">
                <a16:creationId xmlns:a16="http://schemas.microsoft.com/office/drawing/2014/main" id="{811CC41D-7AB2-4CFD-8A8E-B35B84B5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13673"/>
            <a:ext cx="465201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p²(B,rms) = ∫₍fₗ₎⁽fₕ⁾ Sₚₚ(f) df</a:t>
            </a:r>
          </a:p>
        </p:txBody>
      </p:sp>
      <p:sp>
        <p:nvSpPr>
          <p:cNvPr id="17" name="U10-DG-019-callout_1-box">
            <a:extLst xmlns:a="http://schemas.openxmlformats.org/drawingml/2006/main">
              <a:ext uri="{FF2B5EF4-FFF2-40B4-BE49-F238E27FC236}">
                <a16:creationId xmlns:a16="http://schemas.microsoft.com/office/drawing/2014/main" id="{9FE7C239-FC11-4792-A894-03D02487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19-callout_1-text">
            <a:extLst xmlns:a="http://schemas.openxmlformats.org/drawingml/2006/main">
              <a:ext uri="{FF2B5EF4-FFF2-40B4-BE49-F238E27FC236}">
                <a16:creationId xmlns:a16="http://schemas.microsoft.com/office/drawing/2014/main" id="{7C011565-D5C2-491B-B4F1-F3989094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f_L: límite inferior (Hz)</a:t>
            </a:r>
          </a:p>
        </p:txBody>
      </p:sp>
      <p:sp>
        <p:nvSpPr>
          <p:cNvPr id="19" name="U10-DG-019-callout_2-box">
            <a:extLst xmlns:a="http://schemas.openxmlformats.org/drawingml/2006/main">
              <a:ext uri="{FF2B5EF4-FFF2-40B4-BE49-F238E27FC236}">
                <a16:creationId xmlns:a16="http://schemas.microsoft.com/office/drawing/2014/main" id="{1DE426E8-31B2-4D77-ACC5-42A4B99D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0" name="U10-DG-019-callout_2-text">
            <a:extLst xmlns:a="http://schemas.openxmlformats.org/drawingml/2006/main">
              <a:ext uri="{FF2B5EF4-FFF2-40B4-BE49-F238E27FC236}">
                <a16:creationId xmlns:a16="http://schemas.microsoft.com/office/drawing/2014/main" id="{42835513-CF81-4C62-B678-73C0305C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f_H: límite superior (Hz)</a:t>
            </a:r>
          </a:p>
        </p:txBody>
      </p:sp>
      <p:sp>
        <p:nvSpPr>
          <p:cNvPr id="21" name="U10-DG-019-callout_3-box">
            <a:extLst xmlns:a="http://schemas.openxmlformats.org/drawingml/2006/main">
              <a:ext uri="{FF2B5EF4-FFF2-40B4-BE49-F238E27FC236}">
                <a16:creationId xmlns:a16="http://schemas.microsoft.com/office/drawing/2014/main" id="{BAFC160C-A42C-470C-A274-29B55E94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2" name="U10-DG-019-callout_3-text">
            <a:extLst xmlns:a="http://schemas.openxmlformats.org/drawingml/2006/main">
              <a:ext uri="{FF2B5EF4-FFF2-40B4-BE49-F238E27FC236}">
                <a16:creationId xmlns:a16="http://schemas.microsoft.com/office/drawing/2014/main" id="{D9DA5A00-20DE-4399-9DC7-0C4CFB13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Sₚₚ: densidad (Pa²/Hz)</a:t>
            </a:r>
          </a:p>
        </p:txBody>
      </p:sp>
      <p:sp>
        <p:nvSpPr>
          <p:cNvPr id="23" name="U10-DG-019-callout_4-box">
            <a:extLst xmlns:a="http://schemas.openxmlformats.org/drawingml/2006/main">
              <a:ext uri="{FF2B5EF4-FFF2-40B4-BE49-F238E27FC236}">
                <a16:creationId xmlns:a16="http://schemas.microsoft.com/office/drawing/2014/main" id="{F3376EF9-E52C-4F3D-9CB7-7288320D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4" name="U10-DG-019-callout_4-text">
            <a:extLst xmlns:a="http://schemas.openxmlformats.org/drawingml/2006/main">
              <a:ext uri="{FF2B5EF4-FFF2-40B4-BE49-F238E27FC236}">
                <a16:creationId xmlns:a16="http://schemas.microsoft.com/office/drawing/2014/main" id="{6EAC54D2-C356-4C3A-8722-C550E39E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Resultado: p²_B,rms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4BA1F76E-1609-409A-A428-9D4D84E0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Ecuación de potencia de banda. Integral; f_L, f_H, S_pp, resultado/unidad.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5706085-2432-4284-BD8C-3C368116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ail-1">
            <a:extLst xmlns:a="http://schemas.openxmlformats.org/drawingml/2006/main">
              <a:ext uri="{FF2B5EF4-FFF2-40B4-BE49-F238E27FC236}">
                <a16:creationId xmlns:a16="http://schemas.microsoft.com/office/drawing/2014/main" id="{1851D9C1-8891-4665-81CD-821FA032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8CB858F1-EDD1-40E0-8674-EF580BFA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7B9847EB-C18F-42A0-9F2F-44623F96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303BAFB-B04D-4602-B115-4AAA9B7B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40DA38-AC6C-4991-9F4A-1FBBC2F9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Densidad constante por 100 Hz: qué se obtiene</a:t>
            </a:r>
          </a:p>
        </p:txBody>
      </p:sp>
      <p:sp>
        <p:nvSpPr>
          <p:cNvPr id="6" name="U10-DG-020-concept_1-anchor">
            <a:extLst xmlns:a="http://schemas.openxmlformats.org/drawingml/2006/main">
              <a:ext uri="{FF2B5EF4-FFF2-40B4-BE49-F238E27FC236}">
                <a16:creationId xmlns:a16="http://schemas.microsoft.com/office/drawing/2014/main" id="{EA8875F6-5F2A-4574-A9A3-7BD7A217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20-concept_2-anchor">
            <a:extLst xmlns:a="http://schemas.openxmlformats.org/drawingml/2006/main">
              <a:ext uri="{FF2B5EF4-FFF2-40B4-BE49-F238E27FC236}">
                <a16:creationId xmlns:a16="http://schemas.microsoft.com/office/drawing/2014/main" id="{23260643-E525-49DB-AD21-7A2D35CF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20-concept_3-anchor">
            <a:extLst xmlns:a="http://schemas.openxmlformats.org/drawingml/2006/main">
              <a:ext uri="{FF2B5EF4-FFF2-40B4-BE49-F238E27FC236}">
                <a16:creationId xmlns:a16="http://schemas.microsoft.com/office/drawing/2014/main" id="{1551C324-A139-4467-AD97-204D1100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20-concept_4-anchor">
            <a:extLst xmlns:a="http://schemas.openxmlformats.org/drawingml/2006/main">
              <a:ext uri="{FF2B5EF4-FFF2-40B4-BE49-F238E27FC236}">
                <a16:creationId xmlns:a16="http://schemas.microsoft.com/office/drawing/2014/main" id="{663D7F07-7937-44D8-9B19-2A80502B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20-concept_5-anchor">
            <a:extLst xmlns:a="http://schemas.openxmlformats.org/drawingml/2006/main">
              <a:ext uri="{FF2B5EF4-FFF2-40B4-BE49-F238E27FC236}">
                <a16:creationId xmlns:a16="http://schemas.microsoft.com/office/drawing/2014/main" id="{6D3BFC03-ED93-4866-93FF-55549DDC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20-visual-alt" descr="Cálculo de potencia en una banda. Datos; Δf; producto; p_rms²; interpretación. Orden de lectura: Flechas “calcular”, “integrar”. ---">
            <a:extLst xmlns:a="http://schemas.openxmlformats.org/drawingml/2006/main">
              <a:ext uri="{FF2B5EF4-FFF2-40B4-BE49-F238E27FC236}">
                <a16:creationId xmlns:a16="http://schemas.microsoft.com/office/drawing/2014/main" id="{D53A7B5A-89C5-4FE9-A424-1230EDA2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2" name="U10-DG-020-concept_1-text">
            <a:extLst xmlns:a="http://schemas.openxmlformats.org/drawingml/2006/main">
              <a:ext uri="{FF2B5EF4-FFF2-40B4-BE49-F238E27FC236}">
                <a16:creationId xmlns:a16="http://schemas.microsoft.com/office/drawing/2014/main" id="{EB7FF422-CEB1-431A-BB03-405C3FFB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Sₚₚ = 4,0×10⁻⁸ Pa²/Hz</a:t>
            </a:r>
          </a:p>
        </p:txBody>
      </p:sp>
      <p:sp>
        <p:nvSpPr>
          <p:cNvPr id="13" name="U10-DG-020-concept_2-box">
            <a:extLst xmlns:a="http://schemas.openxmlformats.org/drawingml/2006/main">
              <a:ext uri="{FF2B5EF4-FFF2-40B4-BE49-F238E27FC236}">
                <a16:creationId xmlns:a16="http://schemas.microsoft.com/office/drawing/2014/main" id="{B9552F6C-F910-4C58-A0A2-F428D55E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4" name="U10-DG-020-concept_2-text">
            <a:extLst xmlns:a="http://schemas.openxmlformats.org/drawingml/2006/main">
              <a:ext uri="{FF2B5EF4-FFF2-40B4-BE49-F238E27FC236}">
                <a16:creationId xmlns:a16="http://schemas.microsoft.com/office/drawing/2014/main" id="{25F7438B-4235-4EEC-82D6-3770A3C9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Δf = 100 Hz</a:t>
            </a:r>
          </a:p>
        </p:txBody>
      </p:sp>
      <p:sp>
        <p:nvSpPr>
          <p:cNvPr id="15" name="U10-DG-020-concept_3-box">
            <a:extLst xmlns:a="http://schemas.openxmlformats.org/drawingml/2006/main">
              <a:ext uri="{FF2B5EF4-FFF2-40B4-BE49-F238E27FC236}">
                <a16:creationId xmlns:a16="http://schemas.microsoft.com/office/drawing/2014/main" id="{8E1FE0CF-B1C1-48F3-8C11-E452B270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6" name="U10-DG-020-concept_3-text">
            <a:extLst xmlns:a="http://schemas.openxmlformats.org/drawingml/2006/main">
              <a:ext uri="{FF2B5EF4-FFF2-40B4-BE49-F238E27FC236}">
                <a16:creationId xmlns:a16="http://schemas.microsoft.com/office/drawing/2014/main" id="{BB8301B2-B600-4915-8B3A-C23C4DBF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p²_B,rms = 4,0×10⁻⁶ Pa²</a:t>
            </a:r>
          </a:p>
        </p:txBody>
      </p:sp>
      <p:sp>
        <p:nvSpPr>
          <p:cNvPr id="17" name="U10-DG-020-concept_4-box">
            <a:extLst xmlns:a="http://schemas.openxmlformats.org/drawingml/2006/main">
              <a:ext uri="{FF2B5EF4-FFF2-40B4-BE49-F238E27FC236}">
                <a16:creationId xmlns:a16="http://schemas.microsoft.com/office/drawing/2014/main" id="{B50FC133-C887-4782-98D0-ABE520FB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8" name="U10-DG-020-concept_4-text">
            <a:extLst xmlns:a="http://schemas.openxmlformats.org/drawingml/2006/main">
              <a:ext uri="{FF2B5EF4-FFF2-40B4-BE49-F238E27FC236}">
                <a16:creationId xmlns:a16="http://schemas.microsoft.com/office/drawing/2014/main" id="{34ABB5DA-EBA3-44FB-BAF9-A17BFD3D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p_B,rms = 2,0 mPa</a:t>
            </a:r>
          </a:p>
        </p:txBody>
      </p:sp>
      <p:sp>
        <p:nvSpPr>
          <p:cNvPr id="19" name="U10-DG-020-concept_5-box">
            <a:extLst xmlns:a="http://schemas.openxmlformats.org/drawingml/2006/main">
              <a:ext uri="{FF2B5EF4-FFF2-40B4-BE49-F238E27FC236}">
                <a16:creationId xmlns:a16="http://schemas.microsoft.com/office/drawing/2014/main" id="{090B87F7-45F9-44AF-8319-685CCB00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0" name="U10-DG-020-concept_5-text">
            <a:extLst xmlns:a="http://schemas.openxmlformats.org/drawingml/2006/main">
              <a:ext uri="{FF2B5EF4-FFF2-40B4-BE49-F238E27FC236}">
                <a16:creationId xmlns:a16="http://schemas.microsoft.com/office/drawing/2014/main" id="{F5322475-F58A-4C34-8963-57FD451E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Lₚ = 40 dB SPL</a:t>
            </a:r>
          </a:p>
        </p:txBody>
      </p:sp>
      <p:sp>
        <p:nvSpPr>
          <p:cNvPr id="21" name="caption">
            <a:extLst xmlns:a="http://schemas.openxmlformats.org/drawingml/2006/main">
              <a:ext uri="{FF2B5EF4-FFF2-40B4-BE49-F238E27FC236}">
                <a16:creationId xmlns:a16="http://schemas.microsoft.com/office/drawing/2014/main" id="{04A84D34-C4D1-40A4-9C1D-C34DE709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Cálculo de potencia en una banda. Datos; Δf; producto; p_rms²; interpretación.</a:t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323F241-0AEB-4375-B7C1-1AB24E79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-1">
            <a:extLst xmlns:a="http://schemas.openxmlformats.org/drawingml/2006/main">
              <a:ext uri="{FF2B5EF4-FFF2-40B4-BE49-F238E27FC236}">
                <a16:creationId xmlns:a16="http://schemas.microsoft.com/office/drawing/2014/main" id="{0445284A-AFC7-46D6-B218-5A8A560D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D5F1527D-6214-4FD6-B914-A696C0A2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68F6C21F-FD40-4427-ADBC-6546D801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896C5F0F-0DA9-4C50-9052-F701C451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100FE6-563F-4372-8502-10FB08A2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Blanco significa densidad constante por hertz</a:t>
            </a:r>
          </a:p>
        </p:txBody>
      </p:sp>
      <p:pic>
        <p:nvPicPr>
          <p:cNvPr id="17" name="U10-CH-007-chart" descr="Un rectángulo espectral muestra densidad S cero constante dentro de una banda finita y un intervalo delta f sombreado. ---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974ba2c1074cad">
            <a:extLst>
              <a:ext uri="{96DAC541-7B7A-43D3-8B79-37D633B846F1}">
                <asvg:svgBlip xmlns:asvg="http://schemas.microsoft.com/office/drawing/2016/SVG/main" r:embed="Rae84830c9608468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7A0788F6-B8DE-486E-B4F0-5FD761F9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8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21BC69DE-5FED-4F0C-8B54-213DE774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9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FB156F92-C9B8-43BC-8805-1AC517FD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 una banda finita declarada: S_pp(f) = S₀ la densidad es constante por hertz;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E9898F9C-0857-43A5-BC23-8304C8C6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Una PSD blanca idealizada mantiene densidad constante por hertz entre 125 y 8000 Hz.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FD5B3B9-C064-43EA-8592-F4EDBB84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-1">
            <a:extLst xmlns:a="http://schemas.openxmlformats.org/drawingml/2006/main">
              <a:ext uri="{FF2B5EF4-FFF2-40B4-BE49-F238E27FC236}">
                <a16:creationId xmlns:a16="http://schemas.microsoft.com/office/drawing/2014/main" id="{C7B47F3B-A991-4E9E-8144-D12F50C4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753FCC70-51CB-4B07-8908-E4F273BD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9BF3619A-F5A1-42BF-8D81-E4B61822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571F0845-6AE6-4C1A-85BE-3A96F6A5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0E176C-4663-4953-ADAB-E043E32D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octava superior contiene más hertz</a:t>
            </a:r>
          </a:p>
        </p:txBody>
      </p:sp>
      <p:pic>
        <p:nvPicPr>
          <p:cNvPr id="17" name="U10-CH-008-chart" descr="Barras en centros de octava desde 125 hasta 8000 Hz aumentan por factor dos; cada barra indica su ancho de banda. ---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84ca51497044ec">
            <a:extLst>
              <a:ext uri="{96DAC541-7B7A-43D3-8B79-37D633B846F1}">
                <asvg:svgBlip xmlns:asvg="http://schemas.microsoft.com/office/drawing/2016/SVG/main" r:embed="Rcd689b88d000489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EB3DB2E9-310E-4BD7-9FC3-BDED4D6D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8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ED753A90-24E4-4275-B849-24FA73C6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9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E4E9A404-C712-4218-9897-32D28AF6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Las bandas de octava sucesivas duplican su ancho en hertz. Con PSD blanca constante: banda centrada en 125 Hz: contenido relativo ×1;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886F6582-7CE9-4AA9-93C6-B5078D3F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 densidad constante por hertz, el contenido por octava se duplica porque cada banda abarca el doble de hertz.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9D7C79A-0464-46B7-A31B-F73F7A35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-1">
            <a:extLst xmlns:a="http://schemas.openxmlformats.org/drawingml/2006/main">
              <a:ext uri="{FF2B5EF4-FFF2-40B4-BE49-F238E27FC236}">
                <a16:creationId xmlns:a16="http://schemas.microsoft.com/office/drawing/2014/main" id="{EEB67D6E-482F-44ED-AEF0-969C1FE3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CE8D4297-B19F-4919-A60E-913CC584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1A467076-D8BD-48E6-9626-D43AA107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A80238A3-C61F-44E0-BEF3-29F6E74D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D5E24D-9B8E-41B1-B56A-AD861155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Rosa compensa el ancho creciente de las octavas</a:t>
            </a:r>
          </a:p>
        </p:txBody>
      </p:sp>
      <p:pic>
        <p:nvPicPr>
          <p:cNvPr id="17" name="U10-CH-009-chart" descr="Curva recta descendente en ejes logarítmicos entre 125 y 8000 Hz, rotulada con pendiente menos uno. ---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7f803804240e9">
            <a:extLst>
              <a:ext uri="{96DAC541-7B7A-43D3-8B79-37D633B846F1}">
                <asvg:svgBlip xmlns:asvg="http://schemas.microsoft.com/office/drawing/2016/SVG/main" r:embed="R2136fa03dcdf4e5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F230CCCB-F929-43BF-8118-77DB0473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8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5415A8CB-A7EB-4764-B4CF-3F1B158A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9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071378F8-F360-4B92-9EEE-2551A407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 una banda finita, el ruido rosa ideal se modela como: S_pp(f) = K/f la densidad disminuye cuando aumenta f;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49F7F0A2-EE69-4ABE-BFB1-14B93305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En escala logarítmica, la densidad espectral rosa idealizada cae con pendiente menos uno dentro de una banda finita.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35314B1-5F3E-4B8F-AC9F-5EE43DD5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-1">
            <a:extLst xmlns:a="http://schemas.openxmlformats.org/drawingml/2006/main">
              <a:ext uri="{FF2B5EF4-FFF2-40B4-BE49-F238E27FC236}">
                <a16:creationId xmlns:a16="http://schemas.microsoft.com/office/drawing/2014/main" id="{789DB1D2-9C07-4B20-808D-F30ECD24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F9322C7A-353D-46DC-9A7F-61999F44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59A5A8B1-6168-4D58-AD4C-CA761FBC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5578A4F8-20DF-4DD5-B7F2-A259E51C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09972D-D1D1-41D4-86B9-0C115D0E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Blanco por hertz; rosa por octava</a:t>
            </a:r>
          </a:p>
        </p:txBody>
      </p:sp>
      <p:pic>
        <p:nvPicPr>
          <p:cNvPr id="17" name="U10-CH-010-chart" descr="Dos paneles coordinados comparan PSD normalizada y contenido relativo por octava para ruido blanco y rosa. ---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e9395a042649f3">
            <a:extLst>
              <a:ext uri="{96DAC541-7B7A-43D3-8B79-37D633B846F1}">
                <asvg:svgBlip xmlns:asvg="http://schemas.microsoft.com/office/drawing/2016/SVG/main" r:embed="R5ef89c589546459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5D22A814-1956-44FF-9DBC-24B4BA87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8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1F463FF0-2870-4DAE-84FB-5662966E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9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4FACA781-878E-472E-A75A-0D84E9B0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Ruido blanco PSD constante por Hz; contenido creciente por octava.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60927DCC-5A2B-4EB5-9F3F-110B89E1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blanco es constante por hertz y crece por octava; el rosa cae como 1/f y conserva contenido por octava.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0A946C9-F8C0-400D-BBB2-177B85DB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-rail-1">
            <a:extLst xmlns:a="http://schemas.openxmlformats.org/drawingml/2006/main">
              <a:ext uri="{FF2B5EF4-FFF2-40B4-BE49-F238E27FC236}">
                <a16:creationId xmlns:a16="http://schemas.microsoft.com/office/drawing/2014/main" id="{52448964-2877-4020-8DF6-E7F6831D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0A072169-4437-4EE1-A018-0F6FD79E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844C4033-6C82-4F58-824F-8E407734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F693EBB-8758-4CD9-A7EE-14B83DDC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28888A-ED28-43CD-A6D5-C9DB58AA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Escuchar blanco y rosa sin confundir sonoridad con espectro</a:t>
            </a:r>
          </a:p>
        </p:txBody>
      </p:sp>
      <p:pic>
        <p:nvPicPr>
          <p:cNvPr id="18" name="U10-CH-010-chart" descr="Recurso visual previsto: U10-AS-001 y U10-AS-002; audio seguro y normalizado; fuente por seleccionar. ---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ae61ee6b4417a">
            <a:extLst>
              <a:ext uri="{96DAC541-7B7A-43D3-8B79-37D633B846F1}">
                <asvg:svgBlip xmlns:asvg="http://schemas.microsoft.com/office/drawing/2016/SVG/main" r:embed="R0b2bf5ec70e44ce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1500" y="1476375"/>
            <a:ext cx="7239000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audio-optional-box">
            <a:extLst xmlns:a="http://schemas.openxmlformats.org/drawingml/2006/main">
              <a:ext uri="{FF2B5EF4-FFF2-40B4-BE49-F238E27FC236}">
                <a16:creationId xmlns:a16="http://schemas.microsoft.com/office/drawing/2014/main" id="{9DEF0058-499D-43D7-BEC3-A9DB7CD3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286125" cy="2714625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8" name="audio-optional-title">
            <a:extLst xmlns:a="http://schemas.openxmlformats.org/drawingml/2006/main">
              <a:ext uri="{FF2B5EF4-FFF2-40B4-BE49-F238E27FC236}">
                <a16:creationId xmlns:a16="http://schemas.microsoft.com/office/drawing/2014/main" id="{F5A4AADC-4FDB-45C2-AAB2-2CC39C1A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124075"/>
            <a:ext cx="2867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Audio opcional</a:t>
            </a:r>
          </a:p>
        </p:txBody>
      </p:sp>
      <p:sp>
        <p:nvSpPr>
          <p:cNvPr id="9" name="audio-optional-body">
            <a:extLst xmlns:a="http://schemas.openxmlformats.org/drawingml/2006/main">
              <a:ext uri="{FF2B5EF4-FFF2-40B4-BE49-F238E27FC236}">
                <a16:creationId xmlns:a16="http://schemas.microsoft.com/office/drawing/2014/main" id="{AACEEFFA-1515-4930-9408-E6B7F3F4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38425"/>
            <a:ext cx="2867025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Dos clips propios de 10 s, con cadena y nivel documentados. Si no están disponibles, la comparación visual permite completar la actividad.</a:t>
            </a:r>
          </a:p>
        </p:txBody>
      </p:sp>
      <p:sp>
        <p:nvSpPr>
          <p:cNvPr id="10" name="audio-safety">
            <a:extLst xmlns:a="http://schemas.openxmlformats.org/drawingml/2006/main">
              <a:ext uri="{FF2B5EF4-FFF2-40B4-BE49-F238E27FC236}">
                <a16:creationId xmlns:a16="http://schemas.microsoft.com/office/drawing/2014/main" id="{E6323944-4966-4BB7-A15C-45B991D8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05375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9A641E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9A641E"/>
                </a:solidFill>
                <a:latin typeface="Calibri"/>
                <a:ea typeface="Calibri"/>
                <a:cs typeface="Calibri"/>
              </a:rPr>
              <a:t>No elevar el volumen para “notar mejor” la diferencia.</a:t>
            </a:r>
          </a:p>
        </p:txBody>
      </p:sp>
      <p:sp>
        <p:nvSpPr>
          <p:cNvPr id="11" name="caption">
            <a:extLst xmlns:a="http://schemas.openxmlformats.org/drawingml/2006/main">
              <a:ext uri="{FF2B5EF4-FFF2-40B4-BE49-F238E27FC236}">
                <a16:creationId xmlns:a16="http://schemas.microsoft.com/office/drawing/2014/main" id="{68BAE7C3-FFFE-40AB-8F1B-1DD0CC17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escucha depende de reproducción y nivel; el espectro define el modelo.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C13F3A1-12CE-49CA-AF56-445F28EF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04621338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ail-1">
            <a:extLst xmlns:a="http://schemas.openxmlformats.org/drawingml/2006/main">
              <a:ext uri="{FF2B5EF4-FFF2-40B4-BE49-F238E27FC236}">
                <a16:creationId xmlns:a16="http://schemas.microsoft.com/office/drawing/2014/main" id="{AF9BC993-CD22-401C-92DB-3A598081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79B57FB9-7C90-413B-B1A3-5FABFF60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E8F8DABC-60EF-45D6-9F9B-0D56D564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EC922CB4-E146-4725-B806-6DC2B42F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D97E43-992F-44D7-A121-C39B2085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Para nombrar un color hay que declarar la banda</a:t>
            </a:r>
          </a:p>
        </p:txBody>
      </p:sp>
      <p:sp>
        <p:nvSpPr>
          <p:cNvPr id="6" name="U10-DG-021-concept_1-anchor">
            <a:extLst xmlns:a="http://schemas.openxmlformats.org/drawingml/2006/main">
              <a:ext uri="{FF2B5EF4-FFF2-40B4-BE49-F238E27FC236}">
                <a16:creationId xmlns:a16="http://schemas.microsoft.com/office/drawing/2014/main" id="{AE49A493-2706-4FC8-8F4F-073E375E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21-concept_2-anchor">
            <a:extLst xmlns:a="http://schemas.openxmlformats.org/drawingml/2006/main">
              <a:ext uri="{FF2B5EF4-FFF2-40B4-BE49-F238E27FC236}">
                <a16:creationId xmlns:a16="http://schemas.microsoft.com/office/drawing/2014/main" id="{D643DCC0-64D8-4D63-B41A-92975BB5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21-concept_3-anchor">
            <a:extLst xmlns:a="http://schemas.openxmlformats.org/drawingml/2006/main">
              <a:ext uri="{FF2B5EF4-FFF2-40B4-BE49-F238E27FC236}">
                <a16:creationId xmlns:a16="http://schemas.microsoft.com/office/drawing/2014/main" id="{CA8A5C05-C42F-4E12-88B3-590E63F3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21-concept_4-anchor">
            <a:extLst xmlns:a="http://schemas.openxmlformats.org/drawingml/2006/main">
              <a:ext uri="{FF2B5EF4-FFF2-40B4-BE49-F238E27FC236}">
                <a16:creationId xmlns:a16="http://schemas.microsoft.com/office/drawing/2014/main" id="{7DAE86EB-5FBB-47E0-B5E4-B82957F5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21-concept_5-anchor">
            <a:extLst xmlns:a="http://schemas.openxmlformats.org/drawingml/2006/main">
              <a:ext uri="{FF2B5EF4-FFF2-40B4-BE49-F238E27FC236}">
                <a16:creationId xmlns:a16="http://schemas.microsoft.com/office/drawing/2014/main" id="{651A1E24-F925-4DCD-B3C6-B91614ED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21-visual-alt" descr="Recap color–pendiente–banda. Blanco; rosa; PSD; octava; experiencia. Orden de lectura: Relaciones “constante por Hz”, “constante por octava”. ---">
            <a:extLst xmlns:a="http://schemas.openxmlformats.org/drawingml/2006/main">
              <a:ext uri="{FF2B5EF4-FFF2-40B4-BE49-F238E27FC236}">
                <a16:creationId xmlns:a16="http://schemas.microsoft.com/office/drawing/2014/main" id="{5C4E6B9A-16CD-4940-8B78-0302EAF9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2" name="U10-DG-021-concept_1-text">
            <a:extLst xmlns:a="http://schemas.openxmlformats.org/drawingml/2006/main">
              <a:ext uri="{FF2B5EF4-FFF2-40B4-BE49-F238E27FC236}">
                <a16:creationId xmlns:a16="http://schemas.microsoft.com/office/drawing/2014/main" id="{6D6447EF-9112-4C05-BD2E-55DF29F3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Blanco: S₀ por Hz</a:t>
            </a:r>
          </a:p>
        </p:txBody>
      </p:sp>
      <p:sp>
        <p:nvSpPr>
          <p:cNvPr id="13" name="U10-DG-021-concept_2-box">
            <a:extLst xmlns:a="http://schemas.openxmlformats.org/drawingml/2006/main">
              <a:ext uri="{FF2B5EF4-FFF2-40B4-BE49-F238E27FC236}">
                <a16:creationId xmlns:a16="http://schemas.microsoft.com/office/drawing/2014/main" id="{55D43627-C1CB-4634-B47A-9362984B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4" name="U10-DG-021-concept_2-text">
            <a:extLst xmlns:a="http://schemas.openxmlformats.org/drawingml/2006/main">
              <a:ext uri="{FF2B5EF4-FFF2-40B4-BE49-F238E27FC236}">
                <a16:creationId xmlns:a16="http://schemas.microsoft.com/office/drawing/2014/main" id="{DA570963-5100-4172-B330-C163EEC6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Por octava: crece</a:t>
            </a:r>
          </a:p>
        </p:txBody>
      </p:sp>
      <p:sp>
        <p:nvSpPr>
          <p:cNvPr id="15" name="U10-DG-021-concept_3-box">
            <a:extLst xmlns:a="http://schemas.openxmlformats.org/drawingml/2006/main">
              <a:ext uri="{FF2B5EF4-FFF2-40B4-BE49-F238E27FC236}">
                <a16:creationId xmlns:a16="http://schemas.microsoft.com/office/drawing/2014/main" id="{E62DBBDD-F7BD-4757-B9D4-798F1449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6" name="U10-DG-021-concept_3-text">
            <a:extLst xmlns:a="http://schemas.openxmlformats.org/drawingml/2006/main">
              <a:ext uri="{FF2B5EF4-FFF2-40B4-BE49-F238E27FC236}">
                <a16:creationId xmlns:a16="http://schemas.microsoft.com/office/drawing/2014/main" id="{07D983C6-97E5-492C-B71B-68865724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Rosa: K/f</a:t>
            </a:r>
          </a:p>
        </p:txBody>
      </p:sp>
      <p:sp>
        <p:nvSpPr>
          <p:cNvPr id="17" name="U10-DG-021-concept_4-box">
            <a:extLst xmlns:a="http://schemas.openxmlformats.org/drawingml/2006/main">
              <a:ext uri="{FF2B5EF4-FFF2-40B4-BE49-F238E27FC236}">
                <a16:creationId xmlns:a16="http://schemas.microsoft.com/office/drawing/2014/main" id="{CFD5267B-4D49-4F2B-961E-714655FE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8" name="U10-DG-021-concept_4-text">
            <a:extLst xmlns:a="http://schemas.openxmlformats.org/drawingml/2006/main">
              <a:ext uri="{FF2B5EF4-FFF2-40B4-BE49-F238E27FC236}">
                <a16:creationId xmlns:a16="http://schemas.microsoft.com/office/drawing/2014/main" id="{C991C800-82F2-4541-BF33-21B9583E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Por octava: constante</a:t>
            </a:r>
          </a:p>
        </p:txBody>
      </p:sp>
      <p:sp>
        <p:nvSpPr>
          <p:cNvPr id="19" name="U10-DG-021-concept_5-box">
            <a:extLst xmlns:a="http://schemas.openxmlformats.org/drawingml/2006/main">
              <a:ext uri="{FF2B5EF4-FFF2-40B4-BE49-F238E27FC236}">
                <a16:creationId xmlns:a16="http://schemas.microsoft.com/office/drawing/2014/main" id="{7DBEC71D-AFC3-46F2-9078-E8BAC49F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0" name="U10-DG-021-concept_5-text">
            <a:extLst xmlns:a="http://schemas.openxmlformats.org/drawingml/2006/main">
              <a:ext uri="{FF2B5EF4-FFF2-40B4-BE49-F238E27FC236}">
                <a16:creationId xmlns:a16="http://schemas.microsoft.com/office/drawing/2014/main" id="{0A95F42D-8286-4EBE-A37A-B18E0961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Escucha no define el modelo</a:t>
            </a:r>
          </a:p>
        </p:txBody>
      </p:sp>
      <p:sp>
        <p:nvSpPr>
          <p:cNvPr id="21" name="caption">
            <a:extLst xmlns:a="http://schemas.openxmlformats.org/drawingml/2006/main">
              <a:ext uri="{FF2B5EF4-FFF2-40B4-BE49-F238E27FC236}">
                <a16:creationId xmlns:a16="http://schemas.microsoft.com/office/drawing/2014/main" id="{54BF2D69-6B44-4F23-ABD5-89AC382D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Recap color–pendiente–banda. Blanco; rosa; PSD; octava; experiencia.</a:t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7417F93-E773-4180-89A8-EBF5D01D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7232D062-EFB1-458F-A785-4CF6088C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10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9AE13AC4-AD8B-4FD1-A3CE-7E3DFA61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¿Qué convierte un ruido de banda ancha en una señal especificada?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FAFECFBF-772F-4FFF-9034-7817203B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Pregunta guía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775A6A9-C30E-47BA-9880-83F6F336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ail-1">
            <a:extLst xmlns:a="http://schemas.openxmlformats.org/drawingml/2006/main">
              <a:ext uri="{FF2B5EF4-FFF2-40B4-BE49-F238E27FC236}">
                <a16:creationId xmlns:a16="http://schemas.microsoft.com/office/drawing/2014/main" id="{44599CA1-EFA3-4E40-8417-9E1234D0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EAD49729-5421-43E6-AE90-662AA342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886F8B0A-A5B0-4321-9E42-0BC2BD92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39F56134-C367-4C1B-8B18-D528BF55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6FC621-317B-40B1-99A8-032C64B8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“Ruido vocal” se especifica como ruido con espectro de habla</a:t>
            </a:r>
          </a:p>
        </p:txBody>
      </p:sp>
      <p:sp>
        <p:nvSpPr>
          <p:cNvPr id="6" name="U10-DG-022-concept_1-anchor">
            <a:extLst xmlns:a="http://schemas.openxmlformats.org/drawingml/2006/main">
              <a:ext uri="{FF2B5EF4-FFF2-40B4-BE49-F238E27FC236}">
                <a16:creationId xmlns:a16="http://schemas.microsoft.com/office/drawing/2014/main" id="{4074AC6B-2464-4C1E-9168-46BE709D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22-concept_2-anchor">
            <a:extLst xmlns:a="http://schemas.openxmlformats.org/drawingml/2006/main">
              <a:ext uri="{FF2B5EF4-FFF2-40B4-BE49-F238E27FC236}">
                <a16:creationId xmlns:a16="http://schemas.microsoft.com/office/drawing/2014/main" id="{5300E64C-9481-4366-997C-C643B5B0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22-concept_3-anchor">
            <a:extLst xmlns:a="http://schemas.openxmlformats.org/drawingml/2006/main">
              <a:ext uri="{FF2B5EF4-FFF2-40B4-BE49-F238E27FC236}">
                <a16:creationId xmlns:a16="http://schemas.microsoft.com/office/drawing/2014/main" id="{B9923B52-E770-40C0-9896-5570E29E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22-concept_4-anchor">
            <a:extLst xmlns:a="http://schemas.openxmlformats.org/drawingml/2006/main">
              <a:ext uri="{FF2B5EF4-FFF2-40B4-BE49-F238E27FC236}">
                <a16:creationId xmlns:a16="http://schemas.microsoft.com/office/drawing/2014/main" id="{ED9E00EE-E691-40CA-BCD2-87434326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22-concept_5-anchor">
            <a:extLst xmlns:a="http://schemas.openxmlformats.org/drawingml/2006/main">
              <a:ext uri="{FF2B5EF4-FFF2-40B4-BE49-F238E27FC236}">
                <a16:creationId xmlns:a16="http://schemas.microsoft.com/office/drawing/2014/main" id="{294FFE68-30B3-4965-9F3B-E6900783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22-visual-alt" descr="Ruido conformado al habla. Ruido base; filtro; envolvente objetivo; salida. Orden de lectura: “filtra según”; “conserva contorno, no habla”. ---">
            <a:extLst xmlns:a="http://schemas.openxmlformats.org/drawingml/2006/main">
              <a:ext uri="{FF2B5EF4-FFF2-40B4-BE49-F238E27FC236}">
                <a16:creationId xmlns:a16="http://schemas.microsoft.com/office/drawing/2014/main" id="{E8FAEE07-EF49-4255-8C01-0E51D925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2" name="U10-DG-022-concept_1-text">
            <a:extLst xmlns:a="http://schemas.openxmlformats.org/drawingml/2006/main">
              <a:ext uri="{FF2B5EF4-FFF2-40B4-BE49-F238E27FC236}">
                <a16:creationId xmlns:a16="http://schemas.microsoft.com/office/drawing/2014/main" id="{D6A008E3-884F-437F-86CF-8168DB1B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Ruido de banda ancha</a:t>
            </a:r>
          </a:p>
        </p:txBody>
      </p:sp>
      <p:sp>
        <p:nvSpPr>
          <p:cNvPr id="13" name="U10-DG-022-concept_2-box">
            <a:extLst xmlns:a="http://schemas.openxmlformats.org/drawingml/2006/main">
              <a:ext uri="{FF2B5EF4-FFF2-40B4-BE49-F238E27FC236}">
                <a16:creationId xmlns:a16="http://schemas.microsoft.com/office/drawing/2014/main" id="{5A14F5B9-94C5-44EE-BFC1-99C2E447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4" name="U10-DG-022-concept_2-text">
            <a:extLst xmlns:a="http://schemas.openxmlformats.org/drawingml/2006/main">
              <a:ext uri="{FF2B5EF4-FFF2-40B4-BE49-F238E27FC236}">
                <a16:creationId xmlns:a16="http://schemas.microsoft.com/office/drawing/2014/main" id="{08A04609-D00F-4832-931C-A2CF36E3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Filtro H(f)</a:t>
            </a:r>
          </a:p>
        </p:txBody>
      </p:sp>
      <p:sp>
        <p:nvSpPr>
          <p:cNvPr id="15" name="U10-DG-022-concept_3-box">
            <a:extLst xmlns:a="http://schemas.openxmlformats.org/drawingml/2006/main">
              <a:ext uri="{FF2B5EF4-FFF2-40B4-BE49-F238E27FC236}">
                <a16:creationId xmlns:a16="http://schemas.microsoft.com/office/drawing/2014/main" id="{3977540D-55C2-464B-A24C-47AB179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6" name="U10-DG-022-concept_3-text">
            <a:extLst xmlns:a="http://schemas.openxmlformats.org/drawingml/2006/main">
              <a:ext uri="{FF2B5EF4-FFF2-40B4-BE49-F238E27FC236}">
                <a16:creationId xmlns:a16="http://schemas.microsoft.com/office/drawing/2014/main" id="{1DAF4541-D38F-4DCC-830C-D6BC476C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Contorno espectral</a:t>
            </a:r>
          </a:p>
        </p:txBody>
      </p:sp>
      <p:sp>
        <p:nvSpPr>
          <p:cNvPr id="17" name="U10-DG-022-concept_4-box">
            <a:extLst xmlns:a="http://schemas.openxmlformats.org/drawingml/2006/main">
              <a:ext uri="{FF2B5EF4-FFF2-40B4-BE49-F238E27FC236}">
                <a16:creationId xmlns:a16="http://schemas.microsoft.com/office/drawing/2014/main" id="{1FAA08F0-5DC4-4E27-B0AE-3B2F9C9C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8" name="U10-DG-022-concept_4-text">
            <a:extLst xmlns:a="http://schemas.openxmlformats.org/drawingml/2006/main">
              <a:ext uri="{FF2B5EF4-FFF2-40B4-BE49-F238E27FC236}">
                <a16:creationId xmlns:a16="http://schemas.microsoft.com/office/drawing/2014/main" id="{9CDAC17C-5572-4FE6-A022-F1531D3F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Ruido con forma de habla</a:t>
            </a:r>
          </a:p>
        </p:txBody>
      </p:sp>
      <p:sp>
        <p:nvSpPr>
          <p:cNvPr id="19" name="U10-DG-022-concept_5-box">
            <a:extLst xmlns:a="http://schemas.openxmlformats.org/drawingml/2006/main">
              <a:ext uri="{FF2B5EF4-FFF2-40B4-BE49-F238E27FC236}">
                <a16:creationId xmlns:a16="http://schemas.microsoft.com/office/drawing/2014/main" id="{1EFDA6FA-575B-4E97-957C-16A16F0F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0" name="U10-DG-022-concept_5-text">
            <a:extLst xmlns:a="http://schemas.openxmlformats.org/drawingml/2006/main">
              <a:ext uri="{FF2B5EF4-FFF2-40B4-BE49-F238E27FC236}">
                <a16:creationId xmlns:a16="http://schemas.microsoft.com/office/drawing/2014/main" id="{BEE1B737-60F6-44BE-99F4-1B61C2D7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Conserva contorno; no</a:t>
            </a:r>
          </a:p>
        </p:txBody>
      </p:sp>
      <p:sp>
        <p:nvSpPr>
          <p:cNvPr id="21" name="caption">
            <a:extLst xmlns:a="http://schemas.openxmlformats.org/drawingml/2006/main">
              <a:ext uri="{FF2B5EF4-FFF2-40B4-BE49-F238E27FC236}">
                <a16:creationId xmlns:a16="http://schemas.microsoft.com/office/drawing/2014/main" id="{F1292E30-9047-45A7-BA64-9BFD1E0E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Ruido conformado al habla. Ruido base; filtro; envolvente objetivo; salida.</a:t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749E212-D88D-461E-838D-50368203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138BEC79-35D7-432F-94CD-C374475B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EAD6B22A-9EB3-461D-8CA6-FBBAABD4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7A5F0E87-6A62-4F2D-830D-2AFBD1B0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7DEE6A3-DD61-48AF-8559-CA498246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4649BC-15A3-4849-8F46-70C02330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Dos filtros producen señales con funciones distintas</a:t>
            </a:r>
          </a:p>
        </p:txBody>
      </p:sp>
      <p:sp>
        <p:nvSpPr>
          <p:cNvPr id="6" name="U10-DG-023-branch_source-anchor">
            <a:extLst xmlns:a="http://schemas.openxmlformats.org/drawingml/2006/main">
              <a:ext uri="{FF2B5EF4-FFF2-40B4-BE49-F238E27FC236}">
                <a16:creationId xmlns:a16="http://schemas.microsoft.com/office/drawing/2014/main" id="{0A09B466-0179-4394-B511-F07294E9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497455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23-branch_1-anchor">
            <a:extLst xmlns:a="http://schemas.openxmlformats.org/drawingml/2006/main">
              <a:ext uri="{FF2B5EF4-FFF2-40B4-BE49-F238E27FC236}">
                <a16:creationId xmlns:a16="http://schemas.microsoft.com/office/drawing/2014/main" id="{F85E6281-9017-41AB-A124-51B1E08A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426083"/>
            <a:ext cx="3768090" cy="820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23-branch_2-anchor">
            <a:extLst xmlns:a="http://schemas.openxmlformats.org/drawingml/2006/main">
              <a:ext uri="{FF2B5EF4-FFF2-40B4-BE49-F238E27FC236}">
                <a16:creationId xmlns:a16="http://schemas.microsoft.com/office/drawing/2014/main" id="{89AC92E5-160E-4241-9D2E-8CA21976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2449259"/>
            <a:ext cx="3768090" cy="820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23-branch_3-anchor">
            <a:extLst xmlns:a="http://schemas.openxmlformats.org/drawingml/2006/main">
              <a:ext uri="{FF2B5EF4-FFF2-40B4-BE49-F238E27FC236}">
                <a16:creationId xmlns:a16="http://schemas.microsoft.com/office/drawing/2014/main" id="{D6DFF457-9037-4128-8BDF-6D78DBCA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472434"/>
            <a:ext cx="3768090" cy="820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23-branch_4-anchor">
            <a:extLst xmlns:a="http://schemas.openxmlformats.org/drawingml/2006/main">
              <a:ext uri="{FF2B5EF4-FFF2-40B4-BE49-F238E27FC236}">
                <a16:creationId xmlns:a16="http://schemas.microsoft.com/office/drawing/2014/main" id="{540667D1-1AC4-4C8B-B3ED-0B59C1B5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4495610"/>
            <a:ext cx="3768090" cy="820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U10-DG-023-branch_edge_1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335655" y="1836135"/>
            <a:ext cx="2847975" cy="139808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U10-DG-023-branch_edge_2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335655" y="2859310"/>
            <a:ext cx="2847975" cy="374904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10-DG-023-branch_edge_3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335655" y="3234215"/>
            <a:ext cx="2847975" cy="64827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10-DG-023-branch_edge_4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335655" y="3234215"/>
            <a:ext cx="2847975" cy="167144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10-DG-023-visual-alt" descr="Banco de filtros. Entrada banda ancha; pasa-bajos; pasa-altos; pasabanda; salidas. Orden de lectura: Flechas ancladas; etiquetas de banda. ---">
            <a:extLst xmlns:a="http://schemas.openxmlformats.org/drawingml/2006/main">
              <a:ext uri="{FF2B5EF4-FFF2-40B4-BE49-F238E27FC236}">
                <a16:creationId xmlns:a16="http://schemas.microsoft.com/office/drawing/2014/main" id="{FEAA02D3-8913-4A8E-AF2C-D9FF50CB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497455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6" name="U10-DG-023-branch_source-text">
            <a:extLst xmlns:a="http://schemas.openxmlformats.org/drawingml/2006/main">
              <a:ext uri="{FF2B5EF4-FFF2-40B4-BE49-F238E27FC236}">
                <a16:creationId xmlns:a16="http://schemas.microsoft.com/office/drawing/2014/main" id="{BA2B21DA-8CAC-4355-AB1E-E582CE7C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91778"/>
            <a:ext cx="2154555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Entrada de banda ancha</a:t>
            </a:r>
          </a:p>
        </p:txBody>
      </p:sp>
      <p:sp>
        <p:nvSpPr>
          <p:cNvPr id="17" name="U10-DG-023-branch_1-box">
            <a:extLst xmlns:a="http://schemas.openxmlformats.org/drawingml/2006/main">
              <a:ext uri="{FF2B5EF4-FFF2-40B4-BE49-F238E27FC236}">
                <a16:creationId xmlns:a16="http://schemas.microsoft.com/office/drawing/2014/main" id="{A8554E9A-979B-465F-A36D-C1B61F77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426083"/>
            <a:ext cx="3768090" cy="820103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8" name="U10-DG-023-branch_1-text">
            <a:extLst xmlns:a="http://schemas.openxmlformats.org/drawingml/2006/main">
              <a:ext uri="{FF2B5EF4-FFF2-40B4-BE49-F238E27FC236}">
                <a16:creationId xmlns:a16="http://schemas.microsoft.com/office/drawing/2014/main" id="{0497506D-F728-4EA1-ACF2-4CCB63A2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549908"/>
            <a:ext cx="3425190" cy="572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Pasa-bajos</a:t>
            </a:r>
          </a:p>
        </p:txBody>
      </p:sp>
      <p:sp>
        <p:nvSpPr>
          <p:cNvPr id="19" name="U10-DG-023-branch_2-box">
            <a:extLst xmlns:a="http://schemas.openxmlformats.org/drawingml/2006/main">
              <a:ext uri="{FF2B5EF4-FFF2-40B4-BE49-F238E27FC236}">
                <a16:creationId xmlns:a16="http://schemas.microsoft.com/office/drawing/2014/main" id="{3EA75D72-7E07-4FEC-A54A-B746A186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2449259"/>
            <a:ext cx="3768090" cy="820103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0" name="U10-DG-023-branch_2-text">
            <a:extLst xmlns:a="http://schemas.openxmlformats.org/drawingml/2006/main">
              <a:ext uri="{FF2B5EF4-FFF2-40B4-BE49-F238E27FC236}">
                <a16:creationId xmlns:a16="http://schemas.microsoft.com/office/drawing/2014/main" id="{B09E2814-F752-4194-BF5E-4544F2DB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573084"/>
            <a:ext cx="3425190" cy="572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Pasa-altos</a:t>
            </a:r>
          </a:p>
        </p:txBody>
      </p:sp>
      <p:sp>
        <p:nvSpPr>
          <p:cNvPr id="21" name="U10-DG-023-branch_3-box">
            <a:extLst xmlns:a="http://schemas.openxmlformats.org/drawingml/2006/main">
              <a:ext uri="{FF2B5EF4-FFF2-40B4-BE49-F238E27FC236}">
                <a16:creationId xmlns:a16="http://schemas.microsoft.com/office/drawing/2014/main" id="{A445A8AA-835B-45FB-B66C-023C7A61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472434"/>
            <a:ext cx="3768090" cy="820103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2" name="U10-DG-023-branch_3-text">
            <a:extLst xmlns:a="http://schemas.openxmlformats.org/drawingml/2006/main">
              <a:ext uri="{FF2B5EF4-FFF2-40B4-BE49-F238E27FC236}">
                <a16:creationId xmlns:a16="http://schemas.microsoft.com/office/drawing/2014/main" id="{0ED1DD91-F164-4CDF-BB57-2CB00EF3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596259"/>
            <a:ext cx="3425190" cy="572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Pasabanda</a:t>
            </a:r>
          </a:p>
        </p:txBody>
      </p:sp>
      <p:sp>
        <p:nvSpPr>
          <p:cNvPr id="23" name="U10-DG-023-branch_4-box">
            <a:extLst xmlns:a="http://schemas.openxmlformats.org/drawingml/2006/main">
              <a:ext uri="{FF2B5EF4-FFF2-40B4-BE49-F238E27FC236}">
                <a16:creationId xmlns:a16="http://schemas.microsoft.com/office/drawing/2014/main" id="{1CEEC023-4D77-407C-87F2-1B8AFA6B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4495610"/>
            <a:ext cx="3768090" cy="820103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4" name="U10-DG-023-branch_4-text">
            <a:extLst xmlns:a="http://schemas.openxmlformats.org/drawingml/2006/main">
              <a:ext uri="{FF2B5EF4-FFF2-40B4-BE49-F238E27FC236}">
                <a16:creationId xmlns:a16="http://schemas.microsoft.com/office/drawing/2014/main" id="{629D2066-4813-4EB8-A48E-2D2FECA8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619435"/>
            <a:ext cx="3425190" cy="572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Tres salidas filtradas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33B265DF-1F8C-4B9D-BE19-739648E0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Banco de filtros. Entrada banda ancha; pasa-bajos; pasa-altos; pasabanda; salidas.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125C26F-2926-4912-B0D0-3D0D43ED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A3633C9D-7063-4BFF-8B1C-35FD0056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16388FAF-05E2-4579-BDB1-EFF072DF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B920F696-D79B-40F5-B88A-7685F197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C0C06808-1AC6-4A23-A014-9469EAC9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4CAC9B-661C-4E6C-9421-582BD344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NBN significa contenido concentrado en una banda declarada</a:t>
            </a:r>
          </a:p>
        </p:txBody>
      </p:sp>
      <p:sp>
        <p:nvSpPr>
          <p:cNvPr id="6" name="U10-DG-024-equation-anchor">
            <a:extLst xmlns:a="http://schemas.openxmlformats.org/drawingml/2006/main">
              <a:ext uri="{FF2B5EF4-FFF2-40B4-BE49-F238E27FC236}">
                <a16:creationId xmlns:a16="http://schemas.microsoft.com/office/drawing/2014/main" id="{92F5B720-40BE-4EA1-BC23-2931ED28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24-callout_1-anchor">
            <a:extLst xmlns:a="http://schemas.openxmlformats.org/drawingml/2006/main">
              <a:ext uri="{FF2B5EF4-FFF2-40B4-BE49-F238E27FC236}">
                <a16:creationId xmlns:a16="http://schemas.microsoft.com/office/drawing/2014/main" id="{6DFE1F6F-7552-41D3-8D67-8FA7DDAE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24-callout_2-anchor">
            <a:extLst xmlns:a="http://schemas.openxmlformats.org/drawingml/2006/main">
              <a:ext uri="{FF2B5EF4-FFF2-40B4-BE49-F238E27FC236}">
                <a16:creationId xmlns:a16="http://schemas.microsoft.com/office/drawing/2014/main" id="{E49126E4-7B90-4D02-AA3A-2B551139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24-callout_3-anchor">
            <a:extLst xmlns:a="http://schemas.openxmlformats.org/drawingml/2006/main">
              <a:ext uri="{FF2B5EF4-FFF2-40B4-BE49-F238E27FC236}">
                <a16:creationId xmlns:a16="http://schemas.microsoft.com/office/drawing/2014/main" id="{A6E4AC80-179B-4C0A-AF1B-D58F7770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24-callout_4-anchor">
            <a:extLst xmlns:a="http://schemas.openxmlformats.org/drawingml/2006/main">
              <a:ext uri="{FF2B5EF4-FFF2-40B4-BE49-F238E27FC236}">
                <a16:creationId xmlns:a16="http://schemas.microsoft.com/office/drawing/2014/main" id="{C4D0B23C-C639-469F-B7B5-5EB17FAC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U10-DG-024-leader_1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60395" y="2004061"/>
            <a:ext cx="87630" cy="115204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U10-DG-024-leader_2"/>
          <p:cNvCxnSpPr>
            <a:stCxn xmlns:a="http://schemas.openxmlformats.org/drawingml/2006/main" id="8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8172450" y="1460183"/>
            <a:ext cx="2594610" cy="1695927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10-DG-024-leader_3"/>
          <p:cNvCxnSpPr>
            <a:stCxn xmlns:a="http://schemas.openxmlformats.org/drawingml/2006/main" id="9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160395" y="3156110"/>
            <a:ext cx="87630" cy="150352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10-DG-024-leader_4"/>
          <p:cNvCxnSpPr>
            <a:stCxn xmlns:a="http://schemas.openxmlformats.org/drawingml/2006/main" id="10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8172450" y="3156110"/>
            <a:ext cx="184785" cy="1503521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10-DG-024-visual-alt" descr="Definición visual de NBN. Espectro amplio; filtro centrado; banda de salida; f_L/f_c/f_H. Orden de lectura: “selecciona”. ---">
            <a:extLst xmlns:a="http://schemas.openxmlformats.org/drawingml/2006/main">
              <a:ext uri="{FF2B5EF4-FFF2-40B4-BE49-F238E27FC236}">
                <a16:creationId xmlns:a16="http://schemas.microsoft.com/office/drawing/2014/main" id="{4BCE83C0-D83E-4AA1-91D4-4497F26D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10-DG-024-equation-text">
            <a:extLst xmlns:a="http://schemas.openxmlformats.org/drawingml/2006/main">
              <a:ext uri="{FF2B5EF4-FFF2-40B4-BE49-F238E27FC236}">
                <a16:creationId xmlns:a16="http://schemas.microsoft.com/office/drawing/2014/main" id="{85E75C42-2FC8-4652-9D7A-A97194D8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13673"/>
            <a:ext cx="465201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NBN: fₗ — f꜀ — fₕ</a:t>
            </a:r>
          </a:p>
        </p:txBody>
      </p:sp>
      <p:sp>
        <p:nvSpPr>
          <p:cNvPr id="17" name="U10-DG-024-callout_1-box">
            <a:extLst xmlns:a="http://schemas.openxmlformats.org/drawingml/2006/main">
              <a:ext uri="{FF2B5EF4-FFF2-40B4-BE49-F238E27FC236}">
                <a16:creationId xmlns:a16="http://schemas.microsoft.com/office/drawing/2014/main" id="{6053FC71-8FFE-4E5D-BDE0-0BED886D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24-callout_1-text">
            <a:extLst xmlns:a="http://schemas.openxmlformats.org/drawingml/2006/main">
              <a:ext uri="{FF2B5EF4-FFF2-40B4-BE49-F238E27FC236}">
                <a16:creationId xmlns:a16="http://schemas.microsoft.com/office/drawing/2014/main" id="{2CB851B5-D175-41A8-BB6F-28744BB8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Espectro amplio</a:t>
            </a:r>
          </a:p>
        </p:txBody>
      </p:sp>
      <p:sp>
        <p:nvSpPr>
          <p:cNvPr id="19" name="U10-DG-024-callout_2-box">
            <a:extLst xmlns:a="http://schemas.openxmlformats.org/drawingml/2006/main">
              <a:ext uri="{FF2B5EF4-FFF2-40B4-BE49-F238E27FC236}">
                <a16:creationId xmlns:a16="http://schemas.microsoft.com/office/drawing/2014/main" id="{8EF10F24-9515-4982-ABF2-D1331C27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0" name="U10-DG-024-callout_2-text">
            <a:extLst xmlns:a="http://schemas.openxmlformats.org/drawingml/2006/main">
              <a:ext uri="{FF2B5EF4-FFF2-40B4-BE49-F238E27FC236}">
                <a16:creationId xmlns:a16="http://schemas.microsoft.com/office/drawing/2014/main" id="{CFCF7DEE-E660-45F7-942F-A7CBE9EC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Filtro centrado</a:t>
            </a:r>
          </a:p>
        </p:txBody>
      </p:sp>
      <p:sp>
        <p:nvSpPr>
          <p:cNvPr id="21" name="U10-DG-024-callout_3-box">
            <a:extLst xmlns:a="http://schemas.openxmlformats.org/drawingml/2006/main">
              <a:ext uri="{FF2B5EF4-FFF2-40B4-BE49-F238E27FC236}">
                <a16:creationId xmlns:a16="http://schemas.microsoft.com/office/drawing/2014/main" id="{7F4253E9-8CD1-428C-97A1-79FF7AA9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2" name="U10-DG-024-callout_3-text">
            <a:extLst xmlns:a="http://schemas.openxmlformats.org/drawingml/2006/main">
              <a:ext uri="{FF2B5EF4-FFF2-40B4-BE49-F238E27FC236}">
                <a16:creationId xmlns:a16="http://schemas.microsoft.com/office/drawing/2014/main" id="{A2FD70F6-C7D7-4A07-AC65-9045B940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fₗ: límite inferior</a:t>
            </a:r>
          </a:p>
        </p:txBody>
      </p:sp>
      <p:sp>
        <p:nvSpPr>
          <p:cNvPr id="23" name="U10-DG-024-callout_4-box">
            <a:extLst xmlns:a="http://schemas.openxmlformats.org/drawingml/2006/main">
              <a:ext uri="{FF2B5EF4-FFF2-40B4-BE49-F238E27FC236}">
                <a16:creationId xmlns:a16="http://schemas.microsoft.com/office/drawing/2014/main" id="{D15E100E-2D4B-4F5D-974C-7DDBC2F0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4" name="U10-DG-024-callout_4-text">
            <a:extLst xmlns:a="http://schemas.openxmlformats.org/drawingml/2006/main">
              <a:ext uri="{FF2B5EF4-FFF2-40B4-BE49-F238E27FC236}">
                <a16:creationId xmlns:a16="http://schemas.microsoft.com/office/drawing/2014/main" id="{446321A1-DE94-402D-AD32-50629CC6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f꜀: centro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58A39259-A092-441C-8736-9F372593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Definición visual de NBN. Espectro amplio; filtro centrado; banda de salida; f_L/f_c/f_H.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C5386AB-7E81-4CC6-B7F1-8E2BB460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303F8C2E-198F-4455-A5F5-8782E953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96DA4108-85FB-42A6-BD64-61BAE3E4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2204953B-FF2E-4A54-8723-116B105C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45AC97AE-3461-4ED8-AFFE-06113F4D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16055B-C996-4F5E-AABC-5FAAA84E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banda de 900 a 1100 Hz no queda especificada solo por su ancho</a:t>
            </a:r>
          </a:p>
        </p:txBody>
      </p:sp>
      <p:sp>
        <p:nvSpPr>
          <p:cNvPr id="6" name="U10-DG-025-equation-anchor">
            <a:extLst xmlns:a="http://schemas.openxmlformats.org/drawingml/2006/main">
              <a:ext uri="{FF2B5EF4-FFF2-40B4-BE49-F238E27FC236}">
                <a16:creationId xmlns:a16="http://schemas.microsoft.com/office/drawing/2014/main" id="{135E7CD8-EA21-45CD-8CB5-758618A0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25-callout_1-anchor">
            <a:extLst xmlns:a="http://schemas.openxmlformats.org/drawingml/2006/main">
              <a:ext uri="{FF2B5EF4-FFF2-40B4-BE49-F238E27FC236}">
                <a16:creationId xmlns:a16="http://schemas.microsoft.com/office/drawing/2014/main" id="{DD783C09-D408-4757-A9C0-981D5E47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25-callout_2-anchor">
            <a:extLst xmlns:a="http://schemas.openxmlformats.org/drawingml/2006/main">
              <a:ext uri="{FF2B5EF4-FFF2-40B4-BE49-F238E27FC236}">
                <a16:creationId xmlns:a16="http://schemas.microsoft.com/office/drawing/2014/main" id="{6EB26FDF-4B9F-413A-BF6C-0A553A02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25-callout_3-anchor">
            <a:extLst xmlns:a="http://schemas.openxmlformats.org/drawingml/2006/main">
              <a:ext uri="{FF2B5EF4-FFF2-40B4-BE49-F238E27FC236}">
                <a16:creationId xmlns:a16="http://schemas.microsoft.com/office/drawing/2014/main" id="{27884149-3C8A-4A92-83FE-E5CC523A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25-callout_4-anchor">
            <a:extLst xmlns:a="http://schemas.openxmlformats.org/drawingml/2006/main">
              <a:ext uri="{FF2B5EF4-FFF2-40B4-BE49-F238E27FC236}">
                <a16:creationId xmlns:a16="http://schemas.microsoft.com/office/drawing/2014/main" id="{AF1EFC61-7D83-46A7-AF3C-AEB0F4E4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U10-DG-025-leader_1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60395" y="2004061"/>
            <a:ext cx="87630" cy="115204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U10-DG-025-leader_2"/>
          <p:cNvCxnSpPr>
            <a:stCxn xmlns:a="http://schemas.openxmlformats.org/drawingml/2006/main" id="8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8172450" y="1460183"/>
            <a:ext cx="2594610" cy="1695927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10-DG-025-leader_3"/>
          <p:cNvCxnSpPr>
            <a:stCxn xmlns:a="http://schemas.openxmlformats.org/drawingml/2006/main" id="9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160395" y="3156110"/>
            <a:ext cx="87630" cy="150352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10-DG-025-leader_4"/>
          <p:cNvCxnSpPr>
            <a:stCxn xmlns:a="http://schemas.openxmlformats.org/drawingml/2006/main" id="10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8172450" y="3156110"/>
            <a:ext cx="184785" cy="1503521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10-DG-025-visual-alt" descr="Parámetros de NBN. Eje de frecuencia; límites; centro; ancho; pendientes. Orden de lectura: Callouts sin cruces. ---">
            <a:extLst xmlns:a="http://schemas.openxmlformats.org/drawingml/2006/main">
              <a:ext uri="{FF2B5EF4-FFF2-40B4-BE49-F238E27FC236}">
                <a16:creationId xmlns:a16="http://schemas.microsoft.com/office/drawing/2014/main" id="{4206346F-C159-44D3-BA81-6B8C8320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10-DG-025-equation-text">
            <a:extLst xmlns:a="http://schemas.openxmlformats.org/drawingml/2006/main">
              <a:ext uri="{FF2B5EF4-FFF2-40B4-BE49-F238E27FC236}">
                <a16:creationId xmlns:a16="http://schemas.microsoft.com/office/drawing/2014/main" id="{D204E4A5-80D1-4F8A-9F32-BACDF934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13673"/>
            <a:ext cx="465201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B = fₕ − fₗ</a:t>
            </a:r>
          </a:p>
        </p:txBody>
      </p:sp>
      <p:sp>
        <p:nvSpPr>
          <p:cNvPr id="17" name="U10-DG-025-callout_1-box">
            <a:extLst xmlns:a="http://schemas.openxmlformats.org/drawingml/2006/main">
              <a:ext uri="{FF2B5EF4-FFF2-40B4-BE49-F238E27FC236}">
                <a16:creationId xmlns:a16="http://schemas.microsoft.com/office/drawing/2014/main" id="{8FA2943D-5D94-4F14-BA3B-5639ABFD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25-callout_1-text">
            <a:extLst xmlns:a="http://schemas.openxmlformats.org/drawingml/2006/main">
              <a:ext uri="{FF2B5EF4-FFF2-40B4-BE49-F238E27FC236}">
                <a16:creationId xmlns:a16="http://schemas.microsoft.com/office/drawing/2014/main" id="{DA8601E0-205D-4ECC-AD1D-4348EB42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fₗ: límite inferior</a:t>
            </a:r>
          </a:p>
        </p:txBody>
      </p:sp>
      <p:sp>
        <p:nvSpPr>
          <p:cNvPr id="19" name="U10-DG-025-callout_2-box">
            <a:extLst xmlns:a="http://schemas.openxmlformats.org/drawingml/2006/main">
              <a:ext uri="{FF2B5EF4-FFF2-40B4-BE49-F238E27FC236}">
                <a16:creationId xmlns:a16="http://schemas.microsoft.com/office/drawing/2014/main" id="{E2057384-EE45-43AA-8B6D-46AAB2E2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0" name="U10-DG-025-callout_2-text">
            <a:extLst xmlns:a="http://schemas.openxmlformats.org/drawingml/2006/main">
              <a:ext uri="{FF2B5EF4-FFF2-40B4-BE49-F238E27FC236}">
                <a16:creationId xmlns:a16="http://schemas.microsoft.com/office/drawing/2014/main" id="{E00B0669-787E-4B00-A2E2-283DEFF1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f꜀: centro declarado</a:t>
            </a:r>
          </a:p>
        </p:txBody>
      </p:sp>
      <p:sp>
        <p:nvSpPr>
          <p:cNvPr id="21" name="U10-DG-025-callout_3-box">
            <a:extLst xmlns:a="http://schemas.openxmlformats.org/drawingml/2006/main">
              <a:ext uri="{FF2B5EF4-FFF2-40B4-BE49-F238E27FC236}">
                <a16:creationId xmlns:a16="http://schemas.microsoft.com/office/drawing/2014/main" id="{D25DA2DE-D0DD-461D-9B99-9B1118D3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2" name="U10-DG-025-callout_3-text">
            <a:extLst xmlns:a="http://schemas.openxmlformats.org/drawingml/2006/main">
              <a:ext uri="{FF2B5EF4-FFF2-40B4-BE49-F238E27FC236}">
                <a16:creationId xmlns:a16="http://schemas.microsoft.com/office/drawing/2014/main" id="{FE58E5DB-17D4-4FD4-9D06-AC71E67E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fₕ: límite superior</a:t>
            </a:r>
          </a:p>
        </p:txBody>
      </p:sp>
      <p:sp>
        <p:nvSpPr>
          <p:cNvPr id="23" name="U10-DG-025-callout_4-box">
            <a:extLst xmlns:a="http://schemas.openxmlformats.org/drawingml/2006/main">
              <a:ext uri="{FF2B5EF4-FFF2-40B4-BE49-F238E27FC236}">
                <a16:creationId xmlns:a16="http://schemas.microsoft.com/office/drawing/2014/main" id="{A292F040-6E72-4FC2-B3EF-03589747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4" name="U10-DG-025-callout_4-text">
            <a:extLst xmlns:a="http://schemas.openxmlformats.org/drawingml/2006/main">
              <a:ext uri="{FF2B5EF4-FFF2-40B4-BE49-F238E27FC236}">
                <a16:creationId xmlns:a16="http://schemas.microsoft.com/office/drawing/2014/main" id="{A309C979-D089-4A1E-A3A0-848AB825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B = fₕ − fₗ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1DF1CE69-228B-427B-A871-F66E2D5A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Parámetros de NBN. Eje de frecuencia; límites; centro; ancho; pendientes.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589105E-593C-4437-B125-21B6A604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top-rail-1">
            <a:extLst xmlns:a="http://schemas.openxmlformats.org/drawingml/2006/main">
              <a:ext uri="{FF2B5EF4-FFF2-40B4-BE49-F238E27FC236}">
                <a16:creationId xmlns:a16="http://schemas.microsoft.com/office/drawing/2014/main" id="{C269B37B-0BAC-4F1B-9389-AFC1D313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DF260AA0-8147-40A0-B1C4-A60F9AF9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D9C07708-0C22-43B6-B160-D512312C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029FC08E-8175-4DBC-BC31-7A39D730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B068ED-11AE-4B86-8E44-581480D5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Cuatro ruidos se distinguen por el criterio espectral</a:t>
            </a:r>
          </a:p>
        </p:txBody>
      </p:sp>
      <p:sp>
        <p:nvSpPr>
          <p:cNvPr id="6" name="U10-042-claim-alt" descr="Recurso visual previsto: Tabla nativa; sin imágenes. ---">
            <a:extLst xmlns:a="http://schemas.openxmlformats.org/drawingml/2006/main">
              <a:ext uri="{FF2B5EF4-FFF2-40B4-BE49-F238E27FC236}">
                <a16:creationId xmlns:a16="http://schemas.microsoft.com/office/drawing/2014/main" id="{AF40D4C9-8318-4E2A-94A4-37DBFD48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7" name="U10-042-cell-text-0-0">
            <a:extLst xmlns:a="http://schemas.openxmlformats.org/drawingml/2006/main">
              <a:ext uri="{FF2B5EF4-FFF2-40B4-BE49-F238E27FC236}">
                <a16:creationId xmlns:a16="http://schemas.microsoft.com/office/drawing/2014/main" id="{F2FBAD7A-ED17-4F9A-BCF8-B9820E72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1925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Señal</a:t>
            </a:r>
          </a:p>
        </p:txBody>
      </p:sp>
      <p:sp>
        <p:nvSpPr>
          <p:cNvPr id="8" name="U10-042-cell-0-1">
            <a:extLst xmlns:a="http://schemas.openxmlformats.org/drawingml/2006/main">
              <a:ext uri="{FF2B5EF4-FFF2-40B4-BE49-F238E27FC236}">
                <a16:creationId xmlns:a16="http://schemas.microsoft.com/office/drawing/2014/main" id="{A188692E-5F6E-4548-8040-5D098C0F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57162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9" name="U10-042-cell-text-0-1">
            <a:extLst xmlns:a="http://schemas.openxmlformats.org/drawingml/2006/main">
              <a:ext uri="{FF2B5EF4-FFF2-40B4-BE49-F238E27FC236}">
                <a16:creationId xmlns:a16="http://schemas.microsoft.com/office/drawing/2014/main" id="{13AE2CA9-CA73-4364-A2CA-44FBC3D0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61925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Regla espectral</a:t>
            </a:r>
          </a:p>
        </p:txBody>
      </p:sp>
      <p:sp>
        <p:nvSpPr>
          <p:cNvPr id="10" name="U10-042-cell-0-2">
            <a:extLst xmlns:a="http://schemas.openxmlformats.org/drawingml/2006/main">
              <a:ext uri="{FF2B5EF4-FFF2-40B4-BE49-F238E27FC236}">
                <a16:creationId xmlns:a16="http://schemas.microsoft.com/office/drawing/2014/main" id="{2679F9B0-E289-4877-AF5E-1CF4DA95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57162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1" name="U10-042-cell-text-0-2">
            <a:extLst xmlns:a="http://schemas.openxmlformats.org/drawingml/2006/main">
              <a:ext uri="{FF2B5EF4-FFF2-40B4-BE49-F238E27FC236}">
                <a16:creationId xmlns:a16="http://schemas.microsoft.com/office/drawing/2014/main" id="{0149886C-1421-4920-A369-3BAE6CD8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61925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Agrupamiento útil</a:t>
            </a:r>
          </a:p>
        </p:txBody>
      </p:sp>
      <p:sp>
        <p:nvSpPr>
          <p:cNvPr id="12" name="U10-042-cell-0-3">
            <a:extLst xmlns:a="http://schemas.openxmlformats.org/drawingml/2006/main">
              <a:ext uri="{FF2B5EF4-FFF2-40B4-BE49-F238E27FC236}">
                <a16:creationId xmlns:a16="http://schemas.microsoft.com/office/drawing/2014/main" id="{2ECEB948-8F33-4E55-BBC9-44F787AB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57162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3" name="U10-042-cell-text-0-3">
            <a:extLst xmlns:a="http://schemas.openxmlformats.org/drawingml/2006/main">
              <a:ext uri="{FF2B5EF4-FFF2-40B4-BE49-F238E27FC236}">
                <a16:creationId xmlns:a16="http://schemas.microsoft.com/office/drawing/2014/main" id="{D10E7296-A97B-4B5C-84EB-544146D3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619250"/>
            <a:ext cx="403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Parámetros que deben declararse</a:t>
            </a:r>
          </a:p>
        </p:txBody>
      </p:sp>
      <p:sp>
        <p:nvSpPr>
          <p:cNvPr id="14" name="U10-042-cell-1-0">
            <a:extLst xmlns:a="http://schemas.openxmlformats.org/drawingml/2006/main">
              <a:ext uri="{FF2B5EF4-FFF2-40B4-BE49-F238E27FC236}">
                <a16:creationId xmlns:a16="http://schemas.microsoft.com/office/drawing/2014/main" id="{733A68C0-2E80-4793-9E0A-DA0A72F2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2407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5" name="U10-042-cell-text-1-0">
            <a:extLst xmlns:a="http://schemas.openxmlformats.org/drawingml/2006/main">
              <a:ext uri="{FF2B5EF4-FFF2-40B4-BE49-F238E27FC236}">
                <a16:creationId xmlns:a16="http://schemas.microsoft.com/office/drawing/2014/main" id="{40F58F8A-477B-4716-A176-F3574B5B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717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Blanco</a:t>
            </a:r>
          </a:p>
        </p:txBody>
      </p:sp>
      <p:sp>
        <p:nvSpPr>
          <p:cNvPr id="16" name="U10-042-cell-1-1">
            <a:extLst xmlns:a="http://schemas.openxmlformats.org/drawingml/2006/main">
              <a:ext uri="{FF2B5EF4-FFF2-40B4-BE49-F238E27FC236}">
                <a16:creationId xmlns:a16="http://schemas.microsoft.com/office/drawing/2014/main" id="{B5612DC7-84C2-4451-8113-85E3FE67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12407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7" name="U10-042-cell-text-1-1">
            <a:extLst xmlns:a="http://schemas.openxmlformats.org/drawingml/2006/main">
              <a:ext uri="{FF2B5EF4-FFF2-40B4-BE49-F238E27FC236}">
                <a16:creationId xmlns:a16="http://schemas.microsoft.com/office/drawing/2014/main" id="{4C5A375D-0728-4BAF-B422-CDAA32B0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17170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S_pp = S₀</a:t>
            </a:r>
          </a:p>
        </p:txBody>
      </p:sp>
      <p:sp>
        <p:nvSpPr>
          <p:cNvPr id="18" name="U10-042-cell-1-2">
            <a:extLst xmlns:a="http://schemas.openxmlformats.org/drawingml/2006/main">
              <a:ext uri="{FF2B5EF4-FFF2-40B4-BE49-F238E27FC236}">
                <a16:creationId xmlns:a16="http://schemas.microsoft.com/office/drawing/2014/main" id="{399EC042-1116-4A3C-981A-5A2924EA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2407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9" name="U10-042-cell-text-1-2">
            <a:extLst xmlns:a="http://schemas.openxmlformats.org/drawingml/2006/main">
              <a:ext uri="{FF2B5EF4-FFF2-40B4-BE49-F238E27FC236}">
                <a16:creationId xmlns:a16="http://schemas.microsoft.com/office/drawing/2014/main" id="{BECA0EE9-F30C-4B18-B5B8-857051E9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17170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intervalos iguales en Hz</a:t>
            </a:r>
          </a:p>
        </p:txBody>
      </p:sp>
      <p:sp>
        <p:nvSpPr>
          <p:cNvPr id="20" name="U10-042-cell-1-3">
            <a:extLst xmlns:a="http://schemas.openxmlformats.org/drawingml/2006/main">
              <a:ext uri="{FF2B5EF4-FFF2-40B4-BE49-F238E27FC236}">
                <a16:creationId xmlns:a16="http://schemas.microsoft.com/office/drawing/2014/main" id="{C68B44AE-49FB-4221-9503-AAA75529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12407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21" name="U10-042-cell-text-1-3">
            <a:extLst xmlns:a="http://schemas.openxmlformats.org/drawingml/2006/main">
              <a:ext uri="{FF2B5EF4-FFF2-40B4-BE49-F238E27FC236}">
                <a16:creationId xmlns:a16="http://schemas.microsoft.com/office/drawing/2014/main" id="{62FD92FF-10EA-4A00-A427-D7586FC7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171700"/>
            <a:ext cx="403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banda y nivel</a:t>
            </a:r>
          </a:p>
        </p:txBody>
      </p:sp>
      <p:sp>
        <p:nvSpPr>
          <p:cNvPr id="22" name="U10-042-cell-2-0">
            <a:extLst xmlns:a="http://schemas.openxmlformats.org/drawingml/2006/main">
              <a:ext uri="{FF2B5EF4-FFF2-40B4-BE49-F238E27FC236}">
                <a16:creationId xmlns:a16="http://schemas.microsoft.com/office/drawing/2014/main" id="{75CB6D3F-0835-4796-B0A1-E5A03FCA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7652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23" name="U10-042-cell-text-2-0">
            <a:extLst xmlns:a="http://schemas.openxmlformats.org/drawingml/2006/main">
              <a:ext uri="{FF2B5EF4-FFF2-40B4-BE49-F238E27FC236}">
                <a16:creationId xmlns:a16="http://schemas.microsoft.com/office/drawing/2014/main" id="{25E14D04-CD06-44CB-BDC5-21509754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2415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Rosa</a:t>
            </a:r>
          </a:p>
        </p:txBody>
      </p:sp>
      <p:sp>
        <p:nvSpPr>
          <p:cNvPr id="24" name="U10-042-cell-2-1">
            <a:extLst xmlns:a="http://schemas.openxmlformats.org/drawingml/2006/main">
              <a:ext uri="{FF2B5EF4-FFF2-40B4-BE49-F238E27FC236}">
                <a16:creationId xmlns:a16="http://schemas.microsoft.com/office/drawing/2014/main" id="{FBCE57E1-D590-4B89-9584-C12D881B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7652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25" name="U10-042-cell-text-2-1">
            <a:extLst xmlns:a="http://schemas.openxmlformats.org/drawingml/2006/main">
              <a:ext uri="{FF2B5EF4-FFF2-40B4-BE49-F238E27FC236}">
                <a16:creationId xmlns:a16="http://schemas.microsoft.com/office/drawing/2014/main" id="{CEA1A0F7-68F7-46CA-835E-298D048C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72415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S_pp ∝ 1/f</a:t>
            </a:r>
          </a:p>
        </p:txBody>
      </p:sp>
      <p:sp>
        <p:nvSpPr>
          <p:cNvPr id="26" name="U10-042-cell-2-2">
            <a:extLst xmlns:a="http://schemas.openxmlformats.org/drawingml/2006/main">
              <a:ext uri="{FF2B5EF4-FFF2-40B4-BE49-F238E27FC236}">
                <a16:creationId xmlns:a16="http://schemas.microsoft.com/office/drawing/2014/main" id="{0641880A-AD9D-438A-9E20-1673C95A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67652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27" name="U10-042-cell-text-2-2">
            <a:extLst xmlns:a="http://schemas.openxmlformats.org/drawingml/2006/main">
              <a:ext uri="{FF2B5EF4-FFF2-40B4-BE49-F238E27FC236}">
                <a16:creationId xmlns:a16="http://schemas.microsoft.com/office/drawing/2014/main" id="{1E1EE7C2-4CB6-43FC-AD80-08FDB070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72415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octavas</a:t>
            </a:r>
          </a:p>
        </p:txBody>
      </p:sp>
      <p:sp>
        <p:nvSpPr>
          <p:cNvPr id="28" name="U10-042-cell-2-3">
            <a:extLst xmlns:a="http://schemas.openxmlformats.org/drawingml/2006/main">
              <a:ext uri="{FF2B5EF4-FFF2-40B4-BE49-F238E27FC236}">
                <a16:creationId xmlns:a16="http://schemas.microsoft.com/office/drawing/2014/main" id="{8370C721-B0E1-48B4-A85F-44F7774F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67652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29" name="U10-042-cell-text-2-3">
            <a:extLst xmlns:a="http://schemas.openxmlformats.org/drawingml/2006/main">
              <a:ext uri="{FF2B5EF4-FFF2-40B4-BE49-F238E27FC236}">
                <a16:creationId xmlns:a16="http://schemas.microsoft.com/office/drawing/2014/main" id="{027C315C-3AA2-4800-9CB9-B1C84F0D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724150"/>
            <a:ext cx="403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banda y nivel</a:t>
            </a:r>
          </a:p>
        </p:txBody>
      </p:sp>
      <p:sp>
        <p:nvSpPr>
          <p:cNvPr id="30" name="U10-042-cell-3-0">
            <a:extLst xmlns:a="http://schemas.openxmlformats.org/drawingml/2006/main">
              <a:ext uri="{FF2B5EF4-FFF2-40B4-BE49-F238E27FC236}">
                <a16:creationId xmlns:a16="http://schemas.microsoft.com/office/drawing/2014/main" id="{3CDD8E15-9E97-4931-A21F-67D6FD6A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2897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31" name="U10-042-cell-text-3-0">
            <a:extLst xmlns:a="http://schemas.openxmlformats.org/drawingml/2006/main">
              <a:ext uri="{FF2B5EF4-FFF2-40B4-BE49-F238E27FC236}">
                <a16:creationId xmlns:a16="http://schemas.microsoft.com/office/drawing/2014/main" id="{2C193D79-8420-4A70-AC72-28C86E22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766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Forma de habla</a:t>
            </a:r>
          </a:p>
        </p:txBody>
      </p:sp>
      <p:sp>
        <p:nvSpPr>
          <p:cNvPr id="32" name="U10-042-cell-3-1">
            <a:extLst xmlns:a="http://schemas.openxmlformats.org/drawingml/2006/main">
              <a:ext uri="{FF2B5EF4-FFF2-40B4-BE49-F238E27FC236}">
                <a16:creationId xmlns:a16="http://schemas.microsoft.com/office/drawing/2014/main" id="{A5562FB8-7B4C-46A8-BB3B-A651B864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22897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33" name="U10-042-cell-text-3-1">
            <a:extLst xmlns:a="http://schemas.openxmlformats.org/drawingml/2006/main">
              <a:ext uri="{FF2B5EF4-FFF2-40B4-BE49-F238E27FC236}">
                <a16:creationId xmlns:a16="http://schemas.microsoft.com/office/drawing/2014/main" id="{D779FB4E-7B78-4C56-9414-7B2647AF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27660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contorno objetivo</a:t>
            </a:r>
          </a:p>
        </p:txBody>
      </p:sp>
      <p:sp>
        <p:nvSpPr>
          <p:cNvPr id="34" name="U10-042-cell-3-2">
            <a:extLst xmlns:a="http://schemas.openxmlformats.org/drawingml/2006/main">
              <a:ext uri="{FF2B5EF4-FFF2-40B4-BE49-F238E27FC236}">
                <a16:creationId xmlns:a16="http://schemas.microsoft.com/office/drawing/2014/main" id="{B4FFF6DA-B38E-4ECD-9353-AB6FA883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2897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35" name="U10-042-cell-text-3-2">
            <a:extLst xmlns:a="http://schemas.openxmlformats.org/drawingml/2006/main">
              <a:ext uri="{FF2B5EF4-FFF2-40B4-BE49-F238E27FC236}">
                <a16:creationId xmlns:a16="http://schemas.microsoft.com/office/drawing/2014/main" id="{CE636CE5-C5D1-4440-ABC5-B0B45A32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27660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bandas del espectro objetivo</a:t>
            </a:r>
          </a:p>
        </p:txBody>
      </p:sp>
      <p:sp>
        <p:nvSpPr>
          <p:cNvPr id="36" name="U10-042-cell-3-3">
            <a:extLst xmlns:a="http://schemas.openxmlformats.org/drawingml/2006/main">
              <a:ext uri="{FF2B5EF4-FFF2-40B4-BE49-F238E27FC236}">
                <a16:creationId xmlns:a16="http://schemas.microsoft.com/office/drawing/2014/main" id="{421CE76B-F197-4BA1-B685-A94B659E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22897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37" name="U10-042-cell-text-3-3">
            <a:extLst xmlns:a="http://schemas.openxmlformats.org/drawingml/2006/main">
              <a:ext uri="{FF2B5EF4-FFF2-40B4-BE49-F238E27FC236}">
                <a16:creationId xmlns:a16="http://schemas.microsoft.com/office/drawing/2014/main" id="{3785AB3F-374D-4A14-996B-AA5E9A81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276600"/>
            <a:ext cx="403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curva, equipo y calibración</a:t>
            </a:r>
          </a:p>
        </p:txBody>
      </p:sp>
      <p:sp>
        <p:nvSpPr>
          <p:cNvPr id="38" name="U10-042-cell-4-0">
            <a:extLst xmlns:a="http://schemas.openxmlformats.org/drawingml/2006/main">
              <a:ext uri="{FF2B5EF4-FFF2-40B4-BE49-F238E27FC236}">
                <a16:creationId xmlns:a16="http://schemas.microsoft.com/office/drawing/2014/main" id="{2EFE2203-0904-42B1-BD4F-50DB2312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8142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39" name="U10-042-cell-text-4-0">
            <a:extLst xmlns:a="http://schemas.openxmlformats.org/drawingml/2006/main">
              <a:ext uri="{FF2B5EF4-FFF2-40B4-BE49-F238E27FC236}">
                <a16:creationId xmlns:a16="http://schemas.microsoft.com/office/drawing/2014/main" id="{A66C12C7-6332-427A-A36B-1F16E252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2905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NBN</a:t>
            </a:r>
          </a:p>
        </p:txBody>
      </p:sp>
      <p:sp>
        <p:nvSpPr>
          <p:cNvPr id="40" name="U10-042-cell-4-1">
            <a:extLst xmlns:a="http://schemas.openxmlformats.org/drawingml/2006/main">
              <a:ext uri="{FF2B5EF4-FFF2-40B4-BE49-F238E27FC236}">
                <a16:creationId xmlns:a16="http://schemas.microsoft.com/office/drawing/2014/main" id="{B5C5C476-4357-4024-8E72-F0688E3B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78142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41" name="U10-042-cell-text-4-1">
            <a:extLst xmlns:a="http://schemas.openxmlformats.org/drawingml/2006/main">
              <a:ext uri="{FF2B5EF4-FFF2-40B4-BE49-F238E27FC236}">
                <a16:creationId xmlns:a16="http://schemas.microsoft.com/office/drawing/2014/main" id="{C185608C-9B71-4F80-8EFF-562818AA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82905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contenido concentrado</a:t>
            </a:r>
          </a:p>
        </p:txBody>
      </p:sp>
      <p:sp>
        <p:nvSpPr>
          <p:cNvPr id="42" name="U10-042-cell-4-2">
            <a:extLst xmlns:a="http://schemas.openxmlformats.org/drawingml/2006/main">
              <a:ext uri="{FF2B5EF4-FFF2-40B4-BE49-F238E27FC236}">
                <a16:creationId xmlns:a16="http://schemas.microsoft.com/office/drawing/2014/main" id="{36A670E1-36A2-45C7-95E5-5EB30C4B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8142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43" name="U10-042-cell-text-4-2">
            <a:extLst xmlns:a="http://schemas.openxmlformats.org/drawingml/2006/main">
              <a:ext uri="{FF2B5EF4-FFF2-40B4-BE49-F238E27FC236}">
                <a16:creationId xmlns:a16="http://schemas.microsoft.com/office/drawing/2014/main" id="{F53A24FC-CD16-4B5B-A1EC-20E95AB9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82905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banda declarada</a:t>
            </a:r>
          </a:p>
        </p:txBody>
      </p:sp>
      <p:sp>
        <p:nvSpPr>
          <p:cNvPr id="44" name="U10-042-cell-4-3">
            <a:extLst xmlns:a="http://schemas.openxmlformats.org/drawingml/2006/main">
              <a:ext uri="{FF2B5EF4-FFF2-40B4-BE49-F238E27FC236}">
                <a16:creationId xmlns:a16="http://schemas.microsoft.com/office/drawing/2014/main" id="{E10DA882-FF98-4D9F-BEB7-274A8D82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78142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45" name="U10-042-cell-text-4-3">
            <a:extLst xmlns:a="http://schemas.openxmlformats.org/drawingml/2006/main">
              <a:ext uri="{FF2B5EF4-FFF2-40B4-BE49-F238E27FC236}">
                <a16:creationId xmlns:a16="http://schemas.microsoft.com/office/drawing/2014/main" id="{FE00AE95-2D2F-402F-8AB7-B7F9B546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829050"/>
            <a:ext cx="403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f_L, f_c, f_H, pendientes y nivel</a:t>
            </a:r>
          </a:p>
        </p:txBody>
      </p:sp>
      <p:sp>
        <p:nvSpPr>
          <p:cNvPr id="4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F9CA968-C2A5-4301-940A-E3455A82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703C9C4D-1788-4369-8F1A-843B51E6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5041E3DA-112C-4A8A-9B31-4A01F0E4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3E56D8DC-C58A-4A80-A96C-5299B5BC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784979B6-D8CA-4B29-8EF1-34E39593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7F95BA-C8D0-4AFE-B200-75CC1039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señal elegiría y qué falta especificar?</a:t>
            </a:r>
          </a:p>
        </p:txBody>
      </p:sp>
      <p:sp>
        <p:nvSpPr>
          <p:cNvPr id="6" name="U10-DG-026-step_1-anchor">
            <a:extLst xmlns:a="http://schemas.openxmlformats.org/drawingml/2006/main">
              <a:ext uri="{FF2B5EF4-FFF2-40B4-BE49-F238E27FC236}">
                <a16:creationId xmlns:a16="http://schemas.microsoft.com/office/drawing/2014/main" id="{F3FFC2B8-D295-4AA0-B011-0E647EA8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26-step_2-anchor">
            <a:extLst xmlns:a="http://schemas.openxmlformats.org/drawingml/2006/main">
              <a:ext uri="{FF2B5EF4-FFF2-40B4-BE49-F238E27FC236}">
                <a16:creationId xmlns:a16="http://schemas.microsoft.com/office/drawing/2014/main" id="{648D8D28-6191-4D4D-A6F2-06C29B85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26-step_3-anchor">
            <a:extLst xmlns:a="http://schemas.openxmlformats.org/drawingml/2006/main">
              <a:ext uri="{FF2B5EF4-FFF2-40B4-BE49-F238E27FC236}">
                <a16:creationId xmlns:a16="http://schemas.microsoft.com/office/drawing/2014/main" id="{48F86450-395F-4C29-B6BF-9AE29770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26-step_4-anchor">
            <a:extLst xmlns:a="http://schemas.openxmlformats.org/drawingml/2006/main">
              <a:ext uri="{FF2B5EF4-FFF2-40B4-BE49-F238E27FC236}">
                <a16:creationId xmlns:a16="http://schemas.microsoft.com/office/drawing/2014/main" id="{0A2FE775-DDB9-463F-B882-A62810B5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26-step_5-anchor">
            <a:extLst xmlns:a="http://schemas.openxmlformats.org/drawingml/2006/main">
              <a:ext uri="{FF2B5EF4-FFF2-40B4-BE49-F238E27FC236}">
                <a16:creationId xmlns:a16="http://schemas.microsoft.com/office/drawing/2014/main" id="{23A2C495-5031-4D43-ABCA-EB366D97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U10-DG-026-flow_1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U10-DG-026-flow_2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10-DG-026-flow_3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10-DG-026-flow_4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10-DG-026-visual-alt" descr="Árbol para elegir señal de prueba. Objetivo; región espectral; ancho; tipo; parámetros faltantes. Orden de lectura: Preguntas en conectores de 1–3 palabras. ---">
            <a:extLst xmlns:a="http://schemas.openxmlformats.org/drawingml/2006/main">
              <a:ext uri="{FF2B5EF4-FFF2-40B4-BE49-F238E27FC236}">
                <a16:creationId xmlns:a16="http://schemas.microsoft.com/office/drawing/2014/main" id="{438FDA3A-E1D6-418F-81F9-E08891CC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6" name="U10-DG-026-step_1-text">
            <a:extLst xmlns:a="http://schemas.openxmlformats.org/drawingml/2006/main">
              <a:ext uri="{FF2B5EF4-FFF2-40B4-BE49-F238E27FC236}">
                <a16:creationId xmlns:a16="http://schemas.microsoft.com/office/drawing/2014/main" id="{9ADF024D-BEFB-40A2-AD12-DE82684A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¿Cuál es el objetivo?</a:t>
            </a:r>
          </a:p>
        </p:txBody>
      </p:sp>
      <p:sp>
        <p:nvSpPr>
          <p:cNvPr id="17" name="U10-DG-026-step_2-box">
            <a:extLst xmlns:a="http://schemas.openxmlformats.org/drawingml/2006/main">
              <a:ext uri="{FF2B5EF4-FFF2-40B4-BE49-F238E27FC236}">
                <a16:creationId xmlns:a16="http://schemas.microsoft.com/office/drawing/2014/main" id="{DD3F58FB-9F7B-4D75-88D1-FC26D190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8" name="U10-DG-026-step_2-text">
            <a:extLst xmlns:a="http://schemas.openxmlformats.org/drawingml/2006/main">
              <a:ext uri="{FF2B5EF4-FFF2-40B4-BE49-F238E27FC236}">
                <a16:creationId xmlns:a16="http://schemas.microsoft.com/office/drawing/2014/main" id="{309E8C54-A2E2-4066-AB02-DE7B99A1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¿Qué región</a:t>
            </a:r>
          </a:p>
        </p:txBody>
      </p:sp>
      <p:sp>
        <p:nvSpPr>
          <p:cNvPr id="19" name="U10-DG-026-step_3-box">
            <a:extLst xmlns:a="http://schemas.openxmlformats.org/drawingml/2006/main">
              <a:ext uri="{FF2B5EF4-FFF2-40B4-BE49-F238E27FC236}">
                <a16:creationId xmlns:a16="http://schemas.microsoft.com/office/drawing/2014/main" id="{2929F4EF-89CB-474C-81D7-E9AB45E8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0" name="U10-DG-026-step_3-text">
            <a:extLst xmlns:a="http://schemas.openxmlformats.org/drawingml/2006/main">
              <a:ext uri="{FF2B5EF4-FFF2-40B4-BE49-F238E27FC236}">
                <a16:creationId xmlns:a16="http://schemas.microsoft.com/office/drawing/2014/main" id="{99028259-C8CA-493E-9B4D-FD1F5E9B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¿Qué ancho de banda?</a:t>
            </a:r>
          </a:p>
        </p:txBody>
      </p:sp>
      <p:sp>
        <p:nvSpPr>
          <p:cNvPr id="21" name="U10-DG-026-step_4-box">
            <a:extLst xmlns:a="http://schemas.openxmlformats.org/drawingml/2006/main">
              <a:ext uri="{FF2B5EF4-FFF2-40B4-BE49-F238E27FC236}">
                <a16:creationId xmlns:a16="http://schemas.microsoft.com/office/drawing/2014/main" id="{34EA84CC-F064-4739-9968-7F11954A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2" name="U10-DG-026-step_4-text">
            <a:extLst xmlns:a="http://schemas.openxmlformats.org/drawingml/2006/main">
              <a:ext uri="{FF2B5EF4-FFF2-40B4-BE49-F238E27FC236}">
                <a16:creationId xmlns:a16="http://schemas.microsoft.com/office/drawing/2014/main" id="{3CDF1976-F3DB-45CE-A113-A4BBDF88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Elegir tipo de señal</a:t>
            </a:r>
          </a:p>
        </p:txBody>
      </p:sp>
      <p:sp>
        <p:nvSpPr>
          <p:cNvPr id="23" name="U10-DG-026-step_5-box">
            <a:extLst xmlns:a="http://schemas.openxmlformats.org/drawingml/2006/main">
              <a:ext uri="{FF2B5EF4-FFF2-40B4-BE49-F238E27FC236}">
                <a16:creationId xmlns:a16="http://schemas.microsoft.com/office/drawing/2014/main" id="{CEC42AC9-500E-499F-B0E6-4AE07423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4" name="U10-DG-026-step_5-text">
            <a:extLst xmlns:a="http://schemas.openxmlformats.org/drawingml/2006/main">
              <a:ext uri="{FF2B5EF4-FFF2-40B4-BE49-F238E27FC236}">
                <a16:creationId xmlns:a16="http://schemas.microsoft.com/office/drawing/2014/main" id="{EA1B2294-63FC-4C2D-9C89-00C9AAEF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Declarar nivel y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D4DA7512-C9BB-4D42-A0F6-7A04FC6B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Árbol para elegir señal de prueba. Objetivo; región espectral; ancho; tipo; parámetros faltantes.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7EF0728-D900-4879-B582-8A61B5F1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rail-1">
            <a:extLst xmlns:a="http://schemas.openxmlformats.org/drawingml/2006/main">
              <a:ext uri="{FF2B5EF4-FFF2-40B4-BE49-F238E27FC236}">
                <a16:creationId xmlns:a16="http://schemas.microsoft.com/office/drawing/2014/main" id="{AE834883-2690-47F8-83BA-CBF05C77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06170916-AA93-44DC-9340-3B768F2E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E4907244-57F6-439E-A3EA-2D79C794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9A5E198-4F4A-4F9B-9CEA-5D3B53B2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9B0C7E-0FA7-4A4E-BB6D-B0AAD5A7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Espectro, banda, nivel y procedimiento acompañan al nombre</a:t>
            </a:r>
          </a:p>
        </p:txBody>
      </p:sp>
      <p:sp>
        <p:nvSpPr>
          <p:cNvPr id="6" name="U10-DG-027-compare_1-anchor">
            <a:extLst xmlns:a="http://schemas.openxmlformats.org/drawingml/2006/main">
              <a:ext uri="{FF2B5EF4-FFF2-40B4-BE49-F238E27FC236}">
                <a16:creationId xmlns:a16="http://schemas.microsoft.com/office/drawing/2014/main" id="{0C09FF6C-C944-4F9B-B7D9-24F0780D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4469130" cy="1327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27-compare_2-anchor">
            <a:extLst xmlns:a="http://schemas.openxmlformats.org/drawingml/2006/main">
              <a:ext uri="{FF2B5EF4-FFF2-40B4-BE49-F238E27FC236}">
                <a16:creationId xmlns:a16="http://schemas.microsoft.com/office/drawing/2014/main" id="{00367F3A-6C35-4949-8A6E-B04DC675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691640"/>
            <a:ext cx="4469130" cy="1327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27-compare_3-anchor">
            <a:extLst xmlns:a="http://schemas.openxmlformats.org/drawingml/2006/main">
              <a:ext uri="{FF2B5EF4-FFF2-40B4-BE49-F238E27FC236}">
                <a16:creationId xmlns:a16="http://schemas.microsoft.com/office/drawing/2014/main" id="{384C1918-D23C-4FAB-B5E8-54FEECBC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119"/>
            <a:ext cx="4469130" cy="1327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27-compare_4-anchor">
            <a:extLst xmlns:a="http://schemas.openxmlformats.org/drawingml/2006/main">
              <a:ext uri="{FF2B5EF4-FFF2-40B4-BE49-F238E27FC236}">
                <a16:creationId xmlns:a16="http://schemas.microsoft.com/office/drawing/2014/main" id="{4E97DBC3-C6DF-43FF-B7D2-AF1CAE70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238119"/>
            <a:ext cx="4469130" cy="1327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27-visual-alt" descr="Tabla visual de familias. Blanco, rosa, habla, NBN; forma/uso/cautela. Orden de lectura: Sin conectores. ---">
            <a:extLst xmlns:a="http://schemas.openxmlformats.org/drawingml/2006/main">
              <a:ext uri="{FF2B5EF4-FFF2-40B4-BE49-F238E27FC236}">
                <a16:creationId xmlns:a16="http://schemas.microsoft.com/office/drawing/2014/main" id="{07345A2A-E6FD-4954-AA28-6C9C7338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4469130" cy="1327785"/>
          </a:xfrm>
          <a:prstGeom xmlns:a="http://schemas.openxmlformats.org/drawingml/2006/main" prst="roundRect">
            <a:avLst>
              <a:gd name="adj" fmla="val 502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1" name="U10-DG-027-compare_1-text">
            <a:extLst xmlns:a="http://schemas.openxmlformats.org/drawingml/2006/main">
              <a:ext uri="{FF2B5EF4-FFF2-40B4-BE49-F238E27FC236}">
                <a16:creationId xmlns:a16="http://schemas.microsoft.com/office/drawing/2014/main" id="{DB6650B1-BA0F-4896-A55D-CEE9DE46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4126230" cy="1080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Blanco · constante/Hz · prueba</a:t>
            </a:r>
          </a:p>
        </p:txBody>
      </p:sp>
      <p:sp>
        <p:nvSpPr>
          <p:cNvPr id="12" name="U10-DG-027-compare_2-box">
            <a:extLst xmlns:a="http://schemas.openxmlformats.org/drawingml/2006/main">
              <a:ext uri="{FF2B5EF4-FFF2-40B4-BE49-F238E27FC236}">
                <a16:creationId xmlns:a16="http://schemas.microsoft.com/office/drawing/2014/main" id="{BA3E805B-BDFB-4A1C-9913-A4A51369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691640"/>
            <a:ext cx="4469130" cy="1327785"/>
          </a:xfrm>
          <a:prstGeom xmlns:a="http://schemas.openxmlformats.org/drawingml/2006/main" prst="roundRect">
            <a:avLst>
              <a:gd name="adj" fmla="val 502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3" name="U10-DG-027-compare_2-text">
            <a:extLst xmlns:a="http://schemas.openxmlformats.org/drawingml/2006/main">
              <a:ext uri="{FF2B5EF4-FFF2-40B4-BE49-F238E27FC236}">
                <a16:creationId xmlns:a16="http://schemas.microsoft.com/office/drawing/2014/main" id="{1A05D7B8-C9C4-4A93-8297-E847DE04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815465"/>
            <a:ext cx="4126230" cy="1080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Rosa · constante/octava · prueba</a:t>
            </a:r>
          </a:p>
        </p:txBody>
      </p:sp>
      <p:sp>
        <p:nvSpPr>
          <p:cNvPr id="14" name="U10-DG-027-compare_3-box">
            <a:extLst xmlns:a="http://schemas.openxmlformats.org/drawingml/2006/main">
              <a:ext uri="{FF2B5EF4-FFF2-40B4-BE49-F238E27FC236}">
                <a16:creationId xmlns:a16="http://schemas.microsoft.com/office/drawing/2014/main" id="{4D35218D-4CA1-461B-9749-10CF5028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119"/>
            <a:ext cx="4469130" cy="1327785"/>
          </a:xfrm>
          <a:prstGeom xmlns:a="http://schemas.openxmlformats.org/drawingml/2006/main" prst="roundRect">
            <a:avLst>
              <a:gd name="adj" fmla="val 502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5" name="U10-DG-027-compare_3-text">
            <a:extLst xmlns:a="http://schemas.openxmlformats.org/drawingml/2006/main">
              <a:ext uri="{FF2B5EF4-FFF2-40B4-BE49-F238E27FC236}">
                <a16:creationId xmlns:a16="http://schemas.microsoft.com/office/drawing/2014/main" id="{3B56F73E-B486-4DF3-ACB8-69644FC2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61944"/>
            <a:ext cx="4126230" cy="1080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Forma de habla · contorno · comunicación</a:t>
            </a:r>
          </a:p>
        </p:txBody>
      </p:sp>
      <p:sp>
        <p:nvSpPr>
          <p:cNvPr id="16" name="U10-DG-027-compare_4-box">
            <a:extLst xmlns:a="http://schemas.openxmlformats.org/drawingml/2006/main">
              <a:ext uri="{FF2B5EF4-FFF2-40B4-BE49-F238E27FC236}">
                <a16:creationId xmlns:a16="http://schemas.microsoft.com/office/drawing/2014/main" id="{D1489173-18BB-454F-A59F-23D147C6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238119"/>
            <a:ext cx="4469130" cy="1327785"/>
          </a:xfrm>
          <a:prstGeom xmlns:a="http://schemas.openxmlformats.org/drawingml/2006/main" prst="roundRect">
            <a:avLst>
              <a:gd name="adj" fmla="val 5022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10-DG-027-compare_4-text">
            <a:extLst xmlns:a="http://schemas.openxmlformats.org/drawingml/2006/main">
              <a:ext uri="{FF2B5EF4-FFF2-40B4-BE49-F238E27FC236}">
                <a16:creationId xmlns:a16="http://schemas.microsoft.com/office/drawing/2014/main" id="{23F15D7C-97E2-4516-82EF-65DE23E4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361944"/>
            <a:ext cx="4126230" cy="1080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NBN · banda declarada · audiometría</a:t>
            </a:r>
          </a:p>
        </p:txBody>
      </p:sp>
      <p:sp>
        <p:nvSpPr>
          <p:cNvPr id="18" name="caption">
            <a:extLst xmlns:a="http://schemas.openxmlformats.org/drawingml/2006/main">
              <a:ext uri="{FF2B5EF4-FFF2-40B4-BE49-F238E27FC236}">
                <a16:creationId xmlns:a16="http://schemas.microsoft.com/office/drawing/2014/main" id="{12AC24EF-035A-45CB-ABA1-6BA7A751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Tabla visual de familias. Blanco, rosa, habla, NBN; forma/uso/cautela.</a:t>
            </a:r>
          </a:p>
        </p:txBody>
      </p:sp>
      <p:sp>
        <p:nvSpPr>
          <p:cNvPr id="1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2603D13-7997-462D-B6B7-39AD60B8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A6FEE93D-D51F-4D61-B4F4-0E6E74F8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10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848C7BB9-13EB-4A77-AC5F-820812B8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¿Qué pregunta responde cada número de una medición?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83AF98C1-28FA-4338-B040-947C0A53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Pregunta guía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234FC9C-6E6C-4E14-8C8A-50D115C8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rail-1">
            <a:extLst xmlns:a="http://schemas.openxmlformats.org/drawingml/2006/main">
              <a:ext uri="{FF2B5EF4-FFF2-40B4-BE49-F238E27FC236}">
                <a16:creationId xmlns:a16="http://schemas.microsoft.com/office/drawing/2014/main" id="{16EE7D9F-7247-4C08-9E9E-9A6F8C76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24114E7F-8599-4310-B2C9-51AE775B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FC4CC03E-0F85-4C8A-879C-FFE93B38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807BC9A-854A-4732-8367-FE7AB551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4553F8-C9AA-4FDF-96DE-C77CD531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Antes del número: señal, ponderación, detector e intervalo</a:t>
            </a:r>
          </a:p>
        </p:txBody>
      </p:sp>
      <p:sp>
        <p:nvSpPr>
          <p:cNvPr id="6" name="U10-DG-028-step_1-anchor">
            <a:extLst xmlns:a="http://schemas.openxmlformats.org/drawingml/2006/main">
              <a:ext uri="{FF2B5EF4-FFF2-40B4-BE49-F238E27FC236}">
                <a16:creationId xmlns:a16="http://schemas.microsoft.com/office/drawing/2014/main" id="{3E6D0103-014B-47D5-8D19-21F97428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28-step_2-anchor">
            <a:extLst xmlns:a="http://schemas.openxmlformats.org/drawingml/2006/main">
              <a:ext uri="{FF2B5EF4-FFF2-40B4-BE49-F238E27FC236}">
                <a16:creationId xmlns:a16="http://schemas.microsoft.com/office/drawing/2014/main" id="{F99358BF-70A8-44E7-A110-A16082B4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28-step_3-anchor">
            <a:extLst xmlns:a="http://schemas.openxmlformats.org/drawingml/2006/main">
              <a:ext uri="{FF2B5EF4-FFF2-40B4-BE49-F238E27FC236}">
                <a16:creationId xmlns:a16="http://schemas.microsoft.com/office/drawing/2014/main" id="{D9E4CE2E-6293-4DB7-A587-C2F80E0D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28-step_4-anchor">
            <a:extLst xmlns:a="http://schemas.openxmlformats.org/drawingml/2006/main">
              <a:ext uri="{FF2B5EF4-FFF2-40B4-BE49-F238E27FC236}">
                <a16:creationId xmlns:a16="http://schemas.microsoft.com/office/drawing/2014/main" id="{7B94FE8E-37FA-4990-9220-5CC1EE9D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28-step_5-anchor">
            <a:extLst xmlns:a="http://schemas.openxmlformats.org/drawingml/2006/main">
              <a:ext uri="{FF2B5EF4-FFF2-40B4-BE49-F238E27FC236}">
                <a16:creationId xmlns:a16="http://schemas.microsoft.com/office/drawing/2014/main" id="{4E19CCBE-0B2E-4BB5-8CB2-1D429FF7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28-step_6-anchor">
            <a:extLst xmlns:a="http://schemas.openxmlformats.org/drawingml/2006/main">
              <a:ext uri="{FF2B5EF4-FFF2-40B4-BE49-F238E27FC236}">
                <a16:creationId xmlns:a16="http://schemas.microsoft.com/office/drawing/2014/main" id="{448EA3E0-5ECB-4DFA-8732-207C6B4C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2" name="U10-DG-028-flow_1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10-DG-028-flow_2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4" name="U10-DG-028-flow_3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10-DG-028-flow_4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10-DG-028-flow_5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346710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7" name="U10-DG-028-visual-alt" descr="Cadena de medición. Fuente; micrófono; ponderación; detector; integración; indicador; metadatos. Orden de lectura: “transduce”, “pondera”, “integra”, “reporta”. ---">
            <a:extLst xmlns:a="http://schemas.openxmlformats.org/drawingml/2006/main">
              <a:ext uri="{FF2B5EF4-FFF2-40B4-BE49-F238E27FC236}">
                <a16:creationId xmlns:a16="http://schemas.microsoft.com/office/drawing/2014/main" id="{E5338111-9F97-4935-BAC9-B80A5670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28-step_1-text">
            <a:extLst xmlns:a="http://schemas.openxmlformats.org/drawingml/2006/main">
              <a:ext uri="{FF2B5EF4-FFF2-40B4-BE49-F238E27FC236}">
                <a16:creationId xmlns:a16="http://schemas.microsoft.com/office/drawing/2014/main" id="{4886D59B-C110-4F80-8387-2090A3C7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Fuente</a:t>
            </a:r>
          </a:p>
        </p:txBody>
      </p:sp>
      <p:sp>
        <p:nvSpPr>
          <p:cNvPr id="19" name="U10-DG-028-step_2-box">
            <a:extLst xmlns:a="http://schemas.openxmlformats.org/drawingml/2006/main">
              <a:ext uri="{FF2B5EF4-FFF2-40B4-BE49-F238E27FC236}">
                <a16:creationId xmlns:a16="http://schemas.microsoft.com/office/drawing/2014/main" id="{786AF90C-F938-4C11-93DC-F45BCBFB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0" name="U10-DG-028-step_2-text">
            <a:extLst xmlns:a="http://schemas.openxmlformats.org/drawingml/2006/main">
              <a:ext uri="{FF2B5EF4-FFF2-40B4-BE49-F238E27FC236}">
                <a16:creationId xmlns:a16="http://schemas.microsoft.com/office/drawing/2014/main" id="{57775396-1BB6-4AA5-B5D1-61DD34B9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Micrófono</a:t>
            </a:r>
          </a:p>
        </p:txBody>
      </p:sp>
      <p:sp>
        <p:nvSpPr>
          <p:cNvPr id="21" name="U10-DG-028-step_3-box">
            <a:extLst xmlns:a="http://schemas.openxmlformats.org/drawingml/2006/main">
              <a:ext uri="{FF2B5EF4-FFF2-40B4-BE49-F238E27FC236}">
                <a16:creationId xmlns:a16="http://schemas.microsoft.com/office/drawing/2014/main" id="{FBD0517D-4C45-4D70-97BB-5B0A91DD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2" name="U10-DG-028-step_3-text">
            <a:extLst xmlns:a="http://schemas.openxmlformats.org/drawingml/2006/main">
              <a:ext uri="{FF2B5EF4-FFF2-40B4-BE49-F238E27FC236}">
                <a16:creationId xmlns:a16="http://schemas.microsoft.com/office/drawing/2014/main" id="{DCB3DA9D-2418-4095-86D4-E979AA1C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Ponderación</a:t>
            </a:r>
          </a:p>
        </p:txBody>
      </p:sp>
      <p:sp>
        <p:nvSpPr>
          <p:cNvPr id="23" name="U10-DG-028-step_4-box">
            <a:extLst xmlns:a="http://schemas.openxmlformats.org/drawingml/2006/main">
              <a:ext uri="{FF2B5EF4-FFF2-40B4-BE49-F238E27FC236}">
                <a16:creationId xmlns:a16="http://schemas.microsoft.com/office/drawing/2014/main" id="{A1E78470-9ADE-4B6F-8CAD-4494C5F1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4" name="U10-DG-028-step_4-text">
            <a:extLst xmlns:a="http://schemas.openxmlformats.org/drawingml/2006/main">
              <a:ext uri="{FF2B5EF4-FFF2-40B4-BE49-F238E27FC236}">
                <a16:creationId xmlns:a16="http://schemas.microsoft.com/office/drawing/2014/main" id="{FE4F6D2E-7D83-46D8-B176-8693C184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Detector temporal</a:t>
            </a:r>
          </a:p>
        </p:txBody>
      </p:sp>
      <p:sp>
        <p:nvSpPr>
          <p:cNvPr id="25" name="U10-DG-028-step_5-box">
            <a:extLst xmlns:a="http://schemas.openxmlformats.org/drawingml/2006/main">
              <a:ext uri="{FF2B5EF4-FFF2-40B4-BE49-F238E27FC236}">
                <a16:creationId xmlns:a16="http://schemas.microsoft.com/office/drawing/2014/main" id="{A2DEB12A-8CDF-4A88-9A8F-203B4894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6" name="U10-DG-028-step_5-text">
            <a:extLst xmlns:a="http://schemas.openxmlformats.org/drawingml/2006/main">
              <a:ext uri="{FF2B5EF4-FFF2-40B4-BE49-F238E27FC236}">
                <a16:creationId xmlns:a16="http://schemas.microsoft.com/office/drawing/2014/main" id="{D451D3C3-1B5C-447D-80F0-5C06F621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Integración →</a:t>
            </a:r>
          </a:p>
        </p:txBody>
      </p:sp>
      <p:sp>
        <p:nvSpPr>
          <p:cNvPr id="27" name="U10-DG-028-step_6-box">
            <a:extLst xmlns:a="http://schemas.openxmlformats.org/drawingml/2006/main">
              <a:ext uri="{FF2B5EF4-FFF2-40B4-BE49-F238E27FC236}">
                <a16:creationId xmlns:a16="http://schemas.microsoft.com/office/drawing/2014/main" id="{2F0ED0D6-4D12-49E9-9814-5EED135D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8" name="U10-DG-028-step_6-text">
            <a:extLst xmlns:a="http://schemas.openxmlformats.org/drawingml/2006/main">
              <a:ext uri="{FF2B5EF4-FFF2-40B4-BE49-F238E27FC236}">
                <a16:creationId xmlns:a16="http://schemas.microsoft.com/office/drawing/2014/main" id="{85CBF232-A30D-46E3-80DC-D6180164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 · Metadatos obligatorios</a:t>
            </a:r>
          </a:p>
        </p:txBody>
      </p:sp>
      <p:sp>
        <p:nvSpPr>
          <p:cNvPr id="29" name="caption">
            <a:extLst xmlns:a="http://schemas.openxmlformats.org/drawingml/2006/main">
              <a:ext uri="{FF2B5EF4-FFF2-40B4-BE49-F238E27FC236}">
                <a16:creationId xmlns:a16="http://schemas.microsoft.com/office/drawing/2014/main" id="{CC44647B-A954-4569-8668-64092089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Cadena de medición. Fuente; micrófono; ponderación; detector; integración; indicador; metadatos.</a:t>
            </a:r>
          </a:p>
        </p:txBody>
      </p:sp>
      <p:sp>
        <p:nvSpPr>
          <p:cNvPr id="3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D41A1AD-E02C-4DB9-9877-AB61C242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-1">
            <a:extLst xmlns:a="http://schemas.openxmlformats.org/drawingml/2006/main">
              <a:ext uri="{FF2B5EF4-FFF2-40B4-BE49-F238E27FC236}">
                <a16:creationId xmlns:a16="http://schemas.microsoft.com/office/drawing/2014/main" id="{305DABAD-DEAD-4243-B4D2-7E84B629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A99C44AC-AA11-49CD-94BB-95A04888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FC58BE76-4F12-4E7C-AEEC-3B038F0D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718B473C-D9D3-4A52-A701-056F9A26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C5591C-A0C2-4483-B3BA-30290645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señal variable admite descriptores distintos</a:t>
            </a:r>
          </a:p>
        </p:txBody>
      </p:sp>
      <p:pic>
        <p:nvPicPr>
          <p:cNvPr id="17" name="U10-CH-011-chart" descr="El panel superior muestra presión con un impulso y marca el pico. El inferior muestra nivel Fast, máximo y nivel equivalente durante todo el intervalo. ---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ac6d24cb2546a7">
            <a:extLst>
              <a:ext uri="{96DAC541-7B7A-43D3-8B79-37D633B846F1}">
                <asvg:svgBlip xmlns:asvg="http://schemas.microsoft.com/office/drawing/2016/SVG/main" r:embed="Rfac2d810e4a94d4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9403C3DD-06C7-4795-BC59-8FD63A78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8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6BA9ADCB-BC28-46D0-8B43-B9411550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9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146930B5-8B03-4DAF-AE20-666D32BC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Sobre el mismo evento sintético: p_peak: mayor valor absoluto de la presión instantánea; L_max,F: mayor indicación del detector Fast (τ = 125 ms en este ejemplo);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151D881A-4982-44C1-B0B4-E90B3BFF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Presión de pico, nivel máximo con detector Fast y nivel equivalente responden preguntas diferentes sobre el mismo evento sintético.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795DC90-2999-49C7-B683-776E83F6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ail-1">
            <a:extLst xmlns:a="http://schemas.openxmlformats.org/drawingml/2006/main">
              <a:ext uri="{FF2B5EF4-FFF2-40B4-BE49-F238E27FC236}">
                <a16:creationId xmlns:a16="http://schemas.microsoft.com/office/drawing/2014/main" id="{FFB30270-768A-44DC-BC60-22CCC3D1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BFF6AAD0-9603-4EAE-A24F-640C5CF2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6EC27CC1-2204-41E6-A6DF-E6F0429A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514C669-6C8A-4684-842D-3435F5C6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7CEE2B-B414-4F62-9FE2-16D639CD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Máximo, pico e Impulse no son sinónimos</a:t>
            </a:r>
          </a:p>
        </p:txBody>
      </p:sp>
      <p:sp>
        <p:nvSpPr>
          <p:cNvPr id="6" name="U10-DG-029-compare_1-anchor">
            <a:extLst xmlns:a="http://schemas.openxmlformats.org/drawingml/2006/main">
              <a:ext uri="{FF2B5EF4-FFF2-40B4-BE49-F238E27FC236}">
                <a16:creationId xmlns:a16="http://schemas.microsoft.com/office/drawing/2014/main" id="{D3E3FCED-B48F-481C-98B2-60DA9A94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446913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29-compare_2-anchor">
            <a:extLst xmlns:a="http://schemas.openxmlformats.org/drawingml/2006/main">
              <a:ext uri="{FF2B5EF4-FFF2-40B4-BE49-F238E27FC236}">
                <a16:creationId xmlns:a16="http://schemas.microsoft.com/office/drawing/2014/main" id="{2CEF86DC-152B-46BD-966C-1F6ABDA2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691640"/>
            <a:ext cx="446913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29-compare_3-anchor">
            <a:extLst xmlns:a="http://schemas.openxmlformats.org/drawingml/2006/main">
              <a:ext uri="{FF2B5EF4-FFF2-40B4-BE49-F238E27FC236}">
                <a16:creationId xmlns:a16="http://schemas.microsoft.com/office/drawing/2014/main" id="{BE2CB98A-17D9-4184-A217-E7C87400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47594"/>
            <a:ext cx="446913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29-compare_4-anchor">
            <a:extLst xmlns:a="http://schemas.openxmlformats.org/drawingml/2006/main">
              <a:ext uri="{FF2B5EF4-FFF2-40B4-BE49-F238E27FC236}">
                <a16:creationId xmlns:a16="http://schemas.microsoft.com/office/drawing/2014/main" id="{DE8482AE-B715-4ABE-97D2-2F6595DE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2847594"/>
            <a:ext cx="446913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29-compare_5-anchor">
            <a:extLst xmlns:a="http://schemas.openxmlformats.org/drawingml/2006/main">
              <a:ext uri="{FF2B5EF4-FFF2-40B4-BE49-F238E27FC236}">
                <a16:creationId xmlns:a16="http://schemas.microsoft.com/office/drawing/2014/main" id="{2C10CB2D-7009-47D0-8944-9597A796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3548"/>
            <a:ext cx="446913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29-visual-alt" descr="Máximo frente a pico. Evento común; detector temporal; detector de pico; dos salidas. Orden de lectura: “aplica ponderación/constante”, “busca extremo”. ---">
            <a:extLst xmlns:a="http://schemas.openxmlformats.org/drawingml/2006/main">
              <a:ext uri="{FF2B5EF4-FFF2-40B4-BE49-F238E27FC236}">
                <a16:creationId xmlns:a16="http://schemas.microsoft.com/office/drawing/2014/main" id="{70277795-219A-499B-ADC5-8DB81FE2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4469130" cy="937260"/>
          </a:xfrm>
          <a:prstGeom xmlns:a="http://schemas.openxmlformats.org/drawingml/2006/main" prst="roundRect">
            <a:avLst>
              <a:gd name="adj" fmla="val 71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2" name="U10-DG-029-compare_1-text">
            <a:extLst xmlns:a="http://schemas.openxmlformats.org/drawingml/2006/main">
              <a:ext uri="{FF2B5EF4-FFF2-40B4-BE49-F238E27FC236}">
                <a16:creationId xmlns:a16="http://schemas.microsoft.com/office/drawing/2014/main" id="{5BE18C1E-5F42-40D5-A101-F1DF961E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4126230" cy="689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Evento común</a:t>
            </a:r>
          </a:p>
        </p:txBody>
      </p:sp>
      <p:sp>
        <p:nvSpPr>
          <p:cNvPr id="13" name="U10-DG-029-compare_2-box">
            <a:extLst xmlns:a="http://schemas.openxmlformats.org/drawingml/2006/main">
              <a:ext uri="{FF2B5EF4-FFF2-40B4-BE49-F238E27FC236}">
                <a16:creationId xmlns:a16="http://schemas.microsoft.com/office/drawing/2014/main" id="{98A66208-BF1A-4F82-82F1-217251CA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691640"/>
            <a:ext cx="4469130" cy="937260"/>
          </a:xfrm>
          <a:prstGeom xmlns:a="http://schemas.openxmlformats.org/drawingml/2006/main" prst="roundRect">
            <a:avLst>
              <a:gd name="adj" fmla="val 71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4" name="U10-DG-029-compare_2-text">
            <a:extLst xmlns:a="http://schemas.openxmlformats.org/drawingml/2006/main">
              <a:ext uri="{FF2B5EF4-FFF2-40B4-BE49-F238E27FC236}">
                <a16:creationId xmlns:a16="http://schemas.microsoft.com/office/drawing/2014/main" id="{919C2AEA-8F4D-4F0B-A9F1-7F75A9D6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815465"/>
            <a:ext cx="4126230" cy="689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Detector temporal</a:t>
            </a:r>
          </a:p>
        </p:txBody>
      </p:sp>
      <p:sp>
        <p:nvSpPr>
          <p:cNvPr id="15" name="U10-DG-029-compare_3-box">
            <a:extLst xmlns:a="http://schemas.openxmlformats.org/drawingml/2006/main">
              <a:ext uri="{FF2B5EF4-FFF2-40B4-BE49-F238E27FC236}">
                <a16:creationId xmlns:a16="http://schemas.microsoft.com/office/drawing/2014/main" id="{75D8C9D1-C260-4990-9482-655A1BC2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47594"/>
            <a:ext cx="4469130" cy="937260"/>
          </a:xfrm>
          <a:prstGeom xmlns:a="http://schemas.openxmlformats.org/drawingml/2006/main" prst="roundRect">
            <a:avLst>
              <a:gd name="adj" fmla="val 711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6" name="U10-DG-029-compare_3-text">
            <a:extLst xmlns:a="http://schemas.openxmlformats.org/drawingml/2006/main">
              <a:ext uri="{FF2B5EF4-FFF2-40B4-BE49-F238E27FC236}">
                <a16:creationId xmlns:a16="http://schemas.microsoft.com/office/drawing/2014/main" id="{B55EFFF7-3CBC-4D0B-8D79-F6769C10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419"/>
            <a:ext cx="4126230" cy="689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L_max</a:t>
            </a:r>
          </a:p>
        </p:txBody>
      </p:sp>
      <p:sp>
        <p:nvSpPr>
          <p:cNvPr id="17" name="U10-DG-029-compare_4-box">
            <a:extLst xmlns:a="http://schemas.openxmlformats.org/drawingml/2006/main">
              <a:ext uri="{FF2B5EF4-FFF2-40B4-BE49-F238E27FC236}">
                <a16:creationId xmlns:a16="http://schemas.microsoft.com/office/drawing/2014/main" id="{59499E15-C59F-4B21-B99D-A996D83A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2847594"/>
            <a:ext cx="4469130" cy="937260"/>
          </a:xfrm>
          <a:prstGeom xmlns:a="http://schemas.openxmlformats.org/drawingml/2006/main" prst="roundRect">
            <a:avLst>
              <a:gd name="adj" fmla="val 7114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8" name="U10-DG-029-compare_4-text">
            <a:extLst xmlns:a="http://schemas.openxmlformats.org/drawingml/2006/main">
              <a:ext uri="{FF2B5EF4-FFF2-40B4-BE49-F238E27FC236}">
                <a16:creationId xmlns:a16="http://schemas.microsoft.com/office/drawing/2014/main" id="{1BD534A4-8714-45A4-A814-A545B157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971419"/>
            <a:ext cx="4126230" cy="689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Detector de pico</a:t>
            </a:r>
          </a:p>
        </p:txBody>
      </p:sp>
      <p:sp>
        <p:nvSpPr>
          <p:cNvPr id="19" name="U10-DG-029-compare_5-box">
            <a:extLst xmlns:a="http://schemas.openxmlformats.org/drawingml/2006/main">
              <a:ext uri="{FF2B5EF4-FFF2-40B4-BE49-F238E27FC236}">
                <a16:creationId xmlns:a16="http://schemas.microsoft.com/office/drawing/2014/main" id="{030EE361-D745-4D6D-8B4F-8374D3F8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3548"/>
            <a:ext cx="4469130" cy="937260"/>
          </a:xfrm>
          <a:prstGeom xmlns:a="http://schemas.openxmlformats.org/drawingml/2006/main" prst="roundRect">
            <a:avLst>
              <a:gd name="adj" fmla="val 71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0" name="U10-DG-029-compare_5-text">
            <a:extLst xmlns:a="http://schemas.openxmlformats.org/drawingml/2006/main">
              <a:ext uri="{FF2B5EF4-FFF2-40B4-BE49-F238E27FC236}">
                <a16:creationId xmlns:a16="http://schemas.microsoft.com/office/drawing/2014/main" id="{30F7BD77-6ABC-4B14-B272-D4DF45C7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27373"/>
            <a:ext cx="4126230" cy="689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L_peak</a:t>
            </a:r>
          </a:p>
        </p:txBody>
      </p:sp>
      <p:sp>
        <p:nvSpPr>
          <p:cNvPr id="21" name="caption">
            <a:extLst xmlns:a="http://schemas.openxmlformats.org/drawingml/2006/main">
              <a:ext uri="{FF2B5EF4-FFF2-40B4-BE49-F238E27FC236}">
                <a16:creationId xmlns:a16="http://schemas.microsoft.com/office/drawing/2014/main" id="{95C71634-CE93-4954-BB30-D0B644CA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Máximo frente a pico. Evento común; detector temporal; detector de pico; dos salidas.</a:t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977E698-9A82-4277-83EA-86D3852F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3B4AF10A-30FA-4A4B-8AA4-7E60A7B7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3954DA60-BBE0-41CE-B400-17506411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7257425B-C051-4319-B9E6-F9A281F8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2C20D05A-B1ED-4E9D-A9CA-53AF4416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F8FF17-F27C-417A-9D59-C9127E46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Lₑq,T conserva el promedio cuadrático durante T</a:t>
            </a:r>
          </a:p>
        </p:txBody>
      </p:sp>
      <p:sp>
        <p:nvSpPr>
          <p:cNvPr id="6" name="U10-DG-030-equation-anchor">
            <a:extLst xmlns:a="http://schemas.openxmlformats.org/drawingml/2006/main">
              <a:ext uri="{FF2B5EF4-FFF2-40B4-BE49-F238E27FC236}">
                <a16:creationId xmlns:a16="http://schemas.microsoft.com/office/drawing/2014/main" id="{A2CD6E2A-F580-4B62-A03C-F7741FF3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30-callout_1-anchor">
            <a:extLst xmlns:a="http://schemas.openxmlformats.org/drawingml/2006/main">
              <a:ext uri="{FF2B5EF4-FFF2-40B4-BE49-F238E27FC236}">
                <a16:creationId xmlns:a16="http://schemas.microsoft.com/office/drawing/2014/main" id="{9E3876F8-99FA-4E87-B32F-1EC928E7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30-callout_2-anchor">
            <a:extLst xmlns:a="http://schemas.openxmlformats.org/drawingml/2006/main">
              <a:ext uri="{FF2B5EF4-FFF2-40B4-BE49-F238E27FC236}">
                <a16:creationId xmlns:a16="http://schemas.microsoft.com/office/drawing/2014/main" id="{FC924257-D0EC-4F71-B53B-B158107D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30-callout_3-anchor">
            <a:extLst xmlns:a="http://schemas.openxmlformats.org/drawingml/2006/main">
              <a:ext uri="{FF2B5EF4-FFF2-40B4-BE49-F238E27FC236}">
                <a16:creationId xmlns:a16="http://schemas.microsoft.com/office/drawing/2014/main" id="{4853F74C-2656-4A05-B65B-07BF249E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30-callout_4-anchor">
            <a:extLst xmlns:a="http://schemas.openxmlformats.org/drawingml/2006/main">
              <a:ext uri="{FF2B5EF4-FFF2-40B4-BE49-F238E27FC236}">
                <a16:creationId xmlns:a16="http://schemas.microsoft.com/office/drawing/2014/main" id="{39920DD6-CA95-4D0F-96C9-DA03FBB1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U10-DG-030-leader_1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60395" y="2004061"/>
            <a:ext cx="87630" cy="115204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U10-DG-030-leader_2"/>
          <p:cNvCxnSpPr>
            <a:stCxn xmlns:a="http://schemas.openxmlformats.org/drawingml/2006/main" id="8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8172450" y="1460183"/>
            <a:ext cx="2594610" cy="1695927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10-DG-030-leader_3"/>
          <p:cNvCxnSpPr>
            <a:stCxn xmlns:a="http://schemas.openxmlformats.org/drawingml/2006/main" id="9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160395" y="3156110"/>
            <a:ext cx="87630" cy="150352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10-DG-030-leader_4"/>
          <p:cNvCxnSpPr>
            <a:stCxn xmlns:a="http://schemas.openxmlformats.org/drawingml/2006/main" id="10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8172450" y="3156110"/>
            <a:ext cx="184785" cy="1503521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10-DG-030-visual-alt" descr="Significado de nivel equivalente. Evento variable; energía acumulada; nivel constante equivalente; intervalo T. Orden de lectura: “misma energía en T”. ---">
            <a:extLst xmlns:a="http://schemas.openxmlformats.org/drawingml/2006/main">
              <a:ext uri="{FF2B5EF4-FFF2-40B4-BE49-F238E27FC236}">
                <a16:creationId xmlns:a16="http://schemas.microsoft.com/office/drawing/2014/main" id="{5845D73F-F10A-4BD3-A410-1B792D4D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10-DG-030-equation-text">
            <a:extLst xmlns:a="http://schemas.openxmlformats.org/drawingml/2006/main">
              <a:ext uri="{FF2B5EF4-FFF2-40B4-BE49-F238E27FC236}">
                <a16:creationId xmlns:a16="http://schemas.microsoft.com/office/drawing/2014/main" id="{E1679E2B-E8D5-4102-A76B-5B65C02C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13673"/>
            <a:ext cx="465201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Lₑq,T ↔ mismo promedio cuadrático</a:t>
            </a:r>
          </a:p>
        </p:txBody>
      </p:sp>
      <p:sp>
        <p:nvSpPr>
          <p:cNvPr id="17" name="U10-DG-030-callout_1-box">
            <a:extLst xmlns:a="http://schemas.openxmlformats.org/drawingml/2006/main">
              <a:ext uri="{FF2B5EF4-FFF2-40B4-BE49-F238E27FC236}">
                <a16:creationId xmlns:a16="http://schemas.microsoft.com/office/drawing/2014/main" id="{9A347B46-4264-40E7-BF86-E2F09471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30-callout_1-text">
            <a:extLst xmlns:a="http://schemas.openxmlformats.org/drawingml/2006/main">
              <a:ext uri="{FF2B5EF4-FFF2-40B4-BE49-F238E27FC236}">
                <a16:creationId xmlns:a16="http://schemas.microsoft.com/office/drawing/2014/main" id="{411B357F-2142-4E6A-BF52-400F0046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Evento variable</a:t>
            </a:r>
          </a:p>
        </p:txBody>
      </p:sp>
      <p:sp>
        <p:nvSpPr>
          <p:cNvPr id="19" name="U10-DG-030-callout_2-box">
            <a:extLst xmlns:a="http://schemas.openxmlformats.org/drawingml/2006/main">
              <a:ext uri="{FF2B5EF4-FFF2-40B4-BE49-F238E27FC236}">
                <a16:creationId xmlns:a16="http://schemas.microsoft.com/office/drawing/2014/main" id="{46F4255B-6551-4870-A84B-C32924CD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0" name="U10-DG-030-callout_2-text">
            <a:extLst xmlns:a="http://schemas.openxmlformats.org/drawingml/2006/main">
              <a:ext uri="{FF2B5EF4-FFF2-40B4-BE49-F238E27FC236}">
                <a16:creationId xmlns:a16="http://schemas.microsoft.com/office/drawing/2014/main" id="{FF56B257-46C2-489E-889B-9D54F0BE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Energía acumulada en</a:t>
            </a:r>
          </a:p>
        </p:txBody>
      </p:sp>
      <p:sp>
        <p:nvSpPr>
          <p:cNvPr id="21" name="U10-DG-030-callout_3-box">
            <a:extLst xmlns:a="http://schemas.openxmlformats.org/drawingml/2006/main">
              <a:ext uri="{FF2B5EF4-FFF2-40B4-BE49-F238E27FC236}">
                <a16:creationId xmlns:a16="http://schemas.microsoft.com/office/drawing/2014/main" id="{25C96FE3-0D4C-4FCC-9917-AEC48EF7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2" name="U10-DG-030-callout_3-text">
            <a:extLst xmlns:a="http://schemas.openxmlformats.org/drawingml/2006/main">
              <a:ext uri="{FF2B5EF4-FFF2-40B4-BE49-F238E27FC236}">
                <a16:creationId xmlns:a16="http://schemas.microsoft.com/office/drawing/2014/main" id="{42144C8E-A244-4058-9E8F-93FE30AF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Nivel constante</a:t>
            </a:r>
          </a:p>
        </p:txBody>
      </p:sp>
      <p:sp>
        <p:nvSpPr>
          <p:cNvPr id="23" name="U10-DG-030-callout_4-box">
            <a:extLst xmlns:a="http://schemas.openxmlformats.org/drawingml/2006/main">
              <a:ext uri="{FF2B5EF4-FFF2-40B4-BE49-F238E27FC236}">
                <a16:creationId xmlns:a16="http://schemas.microsoft.com/office/drawing/2014/main" id="{354F2995-9753-4CBA-AD71-30F69D83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4" name="U10-DG-030-callout_4-text">
            <a:extLst xmlns:a="http://schemas.openxmlformats.org/drawingml/2006/main">
              <a:ext uri="{FF2B5EF4-FFF2-40B4-BE49-F238E27FC236}">
                <a16:creationId xmlns:a16="http://schemas.microsoft.com/office/drawing/2014/main" id="{815C2A53-462C-4EAB-B7A9-3202492B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Misma energía cuadrática en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EED1A859-72EC-4DF8-8878-C13E69C9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Significado de nivel equivalente. Evento variable; energía acumulada; nivel constante equivalente; intervalo T.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DC13063-5FB9-4A60-BDDF-FC7AC765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rail-1">
            <a:extLst xmlns:a="http://schemas.openxmlformats.org/drawingml/2006/main">
              <a:ext uri="{FF2B5EF4-FFF2-40B4-BE49-F238E27FC236}">
                <a16:creationId xmlns:a16="http://schemas.microsoft.com/office/drawing/2014/main" id="{2D30D6AC-2200-4F4A-B34F-AA6EE6F4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722471F6-C879-49D0-9E84-9F2400D0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1F487B53-03FF-4FC1-814E-FEE172FE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4D3C042-46E3-4BE6-BB21-C93B471E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445B24-6E88-403B-9D6E-5AD69200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Promediar 88, 92, 86 y 90 dB(A) no da un promedio común</a:t>
            </a:r>
          </a:p>
        </p:txBody>
      </p:sp>
      <p:sp>
        <p:nvSpPr>
          <p:cNvPr id="6" name="U10-DG-031-concept_1-anchor">
            <a:extLst xmlns:a="http://schemas.openxmlformats.org/drawingml/2006/main">
              <a:ext uri="{FF2B5EF4-FFF2-40B4-BE49-F238E27FC236}">
                <a16:creationId xmlns:a16="http://schemas.microsoft.com/office/drawing/2014/main" id="{1FD2D10A-2BFE-4CC4-B6CA-62F9D31D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31-concept_2-anchor">
            <a:extLst xmlns:a="http://schemas.openxmlformats.org/drawingml/2006/main">
              <a:ext uri="{FF2B5EF4-FFF2-40B4-BE49-F238E27FC236}">
                <a16:creationId xmlns:a16="http://schemas.microsoft.com/office/drawing/2014/main" id="{7443E011-C9EB-4DB2-B464-F6924A9D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31-concept_3-anchor">
            <a:extLst xmlns:a="http://schemas.openxmlformats.org/drawingml/2006/main">
              <a:ext uri="{FF2B5EF4-FFF2-40B4-BE49-F238E27FC236}">
                <a16:creationId xmlns:a16="http://schemas.microsoft.com/office/drawing/2014/main" id="{83ECF88B-DE44-443E-B51D-197EC79D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31-concept_4-anchor">
            <a:extLst xmlns:a="http://schemas.openxmlformats.org/drawingml/2006/main">
              <a:ext uri="{FF2B5EF4-FFF2-40B4-BE49-F238E27FC236}">
                <a16:creationId xmlns:a16="http://schemas.microsoft.com/office/drawing/2014/main" id="{463599AD-018D-43F0-9788-6D1D0FC8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31-concept_5-anchor">
            <a:extLst xmlns:a="http://schemas.openxmlformats.org/drawingml/2006/main">
              <a:ext uri="{FF2B5EF4-FFF2-40B4-BE49-F238E27FC236}">
                <a16:creationId xmlns:a16="http://schemas.microsoft.com/office/drawing/2014/main" id="{35300D45-B486-4E28-BB31-169A1405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31-concept_6-anchor">
            <a:extLst xmlns:a="http://schemas.openxmlformats.org/drawingml/2006/main">
              <a:ext uri="{FF2B5EF4-FFF2-40B4-BE49-F238E27FC236}">
                <a16:creationId xmlns:a16="http://schemas.microsoft.com/office/drawing/2014/main" id="{50344BE9-CFA8-469E-BE0F-5D2E8321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10-DG-031-visual-alt" descr="Seis etapas: cuatro intervalos de 15 minutos a 88, 92, 86 y 90 dB(A), seguidos por el promedio lineal energético y el resultado L_Aeq,1 h de aproximadamente 89,6 dB(A). ---">
            <a:extLst xmlns:a="http://schemas.openxmlformats.org/drawingml/2006/main">
              <a:ext uri="{FF2B5EF4-FFF2-40B4-BE49-F238E27FC236}">
                <a16:creationId xmlns:a16="http://schemas.microsoft.com/office/drawing/2014/main" id="{8A9EFC13-76BD-4747-A5D2-7EBBD773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3" name="U10-DG-031-concept_1-text">
            <a:extLst xmlns:a="http://schemas.openxmlformats.org/drawingml/2006/main">
              <a:ext uri="{FF2B5EF4-FFF2-40B4-BE49-F238E27FC236}">
                <a16:creationId xmlns:a16="http://schemas.microsoft.com/office/drawing/2014/main" id="{68FA6189-ED01-4B40-A54F-0DB3B202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15 min: 88 dB(A)</a:t>
            </a:r>
          </a:p>
        </p:txBody>
      </p:sp>
      <p:sp>
        <p:nvSpPr>
          <p:cNvPr id="14" name="U10-DG-031-concept_2-box">
            <a:extLst xmlns:a="http://schemas.openxmlformats.org/drawingml/2006/main">
              <a:ext uri="{FF2B5EF4-FFF2-40B4-BE49-F238E27FC236}">
                <a16:creationId xmlns:a16="http://schemas.microsoft.com/office/drawing/2014/main" id="{BE5DBFAF-88DD-40E2-949B-80718341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5" name="U10-DG-031-concept_2-text">
            <a:extLst xmlns:a="http://schemas.openxmlformats.org/drawingml/2006/main">
              <a:ext uri="{FF2B5EF4-FFF2-40B4-BE49-F238E27FC236}">
                <a16:creationId xmlns:a16="http://schemas.microsoft.com/office/drawing/2014/main" id="{E083D585-F7A0-4104-B9AC-D76600FD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15 min: 92 dB(A)</a:t>
            </a:r>
          </a:p>
        </p:txBody>
      </p:sp>
      <p:sp>
        <p:nvSpPr>
          <p:cNvPr id="16" name="U10-DG-031-concept_3-box">
            <a:extLst xmlns:a="http://schemas.openxmlformats.org/drawingml/2006/main">
              <a:ext uri="{FF2B5EF4-FFF2-40B4-BE49-F238E27FC236}">
                <a16:creationId xmlns:a16="http://schemas.microsoft.com/office/drawing/2014/main" id="{7DD3C58F-830B-4239-BECC-77DD8FF5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7" name="U10-DG-031-concept_3-text">
            <a:extLst xmlns:a="http://schemas.openxmlformats.org/drawingml/2006/main">
              <a:ext uri="{FF2B5EF4-FFF2-40B4-BE49-F238E27FC236}">
                <a16:creationId xmlns:a16="http://schemas.microsoft.com/office/drawing/2014/main" id="{BFA03A4D-E824-4400-803B-0D26E0FF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15 min: 86 dB(A)</a:t>
            </a:r>
          </a:p>
        </p:txBody>
      </p:sp>
      <p:sp>
        <p:nvSpPr>
          <p:cNvPr id="18" name="U10-DG-031-concept_4-box">
            <a:extLst xmlns:a="http://schemas.openxmlformats.org/drawingml/2006/main">
              <a:ext uri="{FF2B5EF4-FFF2-40B4-BE49-F238E27FC236}">
                <a16:creationId xmlns:a16="http://schemas.microsoft.com/office/drawing/2014/main" id="{219C1BE4-7255-4346-8B33-247F528E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9" name="U10-DG-031-concept_4-text">
            <a:extLst xmlns:a="http://schemas.openxmlformats.org/drawingml/2006/main">
              <a:ext uri="{FF2B5EF4-FFF2-40B4-BE49-F238E27FC236}">
                <a16:creationId xmlns:a16="http://schemas.microsoft.com/office/drawing/2014/main" id="{E0CA484E-38EA-4453-8F53-970B706D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15 min: 90 dB(A)</a:t>
            </a:r>
          </a:p>
        </p:txBody>
      </p:sp>
      <p:sp>
        <p:nvSpPr>
          <p:cNvPr id="20" name="U10-DG-031-concept_5-box">
            <a:extLst xmlns:a="http://schemas.openxmlformats.org/drawingml/2006/main">
              <a:ext uri="{FF2B5EF4-FFF2-40B4-BE49-F238E27FC236}">
                <a16:creationId xmlns:a16="http://schemas.microsoft.com/office/drawing/2014/main" id="{D5CAF700-7D7B-4A8D-ACB2-83726DBB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1" name="U10-DG-031-concept_5-text">
            <a:extLst xmlns:a="http://schemas.openxmlformats.org/drawingml/2006/main">
              <a:ext uri="{FF2B5EF4-FFF2-40B4-BE49-F238E27FC236}">
                <a16:creationId xmlns:a16="http://schemas.microsoft.com/office/drawing/2014/main" id="{2A9CF728-AF4C-4EC4-9DBF-0D700B31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Promedio lineal energético</a:t>
            </a:r>
          </a:p>
        </p:txBody>
      </p:sp>
      <p:sp>
        <p:nvSpPr>
          <p:cNvPr id="22" name="U10-DG-031-concept_6-box">
            <a:extLst xmlns:a="http://schemas.openxmlformats.org/drawingml/2006/main">
              <a:ext uri="{FF2B5EF4-FFF2-40B4-BE49-F238E27FC236}">
                <a16:creationId xmlns:a16="http://schemas.microsoft.com/office/drawing/2014/main" id="{3045FB23-72C7-4982-8FA4-C2A50158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3" name="U10-DG-031-concept_6-text">
            <a:extLst xmlns:a="http://schemas.openxmlformats.org/drawingml/2006/main">
              <a:ext uri="{FF2B5EF4-FFF2-40B4-BE49-F238E27FC236}">
                <a16:creationId xmlns:a16="http://schemas.microsoft.com/office/drawing/2014/main" id="{0C25FEB8-1921-48DE-A0E7-C6148352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Lₐeq,1 h ≈ 89,6 dB(A)</a:t>
            </a:r>
          </a:p>
        </p:txBody>
      </p:sp>
      <p:sp>
        <p:nvSpPr>
          <p:cNvPr id="24" name="caption">
            <a:extLst xmlns:a="http://schemas.openxmlformats.org/drawingml/2006/main">
              <a:ext uri="{FF2B5EF4-FFF2-40B4-BE49-F238E27FC236}">
                <a16:creationId xmlns:a16="http://schemas.microsoft.com/office/drawing/2014/main" id="{1B96BFD9-6B1E-4443-9ABA-A3FDA13E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Ejemplo de nivel equivalente para cuatro intervalos iguales: conversión lineal, promedio energético y retorno a decibeles.</a:t>
            </a:r>
          </a:p>
        </p:txBody>
      </p:sp>
      <p:sp>
        <p:nvSpPr>
          <p:cNvPr id="2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E939CD9-F0C2-429C-8E05-3711ACB3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-1">
            <a:extLst xmlns:a="http://schemas.openxmlformats.org/drawingml/2006/main">
              <a:ext uri="{FF2B5EF4-FFF2-40B4-BE49-F238E27FC236}">
                <a16:creationId xmlns:a16="http://schemas.microsoft.com/office/drawing/2014/main" id="{D1083059-5FE3-42BA-B65F-DB2FBD9B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0AC3F0D9-C0E5-41B0-8EC2-68EAC2F8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C146A2DC-E17D-4F15-B185-CB8C79B9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EE21AC85-98AD-464B-8D05-8E477272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7410972-8AB4-49BA-8F89-04A81CB9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L_10,T y L_90,T describen excedencia, no causas</a:t>
            </a:r>
          </a:p>
        </p:txBody>
      </p:sp>
      <p:pic>
        <p:nvPicPr>
          <p:cNvPr id="17" name="U10-CH-012-chart" descr="Curva monótona de excedencia de niveles A sintéticos, con líneas para L10 y L90. ---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d5178bd928496b">
            <a:extLst>
              <a:ext uri="{96DAC541-7B7A-43D3-8B79-37D633B846F1}">
                <asvg:svgBlip xmlns:asvg="http://schemas.microsoft.com/office/drawing/2016/SVG/main" r:embed="R21f2d901026f427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D5ACF2F9-F89D-495B-B3E7-97BD23F5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8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24ABAC77-708F-4342-B818-BC95F06B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9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C515CB22-81FF-4595-AA05-017A515A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L_N,T es el nivel excedido durante N % del intervalo T. L_10,T: nivel excedido durante 10 % de T; L_90,T: nivel excedido durante 90 % de T;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B3F5E98F-B6C5-436C-87B5-69B01B6C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 N,T es el nivel excedido durante N por ciento del intervalo; no equivale automáticamente a ruido de fondo.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BC30EB6-49B7-4614-B54C-59A59E25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rail-1">
            <a:extLst xmlns:a="http://schemas.openxmlformats.org/drawingml/2006/main">
              <a:ext uri="{FF2B5EF4-FFF2-40B4-BE49-F238E27FC236}">
                <a16:creationId xmlns:a16="http://schemas.microsoft.com/office/drawing/2014/main" id="{B163449D-8B86-45F4-A0F0-C223C64C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CDF3B8AC-92EC-4843-941A-AC226942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286100D5-BE8D-45F9-B2D6-8D348299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39428EE3-B1C5-48FA-923E-E39890E5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E8D39F-86BD-439E-A94A-17697CEC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Ruido de fondo y enmascarante cumplen funciones distintas</a:t>
            </a:r>
          </a:p>
        </p:txBody>
      </p:sp>
      <p:sp>
        <p:nvSpPr>
          <p:cNvPr id="6" name="U10-DG-032-concept_1-anchor">
            <a:extLst xmlns:a="http://schemas.openxmlformats.org/drawingml/2006/main">
              <a:ext uri="{FF2B5EF4-FFF2-40B4-BE49-F238E27FC236}">
                <a16:creationId xmlns:a16="http://schemas.microsoft.com/office/drawing/2014/main" id="{4AC297A0-5E90-45D0-89BD-D6399E3F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32-concept_2-anchor">
            <a:extLst xmlns:a="http://schemas.openxmlformats.org/drawingml/2006/main">
              <a:ext uri="{FF2B5EF4-FFF2-40B4-BE49-F238E27FC236}">
                <a16:creationId xmlns:a16="http://schemas.microsoft.com/office/drawing/2014/main" id="{7D223C20-49CD-4C48-B911-2A020FF5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6916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32-concept_3-anchor">
            <a:extLst xmlns:a="http://schemas.openxmlformats.org/drawingml/2006/main">
              <a:ext uri="{FF2B5EF4-FFF2-40B4-BE49-F238E27FC236}">
                <a16:creationId xmlns:a16="http://schemas.microsoft.com/office/drawing/2014/main" id="{137D1976-155E-40FE-A4C3-FB15D463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32-concept_4-anchor">
            <a:extLst xmlns:a="http://schemas.openxmlformats.org/drawingml/2006/main">
              <a:ext uri="{FF2B5EF4-FFF2-40B4-BE49-F238E27FC236}">
                <a16:creationId xmlns:a16="http://schemas.microsoft.com/office/drawing/2014/main" id="{94E24334-4989-4F00-B646-4773E7EC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394329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32-visual-alt" descr="Fondo, señal objetivo y enmascarador. Receptor central; tres capas acústicas; tarea. Orden de lectura: “se desea”, “interfiere”, “se agrega deliberadamente”. ---">
            <a:extLst xmlns:a="http://schemas.openxmlformats.org/drawingml/2006/main">
              <a:ext uri="{FF2B5EF4-FFF2-40B4-BE49-F238E27FC236}">
                <a16:creationId xmlns:a16="http://schemas.microsoft.com/office/drawing/2014/main" id="{9E78DA82-9B22-4B38-8D99-76A5237C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1" name="U10-DG-032-concept_1-text">
            <a:extLst xmlns:a="http://schemas.openxmlformats.org/drawingml/2006/main">
              <a:ext uri="{FF2B5EF4-FFF2-40B4-BE49-F238E27FC236}">
                <a16:creationId xmlns:a16="http://schemas.microsoft.com/office/drawing/2014/main" id="{CFABE82B-3E56-4BA4-9736-43F1F24A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Señal objetivo: se desea</a:t>
            </a:r>
          </a:p>
        </p:txBody>
      </p:sp>
      <p:sp>
        <p:nvSpPr>
          <p:cNvPr id="12" name="U10-DG-032-concept_2-box">
            <a:extLst xmlns:a="http://schemas.openxmlformats.org/drawingml/2006/main">
              <a:ext uri="{FF2B5EF4-FFF2-40B4-BE49-F238E27FC236}">
                <a16:creationId xmlns:a16="http://schemas.microsoft.com/office/drawing/2014/main" id="{EAA492F7-52AF-4486-A935-02E2F48F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6916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3" name="U10-DG-032-concept_2-text">
            <a:extLst xmlns:a="http://schemas.openxmlformats.org/drawingml/2006/main">
              <a:ext uri="{FF2B5EF4-FFF2-40B4-BE49-F238E27FC236}">
                <a16:creationId xmlns:a16="http://schemas.microsoft.com/office/drawing/2014/main" id="{7B0AC263-4CB7-464E-A15B-DE397517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18154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Ruido de fondo: interfiere</a:t>
            </a:r>
          </a:p>
        </p:txBody>
      </p:sp>
      <p:sp>
        <p:nvSpPr>
          <p:cNvPr id="14" name="U10-DG-032-concept_3-box">
            <a:extLst xmlns:a="http://schemas.openxmlformats.org/drawingml/2006/main">
              <a:ext uri="{FF2B5EF4-FFF2-40B4-BE49-F238E27FC236}">
                <a16:creationId xmlns:a16="http://schemas.microsoft.com/office/drawing/2014/main" id="{F601C782-9123-4896-A109-846C356C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5" name="U10-DG-032-concept_3-text">
            <a:extLst xmlns:a="http://schemas.openxmlformats.org/drawingml/2006/main">
              <a:ext uri="{FF2B5EF4-FFF2-40B4-BE49-F238E27FC236}">
                <a16:creationId xmlns:a16="http://schemas.microsoft.com/office/drawing/2014/main" id="{32A07262-D6E4-4149-AC5D-5A885A59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8154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Enmascarador: se agrega</a:t>
            </a:r>
          </a:p>
        </p:txBody>
      </p:sp>
      <p:sp>
        <p:nvSpPr>
          <p:cNvPr id="16" name="U10-DG-032-concept_4-box">
            <a:extLst xmlns:a="http://schemas.openxmlformats.org/drawingml/2006/main">
              <a:ext uri="{FF2B5EF4-FFF2-40B4-BE49-F238E27FC236}">
                <a16:creationId xmlns:a16="http://schemas.microsoft.com/office/drawing/2014/main" id="{AA7A58F1-0FCE-4DDC-B108-7C1FB332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394329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7" name="U10-DG-032-concept_4-text">
            <a:extLst xmlns:a="http://schemas.openxmlformats.org/drawingml/2006/main">
              <a:ext uri="{FF2B5EF4-FFF2-40B4-BE49-F238E27FC236}">
                <a16:creationId xmlns:a16="http://schemas.microsoft.com/office/drawing/2014/main" id="{09767C3B-0E32-42C0-B004-B1137131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3518154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Receptor y tarea</a:t>
            </a:r>
          </a:p>
        </p:txBody>
      </p:sp>
      <p:sp>
        <p:nvSpPr>
          <p:cNvPr id="18" name="caption">
            <a:extLst xmlns:a="http://schemas.openxmlformats.org/drawingml/2006/main">
              <a:ext uri="{FF2B5EF4-FFF2-40B4-BE49-F238E27FC236}">
                <a16:creationId xmlns:a16="http://schemas.microsoft.com/office/drawing/2014/main" id="{D3848FFE-87DC-401F-AF5A-22A5827D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Fondo, señal objetivo y enmascarador. Receptor central; tres capas acústicas; tarea.</a:t>
            </a:r>
          </a:p>
        </p:txBody>
      </p:sp>
      <p:sp>
        <p:nvSpPr>
          <p:cNvPr id="1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2E6942D-7D6D-4B9A-8FC9-5D0E3D53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1DA46174-8B69-406E-A909-67533AF9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5489FA4D-9147-4111-9AE4-860C6822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B4B76E46-1402-4DA5-9429-1FC04CF6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B91A25FB-3348-4572-B0DD-079D940F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7D2B2A-8EB0-4E5D-8E29-8F47A655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SNR compara niveles compatibles</a:t>
            </a:r>
          </a:p>
        </p:txBody>
      </p:sp>
      <p:sp>
        <p:nvSpPr>
          <p:cNvPr id="6" name="U10-DG-033-equation-anchor">
            <a:extLst xmlns:a="http://schemas.openxmlformats.org/drawingml/2006/main">
              <a:ext uri="{FF2B5EF4-FFF2-40B4-BE49-F238E27FC236}">
                <a16:creationId xmlns:a16="http://schemas.microsoft.com/office/drawing/2014/main" id="{C3185DE5-7A07-4C06-B434-CD1DC07F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33-callout_1-anchor">
            <a:extLst xmlns:a="http://schemas.openxmlformats.org/drawingml/2006/main">
              <a:ext uri="{FF2B5EF4-FFF2-40B4-BE49-F238E27FC236}">
                <a16:creationId xmlns:a16="http://schemas.microsoft.com/office/drawing/2014/main" id="{E0D412C1-FFA7-451B-A4FF-4BBB8736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33-callout_2-anchor">
            <a:extLst xmlns:a="http://schemas.openxmlformats.org/drawingml/2006/main">
              <a:ext uri="{FF2B5EF4-FFF2-40B4-BE49-F238E27FC236}">
                <a16:creationId xmlns:a16="http://schemas.microsoft.com/office/drawing/2014/main" id="{213B8B8F-D522-435F-A96F-3CCBBE3E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33-callout_3-anchor">
            <a:extLst xmlns:a="http://schemas.openxmlformats.org/drawingml/2006/main">
              <a:ext uri="{FF2B5EF4-FFF2-40B4-BE49-F238E27FC236}">
                <a16:creationId xmlns:a16="http://schemas.microsoft.com/office/drawing/2014/main" id="{22858D3F-E0DA-44C0-ABBE-B57E3654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33-callout_4-anchor">
            <a:extLst xmlns:a="http://schemas.openxmlformats.org/drawingml/2006/main">
              <a:ext uri="{FF2B5EF4-FFF2-40B4-BE49-F238E27FC236}">
                <a16:creationId xmlns:a16="http://schemas.microsoft.com/office/drawing/2014/main" id="{A2BF7038-DA72-4658-850D-1096432C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U10-DG-033-leader_1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60395" y="2004061"/>
            <a:ext cx="87630" cy="115204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U10-DG-033-leader_2"/>
          <p:cNvCxnSpPr>
            <a:stCxn xmlns:a="http://schemas.openxmlformats.org/drawingml/2006/main" id="8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8172450" y="1460183"/>
            <a:ext cx="2594610" cy="1695927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10-DG-033-leader_3"/>
          <p:cNvCxnSpPr>
            <a:stCxn xmlns:a="http://schemas.openxmlformats.org/drawingml/2006/main" id="9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160395" y="3156110"/>
            <a:ext cx="87630" cy="150352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10-DG-033-leader_4"/>
          <p:cNvCxnSpPr>
            <a:stCxn xmlns:a="http://schemas.openxmlformats.org/drawingml/2006/main" id="10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8172450" y="3156110"/>
            <a:ext cx="184785" cy="1503521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10-DG-033-visual-alt" descr="Ecuación de SNR. L_señal, L_ruido, diferencia y regla de signo. Orden de lectura: Callouts exteriores. ---">
            <a:extLst xmlns:a="http://schemas.openxmlformats.org/drawingml/2006/main">
              <a:ext uri="{FF2B5EF4-FFF2-40B4-BE49-F238E27FC236}">
                <a16:creationId xmlns:a16="http://schemas.microsoft.com/office/drawing/2014/main" id="{9260CDB8-6658-4ACE-BC8D-66AAAA9B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10-DG-033-equation-text">
            <a:extLst xmlns:a="http://schemas.openxmlformats.org/drawingml/2006/main">
              <a:ext uri="{FF2B5EF4-FFF2-40B4-BE49-F238E27FC236}">
                <a16:creationId xmlns:a16="http://schemas.microsoft.com/office/drawing/2014/main" id="{4DEC05A2-6E8E-4929-A640-E6BCB254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13673"/>
            <a:ext cx="465201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SNR = L(señal) − L(ruido)</a:t>
            </a:r>
          </a:p>
        </p:txBody>
      </p:sp>
      <p:sp>
        <p:nvSpPr>
          <p:cNvPr id="17" name="U10-DG-033-callout_1-box">
            <a:extLst xmlns:a="http://schemas.openxmlformats.org/drawingml/2006/main">
              <a:ext uri="{FF2B5EF4-FFF2-40B4-BE49-F238E27FC236}">
                <a16:creationId xmlns:a16="http://schemas.microsoft.com/office/drawing/2014/main" id="{7B96BBB1-FBF8-4509-A24D-4BF289F1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33-callout_1-text">
            <a:extLst xmlns:a="http://schemas.openxmlformats.org/drawingml/2006/main">
              <a:ext uri="{FF2B5EF4-FFF2-40B4-BE49-F238E27FC236}">
                <a16:creationId xmlns:a16="http://schemas.microsoft.com/office/drawing/2014/main" id="{D9E3FFA2-7861-4A20-A4A7-5F7AF00D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L(señal): nivel</a:t>
            </a:r>
          </a:p>
        </p:txBody>
      </p:sp>
      <p:sp>
        <p:nvSpPr>
          <p:cNvPr id="19" name="U10-DG-033-callout_2-box">
            <a:extLst xmlns:a="http://schemas.openxmlformats.org/drawingml/2006/main">
              <a:ext uri="{FF2B5EF4-FFF2-40B4-BE49-F238E27FC236}">
                <a16:creationId xmlns:a16="http://schemas.microsoft.com/office/drawing/2014/main" id="{2DEBA53F-376E-450C-9340-0B4F5347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0" name="U10-DG-033-callout_2-text">
            <a:extLst xmlns:a="http://schemas.openxmlformats.org/drawingml/2006/main">
              <a:ext uri="{FF2B5EF4-FFF2-40B4-BE49-F238E27FC236}">
                <a16:creationId xmlns:a16="http://schemas.microsoft.com/office/drawing/2014/main" id="{CE0DB9AA-79C4-4D58-BD73-AFC29A43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L(ruido): mismo lugar y</a:t>
            </a:r>
          </a:p>
        </p:txBody>
      </p:sp>
      <p:sp>
        <p:nvSpPr>
          <p:cNvPr id="21" name="U10-DG-033-callout_3-box">
            <a:extLst xmlns:a="http://schemas.openxmlformats.org/drawingml/2006/main">
              <a:ext uri="{FF2B5EF4-FFF2-40B4-BE49-F238E27FC236}">
                <a16:creationId xmlns:a16="http://schemas.microsoft.com/office/drawing/2014/main" id="{0A66A420-4546-402B-A050-B4F74286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2" name="U10-DG-033-callout_3-text">
            <a:extLst xmlns:a="http://schemas.openxmlformats.org/drawingml/2006/main">
              <a:ext uri="{FF2B5EF4-FFF2-40B4-BE49-F238E27FC236}">
                <a16:creationId xmlns:a16="http://schemas.microsoft.com/office/drawing/2014/main" id="{B575E493-A00D-451F-9178-BAD9A560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SNR &gt; 0: señal mayor</a:t>
            </a:r>
          </a:p>
        </p:txBody>
      </p:sp>
      <p:sp>
        <p:nvSpPr>
          <p:cNvPr id="23" name="U10-DG-033-callout_4-box">
            <a:extLst xmlns:a="http://schemas.openxmlformats.org/drawingml/2006/main">
              <a:ext uri="{FF2B5EF4-FFF2-40B4-BE49-F238E27FC236}">
                <a16:creationId xmlns:a16="http://schemas.microsoft.com/office/drawing/2014/main" id="{7383ED78-F6F6-49A2-879C-1087C9AF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4" name="U10-DG-033-callout_4-text">
            <a:extLst xmlns:a="http://schemas.openxmlformats.org/drawingml/2006/main">
              <a:ext uri="{FF2B5EF4-FFF2-40B4-BE49-F238E27FC236}">
                <a16:creationId xmlns:a16="http://schemas.microsoft.com/office/drawing/2014/main" id="{D965C919-BA87-491A-9456-E64DDC46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SNR &lt; 0: ruido mayor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AAFE1B5B-281A-4E1E-A257-0F8AFB77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Ecuación de SNR. L_señal, L_ruido, diferencia y regla de signo.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300C5E4-3051-4FC0-807D-307E90E2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-1">
            <a:extLst xmlns:a="http://schemas.openxmlformats.org/drawingml/2006/main">
              <a:ext uri="{FF2B5EF4-FFF2-40B4-BE49-F238E27FC236}">
                <a16:creationId xmlns:a16="http://schemas.microsoft.com/office/drawing/2014/main" id="{6B69EA6A-1CBE-4D6B-874E-D8B95A90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4F83778D-C905-418E-B412-7C0D268A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5EDDFC4F-1F3D-4116-9429-F777529F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D4B231D-0300-4448-B7C7-B2BEA7C4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DA273E-16A6-43FD-8519-71A58D9F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señal permanece; cambia la escala del ruido</a:t>
            </a:r>
          </a:p>
        </p:txBody>
      </p:sp>
      <p:pic>
        <p:nvPicPr>
          <p:cNvPr id="17" name="U10-CH-013-chart" descr="Tres paneles temporales con ejes comunes muestran mezclas sintéticas con SNR más 12, cero y menos 6 dB. ---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f9074168874cb2">
            <a:extLst>
              <a:ext uri="{96DAC541-7B7A-43D3-8B79-37D633B846F1}">
                <asvg:svgBlip xmlns:asvg="http://schemas.microsoft.com/office/drawing/2016/SVG/main" r:embed="R5976b6736f0d4a7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E5DBA13C-39C8-4E0D-BFCA-A4A2F92C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8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48DFFD76-4E9C-4C52-974C-04F34770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9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A3F3CE56-BA31-463D-86D3-7E2B71AA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 los tres paneles se mantienen: la señal objetivo; la realización temporal del ruido;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8DA6ADD4-DE0C-46D2-9C4A-125C1F3D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misma señal y la misma realización de ruido se combinan con SNR de más 12, cero y menos 6 decibeles.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C394D17-E190-4838-A950-5DD20CC3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rail-1">
            <a:extLst xmlns:a="http://schemas.openxmlformats.org/drawingml/2006/main">
              <a:ext uri="{FF2B5EF4-FFF2-40B4-BE49-F238E27FC236}">
                <a16:creationId xmlns:a16="http://schemas.microsoft.com/office/drawing/2014/main" id="{E0CF25B9-5F03-4662-976F-377CDDCA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03A7D503-9966-4DD7-AF7A-738EF033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32AA6385-BBD6-4899-B8C0-50E01992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280AEF7-4031-4D1E-A78C-7622D80E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4303FA-B5F9-44A9-93C9-766E6680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SNR ayuda, pero no predice sola la inteligibilidad</a:t>
            </a:r>
          </a:p>
        </p:txBody>
      </p:sp>
      <p:sp>
        <p:nvSpPr>
          <p:cNvPr id="6" name="U10-DG-034-source-anchor">
            <a:extLst xmlns:a="http://schemas.openxmlformats.org/drawingml/2006/main">
              <a:ext uri="{FF2B5EF4-FFF2-40B4-BE49-F238E27FC236}">
                <a16:creationId xmlns:a16="http://schemas.microsoft.com/office/drawing/2014/main" id="{6A7BE911-B31F-412A-8AC7-5308E671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433638"/>
            <a:ext cx="2409825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34-path_top-anchor">
            <a:extLst xmlns:a="http://schemas.openxmlformats.org/drawingml/2006/main">
              <a:ext uri="{FF2B5EF4-FFF2-40B4-BE49-F238E27FC236}">
                <a16:creationId xmlns:a16="http://schemas.microsoft.com/office/drawing/2014/main" id="{79577681-32C5-444A-8192-55DA2594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6601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34-path_bottom-anchor">
            <a:extLst xmlns:a="http://schemas.openxmlformats.org/drawingml/2006/main">
              <a:ext uri="{FF2B5EF4-FFF2-40B4-BE49-F238E27FC236}">
                <a16:creationId xmlns:a16="http://schemas.microsoft.com/office/drawing/2014/main" id="{E171FCD5-5302-441E-88DA-B1632615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44265"/>
            <a:ext cx="236601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34-space-anchor">
            <a:extLst xmlns:a="http://schemas.openxmlformats.org/drawingml/2006/main">
              <a:ext uri="{FF2B5EF4-FFF2-40B4-BE49-F238E27FC236}">
                <a16:creationId xmlns:a16="http://schemas.microsoft.com/office/drawing/2014/main" id="{BD281297-5380-4F41-A67D-144CDB40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0" y="2433638"/>
            <a:ext cx="219075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34-receiver-anchor">
            <a:extLst xmlns:a="http://schemas.openxmlformats.org/drawingml/2006/main">
              <a:ext uri="{FF2B5EF4-FFF2-40B4-BE49-F238E27FC236}">
                <a16:creationId xmlns:a16="http://schemas.microsoft.com/office/drawing/2014/main" id="{64D418A6-7EEC-48C4-BA60-B4CA4FCD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433638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34-condition-anchor">
            <a:extLst xmlns:a="http://schemas.openxmlformats.org/drawingml/2006/main">
              <a:ext uri="{FF2B5EF4-FFF2-40B4-BE49-F238E27FC236}">
                <a16:creationId xmlns:a16="http://schemas.microsoft.com/office/drawing/2014/main" id="{AAADFAE7-762F-46FE-991E-9D58BA31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815840"/>
            <a:ext cx="5476875" cy="546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2" name="U10-DG-034-route_1a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177540" y="1577340"/>
            <a:ext cx="2594610" cy="140303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10-DG-034-route_1b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57850" y="2140744"/>
            <a:ext cx="262890" cy="83962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4" name="U10-DG-034-route_2a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77540" y="2980373"/>
            <a:ext cx="2594610" cy="16764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10-DG-034-route_2b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5657850" y="2980373"/>
            <a:ext cx="26289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10-DG-034-route_3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111490" y="2980373"/>
            <a:ext cx="30670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7" name="U10-DG-034-visual-alt" descr="Palancas de SNR en comunicación. Fuente vocal; distancia; ruido; oyente; tratamiento/control. Orden de lectura: “aumenta señal”, “reduce ruido”, “modifica tarea”. ---">
            <a:extLst xmlns:a="http://schemas.openxmlformats.org/drawingml/2006/main">
              <a:ext uri="{FF2B5EF4-FFF2-40B4-BE49-F238E27FC236}">
                <a16:creationId xmlns:a16="http://schemas.microsoft.com/office/drawing/2014/main" id="{DBC71A35-B3A2-4C50-AEEE-EDFC1BD4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433638"/>
            <a:ext cx="2409825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34-source-text">
            <a:extLst xmlns:a="http://schemas.openxmlformats.org/drawingml/2006/main">
              <a:ext uri="{FF2B5EF4-FFF2-40B4-BE49-F238E27FC236}">
                <a16:creationId xmlns:a16="http://schemas.microsoft.com/office/drawing/2014/main" id="{08DC7D5B-464E-4398-A787-5628A9A2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2557463"/>
            <a:ext cx="2066925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Fuente vocal</a:t>
            </a:r>
          </a:p>
        </p:txBody>
      </p:sp>
      <p:sp>
        <p:nvSpPr>
          <p:cNvPr id="19" name="U10-DG-034-path_top-box">
            <a:extLst xmlns:a="http://schemas.openxmlformats.org/drawingml/2006/main">
              <a:ext uri="{FF2B5EF4-FFF2-40B4-BE49-F238E27FC236}">
                <a16:creationId xmlns:a16="http://schemas.microsoft.com/office/drawing/2014/main" id="{A78B16C2-5A98-4446-A747-03812540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6601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0" name="U10-DG-034-path_top-text">
            <a:extLst xmlns:a="http://schemas.openxmlformats.org/drawingml/2006/main">
              <a:ext uri="{FF2B5EF4-FFF2-40B4-BE49-F238E27FC236}">
                <a16:creationId xmlns:a16="http://schemas.microsoft.com/office/drawing/2014/main" id="{6AE65EFB-D8B5-44A4-A206-CA7280E9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1815465"/>
            <a:ext cx="202311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Reducir distancia</a:t>
            </a:r>
          </a:p>
        </p:txBody>
      </p:sp>
      <p:sp>
        <p:nvSpPr>
          <p:cNvPr id="21" name="U10-DG-034-path_bottom-box">
            <a:extLst xmlns:a="http://schemas.openxmlformats.org/drawingml/2006/main">
              <a:ext uri="{FF2B5EF4-FFF2-40B4-BE49-F238E27FC236}">
                <a16:creationId xmlns:a16="http://schemas.microsoft.com/office/drawing/2014/main" id="{6454C32A-64AF-4BB7-92FD-83C0BF05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44265"/>
            <a:ext cx="236601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2" name="U10-DG-034-path_bottom-text">
            <a:extLst xmlns:a="http://schemas.openxmlformats.org/drawingml/2006/main">
              <a:ext uri="{FF2B5EF4-FFF2-40B4-BE49-F238E27FC236}">
                <a16:creationId xmlns:a16="http://schemas.microsoft.com/office/drawing/2014/main" id="{14A8C63E-AC17-4AFA-BB67-70F20AF0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3768090"/>
            <a:ext cx="202311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Reducir ruido</a:t>
            </a:r>
          </a:p>
        </p:txBody>
      </p:sp>
      <p:sp>
        <p:nvSpPr>
          <p:cNvPr id="23" name="U10-DG-034-space-box">
            <a:extLst xmlns:a="http://schemas.openxmlformats.org/drawingml/2006/main">
              <a:ext uri="{FF2B5EF4-FFF2-40B4-BE49-F238E27FC236}">
                <a16:creationId xmlns:a16="http://schemas.microsoft.com/office/drawing/2014/main" id="{D753A923-8A6D-499E-A8BE-DF5D2201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0" y="2433638"/>
            <a:ext cx="219075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4" name="U10-DG-034-space-text">
            <a:extLst xmlns:a="http://schemas.openxmlformats.org/drawingml/2006/main">
              <a:ext uri="{FF2B5EF4-FFF2-40B4-BE49-F238E27FC236}">
                <a16:creationId xmlns:a16="http://schemas.microsoft.com/office/drawing/2014/main" id="{F07F87F4-F096-453B-BF74-EE647687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190" y="2557463"/>
            <a:ext cx="184785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Oyente</a:t>
            </a:r>
          </a:p>
        </p:txBody>
      </p:sp>
      <p:sp>
        <p:nvSpPr>
          <p:cNvPr id="25" name="U10-DG-034-receiver-box">
            <a:extLst xmlns:a="http://schemas.openxmlformats.org/drawingml/2006/main">
              <a:ext uri="{FF2B5EF4-FFF2-40B4-BE49-F238E27FC236}">
                <a16:creationId xmlns:a16="http://schemas.microsoft.com/office/drawing/2014/main" id="{CFE02F00-E621-4E98-B549-8DE63BD9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433638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6" name="U10-DG-034-receiver-text">
            <a:extLst xmlns:a="http://schemas.openxmlformats.org/drawingml/2006/main">
              <a:ext uri="{FF2B5EF4-FFF2-40B4-BE49-F238E27FC236}">
                <a16:creationId xmlns:a16="http://schemas.microsoft.com/office/drawing/2014/main" id="{C164F603-E33C-4587-80BC-38DD776F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557463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Tratamiento del recinto</a:t>
            </a:r>
          </a:p>
        </p:txBody>
      </p:sp>
      <p:sp>
        <p:nvSpPr>
          <p:cNvPr id="27" name="U10-DG-034-condition-box">
            <a:extLst xmlns:a="http://schemas.openxmlformats.org/drawingml/2006/main">
              <a:ext uri="{FF2B5EF4-FFF2-40B4-BE49-F238E27FC236}">
                <a16:creationId xmlns:a16="http://schemas.microsoft.com/office/drawing/2014/main" id="{FA6E57B3-EEC3-4B91-AAC0-B98FDE6E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815840"/>
            <a:ext cx="5476875" cy="546735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8" name="U10-DG-034-condition-text">
            <a:extLst xmlns:a="http://schemas.openxmlformats.org/drawingml/2006/main">
              <a:ext uri="{FF2B5EF4-FFF2-40B4-BE49-F238E27FC236}">
                <a16:creationId xmlns:a16="http://schemas.microsoft.com/office/drawing/2014/main" id="{4BAF7A3D-7E53-4716-97F0-2142EAA5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4939665"/>
            <a:ext cx="5133975" cy="299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SNR no garantiza inteligibilidad</a:t>
            </a:r>
          </a:p>
        </p:txBody>
      </p:sp>
      <p:sp>
        <p:nvSpPr>
          <p:cNvPr id="29" name="caption">
            <a:extLst xmlns:a="http://schemas.openxmlformats.org/drawingml/2006/main">
              <a:ext uri="{FF2B5EF4-FFF2-40B4-BE49-F238E27FC236}">
                <a16:creationId xmlns:a16="http://schemas.microsoft.com/office/drawing/2014/main" id="{6C042D4B-5CD3-423C-9B01-FAE87416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Palancas de SNR en comunicación. Fuente vocal; distancia; ruido; oyente; tratamiento/control.</a:t>
            </a:r>
          </a:p>
        </p:txBody>
      </p:sp>
      <p:sp>
        <p:nvSpPr>
          <p:cNvPr id="3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CF06B50-667B-470A-83B4-B23EBBC6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rail-1">
            <a:extLst xmlns:a="http://schemas.openxmlformats.org/drawingml/2006/main">
              <a:ext uri="{FF2B5EF4-FFF2-40B4-BE49-F238E27FC236}">
                <a16:creationId xmlns:a16="http://schemas.microsoft.com/office/drawing/2014/main" id="{D4211553-6188-43AC-A5B2-84312273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FCC83213-87E9-407F-A777-53A35C83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42F97AF7-CD96-44DC-86C9-CC47AB19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851B5165-F7A8-49A3-AE43-DC55FB3C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A722D95-6320-420D-8EFD-A789E031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Descriptor, configuración, intervalo y pregunta deben coincidir</a:t>
            </a:r>
          </a:p>
        </p:txBody>
      </p:sp>
      <p:sp>
        <p:nvSpPr>
          <p:cNvPr id="6" name="U10-DG-035-compare_1-anchor">
            <a:extLst xmlns:a="http://schemas.openxmlformats.org/drawingml/2006/main">
              <a:ext uri="{FF2B5EF4-FFF2-40B4-BE49-F238E27FC236}">
                <a16:creationId xmlns:a16="http://schemas.microsoft.com/office/drawing/2014/main" id="{779FD38E-E227-4F88-9C8A-BF9DCA47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446913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35-compare_2-anchor">
            <a:extLst xmlns:a="http://schemas.openxmlformats.org/drawingml/2006/main">
              <a:ext uri="{FF2B5EF4-FFF2-40B4-BE49-F238E27FC236}">
                <a16:creationId xmlns:a16="http://schemas.microsoft.com/office/drawing/2014/main" id="{02717D26-75D2-4470-BC34-FF5B0786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691640"/>
            <a:ext cx="446913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35-compare_3-anchor">
            <a:extLst xmlns:a="http://schemas.openxmlformats.org/drawingml/2006/main">
              <a:ext uri="{FF2B5EF4-FFF2-40B4-BE49-F238E27FC236}">
                <a16:creationId xmlns:a16="http://schemas.microsoft.com/office/drawing/2014/main" id="{3B6AD9C6-0F79-49DD-B91A-919D3DAE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47594"/>
            <a:ext cx="446913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35-compare_4-anchor">
            <a:extLst xmlns:a="http://schemas.openxmlformats.org/drawingml/2006/main">
              <a:ext uri="{FF2B5EF4-FFF2-40B4-BE49-F238E27FC236}">
                <a16:creationId xmlns:a16="http://schemas.microsoft.com/office/drawing/2014/main" id="{957E8A90-E41C-46E8-B905-663FC63F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2847594"/>
            <a:ext cx="446913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35-compare_5-anchor">
            <a:extLst xmlns:a="http://schemas.openxmlformats.org/drawingml/2006/main">
              <a:ext uri="{FF2B5EF4-FFF2-40B4-BE49-F238E27FC236}">
                <a16:creationId xmlns:a16="http://schemas.microsoft.com/office/drawing/2014/main" id="{8B82D31B-A7AC-4CE1-8A82-6B47CAD9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3548"/>
            <a:ext cx="446913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35-compare_6-anchor">
            <a:extLst xmlns:a="http://schemas.openxmlformats.org/drawingml/2006/main">
              <a:ext uri="{FF2B5EF4-FFF2-40B4-BE49-F238E27FC236}">
                <a16:creationId xmlns:a16="http://schemas.microsoft.com/office/drawing/2014/main" id="{221912D9-763D-417D-A8AC-7D9FBAF6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4003548"/>
            <a:ext cx="446913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10-DG-035-visual-alt" descr="Selector de descriptor. Preguntas sobre instante/extremo/energía/distribución/contraste; salidas. Orden de lectura: Pregunta → indicador. ---">
            <a:extLst xmlns:a="http://schemas.openxmlformats.org/drawingml/2006/main">
              <a:ext uri="{FF2B5EF4-FFF2-40B4-BE49-F238E27FC236}">
                <a16:creationId xmlns:a16="http://schemas.microsoft.com/office/drawing/2014/main" id="{863B41C3-386A-4633-B234-5F2472F5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4469130" cy="937260"/>
          </a:xfrm>
          <a:prstGeom xmlns:a="http://schemas.openxmlformats.org/drawingml/2006/main" prst="roundRect">
            <a:avLst>
              <a:gd name="adj" fmla="val 71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3" name="U10-DG-035-compare_1-text">
            <a:extLst xmlns:a="http://schemas.openxmlformats.org/drawingml/2006/main">
              <a:ext uri="{FF2B5EF4-FFF2-40B4-BE49-F238E27FC236}">
                <a16:creationId xmlns:a16="http://schemas.microsoft.com/office/drawing/2014/main" id="{84B008D7-F011-4837-84BB-42B83854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4126230" cy="689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¿Nivel en cada instante? → L(t)</a:t>
            </a:r>
          </a:p>
        </p:txBody>
      </p:sp>
      <p:sp>
        <p:nvSpPr>
          <p:cNvPr id="14" name="U10-DG-035-compare_2-box">
            <a:extLst xmlns:a="http://schemas.openxmlformats.org/drawingml/2006/main">
              <a:ext uri="{FF2B5EF4-FFF2-40B4-BE49-F238E27FC236}">
                <a16:creationId xmlns:a16="http://schemas.microsoft.com/office/drawing/2014/main" id="{70CCA7FB-6394-4495-95F2-DB1659E6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691640"/>
            <a:ext cx="4469130" cy="937260"/>
          </a:xfrm>
          <a:prstGeom xmlns:a="http://schemas.openxmlformats.org/drawingml/2006/main" prst="roundRect">
            <a:avLst>
              <a:gd name="adj" fmla="val 71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5" name="U10-DG-035-compare_2-text">
            <a:extLst xmlns:a="http://schemas.openxmlformats.org/drawingml/2006/main">
              <a:ext uri="{FF2B5EF4-FFF2-40B4-BE49-F238E27FC236}">
                <a16:creationId xmlns:a16="http://schemas.microsoft.com/office/drawing/2014/main" id="{E6D420F4-F9ED-40E0-AA5C-FECF9DC6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815465"/>
            <a:ext cx="4126230" cy="689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¿Extremo con detector? → L_max</a:t>
            </a:r>
          </a:p>
        </p:txBody>
      </p:sp>
      <p:sp>
        <p:nvSpPr>
          <p:cNvPr id="16" name="U10-DG-035-compare_3-box">
            <a:extLst xmlns:a="http://schemas.openxmlformats.org/drawingml/2006/main">
              <a:ext uri="{FF2B5EF4-FFF2-40B4-BE49-F238E27FC236}">
                <a16:creationId xmlns:a16="http://schemas.microsoft.com/office/drawing/2014/main" id="{72E5BD83-6712-4DD1-BA7C-292B673C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47594"/>
            <a:ext cx="4469130" cy="937260"/>
          </a:xfrm>
          <a:prstGeom xmlns:a="http://schemas.openxmlformats.org/drawingml/2006/main" prst="roundRect">
            <a:avLst>
              <a:gd name="adj" fmla="val 711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7" name="U10-DG-035-compare_3-text">
            <a:extLst xmlns:a="http://schemas.openxmlformats.org/drawingml/2006/main">
              <a:ext uri="{FF2B5EF4-FFF2-40B4-BE49-F238E27FC236}">
                <a16:creationId xmlns:a16="http://schemas.microsoft.com/office/drawing/2014/main" id="{9992B495-B6A4-4D43-9761-6CEE47A6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419"/>
            <a:ext cx="4126230" cy="689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¿Pico de presión? → L_peak</a:t>
            </a:r>
          </a:p>
        </p:txBody>
      </p:sp>
      <p:sp>
        <p:nvSpPr>
          <p:cNvPr id="18" name="U10-DG-035-compare_4-box">
            <a:extLst xmlns:a="http://schemas.openxmlformats.org/drawingml/2006/main">
              <a:ext uri="{FF2B5EF4-FFF2-40B4-BE49-F238E27FC236}">
                <a16:creationId xmlns:a16="http://schemas.microsoft.com/office/drawing/2014/main" id="{F01BF320-AC08-4AE1-AA55-8567226B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2847594"/>
            <a:ext cx="4469130" cy="937260"/>
          </a:xfrm>
          <a:prstGeom xmlns:a="http://schemas.openxmlformats.org/drawingml/2006/main" prst="roundRect">
            <a:avLst>
              <a:gd name="adj" fmla="val 7114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10-DG-035-compare_4-text">
            <a:extLst xmlns:a="http://schemas.openxmlformats.org/drawingml/2006/main">
              <a:ext uri="{FF2B5EF4-FFF2-40B4-BE49-F238E27FC236}">
                <a16:creationId xmlns:a16="http://schemas.microsoft.com/office/drawing/2014/main" id="{6190A427-E008-43CF-AAF5-995E52CC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971419"/>
            <a:ext cx="4126230" cy="689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¿Energía en T? → Lₑq,T</a:t>
            </a:r>
          </a:p>
        </p:txBody>
      </p:sp>
      <p:sp>
        <p:nvSpPr>
          <p:cNvPr id="20" name="U10-DG-035-compare_5-box">
            <a:extLst xmlns:a="http://schemas.openxmlformats.org/drawingml/2006/main">
              <a:ext uri="{FF2B5EF4-FFF2-40B4-BE49-F238E27FC236}">
                <a16:creationId xmlns:a16="http://schemas.microsoft.com/office/drawing/2014/main" id="{B1A43ED9-92BB-4FB4-91A2-BC68D9AB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3548"/>
            <a:ext cx="4469130" cy="937260"/>
          </a:xfrm>
          <a:prstGeom xmlns:a="http://schemas.openxmlformats.org/drawingml/2006/main" prst="roundRect">
            <a:avLst>
              <a:gd name="adj" fmla="val 71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1" name="U10-DG-035-compare_5-text">
            <a:extLst xmlns:a="http://schemas.openxmlformats.org/drawingml/2006/main">
              <a:ext uri="{FF2B5EF4-FFF2-40B4-BE49-F238E27FC236}">
                <a16:creationId xmlns:a16="http://schemas.microsoft.com/office/drawing/2014/main" id="{78EADAE3-43BF-4447-9402-D2DAA18A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27373"/>
            <a:ext cx="4126230" cy="689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¿Excedencia? → L_N,T</a:t>
            </a:r>
          </a:p>
        </p:txBody>
      </p:sp>
      <p:sp>
        <p:nvSpPr>
          <p:cNvPr id="22" name="U10-DG-035-compare_6-box">
            <a:extLst xmlns:a="http://schemas.openxmlformats.org/drawingml/2006/main">
              <a:ext uri="{FF2B5EF4-FFF2-40B4-BE49-F238E27FC236}">
                <a16:creationId xmlns:a16="http://schemas.microsoft.com/office/drawing/2014/main" id="{DD01CBC6-0D30-4742-9749-828E2AF3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4003548"/>
            <a:ext cx="4469130" cy="937260"/>
          </a:xfrm>
          <a:prstGeom xmlns:a="http://schemas.openxmlformats.org/drawingml/2006/main" prst="roundRect">
            <a:avLst>
              <a:gd name="adj" fmla="val 71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10-DG-035-compare_6-text">
            <a:extLst xmlns:a="http://schemas.openxmlformats.org/drawingml/2006/main">
              <a:ext uri="{FF2B5EF4-FFF2-40B4-BE49-F238E27FC236}">
                <a16:creationId xmlns:a16="http://schemas.microsoft.com/office/drawing/2014/main" id="{D1E62A93-E635-422D-9F39-FD0E011E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127373"/>
            <a:ext cx="4126230" cy="689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¿Contraste? → SNR</a:t>
            </a:r>
          </a:p>
        </p:txBody>
      </p:sp>
      <p:sp>
        <p:nvSpPr>
          <p:cNvPr id="24" name="caption">
            <a:extLst xmlns:a="http://schemas.openxmlformats.org/drawingml/2006/main">
              <a:ext uri="{FF2B5EF4-FFF2-40B4-BE49-F238E27FC236}">
                <a16:creationId xmlns:a16="http://schemas.microsoft.com/office/drawing/2014/main" id="{8FFF272F-F8FC-4FF2-9E34-58B735C7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Selector de descriptor. Preguntas sobre instante/extremo/energía/distribución/contraste; salidas.</a:t>
            </a:r>
          </a:p>
        </p:txBody>
      </p:sp>
      <p:sp>
        <p:nvSpPr>
          <p:cNvPr id="2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E80FFC5-4378-4947-9299-4086DCBE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38F9F4E6-6B38-46D8-A8F2-C74EB240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10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CA63686B-7495-4E91-B0CE-91B455E1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¿Qué señal se presenta, a qué oído y con qué finalidad?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5C19AAA2-3E7D-4A91-9E0B-23526842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Pregunta guía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35EB51C-81D2-40D2-ADC5-4214BF88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ail-1">
            <a:extLst xmlns:a="http://schemas.openxmlformats.org/drawingml/2006/main">
              <a:ext uri="{FF2B5EF4-FFF2-40B4-BE49-F238E27FC236}">
                <a16:creationId xmlns:a16="http://schemas.microsoft.com/office/drawing/2014/main" id="{4EB349D1-E526-4F4B-8C8E-8243249B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362BF722-4C03-40AA-A296-7FED2A35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50439851-5E32-4213-9249-04D56902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5A39204F-400C-4054-87B9-3272DA35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E47743-EF7D-4E8E-89E5-4B2B9D96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Enmascarar es reducir detectabilidad</a:t>
            </a:r>
          </a:p>
        </p:txBody>
      </p:sp>
      <p:sp>
        <p:nvSpPr>
          <p:cNvPr id="6" name="U10-DG-036-concept_1-anchor">
            <a:extLst xmlns:a="http://schemas.openxmlformats.org/drawingml/2006/main">
              <a:ext uri="{FF2B5EF4-FFF2-40B4-BE49-F238E27FC236}">
                <a16:creationId xmlns:a16="http://schemas.microsoft.com/office/drawing/2014/main" id="{71DD111F-BFC8-4CC9-8657-3A149373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36-concept_2-anchor">
            <a:extLst xmlns:a="http://schemas.openxmlformats.org/drawingml/2006/main">
              <a:ext uri="{FF2B5EF4-FFF2-40B4-BE49-F238E27FC236}">
                <a16:creationId xmlns:a16="http://schemas.microsoft.com/office/drawing/2014/main" id="{6ADD1485-C97D-4FA9-BA10-E91A8265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36-concept_3-anchor">
            <a:extLst xmlns:a="http://schemas.openxmlformats.org/drawingml/2006/main">
              <a:ext uri="{FF2B5EF4-FFF2-40B4-BE49-F238E27FC236}">
                <a16:creationId xmlns:a16="http://schemas.microsoft.com/office/drawing/2014/main" id="{70080CEB-EF5F-447E-BF49-E4FEC9CA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36-concept_4-anchor">
            <a:extLst xmlns:a="http://schemas.openxmlformats.org/drawingml/2006/main">
              <a:ext uri="{FF2B5EF4-FFF2-40B4-BE49-F238E27FC236}">
                <a16:creationId xmlns:a16="http://schemas.microsoft.com/office/drawing/2014/main" id="{BDD7D128-04AB-4D16-9293-E2134BE8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36-concept_5-anchor">
            <a:extLst xmlns:a="http://schemas.openxmlformats.org/drawingml/2006/main">
              <a:ext uri="{FF2B5EF4-FFF2-40B4-BE49-F238E27FC236}">
                <a16:creationId xmlns:a16="http://schemas.microsoft.com/office/drawing/2014/main" id="{B5B907EF-A252-47A8-A9FD-51E68949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36-visual-alt" descr="Puente físico-perceptual al masking. Ruido externo; representación interna; señal; detectabilidad. Orden de lectura: “eleva competencia”, “reduce detectabilidad”. ---">
            <a:extLst xmlns:a="http://schemas.openxmlformats.org/drawingml/2006/main">
              <a:ext uri="{FF2B5EF4-FFF2-40B4-BE49-F238E27FC236}">
                <a16:creationId xmlns:a16="http://schemas.microsoft.com/office/drawing/2014/main" id="{C03BEEB3-8FF0-4ACB-A4D0-7B23126C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2" name="U10-DG-036-concept_1-text">
            <a:extLst xmlns:a="http://schemas.openxmlformats.org/drawingml/2006/main">
              <a:ext uri="{FF2B5EF4-FFF2-40B4-BE49-F238E27FC236}">
                <a16:creationId xmlns:a16="http://schemas.microsoft.com/office/drawing/2014/main" id="{9E1C2E2E-7952-4D3A-94D3-CB3F667C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Ruido externo</a:t>
            </a:r>
          </a:p>
        </p:txBody>
      </p:sp>
      <p:sp>
        <p:nvSpPr>
          <p:cNvPr id="13" name="U10-DG-036-concept_2-box">
            <a:extLst xmlns:a="http://schemas.openxmlformats.org/drawingml/2006/main">
              <a:ext uri="{FF2B5EF4-FFF2-40B4-BE49-F238E27FC236}">
                <a16:creationId xmlns:a16="http://schemas.microsoft.com/office/drawing/2014/main" id="{24557C83-6B65-4EF7-AE43-A01DDE9F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4" name="U10-DG-036-concept_2-text">
            <a:extLst xmlns:a="http://schemas.openxmlformats.org/drawingml/2006/main">
              <a:ext uri="{FF2B5EF4-FFF2-40B4-BE49-F238E27FC236}">
                <a16:creationId xmlns:a16="http://schemas.microsoft.com/office/drawing/2014/main" id="{7740DE45-F201-45C6-8C6D-CA6F2ECF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Representación interna</a:t>
            </a:r>
          </a:p>
        </p:txBody>
      </p:sp>
      <p:sp>
        <p:nvSpPr>
          <p:cNvPr id="15" name="U10-DG-036-concept_3-box">
            <a:extLst xmlns:a="http://schemas.openxmlformats.org/drawingml/2006/main">
              <a:ext uri="{FF2B5EF4-FFF2-40B4-BE49-F238E27FC236}">
                <a16:creationId xmlns:a16="http://schemas.microsoft.com/office/drawing/2014/main" id="{7CDF2749-D1C8-44E3-8DF3-13557A3C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6" name="U10-DG-036-concept_3-text">
            <a:extLst xmlns:a="http://schemas.openxmlformats.org/drawingml/2006/main">
              <a:ext uri="{FF2B5EF4-FFF2-40B4-BE49-F238E27FC236}">
                <a16:creationId xmlns:a16="http://schemas.microsoft.com/office/drawing/2014/main" id="{A2517390-A750-4BC7-B343-2FB09F8D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Señal objetivo</a:t>
            </a:r>
          </a:p>
        </p:txBody>
      </p:sp>
      <p:sp>
        <p:nvSpPr>
          <p:cNvPr id="17" name="U10-DG-036-concept_4-box">
            <a:extLst xmlns:a="http://schemas.openxmlformats.org/drawingml/2006/main">
              <a:ext uri="{FF2B5EF4-FFF2-40B4-BE49-F238E27FC236}">
                <a16:creationId xmlns:a16="http://schemas.microsoft.com/office/drawing/2014/main" id="{2EFD8973-3F86-46C6-B8BF-015B90AB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8" name="U10-DG-036-concept_4-text">
            <a:extLst xmlns:a="http://schemas.openxmlformats.org/drawingml/2006/main">
              <a:ext uri="{FF2B5EF4-FFF2-40B4-BE49-F238E27FC236}">
                <a16:creationId xmlns:a16="http://schemas.microsoft.com/office/drawing/2014/main" id="{980BF14C-EA88-4DEF-8700-B0770A8B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Competencia</a:t>
            </a:r>
          </a:p>
        </p:txBody>
      </p:sp>
      <p:sp>
        <p:nvSpPr>
          <p:cNvPr id="19" name="U10-DG-036-concept_5-box">
            <a:extLst xmlns:a="http://schemas.openxmlformats.org/drawingml/2006/main">
              <a:ext uri="{FF2B5EF4-FFF2-40B4-BE49-F238E27FC236}">
                <a16:creationId xmlns:a16="http://schemas.microsoft.com/office/drawing/2014/main" id="{BDECCCBF-E111-4448-B0CA-5C1104E0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0" name="U10-DG-036-concept_5-text">
            <a:extLst xmlns:a="http://schemas.openxmlformats.org/drawingml/2006/main">
              <a:ext uri="{FF2B5EF4-FFF2-40B4-BE49-F238E27FC236}">
                <a16:creationId xmlns:a16="http://schemas.microsoft.com/office/drawing/2014/main" id="{D1C83D4E-6E52-41A0-9D58-3E67EF96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Detectabilidad</a:t>
            </a:r>
          </a:p>
        </p:txBody>
      </p:sp>
      <p:sp>
        <p:nvSpPr>
          <p:cNvPr id="21" name="caption">
            <a:extLst xmlns:a="http://schemas.openxmlformats.org/drawingml/2006/main">
              <a:ext uri="{FF2B5EF4-FFF2-40B4-BE49-F238E27FC236}">
                <a16:creationId xmlns:a16="http://schemas.microsoft.com/office/drawing/2014/main" id="{1F63F92E-3C95-4C5B-9AF0-511E3837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Puente físico-perceptual al masking. Ruido externo; representación interna; señal; detectabilidad.</a:t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2D532FD-DAF2-4B30-A2ED-F8D8755F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ail-1">
            <a:extLst xmlns:a="http://schemas.openxmlformats.org/drawingml/2006/main">
              <a:ext uri="{FF2B5EF4-FFF2-40B4-BE49-F238E27FC236}">
                <a16:creationId xmlns:a16="http://schemas.microsoft.com/office/drawing/2014/main" id="{0C17EA1F-8AB2-4925-A606-BF68A33D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C075722A-F45E-443A-8951-952A8A24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9EBE9DE0-F068-44FD-981A-C17B5960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97B4923-D757-4C3A-BD6F-0F08D70B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07113E2-48C0-43AC-9768-AF48E10D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Toda situación controlada necesita cuatro identificaciones</a:t>
            </a:r>
          </a:p>
        </p:txBody>
      </p:sp>
      <p:sp>
        <p:nvSpPr>
          <p:cNvPr id="6" name="U10-DG-037-branch_source-anchor">
            <a:extLst xmlns:a="http://schemas.openxmlformats.org/drawingml/2006/main">
              <a:ext uri="{FF2B5EF4-FFF2-40B4-BE49-F238E27FC236}">
                <a16:creationId xmlns:a16="http://schemas.microsoft.com/office/drawing/2014/main" id="{B862DA12-FD8A-494D-9E43-55E9CDDA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497455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37-branch_1-anchor">
            <a:extLst xmlns:a="http://schemas.openxmlformats.org/drawingml/2006/main">
              <a:ext uri="{FF2B5EF4-FFF2-40B4-BE49-F238E27FC236}">
                <a16:creationId xmlns:a16="http://schemas.microsoft.com/office/drawing/2014/main" id="{53B5E032-B26A-4A74-9646-78ECD044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937671"/>
            <a:ext cx="3768090" cy="820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37-branch_2-anchor">
            <a:extLst xmlns:a="http://schemas.openxmlformats.org/drawingml/2006/main">
              <a:ext uri="{FF2B5EF4-FFF2-40B4-BE49-F238E27FC236}">
                <a16:creationId xmlns:a16="http://schemas.microsoft.com/office/drawing/2014/main" id="{DDE422A2-D174-4865-B21A-451D7832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2960846"/>
            <a:ext cx="3768090" cy="820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37-branch_3-anchor">
            <a:extLst xmlns:a="http://schemas.openxmlformats.org/drawingml/2006/main">
              <a:ext uri="{FF2B5EF4-FFF2-40B4-BE49-F238E27FC236}">
                <a16:creationId xmlns:a16="http://schemas.microsoft.com/office/drawing/2014/main" id="{49B1ECC5-2AE4-4184-B82A-9B8134D5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984022"/>
            <a:ext cx="3768090" cy="820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" name="U10-DG-037-branch_edge_1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335655" y="2347723"/>
            <a:ext cx="2847975" cy="886492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U10-DG-037-branch_edge_2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335655" y="3234215"/>
            <a:ext cx="2847975" cy="13668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4" name="U10-DG-037-branch_edge_3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335655" y="3234215"/>
            <a:ext cx="2847975" cy="115985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3" name="U10-DG-037-visual-alt" descr="Cuatro elementos del enmascaramiento. Señal; enmascarador; receptor/oído; criterio de respuesta. Orden de lectura: Relaciones numeradas. ---">
            <a:extLst xmlns:a="http://schemas.openxmlformats.org/drawingml/2006/main">
              <a:ext uri="{FF2B5EF4-FFF2-40B4-BE49-F238E27FC236}">
                <a16:creationId xmlns:a16="http://schemas.microsoft.com/office/drawing/2014/main" id="{E18B7944-150D-403C-92E6-7E0495AA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497455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4" name="U10-DG-037-branch_source-text">
            <a:extLst xmlns:a="http://schemas.openxmlformats.org/drawingml/2006/main">
              <a:ext uri="{FF2B5EF4-FFF2-40B4-BE49-F238E27FC236}">
                <a16:creationId xmlns:a16="http://schemas.microsoft.com/office/drawing/2014/main" id="{D8A588AC-BF7B-459E-8FCA-CDBCA6C7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91778"/>
            <a:ext cx="2154555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Señal</a:t>
            </a:r>
          </a:p>
        </p:txBody>
      </p:sp>
      <p:sp>
        <p:nvSpPr>
          <p:cNvPr id="15" name="U10-DG-037-branch_1-box">
            <a:extLst xmlns:a="http://schemas.openxmlformats.org/drawingml/2006/main">
              <a:ext uri="{FF2B5EF4-FFF2-40B4-BE49-F238E27FC236}">
                <a16:creationId xmlns:a16="http://schemas.microsoft.com/office/drawing/2014/main" id="{5758AE1D-B6FE-49A8-A27C-184FA53A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937671"/>
            <a:ext cx="3768090" cy="820103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10-DG-037-branch_1-text">
            <a:extLst xmlns:a="http://schemas.openxmlformats.org/drawingml/2006/main">
              <a:ext uri="{FF2B5EF4-FFF2-40B4-BE49-F238E27FC236}">
                <a16:creationId xmlns:a16="http://schemas.microsoft.com/office/drawing/2014/main" id="{E5765B56-3F30-4FAB-94ED-5036A345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061496"/>
            <a:ext cx="3425190" cy="572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Enmascarador</a:t>
            </a:r>
          </a:p>
        </p:txBody>
      </p:sp>
      <p:sp>
        <p:nvSpPr>
          <p:cNvPr id="17" name="U10-DG-037-branch_2-box">
            <a:extLst xmlns:a="http://schemas.openxmlformats.org/drawingml/2006/main">
              <a:ext uri="{FF2B5EF4-FFF2-40B4-BE49-F238E27FC236}">
                <a16:creationId xmlns:a16="http://schemas.microsoft.com/office/drawing/2014/main" id="{CB7EDC3B-3BF6-445B-84E4-D957499F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2960846"/>
            <a:ext cx="3768090" cy="820103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8" name="U10-DG-037-branch_2-text">
            <a:extLst xmlns:a="http://schemas.openxmlformats.org/drawingml/2006/main">
              <a:ext uri="{FF2B5EF4-FFF2-40B4-BE49-F238E27FC236}">
                <a16:creationId xmlns:a16="http://schemas.microsoft.com/office/drawing/2014/main" id="{474B3F40-AF9A-4036-972D-E4AA4E4D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084671"/>
            <a:ext cx="3425190" cy="572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Receptor / oído</a:t>
            </a:r>
          </a:p>
        </p:txBody>
      </p:sp>
      <p:sp>
        <p:nvSpPr>
          <p:cNvPr id="19" name="U10-DG-037-branch_3-box">
            <a:extLst xmlns:a="http://schemas.openxmlformats.org/drawingml/2006/main">
              <a:ext uri="{FF2B5EF4-FFF2-40B4-BE49-F238E27FC236}">
                <a16:creationId xmlns:a16="http://schemas.microsoft.com/office/drawing/2014/main" id="{D86CF6E2-0B7C-4FAD-B5D8-2DBC88D9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984022"/>
            <a:ext cx="3768090" cy="820103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0" name="U10-DG-037-branch_3-text">
            <a:extLst xmlns:a="http://schemas.openxmlformats.org/drawingml/2006/main">
              <a:ext uri="{FF2B5EF4-FFF2-40B4-BE49-F238E27FC236}">
                <a16:creationId xmlns:a16="http://schemas.microsoft.com/office/drawing/2014/main" id="{6FC695EF-F9D0-4878-A98F-86AE8955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107847"/>
            <a:ext cx="3425190" cy="572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Criterio de respuesta</a:t>
            </a:r>
          </a:p>
        </p:txBody>
      </p:sp>
      <p:sp>
        <p:nvSpPr>
          <p:cNvPr id="21" name="caption">
            <a:extLst xmlns:a="http://schemas.openxmlformats.org/drawingml/2006/main">
              <a:ext uri="{FF2B5EF4-FFF2-40B4-BE49-F238E27FC236}">
                <a16:creationId xmlns:a16="http://schemas.microsoft.com/office/drawing/2014/main" id="{BB7F75F0-A5AD-44D2-885F-B0951EDA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Cuatro elementos del enmascaramiento. Señal; enmascarador; receptor/oído; criterio de respuesta.</a:t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48271F8-3BF7-4641-BE2C-3143609B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rail-1">
            <a:extLst xmlns:a="http://schemas.openxmlformats.org/drawingml/2006/main">
              <a:ext uri="{FF2B5EF4-FFF2-40B4-BE49-F238E27FC236}">
                <a16:creationId xmlns:a16="http://schemas.microsoft.com/office/drawing/2014/main" id="{65232B0D-946C-4BF4-9407-F91FD93E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84E3FF4C-3BC3-468B-BBF3-1ED22C11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0D639A74-C34B-4BBC-93D4-D26B0F4E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33502DF-9761-4D1D-ADF6-97A5AD4E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2D0745-D1FB-49E0-9012-42AE4E79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325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enmascarante controla el oído no evaluado cuando hay respuesta cruzada posible</a:t>
            </a:r>
          </a:p>
        </p:txBody>
      </p:sp>
      <p:sp>
        <p:nvSpPr>
          <p:cNvPr id="6" name="U10-DG-038-source-anchor">
            <a:extLst xmlns:a="http://schemas.openxmlformats.org/drawingml/2006/main">
              <a:ext uri="{FF2B5EF4-FFF2-40B4-BE49-F238E27FC236}">
                <a16:creationId xmlns:a16="http://schemas.microsoft.com/office/drawing/2014/main" id="{019E1D86-8DB5-4B99-B509-90A30373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433638"/>
            <a:ext cx="2409825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38-path_top-anchor">
            <a:extLst xmlns:a="http://schemas.openxmlformats.org/drawingml/2006/main">
              <a:ext uri="{FF2B5EF4-FFF2-40B4-BE49-F238E27FC236}">
                <a16:creationId xmlns:a16="http://schemas.microsoft.com/office/drawing/2014/main" id="{82BEBAD3-0AEC-4B55-A1EE-8B5D204D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6601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38-path_bottom-anchor">
            <a:extLst xmlns:a="http://schemas.openxmlformats.org/drawingml/2006/main">
              <a:ext uri="{FF2B5EF4-FFF2-40B4-BE49-F238E27FC236}">
                <a16:creationId xmlns:a16="http://schemas.microsoft.com/office/drawing/2014/main" id="{E4822789-EF25-4D35-A5C6-0C7E1172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44265"/>
            <a:ext cx="236601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38-space-anchor">
            <a:extLst xmlns:a="http://schemas.openxmlformats.org/drawingml/2006/main">
              <a:ext uri="{FF2B5EF4-FFF2-40B4-BE49-F238E27FC236}">
                <a16:creationId xmlns:a16="http://schemas.microsoft.com/office/drawing/2014/main" id="{2B5A0A91-AE3B-43B6-8F8F-19392B7F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0" y="2433638"/>
            <a:ext cx="219075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38-receiver-anchor">
            <a:extLst xmlns:a="http://schemas.openxmlformats.org/drawingml/2006/main">
              <a:ext uri="{FF2B5EF4-FFF2-40B4-BE49-F238E27FC236}">
                <a16:creationId xmlns:a16="http://schemas.microsoft.com/office/drawing/2014/main" id="{2D6F3DC9-3890-4E01-A6E2-F94678D7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433638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38-condition-anchor">
            <a:extLst xmlns:a="http://schemas.openxmlformats.org/drawingml/2006/main">
              <a:ext uri="{FF2B5EF4-FFF2-40B4-BE49-F238E27FC236}">
                <a16:creationId xmlns:a16="http://schemas.microsoft.com/office/drawing/2014/main" id="{6C5EB710-475A-48C2-B91D-DBD694A3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815840"/>
            <a:ext cx="5476875" cy="546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2" name="U10-DG-038-route_1a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177540" y="1577340"/>
            <a:ext cx="2594610" cy="140303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10-DG-038-route_1b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57850" y="2140744"/>
            <a:ext cx="262890" cy="83962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4" name="U10-DG-038-route_2a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77540" y="2980373"/>
            <a:ext cx="2594610" cy="16764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10-DG-038-route_2b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5657850" y="2980373"/>
            <a:ext cx="26289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10-DG-038-route_3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111490" y="2980373"/>
            <a:ext cx="30670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7" name="U10-DG-038-visual-alt" descr="Arquitectura audiométrica conceptual. Oído evaluado; oído no evaluado; transductor; ruta cruzada; enmascarante; respuesta. Orden de lectura: “señal de prueba”, “posible cruce”, “controla”. ---">
            <a:extLst xmlns:a="http://schemas.openxmlformats.org/drawingml/2006/main">
              <a:ext uri="{FF2B5EF4-FFF2-40B4-BE49-F238E27FC236}">
                <a16:creationId xmlns:a16="http://schemas.microsoft.com/office/drawing/2014/main" id="{C1B95258-4121-48FE-91A4-1507BD08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433638"/>
            <a:ext cx="2409825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38-source-text">
            <a:extLst xmlns:a="http://schemas.openxmlformats.org/drawingml/2006/main">
              <a:ext uri="{FF2B5EF4-FFF2-40B4-BE49-F238E27FC236}">
                <a16:creationId xmlns:a16="http://schemas.microsoft.com/office/drawing/2014/main" id="{42331567-E709-446B-BE69-CAD108DD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2557463"/>
            <a:ext cx="2066925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Oído evaluado</a:t>
            </a:r>
          </a:p>
        </p:txBody>
      </p:sp>
      <p:sp>
        <p:nvSpPr>
          <p:cNvPr id="19" name="U10-DG-038-path_top-box">
            <a:extLst xmlns:a="http://schemas.openxmlformats.org/drawingml/2006/main">
              <a:ext uri="{FF2B5EF4-FFF2-40B4-BE49-F238E27FC236}">
                <a16:creationId xmlns:a16="http://schemas.microsoft.com/office/drawing/2014/main" id="{C5663B97-6F3B-45D0-8A37-89F1B598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6601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0" name="U10-DG-038-path_top-text">
            <a:extLst xmlns:a="http://schemas.openxmlformats.org/drawingml/2006/main">
              <a:ext uri="{FF2B5EF4-FFF2-40B4-BE49-F238E27FC236}">
                <a16:creationId xmlns:a16="http://schemas.microsoft.com/office/drawing/2014/main" id="{79F77A9C-D948-4FEE-AF77-4C3AD731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1815465"/>
            <a:ext cx="202311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Señal de prueba</a:t>
            </a:r>
          </a:p>
        </p:txBody>
      </p:sp>
      <p:sp>
        <p:nvSpPr>
          <p:cNvPr id="21" name="U10-DG-038-path_bottom-box">
            <a:extLst xmlns:a="http://schemas.openxmlformats.org/drawingml/2006/main">
              <a:ext uri="{FF2B5EF4-FFF2-40B4-BE49-F238E27FC236}">
                <a16:creationId xmlns:a16="http://schemas.microsoft.com/office/drawing/2014/main" id="{6345F894-81D2-4236-BD7B-30976AA3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44265"/>
            <a:ext cx="236601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2" name="U10-DG-038-path_bottom-text">
            <a:extLst xmlns:a="http://schemas.openxmlformats.org/drawingml/2006/main">
              <a:ext uri="{FF2B5EF4-FFF2-40B4-BE49-F238E27FC236}">
                <a16:creationId xmlns:a16="http://schemas.microsoft.com/office/drawing/2014/main" id="{556DD3EB-7541-40D1-A145-ADE9738F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3768090"/>
            <a:ext cx="202311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Posible ruta cruzada</a:t>
            </a:r>
          </a:p>
        </p:txBody>
      </p:sp>
      <p:sp>
        <p:nvSpPr>
          <p:cNvPr id="23" name="U10-DG-038-space-box">
            <a:extLst xmlns:a="http://schemas.openxmlformats.org/drawingml/2006/main">
              <a:ext uri="{FF2B5EF4-FFF2-40B4-BE49-F238E27FC236}">
                <a16:creationId xmlns:a16="http://schemas.microsoft.com/office/drawing/2014/main" id="{59D40F1C-6C9F-423C-B6E2-3BEA2F81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0" y="2433638"/>
            <a:ext cx="219075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4" name="U10-DG-038-space-text">
            <a:extLst xmlns:a="http://schemas.openxmlformats.org/drawingml/2006/main">
              <a:ext uri="{FF2B5EF4-FFF2-40B4-BE49-F238E27FC236}">
                <a16:creationId xmlns:a16="http://schemas.microsoft.com/office/drawing/2014/main" id="{C9426D2D-916A-498C-8E19-183966D6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190" y="2557463"/>
            <a:ext cx="184785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Oído no evaluado</a:t>
            </a:r>
          </a:p>
        </p:txBody>
      </p:sp>
      <p:sp>
        <p:nvSpPr>
          <p:cNvPr id="25" name="U10-DG-038-receiver-box">
            <a:extLst xmlns:a="http://schemas.openxmlformats.org/drawingml/2006/main">
              <a:ext uri="{FF2B5EF4-FFF2-40B4-BE49-F238E27FC236}">
                <a16:creationId xmlns:a16="http://schemas.microsoft.com/office/drawing/2014/main" id="{B89BF6C5-3EC7-4283-A988-8C42764D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433638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6" name="U10-DG-038-receiver-text">
            <a:extLst xmlns:a="http://schemas.openxmlformats.org/drawingml/2006/main">
              <a:ext uri="{FF2B5EF4-FFF2-40B4-BE49-F238E27FC236}">
                <a16:creationId xmlns:a16="http://schemas.microsoft.com/office/drawing/2014/main" id="{A99CC752-752B-4351-97FB-97912F51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557463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Enmascarante</a:t>
            </a:r>
          </a:p>
        </p:txBody>
      </p:sp>
      <p:sp>
        <p:nvSpPr>
          <p:cNvPr id="27" name="U10-DG-038-condition-box">
            <a:extLst xmlns:a="http://schemas.openxmlformats.org/drawingml/2006/main">
              <a:ext uri="{FF2B5EF4-FFF2-40B4-BE49-F238E27FC236}">
                <a16:creationId xmlns:a16="http://schemas.microsoft.com/office/drawing/2014/main" id="{070D1F76-4C91-4666-9D27-8FFF754E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815840"/>
            <a:ext cx="5476875" cy="546735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8" name="U10-DG-038-condition-text">
            <a:extLst xmlns:a="http://schemas.openxmlformats.org/drawingml/2006/main">
              <a:ext uri="{FF2B5EF4-FFF2-40B4-BE49-F238E27FC236}">
                <a16:creationId xmlns:a16="http://schemas.microsoft.com/office/drawing/2014/main" id="{813030F7-2224-48B5-9AC2-DB6546E3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4939665"/>
            <a:ext cx="5133975" cy="299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Respuesta controlada</a:t>
            </a:r>
          </a:p>
        </p:txBody>
      </p:sp>
      <p:sp>
        <p:nvSpPr>
          <p:cNvPr id="29" name="caption">
            <a:extLst xmlns:a="http://schemas.openxmlformats.org/drawingml/2006/main">
              <a:ext uri="{FF2B5EF4-FFF2-40B4-BE49-F238E27FC236}">
                <a16:creationId xmlns:a16="http://schemas.microsoft.com/office/drawing/2014/main" id="{57FEFD25-8594-4245-BC58-39768BEB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Arquitectura audiométrica conceptual. Oído evaluado; oído no evaluado; transductor; ruta cruzada; enmascarante; respuesta.</a:t>
            </a:r>
          </a:p>
        </p:txBody>
      </p:sp>
      <p:sp>
        <p:nvSpPr>
          <p:cNvPr id="3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4003C67-772B-4B3A-84E4-93B976BB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rail-1">
            <a:extLst xmlns:a="http://schemas.openxmlformats.org/drawingml/2006/main">
              <a:ext uri="{FF2B5EF4-FFF2-40B4-BE49-F238E27FC236}">
                <a16:creationId xmlns:a16="http://schemas.microsoft.com/office/drawing/2014/main" id="{592E9357-6D73-4DAC-B93D-E71B43D3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7639443B-0E63-438F-83F8-7E8FA5DE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B6595C66-6A5B-44DA-90FF-781B8B9C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55FBED72-D897-4308-9B06-E8FD5861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A6F645-2B1D-4F8E-BDDA-C080E847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función cumple cada señal y cada oído?</a:t>
            </a:r>
          </a:p>
        </p:txBody>
      </p:sp>
      <p:sp>
        <p:nvSpPr>
          <p:cNvPr id="6" name="U10-DG-038-source-anchor">
            <a:extLst xmlns:a="http://schemas.openxmlformats.org/drawingml/2006/main">
              <a:ext uri="{FF2B5EF4-FFF2-40B4-BE49-F238E27FC236}">
                <a16:creationId xmlns:a16="http://schemas.microsoft.com/office/drawing/2014/main" id="{1D99D43B-D977-4071-BB5C-E5F6A16D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433638"/>
            <a:ext cx="2409825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38-path_top-anchor">
            <a:extLst xmlns:a="http://schemas.openxmlformats.org/drawingml/2006/main">
              <a:ext uri="{FF2B5EF4-FFF2-40B4-BE49-F238E27FC236}">
                <a16:creationId xmlns:a16="http://schemas.microsoft.com/office/drawing/2014/main" id="{F322AE3A-AB11-4144-B86F-66F95AC7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6601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38-path_bottom-anchor">
            <a:extLst xmlns:a="http://schemas.openxmlformats.org/drawingml/2006/main">
              <a:ext uri="{FF2B5EF4-FFF2-40B4-BE49-F238E27FC236}">
                <a16:creationId xmlns:a16="http://schemas.microsoft.com/office/drawing/2014/main" id="{3B84A4E6-C351-4EF5-B17D-71AA73B9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44265"/>
            <a:ext cx="236601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38-space-anchor">
            <a:extLst xmlns:a="http://schemas.openxmlformats.org/drawingml/2006/main">
              <a:ext uri="{FF2B5EF4-FFF2-40B4-BE49-F238E27FC236}">
                <a16:creationId xmlns:a16="http://schemas.microsoft.com/office/drawing/2014/main" id="{B69B46C9-1BE1-4234-82A9-DBC463FD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0" y="2433638"/>
            <a:ext cx="219075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38-receiver-anchor">
            <a:extLst xmlns:a="http://schemas.openxmlformats.org/drawingml/2006/main">
              <a:ext uri="{FF2B5EF4-FFF2-40B4-BE49-F238E27FC236}">
                <a16:creationId xmlns:a16="http://schemas.microsoft.com/office/drawing/2014/main" id="{8EF6F616-FFE6-4FDA-ACCA-015FBD97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433638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38-condition-anchor">
            <a:extLst xmlns:a="http://schemas.openxmlformats.org/drawingml/2006/main">
              <a:ext uri="{FF2B5EF4-FFF2-40B4-BE49-F238E27FC236}">
                <a16:creationId xmlns:a16="http://schemas.microsoft.com/office/drawing/2014/main" id="{C68D583A-38C5-46EB-B1D9-442E22F8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815840"/>
            <a:ext cx="5476875" cy="546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2" name="U10-DG-038-route_1a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177540" y="1577340"/>
            <a:ext cx="2594610" cy="140303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10-DG-038-route_1b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57850" y="2140744"/>
            <a:ext cx="262890" cy="83962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4" name="U10-DG-038-route_2a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77540" y="2980373"/>
            <a:ext cx="2594610" cy="16764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10-DG-038-route_2b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5657850" y="2980373"/>
            <a:ext cx="26289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10-DG-038-route_3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111490" y="2980373"/>
            <a:ext cx="30670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7" name="U10-DG-038-visual-alt" descr="Arquitectura audiométrica conceptual. Oído evaluado; oído no evaluado; transductor; ruta cruzada; enmascarante; respuesta. Orden de lectura: “señal de prueba”, “posible cruce”, “controla”. ---">
            <a:extLst xmlns:a="http://schemas.openxmlformats.org/drawingml/2006/main">
              <a:ext uri="{FF2B5EF4-FFF2-40B4-BE49-F238E27FC236}">
                <a16:creationId xmlns:a16="http://schemas.microsoft.com/office/drawing/2014/main" id="{6EC60A67-8FE8-4E69-94E6-F41D9B64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433638"/>
            <a:ext cx="2409825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38-source-text">
            <a:extLst xmlns:a="http://schemas.openxmlformats.org/drawingml/2006/main">
              <a:ext uri="{FF2B5EF4-FFF2-40B4-BE49-F238E27FC236}">
                <a16:creationId xmlns:a16="http://schemas.microsoft.com/office/drawing/2014/main" id="{5CDA1184-8FFB-4A88-B2F6-5B3C98F7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2557463"/>
            <a:ext cx="2066925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Oído evaluado</a:t>
            </a:r>
          </a:p>
        </p:txBody>
      </p:sp>
      <p:sp>
        <p:nvSpPr>
          <p:cNvPr id="19" name="U10-DG-038-path_top-box">
            <a:extLst xmlns:a="http://schemas.openxmlformats.org/drawingml/2006/main">
              <a:ext uri="{FF2B5EF4-FFF2-40B4-BE49-F238E27FC236}">
                <a16:creationId xmlns:a16="http://schemas.microsoft.com/office/drawing/2014/main" id="{B1B4E463-E267-4C5D-B5D2-280E3681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6601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0" name="U10-DG-038-path_top-text">
            <a:extLst xmlns:a="http://schemas.openxmlformats.org/drawingml/2006/main">
              <a:ext uri="{FF2B5EF4-FFF2-40B4-BE49-F238E27FC236}">
                <a16:creationId xmlns:a16="http://schemas.microsoft.com/office/drawing/2014/main" id="{26226A57-5FFE-4E54-8263-3671817E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1815465"/>
            <a:ext cx="202311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Señal de prueba</a:t>
            </a:r>
          </a:p>
        </p:txBody>
      </p:sp>
      <p:sp>
        <p:nvSpPr>
          <p:cNvPr id="21" name="U10-DG-038-path_bottom-box">
            <a:extLst xmlns:a="http://schemas.openxmlformats.org/drawingml/2006/main">
              <a:ext uri="{FF2B5EF4-FFF2-40B4-BE49-F238E27FC236}">
                <a16:creationId xmlns:a16="http://schemas.microsoft.com/office/drawing/2014/main" id="{132E920A-D8C2-4E7E-A5E6-2F66A27E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44265"/>
            <a:ext cx="236601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2" name="U10-DG-038-path_bottom-text">
            <a:extLst xmlns:a="http://schemas.openxmlformats.org/drawingml/2006/main">
              <a:ext uri="{FF2B5EF4-FFF2-40B4-BE49-F238E27FC236}">
                <a16:creationId xmlns:a16="http://schemas.microsoft.com/office/drawing/2014/main" id="{D3F81CE9-C2D5-474A-A345-78320BBD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3768090"/>
            <a:ext cx="202311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Posible ruta cruzada</a:t>
            </a:r>
          </a:p>
        </p:txBody>
      </p:sp>
      <p:sp>
        <p:nvSpPr>
          <p:cNvPr id="23" name="U10-DG-038-space-box">
            <a:extLst xmlns:a="http://schemas.openxmlformats.org/drawingml/2006/main">
              <a:ext uri="{FF2B5EF4-FFF2-40B4-BE49-F238E27FC236}">
                <a16:creationId xmlns:a16="http://schemas.microsoft.com/office/drawing/2014/main" id="{8FE8E8BC-8316-4E0F-9298-F618E156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0" y="2433638"/>
            <a:ext cx="219075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4" name="U10-DG-038-space-text">
            <a:extLst xmlns:a="http://schemas.openxmlformats.org/drawingml/2006/main">
              <a:ext uri="{FF2B5EF4-FFF2-40B4-BE49-F238E27FC236}">
                <a16:creationId xmlns:a16="http://schemas.microsoft.com/office/drawing/2014/main" id="{A8D3BF36-8068-4BC4-9210-F1F1CD4B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190" y="2557463"/>
            <a:ext cx="184785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Oído no evaluado</a:t>
            </a:r>
          </a:p>
        </p:txBody>
      </p:sp>
      <p:sp>
        <p:nvSpPr>
          <p:cNvPr id="25" name="U10-DG-038-receiver-box">
            <a:extLst xmlns:a="http://schemas.openxmlformats.org/drawingml/2006/main">
              <a:ext uri="{FF2B5EF4-FFF2-40B4-BE49-F238E27FC236}">
                <a16:creationId xmlns:a16="http://schemas.microsoft.com/office/drawing/2014/main" id="{A4B9A7E1-2C6A-4257-A6E3-D83C4696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433638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6" name="U10-DG-038-receiver-text">
            <a:extLst xmlns:a="http://schemas.openxmlformats.org/drawingml/2006/main">
              <a:ext uri="{FF2B5EF4-FFF2-40B4-BE49-F238E27FC236}">
                <a16:creationId xmlns:a16="http://schemas.microsoft.com/office/drawing/2014/main" id="{FE3E9DB6-3A5C-433D-8539-FEAF2671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557463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Enmascarante</a:t>
            </a:r>
          </a:p>
        </p:txBody>
      </p:sp>
      <p:sp>
        <p:nvSpPr>
          <p:cNvPr id="27" name="U10-DG-038-condition-box">
            <a:extLst xmlns:a="http://schemas.openxmlformats.org/drawingml/2006/main">
              <a:ext uri="{FF2B5EF4-FFF2-40B4-BE49-F238E27FC236}">
                <a16:creationId xmlns:a16="http://schemas.microsoft.com/office/drawing/2014/main" id="{A15948E1-89E0-434E-8734-B8005FCC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815840"/>
            <a:ext cx="5476875" cy="546735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8" name="U10-DG-038-condition-text">
            <a:extLst xmlns:a="http://schemas.openxmlformats.org/drawingml/2006/main">
              <a:ext uri="{FF2B5EF4-FFF2-40B4-BE49-F238E27FC236}">
                <a16:creationId xmlns:a16="http://schemas.microsoft.com/office/drawing/2014/main" id="{5628B672-5763-46B5-A5C4-5EDADA2C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4939665"/>
            <a:ext cx="5133975" cy="299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Respuesta controlada</a:t>
            </a:r>
          </a:p>
        </p:txBody>
      </p:sp>
      <p:sp>
        <p:nvSpPr>
          <p:cNvPr id="29" name="caption">
            <a:extLst xmlns:a="http://schemas.openxmlformats.org/drawingml/2006/main">
              <a:ext uri="{FF2B5EF4-FFF2-40B4-BE49-F238E27FC236}">
                <a16:creationId xmlns:a16="http://schemas.microsoft.com/office/drawing/2014/main" id="{D1475ACF-A8F2-4E00-B7E9-A3B22095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Arquitectura audiométrica conceptual. Oído evaluado; oído no evaluado; transductor; ruta cruzada; enmascarante; respuesta.</a:t>
            </a:r>
          </a:p>
        </p:txBody>
      </p:sp>
      <p:sp>
        <p:nvSpPr>
          <p:cNvPr id="3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43BF91A-1E24-4366-876F-F6B27ACB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ail-1">
            <a:extLst xmlns:a="http://schemas.openxmlformats.org/drawingml/2006/main">
              <a:ext uri="{FF2B5EF4-FFF2-40B4-BE49-F238E27FC236}">
                <a16:creationId xmlns:a16="http://schemas.microsoft.com/office/drawing/2014/main" id="{5C8D5E34-2DA9-40FA-B776-42C5F862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6F741AA2-07C7-4A5A-BFF5-D69E6C1F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192EDD7A-D31C-4C3E-BF36-2D5E92A7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E83A2A7D-D477-4120-98E9-F80B8EAD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BEF6A1-1807-48C2-9891-BC6AB824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Enmascarar no es proteger el oído</a:t>
            </a:r>
          </a:p>
        </p:txBody>
      </p:sp>
      <p:sp>
        <p:nvSpPr>
          <p:cNvPr id="6" name="U10-DG-039-concept_1-anchor">
            <a:extLst xmlns:a="http://schemas.openxmlformats.org/drawingml/2006/main">
              <a:ext uri="{FF2B5EF4-FFF2-40B4-BE49-F238E27FC236}">
                <a16:creationId xmlns:a16="http://schemas.microsoft.com/office/drawing/2014/main" id="{4FDC4BED-2887-40C0-A453-837F5C14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39-concept_2-anchor">
            <a:extLst xmlns:a="http://schemas.openxmlformats.org/drawingml/2006/main">
              <a:ext uri="{FF2B5EF4-FFF2-40B4-BE49-F238E27FC236}">
                <a16:creationId xmlns:a16="http://schemas.microsoft.com/office/drawing/2014/main" id="{A0DEB09C-A137-4BF9-82EB-A85785DB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39-concept_3-anchor">
            <a:extLst xmlns:a="http://schemas.openxmlformats.org/drawingml/2006/main">
              <a:ext uri="{FF2B5EF4-FFF2-40B4-BE49-F238E27FC236}">
                <a16:creationId xmlns:a16="http://schemas.microsoft.com/office/drawing/2014/main" id="{AB2F4534-0DC6-4D50-99BB-39E7D232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39-concept_4-anchor">
            <a:extLst xmlns:a="http://schemas.openxmlformats.org/drawingml/2006/main">
              <a:ext uri="{FF2B5EF4-FFF2-40B4-BE49-F238E27FC236}">
                <a16:creationId xmlns:a16="http://schemas.microsoft.com/office/drawing/2014/main" id="{44189DAA-4AE8-4215-BFB6-0FD37B4C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39-concept_5-anchor">
            <a:extLst xmlns:a="http://schemas.openxmlformats.org/drawingml/2006/main">
              <a:ext uri="{FF2B5EF4-FFF2-40B4-BE49-F238E27FC236}">
                <a16:creationId xmlns:a16="http://schemas.microsoft.com/office/drawing/2014/main" id="{4898C48C-CED5-4CAC-A34B-9086B1D7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39-visual-alt" descr="Enmascaramiento vs protección. Propósito perceptual; propósito de exposición; acción; resultado medido. Orden de lectura: Bifurcación “¿qué se intenta cambiar?”. ---">
            <a:extLst xmlns:a="http://schemas.openxmlformats.org/drawingml/2006/main">
              <a:ext uri="{FF2B5EF4-FFF2-40B4-BE49-F238E27FC236}">
                <a16:creationId xmlns:a16="http://schemas.microsoft.com/office/drawing/2014/main" id="{6A00272F-B1AD-4748-9FC4-320993BC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2" name="U10-DG-039-concept_1-text">
            <a:extLst xmlns:a="http://schemas.openxmlformats.org/drawingml/2006/main">
              <a:ext uri="{FF2B5EF4-FFF2-40B4-BE49-F238E27FC236}">
                <a16:creationId xmlns:a16="http://schemas.microsoft.com/office/drawing/2014/main" id="{A3486241-C543-4774-9719-65E38C8C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¿Qué se intenta cambiar?</a:t>
            </a:r>
          </a:p>
        </p:txBody>
      </p:sp>
      <p:sp>
        <p:nvSpPr>
          <p:cNvPr id="13" name="U10-DG-039-concept_2-box">
            <a:extLst xmlns:a="http://schemas.openxmlformats.org/drawingml/2006/main">
              <a:ext uri="{FF2B5EF4-FFF2-40B4-BE49-F238E27FC236}">
                <a16:creationId xmlns:a16="http://schemas.microsoft.com/office/drawing/2014/main" id="{77528414-83F3-4088-8EA3-8B8EEE3F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4" name="U10-DG-039-concept_2-text">
            <a:extLst xmlns:a="http://schemas.openxmlformats.org/drawingml/2006/main">
              <a:ext uri="{FF2B5EF4-FFF2-40B4-BE49-F238E27FC236}">
                <a16:creationId xmlns:a16="http://schemas.microsoft.com/office/drawing/2014/main" id="{75861075-BF34-4946-A73A-DFF60711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Enmascaramiento: respuesta en</a:t>
            </a:r>
          </a:p>
        </p:txBody>
      </p:sp>
      <p:sp>
        <p:nvSpPr>
          <p:cNvPr id="15" name="U10-DG-039-concept_3-box">
            <a:extLst xmlns:a="http://schemas.openxmlformats.org/drawingml/2006/main">
              <a:ext uri="{FF2B5EF4-FFF2-40B4-BE49-F238E27FC236}">
                <a16:creationId xmlns:a16="http://schemas.microsoft.com/office/drawing/2014/main" id="{294CFA7A-C974-4BCE-8D25-AFF2E1AD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6" name="U10-DG-039-concept_3-text">
            <a:extLst xmlns:a="http://schemas.openxmlformats.org/drawingml/2006/main">
              <a:ext uri="{FF2B5EF4-FFF2-40B4-BE49-F238E27FC236}">
                <a16:creationId xmlns:a16="http://schemas.microsoft.com/office/drawing/2014/main" id="{E77BF135-869B-4963-B7DD-FF00079F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Agrega señal al oído no evaluado</a:t>
            </a:r>
          </a:p>
        </p:txBody>
      </p:sp>
      <p:sp>
        <p:nvSpPr>
          <p:cNvPr id="17" name="U10-DG-039-concept_4-box">
            <a:extLst xmlns:a="http://schemas.openxmlformats.org/drawingml/2006/main">
              <a:ext uri="{FF2B5EF4-FFF2-40B4-BE49-F238E27FC236}">
                <a16:creationId xmlns:a16="http://schemas.microsoft.com/office/drawing/2014/main" id="{60DD7E2D-D324-4E9F-8220-AE941CEA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8" name="U10-DG-039-concept_4-text">
            <a:extLst xmlns:a="http://schemas.openxmlformats.org/drawingml/2006/main">
              <a:ext uri="{FF2B5EF4-FFF2-40B4-BE49-F238E27FC236}">
                <a16:creationId xmlns:a16="http://schemas.microsoft.com/office/drawing/2014/main" id="{521EAEF6-4D53-43DA-8DD7-D486B507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Protección: exposición</a:t>
            </a:r>
          </a:p>
        </p:txBody>
      </p:sp>
      <p:sp>
        <p:nvSpPr>
          <p:cNvPr id="19" name="U10-DG-039-concept_5-box">
            <a:extLst xmlns:a="http://schemas.openxmlformats.org/drawingml/2006/main">
              <a:ext uri="{FF2B5EF4-FFF2-40B4-BE49-F238E27FC236}">
                <a16:creationId xmlns:a16="http://schemas.microsoft.com/office/drawing/2014/main" id="{10B1221A-FDF2-4735-98E1-E58E651D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0" name="U10-DG-039-concept_5-text">
            <a:extLst xmlns:a="http://schemas.openxmlformats.org/drawingml/2006/main">
              <a:ext uri="{FF2B5EF4-FFF2-40B4-BE49-F238E27FC236}">
                <a16:creationId xmlns:a16="http://schemas.microsoft.com/office/drawing/2014/main" id="{71F27369-1832-4360-8D3D-88292065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Reduce energía que llega</a:t>
            </a:r>
          </a:p>
        </p:txBody>
      </p:sp>
      <p:sp>
        <p:nvSpPr>
          <p:cNvPr id="21" name="caption">
            <a:extLst xmlns:a="http://schemas.openxmlformats.org/drawingml/2006/main">
              <a:ext uri="{FF2B5EF4-FFF2-40B4-BE49-F238E27FC236}">
                <a16:creationId xmlns:a16="http://schemas.microsoft.com/office/drawing/2014/main" id="{D23E76AC-CED8-4549-8D65-97004DD8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Enmascaramiento vs protección. Propósito perceptual; propósito de exposición; acción; resultado medido.</a:t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64E25F7-AFB3-4928-8438-DE353E80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ail-1">
            <a:extLst xmlns:a="http://schemas.openxmlformats.org/drawingml/2006/main">
              <a:ext uri="{FF2B5EF4-FFF2-40B4-BE49-F238E27FC236}">
                <a16:creationId xmlns:a16="http://schemas.microsoft.com/office/drawing/2014/main" id="{690D91BF-D1BF-4B6A-8300-135A988C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8B597BDD-C123-4338-A6B0-13CD0131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55D35FB6-C130-43D3-83C8-B9B0F61D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F45A4B04-0F7B-4E46-8545-3B90F2F6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3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87121E-2928-4B88-A310-188BD067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Acufenometría: comparar no es prescribir</a:t>
            </a:r>
          </a:p>
        </p:txBody>
      </p:sp>
      <p:sp>
        <p:nvSpPr>
          <p:cNvPr id="6" name="U10-DG-040-concept_1-anchor">
            <a:extLst xmlns:a="http://schemas.openxmlformats.org/drawingml/2006/main">
              <a:ext uri="{FF2B5EF4-FFF2-40B4-BE49-F238E27FC236}">
                <a16:creationId xmlns:a16="http://schemas.microsoft.com/office/drawing/2014/main" id="{C7DCC445-8DF0-4271-BC42-55B9BA06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40-concept_2-anchor">
            <a:extLst xmlns:a="http://schemas.openxmlformats.org/drawingml/2006/main">
              <a:ext uri="{FF2B5EF4-FFF2-40B4-BE49-F238E27FC236}">
                <a16:creationId xmlns:a16="http://schemas.microsoft.com/office/drawing/2014/main" id="{659DF892-0053-4A1E-A5B0-DD835A15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40-concept_3-anchor">
            <a:extLst xmlns:a="http://schemas.openxmlformats.org/drawingml/2006/main">
              <a:ext uri="{FF2B5EF4-FFF2-40B4-BE49-F238E27FC236}">
                <a16:creationId xmlns:a16="http://schemas.microsoft.com/office/drawing/2014/main" id="{6DC005AB-9943-4B10-8704-AE8459FA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40-concept_4-anchor">
            <a:extLst xmlns:a="http://schemas.openxmlformats.org/drawingml/2006/main">
              <a:ext uri="{FF2B5EF4-FFF2-40B4-BE49-F238E27FC236}">
                <a16:creationId xmlns:a16="http://schemas.microsoft.com/office/drawing/2014/main" id="{C786A5F2-EA97-4655-BB7F-BB9ADAAB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40-concept_5-anchor">
            <a:extLst xmlns:a="http://schemas.openxmlformats.org/drawingml/2006/main">
              <a:ext uri="{FF2B5EF4-FFF2-40B4-BE49-F238E27FC236}">
                <a16:creationId xmlns:a16="http://schemas.microsoft.com/office/drawing/2014/main" id="{31B6EA78-7A4F-4036-8969-1564F449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40-visual-alt" descr="Encuadre prudente de ruido y tinnitus. Percepción; apoyo sonoro; evaluación; evidencia/plan individual. Orden de lectura: “puede integrar”, “no sustituye”. ---">
            <a:extLst xmlns:a="http://schemas.openxmlformats.org/drawingml/2006/main">
              <a:ext uri="{FF2B5EF4-FFF2-40B4-BE49-F238E27FC236}">
                <a16:creationId xmlns:a16="http://schemas.microsoft.com/office/drawing/2014/main" id="{CC32BF67-4942-41C3-BD59-1094F05A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2" name="U10-DG-040-concept_1-text">
            <a:extLst xmlns:a="http://schemas.openxmlformats.org/drawingml/2006/main">
              <a:ext uri="{FF2B5EF4-FFF2-40B4-BE49-F238E27FC236}">
                <a16:creationId xmlns:a16="http://schemas.microsoft.com/office/drawing/2014/main" id="{91B9DFFA-C46A-4190-9A29-B394E04D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Percepción de tinnitus</a:t>
            </a:r>
          </a:p>
        </p:txBody>
      </p:sp>
      <p:sp>
        <p:nvSpPr>
          <p:cNvPr id="13" name="U10-DG-040-concept_2-box">
            <a:extLst xmlns:a="http://schemas.openxmlformats.org/drawingml/2006/main">
              <a:ext uri="{FF2B5EF4-FFF2-40B4-BE49-F238E27FC236}">
                <a16:creationId xmlns:a16="http://schemas.microsoft.com/office/drawing/2014/main" id="{803D1F59-6F83-4409-9ABD-42CDA876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4" name="U10-DG-040-concept_2-text">
            <a:extLst xmlns:a="http://schemas.openxmlformats.org/drawingml/2006/main">
              <a:ext uri="{FF2B5EF4-FFF2-40B4-BE49-F238E27FC236}">
                <a16:creationId xmlns:a16="http://schemas.microsoft.com/office/drawing/2014/main" id="{63B61411-3254-4B4E-B02A-E1E0D0B9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Evaluación clínica</a:t>
            </a:r>
          </a:p>
        </p:txBody>
      </p:sp>
      <p:sp>
        <p:nvSpPr>
          <p:cNvPr id="15" name="U10-DG-040-concept_3-box">
            <a:extLst xmlns:a="http://schemas.openxmlformats.org/drawingml/2006/main">
              <a:ext uri="{FF2B5EF4-FFF2-40B4-BE49-F238E27FC236}">
                <a16:creationId xmlns:a16="http://schemas.microsoft.com/office/drawing/2014/main" id="{BFE8E618-F252-46DB-B622-7425D4BE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6" name="U10-DG-040-concept_3-text">
            <a:extLst xmlns:a="http://schemas.openxmlformats.org/drawingml/2006/main">
              <a:ext uri="{FF2B5EF4-FFF2-40B4-BE49-F238E27FC236}">
                <a16:creationId xmlns:a16="http://schemas.microsoft.com/office/drawing/2014/main" id="{0C4F902C-5315-4947-BCFB-D04F3AF8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Apoyo sonoro posible</a:t>
            </a:r>
          </a:p>
        </p:txBody>
      </p:sp>
      <p:sp>
        <p:nvSpPr>
          <p:cNvPr id="17" name="U10-DG-040-concept_4-box">
            <a:extLst xmlns:a="http://schemas.openxmlformats.org/drawingml/2006/main">
              <a:ext uri="{FF2B5EF4-FFF2-40B4-BE49-F238E27FC236}">
                <a16:creationId xmlns:a16="http://schemas.microsoft.com/office/drawing/2014/main" id="{1F6271AD-4C82-4E16-993F-34220C88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8" name="U10-DG-040-concept_4-text">
            <a:extLst xmlns:a="http://schemas.openxmlformats.org/drawingml/2006/main">
              <a:ext uri="{FF2B5EF4-FFF2-40B4-BE49-F238E27FC236}">
                <a16:creationId xmlns:a16="http://schemas.microsoft.com/office/drawing/2014/main" id="{9A3B26A7-267D-47F0-B448-9781CE37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Plan individual y evidencia</a:t>
            </a:r>
          </a:p>
        </p:txBody>
      </p:sp>
      <p:sp>
        <p:nvSpPr>
          <p:cNvPr id="19" name="U10-DG-040-concept_5-box">
            <a:extLst xmlns:a="http://schemas.openxmlformats.org/drawingml/2006/main">
              <a:ext uri="{FF2B5EF4-FFF2-40B4-BE49-F238E27FC236}">
                <a16:creationId xmlns:a16="http://schemas.microsoft.com/office/drawing/2014/main" id="{3A3E96A4-864F-4888-8F84-B33EF10F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0" name="U10-DG-040-concept_5-text">
            <a:extLst xmlns:a="http://schemas.openxmlformats.org/drawingml/2006/main">
              <a:ext uri="{FF2B5EF4-FFF2-40B4-BE49-F238E27FC236}">
                <a16:creationId xmlns:a16="http://schemas.microsoft.com/office/drawing/2014/main" id="{507D0DDA-52BE-41D9-ACAF-23566B4F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No prescribe ruido ni nivel</a:t>
            </a:r>
          </a:p>
        </p:txBody>
      </p:sp>
      <p:sp>
        <p:nvSpPr>
          <p:cNvPr id="21" name="caption">
            <a:extLst xmlns:a="http://schemas.openxmlformats.org/drawingml/2006/main">
              <a:ext uri="{FF2B5EF4-FFF2-40B4-BE49-F238E27FC236}">
                <a16:creationId xmlns:a16="http://schemas.microsoft.com/office/drawing/2014/main" id="{9DD00F7D-8187-46CC-A4A2-F1803FD6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Encuadre prudente de ruido y tinnitus. Percepción; apoyo sonoro; evaluación; evidencia/plan individual.</a:t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3FACF0C-2756-49B3-AE92-C22A2E96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CAED606B-3D38-4D45-A213-C900480B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9752170C-B218-4899-9311-5D075D6C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1F4E8678-1B94-46EA-BD05-662AC789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043FB26-5A5A-42E9-8697-A58168A1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9196DE-EDDB-43A8-A7CA-A9BAE87E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Función clara; protocolo pendiente</a:t>
            </a:r>
          </a:p>
        </p:txBody>
      </p:sp>
      <p:sp>
        <p:nvSpPr>
          <p:cNvPr id="6" name="U10-DG-041-step_1-anchor">
            <a:extLst xmlns:a="http://schemas.openxmlformats.org/drawingml/2006/main">
              <a:ext uri="{FF2B5EF4-FFF2-40B4-BE49-F238E27FC236}">
                <a16:creationId xmlns:a16="http://schemas.microsoft.com/office/drawing/2014/main" id="{442AB610-449E-48B2-BD9C-D826FB68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41-step_2-anchor">
            <a:extLst xmlns:a="http://schemas.openxmlformats.org/drawingml/2006/main">
              <a:ext uri="{FF2B5EF4-FFF2-40B4-BE49-F238E27FC236}">
                <a16:creationId xmlns:a16="http://schemas.microsoft.com/office/drawing/2014/main" id="{59DBC378-9413-483A-924E-D739515D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41-step_3-anchor">
            <a:extLst xmlns:a="http://schemas.openxmlformats.org/drawingml/2006/main">
              <a:ext uri="{FF2B5EF4-FFF2-40B4-BE49-F238E27FC236}">
                <a16:creationId xmlns:a16="http://schemas.microsoft.com/office/drawing/2014/main" id="{569730A8-2D09-4E44-8BD3-FC3C8CA2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41-step_4-anchor">
            <a:extLst xmlns:a="http://schemas.openxmlformats.org/drawingml/2006/main">
              <a:ext uri="{FF2B5EF4-FFF2-40B4-BE49-F238E27FC236}">
                <a16:creationId xmlns:a16="http://schemas.microsoft.com/office/drawing/2014/main" id="{93BC3D24-ADA6-4C77-B886-57A261A8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41-step_5-anchor">
            <a:extLst xmlns:a="http://schemas.openxmlformats.org/drawingml/2006/main">
              <a:ext uri="{FF2B5EF4-FFF2-40B4-BE49-F238E27FC236}">
                <a16:creationId xmlns:a16="http://schemas.microsoft.com/office/drawing/2014/main" id="{F624219A-F51A-465F-BDC9-6CA66347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U10-DG-041-flow_1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U10-DG-041-flow_2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10-DG-041-flow_3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10-DG-041-flow_4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10-DG-041-visual-alt" descr="Recap de función y frontera. Señal; ruta; control; respuesta; caja “protocolo requerido”. Orden de lectura: Cadena y ramal de límite. ---">
            <a:extLst xmlns:a="http://schemas.openxmlformats.org/drawingml/2006/main">
              <a:ext uri="{FF2B5EF4-FFF2-40B4-BE49-F238E27FC236}">
                <a16:creationId xmlns:a16="http://schemas.microsoft.com/office/drawing/2014/main" id="{433A6417-67C9-43E7-A81A-C947F04D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6" name="U10-DG-041-step_1-text">
            <a:extLst xmlns:a="http://schemas.openxmlformats.org/drawingml/2006/main">
              <a:ext uri="{FF2B5EF4-FFF2-40B4-BE49-F238E27FC236}">
                <a16:creationId xmlns:a16="http://schemas.microsoft.com/office/drawing/2014/main" id="{0DFB886D-45D2-4B4E-B012-23D6DB3B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Señal de prueba</a:t>
            </a:r>
          </a:p>
        </p:txBody>
      </p:sp>
      <p:sp>
        <p:nvSpPr>
          <p:cNvPr id="17" name="U10-DG-041-step_2-box">
            <a:extLst xmlns:a="http://schemas.openxmlformats.org/drawingml/2006/main">
              <a:ext uri="{FF2B5EF4-FFF2-40B4-BE49-F238E27FC236}">
                <a16:creationId xmlns:a16="http://schemas.microsoft.com/office/drawing/2014/main" id="{F24EF576-C02B-408C-95F4-72E9C32D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8" name="U10-DG-041-step_2-text">
            <a:extLst xmlns:a="http://schemas.openxmlformats.org/drawingml/2006/main">
              <a:ext uri="{FF2B5EF4-FFF2-40B4-BE49-F238E27FC236}">
                <a16:creationId xmlns:a16="http://schemas.microsoft.com/office/drawing/2014/main" id="{112ACEAC-023A-4B7B-9265-43E2F4F5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Ruta posible</a:t>
            </a:r>
          </a:p>
        </p:txBody>
      </p:sp>
      <p:sp>
        <p:nvSpPr>
          <p:cNvPr id="19" name="U10-DG-041-step_3-box">
            <a:extLst xmlns:a="http://schemas.openxmlformats.org/drawingml/2006/main">
              <a:ext uri="{FF2B5EF4-FFF2-40B4-BE49-F238E27FC236}">
                <a16:creationId xmlns:a16="http://schemas.microsoft.com/office/drawing/2014/main" id="{B0914766-61AF-4F9A-8B00-479C2774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0" name="U10-DG-041-step_3-text">
            <a:extLst xmlns:a="http://schemas.openxmlformats.org/drawingml/2006/main">
              <a:ext uri="{FF2B5EF4-FFF2-40B4-BE49-F238E27FC236}">
                <a16:creationId xmlns:a16="http://schemas.microsoft.com/office/drawing/2014/main" id="{EBAF7E82-A775-436A-AA03-E8640A8E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Control con</a:t>
            </a:r>
          </a:p>
        </p:txBody>
      </p:sp>
      <p:sp>
        <p:nvSpPr>
          <p:cNvPr id="21" name="U10-DG-041-step_4-box">
            <a:extLst xmlns:a="http://schemas.openxmlformats.org/drawingml/2006/main">
              <a:ext uri="{FF2B5EF4-FFF2-40B4-BE49-F238E27FC236}">
                <a16:creationId xmlns:a16="http://schemas.microsoft.com/office/drawing/2014/main" id="{96EBC2CE-19FB-4886-B805-863A4469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2" name="U10-DG-041-step_4-text">
            <a:extLst xmlns:a="http://schemas.openxmlformats.org/drawingml/2006/main">
              <a:ext uri="{FF2B5EF4-FFF2-40B4-BE49-F238E27FC236}">
                <a16:creationId xmlns:a16="http://schemas.microsoft.com/office/drawing/2014/main" id="{C66A40CB-8C96-4BCB-89D7-87E5B174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Respuesta</a:t>
            </a:r>
          </a:p>
        </p:txBody>
      </p:sp>
      <p:sp>
        <p:nvSpPr>
          <p:cNvPr id="23" name="U10-DG-041-step_5-box">
            <a:extLst xmlns:a="http://schemas.openxmlformats.org/drawingml/2006/main">
              <a:ext uri="{FF2B5EF4-FFF2-40B4-BE49-F238E27FC236}">
                <a16:creationId xmlns:a16="http://schemas.microsoft.com/office/drawing/2014/main" id="{D5952E47-9069-4E20-BBE7-DF28F220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4" name="U10-DG-041-step_5-text">
            <a:extLst xmlns:a="http://schemas.openxmlformats.org/drawingml/2006/main">
              <a:ext uri="{FF2B5EF4-FFF2-40B4-BE49-F238E27FC236}">
                <a16:creationId xmlns:a16="http://schemas.microsoft.com/office/drawing/2014/main" id="{4CFC6AD4-97F9-45C6-A108-2EFDF266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Protocolo clínico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FEFBEFE3-5506-4834-A388-14D75D30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Recap de función y frontera. Señal; ruta; control; respuesta; caja “protocolo requerido”.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5A1C2DB-2BBF-434A-8FCD-03718F84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052A61FB-B596-473F-89F5-C2D01ACE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10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9080BBDF-A308-4318-A222-177FDE9A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¿Qué puede medirse, qué puede inferirse y dónde conviene actuar?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2DD5AFD8-3D94-4B92-B0C8-A92FBBB9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Pregunta guía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0ADB9E2-4793-4BE6-9EE7-F18310A4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rail-1">
            <a:extLst xmlns:a="http://schemas.openxmlformats.org/drawingml/2006/main">
              <a:ext uri="{FF2B5EF4-FFF2-40B4-BE49-F238E27FC236}">
                <a16:creationId xmlns:a16="http://schemas.microsoft.com/office/drawing/2014/main" id="{050BE1EF-0179-4B04-8234-36802CF6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C5759BF4-BE05-49B3-968F-8E8C3BF5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5BD4AE04-1696-4007-9E06-144C1EA3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F1E3E736-A649-4F88-B5A8-6C526891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D1B3C1-B3FD-495F-A33F-3258C90F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Exposición, resultado funcional y salud no son la misma afirmación</a:t>
            </a:r>
          </a:p>
        </p:txBody>
      </p:sp>
      <p:sp>
        <p:nvSpPr>
          <p:cNvPr id="6" name="U10-DG-042-compare_1-anchor">
            <a:extLst xmlns:a="http://schemas.openxmlformats.org/drawingml/2006/main">
              <a:ext uri="{FF2B5EF4-FFF2-40B4-BE49-F238E27FC236}">
                <a16:creationId xmlns:a16="http://schemas.microsoft.com/office/drawing/2014/main" id="{6D5E6B56-1B32-4577-B5A6-024E2E71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4469130" cy="1327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42-compare_2-anchor">
            <a:extLst xmlns:a="http://schemas.openxmlformats.org/drawingml/2006/main">
              <a:ext uri="{FF2B5EF4-FFF2-40B4-BE49-F238E27FC236}">
                <a16:creationId xmlns:a16="http://schemas.microsoft.com/office/drawing/2014/main" id="{C5FADA3C-0F07-43EE-9D26-AC40065F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691640"/>
            <a:ext cx="4469130" cy="1327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42-compare_3-anchor">
            <a:extLst xmlns:a="http://schemas.openxmlformats.org/drawingml/2006/main">
              <a:ext uri="{FF2B5EF4-FFF2-40B4-BE49-F238E27FC236}">
                <a16:creationId xmlns:a16="http://schemas.microsoft.com/office/drawing/2014/main" id="{21816537-5BF4-4FF4-98C2-01C595C2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119"/>
            <a:ext cx="4469130" cy="1327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42-compare_4-anchor">
            <a:extLst xmlns:a="http://schemas.openxmlformats.org/drawingml/2006/main">
              <a:ext uri="{FF2B5EF4-FFF2-40B4-BE49-F238E27FC236}">
                <a16:creationId xmlns:a16="http://schemas.microsoft.com/office/drawing/2014/main" id="{45BD1C4B-6963-4559-9CBD-5F012260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238119"/>
            <a:ext cx="4469130" cy="1327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42-visual-alt" descr="Tres planos de análisis. Exposición; resultado funcional; salud/diagnóstico; evidencia requerida. Orden de lectura: “informa”, no “determina”. ---">
            <a:extLst xmlns:a="http://schemas.openxmlformats.org/drawingml/2006/main">
              <a:ext uri="{FF2B5EF4-FFF2-40B4-BE49-F238E27FC236}">
                <a16:creationId xmlns:a16="http://schemas.microsoft.com/office/drawing/2014/main" id="{1C3A64D7-4E27-4454-86F8-D9A0D6EC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4469130" cy="1327785"/>
          </a:xfrm>
          <a:prstGeom xmlns:a="http://schemas.openxmlformats.org/drawingml/2006/main" prst="roundRect">
            <a:avLst>
              <a:gd name="adj" fmla="val 502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1" name="U10-DG-042-compare_1-text">
            <a:extLst xmlns:a="http://schemas.openxmlformats.org/drawingml/2006/main">
              <a:ext uri="{FF2B5EF4-FFF2-40B4-BE49-F238E27FC236}">
                <a16:creationId xmlns:a16="http://schemas.microsoft.com/office/drawing/2014/main" id="{0D14EB56-E6D8-42C2-BC4F-9A4B3F0A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4126230" cy="1080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Exposición · medición física</a:t>
            </a:r>
          </a:p>
        </p:txBody>
      </p:sp>
      <p:sp>
        <p:nvSpPr>
          <p:cNvPr id="12" name="U10-DG-042-compare_2-box">
            <a:extLst xmlns:a="http://schemas.openxmlformats.org/drawingml/2006/main">
              <a:ext uri="{FF2B5EF4-FFF2-40B4-BE49-F238E27FC236}">
                <a16:creationId xmlns:a16="http://schemas.microsoft.com/office/drawing/2014/main" id="{551130E4-CA5F-47B7-B5E0-5A80B7EA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691640"/>
            <a:ext cx="4469130" cy="1327785"/>
          </a:xfrm>
          <a:prstGeom xmlns:a="http://schemas.openxmlformats.org/drawingml/2006/main" prst="roundRect">
            <a:avLst>
              <a:gd name="adj" fmla="val 502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3" name="U10-DG-042-compare_2-text">
            <a:extLst xmlns:a="http://schemas.openxmlformats.org/drawingml/2006/main">
              <a:ext uri="{FF2B5EF4-FFF2-40B4-BE49-F238E27FC236}">
                <a16:creationId xmlns:a16="http://schemas.microsoft.com/office/drawing/2014/main" id="{D414F29A-1423-4128-A01B-1FF5C42F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815465"/>
            <a:ext cx="4126230" cy="1080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Resultado funcional · prueba</a:t>
            </a:r>
          </a:p>
        </p:txBody>
      </p:sp>
      <p:sp>
        <p:nvSpPr>
          <p:cNvPr id="14" name="U10-DG-042-compare_3-box">
            <a:extLst xmlns:a="http://schemas.openxmlformats.org/drawingml/2006/main">
              <a:ext uri="{FF2B5EF4-FFF2-40B4-BE49-F238E27FC236}">
                <a16:creationId xmlns:a16="http://schemas.microsoft.com/office/drawing/2014/main" id="{FA8125B2-9B1B-4DB3-A11A-0791F511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119"/>
            <a:ext cx="4469130" cy="1327785"/>
          </a:xfrm>
          <a:prstGeom xmlns:a="http://schemas.openxmlformats.org/drawingml/2006/main" prst="roundRect">
            <a:avLst>
              <a:gd name="adj" fmla="val 502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5" name="U10-DG-042-compare_3-text">
            <a:extLst xmlns:a="http://schemas.openxmlformats.org/drawingml/2006/main">
              <a:ext uri="{FF2B5EF4-FFF2-40B4-BE49-F238E27FC236}">
                <a16:creationId xmlns:a16="http://schemas.microsoft.com/office/drawing/2014/main" id="{F527E55E-8B3F-4972-ADD2-00933B27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61944"/>
            <a:ext cx="4126230" cy="1080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Salud / diagnóstico · evaluación</a:t>
            </a:r>
          </a:p>
        </p:txBody>
      </p:sp>
      <p:sp>
        <p:nvSpPr>
          <p:cNvPr id="16" name="U10-DG-042-compare_4-box">
            <a:extLst xmlns:a="http://schemas.openxmlformats.org/drawingml/2006/main">
              <a:ext uri="{FF2B5EF4-FFF2-40B4-BE49-F238E27FC236}">
                <a16:creationId xmlns:a16="http://schemas.microsoft.com/office/drawing/2014/main" id="{ED62D648-39E6-4195-84A8-BCFBAABF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238119"/>
            <a:ext cx="4469130" cy="1327785"/>
          </a:xfrm>
          <a:prstGeom xmlns:a="http://schemas.openxmlformats.org/drawingml/2006/main" prst="roundRect">
            <a:avLst>
              <a:gd name="adj" fmla="val 5022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10-DG-042-compare_4-text">
            <a:extLst xmlns:a="http://schemas.openxmlformats.org/drawingml/2006/main">
              <a:ext uri="{FF2B5EF4-FFF2-40B4-BE49-F238E27FC236}">
                <a16:creationId xmlns:a16="http://schemas.microsoft.com/office/drawing/2014/main" id="{AC364C17-305C-40FD-A18B-246907B1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361944"/>
            <a:ext cx="4126230" cy="1080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Una medición informa; no determina</a:t>
            </a:r>
          </a:p>
        </p:txBody>
      </p:sp>
      <p:sp>
        <p:nvSpPr>
          <p:cNvPr id="18" name="caption">
            <a:extLst xmlns:a="http://schemas.openxmlformats.org/drawingml/2006/main">
              <a:ext uri="{FF2B5EF4-FFF2-40B4-BE49-F238E27FC236}">
                <a16:creationId xmlns:a16="http://schemas.microsoft.com/office/drawing/2014/main" id="{8D053612-4D1A-436E-BB52-01E62B2B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Tres planos de análisis. Exposición; resultado funcional; salud/diagnóstico; evidencia requerida.</a:t>
            </a:r>
          </a:p>
        </p:txBody>
      </p:sp>
      <p:sp>
        <p:nvSpPr>
          <p:cNvPr id="1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E25887F-BF0D-44E8-AA6E-A2EF9255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rail-1">
            <a:extLst xmlns:a="http://schemas.openxmlformats.org/drawingml/2006/main">
              <a:ext uri="{FF2B5EF4-FFF2-40B4-BE49-F238E27FC236}">
                <a16:creationId xmlns:a16="http://schemas.microsoft.com/office/drawing/2014/main" id="{3E1E8373-47BB-4027-9C19-E1D45255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AF91568C-FE35-410B-993D-3769A6F7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F361ED85-EACF-4EE4-8A8E-A11BC0B8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A2EA3C16-BA07-4055-B96A-382849DD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3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B131F1-6741-49D2-891B-29A36FD6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medición aislada no establece diagnóstico ni causalidad individual</a:t>
            </a:r>
          </a:p>
        </p:txBody>
      </p:sp>
      <p:sp>
        <p:nvSpPr>
          <p:cNvPr id="6" name="U10-DG-043-concept_1-anchor">
            <a:extLst xmlns:a="http://schemas.openxmlformats.org/drawingml/2006/main">
              <a:ext uri="{FF2B5EF4-FFF2-40B4-BE49-F238E27FC236}">
                <a16:creationId xmlns:a16="http://schemas.microsoft.com/office/drawing/2014/main" id="{3DCEEBB3-6A34-4E51-AA75-E066794C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43-concept_2-anchor">
            <a:extLst xmlns:a="http://schemas.openxmlformats.org/drawingml/2006/main">
              <a:ext uri="{FF2B5EF4-FFF2-40B4-BE49-F238E27FC236}">
                <a16:creationId xmlns:a16="http://schemas.microsoft.com/office/drawing/2014/main" id="{5B3D93EC-044C-4481-9EAE-4A55456B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43-concept_3-anchor">
            <a:extLst xmlns:a="http://schemas.openxmlformats.org/drawingml/2006/main">
              <a:ext uri="{FF2B5EF4-FFF2-40B4-BE49-F238E27FC236}">
                <a16:creationId xmlns:a16="http://schemas.microsoft.com/office/drawing/2014/main" id="{4D902FBD-AF92-46A1-A822-0D24F759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43-concept_4-anchor">
            <a:extLst xmlns:a="http://schemas.openxmlformats.org/drawingml/2006/main">
              <a:ext uri="{FF2B5EF4-FFF2-40B4-BE49-F238E27FC236}">
                <a16:creationId xmlns:a16="http://schemas.microsoft.com/office/drawing/2014/main" id="{3FC69402-41FF-4946-A753-54C15B58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43-concept_5-anchor">
            <a:extLst xmlns:a="http://schemas.openxmlformats.org/drawingml/2006/main">
              <a:ext uri="{FF2B5EF4-FFF2-40B4-BE49-F238E27FC236}">
                <a16:creationId xmlns:a16="http://schemas.microsoft.com/office/drawing/2014/main" id="{7182CAB0-084D-409D-AC4F-3C1E21E2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43-concept_6-anchor">
            <a:extLst xmlns:a="http://schemas.openxmlformats.org/drawingml/2006/main">
              <a:ext uri="{FF2B5EF4-FFF2-40B4-BE49-F238E27FC236}">
                <a16:creationId xmlns:a16="http://schemas.microsoft.com/office/drawing/2014/main" id="{CC2478A0-2803-4B9E-8771-32425F81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10-DG-043-visual-alt" descr="Límite causal individual. Medición; historia de exposición; función; evaluación clínica; variables mediadoras. Orden de lectura: “contribuye a”, “requiere”. ---">
            <a:extLst xmlns:a="http://schemas.openxmlformats.org/drawingml/2006/main">
              <a:ext uri="{FF2B5EF4-FFF2-40B4-BE49-F238E27FC236}">
                <a16:creationId xmlns:a16="http://schemas.microsoft.com/office/drawing/2014/main" id="{A71FD5EF-05B6-4C1A-ADA3-05328AB3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3" name="U10-DG-043-concept_1-text">
            <a:extLst xmlns:a="http://schemas.openxmlformats.org/drawingml/2006/main">
              <a:ext uri="{FF2B5EF4-FFF2-40B4-BE49-F238E27FC236}">
                <a16:creationId xmlns:a16="http://schemas.microsoft.com/office/drawing/2014/main" id="{7577B4A9-0991-4C4B-8C3F-F7F1D07C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Medición</a:t>
            </a:r>
          </a:p>
        </p:txBody>
      </p:sp>
      <p:sp>
        <p:nvSpPr>
          <p:cNvPr id="14" name="U10-DG-043-concept_2-box">
            <a:extLst xmlns:a="http://schemas.openxmlformats.org/drawingml/2006/main">
              <a:ext uri="{FF2B5EF4-FFF2-40B4-BE49-F238E27FC236}">
                <a16:creationId xmlns:a16="http://schemas.microsoft.com/office/drawing/2014/main" id="{D8DB034B-8076-4A8E-859B-ABC66450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5" name="U10-DG-043-concept_2-text">
            <a:extLst xmlns:a="http://schemas.openxmlformats.org/drawingml/2006/main">
              <a:ext uri="{FF2B5EF4-FFF2-40B4-BE49-F238E27FC236}">
                <a16:creationId xmlns:a16="http://schemas.microsoft.com/office/drawing/2014/main" id="{400C280B-ECBA-42DA-B4F5-671CB1FE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Historia de exposición</a:t>
            </a:r>
          </a:p>
        </p:txBody>
      </p:sp>
      <p:sp>
        <p:nvSpPr>
          <p:cNvPr id="16" name="U10-DG-043-concept_3-box">
            <a:extLst xmlns:a="http://schemas.openxmlformats.org/drawingml/2006/main">
              <a:ext uri="{FF2B5EF4-FFF2-40B4-BE49-F238E27FC236}">
                <a16:creationId xmlns:a16="http://schemas.microsoft.com/office/drawing/2014/main" id="{1368535A-B1A5-465F-A9C7-FB326864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7" name="U10-DG-043-concept_3-text">
            <a:extLst xmlns:a="http://schemas.openxmlformats.org/drawingml/2006/main">
              <a:ext uri="{FF2B5EF4-FFF2-40B4-BE49-F238E27FC236}">
                <a16:creationId xmlns:a16="http://schemas.microsoft.com/office/drawing/2014/main" id="{3D08997A-7C92-4D8E-A818-155A6F97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Función</a:t>
            </a:r>
          </a:p>
        </p:txBody>
      </p:sp>
      <p:sp>
        <p:nvSpPr>
          <p:cNvPr id="18" name="U10-DG-043-concept_4-box">
            <a:extLst xmlns:a="http://schemas.openxmlformats.org/drawingml/2006/main">
              <a:ext uri="{FF2B5EF4-FFF2-40B4-BE49-F238E27FC236}">
                <a16:creationId xmlns:a16="http://schemas.microsoft.com/office/drawing/2014/main" id="{2602D09F-06CF-49CF-B001-7986DD22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9" name="U10-DG-043-concept_4-text">
            <a:extLst xmlns:a="http://schemas.openxmlformats.org/drawingml/2006/main">
              <a:ext uri="{FF2B5EF4-FFF2-40B4-BE49-F238E27FC236}">
                <a16:creationId xmlns:a16="http://schemas.microsoft.com/office/drawing/2014/main" id="{D227D555-979E-41D6-B119-BEFD3025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Evaluación clínica</a:t>
            </a:r>
          </a:p>
        </p:txBody>
      </p:sp>
      <p:sp>
        <p:nvSpPr>
          <p:cNvPr id="20" name="U10-DG-043-concept_5-box">
            <a:extLst xmlns:a="http://schemas.openxmlformats.org/drawingml/2006/main">
              <a:ext uri="{FF2B5EF4-FFF2-40B4-BE49-F238E27FC236}">
                <a16:creationId xmlns:a16="http://schemas.microsoft.com/office/drawing/2014/main" id="{1F875FFA-7ADE-40D1-A9CD-5C763D9A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1" name="U10-DG-043-concept_5-text">
            <a:extLst xmlns:a="http://schemas.openxmlformats.org/drawingml/2006/main">
              <a:ext uri="{FF2B5EF4-FFF2-40B4-BE49-F238E27FC236}">
                <a16:creationId xmlns:a16="http://schemas.microsoft.com/office/drawing/2014/main" id="{585139DE-D8A2-48E8-BD12-6444EA7C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Variables mediadoras</a:t>
            </a:r>
          </a:p>
        </p:txBody>
      </p:sp>
      <p:sp>
        <p:nvSpPr>
          <p:cNvPr id="22" name="U10-DG-043-concept_6-box">
            <a:extLst xmlns:a="http://schemas.openxmlformats.org/drawingml/2006/main">
              <a:ext uri="{FF2B5EF4-FFF2-40B4-BE49-F238E27FC236}">
                <a16:creationId xmlns:a16="http://schemas.microsoft.com/office/drawing/2014/main" id="{E19D3D49-5A6A-4822-A38C-04DC79D8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3" name="U10-DG-043-concept_6-text">
            <a:extLst xmlns:a="http://schemas.openxmlformats.org/drawingml/2006/main">
              <a:ext uri="{FF2B5EF4-FFF2-40B4-BE49-F238E27FC236}">
                <a16:creationId xmlns:a16="http://schemas.microsoft.com/office/drawing/2014/main" id="{B73E038B-C686-426B-AE5E-5DE628CD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Conclusión individual</a:t>
            </a:r>
          </a:p>
        </p:txBody>
      </p:sp>
      <p:sp>
        <p:nvSpPr>
          <p:cNvPr id="24" name="caption">
            <a:extLst xmlns:a="http://schemas.openxmlformats.org/drawingml/2006/main">
              <a:ext uri="{FF2B5EF4-FFF2-40B4-BE49-F238E27FC236}">
                <a16:creationId xmlns:a16="http://schemas.microsoft.com/office/drawing/2014/main" id="{98F819B7-C628-4519-B75F-80453E9F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Límite causal individual. Medición; historia de exposición; función; evaluación clínica; variables mediadoras.</a:t>
            </a:r>
          </a:p>
        </p:txBody>
      </p:sp>
      <p:sp>
        <p:nvSpPr>
          <p:cNvPr id="2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4E4BB70-C38E-49AC-9AF9-76B8333A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950873707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rail-1">
            <a:extLst xmlns:a="http://schemas.openxmlformats.org/drawingml/2006/main">
              <a:ext uri="{FF2B5EF4-FFF2-40B4-BE49-F238E27FC236}">
                <a16:creationId xmlns:a16="http://schemas.microsoft.com/office/drawing/2014/main" id="{2BD03498-48CB-4199-BED2-00736C99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A287BDF1-A406-4F38-AEAE-72434733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C107374D-C785-408C-924B-F1F2512F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35286FCD-28AF-4711-A1FC-5255DD00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3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D5C284-E790-43FE-BB89-BF266BD6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325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Norma de medición, guía sanitaria y criterio legal responden preguntas distintas</a:t>
            </a:r>
          </a:p>
        </p:txBody>
      </p:sp>
      <p:sp>
        <p:nvSpPr>
          <p:cNvPr id="6" name="U10-068-claim-alt" descr="Recurso visual previsto: Tabla nativa; U10-AS-008 reservado a miniaturas de documentos solo tras verificar edición y licencia. ---">
            <a:extLst xmlns:a="http://schemas.openxmlformats.org/drawingml/2006/main">
              <a:ext uri="{FF2B5EF4-FFF2-40B4-BE49-F238E27FC236}">
                <a16:creationId xmlns:a16="http://schemas.microsoft.com/office/drawing/2014/main" id="{B2DF6DC6-B43C-4095-BD92-931AF689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7" name="U10-068-cell-text-0-0">
            <a:extLst xmlns:a="http://schemas.openxmlformats.org/drawingml/2006/main">
              <a:ext uri="{FF2B5EF4-FFF2-40B4-BE49-F238E27FC236}">
                <a16:creationId xmlns:a16="http://schemas.microsoft.com/office/drawing/2014/main" id="{4E621A69-5FA9-4D5B-8D05-3E6F629B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192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Documento</a:t>
            </a:r>
          </a:p>
        </p:txBody>
      </p:sp>
      <p:sp>
        <p:nvSpPr>
          <p:cNvPr id="8" name="U10-068-cell-0-1">
            <a:extLst xmlns:a="http://schemas.openxmlformats.org/drawingml/2006/main">
              <a:ext uri="{FF2B5EF4-FFF2-40B4-BE49-F238E27FC236}">
                <a16:creationId xmlns:a16="http://schemas.microsoft.com/office/drawing/2014/main" id="{BE538C76-0C48-4EF0-8ADE-97D64E99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571625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9" name="U10-068-cell-text-0-1">
            <a:extLst xmlns:a="http://schemas.openxmlformats.org/drawingml/2006/main">
              <a:ext uri="{FF2B5EF4-FFF2-40B4-BE49-F238E27FC236}">
                <a16:creationId xmlns:a16="http://schemas.microsoft.com/office/drawing/2014/main" id="{D316E73E-D87E-493C-9145-E2DB650A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619250"/>
            <a:ext cx="327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Pregunta principal</a:t>
            </a:r>
          </a:p>
        </p:txBody>
      </p:sp>
      <p:sp>
        <p:nvSpPr>
          <p:cNvPr id="10" name="U10-068-cell-0-2">
            <a:extLst xmlns:a="http://schemas.openxmlformats.org/drawingml/2006/main">
              <a:ext uri="{FF2B5EF4-FFF2-40B4-BE49-F238E27FC236}">
                <a16:creationId xmlns:a16="http://schemas.microsoft.com/office/drawing/2014/main" id="{2C68219F-F988-4B0F-9E77-E06ABE4C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71625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1" name="U10-068-cell-text-0-2">
            <a:extLst xmlns:a="http://schemas.openxmlformats.org/drawingml/2006/main">
              <a:ext uri="{FF2B5EF4-FFF2-40B4-BE49-F238E27FC236}">
                <a16:creationId xmlns:a16="http://schemas.microsoft.com/office/drawing/2014/main" id="{03C6B77F-44A5-4DAC-9403-7C78E24E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619250"/>
            <a:ext cx="4991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Metadatos imprescindibles</a:t>
            </a:r>
          </a:p>
        </p:txBody>
      </p:sp>
      <p:sp>
        <p:nvSpPr>
          <p:cNvPr id="12" name="U10-068-cell-1-0">
            <a:extLst xmlns:a="http://schemas.openxmlformats.org/drawingml/2006/main">
              <a:ext uri="{FF2B5EF4-FFF2-40B4-BE49-F238E27FC236}">
                <a16:creationId xmlns:a16="http://schemas.microsoft.com/office/drawing/2014/main" id="{7EA06A8F-52A1-409F-BA8D-CEDF1662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2407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3" name="U10-068-cell-text-1-0">
            <a:extLst xmlns:a="http://schemas.openxmlformats.org/drawingml/2006/main">
              <a:ext uri="{FF2B5EF4-FFF2-40B4-BE49-F238E27FC236}">
                <a16:creationId xmlns:a16="http://schemas.microsoft.com/office/drawing/2014/main" id="{D890FE58-BA52-47F0-8B9C-6E254733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7170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Norma de medición</a:t>
            </a:r>
          </a:p>
        </p:txBody>
      </p:sp>
      <p:sp>
        <p:nvSpPr>
          <p:cNvPr id="14" name="U10-068-cell-1-1">
            <a:extLst xmlns:a="http://schemas.openxmlformats.org/drawingml/2006/main">
              <a:ext uri="{FF2B5EF4-FFF2-40B4-BE49-F238E27FC236}">
                <a16:creationId xmlns:a16="http://schemas.microsoft.com/office/drawing/2014/main" id="{D1FF1D9C-E8BC-417E-9126-A54A68F9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24075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5" name="U10-068-cell-text-1-1">
            <a:extLst xmlns:a="http://schemas.openxmlformats.org/drawingml/2006/main">
              <a:ext uri="{FF2B5EF4-FFF2-40B4-BE49-F238E27FC236}">
                <a16:creationId xmlns:a16="http://schemas.microsoft.com/office/drawing/2014/main" id="{8090070F-772B-4B3A-AB8B-126D1165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171700"/>
            <a:ext cx="327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¿cómo medir y reportar?</a:t>
            </a:r>
          </a:p>
        </p:txBody>
      </p:sp>
      <p:sp>
        <p:nvSpPr>
          <p:cNvPr id="16" name="U10-068-cell-1-2">
            <a:extLst xmlns:a="http://schemas.openxmlformats.org/drawingml/2006/main">
              <a:ext uri="{FF2B5EF4-FFF2-40B4-BE49-F238E27FC236}">
                <a16:creationId xmlns:a16="http://schemas.microsoft.com/office/drawing/2014/main" id="{F127F168-735F-476F-86CB-92498F8B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24075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7" name="U10-068-cell-text-1-2">
            <a:extLst xmlns:a="http://schemas.openxmlformats.org/drawingml/2006/main">
              <a:ext uri="{FF2B5EF4-FFF2-40B4-BE49-F238E27FC236}">
                <a16:creationId xmlns:a16="http://schemas.microsoft.com/office/drawing/2014/main" id="{8B63D0CB-7762-4606-8486-49ED3AE5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171700"/>
            <a:ext cx="4991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número, edición, instrumento y procedimiento</a:t>
            </a:r>
          </a:p>
        </p:txBody>
      </p:sp>
      <p:sp>
        <p:nvSpPr>
          <p:cNvPr id="18" name="U10-068-cell-2-0">
            <a:extLst xmlns:a="http://schemas.openxmlformats.org/drawingml/2006/main">
              <a:ext uri="{FF2B5EF4-FFF2-40B4-BE49-F238E27FC236}">
                <a16:creationId xmlns:a16="http://schemas.microsoft.com/office/drawing/2014/main" id="{F833BC0C-1F3E-488E-8639-16722BC8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7652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9" name="U10-068-cell-text-2-0">
            <a:extLst xmlns:a="http://schemas.openxmlformats.org/drawingml/2006/main">
              <a:ext uri="{FF2B5EF4-FFF2-40B4-BE49-F238E27FC236}">
                <a16:creationId xmlns:a16="http://schemas.microsoft.com/office/drawing/2014/main" id="{40B3E985-05ED-49FF-B216-4C7A90F9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241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Guía sanitaria</a:t>
            </a:r>
          </a:p>
        </p:txBody>
      </p:sp>
      <p:sp>
        <p:nvSpPr>
          <p:cNvPr id="20" name="U10-068-cell-2-1">
            <a:extLst xmlns:a="http://schemas.openxmlformats.org/drawingml/2006/main">
              <a:ext uri="{FF2B5EF4-FFF2-40B4-BE49-F238E27FC236}">
                <a16:creationId xmlns:a16="http://schemas.microsoft.com/office/drawing/2014/main" id="{90C13AF7-681D-4128-843C-A1C62431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676525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21" name="U10-068-cell-text-2-1">
            <a:extLst xmlns:a="http://schemas.openxmlformats.org/drawingml/2006/main">
              <a:ext uri="{FF2B5EF4-FFF2-40B4-BE49-F238E27FC236}">
                <a16:creationId xmlns:a16="http://schemas.microsoft.com/office/drawing/2014/main" id="{B799FDB4-6135-4C0A-B43D-477FA07C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724150"/>
            <a:ext cx="327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efectos o recomendaciones considera?</a:t>
            </a:r>
          </a:p>
        </p:txBody>
      </p:sp>
      <p:sp>
        <p:nvSpPr>
          <p:cNvPr id="22" name="U10-068-cell-2-2">
            <a:extLst xmlns:a="http://schemas.openxmlformats.org/drawingml/2006/main">
              <a:ext uri="{FF2B5EF4-FFF2-40B4-BE49-F238E27FC236}">
                <a16:creationId xmlns:a16="http://schemas.microsoft.com/office/drawing/2014/main" id="{7ABC4903-04F1-4301-945E-DB013CE0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76525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23" name="U10-068-cell-text-2-2">
            <a:extLst xmlns:a="http://schemas.openxmlformats.org/drawingml/2006/main">
              <a:ext uri="{FF2B5EF4-FFF2-40B4-BE49-F238E27FC236}">
                <a16:creationId xmlns:a16="http://schemas.microsoft.com/office/drawing/2014/main" id="{2E6E0D43-2163-44D5-9705-2DAF51FF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724150"/>
            <a:ext cx="4991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población, alcance y fecha</a:t>
            </a:r>
          </a:p>
        </p:txBody>
      </p:sp>
      <p:sp>
        <p:nvSpPr>
          <p:cNvPr id="24" name="U10-068-cell-3-0">
            <a:extLst xmlns:a="http://schemas.openxmlformats.org/drawingml/2006/main">
              <a:ext uri="{FF2B5EF4-FFF2-40B4-BE49-F238E27FC236}">
                <a16:creationId xmlns:a16="http://schemas.microsoft.com/office/drawing/2014/main" id="{E833CCF1-3A5F-4720-A903-45E7AB4F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2897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25" name="U10-068-cell-text-3-0">
            <a:extLst xmlns:a="http://schemas.openxmlformats.org/drawingml/2006/main">
              <a:ext uri="{FF2B5EF4-FFF2-40B4-BE49-F238E27FC236}">
                <a16:creationId xmlns:a16="http://schemas.microsoft.com/office/drawing/2014/main" id="{76C2CF08-2F6A-4982-A60A-26DF6926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7660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Criterio legal</a:t>
            </a:r>
          </a:p>
        </p:txBody>
      </p:sp>
      <p:sp>
        <p:nvSpPr>
          <p:cNvPr id="26" name="U10-068-cell-3-1">
            <a:extLst xmlns:a="http://schemas.openxmlformats.org/drawingml/2006/main">
              <a:ext uri="{FF2B5EF4-FFF2-40B4-BE49-F238E27FC236}">
                <a16:creationId xmlns:a16="http://schemas.microsoft.com/office/drawing/2014/main" id="{3D198547-0810-4B6E-84AE-EC6172F9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28975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27" name="U10-068-cell-text-3-1">
            <a:extLst xmlns:a="http://schemas.openxmlformats.org/drawingml/2006/main">
              <a:ext uri="{FF2B5EF4-FFF2-40B4-BE49-F238E27FC236}">
                <a16:creationId xmlns:a16="http://schemas.microsoft.com/office/drawing/2014/main" id="{B1D11AA3-33F3-4455-BA9C-81FBFAE4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276600"/>
            <a:ext cx="327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obligación rige?</a:t>
            </a:r>
          </a:p>
        </p:txBody>
      </p:sp>
      <p:sp>
        <p:nvSpPr>
          <p:cNvPr id="28" name="U10-068-cell-3-2">
            <a:extLst xmlns:a="http://schemas.openxmlformats.org/drawingml/2006/main">
              <a:ext uri="{FF2B5EF4-FFF2-40B4-BE49-F238E27FC236}">
                <a16:creationId xmlns:a16="http://schemas.microsoft.com/office/drawing/2014/main" id="{86121D7C-F3CB-4BCB-8EF5-3297677A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28975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29" name="U10-068-cell-text-3-2">
            <a:extLst xmlns:a="http://schemas.openxmlformats.org/drawingml/2006/main">
              <a:ext uri="{FF2B5EF4-FFF2-40B4-BE49-F238E27FC236}">
                <a16:creationId xmlns:a16="http://schemas.microsoft.com/office/drawing/2014/main" id="{AD569142-FF08-43E1-8E3E-BBC17B26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276600"/>
            <a:ext cx="4991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jurisdicción, vigencia y descriptor</a:t>
            </a:r>
          </a:p>
        </p:txBody>
      </p:sp>
      <p:sp>
        <p:nvSpPr>
          <p:cNvPr id="30" name="U10-068-table-note">
            <a:extLst xmlns:a="http://schemas.openxmlformats.org/drawingml/2006/main">
              <a:ext uri="{FF2B5EF4-FFF2-40B4-BE49-F238E27FC236}">
                <a16:creationId xmlns:a16="http://schemas.microsoft.com/office/drawing/2014/main" id="{0E70DB30-D311-4BCB-9772-F360F047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1002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No trasladar un número entre documentos con propósitos distintos.</a:t>
            </a:r>
          </a:p>
        </p:txBody>
      </p:sp>
      <p:sp>
        <p:nvSpPr>
          <p:cNvPr id="3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D2550DB-E56F-4EE6-88B2-40624F0D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68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rail-1">
            <a:extLst xmlns:a="http://schemas.openxmlformats.org/drawingml/2006/main">
              <a:ext uri="{FF2B5EF4-FFF2-40B4-BE49-F238E27FC236}">
                <a16:creationId xmlns:a16="http://schemas.microsoft.com/office/drawing/2014/main" id="{81B41860-CA38-4EC2-8E61-167F72AC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02172441-9F39-4646-B00F-6965EA49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6DB0182D-1B37-4648-8C60-DE2D0E40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79EF0F94-2B43-43D9-9B3C-1259457F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0E37CA-0D9B-4475-9878-915D653C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valor global en dB(A) no certifica una cabina</a:t>
            </a:r>
          </a:p>
        </p:txBody>
      </p:sp>
      <p:sp>
        <p:nvSpPr>
          <p:cNvPr id="6" name="U10-DG-044-source-anchor">
            <a:extLst xmlns:a="http://schemas.openxmlformats.org/drawingml/2006/main">
              <a:ext uri="{FF2B5EF4-FFF2-40B4-BE49-F238E27FC236}">
                <a16:creationId xmlns:a16="http://schemas.microsoft.com/office/drawing/2014/main" id="{F7689865-D445-4ED2-B32C-C527DC0D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433638"/>
            <a:ext cx="2409825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44-path_top-anchor">
            <a:extLst xmlns:a="http://schemas.openxmlformats.org/drawingml/2006/main">
              <a:ext uri="{FF2B5EF4-FFF2-40B4-BE49-F238E27FC236}">
                <a16:creationId xmlns:a16="http://schemas.microsoft.com/office/drawing/2014/main" id="{FEA89472-00E5-4535-AA79-DA070792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6601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44-path_bottom-anchor">
            <a:extLst xmlns:a="http://schemas.openxmlformats.org/drawingml/2006/main">
              <a:ext uri="{FF2B5EF4-FFF2-40B4-BE49-F238E27FC236}">
                <a16:creationId xmlns:a16="http://schemas.microsoft.com/office/drawing/2014/main" id="{AAA25986-D07A-4946-8DEF-BD0A470D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44265"/>
            <a:ext cx="236601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44-space-anchor">
            <a:extLst xmlns:a="http://schemas.openxmlformats.org/drawingml/2006/main">
              <a:ext uri="{FF2B5EF4-FFF2-40B4-BE49-F238E27FC236}">
                <a16:creationId xmlns:a16="http://schemas.microsoft.com/office/drawing/2014/main" id="{E3DC9FAF-8529-4C8A-A88E-259E9323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0" y="2433638"/>
            <a:ext cx="219075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44-receiver-anchor">
            <a:extLst xmlns:a="http://schemas.openxmlformats.org/drawingml/2006/main">
              <a:ext uri="{FF2B5EF4-FFF2-40B4-BE49-F238E27FC236}">
                <a16:creationId xmlns:a16="http://schemas.microsoft.com/office/drawing/2014/main" id="{0E1E4F7B-69C7-4D58-B6BD-D1CF95CE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433638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44-condition-anchor">
            <a:extLst xmlns:a="http://schemas.openxmlformats.org/drawingml/2006/main">
              <a:ext uri="{FF2B5EF4-FFF2-40B4-BE49-F238E27FC236}">
                <a16:creationId xmlns:a16="http://schemas.microsoft.com/office/drawing/2014/main" id="{67FFCDB6-83B5-4A57-8D2C-D739B811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815840"/>
            <a:ext cx="5476875" cy="546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2" name="U10-DG-044-route_1a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177540" y="1577340"/>
            <a:ext cx="2594610" cy="140303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10-DG-044-route_1b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57850" y="2140744"/>
            <a:ext cx="262890" cy="83962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4" name="U10-DG-044-route_2a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77540" y="2980373"/>
            <a:ext cx="2594610" cy="16764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10-DG-044-route_2b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5657850" y="2980373"/>
            <a:ext cx="26289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10-DG-044-route_3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111490" y="2980373"/>
            <a:ext cx="30670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7" name="U10-DG-044-visual-alt" descr="Ruido de fondo en cabina. Cabina; fuente residual; transductor; oído; banda; prueba; criterio. Orden de lectura: Rutas “entra”, “se presenta”, “puede limitar”. ---">
            <a:extLst xmlns:a="http://schemas.openxmlformats.org/drawingml/2006/main">
              <a:ext uri="{FF2B5EF4-FFF2-40B4-BE49-F238E27FC236}">
                <a16:creationId xmlns:a16="http://schemas.microsoft.com/office/drawing/2014/main" id="{19723427-E758-4843-841E-08DE204D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433638"/>
            <a:ext cx="2409825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44-source-text">
            <a:extLst xmlns:a="http://schemas.openxmlformats.org/drawingml/2006/main">
              <a:ext uri="{FF2B5EF4-FFF2-40B4-BE49-F238E27FC236}">
                <a16:creationId xmlns:a16="http://schemas.microsoft.com/office/drawing/2014/main" id="{C1AEA32B-6CE9-46BE-8B3B-0595304E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2557463"/>
            <a:ext cx="2066925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Fuente residual</a:t>
            </a:r>
          </a:p>
        </p:txBody>
      </p:sp>
      <p:sp>
        <p:nvSpPr>
          <p:cNvPr id="19" name="U10-DG-044-path_top-box">
            <a:extLst xmlns:a="http://schemas.openxmlformats.org/drawingml/2006/main">
              <a:ext uri="{FF2B5EF4-FFF2-40B4-BE49-F238E27FC236}">
                <a16:creationId xmlns:a16="http://schemas.microsoft.com/office/drawing/2014/main" id="{1272C85F-E406-4626-8F41-B8B7336B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6601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0" name="U10-DG-044-path_top-text">
            <a:extLst xmlns:a="http://schemas.openxmlformats.org/drawingml/2006/main">
              <a:ext uri="{FF2B5EF4-FFF2-40B4-BE49-F238E27FC236}">
                <a16:creationId xmlns:a16="http://schemas.microsoft.com/office/drawing/2014/main" id="{65C6C169-9AEB-4514-BF6B-2E2FCCC4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1815465"/>
            <a:ext cx="202311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Cabina</a:t>
            </a:r>
          </a:p>
        </p:txBody>
      </p:sp>
      <p:sp>
        <p:nvSpPr>
          <p:cNvPr id="21" name="U10-DG-044-path_bottom-box">
            <a:extLst xmlns:a="http://schemas.openxmlformats.org/drawingml/2006/main">
              <a:ext uri="{FF2B5EF4-FFF2-40B4-BE49-F238E27FC236}">
                <a16:creationId xmlns:a16="http://schemas.microsoft.com/office/drawing/2014/main" id="{243614A8-CA3D-4B93-B9AE-329AD75C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44265"/>
            <a:ext cx="236601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2" name="U10-DG-044-path_bottom-text">
            <a:extLst xmlns:a="http://schemas.openxmlformats.org/drawingml/2006/main">
              <a:ext uri="{FF2B5EF4-FFF2-40B4-BE49-F238E27FC236}">
                <a16:creationId xmlns:a16="http://schemas.microsoft.com/office/drawing/2014/main" id="{A6492EAB-F5D6-4445-AD81-A75A78F7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3768090"/>
            <a:ext cx="202311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Transductor</a:t>
            </a:r>
          </a:p>
        </p:txBody>
      </p:sp>
      <p:sp>
        <p:nvSpPr>
          <p:cNvPr id="23" name="U10-DG-044-space-box">
            <a:extLst xmlns:a="http://schemas.openxmlformats.org/drawingml/2006/main">
              <a:ext uri="{FF2B5EF4-FFF2-40B4-BE49-F238E27FC236}">
                <a16:creationId xmlns:a16="http://schemas.microsoft.com/office/drawing/2014/main" id="{E7C5C917-81A3-4107-8BB3-88FA862D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0" y="2433638"/>
            <a:ext cx="219075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4" name="U10-DG-044-space-text">
            <a:extLst xmlns:a="http://schemas.openxmlformats.org/drawingml/2006/main">
              <a:ext uri="{FF2B5EF4-FFF2-40B4-BE49-F238E27FC236}">
                <a16:creationId xmlns:a16="http://schemas.microsoft.com/office/drawing/2014/main" id="{51939710-140E-4E6F-853E-81B35374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190" y="2557463"/>
            <a:ext cx="184785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Oído</a:t>
            </a:r>
          </a:p>
        </p:txBody>
      </p:sp>
      <p:sp>
        <p:nvSpPr>
          <p:cNvPr id="25" name="U10-DG-044-receiver-box">
            <a:extLst xmlns:a="http://schemas.openxmlformats.org/drawingml/2006/main">
              <a:ext uri="{FF2B5EF4-FFF2-40B4-BE49-F238E27FC236}">
                <a16:creationId xmlns:a16="http://schemas.microsoft.com/office/drawing/2014/main" id="{D3E5226A-DEC1-416F-A1F3-CA4AF51E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433638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6" name="U10-DG-044-receiver-text">
            <a:extLst xmlns:a="http://schemas.openxmlformats.org/drawingml/2006/main">
              <a:ext uri="{FF2B5EF4-FFF2-40B4-BE49-F238E27FC236}">
                <a16:creationId xmlns:a16="http://schemas.microsoft.com/office/drawing/2014/main" id="{B154CF01-2276-435F-84DD-B0D40F69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557463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Banda de prueba</a:t>
            </a:r>
          </a:p>
        </p:txBody>
      </p:sp>
      <p:sp>
        <p:nvSpPr>
          <p:cNvPr id="27" name="U10-DG-044-condition-box">
            <a:extLst xmlns:a="http://schemas.openxmlformats.org/drawingml/2006/main">
              <a:ext uri="{FF2B5EF4-FFF2-40B4-BE49-F238E27FC236}">
                <a16:creationId xmlns:a16="http://schemas.microsoft.com/office/drawing/2014/main" id="{75AC1BC6-22F4-4F4A-90C2-67CC2EFA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815840"/>
            <a:ext cx="5476875" cy="546735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8" name="U10-DG-044-condition-text">
            <a:extLst xmlns:a="http://schemas.openxmlformats.org/drawingml/2006/main">
              <a:ext uri="{FF2B5EF4-FFF2-40B4-BE49-F238E27FC236}">
                <a16:creationId xmlns:a16="http://schemas.microsoft.com/office/drawing/2014/main" id="{5033BC24-D36B-4F58-8B74-8A3314CF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4939665"/>
            <a:ext cx="5133975" cy="299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Criterio por banda</a:t>
            </a:r>
          </a:p>
        </p:txBody>
      </p:sp>
      <p:sp>
        <p:nvSpPr>
          <p:cNvPr id="29" name="caption">
            <a:extLst xmlns:a="http://schemas.openxmlformats.org/drawingml/2006/main">
              <a:ext uri="{FF2B5EF4-FFF2-40B4-BE49-F238E27FC236}">
                <a16:creationId xmlns:a16="http://schemas.microsoft.com/office/drawing/2014/main" id="{FCA2D62C-2949-42AD-9F4D-1BA8F95A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Ruido de fondo en cabina. Cabina; fuente residual; transductor; oído; banda; prueba; criterio.</a:t>
            </a:r>
          </a:p>
        </p:txBody>
      </p:sp>
      <p:sp>
        <p:nvSpPr>
          <p:cNvPr id="3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9156C70-E3A3-43BB-9ED2-D173F17D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69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ail-1">
            <a:extLst xmlns:a="http://schemas.openxmlformats.org/drawingml/2006/main">
              <a:ext uri="{FF2B5EF4-FFF2-40B4-BE49-F238E27FC236}">
                <a16:creationId xmlns:a16="http://schemas.microsoft.com/office/drawing/2014/main" id="{1734BA19-A47B-48D8-A4B2-294266E7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A07D41A8-6D52-4ED4-A49B-D906F76F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F60937BB-BBEC-4937-A45C-47553ED0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B7E6C0C-D101-47AE-AC0F-2910D615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E107B0-753A-49DE-AA5F-50A724E5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control se organiza en fuente, trayecto y receptor</a:t>
            </a:r>
          </a:p>
        </p:txBody>
      </p:sp>
      <p:sp>
        <p:nvSpPr>
          <p:cNvPr id="6" name="U10-DG-045-branch_source-anchor">
            <a:extLst xmlns:a="http://schemas.openxmlformats.org/drawingml/2006/main">
              <a:ext uri="{FF2B5EF4-FFF2-40B4-BE49-F238E27FC236}">
                <a16:creationId xmlns:a16="http://schemas.microsoft.com/office/drawing/2014/main" id="{5D38F74F-7D6D-4AED-9D41-58FB1F99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497455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45-branch_1-anchor">
            <a:extLst xmlns:a="http://schemas.openxmlformats.org/drawingml/2006/main">
              <a:ext uri="{FF2B5EF4-FFF2-40B4-BE49-F238E27FC236}">
                <a16:creationId xmlns:a16="http://schemas.microsoft.com/office/drawing/2014/main" id="{7B143904-7A83-4B90-BE70-D2A2266F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937671"/>
            <a:ext cx="3768090" cy="820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45-branch_2-anchor">
            <a:extLst xmlns:a="http://schemas.openxmlformats.org/drawingml/2006/main">
              <a:ext uri="{FF2B5EF4-FFF2-40B4-BE49-F238E27FC236}">
                <a16:creationId xmlns:a16="http://schemas.microsoft.com/office/drawing/2014/main" id="{1BF21D98-122D-4462-BC5B-AD967786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2960846"/>
            <a:ext cx="3768090" cy="820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45-branch_3-anchor">
            <a:extLst xmlns:a="http://schemas.openxmlformats.org/drawingml/2006/main">
              <a:ext uri="{FF2B5EF4-FFF2-40B4-BE49-F238E27FC236}">
                <a16:creationId xmlns:a16="http://schemas.microsoft.com/office/drawing/2014/main" id="{D4E70B43-399E-4E53-A376-9080BE6E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984022"/>
            <a:ext cx="3768090" cy="820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" name="U10-DG-045-branch_edge_1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335655" y="2347723"/>
            <a:ext cx="2847975" cy="886492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U10-DG-045-branch_edge_2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335655" y="3234215"/>
            <a:ext cx="2847975" cy="13668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4" name="U10-DG-045-branch_edge_3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335655" y="3234215"/>
            <a:ext cx="2847975" cy="115985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3" name="U10-DG-045-visual-alt" descr="Jerarquía fuente–trayecto–receptor. Fuente; mantenimiento/sustitución; barrera/encapsulado; receptor/organización/EPP; verificación. Orden de lectura: “controlar primero”, “comprobar después”. ---">
            <a:extLst xmlns:a="http://schemas.openxmlformats.org/drawingml/2006/main">
              <a:ext uri="{FF2B5EF4-FFF2-40B4-BE49-F238E27FC236}">
                <a16:creationId xmlns:a16="http://schemas.microsoft.com/office/drawing/2014/main" id="{854716F7-058E-43A3-A14B-525977A3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497455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4" name="U10-DG-045-branch_source-text">
            <a:extLst xmlns:a="http://schemas.openxmlformats.org/drawingml/2006/main">
              <a:ext uri="{FF2B5EF4-FFF2-40B4-BE49-F238E27FC236}">
                <a16:creationId xmlns:a16="http://schemas.microsoft.com/office/drawing/2014/main" id="{432E2C39-E100-4BE5-A873-00F253B1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91778"/>
            <a:ext cx="2154555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Fuente: reducir</a:t>
            </a:r>
          </a:p>
        </p:txBody>
      </p:sp>
      <p:sp>
        <p:nvSpPr>
          <p:cNvPr id="15" name="U10-DG-045-branch_1-box">
            <a:extLst xmlns:a="http://schemas.openxmlformats.org/drawingml/2006/main">
              <a:ext uri="{FF2B5EF4-FFF2-40B4-BE49-F238E27FC236}">
                <a16:creationId xmlns:a16="http://schemas.microsoft.com/office/drawing/2014/main" id="{BDF090DA-FED1-471B-9AD8-83AAF2FD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937671"/>
            <a:ext cx="3768090" cy="820103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10-DG-045-branch_1-text">
            <a:extLst xmlns:a="http://schemas.openxmlformats.org/drawingml/2006/main">
              <a:ext uri="{FF2B5EF4-FFF2-40B4-BE49-F238E27FC236}">
                <a16:creationId xmlns:a16="http://schemas.microsoft.com/office/drawing/2014/main" id="{B75A5C15-0E0B-430F-AB36-2019D61D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061496"/>
            <a:ext cx="3425190" cy="572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Trayecto: barrera / encapsulado</a:t>
            </a:r>
          </a:p>
        </p:txBody>
      </p:sp>
      <p:sp>
        <p:nvSpPr>
          <p:cNvPr id="17" name="U10-DG-045-branch_2-box">
            <a:extLst xmlns:a="http://schemas.openxmlformats.org/drawingml/2006/main">
              <a:ext uri="{FF2B5EF4-FFF2-40B4-BE49-F238E27FC236}">
                <a16:creationId xmlns:a16="http://schemas.microsoft.com/office/drawing/2014/main" id="{3415DA46-03AB-48E2-9361-9B4D616F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2960846"/>
            <a:ext cx="3768090" cy="820103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8" name="U10-DG-045-branch_2-text">
            <a:extLst xmlns:a="http://schemas.openxmlformats.org/drawingml/2006/main">
              <a:ext uri="{FF2B5EF4-FFF2-40B4-BE49-F238E27FC236}">
                <a16:creationId xmlns:a16="http://schemas.microsoft.com/office/drawing/2014/main" id="{B8359525-964E-4B1D-82C8-891AE58A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084671"/>
            <a:ext cx="3425190" cy="572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Receptor: organización / EPP</a:t>
            </a:r>
          </a:p>
        </p:txBody>
      </p:sp>
      <p:sp>
        <p:nvSpPr>
          <p:cNvPr id="19" name="U10-DG-045-branch_3-box">
            <a:extLst xmlns:a="http://schemas.openxmlformats.org/drawingml/2006/main">
              <a:ext uri="{FF2B5EF4-FFF2-40B4-BE49-F238E27FC236}">
                <a16:creationId xmlns:a16="http://schemas.microsoft.com/office/drawing/2014/main" id="{D7D760E7-A32D-41F5-B170-3BC52271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984022"/>
            <a:ext cx="3768090" cy="820103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0" name="U10-DG-045-branch_3-text">
            <a:extLst xmlns:a="http://schemas.openxmlformats.org/drawingml/2006/main">
              <a:ext uri="{FF2B5EF4-FFF2-40B4-BE49-F238E27FC236}">
                <a16:creationId xmlns:a16="http://schemas.microsoft.com/office/drawing/2014/main" id="{FF2DE457-70E9-4ABF-B8A7-53397FA1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107847"/>
            <a:ext cx="3425190" cy="572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Verificar antes y después</a:t>
            </a:r>
          </a:p>
        </p:txBody>
      </p:sp>
      <p:sp>
        <p:nvSpPr>
          <p:cNvPr id="21" name="caption">
            <a:extLst xmlns:a="http://schemas.openxmlformats.org/drawingml/2006/main">
              <a:ext uri="{FF2B5EF4-FFF2-40B4-BE49-F238E27FC236}">
                <a16:creationId xmlns:a16="http://schemas.microsoft.com/office/drawing/2014/main" id="{35D48947-A7B1-484D-92CA-5FFA2FF6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Jerarquía fuente–trayecto–receptor. Fuente; mantenimiento/sustitución; barrera/encapsulado; receptor/organización/EPP; verificación.</a:t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4672E0B-F4C0-4B3B-A30D-CE736CC7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70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1860B641-8F06-45D0-828F-FFAE109E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99BB654D-73BA-471D-B14E-C600E308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21772C14-36C3-46F1-88D3-B8F7F8F5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A6C538ED-5413-448D-95B1-E47E559C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375F03-493E-4B22-89AD-61E6F90C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Reducción es resultado; absorción y aislamiento son mecanismos distintos</a:t>
            </a:r>
          </a:p>
        </p:txBody>
      </p:sp>
      <p:sp>
        <p:nvSpPr>
          <p:cNvPr id="6" name="U10-DG-046-branch_source-anchor">
            <a:extLst xmlns:a="http://schemas.openxmlformats.org/drawingml/2006/main">
              <a:ext uri="{FF2B5EF4-FFF2-40B4-BE49-F238E27FC236}">
                <a16:creationId xmlns:a16="http://schemas.microsoft.com/office/drawing/2014/main" id="{E247A5BC-A6BA-4BA1-88F7-5320CDEF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497455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46-branch_1-anchor">
            <a:extLst xmlns:a="http://schemas.openxmlformats.org/drawingml/2006/main">
              <a:ext uri="{FF2B5EF4-FFF2-40B4-BE49-F238E27FC236}">
                <a16:creationId xmlns:a16="http://schemas.microsoft.com/office/drawing/2014/main" id="{4CD16C25-2098-4DFE-9941-6FD5A499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426083"/>
            <a:ext cx="3768090" cy="820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46-branch_2-anchor">
            <a:extLst xmlns:a="http://schemas.openxmlformats.org/drawingml/2006/main">
              <a:ext uri="{FF2B5EF4-FFF2-40B4-BE49-F238E27FC236}">
                <a16:creationId xmlns:a16="http://schemas.microsoft.com/office/drawing/2014/main" id="{09536B92-24B1-402E-AEF5-3B6A9736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2449259"/>
            <a:ext cx="3768090" cy="820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46-branch_3-anchor">
            <a:extLst xmlns:a="http://schemas.openxmlformats.org/drawingml/2006/main">
              <a:ext uri="{FF2B5EF4-FFF2-40B4-BE49-F238E27FC236}">
                <a16:creationId xmlns:a16="http://schemas.microsoft.com/office/drawing/2014/main" id="{47511F46-836B-4E13-A4A6-C6CC1437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472434"/>
            <a:ext cx="3768090" cy="820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46-branch_4-anchor">
            <a:extLst xmlns:a="http://schemas.openxmlformats.org/drawingml/2006/main">
              <a:ext uri="{FF2B5EF4-FFF2-40B4-BE49-F238E27FC236}">
                <a16:creationId xmlns:a16="http://schemas.microsoft.com/office/drawing/2014/main" id="{AD0A7792-5768-4D46-A45E-B1E7DAD9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4495610"/>
            <a:ext cx="3768090" cy="820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U10-DG-046-branch_edge_1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335655" y="1836135"/>
            <a:ext cx="2847975" cy="139808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U10-DG-046-branch_edge_2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335655" y="2859310"/>
            <a:ext cx="2847975" cy="374904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10-DG-046-branch_edge_3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335655" y="3234215"/>
            <a:ext cx="2847975" cy="64827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10-DG-046-branch_edge_4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335655" y="3234215"/>
            <a:ext cx="2847975" cy="167144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10-DG-046-visual-alt" descr="Diferenciar reducción, absorción, aislamiento, cancelación y protección. Cinco términos; mecanismo; dato de verificación. Orden de lectura: Sin flechas o una relación por fila. ---">
            <a:extLst xmlns:a="http://schemas.openxmlformats.org/drawingml/2006/main">
              <a:ext uri="{FF2B5EF4-FFF2-40B4-BE49-F238E27FC236}">
                <a16:creationId xmlns:a16="http://schemas.microsoft.com/office/drawing/2014/main" id="{683C81A5-1DB5-46DF-9E26-FDC64865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497455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6" name="U10-DG-046-branch_source-text">
            <a:extLst xmlns:a="http://schemas.openxmlformats.org/drawingml/2006/main">
              <a:ext uri="{FF2B5EF4-FFF2-40B4-BE49-F238E27FC236}">
                <a16:creationId xmlns:a16="http://schemas.microsoft.com/office/drawing/2014/main" id="{F3CBC7F9-2837-4AB1-B634-035454E4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91778"/>
            <a:ext cx="2154555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Reducción · resultado ·</a:t>
            </a:r>
          </a:p>
        </p:txBody>
      </p:sp>
      <p:sp>
        <p:nvSpPr>
          <p:cNvPr id="17" name="U10-DG-046-branch_1-box">
            <a:extLst xmlns:a="http://schemas.openxmlformats.org/drawingml/2006/main">
              <a:ext uri="{FF2B5EF4-FFF2-40B4-BE49-F238E27FC236}">
                <a16:creationId xmlns:a16="http://schemas.microsoft.com/office/drawing/2014/main" id="{927D3734-F1D8-4905-B5C1-9968869C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426083"/>
            <a:ext cx="3768090" cy="820103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8" name="U10-DG-046-branch_1-text">
            <a:extLst xmlns:a="http://schemas.openxmlformats.org/drawingml/2006/main">
              <a:ext uri="{FF2B5EF4-FFF2-40B4-BE49-F238E27FC236}">
                <a16:creationId xmlns:a16="http://schemas.microsoft.com/office/drawing/2014/main" id="{A9C97C27-2065-4A32-8AF4-CF90311B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549908"/>
            <a:ext cx="3425190" cy="572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Absorción · superficie · α / Aₑq</a:t>
            </a:r>
          </a:p>
        </p:txBody>
      </p:sp>
      <p:sp>
        <p:nvSpPr>
          <p:cNvPr id="19" name="U10-DG-046-branch_2-box">
            <a:extLst xmlns:a="http://schemas.openxmlformats.org/drawingml/2006/main">
              <a:ext uri="{FF2B5EF4-FFF2-40B4-BE49-F238E27FC236}">
                <a16:creationId xmlns:a16="http://schemas.microsoft.com/office/drawing/2014/main" id="{AD7A2D68-F00F-46FF-8789-3DE61149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2449259"/>
            <a:ext cx="3768090" cy="820103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0" name="U10-DG-046-branch_2-text">
            <a:extLst xmlns:a="http://schemas.openxmlformats.org/drawingml/2006/main">
              <a:ext uri="{FF2B5EF4-FFF2-40B4-BE49-F238E27FC236}">
                <a16:creationId xmlns:a16="http://schemas.microsoft.com/office/drawing/2014/main" id="{A1B833D6-0030-45A4-A552-B687D2DC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573084"/>
            <a:ext cx="3425190" cy="572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Aislamiento · transmisión · R/DnT</a:t>
            </a:r>
          </a:p>
        </p:txBody>
      </p:sp>
      <p:sp>
        <p:nvSpPr>
          <p:cNvPr id="21" name="U10-DG-046-branch_3-box">
            <a:extLst xmlns:a="http://schemas.openxmlformats.org/drawingml/2006/main">
              <a:ext uri="{FF2B5EF4-FFF2-40B4-BE49-F238E27FC236}">
                <a16:creationId xmlns:a16="http://schemas.microsoft.com/office/drawing/2014/main" id="{2F072A37-88A7-493D-9AB4-1AC1D792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472434"/>
            <a:ext cx="3768090" cy="820103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2" name="U10-DG-046-branch_3-text">
            <a:extLst xmlns:a="http://schemas.openxmlformats.org/drawingml/2006/main">
              <a:ext uri="{FF2B5EF4-FFF2-40B4-BE49-F238E27FC236}">
                <a16:creationId xmlns:a16="http://schemas.microsoft.com/office/drawing/2014/main" id="{120B1F54-02FD-4796-947B-5F83E0CA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596259"/>
            <a:ext cx="3425190" cy="572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Cancelación · interferencia · banda</a:t>
            </a:r>
          </a:p>
        </p:txBody>
      </p:sp>
      <p:sp>
        <p:nvSpPr>
          <p:cNvPr id="23" name="U10-DG-046-branch_4-box">
            <a:extLst xmlns:a="http://schemas.openxmlformats.org/drawingml/2006/main">
              <a:ext uri="{FF2B5EF4-FFF2-40B4-BE49-F238E27FC236}">
                <a16:creationId xmlns:a16="http://schemas.microsoft.com/office/drawing/2014/main" id="{C85A0617-62DD-41DB-991D-B2310EA4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4495610"/>
            <a:ext cx="3768090" cy="820103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4" name="U10-DG-046-branch_4-text">
            <a:extLst xmlns:a="http://schemas.openxmlformats.org/drawingml/2006/main">
              <a:ext uri="{FF2B5EF4-FFF2-40B4-BE49-F238E27FC236}">
                <a16:creationId xmlns:a16="http://schemas.microsoft.com/office/drawing/2014/main" id="{DF98BA1C-FC99-48F9-A634-8E23BCA8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619435"/>
            <a:ext cx="3425190" cy="572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Protección · receptor · atenuación real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E73971AA-549A-4539-B1D3-84E3F7FA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Diferenciar reducción, absorción, aislamiento, cancelación y protección. Cinco términos; mecanismo; dato de verificación.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74B2B43-829E-4856-BC97-B230F94C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71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9FD5747D-B900-4839-9A3A-472156B1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268541F8-C339-4196-9D16-249F2709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4C7CD79A-CA66-4B46-928D-ECF90AD8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E8EE92C7-D282-4383-A570-7157546C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86610F-1732-4918-9758-A8583C2A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¿Dónde actuaría y qué mediría antes y después?</a:t>
            </a:r>
          </a:p>
        </p:txBody>
      </p:sp>
      <p:sp>
        <p:nvSpPr>
          <p:cNvPr id="6" name="U10-DG-047-step_1-anchor">
            <a:extLst xmlns:a="http://schemas.openxmlformats.org/drawingml/2006/main">
              <a:ext uri="{FF2B5EF4-FFF2-40B4-BE49-F238E27FC236}">
                <a16:creationId xmlns:a16="http://schemas.microsoft.com/office/drawing/2014/main" id="{C4F6240D-165B-45F8-93AF-29BA4B7F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47-step_2-anchor">
            <a:extLst xmlns:a="http://schemas.openxmlformats.org/drawingml/2006/main">
              <a:ext uri="{FF2B5EF4-FFF2-40B4-BE49-F238E27FC236}">
                <a16:creationId xmlns:a16="http://schemas.microsoft.com/office/drawing/2014/main" id="{B1596A94-CA32-4875-817D-BA1771B7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47-step_3-anchor">
            <a:extLst xmlns:a="http://schemas.openxmlformats.org/drawingml/2006/main">
              <a:ext uri="{FF2B5EF4-FFF2-40B4-BE49-F238E27FC236}">
                <a16:creationId xmlns:a16="http://schemas.microsoft.com/office/drawing/2014/main" id="{4FB2A858-D15F-464A-B462-19334B7A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47-step_4-anchor">
            <a:extLst xmlns:a="http://schemas.openxmlformats.org/drawingml/2006/main">
              <a:ext uri="{FF2B5EF4-FFF2-40B4-BE49-F238E27FC236}">
                <a16:creationId xmlns:a16="http://schemas.microsoft.com/office/drawing/2014/main" id="{567C4805-64EC-4506-884F-02C75222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47-step_5-anchor">
            <a:extLst xmlns:a="http://schemas.openxmlformats.org/drawingml/2006/main">
              <a:ext uri="{FF2B5EF4-FFF2-40B4-BE49-F238E27FC236}">
                <a16:creationId xmlns:a16="http://schemas.microsoft.com/office/drawing/2014/main" id="{6CA1AEB1-2B59-497E-9076-76F79B57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U10-DG-047-flow_1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U10-DG-047-flow_2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10-DG-047-flow_3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10-DG-047-flow_4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10-DG-047-visual-alt" descr="Actividad: dónde intervenir. Caso; fuente; trayecto; receptor; opciones; métrica antes/después. Orden de lectura: Tarjetas conectables; solución oculta. ---">
            <a:extLst xmlns:a="http://schemas.openxmlformats.org/drawingml/2006/main">
              <a:ext uri="{FF2B5EF4-FFF2-40B4-BE49-F238E27FC236}">
                <a16:creationId xmlns:a16="http://schemas.microsoft.com/office/drawing/2014/main" id="{A948F389-BF2E-4AA5-8BF3-DA30F968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6" name="U10-DG-047-step_1-text">
            <a:extLst xmlns:a="http://schemas.openxmlformats.org/drawingml/2006/main">
              <a:ext uri="{FF2B5EF4-FFF2-40B4-BE49-F238E27FC236}">
                <a16:creationId xmlns:a16="http://schemas.microsoft.com/office/drawing/2014/main" id="{9ED56D00-825C-4A5B-81A3-0DCCF6FB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Caso de ruido</a:t>
            </a:r>
          </a:p>
        </p:txBody>
      </p:sp>
      <p:sp>
        <p:nvSpPr>
          <p:cNvPr id="17" name="U10-DG-047-step_2-box">
            <a:extLst xmlns:a="http://schemas.openxmlformats.org/drawingml/2006/main">
              <a:ext uri="{FF2B5EF4-FFF2-40B4-BE49-F238E27FC236}">
                <a16:creationId xmlns:a16="http://schemas.microsoft.com/office/drawing/2014/main" id="{4CEB0C1E-CAF2-402D-8455-CDED1DFB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8" name="U10-DG-047-step_2-text">
            <a:extLst xmlns:a="http://schemas.openxmlformats.org/drawingml/2006/main">
              <a:ext uri="{FF2B5EF4-FFF2-40B4-BE49-F238E27FC236}">
                <a16:creationId xmlns:a16="http://schemas.microsoft.com/office/drawing/2014/main" id="{0FDE2E57-BDF4-4F9B-B746-B7AD6868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Intervenir en fuente</a:t>
            </a:r>
          </a:p>
        </p:txBody>
      </p:sp>
      <p:sp>
        <p:nvSpPr>
          <p:cNvPr id="19" name="U10-DG-047-step_3-box">
            <a:extLst xmlns:a="http://schemas.openxmlformats.org/drawingml/2006/main">
              <a:ext uri="{FF2B5EF4-FFF2-40B4-BE49-F238E27FC236}">
                <a16:creationId xmlns:a16="http://schemas.microsoft.com/office/drawing/2014/main" id="{708387A0-5293-4E01-BEC7-5DDF48C7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0" name="U10-DG-047-step_3-text">
            <a:extLst xmlns:a="http://schemas.openxmlformats.org/drawingml/2006/main">
              <a:ext uri="{FF2B5EF4-FFF2-40B4-BE49-F238E27FC236}">
                <a16:creationId xmlns:a16="http://schemas.microsoft.com/office/drawing/2014/main" id="{7A975693-52B4-4F5A-811D-D50F380F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Intervenir en trayecto</a:t>
            </a:r>
          </a:p>
        </p:txBody>
      </p:sp>
      <p:sp>
        <p:nvSpPr>
          <p:cNvPr id="21" name="U10-DG-047-step_4-box">
            <a:extLst xmlns:a="http://schemas.openxmlformats.org/drawingml/2006/main">
              <a:ext uri="{FF2B5EF4-FFF2-40B4-BE49-F238E27FC236}">
                <a16:creationId xmlns:a16="http://schemas.microsoft.com/office/drawing/2014/main" id="{BE8B2D6E-D942-4AB8-B061-11740C6A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2" name="U10-DG-047-step_4-text">
            <a:extLst xmlns:a="http://schemas.openxmlformats.org/drawingml/2006/main">
              <a:ext uri="{FF2B5EF4-FFF2-40B4-BE49-F238E27FC236}">
                <a16:creationId xmlns:a16="http://schemas.microsoft.com/office/drawing/2014/main" id="{E7AE2583-3343-49E5-879F-F1B39B2B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Intervenir en receptor</a:t>
            </a:r>
          </a:p>
        </p:txBody>
      </p:sp>
      <p:sp>
        <p:nvSpPr>
          <p:cNvPr id="23" name="U10-DG-047-step_5-box">
            <a:extLst xmlns:a="http://schemas.openxmlformats.org/drawingml/2006/main">
              <a:ext uri="{FF2B5EF4-FFF2-40B4-BE49-F238E27FC236}">
                <a16:creationId xmlns:a16="http://schemas.microsoft.com/office/drawing/2014/main" id="{F73EB8F1-CD5F-43E9-917E-B4D61246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4" name="U10-DG-047-step_5-text">
            <a:extLst xmlns:a="http://schemas.openxmlformats.org/drawingml/2006/main">
              <a:ext uri="{FF2B5EF4-FFF2-40B4-BE49-F238E27FC236}">
                <a16:creationId xmlns:a16="http://schemas.microsoft.com/office/drawing/2014/main" id="{0A8E6FD3-5F7A-4EE8-B91E-156BAF26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Métrica antes /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F5DEF732-E0B5-4AC6-84DE-4A8C95FE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Actividad: dónde intervenir. Caso; fuente; trayecto; receptor; opciones; métrica antes/después.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3937F31-4524-464B-A1AD-D8FFCF0D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72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rail-1">
            <a:extLst xmlns:a="http://schemas.openxmlformats.org/drawingml/2006/main">
              <a:ext uri="{FF2B5EF4-FFF2-40B4-BE49-F238E27FC236}">
                <a16:creationId xmlns:a16="http://schemas.microsoft.com/office/drawing/2014/main" id="{2E3EEAB4-3ED3-4F3E-83BF-46A02D28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9195099E-5F1C-45F0-B8C5-8C583AB9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3DEF0FBC-EBB8-46E9-A03E-68CAAD90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5E866FC-DBD4-49AA-9C04-9080EC8C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D36DCA-0C54-4267-9066-14C2CEB9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Fonoaudiología conecta señal física y tarea comunicativa</a:t>
            </a:r>
          </a:p>
        </p:txBody>
      </p:sp>
      <p:sp>
        <p:nvSpPr>
          <p:cNvPr id="6" name="U10-DG-048-source-anchor">
            <a:extLst xmlns:a="http://schemas.openxmlformats.org/drawingml/2006/main">
              <a:ext uri="{FF2B5EF4-FFF2-40B4-BE49-F238E27FC236}">
                <a16:creationId xmlns:a16="http://schemas.microsoft.com/office/drawing/2014/main" id="{60D95E69-F0B3-498F-A39C-015AEBAB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433638"/>
            <a:ext cx="2409825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48-path_top-anchor">
            <a:extLst xmlns:a="http://schemas.openxmlformats.org/drawingml/2006/main">
              <a:ext uri="{FF2B5EF4-FFF2-40B4-BE49-F238E27FC236}">
                <a16:creationId xmlns:a16="http://schemas.microsoft.com/office/drawing/2014/main" id="{2ECA3E13-36B8-4C71-B223-414C34F7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6601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48-path_bottom-anchor">
            <a:extLst xmlns:a="http://schemas.openxmlformats.org/drawingml/2006/main">
              <a:ext uri="{FF2B5EF4-FFF2-40B4-BE49-F238E27FC236}">
                <a16:creationId xmlns:a16="http://schemas.microsoft.com/office/drawing/2014/main" id="{FE7B9D1C-3AD7-4673-A781-27884D44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44265"/>
            <a:ext cx="236601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48-space-anchor">
            <a:extLst xmlns:a="http://schemas.openxmlformats.org/drawingml/2006/main">
              <a:ext uri="{FF2B5EF4-FFF2-40B4-BE49-F238E27FC236}">
                <a16:creationId xmlns:a16="http://schemas.microsoft.com/office/drawing/2014/main" id="{32CD7979-DB0A-4F8A-8F87-F089781B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0" y="2433638"/>
            <a:ext cx="219075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48-receiver-anchor">
            <a:extLst xmlns:a="http://schemas.openxmlformats.org/drawingml/2006/main">
              <a:ext uri="{FF2B5EF4-FFF2-40B4-BE49-F238E27FC236}">
                <a16:creationId xmlns:a16="http://schemas.microsoft.com/office/drawing/2014/main" id="{FAE13905-FEE3-4EB8-B811-1657F784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433638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48-condition-anchor">
            <a:extLst xmlns:a="http://schemas.openxmlformats.org/drawingml/2006/main">
              <a:ext uri="{FF2B5EF4-FFF2-40B4-BE49-F238E27FC236}">
                <a16:creationId xmlns:a16="http://schemas.microsoft.com/office/drawing/2014/main" id="{1CE1F74E-44A6-4D47-8480-71BA1F51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815840"/>
            <a:ext cx="5476875" cy="546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2" name="U10-DG-048-route_1a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177540" y="1577340"/>
            <a:ext cx="2594610" cy="140303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10-DG-048-route_1b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57850" y="2140744"/>
            <a:ext cx="262890" cy="83962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4" name="U10-DG-048-route_2a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77540" y="2980373"/>
            <a:ext cx="2594610" cy="16764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10-DG-048-route_2b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5657850" y="2980373"/>
            <a:ext cx="26289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10-DG-048-route_3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111490" y="2980373"/>
            <a:ext cx="30670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7" name="U10-DG-048-visual-alt" descr="Red de aplicaciones fonoaudiológicas. Evaluación auditiva; voz/habla; ambiente clínico; prevención; pregunta física central. Orden de lectura: Desde nodo “caracterizar”. ---">
            <a:extLst xmlns:a="http://schemas.openxmlformats.org/drawingml/2006/main">
              <a:ext uri="{FF2B5EF4-FFF2-40B4-BE49-F238E27FC236}">
                <a16:creationId xmlns:a16="http://schemas.microsoft.com/office/drawing/2014/main" id="{42B0CD18-02DA-4601-AA61-9ECB0597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433638"/>
            <a:ext cx="2409825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48-source-text">
            <a:extLst xmlns:a="http://schemas.openxmlformats.org/drawingml/2006/main">
              <a:ext uri="{FF2B5EF4-FFF2-40B4-BE49-F238E27FC236}">
                <a16:creationId xmlns:a16="http://schemas.microsoft.com/office/drawing/2014/main" id="{6F33A0AB-5472-4F00-A0AB-E2BBD143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2557463"/>
            <a:ext cx="2066925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Caracterizar</a:t>
            </a:r>
          </a:p>
        </p:txBody>
      </p:sp>
      <p:sp>
        <p:nvSpPr>
          <p:cNvPr id="19" name="U10-DG-048-path_top-box">
            <a:extLst xmlns:a="http://schemas.openxmlformats.org/drawingml/2006/main">
              <a:ext uri="{FF2B5EF4-FFF2-40B4-BE49-F238E27FC236}">
                <a16:creationId xmlns:a16="http://schemas.microsoft.com/office/drawing/2014/main" id="{C34B5E06-300E-46E1-ACE3-A4666B26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6601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0" name="U10-DG-048-path_top-text">
            <a:extLst xmlns:a="http://schemas.openxmlformats.org/drawingml/2006/main">
              <a:ext uri="{FF2B5EF4-FFF2-40B4-BE49-F238E27FC236}">
                <a16:creationId xmlns:a16="http://schemas.microsoft.com/office/drawing/2014/main" id="{1F88F423-B129-4094-A830-9DDF178C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1815465"/>
            <a:ext cx="202311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Evaluación auditiva</a:t>
            </a:r>
          </a:p>
        </p:txBody>
      </p:sp>
      <p:sp>
        <p:nvSpPr>
          <p:cNvPr id="21" name="U10-DG-048-path_bottom-box">
            <a:extLst xmlns:a="http://schemas.openxmlformats.org/drawingml/2006/main">
              <a:ext uri="{FF2B5EF4-FFF2-40B4-BE49-F238E27FC236}">
                <a16:creationId xmlns:a16="http://schemas.microsoft.com/office/drawing/2014/main" id="{4B2A2A29-02BB-415B-B76B-0448AE98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44265"/>
            <a:ext cx="236601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2" name="U10-DG-048-path_bottom-text">
            <a:extLst xmlns:a="http://schemas.openxmlformats.org/drawingml/2006/main">
              <a:ext uri="{FF2B5EF4-FFF2-40B4-BE49-F238E27FC236}">
                <a16:creationId xmlns:a16="http://schemas.microsoft.com/office/drawing/2014/main" id="{DE4D7374-4379-404F-8010-4826007D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3768090"/>
            <a:ext cx="202311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Voz y habla</a:t>
            </a:r>
          </a:p>
        </p:txBody>
      </p:sp>
      <p:sp>
        <p:nvSpPr>
          <p:cNvPr id="23" name="U10-DG-048-space-box">
            <a:extLst xmlns:a="http://schemas.openxmlformats.org/drawingml/2006/main">
              <a:ext uri="{FF2B5EF4-FFF2-40B4-BE49-F238E27FC236}">
                <a16:creationId xmlns:a16="http://schemas.microsoft.com/office/drawing/2014/main" id="{6F6C6F1E-3BA6-4180-9CD8-946F36AC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0" y="2433638"/>
            <a:ext cx="219075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4" name="U10-DG-048-space-text">
            <a:extLst xmlns:a="http://schemas.openxmlformats.org/drawingml/2006/main">
              <a:ext uri="{FF2B5EF4-FFF2-40B4-BE49-F238E27FC236}">
                <a16:creationId xmlns:a16="http://schemas.microsoft.com/office/drawing/2014/main" id="{7185D845-9715-4AE5-900E-01D3D0D5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190" y="2557463"/>
            <a:ext cx="184785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Ambiente clínico</a:t>
            </a:r>
          </a:p>
        </p:txBody>
      </p:sp>
      <p:sp>
        <p:nvSpPr>
          <p:cNvPr id="25" name="U10-DG-048-receiver-box">
            <a:extLst xmlns:a="http://schemas.openxmlformats.org/drawingml/2006/main">
              <a:ext uri="{FF2B5EF4-FFF2-40B4-BE49-F238E27FC236}">
                <a16:creationId xmlns:a16="http://schemas.microsoft.com/office/drawing/2014/main" id="{F36F1F58-E969-453F-ABA7-C2058884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433638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6" name="U10-DG-048-receiver-text">
            <a:extLst xmlns:a="http://schemas.openxmlformats.org/drawingml/2006/main">
              <a:ext uri="{FF2B5EF4-FFF2-40B4-BE49-F238E27FC236}">
                <a16:creationId xmlns:a16="http://schemas.microsoft.com/office/drawing/2014/main" id="{7B88E510-B1C2-4331-BFDF-D6D3A317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557463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Prevención</a:t>
            </a:r>
          </a:p>
        </p:txBody>
      </p:sp>
      <p:sp>
        <p:nvSpPr>
          <p:cNvPr id="27" name="U10-DG-048-condition-box">
            <a:extLst xmlns:a="http://schemas.openxmlformats.org/drawingml/2006/main">
              <a:ext uri="{FF2B5EF4-FFF2-40B4-BE49-F238E27FC236}">
                <a16:creationId xmlns:a16="http://schemas.microsoft.com/office/drawing/2014/main" id="{F25C714C-881F-439E-82B5-BD09F6CC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815840"/>
            <a:ext cx="5476875" cy="546735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8" name="U10-DG-048-condition-text">
            <a:extLst xmlns:a="http://schemas.openxmlformats.org/drawingml/2006/main">
              <a:ext uri="{FF2B5EF4-FFF2-40B4-BE49-F238E27FC236}">
                <a16:creationId xmlns:a16="http://schemas.microsoft.com/office/drawing/2014/main" id="{E80B2CF2-2282-4048-8864-1FB0D77A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4939665"/>
            <a:ext cx="5133975" cy="299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Receptor</a:t>
            </a:r>
          </a:p>
        </p:txBody>
      </p:sp>
      <p:sp>
        <p:nvSpPr>
          <p:cNvPr id="29" name="caption">
            <a:extLst xmlns:a="http://schemas.openxmlformats.org/drawingml/2006/main">
              <a:ext uri="{FF2B5EF4-FFF2-40B4-BE49-F238E27FC236}">
                <a16:creationId xmlns:a16="http://schemas.microsoft.com/office/drawing/2014/main" id="{AC4A42FC-7ED0-439E-B335-306206F4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Red de aplicaciones fonoaudiológicas. Evaluación auditiva; voz/habla; ambiente clínico; prevención; pregunta física central.</a:t>
            </a:r>
          </a:p>
        </p:txBody>
      </p:sp>
      <p:sp>
        <p:nvSpPr>
          <p:cNvPr id="3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3A1FCC0-D971-4466-9558-1F8BFC28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73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rail-1">
            <a:extLst xmlns:a="http://schemas.openxmlformats.org/drawingml/2006/main">
              <a:ext uri="{FF2B5EF4-FFF2-40B4-BE49-F238E27FC236}">
                <a16:creationId xmlns:a16="http://schemas.microsoft.com/office/drawing/2014/main" id="{3A1F7A26-4E35-4A0C-B692-4B14F730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300069C9-B575-46BE-86E3-13AAEBA8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AD67CA42-CF76-430C-8016-23261648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38AD91F0-0DDB-49D0-A95A-88B3F14C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3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C0CBB4-2243-4A8B-AF94-0B278D0F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app puede explorar; no certificar</a:t>
            </a:r>
          </a:p>
        </p:txBody>
      </p:sp>
      <p:sp>
        <p:nvSpPr>
          <p:cNvPr id="6" name="U10-074-claim-alt" descr="Recurso visual previsto: Imagen externa de medición con teléfono/sonómetro o diagrama alternativo; U10-AS-005. ---">
            <a:extLst xmlns:a="http://schemas.openxmlformats.org/drawingml/2006/main">
              <a:ext uri="{FF2B5EF4-FFF2-40B4-BE49-F238E27FC236}">
                <a16:creationId xmlns:a16="http://schemas.microsoft.com/office/drawing/2014/main" id="{3F3F56AA-06D0-46DA-9AFC-0EA2FADB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Uso exploratorio posible</a:t>
            </a:r>
          </a:p>
        </p:txBody>
      </p:sp>
      <p:sp>
        <p:nvSpPr>
          <p:cNvPr id="7" name="bullet-0">
            <a:extLst xmlns:a="http://schemas.openxmlformats.org/drawingml/2006/main">
              <a:ext uri="{FF2B5EF4-FFF2-40B4-BE49-F238E27FC236}">
                <a16:creationId xmlns:a16="http://schemas.microsoft.com/office/drawing/2014/main" id="{D90533D3-5ECC-436A-AE15-11473D3B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dy-0">
            <a:extLst xmlns:a="http://schemas.openxmlformats.org/drawingml/2006/main">
              <a:ext uri="{FF2B5EF4-FFF2-40B4-BE49-F238E27FC236}">
                <a16:creationId xmlns:a16="http://schemas.microsoft.com/office/drawing/2014/main" id="{12335AC0-E81B-4504-8442-C1275001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146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comparar momentos o lugares con el mismo dispositivo y procedimiento;</a:t>
            </a:r>
          </a:p>
        </p:txBody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649D699C-3C31-4681-B93D-AF4C14B9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dy-1">
            <a:extLst xmlns:a="http://schemas.openxmlformats.org/drawingml/2006/main">
              <a:ext uri="{FF2B5EF4-FFF2-40B4-BE49-F238E27FC236}">
                <a16:creationId xmlns:a16="http://schemas.microsoft.com/office/drawing/2014/main" id="{387BA05C-1277-4646-9E1C-43AAA7FE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623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detectar cambios grandes que justifiquen una medición formal;</a:t>
            </a:r>
          </a:p>
        </p:txBody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079D3C4B-BACB-43EB-85D7-7214B39C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dy-2">
            <a:extLst xmlns:a="http://schemas.openxmlformats.org/drawingml/2006/main">
              <a:ext uri="{FF2B5EF4-FFF2-40B4-BE49-F238E27FC236}">
                <a16:creationId xmlns:a16="http://schemas.microsoft.com/office/drawing/2014/main" id="{C8148BEA-9E70-47D3-9D0F-25C7D575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100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registrar observaciones preliminares.</a:t>
            </a:r>
          </a:p>
        </p:txBody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BA394304-F3D4-46B8-8673-386C102E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00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dy-3">
            <a:extLst xmlns:a="http://schemas.openxmlformats.org/drawingml/2006/main">
              <a:ext uri="{FF2B5EF4-FFF2-40B4-BE49-F238E27FC236}">
                <a16:creationId xmlns:a16="http://schemas.microsoft.com/office/drawing/2014/main" id="{EDC8919D-62FA-449E-A6C2-938635BA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577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permite certificar sin calibración, respuesta frecuencial conocida, posición, intervalo, ponderaciones, rango e incertidumbre.</a:t>
            </a:r>
          </a:p>
        </p:txBody>
      </p:sp>
      <p:sp>
        <p:nvSpPr>
          <p:cNvPr id="1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E0F634F-BF99-4DD2-B52F-6FF1DF10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74</a:t>
            </a:r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rail-1">
            <a:extLst xmlns:a="http://schemas.openxmlformats.org/drawingml/2006/main">
              <a:ext uri="{FF2B5EF4-FFF2-40B4-BE49-F238E27FC236}">
                <a16:creationId xmlns:a16="http://schemas.microsoft.com/office/drawing/2014/main" id="{24E7E086-A190-4F6C-B205-FC7ED8A9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758A625D-4D38-49DB-B68D-C3612CE1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7CE3E88E-B509-4EA8-A491-96501B05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C49B3953-F972-4B8D-A8E4-894CAF47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5073E2-C15D-4547-BE63-B761D823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Medir, interpretar y controlar son decisiones encadenadas</a:t>
            </a:r>
          </a:p>
        </p:txBody>
      </p:sp>
      <p:sp>
        <p:nvSpPr>
          <p:cNvPr id="6" name="U10-DG-049-step_1-anchor">
            <a:extLst xmlns:a="http://schemas.openxmlformats.org/drawingml/2006/main">
              <a:ext uri="{FF2B5EF4-FFF2-40B4-BE49-F238E27FC236}">
                <a16:creationId xmlns:a16="http://schemas.microsoft.com/office/drawing/2014/main" id="{D6C93D4B-64C1-46D0-B9D3-3513ADCB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49-step_2-anchor">
            <a:extLst xmlns:a="http://schemas.openxmlformats.org/drawingml/2006/main">
              <a:ext uri="{FF2B5EF4-FFF2-40B4-BE49-F238E27FC236}">
                <a16:creationId xmlns:a16="http://schemas.microsoft.com/office/drawing/2014/main" id="{79469694-D562-4B33-BA19-26D85C6B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49-step_3-anchor">
            <a:extLst xmlns:a="http://schemas.openxmlformats.org/drawingml/2006/main">
              <a:ext uri="{FF2B5EF4-FFF2-40B4-BE49-F238E27FC236}">
                <a16:creationId xmlns:a16="http://schemas.microsoft.com/office/drawing/2014/main" id="{27346B7E-83B6-4FCC-BA2F-6588B12D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49-step_4-anchor">
            <a:extLst xmlns:a="http://schemas.openxmlformats.org/drawingml/2006/main">
              <a:ext uri="{FF2B5EF4-FFF2-40B4-BE49-F238E27FC236}">
                <a16:creationId xmlns:a16="http://schemas.microsoft.com/office/drawing/2014/main" id="{8C739AED-60D5-433B-976A-0BC9D0C9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49-step_5-anchor">
            <a:extLst xmlns:a="http://schemas.openxmlformats.org/drawingml/2006/main">
              <a:ext uri="{FF2B5EF4-FFF2-40B4-BE49-F238E27FC236}">
                <a16:creationId xmlns:a16="http://schemas.microsoft.com/office/drawing/2014/main" id="{0C72CAE6-C3D1-4B8F-A65E-ACEEDC89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49-step_6-anchor">
            <a:extLst xmlns:a="http://schemas.openxmlformats.org/drawingml/2006/main">
              <a:ext uri="{FF2B5EF4-FFF2-40B4-BE49-F238E27FC236}">
                <a16:creationId xmlns:a16="http://schemas.microsoft.com/office/drawing/2014/main" id="{E1B95ADB-3202-4759-B639-B893F93C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2" name="U10-DG-049-flow_1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10-DG-049-flow_2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4" name="U10-DG-049-flow_3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10-DG-049-flow_4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10-DG-049-flow_5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346710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7" name="U10-DG-049-visual-alt" descr="Cadena medir–interpretar–controlar–verificar. Propósito; configuración; dato; inferencia; acción; comprobación. Orden de lectura: Verbos en flechas. ---">
            <a:extLst xmlns:a="http://schemas.openxmlformats.org/drawingml/2006/main">
              <a:ext uri="{FF2B5EF4-FFF2-40B4-BE49-F238E27FC236}">
                <a16:creationId xmlns:a16="http://schemas.microsoft.com/office/drawing/2014/main" id="{475F5885-8D27-4B1C-82E1-4AA6851D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49-step_1-text">
            <a:extLst xmlns:a="http://schemas.openxmlformats.org/drawingml/2006/main">
              <a:ext uri="{FF2B5EF4-FFF2-40B4-BE49-F238E27FC236}">
                <a16:creationId xmlns:a16="http://schemas.microsoft.com/office/drawing/2014/main" id="{05D09FF1-A475-4BBD-9788-16166609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Definir propósito</a:t>
            </a:r>
          </a:p>
        </p:txBody>
      </p:sp>
      <p:sp>
        <p:nvSpPr>
          <p:cNvPr id="19" name="U10-DG-049-step_2-box">
            <a:extLst xmlns:a="http://schemas.openxmlformats.org/drawingml/2006/main">
              <a:ext uri="{FF2B5EF4-FFF2-40B4-BE49-F238E27FC236}">
                <a16:creationId xmlns:a16="http://schemas.microsoft.com/office/drawing/2014/main" id="{1EB60520-9601-46BA-9FB0-9EC9E48F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0" name="U10-DG-049-step_2-text">
            <a:extLst xmlns:a="http://schemas.openxmlformats.org/drawingml/2006/main">
              <a:ext uri="{FF2B5EF4-FFF2-40B4-BE49-F238E27FC236}">
                <a16:creationId xmlns:a16="http://schemas.microsoft.com/office/drawing/2014/main" id="{D7B2C6B5-D61A-4113-9AFA-ED1F6071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Configurar medición</a:t>
            </a:r>
          </a:p>
        </p:txBody>
      </p:sp>
      <p:sp>
        <p:nvSpPr>
          <p:cNvPr id="21" name="U10-DG-049-step_3-box">
            <a:extLst xmlns:a="http://schemas.openxmlformats.org/drawingml/2006/main">
              <a:ext uri="{FF2B5EF4-FFF2-40B4-BE49-F238E27FC236}">
                <a16:creationId xmlns:a16="http://schemas.microsoft.com/office/drawing/2014/main" id="{316A06AC-D240-41F8-AC01-7EE80C5A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2" name="U10-DG-049-step_3-text">
            <a:extLst xmlns:a="http://schemas.openxmlformats.org/drawingml/2006/main">
              <a:ext uri="{FF2B5EF4-FFF2-40B4-BE49-F238E27FC236}">
                <a16:creationId xmlns:a16="http://schemas.microsoft.com/office/drawing/2014/main" id="{174F9FA3-BB57-4087-9AE4-FAC4E366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Obtener dato</a:t>
            </a:r>
          </a:p>
        </p:txBody>
      </p:sp>
      <p:sp>
        <p:nvSpPr>
          <p:cNvPr id="23" name="U10-DG-049-step_4-box">
            <a:extLst xmlns:a="http://schemas.openxmlformats.org/drawingml/2006/main">
              <a:ext uri="{FF2B5EF4-FFF2-40B4-BE49-F238E27FC236}">
                <a16:creationId xmlns:a16="http://schemas.microsoft.com/office/drawing/2014/main" id="{9AC162B8-E234-4868-967F-B748E0FB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4" name="U10-DG-049-step_4-text">
            <a:extLst xmlns:a="http://schemas.openxmlformats.org/drawingml/2006/main">
              <a:ext uri="{FF2B5EF4-FFF2-40B4-BE49-F238E27FC236}">
                <a16:creationId xmlns:a16="http://schemas.microsoft.com/office/drawing/2014/main" id="{C6D495E6-7C5E-4C25-A9CA-A59EA48B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Interpretar</a:t>
            </a:r>
          </a:p>
        </p:txBody>
      </p:sp>
      <p:sp>
        <p:nvSpPr>
          <p:cNvPr id="25" name="U10-DG-049-step_5-box">
            <a:extLst xmlns:a="http://schemas.openxmlformats.org/drawingml/2006/main">
              <a:ext uri="{FF2B5EF4-FFF2-40B4-BE49-F238E27FC236}">
                <a16:creationId xmlns:a16="http://schemas.microsoft.com/office/drawing/2014/main" id="{16547F48-8EF5-4FF8-99B9-7B8D7D8B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6" name="U10-DG-049-step_5-text">
            <a:extLst xmlns:a="http://schemas.openxmlformats.org/drawingml/2006/main">
              <a:ext uri="{FF2B5EF4-FFF2-40B4-BE49-F238E27FC236}">
                <a16:creationId xmlns:a16="http://schemas.microsoft.com/office/drawing/2014/main" id="{98DC02DB-B878-4171-B470-425497AA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Actuar</a:t>
            </a:r>
          </a:p>
        </p:txBody>
      </p:sp>
      <p:sp>
        <p:nvSpPr>
          <p:cNvPr id="27" name="U10-DG-049-step_6-box">
            <a:extLst xmlns:a="http://schemas.openxmlformats.org/drawingml/2006/main">
              <a:ext uri="{FF2B5EF4-FFF2-40B4-BE49-F238E27FC236}">
                <a16:creationId xmlns:a16="http://schemas.microsoft.com/office/drawing/2014/main" id="{E1A0C287-5087-4F05-9DC9-8A497266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8" name="U10-DG-049-step_6-text">
            <a:extLst xmlns:a="http://schemas.openxmlformats.org/drawingml/2006/main">
              <a:ext uri="{FF2B5EF4-FFF2-40B4-BE49-F238E27FC236}">
                <a16:creationId xmlns:a16="http://schemas.microsoft.com/office/drawing/2014/main" id="{8045028C-C1E8-438B-94D5-ED7E3C80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 · Verificar</a:t>
            </a:r>
          </a:p>
        </p:txBody>
      </p:sp>
      <p:sp>
        <p:nvSpPr>
          <p:cNvPr id="29" name="caption">
            <a:extLst xmlns:a="http://schemas.openxmlformats.org/drawingml/2006/main">
              <a:ext uri="{FF2B5EF4-FFF2-40B4-BE49-F238E27FC236}">
                <a16:creationId xmlns:a16="http://schemas.microsoft.com/office/drawing/2014/main" id="{FFCD3F47-85D9-4E5D-BE50-D9FDBCE9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Cadena medir–interpretar–controlar–verificar. Propósito; configuración; dato; inferencia; acción; comprobación.</a:t>
            </a:r>
          </a:p>
        </p:txBody>
      </p:sp>
      <p:sp>
        <p:nvSpPr>
          <p:cNvPr id="3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9C20980-9921-4EC9-9DE6-446143B2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75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0AE8D537-B1E8-4227-8A71-DDD79107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10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7D82D24F-EE8A-4054-AF4F-9EE82271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¿Cómo se caracteriza un problema real sin saltar pasos?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8923ABAA-150F-4C4A-85D4-7A00A1AD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Pregunta integradora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0E55CD3-06A4-4F77-8B2B-0534CAFF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76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rail-1">
            <a:extLst xmlns:a="http://schemas.openxmlformats.org/drawingml/2006/main">
              <a:ext uri="{FF2B5EF4-FFF2-40B4-BE49-F238E27FC236}">
                <a16:creationId xmlns:a16="http://schemas.microsoft.com/office/drawing/2014/main" id="{61130823-E239-41E9-816C-A6E22FE6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1018C9D5-0006-4B85-B7C8-49644F63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8B32E6FE-9EEE-4472-86E7-48C38490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4F8F6FA3-80FF-44E7-886F-5B462AFD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A4B3D3-E3F9-4F99-9C70-512C2B7A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consultorio contiene varias señales y varias tareas</a:t>
            </a:r>
          </a:p>
        </p:txBody>
      </p:sp>
      <p:sp>
        <p:nvSpPr>
          <p:cNvPr id="6" name="U10-DG-050-source-anchor">
            <a:extLst xmlns:a="http://schemas.openxmlformats.org/drawingml/2006/main">
              <a:ext uri="{FF2B5EF4-FFF2-40B4-BE49-F238E27FC236}">
                <a16:creationId xmlns:a16="http://schemas.microsoft.com/office/drawing/2014/main" id="{3737568D-A6E8-459B-BBB4-7FD6F132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433638"/>
            <a:ext cx="2409825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50-path_top-anchor">
            <a:extLst xmlns:a="http://schemas.openxmlformats.org/drawingml/2006/main">
              <a:ext uri="{FF2B5EF4-FFF2-40B4-BE49-F238E27FC236}">
                <a16:creationId xmlns:a16="http://schemas.microsoft.com/office/drawing/2014/main" id="{7E2D5A64-B136-4C3A-B125-26DB31AE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6601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50-path_bottom-anchor">
            <a:extLst xmlns:a="http://schemas.openxmlformats.org/drawingml/2006/main">
              <a:ext uri="{FF2B5EF4-FFF2-40B4-BE49-F238E27FC236}">
                <a16:creationId xmlns:a16="http://schemas.microsoft.com/office/drawing/2014/main" id="{C1551D28-D569-402B-B54E-12E58490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44265"/>
            <a:ext cx="236601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50-space-anchor">
            <a:extLst xmlns:a="http://schemas.openxmlformats.org/drawingml/2006/main">
              <a:ext uri="{FF2B5EF4-FFF2-40B4-BE49-F238E27FC236}">
                <a16:creationId xmlns:a16="http://schemas.microsoft.com/office/drawing/2014/main" id="{5C0B484C-1426-40B9-B645-BF823E5D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0" y="2433638"/>
            <a:ext cx="219075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50-receiver-anchor">
            <a:extLst xmlns:a="http://schemas.openxmlformats.org/drawingml/2006/main">
              <a:ext uri="{FF2B5EF4-FFF2-40B4-BE49-F238E27FC236}">
                <a16:creationId xmlns:a16="http://schemas.microsoft.com/office/drawing/2014/main" id="{4AE95164-472A-4E59-8C9C-AB905904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433638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50-condition-anchor">
            <a:extLst xmlns:a="http://schemas.openxmlformats.org/drawingml/2006/main">
              <a:ext uri="{FF2B5EF4-FFF2-40B4-BE49-F238E27FC236}">
                <a16:creationId xmlns:a16="http://schemas.microsoft.com/office/drawing/2014/main" id="{AD02A7B3-7280-4443-B8C7-64210CC1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815840"/>
            <a:ext cx="5476875" cy="546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2" name="U10-DG-050-route_1a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177540" y="1577340"/>
            <a:ext cx="2594610" cy="140303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10-DG-050-route_1b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57850" y="2140744"/>
            <a:ext cx="262890" cy="83962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4" name="U10-DG-050-route_2a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77540" y="2980373"/>
            <a:ext cx="2594610" cy="16764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10-DG-050-route_2b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5657850" y="2980373"/>
            <a:ext cx="26289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10-DG-050-route_3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111490" y="2980373"/>
            <a:ext cx="30670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7" name="U10-DG-050-visual-alt" descr="Base del caso integrador. Avenida; HVAC; puerta; consultorio; conversación; prueba; tres receptores. Orden de lectura: Rutas numeradas y leyenda estable. ---">
            <a:extLst xmlns:a="http://schemas.openxmlformats.org/drawingml/2006/main">
              <a:ext uri="{FF2B5EF4-FFF2-40B4-BE49-F238E27FC236}">
                <a16:creationId xmlns:a16="http://schemas.microsoft.com/office/drawing/2014/main" id="{C17907F3-8119-4BF5-B89E-40DC018B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433638"/>
            <a:ext cx="2409825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50-source-text">
            <a:extLst xmlns:a="http://schemas.openxmlformats.org/drawingml/2006/main">
              <a:ext uri="{FF2B5EF4-FFF2-40B4-BE49-F238E27FC236}">
                <a16:creationId xmlns:a16="http://schemas.microsoft.com/office/drawing/2014/main" id="{92E41C09-7B89-4CEA-A681-8EBC403E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2557463"/>
            <a:ext cx="2066925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Avenida</a:t>
            </a:r>
          </a:p>
        </p:txBody>
      </p:sp>
      <p:sp>
        <p:nvSpPr>
          <p:cNvPr id="19" name="U10-DG-050-path_top-box">
            <a:extLst xmlns:a="http://schemas.openxmlformats.org/drawingml/2006/main">
              <a:ext uri="{FF2B5EF4-FFF2-40B4-BE49-F238E27FC236}">
                <a16:creationId xmlns:a16="http://schemas.microsoft.com/office/drawing/2014/main" id="{2BD27BEF-41F2-44F9-A038-6D423E7F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6601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0" name="U10-DG-050-path_top-text">
            <a:extLst xmlns:a="http://schemas.openxmlformats.org/drawingml/2006/main">
              <a:ext uri="{FF2B5EF4-FFF2-40B4-BE49-F238E27FC236}">
                <a16:creationId xmlns:a16="http://schemas.microsoft.com/office/drawing/2014/main" id="{AA8AD251-A90D-44D8-BDD0-1DEA19C7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1815465"/>
            <a:ext cx="202311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HVAC</a:t>
            </a:r>
          </a:p>
        </p:txBody>
      </p:sp>
      <p:sp>
        <p:nvSpPr>
          <p:cNvPr id="21" name="U10-DG-050-path_bottom-box">
            <a:extLst xmlns:a="http://schemas.openxmlformats.org/drawingml/2006/main">
              <a:ext uri="{FF2B5EF4-FFF2-40B4-BE49-F238E27FC236}">
                <a16:creationId xmlns:a16="http://schemas.microsoft.com/office/drawing/2014/main" id="{6B4AEA12-6E1D-41B7-A408-19BB00D7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44265"/>
            <a:ext cx="236601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2" name="U10-DG-050-path_bottom-text">
            <a:extLst xmlns:a="http://schemas.openxmlformats.org/drawingml/2006/main">
              <a:ext uri="{FF2B5EF4-FFF2-40B4-BE49-F238E27FC236}">
                <a16:creationId xmlns:a16="http://schemas.microsoft.com/office/drawing/2014/main" id="{81AAAB84-9DAD-4D79-AEA0-3D980836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3768090"/>
            <a:ext cx="202311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Puerta</a:t>
            </a:r>
          </a:p>
        </p:txBody>
      </p:sp>
      <p:sp>
        <p:nvSpPr>
          <p:cNvPr id="23" name="U10-DG-050-space-box">
            <a:extLst xmlns:a="http://schemas.openxmlformats.org/drawingml/2006/main">
              <a:ext uri="{FF2B5EF4-FFF2-40B4-BE49-F238E27FC236}">
                <a16:creationId xmlns:a16="http://schemas.microsoft.com/office/drawing/2014/main" id="{4BAFFD4D-41CC-441B-8F45-3FF3B104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0" y="2433638"/>
            <a:ext cx="219075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4" name="U10-DG-050-space-text">
            <a:extLst xmlns:a="http://schemas.openxmlformats.org/drawingml/2006/main">
              <a:ext uri="{FF2B5EF4-FFF2-40B4-BE49-F238E27FC236}">
                <a16:creationId xmlns:a16="http://schemas.microsoft.com/office/drawing/2014/main" id="{BF854F9A-FDA7-4659-A5C9-73819D01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190" y="2557463"/>
            <a:ext cx="184785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Consultorio</a:t>
            </a:r>
          </a:p>
        </p:txBody>
      </p:sp>
      <p:sp>
        <p:nvSpPr>
          <p:cNvPr id="25" name="U10-DG-050-receiver-box">
            <a:extLst xmlns:a="http://schemas.openxmlformats.org/drawingml/2006/main">
              <a:ext uri="{FF2B5EF4-FFF2-40B4-BE49-F238E27FC236}">
                <a16:creationId xmlns:a16="http://schemas.microsoft.com/office/drawing/2014/main" id="{1B2962E9-65CC-43B8-8F43-CFD1288C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433638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6" name="U10-DG-050-receiver-text">
            <a:extLst xmlns:a="http://schemas.openxmlformats.org/drawingml/2006/main">
              <a:ext uri="{FF2B5EF4-FFF2-40B4-BE49-F238E27FC236}">
                <a16:creationId xmlns:a16="http://schemas.microsoft.com/office/drawing/2014/main" id="{4EE9D5BF-E26B-4283-BD67-43E9AAC3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557463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Conversación</a:t>
            </a:r>
          </a:p>
        </p:txBody>
      </p:sp>
      <p:sp>
        <p:nvSpPr>
          <p:cNvPr id="27" name="U10-DG-050-condition-box">
            <a:extLst xmlns:a="http://schemas.openxmlformats.org/drawingml/2006/main">
              <a:ext uri="{FF2B5EF4-FFF2-40B4-BE49-F238E27FC236}">
                <a16:creationId xmlns:a16="http://schemas.microsoft.com/office/drawing/2014/main" id="{66EFC27A-7F3A-4793-825A-5BCB627E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815840"/>
            <a:ext cx="5476875" cy="546735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8" name="U10-DG-050-condition-text">
            <a:extLst xmlns:a="http://schemas.openxmlformats.org/drawingml/2006/main">
              <a:ext uri="{FF2B5EF4-FFF2-40B4-BE49-F238E27FC236}">
                <a16:creationId xmlns:a16="http://schemas.microsoft.com/office/drawing/2014/main" id="{2CED7F8F-FD6C-4B80-933F-410D1FB4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4939665"/>
            <a:ext cx="5133975" cy="299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Prueba · tres receptores</a:t>
            </a:r>
          </a:p>
        </p:txBody>
      </p:sp>
      <p:sp>
        <p:nvSpPr>
          <p:cNvPr id="29" name="caption">
            <a:extLst xmlns:a="http://schemas.openxmlformats.org/drawingml/2006/main">
              <a:ext uri="{FF2B5EF4-FFF2-40B4-BE49-F238E27FC236}">
                <a16:creationId xmlns:a16="http://schemas.microsoft.com/office/drawing/2014/main" id="{84B8FD21-6214-43FC-8B84-5F50363E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Base del caso integrador. Avenida; HVAC; puerta; consultorio; conversación; prueba; tres receptores.</a:t>
            </a:r>
          </a:p>
        </p:txBody>
      </p:sp>
      <p:sp>
        <p:nvSpPr>
          <p:cNvPr id="3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F121249-8954-48C5-8922-395A7558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77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-1">
            <a:extLst xmlns:a="http://schemas.openxmlformats.org/drawingml/2006/main">
              <a:ext uri="{FF2B5EF4-FFF2-40B4-BE49-F238E27FC236}">
                <a16:creationId xmlns:a16="http://schemas.microsoft.com/office/drawing/2014/main" id="{6AD1FDE0-F4D7-487E-922C-637920A3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E6FFD801-6BCB-4586-83D5-8A87EFCC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0ECB1E2C-CEE2-4426-8A93-7EE14600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17F896E-E9E9-49C4-BE5E-DE73B099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INTEGRACIÓN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C4EA1B-138B-426C-9A08-97A85D5A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Primera capa: evolución temporal y estadística</a:t>
            </a:r>
          </a:p>
        </p:txBody>
      </p:sp>
      <p:pic>
        <p:nvPicPr>
          <p:cNvPr id="15" name="U10-CH-014-chart" descr="Capa temporal del caso. DG-050 + ventanas y trazas CH-014. Orden de lectura: Líderes desde fuente a minigráfico. Tres minipaneles muestran nivel relativo por tránsito con envolvente lenta, climatización continua y portazos impulsivos. ---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68c6358d474217">
            <a:extLst>
              <a:ext uri="{96DAC541-7B7A-43D3-8B79-37D633B846F1}">
                <asvg:svgBlip xmlns:asvg="http://schemas.microsoft.com/office/drawing/2016/SVG/main" r:embed="R3c97e4a035b74e8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3875" y="1504950"/>
            <a:ext cx="6858000" cy="4095750"/>
          </a:xfrm>
          <a:prstGeom xmlns:a="http://schemas.openxmlformats.org/drawingml/2006/main" prst="rect">
            <a:avLst/>
          </a:prstGeom>
        </p:spPr>
      </p:pic>
      <p:pic>
        <p:nvPicPr>
          <p:cNvPr id="16" name="U10-DG-051-visual-alt" descr="Capa temporal del caso. DG-050 + ventanas y trazas CH-014. Orden de lectura: Líderes desde fuente a minigráfico. Tres minipaneles muestran nivel relativo por tránsito con envolvente lenta, climatización continua y portazos impulsivos. ---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9edc60daf54e36">
            <a:extLst>
              <a:ext uri="{96DAC541-7B7A-43D3-8B79-37D633B846F1}">
                <asvg:svgBlip xmlns:asvg="http://schemas.microsoft.com/office/drawing/2016/SVG/main" r:embed="R657becb3596e476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0" y="1695450"/>
            <a:ext cx="4000500" cy="3714750"/>
          </a:xfrm>
          <a:prstGeom xmlns:a="http://schemas.openxmlformats.org/drawingml/2006/main" prst="rect">
            <a:avLst/>
          </a:prstGeom>
        </p:spPr>
      </p:pic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6F4DB1CD-4B9A-4830-8758-5C5D8C0E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Primera capa del caso: ventanas temporales, trazas y elección del descriptor.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ED1A53F-3DFA-4576-B571-99191481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78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ail-1">
            <a:extLst xmlns:a="http://schemas.openxmlformats.org/drawingml/2006/main">
              <a:ext uri="{FF2B5EF4-FFF2-40B4-BE49-F238E27FC236}">
                <a16:creationId xmlns:a16="http://schemas.microsoft.com/office/drawing/2014/main" id="{646F065E-3035-4659-B82B-065FD9EE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D0C8A2C6-9998-4FCD-9FEF-1766DC78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F67E6793-6CFF-4778-8150-C0DEF43E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7D9EBA9-06B8-472E-A060-120439C0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INTEGRACIÓN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8C26A5-5A9B-4C62-9B47-7A07A466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Segunda capa: espectro, equivalente, extremos y SNR</a:t>
            </a:r>
          </a:p>
        </p:txBody>
      </p:sp>
      <p:sp>
        <p:nvSpPr>
          <p:cNvPr id="6" name="U10-DG-052-concept_1-anchor">
            <a:extLst xmlns:a="http://schemas.openxmlformats.org/drawingml/2006/main">
              <a:ext uri="{FF2B5EF4-FFF2-40B4-BE49-F238E27FC236}">
                <a16:creationId xmlns:a16="http://schemas.microsoft.com/office/drawing/2014/main" id="{7496A025-68EB-459D-8E4C-F354B889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52-concept_2-anchor">
            <a:extLst xmlns:a="http://schemas.openxmlformats.org/drawingml/2006/main">
              <a:ext uri="{FF2B5EF4-FFF2-40B4-BE49-F238E27FC236}">
                <a16:creationId xmlns:a16="http://schemas.microsoft.com/office/drawing/2014/main" id="{06FC10A4-A234-457F-B1E9-03C76054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52-concept_3-anchor">
            <a:extLst xmlns:a="http://schemas.openxmlformats.org/drawingml/2006/main">
              <a:ext uri="{FF2B5EF4-FFF2-40B4-BE49-F238E27FC236}">
                <a16:creationId xmlns:a16="http://schemas.microsoft.com/office/drawing/2014/main" id="{CE6C2B43-4107-46E5-9F90-A1F68F2E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52-concept_4-anchor">
            <a:extLst xmlns:a="http://schemas.openxmlformats.org/drawingml/2006/main">
              <a:ext uri="{FF2B5EF4-FFF2-40B4-BE49-F238E27FC236}">
                <a16:creationId xmlns:a16="http://schemas.microsoft.com/office/drawing/2014/main" id="{BAE83397-A58C-490B-85C9-706E6E62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52-concept_5-anchor">
            <a:extLst xmlns:a="http://schemas.openxmlformats.org/drawingml/2006/main">
              <a:ext uri="{FF2B5EF4-FFF2-40B4-BE49-F238E27FC236}">
                <a16:creationId xmlns:a16="http://schemas.microsoft.com/office/drawing/2014/main" id="{B269C1F8-730D-4FF1-944A-D639B685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52-visual-alt" descr="Capa espectro/nivel/SNR. DG-050 + bandas, indicador por fuente y conversación objetivo. Orden de lectura: Líderes “medir por bandas”, “comparar”. ---">
            <a:extLst xmlns:a="http://schemas.openxmlformats.org/drawingml/2006/main">
              <a:ext uri="{FF2B5EF4-FFF2-40B4-BE49-F238E27FC236}">
                <a16:creationId xmlns:a16="http://schemas.microsoft.com/office/drawing/2014/main" id="{F92FEF89-2F9A-40E0-A15A-4BF99150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2" name="U10-DG-052-concept_1-text">
            <a:extLst xmlns:a="http://schemas.openxmlformats.org/drawingml/2006/main">
              <a:ext uri="{FF2B5EF4-FFF2-40B4-BE49-F238E27FC236}">
                <a16:creationId xmlns:a16="http://schemas.microsoft.com/office/drawing/2014/main" id="{7A0BE827-2C0F-438C-83A1-367CC08C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Tránsito · medir por bandas</a:t>
            </a:r>
          </a:p>
        </p:txBody>
      </p:sp>
      <p:sp>
        <p:nvSpPr>
          <p:cNvPr id="13" name="U10-DG-052-concept_2-box">
            <a:extLst xmlns:a="http://schemas.openxmlformats.org/drawingml/2006/main">
              <a:ext uri="{FF2B5EF4-FFF2-40B4-BE49-F238E27FC236}">
                <a16:creationId xmlns:a16="http://schemas.microsoft.com/office/drawing/2014/main" id="{3B47C1D1-BABD-4229-92C5-5B848E4D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4" name="U10-DG-052-concept_2-text">
            <a:extLst xmlns:a="http://schemas.openxmlformats.org/drawingml/2006/main">
              <a:ext uri="{FF2B5EF4-FFF2-40B4-BE49-F238E27FC236}">
                <a16:creationId xmlns:a16="http://schemas.microsoft.com/office/drawing/2014/main" id="{3FF73452-4F55-4DB4-A83A-9BBE91A8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HVAC · Lₐeq,T</a:t>
            </a:r>
          </a:p>
        </p:txBody>
      </p:sp>
      <p:sp>
        <p:nvSpPr>
          <p:cNvPr id="15" name="U10-DG-052-concept_3-box">
            <a:extLst xmlns:a="http://schemas.openxmlformats.org/drawingml/2006/main">
              <a:ext uri="{FF2B5EF4-FFF2-40B4-BE49-F238E27FC236}">
                <a16:creationId xmlns:a16="http://schemas.microsoft.com/office/drawing/2014/main" id="{1223A147-B314-4B69-8374-B3D3E4D9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6" name="U10-DG-052-concept_3-text">
            <a:extLst xmlns:a="http://schemas.openxmlformats.org/drawingml/2006/main">
              <a:ext uri="{FF2B5EF4-FFF2-40B4-BE49-F238E27FC236}">
                <a16:creationId xmlns:a16="http://schemas.microsoft.com/office/drawing/2014/main" id="{138BFE86-359B-4894-AC46-C7AAF263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Portazo · pico / máximo</a:t>
            </a:r>
          </a:p>
        </p:txBody>
      </p:sp>
      <p:sp>
        <p:nvSpPr>
          <p:cNvPr id="17" name="U10-DG-052-concept_4-box">
            <a:extLst xmlns:a="http://schemas.openxmlformats.org/drawingml/2006/main">
              <a:ext uri="{FF2B5EF4-FFF2-40B4-BE49-F238E27FC236}">
                <a16:creationId xmlns:a16="http://schemas.microsoft.com/office/drawing/2014/main" id="{D08B6DB2-C078-4CCD-8597-BAE70894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8" name="U10-DG-052-concept_4-text">
            <a:extLst xmlns:a="http://schemas.openxmlformats.org/drawingml/2006/main">
              <a:ext uri="{FF2B5EF4-FFF2-40B4-BE49-F238E27FC236}">
                <a16:creationId xmlns:a16="http://schemas.microsoft.com/office/drawing/2014/main" id="{ED05909B-4722-4B70-B87D-D9A77D0E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Conversación · SNR</a:t>
            </a:r>
          </a:p>
        </p:txBody>
      </p:sp>
      <p:sp>
        <p:nvSpPr>
          <p:cNvPr id="19" name="U10-DG-052-concept_5-box">
            <a:extLst xmlns:a="http://schemas.openxmlformats.org/drawingml/2006/main">
              <a:ext uri="{FF2B5EF4-FFF2-40B4-BE49-F238E27FC236}">
                <a16:creationId xmlns:a16="http://schemas.microsoft.com/office/drawing/2014/main" id="{5AF586D2-9CC5-4FF5-8ACF-265D6D07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0" name="U10-DG-052-concept_5-text">
            <a:extLst xmlns:a="http://schemas.openxmlformats.org/drawingml/2006/main">
              <a:ext uri="{FF2B5EF4-FFF2-40B4-BE49-F238E27FC236}">
                <a16:creationId xmlns:a16="http://schemas.microsoft.com/office/drawing/2014/main" id="{D10F4991-7E01-459D-802E-C81421BD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Sin valores inventados</a:t>
            </a:r>
          </a:p>
        </p:txBody>
      </p:sp>
      <p:sp>
        <p:nvSpPr>
          <p:cNvPr id="21" name="caption">
            <a:extLst xmlns:a="http://schemas.openxmlformats.org/drawingml/2006/main">
              <a:ext uri="{FF2B5EF4-FFF2-40B4-BE49-F238E27FC236}">
                <a16:creationId xmlns:a16="http://schemas.microsoft.com/office/drawing/2014/main" id="{86559DAE-DA9F-43C6-A956-A118FA28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Capa espectro/nivel/SNR. DG-050 + bandas, indicador por fuente y conversación objetivo.</a:t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74093E4-E37A-4371-8236-724C525E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79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ail-1">
            <a:extLst xmlns:a="http://schemas.openxmlformats.org/drawingml/2006/main">
              <a:ext uri="{FF2B5EF4-FFF2-40B4-BE49-F238E27FC236}">
                <a16:creationId xmlns:a16="http://schemas.microsoft.com/office/drawing/2014/main" id="{E36C189C-BB5A-47FE-AA04-547DAE6E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EB5D142E-CD00-4B17-B1AD-78FA35F9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0332255A-CCA3-40FE-AAC2-ED15D50E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8499CA24-4246-4A98-8874-B847339E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INTEGRACIÓN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04B909-4FFE-4AA2-A81B-3D21A88A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Tercera capa: señal deliberada, control y fuente de autoridad</a:t>
            </a:r>
          </a:p>
        </p:txBody>
      </p:sp>
      <p:sp>
        <p:nvSpPr>
          <p:cNvPr id="6" name="U10-DG-053-concept_1-anchor">
            <a:extLst xmlns:a="http://schemas.openxmlformats.org/drawingml/2006/main">
              <a:ext uri="{FF2B5EF4-FFF2-40B4-BE49-F238E27FC236}">
                <a16:creationId xmlns:a16="http://schemas.microsoft.com/office/drawing/2014/main" id="{57663B11-519C-472F-9123-D9C6FC03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53-concept_2-anchor">
            <a:extLst xmlns:a="http://schemas.openxmlformats.org/drawingml/2006/main">
              <a:ext uri="{FF2B5EF4-FFF2-40B4-BE49-F238E27FC236}">
                <a16:creationId xmlns:a16="http://schemas.microsoft.com/office/drawing/2014/main" id="{E845B595-0784-4474-9D06-50DD5C7A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53-concept_3-anchor">
            <a:extLst xmlns:a="http://schemas.openxmlformats.org/drawingml/2006/main">
              <a:ext uri="{FF2B5EF4-FFF2-40B4-BE49-F238E27FC236}">
                <a16:creationId xmlns:a16="http://schemas.microsoft.com/office/drawing/2014/main" id="{D9851BDC-3A7E-44CA-BD4D-4A142801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53-concept_4-anchor">
            <a:extLst xmlns:a="http://schemas.openxmlformats.org/drawingml/2006/main">
              <a:ext uri="{FF2B5EF4-FFF2-40B4-BE49-F238E27FC236}">
                <a16:creationId xmlns:a16="http://schemas.microsoft.com/office/drawing/2014/main" id="{D7A9BE70-2529-4DBF-B1F4-4EBB0811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53-concept_5-anchor">
            <a:extLst xmlns:a="http://schemas.openxmlformats.org/drawingml/2006/main">
              <a:ext uri="{FF2B5EF4-FFF2-40B4-BE49-F238E27FC236}">
                <a16:creationId xmlns:a16="http://schemas.microsoft.com/office/drawing/2014/main" id="{32A11E3D-6852-4732-9DB2-53A26E37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53-visual-alt" descr="Capa señal deliberada/control/autoridad. DG-050 + enmascarador; controles; cajas norma/protocolo. Orden de lectura: “requiere fuente”, “actuar aquí”. ---">
            <a:extLst xmlns:a="http://schemas.openxmlformats.org/drawingml/2006/main">
              <a:ext uri="{FF2B5EF4-FFF2-40B4-BE49-F238E27FC236}">
                <a16:creationId xmlns:a16="http://schemas.microsoft.com/office/drawing/2014/main" id="{81310611-0A4A-4AE5-96DF-BDB94945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2" name="U10-DG-053-concept_1-text">
            <a:extLst xmlns:a="http://schemas.openxmlformats.org/drawingml/2006/main">
              <a:ext uri="{FF2B5EF4-FFF2-40B4-BE49-F238E27FC236}">
                <a16:creationId xmlns:a16="http://schemas.microsoft.com/office/drawing/2014/main" id="{36802EAF-1358-4FBC-B1FB-8B0114A8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Enmascarador deliberado</a:t>
            </a:r>
          </a:p>
        </p:txBody>
      </p:sp>
      <p:sp>
        <p:nvSpPr>
          <p:cNvPr id="13" name="U10-DG-053-concept_2-box">
            <a:extLst xmlns:a="http://schemas.openxmlformats.org/drawingml/2006/main">
              <a:ext uri="{FF2B5EF4-FFF2-40B4-BE49-F238E27FC236}">
                <a16:creationId xmlns:a16="http://schemas.microsoft.com/office/drawing/2014/main" id="{EBEAF580-6819-4DA6-9A80-9EC04AF9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4" name="U10-DG-053-concept_2-text">
            <a:extLst xmlns:a="http://schemas.openxmlformats.org/drawingml/2006/main">
              <a:ext uri="{FF2B5EF4-FFF2-40B4-BE49-F238E27FC236}">
                <a16:creationId xmlns:a16="http://schemas.microsoft.com/office/drawing/2014/main" id="{B8DF5A0A-E7C0-429B-BF2F-A1ED5CA0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Control en fuente</a:t>
            </a:r>
          </a:p>
        </p:txBody>
      </p:sp>
      <p:sp>
        <p:nvSpPr>
          <p:cNvPr id="15" name="U10-DG-053-concept_3-box">
            <a:extLst xmlns:a="http://schemas.openxmlformats.org/drawingml/2006/main">
              <a:ext uri="{FF2B5EF4-FFF2-40B4-BE49-F238E27FC236}">
                <a16:creationId xmlns:a16="http://schemas.microsoft.com/office/drawing/2014/main" id="{45E3EFF2-8ED2-4C2D-AFA6-BE6D56C5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6" name="U10-DG-053-concept_3-text">
            <a:extLst xmlns:a="http://schemas.openxmlformats.org/drawingml/2006/main">
              <a:ext uri="{FF2B5EF4-FFF2-40B4-BE49-F238E27FC236}">
                <a16:creationId xmlns:a16="http://schemas.microsoft.com/office/drawing/2014/main" id="{0A6DD246-CBFE-41E4-BE77-B0FE734B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Control en trayecto</a:t>
            </a:r>
          </a:p>
        </p:txBody>
      </p:sp>
      <p:sp>
        <p:nvSpPr>
          <p:cNvPr id="17" name="U10-DG-053-concept_4-box">
            <a:extLst xmlns:a="http://schemas.openxmlformats.org/drawingml/2006/main">
              <a:ext uri="{FF2B5EF4-FFF2-40B4-BE49-F238E27FC236}">
                <a16:creationId xmlns:a16="http://schemas.microsoft.com/office/drawing/2014/main" id="{3DF31507-0F91-40F7-8581-B0B17881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8" name="U10-DG-053-concept_4-text">
            <a:extLst xmlns:a="http://schemas.openxmlformats.org/drawingml/2006/main">
              <a:ext uri="{FF2B5EF4-FFF2-40B4-BE49-F238E27FC236}">
                <a16:creationId xmlns:a16="http://schemas.microsoft.com/office/drawing/2014/main" id="{F8C16A8E-D563-44CD-808D-053BE3EA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Norma: fuente requerida</a:t>
            </a:r>
          </a:p>
        </p:txBody>
      </p:sp>
      <p:sp>
        <p:nvSpPr>
          <p:cNvPr id="19" name="U10-DG-053-concept_5-box">
            <a:extLst xmlns:a="http://schemas.openxmlformats.org/drawingml/2006/main">
              <a:ext uri="{FF2B5EF4-FFF2-40B4-BE49-F238E27FC236}">
                <a16:creationId xmlns:a16="http://schemas.microsoft.com/office/drawing/2014/main" id="{39BDD5E6-7BAD-422A-8F01-215122AB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0" name="U10-DG-053-concept_5-text">
            <a:extLst xmlns:a="http://schemas.openxmlformats.org/drawingml/2006/main">
              <a:ext uri="{FF2B5EF4-FFF2-40B4-BE49-F238E27FC236}">
                <a16:creationId xmlns:a16="http://schemas.microsoft.com/office/drawing/2014/main" id="{9DACEA73-2C64-4092-B055-31E90ECD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Protocolo: autoridad clínica</a:t>
            </a:r>
          </a:p>
        </p:txBody>
      </p:sp>
      <p:sp>
        <p:nvSpPr>
          <p:cNvPr id="21" name="caption">
            <a:extLst xmlns:a="http://schemas.openxmlformats.org/drawingml/2006/main">
              <a:ext uri="{FF2B5EF4-FFF2-40B4-BE49-F238E27FC236}">
                <a16:creationId xmlns:a16="http://schemas.microsoft.com/office/drawing/2014/main" id="{6294E6E2-4224-4C60-9280-DE2B0C6E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Capa señal deliberada/control/autoridad. DG-050 + enmascarador; controles; cajas norma/protocolo.</a:t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327E017-C761-466D-9F5E-888CC2BB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80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rail-1">
            <a:extLst xmlns:a="http://schemas.openxmlformats.org/drawingml/2006/main">
              <a:ext uri="{FF2B5EF4-FFF2-40B4-BE49-F238E27FC236}">
                <a16:creationId xmlns:a16="http://schemas.microsoft.com/office/drawing/2014/main" id="{8382FD52-CAAC-4E41-85C7-7F0FA068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60692E73-FE77-438C-A102-BF51A7D6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E1BB9D4A-9073-4B3F-9D31-412A84A5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2F67C8E-1979-4268-8CB1-CD255F3C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INTEGRACIÓN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FA5898-F71D-40D4-B86C-DA76DE1C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Diseñar un plan de caracterización y control</a:t>
            </a:r>
          </a:p>
        </p:txBody>
      </p:sp>
      <p:sp>
        <p:nvSpPr>
          <p:cNvPr id="6" name="U10-DG-054-compare_1-anchor">
            <a:extLst xmlns:a="http://schemas.openxmlformats.org/drawingml/2006/main">
              <a:ext uri="{FF2B5EF4-FFF2-40B4-BE49-F238E27FC236}">
                <a16:creationId xmlns:a16="http://schemas.microsoft.com/office/drawing/2014/main" id="{445EAC13-CFDB-4950-A32C-F862450B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446913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54-compare_2-anchor">
            <a:extLst xmlns:a="http://schemas.openxmlformats.org/drawingml/2006/main">
              <a:ext uri="{FF2B5EF4-FFF2-40B4-BE49-F238E27FC236}">
                <a16:creationId xmlns:a16="http://schemas.microsoft.com/office/drawing/2014/main" id="{971397EB-2FF4-4C8C-92D9-98DA2433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691640"/>
            <a:ext cx="446913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54-compare_3-anchor">
            <a:extLst xmlns:a="http://schemas.openxmlformats.org/drawingml/2006/main">
              <a:ext uri="{FF2B5EF4-FFF2-40B4-BE49-F238E27FC236}">
                <a16:creationId xmlns:a16="http://schemas.microsoft.com/office/drawing/2014/main" id="{E4C8EE41-1994-4501-ADEE-FA1D612C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47594"/>
            <a:ext cx="446913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54-compare_4-anchor">
            <a:extLst xmlns:a="http://schemas.openxmlformats.org/drawingml/2006/main">
              <a:ext uri="{FF2B5EF4-FFF2-40B4-BE49-F238E27FC236}">
                <a16:creationId xmlns:a16="http://schemas.microsoft.com/office/drawing/2014/main" id="{6AAAAC11-DE73-417D-B833-5F40C6E0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2847594"/>
            <a:ext cx="446913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54-compare_5-anchor">
            <a:extLst xmlns:a="http://schemas.openxmlformats.org/drawingml/2006/main">
              <a:ext uri="{FF2B5EF4-FFF2-40B4-BE49-F238E27FC236}">
                <a16:creationId xmlns:a16="http://schemas.microsoft.com/office/drawing/2014/main" id="{89ADB430-DA38-4447-A620-8F70583B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3548"/>
            <a:ext cx="446913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54-compare_6-anchor">
            <a:extLst xmlns:a="http://schemas.openxmlformats.org/drawingml/2006/main">
              <a:ext uri="{FF2B5EF4-FFF2-40B4-BE49-F238E27FC236}">
                <a16:creationId xmlns:a16="http://schemas.microsoft.com/office/drawing/2014/main" id="{245484A0-DD66-4AA4-841D-E4672BD6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4003548"/>
            <a:ext cx="446913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10-DG-054-visual-alt" descr="Matriz de respuesta integradora. Evidencia; descriptor; configuración; interpretación; acción; límite. Orden de lectura: Sin flechas; alineación por fila. ---">
            <a:extLst xmlns:a="http://schemas.openxmlformats.org/drawingml/2006/main">
              <a:ext uri="{FF2B5EF4-FFF2-40B4-BE49-F238E27FC236}">
                <a16:creationId xmlns:a16="http://schemas.microsoft.com/office/drawing/2014/main" id="{62EBEF10-DCEE-4D88-B126-C5C799BF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4469130" cy="937260"/>
          </a:xfrm>
          <a:prstGeom xmlns:a="http://schemas.openxmlformats.org/drawingml/2006/main" prst="roundRect">
            <a:avLst>
              <a:gd name="adj" fmla="val 71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3" name="U10-DG-054-compare_1-text">
            <a:extLst xmlns:a="http://schemas.openxmlformats.org/drawingml/2006/main">
              <a:ext uri="{FF2B5EF4-FFF2-40B4-BE49-F238E27FC236}">
                <a16:creationId xmlns:a16="http://schemas.microsoft.com/office/drawing/2014/main" id="{1CFC3203-5690-4A60-AB11-781A3D4F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4126230" cy="689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Evidencia + configuración</a:t>
            </a:r>
          </a:p>
        </p:txBody>
      </p:sp>
      <p:sp>
        <p:nvSpPr>
          <p:cNvPr id="14" name="U10-DG-054-compare_2-box">
            <a:extLst xmlns:a="http://schemas.openxmlformats.org/drawingml/2006/main">
              <a:ext uri="{FF2B5EF4-FFF2-40B4-BE49-F238E27FC236}">
                <a16:creationId xmlns:a16="http://schemas.microsoft.com/office/drawing/2014/main" id="{FDE29C94-3336-467A-B54E-32EEF788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691640"/>
            <a:ext cx="4469130" cy="937260"/>
          </a:xfrm>
          <a:prstGeom xmlns:a="http://schemas.openxmlformats.org/drawingml/2006/main" prst="roundRect">
            <a:avLst>
              <a:gd name="adj" fmla="val 71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5" name="U10-DG-054-compare_2-text">
            <a:extLst xmlns:a="http://schemas.openxmlformats.org/drawingml/2006/main">
              <a:ext uri="{FF2B5EF4-FFF2-40B4-BE49-F238E27FC236}">
                <a16:creationId xmlns:a16="http://schemas.microsoft.com/office/drawing/2014/main" id="{DEF39331-B656-4457-A831-4198E837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815465"/>
            <a:ext cx="4126230" cy="689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Descriptor + unidad</a:t>
            </a:r>
          </a:p>
        </p:txBody>
      </p:sp>
      <p:sp>
        <p:nvSpPr>
          <p:cNvPr id="16" name="U10-DG-054-compare_3-box">
            <a:extLst xmlns:a="http://schemas.openxmlformats.org/drawingml/2006/main">
              <a:ext uri="{FF2B5EF4-FFF2-40B4-BE49-F238E27FC236}">
                <a16:creationId xmlns:a16="http://schemas.microsoft.com/office/drawing/2014/main" id="{677AF119-4DEB-4A20-8779-405BDEBA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47594"/>
            <a:ext cx="4469130" cy="937260"/>
          </a:xfrm>
          <a:prstGeom xmlns:a="http://schemas.openxmlformats.org/drawingml/2006/main" prst="roundRect">
            <a:avLst>
              <a:gd name="adj" fmla="val 711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7" name="U10-DG-054-compare_3-text">
            <a:extLst xmlns:a="http://schemas.openxmlformats.org/drawingml/2006/main">
              <a:ext uri="{FF2B5EF4-FFF2-40B4-BE49-F238E27FC236}">
                <a16:creationId xmlns:a16="http://schemas.microsoft.com/office/drawing/2014/main" id="{947C2A70-0E5A-428E-8E6F-DEEB488D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419"/>
            <a:ext cx="4126230" cy="689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Interpretación acotada</a:t>
            </a:r>
          </a:p>
        </p:txBody>
      </p:sp>
      <p:sp>
        <p:nvSpPr>
          <p:cNvPr id="18" name="U10-DG-054-compare_4-box">
            <a:extLst xmlns:a="http://schemas.openxmlformats.org/drawingml/2006/main">
              <a:ext uri="{FF2B5EF4-FFF2-40B4-BE49-F238E27FC236}">
                <a16:creationId xmlns:a16="http://schemas.microsoft.com/office/drawing/2014/main" id="{0BC095D3-F48E-415A-AA11-BEC73CDA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2847594"/>
            <a:ext cx="4469130" cy="937260"/>
          </a:xfrm>
          <a:prstGeom xmlns:a="http://schemas.openxmlformats.org/drawingml/2006/main" prst="roundRect">
            <a:avLst>
              <a:gd name="adj" fmla="val 7114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10-DG-054-compare_4-text">
            <a:extLst xmlns:a="http://schemas.openxmlformats.org/drawingml/2006/main">
              <a:ext uri="{FF2B5EF4-FFF2-40B4-BE49-F238E27FC236}">
                <a16:creationId xmlns:a16="http://schemas.microsoft.com/office/drawing/2014/main" id="{6B15B0EF-7D8E-4361-A708-E1C5EB2F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971419"/>
            <a:ext cx="4126230" cy="689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Acción + mecanismo</a:t>
            </a:r>
          </a:p>
        </p:txBody>
      </p:sp>
      <p:sp>
        <p:nvSpPr>
          <p:cNvPr id="20" name="U10-DG-054-compare_5-box">
            <a:extLst xmlns:a="http://schemas.openxmlformats.org/drawingml/2006/main">
              <a:ext uri="{FF2B5EF4-FFF2-40B4-BE49-F238E27FC236}">
                <a16:creationId xmlns:a16="http://schemas.microsoft.com/office/drawing/2014/main" id="{C87E9E2C-9D37-4436-86A6-6FF5BB05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3548"/>
            <a:ext cx="4469130" cy="937260"/>
          </a:xfrm>
          <a:prstGeom xmlns:a="http://schemas.openxmlformats.org/drawingml/2006/main" prst="roundRect">
            <a:avLst>
              <a:gd name="adj" fmla="val 71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1" name="U10-DG-054-compare_5-text">
            <a:extLst xmlns:a="http://schemas.openxmlformats.org/drawingml/2006/main">
              <a:ext uri="{FF2B5EF4-FFF2-40B4-BE49-F238E27FC236}">
                <a16:creationId xmlns:a16="http://schemas.microsoft.com/office/drawing/2014/main" id="{3228BCB5-A57F-405E-BAA4-5E7390ED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27373"/>
            <a:ext cx="4126230" cy="689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Verificación</a:t>
            </a:r>
          </a:p>
        </p:txBody>
      </p:sp>
      <p:sp>
        <p:nvSpPr>
          <p:cNvPr id="22" name="U10-DG-054-compare_6-box">
            <a:extLst xmlns:a="http://schemas.openxmlformats.org/drawingml/2006/main">
              <a:ext uri="{FF2B5EF4-FFF2-40B4-BE49-F238E27FC236}">
                <a16:creationId xmlns:a16="http://schemas.microsoft.com/office/drawing/2014/main" id="{1B589355-9234-46B7-BCE8-E18CEBF6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4003548"/>
            <a:ext cx="4469130" cy="937260"/>
          </a:xfrm>
          <a:prstGeom xmlns:a="http://schemas.openxmlformats.org/drawingml/2006/main" prst="roundRect">
            <a:avLst>
              <a:gd name="adj" fmla="val 71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10-DG-054-compare_6-text">
            <a:extLst xmlns:a="http://schemas.openxmlformats.org/drawingml/2006/main">
              <a:ext uri="{FF2B5EF4-FFF2-40B4-BE49-F238E27FC236}">
                <a16:creationId xmlns:a16="http://schemas.microsoft.com/office/drawing/2014/main" id="{37D90D65-5CBC-45A8-97DD-D3696877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127373"/>
            <a:ext cx="4126230" cy="689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Límite / autoridad</a:t>
            </a:r>
          </a:p>
        </p:txBody>
      </p:sp>
      <p:sp>
        <p:nvSpPr>
          <p:cNvPr id="24" name="caption">
            <a:extLst xmlns:a="http://schemas.openxmlformats.org/drawingml/2006/main">
              <a:ext uri="{FF2B5EF4-FFF2-40B4-BE49-F238E27FC236}">
                <a16:creationId xmlns:a16="http://schemas.microsoft.com/office/drawing/2014/main" id="{17BA6E84-9712-4285-B0EB-C2D60D2B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Matriz de respuesta integradora. Evidencia; descriptor; configuración; interpretación; acción; límite.</a:t>
            </a:r>
          </a:p>
        </p:txBody>
      </p:sp>
      <p:sp>
        <p:nvSpPr>
          <p:cNvPr id="2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C39D807-4C83-4591-8714-B0F7D593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81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op-rail-1">
            <a:extLst xmlns:a="http://schemas.openxmlformats.org/drawingml/2006/main">
              <a:ext uri="{FF2B5EF4-FFF2-40B4-BE49-F238E27FC236}">
                <a16:creationId xmlns:a16="http://schemas.microsoft.com/office/drawing/2014/main" id="{CE44280C-BE83-454E-A779-1C4E708D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27F5CC44-DCDE-4B40-A417-7772B7A4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8D49B98E-662A-4682-9A6F-6DC407C0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E36F0071-0E29-4E9D-9CBA-918ED5B1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INTEGRACIÓN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77AE2F-F52E-4BE3-9571-22C614FE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Doce afirmaciones para decidir, corregir y justificar</a:t>
            </a:r>
          </a:p>
        </p:txBody>
      </p:sp>
      <p:sp>
        <p:nvSpPr>
          <p:cNvPr id="6" name="U10-082-claim-alt" descr="Recurso visual previsto: Lista progresiva con revelado; sin grilla de checks. ---">
            <a:extLst xmlns:a="http://schemas.openxmlformats.org/drawingml/2006/main">
              <a:ext uri="{FF2B5EF4-FFF2-40B4-BE49-F238E27FC236}">
                <a16:creationId xmlns:a16="http://schemas.microsoft.com/office/drawing/2014/main" id="{170F7CE3-C982-46AC-9F25-8F9269A6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10763250" cy="51435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9525">
            <a:solidFill>
              <a:srgbClr val="903163"/>
            </a:solidFill>
            <a:prstDash val="solid"/>
          </a:ln>
        </p:spPr>
      </p:sp>
      <p:sp>
        <p:nvSpPr>
          <p:cNvPr id="7" name="errors-instruction">
            <a:extLst xmlns:a="http://schemas.openxmlformats.org/drawingml/2006/main">
              <a:ext uri="{FF2B5EF4-FFF2-40B4-BE49-F238E27FC236}">
                <a16:creationId xmlns:a16="http://schemas.microsoft.com/office/drawing/2014/main" id="{A95F340A-B7F9-413B-ADE5-99CFE681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Decida: correcta, incorrecta o incompleta, y justifique cuatro en clase.</a:t>
            </a:r>
          </a:p>
        </p:txBody>
      </p:sp>
      <p:sp>
        <p:nvSpPr>
          <p:cNvPr id="8" name="error-n-0">
            <a:extLst xmlns:a="http://schemas.openxmlformats.org/drawingml/2006/main">
              <a:ext uri="{FF2B5EF4-FFF2-40B4-BE49-F238E27FC236}">
                <a16:creationId xmlns:a16="http://schemas.microsoft.com/office/drawing/2014/main" id="{DF8CE508-1750-4F11-BFE2-CFD56752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8EE"/>
          </a:solidFill>
          <a:ln xmlns:a="http://schemas.openxmlformats.org/drawingml/2006/main" w="9525">
            <a:solidFill>
              <a:srgbClr val="903163"/>
            </a:solidFill>
            <a:prstDash val="solid"/>
          </a:ln>
        </p:spPr>
      </p:sp>
      <p:sp>
        <p:nvSpPr>
          <p:cNvPr id="9" name="error-num-0">
            <a:extLst xmlns:a="http://schemas.openxmlformats.org/drawingml/2006/main">
              <a:ext uri="{FF2B5EF4-FFF2-40B4-BE49-F238E27FC236}">
                <a16:creationId xmlns:a16="http://schemas.microsoft.com/office/drawing/2014/main" id="{D33F0768-39C0-4EDB-AE90-0A349177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" name="error-claim-0">
            <a:extLst xmlns:a="http://schemas.openxmlformats.org/drawingml/2006/main">
              <a:ext uri="{FF2B5EF4-FFF2-40B4-BE49-F238E27FC236}">
                <a16:creationId xmlns:a16="http://schemas.microsoft.com/office/drawing/2014/main" id="{CF131116-9FF1-4301-A524-69290ACE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526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Aleatorio significa imposible de medir.</a:t>
            </a:r>
          </a:p>
        </p:txBody>
      </p:sp>
      <p:sp>
        <p:nvSpPr>
          <p:cNvPr id="11" name="error-n-1">
            <a:extLst xmlns:a="http://schemas.openxmlformats.org/drawingml/2006/main">
              <a:ext uri="{FF2B5EF4-FFF2-40B4-BE49-F238E27FC236}">
                <a16:creationId xmlns:a16="http://schemas.microsoft.com/office/drawing/2014/main" id="{D3EB96C5-2371-41C3-AE9C-235AB81A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9525">
            <a:solidFill>
              <a:srgbClr val="2F7E83"/>
            </a:solidFill>
            <a:prstDash val="solid"/>
          </a:ln>
        </p:spPr>
      </p:sp>
      <p:sp>
        <p:nvSpPr>
          <p:cNvPr id="12" name="error-num-1">
            <a:extLst xmlns:a="http://schemas.openxmlformats.org/drawingml/2006/main">
              <a:ext uri="{FF2B5EF4-FFF2-40B4-BE49-F238E27FC236}">
                <a16:creationId xmlns:a16="http://schemas.microsoft.com/office/drawing/2014/main" id="{653F3E4D-0B12-4618-9EEE-1EFB8167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error-claim-1">
            <a:extLst xmlns:a="http://schemas.openxmlformats.org/drawingml/2006/main">
              <a:ext uri="{FF2B5EF4-FFF2-40B4-BE49-F238E27FC236}">
                <a16:creationId xmlns:a16="http://schemas.microsoft.com/office/drawing/2014/main" id="{617AC6BD-1720-4473-9D0F-51642B38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95575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Estacionario significa constante.</a:t>
            </a:r>
          </a:p>
        </p:txBody>
      </p:sp>
      <p:sp>
        <p:nvSpPr>
          <p:cNvPr id="14" name="error-n-2">
            <a:extLst xmlns:a="http://schemas.openxmlformats.org/drawingml/2006/main">
              <a:ext uri="{FF2B5EF4-FFF2-40B4-BE49-F238E27FC236}">
                <a16:creationId xmlns:a16="http://schemas.microsoft.com/office/drawing/2014/main" id="{7A8A7A20-9E5E-4EA3-BEBD-94C57619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051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8EE"/>
          </a:solidFill>
          <a:ln xmlns:a="http://schemas.openxmlformats.org/drawingml/2006/main" w="9525">
            <a:solidFill>
              <a:srgbClr val="903163"/>
            </a:solidFill>
            <a:prstDash val="solid"/>
          </a:ln>
        </p:spPr>
      </p:sp>
      <p:sp>
        <p:nvSpPr>
          <p:cNvPr id="15" name="error-num-2">
            <a:extLst xmlns:a="http://schemas.openxmlformats.org/drawingml/2006/main">
              <a:ext uri="{FF2B5EF4-FFF2-40B4-BE49-F238E27FC236}">
                <a16:creationId xmlns:a16="http://schemas.microsoft.com/office/drawing/2014/main" id="{466C4BAB-0450-46C5-8BCA-5D81F195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6" name="error-claim-2">
            <a:extLst xmlns:a="http://schemas.openxmlformats.org/drawingml/2006/main">
              <a:ext uri="{FF2B5EF4-FFF2-40B4-BE49-F238E27FC236}">
                <a16:creationId xmlns:a16="http://schemas.microsoft.com/office/drawing/2014/main" id="{C460D666-B368-43D0-89C4-675EF374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385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Blanco conserva igual contenido por octava.</a:t>
            </a:r>
          </a:p>
        </p:txBody>
      </p:sp>
      <p:sp>
        <p:nvSpPr>
          <p:cNvPr id="17" name="error-n-3">
            <a:extLst xmlns:a="http://schemas.openxmlformats.org/drawingml/2006/main">
              <a:ext uri="{FF2B5EF4-FFF2-40B4-BE49-F238E27FC236}">
                <a16:creationId xmlns:a16="http://schemas.microsoft.com/office/drawing/2014/main" id="{CB65C25B-54B2-4E95-80EF-ADD39780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9525">
            <a:solidFill>
              <a:srgbClr val="2F7E83"/>
            </a:solidFill>
            <a:prstDash val="solid"/>
          </a:ln>
        </p:spPr>
      </p:sp>
      <p:sp>
        <p:nvSpPr>
          <p:cNvPr id="18" name="error-num-3">
            <a:extLst xmlns:a="http://schemas.openxmlformats.org/drawingml/2006/main">
              <a:ext uri="{FF2B5EF4-FFF2-40B4-BE49-F238E27FC236}">
                <a16:creationId xmlns:a16="http://schemas.microsoft.com/office/drawing/2014/main" id="{13D6BFCD-FF0E-4D6A-B4F9-CB3D9F67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9" name="error-claim-3">
            <a:extLst xmlns:a="http://schemas.openxmlformats.org/drawingml/2006/main">
              <a:ext uri="{FF2B5EF4-FFF2-40B4-BE49-F238E27FC236}">
                <a16:creationId xmlns:a16="http://schemas.microsoft.com/office/drawing/2014/main" id="{50099C9F-7B4F-47F1-86EA-AFCFD6FD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81425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Rosa conserva igual densidad por hertz.</a:t>
            </a:r>
          </a:p>
        </p:txBody>
      </p:sp>
      <p:sp>
        <p:nvSpPr>
          <p:cNvPr id="20" name="error-n-4">
            <a:extLst xmlns:a="http://schemas.openxmlformats.org/drawingml/2006/main">
              <a:ext uri="{FF2B5EF4-FFF2-40B4-BE49-F238E27FC236}">
                <a16:creationId xmlns:a16="http://schemas.microsoft.com/office/drawing/2014/main" id="{279226CD-C516-4F9E-8A0D-72BAA6E4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8EE"/>
          </a:solidFill>
          <a:ln xmlns:a="http://schemas.openxmlformats.org/drawingml/2006/main" w="9525">
            <a:solidFill>
              <a:srgbClr val="903163"/>
            </a:solidFill>
            <a:prstDash val="solid"/>
          </a:ln>
        </p:spPr>
      </p:sp>
      <p:sp>
        <p:nvSpPr>
          <p:cNvPr id="21" name="error-num-4">
            <a:extLst xmlns:a="http://schemas.openxmlformats.org/drawingml/2006/main">
              <a:ext uri="{FF2B5EF4-FFF2-40B4-BE49-F238E27FC236}">
                <a16:creationId xmlns:a16="http://schemas.microsoft.com/office/drawing/2014/main" id="{25DAD59A-2ABC-4B12-98CB-9B38766D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2" name="error-claim-4">
            <a:extLst xmlns:a="http://schemas.openxmlformats.org/drawingml/2006/main">
              <a:ext uri="{FF2B5EF4-FFF2-40B4-BE49-F238E27FC236}">
                <a16:creationId xmlns:a16="http://schemas.microsoft.com/office/drawing/2014/main" id="{3208937C-E684-43A9-9AC2-0B6E4941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243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Igual Lₑq,T implica iguales picos.</a:t>
            </a:r>
          </a:p>
        </p:txBody>
      </p:sp>
      <p:sp>
        <p:nvSpPr>
          <p:cNvPr id="23" name="error-n-5">
            <a:extLst xmlns:a="http://schemas.openxmlformats.org/drawingml/2006/main">
              <a:ext uri="{FF2B5EF4-FFF2-40B4-BE49-F238E27FC236}">
                <a16:creationId xmlns:a16="http://schemas.microsoft.com/office/drawing/2014/main" id="{10BA929C-2307-47DC-9DD8-5492C389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9525">
            <a:solidFill>
              <a:srgbClr val="2F7E83"/>
            </a:solidFill>
            <a:prstDash val="solid"/>
          </a:ln>
        </p:spPr>
      </p:sp>
      <p:sp>
        <p:nvSpPr>
          <p:cNvPr id="24" name="error-num-5">
            <a:extLst xmlns:a="http://schemas.openxmlformats.org/drawingml/2006/main">
              <a:ext uri="{FF2B5EF4-FFF2-40B4-BE49-F238E27FC236}">
                <a16:creationId xmlns:a16="http://schemas.microsoft.com/office/drawing/2014/main" id="{5AC9BE7F-EAB4-4811-BC0E-E394C5D0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25" name="error-claim-5">
            <a:extLst xmlns:a="http://schemas.openxmlformats.org/drawingml/2006/main">
              <a:ext uri="{FF2B5EF4-FFF2-40B4-BE49-F238E27FC236}">
                <a16:creationId xmlns:a16="http://schemas.microsoft.com/office/drawing/2014/main" id="{4C35BD90-4910-42EA-9C34-76DBA855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67275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Impulse mide L_peak.</a:t>
            </a:r>
          </a:p>
        </p:txBody>
      </p:sp>
      <p:sp>
        <p:nvSpPr>
          <p:cNvPr id="26" name="error-n-6">
            <a:extLst xmlns:a="http://schemas.openxmlformats.org/drawingml/2006/main">
              <a:ext uri="{FF2B5EF4-FFF2-40B4-BE49-F238E27FC236}">
                <a16:creationId xmlns:a16="http://schemas.microsoft.com/office/drawing/2014/main" id="{D8DF6185-9069-4000-BFDD-78F23437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193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8EE"/>
          </a:solidFill>
          <a:ln xmlns:a="http://schemas.openxmlformats.org/drawingml/2006/main" w="9525">
            <a:solidFill>
              <a:srgbClr val="903163"/>
            </a:solidFill>
            <a:prstDash val="solid"/>
          </a:ln>
        </p:spPr>
      </p:sp>
      <p:sp>
        <p:nvSpPr>
          <p:cNvPr id="27" name="error-num-6">
            <a:extLst xmlns:a="http://schemas.openxmlformats.org/drawingml/2006/main">
              <a:ext uri="{FF2B5EF4-FFF2-40B4-BE49-F238E27FC236}">
                <a16:creationId xmlns:a16="http://schemas.microsoft.com/office/drawing/2014/main" id="{39BE6E12-87A7-4AFA-B74B-3CB9BE0F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28" name="error-claim-6">
            <a:extLst xmlns:a="http://schemas.openxmlformats.org/drawingml/2006/main">
              <a:ext uri="{FF2B5EF4-FFF2-40B4-BE49-F238E27FC236}">
                <a16:creationId xmlns:a16="http://schemas.microsoft.com/office/drawing/2014/main" id="{38454524-72CD-4EFB-9903-F55E5C58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526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Todo NBN ocupa un tercio de octava.</a:t>
            </a:r>
          </a:p>
        </p:txBody>
      </p:sp>
      <p:sp>
        <p:nvSpPr>
          <p:cNvPr id="29" name="error-n-7">
            <a:extLst xmlns:a="http://schemas.openxmlformats.org/drawingml/2006/main">
              <a:ext uri="{FF2B5EF4-FFF2-40B4-BE49-F238E27FC236}">
                <a16:creationId xmlns:a16="http://schemas.microsoft.com/office/drawing/2014/main" id="{E1700C52-4893-4386-86B1-FC3726A8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9525">
            <a:solidFill>
              <a:srgbClr val="2F7E83"/>
            </a:solidFill>
            <a:prstDash val="solid"/>
          </a:ln>
        </p:spPr>
      </p:sp>
      <p:sp>
        <p:nvSpPr>
          <p:cNvPr id="30" name="error-num-7">
            <a:extLst xmlns:a="http://schemas.openxmlformats.org/drawingml/2006/main">
              <a:ext uri="{FF2B5EF4-FFF2-40B4-BE49-F238E27FC236}">
                <a16:creationId xmlns:a16="http://schemas.microsoft.com/office/drawing/2014/main" id="{5A5E31ED-F433-4A8B-8991-4D5883B9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98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31" name="error-claim-7">
            <a:extLst xmlns:a="http://schemas.openxmlformats.org/drawingml/2006/main">
              <a:ext uri="{FF2B5EF4-FFF2-40B4-BE49-F238E27FC236}">
                <a16:creationId xmlns:a16="http://schemas.microsoft.com/office/drawing/2014/main" id="{95BD5DFE-AB80-477A-A90E-FDD9EAAA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95575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L_90,T siempre es ruido de fondo.</a:t>
            </a:r>
          </a:p>
        </p:txBody>
      </p:sp>
      <p:sp>
        <p:nvSpPr>
          <p:cNvPr id="32" name="error-n-8">
            <a:extLst xmlns:a="http://schemas.openxmlformats.org/drawingml/2006/main">
              <a:ext uri="{FF2B5EF4-FFF2-40B4-BE49-F238E27FC236}">
                <a16:creationId xmlns:a16="http://schemas.microsoft.com/office/drawing/2014/main" id="{0752C4AC-A728-4B94-B193-74B88536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051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8EE"/>
          </a:solidFill>
          <a:ln xmlns:a="http://schemas.openxmlformats.org/drawingml/2006/main" w="9525">
            <a:solidFill>
              <a:srgbClr val="903163"/>
            </a:solidFill>
            <a:prstDash val="solid"/>
          </a:ln>
        </p:spPr>
      </p:sp>
      <p:sp>
        <p:nvSpPr>
          <p:cNvPr id="33" name="error-num-8">
            <a:extLst xmlns:a="http://schemas.openxmlformats.org/drawingml/2006/main">
              <a:ext uri="{FF2B5EF4-FFF2-40B4-BE49-F238E27FC236}">
                <a16:creationId xmlns:a16="http://schemas.microsoft.com/office/drawing/2014/main" id="{3C0E9E46-F38C-42C1-B1C2-430B8EB3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34" name="error-claim-8">
            <a:extLst xmlns:a="http://schemas.openxmlformats.org/drawingml/2006/main">
              <a:ext uri="{FF2B5EF4-FFF2-40B4-BE49-F238E27FC236}">
                <a16:creationId xmlns:a16="http://schemas.microsoft.com/office/drawing/2014/main" id="{C7C4F783-34F9-4201-938C-37A3FB4F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385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SNR predice sola inteligibilidad.</a:t>
            </a:r>
          </a:p>
        </p:txBody>
      </p:sp>
      <p:sp>
        <p:nvSpPr>
          <p:cNvPr id="35" name="error-n-9">
            <a:extLst xmlns:a="http://schemas.openxmlformats.org/drawingml/2006/main">
              <a:ext uri="{FF2B5EF4-FFF2-40B4-BE49-F238E27FC236}">
                <a16:creationId xmlns:a16="http://schemas.microsoft.com/office/drawing/2014/main" id="{3A2C3935-8843-4396-9A19-A9ABD288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9525">
            <a:solidFill>
              <a:srgbClr val="2F7E83"/>
            </a:solidFill>
            <a:prstDash val="solid"/>
          </a:ln>
        </p:spPr>
      </p:sp>
      <p:sp>
        <p:nvSpPr>
          <p:cNvPr id="36" name="error-num-9">
            <a:extLst xmlns:a="http://schemas.openxmlformats.org/drawingml/2006/main">
              <a:ext uri="{FF2B5EF4-FFF2-40B4-BE49-F238E27FC236}">
                <a16:creationId xmlns:a16="http://schemas.microsoft.com/office/drawing/2014/main" id="{8C568E4C-689A-4877-A7C6-AE519E8F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957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37" name="error-claim-9">
            <a:extLst xmlns:a="http://schemas.openxmlformats.org/drawingml/2006/main">
              <a:ext uri="{FF2B5EF4-FFF2-40B4-BE49-F238E27FC236}">
                <a16:creationId xmlns:a16="http://schemas.microsoft.com/office/drawing/2014/main" id="{ED02D40A-E7F7-4423-B039-6BCA1DB4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81425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Enmascarar protege el oído.</a:t>
            </a:r>
          </a:p>
        </p:txBody>
      </p:sp>
      <p:sp>
        <p:nvSpPr>
          <p:cNvPr id="38" name="error-n-10">
            <a:extLst xmlns:a="http://schemas.openxmlformats.org/drawingml/2006/main">
              <a:ext uri="{FF2B5EF4-FFF2-40B4-BE49-F238E27FC236}">
                <a16:creationId xmlns:a16="http://schemas.microsoft.com/office/drawing/2014/main" id="{53BA07DA-4B19-4B40-9FA4-DF850E29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910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8EE"/>
          </a:solidFill>
          <a:ln xmlns:a="http://schemas.openxmlformats.org/drawingml/2006/main" w="9525">
            <a:solidFill>
              <a:srgbClr val="903163"/>
            </a:solidFill>
            <a:prstDash val="solid"/>
          </a:ln>
        </p:spPr>
      </p:sp>
      <p:sp>
        <p:nvSpPr>
          <p:cNvPr id="39" name="error-num-10">
            <a:extLst xmlns:a="http://schemas.openxmlformats.org/drawingml/2006/main">
              <a:ext uri="{FF2B5EF4-FFF2-40B4-BE49-F238E27FC236}">
                <a16:creationId xmlns:a16="http://schemas.microsoft.com/office/drawing/2014/main" id="{80205E04-9CFB-49C0-AF27-3EA0ECE9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386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40" name="error-claim-10">
            <a:extLst xmlns:a="http://schemas.openxmlformats.org/drawingml/2006/main">
              <a:ext uri="{FF2B5EF4-FFF2-40B4-BE49-F238E27FC236}">
                <a16:creationId xmlns:a16="http://schemas.microsoft.com/office/drawing/2014/main" id="{DFFE3D0D-E781-41E2-9499-69D86A6E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3243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 valor dB(A) certifica una cabina.</a:t>
            </a:r>
          </a:p>
        </p:txBody>
      </p:sp>
      <p:sp>
        <p:nvSpPr>
          <p:cNvPr id="41" name="error-n-11">
            <a:extLst xmlns:a="http://schemas.openxmlformats.org/drawingml/2006/main">
              <a:ext uri="{FF2B5EF4-FFF2-40B4-BE49-F238E27FC236}">
                <a16:creationId xmlns:a16="http://schemas.microsoft.com/office/drawing/2014/main" id="{A2C643F5-30E4-46C7-8A52-260FD59C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339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9525">
            <a:solidFill>
              <a:srgbClr val="2F7E83"/>
            </a:solidFill>
            <a:prstDash val="solid"/>
          </a:ln>
        </p:spPr>
      </p:sp>
      <p:sp>
        <p:nvSpPr>
          <p:cNvPr id="42" name="error-num-11">
            <a:extLst xmlns:a="http://schemas.openxmlformats.org/drawingml/2006/main">
              <a:ext uri="{FF2B5EF4-FFF2-40B4-BE49-F238E27FC236}">
                <a16:creationId xmlns:a16="http://schemas.microsoft.com/office/drawing/2014/main" id="{532E229F-B46C-4B7B-BB19-9A444D86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815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43" name="error-claim-11">
            <a:extLst xmlns:a="http://schemas.openxmlformats.org/drawingml/2006/main">
              <a:ext uri="{FF2B5EF4-FFF2-40B4-BE49-F238E27FC236}">
                <a16:creationId xmlns:a16="http://schemas.microsoft.com/office/drawing/2014/main" id="{36C53ABC-23AA-4A04-83BA-8C8987C6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867275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Absorber y aislar son equivalentes.</a:t>
            </a:r>
          </a:p>
        </p:txBody>
      </p:sp>
      <p:sp>
        <p:nvSpPr>
          <p:cNvPr id="4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C337948-08C5-480F-A9C5-ACC91701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82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7ABE14-EB88-454A-AEED-F1B27853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Del registro a la decisión responsable</a:t>
            </a:r>
          </a:p>
        </p:txBody>
      </p:sp>
      <p:sp>
        <p:nvSpPr>
          <p:cNvPr id="2" name="U10-DG-055-concept_1-anchor">
            <a:extLst xmlns:a="http://schemas.openxmlformats.org/drawingml/2006/main">
              <a:ext uri="{FF2B5EF4-FFF2-40B4-BE49-F238E27FC236}">
                <a16:creationId xmlns:a16="http://schemas.microsoft.com/office/drawing/2014/main" id="{211C622B-A222-4305-BB27-73A47965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U10-DG-055-concept_2-anchor">
            <a:extLst xmlns:a="http://schemas.openxmlformats.org/drawingml/2006/main">
              <a:ext uri="{FF2B5EF4-FFF2-40B4-BE49-F238E27FC236}">
                <a16:creationId xmlns:a16="http://schemas.microsoft.com/office/drawing/2014/main" id="{26730774-7B59-4780-94D4-08A6E719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U10-DG-055-concept_3-anchor">
            <a:extLst xmlns:a="http://schemas.openxmlformats.org/drawingml/2006/main">
              <a:ext uri="{FF2B5EF4-FFF2-40B4-BE49-F238E27FC236}">
                <a16:creationId xmlns:a16="http://schemas.microsoft.com/office/drawing/2014/main" id="{8D32B0E0-8345-4A7A-BDE6-4C24D3F6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U10-DG-055-concept_4-anchor">
            <a:extLst xmlns:a="http://schemas.openxmlformats.org/drawingml/2006/main">
              <a:ext uri="{FF2B5EF4-FFF2-40B4-BE49-F238E27FC236}">
                <a16:creationId xmlns:a16="http://schemas.microsoft.com/office/drawing/2014/main" id="{4F63161F-595D-49A8-8266-11CA7653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41320"/>
            <a:ext cx="3107944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U10-DG-055-concept_5-anchor">
            <a:extLst xmlns:a="http://schemas.openxmlformats.org/drawingml/2006/main">
              <a:ext uri="{FF2B5EF4-FFF2-40B4-BE49-F238E27FC236}">
                <a16:creationId xmlns:a16="http://schemas.microsoft.com/office/drawing/2014/main" id="{FA094685-961F-4BDE-89AB-67DE0F2A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2941320"/>
            <a:ext cx="3107944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55-concept_6-anchor">
            <a:extLst xmlns:a="http://schemas.openxmlformats.org/drawingml/2006/main">
              <a:ext uri="{FF2B5EF4-FFF2-40B4-BE49-F238E27FC236}">
                <a16:creationId xmlns:a16="http://schemas.microsoft.com/office/drawing/2014/main" id="{1A6C6845-C295-4AAA-AAA6-B830E478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2941320"/>
            <a:ext cx="3107944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55-concept_7-anchor">
            <a:extLst xmlns:a="http://schemas.openxmlformats.org/drawingml/2006/main">
              <a:ext uri="{FF2B5EF4-FFF2-40B4-BE49-F238E27FC236}">
                <a16:creationId xmlns:a16="http://schemas.microsoft.com/office/drawing/2014/main" id="{6B9F5323-EF7C-4146-8720-F29CBB4C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107944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55-concept_8-anchor">
            <a:extLst xmlns:a="http://schemas.openxmlformats.org/drawingml/2006/main">
              <a:ext uri="{FF2B5EF4-FFF2-40B4-BE49-F238E27FC236}">
                <a16:creationId xmlns:a16="http://schemas.microsoft.com/office/drawing/2014/main" id="{DA63118E-1B12-4F5A-96CA-D6FA9661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4191000"/>
            <a:ext cx="3107944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55-concept_9-anchor">
            <a:extLst xmlns:a="http://schemas.openxmlformats.org/drawingml/2006/main">
              <a:ext uri="{FF2B5EF4-FFF2-40B4-BE49-F238E27FC236}">
                <a16:creationId xmlns:a16="http://schemas.microsoft.com/office/drawing/2014/main" id="{469163F8-DA49-4488-A1DE-3BE380D9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4191000"/>
            <a:ext cx="3107944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9" name="U10-DG-055-synthesis_1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946144" y="2207133"/>
            <a:ext cx="24536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FFFF"/>
            </a:solidFill>
            <a:prstDash val="solid"/>
            <a:tailEnd type="arrow" w="med" len="med"/>
          </a:ln>
        </p:spPr>
      </p:cxnSp>
      <p:cxnSp>
        <p:nvCxnSpPr>
          <p:cNvPr id="50" name="U10-DG-055-synthesis_2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7299452" y="2207133"/>
            <a:ext cx="24536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FFFF"/>
            </a:solidFill>
            <a:prstDash val="solid"/>
            <a:tailEnd type="arrow" w="med" len="med"/>
          </a:ln>
        </p:spPr>
      </p:cxnSp>
      <p:cxnSp>
        <p:nvCxnSpPr>
          <p:cNvPr id="51" name="U10-DG-055-synthesis_3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2392172" y="2722626"/>
            <a:ext cx="6706616" cy="218694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FFFFFF"/>
            </a:solidFill>
            <a:prstDash val="solid"/>
            <a:tailEnd type="arrow" w="med" len="med"/>
          </a:ln>
        </p:spPr>
      </p:cxnSp>
      <p:cxnSp>
        <p:nvCxnSpPr>
          <p:cNvPr id="52" name="U10-DG-055-synthesis_4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946144" y="3456813"/>
            <a:ext cx="24536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FFFF"/>
            </a:solidFill>
            <a:prstDash val="solid"/>
            <a:tailEnd type="arrow" w="med" len="med"/>
          </a:ln>
        </p:spPr>
      </p:cxnSp>
      <p:cxnSp>
        <p:nvCxnSpPr>
          <p:cNvPr id="53" name="U10-DG-055-synthesis_5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99452" y="3456813"/>
            <a:ext cx="24536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FFFF"/>
            </a:solidFill>
            <a:prstDash val="solid"/>
            <a:tailEnd type="arrow" w="med" len="med"/>
          </a:ln>
        </p:spPr>
      </p:cxnSp>
      <p:cxnSp>
        <p:nvCxnSpPr>
          <p:cNvPr id="54" name="U10-DG-055-synthesis_6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2392172" y="3972306"/>
            <a:ext cx="6706616" cy="218694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FFFFFF"/>
            </a:solidFill>
            <a:prstDash val="solid"/>
            <a:tailEnd type="arrow" w="med" len="med"/>
          </a:ln>
        </p:spPr>
      </p:cxnSp>
      <p:cxnSp>
        <p:nvCxnSpPr>
          <p:cNvPr id="55" name="U10-DG-055-synthesis_7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946144" y="4706493"/>
            <a:ext cx="24536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FFFF"/>
            </a:solidFill>
            <a:prstDash val="solid"/>
            <a:tailEnd type="arrow" w="med" len="med"/>
          </a:ln>
        </p:spPr>
      </p:cxnSp>
      <p:cxnSp>
        <p:nvCxnSpPr>
          <p:cNvPr id="56" name="U10-DG-055-synthesis_8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299452" y="4706493"/>
            <a:ext cx="24536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FFFF"/>
            </a:solidFill>
            <a:prstDash val="solid"/>
            <a:tailEnd type="arrow" w="med" len="med"/>
          </a:ln>
        </p:spPr>
      </p:cxnSp>
      <p:sp>
        <p:nvSpPr>
          <p:cNvPr id="19" name="U10-DG-055-visual-alt" descr="Mapa final de síntesis. Señal/contexto; tiempo; estadística; frecuencia; nivel; función; receptor; control; límite. Orden de lectura: Relaciones selectivas, no red completa. ---">
            <a:extLst xmlns:a="http://schemas.openxmlformats.org/drawingml/2006/main">
              <a:ext uri="{FF2B5EF4-FFF2-40B4-BE49-F238E27FC236}">
                <a16:creationId xmlns:a16="http://schemas.microsoft.com/office/drawing/2014/main" id="{A99F986E-C0D8-4471-9845-F6ACD1F6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030986"/>
          </a:xfrm>
          <a:prstGeom xmlns:a="http://schemas.openxmlformats.org/drawingml/2006/main" prst="roundRect">
            <a:avLst>
              <a:gd name="adj" fmla="val 646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0" name="U10-DG-055-concept_1-text">
            <a:extLst xmlns:a="http://schemas.openxmlformats.org/drawingml/2006/main">
              <a:ext uri="{FF2B5EF4-FFF2-40B4-BE49-F238E27FC236}">
                <a16:creationId xmlns:a16="http://schemas.microsoft.com/office/drawing/2014/main" id="{3EC44F08-6A77-43C5-80C6-AAD4B01B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2765044" cy="783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Señal y contexto</a:t>
            </a:r>
          </a:p>
        </p:txBody>
      </p:sp>
      <p:sp>
        <p:nvSpPr>
          <p:cNvPr id="21" name="U10-DG-055-concept_2-box">
            <a:extLst xmlns:a="http://schemas.openxmlformats.org/drawingml/2006/main">
              <a:ext uri="{FF2B5EF4-FFF2-40B4-BE49-F238E27FC236}">
                <a16:creationId xmlns:a16="http://schemas.microsoft.com/office/drawing/2014/main" id="{0BF198F0-40A7-47A3-A677-DF86299B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030986"/>
          </a:xfrm>
          <a:prstGeom xmlns:a="http://schemas.openxmlformats.org/drawingml/2006/main" prst="roundRect">
            <a:avLst>
              <a:gd name="adj" fmla="val 646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2" name="U10-DG-055-concept_2-text">
            <a:extLst xmlns:a="http://schemas.openxmlformats.org/drawingml/2006/main">
              <a:ext uri="{FF2B5EF4-FFF2-40B4-BE49-F238E27FC236}">
                <a16:creationId xmlns:a16="http://schemas.microsoft.com/office/drawing/2014/main" id="{E25FDC41-DA08-4B70-B193-4F18D20A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815465"/>
            <a:ext cx="2765044" cy="783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Tiempo</a:t>
            </a:r>
          </a:p>
        </p:txBody>
      </p:sp>
      <p:sp>
        <p:nvSpPr>
          <p:cNvPr id="23" name="U10-DG-055-concept_3-box">
            <a:extLst xmlns:a="http://schemas.openxmlformats.org/drawingml/2006/main">
              <a:ext uri="{FF2B5EF4-FFF2-40B4-BE49-F238E27FC236}">
                <a16:creationId xmlns:a16="http://schemas.microsoft.com/office/drawing/2014/main" id="{96BF1769-6A95-426D-8F97-225DF5B8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030986"/>
          </a:xfrm>
          <a:prstGeom xmlns:a="http://schemas.openxmlformats.org/drawingml/2006/main" prst="roundRect">
            <a:avLst>
              <a:gd name="adj" fmla="val 646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4" name="U10-DG-055-concept_3-text">
            <a:extLst xmlns:a="http://schemas.openxmlformats.org/drawingml/2006/main">
              <a:ext uri="{FF2B5EF4-FFF2-40B4-BE49-F238E27FC236}">
                <a16:creationId xmlns:a16="http://schemas.microsoft.com/office/drawing/2014/main" id="{A5A23788-D3FA-4E95-9779-AD007A2F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815465"/>
            <a:ext cx="2765044" cy="783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Estadística</a:t>
            </a:r>
          </a:p>
        </p:txBody>
      </p:sp>
      <p:sp>
        <p:nvSpPr>
          <p:cNvPr id="25" name="U10-DG-055-concept_4-box">
            <a:extLst xmlns:a="http://schemas.openxmlformats.org/drawingml/2006/main">
              <a:ext uri="{FF2B5EF4-FFF2-40B4-BE49-F238E27FC236}">
                <a16:creationId xmlns:a16="http://schemas.microsoft.com/office/drawing/2014/main" id="{C727A53C-4336-4718-A784-21620610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41320"/>
            <a:ext cx="3107944" cy="1030986"/>
          </a:xfrm>
          <a:prstGeom xmlns:a="http://schemas.openxmlformats.org/drawingml/2006/main" prst="roundRect">
            <a:avLst>
              <a:gd name="adj" fmla="val 646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6" name="U10-DG-055-concept_4-text">
            <a:extLst xmlns:a="http://schemas.openxmlformats.org/drawingml/2006/main">
              <a:ext uri="{FF2B5EF4-FFF2-40B4-BE49-F238E27FC236}">
                <a16:creationId xmlns:a16="http://schemas.microsoft.com/office/drawing/2014/main" id="{E11B2F32-037C-46FF-8DF7-371955DC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5145"/>
            <a:ext cx="2765044" cy="783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Frecuencia</a:t>
            </a:r>
          </a:p>
        </p:txBody>
      </p:sp>
      <p:sp>
        <p:nvSpPr>
          <p:cNvPr id="27" name="U10-DG-055-concept_5-box">
            <a:extLst xmlns:a="http://schemas.openxmlformats.org/drawingml/2006/main">
              <a:ext uri="{FF2B5EF4-FFF2-40B4-BE49-F238E27FC236}">
                <a16:creationId xmlns:a16="http://schemas.microsoft.com/office/drawing/2014/main" id="{7D761FE3-2E0B-4AFA-8B88-6F8BC563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2941320"/>
            <a:ext cx="3107944" cy="1030986"/>
          </a:xfrm>
          <a:prstGeom xmlns:a="http://schemas.openxmlformats.org/drawingml/2006/main" prst="roundRect">
            <a:avLst>
              <a:gd name="adj" fmla="val 646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8" name="U10-DG-055-concept_5-text">
            <a:extLst xmlns:a="http://schemas.openxmlformats.org/drawingml/2006/main">
              <a:ext uri="{FF2B5EF4-FFF2-40B4-BE49-F238E27FC236}">
                <a16:creationId xmlns:a16="http://schemas.microsoft.com/office/drawing/2014/main" id="{ECB38A75-17AA-41EE-8B47-D03677DB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065145"/>
            <a:ext cx="2765044" cy="783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Nivel</a:t>
            </a:r>
          </a:p>
        </p:txBody>
      </p:sp>
      <p:sp>
        <p:nvSpPr>
          <p:cNvPr id="29" name="U10-DG-055-concept_6-box">
            <a:extLst xmlns:a="http://schemas.openxmlformats.org/drawingml/2006/main">
              <a:ext uri="{FF2B5EF4-FFF2-40B4-BE49-F238E27FC236}">
                <a16:creationId xmlns:a16="http://schemas.microsoft.com/office/drawing/2014/main" id="{A319B673-71B2-44AF-B145-3A4EB906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2941320"/>
            <a:ext cx="3107944" cy="1030986"/>
          </a:xfrm>
          <a:prstGeom xmlns:a="http://schemas.openxmlformats.org/drawingml/2006/main" prst="roundRect">
            <a:avLst>
              <a:gd name="adj" fmla="val 646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30" name="U10-DG-055-concept_6-text">
            <a:extLst xmlns:a="http://schemas.openxmlformats.org/drawingml/2006/main">
              <a:ext uri="{FF2B5EF4-FFF2-40B4-BE49-F238E27FC236}">
                <a16:creationId xmlns:a16="http://schemas.microsoft.com/office/drawing/2014/main" id="{A9C5DFE1-7ED0-4A2D-9BFD-6B39B57D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3065145"/>
            <a:ext cx="2765044" cy="783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Función</a:t>
            </a:r>
          </a:p>
        </p:txBody>
      </p:sp>
      <p:sp>
        <p:nvSpPr>
          <p:cNvPr id="31" name="U10-DG-055-concept_7-box">
            <a:extLst xmlns:a="http://schemas.openxmlformats.org/drawingml/2006/main">
              <a:ext uri="{FF2B5EF4-FFF2-40B4-BE49-F238E27FC236}">
                <a16:creationId xmlns:a16="http://schemas.microsoft.com/office/drawing/2014/main" id="{9E1991E4-478A-4533-9B05-A516632A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107944" cy="1030986"/>
          </a:xfrm>
          <a:prstGeom xmlns:a="http://schemas.openxmlformats.org/drawingml/2006/main" prst="roundRect">
            <a:avLst>
              <a:gd name="adj" fmla="val 646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32" name="U10-DG-055-concept_7-text">
            <a:extLst xmlns:a="http://schemas.openxmlformats.org/drawingml/2006/main">
              <a:ext uri="{FF2B5EF4-FFF2-40B4-BE49-F238E27FC236}">
                <a16:creationId xmlns:a16="http://schemas.microsoft.com/office/drawing/2014/main" id="{631CBBBB-DB10-49C9-A9AF-0B42FF62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2765044" cy="783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Receptor</a:t>
            </a:r>
          </a:p>
        </p:txBody>
      </p:sp>
      <p:sp>
        <p:nvSpPr>
          <p:cNvPr id="33" name="U10-DG-055-concept_8-box">
            <a:extLst xmlns:a="http://schemas.openxmlformats.org/drawingml/2006/main">
              <a:ext uri="{FF2B5EF4-FFF2-40B4-BE49-F238E27FC236}">
                <a16:creationId xmlns:a16="http://schemas.microsoft.com/office/drawing/2014/main" id="{E1E798D1-BD38-4F91-A38D-DE712AE0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4191000"/>
            <a:ext cx="3107944" cy="1030986"/>
          </a:xfrm>
          <a:prstGeom xmlns:a="http://schemas.openxmlformats.org/drawingml/2006/main" prst="roundRect">
            <a:avLst>
              <a:gd name="adj" fmla="val 646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34" name="U10-DG-055-concept_8-text">
            <a:extLst xmlns:a="http://schemas.openxmlformats.org/drawingml/2006/main">
              <a:ext uri="{FF2B5EF4-FFF2-40B4-BE49-F238E27FC236}">
                <a16:creationId xmlns:a16="http://schemas.microsoft.com/office/drawing/2014/main" id="{541AECA8-D036-40A2-97ED-88E36307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4314825"/>
            <a:ext cx="2765044" cy="783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Control</a:t>
            </a:r>
          </a:p>
        </p:txBody>
      </p:sp>
      <p:sp>
        <p:nvSpPr>
          <p:cNvPr id="35" name="U10-DG-055-concept_9-box">
            <a:extLst xmlns:a="http://schemas.openxmlformats.org/drawingml/2006/main">
              <a:ext uri="{FF2B5EF4-FFF2-40B4-BE49-F238E27FC236}">
                <a16:creationId xmlns:a16="http://schemas.microsoft.com/office/drawing/2014/main" id="{761ECCC9-40C1-4E6D-82BB-6792EEDC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4191000"/>
            <a:ext cx="3107944" cy="1030986"/>
          </a:xfrm>
          <a:prstGeom xmlns:a="http://schemas.openxmlformats.org/drawingml/2006/main" prst="roundRect">
            <a:avLst>
              <a:gd name="adj" fmla="val 646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36" name="U10-DG-055-concept_9-text">
            <a:extLst xmlns:a="http://schemas.openxmlformats.org/drawingml/2006/main">
              <a:ext uri="{FF2B5EF4-FFF2-40B4-BE49-F238E27FC236}">
                <a16:creationId xmlns:a16="http://schemas.microsoft.com/office/drawing/2014/main" id="{8352DF39-5F66-4894-A60F-25096DA0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4314825"/>
            <a:ext cx="2765044" cy="783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Límite</a:t>
            </a:r>
          </a:p>
        </p:txBody>
      </p:sp>
      <p:sp>
        <p:nvSpPr>
          <p:cNvPr id="37" name="caption">
            <a:extLst xmlns:a="http://schemas.openxmlformats.org/drawingml/2006/main">
              <a:ext uri="{FF2B5EF4-FFF2-40B4-BE49-F238E27FC236}">
                <a16:creationId xmlns:a16="http://schemas.microsoft.com/office/drawing/2014/main" id="{D4C324EC-1DAE-486A-8821-DAD17B93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E7D7DF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E7D7DF"/>
                </a:solidFill>
                <a:latin typeface="Calibri"/>
                <a:ea typeface="Calibri"/>
                <a:cs typeface="Calibri"/>
              </a:rPr>
              <a:t>Mapa final de síntesis. Señal/contexto; tiempo; estadística; frecuencia; nivel; función; receptor; control; límite.</a:t>
            </a:r>
          </a:p>
        </p:txBody>
      </p:sp>
      <p:sp>
        <p:nvSpPr>
          <p:cNvPr id="3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B5A24B1-EC15-4E3C-BA3E-F3107C7E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83</a:t>
            </a:r>
          </a:p>
        </p:txBody>
      </p:sp>
    </p:spTree>
    <p:extLst>
      <p:ext uri="{BB962C8B-B14F-4D97-AF65-F5344CB8AC3E}">
        <p14:creationId xmlns:p14="http://schemas.microsoft.com/office/powerpoint/2010/main" val="951530275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D23EBF6E-6387-4AFB-AEF3-920A2971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10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29133359-C96C-4A5B-8809-E769FE46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El curso termina; la caracterización sigue siendo una práctica de preguntas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FE24A1F0-634D-48E1-B928-5C3408C1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Medir bien también es saber qué no puede concluirse.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6280B5F-FAB4-4E99-BB5A-50859A61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84</a:t>
            </a:r>
          </a:p>
        </p:txBody>
      </p:sp>
    </p:spTree>
    <p:extLst>
      <p:ext uri="{BB962C8B-B14F-4D97-AF65-F5344CB8AC3E}">
        <p14:creationId xmlns:p14="http://schemas.microsoft.com/office/powerpoint/2010/main" val="880112903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top-rail-1">
            <a:extLst xmlns:a="http://schemas.openxmlformats.org/drawingml/2006/main">
              <a:ext uri="{FF2B5EF4-FFF2-40B4-BE49-F238E27FC236}">
                <a16:creationId xmlns:a16="http://schemas.microsoft.com/office/drawing/2014/main" id="{38CCE24F-4407-43AC-A2B8-89077B6C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A4260907-09EC-4A77-AAC4-78531157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72AC990C-086F-439B-B2D0-F7890C5B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51E4FBD-A483-4C67-ACEC-F5B58D7E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29EE6C-232F-4AC3-98D8-86D6DB0B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Glosario mínimo de ruido y medición</a:t>
            </a:r>
          </a:p>
        </p:txBody>
      </p:sp>
      <p:sp>
        <p:nvSpPr>
          <p:cNvPr id="6" name="U10-085-claim-alt" descr="Recurso visual previsto: Tabla nativa. ---">
            <a:extLst xmlns:a="http://schemas.openxmlformats.org/drawingml/2006/main">
              <a:ext uri="{FF2B5EF4-FFF2-40B4-BE49-F238E27FC236}">
                <a16:creationId xmlns:a16="http://schemas.microsoft.com/office/drawing/2014/main" id="{B4918EE6-B49C-4387-9AF2-E831FCF0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200025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7" name="U10-085-cell-text-0-0">
            <a:extLst xmlns:a="http://schemas.openxmlformats.org/drawingml/2006/main">
              <a:ext uri="{FF2B5EF4-FFF2-40B4-BE49-F238E27FC236}">
                <a16:creationId xmlns:a16="http://schemas.microsoft.com/office/drawing/2014/main" id="{445CB51E-B295-425B-8264-CF2DBD78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19250"/>
            <a:ext cx="184785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Término</a:t>
            </a:r>
          </a:p>
        </p:txBody>
      </p:sp>
      <p:sp>
        <p:nvSpPr>
          <p:cNvPr id="8" name="U10-085-cell-0-1">
            <a:extLst xmlns:a="http://schemas.openxmlformats.org/drawingml/2006/main">
              <a:ext uri="{FF2B5EF4-FFF2-40B4-BE49-F238E27FC236}">
                <a16:creationId xmlns:a16="http://schemas.microsoft.com/office/drawing/2014/main" id="{F56CDEAC-9E49-4738-8472-9714B681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571625"/>
            <a:ext cx="571500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9" name="U10-085-cell-text-0-1">
            <a:extLst xmlns:a="http://schemas.openxmlformats.org/drawingml/2006/main">
              <a:ext uri="{FF2B5EF4-FFF2-40B4-BE49-F238E27FC236}">
                <a16:creationId xmlns:a16="http://schemas.microsoft.com/office/drawing/2014/main" id="{18770FE4-BB87-40CA-B17A-77B5FC1B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619250"/>
            <a:ext cx="556260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Definición mínima</a:t>
            </a:r>
          </a:p>
        </p:txBody>
      </p:sp>
      <p:sp>
        <p:nvSpPr>
          <p:cNvPr id="10" name="U10-085-cell-0-2">
            <a:extLst xmlns:a="http://schemas.openxmlformats.org/drawingml/2006/main">
              <a:ext uri="{FF2B5EF4-FFF2-40B4-BE49-F238E27FC236}">
                <a16:creationId xmlns:a16="http://schemas.microsoft.com/office/drawing/2014/main" id="{4A71B7D6-45FB-4CD9-961E-A86DF053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71625"/>
            <a:ext cx="304800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1" name="U10-085-cell-text-0-2">
            <a:extLst xmlns:a="http://schemas.openxmlformats.org/drawingml/2006/main">
              <a:ext uri="{FF2B5EF4-FFF2-40B4-BE49-F238E27FC236}">
                <a16:creationId xmlns:a16="http://schemas.microsoft.com/office/drawing/2014/main" id="{C1CD7D5A-7234-4938-ADB6-27E226DC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619250"/>
            <a:ext cx="289560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/ condición</a:t>
            </a:r>
          </a:p>
        </p:txBody>
      </p:sp>
      <p:sp>
        <p:nvSpPr>
          <p:cNvPr id="12" name="U10-085-cell-1-0">
            <a:extLst xmlns:a="http://schemas.openxmlformats.org/drawingml/2006/main">
              <a:ext uri="{FF2B5EF4-FFF2-40B4-BE49-F238E27FC236}">
                <a16:creationId xmlns:a16="http://schemas.microsoft.com/office/drawing/2014/main" id="{1EADAF7A-B463-469E-96FB-2E90A7E5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83594"/>
            <a:ext cx="200025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3" name="U10-085-cell-text-1-0">
            <a:extLst xmlns:a="http://schemas.openxmlformats.org/drawingml/2006/main">
              <a:ext uri="{FF2B5EF4-FFF2-40B4-BE49-F238E27FC236}">
                <a16:creationId xmlns:a16="http://schemas.microsoft.com/office/drawing/2014/main" id="{5FB3906C-0B80-48FA-9A37-4B130DCF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31219"/>
            <a:ext cx="184785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Aleatorio</a:t>
            </a:r>
          </a:p>
        </p:txBody>
      </p:sp>
      <p:sp>
        <p:nvSpPr>
          <p:cNvPr id="14" name="U10-085-cell-1-1">
            <a:extLst xmlns:a="http://schemas.openxmlformats.org/drawingml/2006/main">
              <a:ext uri="{FF2B5EF4-FFF2-40B4-BE49-F238E27FC236}">
                <a16:creationId xmlns:a16="http://schemas.microsoft.com/office/drawing/2014/main" id="{7AC1DA3E-B178-4B16-A4CF-60F2BDB0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83594"/>
            <a:ext cx="571500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5" name="U10-085-cell-text-1-1">
            <a:extLst xmlns:a="http://schemas.openxmlformats.org/drawingml/2006/main">
              <a:ext uri="{FF2B5EF4-FFF2-40B4-BE49-F238E27FC236}">
                <a16:creationId xmlns:a16="http://schemas.microsoft.com/office/drawing/2014/main" id="{D2D17E58-46F1-43EE-BE9F-79430C3C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131219"/>
            <a:ext cx="556260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muestras descritas probabilísticamente</a:t>
            </a:r>
          </a:p>
        </p:txBody>
      </p:sp>
      <p:sp>
        <p:nvSpPr>
          <p:cNvPr id="16" name="U10-085-cell-1-2">
            <a:extLst xmlns:a="http://schemas.openxmlformats.org/drawingml/2006/main">
              <a:ext uri="{FF2B5EF4-FFF2-40B4-BE49-F238E27FC236}">
                <a16:creationId xmlns:a16="http://schemas.microsoft.com/office/drawing/2014/main" id="{407B43F2-19F4-4873-9B09-06BA8FA3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83594"/>
            <a:ext cx="304800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7" name="U10-085-cell-text-1-2">
            <a:extLst xmlns:a="http://schemas.openxmlformats.org/drawingml/2006/main">
              <a:ext uri="{FF2B5EF4-FFF2-40B4-BE49-F238E27FC236}">
                <a16:creationId xmlns:a16="http://schemas.microsoft.com/office/drawing/2014/main" id="{503C4359-BF4D-478D-A396-16E0C2AA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131219"/>
            <a:ext cx="289560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proceso/realización</a:t>
            </a:r>
          </a:p>
        </p:txBody>
      </p:sp>
      <p:sp>
        <p:nvSpPr>
          <p:cNvPr id="18" name="U10-085-cell-2-0">
            <a:extLst xmlns:a="http://schemas.openxmlformats.org/drawingml/2006/main">
              <a:ext uri="{FF2B5EF4-FFF2-40B4-BE49-F238E27FC236}">
                <a16:creationId xmlns:a16="http://schemas.microsoft.com/office/drawing/2014/main" id="{CDBE8778-B394-4339-95A8-ED8160B8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95563"/>
            <a:ext cx="200025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9" name="U10-085-cell-text-2-0">
            <a:extLst xmlns:a="http://schemas.openxmlformats.org/drawingml/2006/main">
              <a:ext uri="{FF2B5EF4-FFF2-40B4-BE49-F238E27FC236}">
                <a16:creationId xmlns:a16="http://schemas.microsoft.com/office/drawing/2014/main" id="{31E789EB-BDA5-4B01-A5DF-C999112A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43188"/>
            <a:ext cx="184785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Estacionario</a:t>
            </a:r>
          </a:p>
        </p:txBody>
      </p:sp>
      <p:sp>
        <p:nvSpPr>
          <p:cNvPr id="20" name="U10-085-cell-2-1">
            <a:extLst xmlns:a="http://schemas.openxmlformats.org/drawingml/2006/main">
              <a:ext uri="{FF2B5EF4-FFF2-40B4-BE49-F238E27FC236}">
                <a16:creationId xmlns:a16="http://schemas.microsoft.com/office/drawing/2014/main" id="{7117C8B4-6343-4A49-B776-84243F8D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95563"/>
            <a:ext cx="571500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21" name="U10-085-cell-text-2-1">
            <a:extLst xmlns:a="http://schemas.openxmlformats.org/drawingml/2006/main">
              <a:ext uri="{FF2B5EF4-FFF2-40B4-BE49-F238E27FC236}">
                <a16:creationId xmlns:a16="http://schemas.microsoft.com/office/drawing/2014/main" id="{08149D24-12D4-4A7D-A921-2A99068F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643188"/>
            <a:ext cx="556260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propiedades estables en una ventana</a:t>
            </a:r>
          </a:p>
        </p:txBody>
      </p:sp>
      <p:sp>
        <p:nvSpPr>
          <p:cNvPr id="22" name="U10-085-cell-2-2">
            <a:extLst xmlns:a="http://schemas.openxmlformats.org/drawingml/2006/main">
              <a:ext uri="{FF2B5EF4-FFF2-40B4-BE49-F238E27FC236}">
                <a16:creationId xmlns:a16="http://schemas.microsoft.com/office/drawing/2014/main" id="{A45EFA50-C736-4519-B864-25E339E3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95563"/>
            <a:ext cx="304800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23" name="U10-085-cell-text-2-2">
            <a:extLst xmlns:a="http://schemas.openxmlformats.org/drawingml/2006/main">
              <a:ext uri="{FF2B5EF4-FFF2-40B4-BE49-F238E27FC236}">
                <a16:creationId xmlns:a16="http://schemas.microsoft.com/office/drawing/2014/main" id="{8F7D329B-D8E9-4730-9717-D2368175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643188"/>
            <a:ext cx="289560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intervalo declarado</a:t>
            </a:r>
          </a:p>
        </p:txBody>
      </p:sp>
      <p:sp>
        <p:nvSpPr>
          <p:cNvPr id="24" name="U10-085-cell-3-0">
            <a:extLst xmlns:a="http://schemas.openxmlformats.org/drawingml/2006/main">
              <a:ext uri="{FF2B5EF4-FFF2-40B4-BE49-F238E27FC236}">
                <a16:creationId xmlns:a16="http://schemas.microsoft.com/office/drawing/2014/main" id="{F0834505-5678-437D-801D-980E2050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07531"/>
            <a:ext cx="200025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25" name="U10-085-cell-text-3-0">
            <a:extLst xmlns:a="http://schemas.openxmlformats.org/drawingml/2006/main">
              <a:ext uri="{FF2B5EF4-FFF2-40B4-BE49-F238E27FC236}">
                <a16:creationId xmlns:a16="http://schemas.microsoft.com/office/drawing/2014/main" id="{420391B0-5972-45CE-AC90-3194321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55156"/>
            <a:ext cx="184785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PSD S_pp</a:t>
            </a:r>
          </a:p>
        </p:txBody>
      </p:sp>
      <p:sp>
        <p:nvSpPr>
          <p:cNvPr id="26" name="U10-085-cell-3-1">
            <a:extLst xmlns:a="http://schemas.openxmlformats.org/drawingml/2006/main">
              <a:ext uri="{FF2B5EF4-FFF2-40B4-BE49-F238E27FC236}">
                <a16:creationId xmlns:a16="http://schemas.microsoft.com/office/drawing/2014/main" id="{25AEA3E1-0B3A-4B48-A5F2-D48B45A4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107531"/>
            <a:ext cx="571500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27" name="U10-085-cell-text-3-1">
            <a:extLst xmlns:a="http://schemas.openxmlformats.org/drawingml/2006/main">
              <a:ext uri="{FF2B5EF4-FFF2-40B4-BE49-F238E27FC236}">
                <a16:creationId xmlns:a16="http://schemas.microsoft.com/office/drawing/2014/main" id="{002271F8-799B-46E7-988E-4D7FF931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155156"/>
            <a:ext cx="556260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 cuadrática por ancho de banda</a:t>
            </a:r>
          </a:p>
        </p:txBody>
      </p:sp>
      <p:sp>
        <p:nvSpPr>
          <p:cNvPr id="28" name="U10-085-cell-3-2">
            <a:extLst xmlns:a="http://schemas.openxmlformats.org/drawingml/2006/main">
              <a:ext uri="{FF2B5EF4-FFF2-40B4-BE49-F238E27FC236}">
                <a16:creationId xmlns:a16="http://schemas.microsoft.com/office/drawing/2014/main" id="{DF0DE761-CEEA-4AD5-BBF1-291EA0CB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07531"/>
            <a:ext cx="304800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29" name="U10-085-cell-text-3-2">
            <a:extLst xmlns:a="http://schemas.openxmlformats.org/drawingml/2006/main">
              <a:ext uri="{FF2B5EF4-FFF2-40B4-BE49-F238E27FC236}">
                <a16:creationId xmlns:a16="http://schemas.microsoft.com/office/drawing/2014/main" id="{1458B659-4CE4-4527-83D9-64EB2E2F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155156"/>
            <a:ext cx="289560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Pa²/Hz</a:t>
            </a:r>
          </a:p>
        </p:txBody>
      </p:sp>
      <p:sp>
        <p:nvSpPr>
          <p:cNvPr id="30" name="U10-085-cell-4-0">
            <a:extLst xmlns:a="http://schemas.openxmlformats.org/drawingml/2006/main">
              <a:ext uri="{FF2B5EF4-FFF2-40B4-BE49-F238E27FC236}">
                <a16:creationId xmlns:a16="http://schemas.microsoft.com/office/drawing/2014/main" id="{A3324995-057F-4DF2-8D31-6F29718E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0"/>
            <a:ext cx="200025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31" name="U10-085-cell-text-4-0">
            <a:extLst xmlns:a="http://schemas.openxmlformats.org/drawingml/2006/main">
              <a:ext uri="{FF2B5EF4-FFF2-40B4-BE49-F238E27FC236}">
                <a16:creationId xmlns:a16="http://schemas.microsoft.com/office/drawing/2014/main" id="{6AA23D9F-D186-4F70-A607-8B67633A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67125"/>
            <a:ext cx="184785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RMS</a:t>
            </a:r>
          </a:p>
        </p:txBody>
      </p:sp>
      <p:sp>
        <p:nvSpPr>
          <p:cNvPr id="32" name="U10-085-cell-4-1">
            <a:extLst xmlns:a="http://schemas.openxmlformats.org/drawingml/2006/main">
              <a:ext uri="{FF2B5EF4-FFF2-40B4-BE49-F238E27FC236}">
                <a16:creationId xmlns:a16="http://schemas.microsoft.com/office/drawing/2014/main" id="{C12513C8-E8C1-4B0F-95C8-0F1B43F0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619500"/>
            <a:ext cx="571500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33" name="U10-085-cell-text-4-1">
            <a:extLst xmlns:a="http://schemas.openxmlformats.org/drawingml/2006/main">
              <a:ext uri="{FF2B5EF4-FFF2-40B4-BE49-F238E27FC236}">
                <a16:creationId xmlns:a16="http://schemas.microsoft.com/office/drawing/2014/main" id="{708AB295-9E35-4B95-B856-F3E1CBFC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667125"/>
            <a:ext cx="556260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raíz del promedio de cuadrados</a:t>
            </a:r>
          </a:p>
        </p:txBody>
      </p:sp>
      <p:sp>
        <p:nvSpPr>
          <p:cNvPr id="34" name="U10-085-cell-4-2">
            <a:extLst xmlns:a="http://schemas.openxmlformats.org/drawingml/2006/main">
              <a:ext uri="{FF2B5EF4-FFF2-40B4-BE49-F238E27FC236}">
                <a16:creationId xmlns:a16="http://schemas.microsoft.com/office/drawing/2014/main" id="{2D42B8D6-6778-406A-BF82-432C7622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19500"/>
            <a:ext cx="304800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35" name="U10-085-cell-text-4-2">
            <a:extLst xmlns:a="http://schemas.openxmlformats.org/drawingml/2006/main">
              <a:ext uri="{FF2B5EF4-FFF2-40B4-BE49-F238E27FC236}">
                <a16:creationId xmlns:a16="http://schemas.microsoft.com/office/drawing/2014/main" id="{E725A394-047A-40EC-B844-7572B646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667125"/>
            <a:ext cx="289560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</a:t>
            </a:r>
          </a:p>
        </p:txBody>
      </p:sp>
      <p:sp>
        <p:nvSpPr>
          <p:cNvPr id="36" name="U10-085-cell-5-0">
            <a:extLst xmlns:a="http://schemas.openxmlformats.org/drawingml/2006/main">
              <a:ext uri="{FF2B5EF4-FFF2-40B4-BE49-F238E27FC236}">
                <a16:creationId xmlns:a16="http://schemas.microsoft.com/office/drawing/2014/main" id="{09D20003-12E2-406E-BF8F-B8E5956C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31469"/>
            <a:ext cx="200025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37" name="U10-085-cell-text-5-0">
            <a:extLst xmlns:a="http://schemas.openxmlformats.org/drawingml/2006/main">
              <a:ext uri="{FF2B5EF4-FFF2-40B4-BE49-F238E27FC236}">
                <a16:creationId xmlns:a16="http://schemas.microsoft.com/office/drawing/2014/main" id="{1BD239C8-F947-4663-ACF9-688189B3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179094"/>
            <a:ext cx="184785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NBN</a:t>
            </a:r>
          </a:p>
        </p:txBody>
      </p:sp>
      <p:sp>
        <p:nvSpPr>
          <p:cNvPr id="38" name="U10-085-cell-5-1">
            <a:extLst xmlns:a="http://schemas.openxmlformats.org/drawingml/2006/main">
              <a:ext uri="{FF2B5EF4-FFF2-40B4-BE49-F238E27FC236}">
                <a16:creationId xmlns:a16="http://schemas.microsoft.com/office/drawing/2014/main" id="{CB2938E9-F413-4DBE-83E3-B318B319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131469"/>
            <a:ext cx="571500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39" name="U10-085-cell-text-5-1">
            <a:extLst xmlns:a="http://schemas.openxmlformats.org/drawingml/2006/main">
              <a:ext uri="{FF2B5EF4-FFF2-40B4-BE49-F238E27FC236}">
                <a16:creationId xmlns:a16="http://schemas.microsoft.com/office/drawing/2014/main" id="{ECC9421E-6417-4779-854B-BE3FE1E2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179094"/>
            <a:ext cx="556260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ruido concentrado en banda declarada</a:t>
            </a:r>
          </a:p>
        </p:txBody>
      </p:sp>
      <p:sp>
        <p:nvSpPr>
          <p:cNvPr id="40" name="U10-085-cell-5-2">
            <a:extLst xmlns:a="http://schemas.openxmlformats.org/drawingml/2006/main">
              <a:ext uri="{FF2B5EF4-FFF2-40B4-BE49-F238E27FC236}">
                <a16:creationId xmlns:a16="http://schemas.microsoft.com/office/drawing/2014/main" id="{1BCBA21C-EFEA-4836-BAB4-96D553F0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31469"/>
            <a:ext cx="304800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41" name="U10-085-cell-text-5-2">
            <a:extLst xmlns:a="http://schemas.openxmlformats.org/drawingml/2006/main">
              <a:ext uri="{FF2B5EF4-FFF2-40B4-BE49-F238E27FC236}">
                <a16:creationId xmlns:a16="http://schemas.microsoft.com/office/drawing/2014/main" id="{EE78E860-95B8-4997-9B38-2542A8AC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179094"/>
            <a:ext cx="289560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f_L, f_c, f_H</a:t>
            </a:r>
          </a:p>
        </p:txBody>
      </p:sp>
      <p:sp>
        <p:nvSpPr>
          <p:cNvPr id="42" name="U10-085-cell-6-0">
            <a:extLst xmlns:a="http://schemas.openxmlformats.org/drawingml/2006/main">
              <a:ext uri="{FF2B5EF4-FFF2-40B4-BE49-F238E27FC236}">
                <a16:creationId xmlns:a16="http://schemas.microsoft.com/office/drawing/2014/main" id="{52AB1C52-B1F1-455F-9B9A-CAA87EE3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43438"/>
            <a:ext cx="200025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43" name="U10-085-cell-text-6-0">
            <a:extLst xmlns:a="http://schemas.openxmlformats.org/drawingml/2006/main">
              <a:ext uri="{FF2B5EF4-FFF2-40B4-BE49-F238E27FC236}">
                <a16:creationId xmlns:a16="http://schemas.microsoft.com/office/drawing/2014/main" id="{2E86B412-FBAE-485B-9CB5-7AD88E27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91063"/>
            <a:ext cx="184785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Fondo</a:t>
            </a:r>
          </a:p>
        </p:txBody>
      </p:sp>
      <p:sp>
        <p:nvSpPr>
          <p:cNvPr id="44" name="U10-085-cell-6-1">
            <a:extLst xmlns:a="http://schemas.openxmlformats.org/drawingml/2006/main">
              <a:ext uri="{FF2B5EF4-FFF2-40B4-BE49-F238E27FC236}">
                <a16:creationId xmlns:a16="http://schemas.microsoft.com/office/drawing/2014/main" id="{0828B438-EEEB-4D8C-83BB-2B37EDEF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43438"/>
            <a:ext cx="571500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45" name="U10-085-cell-text-6-1">
            <a:extLst xmlns:a="http://schemas.openxmlformats.org/drawingml/2006/main">
              <a:ext uri="{FF2B5EF4-FFF2-40B4-BE49-F238E27FC236}">
                <a16:creationId xmlns:a16="http://schemas.microsoft.com/office/drawing/2014/main" id="{4A7289D9-5B58-479C-909D-EDC8578B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691063"/>
            <a:ext cx="556260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interferencia presente según tarea</a:t>
            </a:r>
          </a:p>
        </p:txBody>
      </p:sp>
      <p:sp>
        <p:nvSpPr>
          <p:cNvPr id="46" name="U10-085-cell-6-2">
            <a:extLst xmlns:a="http://schemas.openxmlformats.org/drawingml/2006/main">
              <a:ext uri="{FF2B5EF4-FFF2-40B4-BE49-F238E27FC236}">
                <a16:creationId xmlns:a16="http://schemas.microsoft.com/office/drawing/2014/main" id="{3D650C1A-0103-4913-B497-A6424660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43438"/>
            <a:ext cx="304800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47" name="U10-085-cell-text-6-2">
            <a:extLst xmlns:a="http://schemas.openxmlformats.org/drawingml/2006/main">
              <a:ext uri="{FF2B5EF4-FFF2-40B4-BE49-F238E27FC236}">
                <a16:creationId xmlns:a16="http://schemas.microsoft.com/office/drawing/2014/main" id="{541AE1B9-12D9-4375-83D8-FF2D3598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691063"/>
            <a:ext cx="289560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contexto</a:t>
            </a:r>
          </a:p>
        </p:txBody>
      </p:sp>
      <p:sp>
        <p:nvSpPr>
          <p:cNvPr id="48" name="U10-085-cell-7-0">
            <a:extLst xmlns:a="http://schemas.openxmlformats.org/drawingml/2006/main">
              <a:ext uri="{FF2B5EF4-FFF2-40B4-BE49-F238E27FC236}">
                <a16:creationId xmlns:a16="http://schemas.microsoft.com/office/drawing/2014/main" id="{52853C7E-E550-46A6-98D8-F92653A4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55406"/>
            <a:ext cx="200025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49" name="U10-085-cell-text-7-0">
            <a:extLst xmlns:a="http://schemas.openxmlformats.org/drawingml/2006/main">
              <a:ext uri="{FF2B5EF4-FFF2-40B4-BE49-F238E27FC236}">
                <a16:creationId xmlns:a16="http://schemas.microsoft.com/office/drawing/2014/main" id="{78C80BA2-30F4-4985-B221-449C7B7C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203031"/>
            <a:ext cx="184785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Lₑq,T</a:t>
            </a:r>
          </a:p>
        </p:txBody>
      </p:sp>
      <p:sp>
        <p:nvSpPr>
          <p:cNvPr id="50" name="U10-085-cell-7-1">
            <a:extLst xmlns:a="http://schemas.openxmlformats.org/drawingml/2006/main">
              <a:ext uri="{FF2B5EF4-FFF2-40B4-BE49-F238E27FC236}">
                <a16:creationId xmlns:a16="http://schemas.microsoft.com/office/drawing/2014/main" id="{F9B9F6F1-A905-47CB-BDD1-F343E347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155406"/>
            <a:ext cx="571500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51" name="U10-085-cell-text-7-1">
            <a:extLst xmlns:a="http://schemas.openxmlformats.org/drawingml/2006/main">
              <a:ext uri="{FF2B5EF4-FFF2-40B4-BE49-F238E27FC236}">
                <a16:creationId xmlns:a16="http://schemas.microsoft.com/office/drawing/2014/main" id="{A1D91633-350B-4E37-B4AB-DAB81365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5203031"/>
            <a:ext cx="556260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promedio cuadrático expresado como nivel</a:t>
            </a:r>
          </a:p>
        </p:txBody>
      </p:sp>
      <p:sp>
        <p:nvSpPr>
          <p:cNvPr id="52" name="U10-085-cell-7-2">
            <a:extLst xmlns:a="http://schemas.openxmlformats.org/drawingml/2006/main">
              <a:ext uri="{FF2B5EF4-FFF2-40B4-BE49-F238E27FC236}">
                <a16:creationId xmlns:a16="http://schemas.microsoft.com/office/drawing/2014/main" id="{62CE421E-8ED6-4C92-B2D2-24930427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155406"/>
            <a:ext cx="304800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53" name="U10-085-cell-text-7-2">
            <a:extLst xmlns:a="http://schemas.openxmlformats.org/drawingml/2006/main">
              <a:ext uri="{FF2B5EF4-FFF2-40B4-BE49-F238E27FC236}">
                <a16:creationId xmlns:a16="http://schemas.microsoft.com/office/drawing/2014/main" id="{D3245BF4-7BDB-416E-8334-80F1F085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203031"/>
            <a:ext cx="289560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dB, referencia y T</a:t>
            </a:r>
          </a:p>
        </p:txBody>
      </p:sp>
      <p:sp>
        <p:nvSpPr>
          <p:cNvPr id="5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7FBC3E3-93C5-43C8-99A6-F5F3D455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85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1B36FA27-78C0-4934-A27A-BAF8B4DF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2C43663D-D1BB-4E84-A728-59E6B19E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39299DE1-2A12-40BD-85EB-7B0389B8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55937234-A215-4BBD-874F-AABECA45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AE0AB1-6693-4A4D-A0C1-2EB65F1D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Por qué p_rms²=σₚ²+p̄²</a:t>
            </a:r>
          </a:p>
        </p:txBody>
      </p:sp>
      <p:sp>
        <p:nvSpPr>
          <p:cNvPr id="6" name="U10-DG-056-equation-anchor">
            <a:extLst xmlns:a="http://schemas.openxmlformats.org/drawingml/2006/main">
              <a:ext uri="{FF2B5EF4-FFF2-40B4-BE49-F238E27FC236}">
                <a16:creationId xmlns:a16="http://schemas.microsoft.com/office/drawing/2014/main" id="{65270387-147A-4C2D-9CF5-45877393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56-callout_1-anchor">
            <a:extLst xmlns:a="http://schemas.openxmlformats.org/drawingml/2006/main">
              <a:ext uri="{FF2B5EF4-FFF2-40B4-BE49-F238E27FC236}">
                <a16:creationId xmlns:a16="http://schemas.microsoft.com/office/drawing/2014/main" id="{25A3FD92-EAF4-4A27-BF50-C352E65B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56-callout_2-anchor">
            <a:extLst xmlns:a="http://schemas.openxmlformats.org/drawingml/2006/main">
              <a:ext uri="{FF2B5EF4-FFF2-40B4-BE49-F238E27FC236}">
                <a16:creationId xmlns:a16="http://schemas.microsoft.com/office/drawing/2014/main" id="{768DEA66-3D09-497D-B874-A1812B20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56-callout_3-anchor">
            <a:extLst xmlns:a="http://schemas.openxmlformats.org/drawingml/2006/main">
              <a:ext uri="{FF2B5EF4-FFF2-40B4-BE49-F238E27FC236}">
                <a16:creationId xmlns:a16="http://schemas.microsoft.com/office/drawing/2014/main" id="{10E3C074-C0C6-42B6-AE55-ED763CD6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56-callout_4-anchor">
            <a:extLst xmlns:a="http://schemas.openxmlformats.org/drawingml/2006/main">
              <a:ext uri="{FF2B5EF4-FFF2-40B4-BE49-F238E27FC236}">
                <a16:creationId xmlns:a16="http://schemas.microsoft.com/office/drawing/2014/main" id="{7F88623B-60FB-48F6-91E0-2819931B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U10-DG-056-leader_1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60395" y="2004061"/>
            <a:ext cx="87630" cy="115204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U10-DG-056-leader_2"/>
          <p:cNvCxnSpPr>
            <a:stCxn xmlns:a="http://schemas.openxmlformats.org/drawingml/2006/main" id="8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8172450" y="1460183"/>
            <a:ext cx="2594610" cy="1695927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10-DG-056-leader_3"/>
          <p:cNvCxnSpPr>
            <a:stCxn xmlns:a="http://schemas.openxmlformats.org/drawingml/2006/main" id="9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160395" y="3156110"/>
            <a:ext cx="87630" cy="150352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10-DG-056-leader_4"/>
          <p:cNvCxnSpPr>
            <a:stCxn xmlns:a="http://schemas.openxmlformats.org/drawingml/2006/main" id="10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8172450" y="3156110"/>
            <a:ext cx="184785" cy="1503521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10-DG-056-visual-alt" descr="Identidad RMS–varianza–media. Ecuación; tres términos; condición media cero; unidades. Orden de lectura: Tres callouts. ---">
            <a:extLst xmlns:a="http://schemas.openxmlformats.org/drawingml/2006/main">
              <a:ext uri="{FF2B5EF4-FFF2-40B4-BE49-F238E27FC236}">
                <a16:creationId xmlns:a16="http://schemas.microsoft.com/office/drawing/2014/main" id="{3617249C-21E5-497F-A9C7-8E8921D3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10-DG-056-equation-text">
            <a:extLst xmlns:a="http://schemas.openxmlformats.org/drawingml/2006/main">
              <a:ext uri="{FF2B5EF4-FFF2-40B4-BE49-F238E27FC236}">
                <a16:creationId xmlns:a16="http://schemas.microsoft.com/office/drawing/2014/main" id="{58C68C16-8133-4FBB-80FE-6DA6AFF0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13673"/>
            <a:ext cx="465201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p²ᵣₘₛ = σₚ² + p̄²</a:t>
            </a:r>
          </a:p>
        </p:txBody>
      </p:sp>
      <p:sp>
        <p:nvSpPr>
          <p:cNvPr id="17" name="U10-DG-056-callout_1-box">
            <a:extLst xmlns:a="http://schemas.openxmlformats.org/drawingml/2006/main">
              <a:ext uri="{FF2B5EF4-FFF2-40B4-BE49-F238E27FC236}">
                <a16:creationId xmlns:a16="http://schemas.microsoft.com/office/drawing/2014/main" id="{BA037D40-AABB-44E7-AA7E-A54147E6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56-callout_1-text">
            <a:extLst xmlns:a="http://schemas.openxmlformats.org/drawingml/2006/main">
              <a:ext uri="{FF2B5EF4-FFF2-40B4-BE49-F238E27FC236}">
                <a16:creationId xmlns:a16="http://schemas.microsoft.com/office/drawing/2014/main" id="{08FA9965-1E25-4E06-AF1A-068C042D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p²_rms: tamaño</a:t>
            </a:r>
          </a:p>
        </p:txBody>
      </p:sp>
      <p:sp>
        <p:nvSpPr>
          <p:cNvPr id="19" name="U10-DG-056-callout_2-box">
            <a:extLst xmlns:a="http://schemas.openxmlformats.org/drawingml/2006/main">
              <a:ext uri="{FF2B5EF4-FFF2-40B4-BE49-F238E27FC236}">
                <a16:creationId xmlns:a16="http://schemas.microsoft.com/office/drawing/2014/main" id="{E9F69136-A952-49F6-94AF-36BA5E0E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0" name="U10-DG-056-callout_2-text">
            <a:extLst xmlns:a="http://schemas.openxmlformats.org/drawingml/2006/main">
              <a:ext uri="{FF2B5EF4-FFF2-40B4-BE49-F238E27FC236}">
                <a16:creationId xmlns:a16="http://schemas.microsoft.com/office/drawing/2014/main" id="{22661FE7-BD96-4F2E-B46B-A7C8C8B1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σₚ²: dispersión</a:t>
            </a:r>
          </a:p>
        </p:txBody>
      </p:sp>
      <p:sp>
        <p:nvSpPr>
          <p:cNvPr id="21" name="U10-DG-056-callout_3-box">
            <a:extLst xmlns:a="http://schemas.openxmlformats.org/drawingml/2006/main">
              <a:ext uri="{FF2B5EF4-FFF2-40B4-BE49-F238E27FC236}">
                <a16:creationId xmlns:a16="http://schemas.microsoft.com/office/drawing/2014/main" id="{C203F459-463F-4794-BEAB-9EE56792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2" name="U10-DG-056-callout_3-text">
            <a:extLst xmlns:a="http://schemas.openxmlformats.org/drawingml/2006/main">
              <a:ext uri="{FF2B5EF4-FFF2-40B4-BE49-F238E27FC236}">
                <a16:creationId xmlns:a16="http://schemas.microsoft.com/office/drawing/2014/main" id="{E1D91BC8-7A5D-40E9-9758-F3ACC2EC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p̄²: término de media</a:t>
            </a:r>
          </a:p>
        </p:txBody>
      </p:sp>
      <p:sp>
        <p:nvSpPr>
          <p:cNvPr id="23" name="U10-DG-056-callout_4-box">
            <a:extLst xmlns:a="http://schemas.openxmlformats.org/drawingml/2006/main">
              <a:ext uri="{FF2B5EF4-FFF2-40B4-BE49-F238E27FC236}">
                <a16:creationId xmlns:a16="http://schemas.microsoft.com/office/drawing/2014/main" id="{63D04B0F-DE12-47E5-97AC-6141816E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4" name="U10-DG-056-callout_4-text">
            <a:extLst xmlns:a="http://schemas.openxmlformats.org/drawingml/2006/main">
              <a:ext uri="{FF2B5EF4-FFF2-40B4-BE49-F238E27FC236}">
                <a16:creationId xmlns:a16="http://schemas.microsoft.com/office/drawing/2014/main" id="{54B85DE6-2073-43B3-A676-B3DF6C14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Si p̄=0, p²_rms=σₚ²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D64DC69D-4BAF-44EA-98C8-B9E2574D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Identidad RMS–varianza–media. Ecuación; tres términos; condición media cero; unidades.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76AD92A-DAE8-42FB-B31A-515A2BFD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86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EEB76B80-448E-4509-A140-C1A0131E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3C33E166-9ADB-42CA-974C-96DB4FCB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CA503311-A662-436E-B423-64F96974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B8327F74-B864-4524-848A-96047542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61EF78-B72B-41CF-97FA-FCBC722F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Por qué el rosa conserva contenido por octava</a:t>
            </a:r>
          </a:p>
        </p:txBody>
      </p:sp>
      <p:sp>
        <p:nvSpPr>
          <p:cNvPr id="6" name="U10-DG-057-equation-anchor">
            <a:extLst xmlns:a="http://schemas.openxmlformats.org/drawingml/2006/main">
              <a:ext uri="{FF2B5EF4-FFF2-40B4-BE49-F238E27FC236}">
                <a16:creationId xmlns:a16="http://schemas.microsoft.com/office/drawing/2014/main" id="{44430F79-C581-4DAD-85C3-48C016C9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57-callout_1-anchor">
            <a:extLst xmlns:a="http://schemas.openxmlformats.org/drawingml/2006/main">
              <a:ext uri="{FF2B5EF4-FFF2-40B4-BE49-F238E27FC236}">
                <a16:creationId xmlns:a16="http://schemas.microsoft.com/office/drawing/2014/main" id="{D67C5E06-29F5-4178-874C-FB617EF0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57-callout_2-anchor">
            <a:extLst xmlns:a="http://schemas.openxmlformats.org/drawingml/2006/main">
              <a:ext uri="{FF2B5EF4-FFF2-40B4-BE49-F238E27FC236}">
                <a16:creationId xmlns:a16="http://schemas.microsoft.com/office/drawing/2014/main" id="{33BD021C-26E3-48CE-818A-B8C5D27E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57-callout_3-anchor">
            <a:extLst xmlns:a="http://schemas.openxmlformats.org/drawingml/2006/main">
              <a:ext uri="{FF2B5EF4-FFF2-40B4-BE49-F238E27FC236}">
                <a16:creationId xmlns:a16="http://schemas.microsoft.com/office/drawing/2014/main" id="{FA49660A-9AE6-46B5-89F3-6A1D94A5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57-callout_4-anchor">
            <a:extLst xmlns:a="http://schemas.openxmlformats.org/drawingml/2006/main">
              <a:ext uri="{FF2B5EF4-FFF2-40B4-BE49-F238E27FC236}">
                <a16:creationId xmlns:a16="http://schemas.microsoft.com/office/drawing/2014/main" id="{73BB93FD-F48D-475D-8BE3-E73D4452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U10-DG-057-leader_1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60395" y="2004061"/>
            <a:ext cx="87630" cy="115204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U10-DG-057-leader_2"/>
          <p:cNvCxnSpPr>
            <a:stCxn xmlns:a="http://schemas.openxmlformats.org/drawingml/2006/main" id="8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8172450" y="1460183"/>
            <a:ext cx="2594610" cy="1695927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10-DG-057-leader_3"/>
          <p:cNvCxnSpPr>
            <a:stCxn xmlns:a="http://schemas.openxmlformats.org/drawingml/2006/main" id="9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160395" y="3156110"/>
            <a:ext cx="87630" cy="150352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10-DG-057-leader_4"/>
          <p:cNvCxnSpPr>
            <a:stCxn xmlns:a="http://schemas.openxmlformats.org/drawingml/2006/main" id="10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8172450" y="3156110"/>
            <a:ext cx="184785" cy="1503521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10-DG-057-visual-alt" descr="Integral del rosa por octava. Intervalo f a 2f; integral; resultado K ln 2; dos bandas. Orden de lectura: Líderes cortos. ---">
            <a:extLst xmlns:a="http://schemas.openxmlformats.org/drawingml/2006/main">
              <a:ext uri="{FF2B5EF4-FFF2-40B4-BE49-F238E27FC236}">
                <a16:creationId xmlns:a16="http://schemas.microsoft.com/office/drawing/2014/main" id="{3039049B-761B-4DD3-9DF0-ACB43201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10-DG-057-equation-text">
            <a:extLst xmlns:a="http://schemas.openxmlformats.org/drawingml/2006/main">
              <a:ext uri="{FF2B5EF4-FFF2-40B4-BE49-F238E27FC236}">
                <a16:creationId xmlns:a16="http://schemas.microsoft.com/office/drawing/2014/main" id="{331B430B-9AD6-4170-840B-AF645C35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13673"/>
            <a:ext cx="465201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∫[f→2f] K/ν dν = K ln 2</a:t>
            </a:r>
          </a:p>
        </p:txBody>
      </p:sp>
      <p:sp>
        <p:nvSpPr>
          <p:cNvPr id="17" name="U10-DG-057-callout_1-box">
            <a:extLst xmlns:a="http://schemas.openxmlformats.org/drawingml/2006/main">
              <a:ext uri="{FF2B5EF4-FFF2-40B4-BE49-F238E27FC236}">
                <a16:creationId xmlns:a16="http://schemas.microsoft.com/office/drawing/2014/main" id="{B1BB5895-72F7-4D7B-B897-675FB9E6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57-callout_1-text">
            <a:extLst xmlns:a="http://schemas.openxmlformats.org/drawingml/2006/main">
              <a:ext uri="{FF2B5EF4-FFF2-40B4-BE49-F238E27FC236}">
                <a16:creationId xmlns:a16="http://schemas.microsoft.com/office/drawing/2014/main" id="{CA6D22E5-E6BA-40A6-A941-8AE06739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Banda de f a 2f</a:t>
            </a:r>
          </a:p>
        </p:txBody>
      </p:sp>
      <p:sp>
        <p:nvSpPr>
          <p:cNvPr id="19" name="U10-DG-057-callout_2-box">
            <a:extLst xmlns:a="http://schemas.openxmlformats.org/drawingml/2006/main">
              <a:ext uri="{FF2B5EF4-FFF2-40B4-BE49-F238E27FC236}">
                <a16:creationId xmlns:a16="http://schemas.microsoft.com/office/drawing/2014/main" id="{7B690F96-F297-4AF3-AF24-4B24EE3B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0" name="U10-DG-057-callout_2-text">
            <a:extLst xmlns:a="http://schemas.openxmlformats.org/drawingml/2006/main">
              <a:ext uri="{FF2B5EF4-FFF2-40B4-BE49-F238E27FC236}">
                <a16:creationId xmlns:a16="http://schemas.microsoft.com/office/drawing/2014/main" id="{F683069F-B485-4536-ABC4-7DC3FF18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PSD rosa K/ν</a:t>
            </a:r>
          </a:p>
        </p:txBody>
      </p:sp>
      <p:sp>
        <p:nvSpPr>
          <p:cNvPr id="21" name="U10-DG-057-callout_3-box">
            <a:extLst xmlns:a="http://schemas.openxmlformats.org/drawingml/2006/main">
              <a:ext uri="{FF2B5EF4-FFF2-40B4-BE49-F238E27FC236}">
                <a16:creationId xmlns:a16="http://schemas.microsoft.com/office/drawing/2014/main" id="{4DA2C6E6-3C5A-465D-9504-4AC7C6ED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2" name="U10-DG-057-callout_3-text">
            <a:extLst xmlns:a="http://schemas.openxmlformats.org/drawingml/2006/main">
              <a:ext uri="{FF2B5EF4-FFF2-40B4-BE49-F238E27FC236}">
                <a16:creationId xmlns:a16="http://schemas.microsoft.com/office/drawing/2014/main" id="{DDC1E080-4E5A-4CD9-B2D3-81ADAAFE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Integral = K ln 2</a:t>
            </a:r>
          </a:p>
        </p:txBody>
      </p:sp>
      <p:sp>
        <p:nvSpPr>
          <p:cNvPr id="23" name="U10-DG-057-callout_4-box">
            <a:extLst xmlns:a="http://schemas.openxmlformats.org/drawingml/2006/main">
              <a:ext uri="{FF2B5EF4-FFF2-40B4-BE49-F238E27FC236}">
                <a16:creationId xmlns:a16="http://schemas.microsoft.com/office/drawing/2014/main" id="{11308089-496F-40BD-8DCD-240CBFA7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4" name="U10-DG-057-callout_4-text">
            <a:extLst xmlns:a="http://schemas.openxmlformats.org/drawingml/2006/main">
              <a:ext uri="{FF2B5EF4-FFF2-40B4-BE49-F238E27FC236}">
                <a16:creationId xmlns:a16="http://schemas.microsoft.com/office/drawing/2014/main" id="{7CB264CE-E9BB-4081-93E2-EA799E32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Igual resultado en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4710365C-0504-41FB-BAC3-C6C613A6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Integral del rosa por octava. Intervalo f a 2f; integral; resultado K ln 2; dos bandas.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3793F70-4DE6-45B4-B622-0BFA14F4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87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-1">
            <a:extLst xmlns:a="http://schemas.openxmlformats.org/drawingml/2006/main">
              <a:ext uri="{FF2B5EF4-FFF2-40B4-BE49-F238E27FC236}">
                <a16:creationId xmlns:a16="http://schemas.microsoft.com/office/drawing/2014/main" id="{D74CAB88-BB2A-46BC-B006-B59A0984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DD4CF6A5-4E40-4392-82ED-CE41BC45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04C0E494-72DC-40A4-BD4B-E2A7E4AA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57674BF6-1C62-45F7-9702-35B15799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DB9C15-F7AA-4748-949A-19C99153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Combinar intervalos de distinta duración</a:t>
            </a:r>
          </a:p>
        </p:txBody>
      </p:sp>
      <p:sp>
        <p:nvSpPr>
          <p:cNvPr id="6" name="U10-088-conditional-alt" descr="Recurso visual previsto: Ecuación anotada U10-DG-058; candidata para diagram-generation. ---">
            <a:extLst xmlns:a="http://schemas.openxmlformats.org/drawingml/2006/main">
              <a:ext uri="{FF2B5EF4-FFF2-40B4-BE49-F238E27FC236}">
                <a16:creationId xmlns:a16="http://schemas.microsoft.com/office/drawing/2014/main" id="{94B27EA8-A024-4070-AF40-1CC56B14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3429000"/>
          </a:xfrm>
          <a:prstGeom xmlns:a="http://schemas.openxmlformats.org/drawingml/2006/main" prst="roundRect">
            <a:avLst>
              <a:gd name="adj" fmla="val 194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A641E"/>
            </a:solidFill>
            <a:prstDash val="solid"/>
          </a:ln>
        </p:spPr>
      </p:sp>
      <p:sp>
        <p:nvSpPr>
          <p:cNvPr id="7" name="conditional-title">
            <a:extLst xmlns:a="http://schemas.openxmlformats.org/drawingml/2006/main">
              <a:ext uri="{FF2B5EF4-FFF2-40B4-BE49-F238E27FC236}">
                <a16:creationId xmlns:a16="http://schemas.microsoft.com/office/drawing/2014/main" id="{9C42B97A-1DFD-42CA-BFC5-E461E6DB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Principio cualitativo</a:t>
            </a:r>
          </a:p>
        </p:txBody>
      </p:sp>
      <p:sp>
        <p:nvSpPr>
          <p:cNvPr id="8" name="conditional-message">
            <a:extLst xmlns:a="http://schemas.openxmlformats.org/drawingml/2006/main">
              <a:ext uri="{FF2B5EF4-FFF2-40B4-BE49-F238E27FC236}">
                <a16:creationId xmlns:a16="http://schemas.microsoft.com/office/drawing/2014/main" id="{93C1A849-7EEB-41A0-A7DF-080CBA50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00375"/>
            <a:ext cx="819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 los intervalos duran distinto, cada contribución debe ponderarse por su duración antes de volver a decibeles.</a:t>
            </a:r>
          </a:p>
        </p:txBody>
      </p:sp>
      <p:sp>
        <p:nvSpPr>
          <p:cNvPr id="9" name="conditional-foot">
            <a:extLst xmlns:a="http://schemas.openxmlformats.org/drawingml/2006/main">
              <a:ext uri="{FF2B5EF4-FFF2-40B4-BE49-F238E27FC236}">
                <a16:creationId xmlns:a16="http://schemas.microsoft.com/office/drawing/2014/main" id="{D1EC1598-53AF-4C22-BDC7-AD2A1DD6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29125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9A641E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9A641E"/>
                </a:solidFill>
                <a:latin typeface="Calibri"/>
                <a:ea typeface="Calibri"/>
                <a:cs typeface="Calibri"/>
              </a:rPr>
              <a:t>No se muestra una fórmula ni un ejemplo sin fuente verificada.</a:t>
            </a:r>
          </a:p>
        </p:txBody>
      </p:sp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BCFCA8F-E8F9-4E23-927F-916EDA4E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88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rail-1">
            <a:extLst xmlns:a="http://schemas.openxmlformats.org/drawingml/2006/main">
              <a:ext uri="{FF2B5EF4-FFF2-40B4-BE49-F238E27FC236}">
                <a16:creationId xmlns:a16="http://schemas.microsoft.com/office/drawing/2014/main" id="{AF40BF84-A0A7-4DE7-88FB-687A4B31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D00B95D6-93E3-44FA-8EC0-DDEC4F61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484E66C5-714E-4876-8CE6-1D79D0AE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C6B6B1C-AE19-49EA-B1E6-F3C791BC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001469-71BE-4604-9697-43D44BDE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Ejercicios numéricos seleccionados</a:t>
            </a:r>
          </a:p>
        </p:txBody>
      </p:sp>
      <p:sp>
        <p:nvSpPr>
          <p:cNvPr id="6" name="U10-089-claim-alt" descr="Recurso visual previsto: Dos slides o revelado si no respeta 22 pt; U10-DG-059, candidata para diagram-generation. ---">
            <a:extLst xmlns:a="http://schemas.openxmlformats.org/drawingml/2006/main">
              <a:ext uri="{FF2B5EF4-FFF2-40B4-BE49-F238E27FC236}">
                <a16:creationId xmlns:a16="http://schemas.microsoft.com/office/drawing/2014/main" id="{4FCF240B-A515-4F17-A1F0-A68F5DF1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76325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9525">
            <a:solidFill>
              <a:srgbClr val="903163"/>
            </a:solidFill>
            <a:prstDash val="solid"/>
          </a:ln>
        </p:spPr>
      </p:sp>
      <p:sp>
        <p:nvSpPr>
          <p:cNvPr id="7" name="solutions-heading">
            <a:extLst xmlns:a="http://schemas.openxmlformats.org/drawingml/2006/main">
              <a:ext uri="{FF2B5EF4-FFF2-40B4-BE49-F238E27FC236}">
                <a16:creationId xmlns:a16="http://schemas.microsoft.com/office/drawing/2014/main" id="{8193A70E-B2FD-4804-BEBC-32FE0BEA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859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Cinco resultados: mostrar procedimiento, unidades y límite de interpretación</a:t>
            </a:r>
          </a:p>
        </p:txBody>
      </p:sp>
      <p:sp>
        <p:nvSpPr>
          <p:cNvPr id="8" name="solution-0-box">
            <a:extLst xmlns:a="http://schemas.openxmlformats.org/drawingml/2006/main">
              <a:ext uri="{FF2B5EF4-FFF2-40B4-BE49-F238E27FC236}">
                <a16:creationId xmlns:a16="http://schemas.microsoft.com/office/drawing/2014/main" id="{F6926B96-816B-4E13-944A-37E7B0AF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5143500" cy="1000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2F7E83"/>
            </a:solidFill>
            <a:prstDash val="solid"/>
          </a:ln>
        </p:spPr>
      </p:sp>
      <p:sp>
        <p:nvSpPr>
          <p:cNvPr id="9" name="solution-0-number">
            <a:extLst xmlns:a="http://schemas.openxmlformats.org/drawingml/2006/main">
              <a:ext uri="{FF2B5EF4-FFF2-40B4-BE49-F238E27FC236}">
                <a16:creationId xmlns:a16="http://schemas.microsoft.com/office/drawing/2014/main" id="{8312D7AB-7B4A-4236-A311-B0E607F5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669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" name="solution-0-body">
            <a:extLst xmlns:a="http://schemas.openxmlformats.org/drawingml/2006/main">
              <a:ext uri="{FF2B5EF4-FFF2-40B4-BE49-F238E27FC236}">
                <a16:creationId xmlns:a16="http://schemas.microsoft.com/office/drawing/2014/main" id="{3195235A-17FD-4D05-98F6-2869FDD3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86000"/>
            <a:ext cx="4362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Media/RMS/varianza: 0, 2, 2, 4 mPa → p̄=2 mPa, p_rms≈2,45 mPa, σₚ²=2 mPa².</a:t>
            </a:r>
          </a:p>
        </p:txBody>
      </p:sp>
      <p:sp>
        <p:nvSpPr>
          <p:cNvPr id="11" name="solution-1-box">
            <a:extLst xmlns:a="http://schemas.openxmlformats.org/drawingml/2006/main">
              <a:ext uri="{FF2B5EF4-FFF2-40B4-BE49-F238E27FC236}">
                <a16:creationId xmlns:a16="http://schemas.microsoft.com/office/drawing/2014/main" id="{EED13C4A-DEE1-4569-8319-8A2B08C1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5143500" cy="1000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12" name="solution-1-number">
            <a:extLst xmlns:a="http://schemas.openxmlformats.org/drawingml/2006/main">
              <a:ext uri="{FF2B5EF4-FFF2-40B4-BE49-F238E27FC236}">
                <a16:creationId xmlns:a16="http://schemas.microsoft.com/office/drawing/2014/main" id="{878BAA12-20DA-4247-8524-9370B624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solution-1-body">
            <a:extLst xmlns:a="http://schemas.openxmlformats.org/drawingml/2006/main">
              <a:ext uri="{FF2B5EF4-FFF2-40B4-BE49-F238E27FC236}">
                <a16:creationId xmlns:a16="http://schemas.microsoft.com/office/drawing/2014/main" id="{F0A9A5C9-86D1-4C2C-A75A-EDF38789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76625"/>
            <a:ext cx="4362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PSD: 9,0×10⁻¹⁰ Pa²/Hz entre 500–2500 Hz → p_rms²=1,8×10⁻⁶ Pa², p_rms≈1,34 mPa, Lₚ≈36,5 dB SPL.</a:t>
            </a:r>
          </a:p>
        </p:txBody>
      </p:sp>
      <p:sp>
        <p:nvSpPr>
          <p:cNvPr id="14" name="solution-2-box">
            <a:extLst xmlns:a="http://schemas.openxmlformats.org/drawingml/2006/main">
              <a:ext uri="{FF2B5EF4-FFF2-40B4-BE49-F238E27FC236}">
                <a16:creationId xmlns:a16="http://schemas.microsoft.com/office/drawing/2014/main" id="{B8411ECA-79C4-4A3F-AE55-F1CE8824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5143500" cy="1000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969FA7"/>
            </a:solidFill>
            <a:prstDash val="solid"/>
          </a:ln>
        </p:spPr>
      </p:sp>
      <p:sp>
        <p:nvSpPr>
          <p:cNvPr id="15" name="solution-2-number">
            <a:extLst xmlns:a="http://schemas.openxmlformats.org/drawingml/2006/main">
              <a:ext uri="{FF2B5EF4-FFF2-40B4-BE49-F238E27FC236}">
                <a16:creationId xmlns:a16="http://schemas.microsoft.com/office/drawing/2014/main" id="{9273DA01-FF44-4EEA-8E08-C1DA9230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482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6" name="solution-2-body">
            <a:extLst xmlns:a="http://schemas.openxmlformats.org/drawingml/2006/main">
              <a:ext uri="{FF2B5EF4-FFF2-40B4-BE49-F238E27FC236}">
                <a16:creationId xmlns:a16="http://schemas.microsoft.com/office/drawing/2014/main" id="{069E508B-8EBB-43A7-9D48-F3D6DA3A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67250"/>
            <a:ext cx="4362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NBN: 900–1100 Hz → B=200 Hz; faltan centro, pendientes, nivel, calibración y procedimiento.</a:t>
            </a:r>
          </a:p>
        </p:txBody>
      </p:sp>
      <p:sp>
        <p:nvSpPr>
          <p:cNvPr id="17" name="solution-3-box">
            <a:extLst xmlns:a="http://schemas.openxmlformats.org/drawingml/2006/main">
              <a:ext uri="{FF2B5EF4-FFF2-40B4-BE49-F238E27FC236}">
                <a16:creationId xmlns:a16="http://schemas.microsoft.com/office/drawing/2014/main" id="{EDBE54BE-E3BC-45F0-BF62-79D9EB00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5143500" cy="1000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1430">
            <a:solidFill>
              <a:srgbClr val="9F541A"/>
            </a:solidFill>
            <a:prstDash val="solid"/>
          </a:ln>
        </p:spPr>
      </p:sp>
      <p:sp>
        <p:nvSpPr>
          <p:cNvPr id="18" name="solution-3-number">
            <a:extLst xmlns:a="http://schemas.openxmlformats.org/drawingml/2006/main">
              <a:ext uri="{FF2B5EF4-FFF2-40B4-BE49-F238E27FC236}">
                <a16:creationId xmlns:a16="http://schemas.microsoft.com/office/drawing/2014/main" id="{9AACB5FC-7A14-4C79-8AEA-897F9FBD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9" name="solution-3-body">
            <a:extLst xmlns:a="http://schemas.openxmlformats.org/drawingml/2006/main">
              <a:ext uri="{FF2B5EF4-FFF2-40B4-BE49-F238E27FC236}">
                <a16:creationId xmlns:a16="http://schemas.microsoft.com/office/drawing/2014/main" id="{11771DA6-B1BB-4D28-BB1A-C247D998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86000"/>
            <a:ext cx="4362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SNR: 68−73=−5 dB; el ruido supera a la señal en nivel bajo condiciones comparables.</a:t>
            </a:r>
          </a:p>
        </p:txBody>
      </p:sp>
      <p:sp>
        <p:nvSpPr>
          <p:cNvPr id="20" name="solution-4-box">
            <a:extLst xmlns:a="http://schemas.openxmlformats.org/drawingml/2006/main">
              <a:ext uri="{FF2B5EF4-FFF2-40B4-BE49-F238E27FC236}">
                <a16:creationId xmlns:a16="http://schemas.microsoft.com/office/drawing/2014/main" id="{D5452C8F-15FA-4576-9958-25C021F3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5143500" cy="1000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2F7E83"/>
            </a:solidFill>
            <a:prstDash val="solid"/>
          </a:ln>
        </p:spPr>
      </p:sp>
      <p:sp>
        <p:nvSpPr>
          <p:cNvPr id="21" name="solution-4-number">
            <a:extLst xmlns:a="http://schemas.openxmlformats.org/drawingml/2006/main">
              <a:ext uri="{FF2B5EF4-FFF2-40B4-BE49-F238E27FC236}">
                <a16:creationId xmlns:a16="http://schemas.microsoft.com/office/drawing/2014/main" id="{42CCD7AB-0FC3-467C-ABB9-3BE0730D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576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2" name="solution-4-body">
            <a:extLst xmlns:a="http://schemas.openxmlformats.org/drawingml/2006/main">
              <a:ext uri="{FF2B5EF4-FFF2-40B4-BE49-F238E27FC236}">
                <a16:creationId xmlns:a16="http://schemas.microsoft.com/office/drawing/2014/main" id="{D0D8AE98-220A-47CB-889A-8CA4FBFC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76625"/>
            <a:ext cx="4362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Tres intervalos iguales: 74, 78, 82 dB(A) → L_Aeq,30 min≈79,2 dB(A).</a:t>
            </a:r>
          </a:p>
        </p:txBody>
      </p:sp>
      <p:sp>
        <p:nvSpPr>
          <p:cNvPr id="2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31816F5-C7E7-494C-9A3A-46FDCFF7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89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op-rail-1">
            <a:extLst xmlns:a="http://schemas.openxmlformats.org/drawingml/2006/main">
              <a:ext uri="{FF2B5EF4-FFF2-40B4-BE49-F238E27FC236}">
                <a16:creationId xmlns:a16="http://schemas.microsoft.com/office/drawing/2014/main" id="{0475D926-EE23-44AC-929E-D1E75FA5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061A14FD-D305-42FE-9026-1A39E331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52518DD1-54F8-4715-B6E1-DB3FE341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B59A962-4F35-4729-9F2C-63887141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A67333-97CA-465C-8ADB-2E82E02E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Descriptores y datos que deben acompañarlos</a:t>
            </a:r>
          </a:p>
        </p:txBody>
      </p:sp>
      <p:sp>
        <p:nvSpPr>
          <p:cNvPr id="6" name="U10-090-claim-alt" descr="Recurso visual previsto: Tabla nativa basada en capítulo. ---">
            <a:extLst xmlns:a="http://schemas.openxmlformats.org/drawingml/2006/main">
              <a:ext uri="{FF2B5EF4-FFF2-40B4-BE49-F238E27FC236}">
                <a16:creationId xmlns:a16="http://schemas.microsoft.com/office/drawing/2014/main" id="{F70E7178-EED2-4221-A844-032845A6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7" name="U10-090-cell-text-0-0">
            <a:extLst xmlns:a="http://schemas.openxmlformats.org/drawingml/2006/main">
              <a:ext uri="{FF2B5EF4-FFF2-40B4-BE49-F238E27FC236}">
                <a16:creationId xmlns:a16="http://schemas.microsoft.com/office/drawing/2014/main" id="{444715AA-B835-4AD9-9B72-E2DC6410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1925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Descriptor</a:t>
            </a:r>
          </a:p>
        </p:txBody>
      </p:sp>
      <p:sp>
        <p:nvSpPr>
          <p:cNvPr id="8" name="U10-090-cell-0-1">
            <a:extLst xmlns:a="http://schemas.openxmlformats.org/drawingml/2006/main">
              <a:ext uri="{FF2B5EF4-FFF2-40B4-BE49-F238E27FC236}">
                <a16:creationId xmlns:a16="http://schemas.microsoft.com/office/drawing/2014/main" id="{B4E82B68-5D58-4F31-9C5B-CF64BF42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571625"/>
            <a:ext cx="828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9" name="U10-090-cell-text-0-1">
            <a:extLst xmlns:a="http://schemas.openxmlformats.org/drawingml/2006/main">
              <a:ext uri="{FF2B5EF4-FFF2-40B4-BE49-F238E27FC236}">
                <a16:creationId xmlns:a16="http://schemas.microsoft.com/office/drawing/2014/main" id="{0FFB6D82-E92C-43A7-B3D3-1AADAACE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619250"/>
            <a:ext cx="813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Debe acompañarse por</a:t>
            </a:r>
          </a:p>
        </p:txBody>
      </p:sp>
      <p:sp>
        <p:nvSpPr>
          <p:cNvPr id="10" name="U10-090-cell-1-0">
            <a:extLst xmlns:a="http://schemas.openxmlformats.org/drawingml/2006/main">
              <a:ext uri="{FF2B5EF4-FFF2-40B4-BE49-F238E27FC236}">
                <a16:creationId xmlns:a16="http://schemas.microsoft.com/office/drawing/2014/main" id="{E90F2CE7-CC55-4B2A-8C09-724E0509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2407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1" name="U10-090-cell-text-1-0">
            <a:extLst xmlns:a="http://schemas.openxmlformats.org/drawingml/2006/main">
              <a:ext uri="{FF2B5EF4-FFF2-40B4-BE49-F238E27FC236}">
                <a16:creationId xmlns:a16="http://schemas.microsoft.com/office/drawing/2014/main" id="{B4FC2778-C82A-4A3D-9E34-3EDAB5BE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7170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L(t)</a:t>
            </a:r>
          </a:p>
        </p:txBody>
      </p:sp>
      <p:sp>
        <p:nvSpPr>
          <p:cNvPr id="12" name="U10-090-cell-1-1">
            <a:extLst xmlns:a="http://schemas.openxmlformats.org/drawingml/2006/main">
              <a:ext uri="{FF2B5EF4-FFF2-40B4-BE49-F238E27FC236}">
                <a16:creationId xmlns:a16="http://schemas.microsoft.com/office/drawing/2014/main" id="{E254C7CB-3968-4074-9052-85E1F7F0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124075"/>
            <a:ext cx="828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3" name="U10-090-cell-text-1-1">
            <a:extLst xmlns:a="http://schemas.openxmlformats.org/drawingml/2006/main">
              <a:ext uri="{FF2B5EF4-FFF2-40B4-BE49-F238E27FC236}">
                <a16:creationId xmlns:a16="http://schemas.microsoft.com/office/drawing/2014/main" id="{250392FB-EE03-4AEC-86B0-AB43E1A3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171700"/>
            <a:ext cx="813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ponderación frecuencial y temporal; instante/registro</a:t>
            </a:r>
          </a:p>
        </p:txBody>
      </p:sp>
      <p:sp>
        <p:nvSpPr>
          <p:cNvPr id="14" name="U10-090-cell-2-0">
            <a:extLst xmlns:a="http://schemas.openxmlformats.org/drawingml/2006/main">
              <a:ext uri="{FF2B5EF4-FFF2-40B4-BE49-F238E27FC236}">
                <a16:creationId xmlns:a16="http://schemas.microsoft.com/office/drawing/2014/main" id="{C8B0E60C-0999-40BF-9210-A118B559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7652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5" name="U10-090-cell-text-2-0">
            <a:extLst xmlns:a="http://schemas.openxmlformats.org/drawingml/2006/main">
              <a:ext uri="{FF2B5EF4-FFF2-40B4-BE49-F238E27FC236}">
                <a16:creationId xmlns:a16="http://schemas.microsoft.com/office/drawing/2014/main" id="{CC65D9CA-48FD-46C2-9511-B7EC1E4A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2415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L_max</a:t>
            </a:r>
          </a:p>
        </p:txBody>
      </p:sp>
      <p:sp>
        <p:nvSpPr>
          <p:cNvPr id="16" name="U10-090-cell-2-1">
            <a:extLst xmlns:a="http://schemas.openxmlformats.org/drawingml/2006/main">
              <a:ext uri="{FF2B5EF4-FFF2-40B4-BE49-F238E27FC236}">
                <a16:creationId xmlns:a16="http://schemas.microsoft.com/office/drawing/2014/main" id="{C7A725DB-5356-4702-9C20-A4703631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76525"/>
            <a:ext cx="828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7" name="U10-090-cell-text-2-1">
            <a:extLst xmlns:a="http://schemas.openxmlformats.org/drawingml/2006/main">
              <a:ext uri="{FF2B5EF4-FFF2-40B4-BE49-F238E27FC236}">
                <a16:creationId xmlns:a16="http://schemas.microsoft.com/office/drawing/2014/main" id="{69B9CBF1-A1BF-4478-98AD-7E957A83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724150"/>
            <a:ext cx="813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detector, ponderación e intervalo de búsqueda</a:t>
            </a:r>
          </a:p>
        </p:txBody>
      </p:sp>
      <p:sp>
        <p:nvSpPr>
          <p:cNvPr id="18" name="U10-090-cell-3-0">
            <a:extLst xmlns:a="http://schemas.openxmlformats.org/drawingml/2006/main">
              <a:ext uri="{FF2B5EF4-FFF2-40B4-BE49-F238E27FC236}">
                <a16:creationId xmlns:a16="http://schemas.microsoft.com/office/drawing/2014/main" id="{DF69494D-3BFF-4386-BABC-52B314B8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2897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9" name="U10-090-cell-text-3-0">
            <a:extLst xmlns:a="http://schemas.openxmlformats.org/drawingml/2006/main">
              <a:ext uri="{FF2B5EF4-FFF2-40B4-BE49-F238E27FC236}">
                <a16:creationId xmlns:a16="http://schemas.microsoft.com/office/drawing/2014/main" id="{D3AA6F7C-4BF6-4AE5-B80A-8B6B7602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7660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L_peak</a:t>
            </a:r>
          </a:p>
        </p:txBody>
      </p:sp>
      <p:sp>
        <p:nvSpPr>
          <p:cNvPr id="20" name="U10-090-cell-3-1">
            <a:extLst xmlns:a="http://schemas.openxmlformats.org/drawingml/2006/main">
              <a:ext uri="{FF2B5EF4-FFF2-40B4-BE49-F238E27FC236}">
                <a16:creationId xmlns:a16="http://schemas.microsoft.com/office/drawing/2014/main" id="{6BE30EFC-6428-4CB8-96CA-A670246A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228975"/>
            <a:ext cx="828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21" name="U10-090-cell-text-3-1">
            <a:extLst xmlns:a="http://schemas.openxmlformats.org/drawingml/2006/main">
              <a:ext uri="{FF2B5EF4-FFF2-40B4-BE49-F238E27FC236}">
                <a16:creationId xmlns:a16="http://schemas.microsoft.com/office/drawing/2014/main" id="{BBE1CFF3-80ED-4116-8747-1AF174CF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276600"/>
            <a:ext cx="813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detector de pico, rango, referencia y procedimiento</a:t>
            </a:r>
          </a:p>
        </p:txBody>
      </p:sp>
      <p:sp>
        <p:nvSpPr>
          <p:cNvPr id="22" name="U10-090-cell-4-0">
            <a:extLst xmlns:a="http://schemas.openxmlformats.org/drawingml/2006/main">
              <a:ext uri="{FF2B5EF4-FFF2-40B4-BE49-F238E27FC236}">
                <a16:creationId xmlns:a16="http://schemas.microsoft.com/office/drawing/2014/main" id="{122947D0-F32E-4878-88C1-FD300568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8142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23" name="U10-090-cell-text-4-0">
            <a:extLst xmlns:a="http://schemas.openxmlformats.org/drawingml/2006/main">
              <a:ext uri="{FF2B5EF4-FFF2-40B4-BE49-F238E27FC236}">
                <a16:creationId xmlns:a16="http://schemas.microsoft.com/office/drawing/2014/main" id="{14FEAAD1-F5EC-4AEE-9C29-D21A183B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2905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Lₑq,T</a:t>
            </a:r>
          </a:p>
        </p:txBody>
      </p:sp>
      <p:sp>
        <p:nvSpPr>
          <p:cNvPr id="24" name="U10-090-cell-4-1">
            <a:extLst xmlns:a="http://schemas.openxmlformats.org/drawingml/2006/main">
              <a:ext uri="{FF2B5EF4-FFF2-40B4-BE49-F238E27FC236}">
                <a16:creationId xmlns:a16="http://schemas.microsoft.com/office/drawing/2014/main" id="{19D4F5A8-5693-47AF-B94E-CC24828E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781425"/>
            <a:ext cx="828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25" name="U10-090-cell-text-4-1">
            <a:extLst xmlns:a="http://schemas.openxmlformats.org/drawingml/2006/main">
              <a:ext uri="{FF2B5EF4-FFF2-40B4-BE49-F238E27FC236}">
                <a16:creationId xmlns:a16="http://schemas.microsoft.com/office/drawing/2014/main" id="{12A26C2E-0D69-4B34-AC75-61155AEB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829050"/>
            <a:ext cx="813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ponderación frecuencial e intervalo T</a:t>
            </a:r>
          </a:p>
        </p:txBody>
      </p:sp>
      <p:sp>
        <p:nvSpPr>
          <p:cNvPr id="26" name="U10-090-cell-5-0">
            <a:extLst xmlns:a="http://schemas.openxmlformats.org/drawingml/2006/main">
              <a:ext uri="{FF2B5EF4-FFF2-40B4-BE49-F238E27FC236}">
                <a16:creationId xmlns:a16="http://schemas.microsoft.com/office/drawing/2014/main" id="{38AC9EBF-FD1F-4A63-AA26-ECDE2750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27" name="U10-090-cell-text-5-0">
            <a:extLst xmlns:a="http://schemas.openxmlformats.org/drawingml/2006/main">
              <a:ext uri="{FF2B5EF4-FFF2-40B4-BE49-F238E27FC236}">
                <a16:creationId xmlns:a16="http://schemas.microsoft.com/office/drawing/2014/main" id="{086A58E1-F2A8-4A6D-92C4-C4C03870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8150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L_N,T</a:t>
            </a:r>
          </a:p>
        </p:txBody>
      </p:sp>
      <p:sp>
        <p:nvSpPr>
          <p:cNvPr id="28" name="U10-090-cell-5-1">
            <a:extLst xmlns:a="http://schemas.openxmlformats.org/drawingml/2006/main">
              <a:ext uri="{FF2B5EF4-FFF2-40B4-BE49-F238E27FC236}">
                <a16:creationId xmlns:a16="http://schemas.microsoft.com/office/drawing/2014/main" id="{375E6C64-68B5-4A6F-9DA3-6E610BA2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333875"/>
            <a:ext cx="828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29" name="U10-090-cell-text-5-1">
            <a:extLst xmlns:a="http://schemas.openxmlformats.org/drawingml/2006/main">
              <a:ext uri="{FF2B5EF4-FFF2-40B4-BE49-F238E27FC236}">
                <a16:creationId xmlns:a16="http://schemas.microsoft.com/office/drawing/2014/main" id="{02849D3E-071F-4D6A-A0EE-C5DAE38F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381500"/>
            <a:ext cx="813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N, T, ponderación y muestreo</a:t>
            </a:r>
          </a:p>
        </p:txBody>
      </p:sp>
      <p:sp>
        <p:nvSpPr>
          <p:cNvPr id="30" name="U10-090-cell-6-0">
            <a:extLst xmlns:a="http://schemas.openxmlformats.org/drawingml/2006/main">
              <a:ext uri="{FF2B5EF4-FFF2-40B4-BE49-F238E27FC236}">
                <a16:creationId xmlns:a16="http://schemas.microsoft.com/office/drawing/2014/main" id="{84F30CE9-569D-434E-870B-B76C5D14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8632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31" name="U10-090-cell-text-6-0">
            <a:extLst xmlns:a="http://schemas.openxmlformats.org/drawingml/2006/main">
              <a:ext uri="{FF2B5EF4-FFF2-40B4-BE49-F238E27FC236}">
                <a16:creationId xmlns:a16="http://schemas.microsoft.com/office/drawing/2014/main" id="{96B388A4-2CA0-463C-8B7B-11644934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93395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Exposición/dosis</a:t>
            </a:r>
          </a:p>
        </p:txBody>
      </p:sp>
      <p:sp>
        <p:nvSpPr>
          <p:cNvPr id="32" name="U10-090-cell-6-1">
            <a:extLst xmlns:a="http://schemas.openxmlformats.org/drawingml/2006/main">
              <a:ext uri="{FF2B5EF4-FFF2-40B4-BE49-F238E27FC236}">
                <a16:creationId xmlns:a16="http://schemas.microsoft.com/office/drawing/2014/main" id="{BC6C434D-F6C5-460F-B47E-DBD14EA5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886325"/>
            <a:ext cx="828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33" name="U10-090-cell-text-6-1">
            <a:extLst xmlns:a="http://schemas.openxmlformats.org/drawingml/2006/main">
              <a:ext uri="{FF2B5EF4-FFF2-40B4-BE49-F238E27FC236}">
                <a16:creationId xmlns:a16="http://schemas.microsoft.com/office/drawing/2014/main" id="{85441B7E-69D3-4484-9CDE-4E6CDE64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933950"/>
            <a:ext cx="813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nivel, duración, norma, jurisdicción y regla aplicable</a:t>
            </a:r>
          </a:p>
        </p:txBody>
      </p:sp>
      <p:sp>
        <p:nvSpPr>
          <p:cNvPr id="3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1096C4C-8C95-4BF8-9CCF-01DFD7F8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90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-1">
            <a:extLst xmlns:a="http://schemas.openxmlformats.org/drawingml/2006/main">
              <a:ext uri="{FF2B5EF4-FFF2-40B4-BE49-F238E27FC236}">
                <a16:creationId xmlns:a16="http://schemas.microsoft.com/office/drawing/2014/main" id="{D1E3917E-38D7-42AC-BA9F-DC832674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0C96C647-A236-4FF0-8C66-B90D8F5E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FF4B4676-5594-4A79-B9FD-4B3B4F6E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7B78706C-0385-406E-8F60-A7F8E9EF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91EFAF-91DD-44D0-9893-5E45329E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Técnica clínica completa de enmascaramiento</a:t>
            </a:r>
          </a:p>
        </p:txBody>
      </p:sp>
      <p:sp>
        <p:nvSpPr>
          <p:cNvPr id="6" name="U10-091-conditional-alt" descr="Recurso visual previsto: U10-DG-060, candidata para diagram-generation solo tras validación de fuente; no diseñar aún. ---">
            <a:extLst xmlns:a="http://schemas.openxmlformats.org/drawingml/2006/main">
              <a:ext uri="{FF2B5EF4-FFF2-40B4-BE49-F238E27FC236}">
                <a16:creationId xmlns:a16="http://schemas.microsoft.com/office/drawing/2014/main" id="{5899A396-5581-44D0-81FD-27B3FAF6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3429000"/>
          </a:xfrm>
          <a:prstGeom xmlns:a="http://schemas.openxmlformats.org/drawingml/2006/main" prst="roundRect">
            <a:avLst>
              <a:gd name="adj" fmla="val 194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A641E"/>
            </a:solidFill>
            <a:prstDash val="solid"/>
          </a:ln>
        </p:spPr>
      </p:sp>
      <p:sp>
        <p:nvSpPr>
          <p:cNvPr id="7" name="conditional-title">
            <a:extLst xmlns:a="http://schemas.openxmlformats.org/drawingml/2006/main">
              <a:ext uri="{FF2B5EF4-FFF2-40B4-BE49-F238E27FC236}">
                <a16:creationId xmlns:a16="http://schemas.microsoft.com/office/drawing/2014/main" id="{12544294-F75B-43BA-9E07-7BB85DC7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Límite de alcance clínico</a:t>
            </a:r>
          </a:p>
        </p:txBody>
      </p:sp>
      <p:sp>
        <p:nvSpPr>
          <p:cNvPr id="8" name="conditional-message">
            <a:extLst xmlns:a="http://schemas.openxmlformats.org/drawingml/2006/main">
              <a:ext uri="{FF2B5EF4-FFF2-40B4-BE49-F238E27FC236}">
                <a16:creationId xmlns:a16="http://schemas.microsoft.com/office/drawing/2014/main" id="{6B1B7537-DDD6-4B9E-A25A-3F49CFCD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00375"/>
            <a:ext cx="819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Una técnica completa exige indicaciones, niveles, incrementos, criterio de meseta, detención y control de sobreenmascaramiento definidos por un protocolo validado.</a:t>
            </a:r>
          </a:p>
        </p:txBody>
      </p:sp>
      <p:sp>
        <p:nvSpPr>
          <p:cNvPr id="9" name="conditional-foot">
            <a:extLst xmlns:a="http://schemas.openxmlformats.org/drawingml/2006/main">
              <a:ext uri="{FF2B5EF4-FFF2-40B4-BE49-F238E27FC236}">
                <a16:creationId xmlns:a16="http://schemas.microsoft.com/office/drawing/2014/main" id="{C05D11C6-5CE8-4D2C-95AB-9648E5D0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29125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9A641E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9A641E"/>
                </a:solidFill>
                <a:latin typeface="Calibri"/>
                <a:ea typeface="Calibri"/>
                <a:cs typeface="Calibri"/>
              </a:rPr>
              <a:t>No sustituye el entrenamiento ni el protocolo institucional.</a:t>
            </a:r>
          </a:p>
        </p:txBody>
      </p:sp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5459EDC-DEBF-4BE1-9837-76E93EBE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91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-1">
            <a:extLst xmlns:a="http://schemas.openxmlformats.org/drawingml/2006/main">
              <a:ext uri="{FF2B5EF4-FFF2-40B4-BE49-F238E27FC236}">
                <a16:creationId xmlns:a16="http://schemas.microsoft.com/office/drawing/2014/main" id="{2E59F4AC-BA60-4733-9D01-2AE0AEF2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DF144496-6800-4D5D-9327-4E3BB0B3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8502AE27-41F5-407A-B290-DA31EC4E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5E2ECF8E-8AD7-43BE-911B-CF5B4459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001A27-3453-4A91-B595-B1552981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Límites de exposición o ruido admisible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911F327-E5AA-49D2-9D6F-E999E59C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Material de respaldo · criterios para aplicar un límite</a:t>
            </a:r>
          </a:p>
        </p:txBody>
      </p:sp>
      <p:sp>
        <p:nvSpPr>
          <p:cNvPr id="7" name="U10-092-conditional-alt" descr="Recurso visual previsto: Gráfico o tabla cuantitativa y documentos U10-AS-008 por definir tras validar fuente. ---">
            <a:extLst xmlns:a="http://schemas.openxmlformats.org/drawingml/2006/main">
              <a:ext uri="{FF2B5EF4-FFF2-40B4-BE49-F238E27FC236}">
                <a16:creationId xmlns:a16="http://schemas.microsoft.com/office/drawing/2014/main" id="{C0F8F8E2-9207-4A05-AD4B-1F55DA2B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3429000"/>
          </a:xfrm>
          <a:prstGeom xmlns:a="http://schemas.openxmlformats.org/drawingml/2006/main" prst="roundRect">
            <a:avLst>
              <a:gd name="adj" fmla="val 194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A641E"/>
            </a:solidFill>
            <a:prstDash val="solid"/>
          </a:ln>
        </p:spPr>
      </p:sp>
      <p:sp>
        <p:nvSpPr>
          <p:cNvPr id="8" name="conditional-title">
            <a:extLst xmlns:a="http://schemas.openxmlformats.org/drawingml/2006/main">
              <a:ext uri="{FF2B5EF4-FFF2-40B4-BE49-F238E27FC236}">
                <a16:creationId xmlns:a16="http://schemas.microsoft.com/office/drawing/2014/main" id="{A3C21079-545D-4D98-8CD5-5FE9DA8C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Antes de comparar un límite</a:t>
            </a:r>
          </a:p>
        </p:txBody>
      </p:sp>
      <p:sp>
        <p:nvSpPr>
          <p:cNvPr id="9" name="conditional-message">
            <a:extLst xmlns:a="http://schemas.openxmlformats.org/drawingml/2006/main">
              <a:ext uri="{FF2B5EF4-FFF2-40B4-BE49-F238E27FC236}">
                <a16:creationId xmlns:a16="http://schemas.microsoft.com/office/drawing/2014/main" id="{0655324A-4E80-48AA-AEF8-F6A443EC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00375"/>
            <a:ext cx="819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Primero deben coincidir norma, edición, jurisdicción, población, descriptor, ponderación, intervalo y regla aplicable.</a:t>
            </a:r>
          </a:p>
        </p:txBody>
      </p:sp>
      <p:sp>
        <p:nvSpPr>
          <p:cNvPr id="10" name="conditional-foot">
            <a:extLst xmlns:a="http://schemas.openxmlformats.org/drawingml/2006/main">
              <a:ext uri="{FF2B5EF4-FFF2-40B4-BE49-F238E27FC236}">
                <a16:creationId xmlns:a16="http://schemas.microsoft.com/office/drawing/2014/main" id="{CA0741B7-501D-4A15-8D6A-78E33ABF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29125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9A641E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9A641E"/>
                </a:solidFill>
                <a:latin typeface="Calibri"/>
                <a:ea typeface="Calibri"/>
                <a:cs typeface="Calibri"/>
              </a:rPr>
              <a:t>No fusionar normas o jurisdicciones en una curva única.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E476304-093A-418C-AAC5-0A724EEF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92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ail-1">
            <a:extLst xmlns:a="http://schemas.openxmlformats.org/drawingml/2006/main">
              <a:ext uri="{FF2B5EF4-FFF2-40B4-BE49-F238E27FC236}">
                <a16:creationId xmlns:a16="http://schemas.microsoft.com/office/drawing/2014/main" id="{D8D83DAD-1930-432B-A894-12927011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AC968AC4-3EB2-45FF-8306-F519E21B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7888F34D-54B3-42BC-9305-7785B121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EF4FE512-7721-4122-9E27-7DBA2324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0E06E1-D5F2-4CBA-8E98-9E20600E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Bibliografía y trazabilidad</a:t>
            </a:r>
          </a:p>
        </p:txBody>
      </p:sp>
      <p:sp>
        <p:nvSpPr>
          <p:cNvPr id="6" name="row-0-bg">
            <a:extLst xmlns:a="http://schemas.openxmlformats.org/drawingml/2006/main">
              <a:ext uri="{FF2B5EF4-FFF2-40B4-BE49-F238E27FC236}">
                <a16:creationId xmlns:a16="http://schemas.microsoft.com/office/drawing/2014/main" id="{9B937208-66C9-4D9B-92FE-05389CFA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0287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7" name="row-0">
            <a:extLst xmlns:a="http://schemas.openxmlformats.org/drawingml/2006/main">
              <a:ext uri="{FF2B5EF4-FFF2-40B4-BE49-F238E27FC236}">
                <a16:creationId xmlns:a16="http://schemas.microsoft.com/office/drawing/2014/main" id="{0FEB7A2B-EB32-44A4-AFF8-752CC28B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67640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Fuentes primarias del curso</a:t>
            </a:r>
          </a:p>
        </p:txBody>
      </p:sp>
      <p:sp>
        <p:nvSpPr>
          <p:cNvPr id="8" name="row-1-bg">
            <a:extLst xmlns:a="http://schemas.openxmlformats.org/drawingml/2006/main">
              <a:ext uri="{FF2B5EF4-FFF2-40B4-BE49-F238E27FC236}">
                <a16:creationId xmlns:a16="http://schemas.microsoft.com/office/drawing/2014/main" id="{C7EBD87C-0735-4BF9-AF77-BB8AAA8E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10287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9" name="row-1">
            <a:extLst xmlns:a="http://schemas.openxmlformats.org/drawingml/2006/main">
              <a:ext uri="{FF2B5EF4-FFF2-40B4-BE49-F238E27FC236}">
                <a16:creationId xmlns:a16="http://schemas.microsoft.com/office/drawing/2014/main" id="{FB332603-EEC2-447E-BABC-EDAEFFDD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43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Programa oficial 2025.</a:t>
            </a:r>
          </a:p>
        </p:txBody>
      </p:sp>
      <p:sp>
        <p:nvSpPr>
          <p:cNvPr id="10" name="row-2-bg">
            <a:extLst xmlns:a="http://schemas.openxmlformats.org/drawingml/2006/main">
              <a:ext uri="{FF2B5EF4-FFF2-40B4-BE49-F238E27FC236}">
                <a16:creationId xmlns:a16="http://schemas.microsoft.com/office/drawing/2014/main" id="{D15463BA-38F4-4CE3-AB8E-4BF7F8CC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5125"/>
            <a:ext cx="10287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1" name="row-2">
            <a:extLst xmlns:a="http://schemas.openxmlformats.org/drawingml/2006/main">
              <a:ext uri="{FF2B5EF4-FFF2-40B4-BE49-F238E27FC236}">
                <a16:creationId xmlns:a16="http://schemas.microsoft.com/office/drawing/2014/main" id="{78F4FE73-FD1E-42AD-8A49-1DB5EB50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0990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Libro del curso: capítulo 10, LaTeX y PDF.</a:t>
            </a:r>
          </a:p>
        </p:txBody>
      </p:sp>
      <p:sp>
        <p:nvSpPr>
          <p:cNvPr id="12" name="row-3-bg">
            <a:extLst xmlns:a="http://schemas.openxmlformats.org/drawingml/2006/main">
              <a:ext uri="{FF2B5EF4-FFF2-40B4-BE49-F238E27FC236}">
                <a16:creationId xmlns:a16="http://schemas.microsoft.com/office/drawing/2014/main" id="{D455A799-CDCF-45BA-A7E2-D68A1CE9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71875"/>
            <a:ext cx="10287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3" name="row-3">
            <a:extLst xmlns:a="http://schemas.openxmlformats.org/drawingml/2006/main">
              <a:ext uri="{FF2B5EF4-FFF2-40B4-BE49-F238E27FC236}">
                <a16:creationId xmlns:a16="http://schemas.microsoft.com/office/drawing/2014/main" id="{AB2BE3AA-9C2A-4CEF-A6AD-B5008E27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766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Apoyo transversal</a:t>
            </a:r>
          </a:p>
        </p:txBody>
      </p:sp>
      <p:sp>
        <p:nvSpPr>
          <p:cNvPr id="14" name="row-4-bg">
            <a:extLst xmlns:a="http://schemas.openxmlformats.org/drawingml/2006/main">
              <a:ext uri="{FF2B5EF4-FFF2-40B4-BE49-F238E27FC236}">
                <a16:creationId xmlns:a16="http://schemas.microsoft.com/office/drawing/2014/main" id="{E53A3C5C-FD50-4096-984A-21C5EA87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38625"/>
            <a:ext cx="10287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5" name="row-4">
            <a:extLst xmlns:a="http://schemas.openxmlformats.org/drawingml/2006/main">
              <a:ext uri="{FF2B5EF4-FFF2-40B4-BE49-F238E27FC236}">
                <a16:creationId xmlns:a16="http://schemas.microsoft.com/office/drawing/2014/main" id="{4DB90B4B-3526-4201-8946-4F3E2E97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4340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guías de estilo, notación y glosario;</a:t>
            </a:r>
          </a:p>
        </p:txBody>
      </p:sp>
      <p:sp>
        <p:nvSpPr>
          <p:cNvPr id="16" name="row-5-bg">
            <a:extLst xmlns:a="http://schemas.openxmlformats.org/drawingml/2006/main">
              <a:ext uri="{FF2B5EF4-FFF2-40B4-BE49-F238E27FC236}">
                <a16:creationId xmlns:a16="http://schemas.microsoft.com/office/drawing/2014/main" id="{89668303-432A-4B76-AAA3-93841523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05375"/>
            <a:ext cx="10287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7" name="row-5">
            <a:extLst xmlns:a="http://schemas.openxmlformats.org/drawingml/2006/main">
              <a:ext uri="{FF2B5EF4-FFF2-40B4-BE49-F238E27FC236}">
                <a16:creationId xmlns:a16="http://schemas.microsoft.com/office/drawing/2014/main" id="{0E564509-4A62-4061-ADA0-C34F9DA6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10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unidades 4, 5, 7, 8 y 9 para prerrequisitos.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542302E-F9D5-4BF4-A8C6-121E366B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93</a:t>
            </a:r>
          </a:p>
        </p:txBody>
      </p:sp>
    </p:spTree>
    <p:extLst>
      <p:ext uri="{BB962C8B-B14F-4D97-AF65-F5344CB8AC3E}">
        <p14:creationId xmlns:p14="http://schemas.microsoft.com/office/powerpoint/2010/main" val="235601764"/>
      </p:ext>
    </p:extLst>
  </p:cSld>
</p:sld>
</file>

<file path=ppt/theme/theme1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2026-08-13T01:24:44.2880000Z</dcterms:created>
  <dcterms:modified xsi:type="dcterms:W3CDTF">2026-08-13T01:24:44.2880000Z</dcterms:modified>
</coreProperties>
</file>