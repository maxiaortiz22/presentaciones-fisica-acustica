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857b3bb7744f45" /><Relationship Type="http://schemas.openxmlformats.org/officeDocument/2006/relationships/extended-properties" Target="/docProps/app.xml" Id="Re615f3dd9fec472a" /><Relationship Type="http://schemas.openxmlformats.org/officeDocument/2006/relationships/officeDocument" Target="/ppt/presentation.xml" Id="R903e437e0c3545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bfdc96d40b49d1"/>
    <p:sldMasterId xmlns:r="http://schemas.openxmlformats.org/officeDocument/2006/relationships" id="2147483673" r:id="R5f3ffd4c521341b1"/>
  </p:sldMasterIdLst>
  <p:notesMasterIdLst>
    <p:notesMasterId xmlns:r="http://schemas.openxmlformats.org/officeDocument/2006/relationships" r:id="Rf938dd27d3584285"/>
  </p:notesMasterIdLst>
  <p:sldIdLst>
    <p:sldId xmlns:r="http://schemas.openxmlformats.org/officeDocument/2006/relationships" id="256" r:id="R752e365da83e4570"/>
    <p:sldId xmlns:r="http://schemas.openxmlformats.org/officeDocument/2006/relationships" id="257" r:id="R07f721ab61ba49b0"/>
    <p:sldId xmlns:r="http://schemas.openxmlformats.org/officeDocument/2006/relationships" id="258" r:id="R01a24a436129466b"/>
    <p:sldId xmlns:r="http://schemas.openxmlformats.org/officeDocument/2006/relationships" id="259" r:id="Rb3236983f9954638"/>
    <p:sldId xmlns:r="http://schemas.openxmlformats.org/officeDocument/2006/relationships" id="260" r:id="Re02144640f30438f"/>
    <p:sldId xmlns:r="http://schemas.openxmlformats.org/officeDocument/2006/relationships" id="261" r:id="Rc426cc1ed78543a6"/>
    <p:sldId xmlns:r="http://schemas.openxmlformats.org/officeDocument/2006/relationships" id="262" r:id="R8dc378a768b845f7"/>
    <p:sldId xmlns:r="http://schemas.openxmlformats.org/officeDocument/2006/relationships" id="263" r:id="Re2d4749facf34a39"/>
    <p:sldId xmlns:r="http://schemas.openxmlformats.org/officeDocument/2006/relationships" id="264" r:id="Ree77cf9b6e154315"/>
    <p:sldId xmlns:r="http://schemas.openxmlformats.org/officeDocument/2006/relationships" id="265" r:id="Rcec73b30343c4155"/>
    <p:sldId xmlns:r="http://schemas.openxmlformats.org/officeDocument/2006/relationships" id="266" r:id="Rd258e677d02d48c5"/>
    <p:sldId xmlns:r="http://schemas.openxmlformats.org/officeDocument/2006/relationships" id="267" r:id="R94cb664e5cef4a0c"/>
    <p:sldId xmlns:r="http://schemas.openxmlformats.org/officeDocument/2006/relationships" id="268" r:id="R05bc985130bc4eb4"/>
    <p:sldId xmlns:r="http://schemas.openxmlformats.org/officeDocument/2006/relationships" id="269" r:id="Rdf057f4291ad4c58"/>
    <p:sldId xmlns:r="http://schemas.openxmlformats.org/officeDocument/2006/relationships" id="270" r:id="Rfbf13efae1e0496a"/>
    <p:sldId xmlns:r="http://schemas.openxmlformats.org/officeDocument/2006/relationships" id="271" r:id="R6c380762c0674bf2"/>
    <p:sldId xmlns:r="http://schemas.openxmlformats.org/officeDocument/2006/relationships" id="272" r:id="R4a234d4de1754778"/>
    <p:sldId xmlns:r="http://schemas.openxmlformats.org/officeDocument/2006/relationships" id="273" r:id="Refe651fd4a774231"/>
    <p:sldId xmlns:r="http://schemas.openxmlformats.org/officeDocument/2006/relationships" id="274" r:id="R4d793eba32ff4417"/>
    <p:sldId xmlns:r="http://schemas.openxmlformats.org/officeDocument/2006/relationships" id="275" r:id="R64a98b0d465245f0"/>
    <p:sldId xmlns:r="http://schemas.openxmlformats.org/officeDocument/2006/relationships" id="276" r:id="R1378ae879ecb40dd"/>
    <p:sldId xmlns:r="http://schemas.openxmlformats.org/officeDocument/2006/relationships" id="277" r:id="R91c17500cc9548ba"/>
    <p:sldId xmlns:r="http://schemas.openxmlformats.org/officeDocument/2006/relationships" id="278" r:id="R56d87cd4a2d94149"/>
    <p:sldId xmlns:r="http://schemas.openxmlformats.org/officeDocument/2006/relationships" id="279" r:id="Rc04c8879ef56464a"/>
    <p:sldId xmlns:r="http://schemas.openxmlformats.org/officeDocument/2006/relationships" id="280" r:id="R755066c105e944c3"/>
    <p:sldId xmlns:r="http://schemas.openxmlformats.org/officeDocument/2006/relationships" id="281" r:id="Rebe703c642de4fe6"/>
    <p:sldId xmlns:r="http://schemas.openxmlformats.org/officeDocument/2006/relationships" id="282" r:id="R9aaa117c462d4bcc"/>
    <p:sldId xmlns:r="http://schemas.openxmlformats.org/officeDocument/2006/relationships" id="283" r:id="R47a1f7d2189d49d7"/>
    <p:sldId xmlns:r="http://schemas.openxmlformats.org/officeDocument/2006/relationships" id="284" r:id="R99b30ed3b031442c"/>
    <p:sldId xmlns:r="http://schemas.openxmlformats.org/officeDocument/2006/relationships" id="285" r:id="Rc2cf473a459a4a8e"/>
    <p:sldId xmlns:r="http://schemas.openxmlformats.org/officeDocument/2006/relationships" id="286" r:id="Re19e747133d7441a"/>
    <p:sldId xmlns:r="http://schemas.openxmlformats.org/officeDocument/2006/relationships" id="287" r:id="Re2717553d7384343"/>
    <p:sldId xmlns:r="http://schemas.openxmlformats.org/officeDocument/2006/relationships" id="288" r:id="Ra2bf7fa547e847c7"/>
    <p:sldId xmlns:r="http://schemas.openxmlformats.org/officeDocument/2006/relationships" id="289" r:id="Ra2e33ffcf2404615"/>
    <p:sldId xmlns:r="http://schemas.openxmlformats.org/officeDocument/2006/relationships" id="290" r:id="R241e8d1cb13d4563"/>
    <p:sldId xmlns:r="http://schemas.openxmlformats.org/officeDocument/2006/relationships" id="291" r:id="Raf33674f2b464243"/>
    <p:sldId xmlns:r="http://schemas.openxmlformats.org/officeDocument/2006/relationships" id="292" r:id="Rc4990c985b834224"/>
    <p:sldId xmlns:r="http://schemas.openxmlformats.org/officeDocument/2006/relationships" id="293" r:id="R277471d56b37445d"/>
    <p:sldId xmlns:r="http://schemas.openxmlformats.org/officeDocument/2006/relationships" id="294" r:id="Rcb153541f06b4477"/>
    <p:sldId xmlns:r="http://schemas.openxmlformats.org/officeDocument/2006/relationships" id="295" r:id="R1902ed57868148e9"/>
    <p:sldId xmlns:r="http://schemas.openxmlformats.org/officeDocument/2006/relationships" id="296" r:id="Rb87a878a3900449e"/>
    <p:sldId xmlns:r="http://schemas.openxmlformats.org/officeDocument/2006/relationships" id="297" r:id="Ref865ac1a0a94d87"/>
    <p:sldId xmlns:r="http://schemas.openxmlformats.org/officeDocument/2006/relationships" id="298" r:id="Rd6e20fbf2f734aa1"/>
    <p:sldId xmlns:r="http://schemas.openxmlformats.org/officeDocument/2006/relationships" id="299" r:id="R4c92cef9035742f1"/>
    <p:sldId xmlns:r="http://schemas.openxmlformats.org/officeDocument/2006/relationships" id="300" r:id="R9b4dcd2d8a0f4cb2"/>
    <p:sldId xmlns:r="http://schemas.openxmlformats.org/officeDocument/2006/relationships" id="301" r:id="R3d46d0cba8834399"/>
    <p:sldId xmlns:r="http://schemas.openxmlformats.org/officeDocument/2006/relationships" id="302" r:id="R4dad96e3dbaa4f63"/>
    <p:sldId xmlns:r="http://schemas.openxmlformats.org/officeDocument/2006/relationships" id="303" r:id="R944ae3e65eb449a7"/>
    <p:sldId xmlns:r="http://schemas.openxmlformats.org/officeDocument/2006/relationships" id="304" r:id="R8ad9c036a60b452f"/>
    <p:sldId xmlns:r="http://schemas.openxmlformats.org/officeDocument/2006/relationships" id="305" r:id="R9e25bd7cdb9443ee"/>
    <p:sldId xmlns:r="http://schemas.openxmlformats.org/officeDocument/2006/relationships" id="306" r:id="R8af1add56546433a"/>
    <p:sldId xmlns:r="http://schemas.openxmlformats.org/officeDocument/2006/relationships" id="307" r:id="Red67012cd7694145"/>
    <p:sldId xmlns:r="http://schemas.openxmlformats.org/officeDocument/2006/relationships" id="308" r:id="Raa316c96b8d04bb4"/>
    <p:sldId xmlns:r="http://schemas.openxmlformats.org/officeDocument/2006/relationships" id="309" r:id="Rd37ee10728d044f9"/>
    <p:sldId xmlns:r="http://schemas.openxmlformats.org/officeDocument/2006/relationships" id="310" r:id="R183eb41a79b045a6"/>
    <p:sldId xmlns:r="http://schemas.openxmlformats.org/officeDocument/2006/relationships" id="311" r:id="Rb7470ed00ff740eb"/>
    <p:sldId xmlns:r="http://schemas.openxmlformats.org/officeDocument/2006/relationships" id="312" r:id="R85614367f2b54089"/>
    <p:sldId xmlns:r="http://schemas.openxmlformats.org/officeDocument/2006/relationships" id="313" r:id="R1ea1bf38deda442b"/>
    <p:sldId xmlns:r="http://schemas.openxmlformats.org/officeDocument/2006/relationships" id="314" r:id="Ra2828afcfe444e8e"/>
    <p:sldId xmlns:r="http://schemas.openxmlformats.org/officeDocument/2006/relationships" id="315" r:id="R50d4818e79dd4e02"/>
    <p:sldId xmlns:r="http://schemas.openxmlformats.org/officeDocument/2006/relationships" id="316" r:id="R0a210816c79346ea"/>
    <p:sldId xmlns:r="http://schemas.openxmlformats.org/officeDocument/2006/relationships" id="317" r:id="Rded8863b7f414582"/>
    <p:sldId xmlns:r="http://schemas.openxmlformats.org/officeDocument/2006/relationships" id="318" r:id="R0d33e46587774256"/>
    <p:sldId xmlns:r="http://schemas.openxmlformats.org/officeDocument/2006/relationships" id="319" r:id="R46216b0714d34ee4"/>
    <p:sldId xmlns:r="http://schemas.openxmlformats.org/officeDocument/2006/relationships" id="320" r:id="R40477d09f7e2421e"/>
    <p:sldId xmlns:r="http://schemas.openxmlformats.org/officeDocument/2006/relationships" id="321" r:id="R1f2fc032589e44e9"/>
    <p:sldId xmlns:r="http://schemas.openxmlformats.org/officeDocument/2006/relationships" id="322" r:id="R94f905454052440c"/>
    <p:sldId xmlns:r="http://schemas.openxmlformats.org/officeDocument/2006/relationships" id="323" r:id="R833c11582de84623"/>
    <p:sldId xmlns:r="http://schemas.openxmlformats.org/officeDocument/2006/relationships" id="324" r:id="Rb6a2c791e1fd41b4"/>
    <p:sldId xmlns:r="http://schemas.openxmlformats.org/officeDocument/2006/relationships" id="325" r:id="Rf1f647b182304334"/>
    <p:sldId xmlns:r="http://schemas.openxmlformats.org/officeDocument/2006/relationships" id="326" r:id="R79efcd0d1e984ec0"/>
    <p:sldId xmlns:r="http://schemas.openxmlformats.org/officeDocument/2006/relationships" id="327" r:id="Rc0fa48b7bdd641cc"/>
    <p:sldId xmlns:r="http://schemas.openxmlformats.org/officeDocument/2006/relationships" id="328" r:id="R1edc2b92e9cf47b3"/>
    <p:sldId xmlns:r="http://schemas.openxmlformats.org/officeDocument/2006/relationships" id="329" r:id="R3c174b7316924cb5"/>
    <p:sldId xmlns:r="http://schemas.openxmlformats.org/officeDocument/2006/relationships" id="330" r:id="R1c6851cc904b4d7b"/>
    <p:sldId xmlns:r="http://schemas.openxmlformats.org/officeDocument/2006/relationships" id="331" r:id="R878388f3b1b542e8"/>
    <p:sldId xmlns:r="http://schemas.openxmlformats.org/officeDocument/2006/relationships" id="332" r:id="R6341b6ca16db4bed"/>
    <p:sldId xmlns:r="http://schemas.openxmlformats.org/officeDocument/2006/relationships" id="333" r:id="Rb3d1e017fd3b4e76"/>
    <p:sldId xmlns:r="http://schemas.openxmlformats.org/officeDocument/2006/relationships" id="334" r:id="R5108a94a4d444980"/>
    <p:sldId xmlns:r="http://schemas.openxmlformats.org/officeDocument/2006/relationships" id="335" r:id="R870f5790db0346f3"/>
    <p:sldId xmlns:r="http://schemas.openxmlformats.org/officeDocument/2006/relationships" id="336" r:id="R1e8204432472440d"/>
    <p:sldId xmlns:r="http://schemas.openxmlformats.org/officeDocument/2006/relationships" id="337" r:id="R1ddde53ecef84b7a"/>
    <p:sldId xmlns:r="http://schemas.openxmlformats.org/officeDocument/2006/relationships" id="338" r:id="R0a57850f8db54c75"/>
    <p:sldId xmlns:r="http://schemas.openxmlformats.org/officeDocument/2006/relationships" id="339" r:id="R34d18578b1674c35"/>
    <p:sldId xmlns:r="http://schemas.openxmlformats.org/officeDocument/2006/relationships" id="340" r:id="Rea6eb78e952a4210"/>
    <p:sldId xmlns:r="http://schemas.openxmlformats.org/officeDocument/2006/relationships" id="341" r:id="Rf5e728f9cb134f5e"/>
    <p:sldId xmlns:r="http://schemas.openxmlformats.org/officeDocument/2006/relationships" id="342" r:id="R602aab2862ec4bc4"/>
    <p:sldId xmlns:r="http://schemas.openxmlformats.org/officeDocument/2006/relationships" id="343" r:id="Rcaefc4630f12402e"/>
    <p:sldId xmlns:r="http://schemas.openxmlformats.org/officeDocument/2006/relationships" id="344" r:id="R2168efefb6b64eef"/>
    <p:sldId xmlns:r="http://schemas.openxmlformats.org/officeDocument/2006/relationships" id="345" r:id="R98cfc6999f9345fd"/>
    <p:sldId xmlns:r="http://schemas.openxmlformats.org/officeDocument/2006/relationships" id="346" r:id="Rd9a2838d7f644952"/>
    <p:sldId xmlns:r="http://schemas.openxmlformats.org/officeDocument/2006/relationships" id="347" r:id="R473dfe6d3b664f49"/>
    <p:sldId xmlns:r="http://schemas.openxmlformats.org/officeDocument/2006/relationships" id="348" r:id="R5c80166357a24b36"/>
    <p:sldId xmlns:r="http://schemas.openxmlformats.org/officeDocument/2006/relationships" id="349" r:id="Rdddf6428287e44dc"/>
    <p:sldId xmlns:r="http://schemas.openxmlformats.org/officeDocument/2006/relationships" id="350" r:id="R0fa259a03ee14528"/>
    <p:sldId xmlns:r="http://schemas.openxmlformats.org/officeDocument/2006/relationships" id="351" r:id="R198a0012baed4e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5161a3a7f046c6" /><Relationship Type="http://schemas.openxmlformats.org/officeDocument/2006/relationships/slideMaster" Target="/ppt/slideMasters/slideMaster1.xml" Id="Re8bfdc96d40b49d1" /><Relationship Type="http://schemas.openxmlformats.org/officeDocument/2006/relationships/slideMaster" Target="/ppt/slideMasters/slideMaster2.xml" Id="R5f3ffd4c521341b1" /><Relationship Type="http://schemas.openxmlformats.org/officeDocument/2006/relationships/notesMaster" Target="/ppt/notesMasters/notesMaster1.xml" Id="Rf938dd27d3584285" /><Relationship Type="http://schemas.openxmlformats.org/officeDocument/2006/relationships/presProps" Target="/ppt/presProps.xml" Id="R83f82989d62943df" /><Relationship Type="http://schemas.openxmlformats.org/officeDocument/2006/relationships/viewProps" Target="/ppt/viewProps.xml" Id="R9a63a1c6bb2348e7" /><Relationship Type="http://schemas.openxmlformats.org/officeDocument/2006/relationships/tableStyles" Target="/ppt/tableStyles.xml" Id="Rffcf3504cc8246ce" /><Relationship Type="http://schemas.openxmlformats.org/officeDocument/2006/relationships/slide" Target="/ppt/slides/slide1.xml" Id="R752e365da83e4570" /><Relationship Type="http://schemas.openxmlformats.org/officeDocument/2006/relationships/slide" Target="/ppt/slides/slide2.xml" Id="R07f721ab61ba49b0" /><Relationship Type="http://schemas.openxmlformats.org/officeDocument/2006/relationships/slide" Target="/ppt/slides/slide3.xml" Id="R01a24a436129466b" /><Relationship Type="http://schemas.openxmlformats.org/officeDocument/2006/relationships/slide" Target="/ppt/slides/slide4.xml" Id="Rb3236983f9954638" /><Relationship Type="http://schemas.openxmlformats.org/officeDocument/2006/relationships/slide" Target="/ppt/slides/slide5.xml" Id="Re02144640f30438f" /><Relationship Type="http://schemas.openxmlformats.org/officeDocument/2006/relationships/slide" Target="/ppt/slides/slide6.xml" Id="Rc426cc1ed78543a6" /><Relationship Type="http://schemas.openxmlformats.org/officeDocument/2006/relationships/slide" Target="/ppt/slides/slide7.xml" Id="R8dc378a768b845f7" /><Relationship Type="http://schemas.openxmlformats.org/officeDocument/2006/relationships/slide" Target="/ppt/slides/slide8.xml" Id="Re2d4749facf34a39" /><Relationship Type="http://schemas.openxmlformats.org/officeDocument/2006/relationships/slide" Target="/ppt/slides/slide9.xml" Id="Ree77cf9b6e154315" /><Relationship Type="http://schemas.openxmlformats.org/officeDocument/2006/relationships/slide" Target="/ppt/slides/slide10.xml" Id="Rcec73b30343c4155" /><Relationship Type="http://schemas.openxmlformats.org/officeDocument/2006/relationships/slide" Target="/ppt/slides/slide11.xml" Id="Rd258e677d02d48c5" /><Relationship Type="http://schemas.openxmlformats.org/officeDocument/2006/relationships/slide" Target="/ppt/slides/slide12.xml" Id="R94cb664e5cef4a0c" /><Relationship Type="http://schemas.openxmlformats.org/officeDocument/2006/relationships/slide" Target="/ppt/slides/slide13.xml" Id="R05bc985130bc4eb4" /><Relationship Type="http://schemas.openxmlformats.org/officeDocument/2006/relationships/slide" Target="/ppt/slides/slide14.xml" Id="Rdf057f4291ad4c58" /><Relationship Type="http://schemas.openxmlformats.org/officeDocument/2006/relationships/slide" Target="/ppt/slides/slide15.xml" Id="Rfbf13efae1e0496a" /><Relationship Type="http://schemas.openxmlformats.org/officeDocument/2006/relationships/slide" Target="/ppt/slides/slide16.xml" Id="R6c380762c0674bf2" /><Relationship Type="http://schemas.openxmlformats.org/officeDocument/2006/relationships/slide" Target="/ppt/slides/slide17.xml" Id="R4a234d4de1754778" /><Relationship Type="http://schemas.openxmlformats.org/officeDocument/2006/relationships/slide" Target="/ppt/slides/slide18.xml" Id="Refe651fd4a774231" /><Relationship Type="http://schemas.openxmlformats.org/officeDocument/2006/relationships/slide" Target="/ppt/slides/slide19.xml" Id="R4d793eba32ff4417" /><Relationship Type="http://schemas.openxmlformats.org/officeDocument/2006/relationships/slide" Target="/ppt/slides/slide20.xml" Id="R64a98b0d465245f0" /><Relationship Type="http://schemas.openxmlformats.org/officeDocument/2006/relationships/slide" Target="/ppt/slides/slide21.xml" Id="R1378ae879ecb40dd" /><Relationship Type="http://schemas.openxmlformats.org/officeDocument/2006/relationships/slide" Target="/ppt/slides/slide22.xml" Id="R91c17500cc9548ba" /><Relationship Type="http://schemas.openxmlformats.org/officeDocument/2006/relationships/slide" Target="/ppt/slides/slide23.xml" Id="R56d87cd4a2d94149" /><Relationship Type="http://schemas.openxmlformats.org/officeDocument/2006/relationships/slide" Target="/ppt/slides/slide24.xml" Id="Rc04c8879ef56464a" /><Relationship Type="http://schemas.openxmlformats.org/officeDocument/2006/relationships/slide" Target="/ppt/slides/slide25.xml" Id="R755066c105e944c3" /><Relationship Type="http://schemas.openxmlformats.org/officeDocument/2006/relationships/slide" Target="/ppt/slides/slide26.xml" Id="Rebe703c642de4fe6" /><Relationship Type="http://schemas.openxmlformats.org/officeDocument/2006/relationships/slide" Target="/ppt/slides/slide27.xml" Id="R9aaa117c462d4bcc" /><Relationship Type="http://schemas.openxmlformats.org/officeDocument/2006/relationships/slide" Target="/ppt/slides/slide28.xml" Id="R47a1f7d2189d49d7" /><Relationship Type="http://schemas.openxmlformats.org/officeDocument/2006/relationships/slide" Target="/ppt/slides/slide29.xml" Id="R99b30ed3b031442c" /><Relationship Type="http://schemas.openxmlformats.org/officeDocument/2006/relationships/slide" Target="/ppt/slides/slide30.xml" Id="Rc2cf473a459a4a8e" /><Relationship Type="http://schemas.openxmlformats.org/officeDocument/2006/relationships/slide" Target="/ppt/slides/slide31.xml" Id="Re19e747133d7441a" /><Relationship Type="http://schemas.openxmlformats.org/officeDocument/2006/relationships/slide" Target="/ppt/slides/slide32.xml" Id="Re2717553d7384343" /><Relationship Type="http://schemas.openxmlformats.org/officeDocument/2006/relationships/slide" Target="/ppt/slides/slide33.xml" Id="Ra2bf7fa547e847c7" /><Relationship Type="http://schemas.openxmlformats.org/officeDocument/2006/relationships/slide" Target="/ppt/slides/slide34.xml" Id="Ra2e33ffcf2404615" /><Relationship Type="http://schemas.openxmlformats.org/officeDocument/2006/relationships/slide" Target="/ppt/slides/slide35.xml" Id="R241e8d1cb13d4563" /><Relationship Type="http://schemas.openxmlformats.org/officeDocument/2006/relationships/slide" Target="/ppt/slides/slide36.xml" Id="Raf33674f2b464243" /><Relationship Type="http://schemas.openxmlformats.org/officeDocument/2006/relationships/slide" Target="/ppt/slides/slide37.xml" Id="Rc4990c985b834224" /><Relationship Type="http://schemas.openxmlformats.org/officeDocument/2006/relationships/slide" Target="/ppt/slides/slide38.xml" Id="R277471d56b37445d" /><Relationship Type="http://schemas.openxmlformats.org/officeDocument/2006/relationships/slide" Target="/ppt/slides/slide39.xml" Id="Rcb153541f06b4477" /><Relationship Type="http://schemas.openxmlformats.org/officeDocument/2006/relationships/slide" Target="/ppt/slides/slide40.xml" Id="R1902ed57868148e9" /><Relationship Type="http://schemas.openxmlformats.org/officeDocument/2006/relationships/slide" Target="/ppt/slides/slide41.xml" Id="Rb87a878a3900449e" /><Relationship Type="http://schemas.openxmlformats.org/officeDocument/2006/relationships/slide" Target="/ppt/slides/slide42.xml" Id="Ref865ac1a0a94d87" /><Relationship Type="http://schemas.openxmlformats.org/officeDocument/2006/relationships/slide" Target="/ppt/slides/slide43.xml" Id="Rd6e20fbf2f734aa1" /><Relationship Type="http://schemas.openxmlformats.org/officeDocument/2006/relationships/slide" Target="/ppt/slides/slide44.xml" Id="R4c92cef9035742f1" /><Relationship Type="http://schemas.openxmlformats.org/officeDocument/2006/relationships/slide" Target="/ppt/slides/slide45.xml" Id="R9b4dcd2d8a0f4cb2" /><Relationship Type="http://schemas.openxmlformats.org/officeDocument/2006/relationships/slide" Target="/ppt/slides/slide46.xml" Id="R3d46d0cba8834399" /><Relationship Type="http://schemas.openxmlformats.org/officeDocument/2006/relationships/slide" Target="/ppt/slides/slide47.xml" Id="R4dad96e3dbaa4f63" /><Relationship Type="http://schemas.openxmlformats.org/officeDocument/2006/relationships/slide" Target="/ppt/slides/slide48.xml" Id="R944ae3e65eb449a7" /><Relationship Type="http://schemas.openxmlformats.org/officeDocument/2006/relationships/slide" Target="/ppt/slides/slide49.xml" Id="R8ad9c036a60b452f" /><Relationship Type="http://schemas.openxmlformats.org/officeDocument/2006/relationships/slide" Target="/ppt/slides/slide50.xml" Id="R9e25bd7cdb9443ee" /><Relationship Type="http://schemas.openxmlformats.org/officeDocument/2006/relationships/slide" Target="/ppt/slides/slide51.xml" Id="R8af1add56546433a" /><Relationship Type="http://schemas.openxmlformats.org/officeDocument/2006/relationships/slide" Target="/ppt/slides/slide52.xml" Id="Red67012cd7694145" /><Relationship Type="http://schemas.openxmlformats.org/officeDocument/2006/relationships/slide" Target="/ppt/slides/slide53.xml" Id="Raa316c96b8d04bb4" /><Relationship Type="http://schemas.openxmlformats.org/officeDocument/2006/relationships/slide" Target="/ppt/slides/slide54.xml" Id="Rd37ee10728d044f9" /><Relationship Type="http://schemas.openxmlformats.org/officeDocument/2006/relationships/slide" Target="/ppt/slides/slide55.xml" Id="R183eb41a79b045a6" /><Relationship Type="http://schemas.openxmlformats.org/officeDocument/2006/relationships/slide" Target="/ppt/slides/slide56.xml" Id="Rb7470ed00ff740eb" /><Relationship Type="http://schemas.openxmlformats.org/officeDocument/2006/relationships/slide" Target="/ppt/slides/slide57.xml" Id="R85614367f2b54089" /><Relationship Type="http://schemas.openxmlformats.org/officeDocument/2006/relationships/slide" Target="/ppt/slides/slide58.xml" Id="R1ea1bf38deda442b" /><Relationship Type="http://schemas.openxmlformats.org/officeDocument/2006/relationships/slide" Target="/ppt/slides/slide59.xml" Id="Ra2828afcfe444e8e" /><Relationship Type="http://schemas.openxmlformats.org/officeDocument/2006/relationships/slide" Target="/ppt/slides/slide60.xml" Id="R50d4818e79dd4e02" /><Relationship Type="http://schemas.openxmlformats.org/officeDocument/2006/relationships/slide" Target="/ppt/slides/slide61.xml" Id="R0a210816c79346ea" /><Relationship Type="http://schemas.openxmlformats.org/officeDocument/2006/relationships/slide" Target="/ppt/slides/slide62.xml" Id="Rded8863b7f414582" /><Relationship Type="http://schemas.openxmlformats.org/officeDocument/2006/relationships/slide" Target="/ppt/slides/slide63.xml" Id="R0d33e46587774256" /><Relationship Type="http://schemas.openxmlformats.org/officeDocument/2006/relationships/slide" Target="/ppt/slides/slide64.xml" Id="R46216b0714d34ee4" /><Relationship Type="http://schemas.openxmlformats.org/officeDocument/2006/relationships/slide" Target="/ppt/slides/slide65.xml" Id="R40477d09f7e2421e" /><Relationship Type="http://schemas.openxmlformats.org/officeDocument/2006/relationships/slide" Target="/ppt/slides/slide66.xml" Id="R1f2fc032589e44e9" /><Relationship Type="http://schemas.openxmlformats.org/officeDocument/2006/relationships/slide" Target="/ppt/slides/slide67.xml" Id="R94f905454052440c" /><Relationship Type="http://schemas.openxmlformats.org/officeDocument/2006/relationships/slide" Target="/ppt/slides/slide68.xml" Id="R833c11582de84623" /><Relationship Type="http://schemas.openxmlformats.org/officeDocument/2006/relationships/slide" Target="/ppt/slides/slide69.xml" Id="Rb6a2c791e1fd41b4" /><Relationship Type="http://schemas.openxmlformats.org/officeDocument/2006/relationships/slide" Target="/ppt/slides/slide70.xml" Id="Rf1f647b182304334" /><Relationship Type="http://schemas.openxmlformats.org/officeDocument/2006/relationships/slide" Target="/ppt/slides/slide71.xml" Id="R79efcd0d1e984ec0" /><Relationship Type="http://schemas.openxmlformats.org/officeDocument/2006/relationships/slide" Target="/ppt/slides/slide72.xml" Id="Rc0fa48b7bdd641cc" /><Relationship Type="http://schemas.openxmlformats.org/officeDocument/2006/relationships/slide" Target="/ppt/slides/slide73.xml" Id="R1edc2b92e9cf47b3" /><Relationship Type="http://schemas.openxmlformats.org/officeDocument/2006/relationships/slide" Target="/ppt/slides/slide74.xml" Id="R3c174b7316924cb5" /><Relationship Type="http://schemas.openxmlformats.org/officeDocument/2006/relationships/slide" Target="/ppt/slides/slide75.xml" Id="R1c6851cc904b4d7b" /><Relationship Type="http://schemas.openxmlformats.org/officeDocument/2006/relationships/slide" Target="/ppt/slides/slide76.xml" Id="R878388f3b1b542e8" /><Relationship Type="http://schemas.openxmlformats.org/officeDocument/2006/relationships/slide" Target="/ppt/slides/slide77.xml" Id="R6341b6ca16db4bed" /><Relationship Type="http://schemas.openxmlformats.org/officeDocument/2006/relationships/slide" Target="/ppt/slides/slide78.xml" Id="Rb3d1e017fd3b4e76" /><Relationship Type="http://schemas.openxmlformats.org/officeDocument/2006/relationships/slide" Target="/ppt/slides/slide79.xml" Id="R5108a94a4d444980" /><Relationship Type="http://schemas.openxmlformats.org/officeDocument/2006/relationships/slide" Target="/ppt/slides/slide80.xml" Id="R870f5790db0346f3" /><Relationship Type="http://schemas.openxmlformats.org/officeDocument/2006/relationships/slide" Target="/ppt/slides/slide81.xml" Id="R1e8204432472440d" /><Relationship Type="http://schemas.openxmlformats.org/officeDocument/2006/relationships/slide" Target="/ppt/slides/slide82.xml" Id="R1ddde53ecef84b7a" /><Relationship Type="http://schemas.openxmlformats.org/officeDocument/2006/relationships/slide" Target="/ppt/slides/slide83.xml" Id="R0a57850f8db54c75" /><Relationship Type="http://schemas.openxmlformats.org/officeDocument/2006/relationships/slide" Target="/ppt/slides/slide84.xml" Id="R34d18578b1674c35" /><Relationship Type="http://schemas.openxmlformats.org/officeDocument/2006/relationships/slide" Target="/ppt/slides/slide85.xml" Id="Rea6eb78e952a4210" /><Relationship Type="http://schemas.openxmlformats.org/officeDocument/2006/relationships/slide" Target="/ppt/slides/slide86.xml" Id="Rf5e728f9cb134f5e" /><Relationship Type="http://schemas.openxmlformats.org/officeDocument/2006/relationships/slide" Target="/ppt/slides/slide87.xml" Id="R602aab2862ec4bc4" /><Relationship Type="http://schemas.openxmlformats.org/officeDocument/2006/relationships/slide" Target="/ppt/slides/slide88.xml" Id="Rcaefc4630f12402e" /><Relationship Type="http://schemas.openxmlformats.org/officeDocument/2006/relationships/slide" Target="/ppt/slides/slide89.xml" Id="R2168efefb6b64eef" /><Relationship Type="http://schemas.openxmlformats.org/officeDocument/2006/relationships/slide" Target="/ppt/slides/slide90.xml" Id="R98cfc6999f9345fd" /><Relationship Type="http://schemas.openxmlformats.org/officeDocument/2006/relationships/slide" Target="/ppt/slides/slide91.xml" Id="Rd9a2838d7f644952" /><Relationship Type="http://schemas.openxmlformats.org/officeDocument/2006/relationships/slide" Target="/ppt/slides/slide92.xml" Id="R473dfe6d3b664f49" /><Relationship Type="http://schemas.openxmlformats.org/officeDocument/2006/relationships/slide" Target="/ppt/slides/slide93.xml" Id="R5c80166357a24b36" /><Relationship Type="http://schemas.openxmlformats.org/officeDocument/2006/relationships/slide" Target="/ppt/slides/slide94.xml" Id="Rdddf6428287e44dc" /><Relationship Type="http://schemas.openxmlformats.org/officeDocument/2006/relationships/slide" Target="/ppt/slides/slide95.xml" Id="R0fa259a03ee14528" /><Relationship Type="http://schemas.openxmlformats.org/officeDocument/2006/relationships/slide" Target="/ppt/slides/slide96.xml" Id="R198a0012baed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a25b4b2db5846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920322fac24f15" /><Relationship Type="http://schemas.openxmlformats.org/officeDocument/2006/relationships/notesMaster" Target="/ppt/notesMasters/notesMaster1.xml" Id="Rc2657ed5503a4d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0826117c7d440b" /><Relationship Type="http://schemas.openxmlformats.org/officeDocument/2006/relationships/notesMaster" Target="/ppt/notesMasters/notesMaster1.xml" Id="Rabb8001855764c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7991d055054543" /><Relationship Type="http://schemas.openxmlformats.org/officeDocument/2006/relationships/notesMaster" Target="/ppt/notesMasters/notesMaster1.xml" Id="Rc9ab03838ada4b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09b0a073954855" /><Relationship Type="http://schemas.openxmlformats.org/officeDocument/2006/relationships/notesMaster" Target="/ppt/notesMasters/notesMaster1.xml" Id="R5adba524e02045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d342e438fc4e83" /><Relationship Type="http://schemas.openxmlformats.org/officeDocument/2006/relationships/notesMaster" Target="/ppt/notesMasters/notesMaster1.xml" Id="Ref9682f296214b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0cfa824f154051" /><Relationship Type="http://schemas.openxmlformats.org/officeDocument/2006/relationships/notesMaster" Target="/ppt/notesMasters/notesMaster1.xml" Id="R3904e08da9c64a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c621b27e064146" /><Relationship Type="http://schemas.openxmlformats.org/officeDocument/2006/relationships/notesMaster" Target="/ppt/notesMasters/notesMaster1.xml" Id="R831f972760964f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22ff42d83a4f57" /><Relationship Type="http://schemas.openxmlformats.org/officeDocument/2006/relationships/notesMaster" Target="/ppt/notesMasters/notesMaster1.xml" Id="R76554370de2949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f903093be84430" /><Relationship Type="http://schemas.openxmlformats.org/officeDocument/2006/relationships/notesMaster" Target="/ppt/notesMasters/notesMaster1.xml" Id="R335c846ba25748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b9612a32204367" /><Relationship Type="http://schemas.openxmlformats.org/officeDocument/2006/relationships/notesMaster" Target="/ppt/notesMasters/notesMaster1.xml" Id="Rae8291e1843e47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cdcbd91a7d4f51" /><Relationship Type="http://schemas.openxmlformats.org/officeDocument/2006/relationships/notesMaster" Target="/ppt/notesMasters/notesMaster1.xml" Id="R2357ae93b19d49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b32a1e0a464d6b" /><Relationship Type="http://schemas.openxmlformats.org/officeDocument/2006/relationships/notesMaster" Target="/ppt/notesMasters/notesMaster1.xml" Id="R86844f2ee5d147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c42bc34d3c4a7b" /><Relationship Type="http://schemas.openxmlformats.org/officeDocument/2006/relationships/notesMaster" Target="/ppt/notesMasters/notesMaster1.xml" Id="Rff38ce11d91545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eda79e60b64e7c" /><Relationship Type="http://schemas.openxmlformats.org/officeDocument/2006/relationships/notesMaster" Target="/ppt/notesMasters/notesMaster1.xml" Id="Rb799f4c43d2f45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2c4e72ffec42c5" /><Relationship Type="http://schemas.openxmlformats.org/officeDocument/2006/relationships/notesMaster" Target="/ppt/notesMasters/notesMaster1.xml" Id="Rf0a006c7339c46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bf896167e547ce" /><Relationship Type="http://schemas.openxmlformats.org/officeDocument/2006/relationships/notesMaster" Target="/ppt/notesMasters/notesMaster1.xml" Id="R9e1d9c3e7c8a41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c93bc6feee43e2" /><Relationship Type="http://schemas.openxmlformats.org/officeDocument/2006/relationships/notesMaster" Target="/ppt/notesMasters/notesMaster1.xml" Id="R320d9c20e44842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5cd695839c4230" /><Relationship Type="http://schemas.openxmlformats.org/officeDocument/2006/relationships/notesMaster" Target="/ppt/notesMasters/notesMaster1.xml" Id="Rda09735b47ba47f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ed83afc1be4d6d" /><Relationship Type="http://schemas.openxmlformats.org/officeDocument/2006/relationships/notesMaster" Target="/ppt/notesMasters/notesMaster1.xml" Id="R6a82f91776cb45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fcf7d5907f4cf9" /><Relationship Type="http://schemas.openxmlformats.org/officeDocument/2006/relationships/notesMaster" Target="/ppt/notesMasters/notesMaster1.xml" Id="Rf7d1c6cccc984dd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183e1a2b3394d12" /><Relationship Type="http://schemas.openxmlformats.org/officeDocument/2006/relationships/notesMaster" Target="/ppt/notesMasters/notesMaster1.xml" Id="R99950bcfff9348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9184d7ebeec4418" /><Relationship Type="http://schemas.openxmlformats.org/officeDocument/2006/relationships/notesMaster" Target="/ppt/notesMasters/notesMaster1.xml" Id="R1a95d4e0ac9d4db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f6681a32f344a65" /><Relationship Type="http://schemas.openxmlformats.org/officeDocument/2006/relationships/notesMaster" Target="/ppt/notesMasters/notesMaster1.xml" Id="Raca4a0470b924a8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f665c96789c48ce" /><Relationship Type="http://schemas.openxmlformats.org/officeDocument/2006/relationships/notesMaster" Target="/ppt/notesMasters/notesMaster1.xml" Id="Rdfe34073bcf54ad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1b388c4b65a4785" /><Relationship Type="http://schemas.openxmlformats.org/officeDocument/2006/relationships/notesMaster" Target="/ppt/notesMasters/notesMaster1.xml" Id="Rc00bd124e37e425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3d702bdc8b4001" /><Relationship Type="http://schemas.openxmlformats.org/officeDocument/2006/relationships/notesMaster" Target="/ppt/notesMasters/notesMaster1.xml" Id="R574bc7b337a94e4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2129fe7959f476a" /><Relationship Type="http://schemas.openxmlformats.org/officeDocument/2006/relationships/notesMaster" Target="/ppt/notesMasters/notesMaster1.xml" Id="Rb5f05a2d6e2e42d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9a62b3e1e7748be" /><Relationship Type="http://schemas.openxmlformats.org/officeDocument/2006/relationships/notesMaster" Target="/ppt/notesMasters/notesMaster1.xml" Id="R16140767d04b4cd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79e0b14cca044db" /><Relationship Type="http://schemas.openxmlformats.org/officeDocument/2006/relationships/notesMaster" Target="/ppt/notesMasters/notesMaster1.xml" Id="Rc6912acee712482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770590a0d6e4431" /><Relationship Type="http://schemas.openxmlformats.org/officeDocument/2006/relationships/notesMaster" Target="/ppt/notesMasters/notesMaster1.xml" Id="Rfe535b027144430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7aae0a0d61549c9" /><Relationship Type="http://schemas.openxmlformats.org/officeDocument/2006/relationships/notesMaster" Target="/ppt/notesMasters/notesMaster1.xml" Id="Rda024d1784a144d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45ab2bddbf943d0" /><Relationship Type="http://schemas.openxmlformats.org/officeDocument/2006/relationships/notesMaster" Target="/ppt/notesMasters/notesMaster1.xml" Id="Rc91ec07f10864cf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af3c605d1bb4737" /><Relationship Type="http://schemas.openxmlformats.org/officeDocument/2006/relationships/notesMaster" Target="/ppt/notesMasters/notesMaster1.xml" Id="Rde99018f638345f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cab259051834364" /><Relationship Type="http://schemas.openxmlformats.org/officeDocument/2006/relationships/notesMaster" Target="/ppt/notesMasters/notesMaster1.xml" Id="Rf8e1d04004734c4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23cb56624f94f9e" /><Relationship Type="http://schemas.openxmlformats.org/officeDocument/2006/relationships/notesMaster" Target="/ppt/notesMasters/notesMaster1.xml" Id="R00b9d154a74a49f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4d497c5990f491a" /><Relationship Type="http://schemas.openxmlformats.org/officeDocument/2006/relationships/notesMaster" Target="/ppt/notesMasters/notesMaster1.xml" Id="R31f023d87f81479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02a3508739e4bb2" /><Relationship Type="http://schemas.openxmlformats.org/officeDocument/2006/relationships/notesMaster" Target="/ppt/notesMasters/notesMaster1.xml" Id="R5fca084ccc7d405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1500c2eaed54522" /><Relationship Type="http://schemas.openxmlformats.org/officeDocument/2006/relationships/notesMaster" Target="/ppt/notesMasters/notesMaster1.xml" Id="R12d541a48e55413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cd218ca887c4c7b" /><Relationship Type="http://schemas.openxmlformats.org/officeDocument/2006/relationships/notesMaster" Target="/ppt/notesMasters/notesMaster1.xml" Id="R8d24026a6cae44f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dfaf86625f14e65" /><Relationship Type="http://schemas.openxmlformats.org/officeDocument/2006/relationships/notesMaster" Target="/ppt/notesMasters/notesMaster1.xml" Id="R09e0ab591eae458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638dac719e24103" /><Relationship Type="http://schemas.openxmlformats.org/officeDocument/2006/relationships/notesMaster" Target="/ppt/notesMasters/notesMaster1.xml" Id="Rc27443ed2bad400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a2238f6884b4e28" /><Relationship Type="http://schemas.openxmlformats.org/officeDocument/2006/relationships/notesMaster" Target="/ppt/notesMasters/notesMaster1.xml" Id="R8610b29a6885482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e60055a910e4345" /><Relationship Type="http://schemas.openxmlformats.org/officeDocument/2006/relationships/notesMaster" Target="/ppt/notesMasters/notesMaster1.xml" Id="R2e1440f7e055486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69f55b2d30642e1" /><Relationship Type="http://schemas.openxmlformats.org/officeDocument/2006/relationships/notesMaster" Target="/ppt/notesMasters/notesMaster1.xml" Id="R13eab0de5a8441f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4812d4180384c6e" /><Relationship Type="http://schemas.openxmlformats.org/officeDocument/2006/relationships/notesMaster" Target="/ppt/notesMasters/notesMaster1.xml" Id="Rc318f9d442084ca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5a899b99c3d44c3" /><Relationship Type="http://schemas.openxmlformats.org/officeDocument/2006/relationships/notesMaster" Target="/ppt/notesMasters/notesMaster1.xml" Id="R706324b8eaf0476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019eeab795346a4" /><Relationship Type="http://schemas.openxmlformats.org/officeDocument/2006/relationships/notesMaster" Target="/ppt/notesMasters/notesMaster1.xml" Id="R2c700756e64f4e4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7a33ffb73f0455b" /><Relationship Type="http://schemas.openxmlformats.org/officeDocument/2006/relationships/notesMaster" Target="/ppt/notesMasters/notesMaster1.xml" Id="R7185de50fab24d1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c01109987f042db" /><Relationship Type="http://schemas.openxmlformats.org/officeDocument/2006/relationships/notesMaster" Target="/ppt/notesMasters/notesMaster1.xml" Id="Re4d46fa06cc140c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ac4ea420b2e4a92" /><Relationship Type="http://schemas.openxmlformats.org/officeDocument/2006/relationships/notesMaster" Target="/ppt/notesMasters/notesMaster1.xml" Id="R68cc265949cd47b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50ddde6d99f4a68" /><Relationship Type="http://schemas.openxmlformats.org/officeDocument/2006/relationships/notesMaster" Target="/ppt/notesMasters/notesMaster1.xml" Id="Ra4d7ce23f0ee459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1e9cd7db2f145e6" /><Relationship Type="http://schemas.openxmlformats.org/officeDocument/2006/relationships/notesMaster" Target="/ppt/notesMasters/notesMaster1.xml" Id="R54a4b961c15f4e2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c55d8da6c4e44fa" /><Relationship Type="http://schemas.openxmlformats.org/officeDocument/2006/relationships/notesMaster" Target="/ppt/notesMasters/notesMaster1.xml" Id="Rd12dd46bb8174b1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b8b6b9e17b54963" /><Relationship Type="http://schemas.openxmlformats.org/officeDocument/2006/relationships/notesMaster" Target="/ppt/notesMasters/notesMaster1.xml" Id="R344651ac60b3480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f928f70b63c4ddb" /><Relationship Type="http://schemas.openxmlformats.org/officeDocument/2006/relationships/notesMaster" Target="/ppt/notesMasters/notesMaster1.xml" Id="R43176f3615cb49b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27d54c49fc2423f" /><Relationship Type="http://schemas.openxmlformats.org/officeDocument/2006/relationships/notesMaster" Target="/ppt/notesMasters/notesMaster1.xml" Id="R1def17b3609c46d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217d084ef314056" /><Relationship Type="http://schemas.openxmlformats.org/officeDocument/2006/relationships/notesMaster" Target="/ppt/notesMasters/notesMaster1.xml" Id="R9f4adb30f4234ea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ad0bc91a01844b1" /><Relationship Type="http://schemas.openxmlformats.org/officeDocument/2006/relationships/notesMaster" Target="/ppt/notesMasters/notesMaster1.xml" Id="Rb76fbfa57acf476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fe434789a544434" /><Relationship Type="http://schemas.openxmlformats.org/officeDocument/2006/relationships/notesMaster" Target="/ppt/notesMasters/notesMaster1.xml" Id="Rbe2281a9a6fe42b6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be1f4cec95047f9" /><Relationship Type="http://schemas.openxmlformats.org/officeDocument/2006/relationships/notesMaster" Target="/ppt/notesMasters/notesMaster1.xml" Id="R0ef3f4f4de574455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9193f4d1cb846db" /><Relationship Type="http://schemas.openxmlformats.org/officeDocument/2006/relationships/notesMaster" Target="/ppt/notesMasters/notesMaster1.xml" Id="Rc1084b9966124bb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dfb537163834f51" /><Relationship Type="http://schemas.openxmlformats.org/officeDocument/2006/relationships/notesMaster" Target="/ppt/notesMasters/notesMaster1.xml" Id="R049d95a181ed4d5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b067830b691425d" /><Relationship Type="http://schemas.openxmlformats.org/officeDocument/2006/relationships/notesMaster" Target="/ppt/notesMasters/notesMaster1.xml" Id="R0fc7053f7d6f402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5de6a52012654f42" /><Relationship Type="http://schemas.openxmlformats.org/officeDocument/2006/relationships/notesMaster" Target="/ppt/notesMasters/notesMaster1.xml" Id="Rc8955cf759024f0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c9bb933097f54d6f" /><Relationship Type="http://schemas.openxmlformats.org/officeDocument/2006/relationships/notesMaster" Target="/ppt/notesMasters/notesMaster1.xml" Id="Re40dee29bebc43bc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ad6aa7bd71a74f49" /><Relationship Type="http://schemas.openxmlformats.org/officeDocument/2006/relationships/notesMaster" Target="/ppt/notesMasters/notesMaster1.xml" Id="R6ba27ecfbffc4db9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60b7927d7364596" /><Relationship Type="http://schemas.openxmlformats.org/officeDocument/2006/relationships/notesMaster" Target="/ppt/notesMasters/notesMaster1.xml" Id="Rcff65f57ce71416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cc89ece060fe42f4" /><Relationship Type="http://schemas.openxmlformats.org/officeDocument/2006/relationships/notesMaster" Target="/ppt/notesMasters/notesMaster1.xml" Id="R29f5f67cec60435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b4f7d02d058e4228" /><Relationship Type="http://schemas.openxmlformats.org/officeDocument/2006/relationships/notesMaster" Target="/ppt/notesMasters/notesMaster1.xml" Id="R6eb381b6d455419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bc03928009094324" /><Relationship Type="http://schemas.openxmlformats.org/officeDocument/2006/relationships/notesMaster" Target="/ppt/notesMasters/notesMaster1.xml" Id="R297901798c3a4b1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69c153feb3ec41b8" /><Relationship Type="http://schemas.openxmlformats.org/officeDocument/2006/relationships/notesMaster" Target="/ppt/notesMasters/notesMaster1.xml" Id="R8476214b97e24007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09bf4344d1bb478a" /><Relationship Type="http://schemas.openxmlformats.org/officeDocument/2006/relationships/notesMaster" Target="/ppt/notesMasters/notesMaster1.xml" Id="Ra6d9fbcd362d45dc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0462df5669b84b05" /><Relationship Type="http://schemas.openxmlformats.org/officeDocument/2006/relationships/notesMaster" Target="/ppt/notesMasters/notesMaster1.xml" Id="Rb0d9280ab36f449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e89756d86fd4b84" /><Relationship Type="http://schemas.openxmlformats.org/officeDocument/2006/relationships/notesMaster" Target="/ppt/notesMasters/notesMaster1.xml" Id="Rd3ac67cd317a40a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cff3f318abf54390" /><Relationship Type="http://schemas.openxmlformats.org/officeDocument/2006/relationships/notesMaster" Target="/ppt/notesMasters/notesMaster1.xml" Id="Rf51f9f035d844968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07484b1290c34dac" /><Relationship Type="http://schemas.openxmlformats.org/officeDocument/2006/relationships/notesMaster" Target="/ppt/notesMasters/notesMaster1.xml" Id="Rf4c09651f02f49cc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86ab980f5fab4b99" /><Relationship Type="http://schemas.openxmlformats.org/officeDocument/2006/relationships/notesMaster" Target="/ppt/notesMasters/notesMaster1.xml" Id="Ree0cfd7ba32c44d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b7303d82f72f4361" /><Relationship Type="http://schemas.openxmlformats.org/officeDocument/2006/relationships/notesMaster" Target="/ppt/notesMasters/notesMaster1.xml" Id="R46f9be64e22948f9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5d2daa628f764bac" /><Relationship Type="http://schemas.openxmlformats.org/officeDocument/2006/relationships/notesMaster" Target="/ppt/notesMasters/notesMaster1.xml" Id="Rf552b051563544e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2b2dee39ee5247aa" /><Relationship Type="http://schemas.openxmlformats.org/officeDocument/2006/relationships/notesMaster" Target="/ppt/notesMasters/notesMaster1.xml" Id="R87182df7c6b541f5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c1a5f1aeb8b44d01" /><Relationship Type="http://schemas.openxmlformats.org/officeDocument/2006/relationships/notesMaster" Target="/ppt/notesMasters/notesMaster1.xml" Id="Ra172b1183cc5400c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7723d106ead949d0" /><Relationship Type="http://schemas.openxmlformats.org/officeDocument/2006/relationships/notesMaster" Target="/ppt/notesMasters/notesMaster1.xml" Id="R2ce3b860cd9d46ed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b5ca85d819494bf8" /><Relationship Type="http://schemas.openxmlformats.org/officeDocument/2006/relationships/notesMaster" Target="/ppt/notesMasters/notesMaster1.xml" Id="R2da6667497664bde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5cb90734bcf54f30" /><Relationship Type="http://schemas.openxmlformats.org/officeDocument/2006/relationships/notesMaster" Target="/ppt/notesMasters/notesMaster1.xml" Id="R2103a92c4cac4671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f52d0ae539734eed" /><Relationship Type="http://schemas.openxmlformats.org/officeDocument/2006/relationships/notesMaster" Target="/ppt/notesMasters/notesMaster1.xml" Id="R2f104aa2a2014e1c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aac778e129204fba" /><Relationship Type="http://schemas.openxmlformats.org/officeDocument/2006/relationships/notesMaster" Target="/ppt/notesMasters/notesMaster1.xml" Id="Rbedf941f123f4a86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45cbccd1971f4e4f" /><Relationship Type="http://schemas.openxmlformats.org/officeDocument/2006/relationships/notesMaster" Target="/ppt/notesMasters/notesMaster1.xml" Id="R68825f50516942e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62fc27f87144d71" /><Relationship Type="http://schemas.openxmlformats.org/officeDocument/2006/relationships/notesMaster" Target="/ppt/notesMasters/notesMaster1.xml" Id="Rf1be01bff2864711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62f5d030b94b4763" /><Relationship Type="http://schemas.openxmlformats.org/officeDocument/2006/relationships/notesMaster" Target="/ppt/notesMasters/notesMaster1.xml" Id="Rc4e59e0b2c5a46b3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3db9df746184427b" /><Relationship Type="http://schemas.openxmlformats.org/officeDocument/2006/relationships/notesMaster" Target="/ppt/notesMasters/notesMaster1.xml" Id="Rc98c6d78218d485c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21f4748f04584a2b" /><Relationship Type="http://schemas.openxmlformats.org/officeDocument/2006/relationships/notesMaster" Target="/ppt/notesMasters/notesMaster1.xml" Id="Re0159de61bbe4cab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a6d0b51f4b5d4f1c" /><Relationship Type="http://schemas.openxmlformats.org/officeDocument/2006/relationships/notesMaster" Target="/ppt/notesMasters/notesMaster1.xml" Id="R11d7efa493c44d35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32167ff50a8c42aa" /><Relationship Type="http://schemas.openxmlformats.org/officeDocument/2006/relationships/notesMaster" Target="/ppt/notesMasters/notesMaster1.xml" Id="R14dbb18f3c1146f2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bb0bc548ca764024" /><Relationship Type="http://schemas.openxmlformats.org/officeDocument/2006/relationships/notesMaster" Target="/ppt/notesMasters/notesMaster1.xml" Id="Re3c63732d76b48ae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588f2fb501d042e6" /><Relationship Type="http://schemas.openxmlformats.org/officeDocument/2006/relationships/notesMaster" Target="/ppt/notesMasters/notesMaster1.xml" Id="Rbf20a95f2f824a16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5884effd0e1548db" /><Relationship Type="http://schemas.openxmlformats.org/officeDocument/2006/relationships/notesMaster" Target="/ppt/notesMasters/notesMaster1.xml" Id="Rce77c769bb6944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Situar la unidad y su problema central.</a:t>
            </a:r>
          </a:p>
          <a:p xmlns:a="http://schemas.openxmlformats.org/drawingml/2006/main">
            <a:r>
              <a:t>- **Explicación extendida:** Presentar la unidad como integración aplicada, no como lista de “correcciones”. Explicitar que entre la fuente y quien escucha, el trayecto importa.</a:t>
            </a:r>
          </a:p>
          <a:p xmlns:a="http://schemas.openxmlformats.org/drawingml/2006/main">
            <a:r>
              <a:t>- **Guía del visual o diagrama:** Presentar primero la estructura general y luego recorrer Título, unidad y pregunta organizadora, Sin desarrollo conceptual.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Entre la fuente y quien escucha, el trayecto importa.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Presentar la unidad como integración aplicada, no como lista de “correcciones”.</a:t>
            </a:r>
          </a:p>
          <a:p xmlns:a="http://schemas.openxmlformats.org/drawingml/2006/main">
            <a:r>
              <a:t>- **Transición:** Abrir con el caso: una misma fuente produce niveles distintos según posición y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Ilustración técnica sintética de fuente, trayecto urbano y clínica; U09-DG-001, candidata para diagram-generation. La composición permite reconocer que entre la fuente y quien escucha, el trayecto importa.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2025 p. 5; brief U9.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Activar intuiciones y revelar variables omitidas.</a:t>
            </a:r>
          </a:p>
          <a:p xmlns:a="http://schemas.openxmlformats.org/drawingml/2006/main">
            <a:r>
              <a:t>- **Explicación extendida:** Recoger hipótesis del grupo sin corregir todavía; registrar “fuente”, “trayecto” y “medición”. Explicitar que un valor medido no describe por sí solo la fuente ni la aptitud del recinto.</a:t>
            </a:r>
          </a:p>
          <a:p xmlns:a="http://schemas.openxmlformats.org/drawingml/2006/main">
            <a:r>
              <a:t>- **Guía del visual o diagrama:** Presentar primero la estructura general y luego recorrer Caso breve con avenida, fachada, consultorio, cabina y dos puntos de medición, Preguntas sin resolver. Cerrar señalando la idea central, sin leer todas las cajas como una lista.</a:t>
            </a:r>
          </a:p>
          <a:p xmlns:a="http://schemas.openxmlformats.org/drawingml/2006/main">
            <a:r>
              <a:t>- **Pregunta al grupo:** ¿Qué cambió entre los dos puntos: la fuente, el trayecto, la medición o más de una cosa?</a:t>
            </a:r>
          </a:p>
          <a:p xmlns:a="http://schemas.openxmlformats.org/drawingml/2006/main">
            <a:r>
              <a:t>- **Respuesta esperada:** Todavía no alcanza para decidir: hay que separar variables y registrar condiciones.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Responder el caso antes de distinguir fuente, trayecto, receptor y medición.</a:t>
            </a:r>
          </a:p>
          <a:p xmlns:a="http://schemas.openxmlformats.org/drawingml/2006/main">
            <a:r>
              <a:t>- **Transición:** Convertir las respuestas espontáneas en necesidades de aprendizaje.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del caso con rutas numeradas; U09-DG-002, candidata para diagram-generation. La composición permite reconocer que un valor medido no describe por sí solo la fuente ni la aptitud del recinto.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aplicaciones del capítulo 9.</a:t>
            </a:r>
          </a:p>
          <a:p xmlns:a="http://schemas.openxmlformats.org/drawingml/2006/main">
            <a:r>
              <a:t>- Asset propio aprobado: U09-DG-002.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Hacer visibles siete desempeños observables.</a:t>
            </a:r>
          </a:p>
          <a:p xmlns:a="http://schemas.openxmlformats.org/drawingml/2006/main">
            <a:r>
              <a:t>- **Explicación extendida:** Aclarar que no se diseñarán paredes ni se certificarán cabinas. Explicitar que la unidad exige reconocer mecanismos, aplicar modelos acotados y justificar mediciones.</a:t>
            </a:r>
          </a:p>
          <a:p xmlns:a="http://schemas.openxmlformats.org/drawingml/2006/main">
            <a:r>
              <a:t>- **Guía del visual o diagrama:** Presentar primero la estructura general y luego recorrer Síntesis de los objetivos: analizar, aplicar, explicar, diferenciar, calcular, comparar y justificar.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unidad exige reconocer mecanismos, aplicar modelos acotados y justificar mediciones.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Aclarar que no se diseñarán paredes ni se certificarán cabinas.</a:t>
            </a:r>
          </a:p>
          <a:p xmlns:a="http://schemas.openxmlformats.org/drawingml/2006/main">
            <a:r>
              <a:t>- **Transición:** Preguntar qué saberes previos permiten comenzar.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Ruta de objetivos en dos niveles; sin iconos decorativos. La composición permite reconocer que la unidad exige reconocer mecanismos, aplicar modelos acotados y justificar mediciones.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objetivos 1–7.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Reactivar magnitudes que sostienen los modelos de U9.</a:t>
            </a:r>
          </a:p>
          <a:p xmlns:a="http://schemas.openxmlformats.org/drawingml/2006/main">
            <a:r>
              <a:t>- **Explicación extendida:** Diagnosticar sin volver a enseñar U2–U5; anotar confusiones para retomarlas. Explicitar que distancia, longitud de onda, niveles, temperatura y bandas ya tienen significado físico.</a:t>
            </a:r>
          </a:p>
          <a:p xmlns:a="http://schemas.openxmlformats.org/drawingml/2006/main">
            <a:r>
              <a:t>- **Guía del visual o diagrama:** Presentar primero la estructura general y luego recorrer Dos columnas: “ya conocemos” y “necesitamos recuperar”, Mini diagnóstico de seis decisiones.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Distancia, longitud de onda, niveles, temperatura y bandas ya tienen significado físico.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Responder el caso antes de distinguir fuente, trayecto, receptor y medición.</a:t>
            </a:r>
          </a:p>
          <a:p xmlns:a="http://schemas.openxmlformats.org/drawingml/2006/main">
            <a:r>
              <a:t>- **Transición:** Mostrar que esos saberes se reorganizarán mediante un solo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de prerrequisitos y pregunta breve. La composición permite reconocer que distancia, longitud de onda, niveles, temperatura y bandas ya tienen significado físico.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course_dependency_map U9; brief U9.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Dar estructura temporal y reducir incertidumbre.</a:t>
            </a:r>
          </a:p>
          <a:p xmlns:a="http://schemas.openxmlformats.org/drawingml/2006/main">
            <a:r>
              <a:t>- **Explicación extendida:** Explicar qué bloques tienen alta carga y dónde habrá recapitulaciones. Explicitar que la secuencia avanza de fuente y trayecto a superficies, recintos, aislamiento y cabinas.</a:t>
            </a:r>
          </a:p>
          <a:p xmlns:a="http://schemas.openxmlformats.org/drawingml/2006/main">
            <a:r>
              <a:t>- **Guía del visual o diagrama:** Presentar primero la estructura general y luego recorrer Mapa de tres encuentros y ocho bloques de contenido, Respaldo separado.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secuencia avanza de fuente y trayecto a superficies, recintos, aislamiento y cabinas.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Responder el caso antes de distinguir fuente, trayecto, receptor y medición.</a:t>
            </a:r>
          </a:p>
          <a:p xmlns:a="http://schemas.openxmlformats.org/drawingml/2006/main">
            <a:r>
              <a:t>- **Transición:** Entrar al primer bloque preguntando de quién “es” el nivel recibido.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horizontal con hitos y pausas; U09-DG-003, candidata para diagram-generation. La composición permite reconocer que la secuencia avanza de fuente y trayecto a superficies, recintos, aislamiento y cabinas.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course_map U9; brief U9.</a:t>
            </a:r>
          </a:p>
          <a:p xmlns:a="http://schemas.openxmlformats.org/drawingml/2006/main">
            <a:r>
              <a:t>- Asset propio aprobado: U09-DG-003.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Volver al caso sin resolverlo todavía. Explicitar que un nivel observado emerge de una cadena física y metrológica.</a:t>
            </a:r>
          </a:p>
          <a:p xmlns:a="http://schemas.openxmlformats.org/drawingml/2006/main">
            <a:r>
              <a:t>- **Guía del visual o diagrama:** Presentar primero la estructura general y luego recorrer Pregunta guía y promesa: separar emisión, trayecto, recepción y medición. Cerrar señalando la idea central, sin leer todas las cajas como una lista.</a:t>
            </a:r>
          </a:p>
          <a:p xmlns:a="http://schemas.openxmlformats.org/drawingml/2006/main">
            <a:r>
              <a:t>- **Pregunta al grupo:** ¿De quién es el nivel recibido?</a:t>
            </a:r>
          </a:p>
          <a:p xmlns:a="http://schemas.openxmlformats.org/drawingml/2006/main">
            <a:r>
              <a:t>- **Respuesta esperada:** Un nivel observado emerge de una cadena física y metrológica.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Presentar el esquema que se repetirá durante toda la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Fondo de divisor con esquema mínimo de tres etapas. La composición permite reconocer que un nivel observado emerge de una cadena física y metrológica.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Construir el organizador común.</a:t>
            </a:r>
          </a:p>
          <a:p xmlns:a="http://schemas.openxmlformats.org/drawingml/2006/main">
            <a:r>
              <a:t>- **Explicación extendida:** Nombrar el cuarto elemento práctico: condiciones de medición, sin confundirlo con el receptor físico. Explicitar que cada mecanismo debe localizarse en una parte de la cadena.</a:t>
            </a:r>
          </a:p>
          <a:p xmlns:a="http://schemas.openxmlformats.org/drawingml/2006/main">
            <a:r>
              <a:t>- **Guía del visual o diagrama:** Presentar primero la estructura general y luego recorrer Fuente: emite, Trayecto: redistribuye, disipa o desvía, Receptor/medición: registra bajo condiciones.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Cada mecanismo debe localizarse en una parte de la cadena.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Separar ahora potencia emitida y presión recibida.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Diagrama principal con zonas y ejemplos; U09-DG-004, candidata para diagram-generation. La composición permite reconocer que cada mecanismo debe localizarse en una parte de la cadena.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cap. 9 introducción; PDF p. 235; course_map U9.</a:t>
            </a:r>
          </a:p>
          <a:p xmlns:a="http://schemas.openxmlformats.org/drawingml/2006/main">
            <a:r>
              <a:t>- Asset propio aprobado: U09-DG-004.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Distinguir `L_W` de `L_p`.</a:t>
            </a:r>
          </a:p>
          <a:p xmlns:a="http://schemas.openxmlformats.org/drawingml/2006/main">
            <a:r>
              <a:t>- **Explicación extendida:** Recuperar U4 sin derivar; insistir en que ambos se expresan en dB con referencias distintas. Explicitar que la potencia caracteriza la emisión; la presión depende del punto y del campo.</a:t>
            </a:r>
          </a:p>
          <a:p xmlns:a="http://schemas.openxmlformats.org/drawingml/2006/main">
            <a:r>
              <a:t>- **Guía del visual o diagrama:** Presentar primero la estructura general y luego recorrer Comparación por magnitud, dependencia espacial, unidad y pregunta que responde.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potencia caracteriza la emisión; la presión depende del punto y del campo.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Preguntar qué puede ocurrirle a la energía en el trayecto.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comparativa y mini cadena; U09-DG-005, candidata para diagram-generation. La composición permite reconocer que la potencia caracteriza la emisión; la presión depende del punto y del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9.1–9.2; PDF pp. 236–238; notation_guide.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Evitar que “atenuación” oculte procesos distintos.</a:t>
            </a:r>
          </a:p>
          <a:p xmlns:a="http://schemas.openxmlformats.org/drawingml/2006/main">
            <a:r>
              <a:t>- **Explicación extendida:** Introducir nombres sin explicarlos en profundidad; señalar que se desplegarán uno por vez. Explicitar que no toda disminución es absorción y no toda llegada sigue la ruta directa.</a:t>
            </a:r>
          </a:p>
          <a:p xmlns:a="http://schemas.openxmlformats.org/drawingml/2006/main">
            <a:r>
              <a:t>- **Guía del visual o diagrama:** Presentar primero la estructura general y luego recorrer Clasificación: divergencia, directividad, absorción atmosférica, reflexión, absorción material, transmisión, refracción y difracción, Qué cambia en cada caso.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No toda disminución es absorción y no toda llegada sigue la ruta directa.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Introducir nombres sin explicarlos en profundidad; señalar que se desplegarán uno por vez.</a:t>
            </a:r>
          </a:p>
          <a:p xmlns:a="http://schemas.openxmlformats.org/drawingml/2006/main">
            <a:r>
              <a:t>- **Transición:** Usar el caso para probar la clasificación.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mecanismo–magnitud–dependencia–modelo; U09-DG-006, candidata para diagram-generation. La composición permite reconocer que no toda disminución es absorción y no toda llegada sigue la ruta directa.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content_inventory U09-C01–C42.</a:t>
            </a:r>
          </a:p>
          <a:p xmlns:a="http://schemas.openxmlformats.org/drawingml/2006/main">
            <a:r>
              <a:t>- Asset propio aprobado: U09-DG-006.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Practicar la localización de variables.</a:t>
            </a:r>
          </a:p>
          <a:p xmlns:a="http://schemas.openxmlformats.org/drawingml/2006/main">
            <a:r>
              <a:t>- **Explicación extendida:** Pedir justificación breve; aceptar casos que afecten más de una zona si se explica la cadena. Explicitar que antes de calcular, hay que identificar qué parte del sistema cambió.</a:t>
            </a:r>
          </a:p>
          <a:p xmlns:a="http://schemas.openxmlformats.org/drawingml/2006/main">
            <a:r>
              <a:t>- **Guía del visual o diagrama:** Presentar primero la estructura general y luego recorrer Seis tarjetas del caso: orientación del altavoz, distancia, viento, puerta, micrófono y escala de lectura.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“¿Fuente, trayecto o medición?” sin exceder el modelo?</a:t>
            </a:r>
          </a:p>
          <a:p xmlns:a="http://schemas.openxmlformats.org/drawingml/2006/main">
            <a:r>
              <a:t>- **Respuesta esperada:** Antes de calcular, hay que identificar qué parte del sistema cambió.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Recapitular el criterio, no las respuestas literales.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arrastrables o revelado; U09-DG-007, candidata para diagram-generation. La composición permite reconocer que antes de calcular, hay que identificar qué parte del sistema cambió.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diagnóstico; banco de ejercicios conceptual.</a:t>
            </a:r>
          </a:p>
          <a:p xmlns:a="http://schemas.openxmlformats.org/drawingml/2006/main">
            <a:r>
              <a:t>- Asset propio aprobado: U09-DG-007.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una rutina de análisis reutilizable.</a:t>
            </a:r>
          </a:p>
          <a:p xmlns:a="http://schemas.openxmlformats.org/drawingml/2006/main">
            <a:r>
              <a:t>- **Explicación extendida:** Instalar la rutina verbal que reaparecerá en U09-021, 033, 046, 56, 67 y 77. Explicitar que identificar fuente, trayecto, receptor y condiciones evita aplicar reglas fuera de contexto.</a:t>
            </a:r>
          </a:p>
          <a:p xmlns:a="http://schemas.openxmlformats.org/drawingml/2006/main">
            <a:r>
              <a:t>- **Guía del visual o diagrama:** Presentar primero la estructura general y luego recorrer Checklist: qué cambia, qué se conserva, qué se estima y qué debe medirse.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Identificar fuente, trayecto, receptor y condiciones evita aplicar reglas fuera de contexto.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Aplicar la rutina al caso más simple: alejarse de una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Cuatro bloques conectados; U09-DG-008, candidata para diagram-generation. La composición permite reconocer que identificar fuente, trayecto, receptor y condiciones evita aplicar reglas fuera de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integración del capítulo.</a:t>
            </a:r>
          </a:p>
          <a:p xmlns:a="http://schemas.openxmlformats.org/drawingml/2006/main">
            <a:r>
              <a:t>- Asset propio aprobado: U09-DG-008.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Distinguir “modelo útil” de “regla universal”. Explicitar que distancia y dirección son efectos distintos y condicionados.</a:t>
            </a:r>
          </a:p>
          <a:p xmlns:a="http://schemas.openxmlformats.org/drawingml/2006/main">
            <a:r>
              <a:t>- **Guía del visual o diagrama:** Presentar primero la estructura general y luego recorrer Pregunta guía, dos variables y advertencia: no sumar efectos ya incluidos. Cerrar señalando la idea central, sin leer todas las cajas como una lista.</a:t>
            </a:r>
          </a:p>
          <a:p xmlns:a="http://schemas.openxmlformats.org/drawingml/2006/main">
            <a:r>
              <a:t>- **Pregunta al grupo:** ¿Qué explica el modelo ideal?</a:t>
            </a:r>
          </a:p>
          <a:p xmlns:a="http://schemas.openxmlformats.org/drawingml/2006/main">
            <a:r>
              <a:t>- **Respuesta esperada:** Distancia y dirección son efectos distintos y condicionados.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Distinguir “modelo útil” de “regla universal”.</a:t>
            </a:r>
          </a:p>
          <a:p xmlns:a="http://schemas.openxmlformats.org/drawingml/2006/main">
            <a:r>
              <a:t>- **Transición:** Comenzar por la redistribución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trayectos desde una misma fuente. La composición permite reconocer que distancia y dirección son efectos distintos y condicionados.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Recuperar la intuición de divergencia esférica.</a:t>
            </a:r>
          </a:p>
          <a:p xmlns:a="http://schemas.openxmlformats.org/drawingml/2006/main">
            <a:r>
              <a:t>- **Explicación extendida:** No repetir la derivación de U4; explicitar fuente puntual ideal y campo lejano. Explicitar que en campo aproximadamente libre, la energía se distribuye sobre áreas crecientes.</a:t>
            </a:r>
          </a:p>
          <a:p xmlns:a="http://schemas.openxmlformats.org/drawingml/2006/main">
            <a:r>
              <a:t>- **Guía del visual o diagrama:** Presentar primero la estructura general y luego recorrer Frentes esféricos, radios y áreas, Vínculo cualitativo con intensidad y presión eficaz.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En campo aproximadamente libre, la energía se distribuye sobre áreas crecientes.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repetir la derivación de U4; explicitar fuente puntual ideal y campo lejano.</a:t>
            </a:r>
          </a:p>
          <a:p xmlns:a="http://schemas.openxmlformats.org/drawingml/2006/main">
            <a:r>
              <a:t>- **Transición:** Formalizar el cambio entre dos distancias.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Reconstrucción de figura U4; U09-DG-009, candidata para diagram-generation. La composición permite reconocer que en campo aproximadamente libre, la energía se distribuye sobre áreas crecientes.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U4 propagacion-esferica.tex; LaTeX 9.1; PDF p. 237.</a:t>
            </a:r>
          </a:p>
          <a:p xmlns:a="http://schemas.openxmlformats.org/drawingml/2006/main">
            <a:r>
              <a:t>- Asset propio aprobado: U09-DG-009.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Aplicar la relación logarítmica con significado.</a:t>
            </a:r>
          </a:p>
          <a:p xmlns:a="http://schemas.openxmlformats.org/drawingml/2006/main">
            <a:r>
              <a:t>- **Explicación extendida:** Leer la ecuación antes de operar y comprobar casos `r2&gt;r1` y `r2&lt;r1`. Explicitar que la razón de distancias, no la distancia aislada, determina el cambio ideal de nivel.</a:t>
            </a:r>
          </a:p>
          <a:p xmlns:a="http://schemas.openxmlformats.org/drawingml/2006/main">
            <a:r>
              <a:t>- **Guía del visual o diagrama:** Presentar primero la estructura general y luego recorrer Ecuación `L_p2 = L_p1 − 20 log10(r2/r1)`, Símbolos, unidades, signo e hipótesis.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La razón de distancias, no la distancia aislada, determina el cambio ideal de nivel.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Resolver un caso numérico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central U09-DG-010 y mini curva U09-CH-001; candidata para diagram-generation. La composición permite reconocer que la razón de distancias, no la distancia aislada, determina el cambio ideal de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9.1; PDF p. 237; notation_guide.</a:t>
            </a:r>
          </a:p>
          <a:p xmlns:a="http://schemas.openxmlformats.org/drawingml/2006/main">
            <a:r>
              <a:t>- Asset propio aprobado: U09-DG-010.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Modelar un cálculo con hipótesis y conclusión limitada.</a:t>
            </a:r>
          </a:p>
          <a:p xmlns:a="http://schemas.openxmlformats.org/drawingml/2006/main">
            <a:r>
              <a:t>- **Explicación extendida:** Hacer explícita la precisión razonable y qué podría invalidar el resultado en una sala. Explicitar que duplicar distancia produce aproximadamente −6 dB solo bajo el modelo declarado.</a:t>
            </a:r>
          </a:p>
          <a:p xmlns:a="http://schemas.openxmlformats.org/drawingml/2006/main">
            <a:r>
              <a:t>- **Guía del visual o diagrama:** Presentar primero la estructura general y luego recorrer Datos, razón de distancias, operación, `83,98 ≈ 84 dB SPL` e interpretación.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“De 0,50 m a 1,00 m” sin exceder el modelo?</a:t>
            </a:r>
          </a:p>
          <a:p xmlns:a="http://schemas.openxmlformats.org/drawingml/2006/main">
            <a:r>
              <a:t>- **Respuesta esperada:** Duplicar distancia produce aproximadamente −6 dB solo bajo el modelo declarado.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Convertir el ejemplo en un checklist de validez.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Secuencia de cálculo; U09-DG-011, candidata para diagram-generation. La composición permite reconocer que duplicar distancia produce aproximadamente −6 db solo bajo el modelo declarado.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9.1; PDF p. 237; content_inventory ejemplo 1.</a:t>
            </a:r>
          </a:p>
          <a:p xmlns:a="http://schemas.openxmlformats.org/drawingml/2006/main">
            <a:r>
              <a:t>- Asset propio aprobado: U09-DG-011.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Prevenir transferencia mecánica.</a:t>
            </a:r>
          </a:p>
          <a:p xmlns:a="http://schemas.openxmlformats.org/drawingml/2006/main">
            <a:r>
              <a:t>- **Explicación extendida:** Pedir que el grupo nombre al menos tres hipótesis antes de usar la regla. Explicitar que la regla falla si cambian campo, dirección, reflexiones o pérdidas adicionales.</a:t>
            </a:r>
          </a:p>
          <a:p xmlns:a="http://schemas.openxmlformats.org/drawingml/2006/main">
            <a:r>
              <a:t>- **Guía del visual o diagrama:** Presentar primero la estructura general y luego recorrer Afirmación errónea, condiciones faltantes y contraejemplo en recinto.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“Duplicar distancia siempre resta 6 dB” para que sea físicamente válida?</a:t>
            </a:r>
          </a:p>
          <a:p xmlns:a="http://schemas.openxmlformats.org/drawingml/2006/main">
            <a:r>
              <a:t>- **Respuesta esperada:** La regla falla si cambian campo, dirección, reflexiones o pérdidas adicionales.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Mantener distancia fija y cambiar solo la dirección.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Comparación ideal/real. La composición permite reconocer que la regla falla si cambian campo, dirección, reflexiones o pérdidas adicionales.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LaTeX 9.1; PDF p. 237.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Introducir directividad como redistribución angular.</a:t>
            </a:r>
          </a:p>
          <a:p xmlns:a="http://schemas.openxmlformats.org/drawingml/2006/main">
            <a:r>
              <a:t>- **Explicación extendida:** Evitar decir que la directividad “crea” energía. Explicitar que a igual potencia y distancia, el nivel puede depender de la dirección.</a:t>
            </a:r>
          </a:p>
          <a:p xmlns:a="http://schemas.openxmlformats.org/drawingml/2006/main">
            <a:r>
              <a:t>- **Guía del visual o diagrama:** Presentar primero la estructura general y luego recorrer Omnidireccional frente a direccional, Eje, ángulo y punto de comparación.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A igual potencia y distancia, el nivel puede depender de la dirección.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decir que la directividad “crea” energía.</a:t>
            </a:r>
          </a:p>
          <a:p xmlns:a="http://schemas.openxmlformats.org/drawingml/2006/main">
            <a:r>
              <a:t>- **Transición:** Mostrar que la directividad real también depende de frecuencia.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Reconstrucción de figura U4; U09-DG-012, candidata para diagram-generation. La composición permite reconocer que a igual potencia y distancia, el nivel puede depender de la dirección.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U4 directividad-q.tex; LaTeX 9.2; PDF pp. 237–238.</a:t>
            </a:r>
          </a:p>
          <a:p xmlns:a="http://schemas.openxmlformats.org/drawingml/2006/main">
            <a:r>
              <a:t>- Asset propio aprobado: U09-DG-012.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Leer un patrón polar sin sobrecargar el núcleo.</a:t>
            </a:r>
          </a:p>
          <a:p xmlns:a="http://schemas.openxmlformats.org/drawingml/2006/main">
            <a:r>
              <a:t>- **Explicación extendida:** Enseñar primero eje y escala; declarar que es ejemplo sintético, no ficha de un equipo. Explicitar que una fuente real no tiene un único patrón para todas las frecuencias.</a:t>
            </a:r>
          </a:p>
          <a:p xmlns:a="http://schemas.openxmlformats.org/drawingml/2006/main">
            <a:r>
              <a:t>- **Guía del visual o diagrama:** Presentar primero la estructura general y luego recorrer Patrones sintéticos a tres frecuencias, misma escala radial y orientación.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Una fuente real no tiene un único patrón para todas las frecuencias.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Enseñar primero eje y escala; declarar que es ejemplo sintético, no ficha de un equipo.</a:t>
            </a:r>
          </a:p>
          <a:p xmlns:a="http://schemas.openxmlformats.org/drawingml/2006/main">
            <a:r>
              <a:t>- **Transición:** Definir un número que compare una dirección con la referencia.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U09-CH-002 patrón polar por frecuencia. La composición permite reconocer que una fuente real no tiene un único patrón para todas las frecuencias.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content_inventory; U4/directividad; parámetros propios documentados.</a:t>
            </a:r>
          </a:p>
          <a:p xmlns:a="http://schemas.openxmlformats.org/drawingml/2006/main">
            <a:r>
              <a:t>- Asset propio aprobado: U09-CH-002.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Relacionar razón lineal y descriptor logarítmico.</a:t>
            </a:r>
          </a:p>
          <a:p xmlns:a="http://schemas.openxmlformats.org/drawingml/2006/main">
            <a:r>
              <a:t>- **Explicación extendida:** Explicar la equivalencia con `Q` del libro y por qué no se suma a un nivel ya medido en esa dirección. Explicitar que `DI` expresa en dB la concentración relativa definida por `Q_dir`.</a:t>
            </a:r>
          </a:p>
          <a:p xmlns:a="http://schemas.openxmlformats.org/drawingml/2006/main">
            <a:r>
              <a:t>- **Guía del visual o diagrama:** Presentar primero la estructura general y luego recorrer `DI = 10 log10 Q_dir`, `Q_dir=4 → 6,02 dB`, Condiciones de comparación.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`DI` expresa en dB la concentración relativa definida por `Q_dir`.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Explicar la equivalencia con `Q` del libro y por qué no se suma a un nivel ya medido en esa dirección.</a:t>
            </a:r>
          </a:p>
          <a:p xmlns:a="http://schemas.openxmlformats.org/drawingml/2006/main">
            <a:r>
              <a:t>- **Transición:** Llevar distancia y dirección a una situación audiométrica.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con comparador omnidireccional; U09-DG-013, candidata para diagram-generation. La composición permite reconocer que di expresa en db la concentración relativa definida por qdir.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9.2; PDF pp. 237–238; notation_guide.</a:t>
            </a:r>
          </a:p>
          <a:p xmlns:a="http://schemas.openxmlformats.org/drawingml/2006/main">
            <a:r>
              <a:t>- Asset propio aprobado: U09-DG-013.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Transferir los modelos a una medición real.</a:t>
            </a:r>
          </a:p>
          <a:p xmlns:a="http://schemas.openxmlformats.org/drawingml/2006/main">
            <a:r>
              <a:t>- **Explicación extendida:** No convertir la slide en protocolo; relacionar con U8 y con la necesidad de verificación. Explicitar que posición, eje del altavoz, punto de referencia y reflexiones condicionan el estímulo.</a:t>
            </a:r>
          </a:p>
          <a:p xmlns:a="http://schemas.openxmlformats.org/drawingml/2006/main">
            <a:r>
              <a:t>- **Guía del visual o diagrama:** Presentar primero la estructura general y luego recorrer Montaje de campo sonoro con distancia, altura, orientación y punto de prueba, Lista de variables observables.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“Campo sonoro: geometría y orientación importan” sin exceder el modelo?</a:t>
            </a:r>
          </a:p>
          <a:p xmlns:a="http://schemas.openxmlformats.org/drawingml/2006/main">
            <a:r>
              <a:t>- **Respuesta esperada:** Posición, eje del altavoz, punto de referencia y reflexiones condicionan el estímulo.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convertir la slide en protocolo; relacionar con U8 y con la necesidad de verificación.</a:t>
            </a:r>
          </a:p>
          <a:p xmlns:a="http://schemas.openxmlformats.org/drawingml/2006/main">
            <a:r>
              <a:t>- **Transición:** Cerrar el bloque decidiendo qué modelo puede usarse en tres escenarios.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Foto técnica U09-IMG-001 con sobreimpresión geométrica o diagrama alternativo U09-DG-014. La composición permite reconocer que posición, eje del altavoz, punto de referencia y reflexiones condicionan el estímulo.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9.2/9.8; PDF pp. 237–238, 247–249; U8.</a:t>
            </a:r>
          </a:p>
          <a:p xmlns:a="http://schemas.openxmlformats.org/drawingml/2006/main">
            <a:r>
              <a:t>- Asset propio aprobado: U09-DG-014.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distinciones y condiciones.</a:t>
            </a:r>
          </a:p>
          <a:p xmlns:a="http://schemas.openxmlformats.org/drawingml/2006/main">
            <a:r>
              <a:t>- **Explicación extendida:** Repetir la rutina de U09-011 con una función nueva: seleccionar ecuación o abstenerse de calcular. Explicitar que se estima por separado cada efecto y se evita contabilizarlo dos veces.</a:t>
            </a:r>
          </a:p>
          <a:p xmlns:a="http://schemas.openxmlformats.org/drawingml/2006/main">
            <a:r>
              <a:t>- **Guía del visual o diagrama:** Presentar primero la estructura general y luego recorrer Tres mini casos, Respuesta exige modelo, hipótesis y dato faltante. Cerrar señalando la idea central, sin leer todas las cajas como una lista.</a:t>
            </a:r>
          </a:p>
          <a:p xmlns:a="http://schemas.openxmlformats.org/drawingml/2006/main">
            <a:r>
              <a:t>- **Pregunta al grupo:** ¿Distancia, dirección o ambos?</a:t>
            </a:r>
          </a:p>
          <a:p xmlns:a="http://schemas.openxmlformats.org/drawingml/2006/main">
            <a:r>
              <a:t>- **Respuesta esperada:** Se estima por separado cada efecto y se evita contabilizarlo dos veces.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Introducir un trayecto que ya no es homogéneo: la atmósfera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de decisión; U09-DG-015, candidata para diagram-generation. La composición permite reconocer que se estima por separado cada efecto y se evita contabilizarlo dos veces.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9.1–9.2; brief U9.</a:t>
            </a:r>
          </a:p>
          <a:p xmlns:a="http://schemas.openxmlformats.org/drawingml/2006/main">
            <a:r>
              <a:t>- Asset propio aprobado: U09-DG-015.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Advertir que “temperatura” o “viento” no son correcciones únicas de dB. Explicitar que el estado uniforme cambia rapidez; el gradiente puede curvar trayectorias.</a:t>
            </a:r>
          </a:p>
          <a:p xmlns:a="http://schemas.openxmlformats.org/drawingml/2006/main">
            <a:r>
              <a:t>- **Guía del visual o diagrama:** Presentar primero la estructura general y luego recorrer Dos escenarios y cuatro efectos a separar: rapidez, tiempo, longitud de onda y nivel. Cerrar señalando la idea central, sin leer todas las cajas como una lista.</a:t>
            </a:r>
          </a:p>
          <a:p xmlns:a="http://schemas.openxmlformats.org/drawingml/2006/main">
            <a:r>
              <a:t>- **Pregunta al grupo:** ¿Aire uniforme o aire con gradiente?</a:t>
            </a:r>
          </a:p>
          <a:p xmlns:a="http://schemas.openxmlformats.org/drawingml/2006/main">
            <a:r>
              <a:t>- **Respuesta esperada:** El estado uniforme cambia rapidez; el gradiente puede curvar trayectorias.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Advertir que “temperatura” o “viento” no son correcciones únicas de dB.</a:t>
            </a:r>
          </a:p>
          <a:p xmlns:a="http://schemas.openxmlformats.org/drawingml/2006/main">
            <a:r>
              <a:t>- **Transición:** Comenzar por el caso uniforme más simple.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Perfil uniforme frente a perfil vertical. La composición permite reconocer que el estado uniforme cambia rapidez; el gradiente puede curvar trayectorias.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Recuperar una aproximación útil y acotada.</a:t>
            </a:r>
          </a:p>
          <a:p xmlns:a="http://schemas.openxmlformats.org/drawingml/2006/main">
            <a:r>
              <a:t>- **Explicación extendida:** Distinguir temperatura del aire de sensación térmica y recordar que la frecuencia de la fuente no cambia por esto. Explicitar que en aire, dentro del intervalo didáctico, `c ≈ 331 + 0,6 θ`.</a:t>
            </a:r>
          </a:p>
          <a:p xmlns:a="http://schemas.openxmlformats.org/drawingml/2006/main">
            <a:r>
              <a:t>- **Guía del visual o diagrama:** Presentar primero la estructura general y luego recorrer Ecuación, símbolos, unidades, intervalo de uso y recta `c(θ)`.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En aire, dentro del intervalo didáctico, `c ≈ 331 + 0,6 θ`.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Distinguir temperatura del aire de sensación térmica y recordar que la frecuencia de la fuente no cambia por esto.</a:t>
            </a:r>
          </a:p>
          <a:p xmlns:a="http://schemas.openxmlformats.org/drawingml/2006/main">
            <a:r>
              <a:t>- **Transición:** Mostrar qué variable ondulatoria sí cambia si `f` se conserva.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U09-CH-003 rapidez frente a temperatura; ecuación anotada U09-DG-016. La composición permite reconocer que en aire, dentro del intervalo didáctico, c ≈ 331 + 0,6 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9.3; PDF pp. 238–239.</a:t>
            </a:r>
          </a:p>
          <a:p xmlns:a="http://schemas.openxmlformats.org/drawingml/2006/main">
            <a:r>
              <a:t>- Asset propio aprobado: U09-CH-003.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Relacionar temperatura, rapidez y longitud de onda.</a:t>
            </a:r>
          </a:p>
          <a:p xmlns:a="http://schemas.openxmlformats.org/drawingml/2006/main">
            <a:r>
              <a:t>- **Explicación extendida:** Vincular con altura tonal sin afirmar que el pitch cambia por el trayecto uniforme. Explicitar que si la fuente conserva `f`, cambia `λ`, no la frecuencia emitida.</a:t>
            </a:r>
          </a:p>
          <a:p xmlns:a="http://schemas.openxmlformats.org/drawingml/2006/main">
            <a:r>
              <a:t>- **Guía del visual o diagrama:** Presentar primero la estructura general y luego recorrer Comparación a 5 °C y 25 °C para 1000 Hz, Datos, dos cálculos y conclusión.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“Temperatura, c y λ: no confundir” sin exceder el modelo?</a:t>
            </a:r>
          </a:p>
          <a:p xmlns:a="http://schemas.openxmlformats.org/drawingml/2006/main">
            <a:r>
              <a:t>- **Respuesta esperada:** Si la fuente conserva `f`, cambia `λ`, no la frecuencia emitida.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Pasar de un valor uniforme a un perfil vertical.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estados y ecuación λ=c/f; U09-DG-017, candidata para diagram-generation. La composición permite reconocer que si la fuente conserva f, cambia λ, no la frecuencia emitida.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9.3; PDF pp. 238–239; content_inventory ejemplo 3.</a:t>
            </a:r>
          </a:p>
          <a:p xmlns:a="http://schemas.openxmlformats.org/drawingml/2006/main">
            <a:r>
              <a:t>- Asset propio aprobado: U09-DG-017.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Explicar cualitativamente refracción atmosférica térmica.</a:t>
            </a:r>
          </a:p>
          <a:p xmlns:a="http://schemas.openxmlformats.org/drawingml/2006/main">
            <a:r>
              <a:t>- **Explicación extendida:** Revelar los dos estados por etapas; evitar rayos excesivos y explicar que es modelo cualitativo. Explicitar que las trayectorias se curvan hacia regiones de menor rapidez.</a:t>
            </a:r>
          </a:p>
          <a:p xmlns:a="http://schemas.openxmlformats.org/drawingml/2006/main">
            <a:r>
              <a:t>- **Guía del visual o diagrama:** Presentar primero la estructura general y luego recorrer Suelo cálido frente a inversión térmica, Perfiles `θ(z)` y `c(z)`, Zonas de sombra posibles.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Las trayectorias se curvan hacia regiones de menor rapidez.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Revelar los dos estados por etapas; evitar rayos excesivos y explicar que es modelo cualitativo.</a:t>
            </a:r>
          </a:p>
          <a:p xmlns:a="http://schemas.openxmlformats.org/drawingml/2006/main">
            <a:r>
              <a:t>- **Transición:** Preguntar qué ocurre si el aire se mueve todo junto sin gradiente.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U09-DG-018, candidata para diagram-generation, reconstrucción de figura 9.1. La composición permite reconocer que las trayectorias se curvan hacia regiones de menor rapidez.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9.3.1; PDF p. 239; figura gradientes-termicos.tex.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Separar advección uniforme de gradiente.</a:t>
            </a:r>
          </a:p>
          <a:p xmlns:a="http://schemas.openxmlformats.org/drawingml/2006/main">
            <a:r>
              <a:t>- **Explicación extendida:** Justificar `v_viento` para no colisionar con velocidad de partícula `u(t)`. Explicitar que un viento uniforme modifica la rapidez respecto del suelo según la dirección, pero no curva por sí solo el trayecto.</a:t>
            </a:r>
          </a:p>
          <a:p xmlns:a="http://schemas.openxmlformats.org/drawingml/2006/main">
            <a:r>
              <a:t>- **Guía del visual o diagrama:** Presentar primero la estructura general y luego recorrer `c_ef = c + v_viento cos ψ`, Signos, ángulo y tres orientaciones.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Un viento uniforme modifica la rapidez respecto del suelo según la dirección, pero no curva por sí solo el trayecto.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Justificar `v_viento` para no colisionar con velocidad de partícula `u(t)`.</a:t>
            </a:r>
          </a:p>
          <a:p xmlns:a="http://schemas.openxmlformats.org/drawingml/2006/main">
            <a:r>
              <a:t>- **Transición:** Introducir el perfil vertical de viento.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con brújula angular; U09-DG-019, candidata para diagram-generation. La composición permite reconocer que un viento uniforme modifica la rapidez respecto del suelo según la dirección, pero no curva por sí solo el trayecto.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9.4; PDF pp. 239–240; notation_guide.</a:t>
            </a:r>
          </a:p>
          <a:p xmlns:a="http://schemas.openxmlformats.org/drawingml/2006/main">
            <a:r>
              <a:t>- Asset propio aprobado: U09-DG-019.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Contrastar propagación a favor y en contra.</a:t>
            </a:r>
          </a:p>
          <a:p xmlns:a="http://schemas.openxmlformats.org/drawingml/2006/main">
            <a:r>
              <a:t>- **Explicación extendida:** Mantener separadas rapidez efectiva, dirección del viento y nivel recibido. Explicitar que si `c_ef` cambia con la altura, las trayectorias se curvan y la cobertura cambia.</a:t>
            </a:r>
          </a:p>
          <a:p xmlns:a="http://schemas.openxmlformats.org/drawingml/2006/main">
            <a:r>
              <a:t>- **Guía del visual o diagrama:** Presentar primero la estructura general y luego recorrer Dos perfiles `c_ef(z)`, rayos a favor/en contra y zona de sombra conceptual.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Si `c_ef` cambia con la altura, las trayectorias se curvan y la cobertura cambia.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Preguntar si una caída de presión aislada permite predecir `c`.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U09-DG-020, candidata para diagram-generation, reconstrucción de figura 9.2. La composición permite reconocer que si cₑf cambia con la altura, las trayectorias se curvan y la cobertura cambia.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9.4; PDF pp. 239–240; figura gradiente-viento.tex.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Evitar una regla aislada por presión o altitud.</a:t>
            </a:r>
          </a:p>
          <a:p xmlns:a="http://schemas.openxmlformats.org/drawingml/2006/main">
            <a:r>
              <a:t>- **Explicación extendida:** Explicar la estructura sin derivar termodinámica; conectar con U2. Explicitar que `c = √(γ p_a/ρ_a)` no autoriza a variar `p_a` dejando implícitamente fija `ρ_a`.</a:t>
            </a:r>
          </a:p>
          <a:p xmlns:a="http://schemas.openxmlformats.org/drawingml/2006/main">
            <a:r>
              <a:t>- **Guía del visual o diagrama:** Presentar primero la estructura general y luego recorrer Ecuación, relación entre variables y actividad “¿qué se mantiene constante?”.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`c = √(γ p_a/ρ_a)` no autoriza a variar `p_a` dejando implícitamente fija `ρ_a`.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Ampliar a condiciones reales de altura y humedad.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Balanza conceptual de variables; U09-DG-021, candidata para diagram-generation. La composición permite reconocer que c = √(γ pₐ/ρₐ) no autoriza a variar pₐ dejando implícitamente fija ρₐ.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9.5; PDF p. 240.</a:t>
            </a:r>
          </a:p>
          <a:p xmlns:a="http://schemas.openxmlformats.org/drawingml/2006/main">
            <a:r>
              <a:t>- Asset propio aprobado: U09-DG-021.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Incorporar variables reales sin falsa precisión.</a:t>
            </a:r>
          </a:p>
          <a:p xmlns:a="http://schemas.openxmlformats.org/drawingml/2006/main">
            <a:r>
              <a:t>- **Explicación extendida:** Mantener el tratamiento cualitativo; no asignar dB por kilómetro o por altura. Explicitar que altitud, temperatura, humedad, presión y densidad actúan de forma relacionada.</a:t>
            </a:r>
          </a:p>
          <a:p xmlns:a="http://schemas.openxmlformats.org/drawingml/2006/main">
            <a:r>
              <a:t>- **Guía del visual o diagrama:** Presentar primero la estructura general y luego recorrer Mapa de influencias y lista de datos que exige una comparación válida.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Altitud, temperatura, humedad, presión y densidad actúan de forma relacionada.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Mantener el tratamiento cualitativo; no asignar dB por kilómetro o por altura.</a:t>
            </a:r>
          </a:p>
          <a:p xmlns:a="http://schemas.openxmlformats.org/drawingml/2006/main">
            <a:r>
              <a:t>- **Transición:** Separar ahora geometría de pérdida molecular.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U09-DG-022, candidata para diagram-generation. La composición permite reconocer que altitud, temperatura, humedad, presión y densidad actúan de forma relacionada.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9.5.3–9.6; PDF pp. 240–241.</a:t>
            </a:r>
          </a:p>
          <a:p xmlns:a="http://schemas.openxmlformats.org/drawingml/2006/main">
            <a:r>
              <a:t>- Asset propio aprobado: U09-DG-022.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Diferenciar mecanismos de disminución con distancia.</a:t>
            </a:r>
          </a:p>
          <a:p xmlns:a="http://schemas.openxmlformats.org/drawingml/2006/main">
            <a:r>
              <a:t>- **Explicación extendida:** Explicar por qué no se calcula sin fuente de `a_atm`; distinguir absorción del aire de absorción superficial. Explicitar que la divergencia redistribuye energía; la atmósfera puede disiparla de modo dependiente de frecuencia y estado.</a:t>
            </a:r>
          </a:p>
          <a:p xmlns:a="http://schemas.openxmlformats.org/drawingml/2006/main">
            <a:r>
              <a:t>- **Guía del visual o diagrama:** Presentar primero la estructura general y luego recorrer Estructura `L_p(r2)=L_p(r1)−término geométrico−a_atm(f,estado)·Δr`, Sin coeficiente numérico.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divergencia redistribuye energía; la atmósfera puede disiparla de modo dependiente de frecuencia y estado.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Explicar por qué no se calcula sin fuente de `a_atm`; distinguir absorción del aire de absorción superficial.</a:t>
            </a:r>
          </a:p>
          <a:p xmlns:a="http://schemas.openxmlformats.org/drawingml/2006/main">
            <a:r>
              <a:t>- **Transición:** Mostrar qué variables deben registrarse en una medición exterior.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estructural y comparación; U09-DG-023, candidata para diagram-generation. La composición permite reconocer que la divergencia redistribuye energía; la atmósfera puede disiparla de modo dependiente de frecuencia y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9.6; PDF p. 241; source_analysis.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fluctuaciones y límites de predicción.</a:t>
            </a:r>
          </a:p>
          <a:p xmlns:a="http://schemas.openxmlformats.org/drawingml/2006/main">
            <a:r>
              <a:t>- **Explicación extendida:** Nombrar el fenómeno y su impacto experimental sin abrir meteorología avanzada. Explicitar que un medio variable puede producir dispersión temporal y fluctuación del nivel.</a:t>
            </a:r>
          </a:p>
          <a:p xmlns:a="http://schemas.openxmlformats.org/drawingml/2006/main">
            <a:r>
              <a:t>- **Guía del visual o diagrama:** Presentar primero la estructura general y luego recorrer Esquema cualitativo de paquetes/rayos perturbados y registro fluctuante, Sin modelo numérico.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Un medio variable puede producir dispersión temporal y fluctuación del nivel.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Nombrar el fenómeno y su impacto experimental sin abrir meteorología avanzada.</a:t>
            </a:r>
          </a:p>
          <a:p xmlns:a="http://schemas.openxmlformats.org/drawingml/2006/main">
            <a:r>
              <a:t>- **Transición:** Llevar los factores atmosféricos a una ficha de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U09-DG-024, candidata para diagram-generation. La composición permite reconocer que un medio variable puede producir dispersión temporal y fluctuación del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9.6; PDF p. 241.</a:t>
            </a:r>
          </a:p>
          <a:p xmlns:a="http://schemas.openxmlformats.org/drawingml/2006/main">
            <a:r>
              <a:t>- Asset propio aprobado: U09-DG-024.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Transferir el bloque a una práctica responsable.</a:t>
            </a:r>
          </a:p>
          <a:p xmlns:a="http://schemas.openxmlformats.org/drawingml/2006/main">
            <a:r>
              <a:t>- **Explicación extendida:** Aclarar que registrar no equivale a corregir automáticamente. Explicitar que sin geometría y estado atmosférico, dos mediciones pueden no ser comparables.</a:t>
            </a:r>
          </a:p>
          <a:p xmlns:a="http://schemas.openxmlformats.org/drawingml/2006/main">
            <a:r>
              <a:t>- **Guía del visual o diagrama:** Presentar primero la estructura general y luego recorrer Checklist: distancias, alturas, dirección, temperatura, viento, humedad, presión, suelo, obstáculos, bandas y tiempo.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“Qué registrar antes de comparar mediciones exteriores” sin exceder el modelo?</a:t>
            </a:r>
          </a:p>
          <a:p xmlns:a="http://schemas.openxmlformats.org/drawingml/2006/main">
            <a:r>
              <a:t>- **Respuesta esperada:** Sin geometría y estado atmosférico, dos mediciones pueden no ser comparables.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Aclarar que registrar no equivale a corregir automáticamente.</a:t>
            </a:r>
          </a:p>
          <a:p xmlns:a="http://schemas.openxmlformats.org/drawingml/2006/main">
            <a:r>
              <a:t>- **Transición:** Comprobar si el grupo separa estado uniforme y gradiente.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Ficha de campo editable; U09-DG-025, candidata para diagram-generation. La composición permite reconocer que sin geometría y estado atmosférico, dos mediciones pueden no ser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9.3–9.6; PDF pp. 238–241; brief aplicaciones.</a:t>
            </a:r>
          </a:p>
          <a:p xmlns:a="http://schemas.openxmlformats.org/drawingml/2006/main">
            <a:r>
              <a:t>- Asset propio aprobado: U09-DG-025.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Consolidar el bloque atmosférico.</a:t>
            </a:r>
          </a:p>
          <a:p xmlns:a="http://schemas.openxmlformats.org/drawingml/2006/main">
            <a:r>
              <a:t>- **Explicación extendida:** Repetir la rutina de U09-011 para decidir entre explicación cualitativa, estimación y medición. Explicitar que temperatura, viento, presión/densidad y absorción no cambian la misma magnitud ni del mismo modo.</a:t>
            </a:r>
          </a:p>
          <a:p xmlns:a="http://schemas.openxmlformats.org/drawingml/2006/main">
            <a:r>
              <a:t>- **Guía del visual o diagrama:** Presentar primero la estructura general y luego recorrer Matriz de casos: qué cambia en `c`, `λ`, trayectoria y `L_p`, Una columna “no se puede concluir”.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“Cuatro efectos, cuatro respuestas” sin exceder el modelo?</a:t>
            </a:r>
          </a:p>
          <a:p xmlns:a="http://schemas.openxmlformats.org/drawingml/2006/main">
            <a:r>
              <a:t>- **Respuesta esperada:** Temperatura, viento, presión/densidad y absorción no cambian la misma magnitud ni del mismo modo.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Pasar del medio continuo a una superficie que divide rutas.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U09-DG-026, candidata para diagram-generation. La composición permite reconocer que temperatura, viento, presión/densidad y absorción no cambian la misma magnitud ni del mismo modo.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9.3–9.6; brief U9.</a:t>
            </a:r>
          </a:p>
          <a:p xmlns:a="http://schemas.openxmlformats.org/drawingml/2006/main">
            <a:r>
              <a:t>- Asset propio aprobado: U09-DG-026.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Evitar presentar los mecanismos como etapas sucesivas. Explicitar que una superficie puede reflejar, absorber y transmitir simultáneamente.</a:t>
            </a:r>
          </a:p>
          <a:p xmlns:a="http://schemas.openxmlformats.org/drawingml/2006/main">
            <a:r>
              <a:t>- **Guía del visual o diagrama:** Presentar primero la estructura general y luego recorrer Pregunta guía y tres destinos de energía. Cerrar señalando la idea central, sin leer todas las cajas como una lista.</a:t>
            </a:r>
          </a:p>
          <a:p xmlns:a="http://schemas.openxmlformats.org/drawingml/2006/main">
            <a:r>
              <a:t>- **Pregunta al grupo:** ¿Adónde va la energía incidente?</a:t>
            </a:r>
          </a:p>
          <a:p xmlns:a="http://schemas.openxmlformats.org/drawingml/2006/main">
            <a:r>
              <a:t>- **Respuesta esperada:** Una superficie puede reflejar, absorber y transmitir simultáneamente.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presentar los mecanismos como etapas sucesivas.</a:t>
            </a:r>
          </a:p>
          <a:p xmlns:a="http://schemas.openxmlformats.org/drawingml/2006/main">
            <a:r>
              <a:t>- **Transición:** Representar primero el balance.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Haz incidente que llega a una interfaz. La composición permite reconocer que una superficie puede reflejar, absorber y transmitir simultáneamente.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Construir la representación energética de una superficie.</a:t>
            </a:r>
          </a:p>
          <a:p xmlns:a="http://schemas.openxmlformats.org/drawingml/2006/main">
            <a:r>
              <a:t>- **Explicación extendida:** Aclarar que el espesor y montaje importan y que el dibujo no fija valores. Explicitar que reflexión, absorción y transmisión son fracciones del mismo incidente.</a:t>
            </a:r>
          </a:p>
          <a:p xmlns:a="http://schemas.openxmlformats.org/drawingml/2006/main">
            <a:r>
              <a:t>- **Guía del visual o diagrama:** Presentar primero la estructura general y luego recorrer Flechas incidente, reflejada y transmitida, Absorción dentro del material, Áreas proporcionales conceptuales.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Reflexión, absorción y transmisión son fracciones del mismo incidente.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Aclarar que el espesor y montaje importan y que el dibujo no fija valores.</a:t>
            </a:r>
          </a:p>
          <a:p xmlns:a="http://schemas.openxmlformats.org/drawingml/2006/main">
            <a:r>
              <a:t>- **Transición:** Formalizar el balance con símbolos no ambiguos.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U09-DG-027, candidata para diagram-generation, reconstrucción de figura 9.3. La composición permite reconocer que reflexión, absorción y transmisión son fracciones del mismo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9.7; PDF pp. 241–242; balance-superficie.tex.</a:t>
            </a:r>
          </a:p>
          <a:p xmlns:a="http://schemas.openxmlformats.org/drawingml/2006/main">
            <a:r>
              <a:t>- Asset propio aprobado: U09-DG-027.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Aplicar conservación de energía con notación coherente.</a:t>
            </a:r>
          </a:p>
          <a:p xmlns:a="http://schemas.openxmlformats.org/drawingml/2006/main">
            <a:r>
              <a:t>- **Explicación extendida:** Diferenciar `R_E` de coeficientes de presión y del índice `R` de aislamiento. Explicitar que para fracciones energéticas ideales, `R_E + α + τ_E = 1`.</a:t>
            </a:r>
          </a:p>
          <a:p xmlns:a="http://schemas.openxmlformats.org/drawingml/2006/main">
            <a:r>
              <a:t>- **Guía del visual o diagrama:** Presentar primero la estructura general y luego recorrer Ecuación, intervalo 0–1, significado de cada término y ejemplo parcial `0,55 + 0,30`.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Para fracciones energéticas ideales, `R_E + α + τ_E = 1`.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Diferenciar `R_E` de coeficientes de presión y del índice `R` de aislamiento.</a:t>
            </a:r>
          </a:p>
          <a:p xmlns:a="http://schemas.openxmlformats.org/drawingml/2006/main">
            <a:r>
              <a:t>- **Transición:** Pedir completar el término faltante y explicar dónde fue la energía.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U09-DG-028, candidata para diagram-generation. La composición permite reconocer que para fracciones energéticas ideales, r_e + α + τ_e =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9.7; PDF pp. 241–242; notation_guide.</a:t>
            </a:r>
          </a:p>
          <a:p xmlns:a="http://schemas.openxmlformats.org/drawingml/2006/main">
            <a:r>
              <a:t>- Asset propio aprobado: U09-DG-028.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Verificar balance e interpretación.</a:t>
            </a:r>
          </a:p>
          <a:p xmlns:a="http://schemas.openxmlformats.org/drawingml/2006/main">
            <a:r>
              <a:t>- **Explicación extendida:** Exigir unidad adimensional y frase física; no aceptar solo `0,15`. Explicitar que el resultado numérico solo tiene sentido si cada coeficiente refiere a la misma energía incidente.</a:t>
            </a:r>
          </a:p>
          <a:p xmlns:a="http://schemas.openxmlformats.org/drawingml/2006/main">
            <a:r>
              <a:t>- **Guía del visual o diagrama:** Presentar primero la estructura general y luego recorrer Dos balances simples, Uno válido y uno inconsistente para diagnosticar.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“¿Qué fracción falta?” sin exceder el modelo?</a:t>
            </a:r>
          </a:p>
          <a:p xmlns:a="http://schemas.openxmlformats.org/drawingml/2006/main">
            <a:r>
              <a:t>- **Respuesta esperada:** El resultado numérico solo tiene sentido si cada coeficiente refiere a la misma energía incidente.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Exigir unidad adimensional y frase física; no aceptar solo `0,15`.</a:t>
            </a:r>
          </a:p>
          <a:p xmlns:a="http://schemas.openxmlformats.org/drawingml/2006/main">
            <a:r>
              <a:t>- **Transición:** Profundizar qué significa “reflejar”.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 de cálculo y diagrama reducido. La composición permite reconocer que el resultado numérico solo tiene sentido si cada coeficiente refiere a la misma energía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9.7; content_inventory ejemplo de 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geometría básica de reflexión.</a:t>
            </a:r>
          </a:p>
          <a:p xmlns:a="http://schemas.openxmlformats.org/drawingml/2006/main">
            <a:r>
              <a:t>- **Explicación extendida:** Recuperar U4 y señalar que rugosidad y longitud de onda afectan el carácter especular/difuso. Explicitar que en una interfaz, una parte de la energía retorna al medio de origen.</a:t>
            </a:r>
          </a:p>
          <a:p xmlns:a="http://schemas.openxmlformats.org/drawingml/2006/main">
            <a:r>
              <a:t>- **Guía del visual o diagrama:** Presentar primero la estructura general y luego recorrer Incidencia, normal, ángulos y dependencia con impedancias, Sin desarrollar coeficientes complejos.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En una interfaz, una parte de la energía retorna al medio de origen.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Diferenciar una reflexión física de su organización temporal y perceptual.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U09-DG-029, candidata para diagram-generation. La composición permite reconocer que en una interfaz, una parte de la energía retorna al medio de origen.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9.7.1; PDF p. 242; U4.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Separar mecanismo, llegada distinguible y persistencia global.</a:t>
            </a:r>
          </a:p>
          <a:p xmlns:a="http://schemas.openxmlformats.org/drawingml/2006/main">
            <a:r>
              <a:t>- **Explicación extendida:** Conectar con U7 sin fijar un umbral temporal universal. Explicitar que una reflexión es física; eco y reverberación describen patrones temporales/perceptuales distintos.</a:t>
            </a:r>
          </a:p>
          <a:p xmlns:a="http://schemas.openxmlformats.org/drawingml/2006/main">
            <a:r>
              <a:t>- **Guía del visual o diagrama:** Presentar primero la estructura general y luego recorrer Señal directa, reflexión aislada y cola de múltiples llegadas en una línea temporal.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Una reflexión es física; eco y reverberación describen patrones temporales/perceptuales distintos.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Introducir una interfaz donde también cambia la dirección transmitida.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U09-CH-004 respuesta temporal conceptual, con anotaciones U09-DG-030. La composición permite reconocer que una reflexión es física; eco y reverberación describen patrones temporales/perceptuales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9.7.1/9.7.3; PDF pp. 242–243; U7.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Cubrir el requisito programático con un modelo comprensible.</a:t>
            </a:r>
          </a:p>
          <a:p xmlns:a="http://schemas.openxmlformats.org/drawingml/2006/main">
            <a:r>
              <a:t>- **Explicación extendida:** No equiparar rayos con partículas; presentar conversión modal sin ecuaciones elásticas. Explicitar que al transmitirse, una onda puede cambiar dirección y en un sólido pueden aparecer modos distintos.</a:t>
            </a:r>
          </a:p>
          <a:p xmlns:a="http://schemas.openxmlformats.org/drawingml/2006/main">
            <a:r>
              <a:t>- **Guía del visual o diagrama:** Presentar primero la estructura general y luego recorrer Onda incidente en aire, componente reflejada, transmitida y conversión modal cualitativa, Normales y ángulos.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Al transmitirse, una onda puede cambiar dirección y en un sólido pueden aparecer modos distintos.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equiparar rayos con partículas; presentar conversión modal sin ecuaciones elásticas.</a:t>
            </a:r>
          </a:p>
          <a:p xmlns:a="http://schemas.openxmlformats.org/drawingml/2006/main">
            <a:r>
              <a:t>- **Transición:** Ofrecer Snell solo como formalización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U09-DG-031, candidata para diagram-generation. La composición permite reconocer que al transmitirse, una onda puede cambiar dirección y en un sólido pueden aparecer modos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9.7.4; PDF p. 244; source_analysis.</a:t>
            </a:r>
          </a:p>
          <a:p xmlns:a="http://schemas.openxmlformats.org/drawingml/2006/main">
            <a:r>
              <a:t>- Asset propio aprobado: U09-DG-031.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 en la ruta complementaria.</a:t>
            </a:r>
          </a:p>
          <a:p xmlns:a="http://schemas.openxmlformats.org/drawingml/2006/main">
            <a:r>
              <a:t>- **Propósito docente:** Precisar cualitativamente la relación entre cambio de rapidez y cambio de dirección.</a:t>
            </a:r>
          </a:p>
          <a:p xmlns:a="http://schemas.openxmlformats.org/drawingml/2006/main">
            <a:r>
              <a:t>- **Explicación extendida:** Mantener fuera del núcleo cualquier cálculo de conversión modal; usar solo si el grupo domina ángulos. Explicitar que la dirección transmitida depende de las velocidades de fase y de los modos considerados.</a:t>
            </a:r>
          </a:p>
          <a:p xmlns:a="http://schemas.openxmlformats.org/drawingml/2006/main">
            <a:r>
              <a:t>- **Guía del visual o diagrama:** Contrastar “relación geométrica” con “lectura segura”; remarcar que los ángulos se miden desde la normal y que la slide no calcula conversión modal.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dirección transmitida depende de las velocidades de fase y de los modos considerados.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Volver a una ruta que rodea el obstáculo sin atravesarlo.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columnas comparan la relación geométrica entre rapidez y dirección con los límites de la lectura cualitativa.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9.7.4; fuente académica a seleccionar.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Explicar el rodeo de bordes y aberturas.</a:t>
            </a:r>
          </a:p>
          <a:p xmlns:a="http://schemas.openxmlformats.org/drawingml/2006/main">
            <a:r>
              <a:t>- **Explicación extendida:** Evitar “los graves atraviesan”; la ruta dibujada debe rodear el borde. Explicitar que la importancia de la difracción depende de `λ` comparada con la escala geométrica.</a:t>
            </a:r>
          </a:p>
          <a:p xmlns:a="http://schemas.openxmlformats.org/drawingml/2006/main">
            <a:r>
              <a:t>- **Guía del visual o diagrama:** Presentar primero la estructura general y luego recorrer Borde, región de sombra, frente incidente y frentes difractados, Comparación grande/pequeña `λ`.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importancia de la difracción depende de `λ` comparada con la escala geométrica.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“los graves atraviesan”; la ruta dibujada debe rodear el borde.</a:t>
            </a:r>
          </a:p>
          <a:p xmlns:a="http://schemas.openxmlformats.org/drawingml/2006/main">
            <a:r>
              <a:t>- **Transición:** Cuantificar longitudes de onda sin calcular atenuación de barrera.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U09-DG-033, candidata para diagram-generation. La composición permite reconocer que la importancia de la difracción depende de λ comparada con la escala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9.7.5; PDF p. 244; figura difraccion-barrera.tex.</a:t>
            </a:r>
          </a:p>
          <a:p xmlns:a="http://schemas.openxmlformats.org/drawingml/2006/main">
            <a:r>
              <a:t>- Asset propio aprobado: U09-DG-033.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Relacionar frecuencia con tamaño de obstáculos.</a:t>
            </a:r>
          </a:p>
          <a:p xmlns:a="http://schemas.openxmlformats.org/drawingml/2006/main">
            <a:r>
              <a:t>- **Explicación extendida:** Leer ejes y unidades; evitar deducir una atenuación sin geometría adicional. Explicitar que a menor frecuencia, mayor longitud de onda para el mismo medio.</a:t>
            </a:r>
          </a:p>
          <a:p xmlns:a="http://schemas.openxmlformats.org/drawingml/2006/main">
            <a:r>
              <a:t>- **Guía del visual o diagrama:** Presentar primero la estructura general y luego recorrer Curva `λ(f)` y marcadores 125, 500 y 4000 Hz, Escalas de barrera elegidas.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A menor frecuencia, mayor longitud de onda para el mismo medio.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Leer ejes y unidades; evitar deducir una atenuación sin geometría adicional.</a:t>
            </a:r>
          </a:p>
          <a:p xmlns:a="http://schemas.openxmlformats.org/drawingml/2006/main">
            <a:r>
              <a:t>- **Transición:** Aplicar los valores a una misma barrera.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U09-CH-005 longitud de onda frente a frecuencia. La composición permite reconocer que a menor frecuencia, mayor longitud de onda para el mismo 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λ=c/f; LaTeX 9.7.5 y ejercicios; PDF pp. 244, 252, 256.</a:t>
            </a:r>
          </a:p>
          <a:p xmlns:a="http://schemas.openxmlformats.org/drawingml/2006/main">
            <a:r>
              <a:t>- Asset propio aprobado: U09-CH-005.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Transferir la comparación `λ/escala`.</a:t>
            </a:r>
          </a:p>
          <a:p xmlns:a="http://schemas.openxmlformats.org/drawingml/2006/main">
            <a:r>
              <a:t>- **Explicación extendida:** Pedir predicción cualitativa antes del revelado; declarar que no es un modelo de inserción cuantitativa. Explicitar que la región de sombra y el rodeo del borde cambian con frecuencia, pero no producen una pérdida fija universal.</a:t>
            </a:r>
          </a:p>
          <a:p xmlns:a="http://schemas.openxmlformats.org/drawingml/2006/main">
            <a:r>
              <a:t>- **Guía del visual o diagrama:** Presentar primero la estructura general y luego recorrer Tres paneles con misma geometría y `λ` diferente, Receptor fijo.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región de sombra y el rodeo del borde cambian con frecuencia, pero no producen una pérdida fija universal.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Pedir predicción cualitativa antes del revelado; declarar que no es un modelo de inserción cuantitativa.</a:t>
            </a:r>
          </a:p>
          <a:p xmlns:a="http://schemas.openxmlformats.org/drawingml/2006/main">
            <a:r>
              <a:t>- **Transición:** Separar la ruta alrededor del borde de la que atraviesa el cerramiento.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U09-DG-034, candidata para diagram-generation. La composición permite reconocer que la región de sombra y el rodeo del borde cambian con frecuencia, pero no producen una pérdida fija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9.7.5; PDF p. 244; figura 9.4.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Desactivar la frase “los graves atraviesan”.</a:t>
            </a:r>
          </a:p>
          <a:p xmlns:a="http://schemas.openxmlformats.org/drawingml/2006/main">
            <a:r>
              <a:t>- **Explicación extendida:** Usar el mismo obstáculo para controlar que solo cambie la ruta explicada. Explicitar que rodear un borde y atravesar un material son rutas físicas diferentes.</a:t>
            </a:r>
          </a:p>
          <a:p xmlns:a="http://schemas.openxmlformats.org/drawingml/2006/main">
            <a:r>
              <a:t>- **Guía del visual o diagrama:** Presentar primero la estructura general y luego recorrer Dos diagramas paralelos: ruta exterior difractada y ruta transmitida, Variables que domina cada una.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“¿Difracción o transmisión?” para que sea físicamente válida?</a:t>
            </a:r>
          </a:p>
          <a:p xmlns:a="http://schemas.openxmlformats.org/drawingml/2006/main">
            <a:r>
              <a:t>- **Respuesta esperada:** Rodear un borde y atravesar un material son rutas físicas diferentes.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Incorporar una comparación opcional de coeficientes antes de cerrar.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U09-DG-035, candidata para diagram-generation. La composición permite reconocer que rodear un borde y atravesar un material son rutas físicas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LaTeX 9.7/9.7.5; PDF pp. 241–245.</a:t>
            </a:r>
          </a:p>
          <a:p xmlns:a="http://schemas.openxmlformats.org/drawingml/2006/main">
            <a:r>
              <a:t>- Asset propio aprobado: U09-DG-035.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seis mecanismos sin mezclarlos.</a:t>
            </a:r>
          </a:p>
          <a:p xmlns:a="http://schemas.openxmlformats.org/drawingml/2006/main">
            <a:r>
              <a:t>- **Explicación extendida:** Repetir la idea de U09-009 con nueva función: distinguir mecanismos en diagramas concretos. Explicitar que la clasificación correcta depende de la ruta, la magnitud y la escala geométrica.</a:t>
            </a:r>
          </a:p>
          <a:p xmlns:a="http://schemas.openxmlformats.org/drawingml/2006/main">
            <a:r>
              <a:t>- **Guía del visual o diagrama:** Presentar primero la estructura general y luego recorrer Mapa de decisión: retorna, se disipa, atraviesa, cambia dirección o rodea, Preguntas de evidencia.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clasificación correcta depende de la ruta, la magnitud y la escala geométrica.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Repetir la idea de U09-009 con nueva función: distinguir mecanismos en diagramas concretos.</a:t>
            </a:r>
          </a:p>
          <a:p xmlns:a="http://schemas.openxmlformats.org/drawingml/2006/main">
            <a:r>
              <a:t>- **Transición:** Llevar múltiples reflexiones al interior de una sala.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U09-DG-036, candidata para diagram-generation. La composición permite reconocer que la clasificación correcta depende de la ruta, la magnitud y la escala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9.7; PDF pp. 241–244.</a:t>
            </a:r>
          </a:p>
          <a:p xmlns:a="http://schemas.openxmlformats.org/drawingml/2006/main">
            <a:r>
              <a:t>- Asset propio aprobado: U09-DG-036.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Conectar con U7 y anunciar que ahora se formaliza el campo. Explicitar que en un recinto, el receptor recibe una secuencia de llegadas, no una sola ruta.</a:t>
            </a:r>
          </a:p>
          <a:p xmlns:a="http://schemas.openxmlformats.org/drawingml/2006/main">
            <a:r>
              <a:t>- **Guía del visual o diagrama:** Presentar primero la estructura general y luego recorrer Pregunta guía y transición exterior–interior. Cerrar señalando la idea central, sin leer todas las cajas como una lista.</a:t>
            </a:r>
          </a:p>
          <a:p xmlns:a="http://schemas.openxmlformats.org/drawingml/2006/main">
            <a:r>
              <a:t>- **Pregunta al grupo:** ¿Cómo persiste el sonido en una sala?</a:t>
            </a:r>
          </a:p>
          <a:p xmlns:a="http://schemas.openxmlformats.org/drawingml/2006/main">
            <a:r>
              <a:t>- **Respuesta esperada:** En un recinto, el receptor recibe una secuencia de llegadas, no una sola ruta.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Construir la secuencia temporal de llegadas.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Sala con ruta directa y primeras reflexiones. La composición permite reconocer que en un recinto, el receptor recibe una secuencia de llegadas, no una sola ruta.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5; U7.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Explicar cómo se forma la persistencia.</a:t>
            </a:r>
          </a:p>
          <a:p xmlns:a="http://schemas.openxmlformats.org/drawingml/2006/main">
            <a:r>
              <a:t>- **Explicación extendida:** Evitar que cada flecha se interprete como eco audible; vincular geometría y tiempo. Explicitar que múltiples reflexiones producen una densidad creciente de llegadas y un decaimiento global.</a:t>
            </a:r>
          </a:p>
          <a:p xmlns:a="http://schemas.openxmlformats.org/drawingml/2006/main">
            <a:r>
              <a:t>- **Guía del visual o diagrama:** Presentar primero la estructura general y luego recorrer Etapas: directa, tempranas, campo denso y decaimiento.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Múltiples reflexiones producen una densidad creciente de llegadas y un decaimiento global.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que cada flecha se interprete como eco audible; vincular geometría y tiempo.</a:t>
            </a:r>
          </a:p>
          <a:p xmlns:a="http://schemas.openxmlformats.org/drawingml/2006/main">
            <a:r>
              <a:t>- **Transición:** Definir una magnitud que describa el decaimiento.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U09-DG-037, candidata para diagram-generation. La composición permite reconocer que múltiples reflexiones producen una densidad creciente de llegadas y un decaimiento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PDF pp. 242–243.</a:t>
            </a:r>
          </a:p>
          <a:p xmlns:a="http://schemas.openxmlformats.org/drawingml/2006/main">
            <a:r>
              <a:t>- Asset propio aprobado: U09-DG-037.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Interpretar el tiempo de reverberación en un gráfico.</a:t>
            </a:r>
          </a:p>
          <a:p xmlns:a="http://schemas.openxmlformats.org/drawingml/2006/main">
            <a:r>
              <a:t>- **Explicación extendida:** Separar definición de método de medición; no presentar una única curva como universal. Explicitar que `T_60` es el tiempo asociado a una caída de 60 dB bajo condiciones definidas.</a:t>
            </a:r>
          </a:p>
          <a:p xmlns:a="http://schemas.openxmlformats.org/drawingml/2006/main">
            <a:r>
              <a:t>- **Guía del visual o diagrama:** Presentar primero la estructura general y luego recorrer Curva de decaimiento, niveles inicial/final, intervalo temporal y extrapolación indicada si se usa.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`T_60` es el tiempo asociado a una caída de 60 dB bajo condiciones definidas.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Separar definición de método de medición; no presentar una única curva como universal.</a:t>
            </a:r>
          </a:p>
          <a:p xmlns:a="http://schemas.openxmlformats.org/drawingml/2006/main">
            <a:r>
              <a:t>- **Transición:** Explicar de qué depende el decaimiento en el modelo de Sabine.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U09-CH-006 decaimiento sonoro anotado. La composición permite reconocer que t₆₀ es el tiempo asociado a una caída de 60 db bajo condiciones definidas.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PDF pp. 242–243; glossary.</a:t>
            </a:r>
          </a:p>
          <a:p xmlns:a="http://schemas.openxmlformats.org/drawingml/2006/main">
            <a:r>
              <a:t>- Asset propio aprobado: U09-CH-006.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Construir el significado de `A_eq`.</a:t>
            </a:r>
          </a:p>
          <a:p xmlns:a="http://schemas.openxmlformats.org/drawingml/2006/main">
            <a:r>
              <a:t>- **Explicación extendida:** Diferenciar área geométrica de área equivalente y recordar que `α` es adimensional. Explicitar que superficies y coeficientes se combinan como `A_eq = Σ α_i S_i`.</a:t>
            </a:r>
          </a:p>
          <a:p xmlns:a="http://schemas.openxmlformats.org/drawingml/2006/main">
            <a:r>
              <a:t>- **Guía del visual o diagrama:** Presentar primero la estructura general y luego recorrer Sumas por superficies, unidades `m²` equivalentes y dependencia por frecuencia.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Superficies y coeficientes se combinan como `A_eq = Σ α_i S_i`.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Diferenciar área geométrica de área equivalente y recordar que `α` es adimensional.</a:t>
            </a:r>
          </a:p>
          <a:p xmlns:a="http://schemas.openxmlformats.org/drawingml/2006/main">
            <a:r>
              <a:t>- **Transición:** Conectar volumen y absorción con `T_60`.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U09-DG-038, candidata para diagram-generation. La composición permite reconocer que superficies y coeficientes se combinan como aₑq = σ αᵢ sᵢ.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9.8; PDF pp. 242–243; notation_guide.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Aplicar un modelo simple con límites visibles.</a:t>
            </a:r>
          </a:p>
          <a:p xmlns:a="http://schemas.openxmlformats.org/drawingml/2006/main">
            <a:r>
              <a:t>- **Explicación extendida:** Explicar la constante para SI y declarar campo aproximadamente difuso y absorción distribuida. Explicitar que en el modelo de Sabine, mayor `V` alarga y mayor `A_eq` acorta `T_60`.</a:t>
            </a:r>
          </a:p>
          <a:p xmlns:a="http://schemas.openxmlformats.org/drawingml/2006/main">
            <a:r>
              <a:t>- **Guía del visual o diagrama:** Presentar primero la estructura general y luego recorrer `T_60 ≈ 0,161 V/A_eq`, Símbolos, unidades, flechas de proporcionalidad e hipótesis.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En el modelo de Sabine, mayor `V` alarga y mayor `A_eq` acorta `T_60`.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Resolver el aula del capítulo.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U09-DG-039, candidata para diagram-generation. La composición permite reconocer que en el modelo de sabine, mayor v alarga y mayor aₑq acorta t₆₀.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9.8; PDF pp. 242–243; notation_guide.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geometría, absorción y tiempo.</a:t>
            </a:r>
          </a:p>
          <a:p xmlns:a="http://schemas.openxmlformats.org/drawingml/2006/main">
            <a:r>
              <a:t>- **Explicación extendida:** Verificar unidades y discutir qué información falta para valorar la sala por bandas y uso. Explicitar que el cálculo entrega una estimación contextual, no un criterio universal de calidad.</a:t>
            </a:r>
          </a:p>
          <a:p xmlns:a="http://schemas.openxmlformats.org/drawingml/2006/main">
            <a:r>
              <a:t>- **Guía del visual o diagrama:** Presentar primero la estructura general y luego recorrer `V`, superficie total, `ᾱ`, `A_eq=45 m²`, `T_60≈0,52 s` e interpretación limitada.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“Un aula de 8 × 6 × 3 m” sin exceder el modelo?</a:t>
            </a:r>
          </a:p>
          <a:p xmlns:a="http://schemas.openxmlformats.org/drawingml/2006/main">
            <a:r>
              <a:t>- **Respuesta esperada:** El cálculo entrega una estimación contextual, no un criterio universal de calidad.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Mostrar por qué el mismo número puede ocultar distribuciones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Secuencia de cálculo U09-DG-040, candidata para diagram-generation. La composición permite reconocer que el cálculo entrega una estimación contextual, no un criterio universal de calidad.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PDF pp. 242–243; content_inventory ejemplo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Limitar la reducción de una sala a un único número.</a:t>
            </a:r>
          </a:p>
          <a:p xmlns:a="http://schemas.openxmlformats.org/drawingml/2006/main">
            <a:r>
              <a:t>- **Explicación extendida:** No introducir modelos alternativos; usar la comparación para problematizar la extrapolación. Explicitar que la distribución espacial de la absorción y la geometría también importan.</a:t>
            </a:r>
          </a:p>
          <a:p xmlns:a="http://schemas.openxmlformats.org/drawingml/2006/main">
            <a:r>
              <a:t>- **Guía del visual o diagrama:** Presentar primero la estructura general y luego recorrer Dos salas con igual suma de absorción y ubicación distinta, Receptores con campos diferentes.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distribución espacial de la absorción y la geometría también importan.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introducir modelos alternativos; usar la comparación para problematizar la extrapolación.</a:t>
            </a:r>
          </a:p>
          <a:p xmlns:a="http://schemas.openxmlformats.org/drawingml/2006/main">
            <a:r>
              <a:t>- **Transición:** Convertir los límites en un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U09-DG-041, candidata para diagram-generation. La composición permite reconocer que la distribución espacial de la absorción y la geometría también importan.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LaTeX 9.7.3; source_analysis.</a:t>
            </a:r>
          </a:p>
          <a:p xmlns:a="http://schemas.openxmlformats.org/drawingml/2006/main">
            <a:r>
              <a:t>- Asset propio aprobado: U09-DG-041.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Separar acondicionamiento de aislamiento.</a:t>
            </a:r>
          </a:p>
          <a:p xmlns:a="http://schemas.openxmlformats.org/drawingml/2006/main">
            <a:r>
              <a:t>- **Explicación extendida:** Preparar el bloque de aislamiento sin resolverlo todavía. Explicitar que `T_60` describe el decaimiento interior; no mide cuánto atraviesa el cerramiento.</a:t>
            </a:r>
          </a:p>
          <a:p xmlns:a="http://schemas.openxmlformats.org/drawingml/2006/main">
            <a:r>
              <a:t>- **Guía del visual o diagrama:** Presentar primero la estructura general y luego recorrer Dos preguntas y dos magnitudes: campo interior frente a paso entre recintos.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“Un T_60 corto significa buen aislamiento” para que sea físicamente válida?</a:t>
            </a:r>
          </a:p>
          <a:p xmlns:a="http://schemas.openxmlformats.org/drawingml/2006/main">
            <a:r>
              <a:t>- **Respuesta esperada:** `T_60` describe el decaimiento interior; no mide cuánto atraviesa el cerramiento.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Ofrecer una demostración opcional y segura.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U09-DG-042, candidata para diagram-generation. La composición permite reconocer que t₆₀ describe el decaimiento interior; no mide cuánto atraviesa el cerramiento.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9.7.3–9.8; PDF pp. 242–247.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Vincular experiencia auditiva con representación temporal.</a:t>
            </a:r>
          </a:p>
          <a:p xmlns:a="http://schemas.openxmlformats.org/drawingml/2006/main">
            <a:r>
              <a:t>- **Explicación extendida:** Mantener nivel seguro; no usarlo como medición ni pedir autodiagnóstico. Explicitar que la diferencia audible debe acompañarse con forma de onda o envolvente y condiciones de reproducción.</a:t>
            </a:r>
          </a:p>
          <a:p xmlns:a="http://schemas.openxmlformats.org/drawingml/2006/main">
            <a:r>
              <a:t>- **Guía del visual o diagrama:** Presentar primero la estructura general y luego recorrer Audio breve de habla seca/reverberada o animación de decaimiento, Alternativa estática completa.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diferencia audible debe acompañarse con forma de onda o envolvente y condiciones de reproducción.</a:t>
            </a:r>
          </a:p>
          <a:p xmlns:a="http://schemas.openxmlformats.org/drawingml/2006/main">
            <a:r>
              <a:t>- **Demostración o revelado:** Reproducir primero habla seca y luego reverberada a nivel seguro; mostrar en simultáneo la alternativa estática de la envolvente.</a:t>
            </a:r>
          </a:p>
          <a:p xmlns:a="http://schemas.openxmlformats.org/drawingml/2006/main">
            <a:r>
              <a:t>- **Error frecuente:** Mantener nivel seguro; no usarlo como medición ni pedir autodiagnóstico.</a:t>
            </a:r>
          </a:p>
          <a:p xmlns:a="http://schemas.openxmlformats.org/drawingml/2006/main">
            <a:r>
              <a:t>- **Transición:** Recapitular qué describe cada magnitud antes de pasar de sala a pared.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[Media]</a:t>
            </a:r>
          </a:p>
          <a:p xmlns:a="http://schemas.openxmlformats.org/drawingml/2006/main">
            <a:r>
              <a:t>U09-MEDIA-001 identificado; no embebido en v02. Reproducir solo si se dispone del audio aprobado y mantener la alternativa estática.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U09-MEDIA-001 y U09-CH-006. La composición permite reconocer que la diferencia audible debe acompañarse con forma de onda o envolvente y condiciones de reproducción.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brief demostraciones; AGENTS seguridad.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el modelo de sala.</a:t>
            </a:r>
          </a:p>
          <a:p xmlns:a="http://schemas.openxmlformats.org/drawingml/2006/main">
            <a:r>
              <a:t>- **Explicación extendida:** Repetir reflexión/reverberación con función nueva: conectar mecanismo y descriptor cuantitativo. Explicitar que reflexiones explican persistencia; `T_60` y Sabine resumen bajo hipótesis, no miden aislamiento.</a:t>
            </a:r>
          </a:p>
          <a:p xmlns:a="http://schemas.openxmlformats.org/drawingml/2006/main">
            <a:r>
              <a:t>- **Guía del visual o diagrama:** Presentar primero la estructura general y luego recorrer Cadena: geometría → llegadas → decaimiento → `T_60`, Caja separada de límites.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Reflexiones explican persistencia; `T_60` y Sabine resumen bajo hipótesis, no miden aislamiento.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Preguntar ahora qué describe la energía que sí atraviesa el cerramiento.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U09-DG-043, candidata para diagram-generation. La composición permite reconocer que reflexiones explican persistencia; t₆₀ y sabine resumen bajo hipótesis, no miden aislamiento.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9.7.1–9.7.3; PDF pp. 242–243.</a:t>
            </a:r>
          </a:p>
          <a:p xmlns:a="http://schemas.openxmlformats.org/drawingml/2006/main">
            <a:r>
              <a:t>- Asset propio aprobado: U09-DG-043.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Distinguir objetivo de mecanismo y descriptor. Explicitar que aislar exige analizar el conjunto y sus rutas, no solo una superficie ideal.</a:t>
            </a:r>
          </a:p>
          <a:p xmlns:a="http://schemas.openxmlformats.org/drawingml/2006/main">
            <a:r>
              <a:t>- **Guía del visual o diagrama:** Presentar primero la estructura general y luego recorrer Pregunta guía con recinto emisor y receptor. Cerrar señalando la idea central, sin leer todas las cajas como una lista.</a:t>
            </a:r>
          </a:p>
          <a:p xmlns:a="http://schemas.openxmlformats.org/drawingml/2006/main">
            <a:r>
              <a:t>- **Pregunta al grupo:** ¿Qué limita el paso entre espacios?</a:t>
            </a:r>
          </a:p>
          <a:p xmlns:a="http://schemas.openxmlformats.org/drawingml/2006/main">
            <a:r>
              <a:t>- **Respuesta esperada:** Aislar exige analizar el conjunto y sus rutas, no solo una superficie ideal.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Distinguir objetivo de mecanismo y descriptor.</a:t>
            </a:r>
          </a:p>
          <a:p xmlns:a="http://schemas.openxmlformats.org/drawingml/2006/main">
            <a:r>
              <a:t>- **Transición:** Comenzar por la fracción transmitida.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Corte simple de dos recintos. La composición permite reconocer que aislar exige analizar el conjunto y sus rutas, no solo una superficie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Relacionar transmisión energética y reducción sonora.</a:t>
            </a:r>
          </a:p>
          <a:p xmlns:a="http://schemas.openxmlformats.org/drawingml/2006/main">
            <a:r>
              <a:t>- **Explicación extendida:** Aclarar que `R` no es cualquier diferencia de niveles medida in situ. Explicitar que menor fracción transmitida corresponde a mayor `R`.</a:t>
            </a:r>
          </a:p>
          <a:p xmlns:a="http://schemas.openxmlformats.org/drawingml/2006/main">
            <a:r>
              <a:t>- **Guía del visual o diagrama:** Presentar primero la estructura general y luego recorrer `R = 10 log10(1/τ_E)`, Símbolos, unidad dB y dominio, Ejemplos 0,01 y 0,001.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Menor fracción transmitida corresponde a mayor `R`.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Aclarar que `R` no es cualquier diferencia de niveles medida in situ.</a:t>
            </a:r>
          </a:p>
          <a:p xmlns:a="http://schemas.openxmlformats.org/drawingml/2006/main">
            <a:r>
              <a:t>- **Transición:** Hacer visible la relación en una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U09-DG-044, candidata para diagram-generation. La composición permite reconocer que menor fracción transmitida corresponde a mayor 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9.9; PDF pp. 244–245; notation_guide.</a:t>
            </a:r>
          </a:p>
          <a:p xmlns:a="http://schemas.openxmlformats.org/drawingml/2006/main">
            <a:r>
              <a:t>- Asset propio aprobado: U09-DG-044.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Leer la relación `τ_E ↔ R`.</a:t>
            </a:r>
          </a:p>
          <a:p xmlns:a="http://schemas.openxmlformats.org/drawingml/2006/main">
            <a:r>
              <a:t>- **Explicación extendida:** Exigir lectura de ejes; relacionar 1 %, 0,1 % y 0,01 % sin sugerir desempeño constructivo total. Explicitar que cada década menos de transmisión suma 10 dB al índice ideal.</a:t>
            </a:r>
          </a:p>
          <a:p xmlns:a="http://schemas.openxmlformats.org/drawingml/2006/main">
            <a:r>
              <a:t>- **Guía del visual o diagrama:** Presentar primero la estructura general y luego recorrer Curva o eje doble con `τ_E` de 1 a 10⁻⁶ y `R` correspondiente.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Cada década menos de transmisión suma 10 dB al índice ideal.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Pasar del elemento ideal al conjunto construido.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U09-CH-007 transmisión frente a índice. La composición permite reconocer que cada década menos de transmisión suma 10 db al índice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Ecuación 9.9; datos generados por fórmula.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transmisión directa, fugas y rutas laterales.</a:t>
            </a:r>
          </a:p>
          <a:p xmlns:a="http://schemas.openxmlformats.org/drawingml/2006/main">
            <a:r>
              <a:t>- **Explicación extendida:** Diseñar conectores detrás de nodos y separar rutas por revelado; no prescribir soluciones. Explicitar que el desempeño del conjunto puede quedar limitado por una ruta débil.</a:t>
            </a:r>
          </a:p>
          <a:p xmlns:a="http://schemas.openxmlformats.org/drawingml/2006/main">
            <a:r>
              <a:t>- **Guía del visual o diagrama:** Presentar primero la estructura general y luego recorrer Pared principal, puerta, junta, ventilación, estructura y flanqueo, Emisor/receptor.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El desempeño del conjunto puede quedar limitado por una ruta débil.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Diseñar conectores detrás de nodos y separar rutas por revelado; no prescribir soluciones.</a:t>
            </a:r>
          </a:p>
          <a:p xmlns:a="http://schemas.openxmlformats.org/drawingml/2006/main">
            <a:r>
              <a:t>- **Transición:** Comparar tres objetivos que suelen llamarse “reducir sonido”.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U09-DG-045, candidata para diagram-generation. La composición permite reconocer que el desempeño del conjunto puede quedar limitado por una ruta débil.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9.8–9.8.1; PDF pp. 245–249.</a:t>
            </a:r>
          </a:p>
          <a:p xmlns:a="http://schemas.openxmlformats.org/drawingml/2006/main">
            <a:r>
              <a:t>- Asset propio aprobado: U09-DG-045.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Elegir términos según el objetivo físico.</a:t>
            </a:r>
          </a:p>
          <a:p xmlns:a="http://schemas.openxmlformats.org/drawingml/2006/main">
            <a:r>
              <a:t>- **Explicación extendida:** Evitar presentar “insonorización” como magnitud; usar el glosario del curso. Explicitar que acondicionar modifica el campo interior; aislar limita transmisión; insonorizar es un objetivo general.</a:t>
            </a:r>
          </a:p>
          <a:p xmlns:a="http://schemas.openxmlformats.org/drawingml/2006/main">
            <a:r>
              <a:t>- **Guía del visual o diagrama:** Presentar primero la estructura general y luego recorrer Matriz objetivo–mecanismo–magnitud–verificación–ejemplo.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Acondicionar modifica el campo interior; aislar limita transmisión; insonorizar es un objetivo general.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presentar “insonorización” como magnitud; usar el glosario del curso.</a:t>
            </a:r>
          </a:p>
          <a:p xmlns:a="http://schemas.openxmlformats.org/drawingml/2006/main">
            <a:r>
              <a:t>- **Transición:** Introducir una tendencia útil para una pared simple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U09-DG-046, candidata para diagram-generation. La composición permite reconocer que acondicionar modifica el campo interior; aislar limita transmisión; insonorizar es un objetivo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glossary; LaTeX 9.7–9.8; PDF pp. 242–249.</a:t>
            </a:r>
          </a:p>
          <a:p xmlns:a="http://schemas.openxmlformats.org/drawingml/2006/main">
            <a:r>
              <a:t>- Asset propio aprobado: U09-DG-046.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Preparar la ley de masas con una magnitud clara.</a:t>
            </a:r>
          </a:p>
          <a:p xmlns:a="http://schemas.openxmlformats.org/drawingml/2006/main">
            <a:r>
              <a:t>- **Explicación extendida:** Señalar que `m_s` es elección didáctica provisional coherente con la guía. Explicitar que para una hoja simple ideal importa la masa superficial, no solo el material o el espesor por separado.</a:t>
            </a:r>
          </a:p>
          <a:p xmlns:a="http://schemas.openxmlformats.org/drawingml/2006/main">
            <a:r>
              <a:t>- **Guía del visual o diagrama:** Presentar primero la estructura general y luego recorrer Definición `m_s = masa/área`, unidad `kg·m⁻²` y dos paneles comparables.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Para una hoja simple ideal importa la masa superficial, no solo el material o el espesor por separado.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Presentar primero la tendencia relativa de la ley.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U09-DG-047, candidata para diagram-generation. La composición permite reconocer que para una hoja simple ideal importa la masa superficial, no solo el material o el espesor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9.8; PDF pp. 245–246; open_decisions OD-U09-06.</a:t>
            </a:r>
          </a:p>
          <a:p xmlns:a="http://schemas.openxmlformats.org/drawingml/2006/main">
            <a:r>
              <a:t>- Asset propio aprobado: U09-DG-047.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Interpretar la dependencia con masa y frecuencia.</a:t>
            </a:r>
          </a:p>
          <a:p xmlns:a="http://schemas.openxmlformats.org/drawingml/2006/main">
            <a:r>
              <a:t>- **Explicación extendida:** Evitar fijar un valor absoluto hasta verificar convención; priorizar `ΔR`. Explicitar que en la región controlada por masa, duplicar `m_s` o `f` aumenta aproximadamente 6 dB.</a:t>
            </a:r>
          </a:p>
          <a:p xmlns:a="http://schemas.openxmlformats.org/drawingml/2006/main">
            <a:r>
              <a:t>- **Guía del visual o diagrama:** Presentar primero la estructura general y luego recorrer Forma didáctica de la ley, término dependiente de convención y cambios relativos seguros.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En la región controlada por masa, duplicar `m_s` o `f` aumenta aproximadamente 6 dB.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fijar un valor absoluto hasta verificar convención; priorizar `ΔR`.</a:t>
            </a:r>
          </a:p>
          <a:p xmlns:a="http://schemas.openxmlformats.org/drawingml/2006/main">
            <a:r>
              <a:t>- **Transición:** Resolver solo la duplicación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U09-DG-048, candidata para diagram-generation. La composición permite reconocer que en la región controlada por masa, duplicar mₛ o f aumenta aproximadamente 6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9.10; PDF pp. 245–246; open_decisions OD-U09-17.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Practicar la pendiente relativa.</a:t>
            </a:r>
          </a:p>
          <a:p xmlns:a="http://schemas.openxmlformats.org/drawingml/2006/main">
            <a:r>
              <a:t>- **Explicación extendida:** Exigir “bajo el modelo” en la conclusión y separar pared de cabina completa. Explicitar que el cambio ideal es `20 log10 2 ≈ 6,02 dB`; no garantiza el desempeño real del sistema.</a:t>
            </a:r>
          </a:p>
          <a:p xmlns:a="http://schemas.openxmlformats.org/drawingml/2006/main">
            <a:r>
              <a:t>- **Guía del visual o diagrama:** Presentar primero la estructura general y luego recorrer Dos comparaciones relativas y una pregunta de interpretación.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“¿Qué cambia al duplicar masa o frecuencia?” sin exceder el modelo?</a:t>
            </a:r>
          </a:p>
          <a:p xmlns:a="http://schemas.openxmlformats.org/drawingml/2006/main">
            <a:r>
              <a:t>- **Respuesta esperada:** El cambio ideal es `20 log10 2 ≈ 6,02 dB`; no garantiza el desempeño real del sistema.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Mostrar dónde deja de describir bien una pared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Secuencia de cálculo U09-DG-049, candidata para diagram-generation. La composición permite reconocer que el cambio ideal es 20 log10 2 ≈ 6,02 db; no garantiza el desempeño real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9.8; PDF pp. 245–246; content_inventory ejemplo 6.</a:t>
            </a:r>
          </a:p>
          <a:p xmlns:a="http://schemas.openxmlformats.org/drawingml/2006/main">
            <a:r>
              <a:t>- Asset propio aprobado: U09-DG-049.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rigidez, resonancias y coincidencia como límites.</a:t>
            </a:r>
          </a:p>
          <a:p xmlns:a="http://schemas.openxmlformats.org/drawingml/2006/main">
            <a:r>
              <a:t>- **Explicación extendida:** No introducir frecuencia crítica ni diseño multicapa; usarla como mapa de límites. Explicitar que una pared real presenta regiones que la ley de masas simple no describe.</a:t>
            </a:r>
          </a:p>
          <a:p xmlns:a="http://schemas.openxmlformats.org/drawingml/2006/main">
            <a:r>
              <a:t>- **Guía del visual o diagrama:** Presentar primero la estructura general y luego recorrer Curva conceptual por frecuencia con zonas rotuladas y región de masa destacada.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Una pared real presenta regiones que la ley de masas simple no describe.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introducir frecuencia crítica ni diseño multicapa; usarla como mapa de límites.</a:t>
            </a:r>
          </a:p>
          <a:p xmlns:a="http://schemas.openxmlformats.org/drawingml/2006/main">
            <a:r>
              <a:t>- **Transición:** Volver al principio de ruta débil.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U09-CH-008 ley de masas con regiones cualitativas. La composición permite reconocer que una pared real presenta regiones que la ley de masas simple no describe.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9.8; PDF pp. 245–246; figura ley-masas-pared-simple.tex.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Mostrar el dominio del conjunto y las rutas laterales.</a:t>
            </a:r>
          </a:p>
          <a:p xmlns:a="http://schemas.openxmlformats.org/drawingml/2006/main">
            <a:r>
              <a:t>- **Explicación extendida:** No asignar valores comerciales; pedir identificar la ruta limitante. Explicitar que mejorar el elemento principal no compensa automáticamente fugas, accesos o flanqueo.</a:t>
            </a:r>
          </a:p>
          <a:p xmlns:a="http://schemas.openxmlformats.org/drawingml/2006/main">
            <a:r>
              <a:t>- **Guía del visual o diagrama:** Presentar primero la estructura general y luego recorrer Dos escenarios con mismo panel y distinta junta/puerta, Comparación cualitativa.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Mejorar el elemento principal no compensa automáticamente fugas, accesos o flanqueo.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asignar valores comerciales; pedir identificar la ruta limitante.</a:t>
            </a:r>
          </a:p>
          <a:p xmlns:a="http://schemas.openxmlformats.org/drawingml/2006/main">
            <a:r>
              <a:t>- **Transición:** Cerrar con una decisión entre acondicionar, aislar o medir.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Imagen técnica U09-IMG-002 o diagrama U09-DG-050, candidata para diagram-generation. La composición permite reconocer que mejorar el elemento principal no compensa automáticamente fugas, accesos o flanqueo.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9.8–9.8.1; PDF pp. 245–249.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Consolidar aislamiento y límites del modelo.</a:t>
            </a:r>
          </a:p>
          <a:p xmlns:a="http://schemas.openxmlformats.org/drawingml/2006/main">
            <a:r>
              <a:t>- **Explicación extendida:** Repetir la distinción de U09-054 con función nueva: seleccionar descriptor o intervención pertinente. Explicitar que `τ_E`, `R` y ley de masas describen relaciones acotadas; el aislamiento real pertenece al sistema.</a:t>
            </a:r>
          </a:p>
          <a:p xmlns:a="http://schemas.openxmlformats.org/drawingml/2006/main">
            <a:r>
              <a:t>- **Guía del visual o diagrama:** Presentar primero la estructura general y luego recorrer Tres casos: absorbente interior, panel más pesado y puerta abierta, Decisión y justificación.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“¿Elemento, conjunto o ruta débil?” sin exceder el modelo?</a:t>
            </a:r>
          </a:p>
          <a:p xmlns:a="http://schemas.openxmlformats.org/drawingml/2006/main">
            <a:r>
              <a:t>- **Respuesta esperada:** `τ_E`, `R` y ley de masas describen relaciones acotadas; el aislamiento real pertenece al sistema.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Aplicar el enfoque de sistema a una cabina audiométrica.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U09-DG-051, candidata para diagram-generation. La composición permite reconocer que τ_e, r y ley de masas describen relaciones acotadas; el aislamiento real pertenece al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9.8; PDF pp. 244–249.</a:t>
            </a:r>
          </a:p>
          <a:p xmlns:a="http://schemas.openxmlformats.org/drawingml/2006/main">
            <a:r>
              <a:t>- Asset propio aprobado: U09-DG-051.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Conectar con las mediciones de U8 y anticipar el requisito normativo. Explicitar que una cabina es un sistema de control y verificación, no una caja con espuma.</a:t>
            </a:r>
          </a:p>
          <a:p xmlns:a="http://schemas.openxmlformats.org/drawingml/2006/main">
            <a:r>
              <a:t>- **Guía del visual o diagrama:** Presentar primero la estructura general y luego recorrer Pregunta guía y tres dominios: envolvente, campo interior y medición. Cerrar señalando la idea central, sin leer todas las cajas como una lista.</a:t>
            </a:r>
          </a:p>
          <a:p xmlns:a="http://schemas.openxmlformats.org/drawingml/2006/main">
            <a:r>
              <a:t>- **Pregunta al grupo:** ¿Qué debe cumplir una cabina para una prueba concreta?</a:t>
            </a:r>
          </a:p>
          <a:p xmlns:a="http://schemas.openxmlformats.org/drawingml/2006/main">
            <a:r>
              <a:t>- **Respuesta esperada:** Una cabina es un sistema de control y verificación, no una caja con espuma.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Desarmar la representación ingenua.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Silueta de cabina con tres capas. La composición permite reconocer que una cabina es un sistema de control y verificación, no una caja con espuma.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7; programa p.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Separar tratamiento interior y aislamiento.</a:t>
            </a:r>
          </a:p>
          <a:p xmlns:a="http://schemas.openxmlformats.org/drawingml/2006/main">
            <a:r>
              <a:t>- **Explicación extendida:** Recuperar U09-054/U09-061 sin repetir definiciones; aplicar al objeto cabina. Explicitar que la absorción interior puede reducir reflexiones sin impedir el ingreso de ruido exterior.</a:t>
            </a:r>
          </a:p>
          <a:p xmlns:a="http://schemas.openxmlformats.org/drawingml/2006/main">
            <a:r>
              <a:t>- **Guía del visual o diagrama:** Presentar primero la estructura general y luego recorrer Dos cabinas conceptuales: absorbente con fugas y envolvente sellada con campo interior sin tratar.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“Si tiene espuma, está insonorizada” para que sea físicamente válida?</a:t>
            </a:r>
          </a:p>
          <a:p xmlns:a="http://schemas.openxmlformats.org/drawingml/2006/main">
            <a:r>
              <a:t>- **Respuesta esperada:** La absorción interior puede reducir reflexiones sin impedir el ingreso de ruido exterior.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Identificar los elementos reales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U09-DG-052, candidata para diagram-generation. La composición permite reconocer que la absorción interior puede reducir reflexiones sin impedir el ingreso de ruido exterior.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glossary.</a:t>
            </a:r>
          </a:p>
          <a:p xmlns:a="http://schemas.openxmlformats.org/drawingml/2006/main">
            <a:r>
              <a:t>- Asset propio aprobado: U09-DG-052.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componentes que condicionan el desempeño.</a:t>
            </a:r>
          </a:p>
          <a:p xmlns:a="http://schemas.openxmlformats.org/drawingml/2006/main">
            <a:r>
              <a:t>- **Explicación extendida:** Dividir el diagrama del libro en dos slides para sostener 22–24 pt y corredores libres. Explicitar que envolvente, puerta, visor, sellos, ventilación, pasacables, uniones y apoyos interactúan.</a:t>
            </a:r>
          </a:p>
          <a:p xmlns:a="http://schemas.openxmlformats.org/drawingml/2006/main">
            <a:r>
              <a:t>- **Guía del visual o diagrama:** Presentar primero la estructura general y luego recorrer Corte de cabina con componentes agrupados por función, Sin rutas todavía.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Envolvente, puerta, visor, sellos, ventilación, pasacables, uniones y apoyos interactúan.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Sobre el mismo sistema, revelar las rutas de ingreso.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U09-DG-053, candidata para diagram-generation, primera mitad de figura 9.6. La composición permite reconocer que envolvente, puerta, visor, sellos, ventilación, pasacables, uniones y apoyos interactúan.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cabina-sistema.tex.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Analizar transmisión directa, fugas, ventilación, estructura y ruido propio.</a:t>
            </a:r>
          </a:p>
          <a:p xmlns:a="http://schemas.openxmlformats.org/drawingml/2006/main">
            <a:r>
              <a:t>- **Explicación extendida:** Revelar una ruta por vez; no cruzar texto ni implicar atenuaciones sin medir. Explicitar que la ruta dominante puede no atravesar el panel principal.</a:t>
            </a:r>
          </a:p>
          <a:p xmlns:a="http://schemas.openxmlformats.org/drawingml/2006/main">
            <a:r>
              <a:t>- **Guía del visual o diagrama:** Presentar primero la estructura general y luego recorrer Rutas separadas por color y etiqueta: envolvente, juntas, conductos, flanqueo, vibración y equipos.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ruta dominante puede no atravesar el panel principal.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Revelar una ruta por vez; no cruzar texto ni implicar atenuaciones sin medir.</a:t>
            </a:r>
          </a:p>
          <a:p xmlns:a="http://schemas.openxmlformats.org/drawingml/2006/main">
            <a:r>
              <a:t>- **Transición:** Conectar elementos y rutas con lo que debe verificarse.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U09-DG-054, candidata para diagram-generation, segunda mitad de figura 9.6. La composición permite reconocer que la ruta dominante puede no atravesar el panel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247–249.</a:t>
            </a:r>
          </a:p>
          <a:p xmlns:a="http://schemas.openxmlformats.org/drawingml/2006/main">
            <a:r>
              <a:t>- Asset propio aprobado: U09-DG-054.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Ordenar una cadena metrológica mínima.</a:t>
            </a:r>
          </a:p>
          <a:p xmlns:a="http://schemas.openxmlformats.org/drawingml/2006/main">
            <a:r>
              <a:t>- **Explicación extendida:** Distinguir verificación de diseño y certificación; no inventar tolerancias. Explicitar que la aptitud depende de prueba, vía, transductor, bandas, nivel mínimo y procedimiento.</a:t>
            </a:r>
          </a:p>
          <a:p xmlns:a="http://schemas.openxmlformats.org/drawingml/2006/main">
            <a:r>
              <a:t>- **Guía del visual o diagrama:** Presentar primero la estructura general y luego recorrer Secuencia: definir prueba → seleccionar criterio → medir por bandas → comparar → documentar.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aptitud depende de prueba, vía, transductor, bandas, nivel mínimo y procedimiento.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Distinguir verificación de diseño y certificación; no inventar tolerancias.</a:t>
            </a:r>
          </a:p>
          <a:p xmlns:a="http://schemas.openxmlformats.org/drawingml/2006/main">
            <a:r>
              <a:t>- **Transición:** Mostrar por qué un solo dB(A) no responde la pregunta.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U09-DG-055, candidata para diagram-generation. La composición permite reconocer que la aptitud depende de prueba, vía, transductor, bandas, nivel mínimo y procedimiento.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programa p. 5.</a:t>
            </a:r>
          </a:p>
          <a:p xmlns:a="http://schemas.openxmlformats.org/drawingml/2006/main">
            <a:r>
              <a:t>- Asset propio aprobado: U09-DG-055.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Desactivar un criterio de aceptación inválido.</a:t>
            </a:r>
          </a:p>
          <a:p xmlns:a="http://schemas.openxmlformats.org/drawingml/2006/main">
            <a:r>
              <a:t>- **Explicación extendida:** Aclarar que dB(A) puede ser útil en otros contextos, pero no certifica por sí solo una cabina. Explicitar que un valor global no sustituye límites por bandas y condiciones audiométricas.</a:t>
            </a:r>
          </a:p>
          <a:p xmlns:a="http://schemas.openxmlformats.org/drawingml/2006/main">
            <a:r>
              <a:t>- **Guía del visual o diagrama:** Presentar primero la estructura general y luego recorrer Dos representaciones sin cifras normativas: valor global y espectro por bandas, Preguntas que cada una permite responder.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Un valor global no sustituye límites por bandas y condiciones audiométricas.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Aclarar que dB(A) puede ser útil en otros contextos, pero no certifica por sí solo una cabina.</a:t>
            </a:r>
          </a:p>
          <a:p xmlns:a="http://schemas.openxmlformats.org/drawingml/2006/main">
            <a:r>
              <a:t>- **Transición:** Enumerar la información que debe acompañar un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U09-CH-009 comparación conceptual global/bandas. La composición permite reconocer que un valor global no sustituye límites por bandas y condiciones audiométricas.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notation_guide; U5.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Preparar la lectura crítica de una tabla normativa.</a:t>
            </a:r>
          </a:p>
          <a:p xmlns:a="http://schemas.openxmlformats.org/drawingml/2006/main">
            <a:r>
              <a:t>- **Explicación extendida:** Explicar la brecha documental del repositorio; señalar respaldo U09-092 bloqueado. Explicitar que norma, edición, adopción, vía, transductor, bandas y menor nivel de prueba deben estar declarados.</a:t>
            </a:r>
          </a:p>
          <a:p xmlns:a="http://schemas.openxmlformats.org/drawingml/2006/main">
            <a:r>
              <a:t>- **Guía del visual o diagrama:** Presentar primero la estructura general y luego recorrer Checklist de siete campos y sello “sin cifras hasta verificar fuente”.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Norma, edición, adopción, vía, transductor, bandas y menor nivel de prueba deben estar declarados.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Aplicar el checklist a una afirmación cotidiana.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U09-DG-056, candidata para diagram-generation. La composición permite reconocer que norma, edición, adopción, vía, transductor, bandas y menor nivel de prueba deben estar declarados.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open_decisions OD-U09-22–26; source_analysis.</a:t>
            </a:r>
          </a:p>
          <a:p xmlns:a="http://schemas.openxmlformats.org/drawingml/2006/main">
            <a:r>
              <a:t>- Asset propio aprobado: U09-DG-056.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Identificar qué puede y qué no puede concluirse.</a:t>
            </a:r>
          </a:p>
          <a:p xmlns:a="http://schemas.openxmlformats.org/drawingml/2006/main">
            <a:r>
              <a:t>- **Explicación extendida:** Evitar desacreditar toda medición orientativa; separar exploración, verificación y certificación. Explicitar que el valor aislado no demuestra aptitud para una audiometría.</a:t>
            </a:r>
          </a:p>
          <a:p xmlns:a="http://schemas.openxmlformats.org/drawingml/2006/main">
            <a:r>
              <a:t>- **Guía del visual o diagrama:** Presentar primero la estructura general y luego recorrer Preguntas: instrumento, calibración, posición, tiempo, bandas, vía, transductor, criterio y ruido propio.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“La cabina tiene 28 dB(A)” sin exceder el modelo?</a:t>
            </a:r>
          </a:p>
          <a:p xmlns:a="http://schemas.openxmlformats.org/drawingml/2006/main">
            <a:r>
              <a:t>- **Respuesta esperada:** El valor aislado no demuestra aptitud para una audiometría.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desacreditar toda medición orientativa; separar exploración, verificación y certificación.</a:t>
            </a:r>
          </a:p>
          <a:p xmlns:a="http://schemas.openxmlformats.org/drawingml/2006/main">
            <a:r>
              <a:t>- **Transición:** Ofrecer una inspección visual opcional de una cabina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Captura ficticia no instrumental y matriz de faltantes; U09-DG-057, candidata para diagram-generation. La composición permite reconocer que el valor aislado no demuestra aptitud para una audiometría.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capítulo 9; U5/U8.</a:t>
            </a:r>
          </a:p>
          <a:p xmlns:a="http://schemas.openxmlformats.org/drawingml/2006/main">
            <a:r>
              <a:t>- Asset propio aprobado: U09-DG-057.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Conectar el diagrama con componentes observables.</a:t>
            </a:r>
          </a:p>
          <a:p xmlns:a="http://schemas.openxmlformats.org/drawingml/2006/main">
            <a:r>
              <a:t>- **Explicación extendida:** Pedir observaciones verificables; no evaluar marca, calidad o certificación por apariencia. Explicitar que una foto técnica sirve para localizar rutas y componentes, no para inferir desempeño.</a:t>
            </a:r>
          </a:p>
          <a:p xmlns:a="http://schemas.openxmlformats.org/drawingml/2006/main">
            <a:r>
              <a:t>- **Guía del visual o diagrama:** Presentar primero la estructura general y luego recorrer Exterior/interior o detalle de puerta, visor, ventilación y pasacables con llamados funcionales.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Una foto técnica sirve para localizar rutas y componentes, no para inferir desempeño.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Pedir observaciones verificables; no evaluar marca, calidad o certificación por apariencia.</a:t>
            </a:r>
          </a:p>
          <a:p xmlns:a="http://schemas.openxmlformats.org/drawingml/2006/main">
            <a:r>
              <a:t>- **Transición:** Regresar a la pregunta de aptitud y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U09-IMG-003 y U09-IMG-004 con callouts; candidatos para diagram-generation por anotaciones. La composición permite reconocer que una foto técnica sirve para localizar rutas y componentes, no para inferir desempeño.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Capítulo 9; brief aplicaciones; fuente externa técnica a curar.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sistema, medición y criterio.</a:t>
            </a:r>
          </a:p>
          <a:p xmlns:a="http://schemas.openxmlformats.org/drawingml/2006/main">
            <a:r>
              <a:t>- **Explicación extendida:** Repetir el caso de U09-002 con nueva función: proponer qué medir y qué no afirmar. Explicitar que la respuesta válida identifica ruta, evidencia necesaria y límite de inferencia.</a:t>
            </a:r>
          </a:p>
          <a:p xmlns:a="http://schemas.openxmlformats.org/drawingml/2006/main">
            <a:r>
              <a:t>- **Guía del visual o diagrama:** Presentar primero la estructura general y luego recorrer Caso con ruido exterior, ventilación, equipo y tratamiento interior, Priorización sin diseñar solución.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“¿Qué ruta limita la prueba?” sin exceder el modelo?</a:t>
            </a:r>
          </a:p>
          <a:p xmlns:a="http://schemas.openxmlformats.org/drawingml/2006/main">
            <a:r>
              <a:t>- **Respuesta esperada:** La respuesta válida identifica ruta, evidencia necesaria y límite de inferencia.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Repetir el caso de U09-002 con nueva función: proponer qué medir y qué no afirmar.</a:t>
            </a:r>
          </a:p>
          <a:p xmlns:a="http://schemas.openxmlformats.org/drawingml/2006/main">
            <a:r>
              <a:t>- **Transición:** Volver al caso completo para integrar todos los bloques.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U09-DG-058, candidata para diagram-generation. La composición permite reconocer que la respuesta válida identifica ruta, evidencia necesaria y límite de inferencia.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9.8.1; PDF pp. 247–249.</a:t>
            </a:r>
          </a:p>
          <a:p xmlns:a="http://schemas.openxmlformats.org/drawingml/2006/main">
            <a:r>
              <a:t>- Asset propio aprobado: U09-DG-058.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final.</a:t>
            </a:r>
          </a:p>
          <a:p xmlns:a="http://schemas.openxmlformats.org/drawingml/2006/main">
            <a:r>
              <a:t>- **Explicación extendida:** Señalar que integrar no significa sumar automáticamente todas las fórmulas. Explicitar que un buen análisis termina declarando el alcance de la evidencia.</a:t>
            </a:r>
          </a:p>
          <a:p xmlns:a="http://schemas.openxmlformats.org/drawingml/2006/main">
            <a:r>
              <a:t>- **Guía del visual o diagrama:** Presentar primero la estructura general y luego recorrer Pregunta guía y tres salidas: estimar, medir, consultar norma/especialista. Cerrar señalando la idea central, sin leer todas las cajas como una lista.</a:t>
            </a:r>
          </a:p>
          <a:p xmlns:a="http://schemas.openxmlformats.org/drawingml/2006/main">
            <a:r>
              <a:t>- **Pregunta al grupo:** ¿Qué podemos estimar y qué debemos medir?</a:t>
            </a:r>
          </a:p>
          <a:p xmlns:a="http://schemas.openxmlformats.org/drawingml/2006/main">
            <a:r>
              <a:t>- **Respuesta esperada:** Un buen análisis termina declarando el alcance de la evidencia.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Señalar que integrar no significa sumar automáticamente todas las fórmulas.</a:t>
            </a:r>
          </a:p>
          <a:p xmlns:a="http://schemas.openxmlformats.org/drawingml/2006/main">
            <a:r>
              <a:t>- **Transición:** Reabrir el caso de la clínica desde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puertas de decisión. La composición permite reconocer que un buen análisis termina declarando el alcance de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Identificar variables de la fuente antes del trayecto.</a:t>
            </a:r>
          </a:p>
          <a:p xmlns:a="http://schemas.openxmlformats.org/drawingml/2006/main">
            <a:r>
              <a:t>- **Explicación extendida:** Pedir qué dato falta y qué modelo de U9 corresponde; no calcular con datos inventados. Explicitar que potencia, espectro y directividad condicionan lo que entra al trayecto.</a:t>
            </a:r>
          </a:p>
          <a:p xmlns:a="http://schemas.openxmlformats.org/drawingml/2006/main">
            <a:r>
              <a:t>- **Guía del visual o diagrama:** Presentar primero la estructura general y luego recorrer Datos cualitativos del tránsito/altavoz y preguntas sobre `L_W`, patrón y bandas.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“Caso final I: fuente y emisión” sin exceder el modelo?</a:t>
            </a:r>
          </a:p>
          <a:p xmlns:a="http://schemas.openxmlformats.org/drawingml/2006/main">
            <a:r>
              <a:t>- **Respuesta esperada:** Potencia, espectro y directividad condicionan lo que entra al trayecto.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Pedir qué dato falta y qué modelo de U9 corresponde; no calcular con datos inventados.</a:t>
            </a:r>
          </a:p>
          <a:p xmlns:a="http://schemas.openxmlformats.org/drawingml/2006/main">
            <a:r>
              <a:t>- **Transición:** Añadir atmósfera, superficie y obstáculos.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del caso, capa fuente; U09-DG-059, candidata para diagram-generation. La composición permite reconocer que potencia, espectro y directividad condicionan lo que entra al trayecto.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9.1–9.2; PDF pp. 236–238.</a:t>
            </a:r>
          </a:p>
          <a:p xmlns:a="http://schemas.openxmlformats.org/drawingml/2006/main">
            <a:r>
              <a:t>- Asset propio aprobado: U09-DG-059.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mecanismos sin mezclarlos.</a:t>
            </a:r>
          </a:p>
          <a:p xmlns:a="http://schemas.openxmlformats.org/drawingml/2006/main">
            <a:r>
              <a:t>- **Explicación extendida:** Revelar capas y pedir una justificación por ruta; evitar asignar una atenuación total. Explicitar que distancia, gradientes, suelo, fachada, difracción, transmisión y reflexiones describen rutas diferentes.</a:t>
            </a:r>
          </a:p>
          <a:p xmlns:a="http://schemas.openxmlformats.org/drawingml/2006/main">
            <a:r>
              <a:t>- **Guía del visual o diagrama:** Presentar primero la estructura general y luego recorrer Diagrama del caso con rutas etiquetables, Consigna de clasificar mecanismo y dependencia.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“Caso final II: rutas exteriores e interiores” sin exceder el modelo?</a:t>
            </a:r>
          </a:p>
          <a:p xmlns:a="http://schemas.openxmlformats.org/drawingml/2006/main">
            <a:r>
              <a:t>- **Respuesta esperada:** Distancia, gradientes, suelo, fachada, difracción, transmisión y reflexiones describen rutas diferentes.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Revelar capas y pedir una justificación por ruta; evitar asignar una atenuación total.</a:t>
            </a:r>
          </a:p>
          <a:p xmlns:a="http://schemas.openxmlformats.org/drawingml/2006/main">
            <a:r>
              <a:t>- **Transición:** Llegar al receptor y a las condiciones de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U09-DG-060, candidata para diagram-generation. La composición permite reconocer que distancia, gradientes, suelo, fachada, difracción, transmisión y reflexiones describen rutas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9.3–9.8; PDF pp. 238–247.</a:t>
            </a:r>
          </a:p>
          <a:p xmlns:a="http://schemas.openxmlformats.org/drawingml/2006/main">
            <a:r>
              <a:t>- Asset propio aprobado: U09-DG-060.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condiciones audiométricas y límites normativos.</a:t>
            </a:r>
          </a:p>
          <a:p xmlns:a="http://schemas.openxmlformats.org/drawingml/2006/main">
            <a:r>
              <a:t>- **Explicación extendida:** Separar “nivel observado” de “cabina apta”; pedir evidencia adicional mínima. Explicitar que la medición útil debe ser compatible con el receptor, la prueba y el criterio seleccionado.</a:t>
            </a:r>
          </a:p>
          <a:p xmlns:a="http://schemas.openxmlformats.org/drawingml/2006/main">
            <a:r>
              <a:t>- **Guía del visual o diagrama:** Presentar primero la estructura general y luego recorrer Posición de micrófono/paciente, vía, transductor, bandas, ruido propio y norma pendiente.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“Caso final III: receptor, cabina y medición” sin exceder el modelo?</a:t>
            </a:r>
          </a:p>
          <a:p xmlns:a="http://schemas.openxmlformats.org/drawingml/2006/main">
            <a:r>
              <a:t>- **Respuesta esperada:** La medición útil debe ser compatible con el receptor, la prueba y el criterio seleccionado.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Sumar fórmulas sin localizar antes el mecanismo y el tipo de evidencia necesario.</a:t>
            </a:r>
          </a:p>
          <a:p xmlns:a="http://schemas.openxmlformats.org/drawingml/2006/main">
            <a:r>
              <a:t>- **Transición:** Sintetizar el caso en una matriz de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U09-DG-061, candidata para diagram-generation. La composición permite reconocer que la medición útil debe ser compatible con el receptor, la prueba y el criterio seleccionado.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U8.</a:t>
            </a:r>
          </a:p>
          <a:p xmlns:a="http://schemas.openxmlformats.org/drawingml/2006/main">
            <a:r>
              <a:t>- Asset propio aprobado: U09-DG-061.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Evaluar transferencia con una decisión argumentada.</a:t>
            </a:r>
          </a:p>
          <a:p xmlns:a="http://schemas.openxmlformats.org/drawingml/2006/main">
            <a:r>
              <a:t>- **Explicación extendida:** Valorar razonamiento y condiciones, no solo elección final; conservar soluciones en respaldo. Explicitar que cada afirmación requiere un tipo de evidencia distinto.</a:t>
            </a:r>
          </a:p>
          <a:p xmlns:a="http://schemas.openxmlformats.org/drawingml/2006/main">
            <a:r>
              <a:t>- **Guía del visual o diagrama:** Presentar primero la estructura general y luego recorrer Seis decisiones del caso, Completar mecanismo, modelo, dato, medición y límite.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“Estimar, medir o consultar” sin exceder el modelo?</a:t>
            </a:r>
          </a:p>
          <a:p xmlns:a="http://schemas.openxmlformats.org/drawingml/2006/main">
            <a:r>
              <a:t>- **Respuesta esperada:** Cada afirmación requiere un tipo de evidencia distinto.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Valorar razonamiento y condiciones, no solo elección final; conservar soluciones en respaldo.</a:t>
            </a:r>
          </a:p>
          <a:p xmlns:a="http://schemas.openxmlformats.org/drawingml/2006/main">
            <a:r>
              <a:t>- **Transición:** Contrastar respuestas con la síntesis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de trabajo U09-DG-062, candidata para diagram-generation. La composición permite reconocer que cada afirmación requiere un tipo de evidencia distinto.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Banco de ejercicios e integración del capítulo; brief U9.</a:t>
            </a:r>
          </a:p>
          <a:p xmlns:a="http://schemas.openxmlformats.org/drawingml/2006/main">
            <a:r>
              <a:t>- Asset propio aprobado: U09-DG-062.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Integrar la unidad en una arquitectura estable.</a:t>
            </a:r>
          </a:p>
          <a:p xmlns:a="http://schemas.openxmlformats.org/drawingml/2006/main">
            <a:r>
              <a:t>- **Explicación extendida:** Recuperar las repeticiones pedagógicas y señalar cómo cada una ganó una función distinta. Explicitar que identificar mecanismo → elegir modelo → declarar condiciones → medir si hace falta → limitar la conclusión.</a:t>
            </a:r>
          </a:p>
          <a:p xmlns:a="http://schemas.openxmlformats.org/drawingml/2006/main">
            <a:r>
              <a:t>- **Guía del visual o diagrama:** Presentar primero la estructura general y luego recorrer Mapa acumulativo fuente–trayecto–receptor con fórmulas y preguntas situadas, sin cálculos.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Identificar mecanismo → elegir modelo → declarar condiciones → medir si hace falta → limitar la conclusión.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Sumar fórmulas sin localizar antes el mecanismo y el tipo de evidencia necesario.</a:t>
            </a:r>
          </a:p>
          <a:p xmlns:a="http://schemas.openxmlformats.org/drawingml/2006/main">
            <a:r>
              <a:t>- **Transición:** Preparar el puente hacia el ruido como problema de caracterización y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U09-DG-063, candidata para diagram-generation. La composición permite reconocer que identificar mecanismo → elegir modelo → declarar condiciones → medir si hace falta → limitar la conclusión.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cap. 9; course_map U9.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Cerrar U9 y anticipar U10.</a:t>
            </a:r>
          </a:p>
          <a:p xmlns:a="http://schemas.openxmlformats.org/drawingml/2006/main">
            <a:r>
              <a:t>- **Explicación extendida:** No adelantar estadística, dosis ni normativa de exposición de U10; dejar una pregunta auténtica. Explicitar que u9 explica cómo el trayecto modifica lo recibido; U10 organizará fuentes de ruido, exposición y control.</a:t>
            </a:r>
          </a:p>
          <a:p xmlns:a="http://schemas.openxmlformats.org/drawingml/2006/main">
            <a:r>
              <a:t>- **Guía del visual o diagrama:** Presentar primero la estructura general y luego recorrer Tres conclusiones, una pregunta de salida y puente fuente–trayecto–receptor hacia U10.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U9 explica cómo el trayecto modifica lo recibido; U10 organizará fuentes de ruido, exposición y control.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adelantar estadística, dosis ni normativa de exposición de U10; dejar una pregunta auténtica.</a:t>
            </a:r>
          </a:p>
          <a:p xmlns:a="http://schemas.openxmlformats.org/drawingml/2006/main">
            <a:r>
              <a:t>- **Transición:** Fin de la ruta lineal; ofrecer respaldo solo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Diagrama de puente U09-DG-064, candidata para diagram-generation. La composición permite reconocer que u9 explica cómo el trayecto modifica lo recibido; u10 organizará fuentes de ruido, exposición y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course_dependency_map U9→U10; course_map U10.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Documentar la derivación recuperada de U4.</a:t>
            </a:r>
          </a:p>
          <a:p xmlns:a="http://schemas.openxmlformats.org/drawingml/2006/main">
            <a:r>
              <a:t>- **Explicación extendida:** Usar solo ante preguntas de fundamento; no repetirla en la ruta central. Explicitar que la regla surge de área esférica, intensidad y presión, no de una propiedad intrínseca de la fuente.</a:t>
            </a:r>
          </a:p>
          <a:p xmlns:a="http://schemas.openxmlformats.org/drawingml/2006/main">
            <a:r>
              <a:t>- **Guía del visual o diagrama:** Presentar primero la estructura general y luego recorrer Cadena proporcional completa y condiciones.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regla surge de área esférica, intensidad y presión, no de una propiedad intrínseca de la fuente.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solo ante preguntas de fundamento; no repetirla en la ruta central.</a:t>
            </a:r>
          </a:p>
          <a:p xmlns:a="http://schemas.openxmlformats.org/drawingml/2006/main">
            <a:r>
              <a:t>- **Transición:** Retorno no lineal a U09-014.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U09-DG-065, candidata para diagram-generation. La composición permite reconocer que la regla surge de área esférica, intensidad y presión, no de una propiedad intrínseca 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U4; LaTeX 9.1; PDF p. 237.</a:t>
            </a:r>
          </a:p>
          <a:p xmlns:a="http://schemas.openxmlformats.org/drawingml/2006/main">
            <a:r>
              <a:t>- Asset propio aprobado: U09-DG-065.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Resolver colisiones de notación.</a:t>
            </a:r>
          </a:p>
          <a:p xmlns:a="http://schemas.openxmlformats.org/drawingml/2006/main">
            <a:r>
              <a:t>- **Explicación extendida:** Explicar equivalencias con símbolos del libro cuando sea necesario. Explicitar que reflexión energética, reflexión de presión, reducción sonora y tiempo de reverberación requieren símbolos distintos.</a:t>
            </a:r>
          </a:p>
          <a:p xmlns:a="http://schemas.openxmlformats.org/drawingml/2006/main">
            <a:r>
              <a:t>- **Guía del visual o diagrama:** Presentar primero la estructura general y luego recorrer Tabla `R_E`, `R_p`, `R_I`, `R`, `τ_E`, `A_eq`, `T_60`, `Q_dir`, `v_viento`, `m_s`.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Reflexión energética, reflexión de presión, reducción sonora y tiempo de reverberación requieren símbolos distintos.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 la ecuación consultada.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nativa. La composición permite reconocer que reflexión energética, reflexión de presión, reducción sonora y tiempo de reverberación requieren símbolos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notation_guide; glossary; open_decisions OD-U09-03–06,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Conservar práctica adicional sin alargar el núcleo.</a:t>
            </a:r>
          </a:p>
          <a:p xmlns:a="http://schemas.openxmlformats.org/drawingml/2006/main">
            <a:r>
              <a:t>- **Explicación extendida:** Mostrar después del intento del grupo; comparar errores de signo y doble conteo. Explicitar que la operación debe acompañarse con hipótesis y conclusión.</a:t>
            </a:r>
          </a:p>
          <a:p xmlns:a="http://schemas.openxmlformats.org/drawingml/2006/main">
            <a:r>
              <a:t>- **Guía del visual o diagrama:** Presentar primero la estructura general y luego recorrer Dos problemas con datos, pasos, unidades y límite de validez.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operación debe acompañarse con hipótesis y conclusión.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Mostrar después del intento del grupo; comparar errores de signo y doble conteo.</a:t>
            </a:r>
          </a:p>
          <a:p xmlns:a="http://schemas.openxmlformats.org/drawingml/2006/main">
            <a:r>
              <a:t>- **Transición:** Retorno a U09-021.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U09-DG-066, candidata para diagram-generation. La composición permite reconocer que la operación debe acompañarse con hipótesis y conclusión.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Ejercicios del capítulo, pp. 250–259.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 como material de respaldo.</a:t>
            </a:r>
          </a:p>
          <a:p xmlns:a="http://schemas.openxmlformats.org/drawingml/2006/main">
            <a:r>
              <a:t>- **Propósito docente:** Explicar de qué variables depende la absorción atmosférica sin inventar una curva universal.</a:t>
            </a:r>
          </a:p>
          <a:p xmlns:a="http://schemas.openxmlformats.org/drawingml/2006/main">
            <a:r>
              <a:t>- **Explicación extendida:** No producir valores hasta seleccionar norma o bibliografía completa y condiciones. Explicitar que los coeficientes dependen de frecuencia y estado del aire; no se reconstruyen de memoria.</a:t>
            </a:r>
          </a:p>
          <a:p xmlns:a="http://schemas.openxmlformats.org/drawingml/2006/main">
            <a:r>
              <a:t>- **Guía del visual o diagrama:** Recorrer frecuencia, estado del aire y distancia; cerrar indicando que cualquier cálculo cuantitativo debe declarar condiciones y fuente.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Los coeficientes dependen de frecuencia y estado del aire; no se reconstruyen de memoria.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producir valores hasta seleccionar norma o bibliografía completa y condiciones.</a:t>
            </a:r>
          </a:p>
          <a:p xmlns:a="http://schemas.openxmlformats.org/drawingml/2006/main">
            <a:r>
              <a:t>- **Transición:** Retorno a U09-030 o U09-032.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tarjetas explican que la absorción atmosférica depende de frecuencia, estado del aire y distancia.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9.6; source_analysis; open_decisions OD-U09-07.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 como ampliación de respaldo.</a:t>
            </a:r>
          </a:p>
          <a:p xmlns:a="http://schemas.openxmlformats.org/drawingml/2006/main">
            <a:r>
              <a:t>- **Propósito docente:** Ampliar la interfaz fluido–sólido para estudiantes avanzados.</a:t>
            </a:r>
          </a:p>
          <a:p xmlns:a="http://schemas.openxmlformats.org/drawingml/2006/main">
            <a:r>
              <a:t>- **Explicación extendida:** Evitar derivaciones elásticas; usar una fuente académica primaria antes de completar ecuaciones. Explicitar que en sólidos pueden coexistir modos con diferentes velocidades y direcciones.</a:t>
            </a:r>
          </a:p>
          <a:p xmlns:a="http://schemas.openxmlformats.org/drawingml/2006/main">
            <a:r>
              <a:t>- **Guía del visual o diagrama:** Comparar movimiento paralelo y perpendicular a la propagación; aclarar por qué el modo transversal requiere rigidez al corte.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En sólidos pueden coexistir modos con diferentes velocidades y direcciones.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derivaciones elásticas; usar una fuente académica primaria antes de completar ecuaciones.</a:t>
            </a:r>
          </a:p>
          <a:p xmlns:a="http://schemas.openxmlformats.org/drawingml/2006/main">
            <a:r>
              <a:t>- **Transición:** Retorno a U09-040.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columnas comparan ondas longitudinales y transversales y aclaran que en sólidos pueden coexistir ambos modos.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9.7.4; fuente académica a seleccionar.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Proveer resolución completa y control dimensional.</a:t>
            </a:r>
          </a:p>
          <a:p xmlns:a="http://schemas.openxmlformats.org/drawingml/2006/main">
            <a:r>
              <a:t>- **Explicación extendida:** Usar como solución posterior; señalar por bandas y campo difuso. Explicitar que cada resultado debe terminar con una interpretación y una crítica del modelo.</a:t>
            </a:r>
          </a:p>
          <a:p xmlns:a="http://schemas.openxmlformats.org/drawingml/2006/main">
            <a:r>
              <a:t>- **Guía del visual o diagrama:** Presentar primero la estructura general y luego recorrer Balance energético y ejemplo de aula desarrollados paso a paso.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Cada resultado debe terminar con una interpretación y una crítica del modelo.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 U09-052 o U09-056.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U09-DG-068, candidata para diagram-generation. La composición permite reconocer que cada resultado debe terminar con una interpretación y una crítica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9.7; PDF pp. 241–243; ejercicios del capítulo.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Nombrar la frontera del modelo sin desarrollar otro curso.</a:t>
            </a:r>
          </a:p>
          <a:p xmlns:a="http://schemas.openxmlformats.org/drawingml/2006/main">
            <a:r>
              <a:t>- **Explicación extendida:** Nombrar Eyring solo como alternativa; no introducir su fórmula salvo decisión docente. Explicitar que recintos muy absorbentes, no difusos o pequeños pueden requerir otros modelos o medición.</a:t>
            </a:r>
          </a:p>
          <a:p xmlns:a="http://schemas.openxmlformats.org/drawingml/2006/main">
            <a:r>
              <a:t>- **Guía del visual o diagrama:** Presentar primero la estructura general y luego recorrer Tabla de condiciones, síntoma de falla y respuesta responsable.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Recintos muy absorbentes, no difusos o pequeños pueden requerir otros modelos o medición.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Nombrar Eyring solo como alternativa; no introducir su fórmula salvo decisión docente.</a:t>
            </a:r>
          </a:p>
          <a:p xmlns:a="http://schemas.openxmlformats.org/drawingml/2006/main">
            <a:r>
              <a:t>- **Transición:** Retorno a U09-054.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nativa; posible U09-DG-069, candidata para diagram-generation. La composición permite reconocer que recintos muy absorbentes, no difusos o pequeños pueden requerir otros modelos o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source_analysis; open_decisions OD-U09-14.</a:t>
            </a:r>
          </a:p>
          <a:p xmlns:a="http://schemas.openxmlformats.org/drawingml/2006/main">
            <a:r>
              <a:t>- Asset propio aprobado: U09-DG-069.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 como material de respaldo.</a:t>
            </a:r>
          </a:p>
          <a:p xmlns:a="http://schemas.openxmlformats.org/drawingml/2006/main">
            <a:r>
              <a:t>- **Propósito docente:** Enseñar qué condiciones documentales y metrológicas requiere la aplicación de un límite audiométrico.</a:t>
            </a:r>
          </a:p>
          <a:p xmlns:a="http://schemas.openxmlformats.org/drawingml/2006/main">
            <a:r>
              <a:t>- **Explicación extendida:** No reproducir cifras sin la norma completa y vigente. Explicitar que una decisión requiere edición, adopción, bandas, vía, transductor, posición, calibración e incertidumbre.</a:t>
            </a:r>
          </a:p>
          <a:p xmlns:a="http://schemas.openxmlformats.org/drawingml/2006/main">
            <a:r>
              <a:t>- **Guía del visual o diagrama:** Recorrer las tres columnas —norma, condición de medida y criterio audiométrico— y terminar con la conclusión inferior.</a:t>
            </a:r>
          </a:p>
          <a:p xmlns:a="http://schemas.openxmlformats.org/drawingml/2006/main">
            <a:r>
              <a:t>- **Pregunta al grupo:** ¿Por qué no alcanza con copiar una cifra sin identificar norma y escenario?</a:t>
            </a:r>
          </a:p>
          <a:p xmlns:a="http://schemas.openxmlformats.org/drawingml/2006/main">
            <a:r>
              <a:t>- **Respuesta esperada:** Porque el límite depende de la fuente normativa completa y de las condiciones de la prueba.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Tratar un único valor global como prueba suficiente de aptitud.</a:t>
            </a:r>
          </a:p>
          <a:p xmlns:a="http://schemas.openxmlformats.org/drawingml/2006/main">
            <a:r>
              <a:t>- **Transición:** Volver a U09-074 para conectar los metadatos con la decisión clínica.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columnas enumeran los metadatos normativos, metrológicos y audiométricos necesarios para aplicar un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ISO/ANSI citadas en el capítulo; fuente completa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Comparar qué modelos y mediciones son pertinentes.</a:t>
            </a:r>
          </a:p>
          <a:p xmlns:a="http://schemas.openxmlformats.org/drawingml/2006/main">
            <a:r>
              <a:t>- **Explicación extendida:** Usar para reparar confusiones entre modelo ideal, recinto y ambiente de prueba. Explicitar que un mismo nivel se interpreta distinto según el campo y el propósito.</a:t>
            </a:r>
          </a:p>
          <a:p xmlns:a="http://schemas.openxmlformats.org/drawingml/2006/main">
            <a:r>
              <a:t>- **Guía del visual o diagrama:** Presentar primero la estructura general y luego recorrer Matriz de geometría, reflexiones, descriptor, instrumento, hipótesis y conclusión permitida.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Un mismo nivel se interpreta distinto según el campo y el propósito.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al bloque que corresponda.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nativa. La composición permite reconocer que un mismo nivel se interpreta distinto según el campo y el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cap. 9; U4; U8.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Ofrecer evaluación formativa adicional.</a:t>
            </a:r>
          </a:p>
          <a:p xmlns:a="http://schemas.openxmlformats.org/drawingml/2006/main">
            <a:r>
              <a:t>- **Explicación extendida:** Evitar respuestas binarias; pedir una reformulación correcta y acotada. Explicitar que corregir exige nombrar el mecanismo y la condición faltante.</a:t>
            </a:r>
          </a:p>
          <a:p xmlns:a="http://schemas.openxmlformats.org/drawingml/2006/main">
            <a:r>
              <a:t>- **Guía del visual o diagrama:** Presentar primero la estructura general y luego recorrer Selección de distractores sobre distancia, viento, absorción, difracción, Sabine, masa y cabina.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Corregir exige nombrar el mecanismo y la condición faltante.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respuestas binarias; pedir una reformulación correcta y acotada.</a:t>
            </a:r>
          </a:p>
          <a:p xmlns:a="http://schemas.openxmlformats.org/drawingml/2006/main">
            <a:r>
              <a:t>- **Transición:** Retorno a U09-083.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de verdadero/falso justificado. La composición permite reconocer que corregir exige nombrar el mecanismo y la condición faltante.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ideas erróneas; ejercicios del capítulo.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Documentar una ruta de razonamiento sin fingir cálculo total.</a:t>
            </a:r>
          </a:p>
          <a:p xmlns:a="http://schemas.openxmlformats.org/drawingml/2006/main">
            <a:r>
              <a:t>- **Explicación extendida:** Mostrar después de U09-082; aceptar otras rutas justificadas. Explicitar que la solución válida clasifica mecanismos, elige evidencia y declara incertidumbre.</a:t>
            </a:r>
          </a:p>
          <a:p xmlns:a="http://schemas.openxmlformats.org/drawingml/2006/main">
            <a:r>
              <a:t>- **Guía del visual o diagrama:** Presentar primero la estructura general y luego recorrer Matriz completa fuente–trayecto–receptor, modelos aplicables, mediciones requeridas y límites.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solución válida clasifica mecanismos, elige evidencia y declara incertidumbre.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 U09-083.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U09-DG-070, candidata para diagram-generation. La composición permite reconocer que la solución válida clasifica mecanismos, elige evidencia y declara incertidumbre.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del capítulo 9; brief U9.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Hacer rastreable el alcance y los recursos.</a:t>
            </a:r>
          </a:p>
          <a:p xmlns:a="http://schemas.openxmlformats.org/drawingml/2006/main">
            <a:r>
              <a:t>- **Explicación extendida:** Distinguir fuente de contenido, fuente de datos, fuente visual y ampliación didáctica. Explicitar que programa, libro, arquitectura, guías y normas deben conservar identificación completa.</a:t>
            </a:r>
          </a:p>
          <a:p xmlns:a="http://schemas.openxmlformats.org/drawingml/2006/main">
            <a:r>
              <a:t>- **Guía del visual o diagrama:** Presentar primero la estructura general y luego recorrer Fuentes locales principales, figuras heredadas, decisiones pendientes y espacio para fuentes externas aprobadas.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Programa, libro, arquitectura, guías y normas deben conservar identificación completa.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Distinguir fuente de contenido, fuente de datos, fuente visual y ampliación didáctica.</a:t>
            </a:r>
          </a:p>
          <a:p xmlns:a="http://schemas.openxmlformats.org/drawingml/2006/main">
            <a:r>
              <a:t>- **Transición:** Fin del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Lista bibliográfica y matriz de trazabilidad. La composición permite reconocer que programa, libro, arquitectura, guías y normas deben conservar identificación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LaTeX/PDF cap. 9; archivos de arquitectura y estilo.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a2b7b7d854c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208a8246046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5f1f1636641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594cda22148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126c170ba44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c96ae00624eb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9b42ccbc04be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c283b4960408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2cfdbba884aa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7ce1f5a0d44b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30249206ab4b9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1ddf3da56463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01feb6d7f474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439eb0592465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2633d858b456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2f29600f7473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47e16872d44d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178e9b50b447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7eb2b82ba449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4bed20a574bd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83a186651427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527f891c341b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215d73504409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492271d2e4276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17d9b930a64e0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8b70b3cc834de4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a3bbadb116470f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  <a:endParaRPr/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b3c598e25f941a3" /><Relationship Type="http://schemas.openxmlformats.org/officeDocument/2006/relationships/theme" Target="/ppt/slideMasters/theme/theme2.xml" Id="R51b8de4a555242ff" /><Relationship Type="http://schemas.openxmlformats.org/officeDocument/2006/relationships/slideLayout" Target="/ppt/slideLayouts/slideLayout1.xml" Id="R923a347314df45bb" /><Relationship Type="http://schemas.openxmlformats.org/officeDocument/2006/relationships/slideLayout" Target="/ppt/slideLayouts/slideLayout2.xml" Id="R73cd61e468fa4dc7" /><Relationship Type="http://schemas.openxmlformats.org/officeDocument/2006/relationships/slideLayout" Target="/ppt/slideLayouts/slideLayout3.xml" Id="R2e9ad478cf2e4f9e" /><Relationship Type="http://schemas.openxmlformats.org/officeDocument/2006/relationships/slideLayout" Target="/ppt/slideLayouts/slideLayout4.xml" Id="R0c9be51d72f94a48" /><Relationship Type="http://schemas.openxmlformats.org/officeDocument/2006/relationships/slideLayout" Target="/ppt/slideLayouts/slideLayout5.xml" Id="R592e789c728c4b6d" /><Relationship Type="http://schemas.openxmlformats.org/officeDocument/2006/relationships/slideLayout" Target="/ppt/slideLayouts/slideLayout6.xml" Id="Ra47d80fdef1f4dab" /><Relationship Type="http://schemas.openxmlformats.org/officeDocument/2006/relationships/slideLayout" Target="/ppt/slideLayouts/slideLayout7.xml" Id="R73a34c2290b24227" /><Relationship Type="http://schemas.openxmlformats.org/officeDocument/2006/relationships/slideLayout" Target="/ppt/slideLayouts/slideLayout8.xml" Id="R1788b44751144760" /><Relationship Type="http://schemas.openxmlformats.org/officeDocument/2006/relationships/slideLayout" Target="/ppt/slideLayouts/slideLayout9.xml" Id="R18e8b5f6822d457a" /><Relationship Type="http://schemas.openxmlformats.org/officeDocument/2006/relationships/slideLayout" Target="/ppt/slideLayouts/slideLayout10.xml" Id="R6bcb3638bf3246e2" /><Relationship Type="http://schemas.openxmlformats.org/officeDocument/2006/relationships/slideLayout" Target="/ppt/slideLayouts/slideLayout11.xml" Id="R26a45040fb6e4dc8" /><Relationship Type="http://schemas.openxmlformats.org/officeDocument/2006/relationships/slideLayout" Target="/ppt/slideLayouts/slideLayout12.xml" Id="Rb29717adc5b04005" /><Relationship Type="http://schemas.openxmlformats.org/officeDocument/2006/relationships/slideLayout" Target="/ppt/slideLayouts/slideLayout13.xml" Id="R9ba884c7dbf3483e" /><Relationship Type="http://schemas.openxmlformats.org/officeDocument/2006/relationships/slideLayout" Target="/ppt/slideLayouts/slideLayout14.xml" Id="R87335cd406fe41ee" /><Relationship Type="http://schemas.openxmlformats.org/officeDocument/2006/relationships/slideLayout" Target="/ppt/slideLayouts/slideLayout15.xml" Id="R1b26f7a452984c0e" /><Relationship Type="http://schemas.openxmlformats.org/officeDocument/2006/relationships/slideLayout" Target="/ppt/slideLayouts/slideLayout16.xml" Id="R5b1571f7612e427c" /><Relationship Type="http://schemas.openxmlformats.org/officeDocument/2006/relationships/slideLayout" Target="/ppt/slideLayouts/slideLayout17.xml" Id="R126356399b514bd5" /><Relationship Type="http://schemas.openxmlformats.org/officeDocument/2006/relationships/slideLayout" Target="/ppt/slideLayouts/slideLayout18.xml" Id="Ra00040887d2b4a6a" /><Relationship Type="http://schemas.openxmlformats.org/officeDocument/2006/relationships/slideLayout" Target="/ppt/slideLayouts/slideLayout19.xml" Id="R8773ce69ae944f0c" /><Relationship Type="http://schemas.openxmlformats.org/officeDocument/2006/relationships/slideLayout" Target="/ppt/slideLayouts/slideLayout20.xml" Id="R610ce4292cdf4923" /><Relationship Type="http://schemas.openxmlformats.org/officeDocument/2006/relationships/slideLayout" Target="/ppt/slideLayouts/slideLayout21.xml" Id="R589eb1f88b384229" /><Relationship Type="http://schemas.openxmlformats.org/officeDocument/2006/relationships/slideLayout" Target="/ppt/slideLayouts/slideLayout22.xml" Id="Rb0b388b94a494276" /><Relationship Type="http://schemas.openxmlformats.org/officeDocument/2006/relationships/slideLayout" Target="/ppt/slideLayouts/slideLayout23.xml" Id="R25de54a7823e4c3b" /><Relationship Type="http://schemas.openxmlformats.org/officeDocument/2006/relationships/slideLayout" Target="/ppt/slideLayouts/slideLayout24.xml" Id="Rf781ccfa31e74e4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9874363eb8744657" /><Relationship Type="http://schemas.openxmlformats.org/officeDocument/2006/relationships/theme" Target="/ppt/slideMasters/theme/theme3.xml" Id="R462d913dd45248e8" /><Relationship Type="http://schemas.openxmlformats.org/officeDocument/2006/relationships/slideLayout" Target="/ppt/slideLayouts/slideLayout25.xml" Id="R2bf87800d4d347d5" /><Relationship Type="http://schemas.openxmlformats.org/officeDocument/2006/relationships/slideLayout" Target="/ppt/slideLayouts/slideLayout26.xml" Id="Rbc61a363e9ef4e4c" /><Relationship Type="http://schemas.openxmlformats.org/officeDocument/2006/relationships/slideLayout" Target="/ppt/slideLayouts/slideLayout27.xml" Id="R66f09bde9d3a4354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c598e25f941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667079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3a347314df45bb"/>
    <p:sldLayoutId xmlns:r="http://schemas.openxmlformats.org/officeDocument/2006/relationships" id="2147483650" r:id="R73cd61e468fa4dc7"/>
    <p:sldLayoutId xmlns:r="http://schemas.openxmlformats.org/officeDocument/2006/relationships" id="2147483651" r:id="R2e9ad478cf2e4f9e"/>
    <p:sldLayoutId xmlns:r="http://schemas.openxmlformats.org/officeDocument/2006/relationships" id="2147483652" r:id="R0c9be51d72f94a48"/>
    <p:sldLayoutId xmlns:r="http://schemas.openxmlformats.org/officeDocument/2006/relationships" id="2147483653" r:id="R592e789c728c4b6d"/>
    <p:sldLayoutId xmlns:r="http://schemas.openxmlformats.org/officeDocument/2006/relationships" id="2147483654" r:id="Ra47d80fdef1f4dab"/>
    <p:sldLayoutId xmlns:r="http://schemas.openxmlformats.org/officeDocument/2006/relationships" id="2147483655" r:id="R73a34c2290b24227"/>
    <p:sldLayoutId xmlns:r="http://schemas.openxmlformats.org/officeDocument/2006/relationships" id="2147483656" r:id="R1788b44751144760"/>
    <p:sldLayoutId xmlns:r="http://schemas.openxmlformats.org/officeDocument/2006/relationships" id="2147483657" r:id="R18e8b5f6822d457a"/>
    <p:sldLayoutId xmlns:r="http://schemas.openxmlformats.org/officeDocument/2006/relationships" id="2147483658" r:id="R6bcb3638bf3246e2"/>
    <p:sldLayoutId xmlns:r="http://schemas.openxmlformats.org/officeDocument/2006/relationships" id="2147483659" r:id="R26a45040fb6e4dc8"/>
    <p:sldLayoutId xmlns:r="http://schemas.openxmlformats.org/officeDocument/2006/relationships" id="2147483660" r:id="Rb29717adc5b04005"/>
    <p:sldLayoutId xmlns:r="http://schemas.openxmlformats.org/officeDocument/2006/relationships" id="2147483661" r:id="R9ba884c7dbf3483e"/>
    <p:sldLayoutId xmlns:r="http://schemas.openxmlformats.org/officeDocument/2006/relationships" id="2147483662" r:id="R87335cd406fe41ee"/>
    <p:sldLayoutId xmlns:r="http://schemas.openxmlformats.org/officeDocument/2006/relationships" id="2147483663" r:id="R1b26f7a452984c0e"/>
    <p:sldLayoutId xmlns:r="http://schemas.openxmlformats.org/officeDocument/2006/relationships" id="2147483664" r:id="R5b1571f7612e427c"/>
    <p:sldLayoutId xmlns:r="http://schemas.openxmlformats.org/officeDocument/2006/relationships" id="2147483665" r:id="R126356399b514bd5"/>
    <p:sldLayoutId xmlns:r="http://schemas.openxmlformats.org/officeDocument/2006/relationships" id="2147483666" r:id="Ra00040887d2b4a6a"/>
    <p:sldLayoutId xmlns:r="http://schemas.openxmlformats.org/officeDocument/2006/relationships" id="2147483667" r:id="R8773ce69ae944f0c"/>
    <p:sldLayoutId xmlns:r="http://schemas.openxmlformats.org/officeDocument/2006/relationships" id="2147483668" r:id="R610ce4292cdf4923"/>
    <p:sldLayoutId xmlns:r="http://schemas.openxmlformats.org/officeDocument/2006/relationships" id="2147483669" r:id="R589eb1f88b384229"/>
    <p:sldLayoutId xmlns:r="http://schemas.openxmlformats.org/officeDocument/2006/relationships" id="2147483670" r:id="Rb0b388b94a494276"/>
    <p:sldLayoutId xmlns:r="http://schemas.openxmlformats.org/officeDocument/2006/relationships" id="2147483671" r:id="R25de54a7823e4c3b"/>
    <p:sldLayoutId xmlns:r="http://schemas.openxmlformats.org/officeDocument/2006/relationships" id="2147483672" r:id="Rf781ccfa31e74e44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4363eb87446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2bf87800d4d347d5"/>
    <p:sldLayoutId xmlns:r="http://schemas.openxmlformats.org/officeDocument/2006/relationships" id="2147483675" r:id="Rbc61a363e9ef4e4c"/>
    <p:sldLayoutId xmlns:r="http://schemas.openxmlformats.org/officeDocument/2006/relationships" id="2147483676" r:id="R66f09bde9d3a435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5ce50498e71f4a95" /><Relationship Type="http://schemas.openxmlformats.org/officeDocument/2006/relationships/notesSlide" Target="/ppt/notesSlides/notesSlide1.xml" Id="R116bb499bfae4f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569c2a3377e407b" /><Relationship Type="http://schemas.openxmlformats.org/officeDocument/2006/relationships/notesSlide" Target="/ppt/notesSlides/notesSlide2.xml" Id="Rcdf36a538ce7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0074422cc49bb" /><Relationship Type="http://schemas.openxmlformats.org/officeDocument/2006/relationships/notesSlide" Target="/ppt/notesSlides/notesSlide3.xml" Id="R08015399789f40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8c5706dd281e4075" /><Relationship Type="http://schemas.openxmlformats.org/officeDocument/2006/relationships/notesSlide" Target="/ppt/notesSlides/notesSlide4.xml" Id="Rf84960ea90194a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7003d30d30394951" /><Relationship Type="http://schemas.openxmlformats.org/officeDocument/2006/relationships/notesSlide" Target="/ppt/notesSlides/notesSlide5.xml" Id="Rd0924a9e6e764f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d428270eef21421f" /><Relationship Type="http://schemas.openxmlformats.org/officeDocument/2006/relationships/notesSlide" Target="/ppt/notesSlides/notesSlide6.xml" Id="R5af9230a220d4d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6fa5b27da774d94" /><Relationship Type="http://schemas.openxmlformats.org/officeDocument/2006/relationships/notesSlide" Target="/ppt/notesSlides/notesSlide7.xml" Id="R799826df24fe4f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6da12ecf7f64515" /><Relationship Type="http://schemas.openxmlformats.org/officeDocument/2006/relationships/notesSlide" Target="/ppt/notesSlides/notesSlide8.xml" Id="Rf99db766efb048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655b477e2441b" /><Relationship Type="http://schemas.openxmlformats.org/officeDocument/2006/relationships/notesSlide" Target="/ppt/notesSlides/notesSlide9.xml" Id="R0145c8ebb97143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ea60b45a5df46b8" /><Relationship Type="http://schemas.openxmlformats.org/officeDocument/2006/relationships/notesSlide" Target="/ppt/notesSlides/notesSlide10.xml" Id="R28eb8d2b7c2a46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b8b24620bfe472b" /><Relationship Type="http://schemas.openxmlformats.org/officeDocument/2006/relationships/notesSlide" Target="/ppt/notesSlides/notesSlide11.xml" Id="Ra01af27ca7744d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e79783b0920b4fd1" /><Relationship Type="http://schemas.openxmlformats.org/officeDocument/2006/relationships/notesSlide" Target="/ppt/notesSlides/notesSlide12.xml" Id="R42bae3e0d6c94a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f1c1dd441c499d" /><Relationship Type="http://schemas.openxmlformats.org/officeDocument/2006/relationships/notesSlide" Target="/ppt/notesSlides/notesSlide13.xml" Id="R34f30fdcf7d04e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8704ed82aae4cc2" /><Relationship Type="http://schemas.openxmlformats.org/officeDocument/2006/relationships/notesSlide" Target="/ppt/notesSlides/notesSlide14.xml" Id="Rc3bd14ee840d4c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117b9992f734ed0" /><Relationship Type="http://schemas.openxmlformats.org/officeDocument/2006/relationships/notesSlide" Target="/ppt/notesSlides/notesSlide15.xml" Id="Rc11738b231af4f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0eb20d1b2e64b13" /><Relationship Type="http://schemas.openxmlformats.org/officeDocument/2006/relationships/notesSlide" Target="/ppt/notesSlides/notesSlide16.xml" Id="R47d2407654df46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cb86f3eb0904815" /><Relationship Type="http://schemas.openxmlformats.org/officeDocument/2006/relationships/notesSlide" Target="/ppt/notesSlides/notesSlide17.xml" Id="R69fed4c59b2442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d7a53516a4f42d5" /><Relationship Type="http://schemas.openxmlformats.org/officeDocument/2006/relationships/image" Target="/ppt/media/image2.png" Id="R6c8db4fbfa7c48ed" /><Relationship Type="http://schemas.openxmlformats.org/officeDocument/2006/relationships/image" Target="/ppt/media/image.svg" Id="R9bb8e16a54b84100" /><Relationship Type="http://schemas.openxmlformats.org/officeDocument/2006/relationships/notesSlide" Target="/ppt/notesSlides/notesSlide18.xml" Id="R33ee4abe60f14b4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792e589107d4ced" /><Relationship Type="http://schemas.openxmlformats.org/officeDocument/2006/relationships/notesSlide" Target="/ppt/notesSlides/notesSlide19.xml" Id="Rdc6862fe4f2747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926d63a5ea64617" /><Relationship Type="http://schemas.openxmlformats.org/officeDocument/2006/relationships/notesSlide" Target="/ppt/notesSlides/notesSlide20.xml" Id="R0a42dcdd7e4b47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68b64507457411a" /><Relationship Type="http://schemas.openxmlformats.org/officeDocument/2006/relationships/notesSlide" Target="/ppt/notesSlides/notesSlide21.xml" Id="R4449b8e091e4406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78d5c952d895495e" /><Relationship Type="http://schemas.openxmlformats.org/officeDocument/2006/relationships/notesSlide" Target="/ppt/notesSlides/notesSlide22.xml" Id="R20a67af891de4c5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727c81f6500415f" /><Relationship Type="http://schemas.openxmlformats.org/officeDocument/2006/relationships/image" Target="/ppt/media/image3.png" Id="R6074c0470f954539" /><Relationship Type="http://schemas.openxmlformats.org/officeDocument/2006/relationships/image" Target="/ppt/media/image2.svg" Id="Re5d8fd5964564085" /><Relationship Type="http://schemas.openxmlformats.org/officeDocument/2006/relationships/notesSlide" Target="/ppt/notesSlides/notesSlide23.xml" Id="R6b01c0b08cdf494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34da976fab14902" /><Relationship Type="http://schemas.openxmlformats.org/officeDocument/2006/relationships/notesSlide" Target="/ppt/notesSlides/notesSlide24.xml" Id="R178629c2eb5f48b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f5d0ad57654f00" /><Relationship Type="http://schemas.openxmlformats.org/officeDocument/2006/relationships/notesSlide" Target="/ppt/notesSlides/notesSlide25.xml" Id="R65f150e10f24466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8833acde6fb48bd" /><Relationship Type="http://schemas.openxmlformats.org/officeDocument/2006/relationships/notesSlide" Target="/ppt/notesSlides/notesSlide26.xml" Id="Rd86c13f08a8a41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7fbc34a24b340ff" /><Relationship Type="http://schemas.openxmlformats.org/officeDocument/2006/relationships/notesSlide" Target="/ppt/notesSlides/notesSlide27.xml" Id="R6180f971b53f429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dbfd82d8a2340b7" /><Relationship Type="http://schemas.openxmlformats.org/officeDocument/2006/relationships/notesSlide" Target="/ppt/notesSlides/notesSlide28.xml" Id="R8ceca52274fd4dc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b476d83b482041a6" /><Relationship Type="http://schemas.openxmlformats.org/officeDocument/2006/relationships/notesSlide" Target="/ppt/notesSlides/notesSlide29.xml" Id="R1c0bc25e5dd6403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64666dd721b4bfa" /><Relationship Type="http://schemas.openxmlformats.org/officeDocument/2006/relationships/notesSlide" Target="/ppt/notesSlides/notesSlide30.xml" Id="Refbac8b489b649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d22681171c0f463d" /><Relationship Type="http://schemas.openxmlformats.org/officeDocument/2006/relationships/notesSlide" Target="/ppt/notesSlides/notesSlide31.xml" Id="R7506e906aec7493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e8984f6198140b2" /><Relationship Type="http://schemas.openxmlformats.org/officeDocument/2006/relationships/notesSlide" Target="/ppt/notesSlides/notesSlide32.xml" Id="Recb805d8582e4f3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fd3ce374f074154" /><Relationship Type="http://schemas.openxmlformats.org/officeDocument/2006/relationships/notesSlide" Target="/ppt/notesSlides/notesSlide33.xml" Id="R9e47af314195472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46ff103dde3464a" /><Relationship Type="http://schemas.openxmlformats.org/officeDocument/2006/relationships/notesSlide" Target="/ppt/notesSlides/notesSlide34.xml" Id="R4a0198d92f9e4bf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6f565d3f4349de" /><Relationship Type="http://schemas.openxmlformats.org/officeDocument/2006/relationships/notesSlide" Target="/ppt/notesSlides/notesSlide35.xml" Id="R3589cdd232064b7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8067187cdbf42e2" /><Relationship Type="http://schemas.openxmlformats.org/officeDocument/2006/relationships/notesSlide" Target="/ppt/notesSlides/notesSlide36.xml" Id="R366892f25669413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044c0a8bf2f4e5a" /><Relationship Type="http://schemas.openxmlformats.org/officeDocument/2006/relationships/notesSlide" Target="/ppt/notesSlides/notesSlide37.xml" Id="Rd338c150daad40c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e09450d4e10477e" /><Relationship Type="http://schemas.openxmlformats.org/officeDocument/2006/relationships/notesSlide" Target="/ppt/notesSlides/notesSlide38.xml" Id="R53073e27f2684b8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4ad9dd4df904a57" /><Relationship Type="http://schemas.openxmlformats.org/officeDocument/2006/relationships/notesSlide" Target="/ppt/notesSlides/notesSlide39.xml" Id="Rd1c982ec8ce3467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b4b2edab8f4586" /><Relationship Type="http://schemas.openxmlformats.org/officeDocument/2006/relationships/notesSlide" Target="/ppt/notesSlides/notesSlide40.xml" Id="Rb322453c1108434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960a8d31be544d7" /><Relationship Type="http://schemas.openxmlformats.org/officeDocument/2006/relationships/notesSlide" Target="/ppt/notesSlides/notesSlide41.xml" Id="R0643a98e84cd461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a74d68b24f64e12" /><Relationship Type="http://schemas.openxmlformats.org/officeDocument/2006/relationships/notesSlide" Target="/ppt/notesSlides/notesSlide42.xml" Id="R055c1b77b70645e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3b0d9e96a5b49c8" /><Relationship Type="http://schemas.openxmlformats.org/officeDocument/2006/relationships/image" Target="/ppt/media/image4.png" Id="R8757e1b2a7cb427c" /><Relationship Type="http://schemas.openxmlformats.org/officeDocument/2006/relationships/image" Target="/ppt/media/image3.svg" Id="R11dbc7eecd1b476b" /><Relationship Type="http://schemas.openxmlformats.org/officeDocument/2006/relationships/notesSlide" Target="/ppt/notesSlides/notesSlide43.xml" Id="R8212722cf689425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88c704752db470e" /><Relationship Type="http://schemas.openxmlformats.org/officeDocument/2006/relationships/notesSlide" Target="/ppt/notesSlides/notesSlide44.xml" Id="R33aecfc4364b44d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6961d72f1764d15" /><Relationship Type="http://schemas.openxmlformats.org/officeDocument/2006/relationships/notesSlide" Target="/ppt/notesSlides/notesSlide45.xml" Id="R1d7509481ebe49b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6699ffd4f934b83" /><Relationship Type="http://schemas.openxmlformats.org/officeDocument/2006/relationships/notesSlide" Target="/ppt/notesSlides/notesSlide46.xml" Id="R97bfad516242466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3cd353cdfff94144" /><Relationship Type="http://schemas.openxmlformats.org/officeDocument/2006/relationships/notesSlide" Target="/ppt/notesSlides/notesSlide47.xml" Id="R28249667b9454f2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75655a188294987" /><Relationship Type="http://schemas.openxmlformats.org/officeDocument/2006/relationships/notesSlide" Target="/ppt/notesSlides/notesSlide48.xml" Id="R135770a5911a46d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0b7307446f24812" /><Relationship Type="http://schemas.openxmlformats.org/officeDocument/2006/relationships/image" Target="/ppt/media/image5.png" Id="Rf65bb99be38a44ec" /><Relationship Type="http://schemas.openxmlformats.org/officeDocument/2006/relationships/image" Target="/ppt/media/image4.svg" Id="Rbb88b8e5e1494c74" /><Relationship Type="http://schemas.openxmlformats.org/officeDocument/2006/relationships/notesSlide" Target="/ppt/notesSlides/notesSlide49.xml" Id="Rf7d72553adce4a5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de6d18b55794419" /><Relationship Type="http://schemas.openxmlformats.org/officeDocument/2006/relationships/notesSlide" Target="/ppt/notesSlides/notesSlide50.xml" Id="Rfc82793251f9447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cf010495d464f6e" /><Relationship Type="http://schemas.openxmlformats.org/officeDocument/2006/relationships/notesSlide" Target="/ppt/notesSlides/notesSlide51.xml" Id="R8a7fdd6a1548449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c22a9d477ee4525" /><Relationship Type="http://schemas.openxmlformats.org/officeDocument/2006/relationships/notesSlide" Target="/ppt/notesSlides/notesSlide52.xml" Id="R6b0fb4cae9744bf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b74c9943353415c" /><Relationship Type="http://schemas.openxmlformats.org/officeDocument/2006/relationships/notesSlide" Target="/ppt/notesSlides/notesSlide53.xml" Id="Rcfa8fc6b0642416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330c04bbbfb41f5" /><Relationship Type="http://schemas.openxmlformats.org/officeDocument/2006/relationships/notesSlide" Target="/ppt/notesSlides/notesSlide54.xml" Id="R11987a575c834c1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f7c25e08f424766" /><Relationship Type="http://schemas.openxmlformats.org/officeDocument/2006/relationships/notesSlide" Target="/ppt/notesSlides/notesSlide55.xml" Id="Red110f470624472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922707deb774568" /><Relationship Type="http://schemas.openxmlformats.org/officeDocument/2006/relationships/notesSlide" Target="/ppt/notesSlides/notesSlide56.xml" Id="R2be441aa46324c7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4581779c3bc481b" /><Relationship Type="http://schemas.openxmlformats.org/officeDocument/2006/relationships/notesSlide" Target="/ppt/notesSlides/notesSlide57.xml" Id="R782aeb41a0944aa3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e07b36402794641" /><Relationship Type="http://schemas.openxmlformats.org/officeDocument/2006/relationships/notesSlide" Target="/ppt/notesSlides/notesSlide58.xml" Id="Rf88641c05d0e409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6199ced91a54746" /><Relationship Type="http://schemas.openxmlformats.org/officeDocument/2006/relationships/notesSlide" Target="/ppt/notesSlides/notesSlide59.xml" Id="Rd4359762852c475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a3b612794c4485" /><Relationship Type="http://schemas.openxmlformats.org/officeDocument/2006/relationships/notesSlide" Target="/ppt/notesSlides/notesSlide60.xml" Id="R3bca6ad373e44aa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1c07ff01e854180" /><Relationship Type="http://schemas.openxmlformats.org/officeDocument/2006/relationships/notesSlide" Target="/ppt/notesSlides/notesSlide61.xml" Id="R89c59a482ddc4ba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86d256000844231" /><Relationship Type="http://schemas.openxmlformats.org/officeDocument/2006/relationships/notesSlide" Target="/ppt/notesSlides/notesSlide62.xml" Id="Rd2a91906e52a419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8bb99699acb447d" /><Relationship Type="http://schemas.openxmlformats.org/officeDocument/2006/relationships/notesSlide" Target="/ppt/notesSlides/notesSlide63.xml" Id="Ra622a88ceff441ec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525644d2c4c4cef" /><Relationship Type="http://schemas.openxmlformats.org/officeDocument/2006/relationships/notesSlide" Target="/ppt/notesSlides/notesSlide64.xml" Id="R333afebfe49a4068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e53f4e46ef64b3a" /><Relationship Type="http://schemas.openxmlformats.org/officeDocument/2006/relationships/notesSlide" Target="/ppt/notesSlides/notesSlide65.xml" Id="Rff9e059f53774290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af26a22a16340d0" /><Relationship Type="http://schemas.openxmlformats.org/officeDocument/2006/relationships/notesSlide" Target="/ppt/notesSlides/notesSlide66.xml" Id="R99a2a3fb5674496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1789ed78daa4192" /><Relationship Type="http://schemas.openxmlformats.org/officeDocument/2006/relationships/notesSlide" Target="/ppt/notesSlides/notesSlide67.xml" Id="R24317fa29e944a6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c514295df1a4b31" /><Relationship Type="http://schemas.openxmlformats.org/officeDocument/2006/relationships/notesSlide" Target="/ppt/notesSlides/notesSlide68.xml" Id="Refe30773b467479d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865e7400d5a4aad" /><Relationship Type="http://schemas.openxmlformats.org/officeDocument/2006/relationships/notesSlide" Target="/ppt/notesSlides/notesSlide69.xml" Id="R13c247672f4e4a6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ae1eefe7d14428" /><Relationship Type="http://schemas.openxmlformats.org/officeDocument/2006/relationships/notesSlide" Target="/ppt/notesSlides/notesSlide70.xml" Id="Re915cdafe3874024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3b64edf48d4577" /><Relationship Type="http://schemas.openxmlformats.org/officeDocument/2006/relationships/notesSlide" Target="/ppt/notesSlides/notesSlide71.xml" Id="Rb0a52263e6904808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0c2751b1be34612" /><Relationship Type="http://schemas.openxmlformats.org/officeDocument/2006/relationships/notesSlide" Target="/ppt/notesSlides/notesSlide72.xml" Id="Ra88c1309562b489b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95230e02b8b4771" /><Relationship Type="http://schemas.openxmlformats.org/officeDocument/2006/relationships/notesSlide" Target="/ppt/notesSlides/notesSlide73.xml" Id="R6cdb3bfecfeb4db0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c8c3e09e64b74" /><Relationship Type="http://schemas.openxmlformats.org/officeDocument/2006/relationships/notesSlide" Target="/ppt/notesSlides/notesSlide74.xml" Id="Rd759b4e3741b4261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70b6764531d483d" /><Relationship Type="http://schemas.openxmlformats.org/officeDocument/2006/relationships/notesSlide" Target="/ppt/notesSlides/notesSlide75.xml" Id="R7bb8f527c536435f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4ad7095d873c438a" /><Relationship Type="http://schemas.openxmlformats.org/officeDocument/2006/relationships/notesSlide" Target="/ppt/notesSlides/notesSlide76.xml" Id="Rf2fe6dc4189f4a19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75dafd70aa94515" /><Relationship Type="http://schemas.openxmlformats.org/officeDocument/2006/relationships/notesSlide" Target="/ppt/notesSlides/notesSlide77.xml" Id="R9b6e0d65e8754cbc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d7dedb3b887e40da" /><Relationship Type="http://schemas.openxmlformats.org/officeDocument/2006/relationships/notesSlide" Target="/ppt/notesSlides/notesSlide78.xml" Id="R9f709cce6ad24892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ec58c090364a97" /><Relationship Type="http://schemas.openxmlformats.org/officeDocument/2006/relationships/notesSlide" Target="/ppt/notesSlides/notesSlide79.xml" Id="Rf858881ac3e3471c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5bbfb470ea4ce6" /><Relationship Type="http://schemas.openxmlformats.org/officeDocument/2006/relationships/notesSlide" Target="/ppt/notesSlides/notesSlide80.xml" Id="Rccc687699141402e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798a09a1c584cff" /><Relationship Type="http://schemas.openxmlformats.org/officeDocument/2006/relationships/notesSlide" Target="/ppt/notesSlides/notesSlide81.xml" Id="R0707830a923a4557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3bcee7c51c34810" /><Relationship Type="http://schemas.openxmlformats.org/officeDocument/2006/relationships/notesSlide" Target="/ppt/notesSlides/notesSlide82.xml" Id="R7955a488b66e4c0d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5ba0ea59634fe7" /><Relationship Type="http://schemas.openxmlformats.org/officeDocument/2006/relationships/notesSlide" Target="/ppt/notesSlides/notesSlide83.xml" Id="R62fdbda287bd4620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f88bc7edb1124f16" /><Relationship Type="http://schemas.openxmlformats.org/officeDocument/2006/relationships/notesSlide" Target="/ppt/notesSlides/notesSlide84.xml" Id="R43d3f664a22b475a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e00398a0804187" /><Relationship Type="http://schemas.openxmlformats.org/officeDocument/2006/relationships/notesSlide" Target="/ppt/notesSlides/notesSlide85.xml" Id="R8e01975dad284015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df79c7ed2e4cd4" /><Relationship Type="http://schemas.openxmlformats.org/officeDocument/2006/relationships/notesSlide" Target="/ppt/notesSlides/notesSlide86.xml" Id="Rf495cad73cdd4f23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99ce12995b443b" /><Relationship Type="http://schemas.openxmlformats.org/officeDocument/2006/relationships/notesSlide" Target="/ppt/notesSlides/notesSlide87.xml" Id="Rf0fabb945e3d4c2f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f30396b71843aa" /><Relationship Type="http://schemas.openxmlformats.org/officeDocument/2006/relationships/notesSlide" Target="/ppt/notesSlides/notesSlide88.xml" Id="Rf6923f3163314c5b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a5468263b44e54" /><Relationship Type="http://schemas.openxmlformats.org/officeDocument/2006/relationships/notesSlide" Target="/ppt/notesSlides/notesSlide89.xml" Id="R758a362e919642f7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5fa52672834df3" /><Relationship Type="http://schemas.openxmlformats.org/officeDocument/2006/relationships/notesSlide" Target="/ppt/notesSlides/notesSlide90.xml" Id="R59043093047f4ff5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c30f26b3854965" /><Relationship Type="http://schemas.openxmlformats.org/officeDocument/2006/relationships/notesSlide" Target="/ppt/notesSlides/notesSlide91.xml" Id="R85c92835031844fb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92ed0e38464e70" /><Relationship Type="http://schemas.openxmlformats.org/officeDocument/2006/relationships/notesSlide" Target="/ppt/notesSlides/notesSlide92.xml" Id="Rfaaff7a6320645df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a63bc104624861" /><Relationship Type="http://schemas.openxmlformats.org/officeDocument/2006/relationships/notesSlide" Target="/ppt/notesSlides/notesSlide93.xml" Id="R2d64c77807f04ebc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05ffa4af1f4dea" /><Relationship Type="http://schemas.openxmlformats.org/officeDocument/2006/relationships/notesSlide" Target="/ppt/notesSlides/notesSlide94.xml" Id="R76f542c0614b4683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6a362809894031" /><Relationship Type="http://schemas.openxmlformats.org/officeDocument/2006/relationships/notesSlide" Target="/ppt/notesSlides/notesSlide95.xml" Id="Rea4b3563c346476f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e657feb248d4382" /><Relationship Type="http://schemas.openxmlformats.org/officeDocument/2006/relationships/notesSlide" Target="/ppt/notesSlides/notesSlide96.xml" Id="R676859e227214e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0631CB4-FACF-4725-8FE1-997D3A95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9 · FÍSICA ACÚSTICA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63341DD-6350-4D0D-B095-51F5E80F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Factores que afectan la propagación del sonido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E51DC1C-215F-4B2A-8A28-9EEF57F3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Fuente · trayecto · receptor · medición</a:t>
            </a:r>
          </a:p>
        </p:txBody>
      </p:sp>
      <p:sp>
        <p:nvSpPr>
          <p:cNvPr id="4" name="cover-claim">
            <a:extLst xmlns:a="http://schemas.openxmlformats.org/drawingml/2006/main">
              <a:ext uri="{FF2B5EF4-FFF2-40B4-BE49-F238E27FC236}">
                <a16:creationId xmlns:a16="http://schemas.microsoft.com/office/drawing/2014/main" id="{51013174-402A-48FC-8EA3-0B747CE5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Entre la fuente y quien escucha, el trayecto importa.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FD8CA1-A4BC-4C6B-91A8-9CC8805A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C1FC8EC8-5C86-4AC8-8A30-58DD0537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623E5EB-BF51-40A2-BD5F-972CEA98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505F53C-B5C7-4A36-9280-EF3F1C59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A061E4C-345B-4786-9FF9-F09E83A4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4B2B13-0EA1-42F4-8651-C65729EE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clínica junto a la avenida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14DAA6-FFC7-4D48-B72C-BCC432D5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Caso disparador</a:t>
            </a:r>
          </a:p>
        </p:txBody>
      </p:sp>
      <p:sp>
        <p:nvSpPr>
          <p:cNvPr id="7" name="U09-DG-002-step_1-anchor">
            <a:extLst xmlns:a="http://schemas.openxmlformats.org/drawingml/2006/main">
              <a:ext uri="{FF2B5EF4-FFF2-40B4-BE49-F238E27FC236}">
                <a16:creationId xmlns:a16="http://schemas.microsoft.com/office/drawing/2014/main" id="{F9D34FF5-0A46-48DE-A443-78413CCB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2-step_2-anchor">
            <a:extLst xmlns:a="http://schemas.openxmlformats.org/drawingml/2006/main">
              <a:ext uri="{FF2B5EF4-FFF2-40B4-BE49-F238E27FC236}">
                <a16:creationId xmlns:a16="http://schemas.microsoft.com/office/drawing/2014/main" id="{C0D1049E-DE3C-42EF-AFBD-E0A00C00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2-step_3-anchor">
            <a:extLst xmlns:a="http://schemas.openxmlformats.org/drawingml/2006/main">
              <a:ext uri="{FF2B5EF4-FFF2-40B4-BE49-F238E27FC236}">
                <a16:creationId xmlns:a16="http://schemas.microsoft.com/office/drawing/2014/main" id="{0F0CC9AC-A82A-4E12-99FD-3032EF20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2-step_4-anchor">
            <a:extLst xmlns:a="http://schemas.openxmlformats.org/drawingml/2006/main">
              <a:ext uri="{FF2B5EF4-FFF2-40B4-BE49-F238E27FC236}">
                <a16:creationId xmlns:a16="http://schemas.microsoft.com/office/drawing/2014/main" id="{70F0FA28-F6B0-4229-AE8D-9FAC5476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2-step_5-anchor">
            <a:extLst xmlns:a="http://schemas.openxmlformats.org/drawingml/2006/main">
              <a:ext uri="{FF2B5EF4-FFF2-40B4-BE49-F238E27FC236}">
                <a16:creationId xmlns:a16="http://schemas.microsoft.com/office/drawing/2014/main" id="{08A2AEA8-1944-469A-BEF9-75FE9BB5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2-step_6-anchor">
            <a:extLst xmlns:a="http://schemas.openxmlformats.org/drawingml/2006/main">
              <a:ext uri="{FF2B5EF4-FFF2-40B4-BE49-F238E27FC236}">
                <a16:creationId xmlns:a16="http://schemas.microsoft.com/office/drawing/2014/main" id="{A8951063-E902-465E-BEC4-ED89160E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U09-DG-002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9-DG-002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02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02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02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02-visual-alt" descr="Mapa del caso con rutas numeradas; U09-DG-002, candidata para diagram-generation. La composición permite reconocer que un valor medido no describe por sí solo la fuente ni la aptitud del recinto.">
            <a:extLst xmlns:a="http://schemas.openxmlformats.org/drawingml/2006/main">
              <a:ext uri="{FF2B5EF4-FFF2-40B4-BE49-F238E27FC236}">
                <a16:creationId xmlns:a16="http://schemas.microsoft.com/office/drawing/2014/main" id="{9C6EECC6-98E2-4714-969C-82B74027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02-step_1-text">
            <a:extLst xmlns:a="http://schemas.openxmlformats.org/drawingml/2006/main">
              <a:ext uri="{FF2B5EF4-FFF2-40B4-BE49-F238E27FC236}">
                <a16:creationId xmlns:a16="http://schemas.microsoft.com/office/drawing/2014/main" id="{702B75F8-C6F0-4468-805F-982F2ACE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Avenida</a:t>
            </a:r>
          </a:p>
        </p:txBody>
      </p:sp>
      <p:sp>
        <p:nvSpPr>
          <p:cNvPr id="20" name="U09-DG-002-step_2-box">
            <a:extLst xmlns:a="http://schemas.openxmlformats.org/drawingml/2006/main">
              <a:ext uri="{FF2B5EF4-FFF2-40B4-BE49-F238E27FC236}">
                <a16:creationId xmlns:a16="http://schemas.microsoft.com/office/drawing/2014/main" id="{0665AC6C-4FF6-42DA-BED1-C17F8743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02-step_2-text">
            <a:extLst xmlns:a="http://schemas.openxmlformats.org/drawingml/2006/main">
              <a:ext uri="{FF2B5EF4-FFF2-40B4-BE49-F238E27FC236}">
                <a16:creationId xmlns:a16="http://schemas.microsoft.com/office/drawing/2014/main" id="{F854A3BC-F8C3-4A3C-B120-D9644334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fachada</a:t>
            </a:r>
          </a:p>
        </p:txBody>
      </p:sp>
      <p:sp>
        <p:nvSpPr>
          <p:cNvPr id="22" name="U09-DG-002-step_3-box">
            <a:extLst xmlns:a="http://schemas.openxmlformats.org/drawingml/2006/main">
              <a:ext uri="{FF2B5EF4-FFF2-40B4-BE49-F238E27FC236}">
                <a16:creationId xmlns:a16="http://schemas.microsoft.com/office/drawing/2014/main" id="{B14CB212-6198-439A-87E2-E1484D24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02-step_3-text">
            <a:extLst xmlns:a="http://schemas.openxmlformats.org/drawingml/2006/main">
              <a:ext uri="{FF2B5EF4-FFF2-40B4-BE49-F238E27FC236}">
                <a16:creationId xmlns:a16="http://schemas.microsoft.com/office/drawing/2014/main" id="{4664BCE6-5EDC-476B-8A77-509309B7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consultorio</a:t>
            </a:r>
          </a:p>
        </p:txBody>
      </p:sp>
      <p:sp>
        <p:nvSpPr>
          <p:cNvPr id="24" name="U09-DG-002-step_4-box">
            <a:extLst xmlns:a="http://schemas.openxmlformats.org/drawingml/2006/main">
              <a:ext uri="{FF2B5EF4-FFF2-40B4-BE49-F238E27FC236}">
                <a16:creationId xmlns:a16="http://schemas.microsoft.com/office/drawing/2014/main" id="{AFC79C35-7359-4394-AB0C-B8C86DFE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02-step_4-text">
            <a:extLst xmlns:a="http://schemas.openxmlformats.org/drawingml/2006/main">
              <a:ext uri="{FF2B5EF4-FFF2-40B4-BE49-F238E27FC236}">
                <a16:creationId xmlns:a16="http://schemas.microsoft.com/office/drawing/2014/main" id="{60237470-C1D7-48CB-9FF3-76E80908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cabina</a:t>
            </a:r>
          </a:p>
        </p:txBody>
      </p:sp>
      <p:sp>
        <p:nvSpPr>
          <p:cNvPr id="26" name="U09-DG-002-step_5-box">
            <a:extLst xmlns:a="http://schemas.openxmlformats.org/drawingml/2006/main">
              <a:ext uri="{FF2B5EF4-FFF2-40B4-BE49-F238E27FC236}">
                <a16:creationId xmlns:a16="http://schemas.microsoft.com/office/drawing/2014/main" id="{A42D064D-E0BD-4B33-B9C4-23945AEE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02-step_5-text">
            <a:extLst xmlns:a="http://schemas.openxmlformats.org/drawingml/2006/main">
              <a:ext uri="{FF2B5EF4-FFF2-40B4-BE49-F238E27FC236}">
                <a16:creationId xmlns:a16="http://schemas.microsoft.com/office/drawing/2014/main" id="{6855D739-9302-4071-9F95-A324DA66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dos receptores</a:t>
            </a:r>
          </a:p>
        </p:txBody>
      </p:sp>
      <p:sp>
        <p:nvSpPr>
          <p:cNvPr id="28" name="U09-DG-002-step_6-box">
            <a:extLst xmlns:a="http://schemas.openxmlformats.org/drawingml/2006/main">
              <a:ext uri="{FF2B5EF4-FFF2-40B4-BE49-F238E27FC236}">
                <a16:creationId xmlns:a16="http://schemas.microsoft.com/office/drawing/2014/main" id="{4FF03E33-790D-49E6-8439-C982AC22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02-step_6-text">
            <a:extLst xmlns:a="http://schemas.openxmlformats.org/drawingml/2006/main">
              <a:ext uri="{FF2B5EF4-FFF2-40B4-BE49-F238E27FC236}">
                <a16:creationId xmlns:a16="http://schemas.microsoft.com/office/drawing/2014/main" id="{B80FCE1F-BB4F-438A-A3F2-892BE595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rutas numeradas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7C4898A6-C9CC-4B21-8E18-EB2E05A1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un valor medido no describe por sí solo la fuente ni la aptitud del recinto. · U09-DG-002 · UCASAL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FFDD81B-F627-4DB7-BAE1-C373BF6C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3C0FA867-1617-4787-BA45-3714CA3B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963245A-31B6-45C6-8E20-78F5A3D0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AF50CA4-BC9B-4183-BA05-F73A729E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14A071E-C76E-4414-8F10-FF2FFCE4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102470-F8A4-48D9-B035-2A9DE6E1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explicar y estimar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62C0EE-BFB2-4E37-B395-D8348D81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Objetivos</a:t>
            </a:r>
          </a:p>
        </p:txBody>
      </p:sp>
      <p:sp>
        <p:nvSpPr>
          <p:cNvPr id="7" name="U09-003-claim-alt" descr="Ruta de objetivos en dos niveles; sin iconos decorativos. La composición permite reconocer que la unidad exige reconocer mecanismos, aplicar modelos acotados y justificar mediciones.">
            <a:extLst xmlns:a="http://schemas.openxmlformats.org/drawingml/2006/main">
              <a:ext uri="{FF2B5EF4-FFF2-40B4-BE49-F238E27FC236}">
                <a16:creationId xmlns:a16="http://schemas.microsoft.com/office/drawing/2014/main" id="{1FD49D65-E8A7-4B68-9EC6-D9D1E6EB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Analizar mecanismos de propagación.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CD66FBB5-AC16-46D1-BF7B-6C45E1BA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D224C8B8-504A-420D-B171-5907D647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Aplicar modelos con hipótesis explícitas.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59649BFF-9D1F-434B-A900-08FED4D6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1ABB2E07-3695-4303-83E6-90BC8689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623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e interpretar resultados con unidades.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6FC0B982-B44F-43F3-AADF-F37FC298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dy-2">
            <a:extLst xmlns:a="http://schemas.openxmlformats.org/drawingml/2006/main">
              <a:ext uri="{FF2B5EF4-FFF2-40B4-BE49-F238E27FC236}">
                <a16:creationId xmlns:a16="http://schemas.microsoft.com/office/drawing/2014/main" id="{77F15DDE-B85F-4F61-AB75-A07A5062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00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alternativas y justificar qué debe medirse.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295CDEF-76BB-47ED-B4C6-2509FC80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7306EC7B-D38B-4A21-82EC-59D95B37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6794289-B3BA-484E-8E58-6CE360C7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381AC35-6D8E-4E76-BDF2-E8E3D7D1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F4FBFCD-0B53-4052-9B32-65535B7A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97BC04-4F0F-4594-A554-29B7353E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necesitamos recuperar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E6740EA-A28D-44BB-84A4-D0CE6876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Conocimientos previos</a:t>
            </a:r>
          </a:p>
        </p:txBody>
      </p:sp>
      <p:sp>
        <p:nvSpPr>
          <p:cNvPr id="7" name="U09-004-claim-alt" descr="Tarjetas de prerrequisitos y pregunta breve. La composición permite reconocer que distancia, longitud de onda, niveles, temperatura y bandas ya tienen significado físico.">
            <a:extLst xmlns:a="http://schemas.openxmlformats.org/drawingml/2006/main">
              <a:ext uri="{FF2B5EF4-FFF2-40B4-BE49-F238E27FC236}">
                <a16:creationId xmlns:a16="http://schemas.microsoft.com/office/drawing/2014/main" id="{A0BAC2FF-A74C-4169-A347-B52ECC81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Ya conocemos: distancia, frecuencia, longitud de onda, niveles, temperatura y bandas.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3504543C-0D92-4E5D-9B74-2F62E7AE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74BD05F8-73DC-46ED-A769-EEBB6735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Necesitamos recuperar: unidades, razones, logaritmos y lectura de gráficos.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960B2244-A12D-4EE6-90BF-F9B80812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271294AA-53BF-4BA4-B2E5-B2FF9AD1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623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Diagnóstico: ¿qué magnitud cambiaría en cada situación?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701F06-0798-4334-80F3-B358BB86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AAECEF9E-B591-43FD-8FE0-9CB5842C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E0CC69D-DAEA-4A99-B7E8-84EE74DD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D625ACF-5D1E-41AE-84B6-671A35B0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7B80DAF-87E9-4487-9125-E35BBCE2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51F839-2B08-4BC7-A81E-9208B706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la emisión a la verificación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2BB5FB-1C26-4BE7-8F55-DA42A61E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Mapa de clase</a:t>
            </a:r>
          </a:p>
        </p:txBody>
      </p:sp>
      <p:sp>
        <p:nvSpPr>
          <p:cNvPr id="7" name="U09-DG-003-step_1-anchor">
            <a:extLst xmlns:a="http://schemas.openxmlformats.org/drawingml/2006/main">
              <a:ext uri="{FF2B5EF4-FFF2-40B4-BE49-F238E27FC236}">
                <a16:creationId xmlns:a16="http://schemas.microsoft.com/office/drawing/2014/main" id="{813D7D0A-FA3E-44F0-A328-F14100BF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3-step_2-anchor">
            <a:extLst xmlns:a="http://schemas.openxmlformats.org/drawingml/2006/main">
              <a:ext uri="{FF2B5EF4-FFF2-40B4-BE49-F238E27FC236}">
                <a16:creationId xmlns:a16="http://schemas.microsoft.com/office/drawing/2014/main" id="{32B764BE-E16F-47BB-8623-BE5E0D16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3-step_3-anchor">
            <a:extLst xmlns:a="http://schemas.openxmlformats.org/drawingml/2006/main">
              <a:ext uri="{FF2B5EF4-FFF2-40B4-BE49-F238E27FC236}">
                <a16:creationId xmlns:a16="http://schemas.microsoft.com/office/drawing/2014/main" id="{3D610B49-0FF8-41E5-9802-A77602D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3-step_4-anchor">
            <a:extLst xmlns:a="http://schemas.openxmlformats.org/drawingml/2006/main">
              <a:ext uri="{FF2B5EF4-FFF2-40B4-BE49-F238E27FC236}">
                <a16:creationId xmlns:a16="http://schemas.microsoft.com/office/drawing/2014/main" id="{BF07244B-DAA8-4D48-BFD1-70566C1C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3-step_5-anchor">
            <a:extLst xmlns:a="http://schemas.openxmlformats.org/drawingml/2006/main">
              <a:ext uri="{FF2B5EF4-FFF2-40B4-BE49-F238E27FC236}">
                <a16:creationId xmlns:a16="http://schemas.microsoft.com/office/drawing/2014/main" id="{3322097D-8030-4DBD-BCC3-B71430AE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3-step_6-anchor">
            <a:extLst xmlns:a="http://schemas.openxmlformats.org/drawingml/2006/main">
              <a:ext uri="{FF2B5EF4-FFF2-40B4-BE49-F238E27FC236}">
                <a16:creationId xmlns:a16="http://schemas.microsoft.com/office/drawing/2014/main" id="{F3AC6764-91E5-4AB9-9799-09736C1F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U09-DG-003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9-DG-003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03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03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03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03-visual-alt" descr="Mapa horizontal con hitos y pausas; U09-DG-003, candidata para diagram-generation. La composición permite reconocer que la secuencia avanza de fuente y trayecto a superficies, recintos, aislamiento y cabinas.">
            <a:extLst xmlns:a="http://schemas.openxmlformats.org/drawingml/2006/main">
              <a:ext uri="{FF2B5EF4-FFF2-40B4-BE49-F238E27FC236}">
                <a16:creationId xmlns:a16="http://schemas.microsoft.com/office/drawing/2014/main" id="{24AAE597-1504-478A-A8AE-0EB19F5F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03-step_1-text">
            <a:extLst xmlns:a="http://schemas.openxmlformats.org/drawingml/2006/main">
              <a:ext uri="{FF2B5EF4-FFF2-40B4-BE49-F238E27FC236}">
                <a16:creationId xmlns:a16="http://schemas.microsoft.com/office/drawing/2014/main" id="{F548F5BD-1781-45DE-B227-820D2416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Modelo organizador</a:t>
            </a:r>
          </a:p>
        </p:txBody>
      </p:sp>
      <p:sp>
        <p:nvSpPr>
          <p:cNvPr id="20" name="U09-DG-003-step_2-box">
            <a:extLst xmlns:a="http://schemas.openxmlformats.org/drawingml/2006/main">
              <a:ext uri="{FF2B5EF4-FFF2-40B4-BE49-F238E27FC236}">
                <a16:creationId xmlns:a16="http://schemas.microsoft.com/office/drawing/2014/main" id="{14082CED-3D4E-4DA6-820D-17F71F05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03-step_2-text">
            <a:extLst xmlns:a="http://schemas.openxmlformats.org/drawingml/2006/main">
              <a:ext uri="{FF2B5EF4-FFF2-40B4-BE49-F238E27FC236}">
                <a16:creationId xmlns:a16="http://schemas.microsoft.com/office/drawing/2014/main" id="{B2FF7176-67BD-432D-B6B4-E906BC8D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Distancia y directividad</a:t>
            </a:r>
          </a:p>
        </p:txBody>
      </p:sp>
      <p:sp>
        <p:nvSpPr>
          <p:cNvPr id="22" name="U09-DG-003-step_3-box">
            <a:extLst xmlns:a="http://schemas.openxmlformats.org/drawingml/2006/main">
              <a:ext uri="{FF2B5EF4-FFF2-40B4-BE49-F238E27FC236}">
                <a16:creationId xmlns:a16="http://schemas.microsoft.com/office/drawing/2014/main" id="{9CE42C43-6071-412D-84E1-ECF46827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03-step_3-text">
            <a:extLst xmlns:a="http://schemas.openxmlformats.org/drawingml/2006/main">
              <a:ext uri="{FF2B5EF4-FFF2-40B4-BE49-F238E27FC236}">
                <a16:creationId xmlns:a16="http://schemas.microsoft.com/office/drawing/2014/main" id="{7772D33E-F704-4959-8347-58B2DD63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Atmósfera</a:t>
            </a:r>
          </a:p>
        </p:txBody>
      </p:sp>
      <p:sp>
        <p:nvSpPr>
          <p:cNvPr id="24" name="U09-DG-003-step_4-box">
            <a:extLst xmlns:a="http://schemas.openxmlformats.org/drawingml/2006/main">
              <a:ext uri="{FF2B5EF4-FFF2-40B4-BE49-F238E27FC236}">
                <a16:creationId xmlns:a16="http://schemas.microsoft.com/office/drawing/2014/main" id="{A109DE3D-77AD-4E50-B714-C9AC8957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03-step_4-text">
            <a:extLst xmlns:a="http://schemas.openxmlformats.org/drawingml/2006/main">
              <a:ext uri="{FF2B5EF4-FFF2-40B4-BE49-F238E27FC236}">
                <a16:creationId xmlns:a16="http://schemas.microsoft.com/office/drawing/2014/main" id="{678EB629-7C70-4738-A52D-A7930433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Superficies y recintos</a:t>
            </a:r>
          </a:p>
        </p:txBody>
      </p:sp>
      <p:sp>
        <p:nvSpPr>
          <p:cNvPr id="26" name="U09-DG-003-step_5-box">
            <a:extLst xmlns:a="http://schemas.openxmlformats.org/drawingml/2006/main">
              <a:ext uri="{FF2B5EF4-FFF2-40B4-BE49-F238E27FC236}">
                <a16:creationId xmlns:a16="http://schemas.microsoft.com/office/drawing/2014/main" id="{254B8D6D-D6A3-4B36-9149-CEBDEDEC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03-step_5-text">
            <a:extLst xmlns:a="http://schemas.openxmlformats.org/drawingml/2006/main">
              <a:ext uri="{FF2B5EF4-FFF2-40B4-BE49-F238E27FC236}">
                <a16:creationId xmlns:a16="http://schemas.microsoft.com/office/drawing/2014/main" id="{0A82FED6-B7E9-45E9-8E89-8F83F5CC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Aislamiento y cabinas</a:t>
            </a:r>
          </a:p>
        </p:txBody>
      </p:sp>
      <p:sp>
        <p:nvSpPr>
          <p:cNvPr id="28" name="U09-DG-003-step_6-box">
            <a:extLst xmlns:a="http://schemas.openxmlformats.org/drawingml/2006/main">
              <a:ext uri="{FF2B5EF4-FFF2-40B4-BE49-F238E27FC236}">
                <a16:creationId xmlns:a16="http://schemas.microsoft.com/office/drawing/2014/main" id="{C50DD3D4-14C1-4772-AA35-2846BB07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03-step_6-text">
            <a:extLst xmlns:a="http://schemas.openxmlformats.org/drawingml/2006/main">
              <a:ext uri="{FF2B5EF4-FFF2-40B4-BE49-F238E27FC236}">
                <a16:creationId xmlns:a16="http://schemas.microsoft.com/office/drawing/2014/main" id="{07308260-7995-42D1-8602-37F09BC2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Integración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7DEBDE6D-1A79-4F51-88E6-62CA9410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secuencia avanza de fuente y trayecto a superficies, recintos, aislamiento y cabinas. · U09-DG-003 · UCASAL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5FA005-022F-4B19-83A9-C34A38C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659E7EEF-113E-41FD-B30B-3E3CF8D0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D9EFE85-1C62-4668-B340-E5A70F8F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¿De quién es el nivel recibido?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62032948-25E6-440F-80B3-2DFE5D7F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 nivel observado emerge de una cadena física y metrológica.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DFF5C5-F8C7-441E-B004-4D8F2453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C1D35B57-B5DF-4D64-88E2-3A8DAF27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8D08717-60AB-4EC7-A2DA-6C684A71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C7065FC-DE90-476C-B5F3-7779876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9CFCA3A-BDC6-408E-9306-C15F469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F655F0-3555-4BD6-8142-4CA16B8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Fuente–trayecto–receptor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C86933-A558-4210-A6BB-28FDF7B2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Modelo conceptual</a:t>
            </a:r>
          </a:p>
        </p:txBody>
      </p:sp>
      <p:sp>
        <p:nvSpPr>
          <p:cNvPr id="7" name="U09-DG-004-source-anchor">
            <a:extLst xmlns:a="http://schemas.openxmlformats.org/drawingml/2006/main">
              <a:ext uri="{FF2B5EF4-FFF2-40B4-BE49-F238E27FC236}">
                <a16:creationId xmlns:a16="http://schemas.microsoft.com/office/drawing/2014/main" id="{858147FA-8CA8-4E88-A7A0-5B405ACA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4-path_upper-anchor">
            <a:extLst xmlns:a="http://schemas.openxmlformats.org/drawingml/2006/main">
              <a:ext uri="{FF2B5EF4-FFF2-40B4-BE49-F238E27FC236}">
                <a16:creationId xmlns:a16="http://schemas.microsoft.com/office/drawing/2014/main" id="{010566B8-9E88-4553-8B38-2946316E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4-path_lower-anchor">
            <a:extLst xmlns:a="http://schemas.openxmlformats.org/drawingml/2006/main">
              <a:ext uri="{FF2B5EF4-FFF2-40B4-BE49-F238E27FC236}">
                <a16:creationId xmlns:a16="http://schemas.microsoft.com/office/drawing/2014/main" id="{7476A266-8EA8-4FDD-85F2-706A508F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4-receiver-anchor">
            <a:extLst xmlns:a="http://schemas.openxmlformats.org/drawingml/2006/main">
              <a:ext uri="{FF2B5EF4-FFF2-40B4-BE49-F238E27FC236}">
                <a16:creationId xmlns:a16="http://schemas.microsoft.com/office/drawing/2014/main" id="{6DC8CDAB-726B-4E9E-A042-29CF7715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4-condition-anchor">
            <a:extLst xmlns:a="http://schemas.openxmlformats.org/drawingml/2006/main">
              <a:ext uri="{FF2B5EF4-FFF2-40B4-BE49-F238E27FC236}">
                <a16:creationId xmlns:a16="http://schemas.microsoft.com/office/drawing/2014/main" id="{7803F20F-539A-445D-A92F-E0AD4B6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04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04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04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04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04-visual-alt" descr="Diagrama principal con zonas y ejemplos; U09-DG-004, candidata para diagram-generation. La composición permite reconocer que cada mecanismo debe localizarse en una parte de la cadena.">
            <a:extLst xmlns:a="http://schemas.openxmlformats.org/drawingml/2006/main">
              <a:ext uri="{FF2B5EF4-FFF2-40B4-BE49-F238E27FC236}">
                <a16:creationId xmlns:a16="http://schemas.microsoft.com/office/drawing/2014/main" id="{9E41EA25-FFDF-48B6-9635-1F166DB4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04-source-text">
            <a:extLst xmlns:a="http://schemas.openxmlformats.org/drawingml/2006/main">
              <a:ext uri="{FF2B5EF4-FFF2-40B4-BE49-F238E27FC236}">
                <a16:creationId xmlns:a16="http://schemas.microsoft.com/office/drawing/2014/main" id="{56DE57E0-AA6F-4AD8-96DF-9C28F634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8" name="U09-DG-004-path_upper-box">
            <a:extLst xmlns:a="http://schemas.openxmlformats.org/drawingml/2006/main">
              <a:ext uri="{FF2B5EF4-FFF2-40B4-BE49-F238E27FC236}">
                <a16:creationId xmlns:a16="http://schemas.microsoft.com/office/drawing/2014/main" id="{9B0AE9F4-1BA0-4F1B-B763-52201029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04-path_upper-text">
            <a:extLst xmlns:a="http://schemas.openxmlformats.org/drawingml/2006/main">
              <a:ext uri="{FF2B5EF4-FFF2-40B4-BE49-F238E27FC236}">
                <a16:creationId xmlns:a16="http://schemas.microsoft.com/office/drawing/2014/main" id="{74128416-7A73-4E04-89C6-66BA5285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Redistribuye</a:t>
            </a:r>
          </a:p>
        </p:txBody>
      </p:sp>
      <p:sp>
        <p:nvSpPr>
          <p:cNvPr id="20" name="U09-DG-004-path_lower-box">
            <a:extLst xmlns:a="http://schemas.openxmlformats.org/drawingml/2006/main">
              <a:ext uri="{FF2B5EF4-FFF2-40B4-BE49-F238E27FC236}">
                <a16:creationId xmlns:a16="http://schemas.microsoft.com/office/drawing/2014/main" id="{EB7BF191-2C76-4CC2-A740-D5E6B800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04-path_lower-text">
            <a:extLst xmlns:a="http://schemas.openxmlformats.org/drawingml/2006/main">
              <a:ext uri="{FF2B5EF4-FFF2-40B4-BE49-F238E27FC236}">
                <a16:creationId xmlns:a16="http://schemas.microsoft.com/office/drawing/2014/main" id="{1FC44978-5961-4C3B-B72C-7AEC4AB5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Disipa o desvía</a:t>
            </a:r>
          </a:p>
        </p:txBody>
      </p:sp>
      <p:sp>
        <p:nvSpPr>
          <p:cNvPr id="22" name="U09-DG-004-receiver-box">
            <a:extLst xmlns:a="http://schemas.openxmlformats.org/drawingml/2006/main">
              <a:ext uri="{FF2B5EF4-FFF2-40B4-BE49-F238E27FC236}">
                <a16:creationId xmlns:a16="http://schemas.microsoft.com/office/drawing/2014/main" id="{AFC0EE81-8A82-4693-9B3F-4A89177E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04-receiver-text">
            <a:extLst xmlns:a="http://schemas.openxmlformats.org/drawingml/2006/main">
              <a:ext uri="{FF2B5EF4-FFF2-40B4-BE49-F238E27FC236}">
                <a16:creationId xmlns:a16="http://schemas.microsoft.com/office/drawing/2014/main" id="{93042DA9-924B-41EA-A8A7-BC6989C2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 y medición</a:t>
            </a:r>
          </a:p>
        </p:txBody>
      </p:sp>
      <p:sp>
        <p:nvSpPr>
          <p:cNvPr id="24" name="U09-DG-004-condition-box">
            <a:extLst xmlns:a="http://schemas.openxmlformats.org/drawingml/2006/main">
              <a:ext uri="{FF2B5EF4-FFF2-40B4-BE49-F238E27FC236}">
                <a16:creationId xmlns:a16="http://schemas.microsoft.com/office/drawing/2014/main" id="{36724637-7444-4BF0-A0E4-BACA89CF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04-condition-text">
            <a:extLst xmlns:a="http://schemas.openxmlformats.org/drawingml/2006/main">
              <a:ext uri="{FF2B5EF4-FFF2-40B4-BE49-F238E27FC236}">
                <a16:creationId xmlns:a16="http://schemas.microsoft.com/office/drawing/2014/main" id="{8EDF97E3-8A89-45E9-AB5D-0F50D668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FFAF6848-EB42-4CF1-A21C-D1DCAEA1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cada mecanismo debe localizarse en una parte de la cadena. · U09-DG-004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FA3E8E0-6A79-47EB-8F10-82F9353E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5B8B2CF3-202B-446B-838B-85DE041B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CBAD2D7-B5A9-49B1-9549-DE8AF160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BE1D778-52A4-4105-A08C-AAF0935E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4264A90-3787-4444-962E-62D9697C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B92375-3416-4E24-847D-D66F4B96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Emitir no es recibir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2AF1BC1-80B0-4C75-B6CB-6A47F651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Comparación</a:t>
            </a:r>
          </a:p>
        </p:txBody>
      </p:sp>
      <p:sp>
        <p:nvSpPr>
          <p:cNvPr id="7" name="U09-008-claim-alt" descr="Tabla comparativa y mini cadena; U09-DG-005, candidata para diagram-generation. La composición permite reconocer que la potencia caracteriza la emisión; la presión depende del punto y del campo.">
            <a:extLst xmlns:a="http://schemas.openxmlformats.org/drawingml/2006/main">
              <a:ext uri="{FF2B5EF4-FFF2-40B4-BE49-F238E27FC236}">
                <a16:creationId xmlns:a16="http://schemas.microsoft.com/office/drawing/2014/main" id="{8EA9973B-05D4-42DC-B3DE-695D429D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44FD2E0A-16D9-4561-8694-11BF364A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1BE2CBDA-0390-4605-83BC-B2659F30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9C5F43EE-46EE-4B4C-9C7A-CE0E7733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Potencia emitida, espectro y directividad. Describe el origen, no el nivel que llegará.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9232E04D-71DE-436F-8362-E9F85EB1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C0072D73-4A7E-40ED-9F1B-E62982E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Trayecto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BED10CD3-1E68-48F6-8371-272DE9AF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Distancia, atmósfera, superficies y obstáculos modifican la propagación.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44978858-A2E5-4E3E-A686-69F24320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18FEE06D-C649-4318-991C-4714DB8B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6A7E1B8F-A927-419C-A1E6-458B064F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nivel se define en un punto, una dirección, una banda y un instante.</a:t>
            </a:r>
          </a:p>
        </p:txBody>
      </p:sp>
      <p:sp>
        <p:nvSpPr>
          <p:cNvPr id="17" name="custom-conclusion">
            <a:extLst xmlns:a="http://schemas.openxmlformats.org/drawingml/2006/main">
              <a:ext uri="{FF2B5EF4-FFF2-40B4-BE49-F238E27FC236}">
                <a16:creationId xmlns:a16="http://schemas.microsoft.com/office/drawing/2014/main" id="{EBDCE83B-84C7-4434-918C-9A52B7B7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197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Emitir y recibir son magnitudes distintas: entre ambas siempre hay un trayecto.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7CDD9CD-568E-4239-BC18-0A91262B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20F95D19-C0BF-4646-AB20-A7CE7821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C83E675-EA32-4678-BB1D-777C8755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99498F0-268F-4674-8A2E-1EBE7EC8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E9F18C9-2AF6-4D03-93CF-AFC6ECD1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CF967F-116A-4E1A-94E7-6D10621F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Ocho mecanismos, cuatro preguntas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335710-C202-4208-9234-C91A21FB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Mapa de mecanismos</a:t>
            </a:r>
          </a:p>
        </p:txBody>
      </p:sp>
      <p:sp>
        <p:nvSpPr>
          <p:cNvPr id="7" name="U09-DG-006-concept_1-anchor">
            <a:extLst xmlns:a="http://schemas.openxmlformats.org/drawingml/2006/main">
              <a:ext uri="{FF2B5EF4-FFF2-40B4-BE49-F238E27FC236}">
                <a16:creationId xmlns:a16="http://schemas.microsoft.com/office/drawing/2014/main" id="{CE5540BE-3C68-4BF0-A3B3-075D442B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6-concept_2-anchor">
            <a:extLst xmlns:a="http://schemas.openxmlformats.org/drawingml/2006/main">
              <a:ext uri="{FF2B5EF4-FFF2-40B4-BE49-F238E27FC236}">
                <a16:creationId xmlns:a16="http://schemas.microsoft.com/office/drawing/2014/main" id="{078B3F6E-2889-4DC7-B5DC-567FAB95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6-concept_3-anchor">
            <a:extLst xmlns:a="http://schemas.openxmlformats.org/drawingml/2006/main">
              <a:ext uri="{FF2B5EF4-FFF2-40B4-BE49-F238E27FC236}">
                <a16:creationId xmlns:a16="http://schemas.microsoft.com/office/drawing/2014/main" id="{EF61A73F-6858-41AA-B268-47E1DA89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6-concept_4-anchor">
            <a:extLst xmlns:a="http://schemas.openxmlformats.org/drawingml/2006/main">
              <a:ext uri="{FF2B5EF4-FFF2-40B4-BE49-F238E27FC236}">
                <a16:creationId xmlns:a16="http://schemas.microsoft.com/office/drawing/2014/main" id="{0C8D349B-74E1-4CFD-97D9-ABFB22A5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6-concept_5-anchor">
            <a:extLst xmlns:a="http://schemas.openxmlformats.org/drawingml/2006/main">
              <a:ext uri="{FF2B5EF4-FFF2-40B4-BE49-F238E27FC236}">
                <a16:creationId xmlns:a16="http://schemas.microsoft.com/office/drawing/2014/main" id="{84FDF0D9-791A-4804-88D4-34BFE062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6-concept_6-anchor">
            <a:extLst xmlns:a="http://schemas.openxmlformats.org/drawingml/2006/main">
              <a:ext uri="{FF2B5EF4-FFF2-40B4-BE49-F238E27FC236}">
                <a16:creationId xmlns:a16="http://schemas.microsoft.com/office/drawing/2014/main" id="{5D887F8D-3890-4463-83C7-99D3012C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06-concept_7-anchor">
            <a:extLst xmlns:a="http://schemas.openxmlformats.org/drawingml/2006/main">
              <a:ext uri="{FF2B5EF4-FFF2-40B4-BE49-F238E27FC236}">
                <a16:creationId xmlns:a16="http://schemas.microsoft.com/office/drawing/2014/main" id="{2573F394-AF1C-4A4B-AD70-7A9722D2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06-concept_8-anchor">
            <a:extLst xmlns:a="http://schemas.openxmlformats.org/drawingml/2006/main">
              <a:ext uri="{FF2B5EF4-FFF2-40B4-BE49-F238E27FC236}">
                <a16:creationId xmlns:a16="http://schemas.microsoft.com/office/drawing/2014/main" id="{A00C6F34-9E75-4C65-9813-0016E8C5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U09-DG-006-visual-alt" descr="Matriz mecanismo–magnitud–dependencia–modelo; U09-DG-006, candidata para diagram-generation. La composición permite reconocer que no toda disminución es absorción y no toda llegada sigue la ruta directa.">
            <a:extLst xmlns:a="http://schemas.openxmlformats.org/drawingml/2006/main">
              <a:ext uri="{FF2B5EF4-FFF2-40B4-BE49-F238E27FC236}">
                <a16:creationId xmlns:a16="http://schemas.microsoft.com/office/drawing/2014/main" id="{6082A94A-E315-4C10-8DAA-8905C4DE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09-DG-006-concept_1-text">
            <a:extLst xmlns:a="http://schemas.openxmlformats.org/drawingml/2006/main">
              <a:ext uri="{FF2B5EF4-FFF2-40B4-BE49-F238E27FC236}">
                <a16:creationId xmlns:a16="http://schemas.microsoft.com/office/drawing/2014/main" id="{5A13DED4-ABBF-4473-A720-E6DB03E4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Divergencia</a:t>
            </a:r>
          </a:p>
        </p:txBody>
      </p:sp>
      <p:sp>
        <p:nvSpPr>
          <p:cNvPr id="17" name="U09-DG-006-concept_2-box">
            <a:extLst xmlns:a="http://schemas.openxmlformats.org/drawingml/2006/main">
              <a:ext uri="{FF2B5EF4-FFF2-40B4-BE49-F238E27FC236}">
                <a16:creationId xmlns:a16="http://schemas.microsoft.com/office/drawing/2014/main" id="{6C54A382-B790-40F5-A682-CFB169A3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09-DG-006-concept_2-text">
            <a:extLst xmlns:a="http://schemas.openxmlformats.org/drawingml/2006/main">
              <a:ext uri="{FF2B5EF4-FFF2-40B4-BE49-F238E27FC236}">
                <a16:creationId xmlns:a16="http://schemas.microsoft.com/office/drawing/2014/main" id="{DB2AC59E-1781-41D7-98EC-8336A9F9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Directividad</a:t>
            </a:r>
          </a:p>
        </p:txBody>
      </p:sp>
      <p:sp>
        <p:nvSpPr>
          <p:cNvPr id="19" name="U09-DG-006-concept_3-box">
            <a:extLst xmlns:a="http://schemas.openxmlformats.org/drawingml/2006/main">
              <a:ext uri="{FF2B5EF4-FFF2-40B4-BE49-F238E27FC236}">
                <a16:creationId xmlns:a16="http://schemas.microsoft.com/office/drawing/2014/main" id="{BA0EDF73-68FD-4673-9521-F38A1A79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09-DG-006-concept_3-text">
            <a:extLst xmlns:a="http://schemas.openxmlformats.org/drawingml/2006/main">
              <a:ext uri="{FF2B5EF4-FFF2-40B4-BE49-F238E27FC236}">
                <a16:creationId xmlns:a16="http://schemas.microsoft.com/office/drawing/2014/main" id="{9904B30A-D213-4EFE-A7D5-577FEE45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Absorción atmosférica</a:t>
            </a:r>
          </a:p>
        </p:txBody>
      </p:sp>
      <p:sp>
        <p:nvSpPr>
          <p:cNvPr id="21" name="U09-DG-006-concept_4-box">
            <a:extLst xmlns:a="http://schemas.openxmlformats.org/drawingml/2006/main">
              <a:ext uri="{FF2B5EF4-FFF2-40B4-BE49-F238E27FC236}">
                <a16:creationId xmlns:a16="http://schemas.microsoft.com/office/drawing/2014/main" id="{8B76E5B4-BDD2-4A06-8B60-5EA1802C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09-DG-006-concept_4-text">
            <a:extLst xmlns:a="http://schemas.openxmlformats.org/drawingml/2006/main">
              <a:ext uri="{FF2B5EF4-FFF2-40B4-BE49-F238E27FC236}">
                <a16:creationId xmlns:a16="http://schemas.microsoft.com/office/drawing/2014/main" id="{7172E7F9-6670-4291-AC70-9F30B440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Reflexión</a:t>
            </a:r>
          </a:p>
        </p:txBody>
      </p:sp>
      <p:sp>
        <p:nvSpPr>
          <p:cNvPr id="23" name="U09-DG-006-concept_5-box">
            <a:extLst xmlns:a="http://schemas.openxmlformats.org/drawingml/2006/main">
              <a:ext uri="{FF2B5EF4-FFF2-40B4-BE49-F238E27FC236}">
                <a16:creationId xmlns:a16="http://schemas.microsoft.com/office/drawing/2014/main" id="{74CECFD0-84C4-4473-B606-F75A2AAF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09-DG-006-concept_5-text">
            <a:extLst xmlns:a="http://schemas.openxmlformats.org/drawingml/2006/main">
              <a:ext uri="{FF2B5EF4-FFF2-40B4-BE49-F238E27FC236}">
                <a16:creationId xmlns:a16="http://schemas.microsoft.com/office/drawing/2014/main" id="{1A18760E-AD69-4AB4-AA17-C163CDE0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Absorción material</a:t>
            </a:r>
          </a:p>
        </p:txBody>
      </p:sp>
      <p:sp>
        <p:nvSpPr>
          <p:cNvPr id="25" name="U09-DG-006-concept_6-box">
            <a:extLst xmlns:a="http://schemas.openxmlformats.org/drawingml/2006/main">
              <a:ext uri="{FF2B5EF4-FFF2-40B4-BE49-F238E27FC236}">
                <a16:creationId xmlns:a16="http://schemas.microsoft.com/office/drawing/2014/main" id="{5624EACA-812E-416A-A389-7709ACC7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6" name="U09-DG-006-concept_6-text">
            <a:extLst xmlns:a="http://schemas.openxmlformats.org/drawingml/2006/main">
              <a:ext uri="{FF2B5EF4-FFF2-40B4-BE49-F238E27FC236}">
                <a16:creationId xmlns:a16="http://schemas.microsoft.com/office/drawing/2014/main" id="{D946421A-2C4E-4006-9049-050C9278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Transmisión</a:t>
            </a:r>
          </a:p>
        </p:txBody>
      </p:sp>
      <p:sp>
        <p:nvSpPr>
          <p:cNvPr id="27" name="U09-DG-006-concept_7-box">
            <a:extLst xmlns:a="http://schemas.openxmlformats.org/drawingml/2006/main">
              <a:ext uri="{FF2B5EF4-FFF2-40B4-BE49-F238E27FC236}">
                <a16:creationId xmlns:a16="http://schemas.microsoft.com/office/drawing/2014/main" id="{15A37A0E-BAB6-4016-A060-FCFC47EA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09-DG-006-concept_7-text">
            <a:extLst xmlns:a="http://schemas.openxmlformats.org/drawingml/2006/main">
              <a:ext uri="{FF2B5EF4-FFF2-40B4-BE49-F238E27FC236}">
                <a16:creationId xmlns:a16="http://schemas.microsoft.com/office/drawing/2014/main" id="{CFEFF3DA-11EA-4255-B757-049689E2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Refracción</a:t>
            </a:r>
          </a:p>
        </p:txBody>
      </p:sp>
      <p:sp>
        <p:nvSpPr>
          <p:cNvPr id="29" name="U09-DG-006-concept_8-box">
            <a:extLst xmlns:a="http://schemas.openxmlformats.org/drawingml/2006/main">
              <a:ext uri="{FF2B5EF4-FFF2-40B4-BE49-F238E27FC236}">
                <a16:creationId xmlns:a16="http://schemas.microsoft.com/office/drawing/2014/main" id="{1FD7EA37-C45C-43FA-ADEF-8272C38B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30" name="U09-DG-006-concept_8-text">
            <a:extLst xmlns:a="http://schemas.openxmlformats.org/drawingml/2006/main">
              <a:ext uri="{FF2B5EF4-FFF2-40B4-BE49-F238E27FC236}">
                <a16:creationId xmlns:a16="http://schemas.microsoft.com/office/drawing/2014/main" id="{97631605-2460-4CDF-8543-B10E4D7C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Difracción</a:t>
            </a:r>
          </a:p>
        </p:txBody>
      </p:sp>
      <p:sp>
        <p:nvSpPr>
          <p:cNvPr id="31" name="caption">
            <a:extLst xmlns:a="http://schemas.openxmlformats.org/drawingml/2006/main">
              <a:ext uri="{FF2B5EF4-FFF2-40B4-BE49-F238E27FC236}">
                <a16:creationId xmlns:a16="http://schemas.microsoft.com/office/drawing/2014/main" id="{773CD622-FB80-414D-93CB-E692F4D4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no toda disminución es absorción y no toda llegada sigue la ruta directa. · U09-DG-006 · UCASAL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8622E6-83FC-4A5F-86C4-EB8660A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D76801EA-568B-4ABA-852D-E375AD85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202618A-2C58-4612-B193-F567E39B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35CD9A4-A1EC-4AB8-B22E-5508F288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57E24DB-40AF-460D-BACB-10BCAFB1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5F33C5-0BFF-41A1-86EC-8DD85353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¿Fuente, trayecto o medición?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3621371-3DBB-440B-AB6D-FB100158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Actividad diagnóstica</a:t>
            </a:r>
          </a:p>
        </p:txBody>
      </p:sp>
      <p:sp>
        <p:nvSpPr>
          <p:cNvPr id="7" name="U09-DG-007-step_1-anchor">
            <a:extLst xmlns:a="http://schemas.openxmlformats.org/drawingml/2006/main">
              <a:ext uri="{FF2B5EF4-FFF2-40B4-BE49-F238E27FC236}">
                <a16:creationId xmlns:a16="http://schemas.microsoft.com/office/drawing/2014/main" id="{53EF6666-5B54-4467-B6F6-3432FC19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7-step_2-anchor">
            <a:extLst xmlns:a="http://schemas.openxmlformats.org/drawingml/2006/main">
              <a:ext uri="{FF2B5EF4-FFF2-40B4-BE49-F238E27FC236}">
                <a16:creationId xmlns:a16="http://schemas.microsoft.com/office/drawing/2014/main" id="{8C441E38-5CF9-45B9-9B94-751EC720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7-step_3-anchor">
            <a:extLst xmlns:a="http://schemas.openxmlformats.org/drawingml/2006/main">
              <a:ext uri="{FF2B5EF4-FFF2-40B4-BE49-F238E27FC236}">
                <a16:creationId xmlns:a16="http://schemas.microsoft.com/office/drawing/2014/main" id="{7583BF23-5E51-4B66-96CB-8386FDBD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7-step_4-anchor">
            <a:extLst xmlns:a="http://schemas.openxmlformats.org/drawingml/2006/main">
              <a:ext uri="{FF2B5EF4-FFF2-40B4-BE49-F238E27FC236}">
                <a16:creationId xmlns:a16="http://schemas.microsoft.com/office/drawing/2014/main" id="{105C67E3-771B-4215-A741-86D1FD71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7-step_5-anchor">
            <a:extLst xmlns:a="http://schemas.openxmlformats.org/drawingml/2006/main">
              <a:ext uri="{FF2B5EF4-FFF2-40B4-BE49-F238E27FC236}">
                <a16:creationId xmlns:a16="http://schemas.microsoft.com/office/drawing/2014/main" id="{2F4597AD-9399-42C7-B7D1-90D91B35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7-step_6-anchor">
            <a:extLst xmlns:a="http://schemas.openxmlformats.org/drawingml/2006/main">
              <a:ext uri="{FF2B5EF4-FFF2-40B4-BE49-F238E27FC236}">
                <a16:creationId xmlns:a16="http://schemas.microsoft.com/office/drawing/2014/main" id="{E13817CE-489D-4BC4-8093-4A568A24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U09-DG-007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9-DG-007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07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07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07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07-visual-alt" descr="Tarjetas arrastrables o revelado; U09-DG-007, candidata para diagram-generation. La composición permite reconocer que antes de calcular, hay que identificar qué parte del sistema cambió.">
            <a:extLst xmlns:a="http://schemas.openxmlformats.org/drawingml/2006/main">
              <a:ext uri="{FF2B5EF4-FFF2-40B4-BE49-F238E27FC236}">
                <a16:creationId xmlns:a16="http://schemas.microsoft.com/office/drawing/2014/main" id="{F05EDEF4-1B83-492B-A96A-4F54B563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07-step_1-text">
            <a:extLst xmlns:a="http://schemas.openxmlformats.org/drawingml/2006/main">
              <a:ext uri="{FF2B5EF4-FFF2-40B4-BE49-F238E27FC236}">
                <a16:creationId xmlns:a16="http://schemas.microsoft.com/office/drawing/2014/main" id="{D98E0A8B-48F8-4278-BFBA-EC080F07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Orientación del altavoz</a:t>
            </a:r>
          </a:p>
        </p:txBody>
      </p:sp>
      <p:sp>
        <p:nvSpPr>
          <p:cNvPr id="20" name="U09-DG-007-step_2-box">
            <a:extLst xmlns:a="http://schemas.openxmlformats.org/drawingml/2006/main">
              <a:ext uri="{FF2B5EF4-FFF2-40B4-BE49-F238E27FC236}">
                <a16:creationId xmlns:a16="http://schemas.microsoft.com/office/drawing/2014/main" id="{E713F524-4F69-4E4D-9ADF-1F723D06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07-step_2-text">
            <a:extLst xmlns:a="http://schemas.openxmlformats.org/drawingml/2006/main">
              <a:ext uri="{FF2B5EF4-FFF2-40B4-BE49-F238E27FC236}">
                <a16:creationId xmlns:a16="http://schemas.microsoft.com/office/drawing/2014/main" id="{5AA130DF-1D93-44DE-8FFB-6EFBA4ED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Distancia</a:t>
            </a:r>
          </a:p>
        </p:txBody>
      </p:sp>
      <p:sp>
        <p:nvSpPr>
          <p:cNvPr id="22" name="U09-DG-007-step_3-box">
            <a:extLst xmlns:a="http://schemas.openxmlformats.org/drawingml/2006/main">
              <a:ext uri="{FF2B5EF4-FFF2-40B4-BE49-F238E27FC236}">
                <a16:creationId xmlns:a16="http://schemas.microsoft.com/office/drawing/2014/main" id="{484B1BA0-3BB8-4C7C-A3BB-1AF2CBE7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07-step_3-text">
            <a:extLst xmlns:a="http://schemas.openxmlformats.org/drawingml/2006/main">
              <a:ext uri="{FF2B5EF4-FFF2-40B4-BE49-F238E27FC236}">
                <a16:creationId xmlns:a16="http://schemas.microsoft.com/office/drawing/2014/main" id="{44325510-E976-495C-BEE0-ABDD3FD6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Viento</a:t>
            </a:r>
          </a:p>
        </p:txBody>
      </p:sp>
      <p:sp>
        <p:nvSpPr>
          <p:cNvPr id="24" name="U09-DG-007-step_4-box">
            <a:extLst xmlns:a="http://schemas.openxmlformats.org/drawingml/2006/main">
              <a:ext uri="{FF2B5EF4-FFF2-40B4-BE49-F238E27FC236}">
                <a16:creationId xmlns:a16="http://schemas.microsoft.com/office/drawing/2014/main" id="{7A4BEEB5-B259-451D-ACB9-C189C95C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07-step_4-text">
            <a:extLst xmlns:a="http://schemas.openxmlformats.org/drawingml/2006/main">
              <a:ext uri="{FF2B5EF4-FFF2-40B4-BE49-F238E27FC236}">
                <a16:creationId xmlns:a16="http://schemas.microsoft.com/office/drawing/2014/main" id="{2AFD69F9-BF7C-4AF3-8F84-D5EDF19C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Puerta</a:t>
            </a:r>
          </a:p>
        </p:txBody>
      </p:sp>
      <p:sp>
        <p:nvSpPr>
          <p:cNvPr id="26" name="U09-DG-007-step_5-box">
            <a:extLst xmlns:a="http://schemas.openxmlformats.org/drawingml/2006/main">
              <a:ext uri="{FF2B5EF4-FFF2-40B4-BE49-F238E27FC236}">
                <a16:creationId xmlns:a16="http://schemas.microsoft.com/office/drawing/2014/main" id="{AE4B59F9-49E4-4E07-9548-3EE68DDB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07-step_5-text">
            <a:extLst xmlns:a="http://schemas.openxmlformats.org/drawingml/2006/main">
              <a:ext uri="{FF2B5EF4-FFF2-40B4-BE49-F238E27FC236}">
                <a16:creationId xmlns:a16="http://schemas.microsoft.com/office/drawing/2014/main" id="{04CBFA89-9551-40D4-A78F-67467A25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Micrófono</a:t>
            </a:r>
          </a:p>
        </p:txBody>
      </p:sp>
      <p:sp>
        <p:nvSpPr>
          <p:cNvPr id="28" name="U09-DG-007-step_6-box">
            <a:extLst xmlns:a="http://schemas.openxmlformats.org/drawingml/2006/main">
              <a:ext uri="{FF2B5EF4-FFF2-40B4-BE49-F238E27FC236}">
                <a16:creationId xmlns:a16="http://schemas.microsoft.com/office/drawing/2014/main" id="{865E2226-39A8-45A0-BCBE-70F1927F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07-step_6-text">
            <a:extLst xmlns:a="http://schemas.openxmlformats.org/drawingml/2006/main">
              <a:ext uri="{FF2B5EF4-FFF2-40B4-BE49-F238E27FC236}">
                <a16:creationId xmlns:a16="http://schemas.microsoft.com/office/drawing/2014/main" id="{526694F1-870D-4E47-B790-760E8790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Escala de lectura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61F139BD-D905-4C41-8BAC-5AAC6F1B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antes de calcular, hay que identificar qué parte del sistema cambió. · U09-DG-007 · UCASAL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68D607-63FC-4FAB-918F-D3DAA375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9DA449AF-C5E2-4B6C-9FC5-1DB62BA4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7E48DC7-DBF0-4228-8D7D-C57ED0D0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C09B07E-0CFB-416A-B05F-72C87944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4E92921-ED1B-4039-A0DF-DBC3C1EC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52ECB4-A2B6-4A29-A461-1B8A5F6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 una fórmula: cuatro preguntas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199B34-288F-4AC0-9801-97755DC6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Recapitulación</a:t>
            </a:r>
          </a:p>
        </p:txBody>
      </p:sp>
      <p:sp>
        <p:nvSpPr>
          <p:cNvPr id="7" name="U09-DG-008-concept_1-anchor">
            <a:extLst xmlns:a="http://schemas.openxmlformats.org/drawingml/2006/main">
              <a:ext uri="{FF2B5EF4-FFF2-40B4-BE49-F238E27FC236}">
                <a16:creationId xmlns:a16="http://schemas.microsoft.com/office/drawing/2014/main" id="{F630B894-2B51-4F4C-9734-6F15DE2B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8-concept_2-anchor">
            <a:extLst xmlns:a="http://schemas.openxmlformats.org/drawingml/2006/main">
              <a:ext uri="{FF2B5EF4-FFF2-40B4-BE49-F238E27FC236}">
                <a16:creationId xmlns:a16="http://schemas.microsoft.com/office/drawing/2014/main" id="{AB4C07C2-CA83-48ED-A54D-D35372ED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8-concept_3-anchor">
            <a:extLst xmlns:a="http://schemas.openxmlformats.org/drawingml/2006/main">
              <a:ext uri="{FF2B5EF4-FFF2-40B4-BE49-F238E27FC236}">
                <a16:creationId xmlns:a16="http://schemas.microsoft.com/office/drawing/2014/main" id="{8ABAA434-5BA3-422F-BED9-214C2AFD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8-concept_4-anchor">
            <a:extLst xmlns:a="http://schemas.openxmlformats.org/drawingml/2006/main">
              <a:ext uri="{FF2B5EF4-FFF2-40B4-BE49-F238E27FC236}">
                <a16:creationId xmlns:a16="http://schemas.microsoft.com/office/drawing/2014/main" id="{EB7AFA51-F041-42FC-8770-7B7B78E2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8-visual-alt" descr="Cuatro bloques conectados; U09-DG-008, candidata para diagram-generation. La composición permite reconocer que identificar fuente, trayecto, receptor y condiciones evita aplicar reglas fuera de contexto.">
            <a:extLst xmlns:a="http://schemas.openxmlformats.org/drawingml/2006/main">
              <a:ext uri="{FF2B5EF4-FFF2-40B4-BE49-F238E27FC236}">
                <a16:creationId xmlns:a16="http://schemas.microsoft.com/office/drawing/2014/main" id="{FC7C321B-CE61-4366-A8CE-1900247B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09-DG-008-concept_1-text">
            <a:extLst xmlns:a="http://schemas.openxmlformats.org/drawingml/2006/main">
              <a:ext uri="{FF2B5EF4-FFF2-40B4-BE49-F238E27FC236}">
                <a16:creationId xmlns:a16="http://schemas.microsoft.com/office/drawing/2014/main" id="{F39077C2-2897-43C1-B39E-C4FF344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cambia</a:t>
            </a:r>
          </a:p>
        </p:txBody>
      </p:sp>
      <p:sp>
        <p:nvSpPr>
          <p:cNvPr id="13" name="U09-DG-008-concept_2-box">
            <a:extLst xmlns:a="http://schemas.openxmlformats.org/drawingml/2006/main">
              <a:ext uri="{FF2B5EF4-FFF2-40B4-BE49-F238E27FC236}">
                <a16:creationId xmlns:a16="http://schemas.microsoft.com/office/drawing/2014/main" id="{AF16E50E-AEEA-46AC-8BF7-AFB893A0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09-DG-008-concept_2-text">
            <a:extLst xmlns:a="http://schemas.openxmlformats.org/drawingml/2006/main">
              <a:ext uri="{FF2B5EF4-FFF2-40B4-BE49-F238E27FC236}">
                <a16:creationId xmlns:a16="http://schemas.microsoft.com/office/drawing/2014/main" id="{36B46042-A788-4F1A-AE1E-9E97811B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se conserva</a:t>
            </a:r>
          </a:p>
        </p:txBody>
      </p:sp>
      <p:sp>
        <p:nvSpPr>
          <p:cNvPr id="15" name="U09-DG-008-concept_3-box">
            <a:extLst xmlns:a="http://schemas.openxmlformats.org/drawingml/2006/main">
              <a:ext uri="{FF2B5EF4-FFF2-40B4-BE49-F238E27FC236}">
                <a16:creationId xmlns:a16="http://schemas.microsoft.com/office/drawing/2014/main" id="{4EC91314-560A-4F85-A308-297EBC09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09-DG-008-concept_3-text">
            <a:extLst xmlns:a="http://schemas.openxmlformats.org/drawingml/2006/main">
              <a:ext uri="{FF2B5EF4-FFF2-40B4-BE49-F238E27FC236}">
                <a16:creationId xmlns:a16="http://schemas.microsoft.com/office/drawing/2014/main" id="{D53734F6-B462-4A45-939D-391F75FD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qué se estima</a:t>
            </a:r>
          </a:p>
        </p:txBody>
      </p:sp>
      <p:sp>
        <p:nvSpPr>
          <p:cNvPr id="17" name="U09-DG-008-concept_4-box">
            <a:extLst xmlns:a="http://schemas.openxmlformats.org/drawingml/2006/main">
              <a:ext uri="{FF2B5EF4-FFF2-40B4-BE49-F238E27FC236}">
                <a16:creationId xmlns:a16="http://schemas.microsoft.com/office/drawing/2014/main" id="{BAF1E06B-2513-498B-ACA9-25BA1D4A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09-DG-008-concept_4-text">
            <a:extLst xmlns:a="http://schemas.openxmlformats.org/drawingml/2006/main">
              <a:ext uri="{FF2B5EF4-FFF2-40B4-BE49-F238E27FC236}">
                <a16:creationId xmlns:a16="http://schemas.microsoft.com/office/drawing/2014/main" id="{0392BBCF-884A-407D-87A2-53B4E2D7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qué se mide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0FEEB6F8-3694-4508-B1FF-4F5473E8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identificar fuente, trayecto, receptor y condiciones evita aplicar reglas fuera de contexto. · U09-DG-008 · UCASAL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D636DD-E623-4A89-82C0-610FC551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BBF431B5-FFC2-4993-81BD-2687501A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0703ECF5-B9D8-49F2-AF6E-6B5C5C7F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explica el modelo ideal?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A15B8F63-AA51-4C86-BA2D-611B2151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Distancia y dirección son efectos distintos y condicionados.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302AF4-0E49-4092-B2CF-9B20E7FE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614F2F65-CAE1-4B2D-80B8-61222790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4DCBA0A-B823-4411-BE6E-E952281C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63F4520-5B8D-4B7B-8A25-D8A9930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FE42E3D-3182-4D25-AE75-D686C7D4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27698B-6617-4A6A-8DEE-64DD0FB8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potencia ocupa más superficie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A9366F-F910-4D43-BF45-ED8F0F4F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Recordatorio visual</a:t>
            </a:r>
          </a:p>
        </p:txBody>
      </p:sp>
      <p:sp>
        <p:nvSpPr>
          <p:cNvPr id="7" name="U09-DG-009-source-anchor">
            <a:extLst xmlns:a="http://schemas.openxmlformats.org/drawingml/2006/main">
              <a:ext uri="{FF2B5EF4-FFF2-40B4-BE49-F238E27FC236}">
                <a16:creationId xmlns:a16="http://schemas.microsoft.com/office/drawing/2014/main" id="{F371E3DC-1D2E-44C5-B3B2-B4B858A9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9-path_upper-anchor">
            <a:extLst xmlns:a="http://schemas.openxmlformats.org/drawingml/2006/main">
              <a:ext uri="{FF2B5EF4-FFF2-40B4-BE49-F238E27FC236}">
                <a16:creationId xmlns:a16="http://schemas.microsoft.com/office/drawing/2014/main" id="{215172DE-6E0F-476F-82CD-C396D1CD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9-path_lower-anchor">
            <a:extLst xmlns:a="http://schemas.openxmlformats.org/drawingml/2006/main">
              <a:ext uri="{FF2B5EF4-FFF2-40B4-BE49-F238E27FC236}">
                <a16:creationId xmlns:a16="http://schemas.microsoft.com/office/drawing/2014/main" id="{C2BE7474-8DED-4D68-8009-652753F1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9-receiver-anchor">
            <a:extLst xmlns:a="http://schemas.openxmlformats.org/drawingml/2006/main">
              <a:ext uri="{FF2B5EF4-FFF2-40B4-BE49-F238E27FC236}">
                <a16:creationId xmlns:a16="http://schemas.microsoft.com/office/drawing/2014/main" id="{E5E72C16-156A-4127-A13A-047D846A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9-condition-anchor">
            <a:extLst xmlns:a="http://schemas.openxmlformats.org/drawingml/2006/main">
              <a:ext uri="{FF2B5EF4-FFF2-40B4-BE49-F238E27FC236}">
                <a16:creationId xmlns:a16="http://schemas.microsoft.com/office/drawing/2014/main" id="{3A689CAD-0C04-4AEA-9A3E-C4D8DDAB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09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09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09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09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09-visual-alt" descr="Reconstrucción de figura U4; U09-DG-009, candidata para diagram-generation. La composición permite reconocer que en campo aproximadamente libre, la energía se distribuye sobre áreas crecientes.">
            <a:extLst xmlns:a="http://schemas.openxmlformats.org/drawingml/2006/main">
              <a:ext uri="{FF2B5EF4-FFF2-40B4-BE49-F238E27FC236}">
                <a16:creationId xmlns:a16="http://schemas.microsoft.com/office/drawing/2014/main" id="{06B20117-1F42-484A-AFAC-E6ECC0E3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09-source-text">
            <a:extLst xmlns:a="http://schemas.openxmlformats.org/drawingml/2006/main">
              <a:ext uri="{FF2B5EF4-FFF2-40B4-BE49-F238E27FC236}">
                <a16:creationId xmlns:a16="http://schemas.microsoft.com/office/drawing/2014/main" id="{D5850631-CD7D-49D9-B8EB-0A327222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 puntual</a:t>
            </a:r>
          </a:p>
        </p:txBody>
      </p:sp>
      <p:sp>
        <p:nvSpPr>
          <p:cNvPr id="18" name="U09-DG-009-path_upper-box">
            <a:extLst xmlns:a="http://schemas.openxmlformats.org/drawingml/2006/main">
              <a:ext uri="{FF2B5EF4-FFF2-40B4-BE49-F238E27FC236}">
                <a16:creationId xmlns:a16="http://schemas.microsoft.com/office/drawing/2014/main" id="{80948FE7-5AA9-4A9D-97EF-16D45580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09-path_upper-text">
            <a:extLst xmlns:a="http://schemas.openxmlformats.org/drawingml/2006/main">
              <a:ext uri="{FF2B5EF4-FFF2-40B4-BE49-F238E27FC236}">
                <a16:creationId xmlns:a16="http://schemas.microsoft.com/office/drawing/2014/main" id="{1E96E4FE-41BE-485E-97DE-8808DEF4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Frentes esféricos</a:t>
            </a:r>
          </a:p>
        </p:txBody>
      </p:sp>
      <p:sp>
        <p:nvSpPr>
          <p:cNvPr id="20" name="U09-DG-009-path_lower-box">
            <a:extLst xmlns:a="http://schemas.openxmlformats.org/drawingml/2006/main">
              <a:ext uri="{FF2B5EF4-FFF2-40B4-BE49-F238E27FC236}">
                <a16:creationId xmlns:a16="http://schemas.microsoft.com/office/drawing/2014/main" id="{8868610E-CF7B-432A-AC56-967F308B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09-path_lower-text">
            <a:extLst xmlns:a="http://schemas.openxmlformats.org/drawingml/2006/main">
              <a:ext uri="{FF2B5EF4-FFF2-40B4-BE49-F238E27FC236}">
                <a16:creationId xmlns:a16="http://schemas.microsoft.com/office/drawing/2014/main" id="{6D0084B2-73C2-4D75-9F4F-065DC19D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Radio r</a:t>
            </a:r>
          </a:p>
        </p:txBody>
      </p:sp>
      <p:sp>
        <p:nvSpPr>
          <p:cNvPr id="22" name="U09-DG-009-receiver-box">
            <a:extLst xmlns:a="http://schemas.openxmlformats.org/drawingml/2006/main">
              <a:ext uri="{FF2B5EF4-FFF2-40B4-BE49-F238E27FC236}">
                <a16:creationId xmlns:a16="http://schemas.microsoft.com/office/drawing/2014/main" id="{FCAF8BDB-127F-49E5-9CAA-3CE6BFAF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09-receiver-text">
            <a:extLst xmlns:a="http://schemas.openxmlformats.org/drawingml/2006/main">
              <a:ext uri="{FF2B5EF4-FFF2-40B4-BE49-F238E27FC236}">
                <a16:creationId xmlns:a16="http://schemas.microsoft.com/office/drawing/2014/main" id="{05931585-1066-414C-986D-6B5EE2E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Área 4πr²</a:t>
            </a:r>
          </a:p>
        </p:txBody>
      </p:sp>
      <p:sp>
        <p:nvSpPr>
          <p:cNvPr id="24" name="U09-DG-009-condition-box">
            <a:extLst xmlns:a="http://schemas.openxmlformats.org/drawingml/2006/main">
              <a:ext uri="{FF2B5EF4-FFF2-40B4-BE49-F238E27FC236}">
                <a16:creationId xmlns:a16="http://schemas.microsoft.com/office/drawing/2014/main" id="{0661040E-EBD7-4B5D-A826-859E27F8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09-condition-text">
            <a:extLst xmlns:a="http://schemas.openxmlformats.org/drawingml/2006/main">
              <a:ext uri="{FF2B5EF4-FFF2-40B4-BE49-F238E27FC236}">
                <a16:creationId xmlns:a16="http://schemas.microsoft.com/office/drawing/2014/main" id="{8668CD88-8564-4A45-BBA0-C8B5629B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 y presión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91BF4F05-FBF0-4615-958E-E1B3E408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en campo aproximadamente libre, la energía se distribuye sobre áreas crecientes. · U09-DG-009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3279F9-8ADE-45D0-A1B3-D3752854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0EB2AC0-6A72-4CDA-961B-F6961F39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438AFDB-DB93-4632-BC89-26092CBC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31D81D6-317E-40B6-B7F2-C72B15FE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FE0663B-B3CD-475C-8D52-15A1C38E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D2DA1D-810C-468A-8D7A-88A857DA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Cambiar la distancia cambia Lₚ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195761-36CD-493D-980C-460D2AE5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Ecuación anotada</a:t>
            </a:r>
          </a:p>
        </p:txBody>
      </p:sp>
      <p:sp>
        <p:nvSpPr>
          <p:cNvPr id="7" name="U09-DG-010-equation-anchor">
            <a:extLst xmlns:a="http://schemas.openxmlformats.org/drawingml/2006/main">
              <a:ext uri="{FF2B5EF4-FFF2-40B4-BE49-F238E27FC236}">
                <a16:creationId xmlns:a16="http://schemas.microsoft.com/office/drawing/2014/main" id="{20CF8A0A-39E1-4C12-9A1D-44101CE3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0-callout_1-anchor">
            <a:extLst xmlns:a="http://schemas.openxmlformats.org/drawingml/2006/main">
              <a:ext uri="{FF2B5EF4-FFF2-40B4-BE49-F238E27FC236}">
                <a16:creationId xmlns:a16="http://schemas.microsoft.com/office/drawing/2014/main" id="{7DEEDA48-D57F-4B9B-BD1F-C2727676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0-callout_2-anchor">
            <a:extLst xmlns:a="http://schemas.openxmlformats.org/drawingml/2006/main">
              <a:ext uri="{FF2B5EF4-FFF2-40B4-BE49-F238E27FC236}">
                <a16:creationId xmlns:a16="http://schemas.microsoft.com/office/drawing/2014/main" id="{C9D316A1-19E3-4969-A1A3-A67F7269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0-callout_3-anchor">
            <a:extLst xmlns:a="http://schemas.openxmlformats.org/drawingml/2006/main">
              <a:ext uri="{FF2B5EF4-FFF2-40B4-BE49-F238E27FC236}">
                <a16:creationId xmlns:a16="http://schemas.microsoft.com/office/drawing/2014/main" id="{4A2CACF4-B542-4E46-B9D9-3E2F19A1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0-callout_4-anchor">
            <a:extLst xmlns:a="http://schemas.openxmlformats.org/drawingml/2006/main">
              <a:ext uri="{FF2B5EF4-FFF2-40B4-BE49-F238E27FC236}">
                <a16:creationId xmlns:a16="http://schemas.microsoft.com/office/drawing/2014/main" id="{CC09654B-5E70-4CD9-9577-D948AE90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10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10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0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0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0-visual-alt" descr="Ecuación central U09-DG-010 y mini curva U09-CH-001; candidata para diagram-generation. La composición permite reconocer que la razón de distancias, no la distancia aislada, determina el cambio ideal de nivel.">
            <a:extLst xmlns:a="http://schemas.openxmlformats.org/drawingml/2006/main">
              <a:ext uri="{FF2B5EF4-FFF2-40B4-BE49-F238E27FC236}">
                <a16:creationId xmlns:a16="http://schemas.microsoft.com/office/drawing/2014/main" id="{67F05E2B-AF4A-4EC7-B648-BF5299A1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0-equation-text">
            <a:extLst xmlns:a="http://schemas.openxmlformats.org/drawingml/2006/main">
              <a:ext uri="{FF2B5EF4-FFF2-40B4-BE49-F238E27FC236}">
                <a16:creationId xmlns:a16="http://schemas.microsoft.com/office/drawing/2014/main" id="{A6F64D7D-FAB0-4EBE-81BE-C35D4DD8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Lₚ₂=Lₚ₁−20 log10(r₂/r₁)</a:t>
            </a:r>
          </a:p>
        </p:txBody>
      </p:sp>
      <p:sp>
        <p:nvSpPr>
          <p:cNvPr id="18" name="U09-DG-010-callout_1-box">
            <a:extLst xmlns:a="http://schemas.openxmlformats.org/drawingml/2006/main">
              <a:ext uri="{FF2B5EF4-FFF2-40B4-BE49-F238E27FC236}">
                <a16:creationId xmlns:a16="http://schemas.microsoft.com/office/drawing/2014/main" id="{4BC75956-2675-47B4-9CDA-23D5E736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0-callout_1-text">
            <a:extLst xmlns:a="http://schemas.openxmlformats.org/drawingml/2006/main">
              <a:ext uri="{FF2B5EF4-FFF2-40B4-BE49-F238E27FC236}">
                <a16:creationId xmlns:a16="http://schemas.microsoft.com/office/drawing/2014/main" id="{C857AE1E-2014-4EF4-A72D-6E7246B5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Lₚ₁ y Lₚ₂: niveles</a:t>
            </a:r>
          </a:p>
        </p:txBody>
      </p:sp>
      <p:sp>
        <p:nvSpPr>
          <p:cNvPr id="20" name="U09-DG-010-callout_2-box">
            <a:extLst xmlns:a="http://schemas.openxmlformats.org/drawingml/2006/main">
              <a:ext uri="{FF2B5EF4-FFF2-40B4-BE49-F238E27FC236}">
                <a16:creationId xmlns:a16="http://schemas.microsoft.com/office/drawing/2014/main" id="{6BC59D73-6C2B-4D55-B45B-8813F3F3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0-callout_2-text">
            <a:extLst xmlns:a="http://schemas.openxmlformats.org/drawingml/2006/main">
              <a:ext uri="{FF2B5EF4-FFF2-40B4-BE49-F238E27FC236}">
                <a16:creationId xmlns:a16="http://schemas.microsoft.com/office/drawing/2014/main" id="{86A2CE59-08E3-4EDB-ABC9-C28EF13F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r₁ y r₂: distancias</a:t>
            </a:r>
          </a:p>
        </p:txBody>
      </p:sp>
      <p:sp>
        <p:nvSpPr>
          <p:cNvPr id="22" name="U09-DG-010-callout_3-box">
            <a:extLst xmlns:a="http://schemas.openxmlformats.org/drawingml/2006/main">
              <a:ext uri="{FF2B5EF4-FFF2-40B4-BE49-F238E27FC236}">
                <a16:creationId xmlns:a16="http://schemas.microsoft.com/office/drawing/2014/main" id="{797AD686-F1FC-4B4C-AB76-4FB3180F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0-callout_3-text">
            <a:extLst xmlns:a="http://schemas.openxmlformats.org/drawingml/2006/main">
              <a:ext uri="{FF2B5EF4-FFF2-40B4-BE49-F238E27FC236}">
                <a16:creationId xmlns:a16="http://schemas.microsoft.com/office/drawing/2014/main" id="{867FC7BE-244F-4B10-93C5-88162586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Signo: bajar al alejarse</a:t>
            </a:r>
          </a:p>
        </p:txBody>
      </p:sp>
      <p:sp>
        <p:nvSpPr>
          <p:cNvPr id="24" name="U09-DG-010-callout_4-box">
            <a:extLst xmlns:a="http://schemas.openxmlformats.org/drawingml/2006/main">
              <a:ext uri="{FF2B5EF4-FFF2-40B4-BE49-F238E27FC236}">
                <a16:creationId xmlns:a16="http://schemas.microsoft.com/office/drawing/2014/main" id="{71EA8E2F-9142-4D88-9A3A-A1B23BE1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0-callout_4-text">
            <a:extLst xmlns:a="http://schemas.openxmlformats.org/drawingml/2006/main">
              <a:ext uri="{FF2B5EF4-FFF2-40B4-BE49-F238E27FC236}">
                <a16:creationId xmlns:a16="http://schemas.microsoft.com/office/drawing/2014/main" id="{552BBB7C-3C56-4882-A1CA-3173EED1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Campo libre y lejano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543745F9-1E12-4F46-A3A8-AD683FD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razón de distancias, no la distancia aislada, determina el cambio ideal de nivel. · U09-DG-010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3958AA-031F-4FA4-A479-D54DB268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64F671D4-2861-41AD-B87A-38CC48F8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24D1E98-427F-4299-AA6B-58AF36F5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8DAD544-6361-4EA5-8FFB-5DEF0E1B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7ECCB32-7A68-4C69-AAD9-EF985EB2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0B8BCD-6730-40BA-921C-62CEA3C8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0,50 m a 1,00 m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B68259C-000E-44C8-922E-AA121D9E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Ejemplo resuelto</a:t>
            </a:r>
          </a:p>
        </p:txBody>
      </p:sp>
      <p:sp>
        <p:nvSpPr>
          <p:cNvPr id="7" name="U09-DG-011-source-anchor">
            <a:extLst xmlns:a="http://schemas.openxmlformats.org/drawingml/2006/main">
              <a:ext uri="{FF2B5EF4-FFF2-40B4-BE49-F238E27FC236}">
                <a16:creationId xmlns:a16="http://schemas.microsoft.com/office/drawing/2014/main" id="{0C6E3A2A-EDB4-4488-A2E1-D7A64848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1-path_upper-anchor">
            <a:extLst xmlns:a="http://schemas.openxmlformats.org/drawingml/2006/main">
              <a:ext uri="{FF2B5EF4-FFF2-40B4-BE49-F238E27FC236}">
                <a16:creationId xmlns:a16="http://schemas.microsoft.com/office/drawing/2014/main" id="{F5922065-4D7C-484E-AF78-A3E702E5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1-path_lower-anchor">
            <a:extLst xmlns:a="http://schemas.openxmlformats.org/drawingml/2006/main">
              <a:ext uri="{FF2B5EF4-FFF2-40B4-BE49-F238E27FC236}">
                <a16:creationId xmlns:a16="http://schemas.microsoft.com/office/drawing/2014/main" id="{705FD453-3196-4400-B8A4-E52C6C1C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1-receiver-anchor">
            <a:extLst xmlns:a="http://schemas.openxmlformats.org/drawingml/2006/main">
              <a:ext uri="{FF2B5EF4-FFF2-40B4-BE49-F238E27FC236}">
                <a16:creationId xmlns:a16="http://schemas.microsoft.com/office/drawing/2014/main" id="{EF3B7DD4-B695-41E1-A76B-92A3C8CF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1-condition-anchor">
            <a:extLst xmlns:a="http://schemas.openxmlformats.org/drawingml/2006/main">
              <a:ext uri="{FF2B5EF4-FFF2-40B4-BE49-F238E27FC236}">
                <a16:creationId xmlns:a16="http://schemas.microsoft.com/office/drawing/2014/main" id="{68BF46C3-CA3E-4545-8293-F4F0FB15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11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11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1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1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1-visual-alt" descr="Secuencia de cálculo; U09-DG-011, candidata para diagram-generation. La composición permite reconocer que duplicar distancia produce aproximadamente −6 db solo bajo el modelo declarado.">
            <a:extLst xmlns:a="http://schemas.openxmlformats.org/drawingml/2006/main">
              <a:ext uri="{FF2B5EF4-FFF2-40B4-BE49-F238E27FC236}">
                <a16:creationId xmlns:a16="http://schemas.microsoft.com/office/drawing/2014/main" id="{B89F5D61-9FE7-4004-84F6-71741DB1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11-source-text">
            <a:extLst xmlns:a="http://schemas.openxmlformats.org/drawingml/2006/main">
              <a:ext uri="{FF2B5EF4-FFF2-40B4-BE49-F238E27FC236}">
                <a16:creationId xmlns:a16="http://schemas.microsoft.com/office/drawing/2014/main" id="{67FEA25E-C8A9-4B8C-8F4E-E2F38339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Datos: 0,50 y 1,00 m</a:t>
            </a:r>
          </a:p>
        </p:txBody>
      </p:sp>
      <p:sp>
        <p:nvSpPr>
          <p:cNvPr id="18" name="U09-DG-011-path_upper-box">
            <a:extLst xmlns:a="http://schemas.openxmlformats.org/drawingml/2006/main">
              <a:ext uri="{FF2B5EF4-FFF2-40B4-BE49-F238E27FC236}">
                <a16:creationId xmlns:a16="http://schemas.microsoft.com/office/drawing/2014/main" id="{A2F93691-A06E-431E-84D3-1AD4C6B9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11-path_upper-text">
            <a:extLst xmlns:a="http://schemas.openxmlformats.org/drawingml/2006/main">
              <a:ext uri="{FF2B5EF4-FFF2-40B4-BE49-F238E27FC236}">
                <a16:creationId xmlns:a16="http://schemas.microsoft.com/office/drawing/2014/main" id="{12D885FE-BEBF-457D-93CC-9FD4095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Razón r₂/r₁ = 2</a:t>
            </a:r>
          </a:p>
        </p:txBody>
      </p:sp>
      <p:sp>
        <p:nvSpPr>
          <p:cNvPr id="20" name="U09-DG-011-path_lower-box">
            <a:extLst xmlns:a="http://schemas.openxmlformats.org/drawingml/2006/main">
              <a:ext uri="{FF2B5EF4-FFF2-40B4-BE49-F238E27FC236}">
                <a16:creationId xmlns:a16="http://schemas.microsoft.com/office/drawing/2014/main" id="{FC4DC326-18CF-4791-8868-13F47D8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11-path_lower-text">
            <a:extLst xmlns:a="http://schemas.openxmlformats.org/drawingml/2006/main">
              <a:ext uri="{FF2B5EF4-FFF2-40B4-BE49-F238E27FC236}">
                <a16:creationId xmlns:a16="http://schemas.microsoft.com/office/drawing/2014/main" id="{54B65858-E3DB-4343-8A42-A48FACDF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ΔLₚ = −6,02 dB</a:t>
            </a:r>
          </a:p>
        </p:txBody>
      </p:sp>
      <p:sp>
        <p:nvSpPr>
          <p:cNvPr id="22" name="U09-DG-011-receiver-box">
            <a:extLst xmlns:a="http://schemas.openxmlformats.org/drawingml/2006/main">
              <a:ext uri="{FF2B5EF4-FFF2-40B4-BE49-F238E27FC236}">
                <a16:creationId xmlns:a16="http://schemas.microsoft.com/office/drawing/2014/main" id="{4D17B0BD-24DD-4FB4-9470-2BD06DA6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11-receiver-text">
            <a:extLst xmlns:a="http://schemas.openxmlformats.org/drawingml/2006/main">
              <a:ext uri="{FF2B5EF4-FFF2-40B4-BE49-F238E27FC236}">
                <a16:creationId xmlns:a16="http://schemas.microsoft.com/office/drawing/2014/main" id="{B2CAB6DF-ABB2-4656-A343-5B4382D2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Resultado ≈ 84 dB SPL</a:t>
            </a:r>
          </a:p>
        </p:txBody>
      </p:sp>
      <p:sp>
        <p:nvSpPr>
          <p:cNvPr id="24" name="U09-DG-011-condition-box">
            <a:extLst xmlns:a="http://schemas.openxmlformats.org/drawingml/2006/main">
              <a:ext uri="{FF2B5EF4-FFF2-40B4-BE49-F238E27FC236}">
                <a16:creationId xmlns:a16="http://schemas.microsoft.com/office/drawing/2014/main" id="{E5438AB5-B832-45EB-A392-8AE800FC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11-condition-text">
            <a:extLst xmlns:a="http://schemas.openxmlformats.org/drawingml/2006/main">
              <a:ext uri="{FF2B5EF4-FFF2-40B4-BE49-F238E27FC236}">
                <a16:creationId xmlns:a16="http://schemas.microsoft.com/office/drawing/2014/main" id="{D31F35A9-2819-4407-8DBA-0A8BFEEE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condicionada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FDBE1A3B-AB4E-45C4-9B78-6F72E802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duplicar distancia produce aproximadamente −6 db solo bajo el modelo declarado. · U09-DG-011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DCBB65D-911F-4633-B3C2-643F2981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2207472C-5952-44AF-969B-AA809D21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ECC33BA-0DBB-49BD-944F-EE68BE1C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5D8D496-2F6A-485A-9F23-68F934B7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7D403ED-E61B-4B68-AE4A-E16CF889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1F350B-BA55-4B26-AB37-F203489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“Duplicar distancia siempre resta 6 dB”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61DE327-0EFC-4F13-861E-BD466D90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Error frecuente</a:t>
            </a:r>
          </a:p>
        </p:txBody>
      </p:sp>
      <p:sp>
        <p:nvSpPr>
          <p:cNvPr id="7" name="error-box">
            <a:extLst xmlns:a="http://schemas.openxmlformats.org/drawingml/2006/main">
              <a:ext uri="{FF2B5EF4-FFF2-40B4-BE49-F238E27FC236}">
                <a16:creationId xmlns:a16="http://schemas.microsoft.com/office/drawing/2014/main" id="{BF51D536-4D26-4855-8139-D1DDB1D2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8" name="error-title">
            <a:extLst xmlns:a="http://schemas.openxmlformats.org/drawingml/2006/main">
              <a:ext uri="{FF2B5EF4-FFF2-40B4-BE49-F238E27FC236}">
                <a16:creationId xmlns:a16="http://schemas.microsoft.com/office/drawing/2014/main" id="{4C90FAB7-E8D4-416D-88F7-C815244E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383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 frecuente pensar…</a:t>
            </a:r>
          </a:p>
        </p:txBody>
      </p:sp>
      <p:sp>
        <p:nvSpPr>
          <p:cNvPr id="9" name="error-body">
            <a:extLst xmlns:a="http://schemas.openxmlformats.org/drawingml/2006/main">
              <a:ext uri="{FF2B5EF4-FFF2-40B4-BE49-F238E27FC236}">
                <a16:creationId xmlns:a16="http://schemas.microsoft.com/office/drawing/2014/main" id="{CBCC67DD-A688-4A12-9816-991C25BD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1005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“Duplicar distancia siempre resta 6 dB”</a:t>
            </a:r>
          </a:p>
        </p:txBody>
      </p:sp>
      <p:sp>
        <p:nvSpPr>
          <p:cNvPr id="10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1E311644-84DD-4B19-915A-6E71CAEC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477500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1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05BBF3A4-75DE-4152-8A6E-BF3AFAC7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 realidad…</a:t>
            </a:r>
          </a:p>
        </p:txBody>
      </p:sp>
      <p:sp>
        <p:nvSpPr>
          <p:cNvPr id="12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B2B6D30D-3B89-44B2-8A1E-9DEC0C14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10058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regla falla si cambian campo, dirección, reflexiones o pérdidas adicionales.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AF011B-0538-4C5F-A9BF-087195E8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-1">
            <a:extLst xmlns:a="http://schemas.openxmlformats.org/drawingml/2006/main">
              <a:ext uri="{FF2B5EF4-FFF2-40B4-BE49-F238E27FC236}">
                <a16:creationId xmlns:a16="http://schemas.microsoft.com/office/drawing/2014/main" id="{5D515185-8BF3-4B77-929E-48650524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ED5FEEB-3A9F-4B4E-9FD7-91882D7E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0E80AD6-D39F-48EE-A05B-84C229BE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7FCFC38-7DAA-4A46-A6A0-23CBA3F5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6C0491-38B3-49FD-8132-04F7CE94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fuente no emite igual en todas las direcciones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0BFB6E-F8C5-40BF-B6C0-5C61481E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Concepto visual</a:t>
            </a:r>
          </a:p>
        </p:txBody>
      </p:sp>
      <p:sp>
        <p:nvSpPr>
          <p:cNvPr id="7" name="U09-DG-012-concept_1-anchor">
            <a:extLst xmlns:a="http://schemas.openxmlformats.org/drawingml/2006/main">
              <a:ext uri="{FF2B5EF4-FFF2-40B4-BE49-F238E27FC236}">
                <a16:creationId xmlns:a16="http://schemas.microsoft.com/office/drawing/2014/main" id="{CD840813-22FE-4FA4-A386-037B3B69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2-concept_2-anchor">
            <a:extLst xmlns:a="http://schemas.openxmlformats.org/drawingml/2006/main">
              <a:ext uri="{FF2B5EF4-FFF2-40B4-BE49-F238E27FC236}">
                <a16:creationId xmlns:a16="http://schemas.microsoft.com/office/drawing/2014/main" id="{5E2CBAEE-1DC9-484A-A5B3-B46A0525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2-concept_3-anchor">
            <a:extLst xmlns:a="http://schemas.openxmlformats.org/drawingml/2006/main">
              <a:ext uri="{FF2B5EF4-FFF2-40B4-BE49-F238E27FC236}">
                <a16:creationId xmlns:a16="http://schemas.microsoft.com/office/drawing/2014/main" id="{8BE833EE-4DA5-4376-9AD0-E071A3AE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2-concept_4-anchor">
            <a:extLst xmlns:a="http://schemas.openxmlformats.org/drawingml/2006/main">
              <a:ext uri="{FF2B5EF4-FFF2-40B4-BE49-F238E27FC236}">
                <a16:creationId xmlns:a16="http://schemas.microsoft.com/office/drawing/2014/main" id="{84F04B5A-D0B6-495C-BB5E-D2F9A5B7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2-concept_5-anchor">
            <a:extLst xmlns:a="http://schemas.openxmlformats.org/drawingml/2006/main">
              <a:ext uri="{FF2B5EF4-FFF2-40B4-BE49-F238E27FC236}">
                <a16:creationId xmlns:a16="http://schemas.microsoft.com/office/drawing/2014/main" id="{A513ED9A-3FD1-49B8-B08C-9BB55EE8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12-visual-alt" descr="Reconstrucción de figura U4; U09-DG-012, candidata para diagram-generation. La composición permite reconocer que a igual potencia y distancia, el nivel puede depender de la dirección.">
            <a:extLst xmlns:a="http://schemas.openxmlformats.org/drawingml/2006/main">
              <a:ext uri="{FF2B5EF4-FFF2-40B4-BE49-F238E27FC236}">
                <a16:creationId xmlns:a16="http://schemas.microsoft.com/office/drawing/2014/main" id="{4B554BE7-8ACF-4D68-BC18-9C945E24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09-DG-012-concept_1-text">
            <a:extLst xmlns:a="http://schemas.openxmlformats.org/drawingml/2006/main">
              <a:ext uri="{FF2B5EF4-FFF2-40B4-BE49-F238E27FC236}">
                <a16:creationId xmlns:a16="http://schemas.microsoft.com/office/drawing/2014/main" id="{2D3E9BBA-815A-44BC-8F22-BB6FB24A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Omnidireccional</a:t>
            </a:r>
          </a:p>
        </p:txBody>
      </p:sp>
      <p:sp>
        <p:nvSpPr>
          <p:cNvPr id="14" name="U09-DG-012-concept_2-box">
            <a:extLst xmlns:a="http://schemas.openxmlformats.org/drawingml/2006/main">
              <a:ext uri="{FF2B5EF4-FFF2-40B4-BE49-F238E27FC236}">
                <a16:creationId xmlns:a16="http://schemas.microsoft.com/office/drawing/2014/main" id="{3CD22126-6279-45D3-96B6-23F97C00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09-DG-012-concept_2-text">
            <a:extLst xmlns:a="http://schemas.openxmlformats.org/drawingml/2006/main">
              <a:ext uri="{FF2B5EF4-FFF2-40B4-BE49-F238E27FC236}">
                <a16:creationId xmlns:a16="http://schemas.microsoft.com/office/drawing/2014/main" id="{90CF243C-2F05-43AE-8DCD-17EEBE07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direccional</a:t>
            </a:r>
          </a:p>
        </p:txBody>
      </p:sp>
      <p:sp>
        <p:nvSpPr>
          <p:cNvPr id="16" name="U09-DG-012-concept_3-box">
            <a:extLst xmlns:a="http://schemas.openxmlformats.org/drawingml/2006/main">
              <a:ext uri="{FF2B5EF4-FFF2-40B4-BE49-F238E27FC236}">
                <a16:creationId xmlns:a16="http://schemas.microsoft.com/office/drawing/2014/main" id="{54ABEDB3-7E13-48B0-9B4C-CDBDF14E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09-DG-012-concept_3-text">
            <a:extLst xmlns:a="http://schemas.openxmlformats.org/drawingml/2006/main">
              <a:ext uri="{FF2B5EF4-FFF2-40B4-BE49-F238E27FC236}">
                <a16:creationId xmlns:a16="http://schemas.microsoft.com/office/drawing/2014/main" id="{F57390EA-0852-4758-A746-33AB9119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</a:t>
            </a:r>
          </a:p>
        </p:txBody>
      </p:sp>
      <p:sp>
        <p:nvSpPr>
          <p:cNvPr id="18" name="U09-DG-012-concept_4-box">
            <a:extLst xmlns:a="http://schemas.openxmlformats.org/drawingml/2006/main">
              <a:ext uri="{FF2B5EF4-FFF2-40B4-BE49-F238E27FC236}">
                <a16:creationId xmlns:a16="http://schemas.microsoft.com/office/drawing/2014/main" id="{F549615A-EE20-46C5-A4B4-6D9306DC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09-DG-012-concept_4-text">
            <a:extLst xmlns:a="http://schemas.openxmlformats.org/drawingml/2006/main">
              <a:ext uri="{FF2B5EF4-FFF2-40B4-BE49-F238E27FC236}">
                <a16:creationId xmlns:a16="http://schemas.microsoft.com/office/drawing/2014/main" id="{64567073-8A89-4720-AA6A-2ABED5EE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ángulo</a:t>
            </a:r>
          </a:p>
        </p:txBody>
      </p:sp>
      <p:sp>
        <p:nvSpPr>
          <p:cNvPr id="20" name="U09-DG-012-concept_5-box">
            <a:extLst xmlns:a="http://schemas.openxmlformats.org/drawingml/2006/main">
              <a:ext uri="{FF2B5EF4-FFF2-40B4-BE49-F238E27FC236}">
                <a16:creationId xmlns:a16="http://schemas.microsoft.com/office/drawing/2014/main" id="{7DE55B40-AFEA-4AF7-8274-B43BC7FF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09-DG-012-concept_5-text">
            <a:extLst xmlns:a="http://schemas.openxmlformats.org/drawingml/2006/main">
              <a:ext uri="{FF2B5EF4-FFF2-40B4-BE49-F238E27FC236}">
                <a16:creationId xmlns:a16="http://schemas.microsoft.com/office/drawing/2014/main" id="{A15EDAC4-1194-4247-AE3C-86E3480F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punto de comparación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0219A774-5E4D-425D-BB86-3C6785D4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 igual potencia y distancia, el nivel puede depender de la dirección. · U09-DG-012 · UCASAL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6EC80E6-AC5A-4D1B-BC3F-0A9AE63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988F0CAE-1672-4B63-8EEA-E9455674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B2DFDCE-5ACA-4253-BB56-BD1BF34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EA40A22-DE46-47EA-A7B6-339A6F54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23F833D-AB52-423A-9A56-C64B7038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EE8FD0-2B44-4147-99C3-088DD40C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patrón cambia con la frecuencia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95C1762-0B04-46C4-9DE7-46C5117B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Gráfico cuantitativo</a:t>
            </a:r>
          </a:p>
        </p:txBody>
      </p:sp>
      <p:pic>
        <p:nvPicPr>
          <p:cNvPr id="19" name="U09-CH-002-chart" descr="U09-CH-002 patrón polar por frecuencia. La composición permite reconocer que una fuente real no tiene un único patrón para todas las frecuenci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db4fbfa7c48ed">
            <a:extLst>
              <a:ext uri="{96DAC541-7B7A-43D3-8B79-37D633B846F1}">
                <asvg:svgBlip xmlns:asvg="http://schemas.microsoft.com/office/drawing/2016/SVG/main" r:embed="R9bb8e16a54b841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3C96A5DA-12D9-4647-A7C0-06351B4E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B950FFED-401C-4CE1-930F-265806FF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AF3C1A1C-AA07-48E8-9FEA-9D72A8C3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fuente real no tiene un único patrón para todas las frecuencias. Patrones sintéticos a tres frecuencias, misma escala radial y orientación.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9E959DEF-FD78-45FD-9587-5DFD808D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propuesta: una fuente real no tiene un único patrón para todas las frecuencias. · U09-CH-002 · UCASAL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7EFD06-C8EA-424A-B0D2-C7E8141A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80EA819-79D1-48E3-97A1-F356D256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80554AE-6A47-487B-B7E9-F3BE1FF8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CCE6887-9BCB-41F7-96D0-8C8BDE65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26D55D7-44D3-4CDE-9BF2-B7481780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7381D7-DB15-446D-AF14-F783AF0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factor Qdir al índice DI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3B2DA5-EDF6-4F5C-B258-DEC26A48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Ecuación anotada</a:t>
            </a:r>
          </a:p>
        </p:txBody>
      </p:sp>
      <p:sp>
        <p:nvSpPr>
          <p:cNvPr id="7" name="U09-DG-013-equation-anchor">
            <a:extLst xmlns:a="http://schemas.openxmlformats.org/drawingml/2006/main">
              <a:ext uri="{FF2B5EF4-FFF2-40B4-BE49-F238E27FC236}">
                <a16:creationId xmlns:a16="http://schemas.microsoft.com/office/drawing/2014/main" id="{F9F0163E-7542-4CE5-865B-191B9E6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3-callout_1-anchor">
            <a:extLst xmlns:a="http://schemas.openxmlformats.org/drawingml/2006/main">
              <a:ext uri="{FF2B5EF4-FFF2-40B4-BE49-F238E27FC236}">
                <a16:creationId xmlns:a16="http://schemas.microsoft.com/office/drawing/2014/main" id="{89706E73-747E-4EAA-AE7F-5D8C2D0B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3-callout_2-anchor">
            <a:extLst xmlns:a="http://schemas.openxmlformats.org/drawingml/2006/main">
              <a:ext uri="{FF2B5EF4-FFF2-40B4-BE49-F238E27FC236}">
                <a16:creationId xmlns:a16="http://schemas.microsoft.com/office/drawing/2014/main" id="{ACA55BEC-8C3B-4E52-B4FA-E3F61BAC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3-callout_3-anchor">
            <a:extLst xmlns:a="http://schemas.openxmlformats.org/drawingml/2006/main">
              <a:ext uri="{FF2B5EF4-FFF2-40B4-BE49-F238E27FC236}">
                <a16:creationId xmlns:a16="http://schemas.microsoft.com/office/drawing/2014/main" id="{4CDC0728-003E-4C0A-B28A-0970E3D2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3-callout_4-anchor">
            <a:extLst xmlns:a="http://schemas.openxmlformats.org/drawingml/2006/main">
              <a:ext uri="{FF2B5EF4-FFF2-40B4-BE49-F238E27FC236}">
                <a16:creationId xmlns:a16="http://schemas.microsoft.com/office/drawing/2014/main" id="{8FF83973-DBB9-4F40-BF62-22C36E0E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13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13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3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3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3-visual-alt" descr="Ecuación con comparador omnidireccional; U09-DG-013, candidata para diagram-generation. La composición permite reconocer que di expresa en db la concentración relativa definida por qdir.">
            <a:extLst xmlns:a="http://schemas.openxmlformats.org/drawingml/2006/main">
              <a:ext uri="{FF2B5EF4-FFF2-40B4-BE49-F238E27FC236}">
                <a16:creationId xmlns:a16="http://schemas.microsoft.com/office/drawing/2014/main" id="{64D669A6-CF83-4B00-8937-748DAF57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3-equation-text">
            <a:extLst xmlns:a="http://schemas.openxmlformats.org/drawingml/2006/main">
              <a:ext uri="{FF2B5EF4-FFF2-40B4-BE49-F238E27FC236}">
                <a16:creationId xmlns:a16="http://schemas.microsoft.com/office/drawing/2014/main" id="{FA8A3C0D-B55D-42E1-BDF0-C57B53CE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DI=10 log10 Qdir</a:t>
            </a:r>
          </a:p>
        </p:txBody>
      </p:sp>
      <p:sp>
        <p:nvSpPr>
          <p:cNvPr id="18" name="U09-DG-013-callout_1-box">
            <a:extLst xmlns:a="http://schemas.openxmlformats.org/drawingml/2006/main">
              <a:ext uri="{FF2B5EF4-FFF2-40B4-BE49-F238E27FC236}">
                <a16:creationId xmlns:a16="http://schemas.microsoft.com/office/drawing/2014/main" id="{0E1F41F3-00FF-4D14-9941-CC995240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3-callout_1-text">
            <a:extLst xmlns:a="http://schemas.openxmlformats.org/drawingml/2006/main">
              <a:ext uri="{FF2B5EF4-FFF2-40B4-BE49-F238E27FC236}">
                <a16:creationId xmlns:a16="http://schemas.microsoft.com/office/drawing/2014/main" id="{7A8A7222-E28B-41BD-B429-FF7FAC32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Qdir: razón lineal</a:t>
            </a:r>
          </a:p>
        </p:txBody>
      </p:sp>
      <p:sp>
        <p:nvSpPr>
          <p:cNvPr id="20" name="U09-DG-013-callout_2-box">
            <a:extLst xmlns:a="http://schemas.openxmlformats.org/drawingml/2006/main">
              <a:ext uri="{FF2B5EF4-FFF2-40B4-BE49-F238E27FC236}">
                <a16:creationId xmlns:a16="http://schemas.microsoft.com/office/drawing/2014/main" id="{CFFA7308-5412-406F-BF3E-28A9AB8A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3-callout_2-text">
            <a:extLst xmlns:a="http://schemas.openxmlformats.org/drawingml/2006/main">
              <a:ext uri="{FF2B5EF4-FFF2-40B4-BE49-F238E27FC236}">
                <a16:creationId xmlns:a16="http://schemas.microsoft.com/office/drawing/2014/main" id="{C648362D-C203-4A34-901A-32FEE603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Referencia</a:t>
            </a:r>
          </a:p>
        </p:txBody>
      </p:sp>
      <p:sp>
        <p:nvSpPr>
          <p:cNvPr id="22" name="U09-DG-013-callout_3-box">
            <a:extLst xmlns:a="http://schemas.openxmlformats.org/drawingml/2006/main">
              <a:ext uri="{FF2B5EF4-FFF2-40B4-BE49-F238E27FC236}">
                <a16:creationId xmlns:a16="http://schemas.microsoft.com/office/drawing/2014/main" id="{FA84CBE5-E05B-4D6A-A8E8-453D3BAC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3-callout_3-text">
            <a:extLst xmlns:a="http://schemas.openxmlformats.org/drawingml/2006/main">
              <a:ext uri="{FF2B5EF4-FFF2-40B4-BE49-F238E27FC236}">
                <a16:creationId xmlns:a16="http://schemas.microsoft.com/office/drawing/2014/main" id="{140A3F33-2AFE-473B-A067-9E63302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Qdir = 4</a:t>
            </a:r>
          </a:p>
        </p:txBody>
      </p:sp>
      <p:sp>
        <p:nvSpPr>
          <p:cNvPr id="24" name="U09-DG-013-callout_4-box">
            <a:extLst xmlns:a="http://schemas.openxmlformats.org/drawingml/2006/main">
              <a:ext uri="{FF2B5EF4-FFF2-40B4-BE49-F238E27FC236}">
                <a16:creationId xmlns:a16="http://schemas.microsoft.com/office/drawing/2014/main" id="{B92695CC-5BDE-4AAE-B50B-539C8F23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3-callout_4-text">
            <a:extLst xmlns:a="http://schemas.openxmlformats.org/drawingml/2006/main">
              <a:ext uri="{FF2B5EF4-FFF2-40B4-BE49-F238E27FC236}">
                <a16:creationId xmlns:a16="http://schemas.microsoft.com/office/drawing/2014/main" id="{5DA68B5F-4724-4196-8C21-450EB5FE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 = 6,02 dB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1DCB6821-94CB-4980-97A0-ED5F394B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di expresa en db la concentración relativa definida por qdir. · U09-DG-013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742599-F7A2-4186-B7B1-147C5C0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8AADFFC-6E5F-4D7C-BDAA-B1AF2875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A617EE1-6782-4C80-9AF3-EC885A79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811A198-ED4B-4CA1-BA7A-2B464107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6CB1047-F7D5-43C8-A1F5-BB2696AE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007639-FB4B-42C7-8F74-D127F1BA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Campo sonoro: geometría y orientación importan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1A8DBA-5610-4787-A99B-FF34E0BF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Aplicación clínica</a:t>
            </a:r>
          </a:p>
        </p:txBody>
      </p:sp>
      <p:sp>
        <p:nvSpPr>
          <p:cNvPr id="7" name="U09-DG-014-source-anchor">
            <a:extLst xmlns:a="http://schemas.openxmlformats.org/drawingml/2006/main">
              <a:ext uri="{FF2B5EF4-FFF2-40B4-BE49-F238E27FC236}">
                <a16:creationId xmlns:a16="http://schemas.microsoft.com/office/drawing/2014/main" id="{AF4C4161-4779-48C1-BA79-E335FD38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4-path_upper-anchor">
            <a:extLst xmlns:a="http://schemas.openxmlformats.org/drawingml/2006/main">
              <a:ext uri="{FF2B5EF4-FFF2-40B4-BE49-F238E27FC236}">
                <a16:creationId xmlns:a16="http://schemas.microsoft.com/office/drawing/2014/main" id="{F7D87FBC-E0CF-444F-8D9F-C658DCE3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4-path_lower-anchor">
            <a:extLst xmlns:a="http://schemas.openxmlformats.org/drawingml/2006/main">
              <a:ext uri="{FF2B5EF4-FFF2-40B4-BE49-F238E27FC236}">
                <a16:creationId xmlns:a16="http://schemas.microsoft.com/office/drawing/2014/main" id="{EBC55E49-8507-4063-B9E8-8950CC86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4-receiver-anchor">
            <a:extLst xmlns:a="http://schemas.openxmlformats.org/drawingml/2006/main">
              <a:ext uri="{FF2B5EF4-FFF2-40B4-BE49-F238E27FC236}">
                <a16:creationId xmlns:a16="http://schemas.microsoft.com/office/drawing/2014/main" id="{26182156-213C-413C-886A-073BA671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4-condition-anchor">
            <a:extLst xmlns:a="http://schemas.openxmlformats.org/drawingml/2006/main">
              <a:ext uri="{FF2B5EF4-FFF2-40B4-BE49-F238E27FC236}">
                <a16:creationId xmlns:a16="http://schemas.microsoft.com/office/drawing/2014/main" id="{BB565F90-3E7B-4348-AFC5-BF1DDFBA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14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14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4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4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4-visual-alt" descr="Foto técnica U09-IMG-001 con sobreimpresión geométrica o diagrama alternativo U09-DG-014. La composición permite reconocer que posición, eje del altavoz, punto de referencia y reflexiones condicionan el estímulo.">
            <a:extLst xmlns:a="http://schemas.openxmlformats.org/drawingml/2006/main">
              <a:ext uri="{FF2B5EF4-FFF2-40B4-BE49-F238E27FC236}">
                <a16:creationId xmlns:a16="http://schemas.microsoft.com/office/drawing/2014/main" id="{31F0C18C-3A31-41EC-8B22-6A2C7CD8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14-source-text">
            <a:extLst xmlns:a="http://schemas.openxmlformats.org/drawingml/2006/main">
              <a:ext uri="{FF2B5EF4-FFF2-40B4-BE49-F238E27FC236}">
                <a16:creationId xmlns:a16="http://schemas.microsoft.com/office/drawing/2014/main" id="{F5663F57-7DD2-43FA-878A-6FF1BBF7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Altavoz</a:t>
            </a:r>
          </a:p>
        </p:txBody>
      </p:sp>
      <p:sp>
        <p:nvSpPr>
          <p:cNvPr id="18" name="U09-DG-014-path_upper-box">
            <a:extLst xmlns:a="http://schemas.openxmlformats.org/drawingml/2006/main">
              <a:ext uri="{FF2B5EF4-FFF2-40B4-BE49-F238E27FC236}">
                <a16:creationId xmlns:a16="http://schemas.microsoft.com/office/drawing/2014/main" id="{0DF14022-9141-4CC6-B45A-667CA844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14-path_upper-text">
            <a:extLst xmlns:a="http://schemas.openxmlformats.org/drawingml/2006/main">
              <a:ext uri="{FF2B5EF4-FFF2-40B4-BE49-F238E27FC236}">
                <a16:creationId xmlns:a16="http://schemas.microsoft.com/office/drawing/2014/main" id="{9130E74A-FA3B-415B-9627-670837E5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eje</a:t>
            </a:r>
          </a:p>
        </p:txBody>
      </p:sp>
      <p:sp>
        <p:nvSpPr>
          <p:cNvPr id="20" name="U09-DG-014-path_lower-box">
            <a:extLst xmlns:a="http://schemas.openxmlformats.org/drawingml/2006/main">
              <a:ext uri="{FF2B5EF4-FFF2-40B4-BE49-F238E27FC236}">
                <a16:creationId xmlns:a16="http://schemas.microsoft.com/office/drawing/2014/main" id="{FEBCC77A-8584-4249-B900-2F8A671D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14-path_lower-text">
            <a:extLst xmlns:a="http://schemas.openxmlformats.org/drawingml/2006/main">
              <a:ext uri="{FF2B5EF4-FFF2-40B4-BE49-F238E27FC236}">
                <a16:creationId xmlns:a16="http://schemas.microsoft.com/office/drawing/2014/main" id="{24739BA1-A41B-4E57-9549-7E1AB7AD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distancias</a:t>
            </a:r>
          </a:p>
        </p:txBody>
      </p:sp>
      <p:sp>
        <p:nvSpPr>
          <p:cNvPr id="22" name="U09-DG-014-receiver-box">
            <a:extLst xmlns:a="http://schemas.openxmlformats.org/drawingml/2006/main">
              <a:ext uri="{FF2B5EF4-FFF2-40B4-BE49-F238E27FC236}">
                <a16:creationId xmlns:a16="http://schemas.microsoft.com/office/drawing/2014/main" id="{9ABA56BE-DE05-4000-877E-C2DF3FF0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14-receiver-text">
            <a:extLst xmlns:a="http://schemas.openxmlformats.org/drawingml/2006/main">
              <a:ext uri="{FF2B5EF4-FFF2-40B4-BE49-F238E27FC236}">
                <a16:creationId xmlns:a16="http://schemas.microsoft.com/office/drawing/2014/main" id="{C90FF966-4F59-4A96-92CC-DFBA00B0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punto de referencia</a:t>
            </a:r>
          </a:p>
        </p:txBody>
      </p:sp>
      <p:sp>
        <p:nvSpPr>
          <p:cNvPr id="24" name="U09-DG-014-condition-box">
            <a:extLst xmlns:a="http://schemas.openxmlformats.org/drawingml/2006/main">
              <a:ext uri="{FF2B5EF4-FFF2-40B4-BE49-F238E27FC236}">
                <a16:creationId xmlns:a16="http://schemas.microsoft.com/office/drawing/2014/main" id="{AFE68A7D-881F-4150-A2A6-4B67F010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14-condition-text">
            <a:extLst xmlns:a="http://schemas.openxmlformats.org/drawingml/2006/main">
              <a:ext uri="{FF2B5EF4-FFF2-40B4-BE49-F238E27FC236}">
                <a16:creationId xmlns:a16="http://schemas.microsoft.com/office/drawing/2014/main" id="{D9E7E272-D221-4E0A-8B7D-4A82CB6D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paciente/micrófono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7457892D-9AD5-42EF-96A9-60CF0EC3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posición, eje del altavoz, punto de referencia y reflexiones condicionan el estímulo. · U09-DG-014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C577C8-6307-466A-B021-C7BD4C05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C6E2DCB2-5B3F-491C-99EF-574BF4EC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E7E110C-6AEE-4871-97EC-0C2AE3BE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0673449-0491-473F-93B9-91DD0411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46DCA79-869A-4847-B936-37FD7C9E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635FC2-CACF-4EF2-AF55-3A0A4CF4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¿Distancia, dirección o ambos?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E6D2535-0707-4341-A48C-14F0E8C4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Recapitulación y pregunta</a:t>
            </a:r>
          </a:p>
        </p:txBody>
      </p:sp>
      <p:sp>
        <p:nvSpPr>
          <p:cNvPr id="7" name="U09-DG-015-step_1-anchor">
            <a:extLst xmlns:a="http://schemas.openxmlformats.org/drawingml/2006/main">
              <a:ext uri="{FF2B5EF4-FFF2-40B4-BE49-F238E27FC236}">
                <a16:creationId xmlns:a16="http://schemas.microsoft.com/office/drawing/2014/main" id="{4585238A-B298-4AD9-AAFA-02A6C142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5-step_2-anchor">
            <a:extLst xmlns:a="http://schemas.openxmlformats.org/drawingml/2006/main">
              <a:ext uri="{FF2B5EF4-FFF2-40B4-BE49-F238E27FC236}">
                <a16:creationId xmlns:a16="http://schemas.microsoft.com/office/drawing/2014/main" id="{9E468D2E-AF95-4CEC-8DF0-E0C267B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5-step_3-anchor">
            <a:extLst xmlns:a="http://schemas.openxmlformats.org/drawingml/2006/main">
              <a:ext uri="{FF2B5EF4-FFF2-40B4-BE49-F238E27FC236}">
                <a16:creationId xmlns:a16="http://schemas.microsoft.com/office/drawing/2014/main" id="{42ECDFCA-C22D-49B6-A93B-385BF677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5-step_4-anchor">
            <a:extLst xmlns:a="http://schemas.openxmlformats.org/drawingml/2006/main">
              <a:ext uri="{FF2B5EF4-FFF2-40B4-BE49-F238E27FC236}">
                <a16:creationId xmlns:a16="http://schemas.microsoft.com/office/drawing/2014/main" id="{7D2E7AB4-7F26-4E38-8FC3-C0B17EE3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5-step_5-anchor">
            <a:extLst xmlns:a="http://schemas.openxmlformats.org/drawingml/2006/main">
              <a:ext uri="{FF2B5EF4-FFF2-40B4-BE49-F238E27FC236}">
                <a16:creationId xmlns:a16="http://schemas.microsoft.com/office/drawing/2014/main" id="{ED3FC3AC-4040-4B89-BAB3-8DC0B0E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15-step_6-anchor">
            <a:extLst xmlns:a="http://schemas.openxmlformats.org/drawingml/2006/main">
              <a:ext uri="{FF2B5EF4-FFF2-40B4-BE49-F238E27FC236}">
                <a16:creationId xmlns:a16="http://schemas.microsoft.com/office/drawing/2014/main" id="{B6542581-63B7-4C54-8BA0-6522FE71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U09-DG-015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9-DG-015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15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15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15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15-visual-alt" descr="Tarjetas de decisión; U09-DG-015, candidata para diagram-generation. La composición permite reconocer que se estima por separado cada efecto y se evita contabilizarlo dos veces.">
            <a:extLst xmlns:a="http://schemas.openxmlformats.org/drawingml/2006/main">
              <a:ext uri="{FF2B5EF4-FFF2-40B4-BE49-F238E27FC236}">
                <a16:creationId xmlns:a16="http://schemas.microsoft.com/office/drawing/2014/main" id="{12F6E2D4-F50E-4C9A-B20C-235DB80D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5-step_1-text">
            <a:extLst xmlns:a="http://schemas.openxmlformats.org/drawingml/2006/main">
              <a:ext uri="{FF2B5EF4-FFF2-40B4-BE49-F238E27FC236}">
                <a16:creationId xmlns:a16="http://schemas.microsoft.com/office/drawing/2014/main" id="{E617FA08-C8B3-43F8-8FBF-117BB826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Cambia distancia</a:t>
            </a:r>
          </a:p>
        </p:txBody>
      </p:sp>
      <p:sp>
        <p:nvSpPr>
          <p:cNvPr id="20" name="U09-DG-015-step_2-box">
            <a:extLst xmlns:a="http://schemas.openxmlformats.org/drawingml/2006/main">
              <a:ext uri="{FF2B5EF4-FFF2-40B4-BE49-F238E27FC236}">
                <a16:creationId xmlns:a16="http://schemas.microsoft.com/office/drawing/2014/main" id="{6F51073C-0B7E-46EB-B203-D377976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5-step_2-text">
            <a:extLst xmlns:a="http://schemas.openxmlformats.org/drawingml/2006/main">
              <a:ext uri="{FF2B5EF4-FFF2-40B4-BE49-F238E27FC236}">
                <a16:creationId xmlns:a16="http://schemas.microsoft.com/office/drawing/2014/main" id="{7BB73F48-DE92-4B1F-9039-325363DD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Cambia dirección</a:t>
            </a:r>
          </a:p>
        </p:txBody>
      </p:sp>
      <p:sp>
        <p:nvSpPr>
          <p:cNvPr id="22" name="U09-DG-015-step_3-box">
            <a:extLst xmlns:a="http://schemas.openxmlformats.org/drawingml/2006/main">
              <a:ext uri="{FF2B5EF4-FFF2-40B4-BE49-F238E27FC236}">
                <a16:creationId xmlns:a16="http://schemas.microsoft.com/office/drawing/2014/main" id="{CC9E8D2A-EA78-4C6F-877B-71CFB38D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5-step_3-text">
            <a:extLst xmlns:a="http://schemas.openxmlformats.org/drawingml/2006/main">
              <a:ext uri="{FF2B5EF4-FFF2-40B4-BE49-F238E27FC236}">
                <a16:creationId xmlns:a16="http://schemas.microsoft.com/office/drawing/2014/main" id="{9D0D3D6E-AEDF-45ED-BE4E-47E9F7C7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Cambian ambas</a:t>
            </a:r>
          </a:p>
        </p:txBody>
      </p:sp>
      <p:sp>
        <p:nvSpPr>
          <p:cNvPr id="24" name="U09-DG-015-step_4-box">
            <a:extLst xmlns:a="http://schemas.openxmlformats.org/drawingml/2006/main">
              <a:ext uri="{FF2B5EF4-FFF2-40B4-BE49-F238E27FC236}">
                <a16:creationId xmlns:a16="http://schemas.microsoft.com/office/drawing/2014/main" id="{0C106A70-90FC-4E75-A490-7C91087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5-step_4-text">
            <a:extLst xmlns:a="http://schemas.openxmlformats.org/drawingml/2006/main">
              <a:ext uri="{FF2B5EF4-FFF2-40B4-BE49-F238E27FC236}">
                <a16:creationId xmlns:a16="http://schemas.microsoft.com/office/drawing/2014/main" id="{F6F60DBE-9CD2-4CBA-B71C-61842094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Elegir modelo</a:t>
            </a:r>
          </a:p>
        </p:txBody>
      </p:sp>
      <p:sp>
        <p:nvSpPr>
          <p:cNvPr id="26" name="U09-DG-015-step_5-box">
            <a:extLst xmlns:a="http://schemas.openxmlformats.org/drawingml/2006/main">
              <a:ext uri="{FF2B5EF4-FFF2-40B4-BE49-F238E27FC236}">
                <a16:creationId xmlns:a16="http://schemas.microsoft.com/office/drawing/2014/main" id="{B04F1BF7-2A81-4EF0-B7D8-852322A7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15-step_5-text">
            <a:extLst xmlns:a="http://schemas.openxmlformats.org/drawingml/2006/main">
              <a:ext uri="{FF2B5EF4-FFF2-40B4-BE49-F238E27FC236}">
                <a16:creationId xmlns:a16="http://schemas.microsoft.com/office/drawing/2014/main" id="{292AEF72-B8D6-44CD-B593-C1EAC24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Declarar hipótesis</a:t>
            </a:r>
          </a:p>
        </p:txBody>
      </p:sp>
      <p:sp>
        <p:nvSpPr>
          <p:cNvPr id="28" name="U09-DG-015-step_6-box">
            <a:extLst xmlns:a="http://schemas.openxmlformats.org/drawingml/2006/main">
              <a:ext uri="{FF2B5EF4-FFF2-40B4-BE49-F238E27FC236}">
                <a16:creationId xmlns:a16="http://schemas.microsoft.com/office/drawing/2014/main" id="{DA6649F9-82B8-40C7-B5B9-5EB90FF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15-step_6-text">
            <a:extLst xmlns:a="http://schemas.openxmlformats.org/drawingml/2006/main">
              <a:ext uri="{FF2B5EF4-FFF2-40B4-BE49-F238E27FC236}">
                <a16:creationId xmlns:a16="http://schemas.microsoft.com/office/drawing/2014/main" id="{BD5B31C6-E050-4422-A5B2-F0195B25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Identificar dato faltante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30389A0B-570B-4E5C-8151-7431A2D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se estima por separado cada efecto y se evita contabilizarlo dos veces. · U09-DG-015 · UCASAL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DEA9F9-A780-4E1B-A0CF-39A5A715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9547E3E8-C326-40F6-BBD0-DDD7E4B0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F371B6B8-D3DF-42E0-80EE-6C8A76CB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¿Aire uniforme o aire con gradiente?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F5BFBB5E-FE6D-4D6C-867D-7CDA0A9A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El estado uniforme cambia rapidez; el gradiente puede curvar trayectorias.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942CE5-E958-47AD-B1CB-8AA34F45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721FD688-ADEF-4A4F-BFB0-4213E1DD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BFC8C81-7EE7-4B05-852A-F3FAE96A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24F847A-6EE8-43B6-8C02-3B7D13F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5C3C970-9ED7-4781-B7E2-FF5C3E6E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0D58ED-59CF-4A62-9F94-E17C4B44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rapidez aumenta con la temperatura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5E784D-29B0-45B0-98DC-7C10907D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Ecuación y gráfico</a:t>
            </a:r>
          </a:p>
        </p:txBody>
      </p:sp>
      <p:pic>
        <p:nvPicPr>
          <p:cNvPr id="19" name="U09-CH-003-chart" descr="U09-CH-003 rapidez frente a temperatura; ecuación anotada U09-DG-016. La composición permite reconocer que en aire, dentro del intervalo didáctico, c ≈ 331 + 0,6 θ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4c0470f954539">
            <a:extLst>
              <a:ext uri="{96DAC541-7B7A-43D3-8B79-37D633B846F1}">
                <asvg:svgBlip xmlns:asvg="http://schemas.microsoft.com/office/drawing/2016/SVG/main" r:embed="Re5d8fd59645640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3F68A3EC-DD2B-446A-A243-37116D77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9317BD20-E64A-4600-A3D0-6BB7C04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C3F8A43B-33C2-4004-B359-823E51D2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aire, dentro del intervalo didáctico, c ≈ 331 + 0,6 θ. Ecuación, símbolos, unidades, intervalo de uso y recta c(θ).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7538610B-8AD2-40BB-97FE-96E071D9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en aire, dentro del intervalo didáctico, c ≈ 331 + 0,6 θ. · U09-CH-003 · UCASAL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5AE6C3-452B-412F-8C94-B3A89509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9880F074-D482-45D3-85E9-B5851F0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710F6C0-3996-4D19-8149-B8538FE6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5EEA5FC-9274-4DF0-9BF9-88BD578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F3B5F73-CF90-416B-8A08-A9559E89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3D1B45-E1FA-432E-8EA5-9FF44F1F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Temperatura, c y λ: no confundir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6F9BC7-629A-4D9C-B337-0DD078A6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Ejemplo resuelto</a:t>
            </a:r>
          </a:p>
        </p:txBody>
      </p:sp>
      <p:sp>
        <p:nvSpPr>
          <p:cNvPr id="7" name="U09-DG-017-equation-anchor">
            <a:extLst xmlns:a="http://schemas.openxmlformats.org/drawingml/2006/main">
              <a:ext uri="{FF2B5EF4-FFF2-40B4-BE49-F238E27FC236}">
                <a16:creationId xmlns:a16="http://schemas.microsoft.com/office/drawing/2014/main" id="{9197AF99-B9F4-4C3D-83E6-5EC0A62C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7-callout_1-anchor">
            <a:extLst xmlns:a="http://schemas.openxmlformats.org/drawingml/2006/main">
              <a:ext uri="{FF2B5EF4-FFF2-40B4-BE49-F238E27FC236}">
                <a16:creationId xmlns:a16="http://schemas.microsoft.com/office/drawing/2014/main" id="{048F926F-A4C6-4CF8-8713-6F6E6DAA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7-callout_2-anchor">
            <a:extLst xmlns:a="http://schemas.openxmlformats.org/drawingml/2006/main">
              <a:ext uri="{FF2B5EF4-FFF2-40B4-BE49-F238E27FC236}">
                <a16:creationId xmlns:a16="http://schemas.microsoft.com/office/drawing/2014/main" id="{3158A695-3B2D-4E98-9EA7-2BA1B049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7-callout_3-anchor">
            <a:extLst xmlns:a="http://schemas.openxmlformats.org/drawingml/2006/main">
              <a:ext uri="{FF2B5EF4-FFF2-40B4-BE49-F238E27FC236}">
                <a16:creationId xmlns:a16="http://schemas.microsoft.com/office/drawing/2014/main" id="{BF4181CB-4DAC-4056-86EB-C996C394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7-callout_4-anchor">
            <a:extLst xmlns:a="http://schemas.openxmlformats.org/drawingml/2006/main">
              <a:ext uri="{FF2B5EF4-FFF2-40B4-BE49-F238E27FC236}">
                <a16:creationId xmlns:a16="http://schemas.microsoft.com/office/drawing/2014/main" id="{4F40A4C4-984E-4AD4-9007-AB07AEB3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17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17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7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7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7-visual-alt" descr="Dos estados y ecuación λ=c/f; U09-DG-017, candidata para diagram-generation. La composición permite reconocer que si la fuente conserva f, cambia λ, no la frecuencia emitida.">
            <a:extLst xmlns:a="http://schemas.openxmlformats.org/drawingml/2006/main">
              <a:ext uri="{FF2B5EF4-FFF2-40B4-BE49-F238E27FC236}">
                <a16:creationId xmlns:a16="http://schemas.microsoft.com/office/drawing/2014/main" id="{0048EE85-E3CC-4563-9012-F10B34CA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7-equation-text">
            <a:extLst xmlns:a="http://schemas.openxmlformats.org/drawingml/2006/main">
              <a:ext uri="{FF2B5EF4-FFF2-40B4-BE49-F238E27FC236}">
                <a16:creationId xmlns:a16="http://schemas.microsoft.com/office/drawing/2014/main" id="{F1A83EFC-C156-40AA-9EDD-C75061EF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λ=c/f y valores del ejemplo</a:t>
            </a:r>
          </a:p>
        </p:txBody>
      </p:sp>
      <p:sp>
        <p:nvSpPr>
          <p:cNvPr id="18" name="U09-DG-017-callout_1-box">
            <a:extLst xmlns:a="http://schemas.openxmlformats.org/drawingml/2006/main">
              <a:ext uri="{FF2B5EF4-FFF2-40B4-BE49-F238E27FC236}">
                <a16:creationId xmlns:a16="http://schemas.microsoft.com/office/drawing/2014/main" id="{7D50062F-8135-4626-B73F-13330DF8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7-callout_1-text">
            <a:extLst xmlns:a="http://schemas.openxmlformats.org/drawingml/2006/main">
              <a:ext uri="{FF2B5EF4-FFF2-40B4-BE49-F238E27FC236}">
                <a16:creationId xmlns:a16="http://schemas.microsoft.com/office/drawing/2014/main" id="{AC57F452-4F79-4496-BA3B-947C9F11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Estado 1: 5 °C</a:t>
            </a:r>
          </a:p>
        </p:txBody>
      </p:sp>
      <p:sp>
        <p:nvSpPr>
          <p:cNvPr id="20" name="U09-DG-017-callout_2-box">
            <a:extLst xmlns:a="http://schemas.openxmlformats.org/drawingml/2006/main">
              <a:ext uri="{FF2B5EF4-FFF2-40B4-BE49-F238E27FC236}">
                <a16:creationId xmlns:a16="http://schemas.microsoft.com/office/drawing/2014/main" id="{E462DA73-C9BF-4373-A937-0945F7AF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7-callout_2-text">
            <a:extLst xmlns:a="http://schemas.openxmlformats.org/drawingml/2006/main">
              <a:ext uri="{FF2B5EF4-FFF2-40B4-BE49-F238E27FC236}">
                <a16:creationId xmlns:a16="http://schemas.microsoft.com/office/drawing/2014/main" id="{3CA08177-F101-425E-ACE9-A1BC7D92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Estado 2: 25 °C</a:t>
            </a:r>
          </a:p>
        </p:txBody>
      </p:sp>
      <p:sp>
        <p:nvSpPr>
          <p:cNvPr id="22" name="U09-DG-017-callout_3-box">
            <a:extLst xmlns:a="http://schemas.openxmlformats.org/drawingml/2006/main">
              <a:ext uri="{FF2B5EF4-FFF2-40B4-BE49-F238E27FC236}">
                <a16:creationId xmlns:a16="http://schemas.microsoft.com/office/drawing/2014/main" id="{729DC30A-69C6-46C1-A89C-1F4FE726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7-callout_3-text">
            <a:extLst xmlns:a="http://schemas.openxmlformats.org/drawingml/2006/main">
              <a:ext uri="{FF2B5EF4-FFF2-40B4-BE49-F238E27FC236}">
                <a16:creationId xmlns:a16="http://schemas.microsoft.com/office/drawing/2014/main" id="{D90036A4-6036-43CB-9E7F-FEC94230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 se conserva</a:t>
            </a:r>
          </a:p>
        </p:txBody>
      </p:sp>
      <p:sp>
        <p:nvSpPr>
          <p:cNvPr id="24" name="U09-DG-017-callout_4-box">
            <a:extLst xmlns:a="http://schemas.openxmlformats.org/drawingml/2006/main">
              <a:ext uri="{FF2B5EF4-FFF2-40B4-BE49-F238E27FC236}">
                <a16:creationId xmlns:a16="http://schemas.microsoft.com/office/drawing/2014/main" id="{D0EE86D4-ACDC-488E-93ED-8309F480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7-callout_4-text">
            <a:extLst xmlns:a="http://schemas.openxmlformats.org/drawingml/2006/main">
              <a:ext uri="{FF2B5EF4-FFF2-40B4-BE49-F238E27FC236}">
                <a16:creationId xmlns:a16="http://schemas.microsoft.com/office/drawing/2014/main" id="{A0D9E8F4-6418-46FB-BD5B-496E936E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λ cambia con c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23B5F6C2-ED87-4A89-898B-562ADB9D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si la fuente conserva f, cambia λ, no la frecuencia emitida. · U09-DG-017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B90FD2-43E9-4FAC-A973-EB78DDB0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60EDE8FA-A370-4882-9451-E1765504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7089AEB-5E53-4363-A9F4-309AE0D2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857A508-4F95-4D00-965E-4D49B31C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FD36ABA-CE70-466B-B697-43C2B568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222304-94E5-4BE7-BF88-14EF6F3B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Gradientes térmicos: la trayectoria puede curvarse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1A1235-4D93-4622-B830-1DBC0F4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Diagrama conceptual</a:t>
            </a:r>
          </a:p>
        </p:txBody>
      </p:sp>
      <p:sp>
        <p:nvSpPr>
          <p:cNvPr id="7" name="U09-025-claim-alt" descr="U09-DG-018, candidata para diagram-generation, reconstrucción de figura 9.1. La composición permite reconocer que las trayectorias se curvan hacia regiones de menor rapidez.">
            <a:extLst xmlns:a="http://schemas.openxmlformats.org/drawingml/2006/main">
              <a:ext uri="{FF2B5EF4-FFF2-40B4-BE49-F238E27FC236}">
                <a16:creationId xmlns:a16="http://schemas.microsoft.com/office/drawing/2014/main" id="{1CE6AD8C-7EEC-4399-8DEB-8884B564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1F2DB74F-D25A-43B7-B0B7-7C3D2015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8317D73A-0081-48F2-AC2B-DD681E74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Aire más cálido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F6102ABA-280B-4F2C-9E45-95B5AA6A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rapidez del sonido es mayor.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47C597EC-A4C7-4E5F-9C61-DE5680E8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7FD9B175-AA2B-4EE9-919E-AFA13A40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Gradiente vertical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574E65C3-21FE-4266-8FD1-FCD10052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rapidez cambia con la altura; el medio deja de ser uniforme.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9C614E18-98C9-44C6-8E31-46CCFAED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4D243468-046F-4EAA-A80A-9BB2BB3B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Trayectoria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06E1A4C7-E1FD-49EA-98A7-8D3F4A34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rayo se curva hacia la región donde la rapidez es menor.</a:t>
            </a:r>
          </a:p>
        </p:txBody>
      </p:sp>
      <p:sp>
        <p:nvSpPr>
          <p:cNvPr id="17" name="gradient-key">
            <a:extLst xmlns:a="http://schemas.openxmlformats.org/drawingml/2006/main">
              <a:ext uri="{FF2B5EF4-FFF2-40B4-BE49-F238E27FC236}">
                <a16:creationId xmlns:a16="http://schemas.microsoft.com/office/drawing/2014/main" id="{1DFAAC8A-0127-4B30-B010-1FD3E7B6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No es una fuerza lateral: es refracción continua por cambio espacial de rapidez.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D0571F-1ECD-4F07-81AC-5DE10380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69525B73-9548-4615-84DB-7227A2B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74CF70A-8A76-4CEB-802F-B54FE54E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883B626-2A95-4A18-84A1-CDB454F4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235FB28-98FB-4715-9CCE-FA2986DE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F64E77-4EEB-4226-90B7-573BCBF9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Viento uniforme: cambia la rapidez efectiva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7A899F-8FE9-4314-BBBF-DF48BA68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Ecuación anotada</a:t>
            </a:r>
          </a:p>
        </p:txBody>
      </p:sp>
      <p:sp>
        <p:nvSpPr>
          <p:cNvPr id="7" name="U09-DG-019-equation-anchor">
            <a:extLst xmlns:a="http://schemas.openxmlformats.org/drawingml/2006/main">
              <a:ext uri="{FF2B5EF4-FFF2-40B4-BE49-F238E27FC236}">
                <a16:creationId xmlns:a16="http://schemas.microsoft.com/office/drawing/2014/main" id="{6B165A6B-C912-453F-8F55-2C8D3B5D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9-callout_1-anchor">
            <a:extLst xmlns:a="http://schemas.openxmlformats.org/drawingml/2006/main">
              <a:ext uri="{FF2B5EF4-FFF2-40B4-BE49-F238E27FC236}">
                <a16:creationId xmlns:a16="http://schemas.microsoft.com/office/drawing/2014/main" id="{68018967-7B8B-4C43-94C7-E1D93B5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9-callout_2-anchor">
            <a:extLst xmlns:a="http://schemas.openxmlformats.org/drawingml/2006/main">
              <a:ext uri="{FF2B5EF4-FFF2-40B4-BE49-F238E27FC236}">
                <a16:creationId xmlns:a16="http://schemas.microsoft.com/office/drawing/2014/main" id="{3B243728-4F64-4BCA-A6D5-848EF737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9-callout_3-anchor">
            <a:extLst xmlns:a="http://schemas.openxmlformats.org/drawingml/2006/main">
              <a:ext uri="{FF2B5EF4-FFF2-40B4-BE49-F238E27FC236}">
                <a16:creationId xmlns:a16="http://schemas.microsoft.com/office/drawing/2014/main" id="{30E3AD9F-DB98-4D5A-98F4-840076B3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9-callout_4-anchor">
            <a:extLst xmlns:a="http://schemas.openxmlformats.org/drawingml/2006/main">
              <a:ext uri="{FF2B5EF4-FFF2-40B4-BE49-F238E27FC236}">
                <a16:creationId xmlns:a16="http://schemas.microsoft.com/office/drawing/2014/main" id="{2A197FC6-DC7F-456D-BF7E-C3322B8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19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19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9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9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9-visual-alt" descr="Ecuación con brújula angular; U09-DG-019, candidata para diagram-generation. La composición permite reconocer que un viento uniforme modifica la rapidez respecto del suelo según la dirección, pero no curva por sí solo el trayecto.">
            <a:extLst xmlns:a="http://schemas.openxmlformats.org/drawingml/2006/main">
              <a:ext uri="{FF2B5EF4-FFF2-40B4-BE49-F238E27FC236}">
                <a16:creationId xmlns:a16="http://schemas.microsoft.com/office/drawing/2014/main" id="{2F40579A-72DE-47D3-B7DC-9B4741B7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9-equation-text">
            <a:extLst xmlns:a="http://schemas.openxmlformats.org/drawingml/2006/main">
              <a:ext uri="{FF2B5EF4-FFF2-40B4-BE49-F238E27FC236}">
                <a16:creationId xmlns:a16="http://schemas.microsoft.com/office/drawing/2014/main" id="{F669B7BB-6D11-4714-B7B1-097B4C98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cₑf=c+v viento cos ψ</a:t>
            </a:r>
          </a:p>
        </p:txBody>
      </p:sp>
      <p:sp>
        <p:nvSpPr>
          <p:cNvPr id="18" name="U09-DG-019-callout_1-box">
            <a:extLst xmlns:a="http://schemas.openxmlformats.org/drawingml/2006/main">
              <a:ext uri="{FF2B5EF4-FFF2-40B4-BE49-F238E27FC236}">
                <a16:creationId xmlns:a16="http://schemas.microsoft.com/office/drawing/2014/main" id="{BC351E38-4801-4C20-ABE7-03B24CA9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9-callout_1-text">
            <a:extLst xmlns:a="http://schemas.openxmlformats.org/drawingml/2006/main">
              <a:ext uri="{FF2B5EF4-FFF2-40B4-BE49-F238E27FC236}">
                <a16:creationId xmlns:a16="http://schemas.microsoft.com/office/drawing/2014/main" id="{F356792E-A604-42E1-BA11-55C832EC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c: rapidez sin viento</a:t>
            </a:r>
          </a:p>
        </p:txBody>
      </p:sp>
      <p:sp>
        <p:nvSpPr>
          <p:cNvPr id="20" name="U09-DG-019-callout_2-box">
            <a:extLst xmlns:a="http://schemas.openxmlformats.org/drawingml/2006/main">
              <a:ext uri="{FF2B5EF4-FFF2-40B4-BE49-F238E27FC236}">
                <a16:creationId xmlns:a16="http://schemas.microsoft.com/office/drawing/2014/main" id="{D921A83A-95D5-4AAA-91CB-C5C09070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9-callout_2-text">
            <a:extLst xmlns:a="http://schemas.openxmlformats.org/drawingml/2006/main">
              <a:ext uri="{FF2B5EF4-FFF2-40B4-BE49-F238E27FC236}">
                <a16:creationId xmlns:a16="http://schemas.microsoft.com/office/drawing/2014/main" id="{791737C9-2C9E-4A24-842A-BC2A758E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 viento: módulo</a:t>
            </a:r>
          </a:p>
        </p:txBody>
      </p:sp>
      <p:sp>
        <p:nvSpPr>
          <p:cNvPr id="22" name="U09-DG-019-callout_3-box">
            <a:extLst xmlns:a="http://schemas.openxmlformats.org/drawingml/2006/main">
              <a:ext uri="{FF2B5EF4-FFF2-40B4-BE49-F238E27FC236}">
                <a16:creationId xmlns:a16="http://schemas.microsoft.com/office/drawing/2014/main" id="{B702FE49-90FA-4FB6-9A0C-26EB17FB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9-callout_3-text">
            <a:extLst xmlns:a="http://schemas.openxmlformats.org/drawingml/2006/main">
              <a:ext uri="{FF2B5EF4-FFF2-40B4-BE49-F238E27FC236}">
                <a16:creationId xmlns:a16="http://schemas.microsoft.com/office/drawing/2014/main" id="{116D8E98-D5D8-4482-B1DD-16474D3E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ψ: ángulo</a:t>
            </a:r>
          </a:p>
        </p:txBody>
      </p:sp>
      <p:sp>
        <p:nvSpPr>
          <p:cNvPr id="24" name="U09-DG-019-callout_4-box">
            <a:extLst xmlns:a="http://schemas.openxmlformats.org/drawingml/2006/main">
              <a:ext uri="{FF2B5EF4-FFF2-40B4-BE49-F238E27FC236}">
                <a16:creationId xmlns:a16="http://schemas.microsoft.com/office/drawing/2014/main" id="{16402B1F-CC1C-42A7-BA58-F56D6131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9-callout_4-text">
            <a:extLst xmlns:a="http://schemas.openxmlformats.org/drawingml/2006/main">
              <a:ext uri="{FF2B5EF4-FFF2-40B4-BE49-F238E27FC236}">
                <a16:creationId xmlns:a16="http://schemas.microsoft.com/office/drawing/2014/main" id="{A493E007-4F43-4A6B-9F37-AB28325A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cos ψ: dirección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3F9D70D3-1562-46D8-B7AB-0039CEB0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un viento uniforme modifica la rapidez respecto del suelo según la dirección, pero no curva por… · U09-DG-019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2DBFB2-9903-4284-9FC7-969B25EF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D10258E9-E72E-41A1-872E-A09F653D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01A210A-11E6-4C4C-AD36-3004911E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DD849C7-4D09-44F0-B9B3-A817DAE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BF347E7-8B98-4E0C-BC39-77F9854C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EC6817-1D38-44D0-9344-C9E96678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Gradiente de viento: aparece curvatura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4CDD51-1F55-45F7-A99C-3DAC33B7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Diagrama conceptual</a:t>
            </a:r>
          </a:p>
        </p:txBody>
      </p:sp>
      <p:sp>
        <p:nvSpPr>
          <p:cNvPr id="7" name="U09-027-claim-alt" descr="U09-DG-020, candidata para diagram-generation, reconstrucción de figura 9.2. La composición permite reconocer que si cₑf cambia con la altura, las trayectorias se curvan y la cobertura cambia.">
            <a:extLst xmlns:a="http://schemas.openxmlformats.org/drawingml/2006/main">
              <a:ext uri="{FF2B5EF4-FFF2-40B4-BE49-F238E27FC236}">
                <a16:creationId xmlns:a16="http://schemas.microsoft.com/office/drawing/2014/main" id="{1C2614C0-126A-45F9-AFF9-220097F2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7DFB70A7-20ED-467A-B405-AB9294FF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EC803F9A-B011-40AB-9740-3CCAEF62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 favor del viento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D13CE493-D852-4DBF-B04F-1ABBD310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rapidez efectiva aumenta con la altura si el viento se intensifica; la trayectoria puede curvarse hacia el suelo.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22B5DF6F-841F-4EC1-B74D-4D08FC67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CA41780F-C704-4A0B-AAA5-D986C7AB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Contra el viento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D9369B37-9E20-4E1E-81DE-4AF7548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rapidez efectiva cambia en sentido opuesto; puede aparecer una zona de sombra cerca del suelo.</a:t>
            </a:r>
          </a:p>
        </p:txBody>
      </p:sp>
      <p:sp>
        <p:nvSpPr>
          <p:cNvPr id="14" name="wind-key">
            <a:extLst xmlns:a="http://schemas.openxmlformats.org/drawingml/2006/main">
              <a:ext uri="{FF2B5EF4-FFF2-40B4-BE49-F238E27FC236}">
                <a16:creationId xmlns:a16="http://schemas.microsoft.com/office/drawing/2014/main" id="{60896798-C3A7-4A62-8B3C-DA998AA0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Importa el gradiente de viento y la dirección de propagación, no solo “cuánto viento hay”.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892D51-F7FA-421F-B170-60AE60E1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0C2B889-BFEE-4D8E-B173-65625559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79E73A6-6892-4A32-8CF9-9A6F1598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9438AB8-CDCC-4D9D-B0EE-851E8F70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14F9662-8BF5-4A44-81DF-47750F93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F7AB31-9BCE-4729-A81F-082D1895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y densidad cambian juntas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394A91-6FE3-4312-9871-C9EC0346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Ecuación conceptual</a:t>
            </a:r>
          </a:p>
        </p:txBody>
      </p:sp>
      <p:sp>
        <p:nvSpPr>
          <p:cNvPr id="7" name="U09-DG-021-equation-anchor">
            <a:extLst xmlns:a="http://schemas.openxmlformats.org/drawingml/2006/main">
              <a:ext uri="{FF2B5EF4-FFF2-40B4-BE49-F238E27FC236}">
                <a16:creationId xmlns:a16="http://schemas.microsoft.com/office/drawing/2014/main" id="{24525D88-D582-4977-8C25-7247522C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1-callout_1-anchor">
            <a:extLst xmlns:a="http://schemas.openxmlformats.org/drawingml/2006/main">
              <a:ext uri="{FF2B5EF4-FFF2-40B4-BE49-F238E27FC236}">
                <a16:creationId xmlns:a16="http://schemas.microsoft.com/office/drawing/2014/main" id="{13FC4B34-4381-4153-A31F-CD0E6823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1-callout_2-anchor">
            <a:extLst xmlns:a="http://schemas.openxmlformats.org/drawingml/2006/main">
              <a:ext uri="{FF2B5EF4-FFF2-40B4-BE49-F238E27FC236}">
                <a16:creationId xmlns:a16="http://schemas.microsoft.com/office/drawing/2014/main" id="{F5B12090-3EAC-4D42-8048-94DB3ED3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1-callout_3-anchor">
            <a:extLst xmlns:a="http://schemas.openxmlformats.org/drawingml/2006/main">
              <a:ext uri="{FF2B5EF4-FFF2-40B4-BE49-F238E27FC236}">
                <a16:creationId xmlns:a16="http://schemas.microsoft.com/office/drawing/2014/main" id="{72CCC094-774E-47AA-8BC7-DAD8C7CC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1-callout_4-anchor">
            <a:extLst xmlns:a="http://schemas.openxmlformats.org/drawingml/2006/main">
              <a:ext uri="{FF2B5EF4-FFF2-40B4-BE49-F238E27FC236}">
                <a16:creationId xmlns:a16="http://schemas.microsoft.com/office/drawing/2014/main" id="{7D763674-B8AD-461E-835F-552C4920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21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21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21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21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1-visual-alt" descr="Balanza conceptual de variables; U09-DG-021, candidata para diagram-generation. La composición permite reconocer que c = √(γ pₐ/ρₐ) no autoriza a variar pₐ dejando implícitamente fija ρₐ.">
            <a:extLst xmlns:a="http://schemas.openxmlformats.org/drawingml/2006/main">
              <a:ext uri="{FF2B5EF4-FFF2-40B4-BE49-F238E27FC236}">
                <a16:creationId xmlns:a16="http://schemas.microsoft.com/office/drawing/2014/main" id="{063834D5-C948-4B40-B024-7803ED96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21-equation-text">
            <a:extLst xmlns:a="http://schemas.openxmlformats.org/drawingml/2006/main">
              <a:ext uri="{FF2B5EF4-FFF2-40B4-BE49-F238E27FC236}">
                <a16:creationId xmlns:a16="http://schemas.microsoft.com/office/drawing/2014/main" id="{816F3A68-4F69-4857-9AEA-6AE051F5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c=√(γpₐ/ρₐ)</a:t>
            </a:r>
          </a:p>
        </p:txBody>
      </p:sp>
      <p:sp>
        <p:nvSpPr>
          <p:cNvPr id="18" name="U09-DG-021-callout_1-box">
            <a:extLst xmlns:a="http://schemas.openxmlformats.org/drawingml/2006/main">
              <a:ext uri="{FF2B5EF4-FFF2-40B4-BE49-F238E27FC236}">
                <a16:creationId xmlns:a16="http://schemas.microsoft.com/office/drawing/2014/main" id="{83E1A0E1-DCDD-416E-8811-02051F62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21-callout_1-text">
            <a:extLst xmlns:a="http://schemas.openxmlformats.org/drawingml/2006/main">
              <a:ext uri="{FF2B5EF4-FFF2-40B4-BE49-F238E27FC236}">
                <a16:creationId xmlns:a16="http://schemas.microsoft.com/office/drawing/2014/main" id="{AEFEA931-40BD-48FB-9064-C2DB5508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γ: cociente térmico</a:t>
            </a:r>
          </a:p>
        </p:txBody>
      </p:sp>
      <p:sp>
        <p:nvSpPr>
          <p:cNvPr id="20" name="U09-DG-021-callout_2-box">
            <a:extLst xmlns:a="http://schemas.openxmlformats.org/drawingml/2006/main">
              <a:ext uri="{FF2B5EF4-FFF2-40B4-BE49-F238E27FC236}">
                <a16:creationId xmlns:a16="http://schemas.microsoft.com/office/drawing/2014/main" id="{62960FB5-F85E-45D7-A9C6-87FF4A79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21-callout_2-text">
            <a:extLst xmlns:a="http://schemas.openxmlformats.org/drawingml/2006/main">
              <a:ext uri="{FF2B5EF4-FFF2-40B4-BE49-F238E27FC236}">
                <a16:creationId xmlns:a16="http://schemas.microsoft.com/office/drawing/2014/main" id="{D2933B31-31B2-4AD9-B985-D44018D8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pₐ: presión</a:t>
            </a:r>
          </a:p>
        </p:txBody>
      </p:sp>
      <p:sp>
        <p:nvSpPr>
          <p:cNvPr id="22" name="U09-DG-021-callout_3-box">
            <a:extLst xmlns:a="http://schemas.openxmlformats.org/drawingml/2006/main">
              <a:ext uri="{FF2B5EF4-FFF2-40B4-BE49-F238E27FC236}">
                <a16:creationId xmlns:a16="http://schemas.microsoft.com/office/drawing/2014/main" id="{51BC29B3-92F2-45BF-911F-19D89AEE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21-callout_3-text">
            <a:extLst xmlns:a="http://schemas.openxmlformats.org/drawingml/2006/main">
              <a:ext uri="{FF2B5EF4-FFF2-40B4-BE49-F238E27FC236}">
                <a16:creationId xmlns:a16="http://schemas.microsoft.com/office/drawing/2014/main" id="{BAE1B841-3226-410F-A286-CC3BA12D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ρₐ: densidad</a:t>
            </a:r>
          </a:p>
        </p:txBody>
      </p:sp>
      <p:sp>
        <p:nvSpPr>
          <p:cNvPr id="24" name="U09-DG-021-callout_4-box">
            <a:extLst xmlns:a="http://schemas.openxmlformats.org/drawingml/2006/main">
              <a:ext uri="{FF2B5EF4-FFF2-40B4-BE49-F238E27FC236}">
                <a16:creationId xmlns:a16="http://schemas.microsoft.com/office/drawing/2014/main" id="{5DFE7D99-3F74-4CFC-8E75-9C207B6C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21-callout_4-text">
            <a:extLst xmlns:a="http://schemas.openxmlformats.org/drawingml/2006/main">
              <a:ext uri="{FF2B5EF4-FFF2-40B4-BE49-F238E27FC236}">
                <a16:creationId xmlns:a16="http://schemas.microsoft.com/office/drawing/2014/main" id="{703045E3-84D2-4238-B7E5-EB91E4A9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Qué variable se fija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2631CA30-6C6D-44B9-8B72-33D9A821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c = √(γ pₐ/ρₐ) no autoriza a variar pₐ dejando implícitamente fija ρₐ. · U09-DG-021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F31F627-F5D9-4595-AEAA-9846D84C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3657EFF4-7927-48D1-BD58-FF827A15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0106C73-E79F-42B1-9A64-963785EE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1ABC16C-59A6-4485-B99F-19A010AC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8F7BD4A-6AB0-433D-9A9A-9E478FA1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F81B17-A431-4A6F-9DD2-8A3E6ECE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Altitud y humedad: no hay una resta universal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F6C836-750C-449A-8E55-2C30AF75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Ampliación</a:t>
            </a:r>
          </a:p>
        </p:txBody>
      </p:sp>
      <p:sp>
        <p:nvSpPr>
          <p:cNvPr id="7" name="U09-DG-022-concept_1-anchor">
            <a:extLst xmlns:a="http://schemas.openxmlformats.org/drawingml/2006/main">
              <a:ext uri="{FF2B5EF4-FFF2-40B4-BE49-F238E27FC236}">
                <a16:creationId xmlns:a16="http://schemas.microsoft.com/office/drawing/2014/main" id="{77993C57-8516-464B-A813-5AE0F020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2-concept_2-anchor">
            <a:extLst xmlns:a="http://schemas.openxmlformats.org/drawingml/2006/main">
              <a:ext uri="{FF2B5EF4-FFF2-40B4-BE49-F238E27FC236}">
                <a16:creationId xmlns:a16="http://schemas.microsoft.com/office/drawing/2014/main" id="{E3D3787E-1A9F-4E3F-82FD-F3BF50F9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2-concept_3-anchor">
            <a:extLst xmlns:a="http://schemas.openxmlformats.org/drawingml/2006/main">
              <a:ext uri="{FF2B5EF4-FFF2-40B4-BE49-F238E27FC236}">
                <a16:creationId xmlns:a16="http://schemas.microsoft.com/office/drawing/2014/main" id="{FFD0BF8D-A14D-429A-8F3B-05B2A4EB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2-concept_4-anchor">
            <a:extLst xmlns:a="http://schemas.openxmlformats.org/drawingml/2006/main">
              <a:ext uri="{FF2B5EF4-FFF2-40B4-BE49-F238E27FC236}">
                <a16:creationId xmlns:a16="http://schemas.microsoft.com/office/drawing/2014/main" id="{253231A6-3B54-496D-9E49-1D8AECC6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2-concept_5-anchor">
            <a:extLst xmlns:a="http://schemas.openxmlformats.org/drawingml/2006/main">
              <a:ext uri="{FF2B5EF4-FFF2-40B4-BE49-F238E27FC236}">
                <a16:creationId xmlns:a16="http://schemas.microsoft.com/office/drawing/2014/main" id="{A0DEEA10-D9E9-4F77-A949-174BF771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22-concept_6-anchor">
            <a:extLst xmlns:a="http://schemas.openxmlformats.org/drawingml/2006/main">
              <a:ext uri="{FF2B5EF4-FFF2-40B4-BE49-F238E27FC236}">
                <a16:creationId xmlns:a16="http://schemas.microsoft.com/office/drawing/2014/main" id="{365CB1E5-4969-4659-AA2D-9B7F11FE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22-visual-alt" descr="U09-DG-022, candidata para diagram-generation. La composición permite reconocer que altitud, temperatura, humedad, presión y densidad actúan de forma relacionada.">
            <a:extLst xmlns:a="http://schemas.openxmlformats.org/drawingml/2006/main">
              <a:ext uri="{FF2B5EF4-FFF2-40B4-BE49-F238E27FC236}">
                <a16:creationId xmlns:a16="http://schemas.microsoft.com/office/drawing/2014/main" id="{203F7593-D554-44F3-9624-985E32FE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22-concept_1-text">
            <a:extLst xmlns:a="http://schemas.openxmlformats.org/drawingml/2006/main">
              <a:ext uri="{FF2B5EF4-FFF2-40B4-BE49-F238E27FC236}">
                <a16:creationId xmlns:a16="http://schemas.microsoft.com/office/drawing/2014/main" id="{8775FE4F-06CD-4143-B2CC-96CB283C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Altitud</a:t>
            </a:r>
          </a:p>
        </p:txBody>
      </p:sp>
      <p:sp>
        <p:nvSpPr>
          <p:cNvPr id="15" name="U09-DG-022-concept_2-box">
            <a:extLst xmlns:a="http://schemas.openxmlformats.org/drawingml/2006/main">
              <a:ext uri="{FF2B5EF4-FFF2-40B4-BE49-F238E27FC236}">
                <a16:creationId xmlns:a16="http://schemas.microsoft.com/office/drawing/2014/main" id="{B7F8C075-241F-4D50-9CD3-4C41EB5B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22-concept_2-text">
            <a:extLst xmlns:a="http://schemas.openxmlformats.org/drawingml/2006/main">
              <a:ext uri="{FF2B5EF4-FFF2-40B4-BE49-F238E27FC236}">
                <a16:creationId xmlns:a16="http://schemas.microsoft.com/office/drawing/2014/main" id="{C33CB51C-98A0-4A0F-A25E-DAAFD202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Humedad</a:t>
            </a:r>
          </a:p>
        </p:txBody>
      </p:sp>
      <p:sp>
        <p:nvSpPr>
          <p:cNvPr id="17" name="U09-DG-022-concept_3-box">
            <a:extLst xmlns:a="http://schemas.openxmlformats.org/drawingml/2006/main">
              <a:ext uri="{FF2B5EF4-FFF2-40B4-BE49-F238E27FC236}">
                <a16:creationId xmlns:a16="http://schemas.microsoft.com/office/drawing/2014/main" id="{EC1DF549-5C12-4695-9CC3-E12D8AB3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22-concept_3-text">
            <a:extLst xmlns:a="http://schemas.openxmlformats.org/drawingml/2006/main">
              <a:ext uri="{FF2B5EF4-FFF2-40B4-BE49-F238E27FC236}">
                <a16:creationId xmlns:a16="http://schemas.microsoft.com/office/drawing/2014/main" id="{57D18F65-5AB4-4620-982E-EB38F266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y densidad</a:t>
            </a:r>
          </a:p>
        </p:txBody>
      </p:sp>
      <p:sp>
        <p:nvSpPr>
          <p:cNvPr id="19" name="U09-DG-022-concept_4-box">
            <a:extLst xmlns:a="http://schemas.openxmlformats.org/drawingml/2006/main">
              <a:ext uri="{FF2B5EF4-FFF2-40B4-BE49-F238E27FC236}">
                <a16:creationId xmlns:a16="http://schemas.microsoft.com/office/drawing/2014/main" id="{E6D98B60-7F88-40E6-B2D4-9FDF329D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22-concept_4-text">
            <a:extLst xmlns:a="http://schemas.openxmlformats.org/drawingml/2006/main">
              <a:ext uri="{FF2B5EF4-FFF2-40B4-BE49-F238E27FC236}">
                <a16:creationId xmlns:a16="http://schemas.microsoft.com/office/drawing/2014/main" id="{D0B71180-00F8-46B0-A818-B9BC071F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Temperatura</a:t>
            </a:r>
          </a:p>
        </p:txBody>
      </p:sp>
      <p:sp>
        <p:nvSpPr>
          <p:cNvPr id="21" name="U09-DG-022-concept_5-box">
            <a:extLst xmlns:a="http://schemas.openxmlformats.org/drawingml/2006/main">
              <a:ext uri="{FF2B5EF4-FFF2-40B4-BE49-F238E27FC236}">
                <a16:creationId xmlns:a16="http://schemas.microsoft.com/office/drawing/2014/main" id="{F47036B6-269C-47C1-B516-478FC55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22-concept_5-text">
            <a:extLst xmlns:a="http://schemas.openxmlformats.org/drawingml/2006/main">
              <a:ext uri="{FF2B5EF4-FFF2-40B4-BE49-F238E27FC236}">
                <a16:creationId xmlns:a16="http://schemas.microsoft.com/office/drawing/2014/main" id="{B5C3F73E-E99E-4295-AE83-39717E34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Datos necesarios</a:t>
            </a:r>
          </a:p>
        </p:txBody>
      </p:sp>
      <p:sp>
        <p:nvSpPr>
          <p:cNvPr id="23" name="U09-DG-022-concept_6-box">
            <a:extLst xmlns:a="http://schemas.openxmlformats.org/drawingml/2006/main">
              <a:ext uri="{FF2B5EF4-FFF2-40B4-BE49-F238E27FC236}">
                <a16:creationId xmlns:a16="http://schemas.microsoft.com/office/drawing/2014/main" id="{537DDAD2-8773-46B2-9C77-B72D7548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22-concept_6-text">
            <a:extLst xmlns:a="http://schemas.openxmlformats.org/drawingml/2006/main">
              <a:ext uri="{FF2B5EF4-FFF2-40B4-BE49-F238E27FC236}">
                <a16:creationId xmlns:a16="http://schemas.microsoft.com/office/drawing/2014/main" id="{3D0F6E09-DFF7-433A-8034-E6CC97C8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No concluye por sí solo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69076722-1063-489F-9218-3C50CC6E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altitud, temperatura, humedad, presión y densidad actúan de forma relacionada. · U09-DG-022 · UCASAL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A1551B-339A-4A76-A33B-4A8E8552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BD0E8637-C191-40EA-85DE-014BF11F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B144680-4470-4C67-B43C-66EEB49D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FBD83E2-903C-402E-AB24-80B92B1B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641D3D9-82CC-4D8A-BBE6-9A47ECDB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7DE279-BB8B-416C-AA90-4D96E048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Absorción atmosférica no es divergencia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1D3873-B268-466C-B97F-7537D43F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Modelo conceptual</a:t>
            </a:r>
          </a:p>
        </p:txBody>
      </p:sp>
      <p:sp>
        <p:nvSpPr>
          <p:cNvPr id="7" name="U09-030-claim-alt" descr="Ecuación estructural y comparación; U09-DG-023, candidata para diagram-generation. La composición permite reconocer que la divergencia redistribuye energía; la atmósfera puede disiparla de modo dependiente de frecuencia y estado.">
            <a:extLst xmlns:a="http://schemas.openxmlformats.org/drawingml/2006/main">
              <a:ext uri="{FF2B5EF4-FFF2-40B4-BE49-F238E27FC236}">
                <a16:creationId xmlns:a16="http://schemas.microsoft.com/office/drawing/2014/main" id="{A5642D84-2C16-4FC2-B6F6-6231580A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2DD7DA3B-C017-4CA9-B50D-4047B412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DE7C3DE9-91C8-4BF3-BDDA-C552A427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Divergencia geométrica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4D83D015-3E23-4A25-8D38-8FCB4A25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Redistribuye la energía en una superficie cada vez mayor. En campo libre: −6 dB por duplicar la distancia.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2B85F71D-2CC4-4CB2-9128-DC18F173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478FC3D2-24F1-4D6D-AAD8-7BF01DF1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Absorción atmosférica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DDB51379-2EE0-44B1-A52F-9CDF3927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Convierte parte de la energía acústica en calor. Depende de frecuencia, temperatura, humedad, presión y distancia.</a:t>
            </a:r>
          </a:p>
        </p:txBody>
      </p:sp>
      <p:sp>
        <p:nvSpPr>
          <p:cNvPr id="14" name="loss-key">
            <a:extLst xmlns:a="http://schemas.openxmlformats.org/drawingml/2006/main">
              <a:ext uri="{FF2B5EF4-FFF2-40B4-BE49-F238E27FC236}">
                <a16:creationId xmlns:a16="http://schemas.microsoft.com/office/drawing/2014/main" id="{54B36296-E6E9-41DF-BF65-D227A81E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Ambos efectos pueden acumularse, pero describen mecanismos físicos diferentes.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5197F7-787C-4878-88C3-95579A31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C6009F9A-7A63-4656-8269-473CDD9B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173EB99-5E4C-4844-980E-B0B8D51D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8004B12-437F-468C-B0C3-9EC37911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54317A4-8DBF-43DF-A5E0-EB3772A2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6F8A74-008B-44BC-A1D8-BF6D2C7C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Turbulencia: variabilidad, no corrección fija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4C28D6-D683-4CC3-ABDB-F4538042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Ampliación</a:t>
            </a:r>
          </a:p>
        </p:txBody>
      </p:sp>
      <p:sp>
        <p:nvSpPr>
          <p:cNvPr id="7" name="U09-DG-024-source-anchor">
            <a:extLst xmlns:a="http://schemas.openxmlformats.org/drawingml/2006/main">
              <a:ext uri="{FF2B5EF4-FFF2-40B4-BE49-F238E27FC236}">
                <a16:creationId xmlns:a16="http://schemas.microsoft.com/office/drawing/2014/main" id="{67131145-D760-4DB7-9F8E-7CEEC114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4-path_upper-anchor">
            <a:extLst xmlns:a="http://schemas.openxmlformats.org/drawingml/2006/main">
              <a:ext uri="{FF2B5EF4-FFF2-40B4-BE49-F238E27FC236}">
                <a16:creationId xmlns:a16="http://schemas.microsoft.com/office/drawing/2014/main" id="{6D4C47DD-F6B0-4B44-BDF0-D04F60B4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4-path_lower-anchor">
            <a:extLst xmlns:a="http://schemas.openxmlformats.org/drawingml/2006/main">
              <a:ext uri="{FF2B5EF4-FFF2-40B4-BE49-F238E27FC236}">
                <a16:creationId xmlns:a16="http://schemas.microsoft.com/office/drawing/2014/main" id="{495E0776-BACA-4006-A4E9-6EC02885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4-receiver-anchor">
            <a:extLst xmlns:a="http://schemas.openxmlformats.org/drawingml/2006/main">
              <a:ext uri="{FF2B5EF4-FFF2-40B4-BE49-F238E27FC236}">
                <a16:creationId xmlns:a16="http://schemas.microsoft.com/office/drawing/2014/main" id="{3A7B0E8D-6E11-41E6-A616-5BE0A575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4-condition-anchor">
            <a:extLst xmlns:a="http://schemas.openxmlformats.org/drawingml/2006/main">
              <a:ext uri="{FF2B5EF4-FFF2-40B4-BE49-F238E27FC236}">
                <a16:creationId xmlns:a16="http://schemas.microsoft.com/office/drawing/2014/main" id="{C9725C2E-AFF3-4B09-B133-CA737EEB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24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24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24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24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4-visual-alt" descr="U09-DG-024, candidata para diagram-generation. La composición permite reconocer que un medio variable puede producir dispersión temporal y fluctuación del nivel.">
            <a:extLst xmlns:a="http://schemas.openxmlformats.org/drawingml/2006/main">
              <a:ext uri="{FF2B5EF4-FFF2-40B4-BE49-F238E27FC236}">
                <a16:creationId xmlns:a16="http://schemas.microsoft.com/office/drawing/2014/main" id="{370739C4-C402-476C-8914-2B502F8B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24-source-text">
            <a:extLst xmlns:a="http://schemas.openxmlformats.org/drawingml/2006/main">
              <a:ext uri="{FF2B5EF4-FFF2-40B4-BE49-F238E27FC236}">
                <a16:creationId xmlns:a16="http://schemas.microsoft.com/office/drawing/2014/main" id="{C76F0873-37FF-447A-B487-6022177A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Esquema cualitativo</a:t>
            </a:r>
          </a:p>
        </p:txBody>
      </p:sp>
      <p:sp>
        <p:nvSpPr>
          <p:cNvPr id="18" name="U09-DG-024-path_upper-box">
            <a:extLst xmlns:a="http://schemas.openxmlformats.org/drawingml/2006/main">
              <a:ext uri="{FF2B5EF4-FFF2-40B4-BE49-F238E27FC236}">
                <a16:creationId xmlns:a16="http://schemas.microsoft.com/office/drawing/2014/main" id="{D432D838-507F-49A3-A7CB-D0623D7F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24-path_upper-text">
            <a:extLst xmlns:a="http://schemas.openxmlformats.org/drawingml/2006/main">
              <a:ext uri="{FF2B5EF4-FFF2-40B4-BE49-F238E27FC236}">
                <a16:creationId xmlns:a16="http://schemas.microsoft.com/office/drawing/2014/main" id="{A894A337-030A-4AD1-97E5-6816BF66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registro fluctuante</a:t>
            </a:r>
          </a:p>
        </p:txBody>
      </p:sp>
      <p:sp>
        <p:nvSpPr>
          <p:cNvPr id="20" name="U09-DG-024-path_lower-box">
            <a:extLst xmlns:a="http://schemas.openxmlformats.org/drawingml/2006/main">
              <a:ext uri="{FF2B5EF4-FFF2-40B4-BE49-F238E27FC236}">
                <a16:creationId xmlns:a16="http://schemas.microsoft.com/office/drawing/2014/main" id="{EAAA80BC-09A7-4214-98D9-29447161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24-path_lower-text">
            <a:extLst xmlns:a="http://schemas.openxmlformats.org/drawingml/2006/main">
              <a:ext uri="{FF2B5EF4-FFF2-40B4-BE49-F238E27FC236}">
                <a16:creationId xmlns:a16="http://schemas.microsoft.com/office/drawing/2014/main" id="{FFD3993E-462E-4B5C-A271-02FC84C3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modelo numérico</a:t>
            </a:r>
          </a:p>
        </p:txBody>
      </p:sp>
      <p:sp>
        <p:nvSpPr>
          <p:cNvPr id="22" name="U09-DG-024-receiver-box">
            <a:extLst xmlns:a="http://schemas.openxmlformats.org/drawingml/2006/main">
              <a:ext uri="{FF2B5EF4-FFF2-40B4-BE49-F238E27FC236}">
                <a16:creationId xmlns:a16="http://schemas.microsoft.com/office/drawing/2014/main" id="{E7D94EAC-620D-4AE9-8B3C-0B3C76C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24-receiver-text">
            <a:extLst xmlns:a="http://schemas.openxmlformats.org/drawingml/2006/main">
              <a:ext uri="{FF2B5EF4-FFF2-40B4-BE49-F238E27FC236}">
                <a16:creationId xmlns:a16="http://schemas.microsoft.com/office/drawing/2014/main" id="{3A5A8871-04F5-4F20-9959-D7996660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Turbulencia cualitativa</a:t>
            </a:r>
          </a:p>
        </p:txBody>
      </p:sp>
      <p:sp>
        <p:nvSpPr>
          <p:cNvPr id="24" name="U09-DG-024-condition-box">
            <a:extLst xmlns:a="http://schemas.openxmlformats.org/drawingml/2006/main">
              <a:ext uri="{FF2B5EF4-FFF2-40B4-BE49-F238E27FC236}">
                <a16:creationId xmlns:a16="http://schemas.microsoft.com/office/drawing/2014/main" id="{F611DD06-FE9A-4B84-8F12-D6A76308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24-condition-text">
            <a:extLst xmlns:a="http://schemas.openxmlformats.org/drawingml/2006/main">
              <a:ext uri="{FF2B5EF4-FFF2-40B4-BE49-F238E27FC236}">
                <a16:creationId xmlns:a16="http://schemas.microsoft.com/office/drawing/2014/main" id="{A9C634A1-9784-4ECE-A82D-5670D8AE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 declaradas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F7335A7F-0094-428C-8843-4DA1FC27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un medio variable puede producir dispersión temporal y fluctuación del nivel. · U09-DG-024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58E6924-16E5-47A5-BDB2-0543713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50523E3A-3FDF-4E49-BAE1-F6C325F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FB66664-1342-4C2C-91E7-DCE603D4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D4D1A06-0B6D-4091-9712-84B550F9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4541D2C-5D98-4DAB-A906-1DD2C157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5022AE-B46F-4068-A8FA-357F835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registrar antes de comparar mediciones exteriores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89CCC78-4670-43E9-BCFB-6723CA96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Aplicación</a:t>
            </a:r>
          </a:p>
        </p:txBody>
      </p:sp>
      <p:sp>
        <p:nvSpPr>
          <p:cNvPr id="7" name="U09-DG-025-concept_1-anchor">
            <a:extLst xmlns:a="http://schemas.openxmlformats.org/drawingml/2006/main">
              <a:ext uri="{FF2B5EF4-FFF2-40B4-BE49-F238E27FC236}">
                <a16:creationId xmlns:a16="http://schemas.microsoft.com/office/drawing/2014/main" id="{AB9270DD-1F9D-46CE-85ED-083046A5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5-concept_2-anchor">
            <a:extLst xmlns:a="http://schemas.openxmlformats.org/drawingml/2006/main">
              <a:ext uri="{FF2B5EF4-FFF2-40B4-BE49-F238E27FC236}">
                <a16:creationId xmlns:a16="http://schemas.microsoft.com/office/drawing/2014/main" id="{53F89523-7BE9-456C-9AFC-AB110970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5-concept_3-anchor">
            <a:extLst xmlns:a="http://schemas.openxmlformats.org/drawingml/2006/main">
              <a:ext uri="{FF2B5EF4-FFF2-40B4-BE49-F238E27FC236}">
                <a16:creationId xmlns:a16="http://schemas.microsoft.com/office/drawing/2014/main" id="{EB8969CD-9437-4F26-A8AA-3B5F85A7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5-concept_4-anchor">
            <a:extLst xmlns:a="http://schemas.openxmlformats.org/drawingml/2006/main">
              <a:ext uri="{FF2B5EF4-FFF2-40B4-BE49-F238E27FC236}">
                <a16:creationId xmlns:a16="http://schemas.microsoft.com/office/drawing/2014/main" id="{3343D7D9-B9FE-4A1D-826A-1D68993E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5-concept_5-anchor">
            <a:extLst xmlns:a="http://schemas.openxmlformats.org/drawingml/2006/main">
              <a:ext uri="{FF2B5EF4-FFF2-40B4-BE49-F238E27FC236}">
                <a16:creationId xmlns:a16="http://schemas.microsoft.com/office/drawing/2014/main" id="{3797D220-7EFF-4704-A97A-09A6B824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25-concept_6-anchor">
            <a:extLst xmlns:a="http://schemas.openxmlformats.org/drawingml/2006/main">
              <a:ext uri="{FF2B5EF4-FFF2-40B4-BE49-F238E27FC236}">
                <a16:creationId xmlns:a16="http://schemas.microsoft.com/office/drawing/2014/main" id="{435BEB9C-175D-42A3-B1A8-0F187A4A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25-concept_7-anchor">
            <a:extLst xmlns:a="http://schemas.openxmlformats.org/drawingml/2006/main">
              <a:ext uri="{FF2B5EF4-FFF2-40B4-BE49-F238E27FC236}">
                <a16:creationId xmlns:a16="http://schemas.microsoft.com/office/drawing/2014/main" id="{8897AE36-D4F2-4A94-992E-A3152040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25-concept_8-anchor">
            <a:extLst xmlns:a="http://schemas.openxmlformats.org/drawingml/2006/main">
              <a:ext uri="{FF2B5EF4-FFF2-40B4-BE49-F238E27FC236}">
                <a16:creationId xmlns:a16="http://schemas.microsoft.com/office/drawing/2014/main" id="{2E00E8CC-C427-47B7-A1A3-786B0494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U09-DG-025-visual-alt" descr="Ficha de campo editable; U09-DG-025, candidata para diagram-generation. La composición permite reconocer que sin geometría y estado atmosférico, dos mediciones pueden no ser comparables.">
            <a:extLst xmlns:a="http://schemas.openxmlformats.org/drawingml/2006/main">
              <a:ext uri="{FF2B5EF4-FFF2-40B4-BE49-F238E27FC236}">
                <a16:creationId xmlns:a16="http://schemas.microsoft.com/office/drawing/2014/main" id="{77656BD9-F0C2-4F2E-8381-B21F8182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09-DG-025-concept_1-text">
            <a:extLst xmlns:a="http://schemas.openxmlformats.org/drawingml/2006/main">
              <a:ext uri="{FF2B5EF4-FFF2-40B4-BE49-F238E27FC236}">
                <a16:creationId xmlns:a16="http://schemas.microsoft.com/office/drawing/2014/main" id="{DFE16D2A-7237-41CF-A670-8C3EF151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Checklist: distancias</a:t>
            </a:r>
          </a:p>
        </p:txBody>
      </p:sp>
      <p:sp>
        <p:nvSpPr>
          <p:cNvPr id="17" name="U09-DG-025-concept_2-box">
            <a:extLst xmlns:a="http://schemas.openxmlformats.org/drawingml/2006/main">
              <a:ext uri="{FF2B5EF4-FFF2-40B4-BE49-F238E27FC236}">
                <a16:creationId xmlns:a16="http://schemas.microsoft.com/office/drawing/2014/main" id="{10734C5D-CBCA-4929-ADA7-63F5E33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09-DG-025-concept_2-text">
            <a:extLst xmlns:a="http://schemas.openxmlformats.org/drawingml/2006/main">
              <a:ext uri="{FF2B5EF4-FFF2-40B4-BE49-F238E27FC236}">
                <a16:creationId xmlns:a16="http://schemas.microsoft.com/office/drawing/2014/main" id="{62623A65-C1E2-4DF6-B4EB-AFD3458E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alturas</a:t>
            </a:r>
          </a:p>
        </p:txBody>
      </p:sp>
      <p:sp>
        <p:nvSpPr>
          <p:cNvPr id="19" name="U09-DG-025-concept_3-box">
            <a:extLst xmlns:a="http://schemas.openxmlformats.org/drawingml/2006/main">
              <a:ext uri="{FF2B5EF4-FFF2-40B4-BE49-F238E27FC236}">
                <a16:creationId xmlns:a16="http://schemas.microsoft.com/office/drawing/2014/main" id="{AC1E106A-4278-40C6-95BB-B60E7254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09-DG-025-concept_3-text">
            <a:extLst xmlns:a="http://schemas.openxmlformats.org/drawingml/2006/main">
              <a:ext uri="{FF2B5EF4-FFF2-40B4-BE49-F238E27FC236}">
                <a16:creationId xmlns:a16="http://schemas.microsoft.com/office/drawing/2014/main" id="{7C4F8BAF-1790-48FC-9B0D-8FA4EC19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dirección</a:t>
            </a:r>
          </a:p>
        </p:txBody>
      </p:sp>
      <p:sp>
        <p:nvSpPr>
          <p:cNvPr id="21" name="U09-DG-025-concept_4-box">
            <a:extLst xmlns:a="http://schemas.openxmlformats.org/drawingml/2006/main">
              <a:ext uri="{FF2B5EF4-FFF2-40B4-BE49-F238E27FC236}">
                <a16:creationId xmlns:a16="http://schemas.microsoft.com/office/drawing/2014/main" id="{FA2CDAFC-6DF2-4380-96DA-47E36ABB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09-DG-025-concept_4-text">
            <a:extLst xmlns:a="http://schemas.openxmlformats.org/drawingml/2006/main">
              <a:ext uri="{FF2B5EF4-FFF2-40B4-BE49-F238E27FC236}">
                <a16:creationId xmlns:a16="http://schemas.microsoft.com/office/drawing/2014/main" id="{BB7143CA-0001-40E5-B8DE-BB31B134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temperatura</a:t>
            </a:r>
          </a:p>
        </p:txBody>
      </p:sp>
      <p:sp>
        <p:nvSpPr>
          <p:cNvPr id="23" name="U09-DG-025-concept_5-box">
            <a:extLst xmlns:a="http://schemas.openxmlformats.org/drawingml/2006/main">
              <a:ext uri="{FF2B5EF4-FFF2-40B4-BE49-F238E27FC236}">
                <a16:creationId xmlns:a16="http://schemas.microsoft.com/office/drawing/2014/main" id="{B443C57B-C3C6-40A3-A9D7-DDBBF5B0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09-DG-025-concept_5-text">
            <a:extLst xmlns:a="http://schemas.openxmlformats.org/drawingml/2006/main">
              <a:ext uri="{FF2B5EF4-FFF2-40B4-BE49-F238E27FC236}">
                <a16:creationId xmlns:a16="http://schemas.microsoft.com/office/drawing/2014/main" id="{4F34A009-1C49-4A6C-85A8-F4BCDBDE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viento</a:t>
            </a:r>
          </a:p>
        </p:txBody>
      </p:sp>
      <p:sp>
        <p:nvSpPr>
          <p:cNvPr id="25" name="U09-DG-025-concept_6-box">
            <a:extLst xmlns:a="http://schemas.openxmlformats.org/drawingml/2006/main">
              <a:ext uri="{FF2B5EF4-FFF2-40B4-BE49-F238E27FC236}">
                <a16:creationId xmlns:a16="http://schemas.microsoft.com/office/drawing/2014/main" id="{32009A44-1349-4F34-B39C-1FC992FE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6" name="U09-DG-025-concept_6-text">
            <a:extLst xmlns:a="http://schemas.openxmlformats.org/drawingml/2006/main">
              <a:ext uri="{FF2B5EF4-FFF2-40B4-BE49-F238E27FC236}">
                <a16:creationId xmlns:a16="http://schemas.microsoft.com/office/drawing/2014/main" id="{E1B68E92-9808-4EEB-8172-6CBFC8C4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humedad</a:t>
            </a:r>
          </a:p>
        </p:txBody>
      </p:sp>
      <p:sp>
        <p:nvSpPr>
          <p:cNvPr id="27" name="U09-DG-025-concept_7-box">
            <a:extLst xmlns:a="http://schemas.openxmlformats.org/drawingml/2006/main">
              <a:ext uri="{FF2B5EF4-FFF2-40B4-BE49-F238E27FC236}">
                <a16:creationId xmlns:a16="http://schemas.microsoft.com/office/drawing/2014/main" id="{B70C17E5-03A6-4FF7-B7F8-03AA01B7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09-DG-025-concept_7-text">
            <a:extLst xmlns:a="http://schemas.openxmlformats.org/drawingml/2006/main">
              <a:ext uri="{FF2B5EF4-FFF2-40B4-BE49-F238E27FC236}">
                <a16:creationId xmlns:a16="http://schemas.microsoft.com/office/drawing/2014/main" id="{37F2DE41-BBBE-4ACF-A74F-4EDE9E88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9" name="U09-DG-025-concept_8-box">
            <a:extLst xmlns:a="http://schemas.openxmlformats.org/drawingml/2006/main">
              <a:ext uri="{FF2B5EF4-FFF2-40B4-BE49-F238E27FC236}">
                <a16:creationId xmlns:a16="http://schemas.microsoft.com/office/drawing/2014/main" id="{0BCCE7C3-6288-497C-AEBA-51C9489C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30" name="U09-DG-025-concept_8-text">
            <a:extLst xmlns:a="http://schemas.openxmlformats.org/drawingml/2006/main">
              <a:ext uri="{FF2B5EF4-FFF2-40B4-BE49-F238E27FC236}">
                <a16:creationId xmlns:a16="http://schemas.microsoft.com/office/drawing/2014/main" id="{1BC488CD-B8A2-4EF5-BCD4-F1287BD8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suelo</a:t>
            </a:r>
          </a:p>
        </p:txBody>
      </p:sp>
      <p:sp>
        <p:nvSpPr>
          <p:cNvPr id="31" name="caption">
            <a:extLst xmlns:a="http://schemas.openxmlformats.org/drawingml/2006/main">
              <a:ext uri="{FF2B5EF4-FFF2-40B4-BE49-F238E27FC236}">
                <a16:creationId xmlns:a16="http://schemas.microsoft.com/office/drawing/2014/main" id="{00268C6F-B627-4E1A-8DFB-E43AF552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sin geometría y estado atmosférico, dos mediciones pueden no ser comparables. · U09-DG-025 · UCASAL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DC1FE0C-EC9B-4EF5-96EE-5E7593EC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95CD35F7-E83E-4959-BD57-2237015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7E5ADD8-FE4F-4957-9D48-0C92AF5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179E62B-E93B-4F35-81A6-DCFFC156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5E25F92-EC21-4F1C-A23E-94FE08F7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4F4938-125B-4891-BC5E-20F3C357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efectos, cuatro respuestas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C742051-F36A-4A3C-97B3-5F3C7E43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Recapitulación y actividad</a:t>
            </a:r>
          </a:p>
        </p:txBody>
      </p:sp>
      <p:sp>
        <p:nvSpPr>
          <p:cNvPr id="7" name="U09-DG-026-concept_1-anchor">
            <a:extLst xmlns:a="http://schemas.openxmlformats.org/drawingml/2006/main">
              <a:ext uri="{FF2B5EF4-FFF2-40B4-BE49-F238E27FC236}">
                <a16:creationId xmlns:a16="http://schemas.microsoft.com/office/drawing/2014/main" id="{12937D7A-3E96-423E-846A-3AB37548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6-concept_2-anchor">
            <a:extLst xmlns:a="http://schemas.openxmlformats.org/drawingml/2006/main">
              <a:ext uri="{FF2B5EF4-FFF2-40B4-BE49-F238E27FC236}">
                <a16:creationId xmlns:a16="http://schemas.microsoft.com/office/drawing/2014/main" id="{CCCE56D7-0474-4EDA-81D0-4B66B13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6-concept_3-anchor">
            <a:extLst xmlns:a="http://schemas.openxmlformats.org/drawingml/2006/main">
              <a:ext uri="{FF2B5EF4-FFF2-40B4-BE49-F238E27FC236}">
                <a16:creationId xmlns:a16="http://schemas.microsoft.com/office/drawing/2014/main" id="{215B141B-85FF-46A4-90EE-14FAD1D5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6-concept_4-anchor">
            <a:extLst xmlns:a="http://schemas.openxmlformats.org/drawingml/2006/main">
              <a:ext uri="{FF2B5EF4-FFF2-40B4-BE49-F238E27FC236}">
                <a16:creationId xmlns:a16="http://schemas.microsoft.com/office/drawing/2014/main" id="{1799CD7F-BC80-4422-8B22-521E13CF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6-concept_5-anchor">
            <a:extLst xmlns:a="http://schemas.openxmlformats.org/drawingml/2006/main">
              <a:ext uri="{FF2B5EF4-FFF2-40B4-BE49-F238E27FC236}">
                <a16:creationId xmlns:a16="http://schemas.microsoft.com/office/drawing/2014/main" id="{249D6CAC-1494-44B1-A933-F707C41C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26-concept_6-anchor">
            <a:extLst xmlns:a="http://schemas.openxmlformats.org/drawingml/2006/main">
              <a:ext uri="{FF2B5EF4-FFF2-40B4-BE49-F238E27FC236}">
                <a16:creationId xmlns:a16="http://schemas.microsoft.com/office/drawing/2014/main" id="{3C9D4BD3-5B62-4048-BA47-4891D09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26-visual-alt" descr="U09-DG-026, candidata para diagram-generation. La composición permite reconocer que temperatura, viento, presión/densidad y absorción no cambian la misma magnitud ni del mismo modo.">
            <a:extLst xmlns:a="http://schemas.openxmlformats.org/drawingml/2006/main">
              <a:ext uri="{FF2B5EF4-FFF2-40B4-BE49-F238E27FC236}">
                <a16:creationId xmlns:a16="http://schemas.microsoft.com/office/drawing/2014/main" id="{CD80D26E-9741-4286-8358-30067D6C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26-concept_1-text">
            <a:extLst xmlns:a="http://schemas.openxmlformats.org/drawingml/2006/main">
              <a:ext uri="{FF2B5EF4-FFF2-40B4-BE49-F238E27FC236}">
                <a16:creationId xmlns:a16="http://schemas.microsoft.com/office/drawing/2014/main" id="{298EA766-AA40-41C1-91DE-5214A578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Casos</a:t>
            </a:r>
          </a:p>
        </p:txBody>
      </p:sp>
      <p:sp>
        <p:nvSpPr>
          <p:cNvPr id="15" name="U09-DG-026-concept_2-box">
            <a:extLst xmlns:a="http://schemas.openxmlformats.org/drawingml/2006/main">
              <a:ext uri="{FF2B5EF4-FFF2-40B4-BE49-F238E27FC236}">
                <a16:creationId xmlns:a16="http://schemas.microsoft.com/office/drawing/2014/main" id="{C10BFD6A-1FC5-4AD4-9B7C-F2729A80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26-concept_2-text">
            <a:extLst xmlns:a="http://schemas.openxmlformats.org/drawingml/2006/main">
              <a:ext uri="{FF2B5EF4-FFF2-40B4-BE49-F238E27FC236}">
                <a16:creationId xmlns:a16="http://schemas.microsoft.com/office/drawing/2014/main" id="{9310F2FB-EB62-44D5-A3BC-298EB351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columnas c</a:t>
            </a:r>
          </a:p>
        </p:txBody>
      </p:sp>
      <p:sp>
        <p:nvSpPr>
          <p:cNvPr id="17" name="U09-DG-026-concept_3-box">
            <a:extLst xmlns:a="http://schemas.openxmlformats.org/drawingml/2006/main">
              <a:ext uri="{FF2B5EF4-FFF2-40B4-BE49-F238E27FC236}">
                <a16:creationId xmlns:a16="http://schemas.microsoft.com/office/drawing/2014/main" id="{F066FB9A-B9CE-4D1B-B941-16DFE01B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26-concept_3-text">
            <a:extLst xmlns:a="http://schemas.openxmlformats.org/drawingml/2006/main">
              <a:ext uri="{FF2B5EF4-FFF2-40B4-BE49-F238E27FC236}">
                <a16:creationId xmlns:a16="http://schemas.microsoft.com/office/drawing/2014/main" id="{E761DC44-8464-4273-94BA-D5E59893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</a:t>
            </a:r>
          </a:p>
        </p:txBody>
      </p:sp>
      <p:sp>
        <p:nvSpPr>
          <p:cNvPr id="19" name="U09-DG-026-concept_4-box">
            <a:extLst xmlns:a="http://schemas.openxmlformats.org/drawingml/2006/main">
              <a:ext uri="{FF2B5EF4-FFF2-40B4-BE49-F238E27FC236}">
                <a16:creationId xmlns:a16="http://schemas.microsoft.com/office/drawing/2014/main" id="{21D74F1D-6538-4CBD-80F0-614A1DF2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26-concept_4-text">
            <a:extLst xmlns:a="http://schemas.openxmlformats.org/drawingml/2006/main">
              <a:ext uri="{FF2B5EF4-FFF2-40B4-BE49-F238E27FC236}">
                <a16:creationId xmlns:a16="http://schemas.microsoft.com/office/drawing/2014/main" id="{6AEE8631-5A16-431C-8452-A9953C28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trayectoria</a:t>
            </a:r>
          </a:p>
        </p:txBody>
      </p:sp>
      <p:sp>
        <p:nvSpPr>
          <p:cNvPr id="21" name="U09-DG-026-concept_5-box">
            <a:extLst xmlns:a="http://schemas.openxmlformats.org/drawingml/2006/main">
              <a:ext uri="{FF2B5EF4-FFF2-40B4-BE49-F238E27FC236}">
                <a16:creationId xmlns:a16="http://schemas.microsoft.com/office/drawing/2014/main" id="{C26B9C79-0BA8-4DC8-97FB-F091825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26-concept_5-text">
            <a:extLst xmlns:a="http://schemas.openxmlformats.org/drawingml/2006/main">
              <a:ext uri="{FF2B5EF4-FFF2-40B4-BE49-F238E27FC236}">
                <a16:creationId xmlns:a16="http://schemas.microsoft.com/office/drawing/2014/main" id="{8D98E61B-DC0B-4039-9AEC-220961C2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Lₚ</a:t>
            </a:r>
          </a:p>
        </p:txBody>
      </p:sp>
      <p:sp>
        <p:nvSpPr>
          <p:cNvPr id="23" name="U09-DG-026-concept_6-box">
            <a:extLst xmlns:a="http://schemas.openxmlformats.org/drawingml/2006/main">
              <a:ext uri="{FF2B5EF4-FFF2-40B4-BE49-F238E27FC236}">
                <a16:creationId xmlns:a16="http://schemas.microsoft.com/office/drawing/2014/main" id="{5C15AB6B-C587-46F5-AB7E-FDC15B51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26-concept_6-text">
            <a:extLst xmlns:a="http://schemas.openxmlformats.org/drawingml/2006/main">
              <a:ext uri="{FF2B5EF4-FFF2-40B4-BE49-F238E27FC236}">
                <a16:creationId xmlns:a16="http://schemas.microsoft.com/office/drawing/2014/main" id="{77ECE4E9-BB72-4FFA-A9F5-7123CBCB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“no concluye”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2F21C52A-545D-47A8-A7FC-3F84679B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temperatura, viento, presión/densidad y absorción no cambian la misma magnitud ni del mismo modo. · U09-DG-026 · UCASAL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698533-20CF-4A5D-A651-8B79DD05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2F476626-C11F-4858-86FB-CDD7ECCA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A3D81F12-388B-48C3-8AD0-BD9862C7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¿Adónde va la energía incidente?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BADDD09A-B34A-4797-BD8B-0417FBA4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Una superficie puede reflejar, absorber y transmitir simultáneamente.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8EDBB7-F8A4-4B4C-B7B7-0AA6C480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B50B648-8001-47F0-9504-2DA8581E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D071D12-DC99-4B7D-ACF4-02DCE85D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5E44E4F-06E5-4BBB-A641-D6CA685E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080555D-00A6-458A-81FA-F510DBC8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D4030E-5D62-4B0C-A13F-6CB47D13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destinos simultáneos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AEC25C-F82B-46C9-A138-FF5DDBD9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Diagrama conceptual</a:t>
            </a:r>
          </a:p>
        </p:txBody>
      </p:sp>
      <p:sp>
        <p:nvSpPr>
          <p:cNvPr id="7" name="U09-DG-027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FD55BDCD-E4E8-4C33-A2DA-3A76E15C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7-branch_1-anchor">
            <a:extLst xmlns:a="http://schemas.openxmlformats.org/drawingml/2006/main">
              <a:ext uri="{FF2B5EF4-FFF2-40B4-BE49-F238E27FC236}">
                <a16:creationId xmlns:a16="http://schemas.microsoft.com/office/drawing/2014/main" id="{9E2BD392-37BD-4411-817F-64A18270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7-branch_2-anchor">
            <a:extLst xmlns:a="http://schemas.openxmlformats.org/drawingml/2006/main">
              <a:ext uri="{FF2B5EF4-FFF2-40B4-BE49-F238E27FC236}">
                <a16:creationId xmlns:a16="http://schemas.microsoft.com/office/drawing/2014/main" id="{CCB4D086-3DB5-4EA4-9524-7E3B240B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7-branch_3-anchor">
            <a:extLst xmlns:a="http://schemas.openxmlformats.org/drawingml/2006/main">
              <a:ext uri="{FF2B5EF4-FFF2-40B4-BE49-F238E27FC236}">
                <a16:creationId xmlns:a16="http://schemas.microsoft.com/office/drawing/2014/main" id="{E2A7A725-CFBD-49DD-ACCA-F2897076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7-branch_4-anchor">
            <a:extLst xmlns:a="http://schemas.openxmlformats.org/drawingml/2006/main">
              <a:ext uri="{FF2B5EF4-FFF2-40B4-BE49-F238E27FC236}">
                <a16:creationId xmlns:a16="http://schemas.microsoft.com/office/drawing/2014/main" id="{895A4C95-4D1B-4A15-BAAD-C614B3DA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27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875187"/>
            <a:ext cx="2891790" cy="13395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27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859310"/>
            <a:ext cx="2891790" cy="35537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27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62874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27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16128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7-visual-alt" descr="U09-DG-027, candidata para diagram-generation, reconstrucción de figura 9.3. La composición permite reconocer que reflexión, absorción y transmisión son fracciones del mismo incidente.">
            <a:extLst xmlns:a="http://schemas.openxmlformats.org/drawingml/2006/main">
              <a:ext uri="{FF2B5EF4-FFF2-40B4-BE49-F238E27FC236}">
                <a16:creationId xmlns:a16="http://schemas.microsoft.com/office/drawing/2014/main" id="{6CA0D490-4632-4C1F-AD67-99E232BB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27-branch_source-text">
            <a:extLst xmlns:a="http://schemas.openxmlformats.org/drawingml/2006/main">
              <a:ext uri="{FF2B5EF4-FFF2-40B4-BE49-F238E27FC236}">
                <a16:creationId xmlns:a16="http://schemas.microsoft.com/office/drawing/2014/main" id="{9016ADD4-EA8A-4B4B-B162-7DB00A31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Energía incidente</a:t>
            </a:r>
          </a:p>
        </p:txBody>
      </p:sp>
      <p:sp>
        <p:nvSpPr>
          <p:cNvPr id="18" name="U09-DG-027-branch_1-box">
            <a:extLst xmlns:a="http://schemas.openxmlformats.org/drawingml/2006/main">
              <a:ext uri="{FF2B5EF4-FFF2-40B4-BE49-F238E27FC236}">
                <a16:creationId xmlns:a16="http://schemas.microsoft.com/office/drawing/2014/main" id="{9CF5F770-151E-49FD-AB59-83EE34AD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27-branch_1-text">
            <a:extLst xmlns:a="http://schemas.openxmlformats.org/drawingml/2006/main">
              <a:ext uri="{FF2B5EF4-FFF2-40B4-BE49-F238E27FC236}">
                <a16:creationId xmlns:a16="http://schemas.microsoft.com/office/drawing/2014/main" id="{48315840-5BBE-4C05-9232-C979E01A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6297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Reflejada Rₑ</a:t>
            </a:r>
          </a:p>
        </p:txBody>
      </p:sp>
      <p:sp>
        <p:nvSpPr>
          <p:cNvPr id="20" name="U09-DG-027-branch_2-box">
            <a:extLst xmlns:a="http://schemas.openxmlformats.org/drawingml/2006/main">
              <a:ext uri="{FF2B5EF4-FFF2-40B4-BE49-F238E27FC236}">
                <a16:creationId xmlns:a16="http://schemas.microsoft.com/office/drawing/2014/main" id="{A94B3673-E53E-4E4D-B729-125B7FB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27-branch_2-text">
            <a:extLst xmlns:a="http://schemas.openxmlformats.org/drawingml/2006/main">
              <a:ext uri="{FF2B5EF4-FFF2-40B4-BE49-F238E27FC236}">
                <a16:creationId xmlns:a16="http://schemas.microsoft.com/office/drawing/2014/main" id="{3EA4C393-0FB3-4BE0-AF03-A2283749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420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Absorbida α</a:t>
            </a:r>
          </a:p>
        </p:txBody>
      </p:sp>
      <p:sp>
        <p:nvSpPr>
          <p:cNvPr id="22" name="U09-DG-027-branch_3-box">
            <a:extLst xmlns:a="http://schemas.openxmlformats.org/drawingml/2006/main">
              <a:ext uri="{FF2B5EF4-FFF2-40B4-BE49-F238E27FC236}">
                <a16:creationId xmlns:a16="http://schemas.microsoft.com/office/drawing/2014/main" id="{36B74F1F-E916-4D91-AA01-57A631DC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27-branch_3-text">
            <a:extLst xmlns:a="http://schemas.openxmlformats.org/drawingml/2006/main">
              <a:ext uri="{FF2B5EF4-FFF2-40B4-BE49-F238E27FC236}">
                <a16:creationId xmlns:a16="http://schemas.microsoft.com/office/drawing/2014/main" id="{B867A344-2880-4ABD-BE43-5F2C46D9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4543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Transmitida τₑ</a:t>
            </a:r>
          </a:p>
        </p:txBody>
      </p:sp>
      <p:sp>
        <p:nvSpPr>
          <p:cNvPr id="24" name="U09-DG-027-branch_4-box">
            <a:extLst xmlns:a="http://schemas.openxmlformats.org/drawingml/2006/main">
              <a:ext uri="{FF2B5EF4-FFF2-40B4-BE49-F238E27FC236}">
                <a16:creationId xmlns:a16="http://schemas.microsoft.com/office/drawing/2014/main" id="{29924786-3A34-4617-8B75-FB9582E6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27-branch_4-text">
            <a:extLst xmlns:a="http://schemas.openxmlformats.org/drawingml/2006/main">
              <a:ext uri="{FF2B5EF4-FFF2-40B4-BE49-F238E27FC236}">
                <a16:creationId xmlns:a16="http://schemas.microsoft.com/office/drawing/2014/main" id="{3FC36857-8AD7-4939-BDA4-F09D3333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8666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Balance = 1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A0CEDCDD-8068-4728-8C73-A902F6A1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reflexión, absorción y transmisión son fracciones del mismo incidente. · U09-DG-027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8BB4F49-102B-4F3C-A960-1FA2CB3D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D5439847-1C5E-4B33-81C5-4373068C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D1B5ACB-FCE4-400F-8FC2-1C4B6593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C466F94-CC5F-40D2-A6AA-AADBE6A3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B7D3207-E47C-4239-82F6-063F4428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77E7B3-6354-4A91-B03A-217C3F40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balance debe cerrar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D50DF5C-79E3-4665-87E8-C0CEA26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Ecuación anotada</a:t>
            </a:r>
          </a:p>
        </p:txBody>
      </p:sp>
      <p:sp>
        <p:nvSpPr>
          <p:cNvPr id="7" name="U09-DG-028-equation-anchor">
            <a:extLst xmlns:a="http://schemas.openxmlformats.org/drawingml/2006/main">
              <a:ext uri="{FF2B5EF4-FFF2-40B4-BE49-F238E27FC236}">
                <a16:creationId xmlns:a16="http://schemas.microsoft.com/office/drawing/2014/main" id="{51CB82B8-B577-41AB-B06A-72C46DC5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8-callout_1-anchor">
            <a:extLst xmlns:a="http://schemas.openxmlformats.org/drawingml/2006/main">
              <a:ext uri="{FF2B5EF4-FFF2-40B4-BE49-F238E27FC236}">
                <a16:creationId xmlns:a16="http://schemas.microsoft.com/office/drawing/2014/main" id="{B7C08455-A553-45F2-8DFA-D5A72229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8-callout_2-anchor">
            <a:extLst xmlns:a="http://schemas.openxmlformats.org/drawingml/2006/main">
              <a:ext uri="{FF2B5EF4-FFF2-40B4-BE49-F238E27FC236}">
                <a16:creationId xmlns:a16="http://schemas.microsoft.com/office/drawing/2014/main" id="{76582B08-4DC0-4773-A64E-4DBD49C0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8-callout_3-anchor">
            <a:extLst xmlns:a="http://schemas.openxmlformats.org/drawingml/2006/main">
              <a:ext uri="{FF2B5EF4-FFF2-40B4-BE49-F238E27FC236}">
                <a16:creationId xmlns:a16="http://schemas.microsoft.com/office/drawing/2014/main" id="{9574ED1A-4C4D-4091-8BE8-48E298C7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8-callout_4-anchor">
            <a:extLst xmlns:a="http://schemas.openxmlformats.org/drawingml/2006/main">
              <a:ext uri="{FF2B5EF4-FFF2-40B4-BE49-F238E27FC236}">
                <a16:creationId xmlns:a16="http://schemas.microsoft.com/office/drawing/2014/main" id="{232C94B8-11BC-44A8-88A7-462B4A3F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28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28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28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28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8-visual-alt" descr="U09-DG-028, candidata para diagram-generation. La composición permite reconocer que para fracciones energéticas ideales, r_e + α + τ_e = 1.">
            <a:extLst xmlns:a="http://schemas.openxmlformats.org/drawingml/2006/main">
              <a:ext uri="{FF2B5EF4-FFF2-40B4-BE49-F238E27FC236}">
                <a16:creationId xmlns:a16="http://schemas.microsoft.com/office/drawing/2014/main" id="{0BAA8692-E496-41B4-B540-D34AE4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28-equation-text">
            <a:extLst xmlns:a="http://schemas.openxmlformats.org/drawingml/2006/main">
              <a:ext uri="{FF2B5EF4-FFF2-40B4-BE49-F238E27FC236}">
                <a16:creationId xmlns:a16="http://schemas.microsoft.com/office/drawing/2014/main" id="{DC96D69A-9F40-40B9-86F2-1FE77E2A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Rₑ+α+τₑ=1</a:t>
            </a:r>
          </a:p>
        </p:txBody>
      </p:sp>
      <p:sp>
        <p:nvSpPr>
          <p:cNvPr id="18" name="U09-DG-028-callout_1-box">
            <a:extLst xmlns:a="http://schemas.openxmlformats.org/drawingml/2006/main">
              <a:ext uri="{FF2B5EF4-FFF2-40B4-BE49-F238E27FC236}">
                <a16:creationId xmlns:a16="http://schemas.microsoft.com/office/drawing/2014/main" id="{63EFCFB5-79E4-48BD-ACFF-A8924E87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28-callout_1-text">
            <a:extLst xmlns:a="http://schemas.openxmlformats.org/drawingml/2006/main">
              <a:ext uri="{FF2B5EF4-FFF2-40B4-BE49-F238E27FC236}">
                <a16:creationId xmlns:a16="http://schemas.microsoft.com/office/drawing/2014/main" id="{7514176C-3040-4D56-BE8E-411F7B50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Ecuación</a:t>
            </a:r>
          </a:p>
        </p:txBody>
      </p:sp>
      <p:sp>
        <p:nvSpPr>
          <p:cNvPr id="20" name="U09-DG-028-callout_2-box">
            <a:extLst xmlns:a="http://schemas.openxmlformats.org/drawingml/2006/main">
              <a:ext uri="{FF2B5EF4-FFF2-40B4-BE49-F238E27FC236}">
                <a16:creationId xmlns:a16="http://schemas.microsoft.com/office/drawing/2014/main" id="{6F735A78-B163-4BE1-A481-763D79AF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28-callout_2-text">
            <a:extLst xmlns:a="http://schemas.openxmlformats.org/drawingml/2006/main">
              <a:ext uri="{FF2B5EF4-FFF2-40B4-BE49-F238E27FC236}">
                <a16:creationId xmlns:a16="http://schemas.microsoft.com/office/drawing/2014/main" id="{703A3008-A5D7-4113-BF43-281471B8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intervalo 0–1</a:t>
            </a:r>
          </a:p>
        </p:txBody>
      </p:sp>
      <p:sp>
        <p:nvSpPr>
          <p:cNvPr id="22" name="U09-DG-028-callout_3-box">
            <a:extLst xmlns:a="http://schemas.openxmlformats.org/drawingml/2006/main">
              <a:ext uri="{FF2B5EF4-FFF2-40B4-BE49-F238E27FC236}">
                <a16:creationId xmlns:a16="http://schemas.microsoft.com/office/drawing/2014/main" id="{F2866C16-49A2-4582-8845-7539A329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28-callout_3-text">
            <a:extLst xmlns:a="http://schemas.openxmlformats.org/drawingml/2006/main">
              <a:ext uri="{FF2B5EF4-FFF2-40B4-BE49-F238E27FC236}">
                <a16:creationId xmlns:a16="http://schemas.microsoft.com/office/drawing/2014/main" id="{19E65A80-581F-41AA-9F76-A9D0CE74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significado de cada</a:t>
            </a:r>
          </a:p>
        </p:txBody>
      </p:sp>
      <p:sp>
        <p:nvSpPr>
          <p:cNvPr id="24" name="U09-DG-028-callout_4-box">
            <a:extLst xmlns:a="http://schemas.openxmlformats.org/drawingml/2006/main">
              <a:ext uri="{FF2B5EF4-FFF2-40B4-BE49-F238E27FC236}">
                <a16:creationId xmlns:a16="http://schemas.microsoft.com/office/drawing/2014/main" id="{AF0A22F2-F380-4D57-A279-8E5A1705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28-callout_4-text">
            <a:extLst xmlns:a="http://schemas.openxmlformats.org/drawingml/2006/main">
              <a:ext uri="{FF2B5EF4-FFF2-40B4-BE49-F238E27FC236}">
                <a16:creationId xmlns:a16="http://schemas.microsoft.com/office/drawing/2014/main" id="{78A057D0-E36C-4FA2-B239-4C0CA61A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parcial 0,55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41DA8DB8-D279-431C-A886-08D2720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para fracciones energéticas ideales, r_e + α + τ_e = 1. · U09-DG-028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117E987-C192-4EFC-A350-084EC5F5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A2DABB7B-C236-45F9-9AAF-89EE0A41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A9377CC-393F-47ED-B420-999712A6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4B0803B-CB81-4089-9A85-1E56D6D3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2DD10C9-5C73-43D3-8DE1-317D052A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06A8D8-30CE-4E98-B0E3-37F71E39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fracción falta?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E7F13E1-C899-4E3F-9A77-75CE909C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Mini ejercicio</a:t>
            </a:r>
          </a:p>
        </p:txBody>
      </p:sp>
      <p:sp>
        <p:nvSpPr>
          <p:cNvPr id="7" name="U09-037-claim-alt" descr="Tarjeta de cálculo y diagrama reducido. La composición permite reconocer que el resultado numérico solo tiene sentido si cada coeficiente refiere a la misma energía incidente.">
            <a:extLst xmlns:a="http://schemas.openxmlformats.org/drawingml/2006/main">
              <a:ext uri="{FF2B5EF4-FFF2-40B4-BE49-F238E27FC236}">
                <a16:creationId xmlns:a16="http://schemas.microsoft.com/office/drawing/2014/main" id="{8406D4A5-101D-4F6E-BA30-A8AFA4F5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lance-heading">
            <a:extLst xmlns:a="http://schemas.openxmlformats.org/drawingml/2006/main">
              <a:ext uri="{FF2B5EF4-FFF2-40B4-BE49-F238E27FC236}">
                <a16:creationId xmlns:a16="http://schemas.microsoft.com/office/drawing/2014/main" id="{2392D870-5285-4EF9-999E-75BCF33D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Balance energético en una interfaz</a:t>
            </a:r>
          </a:p>
        </p:txBody>
      </p:sp>
      <p:sp>
        <p:nvSpPr>
          <p:cNvPr id="9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F770570B-DB9E-4B18-B9DD-784C2044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333750" cy="2238375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0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4901ADBB-6274-439A-B4ED-53C0DF7C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 1</a:t>
            </a:r>
          </a:p>
        </p:txBody>
      </p:sp>
      <p:sp>
        <p:nvSpPr>
          <p:cNvPr id="11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0563AD64-60BC-4717-84EC-9DB3F721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9146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Reflexión R = 0,55</a:t>
            </a:r>
          </a:p>
        </p:txBody>
      </p:sp>
      <p:sp>
        <p:nvSpPr>
          <p:cNvPr id="12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E4E39667-1E09-4BE5-8C4F-589753ED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33625"/>
            <a:ext cx="3333750" cy="2238375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3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C67EB836-4431-4684-85AA-4CDEB91F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050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Dato 2</a:t>
            </a:r>
          </a:p>
        </p:txBody>
      </p:sp>
      <p:sp>
        <p:nvSpPr>
          <p:cNvPr id="14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3C6FA921-DA8B-45B8-860E-56E582ED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19425"/>
            <a:ext cx="29146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Absorción α = 0,30</a:t>
            </a:r>
          </a:p>
        </p:txBody>
      </p:sp>
      <p:sp>
        <p:nvSpPr>
          <p:cNvPr id="15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32B3527D-B4F5-4EAB-B4F9-1566625B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33625"/>
            <a:ext cx="3333750" cy="2238375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6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96D15443-D5CC-4981-82C5-8CB726F5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050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Fracción transmitida</a:t>
            </a:r>
          </a:p>
        </p:txBody>
      </p:sp>
      <p:sp>
        <p:nvSpPr>
          <p:cNvPr id="17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260AC4CE-83D9-4797-B5DB-5C95A8C9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19425"/>
            <a:ext cx="29146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τ = 1 − R − α = 0,15</a:t>
            </a:r>
          </a:p>
        </p:txBody>
      </p:sp>
      <p:sp>
        <p:nvSpPr>
          <p:cNvPr id="18" name="balance-check">
            <a:extLst xmlns:a="http://schemas.openxmlformats.org/drawingml/2006/main">
              <a:ext uri="{FF2B5EF4-FFF2-40B4-BE49-F238E27FC236}">
                <a16:creationId xmlns:a16="http://schemas.microsoft.com/office/drawing/2014/main" id="{BC1207D9-9DAC-41FE-958B-4757EF2A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053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2F6F55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F6F55"/>
                </a:solidFill>
                <a:latin typeface="Calibri"/>
                <a:ea typeface="Calibri"/>
                <a:cs typeface="Calibri"/>
              </a:rPr>
              <a:t>Comprobación: 0,55 + 0,30 + 0,15 = 1,00.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9FB6453-1011-4479-9897-ABB76C14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BDFEA78C-EEDE-4635-8FD0-8BF795B7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140615E-9D19-416E-BBC6-BFD03B9B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788D744-2327-419E-8032-4AFE55F8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BC647BD-FA05-479F-9B81-6A379657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ADD541-1AC2-4945-A395-D1AD9DE4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Reflexión: cambia la dirección, no la identidad del mecanismo</a:t>
            </a:r>
          </a:p>
        </p:txBody>
      </p:sp>
      <p:sp>
        <p:nvSpPr>
          <p:cNvPr id="6" name="U09-038-claim-alt" descr="U09-DG-029, candidata para diagram-generation. La composición permite reconocer que en una interfaz, una parte de la energía retorna al medio de origen.">
            <a:extLst xmlns:a="http://schemas.openxmlformats.org/drawingml/2006/main">
              <a:ext uri="{FF2B5EF4-FFF2-40B4-BE49-F238E27FC236}">
                <a16:creationId xmlns:a16="http://schemas.microsoft.com/office/drawing/2014/main" id="{956FC712-5D34-4395-96D7-FD28D19C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2211D6A6-E070-4538-B4D0-37C21CBF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8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FC510313-9301-4086-B237-C07AB0D6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permanece</a:t>
            </a:r>
          </a:p>
        </p:txBody>
      </p:sp>
      <p:sp>
        <p:nvSpPr>
          <p:cNvPr id="9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87579225-AFA7-444D-A1FC-76562EE1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mecanismo sigue siendo reflexión: la onda regresa al medio de incidencia.</a:t>
            </a:r>
          </a:p>
        </p:txBody>
      </p:sp>
      <p:sp>
        <p:nvSpPr>
          <p:cNvPr id="10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39ECDF6A-7BA5-4188-8C04-8A3BD1D9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1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5D04003D-4F72-49FB-8E9E-26A14A30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Qué cambia</a:t>
            </a:r>
          </a:p>
        </p:txBody>
      </p:sp>
      <p:sp>
        <p:nvSpPr>
          <p:cNvPr id="12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7CDC826D-546A-4801-AB8E-CC9F4DC0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Cambia la dirección. En una superficie plana, el ángulo reflejado es igual al incidente, medidos desde la normal.</a:t>
            </a:r>
          </a:p>
        </p:txBody>
      </p:sp>
      <p:sp>
        <p:nvSpPr>
          <p:cNvPr id="13" name="reflection-sequence">
            <a:extLst xmlns:a="http://schemas.openxmlformats.org/drawingml/2006/main">
              <a:ext uri="{FF2B5EF4-FFF2-40B4-BE49-F238E27FC236}">
                <a16:creationId xmlns:a16="http://schemas.microsoft.com/office/drawing/2014/main" id="{526BDB06-CA1F-4CA7-BBC7-4C5EC829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863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Incidencia → superficie → reflexión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3BC833-230B-4A06-B7DD-B6EAB910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-1">
            <a:extLst xmlns:a="http://schemas.openxmlformats.org/drawingml/2006/main">
              <a:ext uri="{FF2B5EF4-FFF2-40B4-BE49-F238E27FC236}">
                <a16:creationId xmlns:a16="http://schemas.microsoft.com/office/drawing/2014/main" id="{DD6DBBEA-B10E-483E-8D76-6417197B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256A89E-4AD0-420C-A3E5-5551F5AA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455AC2B-FAA6-43AC-99EA-A44EAC1A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4DD4B0A-9A6E-47B4-ADC6-02FA0B4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C51A4F-E4B1-4265-8437-477BDD1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Reflexión, eco y reverberación no son sinónimos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9E395D-CAD7-41BF-86A8-5B5A7B48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Comparación temporal</a:t>
            </a:r>
          </a:p>
        </p:txBody>
      </p:sp>
      <p:sp>
        <p:nvSpPr>
          <p:cNvPr id="7" name="U09-039-claim-alt" descr="U09-CH-004 respuesta temporal conceptual, con anotaciones U09-DG-030. La composición permite reconocer que una reflexión es física; eco y reverberación describen patrones temporales/perceptuales distintos.">
            <a:extLst xmlns:a="http://schemas.openxmlformats.org/drawingml/2006/main">
              <a:ext uri="{FF2B5EF4-FFF2-40B4-BE49-F238E27FC236}">
                <a16:creationId xmlns:a16="http://schemas.microsoft.com/office/drawing/2014/main" id="{38E5BE75-A568-4A5A-877C-313F23EB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1A8DFA57-EA47-4290-9999-CBC8E598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A01B3F19-CBA9-4B5C-A092-383285F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Reflexión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C7ACED41-FAFC-4704-BD0D-B543486C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Fenómeno físico: parte de la energía vuelve al medio de origen.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E576BBAF-BDA1-4A33-B936-4C20B5ED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671A6508-783E-4927-974D-A5E9AB77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Eco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2F78A68A-AC7E-4153-8AB6-8A552A77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Reflexión distinguible temporalmente del sonido directo.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74B6F355-B874-4B5D-A7B1-102A61CC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9C892AE5-7B40-4D57-AA69-F5974BD5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Reverberación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0596D823-3832-4BE4-9D60-CE0B1EA5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Conjunto denso de reflexiones que prolonga el decaimiento sonoro.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34B8257-6A77-4EF1-81E9-E64F0282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FB463CC3-48DB-42E6-AC75-963E95A7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AFB2050-78BF-4F55-BBA5-8617C0C7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2098228-EBC9-41C0-8423-29E3DDB1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1C7348B-CCB1-486C-B69B-B12D7D72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C01B35-FB2B-46B1-B056-63CB29DB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Refracción en una interfaz aire–sólido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F496418-C26F-48E2-8B7E-BC4986D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Diagrama conceptual</a:t>
            </a:r>
          </a:p>
        </p:txBody>
      </p:sp>
      <p:sp>
        <p:nvSpPr>
          <p:cNvPr id="7" name="U09-DG-031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506209FF-C32F-415A-B3DF-7ECBBF8E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1-branch_1-anchor">
            <a:extLst xmlns:a="http://schemas.openxmlformats.org/drawingml/2006/main">
              <a:ext uri="{FF2B5EF4-FFF2-40B4-BE49-F238E27FC236}">
                <a16:creationId xmlns:a16="http://schemas.microsoft.com/office/drawing/2014/main" id="{F4E8EF4B-8236-419E-B967-89EA7509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1-branch_2-anchor">
            <a:extLst xmlns:a="http://schemas.openxmlformats.org/drawingml/2006/main">
              <a:ext uri="{FF2B5EF4-FFF2-40B4-BE49-F238E27FC236}">
                <a16:creationId xmlns:a16="http://schemas.microsoft.com/office/drawing/2014/main" id="{9505EAC4-FE56-4CC0-872C-32DCA76A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1-branch_3-anchor">
            <a:extLst xmlns:a="http://schemas.openxmlformats.org/drawingml/2006/main">
              <a:ext uri="{FF2B5EF4-FFF2-40B4-BE49-F238E27FC236}">
                <a16:creationId xmlns:a16="http://schemas.microsoft.com/office/drawing/2014/main" id="{CC750995-A5C1-4144-9CFA-BB81286B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1-branch_4-anchor">
            <a:extLst xmlns:a="http://schemas.openxmlformats.org/drawingml/2006/main">
              <a:ext uri="{FF2B5EF4-FFF2-40B4-BE49-F238E27FC236}">
                <a16:creationId xmlns:a16="http://schemas.microsoft.com/office/drawing/2014/main" id="{0411926C-3E94-43E6-97E0-E7E959F5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31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875187"/>
            <a:ext cx="2891790" cy="13395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31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859310"/>
            <a:ext cx="2891790" cy="35537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31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62874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31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16128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31-visual-alt" descr="U09-DG-031, candidata para diagram-generation. La composición permite reconocer que al transmitirse, una onda puede cambiar dirección y en un sólido pueden aparecer modos distintos.">
            <a:extLst xmlns:a="http://schemas.openxmlformats.org/drawingml/2006/main">
              <a:ext uri="{FF2B5EF4-FFF2-40B4-BE49-F238E27FC236}">
                <a16:creationId xmlns:a16="http://schemas.microsoft.com/office/drawing/2014/main" id="{B5157033-9F00-45BF-B5B9-CD10D35C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31-branch_source-text">
            <a:extLst xmlns:a="http://schemas.openxmlformats.org/drawingml/2006/main">
              <a:ext uri="{FF2B5EF4-FFF2-40B4-BE49-F238E27FC236}">
                <a16:creationId xmlns:a16="http://schemas.microsoft.com/office/drawing/2014/main" id="{5EFBB849-FE7B-4EBC-8512-B93EB9BC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Incidente</a:t>
            </a:r>
          </a:p>
        </p:txBody>
      </p:sp>
      <p:sp>
        <p:nvSpPr>
          <p:cNvPr id="18" name="U09-DG-031-branch_1-box">
            <a:extLst xmlns:a="http://schemas.openxmlformats.org/drawingml/2006/main">
              <a:ext uri="{FF2B5EF4-FFF2-40B4-BE49-F238E27FC236}">
                <a16:creationId xmlns:a16="http://schemas.microsoft.com/office/drawing/2014/main" id="{B7873C33-484E-4F28-9D55-8111AFC6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31-branch_1-text">
            <a:extLst xmlns:a="http://schemas.openxmlformats.org/drawingml/2006/main">
              <a:ext uri="{FF2B5EF4-FFF2-40B4-BE49-F238E27FC236}">
                <a16:creationId xmlns:a16="http://schemas.microsoft.com/office/drawing/2014/main" id="{D1634CD4-40E8-4599-A7DC-2AF59406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6297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Reflejada</a:t>
            </a:r>
          </a:p>
        </p:txBody>
      </p:sp>
      <p:sp>
        <p:nvSpPr>
          <p:cNvPr id="20" name="U09-DG-031-branch_2-box">
            <a:extLst xmlns:a="http://schemas.openxmlformats.org/drawingml/2006/main">
              <a:ext uri="{FF2B5EF4-FFF2-40B4-BE49-F238E27FC236}">
                <a16:creationId xmlns:a16="http://schemas.microsoft.com/office/drawing/2014/main" id="{C707568B-3E52-4B88-959E-18A4A2F6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31-branch_2-text">
            <a:extLst xmlns:a="http://schemas.openxmlformats.org/drawingml/2006/main">
              <a:ext uri="{FF2B5EF4-FFF2-40B4-BE49-F238E27FC236}">
                <a16:creationId xmlns:a16="http://schemas.microsoft.com/office/drawing/2014/main" id="{85397F1B-D124-46DF-895B-4C4AD3F4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420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Modo longitudinal</a:t>
            </a:r>
          </a:p>
        </p:txBody>
      </p:sp>
      <p:sp>
        <p:nvSpPr>
          <p:cNvPr id="22" name="U09-DG-031-branch_3-box">
            <a:extLst xmlns:a="http://schemas.openxmlformats.org/drawingml/2006/main">
              <a:ext uri="{FF2B5EF4-FFF2-40B4-BE49-F238E27FC236}">
                <a16:creationId xmlns:a16="http://schemas.microsoft.com/office/drawing/2014/main" id="{C9ED7285-483B-4BDF-9E27-2B51C7C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31-branch_3-text">
            <a:extLst xmlns:a="http://schemas.openxmlformats.org/drawingml/2006/main">
              <a:ext uri="{FF2B5EF4-FFF2-40B4-BE49-F238E27FC236}">
                <a16:creationId xmlns:a16="http://schemas.microsoft.com/office/drawing/2014/main" id="{DEEA59D0-81CB-486C-84D6-C4D7D3B7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4543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Modo transversal</a:t>
            </a:r>
          </a:p>
        </p:txBody>
      </p:sp>
      <p:sp>
        <p:nvSpPr>
          <p:cNvPr id="24" name="U09-DG-031-branch_4-box">
            <a:extLst xmlns:a="http://schemas.openxmlformats.org/drawingml/2006/main">
              <a:ext uri="{FF2B5EF4-FFF2-40B4-BE49-F238E27FC236}">
                <a16:creationId xmlns:a16="http://schemas.microsoft.com/office/drawing/2014/main" id="{479D8B30-4A06-4E52-BF30-C30E52A6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31-branch_4-text">
            <a:extLst xmlns:a="http://schemas.openxmlformats.org/drawingml/2006/main">
              <a:ext uri="{FF2B5EF4-FFF2-40B4-BE49-F238E27FC236}">
                <a16:creationId xmlns:a16="http://schemas.microsoft.com/office/drawing/2014/main" id="{F2DAAAC7-1118-47CA-B6A0-FE4A67F7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8666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Normal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807602F6-6A84-43E6-905F-5981A97D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al transmitirse, una onda puede cambiar dirección y en un sólido pueden aparecer modos distintos. · U09-DG-031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B519F44-F48C-49BE-9000-FB46BF5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67787507-A77B-43C6-963E-C13C1E6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AE3CD74-778E-40EC-BD40-D23680B4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777C83B-8568-436A-83CE-1B91C185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E6CF0C3-96A7-485E-B2CC-E09CE421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CDD9AF-E3C3-4582-80F8-95021306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Snell acústica: relación entre ángulos y rapidez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1AEC43-8FB4-4A0C-96A6-955084FD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Ampliación formal</a:t>
            </a:r>
          </a:p>
        </p:txBody>
      </p:sp>
      <p:sp>
        <p:nvSpPr>
          <p:cNvPr id="7" name="U09-041-claim-alt">
            <a:extLst xmlns:a="http://schemas.openxmlformats.org/drawingml/2006/main">
              <a:ext uri="{FF2B5EF4-FFF2-40B4-BE49-F238E27FC236}">
                <a16:creationId xmlns:a16="http://schemas.microsoft.com/office/drawing/2014/main" id="{4696CCBD-2846-492B-90B7-3F7CA203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A63AF3DD-73CD-41CC-993E-635C9FCF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FB86D67A-E98B-4E32-B4AC-D6A6AC16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Relación geométrica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D94E3CDE-F4DF-410C-99FC-18D92FB4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 atravesar una interfaz cambia la dirección transmitida cuando cambia la rapidez de fase. Los ángulos se miden desde la normal.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7225B1C9-5AC2-41AC-8FAD-646789FE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0B45842D-BF74-4A7F-991B-CDE1AE37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Lectura segura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3CE0DE52-1AC4-41F9-8E3B-3217D4F0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Mayor diferencia de rapidez implica mayor cambio angular. El esquema es cualitativo: no calcula conversión modal ni reemplaza una fuente normativa.</a:t>
            </a:r>
          </a:p>
        </p:txBody>
      </p:sp>
      <p:sp>
        <p:nvSpPr>
          <p:cNvPr id="14" name="snell-key">
            <a:extLst xmlns:a="http://schemas.openxmlformats.org/drawingml/2006/main">
              <a:ext uri="{FF2B5EF4-FFF2-40B4-BE49-F238E27FC236}">
                <a16:creationId xmlns:a16="http://schemas.microsoft.com/office/drawing/2014/main" id="{BA40FF56-E412-4D6D-BD54-414DEB67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Refracción = cambio de dirección por cambio de rapidez de propagación.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A3B9F0E-C194-40A9-8107-932E0C13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2F739EA5-7B75-4743-820D-F9D8AB1D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0C67D0C-1345-409C-A9FA-FF3E648A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4015FF4-8E0E-4F60-A688-38F33AC2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1566B1B-8A59-4A4F-8359-012DC4D8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77A1E6-73E8-479E-BB02-2906AABD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Difracción: la onda alcanza la “sombra”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0769D1C-4013-4678-92F5-C7BF1ACF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Definición visual</a:t>
            </a:r>
          </a:p>
        </p:txBody>
      </p:sp>
      <p:sp>
        <p:nvSpPr>
          <p:cNvPr id="7" name="U09-DG-033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BE8D9524-AE6F-42D4-A30B-36D0911E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3-branch_1-anchor">
            <a:extLst xmlns:a="http://schemas.openxmlformats.org/drawingml/2006/main">
              <a:ext uri="{FF2B5EF4-FFF2-40B4-BE49-F238E27FC236}">
                <a16:creationId xmlns:a16="http://schemas.microsoft.com/office/drawing/2014/main" id="{551A0292-1D4B-416F-B811-19779838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3-branch_2-anchor">
            <a:extLst xmlns:a="http://schemas.openxmlformats.org/drawingml/2006/main">
              <a:ext uri="{FF2B5EF4-FFF2-40B4-BE49-F238E27FC236}">
                <a16:creationId xmlns:a16="http://schemas.microsoft.com/office/drawing/2014/main" id="{0AA3549F-5C15-464A-85DA-BDA0C2D0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3-branch_3-anchor">
            <a:extLst xmlns:a="http://schemas.openxmlformats.org/drawingml/2006/main">
              <a:ext uri="{FF2B5EF4-FFF2-40B4-BE49-F238E27FC236}">
                <a16:creationId xmlns:a16="http://schemas.microsoft.com/office/drawing/2014/main" id="{50C5E8F5-E39C-4123-A288-747D6F6B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3-branch_4-anchor">
            <a:extLst xmlns:a="http://schemas.openxmlformats.org/drawingml/2006/main">
              <a:ext uri="{FF2B5EF4-FFF2-40B4-BE49-F238E27FC236}">
                <a16:creationId xmlns:a16="http://schemas.microsoft.com/office/drawing/2014/main" id="{B82EBAA1-B607-4297-BE94-30EACE5C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33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875187"/>
            <a:ext cx="2891790" cy="13395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33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859310"/>
            <a:ext cx="2891790" cy="35537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33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62874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33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16128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33-visual-alt" descr="U09-DG-033, candidata para diagram-generation. La composición permite reconocer que la importancia de la difracción depende de λ comparada con la escala geométrica.">
            <a:extLst xmlns:a="http://schemas.openxmlformats.org/drawingml/2006/main">
              <a:ext uri="{FF2B5EF4-FFF2-40B4-BE49-F238E27FC236}">
                <a16:creationId xmlns:a16="http://schemas.microsoft.com/office/drawing/2014/main" id="{1AE9DD86-1C07-467D-8B1A-06DBA506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33-branch_source-text">
            <a:extLst xmlns:a="http://schemas.openxmlformats.org/drawingml/2006/main">
              <a:ext uri="{FF2B5EF4-FFF2-40B4-BE49-F238E27FC236}">
                <a16:creationId xmlns:a16="http://schemas.microsoft.com/office/drawing/2014/main" id="{E3C1B0D1-C5DB-4CAD-9AA8-3DDE2D8C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Frente incidente</a:t>
            </a:r>
          </a:p>
        </p:txBody>
      </p:sp>
      <p:sp>
        <p:nvSpPr>
          <p:cNvPr id="18" name="U09-DG-033-branch_1-box">
            <a:extLst xmlns:a="http://schemas.openxmlformats.org/drawingml/2006/main">
              <a:ext uri="{FF2B5EF4-FFF2-40B4-BE49-F238E27FC236}">
                <a16:creationId xmlns:a16="http://schemas.microsoft.com/office/drawing/2014/main" id="{D006CD43-EC09-4078-9665-9F01F5FF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33-branch_1-text">
            <a:extLst xmlns:a="http://schemas.openxmlformats.org/drawingml/2006/main">
              <a:ext uri="{FF2B5EF4-FFF2-40B4-BE49-F238E27FC236}">
                <a16:creationId xmlns:a16="http://schemas.microsoft.com/office/drawing/2014/main" id="{81DFC716-8DDA-4574-9369-C47F3525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6297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Borde</a:t>
            </a:r>
          </a:p>
        </p:txBody>
      </p:sp>
      <p:sp>
        <p:nvSpPr>
          <p:cNvPr id="20" name="U09-DG-033-branch_2-box">
            <a:extLst xmlns:a="http://schemas.openxmlformats.org/drawingml/2006/main">
              <a:ext uri="{FF2B5EF4-FFF2-40B4-BE49-F238E27FC236}">
                <a16:creationId xmlns:a16="http://schemas.microsoft.com/office/drawing/2014/main" id="{39D8F227-988C-4549-9462-3E2E540B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33-branch_2-text">
            <a:extLst xmlns:a="http://schemas.openxmlformats.org/drawingml/2006/main">
              <a:ext uri="{FF2B5EF4-FFF2-40B4-BE49-F238E27FC236}">
                <a16:creationId xmlns:a16="http://schemas.microsoft.com/office/drawing/2014/main" id="{5CEA2A82-1988-4D0B-AB3A-5F109339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420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Sombra geométrica</a:t>
            </a:r>
          </a:p>
        </p:txBody>
      </p:sp>
      <p:sp>
        <p:nvSpPr>
          <p:cNvPr id="22" name="U09-DG-033-branch_3-box">
            <a:extLst xmlns:a="http://schemas.openxmlformats.org/drawingml/2006/main">
              <a:ext uri="{FF2B5EF4-FFF2-40B4-BE49-F238E27FC236}">
                <a16:creationId xmlns:a16="http://schemas.microsoft.com/office/drawing/2014/main" id="{AA62E8F9-FD78-4693-8745-9F6384B7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33-branch_3-text">
            <a:extLst xmlns:a="http://schemas.openxmlformats.org/drawingml/2006/main">
              <a:ext uri="{FF2B5EF4-FFF2-40B4-BE49-F238E27FC236}">
                <a16:creationId xmlns:a16="http://schemas.microsoft.com/office/drawing/2014/main" id="{DCFA9A40-BF37-4160-80B5-D2EECA17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4543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Frentes difractados</a:t>
            </a:r>
          </a:p>
        </p:txBody>
      </p:sp>
      <p:sp>
        <p:nvSpPr>
          <p:cNvPr id="24" name="U09-DG-033-branch_4-box">
            <a:extLst xmlns:a="http://schemas.openxmlformats.org/drawingml/2006/main">
              <a:ext uri="{FF2B5EF4-FFF2-40B4-BE49-F238E27FC236}">
                <a16:creationId xmlns:a16="http://schemas.microsoft.com/office/drawing/2014/main" id="{B2062AF1-9760-4A10-B478-57A9ABA2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33-branch_4-text">
            <a:extLst xmlns:a="http://schemas.openxmlformats.org/drawingml/2006/main">
              <a:ext uri="{FF2B5EF4-FFF2-40B4-BE49-F238E27FC236}">
                <a16:creationId xmlns:a16="http://schemas.microsoft.com/office/drawing/2014/main" id="{2D42E5FC-7B7A-458D-BDC8-B9F4D68F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8666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2858695B-B508-4ED5-A322-C74C4555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importancia de la difracción depende de λ comparada con la escala geométrica. · U09-DG-033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8B9E8F-5D5E-4B03-AB17-A4C6BA87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34A0DFBF-7349-4F96-859D-8C1B3834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90E873C-4D1A-4A4C-9B22-A400E71B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EE6CC81-1265-47A5-8777-FA8E4FCE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C6A53C3-19A3-4E44-B9CA-D2CE8BC2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FBBD60-E379-4339-A5A6-2B13BCC1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escala de λ cambia con la frecuencia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9C0580-ACB6-42FF-9D5E-0E5DD9F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Gráfico cuantitativo</a:t>
            </a:r>
          </a:p>
        </p:txBody>
      </p:sp>
      <p:pic>
        <p:nvPicPr>
          <p:cNvPr id="19" name="U09-CH-005-chart" descr="U09-CH-005 longitud de onda frente a frecuencia. La composición permite reconocer que a menor frecuencia, mayor longitud de onda para el mismo medi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7e1b2a7cb427c">
            <a:extLst>
              <a:ext uri="{96DAC541-7B7A-43D3-8B79-37D633B846F1}">
                <asvg:svgBlip xmlns:asvg="http://schemas.microsoft.com/office/drawing/2016/SVG/main" r:embed="R11dbc7eecd1b47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82B46509-1844-45F9-9DA6-4CD1C1E6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8D487E8A-A0BF-4BE9-91E9-B4936B5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52E935E9-5A5D-496F-A16F-922BAFFD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menor frecuencia, mayor longitud de onda para el mismo medio. Curva λ(f) y marcadores 125, 500 y 4000 Hz. Escalas de barrera elegidas.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18FACC28-5A32-4C9E-89E3-9AB53CB5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propuesta: a menor frecuencia, mayor longitud de onda para el mismo medio. · U09-CH-005 · UCASAL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4B72249-D5FA-4760-A833-EDC0D92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669AF0C9-978B-497A-9A9B-4FB536E9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1D1B112-EB1F-4564-9E00-DD6D6D95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E2EB6B7-862B-48F8-A7B2-93062D1A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4322A79-8372-4518-9C2C-8D5C957D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4379C5-17FF-416A-9BE8-A21B2618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barrera, tres frecuencias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85F671-43AC-4367-9F88-88AECF69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Comparación visual</a:t>
            </a:r>
          </a:p>
        </p:txBody>
      </p:sp>
      <p:sp>
        <p:nvSpPr>
          <p:cNvPr id="7" name="U09-044-claim-alt" descr="U09-DG-034, candidata para diagram-generation. La composición permite reconocer que la región de sombra y el rodeo del borde cambian con frecuencia, pero no producen una pérdida fija universal.">
            <a:extLst xmlns:a="http://schemas.openxmlformats.org/drawingml/2006/main">
              <a:ext uri="{FF2B5EF4-FFF2-40B4-BE49-F238E27FC236}">
                <a16:creationId xmlns:a16="http://schemas.microsoft.com/office/drawing/2014/main" id="{4E7CD383-DFE0-4B86-AFFC-7C50381A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B0B1358A-1CE9-4587-A9F0-91D0E57F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10E117F1-ABB0-4979-9DAA-4AE3C30C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125 Hz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857DFFE0-EFFB-439C-A723-C3185BF8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 ≈ 2,74 m La barrera es pequeña respecto de λ: la difracción es importante.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4E5B5BB1-8317-4D71-93D6-47DCEAAA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E325507D-38D4-48E2-A42B-15582B8F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500 Hz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CE4C843E-474E-4D8F-BF60-9E0FF0E0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 ≈ 0,686 m La barrera y λ son comparables: comportamiento intermedio.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0EB63199-8ACD-4CBD-874C-3A39A7D2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3CC83FAA-4DDC-4189-A9BF-39351FED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4000 Hz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CFFE18F7-6B49-44BA-8A1B-CCA1B526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 ≈ 0,0858 m La barrera es grande respecto de λ: la sombra es más marcada.</a:t>
            </a:r>
          </a:p>
        </p:txBody>
      </p:sp>
      <p:sp>
        <p:nvSpPr>
          <p:cNvPr id="17" name="barrier-key">
            <a:extLst xmlns:a="http://schemas.openxmlformats.org/drawingml/2006/main">
              <a:ext uri="{FF2B5EF4-FFF2-40B4-BE49-F238E27FC236}">
                <a16:creationId xmlns:a16="http://schemas.microsoft.com/office/drawing/2014/main" id="{596CFD73-A707-40C7-AB94-928EDDB0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Misma geometría, distinta relación tamaño/longitud de onda.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BB75CA0-2DA9-4C14-98BF-67280F70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E1444E45-E941-41BE-8F16-F833DE4F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11951C4-D0DB-40AF-8E72-29C93910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0BB00EA-4561-436A-B4B5-7C0E6D63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2AED7B2-789D-4CF3-B370-9CE6C368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B5452D-27E2-4A3F-AC89-1D870F19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¿Difracción o transmisión?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1BCB65C-5A18-4AF6-9A3E-61D0A3BA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Error frecuente</a:t>
            </a:r>
          </a:p>
        </p:txBody>
      </p:sp>
      <p:sp>
        <p:nvSpPr>
          <p:cNvPr id="7" name="U09-DG-035-concept_1-anchor">
            <a:extLst xmlns:a="http://schemas.openxmlformats.org/drawingml/2006/main">
              <a:ext uri="{FF2B5EF4-FFF2-40B4-BE49-F238E27FC236}">
                <a16:creationId xmlns:a16="http://schemas.microsoft.com/office/drawing/2014/main" id="{45BDB643-F569-433A-92F6-37355A6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5-concept_2-anchor">
            <a:extLst xmlns:a="http://schemas.openxmlformats.org/drawingml/2006/main">
              <a:ext uri="{FF2B5EF4-FFF2-40B4-BE49-F238E27FC236}">
                <a16:creationId xmlns:a16="http://schemas.microsoft.com/office/drawing/2014/main" id="{F63C161E-CECF-4D16-AFE6-A968A6B0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5-concept_3-anchor">
            <a:extLst xmlns:a="http://schemas.openxmlformats.org/drawingml/2006/main">
              <a:ext uri="{FF2B5EF4-FFF2-40B4-BE49-F238E27FC236}">
                <a16:creationId xmlns:a16="http://schemas.microsoft.com/office/drawing/2014/main" id="{886A162D-AE04-4B37-9761-0ECD79E3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5-concept_4-anchor">
            <a:extLst xmlns:a="http://schemas.openxmlformats.org/drawingml/2006/main">
              <a:ext uri="{FF2B5EF4-FFF2-40B4-BE49-F238E27FC236}">
                <a16:creationId xmlns:a16="http://schemas.microsoft.com/office/drawing/2014/main" id="{33101115-9986-4A54-BBE6-ABF3F6CA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5-visual-alt" descr="U09-DG-035, candidata para diagram-generation. La composición permite reconocer que rodear un borde y atravesar un material son rutas físicas diferentes.">
            <a:extLst xmlns:a="http://schemas.openxmlformats.org/drawingml/2006/main">
              <a:ext uri="{FF2B5EF4-FFF2-40B4-BE49-F238E27FC236}">
                <a16:creationId xmlns:a16="http://schemas.microsoft.com/office/drawing/2014/main" id="{5436F503-4B40-4FB5-A061-3156A8F0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09-DG-035-concept_1-text">
            <a:extLst xmlns:a="http://schemas.openxmlformats.org/drawingml/2006/main">
              <a:ext uri="{FF2B5EF4-FFF2-40B4-BE49-F238E27FC236}">
                <a16:creationId xmlns:a16="http://schemas.microsoft.com/office/drawing/2014/main" id="{55F204F7-9035-4156-BDB3-047D20F3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Mismo obstáculo</a:t>
            </a:r>
          </a:p>
        </p:txBody>
      </p:sp>
      <p:sp>
        <p:nvSpPr>
          <p:cNvPr id="13" name="U09-DG-035-concept_2-box">
            <a:extLst xmlns:a="http://schemas.openxmlformats.org/drawingml/2006/main">
              <a:ext uri="{FF2B5EF4-FFF2-40B4-BE49-F238E27FC236}">
                <a16:creationId xmlns:a16="http://schemas.microsoft.com/office/drawing/2014/main" id="{923B431D-0902-49D8-8708-8708B0A7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09-DG-035-concept_2-text">
            <a:extLst xmlns:a="http://schemas.openxmlformats.org/drawingml/2006/main">
              <a:ext uri="{FF2B5EF4-FFF2-40B4-BE49-F238E27FC236}">
                <a16:creationId xmlns:a16="http://schemas.microsoft.com/office/drawing/2014/main" id="{373DBB97-3984-467D-94FF-1B0C421E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Alrededor: difracción</a:t>
            </a:r>
          </a:p>
        </p:txBody>
      </p:sp>
      <p:sp>
        <p:nvSpPr>
          <p:cNvPr id="15" name="U09-DG-035-concept_3-box">
            <a:extLst xmlns:a="http://schemas.openxmlformats.org/drawingml/2006/main">
              <a:ext uri="{FF2B5EF4-FFF2-40B4-BE49-F238E27FC236}">
                <a16:creationId xmlns:a16="http://schemas.microsoft.com/office/drawing/2014/main" id="{5DE3641F-EE5F-4D24-8D97-19008C0F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09-DG-035-concept_3-text">
            <a:extLst xmlns:a="http://schemas.openxmlformats.org/drawingml/2006/main">
              <a:ext uri="{FF2B5EF4-FFF2-40B4-BE49-F238E27FC236}">
                <a16:creationId xmlns:a16="http://schemas.microsoft.com/office/drawing/2014/main" id="{79E6F2B0-07F9-40C6-B358-F11CADA7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través: transmisión</a:t>
            </a:r>
          </a:p>
        </p:txBody>
      </p:sp>
      <p:sp>
        <p:nvSpPr>
          <p:cNvPr id="17" name="U09-DG-035-concept_4-box">
            <a:extLst xmlns:a="http://schemas.openxmlformats.org/drawingml/2006/main">
              <a:ext uri="{FF2B5EF4-FFF2-40B4-BE49-F238E27FC236}">
                <a16:creationId xmlns:a16="http://schemas.microsoft.com/office/drawing/2014/main" id="{129EB55C-B7E0-42AF-A62D-8FAC0614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09-DG-035-concept_4-text">
            <a:extLst xmlns:a="http://schemas.openxmlformats.org/drawingml/2006/main">
              <a:ext uri="{FF2B5EF4-FFF2-40B4-BE49-F238E27FC236}">
                <a16:creationId xmlns:a16="http://schemas.microsoft.com/office/drawing/2014/main" id="{5C5C7493-6732-4880-9E96-A235E260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Evidencia distinta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9F0DA7AE-8C44-493E-9B5C-3A3BF7C2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rodear un borde y atravesar un material son rutas físicas diferentes. · U09-DG-035 · UCASAL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C7CEC3-C54D-48BD-B6EC-6E9197A3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020B08AA-9E66-4FB7-81F7-4692DEC2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84AB77C-7372-42D2-9A89-762A1E32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7ACF38B-5314-476D-BD3E-814869B6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87AE13C-320D-4B59-BA92-AE54AD1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678AF0-6A04-4696-8BA9-262E65D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ocurrió en la interfaz?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A4BFC3-015D-4770-A901-42CD2200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Recapitulación</a:t>
            </a:r>
          </a:p>
        </p:txBody>
      </p:sp>
      <p:sp>
        <p:nvSpPr>
          <p:cNvPr id="7" name="U09-DG-036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39640750-A8BA-4549-903A-D126F67F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6-branch_1-anchor">
            <a:extLst xmlns:a="http://schemas.openxmlformats.org/drawingml/2006/main">
              <a:ext uri="{FF2B5EF4-FFF2-40B4-BE49-F238E27FC236}">
                <a16:creationId xmlns:a16="http://schemas.microsoft.com/office/drawing/2014/main" id="{8A1740D4-48D6-4B94-A0DE-D92A4B64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6-branch_2-anchor">
            <a:extLst xmlns:a="http://schemas.openxmlformats.org/drawingml/2006/main">
              <a:ext uri="{FF2B5EF4-FFF2-40B4-BE49-F238E27FC236}">
                <a16:creationId xmlns:a16="http://schemas.microsoft.com/office/drawing/2014/main" id="{09E74745-9F94-476A-B38F-02FF42E5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6-branch_3-anchor">
            <a:extLst xmlns:a="http://schemas.openxmlformats.org/drawingml/2006/main">
              <a:ext uri="{FF2B5EF4-FFF2-40B4-BE49-F238E27FC236}">
                <a16:creationId xmlns:a16="http://schemas.microsoft.com/office/drawing/2014/main" id="{CC7AD660-6C3D-461E-B772-BF6D6523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6-branch_4-anchor">
            <a:extLst xmlns:a="http://schemas.openxmlformats.org/drawingml/2006/main">
              <a:ext uri="{FF2B5EF4-FFF2-40B4-BE49-F238E27FC236}">
                <a16:creationId xmlns:a16="http://schemas.microsoft.com/office/drawing/2014/main" id="{D36AB684-E9FA-4FA8-B167-0E60A0D7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36-branch_5-anchor">
            <a:extLst xmlns:a="http://schemas.openxmlformats.org/drawingml/2006/main">
              <a:ext uri="{FF2B5EF4-FFF2-40B4-BE49-F238E27FC236}">
                <a16:creationId xmlns:a16="http://schemas.microsoft.com/office/drawing/2014/main" id="{AE549D50-0CC0-481B-A05A-29E84E4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U09-DG-036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789272"/>
            <a:ext cx="289179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9-DG-036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570322"/>
            <a:ext cx="2891790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36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36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36-branch_edge_5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4210" y="3214688"/>
            <a:ext cx="2891790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36-visual-alt" descr="U09-DG-036, candidata para diagram-generation. La composición permite reconocer que la clasificación correcta depende de la ruta, la magnitud y la escala geométrica.">
            <a:extLst xmlns:a="http://schemas.openxmlformats.org/drawingml/2006/main">
              <a:ext uri="{FF2B5EF4-FFF2-40B4-BE49-F238E27FC236}">
                <a16:creationId xmlns:a16="http://schemas.microsoft.com/office/drawing/2014/main" id="{1B9425EE-0C1C-4900-8617-16A1DD85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36-branch_source-text">
            <a:extLst xmlns:a="http://schemas.openxmlformats.org/drawingml/2006/main">
              <a:ext uri="{FF2B5EF4-FFF2-40B4-BE49-F238E27FC236}">
                <a16:creationId xmlns:a16="http://schemas.microsoft.com/office/drawing/2014/main" id="{658C8831-374D-437D-8611-F91A656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Interfaz</a:t>
            </a:r>
          </a:p>
        </p:txBody>
      </p:sp>
      <p:sp>
        <p:nvSpPr>
          <p:cNvPr id="20" name="U09-DG-036-branch_1-box">
            <a:extLst xmlns:a="http://schemas.openxmlformats.org/drawingml/2006/main">
              <a:ext uri="{FF2B5EF4-FFF2-40B4-BE49-F238E27FC236}">
                <a16:creationId xmlns:a16="http://schemas.microsoft.com/office/drawing/2014/main" id="{EC53E99A-D537-4E76-9A0F-5860CEBA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36-branch_1-text">
            <a:extLst xmlns:a="http://schemas.openxmlformats.org/drawingml/2006/main">
              <a:ext uri="{FF2B5EF4-FFF2-40B4-BE49-F238E27FC236}">
                <a16:creationId xmlns:a16="http://schemas.microsoft.com/office/drawing/2014/main" id="{4FE4AB04-61C3-49C2-A309-DE97CA7A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928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Reflexión</a:t>
            </a:r>
          </a:p>
        </p:txBody>
      </p:sp>
      <p:sp>
        <p:nvSpPr>
          <p:cNvPr id="22" name="U09-DG-036-branch_2-box">
            <a:extLst xmlns:a="http://schemas.openxmlformats.org/drawingml/2006/main">
              <a:ext uri="{FF2B5EF4-FFF2-40B4-BE49-F238E27FC236}">
                <a16:creationId xmlns:a16="http://schemas.microsoft.com/office/drawing/2014/main" id="{CC582A1B-4A86-4B41-B2AE-65E6794E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36-branch_2-text">
            <a:extLst xmlns:a="http://schemas.openxmlformats.org/drawingml/2006/main">
              <a:ext uri="{FF2B5EF4-FFF2-40B4-BE49-F238E27FC236}">
                <a16:creationId xmlns:a16="http://schemas.microsoft.com/office/drawing/2014/main" id="{5228C4EC-B1EA-44B2-A2A9-43A2A453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39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Absorción</a:t>
            </a:r>
          </a:p>
        </p:txBody>
      </p:sp>
      <p:sp>
        <p:nvSpPr>
          <p:cNvPr id="24" name="U09-DG-036-branch_3-box">
            <a:extLst xmlns:a="http://schemas.openxmlformats.org/drawingml/2006/main">
              <a:ext uri="{FF2B5EF4-FFF2-40B4-BE49-F238E27FC236}">
                <a16:creationId xmlns:a16="http://schemas.microsoft.com/office/drawing/2014/main" id="{2ED4295F-EAEE-41D0-9F31-5CA2DB29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36-branch_3-text">
            <a:extLst xmlns:a="http://schemas.openxmlformats.org/drawingml/2006/main">
              <a:ext uri="{FF2B5EF4-FFF2-40B4-BE49-F238E27FC236}">
                <a16:creationId xmlns:a16="http://schemas.microsoft.com/office/drawing/2014/main" id="{3B4F6885-419A-4700-A1D4-1FD60B5D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49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Transmisión</a:t>
            </a:r>
          </a:p>
        </p:txBody>
      </p:sp>
      <p:sp>
        <p:nvSpPr>
          <p:cNvPr id="26" name="U09-DG-036-branch_4-box">
            <a:extLst xmlns:a="http://schemas.openxmlformats.org/drawingml/2006/main">
              <a:ext uri="{FF2B5EF4-FFF2-40B4-BE49-F238E27FC236}">
                <a16:creationId xmlns:a16="http://schemas.microsoft.com/office/drawing/2014/main" id="{FFF55F9F-9FE2-4BCD-8F6B-40DEAACB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36-branch_4-text">
            <a:extLst xmlns:a="http://schemas.openxmlformats.org/drawingml/2006/main">
              <a:ext uri="{FF2B5EF4-FFF2-40B4-BE49-F238E27FC236}">
                <a16:creationId xmlns:a16="http://schemas.microsoft.com/office/drawing/2014/main" id="{B934D6EE-6F5B-4674-BCEF-4B549352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60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Refracción</a:t>
            </a:r>
          </a:p>
        </p:txBody>
      </p:sp>
      <p:sp>
        <p:nvSpPr>
          <p:cNvPr id="28" name="U09-DG-036-branch_5-box">
            <a:extLst xmlns:a="http://schemas.openxmlformats.org/drawingml/2006/main">
              <a:ext uri="{FF2B5EF4-FFF2-40B4-BE49-F238E27FC236}">
                <a16:creationId xmlns:a16="http://schemas.microsoft.com/office/drawing/2014/main" id="{AEF7B7E6-2D3B-46B7-9B0F-65B8A7CD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36-branch_5-text">
            <a:extLst xmlns:a="http://schemas.openxmlformats.org/drawingml/2006/main">
              <a:ext uri="{FF2B5EF4-FFF2-40B4-BE49-F238E27FC236}">
                <a16:creationId xmlns:a16="http://schemas.microsoft.com/office/drawing/2014/main" id="{4AD75D56-B0C0-4B13-9320-E106B053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70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Difracción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95E388D6-81A0-49D5-99BB-CDD2736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clasificación correcta depende de la ruta, la magnitud y la escala geométrica. · U09-DG-036 · UCASAL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1D6E45-5F1C-4AB9-AC94-E5BB2B1B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2D61A9A6-483E-495E-9B55-AC05E923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EEA25CFB-D057-42B9-8C4A-D99199D5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persiste el sonido en una sala?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01748611-2173-4B2F-9B63-A33C2CD4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En un recinto, el receptor recibe una secuencia de llegadas, no una sola ruta.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B5FC79-26AF-424D-9268-9AF41132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-1">
            <a:extLst xmlns:a="http://schemas.openxmlformats.org/drawingml/2006/main">
              <a:ext uri="{FF2B5EF4-FFF2-40B4-BE49-F238E27FC236}">
                <a16:creationId xmlns:a16="http://schemas.microsoft.com/office/drawing/2014/main" id="{6642B37E-86AF-4004-823E-78005D90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3B42C65-FD21-4A13-82A3-5AAA89ED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0B2E639-3089-4C1D-B06D-FE46F618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2D2C6FA-AE2A-435C-BBE3-E7D4B901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74AB2D-A5FC-46BD-8AC3-E856B5B2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la llegada directa a la cola reverberante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7A2DDC2-4ABF-4152-9D68-B14A2E32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Proceso</a:t>
            </a:r>
          </a:p>
        </p:txBody>
      </p:sp>
      <p:sp>
        <p:nvSpPr>
          <p:cNvPr id="7" name="U09-DG-037-step_1-anchor">
            <a:extLst xmlns:a="http://schemas.openxmlformats.org/drawingml/2006/main">
              <a:ext uri="{FF2B5EF4-FFF2-40B4-BE49-F238E27FC236}">
                <a16:creationId xmlns:a16="http://schemas.microsoft.com/office/drawing/2014/main" id="{B4849AA7-0693-4E81-AFAC-6E5A41D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7-step_2-anchor">
            <a:extLst xmlns:a="http://schemas.openxmlformats.org/drawingml/2006/main">
              <a:ext uri="{FF2B5EF4-FFF2-40B4-BE49-F238E27FC236}">
                <a16:creationId xmlns:a16="http://schemas.microsoft.com/office/drawing/2014/main" id="{AE5536AB-3ADD-4947-B925-E9DA04C8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7-step_3-anchor">
            <a:extLst xmlns:a="http://schemas.openxmlformats.org/drawingml/2006/main">
              <a:ext uri="{FF2B5EF4-FFF2-40B4-BE49-F238E27FC236}">
                <a16:creationId xmlns:a16="http://schemas.microsoft.com/office/drawing/2014/main" id="{779194F4-83A9-41F2-B563-01F3A946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7-step_4-anchor">
            <a:extLst xmlns:a="http://schemas.openxmlformats.org/drawingml/2006/main">
              <a:ext uri="{FF2B5EF4-FFF2-40B4-BE49-F238E27FC236}">
                <a16:creationId xmlns:a16="http://schemas.microsoft.com/office/drawing/2014/main" id="{CE0147E7-D586-4811-8910-A6FCE5A5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" name="U09-DG-037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U09-DG-037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U09-DG-037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9-DG-037-visual-alt" descr="U09-DG-037, candidata para diagram-generation. La composición permite reconocer que múltiples reflexiones producen una densidad creciente de llegadas y un decaimiento global.">
            <a:extLst xmlns:a="http://schemas.openxmlformats.org/drawingml/2006/main">
              <a:ext uri="{FF2B5EF4-FFF2-40B4-BE49-F238E27FC236}">
                <a16:creationId xmlns:a16="http://schemas.microsoft.com/office/drawing/2014/main" id="{B87FBEF9-0482-4126-B754-E2209AB8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37-step_1-text">
            <a:extLst xmlns:a="http://schemas.openxmlformats.org/drawingml/2006/main">
              <a:ext uri="{FF2B5EF4-FFF2-40B4-BE49-F238E27FC236}">
                <a16:creationId xmlns:a16="http://schemas.microsoft.com/office/drawing/2014/main" id="{B37340DF-3B25-4907-AF8B-39611610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Directa</a:t>
            </a:r>
          </a:p>
        </p:txBody>
      </p:sp>
      <p:sp>
        <p:nvSpPr>
          <p:cNvPr id="16" name="U09-DG-037-step_2-box">
            <a:extLst xmlns:a="http://schemas.openxmlformats.org/drawingml/2006/main">
              <a:ext uri="{FF2B5EF4-FFF2-40B4-BE49-F238E27FC236}">
                <a16:creationId xmlns:a16="http://schemas.microsoft.com/office/drawing/2014/main" id="{0D277F87-6B7E-4E2E-9AFB-EB7A3F85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37-step_2-text">
            <a:extLst xmlns:a="http://schemas.openxmlformats.org/drawingml/2006/main">
              <a:ext uri="{FF2B5EF4-FFF2-40B4-BE49-F238E27FC236}">
                <a16:creationId xmlns:a16="http://schemas.microsoft.com/office/drawing/2014/main" id="{AFC956CD-A004-49F3-8EBD-BF789E51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tempranas</a:t>
            </a:r>
          </a:p>
        </p:txBody>
      </p:sp>
      <p:sp>
        <p:nvSpPr>
          <p:cNvPr id="18" name="U09-DG-037-step_3-box">
            <a:extLst xmlns:a="http://schemas.openxmlformats.org/drawingml/2006/main">
              <a:ext uri="{FF2B5EF4-FFF2-40B4-BE49-F238E27FC236}">
                <a16:creationId xmlns:a16="http://schemas.microsoft.com/office/drawing/2014/main" id="{5D24C7E5-43DF-4C51-B499-8E9015A2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37-step_3-text">
            <a:extLst xmlns:a="http://schemas.openxmlformats.org/drawingml/2006/main">
              <a:ext uri="{FF2B5EF4-FFF2-40B4-BE49-F238E27FC236}">
                <a16:creationId xmlns:a16="http://schemas.microsoft.com/office/drawing/2014/main" id="{B9C78869-08F8-4AA3-B568-FB2C48BC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densidad de reflexiones</a:t>
            </a:r>
          </a:p>
        </p:txBody>
      </p:sp>
      <p:sp>
        <p:nvSpPr>
          <p:cNvPr id="20" name="U09-DG-037-step_4-box">
            <a:extLst xmlns:a="http://schemas.openxmlformats.org/drawingml/2006/main">
              <a:ext uri="{FF2B5EF4-FFF2-40B4-BE49-F238E27FC236}">
                <a16:creationId xmlns:a16="http://schemas.microsoft.com/office/drawing/2014/main" id="{1D7334CD-9AB3-47CC-BB5D-17026A85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37-step_4-text">
            <a:extLst xmlns:a="http://schemas.openxmlformats.org/drawingml/2006/main">
              <a:ext uri="{FF2B5EF4-FFF2-40B4-BE49-F238E27FC236}">
                <a16:creationId xmlns:a16="http://schemas.microsoft.com/office/drawing/2014/main" id="{8411DD05-DE37-4FC5-841F-D5179786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cola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E8D8EF92-715D-4432-A5BF-61A0CC87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múltiples reflexiones producen una densidad creciente de llegadas y un decaimiento global. · U09-DG-037 · UCASAL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BC7AF8-8A2E-45E7-AD9D-C10457CF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FEA14422-1E8E-4D4D-9931-26B8E19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0477057-0F5A-4AF1-8A68-B782E12F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016BF4F-D210-4E50-A503-5F712F9E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912FBED-57DF-4E73-8900-26D9F1CD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FB3E67-E1DD-49F6-A29D-6AC8DDA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T₆₀: describir un decaimiento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7C354D-BA9E-4422-99EF-C69B7BDB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Gráfico cuantitativo</a:t>
            </a:r>
          </a:p>
        </p:txBody>
      </p:sp>
      <p:pic>
        <p:nvPicPr>
          <p:cNvPr id="19" name="U09-CH-006-chart" descr="U09-CH-006 decaimiento sonoro anotado. La composición permite reconocer que t₆₀ es el tiempo asociado a una caída de 60 db bajo condiciones definid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bb99be38a44ec">
            <a:extLst>
              <a:ext uri="{96DAC541-7B7A-43D3-8B79-37D633B846F1}">
                <asvg:svgBlip xmlns:asvg="http://schemas.microsoft.com/office/drawing/2016/SVG/main" r:embed="Rbb88b8e5e1494c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3599963F-98C9-4300-AC5F-EA7FDEE8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E3205C4E-2628-4C83-92E5-92C92F01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A964CBB0-4D5B-4543-AA20-B430C68F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T₆₀ es el tiempo asociado a una caída de 60 dB bajo condiciones definidas. Curva de decaimiento, niveles inicial/final, intervalo temporal y extrapolación indicada si se usa.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26C47D42-A5BD-4C40-9011-F2A2ECA4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propuesta: t₆₀ es el tiempo asociado a una caída de 60 db bajo condiciones definidas. · U09-CH-006 · UCASAL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BC1939-9431-4F3D-993A-F04E6091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C18C6978-5E22-46C0-A93B-6203746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204CE1C-AA91-40BF-B82B-64FB26AC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1678D1E-5A7A-4C41-A58F-577A1439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BE26653-B7B3-4154-BF48-7CFB3EA5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46D53A-B199-4F97-9F33-D55728BF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Área equivalente de absorción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6E1BA7-545D-4395-A8D5-2B708790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Definición</a:t>
            </a:r>
          </a:p>
        </p:txBody>
      </p:sp>
      <p:sp>
        <p:nvSpPr>
          <p:cNvPr id="7" name="U09-050-claim-alt" descr="U09-DG-038, candidata para diagram-generation. La composición permite reconocer que superficies y coeficientes se combinan como aₑq = σ αᵢ sᵢ.">
            <a:extLst xmlns:a="http://schemas.openxmlformats.org/drawingml/2006/main">
              <a:ext uri="{FF2B5EF4-FFF2-40B4-BE49-F238E27FC236}">
                <a16:creationId xmlns:a16="http://schemas.microsoft.com/office/drawing/2014/main" id="{F4CBC1F2-6D6E-4CE8-B199-EF332466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eq-formula">
            <a:extLst xmlns:a="http://schemas.openxmlformats.org/drawingml/2006/main">
              <a:ext uri="{FF2B5EF4-FFF2-40B4-BE49-F238E27FC236}">
                <a16:creationId xmlns:a16="http://schemas.microsoft.com/office/drawing/2014/main" id="{29D10EB1-2175-4E44-84B7-90613B43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00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Aₑq = Σᵢ αᵢ Sᵢ</a:t>
            </a:r>
          </a:p>
        </p:txBody>
      </p:sp>
      <p:sp>
        <p:nvSpPr>
          <p:cNvPr id="9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AE268B5B-E054-41C8-89C4-8F25F822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33375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0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5FD3E4D6-1D89-4C89-A252-37534FEC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Sᵢ</a:t>
            </a:r>
          </a:p>
        </p:txBody>
      </p:sp>
      <p:sp>
        <p:nvSpPr>
          <p:cNvPr id="11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BB94EE2C-B22A-4AEB-BE15-73A49EAF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9146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Área de la superficie i Unidad: m²</a:t>
            </a:r>
          </a:p>
        </p:txBody>
      </p:sp>
      <p:sp>
        <p:nvSpPr>
          <p:cNvPr id="12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84F120EE-AFBA-4745-B4C7-F236E4D5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333375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3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47C3031C-00B0-42F6-8930-0BE40589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αᵢ</a:t>
            </a:r>
          </a:p>
        </p:txBody>
      </p:sp>
      <p:sp>
        <p:nvSpPr>
          <p:cNvPr id="14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D4FAEB7D-CEFA-46A2-88D8-9F74E33C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29146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Coeficiente de absorción de esa superficie Sin unidad</a:t>
            </a:r>
          </a:p>
        </p:txBody>
      </p:sp>
      <p:sp>
        <p:nvSpPr>
          <p:cNvPr id="15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5B205A27-F43F-4EDD-BD9E-4510B7EB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33375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6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1E21A058-D1FE-49AE-ADF1-2E6A3AC0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Aₑq</a:t>
            </a:r>
          </a:p>
        </p:txBody>
      </p:sp>
      <p:sp>
        <p:nvSpPr>
          <p:cNvPr id="17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4580B969-8E26-476F-ACAE-F19C10E6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29146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Área equivalente de absorción Unidad: m² sabin</a:t>
            </a:r>
          </a:p>
        </p:txBody>
      </p:sp>
      <p:sp>
        <p:nvSpPr>
          <p:cNvPr id="18" name="aeq-key">
            <a:extLst xmlns:a="http://schemas.openxmlformats.org/drawingml/2006/main">
              <a:ext uri="{FF2B5EF4-FFF2-40B4-BE49-F238E27FC236}">
                <a16:creationId xmlns:a16="http://schemas.microsoft.com/office/drawing/2014/main" id="{7B61FCB7-0F3B-49C8-9F2D-DB2561EF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673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 suma pondera cada superficie por su capacidad de absorber.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E03664-EF84-4E88-AF4F-065F4464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95E5B19D-E590-4E51-B993-87DA455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88DC9AF-1DB0-4141-AA3A-FC0130C7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1898F50-F8AA-45B1-90E9-57AEE727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97FFAF0-76B2-47A5-A770-450671E3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8E5707-7DFC-4A2E-BBF8-CB504536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Sabine: volumen frente a absorción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C461F0-14F2-476B-9617-A64E7288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Ecuación anotada</a:t>
            </a:r>
          </a:p>
        </p:txBody>
      </p:sp>
      <p:sp>
        <p:nvSpPr>
          <p:cNvPr id="7" name="U09-051-claim-alt" descr="U09-DG-039, candidata para diagram-generation. La composición permite reconocer que en el modelo de sabine, mayor v alarga y mayor aₑq acorta t₆₀.">
            <a:extLst xmlns:a="http://schemas.openxmlformats.org/drawingml/2006/main">
              <a:ext uri="{FF2B5EF4-FFF2-40B4-BE49-F238E27FC236}">
                <a16:creationId xmlns:a16="http://schemas.microsoft.com/office/drawing/2014/main" id="{8D26590B-7C4F-4931-8A70-7882B2B9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bine-formula">
            <a:extLst xmlns:a="http://schemas.openxmlformats.org/drawingml/2006/main">
              <a:ext uri="{FF2B5EF4-FFF2-40B4-BE49-F238E27FC236}">
                <a16:creationId xmlns:a16="http://schemas.microsoft.com/office/drawing/2014/main" id="{F4F6D7C3-B139-45FB-8AEA-4E2AB442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6687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T₆₀ = 0,161 · V / Aₑq</a:t>
            </a:r>
          </a:p>
        </p:txBody>
      </p:sp>
      <p:sp>
        <p:nvSpPr>
          <p:cNvPr id="9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152B88EC-5B30-4F6C-8AAE-9158658A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50958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0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7DCB6901-F818-49F1-B0F6-5F2B242F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Volumen V</a:t>
            </a:r>
          </a:p>
        </p:txBody>
      </p:sp>
      <p:sp>
        <p:nvSpPr>
          <p:cNvPr id="11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83B4B92D-B19E-443D-8DAF-24E83979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95675"/>
            <a:ext cx="4676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Más volumen implica más energía almacenada y, si Aₑq no cambia, un decaimiento más lento. Unidad: m³</a:t>
            </a:r>
          </a:p>
        </p:txBody>
      </p:sp>
      <p:sp>
        <p:nvSpPr>
          <p:cNvPr id="12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4D0C7494-B5AF-4886-B729-8CA65267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50958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3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971A3BF3-D55D-445E-B7BF-9790555B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81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Absorción Aₑq</a:t>
            </a:r>
          </a:p>
        </p:txBody>
      </p:sp>
      <p:sp>
        <p:nvSpPr>
          <p:cNvPr id="14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355DACAF-359E-46B2-B735-1F58679C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95675"/>
            <a:ext cx="4676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Más absorción equivalente acelera el decaimiento y reduce T₆₀. Unidad: m² sabin</a:t>
            </a:r>
          </a:p>
        </p:txBody>
      </p:sp>
      <p:sp>
        <p:nvSpPr>
          <p:cNvPr id="15" name="sabine-key">
            <a:extLst xmlns:a="http://schemas.openxmlformats.org/drawingml/2006/main">
              <a:ext uri="{FF2B5EF4-FFF2-40B4-BE49-F238E27FC236}">
                <a16:creationId xmlns:a16="http://schemas.microsoft.com/office/drawing/2014/main" id="{8D6CDF94-F4BE-4CAB-A950-0D62E584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T₆₀ se expresa en segundos y describe reverberación, no aislamiento.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6A2D04-DA76-413F-B525-87EBCB05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C372A0F5-3A02-435F-B4BA-229B9263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F1B5B5A-9B03-49B3-854C-0893AF67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FB19164-E0C6-43FC-9110-F2311AAF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363D84C-83A2-48DB-885B-0240AAE4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990403-3C6C-4C85-8B49-5A5C824B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aula de 8 × 6 × 3 m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EAE803F-CB4B-4591-A1A8-77EF4E12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Ejemplo resuelto</a:t>
            </a:r>
          </a:p>
        </p:txBody>
      </p:sp>
      <p:sp>
        <p:nvSpPr>
          <p:cNvPr id="7" name="U09-052-claim-alt" descr="Secuencia de cálculo U09-DG-040, candidata para diagram-generation. La composición permite reconocer que el cálculo entrega una estimación contextual, no un criterio universal de calidad.">
            <a:extLst xmlns:a="http://schemas.openxmlformats.org/drawingml/2006/main">
              <a:ext uri="{FF2B5EF4-FFF2-40B4-BE49-F238E27FC236}">
                <a16:creationId xmlns:a16="http://schemas.microsoft.com/office/drawing/2014/main" id="{E6A57594-6D57-4DD2-88DA-0C6038DD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ample-volume">
            <a:extLst xmlns:a="http://schemas.openxmlformats.org/drawingml/2006/main">
              <a:ext uri="{FF2B5EF4-FFF2-40B4-BE49-F238E27FC236}">
                <a16:creationId xmlns:a16="http://schemas.microsoft.com/office/drawing/2014/main" id="{3B2272A5-8351-46B8-AB6A-838BB51D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V = 8 · 6 · 3 = 144 m³</a:t>
            </a:r>
          </a:p>
        </p:txBody>
      </p:sp>
      <p:sp>
        <p:nvSpPr>
          <p:cNvPr id="9" name="example-area">
            <a:extLst xmlns:a="http://schemas.openxmlformats.org/drawingml/2006/main">
              <a:ext uri="{FF2B5EF4-FFF2-40B4-BE49-F238E27FC236}">
                <a16:creationId xmlns:a16="http://schemas.microsoft.com/office/drawing/2014/main" id="{FFA14741-922A-4CFC-B735-03EF3551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Sₜₒₜ = 2(8·6 + 8·3 + 6·3) = 180 m²</a:t>
            </a:r>
          </a:p>
        </p:txBody>
      </p:sp>
      <p:sp>
        <p:nvSpPr>
          <p:cNvPr id="10" name="example-alpha">
            <a:extLst xmlns:a="http://schemas.openxmlformats.org/drawingml/2006/main">
              <a:ext uri="{FF2B5EF4-FFF2-40B4-BE49-F238E27FC236}">
                <a16:creationId xmlns:a16="http://schemas.microsoft.com/office/drawing/2014/main" id="{6A251616-5844-4055-A6A7-8A78BDEB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 ᾱ = 0,25:</a:t>
            </a:r>
          </a:p>
        </p:txBody>
      </p:sp>
      <p:sp>
        <p:nvSpPr>
          <p:cNvPr id="11" name="example-aeq">
            <a:extLst xmlns:a="http://schemas.openxmlformats.org/drawingml/2006/main">
              <a:ext uri="{FF2B5EF4-FFF2-40B4-BE49-F238E27FC236}">
                <a16:creationId xmlns:a16="http://schemas.microsoft.com/office/drawing/2014/main" id="{AE67D176-2929-4A2A-BCD4-61FF9695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Aₑq = ᾱ · Sₜₒₜ = 45 m² sabin</a:t>
            </a:r>
          </a:p>
        </p:txBody>
      </p:sp>
      <p:sp>
        <p:nvSpPr>
          <p:cNvPr id="12" name="example-result-box">
            <a:extLst xmlns:a="http://schemas.openxmlformats.org/drawingml/2006/main">
              <a:ext uri="{FF2B5EF4-FFF2-40B4-BE49-F238E27FC236}">
                <a16:creationId xmlns:a16="http://schemas.microsoft.com/office/drawing/2014/main" id="{FCBF67EF-8EEC-41E1-AF0D-5969A5F7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286250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3" name="example-result-title">
            <a:extLst xmlns:a="http://schemas.openxmlformats.org/drawingml/2006/main">
              <a:ext uri="{FF2B5EF4-FFF2-40B4-BE49-F238E27FC236}">
                <a16:creationId xmlns:a16="http://schemas.microsoft.com/office/drawing/2014/main" id="{994872B9-55AF-436A-B434-9B336818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Resultado</a:t>
            </a:r>
          </a:p>
        </p:txBody>
      </p:sp>
      <p:sp>
        <p:nvSpPr>
          <p:cNvPr id="14" name="example-result-body">
            <a:extLst xmlns:a="http://schemas.openxmlformats.org/drawingml/2006/main">
              <a:ext uri="{FF2B5EF4-FFF2-40B4-BE49-F238E27FC236}">
                <a16:creationId xmlns:a16="http://schemas.microsoft.com/office/drawing/2014/main" id="{21E94B86-4235-4CFD-B42C-140D690E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95550"/>
            <a:ext cx="38671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T₆₀ = 0,161 · 144 / 45 ≈ 0,52 s</a:t>
            </a:r>
          </a:p>
        </p:txBody>
      </p:sp>
      <p:sp>
        <p:nvSpPr>
          <p:cNvPr id="15" name="example-interpretation">
            <a:extLst xmlns:a="http://schemas.openxmlformats.org/drawingml/2006/main">
              <a:ext uri="{FF2B5EF4-FFF2-40B4-BE49-F238E27FC236}">
                <a16:creationId xmlns:a16="http://schemas.microsoft.com/office/drawing/2014/main" id="{57BA43FB-0328-4669-BE46-F765CB67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19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Interpretación: el resultado estima el decaimiento reverberante bajo los supuestos de Sabine.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9C856D-E91E-4B5B-9F1E-836B335B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-1">
            <a:extLst xmlns:a="http://schemas.openxmlformats.org/drawingml/2006/main">
              <a:ext uri="{FF2B5EF4-FFF2-40B4-BE49-F238E27FC236}">
                <a16:creationId xmlns:a16="http://schemas.microsoft.com/office/drawing/2014/main" id="{A529D6D9-F030-4CCA-B70D-F7669B4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CFC222B-ECD4-4B97-A921-C8B6927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5FC915D-389A-4705-A89E-B5377543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BF7A617-7BF5-47E9-BE40-98960724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80D1EE-DF30-4555-9D11-6F482CD1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Igual Aₑq, distinto campo local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3910EF-3FE2-4087-A89A-2F4EC4C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Ampliación conceptual</a:t>
            </a:r>
          </a:p>
        </p:txBody>
      </p:sp>
      <p:sp>
        <p:nvSpPr>
          <p:cNvPr id="7" name="U09-DG-041-concept_1-anchor">
            <a:extLst xmlns:a="http://schemas.openxmlformats.org/drawingml/2006/main">
              <a:ext uri="{FF2B5EF4-FFF2-40B4-BE49-F238E27FC236}">
                <a16:creationId xmlns:a16="http://schemas.microsoft.com/office/drawing/2014/main" id="{F64DD17C-FB32-4F0D-8405-5A9E58CE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1-concept_2-anchor">
            <a:extLst xmlns:a="http://schemas.openxmlformats.org/drawingml/2006/main">
              <a:ext uri="{FF2B5EF4-FFF2-40B4-BE49-F238E27FC236}">
                <a16:creationId xmlns:a16="http://schemas.microsoft.com/office/drawing/2014/main" id="{6604F954-09EE-4729-8401-6AEC6542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1-concept_3-anchor">
            <a:extLst xmlns:a="http://schemas.openxmlformats.org/drawingml/2006/main">
              <a:ext uri="{FF2B5EF4-FFF2-40B4-BE49-F238E27FC236}">
                <a16:creationId xmlns:a16="http://schemas.microsoft.com/office/drawing/2014/main" id="{D46B3BA9-F334-439D-A7D8-C775AEFB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1-visual-alt" descr="U09-DG-041, candidata para diagram-generation. La composición permite reconocer que la distribución espacial de la absorción y la geometría también importan.">
            <a:extLst xmlns:a="http://schemas.openxmlformats.org/drawingml/2006/main">
              <a:ext uri="{FF2B5EF4-FFF2-40B4-BE49-F238E27FC236}">
                <a16:creationId xmlns:a16="http://schemas.microsoft.com/office/drawing/2014/main" id="{26563A95-2B59-4233-BD3B-A112134A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09-DG-041-concept_1-text">
            <a:extLst xmlns:a="http://schemas.openxmlformats.org/drawingml/2006/main">
              <a:ext uri="{FF2B5EF4-FFF2-40B4-BE49-F238E27FC236}">
                <a16:creationId xmlns:a16="http://schemas.microsoft.com/office/drawing/2014/main" id="{D52BD19C-5F69-4929-818C-17FC6E4B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Dos salas con igual suma de</a:t>
            </a:r>
          </a:p>
        </p:txBody>
      </p:sp>
      <p:sp>
        <p:nvSpPr>
          <p:cNvPr id="12" name="U09-DG-041-concept_2-box">
            <a:extLst xmlns:a="http://schemas.openxmlformats.org/drawingml/2006/main">
              <a:ext uri="{FF2B5EF4-FFF2-40B4-BE49-F238E27FC236}">
                <a16:creationId xmlns:a16="http://schemas.microsoft.com/office/drawing/2014/main" id="{5CF673C2-811F-4C2E-B52C-7086509F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3" name="U09-DG-041-concept_2-text">
            <a:extLst xmlns:a="http://schemas.openxmlformats.org/drawingml/2006/main">
              <a:ext uri="{FF2B5EF4-FFF2-40B4-BE49-F238E27FC236}">
                <a16:creationId xmlns:a16="http://schemas.microsoft.com/office/drawing/2014/main" id="{4B970509-F970-4F2B-A981-EC557A2F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ubicación distinta</a:t>
            </a:r>
          </a:p>
        </p:txBody>
      </p:sp>
      <p:sp>
        <p:nvSpPr>
          <p:cNvPr id="14" name="U09-DG-041-concept_3-box">
            <a:extLst xmlns:a="http://schemas.openxmlformats.org/drawingml/2006/main">
              <a:ext uri="{FF2B5EF4-FFF2-40B4-BE49-F238E27FC236}">
                <a16:creationId xmlns:a16="http://schemas.microsoft.com/office/drawing/2014/main" id="{3D0F0EA8-B1EA-4CEE-9A54-E4CAD3D6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09-DG-041-concept_3-text">
            <a:extLst xmlns:a="http://schemas.openxmlformats.org/drawingml/2006/main">
              <a:ext uri="{FF2B5EF4-FFF2-40B4-BE49-F238E27FC236}">
                <a16:creationId xmlns:a16="http://schemas.microsoft.com/office/drawing/2014/main" id="{C2A6A958-1B84-4FDD-B3F7-F71371A9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receptores con campos diferentes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BA87F6CE-5A0C-4FBB-8072-859066B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distribución espacial de la absorción y la geometría también importan. · U09-DG-041 · UCASAL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EE33A0E-F259-4A11-93AF-8F9DA6FD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9FC31938-6FF8-4873-8AB7-654308E7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A031B2B-BF3C-407D-92DC-96397694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F664F7B-6CB5-4179-8505-ABC74ADD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C806B18-CE75-47E9-869E-A1A03E9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5BD4DF-C820-45A7-A62E-60EB076F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“Un T₆₀ corto significa buen aislamiento”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188E34B-2091-4ED5-AA96-2343A459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Error frecuente</a:t>
            </a:r>
          </a:p>
        </p:txBody>
      </p:sp>
      <p:sp>
        <p:nvSpPr>
          <p:cNvPr id="7" name="U09-054-claim-alt" descr="U09-DG-042, candidata para diagram-generation. La composición permite reconocer que t₆₀ describe el decaimiento interior; no mide cuánto atraviesa el cerramiento.">
            <a:extLst xmlns:a="http://schemas.openxmlformats.org/drawingml/2006/main">
              <a:ext uri="{FF2B5EF4-FFF2-40B4-BE49-F238E27FC236}">
                <a16:creationId xmlns:a16="http://schemas.microsoft.com/office/drawing/2014/main" id="{0541643B-30E8-4C74-B18D-1748A81F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2201D250-0A45-4346-B1E4-AD0A2767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EF5A1D72-7450-4F7D-BC85-B7C8631B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Acondicionamiento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1DF2CCE9-90DD-426E-BECB-D5F98141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Modifica el campo sonoro dentro del recinto: absorción, reflexiones y T₆₀.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E2095AA7-A3F7-4548-BDE5-997CDD8D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50516B7F-CAA6-4175-8A71-B2AB2CA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Aislamiento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32851A95-C6A1-438C-9D82-7CC62204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Reduce la transmisión entre recintos o desde el exterior. Depende de cerramientos y vías laterales.</a:t>
            </a:r>
          </a:p>
        </p:txBody>
      </p:sp>
      <p:sp>
        <p:nvSpPr>
          <p:cNvPr id="14" name="conditioning-error">
            <a:extLst xmlns:a="http://schemas.openxmlformats.org/drawingml/2006/main">
              <a:ext uri="{FF2B5EF4-FFF2-40B4-BE49-F238E27FC236}">
                <a16:creationId xmlns:a16="http://schemas.microsoft.com/office/drawing/2014/main" id="{86D2F0D6-E112-4F6D-8226-82441AD3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8637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>Un T₆₀ corto no demuestra por sí solo que el ruido exterior esté suficientemente atenuado.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B77E7A-FAB3-4912-813C-4C476AED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E5B961E9-5911-4727-B990-B04526E8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F2B4756-CE26-4C31-847C-4E02819A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F8A1D9C-8D1D-4764-9EBA-C40D5D30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7D9F2BD-EE78-4986-A03C-A725AA99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2AB0FA-4155-4D82-BB1D-0CFDCEAC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Seco y reverberado: escuchar y ver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6771EAB-92D0-4A0C-836A-711DC9EB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Multimedia opcional</a:t>
            </a:r>
          </a:p>
        </p:txBody>
      </p:sp>
      <p:sp>
        <p:nvSpPr>
          <p:cNvPr id="7" name="U09-055-claim-alt" descr="U09-MEDIA-001 y U09-CH-006. La composición permite reconocer que la diferencia audible debe acompañarse con forma de onda o envolvente y condiciones de reproducción.">
            <a:extLst xmlns:a="http://schemas.openxmlformats.org/drawingml/2006/main">
              <a:ext uri="{FF2B5EF4-FFF2-40B4-BE49-F238E27FC236}">
                <a16:creationId xmlns:a16="http://schemas.microsoft.com/office/drawing/2014/main" id="{597D9F57-A893-4A21-86F6-AFB9263A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BD86FB4C-6BF5-45C4-96DB-ECD7F0FE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F2AFA161-7F93-4517-8550-F45CC0E8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Habla seca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4CCFD376-3AFA-4693-A77C-275052A0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Decaimiento rápido. Las sílabas sucesivas se superponen menos.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D80C821D-5FFD-40BB-A028-4AB36731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201004FB-B612-4772-9B49-62ABDD38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Habla reverberada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702E12F3-E20D-4281-A237-34735012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energía persiste; aumenta el enmascaramiento temporal entre segmentos.</a:t>
            </a:r>
          </a:p>
        </p:txBody>
      </p:sp>
      <p:sp>
        <p:nvSpPr>
          <p:cNvPr id="14" name="media-activity">
            <a:extLst xmlns:a="http://schemas.openxmlformats.org/drawingml/2006/main">
              <a:ext uri="{FF2B5EF4-FFF2-40B4-BE49-F238E27FC236}">
                <a16:creationId xmlns:a16="http://schemas.microsoft.com/office/drawing/2014/main" id="{1AA0D1D8-3388-4BE7-943F-5F5B4350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Actividad: escuchar una frase en ambas condiciones y señalar qué consonantes pierden claridad.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D0F7A0-A935-4E9F-A961-BE7F6CA0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6542F6FF-00D2-4556-8ABC-A08FF4DF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BAD2BAD-4CCC-48EB-A18E-8C657AE7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408B03A-82CF-45C7-AE0A-03C6D65F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ED5B8E7-9F09-43CF-AD0D-9142273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88F79-6496-42BE-84E9-28DB3F2C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Recinto: llegada, decaimiento y límite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6D05E5B-4F3E-4F56-AFA6-45258F20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Recapitulación</a:t>
            </a:r>
          </a:p>
        </p:txBody>
      </p:sp>
      <p:sp>
        <p:nvSpPr>
          <p:cNvPr id="7" name="U09-DG-043-step_1-anchor">
            <a:extLst xmlns:a="http://schemas.openxmlformats.org/drawingml/2006/main">
              <a:ext uri="{FF2B5EF4-FFF2-40B4-BE49-F238E27FC236}">
                <a16:creationId xmlns:a16="http://schemas.microsoft.com/office/drawing/2014/main" id="{C7FF0490-4FFC-4338-86B1-D259BA6B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3-step_2-anchor">
            <a:extLst xmlns:a="http://schemas.openxmlformats.org/drawingml/2006/main">
              <a:ext uri="{FF2B5EF4-FFF2-40B4-BE49-F238E27FC236}">
                <a16:creationId xmlns:a16="http://schemas.microsoft.com/office/drawing/2014/main" id="{3FFDC091-478D-45B9-95CC-0D3554E8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3-step_3-anchor">
            <a:extLst xmlns:a="http://schemas.openxmlformats.org/drawingml/2006/main">
              <a:ext uri="{FF2B5EF4-FFF2-40B4-BE49-F238E27FC236}">
                <a16:creationId xmlns:a16="http://schemas.microsoft.com/office/drawing/2014/main" id="{63EE3BC9-B019-4373-A1DC-3CBB2DAC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3-step_4-anchor">
            <a:extLst xmlns:a="http://schemas.openxmlformats.org/drawingml/2006/main">
              <a:ext uri="{FF2B5EF4-FFF2-40B4-BE49-F238E27FC236}">
                <a16:creationId xmlns:a16="http://schemas.microsoft.com/office/drawing/2014/main" id="{F017FBDF-D4F7-409C-9936-BDD32523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3-step_5-anchor">
            <a:extLst xmlns:a="http://schemas.openxmlformats.org/drawingml/2006/main">
              <a:ext uri="{FF2B5EF4-FFF2-40B4-BE49-F238E27FC236}">
                <a16:creationId xmlns:a16="http://schemas.microsoft.com/office/drawing/2014/main" id="{E78A8FCD-4091-4423-A115-B0DF6C6A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43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43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43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43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3-visual-alt" descr="U09-DG-043, candidata para diagram-generation. La composición permite reconocer que reflexiones explican persistencia; t₆₀ y sabine resumen bajo hipótesis, no miden aislamiento.">
            <a:extLst xmlns:a="http://schemas.openxmlformats.org/drawingml/2006/main">
              <a:ext uri="{FF2B5EF4-FFF2-40B4-BE49-F238E27FC236}">
                <a16:creationId xmlns:a16="http://schemas.microsoft.com/office/drawing/2014/main" id="{C4F69F2F-F0E8-4F2C-A98B-ACA1B778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43-step_1-text">
            <a:extLst xmlns:a="http://schemas.openxmlformats.org/drawingml/2006/main">
              <a:ext uri="{FF2B5EF4-FFF2-40B4-BE49-F238E27FC236}">
                <a16:creationId xmlns:a16="http://schemas.microsoft.com/office/drawing/2014/main" id="{F28ED75B-0124-45A0-A5B8-CE5323B8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Geometría</a:t>
            </a:r>
          </a:p>
        </p:txBody>
      </p:sp>
      <p:sp>
        <p:nvSpPr>
          <p:cNvPr id="18" name="U09-DG-043-step_2-box">
            <a:extLst xmlns:a="http://schemas.openxmlformats.org/drawingml/2006/main">
              <a:ext uri="{FF2B5EF4-FFF2-40B4-BE49-F238E27FC236}">
                <a16:creationId xmlns:a16="http://schemas.microsoft.com/office/drawing/2014/main" id="{928FD788-B3FB-452B-AD37-C63BFAA7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43-step_2-text">
            <a:extLst xmlns:a="http://schemas.openxmlformats.org/drawingml/2006/main">
              <a:ext uri="{FF2B5EF4-FFF2-40B4-BE49-F238E27FC236}">
                <a16:creationId xmlns:a16="http://schemas.microsoft.com/office/drawing/2014/main" id="{4AB274F3-EC55-4A91-AA4C-2952EA09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llegadas</a:t>
            </a:r>
          </a:p>
        </p:txBody>
      </p:sp>
      <p:sp>
        <p:nvSpPr>
          <p:cNvPr id="20" name="U09-DG-043-step_3-box">
            <a:extLst xmlns:a="http://schemas.openxmlformats.org/drawingml/2006/main">
              <a:ext uri="{FF2B5EF4-FFF2-40B4-BE49-F238E27FC236}">
                <a16:creationId xmlns:a16="http://schemas.microsoft.com/office/drawing/2014/main" id="{506185B1-18D5-4F7B-910F-C4C7F1B2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43-step_3-text">
            <a:extLst xmlns:a="http://schemas.openxmlformats.org/drawingml/2006/main">
              <a:ext uri="{FF2B5EF4-FFF2-40B4-BE49-F238E27FC236}">
                <a16:creationId xmlns:a16="http://schemas.microsoft.com/office/drawing/2014/main" id="{EE166D71-0A65-405C-B278-3661D6B9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decaimiento</a:t>
            </a:r>
          </a:p>
        </p:txBody>
      </p:sp>
      <p:sp>
        <p:nvSpPr>
          <p:cNvPr id="22" name="U09-DG-043-step_4-box">
            <a:extLst xmlns:a="http://schemas.openxmlformats.org/drawingml/2006/main">
              <a:ext uri="{FF2B5EF4-FFF2-40B4-BE49-F238E27FC236}">
                <a16:creationId xmlns:a16="http://schemas.microsoft.com/office/drawing/2014/main" id="{95DCDBEB-FAAE-4B22-BC79-0E95D34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43-step_4-text">
            <a:extLst xmlns:a="http://schemas.openxmlformats.org/drawingml/2006/main">
              <a:ext uri="{FF2B5EF4-FFF2-40B4-BE49-F238E27FC236}">
                <a16:creationId xmlns:a16="http://schemas.microsoft.com/office/drawing/2014/main" id="{F9B946D7-F022-44AD-9954-6C55C438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descriptor</a:t>
            </a:r>
          </a:p>
        </p:txBody>
      </p:sp>
      <p:sp>
        <p:nvSpPr>
          <p:cNvPr id="24" name="U09-DG-043-step_5-box">
            <a:extLst xmlns:a="http://schemas.openxmlformats.org/drawingml/2006/main">
              <a:ext uri="{FF2B5EF4-FFF2-40B4-BE49-F238E27FC236}">
                <a16:creationId xmlns:a16="http://schemas.microsoft.com/office/drawing/2014/main" id="{E0B71F17-D0F8-4A36-964D-120EE6F7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43-step_5-text">
            <a:extLst xmlns:a="http://schemas.openxmlformats.org/drawingml/2006/main">
              <a:ext uri="{FF2B5EF4-FFF2-40B4-BE49-F238E27FC236}">
                <a16:creationId xmlns:a16="http://schemas.microsoft.com/office/drawing/2014/main" id="{69A06685-A46F-4C61-9E11-2447B382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con límites laterales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E65BCCDD-2880-4BB6-9C7D-CE411EB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reflexiones explican persistencia; t₆₀ y sabine resumen bajo hipótesis, no miden aislamiento. · U09-DG-043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ADAECEC-4E40-442F-A512-4C77E9AB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5C288D43-0CC5-4F00-942E-C0A86096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D791C6F7-B8A3-4BCB-9A9D-3A68D2F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limita el paso entre espacios?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7EAE5C07-BC20-4BFD-8E78-4AF602FE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Aislar exige analizar el conjunto y sus rutas, no solo una superficie ideal.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3645D9-6BA4-44BB-987B-3E1C70A3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A8FDB5DF-13C1-4A02-AAC7-F2951492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691006C-603D-4622-9243-3637B8AD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DA7F47D-0B22-469A-9502-763B900E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D5FF86E-87D6-4657-9FA8-A6E77695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21712E-87CE-480F-866C-1656649E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τₑ al índice 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DB20CFD-5FAA-4C8D-87CB-F29C28D4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Ecuación anotada</a:t>
            </a:r>
          </a:p>
        </p:txBody>
      </p:sp>
      <p:sp>
        <p:nvSpPr>
          <p:cNvPr id="7" name="U09-DG-044-equation-anchor">
            <a:extLst xmlns:a="http://schemas.openxmlformats.org/drawingml/2006/main">
              <a:ext uri="{FF2B5EF4-FFF2-40B4-BE49-F238E27FC236}">
                <a16:creationId xmlns:a16="http://schemas.microsoft.com/office/drawing/2014/main" id="{5EA1735E-87D5-451E-98C5-3468AB5F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4-callout_1-anchor">
            <a:extLst xmlns:a="http://schemas.openxmlformats.org/drawingml/2006/main">
              <a:ext uri="{FF2B5EF4-FFF2-40B4-BE49-F238E27FC236}">
                <a16:creationId xmlns:a16="http://schemas.microsoft.com/office/drawing/2014/main" id="{7DF3AE06-D9B5-46DE-A3B5-EED31960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4-callout_2-anchor">
            <a:extLst xmlns:a="http://schemas.openxmlformats.org/drawingml/2006/main">
              <a:ext uri="{FF2B5EF4-FFF2-40B4-BE49-F238E27FC236}">
                <a16:creationId xmlns:a16="http://schemas.microsoft.com/office/drawing/2014/main" id="{6AA21862-9BB5-4228-8F8C-D68DC1AF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4-callout_3-anchor">
            <a:extLst xmlns:a="http://schemas.openxmlformats.org/drawingml/2006/main">
              <a:ext uri="{FF2B5EF4-FFF2-40B4-BE49-F238E27FC236}">
                <a16:creationId xmlns:a16="http://schemas.microsoft.com/office/drawing/2014/main" id="{3E9B85E5-9C4B-4AB3-9DA5-712D9BAD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4-callout_4-anchor">
            <a:extLst xmlns:a="http://schemas.openxmlformats.org/drawingml/2006/main">
              <a:ext uri="{FF2B5EF4-FFF2-40B4-BE49-F238E27FC236}">
                <a16:creationId xmlns:a16="http://schemas.microsoft.com/office/drawing/2014/main" id="{70B88087-4D6F-4E88-B16C-3835945C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44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44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44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44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4-visual-alt" descr="U09-DG-044, candidata para diagram-generation. La composición permite reconocer que menor fracción transmitida corresponde a mayor r.">
            <a:extLst xmlns:a="http://schemas.openxmlformats.org/drawingml/2006/main">
              <a:ext uri="{FF2B5EF4-FFF2-40B4-BE49-F238E27FC236}">
                <a16:creationId xmlns:a16="http://schemas.microsoft.com/office/drawing/2014/main" id="{5AFD9359-8392-4D22-AEB0-E99006B7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44-equation-text">
            <a:extLst xmlns:a="http://schemas.openxmlformats.org/drawingml/2006/main">
              <a:ext uri="{FF2B5EF4-FFF2-40B4-BE49-F238E27FC236}">
                <a16:creationId xmlns:a16="http://schemas.microsoft.com/office/drawing/2014/main" id="{75D062B4-E3FD-46AE-B3EA-AB444DA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R=10 log10(1/τₑ)</a:t>
            </a:r>
          </a:p>
        </p:txBody>
      </p:sp>
      <p:sp>
        <p:nvSpPr>
          <p:cNvPr id="18" name="U09-DG-044-callout_1-box">
            <a:extLst xmlns:a="http://schemas.openxmlformats.org/drawingml/2006/main">
              <a:ext uri="{FF2B5EF4-FFF2-40B4-BE49-F238E27FC236}">
                <a16:creationId xmlns:a16="http://schemas.microsoft.com/office/drawing/2014/main" id="{0022B82D-CCD9-49E8-8CC9-469E10B1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4-callout_1-text">
            <a:extLst xmlns:a="http://schemas.openxmlformats.org/drawingml/2006/main">
              <a:ext uri="{FF2B5EF4-FFF2-40B4-BE49-F238E27FC236}">
                <a16:creationId xmlns:a16="http://schemas.microsoft.com/office/drawing/2014/main" id="{03F7E273-C03A-4341-8EA5-808303ED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τₑ: fracción</a:t>
            </a:r>
          </a:p>
        </p:txBody>
      </p:sp>
      <p:sp>
        <p:nvSpPr>
          <p:cNvPr id="20" name="U09-DG-044-callout_2-box">
            <a:extLst xmlns:a="http://schemas.openxmlformats.org/drawingml/2006/main">
              <a:ext uri="{FF2B5EF4-FFF2-40B4-BE49-F238E27FC236}">
                <a16:creationId xmlns:a16="http://schemas.microsoft.com/office/drawing/2014/main" id="{2F4E8CA3-52AB-481D-A3EE-04DC5AB3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4-callout_2-text">
            <a:extLst xmlns:a="http://schemas.openxmlformats.org/drawingml/2006/main">
              <a:ext uri="{FF2B5EF4-FFF2-40B4-BE49-F238E27FC236}">
                <a16:creationId xmlns:a16="http://schemas.microsoft.com/office/drawing/2014/main" id="{1D3C91C2-2E21-4982-9334-C669420E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R: índice en dB</a:t>
            </a:r>
          </a:p>
        </p:txBody>
      </p:sp>
      <p:sp>
        <p:nvSpPr>
          <p:cNvPr id="22" name="U09-DG-044-callout_3-box">
            <a:extLst xmlns:a="http://schemas.openxmlformats.org/drawingml/2006/main">
              <a:ext uri="{FF2B5EF4-FFF2-40B4-BE49-F238E27FC236}">
                <a16:creationId xmlns:a16="http://schemas.microsoft.com/office/drawing/2014/main" id="{13DA0A51-028B-472E-B0A6-5A5CA604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4-callout_3-text">
            <a:extLst xmlns:a="http://schemas.openxmlformats.org/drawingml/2006/main">
              <a:ext uri="{FF2B5EF4-FFF2-40B4-BE49-F238E27FC236}">
                <a16:creationId xmlns:a16="http://schemas.microsoft.com/office/drawing/2014/main" id="{62C6D3D0-8C05-4B40-B319-93E5BF02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Escala logarítmica</a:t>
            </a:r>
          </a:p>
        </p:txBody>
      </p:sp>
      <p:sp>
        <p:nvSpPr>
          <p:cNvPr id="24" name="U09-DG-044-callout_4-box">
            <a:extLst xmlns:a="http://schemas.openxmlformats.org/drawingml/2006/main">
              <a:ext uri="{FF2B5EF4-FFF2-40B4-BE49-F238E27FC236}">
                <a16:creationId xmlns:a16="http://schemas.microsoft.com/office/drawing/2014/main" id="{8E90614A-2206-42BA-BCE3-2694FDF0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4-callout_4-text">
            <a:extLst xmlns:a="http://schemas.openxmlformats.org/drawingml/2006/main">
              <a:ext uri="{FF2B5EF4-FFF2-40B4-BE49-F238E27FC236}">
                <a16:creationId xmlns:a16="http://schemas.microsoft.com/office/drawing/2014/main" id="{BBC47D88-ED81-4DED-8DA2-74D271D9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0,01 → 20 dB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3154ED94-07D6-47AC-9053-0B20432A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menor fracción transmitida corresponde a mayor r. · U09-DG-044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C83CA29-61CF-455E-9348-D43460C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05FB489F-BFBB-4E63-9B8E-883D270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62DA530-B060-48D1-911E-67AB61C9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2FF6160-1E1F-4BA3-99D6-38DEA14B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39F5360-814B-4597-A41E-DBAF0DF1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2AB3D4-0810-4821-A751-ACC69786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escala lineal se vuelve logarítmica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A8F3F6-DD01-4843-A7FE-FBDC3862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Gráfico cuantitativo</a:t>
            </a:r>
          </a:p>
        </p:txBody>
      </p:sp>
      <p:sp>
        <p:nvSpPr>
          <p:cNvPr id="7" name="U09-059-claim-alt" descr="U09-CH-007 transmisión frente a índice. La composición permite reconocer que cada década menos de transmisión suma 10 db al índice ideal.">
            <a:extLst xmlns:a="http://schemas.openxmlformats.org/drawingml/2006/main">
              <a:ext uri="{FF2B5EF4-FFF2-40B4-BE49-F238E27FC236}">
                <a16:creationId xmlns:a16="http://schemas.microsoft.com/office/drawing/2014/main" id="{9DB56DB5-03AF-4255-9CFD-C3DAF5D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duction-formula">
            <a:extLst xmlns:a="http://schemas.openxmlformats.org/drawingml/2006/main">
              <a:ext uri="{FF2B5EF4-FFF2-40B4-BE49-F238E27FC236}">
                <a16:creationId xmlns:a16="http://schemas.microsoft.com/office/drawing/2014/main" id="{53B3166F-02BB-47D4-9A6E-D612815E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R = 10 log₁₀(1 / τ)</a:t>
            </a:r>
          </a:p>
        </p:txBody>
      </p:sp>
      <p:sp>
        <p:nvSpPr>
          <p:cNvPr id="9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C6C5D99B-37F3-48AC-86C9-69FCD344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3337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0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2993D48B-AFAF-4663-8512-F4431C3C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τ = 0,1</a:t>
            </a:r>
          </a:p>
        </p:txBody>
      </p:sp>
      <p:sp>
        <p:nvSpPr>
          <p:cNvPr id="11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47B3C027-34EE-436C-B360-AD1A6393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91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 = 10 dB</a:t>
            </a:r>
          </a:p>
        </p:txBody>
      </p:sp>
      <p:sp>
        <p:nvSpPr>
          <p:cNvPr id="12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515912A0-AEB5-46F9-93C6-3C9B1D5A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33337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3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C8CDFCEC-6B38-4951-88DD-7180091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τ = 0,01</a:t>
            </a:r>
          </a:p>
        </p:txBody>
      </p:sp>
      <p:sp>
        <p:nvSpPr>
          <p:cNvPr id="14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0AEE488E-D25E-4467-A074-3D6C18C8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291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 = 20 dB</a:t>
            </a:r>
          </a:p>
        </p:txBody>
      </p:sp>
      <p:sp>
        <p:nvSpPr>
          <p:cNvPr id="15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7C66D4F4-3FC3-43E9-9CA3-41356FB8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3337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6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BBD799C1-E91E-4352-8689-4D61D57E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τ = 0,001</a:t>
            </a:r>
          </a:p>
        </p:txBody>
      </p:sp>
      <p:sp>
        <p:nvSpPr>
          <p:cNvPr id="17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2256A925-84C2-4B80-8FD9-EA95F470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291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 = 30 dB</a:t>
            </a:r>
          </a:p>
        </p:txBody>
      </p:sp>
      <p:sp>
        <p:nvSpPr>
          <p:cNvPr id="18" name="log-key">
            <a:extLst xmlns:a="http://schemas.openxmlformats.org/drawingml/2006/main">
              <a:ext uri="{FF2B5EF4-FFF2-40B4-BE49-F238E27FC236}">
                <a16:creationId xmlns:a16="http://schemas.microsoft.com/office/drawing/2014/main" id="{410CC6DE-4632-42AC-974E-2F88801C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Cada reducción de τ por un factor 10 suma 10 dB de reducción sonora.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C53705-BC87-4F4C-9CCD-066EB0E5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37CED505-EEAB-4D66-B1A3-2D13418B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69F9B71-81A9-4C0B-A42F-84EBF68E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5731358-1CF0-449E-9C05-CDB6183E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EF12C69-9467-4CC6-A12F-1729B9ED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F4208C-F0B1-426D-8842-5F3DB65F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sonido encuentra más de un camino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EE32EB0-273F-4C22-A5C2-7A7E3465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Diagrama de rutas</a:t>
            </a:r>
          </a:p>
        </p:txBody>
      </p:sp>
      <p:sp>
        <p:nvSpPr>
          <p:cNvPr id="7" name="U09-DG-045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0F999FA9-E755-43E9-A2B9-B2830E62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5-branch_1-anchor">
            <a:extLst xmlns:a="http://schemas.openxmlformats.org/drawingml/2006/main">
              <a:ext uri="{FF2B5EF4-FFF2-40B4-BE49-F238E27FC236}">
                <a16:creationId xmlns:a16="http://schemas.microsoft.com/office/drawing/2014/main" id="{5D956228-25FF-474E-8325-EFF77A3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5-branch_2-anchor">
            <a:extLst xmlns:a="http://schemas.openxmlformats.org/drawingml/2006/main">
              <a:ext uri="{FF2B5EF4-FFF2-40B4-BE49-F238E27FC236}">
                <a16:creationId xmlns:a16="http://schemas.microsoft.com/office/drawing/2014/main" id="{D5D646CF-9FA6-4101-90D6-9C179D92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5-branch_3-anchor">
            <a:extLst xmlns:a="http://schemas.openxmlformats.org/drawingml/2006/main">
              <a:ext uri="{FF2B5EF4-FFF2-40B4-BE49-F238E27FC236}">
                <a16:creationId xmlns:a16="http://schemas.microsoft.com/office/drawing/2014/main" id="{79D21132-7F48-49E9-A940-F9E3780C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5-branch_4-anchor">
            <a:extLst xmlns:a="http://schemas.openxmlformats.org/drawingml/2006/main">
              <a:ext uri="{FF2B5EF4-FFF2-40B4-BE49-F238E27FC236}">
                <a16:creationId xmlns:a16="http://schemas.microsoft.com/office/drawing/2014/main" id="{872F4DF1-7B77-466A-A5BC-FABC2ADC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45-branch_5-anchor">
            <a:extLst xmlns:a="http://schemas.openxmlformats.org/drawingml/2006/main">
              <a:ext uri="{FF2B5EF4-FFF2-40B4-BE49-F238E27FC236}">
                <a16:creationId xmlns:a16="http://schemas.microsoft.com/office/drawing/2014/main" id="{DB75EE18-06A6-4841-AD3D-8E51D81D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U09-DG-045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789272"/>
            <a:ext cx="289179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9-DG-045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570322"/>
            <a:ext cx="2891790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45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45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45-branch_edge_5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4210" y="3214688"/>
            <a:ext cx="2891790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45-visual-alt" descr="U09-DG-045, candidata para diagram-generation. La composición permite reconocer que el desempeño del conjunto puede quedar limitado por una ruta débil.">
            <a:extLst xmlns:a="http://schemas.openxmlformats.org/drawingml/2006/main">
              <a:ext uri="{FF2B5EF4-FFF2-40B4-BE49-F238E27FC236}">
                <a16:creationId xmlns:a16="http://schemas.microsoft.com/office/drawing/2014/main" id="{65215FBF-2857-43AC-95F4-EBA9837B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5-branch_source-text">
            <a:extLst xmlns:a="http://schemas.openxmlformats.org/drawingml/2006/main">
              <a:ext uri="{FF2B5EF4-FFF2-40B4-BE49-F238E27FC236}">
                <a16:creationId xmlns:a16="http://schemas.microsoft.com/office/drawing/2014/main" id="{16B37B51-70D4-4395-811D-401C81E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Rutas entre recintos</a:t>
            </a:r>
          </a:p>
        </p:txBody>
      </p:sp>
      <p:sp>
        <p:nvSpPr>
          <p:cNvPr id="20" name="U09-DG-045-branch_1-box">
            <a:extLst xmlns:a="http://schemas.openxmlformats.org/drawingml/2006/main">
              <a:ext uri="{FF2B5EF4-FFF2-40B4-BE49-F238E27FC236}">
                <a16:creationId xmlns:a16="http://schemas.microsoft.com/office/drawing/2014/main" id="{7BB04583-3715-471C-AD0D-7397A974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5-branch_1-text">
            <a:extLst xmlns:a="http://schemas.openxmlformats.org/drawingml/2006/main">
              <a:ext uri="{FF2B5EF4-FFF2-40B4-BE49-F238E27FC236}">
                <a16:creationId xmlns:a16="http://schemas.microsoft.com/office/drawing/2014/main" id="{EE05E120-CF97-457B-8171-EA5C5A58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928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Pared</a:t>
            </a:r>
          </a:p>
        </p:txBody>
      </p:sp>
      <p:sp>
        <p:nvSpPr>
          <p:cNvPr id="22" name="U09-DG-045-branch_2-box">
            <a:extLst xmlns:a="http://schemas.openxmlformats.org/drawingml/2006/main">
              <a:ext uri="{FF2B5EF4-FFF2-40B4-BE49-F238E27FC236}">
                <a16:creationId xmlns:a16="http://schemas.microsoft.com/office/drawing/2014/main" id="{2F5AB463-B0C1-4638-A039-F2211114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5-branch_2-text">
            <a:extLst xmlns:a="http://schemas.openxmlformats.org/drawingml/2006/main">
              <a:ext uri="{FF2B5EF4-FFF2-40B4-BE49-F238E27FC236}">
                <a16:creationId xmlns:a16="http://schemas.microsoft.com/office/drawing/2014/main" id="{D2282F3F-5BBB-4DC0-A70D-C4ECC9EB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39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Puerta y junta</a:t>
            </a:r>
          </a:p>
        </p:txBody>
      </p:sp>
      <p:sp>
        <p:nvSpPr>
          <p:cNvPr id="24" name="U09-DG-045-branch_3-box">
            <a:extLst xmlns:a="http://schemas.openxmlformats.org/drawingml/2006/main">
              <a:ext uri="{FF2B5EF4-FFF2-40B4-BE49-F238E27FC236}">
                <a16:creationId xmlns:a16="http://schemas.microsoft.com/office/drawing/2014/main" id="{8FCD2005-2040-44C0-9B36-0DC6553F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5-branch_3-text">
            <a:extLst xmlns:a="http://schemas.openxmlformats.org/drawingml/2006/main">
              <a:ext uri="{FF2B5EF4-FFF2-40B4-BE49-F238E27FC236}">
                <a16:creationId xmlns:a16="http://schemas.microsoft.com/office/drawing/2014/main" id="{D7980567-FDF8-4D6B-9CFF-81C18A2F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49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Ventilación</a:t>
            </a:r>
          </a:p>
        </p:txBody>
      </p:sp>
      <p:sp>
        <p:nvSpPr>
          <p:cNvPr id="26" name="U09-DG-045-branch_4-box">
            <a:extLst xmlns:a="http://schemas.openxmlformats.org/drawingml/2006/main">
              <a:ext uri="{FF2B5EF4-FFF2-40B4-BE49-F238E27FC236}">
                <a16:creationId xmlns:a16="http://schemas.microsoft.com/office/drawing/2014/main" id="{6BB0F4AE-84DC-474B-8A3D-F86341F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45-branch_4-text">
            <a:extLst xmlns:a="http://schemas.openxmlformats.org/drawingml/2006/main">
              <a:ext uri="{FF2B5EF4-FFF2-40B4-BE49-F238E27FC236}">
                <a16:creationId xmlns:a16="http://schemas.microsoft.com/office/drawing/2014/main" id="{2D0FAE88-3C0D-45B6-A6FD-6A21D693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60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Estructura</a:t>
            </a:r>
          </a:p>
        </p:txBody>
      </p:sp>
      <p:sp>
        <p:nvSpPr>
          <p:cNvPr id="28" name="U09-DG-045-branch_5-box">
            <a:extLst xmlns:a="http://schemas.openxmlformats.org/drawingml/2006/main">
              <a:ext uri="{FF2B5EF4-FFF2-40B4-BE49-F238E27FC236}">
                <a16:creationId xmlns:a16="http://schemas.microsoft.com/office/drawing/2014/main" id="{E0BC33E9-FDB4-459E-AAD8-AB6AA800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45-branch_5-text">
            <a:extLst xmlns:a="http://schemas.openxmlformats.org/drawingml/2006/main">
              <a:ext uri="{FF2B5EF4-FFF2-40B4-BE49-F238E27FC236}">
                <a16:creationId xmlns:a16="http://schemas.microsoft.com/office/drawing/2014/main" id="{51921F5D-385D-45F7-82AC-82BAB250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70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Flanqueo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832C621A-85C8-451B-8215-C27493E3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el desempeño del conjunto puede quedar limitado por una ruta débil. · U09-DG-045 · UCASAL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223274-F438-417B-94AE-5BE81A2A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84A6016C-55E6-41B7-A399-44C72030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D919FAE-CC0A-4491-9E27-37B708E2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72482C8-C8F8-46B8-B6E7-3F81B31C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ADDD02B-2666-4D5C-AE55-E4327A83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A518AC-636A-4984-A7CB-BCC8DF5A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Acondicionar, aislar e insonorizar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4EFA64-6CC4-4078-97F5-143DA213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Comparación</a:t>
            </a:r>
          </a:p>
        </p:txBody>
      </p:sp>
      <p:sp>
        <p:nvSpPr>
          <p:cNvPr id="7" name="U09-DG-046-concept_1-anchor">
            <a:extLst xmlns:a="http://schemas.openxmlformats.org/drawingml/2006/main">
              <a:ext uri="{FF2B5EF4-FFF2-40B4-BE49-F238E27FC236}">
                <a16:creationId xmlns:a16="http://schemas.microsoft.com/office/drawing/2014/main" id="{B249A601-6A02-4FD5-BAF4-DC114511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6-concept_2-anchor">
            <a:extLst xmlns:a="http://schemas.openxmlformats.org/drawingml/2006/main">
              <a:ext uri="{FF2B5EF4-FFF2-40B4-BE49-F238E27FC236}">
                <a16:creationId xmlns:a16="http://schemas.microsoft.com/office/drawing/2014/main" id="{6C83AB9B-CCDD-4309-B880-773D3EB2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6-concept_3-anchor">
            <a:extLst xmlns:a="http://schemas.openxmlformats.org/drawingml/2006/main">
              <a:ext uri="{FF2B5EF4-FFF2-40B4-BE49-F238E27FC236}">
                <a16:creationId xmlns:a16="http://schemas.microsoft.com/office/drawing/2014/main" id="{1AABDD39-C1C0-495E-B40A-1D577871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6-concept_4-anchor">
            <a:extLst xmlns:a="http://schemas.openxmlformats.org/drawingml/2006/main">
              <a:ext uri="{FF2B5EF4-FFF2-40B4-BE49-F238E27FC236}">
                <a16:creationId xmlns:a16="http://schemas.microsoft.com/office/drawing/2014/main" id="{54401A97-71AA-4AE4-AEF0-DDC658BB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6-concept_5-anchor">
            <a:extLst xmlns:a="http://schemas.openxmlformats.org/drawingml/2006/main">
              <a:ext uri="{FF2B5EF4-FFF2-40B4-BE49-F238E27FC236}">
                <a16:creationId xmlns:a16="http://schemas.microsoft.com/office/drawing/2014/main" id="{9BDCF306-5D58-45A4-BC4A-A5A7556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46-concept_6-anchor">
            <a:extLst xmlns:a="http://schemas.openxmlformats.org/drawingml/2006/main">
              <a:ext uri="{FF2B5EF4-FFF2-40B4-BE49-F238E27FC236}">
                <a16:creationId xmlns:a16="http://schemas.microsoft.com/office/drawing/2014/main" id="{27441C04-F11F-475F-8D1D-65B2F9CB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46-visual-alt" descr="U09-DG-046, candidata para diagram-generation. La composición permite reconocer que acondicionar modifica el campo interior; aislar limita transmisión; insonorizar es un objetivo general.">
            <a:extLst xmlns:a="http://schemas.openxmlformats.org/drawingml/2006/main">
              <a:ext uri="{FF2B5EF4-FFF2-40B4-BE49-F238E27FC236}">
                <a16:creationId xmlns:a16="http://schemas.microsoft.com/office/drawing/2014/main" id="{5590B86F-607C-47B7-88C9-53649DF9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46-concept_1-text">
            <a:extLst xmlns:a="http://schemas.openxmlformats.org/drawingml/2006/main">
              <a:ext uri="{FF2B5EF4-FFF2-40B4-BE49-F238E27FC236}">
                <a16:creationId xmlns:a16="http://schemas.microsoft.com/office/drawing/2014/main" id="{5913836A-2E41-4FF0-948B-327BD6AA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Acondicionar</a:t>
            </a:r>
          </a:p>
        </p:txBody>
      </p:sp>
      <p:sp>
        <p:nvSpPr>
          <p:cNvPr id="15" name="U09-DG-046-concept_2-box">
            <a:extLst xmlns:a="http://schemas.openxmlformats.org/drawingml/2006/main">
              <a:ext uri="{FF2B5EF4-FFF2-40B4-BE49-F238E27FC236}">
                <a16:creationId xmlns:a16="http://schemas.microsoft.com/office/drawing/2014/main" id="{8BE3B2DF-8659-40B1-9E49-B57F35F0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46-concept_2-text">
            <a:extLst xmlns:a="http://schemas.openxmlformats.org/drawingml/2006/main">
              <a:ext uri="{FF2B5EF4-FFF2-40B4-BE49-F238E27FC236}">
                <a16:creationId xmlns:a16="http://schemas.microsoft.com/office/drawing/2014/main" id="{2574FE54-89D7-4669-AE9B-25685719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Aislar</a:t>
            </a:r>
          </a:p>
        </p:txBody>
      </p:sp>
      <p:sp>
        <p:nvSpPr>
          <p:cNvPr id="17" name="U09-DG-046-concept_3-box">
            <a:extLst xmlns:a="http://schemas.openxmlformats.org/drawingml/2006/main">
              <a:ext uri="{FF2B5EF4-FFF2-40B4-BE49-F238E27FC236}">
                <a16:creationId xmlns:a16="http://schemas.microsoft.com/office/drawing/2014/main" id="{D7532F2D-5323-462C-A0AE-E6693D4B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46-concept_3-text">
            <a:extLst xmlns:a="http://schemas.openxmlformats.org/drawingml/2006/main">
              <a:ext uri="{FF2B5EF4-FFF2-40B4-BE49-F238E27FC236}">
                <a16:creationId xmlns:a16="http://schemas.microsoft.com/office/drawing/2014/main" id="{9738BA57-13C9-4931-A016-A4FBEFCF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Insonorizar</a:t>
            </a:r>
          </a:p>
        </p:txBody>
      </p:sp>
      <p:sp>
        <p:nvSpPr>
          <p:cNvPr id="19" name="U09-DG-046-concept_4-box">
            <a:extLst xmlns:a="http://schemas.openxmlformats.org/drawingml/2006/main">
              <a:ext uri="{FF2B5EF4-FFF2-40B4-BE49-F238E27FC236}">
                <a16:creationId xmlns:a16="http://schemas.microsoft.com/office/drawing/2014/main" id="{B8A13AAE-AEEC-47AC-BB8A-54AE3E94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46-concept_4-text">
            <a:extLst xmlns:a="http://schemas.openxmlformats.org/drawingml/2006/main">
              <a:ext uri="{FF2B5EF4-FFF2-40B4-BE49-F238E27FC236}">
                <a16:creationId xmlns:a16="http://schemas.microsoft.com/office/drawing/2014/main" id="{15A88A79-9F48-4F23-AAEB-40A2280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Mecanismo</a:t>
            </a:r>
          </a:p>
        </p:txBody>
      </p:sp>
      <p:sp>
        <p:nvSpPr>
          <p:cNvPr id="21" name="U09-DG-046-concept_5-box">
            <a:extLst xmlns:a="http://schemas.openxmlformats.org/drawingml/2006/main">
              <a:ext uri="{FF2B5EF4-FFF2-40B4-BE49-F238E27FC236}">
                <a16:creationId xmlns:a16="http://schemas.microsoft.com/office/drawing/2014/main" id="{1607B8C7-3DBA-4CFE-8D95-7955DD1A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46-concept_5-text">
            <a:extLst xmlns:a="http://schemas.openxmlformats.org/drawingml/2006/main">
              <a:ext uri="{FF2B5EF4-FFF2-40B4-BE49-F238E27FC236}">
                <a16:creationId xmlns:a16="http://schemas.microsoft.com/office/drawing/2014/main" id="{C4FA94A1-6342-41AD-9928-8DE0A476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Magnitud</a:t>
            </a:r>
          </a:p>
        </p:txBody>
      </p:sp>
      <p:sp>
        <p:nvSpPr>
          <p:cNvPr id="23" name="U09-DG-046-concept_6-box">
            <a:extLst xmlns:a="http://schemas.openxmlformats.org/drawingml/2006/main">
              <a:ext uri="{FF2B5EF4-FFF2-40B4-BE49-F238E27FC236}">
                <a16:creationId xmlns:a16="http://schemas.microsoft.com/office/drawing/2014/main" id="{229FE372-9A7D-4419-AF8D-7902C85D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46-concept_6-text">
            <a:extLst xmlns:a="http://schemas.openxmlformats.org/drawingml/2006/main">
              <a:ext uri="{FF2B5EF4-FFF2-40B4-BE49-F238E27FC236}">
                <a16:creationId xmlns:a16="http://schemas.microsoft.com/office/drawing/2014/main" id="{48CF7C39-6110-44C0-B66A-E7D6E612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Verificación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02F0A7CD-719C-4B4C-B063-79E3D36D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acondicionar modifica el campo interior; aislar limita transmisión; insonorizar es un objetivo… · U09-DG-046 · UCASAL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1BD769E-F2FC-4BBB-B219-F8984949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4E43518-9A89-4D4A-925F-B6E2083D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E7D2931-667E-4FE9-97BF-3FACFC3A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C789CFE-9984-4962-AA17-091AFE27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05799B9-630B-4580-957B-0DC772A0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301172-6583-4F6F-81F0-242B4F23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Masa superficial: masa por unidad de área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838B836-EFE5-4533-BE07-FC2CF54C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Concepto</a:t>
            </a:r>
          </a:p>
        </p:txBody>
      </p:sp>
      <p:sp>
        <p:nvSpPr>
          <p:cNvPr id="7" name="U09-DG-047-equation-anchor">
            <a:extLst xmlns:a="http://schemas.openxmlformats.org/drawingml/2006/main">
              <a:ext uri="{FF2B5EF4-FFF2-40B4-BE49-F238E27FC236}">
                <a16:creationId xmlns:a16="http://schemas.microsoft.com/office/drawing/2014/main" id="{EFD19D27-F063-46A9-BB22-29C9340C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7-callout_1-anchor">
            <a:extLst xmlns:a="http://schemas.openxmlformats.org/drawingml/2006/main">
              <a:ext uri="{FF2B5EF4-FFF2-40B4-BE49-F238E27FC236}">
                <a16:creationId xmlns:a16="http://schemas.microsoft.com/office/drawing/2014/main" id="{13A07BBA-9C52-41AF-AF8D-84E429B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7-callout_2-anchor">
            <a:extLst xmlns:a="http://schemas.openxmlformats.org/drawingml/2006/main">
              <a:ext uri="{FF2B5EF4-FFF2-40B4-BE49-F238E27FC236}">
                <a16:creationId xmlns:a16="http://schemas.microsoft.com/office/drawing/2014/main" id="{66D7F4BA-188D-44E8-80A1-F89FB487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7-callout_3-anchor">
            <a:extLst xmlns:a="http://schemas.openxmlformats.org/drawingml/2006/main">
              <a:ext uri="{FF2B5EF4-FFF2-40B4-BE49-F238E27FC236}">
                <a16:creationId xmlns:a16="http://schemas.microsoft.com/office/drawing/2014/main" id="{8573E390-6A2D-46FD-902E-BE13B2A3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7-callout_4-anchor">
            <a:extLst xmlns:a="http://schemas.openxmlformats.org/drawingml/2006/main">
              <a:ext uri="{FF2B5EF4-FFF2-40B4-BE49-F238E27FC236}">
                <a16:creationId xmlns:a16="http://schemas.microsoft.com/office/drawing/2014/main" id="{C5A86086-E350-46EB-9DE2-AC4FAC30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47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47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47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47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7-visual-alt" descr="U09-DG-047, candidata para diagram-generation. La composición permite reconocer que para una hoja simple ideal importa la masa superficial, no solo el material o el espesor por separado.">
            <a:extLst xmlns:a="http://schemas.openxmlformats.org/drawingml/2006/main">
              <a:ext uri="{FF2B5EF4-FFF2-40B4-BE49-F238E27FC236}">
                <a16:creationId xmlns:a16="http://schemas.microsoft.com/office/drawing/2014/main" id="{080666F9-766B-4ECA-A3EC-9127CBB3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47-equation-text">
            <a:extLst xmlns:a="http://schemas.openxmlformats.org/drawingml/2006/main">
              <a:ext uri="{FF2B5EF4-FFF2-40B4-BE49-F238E27FC236}">
                <a16:creationId xmlns:a16="http://schemas.microsoft.com/office/drawing/2014/main" id="{5AE222D0-C80E-454C-82F7-6B98C784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mₛ=m/A</a:t>
            </a:r>
          </a:p>
        </p:txBody>
      </p:sp>
      <p:sp>
        <p:nvSpPr>
          <p:cNvPr id="18" name="U09-DG-047-callout_1-box">
            <a:extLst xmlns:a="http://schemas.openxmlformats.org/drawingml/2006/main">
              <a:ext uri="{FF2B5EF4-FFF2-40B4-BE49-F238E27FC236}">
                <a16:creationId xmlns:a16="http://schemas.microsoft.com/office/drawing/2014/main" id="{5055FDB5-250E-46BB-9CA0-CBE3697C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7-callout_1-text">
            <a:extLst xmlns:a="http://schemas.openxmlformats.org/drawingml/2006/main">
              <a:ext uri="{FF2B5EF4-FFF2-40B4-BE49-F238E27FC236}">
                <a16:creationId xmlns:a16="http://schemas.microsoft.com/office/drawing/2014/main" id="{BB213342-2A54-4765-A28D-7B6C15D1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Paneles</a:t>
            </a:r>
          </a:p>
        </p:txBody>
      </p:sp>
      <p:sp>
        <p:nvSpPr>
          <p:cNvPr id="20" name="U09-DG-047-callout_2-box">
            <a:extLst xmlns:a="http://schemas.openxmlformats.org/drawingml/2006/main">
              <a:ext uri="{FF2B5EF4-FFF2-40B4-BE49-F238E27FC236}">
                <a16:creationId xmlns:a16="http://schemas.microsoft.com/office/drawing/2014/main" id="{0448E835-545D-427A-B305-467F7670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7-callout_2-text">
            <a:extLst xmlns:a="http://schemas.openxmlformats.org/drawingml/2006/main">
              <a:ext uri="{FF2B5EF4-FFF2-40B4-BE49-F238E27FC236}">
                <a16:creationId xmlns:a16="http://schemas.microsoft.com/office/drawing/2014/main" id="{5557531F-CC1F-4F12-B75C-E273E5E3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masa</a:t>
            </a:r>
          </a:p>
        </p:txBody>
      </p:sp>
      <p:sp>
        <p:nvSpPr>
          <p:cNvPr id="22" name="U09-DG-047-callout_3-box">
            <a:extLst xmlns:a="http://schemas.openxmlformats.org/drawingml/2006/main">
              <a:ext uri="{FF2B5EF4-FFF2-40B4-BE49-F238E27FC236}">
                <a16:creationId xmlns:a16="http://schemas.microsoft.com/office/drawing/2014/main" id="{98FA04A2-F681-4DB0-9B1C-E1CDEED0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7-callout_3-text">
            <a:extLst xmlns:a="http://schemas.openxmlformats.org/drawingml/2006/main">
              <a:ext uri="{FF2B5EF4-FFF2-40B4-BE49-F238E27FC236}">
                <a16:creationId xmlns:a16="http://schemas.microsoft.com/office/drawing/2014/main" id="{EDDD2E8C-71FB-409A-AC03-9F1CFE1E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área</a:t>
            </a:r>
          </a:p>
        </p:txBody>
      </p:sp>
      <p:sp>
        <p:nvSpPr>
          <p:cNvPr id="24" name="U09-DG-047-callout_4-box">
            <a:extLst xmlns:a="http://schemas.openxmlformats.org/drawingml/2006/main">
              <a:ext uri="{FF2B5EF4-FFF2-40B4-BE49-F238E27FC236}">
                <a16:creationId xmlns:a16="http://schemas.microsoft.com/office/drawing/2014/main" id="{C5EC5F12-90D5-49E1-B7D7-F1D94802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7-callout_4-text">
            <a:extLst xmlns:a="http://schemas.openxmlformats.org/drawingml/2006/main">
              <a:ext uri="{FF2B5EF4-FFF2-40B4-BE49-F238E27FC236}">
                <a16:creationId xmlns:a16="http://schemas.microsoft.com/office/drawing/2014/main" id="{53B9EC07-4D3A-4C64-BEC2-9EA06F65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definición mₛ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7899D1FB-B4BA-4A19-B173-6289E363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para una hoja simple ideal importa la masa superficial, no solo el material o el espesor por se… · U09-DG-047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CEF245-FCBC-4313-9645-ED3640E5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C3701973-E554-406B-B264-41A2E181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76388DC-34B5-430C-B4A3-5E6EB1B6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45D0032-1216-4FC8-92B2-89472A48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1A2353F-C69D-4541-83E6-4289F60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3D7DC4-F3B8-446B-BCD7-BF1D223D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Ley de masas: una tendencia ideal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C94F13-1F6E-434C-955C-C0DD48D3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Ecuación anotada</a:t>
            </a:r>
          </a:p>
        </p:txBody>
      </p:sp>
      <p:sp>
        <p:nvSpPr>
          <p:cNvPr id="7" name="U09-063-claim-alt">
            <a:extLst xmlns:a="http://schemas.openxmlformats.org/drawingml/2006/main">
              <a:ext uri="{FF2B5EF4-FFF2-40B4-BE49-F238E27FC236}">
                <a16:creationId xmlns:a16="http://schemas.microsoft.com/office/drawing/2014/main" id="{3E6C5790-B47D-4038-A22A-513A0758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ss-law-formula">
            <a:extLst xmlns:a="http://schemas.openxmlformats.org/drawingml/2006/main">
              <a:ext uri="{FF2B5EF4-FFF2-40B4-BE49-F238E27FC236}">
                <a16:creationId xmlns:a16="http://schemas.microsoft.com/office/drawing/2014/main" id="{A55F0615-7940-4C66-A0F0-38948ABA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1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ΔR ≈ 20 log₁₀(mₛ₂ / mₛ₁)</a:t>
            </a:r>
          </a:p>
        </p:txBody>
      </p:sp>
      <p:sp>
        <p:nvSpPr>
          <p:cNvPr id="9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1D1BD5F9-2AB3-41FF-A736-F8CFF53F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50958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0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39E2E85D-68E9-45DD-9ECD-C051D5AD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Lectura relativa</a:t>
            </a:r>
          </a:p>
        </p:txBody>
      </p:sp>
      <p:sp>
        <p:nvSpPr>
          <p:cNvPr id="11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1DB44AE4-AEBD-40DF-825C-3D73BC3C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4676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la masa superficial se duplica, la reducción ideal aumenta aproximadamente 6 dB.</a:t>
            </a:r>
          </a:p>
        </p:txBody>
      </p:sp>
      <p:sp>
        <p:nvSpPr>
          <p:cNvPr id="12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F320CAEE-8362-4A33-B447-8613163A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50958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3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1EEC268E-D4AB-4F77-B0DA-84A9E9C0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3370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Límite del modelo</a:t>
            </a:r>
          </a:p>
        </p:txBody>
      </p:sp>
      <p:sp>
        <p:nvSpPr>
          <p:cNvPr id="14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FC4E753F-51BC-48A8-9D0A-3E90CA5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48050"/>
            <a:ext cx="4676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tendencia ideal no incluye resonancias, coincidencia, uniones, aberturas ni transmisión lateral.</a:t>
            </a:r>
          </a:p>
        </p:txBody>
      </p:sp>
      <p:sp>
        <p:nvSpPr>
          <p:cNvPr id="15" name="mass-law-key">
            <a:extLst xmlns:a="http://schemas.openxmlformats.org/drawingml/2006/main">
              <a:ext uri="{FF2B5EF4-FFF2-40B4-BE49-F238E27FC236}">
                <a16:creationId xmlns:a16="http://schemas.microsoft.com/office/drawing/2014/main" id="{C423172E-FA8B-4C96-AAB3-D1ECED0A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149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Usar la ley para comparar tendencias; no para certificar un cerramiento real.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DD379C-26CE-4768-99F4-DA36196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5D90EFD-5218-4B85-A5C9-42C8CB49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2AAD083-0BD7-4D8F-A206-2935A965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E18A24F-959E-4306-9A9E-F6242F60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6B1DD20-0576-47D8-8AA3-002446A1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F50A63-11B9-435D-B095-13308621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cambia al duplicar masa o frecuencia?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B68041-C7C0-44AB-9817-D4BAC99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Mini ejercicio</a:t>
            </a:r>
          </a:p>
        </p:txBody>
      </p:sp>
      <p:sp>
        <p:nvSpPr>
          <p:cNvPr id="7" name="U09-DG-049-equation-anchor">
            <a:extLst xmlns:a="http://schemas.openxmlformats.org/drawingml/2006/main">
              <a:ext uri="{FF2B5EF4-FFF2-40B4-BE49-F238E27FC236}">
                <a16:creationId xmlns:a16="http://schemas.microsoft.com/office/drawing/2014/main" id="{CE408DEA-C917-4E68-90C3-C4A84A93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9-callout_1-anchor">
            <a:extLst xmlns:a="http://schemas.openxmlformats.org/drawingml/2006/main">
              <a:ext uri="{FF2B5EF4-FFF2-40B4-BE49-F238E27FC236}">
                <a16:creationId xmlns:a16="http://schemas.microsoft.com/office/drawing/2014/main" id="{C78DA9DF-19A9-4740-8790-86138762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9-callout_2-anchor">
            <a:extLst xmlns:a="http://schemas.openxmlformats.org/drawingml/2006/main">
              <a:ext uri="{FF2B5EF4-FFF2-40B4-BE49-F238E27FC236}">
                <a16:creationId xmlns:a16="http://schemas.microsoft.com/office/drawing/2014/main" id="{09B15DFB-217C-4D5F-916D-949EDE01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9-callout_3-anchor">
            <a:extLst xmlns:a="http://schemas.openxmlformats.org/drawingml/2006/main">
              <a:ext uri="{FF2B5EF4-FFF2-40B4-BE49-F238E27FC236}">
                <a16:creationId xmlns:a16="http://schemas.microsoft.com/office/drawing/2014/main" id="{F28A87D9-E35B-43B1-A7FB-CE021672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9-callout_4-anchor">
            <a:extLst xmlns:a="http://schemas.openxmlformats.org/drawingml/2006/main">
              <a:ext uri="{FF2B5EF4-FFF2-40B4-BE49-F238E27FC236}">
                <a16:creationId xmlns:a16="http://schemas.microsoft.com/office/drawing/2014/main" id="{DD8DF072-E925-4199-8044-4ED0C64F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49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49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49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49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9-visual-alt" descr="Secuencia de cálculo U09-DG-049, candidata para diagram-generation. La composición permite reconocer que el cambio ideal es 20 log10 2 ≈ 6,02 db; no garantiza el desempeño real del sistema.">
            <a:extLst xmlns:a="http://schemas.openxmlformats.org/drawingml/2006/main">
              <a:ext uri="{FF2B5EF4-FFF2-40B4-BE49-F238E27FC236}">
                <a16:creationId xmlns:a16="http://schemas.microsoft.com/office/drawing/2014/main" id="{D423F38E-0129-4756-93CE-64DCD5A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49-equation-text">
            <a:extLst xmlns:a="http://schemas.openxmlformats.org/drawingml/2006/main">
              <a:ext uri="{FF2B5EF4-FFF2-40B4-BE49-F238E27FC236}">
                <a16:creationId xmlns:a16="http://schemas.microsoft.com/office/drawing/2014/main" id="{9E31DBD6-AB82-4198-8023-93E3D041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ΔR=20 log10 2≈6,02 dB</a:t>
            </a:r>
          </a:p>
        </p:txBody>
      </p:sp>
      <p:sp>
        <p:nvSpPr>
          <p:cNvPr id="18" name="U09-DG-049-callout_1-box">
            <a:extLst xmlns:a="http://schemas.openxmlformats.org/drawingml/2006/main">
              <a:ext uri="{FF2B5EF4-FFF2-40B4-BE49-F238E27FC236}">
                <a16:creationId xmlns:a16="http://schemas.microsoft.com/office/drawing/2014/main" id="{834177FB-0724-4A10-8CED-564B09F5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9-callout_1-text">
            <a:extLst xmlns:a="http://schemas.openxmlformats.org/drawingml/2006/main">
              <a:ext uri="{FF2B5EF4-FFF2-40B4-BE49-F238E27FC236}">
                <a16:creationId xmlns:a16="http://schemas.microsoft.com/office/drawing/2014/main" id="{7E632699-F94D-4A99-9D54-416B5376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Dos cadenas de cálculo</a:t>
            </a:r>
          </a:p>
        </p:txBody>
      </p:sp>
      <p:sp>
        <p:nvSpPr>
          <p:cNvPr id="20" name="U09-DG-049-callout_2-box">
            <a:extLst xmlns:a="http://schemas.openxmlformats.org/drawingml/2006/main">
              <a:ext uri="{FF2B5EF4-FFF2-40B4-BE49-F238E27FC236}">
                <a16:creationId xmlns:a16="http://schemas.microsoft.com/office/drawing/2014/main" id="{13B13028-6AF8-4DDA-B218-644C556C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9-callout_2-text">
            <a:extLst xmlns:a="http://schemas.openxmlformats.org/drawingml/2006/main">
              <a:ext uri="{FF2B5EF4-FFF2-40B4-BE49-F238E27FC236}">
                <a16:creationId xmlns:a16="http://schemas.microsoft.com/office/drawing/2014/main" id="{4C8C252E-D8B8-4AF6-ADB4-BFE448AA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f×2</a:t>
            </a:r>
          </a:p>
        </p:txBody>
      </p:sp>
      <p:sp>
        <p:nvSpPr>
          <p:cNvPr id="22" name="U09-DG-049-callout_3-box">
            <a:extLst xmlns:a="http://schemas.openxmlformats.org/drawingml/2006/main">
              <a:ext uri="{FF2B5EF4-FFF2-40B4-BE49-F238E27FC236}">
                <a16:creationId xmlns:a16="http://schemas.microsoft.com/office/drawing/2014/main" id="{DF2E1796-90A5-4BA0-8D4A-8640B38B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9-callout_3-text">
            <a:extLst xmlns:a="http://schemas.openxmlformats.org/drawingml/2006/main">
              <a:ext uri="{FF2B5EF4-FFF2-40B4-BE49-F238E27FC236}">
                <a16:creationId xmlns:a16="http://schemas.microsoft.com/office/drawing/2014/main" id="{8E18974B-3F9B-4003-9F91-0FB4F35E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conclusión común</a:t>
            </a:r>
          </a:p>
        </p:txBody>
      </p:sp>
      <p:sp>
        <p:nvSpPr>
          <p:cNvPr id="24" name="U09-DG-049-callout_4-box">
            <a:extLst xmlns:a="http://schemas.openxmlformats.org/drawingml/2006/main">
              <a:ext uri="{FF2B5EF4-FFF2-40B4-BE49-F238E27FC236}">
                <a16:creationId xmlns:a16="http://schemas.microsoft.com/office/drawing/2014/main" id="{DC3C6056-1547-4435-9D31-3144BC17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9-callout_4-text">
            <a:extLst xmlns:a="http://schemas.openxmlformats.org/drawingml/2006/main">
              <a:ext uri="{FF2B5EF4-FFF2-40B4-BE49-F238E27FC236}">
                <a16:creationId xmlns:a16="http://schemas.microsoft.com/office/drawing/2014/main" id="{897CB22E-37CC-4B80-A576-13AFABF2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alcance del modelo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F715BFC4-3FD2-42D9-B07A-CD87E94C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el cambio ideal es 20 log10 2 ≈ 6,02 db; no garantiza el desempeño real del sistema. · U09-DG-049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4FD8DF-66BB-48AF-B73B-B077C2A8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AECC1B50-872E-4C77-9D57-6670134E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4CBE517-7BCA-4880-A131-8DF4F032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A57C8D0-3D05-430A-A299-CC3B76D1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F9D0512-E7F2-43FB-9AB2-7C7C7914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B52425-1CE5-46C4-B628-22B534F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Fuera de la recta ideal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FD12E21-9156-414B-98E9-087B8085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Ampliación gráfica</a:t>
            </a:r>
          </a:p>
        </p:txBody>
      </p:sp>
      <p:sp>
        <p:nvSpPr>
          <p:cNvPr id="7" name="U09-065-claim-alt" descr="U09-CH-008 ley de masas con regiones cualitativas. La composición permite reconocer que una pared real presenta regiones que la ley de masas simple no describe.">
            <a:extLst xmlns:a="http://schemas.openxmlformats.org/drawingml/2006/main">
              <a:ext uri="{FF2B5EF4-FFF2-40B4-BE49-F238E27FC236}">
                <a16:creationId xmlns:a16="http://schemas.microsoft.com/office/drawing/2014/main" id="{4D5B7965-6611-4D98-8F19-F7987D0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3B68CA2D-1EFD-46C9-91EB-F65E9E8E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CDF7A577-8678-4BB1-A210-ABB49819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Bajas frecuencias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756C2624-6FAA-4543-8FEF-8BECFE7A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rigidez y las resonancias dominan: la recta ideal no describe bien el sistema.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FD4646C1-E60D-4278-98F1-556E38F1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936EBEFF-5F6F-443A-A973-E3213A24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Región de masa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BC75D524-02C8-42AB-AB7D-1EFF656D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tendencia ideal crece cerca de 6 dB por octava al aumentar la frecuencia.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0D48FF93-1AC8-4072-85F6-EA7799FB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E75820B8-E0DA-48FB-9533-8FC37B0A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Altas frecuencias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724BD7CD-FF16-49BD-B491-03160158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Coincidencia, estructura y vías laterales pueden reducir el desempeño esperado.</a:t>
            </a:r>
          </a:p>
        </p:txBody>
      </p:sp>
      <p:sp>
        <p:nvSpPr>
          <p:cNvPr id="17" name="mass-regions-key">
            <a:extLst xmlns:a="http://schemas.openxmlformats.org/drawingml/2006/main">
              <a:ext uri="{FF2B5EF4-FFF2-40B4-BE49-F238E27FC236}">
                <a16:creationId xmlns:a16="http://schemas.microsoft.com/office/drawing/2014/main" id="{69EF0CF0-35F3-479F-ACDE-9CB136E6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Curva conceptual: las regiones dependen del elemento y de sus condiciones de montaje.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519FC6-4606-442D-A06E-C7580AB1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4782F85C-66F8-460D-BEF3-8E43104D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FE7169B-C554-494D-B6EA-E69FCB05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FAF6752-63A7-46D3-9593-9B19DBDF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643BC63-CCE8-4FDB-AAF8-8B62F4C4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9E321C-3212-43D4-B821-90D037C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pared robusta con una puerta débil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9DB488-93DE-4D4A-99DA-513DAB0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Ampliación aplicada</a:t>
            </a:r>
          </a:p>
        </p:txBody>
      </p:sp>
      <p:sp>
        <p:nvSpPr>
          <p:cNvPr id="7" name="U09-066-claim-alt" descr="Imagen técnica U09-IMG-002 o diagrama U09-DG-050, candidata para diagram-generation. La composición permite reconocer que mejorar el elemento principal no compensa automáticamente fugas, accesos o flanqueo.">
            <a:extLst xmlns:a="http://schemas.openxmlformats.org/drawingml/2006/main">
              <a:ext uri="{FF2B5EF4-FFF2-40B4-BE49-F238E27FC236}">
                <a16:creationId xmlns:a16="http://schemas.microsoft.com/office/drawing/2014/main" id="{86A267D5-ABFF-4BC8-9C34-F5EFE2DC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BB0C9D10-F5D5-407E-B903-87F97AE2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C1410E79-6892-4A79-8DCC-DE99E90F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Pared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5C231227-8C3F-40F5-A6CF-FF3002C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Buen desempeño del paño opaco.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9207F2E5-8D64-456A-903C-85B3D32F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C982EF8A-B1C2-4CA5-B7A7-7CA8E196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Puerta y sellos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6A196FFB-50B1-4353-9895-2904D221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abertura o junta débil puede dominar el resultado global.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05292C29-5228-4B47-825F-59E2D76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B9E83CF2-0D00-4229-9FBC-6C76525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Sistema completo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CA06A7F4-BFC5-4559-B735-C49C9892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aislamiento se evalúa con todas las vías: directa, laterales y fugas.</a:t>
            </a:r>
          </a:p>
        </p:txBody>
      </p:sp>
      <p:sp>
        <p:nvSpPr>
          <p:cNvPr id="17" name="weak-link-key">
            <a:extLst xmlns:a="http://schemas.openxmlformats.org/drawingml/2006/main">
              <a:ext uri="{FF2B5EF4-FFF2-40B4-BE49-F238E27FC236}">
                <a16:creationId xmlns:a16="http://schemas.microsoft.com/office/drawing/2014/main" id="{44A6DEB4-1320-4084-A82D-873E631A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El conjunto no aísla mejor que su vía dominante de transmisión.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DD24AB1-3452-45E7-927A-B6E10BF9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9D4ED84-7352-42AD-81D1-B24A5A0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84467A5-66F8-475E-ADCB-9F85DB0D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B4EEA7F-6DBC-487D-BFF9-36907102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4E3038B-A04C-4A01-BF3E-545BFB7B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57D10A-419B-4B02-A2DB-E5868C4E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¿Elemento, conjunto o ruta débil?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96BCE4-BC7F-429A-85B2-8FEA4186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Recapitulación y actividad</a:t>
            </a:r>
          </a:p>
        </p:txBody>
      </p:sp>
      <p:sp>
        <p:nvSpPr>
          <p:cNvPr id="7" name="U09-DG-051-step_1-anchor">
            <a:extLst xmlns:a="http://schemas.openxmlformats.org/drawingml/2006/main">
              <a:ext uri="{FF2B5EF4-FFF2-40B4-BE49-F238E27FC236}">
                <a16:creationId xmlns:a16="http://schemas.microsoft.com/office/drawing/2014/main" id="{2FD05379-88B0-4292-A42F-9911AE4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1-step_2-anchor">
            <a:extLst xmlns:a="http://schemas.openxmlformats.org/drawingml/2006/main">
              <a:ext uri="{FF2B5EF4-FFF2-40B4-BE49-F238E27FC236}">
                <a16:creationId xmlns:a16="http://schemas.microsoft.com/office/drawing/2014/main" id="{2713DEC9-C8C2-44A2-A9D6-2775FAC6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1-step_3-anchor">
            <a:extLst xmlns:a="http://schemas.openxmlformats.org/drawingml/2006/main">
              <a:ext uri="{FF2B5EF4-FFF2-40B4-BE49-F238E27FC236}">
                <a16:creationId xmlns:a16="http://schemas.microsoft.com/office/drawing/2014/main" id="{F4B7925D-80CC-418A-85BC-85658488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1-step_4-anchor">
            <a:extLst xmlns:a="http://schemas.openxmlformats.org/drawingml/2006/main">
              <a:ext uri="{FF2B5EF4-FFF2-40B4-BE49-F238E27FC236}">
                <a16:creationId xmlns:a16="http://schemas.microsoft.com/office/drawing/2014/main" id="{2F443085-9136-4F83-91AA-99ED471F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1-step_5-anchor">
            <a:extLst xmlns:a="http://schemas.openxmlformats.org/drawingml/2006/main">
              <a:ext uri="{FF2B5EF4-FFF2-40B4-BE49-F238E27FC236}">
                <a16:creationId xmlns:a16="http://schemas.microsoft.com/office/drawing/2014/main" id="{B0AC2EE8-57AB-4A16-9495-2355125F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51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51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51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51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51-visual-alt" descr="U09-DG-051, candidata para diagram-generation. La composición permite reconocer que τ_e, r y ley de masas describen relaciones acotadas; el aislamiento real pertenece al sistema.">
            <a:extLst xmlns:a="http://schemas.openxmlformats.org/drawingml/2006/main">
              <a:ext uri="{FF2B5EF4-FFF2-40B4-BE49-F238E27FC236}">
                <a16:creationId xmlns:a16="http://schemas.microsoft.com/office/drawing/2014/main" id="{58174BC6-FAD7-431C-8671-B74B31E2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51-step_1-text">
            <a:extLst xmlns:a="http://schemas.openxmlformats.org/drawingml/2006/main">
              <a:ext uri="{FF2B5EF4-FFF2-40B4-BE49-F238E27FC236}">
                <a16:creationId xmlns:a16="http://schemas.microsoft.com/office/drawing/2014/main" id="{F0BCAC5F-AFBB-4D1A-8710-181EFC30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Tres casos: absorbente</a:t>
            </a:r>
          </a:p>
        </p:txBody>
      </p:sp>
      <p:sp>
        <p:nvSpPr>
          <p:cNvPr id="18" name="U09-DG-051-step_2-box">
            <a:extLst xmlns:a="http://schemas.openxmlformats.org/drawingml/2006/main">
              <a:ext uri="{FF2B5EF4-FFF2-40B4-BE49-F238E27FC236}">
                <a16:creationId xmlns:a16="http://schemas.microsoft.com/office/drawing/2014/main" id="{FF822EBE-052B-46C1-BECF-461C0F09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51-step_2-text">
            <a:extLst xmlns:a="http://schemas.openxmlformats.org/drawingml/2006/main">
              <a:ext uri="{FF2B5EF4-FFF2-40B4-BE49-F238E27FC236}">
                <a16:creationId xmlns:a16="http://schemas.microsoft.com/office/drawing/2014/main" id="{E09E2BF4-997C-49AA-ABB6-6407F4E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panel más pesado</a:t>
            </a:r>
          </a:p>
        </p:txBody>
      </p:sp>
      <p:sp>
        <p:nvSpPr>
          <p:cNvPr id="20" name="U09-DG-051-step_3-box">
            <a:extLst xmlns:a="http://schemas.openxmlformats.org/drawingml/2006/main">
              <a:ext uri="{FF2B5EF4-FFF2-40B4-BE49-F238E27FC236}">
                <a16:creationId xmlns:a16="http://schemas.microsoft.com/office/drawing/2014/main" id="{4DB37EF7-D99D-4A5E-820B-E10EE975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51-step_3-text">
            <a:extLst xmlns:a="http://schemas.openxmlformats.org/drawingml/2006/main">
              <a:ext uri="{FF2B5EF4-FFF2-40B4-BE49-F238E27FC236}">
                <a16:creationId xmlns:a16="http://schemas.microsoft.com/office/drawing/2014/main" id="{B3ADC19E-3A42-4B9B-A203-9C933525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puerta abierta</a:t>
            </a:r>
          </a:p>
        </p:txBody>
      </p:sp>
      <p:sp>
        <p:nvSpPr>
          <p:cNvPr id="22" name="U09-DG-051-step_4-box">
            <a:extLst xmlns:a="http://schemas.openxmlformats.org/drawingml/2006/main">
              <a:ext uri="{FF2B5EF4-FFF2-40B4-BE49-F238E27FC236}">
                <a16:creationId xmlns:a16="http://schemas.microsoft.com/office/drawing/2014/main" id="{A8685CC0-393D-4C50-9D0F-A8535E0B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51-step_4-text">
            <a:extLst xmlns:a="http://schemas.openxmlformats.org/drawingml/2006/main">
              <a:ext uri="{FF2B5EF4-FFF2-40B4-BE49-F238E27FC236}">
                <a16:creationId xmlns:a16="http://schemas.microsoft.com/office/drawing/2014/main" id="{D94BF20D-B04F-45EE-B96D-5FED3572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decisión</a:t>
            </a:r>
          </a:p>
        </p:txBody>
      </p:sp>
      <p:sp>
        <p:nvSpPr>
          <p:cNvPr id="24" name="U09-DG-051-step_5-box">
            <a:extLst xmlns:a="http://schemas.openxmlformats.org/drawingml/2006/main">
              <a:ext uri="{FF2B5EF4-FFF2-40B4-BE49-F238E27FC236}">
                <a16:creationId xmlns:a16="http://schemas.microsoft.com/office/drawing/2014/main" id="{2FDD9076-842F-485C-96BA-53A0F06D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51-step_5-text">
            <a:extLst xmlns:a="http://schemas.openxmlformats.org/drawingml/2006/main">
              <a:ext uri="{FF2B5EF4-FFF2-40B4-BE49-F238E27FC236}">
                <a16:creationId xmlns:a16="http://schemas.microsoft.com/office/drawing/2014/main" id="{BADAD689-778F-4527-B17E-178744ED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justificación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64058794-AAE4-4AF0-BFFD-AAE06538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τ_e, r y ley de masas describen relaciones acotadas; el aislamiento real pertenece al sistema. · U09-DG-051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28FE65-1DB3-42B4-BAD6-1CDC1903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5855B97B-E4BE-421D-834E-793DB21D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9291D07-1293-41C6-A060-9736F5E9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debe cumplir una cabina para una prueba concreta?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D037F6A8-A31F-4C98-8547-37430CC4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Una cabina es un sistema de control y verificación, no una caja con espuma.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EE86E0-C9B8-485D-A403-FD868C72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-1">
            <a:extLst xmlns:a="http://schemas.openxmlformats.org/drawingml/2006/main">
              <a:ext uri="{FF2B5EF4-FFF2-40B4-BE49-F238E27FC236}">
                <a16:creationId xmlns:a16="http://schemas.microsoft.com/office/drawing/2014/main" id="{F9D7D358-B8B2-4324-A638-B06D2D66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E5C7983-5B83-4E33-A6A5-540E6B05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79B9403-341C-4225-AEC7-6652DA8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ECB5525-F22F-4A7C-9448-3DCFF03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53B70-40D4-4125-9AA6-00B2D1BC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“Si tiene espuma, está insonorizada”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E2C0259-C1D1-44FC-9011-B32F81F0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Error frecuente</a:t>
            </a:r>
          </a:p>
        </p:txBody>
      </p:sp>
      <p:sp>
        <p:nvSpPr>
          <p:cNvPr id="7" name="U09-DG-052-concept_1-anchor">
            <a:extLst xmlns:a="http://schemas.openxmlformats.org/drawingml/2006/main">
              <a:ext uri="{FF2B5EF4-FFF2-40B4-BE49-F238E27FC236}">
                <a16:creationId xmlns:a16="http://schemas.microsoft.com/office/drawing/2014/main" id="{B03918ED-73DF-4105-B55C-2E03D3F1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2-concept_2-anchor">
            <a:extLst xmlns:a="http://schemas.openxmlformats.org/drawingml/2006/main">
              <a:ext uri="{FF2B5EF4-FFF2-40B4-BE49-F238E27FC236}">
                <a16:creationId xmlns:a16="http://schemas.microsoft.com/office/drawing/2014/main" id="{B9FBED20-FD6A-46B1-8C22-8DE722EC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2-concept_3-anchor">
            <a:extLst xmlns:a="http://schemas.openxmlformats.org/drawingml/2006/main">
              <a:ext uri="{FF2B5EF4-FFF2-40B4-BE49-F238E27FC236}">
                <a16:creationId xmlns:a16="http://schemas.microsoft.com/office/drawing/2014/main" id="{DB52C064-ED45-411F-9464-A6872D01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2-concept_4-anchor">
            <a:extLst xmlns:a="http://schemas.openxmlformats.org/drawingml/2006/main">
              <a:ext uri="{FF2B5EF4-FFF2-40B4-BE49-F238E27FC236}">
                <a16:creationId xmlns:a16="http://schemas.microsoft.com/office/drawing/2014/main" id="{BE5883F4-3575-4427-933C-765A4E6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2-concept_5-anchor">
            <a:extLst xmlns:a="http://schemas.openxmlformats.org/drawingml/2006/main">
              <a:ext uri="{FF2B5EF4-FFF2-40B4-BE49-F238E27FC236}">
                <a16:creationId xmlns:a16="http://schemas.microsoft.com/office/drawing/2014/main" id="{E031086E-90DD-400E-A21B-BCB0D024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2-visual-alt" descr="U09-DG-052, candidata para diagram-generation. La composición permite reconocer que la absorción interior puede reducir reflexiones sin impedir el ingreso de ruido exterior.">
            <a:extLst xmlns:a="http://schemas.openxmlformats.org/drawingml/2006/main">
              <a:ext uri="{FF2B5EF4-FFF2-40B4-BE49-F238E27FC236}">
                <a16:creationId xmlns:a16="http://schemas.microsoft.com/office/drawing/2014/main" id="{1AD88CBF-0E77-414A-B67F-58D2FB7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09-DG-052-concept_1-text">
            <a:extLst xmlns:a="http://schemas.openxmlformats.org/drawingml/2006/main">
              <a:ext uri="{FF2B5EF4-FFF2-40B4-BE49-F238E27FC236}">
                <a16:creationId xmlns:a16="http://schemas.microsoft.com/office/drawing/2014/main" id="{EEBEB189-C2B7-47F7-8EAF-5BCCAB39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Espuma interior</a:t>
            </a:r>
          </a:p>
        </p:txBody>
      </p:sp>
      <p:sp>
        <p:nvSpPr>
          <p:cNvPr id="14" name="U09-DG-052-concept_2-box">
            <a:extLst xmlns:a="http://schemas.openxmlformats.org/drawingml/2006/main">
              <a:ext uri="{FF2B5EF4-FFF2-40B4-BE49-F238E27FC236}">
                <a16:creationId xmlns:a16="http://schemas.microsoft.com/office/drawing/2014/main" id="{4ECD7BB4-6677-476D-AD61-78061C8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09-DG-052-concept_2-text">
            <a:extLst xmlns:a="http://schemas.openxmlformats.org/drawingml/2006/main">
              <a:ext uri="{FF2B5EF4-FFF2-40B4-BE49-F238E27FC236}">
                <a16:creationId xmlns:a16="http://schemas.microsoft.com/office/drawing/2014/main" id="{B66C7FEC-E87C-4807-B005-8199B9E8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Menos reflexiones</a:t>
            </a:r>
          </a:p>
        </p:txBody>
      </p:sp>
      <p:sp>
        <p:nvSpPr>
          <p:cNvPr id="16" name="U09-DG-052-concept_3-box">
            <a:extLst xmlns:a="http://schemas.openxmlformats.org/drawingml/2006/main">
              <a:ext uri="{FF2B5EF4-FFF2-40B4-BE49-F238E27FC236}">
                <a16:creationId xmlns:a16="http://schemas.microsoft.com/office/drawing/2014/main" id="{18733779-5266-4042-8CE2-42EA953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09-DG-052-concept_3-text">
            <a:extLst xmlns:a="http://schemas.openxmlformats.org/drawingml/2006/main">
              <a:ext uri="{FF2B5EF4-FFF2-40B4-BE49-F238E27FC236}">
                <a16:creationId xmlns:a16="http://schemas.microsoft.com/office/drawing/2014/main" id="{BF240040-64A9-463A-9434-99A278A0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Envolvente sellada</a:t>
            </a:r>
          </a:p>
        </p:txBody>
      </p:sp>
      <p:sp>
        <p:nvSpPr>
          <p:cNvPr id="18" name="U09-DG-052-concept_4-box">
            <a:extLst xmlns:a="http://schemas.openxmlformats.org/drawingml/2006/main">
              <a:ext uri="{FF2B5EF4-FFF2-40B4-BE49-F238E27FC236}">
                <a16:creationId xmlns:a16="http://schemas.microsoft.com/office/drawing/2014/main" id="{BACF0597-022C-4E1B-9B9C-E7868F94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09-DG-052-concept_4-text">
            <a:extLst xmlns:a="http://schemas.openxmlformats.org/drawingml/2006/main">
              <a:ext uri="{FF2B5EF4-FFF2-40B4-BE49-F238E27FC236}">
                <a16:creationId xmlns:a16="http://schemas.microsoft.com/office/drawing/2014/main" id="{C8F93FA9-416F-4452-8E8A-D87E1ED5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Menos ingreso exterior</a:t>
            </a:r>
          </a:p>
        </p:txBody>
      </p:sp>
      <p:sp>
        <p:nvSpPr>
          <p:cNvPr id="20" name="U09-DG-052-concept_5-box">
            <a:extLst xmlns:a="http://schemas.openxmlformats.org/drawingml/2006/main">
              <a:ext uri="{FF2B5EF4-FFF2-40B4-BE49-F238E27FC236}">
                <a16:creationId xmlns:a16="http://schemas.microsoft.com/office/drawing/2014/main" id="{F878C536-EC8F-4C82-ABF7-CF862C9A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09-DG-052-concept_5-text">
            <a:extLst xmlns:a="http://schemas.openxmlformats.org/drawingml/2006/main">
              <a:ext uri="{FF2B5EF4-FFF2-40B4-BE49-F238E27FC236}">
                <a16:creationId xmlns:a16="http://schemas.microsoft.com/office/drawing/2014/main" id="{B0623D41-FD9E-4581-8628-4445F34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 son equivalentes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4F49ACF7-AAC8-45E8-8ADD-A159A76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absorción interior puede reducir reflexiones sin impedir el ingreso de ruido exterior. · U09-DG-052 · UCASAL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5C50A6-1B51-4F30-8530-53E396D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rail-1">
            <a:extLst xmlns:a="http://schemas.openxmlformats.org/drawingml/2006/main">
              <a:ext uri="{FF2B5EF4-FFF2-40B4-BE49-F238E27FC236}">
                <a16:creationId xmlns:a16="http://schemas.microsoft.com/office/drawing/2014/main" id="{4BB7D5F2-BD4A-40F4-B32C-1110886C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3463456-5E7A-4655-B099-36F87C8B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2F482C7-D2AD-48AB-AA65-51004732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3C63015-B7B9-4C20-89B4-755975B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E443DB-D56F-403E-929B-357BA087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cabina como conjunto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2DB591-B792-4726-BE86-39DD310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Diagrama de sistema</a:t>
            </a:r>
          </a:p>
        </p:txBody>
      </p:sp>
      <p:sp>
        <p:nvSpPr>
          <p:cNvPr id="7" name="U09-070-claim-alt" descr="U09-DG-053, candidata para diagram-generation, primera mitad de figura 9.6. La composición permite reconocer que envolvente, puerta, visor, sellos, ventilación, pasacables, uniones y apoyos interactúan.">
            <a:extLst xmlns:a="http://schemas.openxmlformats.org/drawingml/2006/main">
              <a:ext uri="{FF2B5EF4-FFF2-40B4-BE49-F238E27FC236}">
                <a16:creationId xmlns:a16="http://schemas.microsoft.com/office/drawing/2014/main" id="{BE30DC86-8E1A-4E93-8D5E-1A7D8268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oth-core-anchor">
            <a:extLst xmlns:a="http://schemas.openxmlformats.org/drawingml/2006/main">
              <a:ext uri="{FF2B5EF4-FFF2-40B4-BE49-F238E27FC236}">
                <a16:creationId xmlns:a16="http://schemas.microsoft.com/office/drawing/2014/main" id="{63ECC084-0D1E-4A46-8D43-E4385588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booth-node-anchor-0">
            <a:extLst xmlns:a="http://schemas.openxmlformats.org/drawingml/2006/main">
              <a:ext uri="{FF2B5EF4-FFF2-40B4-BE49-F238E27FC236}">
                <a16:creationId xmlns:a16="http://schemas.microsoft.com/office/drawing/2014/main" id="{4A1C732B-FBC1-4CAA-A76D-A09CB034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oth-node-anchor-1">
            <a:extLst xmlns:a="http://schemas.openxmlformats.org/drawingml/2006/main">
              <a:ext uri="{FF2B5EF4-FFF2-40B4-BE49-F238E27FC236}">
                <a16:creationId xmlns:a16="http://schemas.microsoft.com/office/drawing/2014/main" id="{4EC549E3-F44E-439A-AA8F-4B384638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oth-node-anchor-2">
            <a:extLst xmlns:a="http://schemas.openxmlformats.org/drawingml/2006/main">
              <a:ext uri="{FF2B5EF4-FFF2-40B4-BE49-F238E27FC236}">
                <a16:creationId xmlns:a16="http://schemas.microsoft.com/office/drawing/2014/main" id="{E0287064-156B-4437-B761-EB2043B9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oth-node-anchor-3">
            <a:extLst xmlns:a="http://schemas.openxmlformats.org/drawingml/2006/main">
              <a:ext uri="{FF2B5EF4-FFF2-40B4-BE49-F238E27FC236}">
                <a16:creationId xmlns:a16="http://schemas.microsoft.com/office/drawing/2014/main" id="{AB73D28B-B506-4FFF-8729-D88B0CB4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oth-node-anchor-4">
            <a:extLst xmlns:a="http://schemas.openxmlformats.org/drawingml/2006/main">
              <a:ext uri="{FF2B5EF4-FFF2-40B4-BE49-F238E27FC236}">
                <a16:creationId xmlns:a16="http://schemas.microsoft.com/office/drawing/2014/main" id="{721BA6E7-3A92-4040-9ACC-EC6F16E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95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oth-node-anchor-5">
            <a:extLst xmlns:a="http://schemas.openxmlformats.org/drawingml/2006/main">
              <a:ext uri="{FF2B5EF4-FFF2-40B4-BE49-F238E27FC236}">
                <a16:creationId xmlns:a16="http://schemas.microsoft.com/office/drawing/2014/main" id="{C2BA01AD-90E6-4B2E-BEF7-33623C8B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952875" y="2143125"/>
            <a:ext cx="8572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952875" y="3286125"/>
            <a:ext cx="8572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8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 flipV="1">
            <a:off x="5905500" y="2333625"/>
            <a:ext cx="19050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381875" y="2143125"/>
            <a:ext cx="4762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81875" y="3286125"/>
            <a:ext cx="4762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cxnSp>
        <p:nvCxnSpPr>
          <p:cNvPr id="49" name=""/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5905500" y="3714750"/>
            <a:ext cx="1905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69FA7"/>
            </a:solidFill>
            <a:prstDash val="solid"/>
          </a:ln>
        </p:spPr>
      </p:cxnSp>
      <p:sp>
        <p:nvSpPr>
          <p:cNvPr id="21" name="booth-core">
            <a:extLst xmlns:a="http://schemas.openxmlformats.org/drawingml/2006/main">
              <a:ext uri="{FF2B5EF4-FFF2-40B4-BE49-F238E27FC236}">
                <a16:creationId xmlns:a16="http://schemas.microsoft.com/office/drawing/2014/main" id="{3ECFA442-565F-4611-83E6-17B071F1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CABINA</a:t>
            </a:r>
          </a:p>
        </p:txBody>
      </p:sp>
      <p:sp>
        <p:nvSpPr>
          <p:cNvPr id="22" name="booth-node-0">
            <a:extLst xmlns:a="http://schemas.openxmlformats.org/drawingml/2006/main">
              <a:ext uri="{FF2B5EF4-FFF2-40B4-BE49-F238E27FC236}">
                <a16:creationId xmlns:a16="http://schemas.microsoft.com/office/drawing/2014/main" id="{1457761C-F654-44BF-BCE2-429B7488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Envolvente</a:t>
            </a:r>
          </a:p>
        </p:txBody>
      </p:sp>
      <p:sp>
        <p:nvSpPr>
          <p:cNvPr id="23" name="booth-node-1">
            <a:extLst xmlns:a="http://schemas.openxmlformats.org/drawingml/2006/main">
              <a:ext uri="{FF2B5EF4-FFF2-40B4-BE49-F238E27FC236}">
                <a16:creationId xmlns:a16="http://schemas.microsoft.com/office/drawing/2014/main" id="{570734A8-EEAC-4D3A-914D-652EE8E8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11430">
            <a:solidFill>
              <a:srgbClr val="9F541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Puerta y sellos</a:t>
            </a:r>
          </a:p>
        </p:txBody>
      </p:sp>
      <p:sp>
        <p:nvSpPr>
          <p:cNvPr id="24" name="booth-node-2">
            <a:extLst xmlns:a="http://schemas.openxmlformats.org/drawingml/2006/main">
              <a:ext uri="{FF2B5EF4-FFF2-40B4-BE49-F238E27FC236}">
                <a16:creationId xmlns:a16="http://schemas.microsoft.com/office/drawing/2014/main" id="{2DD70943-4BB2-4B6A-8332-E57D7C9A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Visor</a:t>
            </a:r>
          </a:p>
        </p:txBody>
      </p:sp>
      <p:sp>
        <p:nvSpPr>
          <p:cNvPr id="25" name="booth-node-3">
            <a:extLst xmlns:a="http://schemas.openxmlformats.org/drawingml/2006/main">
              <a:ext uri="{FF2B5EF4-FFF2-40B4-BE49-F238E27FC236}">
                <a16:creationId xmlns:a16="http://schemas.microsoft.com/office/drawing/2014/main" id="{493D5744-8AA2-4A77-B6C8-5B2A5CC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11430">
            <a:solidFill>
              <a:srgbClr val="9F541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Ventilación</a:t>
            </a:r>
          </a:p>
        </p:txBody>
      </p:sp>
      <p:sp>
        <p:nvSpPr>
          <p:cNvPr id="26" name="booth-node-4">
            <a:extLst xmlns:a="http://schemas.openxmlformats.org/drawingml/2006/main">
              <a:ext uri="{FF2B5EF4-FFF2-40B4-BE49-F238E27FC236}">
                <a16:creationId xmlns:a16="http://schemas.microsoft.com/office/drawing/2014/main" id="{FCCC2E72-AD1E-408A-A72E-4D77738F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957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Pasacables</a:t>
            </a:r>
          </a:p>
        </p:txBody>
      </p:sp>
      <p:sp>
        <p:nvSpPr>
          <p:cNvPr id="27" name="booth-node-5">
            <a:extLst xmlns:a="http://schemas.openxmlformats.org/drawingml/2006/main">
              <a:ext uri="{FF2B5EF4-FFF2-40B4-BE49-F238E27FC236}">
                <a16:creationId xmlns:a16="http://schemas.microsoft.com/office/drawing/2014/main" id="{64CEEB17-10DB-472A-9352-B37DB11E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11430">
            <a:solidFill>
              <a:srgbClr val="9F541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Apoyos y juntas</a:t>
            </a:r>
          </a:p>
        </p:txBody>
      </p:sp>
      <p:sp>
        <p:nvSpPr>
          <p:cNvPr id="28" name="booth-key">
            <a:extLst xmlns:a="http://schemas.openxmlformats.org/drawingml/2006/main">
              <a:ext uri="{FF2B5EF4-FFF2-40B4-BE49-F238E27FC236}">
                <a16:creationId xmlns:a16="http://schemas.microsoft.com/office/drawing/2014/main" id="{F3B9356E-34D0-4FE8-9E09-C448DBC2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 aptitud depende del sistema y de la verificación acústica, no de una sola pared.</a:t>
            </a:r>
          </a:p>
        </p:txBody>
      </p:sp>
      <p:sp>
        <p:nvSpPr>
          <p:cNvPr id="2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B979C3B-1A40-4D1F-973C-A8A3E8F5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51A622A3-0DC9-4D3D-8E75-3872476D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C8802B5-9656-4AB8-BF19-EB45C476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C3AB4CD-26F1-4115-9D1B-B88D899E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4489A03-5F88-49B3-8C2C-10E59218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C83BFD-6488-4D18-A804-F05C9555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Por dónde puede ingresar el ruido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E28B92-DC7A-4B6F-A846-AFB3844E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Diagrama de rutas</a:t>
            </a:r>
          </a:p>
        </p:txBody>
      </p:sp>
      <p:sp>
        <p:nvSpPr>
          <p:cNvPr id="7" name="U09-DG-054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DB192DD9-10FE-4098-A5E9-ED42647C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4-branch_1-anchor">
            <a:extLst xmlns:a="http://schemas.openxmlformats.org/drawingml/2006/main">
              <a:ext uri="{FF2B5EF4-FFF2-40B4-BE49-F238E27FC236}">
                <a16:creationId xmlns:a16="http://schemas.microsoft.com/office/drawing/2014/main" id="{0BF26F80-7610-48D6-9C97-46C9AC52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4-branch_2-anchor">
            <a:extLst xmlns:a="http://schemas.openxmlformats.org/drawingml/2006/main">
              <a:ext uri="{FF2B5EF4-FFF2-40B4-BE49-F238E27FC236}">
                <a16:creationId xmlns:a16="http://schemas.microsoft.com/office/drawing/2014/main" id="{BC5256BD-0E57-440B-95D8-0927807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4-branch_3-anchor">
            <a:extLst xmlns:a="http://schemas.openxmlformats.org/drawingml/2006/main">
              <a:ext uri="{FF2B5EF4-FFF2-40B4-BE49-F238E27FC236}">
                <a16:creationId xmlns:a16="http://schemas.microsoft.com/office/drawing/2014/main" id="{537A675F-BCE1-43BA-BC56-600A4272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4-branch_4-anchor">
            <a:extLst xmlns:a="http://schemas.openxmlformats.org/drawingml/2006/main">
              <a:ext uri="{FF2B5EF4-FFF2-40B4-BE49-F238E27FC236}">
                <a16:creationId xmlns:a16="http://schemas.microsoft.com/office/drawing/2014/main" id="{A9C8B317-85B1-47CE-A94C-2EA721E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4-branch_5-anchor">
            <a:extLst xmlns:a="http://schemas.openxmlformats.org/drawingml/2006/main">
              <a:ext uri="{FF2B5EF4-FFF2-40B4-BE49-F238E27FC236}">
                <a16:creationId xmlns:a16="http://schemas.microsoft.com/office/drawing/2014/main" id="{BC9FC1B0-1C88-4C09-AD24-BCAF08AC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U09-DG-054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789272"/>
            <a:ext cx="289179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9-DG-054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570322"/>
            <a:ext cx="2891790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54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54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54-branch_edge_5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4210" y="3214688"/>
            <a:ext cx="2891790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54-visual-alt" descr="U09-DG-054, candidata para diagram-generation, segunda mitad de figura 9.6. La composición permite reconocer que la ruta dominante puede no atravesar el panel principal.">
            <a:extLst xmlns:a="http://schemas.openxmlformats.org/drawingml/2006/main">
              <a:ext uri="{FF2B5EF4-FFF2-40B4-BE49-F238E27FC236}">
                <a16:creationId xmlns:a16="http://schemas.microsoft.com/office/drawing/2014/main" id="{8862EE12-D871-45D2-872C-AB83EDD6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54-branch_source-text">
            <a:extLst xmlns:a="http://schemas.openxmlformats.org/drawingml/2006/main">
              <a:ext uri="{FF2B5EF4-FFF2-40B4-BE49-F238E27FC236}">
                <a16:creationId xmlns:a16="http://schemas.microsoft.com/office/drawing/2014/main" id="{F65D7479-AF90-46F7-8876-C360B62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Cabina</a:t>
            </a:r>
          </a:p>
        </p:txBody>
      </p:sp>
      <p:sp>
        <p:nvSpPr>
          <p:cNvPr id="20" name="U09-DG-054-branch_1-box">
            <a:extLst xmlns:a="http://schemas.openxmlformats.org/drawingml/2006/main">
              <a:ext uri="{FF2B5EF4-FFF2-40B4-BE49-F238E27FC236}">
                <a16:creationId xmlns:a16="http://schemas.microsoft.com/office/drawing/2014/main" id="{4A5F2205-85BA-4905-BA97-CC2B907C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54-branch_1-text">
            <a:extLst xmlns:a="http://schemas.openxmlformats.org/drawingml/2006/main">
              <a:ext uri="{FF2B5EF4-FFF2-40B4-BE49-F238E27FC236}">
                <a16:creationId xmlns:a16="http://schemas.microsoft.com/office/drawing/2014/main" id="{72356170-6527-4EEE-9189-2C01EC4D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928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Transmisión directa</a:t>
            </a:r>
          </a:p>
        </p:txBody>
      </p:sp>
      <p:sp>
        <p:nvSpPr>
          <p:cNvPr id="22" name="U09-DG-054-branch_2-box">
            <a:extLst xmlns:a="http://schemas.openxmlformats.org/drawingml/2006/main">
              <a:ext uri="{FF2B5EF4-FFF2-40B4-BE49-F238E27FC236}">
                <a16:creationId xmlns:a16="http://schemas.microsoft.com/office/drawing/2014/main" id="{02ACA2C3-1157-4A76-AB8B-9477B4E3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54-branch_2-text">
            <a:extLst xmlns:a="http://schemas.openxmlformats.org/drawingml/2006/main">
              <a:ext uri="{FF2B5EF4-FFF2-40B4-BE49-F238E27FC236}">
                <a16:creationId xmlns:a16="http://schemas.microsoft.com/office/drawing/2014/main" id="{C8DE5DBD-A1FB-4157-B04B-7B43580F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39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Fuga en juntas</a:t>
            </a:r>
          </a:p>
        </p:txBody>
      </p:sp>
      <p:sp>
        <p:nvSpPr>
          <p:cNvPr id="24" name="U09-DG-054-branch_3-box">
            <a:extLst xmlns:a="http://schemas.openxmlformats.org/drawingml/2006/main">
              <a:ext uri="{FF2B5EF4-FFF2-40B4-BE49-F238E27FC236}">
                <a16:creationId xmlns:a16="http://schemas.microsoft.com/office/drawing/2014/main" id="{5D004042-0D51-4693-B5EA-7A217706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54-branch_3-text">
            <a:extLst xmlns:a="http://schemas.openxmlformats.org/drawingml/2006/main">
              <a:ext uri="{FF2B5EF4-FFF2-40B4-BE49-F238E27FC236}">
                <a16:creationId xmlns:a16="http://schemas.microsoft.com/office/drawing/2014/main" id="{0EAC791B-9D17-4D0D-8384-DB3A3D37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49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</a:t>
            </a:r>
          </a:p>
        </p:txBody>
      </p:sp>
      <p:sp>
        <p:nvSpPr>
          <p:cNvPr id="26" name="U09-DG-054-branch_4-box">
            <a:extLst xmlns:a="http://schemas.openxmlformats.org/drawingml/2006/main">
              <a:ext uri="{FF2B5EF4-FFF2-40B4-BE49-F238E27FC236}">
                <a16:creationId xmlns:a16="http://schemas.microsoft.com/office/drawing/2014/main" id="{41F05BCC-1D04-48D0-812A-F408E012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54-branch_4-text">
            <a:extLst xmlns:a="http://schemas.openxmlformats.org/drawingml/2006/main">
              <a:ext uri="{FF2B5EF4-FFF2-40B4-BE49-F238E27FC236}">
                <a16:creationId xmlns:a16="http://schemas.microsoft.com/office/drawing/2014/main" id="{F691A2A3-EB5C-4EF2-B741-5CEE399B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60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Flanqueo</a:t>
            </a:r>
          </a:p>
        </p:txBody>
      </p:sp>
      <p:sp>
        <p:nvSpPr>
          <p:cNvPr id="28" name="U09-DG-054-branch_5-box">
            <a:extLst xmlns:a="http://schemas.openxmlformats.org/drawingml/2006/main">
              <a:ext uri="{FF2B5EF4-FFF2-40B4-BE49-F238E27FC236}">
                <a16:creationId xmlns:a16="http://schemas.microsoft.com/office/drawing/2014/main" id="{10D9D0F2-D7A2-45C7-B900-76746368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54-branch_5-text">
            <a:extLst xmlns:a="http://schemas.openxmlformats.org/drawingml/2006/main">
              <a:ext uri="{FF2B5EF4-FFF2-40B4-BE49-F238E27FC236}">
                <a16:creationId xmlns:a16="http://schemas.microsoft.com/office/drawing/2014/main" id="{0C5E2E6B-1FF5-4B5C-9A07-53D522C9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70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Vibración y ruido propio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86AD64B8-0852-4FBE-AB4A-1DC716C1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ruta dominante puede no atravesar el panel principal. · U09-DG-054 · UCASAL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08E5B34-09EB-47A9-905B-4C9B4F8A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B03E7428-280D-47DA-81B8-A8F0368D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AFD7A85-3E75-4A16-A339-0DA8ABAA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33179CD-A1E7-4901-B060-ECDDDC47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5D08E4E-5293-4A52-B7CA-1DCC5F7E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793676-690C-4C1F-B173-2CBCB1D1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Verificar una cabina es verificar un sistema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BDF442-8DE3-4B66-8758-0DCB06C9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Proceso</a:t>
            </a:r>
          </a:p>
        </p:txBody>
      </p:sp>
      <p:sp>
        <p:nvSpPr>
          <p:cNvPr id="7" name="U09-DG-055-step_1-anchor">
            <a:extLst xmlns:a="http://schemas.openxmlformats.org/drawingml/2006/main">
              <a:ext uri="{FF2B5EF4-FFF2-40B4-BE49-F238E27FC236}">
                <a16:creationId xmlns:a16="http://schemas.microsoft.com/office/drawing/2014/main" id="{2A318146-A6FA-46D9-8D29-913B7BEA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5-step_2-anchor">
            <a:extLst xmlns:a="http://schemas.openxmlformats.org/drawingml/2006/main">
              <a:ext uri="{FF2B5EF4-FFF2-40B4-BE49-F238E27FC236}">
                <a16:creationId xmlns:a16="http://schemas.microsoft.com/office/drawing/2014/main" id="{1E3B2B5B-AC41-4E61-B180-EEA11C3F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5-step_3-anchor">
            <a:extLst xmlns:a="http://schemas.openxmlformats.org/drawingml/2006/main">
              <a:ext uri="{FF2B5EF4-FFF2-40B4-BE49-F238E27FC236}">
                <a16:creationId xmlns:a16="http://schemas.microsoft.com/office/drawing/2014/main" id="{0A6A289B-89A5-449D-97D9-AADB0618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5-step_4-anchor">
            <a:extLst xmlns:a="http://schemas.openxmlformats.org/drawingml/2006/main">
              <a:ext uri="{FF2B5EF4-FFF2-40B4-BE49-F238E27FC236}">
                <a16:creationId xmlns:a16="http://schemas.microsoft.com/office/drawing/2014/main" id="{4092BC89-8222-4745-919C-5A66705B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5-step_5-anchor">
            <a:extLst xmlns:a="http://schemas.openxmlformats.org/drawingml/2006/main">
              <a:ext uri="{FF2B5EF4-FFF2-40B4-BE49-F238E27FC236}">
                <a16:creationId xmlns:a16="http://schemas.microsoft.com/office/drawing/2014/main" id="{34C0D5E9-2B12-4899-8CB5-0630838A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55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55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55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55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55-visual-alt" descr="U09-DG-055, candidata para diagram-generation. La composición permite reconocer que la aptitud depende de prueba, vía, transductor, bandas, nivel mínimo y procedimiento.">
            <a:extLst xmlns:a="http://schemas.openxmlformats.org/drawingml/2006/main">
              <a:ext uri="{FF2B5EF4-FFF2-40B4-BE49-F238E27FC236}">
                <a16:creationId xmlns:a16="http://schemas.microsoft.com/office/drawing/2014/main" id="{DF85421F-947A-4675-B890-123D0610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55-step_1-text">
            <a:extLst xmlns:a="http://schemas.openxmlformats.org/drawingml/2006/main">
              <a:ext uri="{FF2B5EF4-FFF2-40B4-BE49-F238E27FC236}">
                <a16:creationId xmlns:a16="http://schemas.microsoft.com/office/drawing/2014/main" id="{818079FE-0383-4C79-9AFD-A2FA3F84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Prueba</a:t>
            </a:r>
          </a:p>
        </p:txBody>
      </p:sp>
      <p:sp>
        <p:nvSpPr>
          <p:cNvPr id="18" name="U09-DG-055-step_2-box">
            <a:extLst xmlns:a="http://schemas.openxmlformats.org/drawingml/2006/main">
              <a:ext uri="{FF2B5EF4-FFF2-40B4-BE49-F238E27FC236}">
                <a16:creationId xmlns:a16="http://schemas.microsoft.com/office/drawing/2014/main" id="{095B8A65-FBAE-45B8-BEC6-19C6E790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55-step_2-text">
            <a:extLst xmlns:a="http://schemas.openxmlformats.org/drawingml/2006/main">
              <a:ext uri="{FF2B5EF4-FFF2-40B4-BE49-F238E27FC236}">
                <a16:creationId xmlns:a16="http://schemas.microsoft.com/office/drawing/2014/main" id="{EB2E4C0C-0BD3-41A0-837F-2EB781FB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criterio</a:t>
            </a:r>
          </a:p>
        </p:txBody>
      </p:sp>
      <p:sp>
        <p:nvSpPr>
          <p:cNvPr id="20" name="U09-DG-055-step_3-box">
            <a:extLst xmlns:a="http://schemas.openxmlformats.org/drawingml/2006/main">
              <a:ext uri="{FF2B5EF4-FFF2-40B4-BE49-F238E27FC236}">
                <a16:creationId xmlns:a16="http://schemas.microsoft.com/office/drawing/2014/main" id="{C75767B3-088B-48A8-8D83-8D9EEDC6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55-step_3-text">
            <a:extLst xmlns:a="http://schemas.openxmlformats.org/drawingml/2006/main">
              <a:ext uri="{FF2B5EF4-FFF2-40B4-BE49-F238E27FC236}">
                <a16:creationId xmlns:a16="http://schemas.microsoft.com/office/drawing/2014/main" id="{2F652579-F47D-4E52-B8C7-FC1D824A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medición por bandas</a:t>
            </a:r>
          </a:p>
        </p:txBody>
      </p:sp>
      <p:sp>
        <p:nvSpPr>
          <p:cNvPr id="22" name="U09-DG-055-step_4-box">
            <a:extLst xmlns:a="http://schemas.openxmlformats.org/drawingml/2006/main">
              <a:ext uri="{FF2B5EF4-FFF2-40B4-BE49-F238E27FC236}">
                <a16:creationId xmlns:a16="http://schemas.microsoft.com/office/drawing/2014/main" id="{5F36F7AF-4940-4F01-83A2-C8CAB1AE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55-step_4-text">
            <a:extLst xmlns:a="http://schemas.openxmlformats.org/drawingml/2006/main">
              <a:ext uri="{FF2B5EF4-FFF2-40B4-BE49-F238E27FC236}">
                <a16:creationId xmlns:a16="http://schemas.microsoft.com/office/drawing/2014/main" id="{07AF7484-78EC-46A5-BC48-9CA16686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comparación</a:t>
            </a:r>
          </a:p>
        </p:txBody>
      </p:sp>
      <p:sp>
        <p:nvSpPr>
          <p:cNvPr id="24" name="U09-DG-055-step_5-box">
            <a:extLst xmlns:a="http://schemas.openxmlformats.org/drawingml/2006/main">
              <a:ext uri="{FF2B5EF4-FFF2-40B4-BE49-F238E27FC236}">
                <a16:creationId xmlns:a16="http://schemas.microsoft.com/office/drawing/2014/main" id="{3AA7BA3A-93E0-45DC-88C8-49FC1845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55-step_5-text">
            <a:extLst xmlns:a="http://schemas.openxmlformats.org/drawingml/2006/main">
              <a:ext uri="{FF2B5EF4-FFF2-40B4-BE49-F238E27FC236}">
                <a16:creationId xmlns:a16="http://schemas.microsoft.com/office/drawing/2014/main" id="{9983922E-77B2-44FF-B55D-AD1C2D90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documentación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A0E36C27-D381-4396-9D4A-93039A22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aptitud depende de prueba, vía, transductor, bandas, nivel mínimo y procedimiento. · U09-DG-055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DB13D3-46D3-45A4-8C21-68164D2C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91A3095B-67DE-4298-BBA4-F1C52C9C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A7C04ED-193D-45EA-85E9-A4452605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ECBF06E-0A5F-4F15-818E-059C718A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BD22F15-2A8A-4FB0-9911-2EB785EC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B38C70-1475-43F6-BD43-B46329A6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dB(A) global frente a niveles por bandas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805D11-4391-47C6-A75D-7114F7A2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Comparación</a:t>
            </a:r>
          </a:p>
        </p:txBody>
      </p:sp>
      <p:sp>
        <p:nvSpPr>
          <p:cNvPr id="7" name="U09-073-claim-alt" descr="U09-CH-009 comparación conceptual global/bandas. La composición permite reconocer que un valor global no sustituye límites por bandas y condiciones audiométricas.">
            <a:extLst xmlns:a="http://schemas.openxmlformats.org/drawingml/2006/main">
              <a:ext uri="{FF2B5EF4-FFF2-40B4-BE49-F238E27FC236}">
                <a16:creationId xmlns:a16="http://schemas.microsoft.com/office/drawing/2014/main" id="{57B98E84-C973-4BFB-9739-B6E51939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B8EACFED-8FCE-44E4-AE4B-1413B82B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4BAAFF0A-19AC-4F46-852D-A88AE2C0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Nivel global dB(A)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8F7B9A5D-E4FA-4566-A2B8-EF1D6DF5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Resume la energía con ponderación A en un único número. Útil para una visión general; oculta la distribución espectral.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4E0B67BA-12BB-4B58-AEB4-5419086F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F101D0DB-87FB-4223-B653-CD8F7463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Niveles por bandas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B8A74107-61CA-4AE4-8CFD-9B825B3E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Muestran dónde se concentra el ruido y permiten comparar cada banda con el criterio aplicable. Son necesarios para diagnosticar y decidir.</a:t>
            </a:r>
          </a:p>
        </p:txBody>
      </p:sp>
      <p:sp>
        <p:nvSpPr>
          <p:cNvPr id="14" name="bands-key">
            <a:extLst xmlns:a="http://schemas.openxmlformats.org/drawingml/2006/main">
              <a:ext uri="{FF2B5EF4-FFF2-40B4-BE49-F238E27FC236}">
                <a16:creationId xmlns:a16="http://schemas.microsoft.com/office/drawing/2014/main" id="{35BB8EA4-1F22-422B-9CA2-959C578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863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 mismo dB(A) puede corresponder a espectros muy distintos.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F7B344-1FBE-4C9D-A028-4B3DDF9A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rail-1">
            <a:extLst xmlns:a="http://schemas.openxmlformats.org/drawingml/2006/main">
              <a:ext uri="{FF2B5EF4-FFF2-40B4-BE49-F238E27FC236}">
                <a16:creationId xmlns:a16="http://schemas.microsoft.com/office/drawing/2014/main" id="{376B623A-065B-4274-A120-BF5389C1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AE03C81-F852-4F96-88A7-DAE9A92C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F9E085A-2A61-4566-8E62-AE2381A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CD2DEBE-BD25-4657-B14A-E6ED834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D5882E-6631-4452-969F-5C4F4B42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“máximo permitido” necesita contexto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7C490C-402E-4B7B-97E6-39B3D02E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Checklist normativo</a:t>
            </a:r>
          </a:p>
        </p:txBody>
      </p:sp>
      <p:sp>
        <p:nvSpPr>
          <p:cNvPr id="7" name="U09-DG-056-concept_1-anchor">
            <a:extLst xmlns:a="http://schemas.openxmlformats.org/drawingml/2006/main">
              <a:ext uri="{FF2B5EF4-FFF2-40B4-BE49-F238E27FC236}">
                <a16:creationId xmlns:a16="http://schemas.microsoft.com/office/drawing/2014/main" id="{214AA1EA-A8E8-4558-97B6-AFF27558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6-concept_2-anchor">
            <a:extLst xmlns:a="http://schemas.openxmlformats.org/drawingml/2006/main">
              <a:ext uri="{FF2B5EF4-FFF2-40B4-BE49-F238E27FC236}">
                <a16:creationId xmlns:a16="http://schemas.microsoft.com/office/drawing/2014/main" id="{3C710916-2C67-40B5-A2A0-E8DC80A3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6-concept_3-anchor">
            <a:extLst xmlns:a="http://schemas.openxmlformats.org/drawingml/2006/main">
              <a:ext uri="{FF2B5EF4-FFF2-40B4-BE49-F238E27FC236}">
                <a16:creationId xmlns:a16="http://schemas.microsoft.com/office/drawing/2014/main" id="{BC693C6D-DAA1-4A03-9944-A4E8091A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6-concept_4-anchor">
            <a:extLst xmlns:a="http://schemas.openxmlformats.org/drawingml/2006/main">
              <a:ext uri="{FF2B5EF4-FFF2-40B4-BE49-F238E27FC236}">
                <a16:creationId xmlns:a16="http://schemas.microsoft.com/office/drawing/2014/main" id="{9AD3C6A6-35EF-4F58-BC3B-09C5098B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6-concept_5-anchor">
            <a:extLst xmlns:a="http://schemas.openxmlformats.org/drawingml/2006/main">
              <a:ext uri="{FF2B5EF4-FFF2-40B4-BE49-F238E27FC236}">
                <a16:creationId xmlns:a16="http://schemas.microsoft.com/office/drawing/2014/main" id="{71C4F981-47A0-4646-B22E-AAC1FDED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6-concept_6-anchor">
            <a:extLst xmlns:a="http://schemas.openxmlformats.org/drawingml/2006/main">
              <a:ext uri="{FF2B5EF4-FFF2-40B4-BE49-F238E27FC236}">
                <a16:creationId xmlns:a16="http://schemas.microsoft.com/office/drawing/2014/main" id="{EC0265C5-85FB-4D56-9DFA-CE909091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56-concept_7-anchor">
            <a:extLst xmlns:a="http://schemas.openxmlformats.org/drawingml/2006/main">
              <a:ext uri="{FF2B5EF4-FFF2-40B4-BE49-F238E27FC236}">
                <a16:creationId xmlns:a16="http://schemas.microsoft.com/office/drawing/2014/main" id="{F8A8543B-A64C-4533-8CE0-3318D5D3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56-visual-alt" descr="U09-DG-056, candidata para diagram-generation. La composición permite reconocer que norma, edición, adopción, vía, transductor, bandas y menor nivel de prueba deben estar declarados.">
            <a:extLst xmlns:a="http://schemas.openxmlformats.org/drawingml/2006/main">
              <a:ext uri="{FF2B5EF4-FFF2-40B4-BE49-F238E27FC236}">
                <a16:creationId xmlns:a16="http://schemas.microsoft.com/office/drawing/2014/main" id="{687E43AC-6AB9-47B3-9883-7FD0B3EE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56-concept_1-text">
            <a:extLst xmlns:a="http://schemas.openxmlformats.org/drawingml/2006/main">
              <a:ext uri="{FF2B5EF4-FFF2-40B4-BE49-F238E27FC236}">
                <a16:creationId xmlns:a16="http://schemas.microsoft.com/office/drawing/2014/main" id="{F215D9BB-70B0-4E57-A7A8-8D76373D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Norma</a:t>
            </a:r>
          </a:p>
        </p:txBody>
      </p:sp>
      <p:sp>
        <p:nvSpPr>
          <p:cNvPr id="16" name="U09-DG-056-concept_2-box">
            <a:extLst xmlns:a="http://schemas.openxmlformats.org/drawingml/2006/main">
              <a:ext uri="{FF2B5EF4-FFF2-40B4-BE49-F238E27FC236}">
                <a16:creationId xmlns:a16="http://schemas.microsoft.com/office/drawing/2014/main" id="{87EAEE84-C18C-4E51-9041-AA2934B2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56-concept_2-text">
            <a:extLst xmlns:a="http://schemas.openxmlformats.org/drawingml/2006/main">
              <a:ext uri="{FF2B5EF4-FFF2-40B4-BE49-F238E27FC236}">
                <a16:creationId xmlns:a16="http://schemas.microsoft.com/office/drawing/2014/main" id="{064146DB-11C6-4DB9-B7F0-7C8B8EF6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edición</a:t>
            </a:r>
          </a:p>
        </p:txBody>
      </p:sp>
      <p:sp>
        <p:nvSpPr>
          <p:cNvPr id="18" name="U09-DG-056-concept_3-box">
            <a:extLst xmlns:a="http://schemas.openxmlformats.org/drawingml/2006/main">
              <a:ext uri="{FF2B5EF4-FFF2-40B4-BE49-F238E27FC236}">
                <a16:creationId xmlns:a16="http://schemas.microsoft.com/office/drawing/2014/main" id="{6D36A4F3-C013-459B-8852-B87C2AC5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56-concept_3-text">
            <a:extLst xmlns:a="http://schemas.openxmlformats.org/drawingml/2006/main">
              <a:ext uri="{FF2B5EF4-FFF2-40B4-BE49-F238E27FC236}">
                <a16:creationId xmlns:a16="http://schemas.microsoft.com/office/drawing/2014/main" id="{E247CF29-CAE0-4474-9C53-A46E0F68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adopción</a:t>
            </a:r>
          </a:p>
        </p:txBody>
      </p:sp>
      <p:sp>
        <p:nvSpPr>
          <p:cNvPr id="20" name="U09-DG-056-concept_4-box">
            <a:extLst xmlns:a="http://schemas.openxmlformats.org/drawingml/2006/main">
              <a:ext uri="{FF2B5EF4-FFF2-40B4-BE49-F238E27FC236}">
                <a16:creationId xmlns:a16="http://schemas.microsoft.com/office/drawing/2014/main" id="{0A3D231F-32C4-486E-BCF0-B80B364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56-concept_4-text">
            <a:extLst xmlns:a="http://schemas.openxmlformats.org/drawingml/2006/main">
              <a:ext uri="{FF2B5EF4-FFF2-40B4-BE49-F238E27FC236}">
                <a16:creationId xmlns:a16="http://schemas.microsoft.com/office/drawing/2014/main" id="{24EB33F8-FD8A-4232-86A6-E204881D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vía</a:t>
            </a:r>
          </a:p>
        </p:txBody>
      </p:sp>
      <p:sp>
        <p:nvSpPr>
          <p:cNvPr id="22" name="U09-DG-056-concept_5-box">
            <a:extLst xmlns:a="http://schemas.openxmlformats.org/drawingml/2006/main">
              <a:ext uri="{FF2B5EF4-FFF2-40B4-BE49-F238E27FC236}">
                <a16:creationId xmlns:a16="http://schemas.microsoft.com/office/drawing/2014/main" id="{3059D458-31E5-408E-A65F-D64301F0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3" name="U09-DG-056-concept_5-text">
            <a:extLst xmlns:a="http://schemas.openxmlformats.org/drawingml/2006/main">
              <a:ext uri="{FF2B5EF4-FFF2-40B4-BE49-F238E27FC236}">
                <a16:creationId xmlns:a16="http://schemas.microsoft.com/office/drawing/2014/main" id="{D4302611-FE23-4787-B039-93527605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transductor</a:t>
            </a:r>
          </a:p>
        </p:txBody>
      </p:sp>
      <p:sp>
        <p:nvSpPr>
          <p:cNvPr id="24" name="U09-DG-056-concept_6-box">
            <a:extLst xmlns:a="http://schemas.openxmlformats.org/drawingml/2006/main">
              <a:ext uri="{FF2B5EF4-FFF2-40B4-BE49-F238E27FC236}">
                <a16:creationId xmlns:a16="http://schemas.microsoft.com/office/drawing/2014/main" id="{D48548C6-9F13-49C3-A9BF-2B5372FD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5" name="U09-DG-056-concept_6-text">
            <a:extLst xmlns:a="http://schemas.openxmlformats.org/drawingml/2006/main">
              <a:ext uri="{FF2B5EF4-FFF2-40B4-BE49-F238E27FC236}">
                <a16:creationId xmlns:a16="http://schemas.microsoft.com/office/drawing/2014/main" id="{EADA17D8-3F94-4E77-A57D-E9F905F5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bandas</a:t>
            </a:r>
          </a:p>
        </p:txBody>
      </p:sp>
      <p:sp>
        <p:nvSpPr>
          <p:cNvPr id="26" name="U09-DG-056-concept_7-box">
            <a:extLst xmlns:a="http://schemas.openxmlformats.org/drawingml/2006/main">
              <a:ext uri="{FF2B5EF4-FFF2-40B4-BE49-F238E27FC236}">
                <a16:creationId xmlns:a16="http://schemas.microsoft.com/office/drawing/2014/main" id="{A373DF4A-600B-42DA-933D-191C9FB9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7" name="U09-DG-056-concept_7-text">
            <a:extLst xmlns:a="http://schemas.openxmlformats.org/drawingml/2006/main">
              <a:ext uri="{FF2B5EF4-FFF2-40B4-BE49-F238E27FC236}">
                <a16:creationId xmlns:a16="http://schemas.microsoft.com/office/drawing/2014/main" id="{98030934-72BD-4B58-9C22-AC647C8C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menor nivel</a:t>
            </a:r>
          </a:p>
        </p:txBody>
      </p:sp>
      <p:sp>
        <p:nvSpPr>
          <p:cNvPr id="28" name="caption">
            <a:extLst xmlns:a="http://schemas.openxmlformats.org/drawingml/2006/main">
              <a:ext uri="{FF2B5EF4-FFF2-40B4-BE49-F238E27FC236}">
                <a16:creationId xmlns:a16="http://schemas.microsoft.com/office/drawing/2014/main" id="{DBE58AB1-80FE-42D3-BB0E-BAB12F0C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norma, edición, adopción, vía, transductor, bandas y menor nivel de prueba deben estar declarados. · U09-DG-056 · UCASAL</a:t>
            </a:r>
          </a:p>
        </p:txBody>
      </p:sp>
      <p:sp>
        <p:nvSpPr>
          <p:cNvPr id="2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97E15DD-88C2-4C34-998A-E6512DC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rail-1">
            <a:extLst xmlns:a="http://schemas.openxmlformats.org/drawingml/2006/main">
              <a:ext uri="{FF2B5EF4-FFF2-40B4-BE49-F238E27FC236}">
                <a16:creationId xmlns:a16="http://schemas.microsoft.com/office/drawing/2014/main" id="{2F4073E8-3976-4AB0-87BC-0BC7802B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D1E1893-AD7E-4A24-B0AA-9D0BED7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3A976C9-8A86-4899-A34B-AF37FA7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8D80477-6FC9-49CA-912D-3255DAE9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81A38-7A3A-4F3E-9913-F1CD92FD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“La cabina tiene 28 dB(A)”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74FA52B-9E5E-4556-9D1A-ABB277C1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Aplicación crítica</a:t>
            </a:r>
          </a:p>
        </p:txBody>
      </p:sp>
      <p:sp>
        <p:nvSpPr>
          <p:cNvPr id="7" name="U09-DG-057-concept_1-anchor">
            <a:extLst xmlns:a="http://schemas.openxmlformats.org/drawingml/2006/main">
              <a:ext uri="{FF2B5EF4-FFF2-40B4-BE49-F238E27FC236}">
                <a16:creationId xmlns:a16="http://schemas.microsoft.com/office/drawing/2014/main" id="{977BB33D-5413-46C6-AF61-45A78EC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7-concept_2-anchor">
            <a:extLst xmlns:a="http://schemas.openxmlformats.org/drawingml/2006/main">
              <a:ext uri="{FF2B5EF4-FFF2-40B4-BE49-F238E27FC236}">
                <a16:creationId xmlns:a16="http://schemas.microsoft.com/office/drawing/2014/main" id="{AB16B54A-12EA-4B90-A5E0-4B07ED92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7-concept_3-anchor">
            <a:extLst xmlns:a="http://schemas.openxmlformats.org/drawingml/2006/main">
              <a:ext uri="{FF2B5EF4-FFF2-40B4-BE49-F238E27FC236}">
                <a16:creationId xmlns:a16="http://schemas.microsoft.com/office/drawing/2014/main" id="{1FC731EE-CC45-42E7-AC85-C11D2407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7-concept_4-anchor">
            <a:extLst xmlns:a="http://schemas.openxmlformats.org/drawingml/2006/main">
              <a:ext uri="{FF2B5EF4-FFF2-40B4-BE49-F238E27FC236}">
                <a16:creationId xmlns:a16="http://schemas.microsoft.com/office/drawing/2014/main" id="{17439D48-EC2C-4BC6-A20D-8A2D063A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7-concept_5-anchor">
            <a:extLst xmlns:a="http://schemas.openxmlformats.org/drawingml/2006/main">
              <a:ext uri="{FF2B5EF4-FFF2-40B4-BE49-F238E27FC236}">
                <a16:creationId xmlns:a16="http://schemas.microsoft.com/office/drawing/2014/main" id="{7008D0A1-3923-47F8-9367-CF72E783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7-concept_6-anchor">
            <a:extLst xmlns:a="http://schemas.openxmlformats.org/drawingml/2006/main">
              <a:ext uri="{FF2B5EF4-FFF2-40B4-BE49-F238E27FC236}">
                <a16:creationId xmlns:a16="http://schemas.microsoft.com/office/drawing/2014/main" id="{6E8A3CB0-0924-41B0-BF05-D23ECCD9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57-concept_7-anchor">
            <a:extLst xmlns:a="http://schemas.openxmlformats.org/drawingml/2006/main">
              <a:ext uri="{FF2B5EF4-FFF2-40B4-BE49-F238E27FC236}">
                <a16:creationId xmlns:a16="http://schemas.microsoft.com/office/drawing/2014/main" id="{15B6AAFC-64D3-4DE0-A8B2-2363413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57-visual-alt" descr="Captura ficticia no instrumental y matriz de faltantes; U09-DG-057, candidata para diagram-generation. La composición permite reconocer que el valor aislado no demuestra aptitud para una audiometría.">
            <a:extLst xmlns:a="http://schemas.openxmlformats.org/drawingml/2006/main">
              <a:ext uri="{FF2B5EF4-FFF2-40B4-BE49-F238E27FC236}">
                <a16:creationId xmlns:a16="http://schemas.microsoft.com/office/drawing/2014/main" id="{775044D0-46AE-40B1-8FA2-83545144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57-concept_1-text">
            <a:extLst xmlns:a="http://schemas.openxmlformats.org/drawingml/2006/main">
              <a:ext uri="{FF2B5EF4-FFF2-40B4-BE49-F238E27FC236}">
                <a16:creationId xmlns:a16="http://schemas.microsoft.com/office/drawing/2014/main" id="{1E24541C-1D30-4F66-94FE-BCCD8219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28 dB(A)</a:t>
            </a:r>
          </a:p>
        </p:txBody>
      </p:sp>
      <p:sp>
        <p:nvSpPr>
          <p:cNvPr id="16" name="U09-DG-057-concept_2-box">
            <a:extLst xmlns:a="http://schemas.openxmlformats.org/drawingml/2006/main">
              <a:ext uri="{FF2B5EF4-FFF2-40B4-BE49-F238E27FC236}">
                <a16:creationId xmlns:a16="http://schemas.microsoft.com/office/drawing/2014/main" id="{2B222836-CDAF-427B-BC2A-EDF568ED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57-concept_2-text">
            <a:extLst xmlns:a="http://schemas.openxmlformats.org/drawingml/2006/main">
              <a:ext uri="{FF2B5EF4-FFF2-40B4-BE49-F238E27FC236}">
                <a16:creationId xmlns:a16="http://schemas.microsoft.com/office/drawing/2014/main" id="{CC265FE8-C821-4321-A4DF-3FC34048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Instrumento y</a:t>
            </a:r>
          </a:p>
        </p:txBody>
      </p:sp>
      <p:sp>
        <p:nvSpPr>
          <p:cNvPr id="18" name="U09-DG-057-concept_3-box">
            <a:extLst xmlns:a="http://schemas.openxmlformats.org/drawingml/2006/main">
              <a:ext uri="{FF2B5EF4-FFF2-40B4-BE49-F238E27FC236}">
                <a16:creationId xmlns:a16="http://schemas.microsoft.com/office/drawing/2014/main" id="{23B36CD3-52BB-4081-9FEA-E6292499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57-concept_3-text">
            <a:extLst xmlns:a="http://schemas.openxmlformats.org/drawingml/2006/main">
              <a:ext uri="{FF2B5EF4-FFF2-40B4-BE49-F238E27FC236}">
                <a16:creationId xmlns:a16="http://schemas.microsoft.com/office/drawing/2014/main" id="{FB9EB9C7-AE57-46B7-9306-3818552B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Posición y tiempo</a:t>
            </a:r>
          </a:p>
        </p:txBody>
      </p:sp>
      <p:sp>
        <p:nvSpPr>
          <p:cNvPr id="20" name="U09-DG-057-concept_4-box">
            <a:extLst xmlns:a="http://schemas.openxmlformats.org/drawingml/2006/main">
              <a:ext uri="{FF2B5EF4-FFF2-40B4-BE49-F238E27FC236}">
                <a16:creationId xmlns:a16="http://schemas.microsoft.com/office/drawing/2014/main" id="{D1DB2B59-CF97-4B7B-8E54-A4747A7C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57-concept_4-text">
            <a:extLst xmlns:a="http://schemas.openxmlformats.org/drawingml/2006/main">
              <a:ext uri="{FF2B5EF4-FFF2-40B4-BE49-F238E27FC236}">
                <a16:creationId xmlns:a16="http://schemas.microsoft.com/office/drawing/2014/main" id="{93267E0E-2B3E-4799-8AE7-D80BF363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Bandas</a:t>
            </a:r>
          </a:p>
        </p:txBody>
      </p:sp>
      <p:sp>
        <p:nvSpPr>
          <p:cNvPr id="22" name="U09-DG-057-concept_5-box">
            <a:extLst xmlns:a="http://schemas.openxmlformats.org/drawingml/2006/main">
              <a:ext uri="{FF2B5EF4-FFF2-40B4-BE49-F238E27FC236}">
                <a16:creationId xmlns:a16="http://schemas.microsoft.com/office/drawing/2014/main" id="{7203DC83-DDFD-4EC8-83A8-A4A1B01F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3" name="U09-DG-057-concept_5-text">
            <a:extLst xmlns:a="http://schemas.openxmlformats.org/drawingml/2006/main">
              <a:ext uri="{FF2B5EF4-FFF2-40B4-BE49-F238E27FC236}">
                <a16:creationId xmlns:a16="http://schemas.microsoft.com/office/drawing/2014/main" id="{9966B791-469E-48BE-88F6-C6BA0C4C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Vía y transductor</a:t>
            </a:r>
          </a:p>
        </p:txBody>
      </p:sp>
      <p:sp>
        <p:nvSpPr>
          <p:cNvPr id="24" name="U09-DG-057-concept_6-box">
            <a:extLst xmlns:a="http://schemas.openxmlformats.org/drawingml/2006/main">
              <a:ext uri="{FF2B5EF4-FFF2-40B4-BE49-F238E27FC236}">
                <a16:creationId xmlns:a16="http://schemas.microsoft.com/office/drawing/2014/main" id="{2CF5CB71-15D1-4D3A-90D3-9746E019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5" name="U09-DG-057-concept_6-text">
            <a:extLst xmlns:a="http://schemas.openxmlformats.org/drawingml/2006/main">
              <a:ext uri="{FF2B5EF4-FFF2-40B4-BE49-F238E27FC236}">
                <a16:creationId xmlns:a16="http://schemas.microsoft.com/office/drawing/2014/main" id="{E8A71CAF-8AD0-423E-ADBE-CD2F31E0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Criterio</a:t>
            </a:r>
          </a:p>
        </p:txBody>
      </p:sp>
      <p:sp>
        <p:nvSpPr>
          <p:cNvPr id="26" name="U09-DG-057-concept_7-box">
            <a:extLst xmlns:a="http://schemas.openxmlformats.org/drawingml/2006/main">
              <a:ext uri="{FF2B5EF4-FFF2-40B4-BE49-F238E27FC236}">
                <a16:creationId xmlns:a16="http://schemas.microsoft.com/office/drawing/2014/main" id="{5BC93481-9FD9-470C-89E5-1D8DEF24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7" name="U09-DG-057-concept_7-text">
            <a:extLst xmlns:a="http://schemas.openxmlformats.org/drawingml/2006/main">
              <a:ext uri="{FF2B5EF4-FFF2-40B4-BE49-F238E27FC236}">
                <a16:creationId xmlns:a16="http://schemas.microsoft.com/office/drawing/2014/main" id="{D2799308-BEBD-484D-BA2A-C84A6D9B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Ruido propio</a:t>
            </a:r>
          </a:p>
        </p:txBody>
      </p:sp>
      <p:sp>
        <p:nvSpPr>
          <p:cNvPr id="28" name="caption">
            <a:extLst xmlns:a="http://schemas.openxmlformats.org/drawingml/2006/main">
              <a:ext uri="{FF2B5EF4-FFF2-40B4-BE49-F238E27FC236}">
                <a16:creationId xmlns:a16="http://schemas.microsoft.com/office/drawing/2014/main" id="{B7012809-16CC-4C56-9BAC-D4AA8626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el valor aislado no demuestra aptitud para una audiometría. · U09-DG-057 · UCASAL</a:t>
            </a:r>
          </a:p>
        </p:txBody>
      </p:sp>
      <p:sp>
        <p:nvSpPr>
          <p:cNvPr id="2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DCDB552-1B62-41BE-9615-266D07AA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11EC2AA4-73D8-4B4E-B4D6-0E468192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7B0D30C-9943-4F3A-8DAB-54BFE584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F1AF28F-5BC4-4833-98F6-35926215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C546954-0C0B-4C06-8BE2-6FC57E70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65B040-B761-4527-AD4B-9FB2E53C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Inspección guiada de una cabina real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D5119BD-997F-4E7F-9F3A-F5EDCEAB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Ampliación visual</a:t>
            </a:r>
          </a:p>
        </p:txBody>
      </p:sp>
      <p:sp>
        <p:nvSpPr>
          <p:cNvPr id="7" name="U09-076-claim-alt" descr="U09-IMG-003 y U09-IMG-004 con callouts; candidatos para diagram-generation por anotaciones. La composición permite reconocer que una foto técnica sirve para localizar rutas y componentes, no para inferir desempeño.">
            <a:extLst xmlns:a="http://schemas.openxmlformats.org/drawingml/2006/main">
              <a:ext uri="{FF2B5EF4-FFF2-40B4-BE49-F238E27FC236}">
                <a16:creationId xmlns:a16="http://schemas.microsoft.com/office/drawing/2014/main" id="{08C7B139-96C3-471B-88E1-F91F31AE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7D7F95DA-6ED7-4C23-8540-2E6B2100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D333CA89-6359-4492-95BF-1E14A2C3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Cierre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19CE9E62-21BE-4175-AEF8-C36F6475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Revisar sellos de puerta y visor; buscar luz visible, holguras y discontinuidades.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BD409D72-AA7B-4DAF-9700-9F2B87C0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32E130A7-309B-4059-95A3-237E4407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Servicios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EA304F12-663B-4456-B6A2-1255D6DB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Observar ventilación, pasacables y equipos que puedan generar o transmitir ruido.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B2466C1A-5F3D-4A3F-9FF6-F9F9D966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DE63C238-1396-42AD-997F-684C7F2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Estructura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2BE53CD5-C180-4729-B669-0707280B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Identificar juntas, apoyos rígidos y posibles vías laterales hacia el recinto.</a:t>
            </a:r>
          </a:p>
        </p:txBody>
      </p:sp>
      <p:sp>
        <p:nvSpPr>
          <p:cNvPr id="17" name="inspection-key">
            <a:extLst xmlns:a="http://schemas.openxmlformats.org/drawingml/2006/main">
              <a:ext uri="{FF2B5EF4-FFF2-40B4-BE49-F238E27FC236}">
                <a16:creationId xmlns:a16="http://schemas.microsoft.com/office/drawing/2014/main" id="{97EBF526-E6AD-4C7F-A973-C1F258C2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19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La inspección orienta hipótesis; la aptitud se confirma mediante medición según el protocolo aplicable.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95F5F04-7678-41EA-A87F-9943AD7B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2A7534D3-B8BC-47DA-A345-0D411082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4145F2B-E1B9-48E6-8AD8-ECA5B6DB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580853F-DAF7-488C-8DFE-6FFCC88C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BB4949D-C3BA-4916-804F-9D9CA6B9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ECCFA-8E31-41A6-B443-8E5849B0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ruta limita la prueba?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A445069-4AAF-49C2-B092-97696090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Recapitulación y actividad</a:t>
            </a:r>
          </a:p>
        </p:txBody>
      </p:sp>
      <p:sp>
        <p:nvSpPr>
          <p:cNvPr id="7" name="U09-DG-058-step_1-anchor">
            <a:extLst xmlns:a="http://schemas.openxmlformats.org/drawingml/2006/main">
              <a:ext uri="{FF2B5EF4-FFF2-40B4-BE49-F238E27FC236}">
                <a16:creationId xmlns:a16="http://schemas.microsoft.com/office/drawing/2014/main" id="{F6C1544E-E393-43CC-8C25-CE7948D5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8-step_2-anchor">
            <a:extLst xmlns:a="http://schemas.openxmlformats.org/drawingml/2006/main">
              <a:ext uri="{FF2B5EF4-FFF2-40B4-BE49-F238E27FC236}">
                <a16:creationId xmlns:a16="http://schemas.microsoft.com/office/drawing/2014/main" id="{3EA6831A-BB3F-4586-B77C-52106C27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8-step_3-anchor">
            <a:extLst xmlns:a="http://schemas.openxmlformats.org/drawingml/2006/main">
              <a:ext uri="{FF2B5EF4-FFF2-40B4-BE49-F238E27FC236}">
                <a16:creationId xmlns:a16="http://schemas.microsoft.com/office/drawing/2014/main" id="{4BCC3134-0166-45BC-8DBB-E8012228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8-step_4-anchor">
            <a:extLst xmlns:a="http://schemas.openxmlformats.org/drawingml/2006/main">
              <a:ext uri="{FF2B5EF4-FFF2-40B4-BE49-F238E27FC236}">
                <a16:creationId xmlns:a16="http://schemas.microsoft.com/office/drawing/2014/main" id="{17D2C19A-C143-4588-B31A-5F834BA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8-step_5-anchor">
            <a:extLst xmlns:a="http://schemas.openxmlformats.org/drawingml/2006/main">
              <a:ext uri="{FF2B5EF4-FFF2-40B4-BE49-F238E27FC236}">
                <a16:creationId xmlns:a16="http://schemas.microsoft.com/office/drawing/2014/main" id="{D742F8DA-88F0-4691-9419-50BFC3E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58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58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58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58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58-visual-alt" descr="U09-DG-058, candidata para diagram-generation. La composición permite reconocer que la respuesta válida identifica ruta, evidencia necesaria y límite de inferencia.">
            <a:extLst xmlns:a="http://schemas.openxmlformats.org/drawingml/2006/main">
              <a:ext uri="{FF2B5EF4-FFF2-40B4-BE49-F238E27FC236}">
                <a16:creationId xmlns:a16="http://schemas.microsoft.com/office/drawing/2014/main" id="{F3621CC3-5791-426B-B475-7A992633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58-step_1-text">
            <a:extLst xmlns:a="http://schemas.openxmlformats.org/drawingml/2006/main">
              <a:ext uri="{FF2B5EF4-FFF2-40B4-BE49-F238E27FC236}">
                <a16:creationId xmlns:a16="http://schemas.microsoft.com/office/drawing/2014/main" id="{C03B8041-85E0-4C06-97C3-19B4ECC2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Caso con ruido exterior</a:t>
            </a:r>
          </a:p>
        </p:txBody>
      </p:sp>
      <p:sp>
        <p:nvSpPr>
          <p:cNvPr id="18" name="U09-DG-058-step_2-box">
            <a:extLst xmlns:a="http://schemas.openxmlformats.org/drawingml/2006/main">
              <a:ext uri="{FF2B5EF4-FFF2-40B4-BE49-F238E27FC236}">
                <a16:creationId xmlns:a16="http://schemas.microsoft.com/office/drawing/2014/main" id="{0679E003-5DD8-4559-9820-87CF531B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58-step_2-text">
            <a:extLst xmlns:a="http://schemas.openxmlformats.org/drawingml/2006/main">
              <a:ext uri="{FF2B5EF4-FFF2-40B4-BE49-F238E27FC236}">
                <a16:creationId xmlns:a16="http://schemas.microsoft.com/office/drawing/2014/main" id="{83E69E20-8440-49B6-BB85-DF1470E5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ventilación</a:t>
            </a:r>
          </a:p>
        </p:txBody>
      </p:sp>
      <p:sp>
        <p:nvSpPr>
          <p:cNvPr id="20" name="U09-DG-058-step_3-box">
            <a:extLst xmlns:a="http://schemas.openxmlformats.org/drawingml/2006/main">
              <a:ext uri="{FF2B5EF4-FFF2-40B4-BE49-F238E27FC236}">
                <a16:creationId xmlns:a16="http://schemas.microsoft.com/office/drawing/2014/main" id="{F45872AD-3A2F-47E8-A94C-232142F0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58-step_3-text">
            <a:extLst xmlns:a="http://schemas.openxmlformats.org/drawingml/2006/main">
              <a:ext uri="{FF2B5EF4-FFF2-40B4-BE49-F238E27FC236}">
                <a16:creationId xmlns:a16="http://schemas.microsoft.com/office/drawing/2014/main" id="{DF77EAEF-2DFF-48F4-AA69-5F24C38E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equipo</a:t>
            </a:r>
          </a:p>
        </p:txBody>
      </p:sp>
      <p:sp>
        <p:nvSpPr>
          <p:cNvPr id="22" name="U09-DG-058-step_4-box">
            <a:extLst xmlns:a="http://schemas.openxmlformats.org/drawingml/2006/main">
              <a:ext uri="{FF2B5EF4-FFF2-40B4-BE49-F238E27FC236}">
                <a16:creationId xmlns:a16="http://schemas.microsoft.com/office/drawing/2014/main" id="{574006CA-B02F-40B0-A315-66D59971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58-step_4-text">
            <a:extLst xmlns:a="http://schemas.openxmlformats.org/drawingml/2006/main">
              <a:ext uri="{FF2B5EF4-FFF2-40B4-BE49-F238E27FC236}">
                <a16:creationId xmlns:a16="http://schemas.microsoft.com/office/drawing/2014/main" id="{C8D0E23C-206D-4BE6-9881-466566F5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tratamiento interior</a:t>
            </a:r>
          </a:p>
        </p:txBody>
      </p:sp>
      <p:sp>
        <p:nvSpPr>
          <p:cNvPr id="24" name="U09-DG-058-step_5-box">
            <a:extLst xmlns:a="http://schemas.openxmlformats.org/drawingml/2006/main">
              <a:ext uri="{FF2B5EF4-FFF2-40B4-BE49-F238E27FC236}">
                <a16:creationId xmlns:a16="http://schemas.microsoft.com/office/drawing/2014/main" id="{8327BD22-3A80-4BA1-A613-281275F2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58-step_5-text">
            <a:extLst xmlns:a="http://schemas.openxmlformats.org/drawingml/2006/main">
              <a:ext uri="{FF2B5EF4-FFF2-40B4-BE49-F238E27FC236}">
                <a16:creationId xmlns:a16="http://schemas.microsoft.com/office/drawing/2014/main" id="{1FD50DCF-C68E-41C5-BF71-8CB2E72C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priorización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1E9A890D-E79A-4BF8-8C15-2C330EF7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respuesta válida identifica ruta, evidencia necesaria y límite de inferencia. · U09-DG-058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0EE8B6-D3C1-4FE2-A93B-8630E961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7E338E5F-EF71-42F3-8E73-005456ED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5446A2D-4BBD-4474-97CE-5497E859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podemos estimar y qué debemos medir?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E85205E9-FA07-4EB4-9E58-A625D0DA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 buen análisis termina declarando el alcance de la evidencia.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DCF197-00ED-4E14-B575-1BFCAABA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-1">
            <a:extLst xmlns:a="http://schemas.openxmlformats.org/drawingml/2006/main">
              <a:ext uri="{FF2B5EF4-FFF2-40B4-BE49-F238E27FC236}">
                <a16:creationId xmlns:a16="http://schemas.microsoft.com/office/drawing/2014/main" id="{51D9F977-A738-40C8-B064-FDE19B59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3D6B8DA-33A6-440B-A3E7-5DAD99C1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7746E08-34F1-47F2-86F3-BF744332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AD89252-9BD3-41B1-B359-D8AA020A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1F55C1-07E9-4FC5-B4EE-CD5A0CCD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final I: fuente y emisión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82BDA2-1F2A-404F-B4D6-9D8CD0F0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Caso por etapas</a:t>
            </a:r>
          </a:p>
        </p:txBody>
      </p:sp>
      <p:sp>
        <p:nvSpPr>
          <p:cNvPr id="7" name="U09-DG-059-step_1-anchor">
            <a:extLst xmlns:a="http://schemas.openxmlformats.org/drawingml/2006/main">
              <a:ext uri="{FF2B5EF4-FFF2-40B4-BE49-F238E27FC236}">
                <a16:creationId xmlns:a16="http://schemas.microsoft.com/office/drawing/2014/main" id="{E2550F8A-E828-416D-805A-C5C41033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9-step_2-anchor">
            <a:extLst xmlns:a="http://schemas.openxmlformats.org/drawingml/2006/main">
              <a:ext uri="{FF2B5EF4-FFF2-40B4-BE49-F238E27FC236}">
                <a16:creationId xmlns:a16="http://schemas.microsoft.com/office/drawing/2014/main" id="{CE023C2D-8903-430D-9B9D-6AD549D3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9-step_3-anchor">
            <a:extLst xmlns:a="http://schemas.openxmlformats.org/drawingml/2006/main">
              <a:ext uri="{FF2B5EF4-FFF2-40B4-BE49-F238E27FC236}">
                <a16:creationId xmlns:a16="http://schemas.microsoft.com/office/drawing/2014/main" id="{44D6F9FA-AA79-4D56-A87B-FB32CF43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9-step_4-anchor">
            <a:extLst xmlns:a="http://schemas.openxmlformats.org/drawingml/2006/main">
              <a:ext uri="{FF2B5EF4-FFF2-40B4-BE49-F238E27FC236}">
                <a16:creationId xmlns:a16="http://schemas.microsoft.com/office/drawing/2014/main" id="{022E5FD3-C595-4358-951C-94AFBEDA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" name="U09-DG-059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U09-DG-059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U09-DG-059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9-DG-059-visual-alt" descr="Mapa del caso, capa fuente; U09-DG-059, candidata para diagram-generation. La composición permite reconocer que potencia, espectro y directividad condicionan lo que entra al trayecto.">
            <a:extLst xmlns:a="http://schemas.openxmlformats.org/drawingml/2006/main">
              <a:ext uri="{FF2B5EF4-FFF2-40B4-BE49-F238E27FC236}">
                <a16:creationId xmlns:a16="http://schemas.microsoft.com/office/drawing/2014/main" id="{52E4B1D6-C7FB-400A-9B44-82083B9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59-step_1-text">
            <a:extLst xmlns:a="http://schemas.openxmlformats.org/drawingml/2006/main">
              <a:ext uri="{FF2B5EF4-FFF2-40B4-BE49-F238E27FC236}">
                <a16:creationId xmlns:a16="http://schemas.microsoft.com/office/drawing/2014/main" id="{3E0A1C12-54E3-45F3-B6F3-9A4FC9F7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Mapa base</a:t>
            </a:r>
          </a:p>
        </p:txBody>
      </p:sp>
      <p:sp>
        <p:nvSpPr>
          <p:cNvPr id="16" name="U09-DG-059-step_2-box">
            <a:extLst xmlns:a="http://schemas.openxmlformats.org/drawingml/2006/main">
              <a:ext uri="{FF2B5EF4-FFF2-40B4-BE49-F238E27FC236}">
                <a16:creationId xmlns:a16="http://schemas.microsoft.com/office/drawing/2014/main" id="{45FDB370-6E8D-4E85-99A6-A4181D32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59-step_2-text">
            <a:extLst xmlns:a="http://schemas.openxmlformats.org/drawingml/2006/main">
              <a:ext uri="{FF2B5EF4-FFF2-40B4-BE49-F238E27FC236}">
                <a16:creationId xmlns:a16="http://schemas.microsoft.com/office/drawing/2014/main" id="{50FAF8BB-BC4F-4D93-8959-50F75BE2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Potencia LW</a:t>
            </a:r>
          </a:p>
        </p:txBody>
      </p:sp>
      <p:sp>
        <p:nvSpPr>
          <p:cNvPr id="18" name="U09-DG-059-step_3-box">
            <a:extLst xmlns:a="http://schemas.openxmlformats.org/drawingml/2006/main">
              <a:ext uri="{FF2B5EF4-FFF2-40B4-BE49-F238E27FC236}">
                <a16:creationId xmlns:a16="http://schemas.microsoft.com/office/drawing/2014/main" id="{70359C4E-D46B-4FB3-9618-D02EDAF5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59-step_3-text">
            <a:extLst xmlns:a="http://schemas.openxmlformats.org/drawingml/2006/main">
              <a:ext uri="{FF2B5EF4-FFF2-40B4-BE49-F238E27FC236}">
                <a16:creationId xmlns:a16="http://schemas.microsoft.com/office/drawing/2014/main" id="{BFF1C5B8-C806-4AF1-82B8-CABD6BC1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Espectro</a:t>
            </a:r>
          </a:p>
        </p:txBody>
      </p:sp>
      <p:sp>
        <p:nvSpPr>
          <p:cNvPr id="20" name="U09-DG-059-step_4-box">
            <a:extLst xmlns:a="http://schemas.openxmlformats.org/drawingml/2006/main">
              <a:ext uri="{FF2B5EF4-FFF2-40B4-BE49-F238E27FC236}">
                <a16:creationId xmlns:a16="http://schemas.microsoft.com/office/drawing/2014/main" id="{B88B860B-FC35-4500-9EC7-7C01285B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59-step_4-text">
            <a:extLst xmlns:a="http://schemas.openxmlformats.org/drawingml/2006/main">
              <a:ext uri="{FF2B5EF4-FFF2-40B4-BE49-F238E27FC236}">
                <a16:creationId xmlns:a16="http://schemas.microsoft.com/office/drawing/2014/main" id="{FDB566D6-AF47-45D2-BE0D-4AAAF609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Directividad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E5148A97-571A-4FDC-8442-3789A9AF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potencia, espectro y directividad condicionan lo que entra al trayecto. · U09-DG-059 · UCASAL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5F241E-079F-4C4E-9005-89732985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C826CC01-8D92-4124-B69B-395E901C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C9ABD43-C67D-48DB-946B-322B6462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993902D-46AC-4E89-89A0-37FCFB32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72020A3-57F1-46FF-8C7C-B3DBB96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A6C3AD-A58A-4504-B10F-73854263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final II: rutas exteriores e interiores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28F528-A0D1-4E7F-9AF1-D101E0C4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Caso por etapas</a:t>
            </a:r>
          </a:p>
        </p:txBody>
      </p:sp>
      <p:sp>
        <p:nvSpPr>
          <p:cNvPr id="7" name="U09-DG-060-step_1-anchor">
            <a:extLst xmlns:a="http://schemas.openxmlformats.org/drawingml/2006/main">
              <a:ext uri="{FF2B5EF4-FFF2-40B4-BE49-F238E27FC236}">
                <a16:creationId xmlns:a16="http://schemas.microsoft.com/office/drawing/2014/main" id="{45769B2A-9643-4BD2-BEAC-1E73A18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0-step_2-anchor">
            <a:extLst xmlns:a="http://schemas.openxmlformats.org/drawingml/2006/main">
              <a:ext uri="{FF2B5EF4-FFF2-40B4-BE49-F238E27FC236}">
                <a16:creationId xmlns:a16="http://schemas.microsoft.com/office/drawing/2014/main" id="{2CF5F039-2E51-467A-8A85-0041E821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0-step_3-anchor">
            <a:extLst xmlns:a="http://schemas.openxmlformats.org/drawingml/2006/main">
              <a:ext uri="{FF2B5EF4-FFF2-40B4-BE49-F238E27FC236}">
                <a16:creationId xmlns:a16="http://schemas.microsoft.com/office/drawing/2014/main" id="{D982C5D2-74E1-43C3-96A2-DE496C1A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0-step_4-anchor">
            <a:extLst xmlns:a="http://schemas.openxmlformats.org/drawingml/2006/main">
              <a:ext uri="{FF2B5EF4-FFF2-40B4-BE49-F238E27FC236}">
                <a16:creationId xmlns:a16="http://schemas.microsoft.com/office/drawing/2014/main" id="{A6C82971-7562-4D83-B084-EE9D0B2C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0-step_5-anchor">
            <a:extLst xmlns:a="http://schemas.openxmlformats.org/drawingml/2006/main">
              <a:ext uri="{FF2B5EF4-FFF2-40B4-BE49-F238E27FC236}">
                <a16:creationId xmlns:a16="http://schemas.microsoft.com/office/drawing/2014/main" id="{0E0A8F15-A5AE-4E0A-AEBD-5254D80B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60-step_6-anchor">
            <a:extLst xmlns:a="http://schemas.openxmlformats.org/drawingml/2006/main">
              <a:ext uri="{FF2B5EF4-FFF2-40B4-BE49-F238E27FC236}">
                <a16:creationId xmlns:a16="http://schemas.microsoft.com/office/drawing/2014/main" id="{A499CED0-EC56-4EB3-A6D7-045AF4B3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U09-DG-060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09-DG-060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60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60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60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60-visual-alt" descr="U09-DG-060, candidata para diagram-generation. La composición permite reconocer que distancia, gradientes, suelo, fachada, difracción, transmisión y reflexiones describen rutas diferentes.">
            <a:extLst xmlns:a="http://schemas.openxmlformats.org/drawingml/2006/main">
              <a:ext uri="{FF2B5EF4-FFF2-40B4-BE49-F238E27FC236}">
                <a16:creationId xmlns:a16="http://schemas.microsoft.com/office/drawing/2014/main" id="{BCD87EAD-1D88-4DB3-88A9-6C657AD7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60-step_1-text">
            <a:extLst xmlns:a="http://schemas.openxmlformats.org/drawingml/2006/main">
              <a:ext uri="{FF2B5EF4-FFF2-40B4-BE49-F238E27FC236}">
                <a16:creationId xmlns:a16="http://schemas.microsoft.com/office/drawing/2014/main" id="{F33DF086-C1DB-4228-8C4A-FD8FB218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Distancia</a:t>
            </a:r>
          </a:p>
        </p:txBody>
      </p:sp>
      <p:sp>
        <p:nvSpPr>
          <p:cNvPr id="20" name="U09-DG-060-step_2-box">
            <a:extLst xmlns:a="http://schemas.openxmlformats.org/drawingml/2006/main">
              <a:ext uri="{FF2B5EF4-FFF2-40B4-BE49-F238E27FC236}">
                <a16:creationId xmlns:a16="http://schemas.microsoft.com/office/drawing/2014/main" id="{2632CA1C-F578-4A28-8889-0784F272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60-step_2-text">
            <a:extLst xmlns:a="http://schemas.openxmlformats.org/drawingml/2006/main">
              <a:ext uri="{FF2B5EF4-FFF2-40B4-BE49-F238E27FC236}">
                <a16:creationId xmlns:a16="http://schemas.microsoft.com/office/drawing/2014/main" id="{67AB89BA-1071-46B3-B21F-D7DA91F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Atmósfera</a:t>
            </a:r>
          </a:p>
        </p:txBody>
      </p:sp>
      <p:sp>
        <p:nvSpPr>
          <p:cNvPr id="22" name="U09-DG-060-step_3-box">
            <a:extLst xmlns:a="http://schemas.openxmlformats.org/drawingml/2006/main">
              <a:ext uri="{FF2B5EF4-FFF2-40B4-BE49-F238E27FC236}">
                <a16:creationId xmlns:a16="http://schemas.microsoft.com/office/drawing/2014/main" id="{79377755-E5E3-4244-9012-68B03237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60-step_3-text">
            <a:extLst xmlns:a="http://schemas.openxmlformats.org/drawingml/2006/main">
              <a:ext uri="{FF2B5EF4-FFF2-40B4-BE49-F238E27FC236}">
                <a16:creationId xmlns:a16="http://schemas.microsoft.com/office/drawing/2014/main" id="{665631F2-E1E2-413C-ADE0-C12D016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Suelo</a:t>
            </a:r>
          </a:p>
        </p:txBody>
      </p:sp>
      <p:sp>
        <p:nvSpPr>
          <p:cNvPr id="24" name="U09-DG-060-step_4-box">
            <a:extLst xmlns:a="http://schemas.openxmlformats.org/drawingml/2006/main">
              <a:ext uri="{FF2B5EF4-FFF2-40B4-BE49-F238E27FC236}">
                <a16:creationId xmlns:a16="http://schemas.microsoft.com/office/drawing/2014/main" id="{78C7AC7F-F3CA-4402-8690-E78FCA61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60-step_4-text">
            <a:extLst xmlns:a="http://schemas.openxmlformats.org/drawingml/2006/main">
              <a:ext uri="{FF2B5EF4-FFF2-40B4-BE49-F238E27FC236}">
                <a16:creationId xmlns:a16="http://schemas.microsoft.com/office/drawing/2014/main" id="{A4A09C67-3815-45EE-A9DF-ED549481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Fachada</a:t>
            </a:r>
          </a:p>
        </p:txBody>
      </p:sp>
      <p:sp>
        <p:nvSpPr>
          <p:cNvPr id="26" name="U09-DG-060-step_5-box">
            <a:extLst xmlns:a="http://schemas.openxmlformats.org/drawingml/2006/main">
              <a:ext uri="{FF2B5EF4-FFF2-40B4-BE49-F238E27FC236}">
                <a16:creationId xmlns:a16="http://schemas.microsoft.com/office/drawing/2014/main" id="{6EE33A1B-9867-441B-A90E-F364E7E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60-step_5-text">
            <a:extLst xmlns:a="http://schemas.openxmlformats.org/drawingml/2006/main">
              <a:ext uri="{FF2B5EF4-FFF2-40B4-BE49-F238E27FC236}">
                <a16:creationId xmlns:a16="http://schemas.microsoft.com/office/drawing/2014/main" id="{B49141FB-D187-4E1E-B421-E3F4EAB4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Difracción</a:t>
            </a:r>
          </a:p>
        </p:txBody>
      </p:sp>
      <p:sp>
        <p:nvSpPr>
          <p:cNvPr id="28" name="U09-DG-060-step_6-box">
            <a:extLst xmlns:a="http://schemas.openxmlformats.org/drawingml/2006/main">
              <a:ext uri="{FF2B5EF4-FFF2-40B4-BE49-F238E27FC236}">
                <a16:creationId xmlns:a16="http://schemas.microsoft.com/office/drawing/2014/main" id="{C5FD7ADE-5B5E-4B04-917F-2FCEB190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60-step_6-text">
            <a:extLst xmlns:a="http://schemas.openxmlformats.org/drawingml/2006/main">
              <a:ext uri="{FF2B5EF4-FFF2-40B4-BE49-F238E27FC236}">
                <a16:creationId xmlns:a16="http://schemas.microsoft.com/office/drawing/2014/main" id="{B31F5CB7-31CB-4CAF-8006-6EDCDEE5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Transmisión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DBA2D9C1-0F08-4DE6-A552-2670FD47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distancia, gradientes, suelo, fachada, difracción, transmisión y reflexiones describen rutas di… · U09-DG-060 · UCASAL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B12358-6354-4DBD-A7FF-A55BF333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7359F2A-0252-4588-A21E-CAA773AD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C11D27D-2785-46EE-BCB5-028823AE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B689CCF-41C2-485F-8C82-CF465B8C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B34E628-4258-4FD9-8F23-58DD6726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EBB792-DE7C-433F-B6AD-F337FFF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final III: receptor, cabina y medición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F842BE-8AA4-43F5-BF2A-B4C6B371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Caso por etapas</a:t>
            </a:r>
          </a:p>
        </p:txBody>
      </p:sp>
      <p:sp>
        <p:nvSpPr>
          <p:cNvPr id="7" name="U09-DG-061-step_1-anchor">
            <a:extLst xmlns:a="http://schemas.openxmlformats.org/drawingml/2006/main">
              <a:ext uri="{FF2B5EF4-FFF2-40B4-BE49-F238E27FC236}">
                <a16:creationId xmlns:a16="http://schemas.microsoft.com/office/drawing/2014/main" id="{06F65B67-9C8E-4D38-9751-73FF4AC2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1-step_2-anchor">
            <a:extLst xmlns:a="http://schemas.openxmlformats.org/drawingml/2006/main">
              <a:ext uri="{FF2B5EF4-FFF2-40B4-BE49-F238E27FC236}">
                <a16:creationId xmlns:a16="http://schemas.microsoft.com/office/drawing/2014/main" id="{90893E79-7F20-4575-BB9A-9F58AEE6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1-step_3-anchor">
            <a:extLst xmlns:a="http://schemas.openxmlformats.org/drawingml/2006/main">
              <a:ext uri="{FF2B5EF4-FFF2-40B4-BE49-F238E27FC236}">
                <a16:creationId xmlns:a16="http://schemas.microsoft.com/office/drawing/2014/main" id="{E970B712-E954-420E-ACD2-7B9DB149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1-step_4-anchor">
            <a:extLst xmlns:a="http://schemas.openxmlformats.org/drawingml/2006/main">
              <a:ext uri="{FF2B5EF4-FFF2-40B4-BE49-F238E27FC236}">
                <a16:creationId xmlns:a16="http://schemas.microsoft.com/office/drawing/2014/main" id="{DF98A618-4FB6-47F8-B90F-4278B7B2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1-step_5-anchor">
            <a:extLst xmlns:a="http://schemas.openxmlformats.org/drawingml/2006/main">
              <a:ext uri="{FF2B5EF4-FFF2-40B4-BE49-F238E27FC236}">
                <a16:creationId xmlns:a16="http://schemas.microsoft.com/office/drawing/2014/main" id="{E3AA560D-A634-4297-A141-F043BB74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61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61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61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61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61-visual-alt" descr="U09-DG-061, candidata para diagram-generation. La composición permite reconocer que la medición útil debe ser compatible con el receptor, la prueba y el criterio seleccionado.">
            <a:extLst xmlns:a="http://schemas.openxmlformats.org/drawingml/2006/main">
              <a:ext uri="{FF2B5EF4-FFF2-40B4-BE49-F238E27FC236}">
                <a16:creationId xmlns:a16="http://schemas.microsoft.com/office/drawing/2014/main" id="{0B306E3E-C4C5-4146-90D0-FDAC4A16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61-step_1-text">
            <a:extLst xmlns:a="http://schemas.openxmlformats.org/drawingml/2006/main">
              <a:ext uri="{FF2B5EF4-FFF2-40B4-BE49-F238E27FC236}">
                <a16:creationId xmlns:a16="http://schemas.microsoft.com/office/drawing/2014/main" id="{C955D24B-01AE-4CBC-9C7D-20A886BE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Posición</a:t>
            </a:r>
          </a:p>
        </p:txBody>
      </p:sp>
      <p:sp>
        <p:nvSpPr>
          <p:cNvPr id="18" name="U09-DG-061-step_2-box">
            <a:extLst xmlns:a="http://schemas.openxmlformats.org/drawingml/2006/main">
              <a:ext uri="{FF2B5EF4-FFF2-40B4-BE49-F238E27FC236}">
                <a16:creationId xmlns:a16="http://schemas.microsoft.com/office/drawing/2014/main" id="{BFF59123-0C94-4B41-81D6-A01498F2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61-step_2-text">
            <a:extLst xmlns:a="http://schemas.openxmlformats.org/drawingml/2006/main">
              <a:ext uri="{FF2B5EF4-FFF2-40B4-BE49-F238E27FC236}">
                <a16:creationId xmlns:a16="http://schemas.microsoft.com/office/drawing/2014/main" id="{F4ADAF8B-1402-4F14-828B-8A2EFC2E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Cabina</a:t>
            </a:r>
          </a:p>
        </p:txBody>
      </p:sp>
      <p:sp>
        <p:nvSpPr>
          <p:cNvPr id="20" name="U09-DG-061-step_3-box">
            <a:extLst xmlns:a="http://schemas.openxmlformats.org/drawingml/2006/main">
              <a:ext uri="{FF2B5EF4-FFF2-40B4-BE49-F238E27FC236}">
                <a16:creationId xmlns:a16="http://schemas.microsoft.com/office/drawing/2014/main" id="{FC9CF403-B6CF-439B-B52C-A73EF3BD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61-step_3-text">
            <a:extLst xmlns:a="http://schemas.openxmlformats.org/drawingml/2006/main">
              <a:ext uri="{FF2B5EF4-FFF2-40B4-BE49-F238E27FC236}">
                <a16:creationId xmlns:a16="http://schemas.microsoft.com/office/drawing/2014/main" id="{6AC5A00F-B3CB-4665-8C69-52FEC3A6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Transductor</a:t>
            </a:r>
          </a:p>
        </p:txBody>
      </p:sp>
      <p:sp>
        <p:nvSpPr>
          <p:cNvPr id="22" name="U09-DG-061-step_4-box">
            <a:extLst xmlns:a="http://schemas.openxmlformats.org/drawingml/2006/main">
              <a:ext uri="{FF2B5EF4-FFF2-40B4-BE49-F238E27FC236}">
                <a16:creationId xmlns:a16="http://schemas.microsoft.com/office/drawing/2014/main" id="{850E81C0-9E84-4A43-B3BD-6D37504A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61-step_4-text">
            <a:extLst xmlns:a="http://schemas.openxmlformats.org/drawingml/2006/main">
              <a:ext uri="{FF2B5EF4-FFF2-40B4-BE49-F238E27FC236}">
                <a16:creationId xmlns:a16="http://schemas.microsoft.com/office/drawing/2014/main" id="{7F4B6DC3-817B-42B0-A633-EEB09F7E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Bandas</a:t>
            </a:r>
          </a:p>
        </p:txBody>
      </p:sp>
      <p:sp>
        <p:nvSpPr>
          <p:cNvPr id="24" name="U09-DG-061-step_5-box">
            <a:extLst xmlns:a="http://schemas.openxmlformats.org/drawingml/2006/main">
              <a:ext uri="{FF2B5EF4-FFF2-40B4-BE49-F238E27FC236}">
                <a16:creationId xmlns:a16="http://schemas.microsoft.com/office/drawing/2014/main" id="{EE95F0DF-2F1F-4A81-9077-AA06E823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61-step_5-text">
            <a:extLst xmlns:a="http://schemas.openxmlformats.org/drawingml/2006/main">
              <a:ext uri="{FF2B5EF4-FFF2-40B4-BE49-F238E27FC236}">
                <a16:creationId xmlns:a16="http://schemas.microsoft.com/office/drawing/2014/main" id="{034AD1F2-0270-450B-B884-45DFE257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Norma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D8426997-8705-4D32-993E-5C8DE0E7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medición útil debe ser compatible con el receptor, la prueba y el criterio seleccionado. · U09-DG-061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5A44CE-F1CB-480C-9390-EB2B402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E9FE3AED-7738-432F-8C12-581912BA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9724C9B-2E33-4260-BAE1-116F41C4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CCAE98A-7E8F-436E-9D8C-C918F0B2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2AA898B-287F-4FFB-809F-20FF1AF8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02C914-305A-4075-B2DD-3010E7A6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Estimar, medir o consultar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770975-17C6-4AD4-B5A4-C7D13ED6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Actividad integradora</a:t>
            </a:r>
          </a:p>
        </p:txBody>
      </p:sp>
      <p:sp>
        <p:nvSpPr>
          <p:cNvPr id="7" name="U09-DG-062-concept_1-anchor">
            <a:extLst xmlns:a="http://schemas.openxmlformats.org/drawingml/2006/main">
              <a:ext uri="{FF2B5EF4-FFF2-40B4-BE49-F238E27FC236}">
                <a16:creationId xmlns:a16="http://schemas.microsoft.com/office/drawing/2014/main" id="{F08B596B-2B74-4722-B6BC-35B153E7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2-concept_2-anchor">
            <a:extLst xmlns:a="http://schemas.openxmlformats.org/drawingml/2006/main">
              <a:ext uri="{FF2B5EF4-FFF2-40B4-BE49-F238E27FC236}">
                <a16:creationId xmlns:a16="http://schemas.microsoft.com/office/drawing/2014/main" id="{8415C04A-B0C3-4AC5-A59B-CCE6B87E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2-concept_3-anchor">
            <a:extLst xmlns:a="http://schemas.openxmlformats.org/drawingml/2006/main">
              <a:ext uri="{FF2B5EF4-FFF2-40B4-BE49-F238E27FC236}">
                <a16:creationId xmlns:a16="http://schemas.microsoft.com/office/drawing/2014/main" id="{EF5A5AB2-52AB-4A8B-9A3D-1A115A13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2-concept_4-anchor">
            <a:extLst xmlns:a="http://schemas.openxmlformats.org/drawingml/2006/main">
              <a:ext uri="{FF2B5EF4-FFF2-40B4-BE49-F238E27FC236}">
                <a16:creationId xmlns:a16="http://schemas.microsoft.com/office/drawing/2014/main" id="{6ED3574C-A7C4-4C05-8281-C6FFE79F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2-concept_5-anchor">
            <a:extLst xmlns:a="http://schemas.openxmlformats.org/drawingml/2006/main">
              <a:ext uri="{FF2B5EF4-FFF2-40B4-BE49-F238E27FC236}">
                <a16:creationId xmlns:a16="http://schemas.microsoft.com/office/drawing/2014/main" id="{AB468C1A-58E3-49E1-A9CE-54B392C2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62-concept_6-anchor">
            <a:extLst xmlns:a="http://schemas.openxmlformats.org/drawingml/2006/main">
              <a:ext uri="{FF2B5EF4-FFF2-40B4-BE49-F238E27FC236}">
                <a16:creationId xmlns:a16="http://schemas.microsoft.com/office/drawing/2014/main" id="{B5AC4D72-7364-45AA-88D7-554F5718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62-visual-alt" descr="Matriz de trabajo U09-DG-062, candidata para diagram-generation. La composición permite reconocer que cada afirmación requiere un tipo de evidencia distinto.">
            <a:extLst xmlns:a="http://schemas.openxmlformats.org/drawingml/2006/main">
              <a:ext uri="{FF2B5EF4-FFF2-40B4-BE49-F238E27FC236}">
                <a16:creationId xmlns:a16="http://schemas.microsoft.com/office/drawing/2014/main" id="{77CC0991-9056-471E-8D33-E50C1A57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62-concept_1-text">
            <a:extLst xmlns:a="http://schemas.openxmlformats.org/drawingml/2006/main">
              <a:ext uri="{FF2B5EF4-FFF2-40B4-BE49-F238E27FC236}">
                <a16:creationId xmlns:a16="http://schemas.microsoft.com/office/drawing/2014/main" id="{B0491957-9F21-4708-8466-163CF42F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Seis decisiones</a:t>
            </a:r>
          </a:p>
        </p:txBody>
      </p:sp>
      <p:sp>
        <p:nvSpPr>
          <p:cNvPr id="15" name="U09-DG-062-concept_2-box">
            <a:extLst xmlns:a="http://schemas.openxmlformats.org/drawingml/2006/main">
              <a:ext uri="{FF2B5EF4-FFF2-40B4-BE49-F238E27FC236}">
                <a16:creationId xmlns:a16="http://schemas.microsoft.com/office/drawing/2014/main" id="{47F70C1E-AB24-4152-9C42-C7407AD4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62-concept_2-text">
            <a:extLst xmlns:a="http://schemas.openxmlformats.org/drawingml/2006/main">
              <a:ext uri="{FF2B5EF4-FFF2-40B4-BE49-F238E27FC236}">
                <a16:creationId xmlns:a16="http://schemas.microsoft.com/office/drawing/2014/main" id="{2DFB1DEF-FAD4-44BA-9811-98D552C8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columnas mecanismo</a:t>
            </a:r>
          </a:p>
        </p:txBody>
      </p:sp>
      <p:sp>
        <p:nvSpPr>
          <p:cNvPr id="17" name="U09-DG-062-concept_3-box">
            <a:extLst xmlns:a="http://schemas.openxmlformats.org/drawingml/2006/main">
              <a:ext uri="{FF2B5EF4-FFF2-40B4-BE49-F238E27FC236}">
                <a16:creationId xmlns:a16="http://schemas.microsoft.com/office/drawing/2014/main" id="{4EFDF6FD-149D-4B21-9169-76651176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62-concept_3-text">
            <a:extLst xmlns:a="http://schemas.openxmlformats.org/drawingml/2006/main">
              <a:ext uri="{FF2B5EF4-FFF2-40B4-BE49-F238E27FC236}">
                <a16:creationId xmlns:a16="http://schemas.microsoft.com/office/drawing/2014/main" id="{35175070-873E-4FDF-9581-1D40BE8E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modelo</a:t>
            </a:r>
          </a:p>
        </p:txBody>
      </p:sp>
      <p:sp>
        <p:nvSpPr>
          <p:cNvPr id="19" name="U09-DG-062-concept_4-box">
            <a:extLst xmlns:a="http://schemas.openxmlformats.org/drawingml/2006/main">
              <a:ext uri="{FF2B5EF4-FFF2-40B4-BE49-F238E27FC236}">
                <a16:creationId xmlns:a16="http://schemas.microsoft.com/office/drawing/2014/main" id="{8EAFC06F-7CEC-431A-9F13-117AB21C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62-concept_4-text">
            <a:extLst xmlns:a="http://schemas.openxmlformats.org/drawingml/2006/main">
              <a:ext uri="{FF2B5EF4-FFF2-40B4-BE49-F238E27FC236}">
                <a16:creationId xmlns:a16="http://schemas.microsoft.com/office/drawing/2014/main" id="{F8E9E83F-F658-459C-925A-7A6D4E48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dato</a:t>
            </a:r>
          </a:p>
        </p:txBody>
      </p:sp>
      <p:sp>
        <p:nvSpPr>
          <p:cNvPr id="21" name="U09-DG-062-concept_5-box">
            <a:extLst xmlns:a="http://schemas.openxmlformats.org/drawingml/2006/main">
              <a:ext uri="{FF2B5EF4-FFF2-40B4-BE49-F238E27FC236}">
                <a16:creationId xmlns:a16="http://schemas.microsoft.com/office/drawing/2014/main" id="{EC13492F-93A6-4D19-9F4B-AA26884F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62-concept_5-text">
            <a:extLst xmlns:a="http://schemas.openxmlformats.org/drawingml/2006/main">
              <a:ext uri="{FF2B5EF4-FFF2-40B4-BE49-F238E27FC236}">
                <a16:creationId xmlns:a16="http://schemas.microsoft.com/office/drawing/2014/main" id="{FAE8A34B-938F-4B52-BBEE-A4BAD124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3" name="U09-DG-062-concept_6-box">
            <a:extLst xmlns:a="http://schemas.openxmlformats.org/drawingml/2006/main">
              <a:ext uri="{FF2B5EF4-FFF2-40B4-BE49-F238E27FC236}">
                <a16:creationId xmlns:a16="http://schemas.microsoft.com/office/drawing/2014/main" id="{11E8CBCC-3C4C-4813-8D87-06702E62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62-concept_6-text">
            <a:extLst xmlns:a="http://schemas.openxmlformats.org/drawingml/2006/main">
              <a:ext uri="{FF2B5EF4-FFF2-40B4-BE49-F238E27FC236}">
                <a16:creationId xmlns:a16="http://schemas.microsoft.com/office/drawing/2014/main" id="{55D9C21C-4FCE-459C-BFC8-F6977F2A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2012B4DE-9D3C-4A6B-9D8D-D9D67B77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cada afirmación requiere un tipo de evidencia distinto. · U09-DG-062 · UCASAL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D24B7D-ECBC-4E2B-B7E5-2FA9B7D5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757466-A48B-4BB2-A819-F132DD72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fenómeno a la decisión responsable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330F6AE-A553-4937-BE5B-544F24DB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E7D7DF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7D7DF"/>
                </a:solidFill>
                <a:latin typeface="Calibri"/>
                <a:ea typeface="Calibri"/>
                <a:cs typeface="Calibri"/>
              </a:rPr>
              <a:t>Integración y cierre · Recapitulación final</a:t>
            </a:r>
          </a:p>
        </p:txBody>
      </p:sp>
      <p:sp>
        <p:nvSpPr>
          <p:cNvPr id="3" name="recap-0">
            <a:extLst xmlns:a="http://schemas.openxmlformats.org/drawingml/2006/main">
              <a:ext uri="{FF2B5EF4-FFF2-40B4-BE49-F238E27FC236}">
                <a16:creationId xmlns:a16="http://schemas.microsoft.com/office/drawing/2014/main" id="{22950ED1-3FC7-4980-A294-4F0B59D4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Identificar el mecanismo.</a:t>
            </a:r>
          </a:p>
        </p:txBody>
      </p:sp>
      <p:sp>
        <p:nvSpPr>
          <p:cNvPr id="4" name="recap-1">
            <a:extLst xmlns:a="http://schemas.openxmlformats.org/drawingml/2006/main">
              <a:ext uri="{FF2B5EF4-FFF2-40B4-BE49-F238E27FC236}">
                <a16:creationId xmlns:a16="http://schemas.microsoft.com/office/drawing/2014/main" id="{30C00B32-5362-4C03-BC45-FCB849E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Elegir el modelo adecuado.</a:t>
            </a:r>
          </a:p>
        </p:txBody>
      </p:sp>
      <p:sp>
        <p:nvSpPr>
          <p:cNvPr id="5" name="recap-2">
            <a:extLst xmlns:a="http://schemas.openxmlformats.org/drawingml/2006/main">
              <a:ext uri="{FF2B5EF4-FFF2-40B4-BE49-F238E27FC236}">
                <a16:creationId xmlns:a16="http://schemas.microsoft.com/office/drawing/2014/main" id="{96BF14C7-8CCB-4014-833F-E500E6A2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Declarar condiciones e hipótesis.</a:t>
            </a:r>
          </a:p>
        </p:txBody>
      </p:sp>
      <p:sp>
        <p:nvSpPr>
          <p:cNvPr id="6" name="recap-3">
            <a:extLst xmlns:a="http://schemas.openxmlformats.org/drawingml/2006/main">
              <a:ext uri="{FF2B5EF4-FFF2-40B4-BE49-F238E27FC236}">
                <a16:creationId xmlns:a16="http://schemas.microsoft.com/office/drawing/2014/main" id="{35EF1D49-2A2D-4F0F-A8D2-3D2638DF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576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Medir cuando la estimación no alcance.</a:t>
            </a:r>
          </a:p>
        </p:txBody>
      </p:sp>
      <p:sp>
        <p:nvSpPr>
          <p:cNvPr id="7" name="recap-4">
            <a:extLst xmlns:a="http://schemas.openxmlformats.org/drawingml/2006/main">
              <a:ext uri="{FF2B5EF4-FFF2-40B4-BE49-F238E27FC236}">
                <a16:creationId xmlns:a16="http://schemas.microsoft.com/office/drawing/2014/main" id="{97FE10D4-A1CD-49FD-BC6E-3105FB59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Limitar la conclusión a la evidencia disponible.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8E0545-E7ED-4EE4-8CA4-0061FCBB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DCEF4C26-CF1C-41D9-99C0-4E83CD19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74906AA-1DEE-4B94-9C0A-D795DF23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trayecto al control del ruido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3139D318-596D-4D77-9BAD-919F897C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U9 explica cómo el trayecto modifica lo recibido; U10 organizará fuentes de ruido, exposición y control.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F3B7F0-4A45-46F4-8D0F-7D601AC9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137F1090-18C5-48FA-A80E-A81EB2AF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289DBBD-8170-4D48-AE59-C54FC926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E48C863-4595-4BC5-B4C1-BCC84ADA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7FAE146-BD8F-49E6-82D2-AC7AFC67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1E6DA5-85FA-4F29-9FE3-27D217B6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potencia a −6 dB por duplicar distancia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A3259F-26BB-47B7-9848-95A965DA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Derivación</a:t>
            </a:r>
          </a:p>
        </p:txBody>
      </p:sp>
      <p:sp>
        <p:nvSpPr>
          <p:cNvPr id="7" name="U09-DG-065-equation-anchor">
            <a:extLst xmlns:a="http://schemas.openxmlformats.org/drawingml/2006/main">
              <a:ext uri="{FF2B5EF4-FFF2-40B4-BE49-F238E27FC236}">
                <a16:creationId xmlns:a16="http://schemas.microsoft.com/office/drawing/2014/main" id="{F6513A3D-886E-43DB-9636-E60BA618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5-callout_1-anchor">
            <a:extLst xmlns:a="http://schemas.openxmlformats.org/drawingml/2006/main">
              <a:ext uri="{FF2B5EF4-FFF2-40B4-BE49-F238E27FC236}">
                <a16:creationId xmlns:a16="http://schemas.microsoft.com/office/drawing/2014/main" id="{04694F20-2FC2-4171-B477-B7B800F0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5-callout_2-anchor">
            <a:extLst xmlns:a="http://schemas.openxmlformats.org/drawingml/2006/main">
              <a:ext uri="{FF2B5EF4-FFF2-40B4-BE49-F238E27FC236}">
                <a16:creationId xmlns:a16="http://schemas.microsoft.com/office/drawing/2014/main" id="{43C8D5F1-CFD3-42FB-ADCF-4FABF910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5-callout_3-anchor">
            <a:extLst xmlns:a="http://schemas.openxmlformats.org/drawingml/2006/main">
              <a:ext uri="{FF2B5EF4-FFF2-40B4-BE49-F238E27FC236}">
                <a16:creationId xmlns:a16="http://schemas.microsoft.com/office/drawing/2014/main" id="{CBFADE88-B690-48BA-A5BD-711CBFA8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5-callout_4-anchor">
            <a:extLst xmlns:a="http://schemas.openxmlformats.org/drawingml/2006/main">
              <a:ext uri="{FF2B5EF4-FFF2-40B4-BE49-F238E27FC236}">
                <a16:creationId xmlns:a16="http://schemas.microsoft.com/office/drawing/2014/main" id="{6E48DBED-5310-4401-92A2-A9831D18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65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65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65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65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65-visual-alt" descr="U09-DG-065, candidata para diagram-generation. La composición permite reconocer que la regla surge de área esférica, intensidad y presión, no de una propiedad intrínseca de la fuente.">
            <a:extLst xmlns:a="http://schemas.openxmlformats.org/drawingml/2006/main">
              <a:ext uri="{FF2B5EF4-FFF2-40B4-BE49-F238E27FC236}">
                <a16:creationId xmlns:a16="http://schemas.microsoft.com/office/drawing/2014/main" id="{C4975E27-03FA-4ACD-87CD-535D9F5B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65-equation-text">
            <a:extLst xmlns:a="http://schemas.openxmlformats.org/drawingml/2006/main">
              <a:ext uri="{FF2B5EF4-FFF2-40B4-BE49-F238E27FC236}">
                <a16:creationId xmlns:a16="http://schemas.microsoft.com/office/drawing/2014/main" id="{C6E0CB2F-1DB7-4EC1-B49B-5235358F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4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34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proporcionalidades de divergencia</a:t>
            </a:r>
          </a:p>
        </p:txBody>
      </p:sp>
      <p:sp>
        <p:nvSpPr>
          <p:cNvPr id="18" name="U09-DG-065-callout_1-box">
            <a:extLst xmlns:a="http://schemas.openxmlformats.org/drawingml/2006/main">
              <a:ext uri="{FF2B5EF4-FFF2-40B4-BE49-F238E27FC236}">
                <a16:creationId xmlns:a16="http://schemas.microsoft.com/office/drawing/2014/main" id="{F197BBE6-FF58-4ADD-8018-5A6969D0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65-callout_1-text">
            <a:extLst xmlns:a="http://schemas.openxmlformats.org/drawingml/2006/main">
              <a:ext uri="{FF2B5EF4-FFF2-40B4-BE49-F238E27FC236}">
                <a16:creationId xmlns:a16="http://schemas.microsoft.com/office/drawing/2014/main" id="{1A778BD3-4118-42F5-BA09-40C6F2D9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Potencia</a:t>
            </a:r>
          </a:p>
        </p:txBody>
      </p:sp>
      <p:sp>
        <p:nvSpPr>
          <p:cNvPr id="20" name="U09-DG-065-callout_2-box">
            <a:extLst xmlns:a="http://schemas.openxmlformats.org/drawingml/2006/main">
              <a:ext uri="{FF2B5EF4-FFF2-40B4-BE49-F238E27FC236}">
                <a16:creationId xmlns:a16="http://schemas.microsoft.com/office/drawing/2014/main" id="{619D96D6-637A-43DA-A25D-B18B2DFE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65-callout_2-text">
            <a:extLst xmlns:a="http://schemas.openxmlformats.org/drawingml/2006/main">
              <a:ext uri="{FF2B5EF4-FFF2-40B4-BE49-F238E27FC236}">
                <a16:creationId xmlns:a16="http://schemas.microsoft.com/office/drawing/2014/main" id="{181BC15F-73AB-4AC4-B262-125A39A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área</a:t>
            </a:r>
          </a:p>
        </p:txBody>
      </p:sp>
      <p:sp>
        <p:nvSpPr>
          <p:cNvPr id="22" name="U09-DG-065-callout_3-box">
            <a:extLst xmlns:a="http://schemas.openxmlformats.org/drawingml/2006/main">
              <a:ext uri="{FF2B5EF4-FFF2-40B4-BE49-F238E27FC236}">
                <a16:creationId xmlns:a16="http://schemas.microsoft.com/office/drawing/2014/main" id="{3C4FE4C9-51E2-4F2A-B2CB-1FC8864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65-callout_3-text">
            <a:extLst xmlns:a="http://schemas.openxmlformats.org/drawingml/2006/main">
              <a:ext uri="{FF2B5EF4-FFF2-40B4-BE49-F238E27FC236}">
                <a16:creationId xmlns:a16="http://schemas.microsoft.com/office/drawing/2014/main" id="{98412324-40BB-411B-9F06-3126A1A2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</a:t>
            </a:r>
          </a:p>
        </p:txBody>
      </p:sp>
      <p:sp>
        <p:nvSpPr>
          <p:cNvPr id="24" name="U09-DG-065-callout_4-box">
            <a:extLst xmlns:a="http://schemas.openxmlformats.org/drawingml/2006/main">
              <a:ext uri="{FF2B5EF4-FFF2-40B4-BE49-F238E27FC236}">
                <a16:creationId xmlns:a16="http://schemas.microsoft.com/office/drawing/2014/main" id="{DB09D2FD-1762-4E51-957D-157E5F96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65-callout_4-text">
            <a:extLst xmlns:a="http://schemas.openxmlformats.org/drawingml/2006/main">
              <a:ext uri="{FF2B5EF4-FFF2-40B4-BE49-F238E27FC236}">
                <a16:creationId xmlns:a16="http://schemas.microsoft.com/office/drawing/2014/main" id="{A905F2D1-8B6C-4858-B39D-F1C70835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36B5C1B8-937E-4703-AC59-F3635B71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regla surge de área esférica, intensidad y presión, no de una propiedad intrínseca de la fue… · U09-DG-065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766D85-48AF-4250-9E64-44458730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rail-1">
            <a:extLst xmlns:a="http://schemas.openxmlformats.org/drawingml/2006/main">
              <a:ext uri="{FF2B5EF4-FFF2-40B4-BE49-F238E27FC236}">
                <a16:creationId xmlns:a16="http://schemas.microsoft.com/office/drawing/2014/main" id="{9BC29AAD-C5D3-4225-B930-95B35301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C793A86-3121-48D5-95A1-B3184A4D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3B05D21-5421-4A1B-BB74-53FD4C9C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AA4547E-21E1-493E-9672-15CF76F3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3EE1DA-3B18-4B30-90B1-2C7806A4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Símbolos que no deben confundirse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9C3807-4F6C-4681-B501-8D33ED54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Tabla de notación</a:t>
            </a:r>
          </a:p>
        </p:txBody>
      </p:sp>
      <p:sp>
        <p:nvSpPr>
          <p:cNvPr id="7" name="U09-086-claim-alt" descr="Tabla nativa. La composición permite reconocer que reflexión energética, reflexión de presión, reducción sonora y tiempo de reverberación requieren símbolos distintos.">
            <a:extLst xmlns:a="http://schemas.openxmlformats.org/drawingml/2006/main">
              <a:ext uri="{FF2B5EF4-FFF2-40B4-BE49-F238E27FC236}">
                <a16:creationId xmlns:a16="http://schemas.microsoft.com/office/drawing/2014/main" id="{F2A33F40-F893-4BBD-A984-97B369C9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tation-h1">
            <a:extLst xmlns:a="http://schemas.openxmlformats.org/drawingml/2006/main">
              <a:ext uri="{FF2B5EF4-FFF2-40B4-BE49-F238E27FC236}">
                <a16:creationId xmlns:a16="http://schemas.microsoft.com/office/drawing/2014/main" id="{E7F2445D-BF53-4CD5-8B72-F5028DC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Símbolo</a:t>
            </a:r>
          </a:p>
        </p:txBody>
      </p:sp>
      <p:sp>
        <p:nvSpPr>
          <p:cNvPr id="9" name="notation-h2">
            <a:extLst xmlns:a="http://schemas.openxmlformats.org/drawingml/2006/main">
              <a:ext uri="{FF2B5EF4-FFF2-40B4-BE49-F238E27FC236}">
                <a16:creationId xmlns:a16="http://schemas.microsoft.com/office/drawing/2014/main" id="{48BE43B0-C5D2-47C1-8D23-2CAA436C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71625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Significado</a:t>
            </a:r>
          </a:p>
        </p:txBody>
      </p:sp>
      <p:sp>
        <p:nvSpPr>
          <p:cNvPr id="10" name="notation-h3">
            <a:extLst xmlns:a="http://schemas.openxmlformats.org/drawingml/2006/main">
              <a:ext uri="{FF2B5EF4-FFF2-40B4-BE49-F238E27FC236}">
                <a16:creationId xmlns:a16="http://schemas.microsoft.com/office/drawing/2014/main" id="{38727D91-8554-47F7-B406-6F1FA617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</a:t>
            </a:r>
          </a:p>
        </p:txBody>
      </p:sp>
      <p:sp>
        <p:nvSpPr>
          <p:cNvPr id="11" name="notation-s-0">
            <a:extLst xmlns:a="http://schemas.openxmlformats.org/drawingml/2006/main">
              <a:ext uri="{FF2B5EF4-FFF2-40B4-BE49-F238E27FC236}">
                <a16:creationId xmlns:a16="http://schemas.microsoft.com/office/drawing/2014/main" id="{481A0F71-515F-4CE3-9552-ED322952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2" name="notation-m-0">
            <a:extLst xmlns:a="http://schemas.openxmlformats.org/drawingml/2006/main">
              <a:ext uri="{FF2B5EF4-FFF2-40B4-BE49-F238E27FC236}">
                <a16:creationId xmlns:a16="http://schemas.microsoft.com/office/drawing/2014/main" id="{F5022A85-8E4C-4359-AC4D-265EAA8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coeficiente de reflexión</a:t>
            </a:r>
          </a:p>
        </p:txBody>
      </p:sp>
      <p:sp>
        <p:nvSpPr>
          <p:cNvPr id="13" name="notation-u-0">
            <a:extLst xmlns:a="http://schemas.openxmlformats.org/drawingml/2006/main">
              <a:ext uri="{FF2B5EF4-FFF2-40B4-BE49-F238E27FC236}">
                <a16:creationId xmlns:a16="http://schemas.microsoft.com/office/drawing/2014/main" id="{2EDA762E-098E-49D5-9C9D-3694B144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unidad</a:t>
            </a:r>
          </a:p>
        </p:txBody>
      </p:sp>
      <p:sp>
        <p:nvSpPr>
          <p:cNvPr id="14" name="notation-s-1">
            <a:extLst xmlns:a="http://schemas.openxmlformats.org/drawingml/2006/main">
              <a:ext uri="{FF2B5EF4-FFF2-40B4-BE49-F238E27FC236}">
                <a16:creationId xmlns:a16="http://schemas.microsoft.com/office/drawing/2014/main" id="{1CA6BC92-1D6A-4439-978D-6FD99BD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α</a:t>
            </a:r>
          </a:p>
        </p:txBody>
      </p:sp>
      <p:sp>
        <p:nvSpPr>
          <p:cNvPr id="15" name="notation-m-1">
            <a:extLst xmlns:a="http://schemas.openxmlformats.org/drawingml/2006/main">
              <a:ext uri="{FF2B5EF4-FFF2-40B4-BE49-F238E27FC236}">
                <a16:creationId xmlns:a16="http://schemas.microsoft.com/office/drawing/2014/main" id="{AD6B393A-AB9B-4F46-AF23-05F6680D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0032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coeficiente de absorción</a:t>
            </a:r>
          </a:p>
        </p:txBody>
      </p:sp>
      <p:sp>
        <p:nvSpPr>
          <p:cNvPr id="16" name="notation-u-1">
            <a:extLst xmlns:a="http://schemas.openxmlformats.org/drawingml/2006/main">
              <a:ext uri="{FF2B5EF4-FFF2-40B4-BE49-F238E27FC236}">
                <a16:creationId xmlns:a16="http://schemas.microsoft.com/office/drawing/2014/main" id="{E627551E-A3E9-4322-B373-BB6C6532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03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unidad</a:t>
            </a:r>
          </a:p>
        </p:txBody>
      </p:sp>
      <p:sp>
        <p:nvSpPr>
          <p:cNvPr id="17" name="notation-s-2">
            <a:extLst xmlns:a="http://schemas.openxmlformats.org/drawingml/2006/main">
              <a:ext uri="{FF2B5EF4-FFF2-40B4-BE49-F238E27FC236}">
                <a16:creationId xmlns:a16="http://schemas.microsoft.com/office/drawing/2014/main" id="{2AEA0D1B-232F-47B0-B157-77878054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τ</a:t>
            </a:r>
          </a:p>
        </p:txBody>
      </p:sp>
      <p:sp>
        <p:nvSpPr>
          <p:cNvPr id="18" name="notation-m-2">
            <a:extLst xmlns:a="http://schemas.openxmlformats.org/drawingml/2006/main">
              <a:ext uri="{FF2B5EF4-FFF2-40B4-BE49-F238E27FC236}">
                <a16:creationId xmlns:a16="http://schemas.microsoft.com/office/drawing/2014/main" id="{88DF3D7D-07A9-4AA5-AADA-085698D5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5277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coeficiente de transmisión</a:t>
            </a:r>
          </a:p>
        </p:txBody>
      </p:sp>
      <p:sp>
        <p:nvSpPr>
          <p:cNvPr id="19" name="notation-u-2">
            <a:extLst xmlns:a="http://schemas.openxmlformats.org/drawingml/2006/main">
              <a:ext uri="{FF2B5EF4-FFF2-40B4-BE49-F238E27FC236}">
                <a16:creationId xmlns:a16="http://schemas.microsoft.com/office/drawing/2014/main" id="{83672DF9-FFA0-4948-8D38-9875CD9B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5277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unidad</a:t>
            </a:r>
          </a:p>
        </p:txBody>
      </p:sp>
      <p:sp>
        <p:nvSpPr>
          <p:cNvPr id="20" name="notation-s-3">
            <a:extLst xmlns:a="http://schemas.openxmlformats.org/drawingml/2006/main">
              <a:ext uri="{FF2B5EF4-FFF2-40B4-BE49-F238E27FC236}">
                <a16:creationId xmlns:a16="http://schemas.microsoft.com/office/drawing/2014/main" id="{F4AA9507-AEA4-46BA-8D35-6B239AC8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Aₑq</a:t>
            </a:r>
          </a:p>
        </p:txBody>
      </p:sp>
      <p:sp>
        <p:nvSpPr>
          <p:cNvPr id="21" name="notation-m-3">
            <a:extLst xmlns:a="http://schemas.openxmlformats.org/drawingml/2006/main">
              <a:ext uri="{FF2B5EF4-FFF2-40B4-BE49-F238E27FC236}">
                <a16:creationId xmlns:a16="http://schemas.microsoft.com/office/drawing/2014/main" id="{AE8D4998-3BF7-4E52-8058-1495DD26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0522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área equivalente de absorción</a:t>
            </a:r>
          </a:p>
        </p:txBody>
      </p:sp>
      <p:sp>
        <p:nvSpPr>
          <p:cNvPr id="22" name="notation-u-3">
            <a:extLst xmlns:a="http://schemas.openxmlformats.org/drawingml/2006/main">
              <a:ext uri="{FF2B5EF4-FFF2-40B4-BE49-F238E27FC236}">
                <a16:creationId xmlns:a16="http://schemas.microsoft.com/office/drawing/2014/main" id="{64F36FAF-8B16-483E-8892-36E36AF1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m² sabin</a:t>
            </a:r>
          </a:p>
        </p:txBody>
      </p:sp>
      <p:sp>
        <p:nvSpPr>
          <p:cNvPr id="23" name="notation-s-4">
            <a:extLst xmlns:a="http://schemas.openxmlformats.org/drawingml/2006/main">
              <a:ext uri="{FF2B5EF4-FFF2-40B4-BE49-F238E27FC236}">
                <a16:creationId xmlns:a16="http://schemas.microsoft.com/office/drawing/2014/main" id="{6E9CC0EE-685A-46B5-8A5E-DD0C3B5E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T₆₀</a:t>
            </a:r>
          </a:p>
        </p:txBody>
      </p:sp>
      <p:sp>
        <p:nvSpPr>
          <p:cNvPr id="24" name="notation-m-4">
            <a:extLst xmlns:a="http://schemas.openxmlformats.org/drawingml/2006/main">
              <a:ext uri="{FF2B5EF4-FFF2-40B4-BE49-F238E27FC236}">
                <a16:creationId xmlns:a16="http://schemas.microsoft.com/office/drawing/2014/main" id="{64FECEDB-FB43-4ABB-9B55-11A8200A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5767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tiempo de reverberación</a:t>
            </a:r>
          </a:p>
        </p:txBody>
      </p:sp>
      <p:sp>
        <p:nvSpPr>
          <p:cNvPr id="25" name="notation-u-4">
            <a:extLst xmlns:a="http://schemas.openxmlformats.org/drawingml/2006/main">
              <a:ext uri="{FF2B5EF4-FFF2-40B4-BE49-F238E27FC236}">
                <a16:creationId xmlns:a16="http://schemas.microsoft.com/office/drawing/2014/main" id="{2FB76173-A5C0-4EA9-8E3A-99D8D79B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5767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sp>
        <p:nvSpPr>
          <p:cNvPr id="26" name="notation-s-5">
            <a:extLst xmlns:a="http://schemas.openxmlformats.org/drawingml/2006/main">
              <a:ext uri="{FF2B5EF4-FFF2-40B4-BE49-F238E27FC236}">
                <a16:creationId xmlns:a16="http://schemas.microsoft.com/office/drawing/2014/main" id="{FAFB24A9-20B5-4699-B390-8A29477E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 (dB)</a:t>
            </a:r>
          </a:p>
        </p:txBody>
      </p:sp>
      <p:sp>
        <p:nvSpPr>
          <p:cNvPr id="27" name="notation-m-5">
            <a:extLst xmlns:a="http://schemas.openxmlformats.org/drawingml/2006/main">
              <a:ext uri="{FF2B5EF4-FFF2-40B4-BE49-F238E27FC236}">
                <a16:creationId xmlns:a16="http://schemas.microsoft.com/office/drawing/2014/main" id="{9D78CF5D-8ABE-4C96-8885-EB2AF780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0125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índice de reducción sonora</a:t>
            </a:r>
          </a:p>
        </p:txBody>
      </p:sp>
      <p:sp>
        <p:nvSpPr>
          <p:cNvPr id="28" name="notation-u-5">
            <a:extLst xmlns:a="http://schemas.openxmlformats.org/drawingml/2006/main">
              <a:ext uri="{FF2B5EF4-FFF2-40B4-BE49-F238E27FC236}">
                <a16:creationId xmlns:a16="http://schemas.microsoft.com/office/drawing/2014/main" id="{394E212D-1EFE-4A21-925E-68A5C3C0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101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</a:t>
            </a:r>
          </a:p>
        </p:txBody>
      </p:sp>
      <p:sp>
        <p:nvSpPr>
          <p:cNvPr id="2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523A79-0093-4353-897C-89CB9BA8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BBD45F2B-9B01-4ADD-B4BD-4A11F518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F62AA6C-72F4-4C49-A5E8-D97FEB9C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EF54F73-2244-46B9-8C18-3B7A90FA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AD13917-D4D2-4E2A-ADCA-0DF3678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709F1E-E8DE-40D4-8073-69EED020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Ejercicios de distancia y directividad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B10972-BB7E-4971-9261-47E4D86C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Solución extendida</a:t>
            </a:r>
          </a:p>
        </p:txBody>
      </p:sp>
      <p:sp>
        <p:nvSpPr>
          <p:cNvPr id="7" name="U09-087-claim-alt" descr="U09-DG-066, candidata para diagram-generation. La composición permite reconocer que la operación debe acompañarse con hipótesis y conclusión.">
            <a:extLst xmlns:a="http://schemas.openxmlformats.org/drawingml/2006/main">
              <a:ext uri="{FF2B5EF4-FFF2-40B4-BE49-F238E27FC236}">
                <a16:creationId xmlns:a16="http://schemas.microsoft.com/office/drawing/2014/main" id="{617A8EAA-52CD-44B0-BDA3-AEBA62A8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F7D4C36B-6198-449F-8096-C34D4F12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095875" cy="381000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AB105D24-61B5-4C84-A297-CA2517A4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Distancia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9ECA3263-6A3A-4B6C-9DBD-3DD10F42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467677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Dato: 76 dB SPL a 2 m. Estimar a 10 m. ΔL = −20 log₁₀(10/2) = −13,98 dB Resultado: ≈ 62 dB SPL.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C2FE2D3A-8913-4A68-B86E-B7AFB138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095875" cy="381000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EC5B78AF-E5DD-434B-B44B-7E0ACAEA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38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Directividad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85CD42E7-E383-4185-B8F4-8D02BC9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52675"/>
            <a:ext cx="467677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Dato: Q = 8. DI = 10 log₁₀(8) = 9,03 dB Interpretación: ganancia direccional ideal respecto de una fuente omnidireccional.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BA6E2A-1FE0-46F8-9575-2A98CB61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EA636DBD-1B6F-47D2-8777-71D4D930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25BFC46-E18F-47C7-89F0-4F4C81B7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6AFD31E-5AE0-4815-861D-5585E49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46C2AA8-5A3B-4807-AD42-CB9F57C0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215634-9DA2-422A-8108-7D597507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Absorción atmosférica por bandas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CA40911-CF3E-4999-81C8-A6BB775C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Ampliación cuantitativa</a:t>
            </a:r>
          </a:p>
        </p:txBody>
      </p:sp>
      <p:sp>
        <p:nvSpPr>
          <p:cNvPr id="7" name="U09-088-claim-alt">
            <a:extLst xmlns:a="http://schemas.openxmlformats.org/drawingml/2006/main">
              <a:ext uri="{FF2B5EF4-FFF2-40B4-BE49-F238E27FC236}">
                <a16:creationId xmlns:a16="http://schemas.microsoft.com/office/drawing/2014/main" id="{3BA82F94-FE20-4C01-A301-517DCE5E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37E27F24-855A-4483-B614-B4AC0A90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84F31B32-5E55-4389-B9FF-12440770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Frecuencia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CE2E2F88-A054-49DD-A30F-F0E1F0F2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atenuación atmosférica suele crecer hacia frecuencias altas.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D3B6B57F-1ACB-4F48-92B6-0F8EBB21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88FD1E51-9E33-4004-B8CC-CB5D203A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Estado del aire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F9301141-C82B-4C7F-97B5-2A6A1D74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Temperatura, humedad y presión modifican la absorción molecular.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559F15D8-C270-4BBB-8FD7-D028E556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F5D14A95-E4E9-4BF2-B31A-9B4E7E63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Distancia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92366A38-8765-4642-B9B4-5B574A4B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efecto se acumula a lo largo del trayecto y se suma a la divergencia.</a:t>
            </a:r>
          </a:p>
        </p:txBody>
      </p:sp>
      <p:sp>
        <p:nvSpPr>
          <p:cNvPr id="17" name="atm-key">
            <a:extLst xmlns:a="http://schemas.openxmlformats.org/drawingml/2006/main">
              <a:ext uri="{FF2B5EF4-FFF2-40B4-BE49-F238E27FC236}">
                <a16:creationId xmlns:a16="http://schemas.microsoft.com/office/drawing/2014/main" id="{F5C72664-E8C8-4FFC-BF70-693423D9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No hay una curva universal: para calcular se deben declarar condiciones y fuente de datos.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70ABCD-B836-423C-AA08-6D102A49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471DC672-468A-4DB4-8B11-B214FF91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ABDBACE-0C59-4A85-85DC-946EF31A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70F0D85-5D7E-4AAF-B6F3-B8D0ACB7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6251EFC-6115-4DE5-BC2F-88DF84CB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8AC539-669E-4AC3-92DE-EDE8A9D5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Refracción y conversión modal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543FFD5-5284-438E-A546-C94FCDD7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Ampliación formal</a:t>
            </a:r>
          </a:p>
        </p:txBody>
      </p:sp>
      <p:sp>
        <p:nvSpPr>
          <p:cNvPr id="7" name="U09-089-claim-alt">
            <a:extLst xmlns:a="http://schemas.openxmlformats.org/drawingml/2006/main">
              <a:ext uri="{FF2B5EF4-FFF2-40B4-BE49-F238E27FC236}">
                <a16:creationId xmlns:a16="http://schemas.microsoft.com/office/drawing/2014/main" id="{9E404AB7-4B06-4492-B12B-363CFED8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F3FBC182-5AD6-456B-A372-85AE2FE6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31A4CE03-CEB6-4DE0-9AA8-3ABF6870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Ondas longitudinales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D160B5C9-3E0D-4C0F-8891-673933B5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movimiento de las partículas es paralelo a la propagación; pueden propagarse en fluidos y sólidos.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960752C8-FAA4-45E4-A70A-524D0EAE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095875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509C4577-AF57-4CFF-8D7D-D8C24711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Ondas transversales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30812439-042C-41DF-969A-29DEFF70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00300"/>
            <a:ext cx="46767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movimiento es perpendicular a la propagación; requieren un medio con rigidez al corte, como un sólido.</a:t>
            </a:r>
          </a:p>
        </p:txBody>
      </p:sp>
      <p:sp>
        <p:nvSpPr>
          <p:cNvPr id="14" name="mode-key">
            <a:extLst xmlns:a="http://schemas.openxmlformats.org/drawingml/2006/main">
              <a:ext uri="{FF2B5EF4-FFF2-40B4-BE49-F238E27FC236}">
                <a16:creationId xmlns:a16="http://schemas.microsoft.com/office/drawing/2014/main" id="{B848432D-A8B8-4DAA-9A43-E91D7348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En una interfaz sólida pueden coexistir modos; la partición depende de material, geometría y ángulo.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BE31778-4CC5-49F8-8EF5-89563F81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E3873848-D14C-46F2-B75C-BEFCD3F3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2572E73-06BC-4E53-B18B-100200DC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639FEB2-A697-4D9C-AA3D-3895573B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08C85D0-1D47-46F0-9715-21515572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FB8FDF-2989-4A42-B8DD-27C653B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Balance, Aₑq y Sabine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011B97-4058-4131-9AB6-2EDCA101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Solución extendida</a:t>
            </a:r>
          </a:p>
        </p:txBody>
      </p:sp>
      <p:sp>
        <p:nvSpPr>
          <p:cNvPr id="7" name="U09-090-claim-alt" descr="U09-DG-068, candidata para diagram-generation. La composición permite reconocer que cada resultado debe terminar con una interpretación y una crítica del modelo.">
            <a:extLst xmlns:a="http://schemas.openxmlformats.org/drawingml/2006/main">
              <a:ext uri="{FF2B5EF4-FFF2-40B4-BE49-F238E27FC236}">
                <a16:creationId xmlns:a16="http://schemas.microsoft.com/office/drawing/2014/main" id="{45670AF3-67F5-43E2-A85D-028ABA29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left-box">
            <a:extLst xmlns:a="http://schemas.openxmlformats.org/drawingml/2006/main">
              <a:ext uri="{FF2B5EF4-FFF2-40B4-BE49-F238E27FC236}">
                <a16:creationId xmlns:a16="http://schemas.microsoft.com/office/drawing/2014/main" id="{035943B6-E7F1-4971-9F60-03FA604A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095875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left-title">
            <a:extLst xmlns:a="http://schemas.openxmlformats.org/drawingml/2006/main">
              <a:ext uri="{FF2B5EF4-FFF2-40B4-BE49-F238E27FC236}">
                <a16:creationId xmlns:a16="http://schemas.microsoft.com/office/drawing/2014/main" id="{66DCC2B2-1144-48F8-AD75-C7F40DAD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Balance en interfaz</a:t>
            </a:r>
          </a:p>
        </p:txBody>
      </p:sp>
      <p:sp>
        <p:nvSpPr>
          <p:cNvPr id="10" name="custom-left-body">
            <a:extLst xmlns:a="http://schemas.openxmlformats.org/drawingml/2006/main">
              <a:ext uri="{FF2B5EF4-FFF2-40B4-BE49-F238E27FC236}">
                <a16:creationId xmlns:a16="http://schemas.microsoft.com/office/drawing/2014/main" id="{5845487E-7B4B-41A4-9155-EE225FCD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4676775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 = 0,55; α = 0,30; τ = 1 − R − α = 0,15. Comprobación: R + α + τ = 1.</a:t>
            </a:r>
          </a:p>
        </p:txBody>
      </p:sp>
      <p:sp>
        <p:nvSpPr>
          <p:cNvPr id="11" name="custom-right-box">
            <a:extLst xmlns:a="http://schemas.openxmlformats.org/drawingml/2006/main">
              <a:ext uri="{FF2B5EF4-FFF2-40B4-BE49-F238E27FC236}">
                <a16:creationId xmlns:a16="http://schemas.microsoft.com/office/drawing/2014/main" id="{1EF2CF0F-646E-4E46-AB67-3380F18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095875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2" name="custom-right-title">
            <a:extLst xmlns:a="http://schemas.openxmlformats.org/drawingml/2006/main">
              <a:ext uri="{FF2B5EF4-FFF2-40B4-BE49-F238E27FC236}">
                <a16:creationId xmlns:a16="http://schemas.microsoft.com/office/drawing/2014/main" id="{905C53D5-E602-466E-92AA-263B8450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38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Sabine</a:t>
            </a:r>
          </a:p>
        </p:txBody>
      </p:sp>
      <p:sp>
        <p:nvSpPr>
          <p:cNvPr id="13" name="custom-right-body">
            <a:extLst xmlns:a="http://schemas.openxmlformats.org/drawingml/2006/main">
              <a:ext uri="{FF2B5EF4-FFF2-40B4-BE49-F238E27FC236}">
                <a16:creationId xmlns:a16="http://schemas.microsoft.com/office/drawing/2014/main" id="{DDB1DF1C-A3FC-4131-A401-15895167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52675"/>
            <a:ext cx="4676775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Sala 5 × 4 × 3 m; Sₜₒₜ = 94 m²; ᾱ = 0,20. Aₑq = 18,8 m² sabin. T₆₀ = 0,161 · 60 / 18,8 ≈ 0,514 s.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F382200-17A6-4888-9531-D20EED33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0D5294E4-46BC-4CAA-B129-DC6A9F5F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FE53ADC-D772-4176-89C7-3CE5AE45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CF057C7-ACE5-4F0D-889E-973E156D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1437215-ABEA-439E-963E-AA1538A5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AAF9BB-88A6-4876-82FF-9AC06BF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Límites de Sabine y modelos alternativos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315D6A-AB7E-4B9F-B955-383A7D82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Ampliación</a:t>
            </a:r>
          </a:p>
        </p:txBody>
      </p:sp>
      <p:sp>
        <p:nvSpPr>
          <p:cNvPr id="7" name="U09-DG-069-source-anchor">
            <a:extLst xmlns:a="http://schemas.openxmlformats.org/drawingml/2006/main">
              <a:ext uri="{FF2B5EF4-FFF2-40B4-BE49-F238E27FC236}">
                <a16:creationId xmlns:a16="http://schemas.microsoft.com/office/drawing/2014/main" id="{0E9353AA-CD77-4CEC-9938-C09AB9F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9-path_upper-anchor">
            <a:extLst xmlns:a="http://schemas.openxmlformats.org/drawingml/2006/main">
              <a:ext uri="{FF2B5EF4-FFF2-40B4-BE49-F238E27FC236}">
                <a16:creationId xmlns:a16="http://schemas.microsoft.com/office/drawing/2014/main" id="{5078B948-8A0C-4240-A506-EB352EE0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9-path_lower-anchor">
            <a:extLst xmlns:a="http://schemas.openxmlformats.org/drawingml/2006/main">
              <a:ext uri="{FF2B5EF4-FFF2-40B4-BE49-F238E27FC236}">
                <a16:creationId xmlns:a16="http://schemas.microsoft.com/office/drawing/2014/main" id="{8A965F88-618B-4DF9-AEC7-5AF25985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9-receiver-anchor">
            <a:extLst xmlns:a="http://schemas.openxmlformats.org/drawingml/2006/main">
              <a:ext uri="{FF2B5EF4-FFF2-40B4-BE49-F238E27FC236}">
                <a16:creationId xmlns:a16="http://schemas.microsoft.com/office/drawing/2014/main" id="{A1220124-44D0-4541-8771-EC90E89D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9-condition-anchor">
            <a:extLst xmlns:a="http://schemas.openxmlformats.org/drawingml/2006/main">
              <a:ext uri="{FF2B5EF4-FFF2-40B4-BE49-F238E27FC236}">
                <a16:creationId xmlns:a16="http://schemas.microsoft.com/office/drawing/2014/main" id="{A5424F1D-9AAA-4F57-8027-9E43577E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U09-DG-069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69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69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69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69-visual-alt" descr="Tabla nativa; posible U09-DG-069, candidata para diagram-generation. La composición permite reconocer que recintos muy absorbentes, no difusos o pequeños pueden requerir otros modelos o medición.">
            <a:extLst xmlns:a="http://schemas.openxmlformats.org/drawingml/2006/main">
              <a:ext uri="{FF2B5EF4-FFF2-40B4-BE49-F238E27FC236}">
                <a16:creationId xmlns:a16="http://schemas.microsoft.com/office/drawing/2014/main" id="{7BA2D94A-9C35-48D8-9888-4F721E0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69-source-text">
            <a:extLst xmlns:a="http://schemas.openxmlformats.org/drawingml/2006/main">
              <a:ext uri="{FF2B5EF4-FFF2-40B4-BE49-F238E27FC236}">
                <a16:creationId xmlns:a16="http://schemas.microsoft.com/office/drawing/2014/main" id="{AB91BF05-0D33-44D0-B4EE-2991C846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Condición observada</a:t>
            </a:r>
          </a:p>
        </p:txBody>
      </p:sp>
      <p:sp>
        <p:nvSpPr>
          <p:cNvPr id="18" name="U09-DG-069-path_upper-box">
            <a:extLst xmlns:a="http://schemas.openxmlformats.org/drawingml/2006/main">
              <a:ext uri="{FF2B5EF4-FFF2-40B4-BE49-F238E27FC236}">
                <a16:creationId xmlns:a16="http://schemas.microsoft.com/office/drawing/2014/main" id="{978EEF95-9AFF-4C54-99DC-0873D184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69-path_upper-text">
            <a:extLst xmlns:a="http://schemas.openxmlformats.org/drawingml/2006/main">
              <a:ext uri="{FF2B5EF4-FFF2-40B4-BE49-F238E27FC236}">
                <a16:creationId xmlns:a16="http://schemas.microsoft.com/office/drawing/2014/main" id="{59A12031-35EB-460F-B664-8A974CF4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Límite de Sabine</a:t>
            </a:r>
          </a:p>
        </p:txBody>
      </p:sp>
      <p:sp>
        <p:nvSpPr>
          <p:cNvPr id="20" name="U09-DG-069-path_lower-box">
            <a:extLst xmlns:a="http://schemas.openxmlformats.org/drawingml/2006/main">
              <a:ext uri="{FF2B5EF4-FFF2-40B4-BE49-F238E27FC236}">
                <a16:creationId xmlns:a16="http://schemas.microsoft.com/office/drawing/2014/main" id="{BEE5D05F-3A58-4975-AB91-218D0A66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69-path_lower-text">
            <a:extLst xmlns:a="http://schemas.openxmlformats.org/drawingml/2006/main">
              <a:ext uri="{FF2B5EF4-FFF2-40B4-BE49-F238E27FC236}">
                <a16:creationId xmlns:a16="http://schemas.microsoft.com/office/drawing/2014/main" id="{80C2A6E5-00CA-4408-B548-66C90B55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Medir</a:t>
            </a:r>
          </a:p>
        </p:txBody>
      </p:sp>
      <p:sp>
        <p:nvSpPr>
          <p:cNvPr id="22" name="U09-DG-069-receiver-box">
            <a:extLst xmlns:a="http://schemas.openxmlformats.org/drawingml/2006/main">
              <a:ext uri="{FF2B5EF4-FFF2-40B4-BE49-F238E27FC236}">
                <a16:creationId xmlns:a16="http://schemas.microsoft.com/office/drawing/2014/main" id="{A2A17A31-8FE6-4A0D-BCE7-CFB27669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69-receiver-text">
            <a:extLst xmlns:a="http://schemas.openxmlformats.org/drawingml/2006/main">
              <a:ext uri="{FF2B5EF4-FFF2-40B4-BE49-F238E27FC236}">
                <a16:creationId xmlns:a16="http://schemas.microsoft.com/office/drawing/2014/main" id="{1D5BDB0A-3FB6-4E02-BCF4-ED42DD7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Modelo alternativo</a:t>
            </a:r>
          </a:p>
        </p:txBody>
      </p:sp>
      <p:sp>
        <p:nvSpPr>
          <p:cNvPr id="24" name="U09-DG-069-condition-box">
            <a:extLst xmlns:a="http://schemas.openxmlformats.org/drawingml/2006/main">
              <a:ext uri="{FF2B5EF4-FFF2-40B4-BE49-F238E27FC236}">
                <a16:creationId xmlns:a16="http://schemas.microsoft.com/office/drawing/2014/main" id="{C14DBC4F-C214-414D-9307-E8903BAA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69-condition-text">
            <a:extLst xmlns:a="http://schemas.openxmlformats.org/drawingml/2006/main">
              <a:ext uri="{FF2B5EF4-FFF2-40B4-BE49-F238E27FC236}">
                <a16:creationId xmlns:a16="http://schemas.microsoft.com/office/drawing/2014/main" id="{9E75A07D-8711-4F2C-907F-52D779AF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Conclusión acotada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4606C2E8-6653-46CF-89F1-DA20EF22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recintos muy absorbentes, no difusos o pequeños pueden requerir otros modelos o medición. · U09-DG-069 · UCASAL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221A3F-66E0-4AF2-9A8D-E02A10C2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FCEC04CE-B047-43BF-8A72-EFFE8D1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A98FEFE-027B-4285-86E6-49A6D487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F26CBC7-B3B6-4A3C-953C-1BEE5212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CA4F14F-E46D-4240-AD8F-F93FC860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8E0718-D89D-4157-A0F5-219D5FD7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Ruido máximo admisible para audiometría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346971E-10C7-40C3-85C3-4FC76CC6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criterios para aplicar un límite</a:t>
            </a:r>
          </a:p>
        </p:txBody>
      </p:sp>
      <p:sp>
        <p:nvSpPr>
          <p:cNvPr id="7" name="U09-092-claim-alt">
            <a:extLst xmlns:a="http://schemas.openxmlformats.org/drawingml/2006/main">
              <a:ext uri="{FF2B5EF4-FFF2-40B4-BE49-F238E27FC236}">
                <a16:creationId xmlns:a16="http://schemas.microsoft.com/office/drawing/2014/main" id="{DC0C0EE2-DE1B-4398-A99D-AE56B573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26C67034-93D0-4472-BF59-99801F2B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4A23406D-AF53-41CF-83C7-37DEED20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Norma y edición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30E4510F-0302-4933-A136-2AA34A03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Identificar documento completo, versión, adopción local y vigencia.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FE88F2E3-723E-4427-9DD5-B959FF7B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D3F3B980-B1BD-4286-A6E6-BD249E53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Condición de medida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2F9D1C48-6384-4377-AA08-B10A94F0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Declarar bandas, ponderación, posición, vía y transductor.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9A6B7E84-E5B0-4CA2-AAF2-79DA5666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F0D4F506-531F-41A5-8E2A-C9B9AFF8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Criterio audiométrico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5AB6FE07-7AB5-49C5-9BCF-B7985E5E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Relacionar ruido residual con nivel mínimo de ensayo, calibración e incertidumbre.</a:t>
            </a:r>
          </a:p>
        </p:txBody>
      </p:sp>
      <p:sp>
        <p:nvSpPr>
          <p:cNvPr id="17" name="norm-key">
            <a:extLst xmlns:a="http://schemas.openxmlformats.org/drawingml/2006/main">
              <a:ext uri="{FF2B5EF4-FFF2-40B4-BE49-F238E27FC236}">
                <a16:creationId xmlns:a16="http://schemas.microsoft.com/office/drawing/2014/main" id="{709BA168-9A78-45AB-BB5C-1DBE59FF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942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>Sin esos metadatos, un valor aislado no permite afirmar que la cabina sea apta.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14C235-7E97-46DF-91D7-E3D19619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-1">
            <a:extLst xmlns:a="http://schemas.openxmlformats.org/drawingml/2006/main">
              <a:ext uri="{FF2B5EF4-FFF2-40B4-BE49-F238E27FC236}">
                <a16:creationId xmlns:a16="http://schemas.microsoft.com/office/drawing/2014/main" id="{30C5D11C-7DF6-4C17-AD11-09CADB5C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2D41E4B-9A79-413A-9A72-852886B3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B4EE4D2-3220-4CF4-9A9F-EFF59439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22C1BD9-4920-4BA1-9D78-435EE115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90C1FA-36E5-4725-A78E-1CBECBFE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Campo libre, sala y cabina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44F2D9-F947-4702-BE1A-BD6CBB2F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Tabla comparativa</a:t>
            </a:r>
          </a:p>
        </p:txBody>
      </p:sp>
      <p:sp>
        <p:nvSpPr>
          <p:cNvPr id="7" name="U09-093-claim-alt" descr="Tabla nativa. La composición permite reconocer que un mismo nivel se interpreta distinto según el campo y el propósito.">
            <a:extLst xmlns:a="http://schemas.openxmlformats.org/drawingml/2006/main">
              <a:ext uri="{FF2B5EF4-FFF2-40B4-BE49-F238E27FC236}">
                <a16:creationId xmlns:a16="http://schemas.microsoft.com/office/drawing/2014/main" id="{8748C9C3-366E-4251-BB00-900AC4E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eld-0-box">
            <a:extLst xmlns:a="http://schemas.openxmlformats.org/drawingml/2006/main">
              <a:ext uri="{FF2B5EF4-FFF2-40B4-BE49-F238E27FC236}">
                <a16:creationId xmlns:a16="http://schemas.microsoft.com/office/drawing/2014/main" id="{7EAB0E32-EE27-4455-B4B9-6090C06F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333750" cy="3476625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field-0-title">
            <a:extLst xmlns:a="http://schemas.openxmlformats.org/drawingml/2006/main">
              <a:ext uri="{FF2B5EF4-FFF2-40B4-BE49-F238E27FC236}">
                <a16:creationId xmlns:a16="http://schemas.microsoft.com/office/drawing/2014/main" id="{AFC1202B-FB24-47C1-9FEE-BF294D4A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Campo libre</a:t>
            </a:r>
          </a:p>
        </p:txBody>
      </p:sp>
      <p:sp>
        <p:nvSpPr>
          <p:cNvPr id="10" name="field-0-body">
            <a:extLst xmlns:a="http://schemas.openxmlformats.org/drawingml/2006/main">
              <a:ext uri="{FF2B5EF4-FFF2-40B4-BE49-F238E27FC236}">
                <a16:creationId xmlns:a16="http://schemas.microsoft.com/office/drawing/2014/main" id="{A3B1DDF7-D475-4A06-B078-6288FE02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29146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Campo: Directo dominante Descriptor: Distancia y directividad Lectura: No implica aptitud clínica</a:t>
            </a:r>
          </a:p>
        </p:txBody>
      </p:sp>
      <p:sp>
        <p:nvSpPr>
          <p:cNvPr id="11" name="field-1-box">
            <a:extLst xmlns:a="http://schemas.openxmlformats.org/drawingml/2006/main">
              <a:ext uri="{FF2B5EF4-FFF2-40B4-BE49-F238E27FC236}">
                <a16:creationId xmlns:a16="http://schemas.microsoft.com/office/drawing/2014/main" id="{56BF8C46-8AFD-4885-8D0F-310E3673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3333750" cy="3476625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field-1-title">
            <a:extLst xmlns:a="http://schemas.openxmlformats.org/drawingml/2006/main">
              <a:ext uri="{FF2B5EF4-FFF2-40B4-BE49-F238E27FC236}">
                <a16:creationId xmlns:a16="http://schemas.microsoft.com/office/drawing/2014/main" id="{4BC69029-75A7-4F55-A884-9A976BEA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Sala</a:t>
            </a:r>
          </a:p>
        </p:txBody>
      </p:sp>
      <p:sp>
        <p:nvSpPr>
          <p:cNvPr id="13" name="field-1-body">
            <a:extLst xmlns:a="http://schemas.openxmlformats.org/drawingml/2006/main">
              <a:ext uri="{FF2B5EF4-FFF2-40B4-BE49-F238E27FC236}">
                <a16:creationId xmlns:a16="http://schemas.microsoft.com/office/drawing/2014/main" id="{7F6472BF-83FA-4FDE-ABC1-198530E2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29146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Campo: Directo + reflexiones Descriptor: T₆₀ y distribución espacial Lectura: Describe acondicionamiento</a:t>
            </a:r>
          </a:p>
        </p:txBody>
      </p:sp>
      <p:sp>
        <p:nvSpPr>
          <p:cNvPr id="14" name="field-2-box">
            <a:extLst xmlns:a="http://schemas.openxmlformats.org/drawingml/2006/main">
              <a:ext uri="{FF2B5EF4-FFF2-40B4-BE49-F238E27FC236}">
                <a16:creationId xmlns:a16="http://schemas.microsoft.com/office/drawing/2014/main" id="{07F72E8E-6F7D-4FED-83F0-B9087F06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333750" cy="3476625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field-2-title">
            <a:extLst xmlns:a="http://schemas.openxmlformats.org/drawingml/2006/main">
              <a:ext uri="{FF2B5EF4-FFF2-40B4-BE49-F238E27FC236}">
                <a16:creationId xmlns:a16="http://schemas.microsoft.com/office/drawing/2014/main" id="{8399D099-C251-4C70-B9A4-445FBB78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Cabina</a:t>
            </a:r>
          </a:p>
        </p:txBody>
      </p:sp>
      <p:sp>
        <p:nvSpPr>
          <p:cNvPr id="16" name="field-2-body">
            <a:extLst xmlns:a="http://schemas.openxmlformats.org/drawingml/2006/main">
              <a:ext uri="{FF2B5EF4-FFF2-40B4-BE49-F238E27FC236}">
                <a16:creationId xmlns:a16="http://schemas.microsoft.com/office/drawing/2014/main" id="{3D55BBC2-9581-4E91-B59A-4F458884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29146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Campo: Sistema controlado Descriptor: Ruido residual + aislamiento Lectura: Requiere protocolo completo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4FF968-BF88-442C-A559-0E72C840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-1">
            <a:extLst xmlns:a="http://schemas.openxmlformats.org/drawingml/2006/main">
              <a:ext uri="{FF2B5EF4-FFF2-40B4-BE49-F238E27FC236}">
                <a16:creationId xmlns:a16="http://schemas.microsoft.com/office/drawing/2014/main" id="{62721AF9-96BD-4509-98E4-D1051053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C609E4A-7BA4-4236-9273-BBD1100E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9A3BD54-E990-4BFC-83CA-B2C684CF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32ED928-2955-4BC2-A9D6-FA27908A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A2D22E-A251-4EC3-8C57-640BA321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Doce afirmaciones para discutir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53FB24D-1B4E-412E-853E-38FA4C01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Banco de errores</a:t>
            </a:r>
          </a:p>
        </p:txBody>
      </p:sp>
      <p:sp>
        <p:nvSpPr>
          <p:cNvPr id="7" name="U09-094-claim-alt" descr="Tarjetas de verdadero/falso justificado. La composición permite reconocer que corregir exige nombrar el mecanismo y la condición faltante.">
            <a:extLst xmlns:a="http://schemas.openxmlformats.org/drawingml/2006/main">
              <a:ext uri="{FF2B5EF4-FFF2-40B4-BE49-F238E27FC236}">
                <a16:creationId xmlns:a16="http://schemas.microsoft.com/office/drawing/2014/main" id="{671E08B2-073C-4F5B-885C-5F72E27E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aim-0">
            <a:extLst xmlns:a="http://schemas.openxmlformats.org/drawingml/2006/main">
              <a:ext uri="{FF2B5EF4-FFF2-40B4-BE49-F238E27FC236}">
                <a16:creationId xmlns:a16="http://schemas.microsoft.com/office/drawing/2014/main" id="{98399B4B-9CC7-495F-80C8-6281E1D0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049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α = 0,90 significa “bloquea 90 %”.</a:t>
            </a:r>
          </a:p>
        </p:txBody>
      </p:sp>
      <p:sp>
        <p:nvSpPr>
          <p:cNvPr id="9" name="claim-1">
            <a:extLst xmlns:a="http://schemas.openxmlformats.org/drawingml/2006/main">
              <a:ext uri="{FF2B5EF4-FFF2-40B4-BE49-F238E27FC236}">
                <a16:creationId xmlns:a16="http://schemas.microsoft.com/office/drawing/2014/main" id="{F499BECF-A945-449E-8A1A-FE419E20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717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El viento siempre suma el mismo número de dB.</a:t>
            </a:r>
          </a:p>
        </p:txBody>
      </p:sp>
      <p:sp>
        <p:nvSpPr>
          <p:cNvPr id="10" name="claim-2">
            <a:extLst xmlns:a="http://schemas.openxmlformats.org/drawingml/2006/main">
              <a:ext uri="{FF2B5EF4-FFF2-40B4-BE49-F238E27FC236}">
                <a16:creationId xmlns:a16="http://schemas.microsoft.com/office/drawing/2014/main" id="{17DFA2C1-006A-44DC-BF45-9231E56E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T₆₀ corto demuestra buen aislamiento.</a:t>
            </a:r>
          </a:p>
        </p:txBody>
      </p:sp>
      <p:sp>
        <p:nvSpPr>
          <p:cNvPr id="11" name="claim-3">
            <a:extLst xmlns:a="http://schemas.openxmlformats.org/drawingml/2006/main">
              <a:ext uri="{FF2B5EF4-FFF2-40B4-BE49-F238E27FC236}">
                <a16:creationId xmlns:a16="http://schemas.microsoft.com/office/drawing/2014/main" id="{6DA0E584-29A6-4EA2-85BA-7554232C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052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A un nivel direccional se le agrega DI otra vez.</a:t>
            </a:r>
          </a:p>
        </p:txBody>
      </p:sp>
      <p:sp>
        <p:nvSpPr>
          <p:cNvPr id="12" name="claim-4">
            <a:extLst xmlns:a="http://schemas.openxmlformats.org/drawingml/2006/main">
              <a:ext uri="{FF2B5EF4-FFF2-40B4-BE49-F238E27FC236}">
                <a16:creationId xmlns:a16="http://schemas.microsoft.com/office/drawing/2014/main" id="{749D2373-848E-43DA-96BE-43730EF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719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5. Más temperatura eleva la frecuencia recibida.</a:t>
            </a:r>
          </a:p>
        </p:txBody>
      </p:sp>
      <p:sp>
        <p:nvSpPr>
          <p:cNvPr id="13" name="claim-5">
            <a:extLst xmlns:a="http://schemas.openxmlformats.org/drawingml/2006/main">
              <a:ext uri="{FF2B5EF4-FFF2-40B4-BE49-F238E27FC236}">
                <a16:creationId xmlns:a16="http://schemas.microsoft.com/office/drawing/2014/main" id="{88D7F871-93F9-49D1-A511-48D958DC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6. Duplicar distancia siempre resta 6 dB.</a:t>
            </a:r>
          </a:p>
        </p:txBody>
      </p:sp>
      <p:sp>
        <p:nvSpPr>
          <p:cNvPr id="14" name="claim-6">
            <a:extLst xmlns:a="http://schemas.openxmlformats.org/drawingml/2006/main">
              <a:ext uri="{FF2B5EF4-FFF2-40B4-BE49-F238E27FC236}">
                <a16:creationId xmlns:a16="http://schemas.microsoft.com/office/drawing/2014/main" id="{C5B32533-97CF-4E27-ADBF-9FE7EF2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7. Difracción y transmisión son sinónimos.</a:t>
            </a:r>
          </a:p>
        </p:txBody>
      </p:sp>
      <p:sp>
        <p:nvSpPr>
          <p:cNvPr id="15" name="claim-7">
            <a:extLst xmlns:a="http://schemas.openxmlformats.org/drawingml/2006/main">
              <a:ext uri="{FF2B5EF4-FFF2-40B4-BE49-F238E27FC236}">
                <a16:creationId xmlns:a16="http://schemas.microsoft.com/office/drawing/2014/main" id="{2196C6B9-D0B3-4872-A41B-E6B9587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8. Un dB(A) global prueba aptitud audiométrica.</a:t>
            </a:r>
          </a:p>
        </p:txBody>
      </p:sp>
      <p:sp>
        <p:nvSpPr>
          <p:cNvPr id="16" name="claim-8">
            <a:extLst xmlns:a="http://schemas.openxmlformats.org/drawingml/2006/main">
              <a:ext uri="{FF2B5EF4-FFF2-40B4-BE49-F238E27FC236}">
                <a16:creationId xmlns:a16="http://schemas.microsoft.com/office/drawing/2014/main" id="{25999748-AE9C-4CF6-AFE9-4F5FED3B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9. Una pared pesada elimina todas las fugas.</a:t>
            </a:r>
          </a:p>
        </p:txBody>
      </p:sp>
      <p:sp>
        <p:nvSpPr>
          <p:cNvPr id="17" name="claim-9">
            <a:extLst xmlns:a="http://schemas.openxmlformats.org/drawingml/2006/main">
              <a:ext uri="{FF2B5EF4-FFF2-40B4-BE49-F238E27FC236}">
                <a16:creationId xmlns:a16="http://schemas.microsoft.com/office/drawing/2014/main" id="{18F44D8F-C3BD-4E40-84C4-AD323BEC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10. Más absorción interior evita ingreso exterior.</a:t>
            </a:r>
          </a:p>
        </p:txBody>
      </p:sp>
      <p:sp>
        <p:nvSpPr>
          <p:cNvPr id="18" name="claim-10">
            <a:extLst xmlns:a="http://schemas.openxmlformats.org/drawingml/2006/main">
              <a:ext uri="{FF2B5EF4-FFF2-40B4-BE49-F238E27FC236}">
                <a16:creationId xmlns:a16="http://schemas.microsoft.com/office/drawing/2014/main" id="{B6474ECE-4BCB-42DB-B9F8-FC13C393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11. Viento uniforme curva la trayectoria.</a:t>
            </a:r>
          </a:p>
        </p:txBody>
      </p:sp>
      <p:sp>
        <p:nvSpPr>
          <p:cNvPr id="19" name="claim-11">
            <a:extLst xmlns:a="http://schemas.openxmlformats.org/drawingml/2006/main">
              <a:ext uri="{FF2B5EF4-FFF2-40B4-BE49-F238E27FC236}">
                <a16:creationId xmlns:a16="http://schemas.microsoft.com/office/drawing/2014/main" id="{6D87795D-9107-453B-8CD6-8307CBF6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19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12. Igual Aₑq produce el mismo campo en toda sala.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338BBC-BB5D-4F93-8AA1-D7683075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A927709E-A38C-4E86-A277-BF0DF93C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90DC8A1-1A87-40D1-9D0C-AACCCB45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BC397C8-3170-43BB-8F54-B0AA9F00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90771E7-05D4-4EE4-9872-4F2B6750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5C4E23-E54D-4BE7-8413-737B94B8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Clínica junto a la avenida: resolución orientativa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9E276D-C20C-454B-96EF-886FBBA3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Solución integradora</a:t>
            </a:r>
          </a:p>
        </p:txBody>
      </p:sp>
      <p:sp>
        <p:nvSpPr>
          <p:cNvPr id="7" name="U09-095-claim-alt" descr="U09-DG-070, candidata para diagram-generation. La composición permite reconocer que la solución válida clasifica mecanismos, elige evidencia y declara incertidumbre.">
            <a:extLst xmlns:a="http://schemas.openxmlformats.org/drawingml/2006/main">
              <a:ext uri="{FF2B5EF4-FFF2-40B4-BE49-F238E27FC236}">
                <a16:creationId xmlns:a16="http://schemas.microsoft.com/office/drawing/2014/main" id="{7D0FEDFE-217D-4339-938B-A32A85D2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ustom-card-0-box">
            <a:extLst xmlns:a="http://schemas.openxmlformats.org/drawingml/2006/main">
              <a:ext uri="{FF2B5EF4-FFF2-40B4-BE49-F238E27FC236}">
                <a16:creationId xmlns:a16="http://schemas.microsoft.com/office/drawing/2014/main" id="{8933E951-8757-4526-A9EC-C6843A6C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9" name="custom-card-0-title">
            <a:extLst xmlns:a="http://schemas.openxmlformats.org/drawingml/2006/main">
              <a:ext uri="{FF2B5EF4-FFF2-40B4-BE49-F238E27FC236}">
                <a16:creationId xmlns:a16="http://schemas.microsoft.com/office/drawing/2014/main" id="{AAB0F486-BD02-47AF-BB29-7ED58F9E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0" name="custom-card-0-body">
            <a:extLst xmlns:a="http://schemas.openxmlformats.org/drawingml/2006/main">
              <a:ext uri="{FF2B5EF4-FFF2-40B4-BE49-F238E27FC236}">
                <a16:creationId xmlns:a16="http://schemas.microsoft.com/office/drawing/2014/main" id="{BBF7426B-497F-4F47-B061-7A5A8C90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Caracterizar tránsito y equipos: nivel, espectro, horario y directividad. Medir antes de atribuir.</a:t>
            </a:r>
          </a:p>
        </p:txBody>
      </p:sp>
      <p:sp>
        <p:nvSpPr>
          <p:cNvPr id="11" name="custom-card-1-box">
            <a:extLst xmlns:a="http://schemas.openxmlformats.org/drawingml/2006/main">
              <a:ext uri="{FF2B5EF4-FFF2-40B4-BE49-F238E27FC236}">
                <a16:creationId xmlns:a16="http://schemas.microsoft.com/office/drawing/2014/main" id="{C9751B58-0AF4-4327-96E4-FB94EAB8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2" name="custom-card-1-title">
            <a:extLst xmlns:a="http://schemas.openxmlformats.org/drawingml/2006/main">
              <a:ext uri="{FF2B5EF4-FFF2-40B4-BE49-F238E27FC236}">
                <a16:creationId xmlns:a16="http://schemas.microsoft.com/office/drawing/2014/main" id="{05F47F43-97C9-460C-9F51-F33D3A19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Trayecto</a:t>
            </a:r>
          </a:p>
        </p:txBody>
      </p:sp>
      <p:sp>
        <p:nvSpPr>
          <p:cNvPr id="13" name="custom-card-1-body">
            <a:extLst xmlns:a="http://schemas.openxmlformats.org/drawingml/2006/main">
              <a:ext uri="{FF2B5EF4-FFF2-40B4-BE49-F238E27FC236}">
                <a16:creationId xmlns:a16="http://schemas.microsoft.com/office/drawing/2014/main" id="{8E57C5FA-4D31-4100-B87F-24A685C3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Separar fachada, aberturas, estructura y ventilación. Estimar solo con geometría y datos suficientes.</a:t>
            </a:r>
          </a:p>
        </p:txBody>
      </p:sp>
      <p:sp>
        <p:nvSpPr>
          <p:cNvPr id="14" name="custom-card-2-box">
            <a:extLst xmlns:a="http://schemas.openxmlformats.org/drawingml/2006/main">
              <a:ext uri="{FF2B5EF4-FFF2-40B4-BE49-F238E27FC236}">
                <a16:creationId xmlns:a16="http://schemas.microsoft.com/office/drawing/2014/main" id="{4E2DFB38-7B55-48CD-B388-A0936E66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15" name="custom-card-2-title">
            <a:extLst xmlns:a="http://schemas.openxmlformats.org/drawingml/2006/main">
              <a:ext uri="{FF2B5EF4-FFF2-40B4-BE49-F238E27FC236}">
                <a16:creationId xmlns:a16="http://schemas.microsoft.com/office/drawing/2014/main" id="{95D1F425-C781-436A-8F0A-1665C8A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33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16" name="custom-card-2-body">
            <a:extLst xmlns:a="http://schemas.openxmlformats.org/drawingml/2006/main">
              <a:ext uri="{FF2B5EF4-FFF2-40B4-BE49-F238E27FC236}">
                <a16:creationId xmlns:a16="http://schemas.microsoft.com/office/drawing/2014/main" id="{F19DF95C-DCA8-439E-B26D-5A30EBDF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29146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Medir ruido residual por bandas en puestos de prueba y contrastar con el protocolo aplicable.</a:t>
            </a:r>
          </a:p>
        </p:txBody>
      </p:sp>
      <p:sp>
        <p:nvSpPr>
          <p:cNvPr id="17" name="case-key">
            <a:extLst xmlns:a="http://schemas.openxmlformats.org/drawingml/2006/main">
              <a:ext uri="{FF2B5EF4-FFF2-40B4-BE49-F238E27FC236}">
                <a16:creationId xmlns:a16="http://schemas.microsoft.com/office/drawing/2014/main" id="{72DEA023-4F28-4776-856F-574BD4F0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197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Decisión orientativa: identificar la vía dominante antes de elegir una intervención.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4589801-C4A3-44D8-9524-542FF4A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31F950CB-14C0-4307-8124-F1D993B6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D7F66F8-DC61-4BC3-BF04-EBEFA7EB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9073A37-547F-46D1-94BA-ADF5F7C1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27311D0-E7B6-46F6-925B-7EA0A97E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11AF08-EADD-47AF-B0BF-34560166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para continuar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8027E8-6B29-4515-A6CE-084A9170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Bibliografía y trazabilidad</a:t>
            </a:r>
          </a:p>
        </p:txBody>
      </p:sp>
      <p:sp>
        <p:nvSpPr>
          <p:cNvPr id="7" name="U09-096-claim-alt" descr="Lista bibliográfica y matriz de trazabilidad. La composición permite reconocer que programa, libro, arquitectura, guías y normas deben conservar identificación completa.">
            <a:extLst xmlns:a="http://schemas.openxmlformats.org/drawingml/2006/main">
              <a:ext uri="{FF2B5EF4-FFF2-40B4-BE49-F238E27FC236}">
                <a16:creationId xmlns:a16="http://schemas.microsoft.com/office/drawing/2014/main" id="{DC73B34C-F108-4EC0-A4B2-CA959E22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28625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0">
            <a:extLst xmlns:a="http://schemas.openxmlformats.org/drawingml/2006/main">
              <a:ext uri="{FF2B5EF4-FFF2-40B4-BE49-F238E27FC236}">
                <a16:creationId xmlns:a16="http://schemas.microsoft.com/office/drawing/2014/main" id="{43095F10-4655-4DEB-ABF7-713AD40D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Programa oficial de Física Acústica (UCASAL, 2025), Unidad 9.</a:t>
            </a:r>
          </a:p>
        </p:txBody>
      </p:sp>
      <p:sp>
        <p:nvSpPr>
          <p:cNvPr id="9" name="source-1">
            <a:extLst xmlns:a="http://schemas.openxmlformats.org/drawingml/2006/main">
              <a:ext uri="{FF2B5EF4-FFF2-40B4-BE49-F238E27FC236}">
                <a16:creationId xmlns:a16="http://schemas.microsoft.com/office/drawing/2014/main" id="{FBBCEAC3-FF4C-47CB-BBA2-A7F0CD4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Física Acústica para Fonoaudiología, cap. 9, pp. 235–259.</a:t>
            </a:r>
          </a:p>
        </p:txBody>
      </p:sp>
      <p:sp>
        <p:nvSpPr>
          <p:cNvPr id="10" name="source-2">
            <a:extLst xmlns:a="http://schemas.openxmlformats.org/drawingml/2006/main">
              <a:ext uri="{FF2B5EF4-FFF2-40B4-BE49-F238E27FC236}">
                <a16:creationId xmlns:a16="http://schemas.microsoft.com/office/drawing/2014/main" id="{D41E221C-CEAF-4FFE-BF09-FCC38509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 editable del curso: context/libro_latex/chapters/unidad-9.tex.</a:t>
            </a:r>
          </a:p>
        </p:txBody>
      </p:sp>
      <p:sp>
        <p:nvSpPr>
          <p:cNvPr id="11" name="source-3">
            <a:extLst xmlns:a="http://schemas.openxmlformats.org/drawingml/2006/main">
              <a:ext uri="{FF2B5EF4-FFF2-40B4-BE49-F238E27FC236}">
                <a16:creationId xmlns:a16="http://schemas.microsoft.com/office/drawing/2014/main" id="{71D2292D-F876-406A-A146-9105D564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Guía de notación y decisiones del proyecto: style/ y units/unit_09/.</a:t>
            </a:r>
          </a:p>
        </p:txBody>
      </p:sp>
      <p:sp>
        <p:nvSpPr>
          <p:cNvPr id="12" name="source-4">
            <a:extLst xmlns:a="http://schemas.openxmlformats.org/drawingml/2006/main">
              <a:ext uri="{FF2B5EF4-FFF2-40B4-BE49-F238E27FC236}">
                <a16:creationId xmlns:a16="http://schemas.microsoft.com/office/drawing/2014/main" id="{CA9D50A3-071D-44B8-8119-EB70EB35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ISO 8253-1 e ISO 8253-2: verificar edición, adopción y texto completo antes de aplicar límites.</a:t>
            </a:r>
          </a:p>
        </p:txBody>
      </p:sp>
      <p:sp>
        <p:nvSpPr>
          <p:cNvPr id="13" name="source-5">
            <a:extLst xmlns:a="http://schemas.openxmlformats.org/drawingml/2006/main">
              <a:ext uri="{FF2B5EF4-FFF2-40B4-BE49-F238E27FC236}">
                <a16:creationId xmlns:a16="http://schemas.microsoft.com/office/drawing/2014/main" id="{3851C61A-20F8-4EEF-A2C9-6CE14194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6668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ISO 1996-2: consultar la edición vigente para condiciones de medición ambiental.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65E052-0E9F-464B-99A0-2F7A955E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2026-08-12T22:19:41.1800000Z</dcterms:created>
  <dcterms:modified xsi:type="dcterms:W3CDTF">2026-08-12T22:19:41.1800000Z</dcterms:modified>
</coreProperties>
</file>