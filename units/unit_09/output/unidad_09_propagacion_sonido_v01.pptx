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7194beba114bdd" /><Relationship Type="http://schemas.openxmlformats.org/officeDocument/2006/relationships/extended-properties" Target="/docProps/app.xml" Id="R0340ef4493ce4213" /><Relationship Type="http://schemas.openxmlformats.org/officeDocument/2006/relationships/officeDocument" Target="/ppt/presentation.xml" Id="R78d1121ef6ec4e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b1d49b67a447ec"/>
    <p:sldMasterId xmlns:r="http://schemas.openxmlformats.org/officeDocument/2006/relationships" id="2147483673" r:id="R0d11d88224c84b56"/>
  </p:sldMasterIdLst>
  <p:notesMasterIdLst>
    <p:notesMasterId xmlns:r="http://schemas.openxmlformats.org/officeDocument/2006/relationships" r:id="R378b79f3be52463f"/>
  </p:notesMasterIdLst>
  <p:sldIdLst>
    <p:sldId xmlns:r="http://schemas.openxmlformats.org/officeDocument/2006/relationships" id="256" r:id="Re2ef05e7fdf84444"/>
    <p:sldId xmlns:r="http://schemas.openxmlformats.org/officeDocument/2006/relationships" id="257" r:id="R0d89d70ea3ce44e3"/>
    <p:sldId xmlns:r="http://schemas.openxmlformats.org/officeDocument/2006/relationships" id="258" r:id="R7dc6894a27ee490b"/>
    <p:sldId xmlns:r="http://schemas.openxmlformats.org/officeDocument/2006/relationships" id="259" r:id="Rfca80276936f4e44"/>
    <p:sldId xmlns:r="http://schemas.openxmlformats.org/officeDocument/2006/relationships" id="260" r:id="R2dcd1bcee02e49fa"/>
    <p:sldId xmlns:r="http://schemas.openxmlformats.org/officeDocument/2006/relationships" id="261" r:id="R632fd3d400ce47fe"/>
    <p:sldId xmlns:r="http://schemas.openxmlformats.org/officeDocument/2006/relationships" id="262" r:id="R63562ce707164121"/>
    <p:sldId xmlns:r="http://schemas.openxmlformats.org/officeDocument/2006/relationships" id="263" r:id="R4e94334dfbb74104"/>
    <p:sldId xmlns:r="http://schemas.openxmlformats.org/officeDocument/2006/relationships" id="264" r:id="Racd492e77bd64373"/>
    <p:sldId xmlns:r="http://schemas.openxmlformats.org/officeDocument/2006/relationships" id="265" r:id="R0b19e7e26d884b47"/>
    <p:sldId xmlns:r="http://schemas.openxmlformats.org/officeDocument/2006/relationships" id="266" r:id="R24e6f90cb7c64f2c"/>
    <p:sldId xmlns:r="http://schemas.openxmlformats.org/officeDocument/2006/relationships" id="267" r:id="R721c0ee30cbb45e7"/>
    <p:sldId xmlns:r="http://schemas.openxmlformats.org/officeDocument/2006/relationships" id="268" r:id="R534227aa645d47b4"/>
    <p:sldId xmlns:r="http://schemas.openxmlformats.org/officeDocument/2006/relationships" id="269" r:id="R897aed7f1f96487d"/>
    <p:sldId xmlns:r="http://schemas.openxmlformats.org/officeDocument/2006/relationships" id="270" r:id="Rc1d0891277664d16"/>
    <p:sldId xmlns:r="http://schemas.openxmlformats.org/officeDocument/2006/relationships" id="271" r:id="R72f5aef4b9b54a97"/>
    <p:sldId xmlns:r="http://schemas.openxmlformats.org/officeDocument/2006/relationships" id="272" r:id="R6b3348bc14ef4cce"/>
    <p:sldId xmlns:r="http://schemas.openxmlformats.org/officeDocument/2006/relationships" id="273" r:id="R2b5bf50f15d641ac"/>
    <p:sldId xmlns:r="http://schemas.openxmlformats.org/officeDocument/2006/relationships" id="274" r:id="R37474102a004453d"/>
    <p:sldId xmlns:r="http://schemas.openxmlformats.org/officeDocument/2006/relationships" id="275" r:id="Re642672ebb5e45db"/>
    <p:sldId xmlns:r="http://schemas.openxmlformats.org/officeDocument/2006/relationships" id="276" r:id="R2ce1a174761c4d67"/>
    <p:sldId xmlns:r="http://schemas.openxmlformats.org/officeDocument/2006/relationships" id="277" r:id="R1744aca4cd0e4879"/>
    <p:sldId xmlns:r="http://schemas.openxmlformats.org/officeDocument/2006/relationships" id="278" r:id="R18a21dff69c94ca0"/>
    <p:sldId xmlns:r="http://schemas.openxmlformats.org/officeDocument/2006/relationships" id="279" r:id="R2d09249a61544408"/>
    <p:sldId xmlns:r="http://schemas.openxmlformats.org/officeDocument/2006/relationships" id="280" r:id="Rfe37ad9c1a144792"/>
    <p:sldId xmlns:r="http://schemas.openxmlformats.org/officeDocument/2006/relationships" id="281" r:id="R50ea06e5999d4d95"/>
    <p:sldId xmlns:r="http://schemas.openxmlformats.org/officeDocument/2006/relationships" id="282" r:id="R57ba5fbfb1724759"/>
    <p:sldId xmlns:r="http://schemas.openxmlformats.org/officeDocument/2006/relationships" id="283" r:id="Rb2fd1e33a5354b62"/>
    <p:sldId xmlns:r="http://schemas.openxmlformats.org/officeDocument/2006/relationships" id="284" r:id="Rb38860fc24244f31"/>
    <p:sldId xmlns:r="http://schemas.openxmlformats.org/officeDocument/2006/relationships" id="285" r:id="R32c2670b5fd64d66"/>
    <p:sldId xmlns:r="http://schemas.openxmlformats.org/officeDocument/2006/relationships" id="286" r:id="R1ed7e2bd24014a4c"/>
    <p:sldId xmlns:r="http://schemas.openxmlformats.org/officeDocument/2006/relationships" id="287" r:id="Rb7177b21654f4bfb"/>
    <p:sldId xmlns:r="http://schemas.openxmlformats.org/officeDocument/2006/relationships" id="288" r:id="R1b2fb0cba2aa4163"/>
    <p:sldId xmlns:r="http://schemas.openxmlformats.org/officeDocument/2006/relationships" id="289" r:id="Rfb3bb0df040245e5"/>
    <p:sldId xmlns:r="http://schemas.openxmlformats.org/officeDocument/2006/relationships" id="290" r:id="R8154aea7b0b24c16"/>
    <p:sldId xmlns:r="http://schemas.openxmlformats.org/officeDocument/2006/relationships" id="291" r:id="Rcf6d49d7c92047e5"/>
    <p:sldId xmlns:r="http://schemas.openxmlformats.org/officeDocument/2006/relationships" id="292" r:id="R0dad5dd1db764523"/>
    <p:sldId xmlns:r="http://schemas.openxmlformats.org/officeDocument/2006/relationships" id="293" r:id="Raa90ddd9172e4560"/>
    <p:sldId xmlns:r="http://schemas.openxmlformats.org/officeDocument/2006/relationships" id="294" r:id="R3619a5e586ac4888"/>
    <p:sldId xmlns:r="http://schemas.openxmlformats.org/officeDocument/2006/relationships" id="295" r:id="R6ba14e4961d44cf6"/>
    <p:sldId xmlns:r="http://schemas.openxmlformats.org/officeDocument/2006/relationships" id="296" r:id="R3676cdf540b140d5"/>
    <p:sldId xmlns:r="http://schemas.openxmlformats.org/officeDocument/2006/relationships" id="297" r:id="R6dbec4c1d8014a27"/>
    <p:sldId xmlns:r="http://schemas.openxmlformats.org/officeDocument/2006/relationships" id="298" r:id="R965b0245668d4f8d"/>
    <p:sldId xmlns:r="http://schemas.openxmlformats.org/officeDocument/2006/relationships" id="299" r:id="R8ea83f5dc6e94ed3"/>
    <p:sldId xmlns:r="http://schemas.openxmlformats.org/officeDocument/2006/relationships" id="300" r:id="Re3cef75342d54e9c"/>
    <p:sldId xmlns:r="http://schemas.openxmlformats.org/officeDocument/2006/relationships" id="301" r:id="Ra1cb808563db455d"/>
    <p:sldId xmlns:r="http://schemas.openxmlformats.org/officeDocument/2006/relationships" id="302" r:id="R490e3a80b70341fa"/>
    <p:sldId xmlns:r="http://schemas.openxmlformats.org/officeDocument/2006/relationships" id="303" r:id="Rabc420b8cb1f49ac"/>
    <p:sldId xmlns:r="http://schemas.openxmlformats.org/officeDocument/2006/relationships" id="304" r:id="R27356fc266724b6b"/>
    <p:sldId xmlns:r="http://schemas.openxmlformats.org/officeDocument/2006/relationships" id="305" r:id="Rab174085d2e3419b"/>
    <p:sldId xmlns:r="http://schemas.openxmlformats.org/officeDocument/2006/relationships" id="306" r:id="R47d22e0146a04d0a"/>
    <p:sldId xmlns:r="http://schemas.openxmlformats.org/officeDocument/2006/relationships" id="307" r:id="Rea211be5391e4744"/>
    <p:sldId xmlns:r="http://schemas.openxmlformats.org/officeDocument/2006/relationships" id="308" r:id="R44a47f10da0a40a6"/>
    <p:sldId xmlns:r="http://schemas.openxmlformats.org/officeDocument/2006/relationships" id="309" r:id="R8f0d90f005b9425e"/>
    <p:sldId xmlns:r="http://schemas.openxmlformats.org/officeDocument/2006/relationships" id="310" r:id="Rc83c2c59e61f439a"/>
    <p:sldId xmlns:r="http://schemas.openxmlformats.org/officeDocument/2006/relationships" id="311" r:id="Rc6708151eb63475e"/>
    <p:sldId xmlns:r="http://schemas.openxmlformats.org/officeDocument/2006/relationships" id="312" r:id="Rbbc43e277e614555"/>
    <p:sldId xmlns:r="http://schemas.openxmlformats.org/officeDocument/2006/relationships" id="313" r:id="R82cae1e676cb447b"/>
    <p:sldId xmlns:r="http://schemas.openxmlformats.org/officeDocument/2006/relationships" id="314" r:id="R1328107383ac4667"/>
    <p:sldId xmlns:r="http://schemas.openxmlformats.org/officeDocument/2006/relationships" id="315" r:id="Reb84dc9f35e44676"/>
    <p:sldId xmlns:r="http://schemas.openxmlformats.org/officeDocument/2006/relationships" id="316" r:id="R63a04639b4a54073"/>
    <p:sldId xmlns:r="http://schemas.openxmlformats.org/officeDocument/2006/relationships" id="317" r:id="R68597dff5f0a46de"/>
    <p:sldId xmlns:r="http://schemas.openxmlformats.org/officeDocument/2006/relationships" id="318" r:id="R1a97e776422d41bd"/>
    <p:sldId xmlns:r="http://schemas.openxmlformats.org/officeDocument/2006/relationships" id="319" r:id="Re8a057dbf13b4b0e"/>
    <p:sldId xmlns:r="http://schemas.openxmlformats.org/officeDocument/2006/relationships" id="320" r:id="R2c34e4f97e7b415b"/>
    <p:sldId xmlns:r="http://schemas.openxmlformats.org/officeDocument/2006/relationships" id="321" r:id="Rbbc2497bd15a4c34"/>
    <p:sldId xmlns:r="http://schemas.openxmlformats.org/officeDocument/2006/relationships" id="322" r:id="Ra89c7f32a5aa48d6"/>
    <p:sldId xmlns:r="http://schemas.openxmlformats.org/officeDocument/2006/relationships" id="323" r:id="Ra1cc817cb710451b"/>
    <p:sldId xmlns:r="http://schemas.openxmlformats.org/officeDocument/2006/relationships" id="324" r:id="R2d3c77b998fa45d6"/>
    <p:sldId xmlns:r="http://schemas.openxmlformats.org/officeDocument/2006/relationships" id="325" r:id="R99d700b6c14b4b86"/>
    <p:sldId xmlns:r="http://schemas.openxmlformats.org/officeDocument/2006/relationships" id="326" r:id="R1594f9378fc64bbb"/>
    <p:sldId xmlns:r="http://schemas.openxmlformats.org/officeDocument/2006/relationships" id="327" r:id="R50dc8adaefab4a5f"/>
    <p:sldId xmlns:r="http://schemas.openxmlformats.org/officeDocument/2006/relationships" id="328" r:id="R6b687f5d636640f4"/>
    <p:sldId xmlns:r="http://schemas.openxmlformats.org/officeDocument/2006/relationships" id="329" r:id="Rfac8cd7bb661435e"/>
    <p:sldId xmlns:r="http://schemas.openxmlformats.org/officeDocument/2006/relationships" id="330" r:id="Re6777937d78a43d7"/>
    <p:sldId xmlns:r="http://schemas.openxmlformats.org/officeDocument/2006/relationships" id="331" r:id="R778654dfb1e445b2"/>
    <p:sldId xmlns:r="http://schemas.openxmlformats.org/officeDocument/2006/relationships" id="332" r:id="Rb181d544e33b41f3"/>
    <p:sldId xmlns:r="http://schemas.openxmlformats.org/officeDocument/2006/relationships" id="333" r:id="R2e537404c4a94558"/>
    <p:sldId xmlns:r="http://schemas.openxmlformats.org/officeDocument/2006/relationships" id="334" r:id="Reff29766091745bc"/>
    <p:sldId xmlns:r="http://schemas.openxmlformats.org/officeDocument/2006/relationships" id="335" r:id="Ra60d43cdae3d400f"/>
    <p:sldId xmlns:r="http://schemas.openxmlformats.org/officeDocument/2006/relationships" id="336" r:id="R158cff3c226d41f7"/>
    <p:sldId xmlns:r="http://schemas.openxmlformats.org/officeDocument/2006/relationships" id="337" r:id="Rb4d251b7c0e44d89"/>
    <p:sldId xmlns:r="http://schemas.openxmlformats.org/officeDocument/2006/relationships" id="338" r:id="Rbe7e3ae31a2f44e2"/>
    <p:sldId xmlns:r="http://schemas.openxmlformats.org/officeDocument/2006/relationships" id="339" r:id="R0b5fc9aef11c42f5"/>
    <p:sldId xmlns:r="http://schemas.openxmlformats.org/officeDocument/2006/relationships" id="340" r:id="R8487a70ad52f4040"/>
    <p:sldId xmlns:r="http://schemas.openxmlformats.org/officeDocument/2006/relationships" id="341" r:id="R1b3ee8ff9e8e4aa8"/>
    <p:sldId xmlns:r="http://schemas.openxmlformats.org/officeDocument/2006/relationships" id="342" r:id="R496e8cd4c98d4bf3"/>
    <p:sldId xmlns:r="http://schemas.openxmlformats.org/officeDocument/2006/relationships" id="343" r:id="Rf578a1995e31458d"/>
    <p:sldId xmlns:r="http://schemas.openxmlformats.org/officeDocument/2006/relationships" id="344" r:id="Rbb3d513056324a04"/>
    <p:sldId xmlns:r="http://schemas.openxmlformats.org/officeDocument/2006/relationships" id="345" r:id="Rd37d9f1dd45b43ff"/>
    <p:sldId xmlns:r="http://schemas.openxmlformats.org/officeDocument/2006/relationships" id="346" r:id="R47b198ef820845eb"/>
    <p:sldId xmlns:r="http://schemas.openxmlformats.org/officeDocument/2006/relationships" id="347" r:id="Red9116898cf94841"/>
    <p:sldId xmlns:r="http://schemas.openxmlformats.org/officeDocument/2006/relationships" id="348" r:id="Rb95775a7aa0f4378"/>
    <p:sldId xmlns:r="http://schemas.openxmlformats.org/officeDocument/2006/relationships" id="349" r:id="Rf17f57dda1e04e6f"/>
    <p:sldId xmlns:r="http://schemas.openxmlformats.org/officeDocument/2006/relationships" id="350" r:id="R5b5f44a53e5b42e4"/>
    <p:sldId xmlns:r="http://schemas.openxmlformats.org/officeDocument/2006/relationships" id="351" r:id="R919f7b8105ed49b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57f8f154fe46d6" /><Relationship Type="http://schemas.openxmlformats.org/officeDocument/2006/relationships/slideMaster" Target="/ppt/slideMasters/slideMaster1.xml" Id="R3eb1d49b67a447ec" /><Relationship Type="http://schemas.openxmlformats.org/officeDocument/2006/relationships/slideMaster" Target="/ppt/slideMasters/slideMaster2.xml" Id="R0d11d88224c84b56" /><Relationship Type="http://schemas.openxmlformats.org/officeDocument/2006/relationships/notesMaster" Target="/ppt/notesMasters/notesMaster1.xml" Id="R378b79f3be52463f" /><Relationship Type="http://schemas.openxmlformats.org/officeDocument/2006/relationships/presProps" Target="/ppt/presProps.xml" Id="R72ea4d89509d43c3" /><Relationship Type="http://schemas.openxmlformats.org/officeDocument/2006/relationships/viewProps" Target="/ppt/viewProps.xml" Id="R1c024a60c0cc49fd" /><Relationship Type="http://schemas.openxmlformats.org/officeDocument/2006/relationships/tableStyles" Target="/ppt/tableStyles.xml" Id="Rdba1c13f8770473d" /><Relationship Type="http://schemas.openxmlformats.org/officeDocument/2006/relationships/slide" Target="/ppt/slides/slide1.xml" Id="Re2ef05e7fdf84444" /><Relationship Type="http://schemas.openxmlformats.org/officeDocument/2006/relationships/slide" Target="/ppt/slides/slide2.xml" Id="R0d89d70ea3ce44e3" /><Relationship Type="http://schemas.openxmlformats.org/officeDocument/2006/relationships/slide" Target="/ppt/slides/slide3.xml" Id="R7dc6894a27ee490b" /><Relationship Type="http://schemas.openxmlformats.org/officeDocument/2006/relationships/slide" Target="/ppt/slides/slide4.xml" Id="Rfca80276936f4e44" /><Relationship Type="http://schemas.openxmlformats.org/officeDocument/2006/relationships/slide" Target="/ppt/slides/slide5.xml" Id="R2dcd1bcee02e49fa" /><Relationship Type="http://schemas.openxmlformats.org/officeDocument/2006/relationships/slide" Target="/ppt/slides/slide6.xml" Id="R632fd3d400ce47fe" /><Relationship Type="http://schemas.openxmlformats.org/officeDocument/2006/relationships/slide" Target="/ppt/slides/slide7.xml" Id="R63562ce707164121" /><Relationship Type="http://schemas.openxmlformats.org/officeDocument/2006/relationships/slide" Target="/ppt/slides/slide8.xml" Id="R4e94334dfbb74104" /><Relationship Type="http://schemas.openxmlformats.org/officeDocument/2006/relationships/slide" Target="/ppt/slides/slide9.xml" Id="Racd492e77bd64373" /><Relationship Type="http://schemas.openxmlformats.org/officeDocument/2006/relationships/slide" Target="/ppt/slides/slide10.xml" Id="R0b19e7e26d884b47" /><Relationship Type="http://schemas.openxmlformats.org/officeDocument/2006/relationships/slide" Target="/ppt/slides/slide11.xml" Id="R24e6f90cb7c64f2c" /><Relationship Type="http://schemas.openxmlformats.org/officeDocument/2006/relationships/slide" Target="/ppt/slides/slide12.xml" Id="R721c0ee30cbb45e7" /><Relationship Type="http://schemas.openxmlformats.org/officeDocument/2006/relationships/slide" Target="/ppt/slides/slide13.xml" Id="R534227aa645d47b4" /><Relationship Type="http://schemas.openxmlformats.org/officeDocument/2006/relationships/slide" Target="/ppt/slides/slide14.xml" Id="R897aed7f1f96487d" /><Relationship Type="http://schemas.openxmlformats.org/officeDocument/2006/relationships/slide" Target="/ppt/slides/slide15.xml" Id="Rc1d0891277664d16" /><Relationship Type="http://schemas.openxmlformats.org/officeDocument/2006/relationships/slide" Target="/ppt/slides/slide16.xml" Id="R72f5aef4b9b54a97" /><Relationship Type="http://schemas.openxmlformats.org/officeDocument/2006/relationships/slide" Target="/ppt/slides/slide17.xml" Id="R6b3348bc14ef4cce" /><Relationship Type="http://schemas.openxmlformats.org/officeDocument/2006/relationships/slide" Target="/ppt/slides/slide18.xml" Id="R2b5bf50f15d641ac" /><Relationship Type="http://schemas.openxmlformats.org/officeDocument/2006/relationships/slide" Target="/ppt/slides/slide19.xml" Id="R37474102a004453d" /><Relationship Type="http://schemas.openxmlformats.org/officeDocument/2006/relationships/slide" Target="/ppt/slides/slide20.xml" Id="Re642672ebb5e45db" /><Relationship Type="http://schemas.openxmlformats.org/officeDocument/2006/relationships/slide" Target="/ppt/slides/slide21.xml" Id="R2ce1a174761c4d67" /><Relationship Type="http://schemas.openxmlformats.org/officeDocument/2006/relationships/slide" Target="/ppt/slides/slide22.xml" Id="R1744aca4cd0e4879" /><Relationship Type="http://schemas.openxmlformats.org/officeDocument/2006/relationships/slide" Target="/ppt/slides/slide23.xml" Id="R18a21dff69c94ca0" /><Relationship Type="http://schemas.openxmlformats.org/officeDocument/2006/relationships/slide" Target="/ppt/slides/slide24.xml" Id="R2d09249a61544408" /><Relationship Type="http://schemas.openxmlformats.org/officeDocument/2006/relationships/slide" Target="/ppt/slides/slide25.xml" Id="Rfe37ad9c1a144792" /><Relationship Type="http://schemas.openxmlformats.org/officeDocument/2006/relationships/slide" Target="/ppt/slides/slide26.xml" Id="R50ea06e5999d4d95" /><Relationship Type="http://schemas.openxmlformats.org/officeDocument/2006/relationships/slide" Target="/ppt/slides/slide27.xml" Id="R57ba5fbfb1724759" /><Relationship Type="http://schemas.openxmlformats.org/officeDocument/2006/relationships/slide" Target="/ppt/slides/slide28.xml" Id="Rb2fd1e33a5354b62" /><Relationship Type="http://schemas.openxmlformats.org/officeDocument/2006/relationships/slide" Target="/ppt/slides/slide29.xml" Id="Rb38860fc24244f31" /><Relationship Type="http://schemas.openxmlformats.org/officeDocument/2006/relationships/slide" Target="/ppt/slides/slide30.xml" Id="R32c2670b5fd64d66" /><Relationship Type="http://schemas.openxmlformats.org/officeDocument/2006/relationships/slide" Target="/ppt/slides/slide31.xml" Id="R1ed7e2bd24014a4c" /><Relationship Type="http://schemas.openxmlformats.org/officeDocument/2006/relationships/slide" Target="/ppt/slides/slide32.xml" Id="Rb7177b21654f4bfb" /><Relationship Type="http://schemas.openxmlformats.org/officeDocument/2006/relationships/slide" Target="/ppt/slides/slide33.xml" Id="R1b2fb0cba2aa4163" /><Relationship Type="http://schemas.openxmlformats.org/officeDocument/2006/relationships/slide" Target="/ppt/slides/slide34.xml" Id="Rfb3bb0df040245e5" /><Relationship Type="http://schemas.openxmlformats.org/officeDocument/2006/relationships/slide" Target="/ppt/slides/slide35.xml" Id="R8154aea7b0b24c16" /><Relationship Type="http://schemas.openxmlformats.org/officeDocument/2006/relationships/slide" Target="/ppt/slides/slide36.xml" Id="Rcf6d49d7c92047e5" /><Relationship Type="http://schemas.openxmlformats.org/officeDocument/2006/relationships/slide" Target="/ppt/slides/slide37.xml" Id="R0dad5dd1db764523" /><Relationship Type="http://schemas.openxmlformats.org/officeDocument/2006/relationships/slide" Target="/ppt/slides/slide38.xml" Id="Raa90ddd9172e4560" /><Relationship Type="http://schemas.openxmlformats.org/officeDocument/2006/relationships/slide" Target="/ppt/slides/slide39.xml" Id="R3619a5e586ac4888" /><Relationship Type="http://schemas.openxmlformats.org/officeDocument/2006/relationships/slide" Target="/ppt/slides/slide40.xml" Id="R6ba14e4961d44cf6" /><Relationship Type="http://schemas.openxmlformats.org/officeDocument/2006/relationships/slide" Target="/ppt/slides/slide41.xml" Id="R3676cdf540b140d5" /><Relationship Type="http://schemas.openxmlformats.org/officeDocument/2006/relationships/slide" Target="/ppt/slides/slide42.xml" Id="R6dbec4c1d8014a27" /><Relationship Type="http://schemas.openxmlformats.org/officeDocument/2006/relationships/slide" Target="/ppt/slides/slide43.xml" Id="R965b0245668d4f8d" /><Relationship Type="http://schemas.openxmlformats.org/officeDocument/2006/relationships/slide" Target="/ppt/slides/slide44.xml" Id="R8ea83f5dc6e94ed3" /><Relationship Type="http://schemas.openxmlformats.org/officeDocument/2006/relationships/slide" Target="/ppt/slides/slide45.xml" Id="Re3cef75342d54e9c" /><Relationship Type="http://schemas.openxmlformats.org/officeDocument/2006/relationships/slide" Target="/ppt/slides/slide46.xml" Id="Ra1cb808563db455d" /><Relationship Type="http://schemas.openxmlformats.org/officeDocument/2006/relationships/slide" Target="/ppt/slides/slide47.xml" Id="R490e3a80b70341fa" /><Relationship Type="http://schemas.openxmlformats.org/officeDocument/2006/relationships/slide" Target="/ppt/slides/slide48.xml" Id="Rabc420b8cb1f49ac" /><Relationship Type="http://schemas.openxmlformats.org/officeDocument/2006/relationships/slide" Target="/ppt/slides/slide49.xml" Id="R27356fc266724b6b" /><Relationship Type="http://schemas.openxmlformats.org/officeDocument/2006/relationships/slide" Target="/ppt/slides/slide50.xml" Id="Rab174085d2e3419b" /><Relationship Type="http://schemas.openxmlformats.org/officeDocument/2006/relationships/slide" Target="/ppt/slides/slide51.xml" Id="R47d22e0146a04d0a" /><Relationship Type="http://schemas.openxmlformats.org/officeDocument/2006/relationships/slide" Target="/ppt/slides/slide52.xml" Id="Rea211be5391e4744" /><Relationship Type="http://schemas.openxmlformats.org/officeDocument/2006/relationships/slide" Target="/ppt/slides/slide53.xml" Id="R44a47f10da0a40a6" /><Relationship Type="http://schemas.openxmlformats.org/officeDocument/2006/relationships/slide" Target="/ppt/slides/slide54.xml" Id="R8f0d90f005b9425e" /><Relationship Type="http://schemas.openxmlformats.org/officeDocument/2006/relationships/slide" Target="/ppt/slides/slide55.xml" Id="Rc83c2c59e61f439a" /><Relationship Type="http://schemas.openxmlformats.org/officeDocument/2006/relationships/slide" Target="/ppt/slides/slide56.xml" Id="Rc6708151eb63475e" /><Relationship Type="http://schemas.openxmlformats.org/officeDocument/2006/relationships/slide" Target="/ppt/slides/slide57.xml" Id="Rbbc43e277e614555" /><Relationship Type="http://schemas.openxmlformats.org/officeDocument/2006/relationships/slide" Target="/ppt/slides/slide58.xml" Id="R82cae1e676cb447b" /><Relationship Type="http://schemas.openxmlformats.org/officeDocument/2006/relationships/slide" Target="/ppt/slides/slide59.xml" Id="R1328107383ac4667" /><Relationship Type="http://schemas.openxmlformats.org/officeDocument/2006/relationships/slide" Target="/ppt/slides/slide60.xml" Id="Reb84dc9f35e44676" /><Relationship Type="http://schemas.openxmlformats.org/officeDocument/2006/relationships/slide" Target="/ppt/slides/slide61.xml" Id="R63a04639b4a54073" /><Relationship Type="http://schemas.openxmlformats.org/officeDocument/2006/relationships/slide" Target="/ppt/slides/slide62.xml" Id="R68597dff5f0a46de" /><Relationship Type="http://schemas.openxmlformats.org/officeDocument/2006/relationships/slide" Target="/ppt/slides/slide63.xml" Id="R1a97e776422d41bd" /><Relationship Type="http://schemas.openxmlformats.org/officeDocument/2006/relationships/slide" Target="/ppt/slides/slide64.xml" Id="Re8a057dbf13b4b0e" /><Relationship Type="http://schemas.openxmlformats.org/officeDocument/2006/relationships/slide" Target="/ppt/slides/slide65.xml" Id="R2c34e4f97e7b415b" /><Relationship Type="http://schemas.openxmlformats.org/officeDocument/2006/relationships/slide" Target="/ppt/slides/slide66.xml" Id="Rbbc2497bd15a4c34" /><Relationship Type="http://schemas.openxmlformats.org/officeDocument/2006/relationships/slide" Target="/ppt/slides/slide67.xml" Id="Ra89c7f32a5aa48d6" /><Relationship Type="http://schemas.openxmlformats.org/officeDocument/2006/relationships/slide" Target="/ppt/slides/slide68.xml" Id="Ra1cc817cb710451b" /><Relationship Type="http://schemas.openxmlformats.org/officeDocument/2006/relationships/slide" Target="/ppt/slides/slide69.xml" Id="R2d3c77b998fa45d6" /><Relationship Type="http://schemas.openxmlformats.org/officeDocument/2006/relationships/slide" Target="/ppt/slides/slide70.xml" Id="R99d700b6c14b4b86" /><Relationship Type="http://schemas.openxmlformats.org/officeDocument/2006/relationships/slide" Target="/ppt/slides/slide71.xml" Id="R1594f9378fc64bbb" /><Relationship Type="http://schemas.openxmlformats.org/officeDocument/2006/relationships/slide" Target="/ppt/slides/slide72.xml" Id="R50dc8adaefab4a5f" /><Relationship Type="http://schemas.openxmlformats.org/officeDocument/2006/relationships/slide" Target="/ppt/slides/slide73.xml" Id="R6b687f5d636640f4" /><Relationship Type="http://schemas.openxmlformats.org/officeDocument/2006/relationships/slide" Target="/ppt/slides/slide74.xml" Id="Rfac8cd7bb661435e" /><Relationship Type="http://schemas.openxmlformats.org/officeDocument/2006/relationships/slide" Target="/ppt/slides/slide75.xml" Id="Re6777937d78a43d7" /><Relationship Type="http://schemas.openxmlformats.org/officeDocument/2006/relationships/slide" Target="/ppt/slides/slide76.xml" Id="R778654dfb1e445b2" /><Relationship Type="http://schemas.openxmlformats.org/officeDocument/2006/relationships/slide" Target="/ppt/slides/slide77.xml" Id="Rb181d544e33b41f3" /><Relationship Type="http://schemas.openxmlformats.org/officeDocument/2006/relationships/slide" Target="/ppt/slides/slide78.xml" Id="R2e537404c4a94558" /><Relationship Type="http://schemas.openxmlformats.org/officeDocument/2006/relationships/slide" Target="/ppt/slides/slide79.xml" Id="Reff29766091745bc" /><Relationship Type="http://schemas.openxmlformats.org/officeDocument/2006/relationships/slide" Target="/ppt/slides/slide80.xml" Id="Ra60d43cdae3d400f" /><Relationship Type="http://schemas.openxmlformats.org/officeDocument/2006/relationships/slide" Target="/ppt/slides/slide81.xml" Id="R158cff3c226d41f7" /><Relationship Type="http://schemas.openxmlformats.org/officeDocument/2006/relationships/slide" Target="/ppt/slides/slide82.xml" Id="Rb4d251b7c0e44d89" /><Relationship Type="http://schemas.openxmlformats.org/officeDocument/2006/relationships/slide" Target="/ppt/slides/slide83.xml" Id="Rbe7e3ae31a2f44e2" /><Relationship Type="http://schemas.openxmlformats.org/officeDocument/2006/relationships/slide" Target="/ppt/slides/slide84.xml" Id="R0b5fc9aef11c42f5" /><Relationship Type="http://schemas.openxmlformats.org/officeDocument/2006/relationships/slide" Target="/ppt/slides/slide85.xml" Id="R8487a70ad52f4040" /><Relationship Type="http://schemas.openxmlformats.org/officeDocument/2006/relationships/slide" Target="/ppt/slides/slide86.xml" Id="R1b3ee8ff9e8e4aa8" /><Relationship Type="http://schemas.openxmlformats.org/officeDocument/2006/relationships/slide" Target="/ppt/slides/slide87.xml" Id="R496e8cd4c98d4bf3" /><Relationship Type="http://schemas.openxmlformats.org/officeDocument/2006/relationships/slide" Target="/ppt/slides/slide88.xml" Id="Rf578a1995e31458d" /><Relationship Type="http://schemas.openxmlformats.org/officeDocument/2006/relationships/slide" Target="/ppt/slides/slide89.xml" Id="Rbb3d513056324a04" /><Relationship Type="http://schemas.openxmlformats.org/officeDocument/2006/relationships/slide" Target="/ppt/slides/slide90.xml" Id="Rd37d9f1dd45b43ff" /><Relationship Type="http://schemas.openxmlformats.org/officeDocument/2006/relationships/slide" Target="/ppt/slides/slide91.xml" Id="R47b198ef820845eb" /><Relationship Type="http://schemas.openxmlformats.org/officeDocument/2006/relationships/slide" Target="/ppt/slides/slide92.xml" Id="Red9116898cf94841" /><Relationship Type="http://schemas.openxmlformats.org/officeDocument/2006/relationships/slide" Target="/ppt/slides/slide93.xml" Id="Rb95775a7aa0f4378" /><Relationship Type="http://schemas.openxmlformats.org/officeDocument/2006/relationships/slide" Target="/ppt/slides/slide94.xml" Id="Rf17f57dda1e04e6f" /><Relationship Type="http://schemas.openxmlformats.org/officeDocument/2006/relationships/slide" Target="/ppt/slides/slide95.xml" Id="R5b5f44a53e5b42e4" /><Relationship Type="http://schemas.openxmlformats.org/officeDocument/2006/relationships/slide" Target="/ppt/slides/slide96.xml" Id="R919f7b8105ed49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3a0198dec2e748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FA_MASTER_CLARO">
  <a:themeElements>
    <a:clrScheme name="Física Acústica UCASAL">
      <a:dk1>
        <a:srgbClr val="000000"/>
      </a:dk1>
      <a:lt1>
        <a:srgbClr val="FFFFFF"/>
      </a:lt1>
      <a:dk2>
        <a:srgbClr val="3D3D3D"/>
      </a:dk2>
      <a:lt2>
        <a:srgbClr val="F7F6F2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ísica Acústica UCAS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cd725f59a54c3c" /><Relationship Type="http://schemas.openxmlformats.org/officeDocument/2006/relationships/notesMaster" Target="/ppt/notesMasters/notesMaster1.xml" Id="R689ced7fc92a48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1e76d72e3094630" /><Relationship Type="http://schemas.openxmlformats.org/officeDocument/2006/relationships/notesMaster" Target="/ppt/notesMasters/notesMaster1.xml" Id="R5b16b100640648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e0bc3f8c42b4828" /><Relationship Type="http://schemas.openxmlformats.org/officeDocument/2006/relationships/notesMaster" Target="/ppt/notesMasters/notesMaster1.xml" Id="R04e3a5594e4f416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09bf87186b4678" /><Relationship Type="http://schemas.openxmlformats.org/officeDocument/2006/relationships/notesMaster" Target="/ppt/notesMasters/notesMaster1.xml" Id="R4ae4601ef3c34c0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b1da7a77923446b" /><Relationship Type="http://schemas.openxmlformats.org/officeDocument/2006/relationships/notesMaster" Target="/ppt/notesMasters/notesMaster1.xml" Id="Rc95736b1b6ec49b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54051a0a3eb450f" /><Relationship Type="http://schemas.openxmlformats.org/officeDocument/2006/relationships/notesMaster" Target="/ppt/notesMasters/notesMaster1.xml" Id="R5091b6cf75ec417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8e84b2b7d6f49be" /><Relationship Type="http://schemas.openxmlformats.org/officeDocument/2006/relationships/notesMaster" Target="/ppt/notesMasters/notesMaster1.xml" Id="R6b6794b4f75743c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0b2a51f069a4cb6" /><Relationship Type="http://schemas.openxmlformats.org/officeDocument/2006/relationships/notesMaster" Target="/ppt/notesMasters/notesMaster1.xml" Id="R11471b900b064e3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e930f7f476644fb" /><Relationship Type="http://schemas.openxmlformats.org/officeDocument/2006/relationships/notesMaster" Target="/ppt/notesMasters/notesMaster1.xml" Id="Rffa4dab221e94c8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d470bfe31c34f29" /><Relationship Type="http://schemas.openxmlformats.org/officeDocument/2006/relationships/notesMaster" Target="/ppt/notesMasters/notesMaster1.xml" Id="Ref4f439060b547e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372c75699714efd" /><Relationship Type="http://schemas.openxmlformats.org/officeDocument/2006/relationships/notesMaster" Target="/ppt/notesMasters/notesMaster1.xml" Id="Rcb2b6ed30f7349a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12cda796c5e48ea" /><Relationship Type="http://schemas.openxmlformats.org/officeDocument/2006/relationships/notesMaster" Target="/ppt/notesMasters/notesMaster1.xml" Id="R0909d70115bb47f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3b5fd6775ed4ef8" /><Relationship Type="http://schemas.openxmlformats.org/officeDocument/2006/relationships/notesMaster" Target="/ppt/notesMasters/notesMaster1.xml" Id="Re450f4f52402499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e549dd8452f4e1c" /><Relationship Type="http://schemas.openxmlformats.org/officeDocument/2006/relationships/notesMaster" Target="/ppt/notesMasters/notesMaster1.xml" Id="R9a9ba431e742479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c3c884699404b33" /><Relationship Type="http://schemas.openxmlformats.org/officeDocument/2006/relationships/notesMaster" Target="/ppt/notesMasters/notesMaster1.xml" Id="Raca374e215e74de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3c635c8daec4322" /><Relationship Type="http://schemas.openxmlformats.org/officeDocument/2006/relationships/notesMaster" Target="/ppt/notesMasters/notesMaster1.xml" Id="R24400c1e988e454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48d48041d2b4642" /><Relationship Type="http://schemas.openxmlformats.org/officeDocument/2006/relationships/notesMaster" Target="/ppt/notesMasters/notesMaster1.xml" Id="R1d9e2bd2e466430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42afc8aad334cba" /><Relationship Type="http://schemas.openxmlformats.org/officeDocument/2006/relationships/notesMaster" Target="/ppt/notesMasters/notesMaster1.xml" Id="R004b5fc8cd5b421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c8f59766d8e4ac4" /><Relationship Type="http://schemas.openxmlformats.org/officeDocument/2006/relationships/notesMaster" Target="/ppt/notesMasters/notesMaster1.xml" Id="R63d4ef1999cf47c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cda1605afe249b4" /><Relationship Type="http://schemas.openxmlformats.org/officeDocument/2006/relationships/notesMaster" Target="/ppt/notesMasters/notesMaster1.xml" Id="R96662018f59544d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e94ea5b46484948" /><Relationship Type="http://schemas.openxmlformats.org/officeDocument/2006/relationships/notesMaster" Target="/ppt/notesMasters/notesMaster1.xml" Id="R4dc80333142d473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69d705f758c412f" /><Relationship Type="http://schemas.openxmlformats.org/officeDocument/2006/relationships/notesMaster" Target="/ppt/notesMasters/notesMaster1.xml" Id="Rebe2f02b8ed44eb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d55200fa9e44123" /><Relationship Type="http://schemas.openxmlformats.org/officeDocument/2006/relationships/notesMaster" Target="/ppt/notesMasters/notesMaster1.xml" Id="Ra65bf55c6978436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a4a1c3904124be7" /><Relationship Type="http://schemas.openxmlformats.org/officeDocument/2006/relationships/notesMaster" Target="/ppt/notesMasters/notesMaster1.xml" Id="R2d09a21866b346a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1c9e053bf464156" /><Relationship Type="http://schemas.openxmlformats.org/officeDocument/2006/relationships/notesMaster" Target="/ppt/notesMasters/notesMaster1.xml" Id="R5aee5f83403847e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58ee9d241f14d74" /><Relationship Type="http://schemas.openxmlformats.org/officeDocument/2006/relationships/notesMaster" Target="/ppt/notesMasters/notesMaster1.xml" Id="Rdeff664970cb4c8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024fc1802414be3" /><Relationship Type="http://schemas.openxmlformats.org/officeDocument/2006/relationships/notesMaster" Target="/ppt/notesMasters/notesMaster1.xml" Id="R6c34221fb48a4b9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d7f2916c29c4273" /><Relationship Type="http://schemas.openxmlformats.org/officeDocument/2006/relationships/notesMaster" Target="/ppt/notesMasters/notesMaster1.xml" Id="Rdda430f867bb414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90f839117e34f1b" /><Relationship Type="http://schemas.openxmlformats.org/officeDocument/2006/relationships/notesMaster" Target="/ppt/notesMasters/notesMaster1.xml" Id="R7729f38061eb40d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22300d48c0c442a" /><Relationship Type="http://schemas.openxmlformats.org/officeDocument/2006/relationships/notesMaster" Target="/ppt/notesMasters/notesMaster1.xml" Id="Rea20c59f682a43ec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bc6e2f7351a4817" /><Relationship Type="http://schemas.openxmlformats.org/officeDocument/2006/relationships/notesMaster" Target="/ppt/notesMasters/notesMaster1.xml" Id="Rc496cf63732c48c1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b3726d0647e4a1e" /><Relationship Type="http://schemas.openxmlformats.org/officeDocument/2006/relationships/notesMaster" Target="/ppt/notesMasters/notesMaster1.xml" Id="R7d7450bdaa0f4a5f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16695fba337844e6" /><Relationship Type="http://schemas.openxmlformats.org/officeDocument/2006/relationships/notesMaster" Target="/ppt/notesMasters/notesMaster1.xml" Id="R3c612d274d2d4b29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7a540428ea744cbe" /><Relationship Type="http://schemas.openxmlformats.org/officeDocument/2006/relationships/notesMaster" Target="/ppt/notesMasters/notesMaster1.xml" Id="R34afb6a3fe6544e1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22de001f0b14888" /><Relationship Type="http://schemas.openxmlformats.org/officeDocument/2006/relationships/notesMaster" Target="/ppt/notesMasters/notesMaster1.xml" Id="Rb40a3e2410954da6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2c130afc60264132" /><Relationship Type="http://schemas.openxmlformats.org/officeDocument/2006/relationships/notesMaster" Target="/ppt/notesMasters/notesMaster1.xml" Id="R3b30f126426f498e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74aa3305b04b49a3" /><Relationship Type="http://schemas.openxmlformats.org/officeDocument/2006/relationships/notesMaster" Target="/ppt/notesMasters/notesMaster1.xml" Id="R8b5fa6503e524eea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bd20db115d72429e" /><Relationship Type="http://schemas.openxmlformats.org/officeDocument/2006/relationships/notesMaster" Target="/ppt/notesMasters/notesMaster1.xml" Id="R5569039dd58f4df2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006a4552a4854f2a" /><Relationship Type="http://schemas.openxmlformats.org/officeDocument/2006/relationships/notesMaster" Target="/ppt/notesMasters/notesMaster1.xml" Id="R80dd4bd14b1d4cd5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f8f270f84f154576" /><Relationship Type="http://schemas.openxmlformats.org/officeDocument/2006/relationships/notesMaster" Target="/ppt/notesMasters/notesMaster1.xml" Id="R77e6a97883fd4232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3cd85f82dbf54a7c" /><Relationship Type="http://schemas.openxmlformats.org/officeDocument/2006/relationships/notesMaster" Target="/ppt/notesMasters/notesMaster1.xml" Id="Rabdda8253a754db1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1a050687ef824297" /><Relationship Type="http://schemas.openxmlformats.org/officeDocument/2006/relationships/notesMaster" Target="/ppt/notesMasters/notesMaster1.xml" Id="R8e3f8e26ff814913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64292707771a43c4" /><Relationship Type="http://schemas.openxmlformats.org/officeDocument/2006/relationships/notesMaster" Target="/ppt/notesMasters/notesMaster1.xml" Id="R3db9e3513ab644b6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fa29d3e7b2e94306" /><Relationship Type="http://schemas.openxmlformats.org/officeDocument/2006/relationships/notesMaster" Target="/ppt/notesMasters/notesMaster1.xml" Id="Reecd3d8cc1e648bd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d37aaf84a5cd4ab2" /><Relationship Type="http://schemas.openxmlformats.org/officeDocument/2006/relationships/notesMaster" Target="/ppt/notesMasters/notesMaster1.xml" Id="R25ad9e8920954bd5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91fc9935f7b44d62" /><Relationship Type="http://schemas.openxmlformats.org/officeDocument/2006/relationships/notesMaster" Target="/ppt/notesMasters/notesMaster1.xml" Id="Rd8e028154bd64e4a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24e04342d8294e98" /><Relationship Type="http://schemas.openxmlformats.org/officeDocument/2006/relationships/notesMaster" Target="/ppt/notesMasters/notesMaster1.xml" Id="R81e01ed6d313417a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fe7c2d35e4734fef" /><Relationship Type="http://schemas.openxmlformats.org/officeDocument/2006/relationships/notesMaster" Target="/ppt/notesMasters/notesMaster1.xml" Id="R288ac69ccde74797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7b4bfd3d6e2a4e01" /><Relationship Type="http://schemas.openxmlformats.org/officeDocument/2006/relationships/notesMaster" Target="/ppt/notesMasters/notesMaster1.xml" Id="Ref7e62c889494a1b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fca9ceb403344612" /><Relationship Type="http://schemas.openxmlformats.org/officeDocument/2006/relationships/notesMaster" Target="/ppt/notesMasters/notesMaster1.xml" Id="R1422264704da4ec6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ce030f31c3fe4579" /><Relationship Type="http://schemas.openxmlformats.org/officeDocument/2006/relationships/notesMaster" Target="/ppt/notesMasters/notesMaster1.xml" Id="R32f379ed5ca348f0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96ac7fdbee9a4246" /><Relationship Type="http://schemas.openxmlformats.org/officeDocument/2006/relationships/notesMaster" Target="/ppt/notesMasters/notesMaster1.xml" Id="R1b10aebd0a28490f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f7535a1584d84d70" /><Relationship Type="http://schemas.openxmlformats.org/officeDocument/2006/relationships/notesMaster" Target="/ppt/notesMasters/notesMaster1.xml" Id="R059fb382a7af41d7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b480df58fb554a16" /><Relationship Type="http://schemas.openxmlformats.org/officeDocument/2006/relationships/notesMaster" Target="/ppt/notesMasters/notesMaster1.xml" Id="Radbefca5a41c438d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4cbc74ffb17e4fef" /><Relationship Type="http://schemas.openxmlformats.org/officeDocument/2006/relationships/notesMaster" Target="/ppt/notesMasters/notesMaster1.xml" Id="R7d344631552e4c02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0f3a4d2f02854e52" /><Relationship Type="http://schemas.openxmlformats.org/officeDocument/2006/relationships/notesMaster" Target="/ppt/notesMasters/notesMaster1.xml" Id="R1e6a965e1d364fd3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b621aa316fd64488" /><Relationship Type="http://schemas.openxmlformats.org/officeDocument/2006/relationships/notesMaster" Target="/ppt/notesMasters/notesMaster1.xml" Id="Rab871412f7cb4e90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2ae8c301c9444026" /><Relationship Type="http://schemas.openxmlformats.org/officeDocument/2006/relationships/notesMaster" Target="/ppt/notesMasters/notesMaster1.xml" Id="Rac02385dca8d4ee3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88d945b9c6ed49bd" /><Relationship Type="http://schemas.openxmlformats.org/officeDocument/2006/relationships/notesMaster" Target="/ppt/notesMasters/notesMaster1.xml" Id="R96cce1bcea9a4fc6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6c27c1f5bb904d96" /><Relationship Type="http://schemas.openxmlformats.org/officeDocument/2006/relationships/notesMaster" Target="/ppt/notesMasters/notesMaster1.xml" Id="R45467522547f4ad9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19e0a1f018234f6a" /><Relationship Type="http://schemas.openxmlformats.org/officeDocument/2006/relationships/notesMaster" Target="/ppt/notesMasters/notesMaster1.xml" Id="Rc58fd9ec943b4c51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86f44bf869bf4a6b" /><Relationship Type="http://schemas.openxmlformats.org/officeDocument/2006/relationships/notesMaster" Target="/ppt/notesMasters/notesMaster1.xml" Id="R4cccc460a1fd403c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038bd097f0b34609" /><Relationship Type="http://schemas.openxmlformats.org/officeDocument/2006/relationships/notesMaster" Target="/ppt/notesMasters/notesMaster1.xml" Id="R4b3c84c809d34265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24bcb65f2f77471c" /><Relationship Type="http://schemas.openxmlformats.org/officeDocument/2006/relationships/notesMaster" Target="/ppt/notesMasters/notesMaster1.xml" Id="R89e3708384464229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61ca2db18bb64e10" /><Relationship Type="http://schemas.openxmlformats.org/officeDocument/2006/relationships/notesMaster" Target="/ppt/notesMasters/notesMaster1.xml" Id="R71ad1728ac0b4a0c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8e5f56eaa0314479" /><Relationship Type="http://schemas.openxmlformats.org/officeDocument/2006/relationships/notesMaster" Target="/ppt/notesMasters/notesMaster1.xml" Id="Ra7ea832347b64093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9d5be987bdad4a69" /><Relationship Type="http://schemas.openxmlformats.org/officeDocument/2006/relationships/notesMaster" Target="/ppt/notesMasters/notesMaster1.xml" Id="R2e96df9b842549c6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2257445c2eb04356" /><Relationship Type="http://schemas.openxmlformats.org/officeDocument/2006/relationships/notesMaster" Target="/ppt/notesMasters/notesMaster1.xml" Id="R373947c8af744855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dfaa52bd43604a98" /><Relationship Type="http://schemas.openxmlformats.org/officeDocument/2006/relationships/notesMaster" Target="/ppt/notesMasters/notesMaster1.xml" Id="Ref497ebb457e4f5a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4f3515b5d66a4c34" /><Relationship Type="http://schemas.openxmlformats.org/officeDocument/2006/relationships/notesMaster" Target="/ppt/notesMasters/notesMaster1.xml" Id="Rd9be0b06beab433f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e6cc027e2f8949f0" /><Relationship Type="http://schemas.openxmlformats.org/officeDocument/2006/relationships/notesMaster" Target="/ppt/notesMasters/notesMaster1.xml" Id="Rbb18c3f69a1c4050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0187bf9e7f0c4c40" /><Relationship Type="http://schemas.openxmlformats.org/officeDocument/2006/relationships/notesMaster" Target="/ppt/notesMasters/notesMaster1.xml" Id="Rf6446112d23c4825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7b1e2d705fc94e51" /><Relationship Type="http://schemas.openxmlformats.org/officeDocument/2006/relationships/notesMaster" Target="/ppt/notesMasters/notesMaster1.xml" Id="Rffc8c00a1dfe4737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96e4fec93f9c4616" /><Relationship Type="http://schemas.openxmlformats.org/officeDocument/2006/relationships/notesMaster" Target="/ppt/notesMasters/notesMaster1.xml" Id="Ra887f6add74a4157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092fb4dc27064ff8" /><Relationship Type="http://schemas.openxmlformats.org/officeDocument/2006/relationships/notesMaster" Target="/ppt/notesMasters/notesMaster1.xml" Id="R0fa71bfb5bed4255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787d9e1fa41043f2" /><Relationship Type="http://schemas.openxmlformats.org/officeDocument/2006/relationships/notesMaster" Target="/ppt/notesMasters/notesMaster1.xml" Id="R268aa838bfc24fcf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23425b45269743c4" /><Relationship Type="http://schemas.openxmlformats.org/officeDocument/2006/relationships/notesMaster" Target="/ppt/notesMasters/notesMaster1.xml" Id="R2238719badee4109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4b6567537e6441e8" /><Relationship Type="http://schemas.openxmlformats.org/officeDocument/2006/relationships/notesMaster" Target="/ppt/notesMasters/notesMaster1.xml" Id="R0f5be77f7efd4e76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0fc16281c7b64611" /><Relationship Type="http://schemas.openxmlformats.org/officeDocument/2006/relationships/notesMaster" Target="/ppt/notesMasters/notesMaster1.xml" Id="Rc0a45fba24b84cb4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b83d8b082e5246ce" /><Relationship Type="http://schemas.openxmlformats.org/officeDocument/2006/relationships/notesMaster" Target="/ppt/notesMasters/notesMaster1.xml" Id="R5b9538c36a6d479f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8c1147c601dc40b1" /><Relationship Type="http://schemas.openxmlformats.org/officeDocument/2006/relationships/notesMaster" Target="/ppt/notesMasters/notesMaster1.xml" Id="R19a0c31e3c394daf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b2626511ae234c75" /><Relationship Type="http://schemas.openxmlformats.org/officeDocument/2006/relationships/notesMaster" Target="/ppt/notesMasters/notesMaster1.xml" Id="Rb5a18c5fed0848c8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90f55bb1dbae40eb" /><Relationship Type="http://schemas.openxmlformats.org/officeDocument/2006/relationships/notesMaster" Target="/ppt/notesMasters/notesMaster1.xml" Id="Rf4f5f28381034b42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967cbf7dd6864a80" /><Relationship Type="http://schemas.openxmlformats.org/officeDocument/2006/relationships/notesMaster" Target="/ppt/notesMasters/notesMaster1.xml" Id="R638bdf18546847c7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8fa2c637705f4cb0" /><Relationship Type="http://schemas.openxmlformats.org/officeDocument/2006/relationships/notesMaster" Target="/ppt/notesMasters/notesMaster1.xml" Id="R1fa2adcac8db433c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16edc5d89b9d4df9" /><Relationship Type="http://schemas.openxmlformats.org/officeDocument/2006/relationships/notesMaster" Target="/ppt/notesMasters/notesMaster1.xml" Id="Re0fdac8bdd1c4636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2888dfef59184100" /><Relationship Type="http://schemas.openxmlformats.org/officeDocument/2006/relationships/notesMaster" Target="/ppt/notesMasters/notesMaster1.xml" Id="Rf19010e85d0d46b3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03daf1f5dc614c36" /><Relationship Type="http://schemas.openxmlformats.org/officeDocument/2006/relationships/notesMaster" Target="/ppt/notesMasters/notesMaster1.xml" Id="Rb683724840664fe8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f6471193c5094902" /><Relationship Type="http://schemas.openxmlformats.org/officeDocument/2006/relationships/notesMaster" Target="/ppt/notesMasters/notesMaster1.xml" Id="R00fec2c4a9e440c0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360b5a5f804544d9" /><Relationship Type="http://schemas.openxmlformats.org/officeDocument/2006/relationships/notesMaster" Target="/ppt/notesMasters/notesMaster1.xml" Id="R2e208aa42fb54635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54f5187e229f4168" /><Relationship Type="http://schemas.openxmlformats.org/officeDocument/2006/relationships/notesMaster" Target="/ppt/notesMasters/notesMaster1.xml" Id="Rab3cc9d0a9004851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56d74759383f427f" /><Relationship Type="http://schemas.openxmlformats.org/officeDocument/2006/relationships/notesMaster" Target="/ppt/notesMasters/notesMaster1.xml" Id="Rbfcf4e357f2c4886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51f3247ad14f4b26" /><Relationship Type="http://schemas.openxmlformats.org/officeDocument/2006/relationships/notesMaster" Target="/ppt/notesMasters/notesMaster1.xml" Id="Rd5f2e75c1b494bd9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ad8638c0d65942c1" /><Relationship Type="http://schemas.openxmlformats.org/officeDocument/2006/relationships/notesMaster" Target="/ppt/notesMasters/notesMaster1.xml" Id="R8108f9faed4d4afa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7d4ba7e647984f2e" /><Relationship Type="http://schemas.openxmlformats.org/officeDocument/2006/relationships/notesMaster" Target="/ppt/notesMasters/notesMaster1.xml" Id="Rb875b76bddfa40d3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3f7178ab76204677" /><Relationship Type="http://schemas.openxmlformats.org/officeDocument/2006/relationships/notesMaster" Target="/ppt/notesMasters/notesMaster1.xml" Id="R71b24937947043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 min.</a:t>
            </a:r>
          </a:p>
          <a:p xmlns:a="http://schemas.openxmlformats.org/drawingml/2006/main">
            <a:r>
              <a:t>- **Propósito docente:** Situar la unidad y su problema central.</a:t>
            </a:r>
          </a:p>
          <a:p xmlns:a="http://schemas.openxmlformats.org/drawingml/2006/main">
            <a:r>
              <a:t>- **Explicación extendida:** Presentar la unidad como integración aplicada, no como lista de “correcciones”. Explicitar que entre la fuente y quien escucha, el trayecto importa.</a:t>
            </a:r>
          </a:p>
          <a:p xmlns:a="http://schemas.openxmlformats.org/drawingml/2006/main">
            <a:r>
              <a:t>- **Guía del visual o diagrama:** Presentar primero la estructura general y luego recorrer Título, unidad y pregunta organizadora, Sin desarrollo conceptual. Cerrar señalando la idea central, sin leer todas las cajas como una lista.</a:t>
            </a:r>
          </a:p>
          <a:p xmlns:a="http://schemas.openxmlformats.org/drawingml/2006/main">
            <a:r>
              <a:t>- **Pregunta al grupo:** ¿Qué recorrido o relación del esquema sostiene la idea central?</a:t>
            </a:r>
          </a:p>
          <a:p xmlns:a="http://schemas.openxmlformats.org/drawingml/2006/main">
            <a:r>
              <a:t>- **Respuesta esperada:** Entre la fuente y quien escucha, el trayecto importa.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Presentar la unidad como integración aplicada, no como lista de “correcciones”.</a:t>
            </a:r>
          </a:p>
          <a:p xmlns:a="http://schemas.openxmlformats.org/drawingml/2006/main">
            <a:r>
              <a:t>- **Transición:** Abrir con el caso: una misma fuente produce niveles distintos según posición y entorno.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Ilustración técnica sintética de fuente, trayecto urbano y clínica; U09-DG-001, candidata para diagram-generation. La composición permite reconocer que entre la fuente y quien escucha, el trayecto importa.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Programa 2025 p. 5; brief U9.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5 min.</a:t>
            </a:r>
          </a:p>
          <a:p xmlns:a="http://schemas.openxmlformats.org/drawingml/2006/main">
            <a:r>
              <a:t>- **Propósito docente:** Activar intuiciones y revelar variables omitidas.</a:t>
            </a:r>
          </a:p>
          <a:p xmlns:a="http://schemas.openxmlformats.org/drawingml/2006/main">
            <a:r>
              <a:t>- **Explicación extendida:** Recoger hipótesis del grupo sin corregir todavía; registrar “fuente”, “trayecto” y “medición”. Explicitar que un valor medido no describe por sí solo la fuente ni la aptitud del recinto.</a:t>
            </a:r>
          </a:p>
          <a:p xmlns:a="http://schemas.openxmlformats.org/drawingml/2006/main">
            <a:r>
              <a:t>- **Guía del visual o diagrama:** Presentar primero la estructura general y luego recorrer Caso breve con avenida, fachada, consultorio, cabina y dos puntos de medición, Preguntas sin resolver. Cerrar señalando la idea central, sin leer todas las cajas como una lista.</a:t>
            </a:r>
          </a:p>
          <a:p xmlns:a="http://schemas.openxmlformats.org/drawingml/2006/main">
            <a:r>
              <a:t>- **Pregunta al grupo:** ¿Qué cambió entre los dos puntos: la fuente, el trayecto, la medición o más de una cosa?</a:t>
            </a:r>
          </a:p>
          <a:p xmlns:a="http://schemas.openxmlformats.org/drawingml/2006/main">
            <a:r>
              <a:t>- **Respuesta esperada:** Todavía no alcanza para decidir: hay que separar variables y registrar condiciones.</a:t>
            </a:r>
          </a:p>
          <a:p xmlns:a="http://schemas.openxmlformats.org/drawingml/2006/main">
            <a:r>
              <a:t>- **Demostración o revelado:** Dar tiempo de respuesta antes del revelado; registrar la justificación, no solo la opción elegida.</a:t>
            </a:r>
          </a:p>
          <a:p xmlns:a="http://schemas.openxmlformats.org/drawingml/2006/main">
            <a:r>
              <a:t>- **Error frecuente:** Responder el caso antes de distinguir fuente, trayecto, receptor y medición.</a:t>
            </a:r>
          </a:p>
          <a:p xmlns:a="http://schemas.openxmlformats.org/drawingml/2006/main">
            <a:r>
              <a:t>- **Transición:** Convertir las respuestas espontáneas en necesidades de aprendizaje.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Mapa del caso con rutas numeradas; U09-DG-002, candidata para diagram-generation. La composición permite reconocer que un valor medido no describe por sí solo la fuente ni la aptitud del recinto.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Brief U9; aplicaciones del capítulo 9.</a:t>
            </a:r>
          </a:p>
          <a:p xmlns:a="http://schemas.openxmlformats.org/drawingml/2006/main">
            <a:r>
              <a:t>- Asset propio aprobado: U09-DG-002.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Hacer visibles siete desempeños observables.</a:t>
            </a:r>
          </a:p>
          <a:p xmlns:a="http://schemas.openxmlformats.org/drawingml/2006/main">
            <a:r>
              <a:t>- **Explicación extendida:** Aclarar que no se diseñarán paredes ni se certificarán cabinas. Explicitar que la unidad exige reconocer mecanismos, aplicar modelos acotados y justificar mediciones.</a:t>
            </a:r>
          </a:p>
          <a:p xmlns:a="http://schemas.openxmlformats.org/drawingml/2006/main">
            <a:r>
              <a:t>- **Guía del visual o diagrama:** Presentar primero la estructura general y luego recorrer Síntesis de los objetivos: analizar, aplicar, explicar, diferenciar, calcular, comparar y justificar. Cerrar señalando la idea central, sin leer todas las cajas como una lista.</a:t>
            </a:r>
          </a:p>
          <a:p xmlns:a="http://schemas.openxmlformats.org/drawingml/2006/main">
            <a:r>
              <a:t>- **Pregunta al grupo:** ¿Qué recorrido o relación del esquema sostiene la idea central?</a:t>
            </a:r>
          </a:p>
          <a:p xmlns:a="http://schemas.openxmlformats.org/drawingml/2006/main">
            <a:r>
              <a:t>- **Respuesta esperada:** La unidad exige reconocer mecanismos, aplicar modelos acotados y justificar mediciones.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Aclarar que no se diseñarán paredes ni se certificarán cabinas.</a:t>
            </a:r>
          </a:p>
          <a:p xmlns:a="http://schemas.openxmlformats.org/drawingml/2006/main">
            <a:r>
              <a:t>- **Transición:** Preguntar qué saberes previos permiten comenzar.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Ruta de objetivos en dos niveles; sin iconos decorativos. La composición permite reconocer que la unidad exige reconocer mecanismos, aplicar modelos acotados y justificar mediciones.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brief U9, objetivos 1–7.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Reactivar magnitudes que sostienen los modelos de U9.</a:t>
            </a:r>
          </a:p>
          <a:p xmlns:a="http://schemas.openxmlformats.org/drawingml/2006/main">
            <a:r>
              <a:t>- **Explicación extendida:** Diagnosticar sin volver a enseñar U2–U5; anotar confusiones para retomarlas. Explicitar que distancia, longitud de onda, niveles, temperatura y bandas ya tienen significado físico.</a:t>
            </a:r>
          </a:p>
          <a:p xmlns:a="http://schemas.openxmlformats.org/drawingml/2006/main">
            <a:r>
              <a:t>- **Guía del visual o diagrama:** Presentar primero la estructura general y luego recorrer Dos columnas: “ya conocemos” y “necesitamos recuperar”, Mini diagnóstico de seis decisiones. Cerrar señalando la idea central, sin leer todas las cajas como una lista.</a:t>
            </a:r>
          </a:p>
          <a:p xmlns:a="http://schemas.openxmlformats.org/drawingml/2006/main">
            <a:r>
              <a:t>- **Pregunta al grupo:** ¿Qué recorrido o relación del esquema sostiene la idea central?</a:t>
            </a:r>
          </a:p>
          <a:p xmlns:a="http://schemas.openxmlformats.org/drawingml/2006/main">
            <a:r>
              <a:t>- **Respuesta esperada:** Distancia, longitud de onda, niveles, temperatura y bandas ya tienen significado físico.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Responder el caso antes de distinguir fuente, trayecto, receptor y medición.</a:t>
            </a:r>
          </a:p>
          <a:p xmlns:a="http://schemas.openxmlformats.org/drawingml/2006/main">
            <a:r>
              <a:t>- **Transición:** Mostrar que esos saberes se reorganizarán mediante un solo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Tarjetas de prerrequisitos y pregunta breve. La composición permite reconocer que distancia, longitud de onda, niveles, temperatura y bandas ya tienen significado físico.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course_dependency_map U9; brief U9.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Dar estructura temporal y reducir incertidumbre.</a:t>
            </a:r>
          </a:p>
          <a:p xmlns:a="http://schemas.openxmlformats.org/drawingml/2006/main">
            <a:r>
              <a:t>- **Explicación extendida:** Explicar qué bloques tienen alta carga y dónde habrá recapitulaciones. Explicitar que la secuencia avanza de fuente y trayecto a superficies, recintos, aislamiento y cabinas.</a:t>
            </a:r>
          </a:p>
          <a:p xmlns:a="http://schemas.openxmlformats.org/drawingml/2006/main">
            <a:r>
              <a:t>- **Guía del visual o diagrama:** Presentar primero la estructura general y luego recorrer Mapa de tres encuentros y ocho bloques de contenido, Respaldo separado. Cerrar señalando la idea central, sin leer todas las cajas como una lista.</a:t>
            </a:r>
          </a:p>
          <a:p xmlns:a="http://schemas.openxmlformats.org/drawingml/2006/main">
            <a:r>
              <a:t>- **Pregunta al grupo:** ¿Qué recorrido o relación del esquema sostiene la idea central?</a:t>
            </a:r>
          </a:p>
          <a:p xmlns:a="http://schemas.openxmlformats.org/drawingml/2006/main">
            <a:r>
              <a:t>- **Respuesta esperada:** La secuencia avanza de fuente y trayecto a superficies, recintos, aislamiento y cabinas.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Responder el caso antes de distinguir fuente, trayecto, receptor y medición.</a:t>
            </a:r>
          </a:p>
          <a:p xmlns:a="http://schemas.openxmlformats.org/drawingml/2006/main">
            <a:r>
              <a:t>- **Transición:** Entrar al primer bloque preguntando de quién “es” el nivel recibido.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Mapa horizontal con hitos y pausas; U09-DG-003, candidata para diagram-generation. La composición permite reconocer que la secuencia avanza de fuente y trayecto a superficies, recintos, aislamiento y cabinas.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course_map U9; brief U9.</a:t>
            </a:r>
          </a:p>
          <a:p xmlns:a="http://schemas.openxmlformats.org/drawingml/2006/main">
            <a:r>
              <a:t>- Asset propio aprobado: U09-DG-003.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 min.</a:t>
            </a:r>
          </a:p>
          <a:p xmlns:a="http://schemas.openxmlformats.org/drawingml/2006/main">
            <a:r>
              <a:t>- **Propósito docente:** Enunciar la pregunta guía del bloque.</a:t>
            </a:r>
          </a:p>
          <a:p xmlns:a="http://schemas.openxmlformats.org/drawingml/2006/main">
            <a:r>
              <a:t>- **Explicación extendida:** Volver al caso sin resolverlo todavía. Explicitar que un nivel observado emerge de una cadena física y metrológica.</a:t>
            </a:r>
          </a:p>
          <a:p xmlns:a="http://schemas.openxmlformats.org/drawingml/2006/main">
            <a:r>
              <a:t>- **Guía del visual o diagrama:** Presentar primero la estructura general y luego recorrer Pregunta guía y promesa: separar emisión, trayecto, recepción y medición. Cerrar señalando la idea central, sin leer todas las cajas como una lista.</a:t>
            </a:r>
          </a:p>
          <a:p xmlns:a="http://schemas.openxmlformats.org/drawingml/2006/main">
            <a:r>
              <a:t>- **Pregunta al grupo:** ¿De quién es el nivel recibido?</a:t>
            </a:r>
          </a:p>
          <a:p xmlns:a="http://schemas.openxmlformats.org/drawingml/2006/main">
            <a:r>
              <a:t>- **Respuesta esperada:** Un nivel observado emerge de una cadena física y metrológica.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Atribuir el nivel recibido a una sola etapa sin identificar qué cambió y bajo qué condiciones.</a:t>
            </a:r>
          </a:p>
          <a:p xmlns:a="http://schemas.openxmlformats.org/drawingml/2006/main">
            <a:r>
              <a:t>- **Transición:** Presentar el esquema que se repetirá durante toda la unidad.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Fondo de divisor con esquema mínimo de tres etapas. La composición permite reconocer que un nivel observado emerge de una cadena física y metrológica.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brief U9, bloque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Construir el organizador común.</a:t>
            </a:r>
          </a:p>
          <a:p xmlns:a="http://schemas.openxmlformats.org/drawingml/2006/main">
            <a:r>
              <a:t>- **Explicación extendida:** Nombrar el cuarto elemento práctico: condiciones de medición, sin confundirlo con el receptor físico. Explicitar que cada mecanismo debe localizarse en una parte de la cadena.</a:t>
            </a:r>
          </a:p>
          <a:p xmlns:a="http://schemas.openxmlformats.org/drawingml/2006/main">
            <a:r>
              <a:t>- **Guía del visual o diagrama:** Presentar primero la estructura general y luego recorrer Fuente: emite, Trayecto: redistribuye, disipa o desvía, Receptor/medición: registra bajo condiciones. Cerrar señalando la idea central, sin leer todas las cajas como una lista.</a:t>
            </a:r>
          </a:p>
          <a:p xmlns:a="http://schemas.openxmlformats.org/drawingml/2006/main">
            <a:r>
              <a:t>- **Pregunta al grupo:** ¿Qué recorrido o relación del esquema sostiene la idea central?</a:t>
            </a:r>
          </a:p>
          <a:p xmlns:a="http://schemas.openxmlformats.org/drawingml/2006/main">
            <a:r>
              <a:t>- **Respuesta esperada:** Cada mecanismo debe localizarse en una parte de la cadena.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Atribuir el nivel recibido a una sola etapa sin identificar qué cambió y bajo qué condiciones.</a:t>
            </a:r>
          </a:p>
          <a:p xmlns:a="http://schemas.openxmlformats.org/drawingml/2006/main">
            <a:r>
              <a:t>- **Transición:** Separar ahora potencia emitida y presión recibida.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Diagrama principal con zonas y ejemplos; U09-DG-004, candidata para diagram-generation. La composición permite reconocer que cada mecanismo debe localizarse en una parte de la cadena.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cap. 9 introducción; PDF p. 235; course_map U9.</a:t>
            </a:r>
          </a:p>
          <a:p xmlns:a="http://schemas.openxmlformats.org/drawingml/2006/main">
            <a:r>
              <a:t>- Asset propio aprobado: U09-DG-004.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Distinguir `L_W` de `L_p`.</a:t>
            </a:r>
          </a:p>
          <a:p xmlns:a="http://schemas.openxmlformats.org/drawingml/2006/main">
            <a:r>
              <a:t>- **Explicación extendida:** Recuperar U4 sin derivar; insistir en que ambos se expresan en dB con referencias distintas. Explicitar que la potencia caracteriza la emisión; la presión depende del punto y del campo.</a:t>
            </a:r>
          </a:p>
          <a:p xmlns:a="http://schemas.openxmlformats.org/drawingml/2006/main">
            <a:r>
              <a:t>- **Guía del visual o diagrama:** Presentar primero la estructura general y luego recorrer Comparación por magnitud, dependencia espacial, unidad y pregunta que responde. Cerrar señalando la idea central, sin leer todas las cajas como una lista.</a:t>
            </a:r>
          </a:p>
          <a:p xmlns:a="http://schemas.openxmlformats.org/drawingml/2006/main">
            <a:r>
              <a:t>- **Pregunta al grupo:** ¿Cuál es la afirmación principal que esta slide permite sostener?</a:t>
            </a:r>
          </a:p>
          <a:p xmlns:a="http://schemas.openxmlformats.org/drawingml/2006/main">
            <a:r>
              <a:t>- **Respuesta esperada:** La potencia caracteriza la emisión; la presión depende del punto y del campo.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Atribuir el nivel recibido a una sola etapa sin identificar qué cambió y bajo qué condiciones.</a:t>
            </a:r>
          </a:p>
          <a:p xmlns:a="http://schemas.openxmlformats.org/drawingml/2006/main">
            <a:r>
              <a:t>- **Transición:** Preguntar qué puede ocurrirle a la energía en el trayecto.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Tabla comparativa y mini cadena; U09-DG-005, candidata para diagram-generation. La composición permite reconocer que la potencia caracteriza la emisión; la presión depende del punto y del campo.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9.1–9.2; PDF pp. 236–238; notation_guide.</a:t>
            </a:r>
          </a:p>
          <a:p xmlns:a="http://schemas.openxmlformats.org/drawingml/2006/main">
            <a:r>
              <a:t>- Asset propio aprobado: U09-DG-005.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Evitar que “atenuación” oculte procesos distintos.</a:t>
            </a:r>
          </a:p>
          <a:p xmlns:a="http://schemas.openxmlformats.org/drawingml/2006/main">
            <a:r>
              <a:t>- **Explicación extendida:** Introducir nombres sin explicarlos en profundidad; señalar que se desplegarán uno por vez. Explicitar que no toda disminución es absorción y no toda llegada sigue la ruta directa.</a:t>
            </a:r>
          </a:p>
          <a:p xmlns:a="http://schemas.openxmlformats.org/drawingml/2006/main">
            <a:r>
              <a:t>- **Guía del visual o diagrama:** Presentar primero la estructura general y luego recorrer Clasificación: divergencia, directividad, absorción atmosférica, reflexión, absorción material, transmisión, refracción y difracción, Qué cambia en cada caso. Cerrar señalando la idea central, sin leer todas las cajas como una lista.</a:t>
            </a:r>
          </a:p>
          <a:p xmlns:a="http://schemas.openxmlformats.org/drawingml/2006/main">
            <a:r>
              <a:t>- **Pregunta al grupo:** ¿Qué recorrido o relación del esquema sostiene la idea central?</a:t>
            </a:r>
          </a:p>
          <a:p xmlns:a="http://schemas.openxmlformats.org/drawingml/2006/main">
            <a:r>
              <a:t>- **Respuesta esperada:** No toda disminución es absorción y no toda llegada sigue la ruta directa.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Introducir nombres sin explicarlos en profundidad; señalar que se desplegarán uno por vez.</a:t>
            </a:r>
          </a:p>
          <a:p xmlns:a="http://schemas.openxmlformats.org/drawingml/2006/main">
            <a:r>
              <a:t>- **Transición:** Usar el caso para probar la clasificación.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Matriz mecanismo–magnitud–dependencia–modelo; U09-DG-006, candidata para diagram-generation. La composición permite reconocer que no toda disminución es absorción y no toda llegada sigue la ruta directa.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brief U9; content_inventory U09-C01–C42.</a:t>
            </a:r>
          </a:p>
          <a:p xmlns:a="http://schemas.openxmlformats.org/drawingml/2006/main">
            <a:r>
              <a:t>- Asset propio aprobado: U09-DG-006.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5 min.</a:t>
            </a:r>
          </a:p>
          <a:p xmlns:a="http://schemas.openxmlformats.org/drawingml/2006/main">
            <a:r>
              <a:t>- **Propósito docente:** Practicar la localización de variables.</a:t>
            </a:r>
          </a:p>
          <a:p xmlns:a="http://schemas.openxmlformats.org/drawingml/2006/main">
            <a:r>
              <a:t>- **Explicación extendida:** Pedir justificación breve; aceptar casos que afecten más de una zona si se explica la cadena. Explicitar que antes de calcular, hay que identificar qué parte del sistema cambió.</a:t>
            </a:r>
          </a:p>
          <a:p xmlns:a="http://schemas.openxmlformats.org/drawingml/2006/main">
            <a:r>
              <a:t>- **Guía del visual o diagrama:** Presentar primero la estructura general y luego recorrer Seis tarjetas del caso: orientación del altavoz, distancia, viento, puerta, micrófono y escala de lectura. Cerrar señalando la idea central, sin leer todas las cajas como una lista.</a:t>
            </a:r>
          </a:p>
          <a:p xmlns:a="http://schemas.openxmlformats.org/drawingml/2006/main">
            <a:r>
              <a:t>- **Pregunta al grupo:** ¿Qué evidencia o cálculo permite responder “¿Fuente, trayecto o medición?” sin exceder el modelo?</a:t>
            </a:r>
          </a:p>
          <a:p xmlns:a="http://schemas.openxmlformats.org/drawingml/2006/main">
            <a:r>
              <a:t>- **Respuesta esperada:** Antes de calcular, hay que identificar qué parte del sistema cambió.</a:t>
            </a:r>
          </a:p>
          <a:p xmlns:a="http://schemas.openxmlformats.org/drawingml/2006/main">
            <a:r>
              <a:t>- **Demostración o revelado:** Dar tiempo de respuesta antes del revelado; registrar la justificación, no solo la opción elegida.</a:t>
            </a:r>
          </a:p>
          <a:p xmlns:a="http://schemas.openxmlformats.org/drawingml/2006/main">
            <a:r>
              <a:t>- **Error frecuente:** Atribuir el nivel recibido a una sola etapa sin identificar qué cambió y bajo qué condiciones.</a:t>
            </a:r>
          </a:p>
          <a:p xmlns:a="http://schemas.openxmlformats.org/drawingml/2006/main">
            <a:r>
              <a:t>- **Transición:** Recapitular el criterio, no las respuestas literales.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Tarjetas arrastrables o revelado; U09-DG-007, candidata para diagram-generation. La composición permite reconocer que antes de calcular, hay que identificar qué parte del sistema cambió.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brief U9, diagnóstico; banco de ejercicios conceptual.</a:t>
            </a:r>
          </a:p>
          <a:p xmlns:a="http://schemas.openxmlformats.org/drawingml/2006/main">
            <a:r>
              <a:t>- Asset propio aprobado: U09-DG-007.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Consolidar una rutina de análisis reutilizable.</a:t>
            </a:r>
          </a:p>
          <a:p xmlns:a="http://schemas.openxmlformats.org/drawingml/2006/main">
            <a:r>
              <a:t>- **Explicación extendida:** Instalar la rutina verbal que reaparecerá en U09-021, 033, 046, 56, 67 y 77. Explicitar que identificar fuente, trayecto, receptor y condiciones evita aplicar reglas fuera de contexto.</a:t>
            </a:r>
          </a:p>
          <a:p xmlns:a="http://schemas.openxmlformats.org/drawingml/2006/main">
            <a:r>
              <a:t>- **Guía del visual o diagrama:** Presentar primero la estructura general y luego recorrer Checklist: qué cambia, qué se conserva, qué se estima y qué debe medirse. Cerrar señalando la idea central, sin leer todas las cajas como una lista.</a:t>
            </a:r>
          </a:p>
          <a:p xmlns:a="http://schemas.openxmlformats.org/drawingml/2006/main">
            <a:r>
              <a:t>- **Pregunta al grupo:** ¿Qué recorrido o relación del esquema sostiene la idea central?</a:t>
            </a:r>
          </a:p>
          <a:p xmlns:a="http://schemas.openxmlformats.org/drawingml/2006/main">
            <a:r>
              <a:t>- **Respuesta esperada:** Identificar fuente, trayecto, receptor y condiciones evita aplicar reglas fuera de contexto.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Atribuir el nivel recibido a una sola etapa sin identificar qué cambió y bajo qué condiciones.</a:t>
            </a:r>
          </a:p>
          <a:p xmlns:a="http://schemas.openxmlformats.org/drawingml/2006/main">
            <a:r>
              <a:t>- **Transición:** Aplicar la rutina al caso más simple: alejarse de una fuente.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Cuatro bloques conectados; U09-DG-008, candidata para diagram-generation. La composición permite reconocer que identificar fuente, trayecto, receptor y condiciones evita aplicar reglas fuera de contexto.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brief U9; integración del capítulo.</a:t>
            </a:r>
          </a:p>
          <a:p xmlns:a="http://schemas.openxmlformats.org/drawingml/2006/main">
            <a:r>
              <a:t>- Asset propio aprobado: U09-DG-008.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 min.</a:t>
            </a:r>
          </a:p>
          <a:p xmlns:a="http://schemas.openxmlformats.org/drawingml/2006/main">
            <a:r>
              <a:t>- **Propósito docente:** Enunciar la pregunta guía del bloque.</a:t>
            </a:r>
          </a:p>
          <a:p xmlns:a="http://schemas.openxmlformats.org/drawingml/2006/main">
            <a:r>
              <a:t>- **Explicación extendida:** Distinguir “modelo útil” de “regla universal”. Explicitar que distancia y dirección son efectos distintos y condicionados.</a:t>
            </a:r>
          </a:p>
          <a:p xmlns:a="http://schemas.openxmlformats.org/drawingml/2006/main">
            <a:r>
              <a:t>- **Guía del visual o diagrama:** Presentar primero la estructura general y luego recorrer Pregunta guía, dos variables y advertencia: no sumar efectos ya incluidos. Cerrar señalando la idea central, sin leer todas las cajas como una lista.</a:t>
            </a:r>
          </a:p>
          <a:p xmlns:a="http://schemas.openxmlformats.org/drawingml/2006/main">
            <a:r>
              <a:t>- **Pregunta al grupo:** ¿Qué explica el modelo ideal?</a:t>
            </a:r>
          </a:p>
          <a:p xmlns:a="http://schemas.openxmlformats.org/drawingml/2006/main">
            <a:r>
              <a:t>- **Respuesta esperada:** Distancia y dirección son efectos distintos y condicionados.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Distinguir “modelo útil” de “regla universal”.</a:t>
            </a:r>
          </a:p>
          <a:p xmlns:a="http://schemas.openxmlformats.org/drawingml/2006/main">
            <a:r>
              <a:t>- **Transición:** Comenzar por la redistribución geométrica.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Dos trayectos desde una misma fuente. La composición permite reconocer que distancia y dirección son efectos distintos y condicionados.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brief U9, bloque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Recuperar la intuición de divergencia esférica.</a:t>
            </a:r>
          </a:p>
          <a:p xmlns:a="http://schemas.openxmlformats.org/drawingml/2006/main">
            <a:r>
              <a:t>- **Explicación extendida:** No repetir la derivación de U4; explicitar fuente puntual ideal y campo lejano. Explicitar que en campo aproximadamente libre, la energía se distribuye sobre áreas crecientes.</a:t>
            </a:r>
          </a:p>
          <a:p xmlns:a="http://schemas.openxmlformats.org/drawingml/2006/main">
            <a:r>
              <a:t>- **Guía del visual o diagrama:** Presentar primero la estructura general y luego recorrer Frentes esféricos, radios y áreas, Vínculo cualitativo con intensidad y presión eficaz. Cerrar señalando la idea central, sin leer todas las cajas como una lista.</a:t>
            </a:r>
          </a:p>
          <a:p xmlns:a="http://schemas.openxmlformats.org/drawingml/2006/main">
            <a:r>
              <a:t>- **Pregunta al grupo:** ¿Qué recorrido o relación del esquema sostiene la idea central?</a:t>
            </a:r>
          </a:p>
          <a:p xmlns:a="http://schemas.openxmlformats.org/drawingml/2006/main">
            <a:r>
              <a:t>- **Respuesta esperada:** En campo aproximadamente libre, la energía se distribuye sobre áreas crecientes.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No repetir la derivación de U4; explicitar fuente puntual ideal y campo lejano.</a:t>
            </a:r>
          </a:p>
          <a:p xmlns:a="http://schemas.openxmlformats.org/drawingml/2006/main">
            <a:r>
              <a:t>- **Transición:** Formalizar el cambio entre dos distancias.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Reconstrucción de figura U4; U09-DG-009, candidata para diagram-generation. La composición permite reconocer que en campo aproximadamente libre, la energía se distribuye sobre áreas crecientes.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U4 propagacion-esferica.tex; LaTeX 9.1; PDF p. 237.</a:t>
            </a:r>
          </a:p>
          <a:p xmlns:a="http://schemas.openxmlformats.org/drawingml/2006/main">
            <a:r>
              <a:t>- Asset propio aprobado: U09-DG-009.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**Propósito docente:** Aplicar la relación logarítmica con significado.</a:t>
            </a:r>
          </a:p>
          <a:p xmlns:a="http://schemas.openxmlformats.org/drawingml/2006/main">
            <a:r>
              <a:t>- **Explicación extendida:** Leer la ecuación antes de operar y comprobar casos `r2&gt;r1` y `r2&lt;r1`. Explicitar que la razón de distancias, no la distancia aislada, determina el cambio ideal de nivel.</a:t>
            </a:r>
          </a:p>
          <a:p xmlns:a="http://schemas.openxmlformats.org/drawingml/2006/main">
            <a:r>
              <a:t>- **Guía del visual o diagrama:** Presentar primero la estructura general y luego recorrer Ecuación `L_p2 = L_p1 − 20 log10(r2/r1)`, Símbolos, unidades, signo e hipótesis. Cerrar señalando la idea central, sin leer todas las cajas como una lista.</a:t>
            </a:r>
          </a:p>
          <a:p xmlns:a="http://schemas.openxmlformats.org/drawingml/2006/main">
            <a:r>
              <a:t>- **Pregunta al grupo:** ¿Qué magnitud cambia, en qué sentido y bajo qué condiciones?</a:t>
            </a:r>
          </a:p>
          <a:p xmlns:a="http://schemas.openxmlformats.org/drawingml/2006/main">
            <a:r>
              <a:t>- **Respuesta esperada:** La razón de distancias, no la distancia aislada, determina el cambio ideal de nivel.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Aplicar −6 dB o sumar directividad sin declarar campo, dirección, distancia y referencia.</a:t>
            </a:r>
          </a:p>
          <a:p xmlns:a="http://schemas.openxmlformats.org/drawingml/2006/main">
            <a:r>
              <a:t>- **Transición:** Resolver un caso numérico completo.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Ecuación central U09-DG-010 y mini curva U09-CH-001; candidata para diagram-generation. La composición permite reconocer que la razón de distancias, no la distancia aislada, determina el cambio ideal de nivel.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ec. 9.1; PDF p. 237; notation_guide.</a:t>
            </a:r>
          </a:p>
          <a:p xmlns:a="http://schemas.openxmlformats.org/drawingml/2006/main">
            <a:r>
              <a:t>- Asset propio aprobado: U09-DG-010.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5 min.</a:t>
            </a:r>
          </a:p>
          <a:p xmlns:a="http://schemas.openxmlformats.org/drawingml/2006/main">
            <a:r>
              <a:t>- **Propósito docente:** Modelar un cálculo con hipótesis y conclusión limitada.</a:t>
            </a:r>
          </a:p>
          <a:p xmlns:a="http://schemas.openxmlformats.org/drawingml/2006/main">
            <a:r>
              <a:t>- **Explicación extendida:** Hacer explícita la precisión razonable y qué podría invalidar el resultado en una sala. Explicitar que duplicar distancia produce aproximadamente −6 dB solo bajo el modelo declarado.</a:t>
            </a:r>
          </a:p>
          <a:p xmlns:a="http://schemas.openxmlformats.org/drawingml/2006/main">
            <a:r>
              <a:t>- **Guía del visual o diagrama:** Presentar primero la estructura general y luego recorrer Datos, razón de distancias, operación, `83,98 ≈ 84 dB SPL` e interpretación. Cerrar señalando la idea central, sin leer todas las cajas como una lista.</a:t>
            </a:r>
          </a:p>
          <a:p xmlns:a="http://schemas.openxmlformats.org/drawingml/2006/main">
            <a:r>
              <a:t>- **Pregunta al grupo:** ¿Qué evidencia o cálculo permite responder “De 0,50 m a 1,00 m” sin exceder el modelo?</a:t>
            </a:r>
          </a:p>
          <a:p xmlns:a="http://schemas.openxmlformats.org/drawingml/2006/main">
            <a:r>
              <a:t>- **Respuesta esperada:** Duplicar distancia produce aproximadamente −6 dB solo bajo el modelo declarado.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Aplicar −6 dB o sumar directividad sin declarar campo, dirección, distancia y referencia.</a:t>
            </a:r>
          </a:p>
          <a:p xmlns:a="http://schemas.openxmlformats.org/drawingml/2006/main">
            <a:r>
              <a:t>- **Transición:** Convertir el ejemplo en un checklist de validez.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Secuencia de cálculo; U09-DG-011, candidata para diagram-generation. La composición permite reconocer que duplicar distancia produce aproximadamente −6 db solo bajo el modelo declarado.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9.1; PDF p. 237; content_inventory ejemplo 1.</a:t>
            </a:r>
          </a:p>
          <a:p xmlns:a="http://schemas.openxmlformats.org/drawingml/2006/main">
            <a:r>
              <a:t>- Asset propio aprobado: U09-DG-011.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Prevenir transferencia mecánica.</a:t>
            </a:r>
          </a:p>
          <a:p xmlns:a="http://schemas.openxmlformats.org/drawingml/2006/main">
            <a:r>
              <a:t>- **Explicación extendida:** Pedir que el grupo nombre al menos tres hipótesis antes de usar la regla. Explicitar que la regla falla si cambian campo, dirección, reflexiones o pérdidas adicionales.</a:t>
            </a:r>
          </a:p>
          <a:p xmlns:a="http://schemas.openxmlformats.org/drawingml/2006/main">
            <a:r>
              <a:t>- **Guía del visual o diagrama:** Presentar primero la estructura general y luego recorrer Afirmación errónea, condiciones faltantes y contraejemplo en recinto. Cerrar señalando la idea central, sin leer todas las cajas como una lista.</a:t>
            </a:r>
          </a:p>
          <a:p xmlns:a="http://schemas.openxmlformats.org/drawingml/2006/main">
            <a:r>
              <a:t>- **Pregunta al grupo:** ¿Cómo reformularían la afirmación “Duplicar distancia siempre resta 6 dB” para que sea físicamente válida?</a:t>
            </a:r>
          </a:p>
          <a:p xmlns:a="http://schemas.openxmlformats.org/drawingml/2006/main">
            <a:r>
              <a:t>- **Respuesta esperada:** La regla falla si cambian campo, dirección, reflexiones o pérdidas adicionales.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Aplicar −6 dB o sumar directividad sin declarar campo, dirección, distancia y referencia.</a:t>
            </a:r>
          </a:p>
          <a:p xmlns:a="http://schemas.openxmlformats.org/drawingml/2006/main">
            <a:r>
              <a:t>- **Transición:** Mantener distancia fija y cambiar solo la dirección.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Comparación ideal/real. La composición permite reconocer que la regla falla si cambian campo, dirección, reflexiones o pérdidas adicionales.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brief U9; LaTeX 9.1; PDF p. 237.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Introducir directividad como redistribución angular.</a:t>
            </a:r>
          </a:p>
          <a:p xmlns:a="http://schemas.openxmlformats.org/drawingml/2006/main">
            <a:r>
              <a:t>- **Explicación extendida:** Evitar decir que la directividad “crea” energía. Explicitar que a igual potencia y distancia, el nivel puede depender de la dirección.</a:t>
            </a:r>
          </a:p>
          <a:p xmlns:a="http://schemas.openxmlformats.org/drawingml/2006/main">
            <a:r>
              <a:t>- **Guía del visual o diagrama:** Presentar primero la estructura general y luego recorrer Omnidireccional frente a direccional, Eje, ángulo y punto de comparación. Cerrar señalando la idea central, sin leer todas las cajas como una lista.</a:t>
            </a:r>
          </a:p>
          <a:p xmlns:a="http://schemas.openxmlformats.org/drawingml/2006/main">
            <a:r>
              <a:t>- **Pregunta al grupo:** ¿Qué recorrido o relación del esquema sostiene la idea central?</a:t>
            </a:r>
          </a:p>
          <a:p xmlns:a="http://schemas.openxmlformats.org/drawingml/2006/main">
            <a:r>
              <a:t>- **Respuesta esperada:** A igual potencia y distancia, el nivel puede depender de la dirección.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Evitar decir que la directividad “crea” energía.</a:t>
            </a:r>
          </a:p>
          <a:p xmlns:a="http://schemas.openxmlformats.org/drawingml/2006/main">
            <a:r>
              <a:t>- **Transición:** Mostrar que la directividad real también depende de frecuencia.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Reconstrucción de figura U4; U09-DG-012, candidata para diagram-generation. La composición permite reconocer que a igual potencia y distancia, el nivel puede depender de la dirección.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U4 directividad-q.tex; LaTeX 9.2; PDF pp. 237–238.</a:t>
            </a:r>
          </a:p>
          <a:p xmlns:a="http://schemas.openxmlformats.org/drawingml/2006/main">
            <a:r>
              <a:t>- Asset propio aprobado: U09-DG-012.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**Propósito docente:** Leer un patrón polar sin sobrecargar el núcleo.</a:t>
            </a:r>
          </a:p>
          <a:p xmlns:a="http://schemas.openxmlformats.org/drawingml/2006/main">
            <a:r>
              <a:t>- **Explicación extendida:** Enseñar primero eje y escala; declarar que es ejemplo sintético, no ficha de un equipo. Explicitar que una fuente real no tiene un único patrón para todas las frecuencias.</a:t>
            </a:r>
          </a:p>
          <a:p xmlns:a="http://schemas.openxmlformats.org/drawingml/2006/main">
            <a:r>
              <a:t>- **Guía del visual o diagrama:** Presentar primero la estructura general y luego recorrer Patrones sintéticos a tres frecuencias, misma escala radial y orientación. Cerrar señalando la idea central, sin leer todas las cajas como una lista.</a:t>
            </a:r>
          </a:p>
          <a:p xmlns:a="http://schemas.openxmlformats.org/drawingml/2006/main">
            <a:r>
              <a:t>- **Pregunta al grupo:** ¿Qué magnitud cambia, en qué sentido y bajo qué condiciones?</a:t>
            </a:r>
          </a:p>
          <a:p xmlns:a="http://schemas.openxmlformats.org/drawingml/2006/main">
            <a:r>
              <a:t>- **Respuesta esperada:** Una fuente real no tiene un único patrón para todas las frecuencias.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Enseñar primero eje y escala; declarar que es ejemplo sintético, no ficha de un equipo.</a:t>
            </a:r>
          </a:p>
          <a:p xmlns:a="http://schemas.openxmlformats.org/drawingml/2006/main">
            <a:r>
              <a:t>- **Transición:** Definir un número que compare una dirección con la referencia.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U09-CH-002 patrón polar por frecuencia. La composición permite reconocer que una fuente real no tiene un único patrón para todas las frecuencias.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content_inventory; U4/directividad; parámetros propios documentados.</a:t>
            </a:r>
          </a:p>
          <a:p xmlns:a="http://schemas.openxmlformats.org/drawingml/2006/main">
            <a:r>
              <a:t>- Asset propio aprobado: U09-CH-002.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**Propósito docente:** Relacionar razón lineal y descriptor logarítmico.</a:t>
            </a:r>
          </a:p>
          <a:p xmlns:a="http://schemas.openxmlformats.org/drawingml/2006/main">
            <a:r>
              <a:t>- **Explicación extendida:** Explicar la equivalencia con `Q` del libro y por qué no se suma a un nivel ya medido en esa dirección. Explicitar que `DI` expresa en dB la concentración relativa definida por `Q_dir`.</a:t>
            </a:r>
          </a:p>
          <a:p xmlns:a="http://schemas.openxmlformats.org/drawingml/2006/main">
            <a:r>
              <a:t>- **Guía del visual o diagrama:** Presentar primero la estructura general y luego recorrer `DI = 10 log10 Q_dir`, `Q_dir=4 → 6,02 dB`, Condiciones de comparación. Cerrar señalando la idea central, sin leer todas las cajas como una lista.</a:t>
            </a:r>
          </a:p>
          <a:p xmlns:a="http://schemas.openxmlformats.org/drawingml/2006/main">
            <a:r>
              <a:t>- **Pregunta al grupo:** ¿Qué magnitud cambia, en qué sentido y bajo qué condiciones?</a:t>
            </a:r>
          </a:p>
          <a:p xmlns:a="http://schemas.openxmlformats.org/drawingml/2006/main">
            <a:r>
              <a:t>- **Respuesta esperada:** `DI` expresa en dB la concentración relativa definida por `Q_dir`.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Explicar la equivalencia con `Q` del libro y por qué no se suma a un nivel ya medido en esa dirección.</a:t>
            </a:r>
          </a:p>
          <a:p xmlns:a="http://schemas.openxmlformats.org/drawingml/2006/main">
            <a:r>
              <a:t>- **Transición:** Llevar distancia y dirección a una situación audiométrica.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Ecuación con comparador omnidireccional; U09-DG-013, candidata para diagram-generation. La composición permite reconocer que di expresa en db la concentración relativa definida por qdir.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ec. 9.2; PDF pp. 237–238; notation_guide.</a:t>
            </a:r>
          </a:p>
          <a:p xmlns:a="http://schemas.openxmlformats.org/drawingml/2006/main">
            <a:r>
              <a:t>- Asset propio aprobado: U09-DG-013.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**Propósito docente:** Transferir los modelos a una medición real.</a:t>
            </a:r>
          </a:p>
          <a:p xmlns:a="http://schemas.openxmlformats.org/drawingml/2006/main">
            <a:r>
              <a:t>- **Explicación extendida:** No convertir la slide en protocolo; relacionar con U8 y con la necesidad de verificación. Explicitar que posición, eje del altavoz, punto de referencia y reflexiones condicionan el estímulo.</a:t>
            </a:r>
          </a:p>
          <a:p xmlns:a="http://schemas.openxmlformats.org/drawingml/2006/main">
            <a:r>
              <a:t>- **Guía del visual o diagrama:** Presentar primero la estructura general y luego recorrer Montaje de campo sonoro con distancia, altura, orientación y punto de prueba, Lista de variables observables. Cerrar señalando la idea central, sin leer todas las cajas como una lista.</a:t>
            </a:r>
          </a:p>
          <a:p xmlns:a="http://schemas.openxmlformats.org/drawingml/2006/main">
            <a:r>
              <a:t>- **Pregunta al grupo:** ¿Qué evidencia o cálculo permite responder “Campo sonoro: geometría y orientación importan” sin exceder el modelo?</a:t>
            </a:r>
          </a:p>
          <a:p xmlns:a="http://schemas.openxmlformats.org/drawingml/2006/main">
            <a:r>
              <a:t>- **Respuesta esperada:** Posición, eje del altavoz, punto de referencia y reflexiones condicionan el estímulo.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No convertir la slide en protocolo; relacionar con U8 y con la necesidad de verificación.</a:t>
            </a:r>
          </a:p>
          <a:p xmlns:a="http://schemas.openxmlformats.org/drawingml/2006/main">
            <a:r>
              <a:t>- **Transición:** Cerrar el bloque decidiendo qué modelo puede usarse en tres escenarios.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Foto técnica U09-IMG-001 con sobreimpresión geométrica o diagrama alternativo U09-DG-014. La composición permite reconocer que posición, eje del altavoz, punto de referencia y reflexiones condicionan el estímulo.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9.2/9.8; PDF pp. 237–238, 247–249; U8.</a:t>
            </a:r>
          </a:p>
          <a:p xmlns:a="http://schemas.openxmlformats.org/drawingml/2006/main">
            <a:r>
              <a:t>- Asset propio aprobado: U09-DG-014.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Consolidar distinciones y condiciones.</a:t>
            </a:r>
          </a:p>
          <a:p xmlns:a="http://schemas.openxmlformats.org/drawingml/2006/main">
            <a:r>
              <a:t>- **Explicación extendida:** Repetir la rutina de U09-011 con una función nueva: seleccionar ecuación o abstenerse de calcular. Explicitar que se estima por separado cada efecto y se evita contabilizarlo dos veces.</a:t>
            </a:r>
          </a:p>
          <a:p xmlns:a="http://schemas.openxmlformats.org/drawingml/2006/main">
            <a:r>
              <a:t>- **Guía del visual o diagrama:** Presentar primero la estructura general y luego recorrer Tres mini casos, Respuesta exige modelo, hipótesis y dato faltante. Cerrar señalando la idea central, sin leer todas las cajas como una lista.</a:t>
            </a:r>
          </a:p>
          <a:p xmlns:a="http://schemas.openxmlformats.org/drawingml/2006/main">
            <a:r>
              <a:t>- **Pregunta al grupo:** ¿Distancia, dirección o ambos?</a:t>
            </a:r>
          </a:p>
          <a:p xmlns:a="http://schemas.openxmlformats.org/drawingml/2006/main">
            <a:r>
              <a:t>- **Respuesta esperada:** Se estima por separado cada efecto y se evita contabilizarlo dos veces.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Aplicar −6 dB o sumar directividad sin declarar campo, dirección, distancia y referencia.</a:t>
            </a:r>
          </a:p>
          <a:p xmlns:a="http://schemas.openxmlformats.org/drawingml/2006/main">
            <a:r>
              <a:t>- **Transición:** Introducir un trayecto que ya no es homogéneo: la atmósfera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Tarjetas de decisión; U09-DG-015, candidata para diagram-generation. La composición permite reconocer que se estima por separado cada efecto y se evita contabilizarlo dos veces.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9.1–9.2; brief U9.</a:t>
            </a:r>
          </a:p>
          <a:p xmlns:a="http://schemas.openxmlformats.org/drawingml/2006/main">
            <a:r>
              <a:t>- Asset propio aprobado: U09-DG-015.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 min.</a:t>
            </a:r>
          </a:p>
          <a:p xmlns:a="http://schemas.openxmlformats.org/drawingml/2006/main">
            <a:r>
              <a:t>- **Propósito docente:** Enunciar la pregunta guía del bloque.</a:t>
            </a:r>
          </a:p>
          <a:p xmlns:a="http://schemas.openxmlformats.org/drawingml/2006/main">
            <a:r>
              <a:t>- **Explicación extendida:** Advertir que “temperatura” o “viento” no son correcciones únicas de dB. Explicitar que el estado uniforme cambia rapidez; el gradiente puede curvar trayectorias.</a:t>
            </a:r>
          </a:p>
          <a:p xmlns:a="http://schemas.openxmlformats.org/drawingml/2006/main">
            <a:r>
              <a:t>- **Guía del visual o diagrama:** Presentar primero la estructura general y luego recorrer Dos escenarios y cuatro efectos a separar: rapidez, tiempo, longitud de onda y nivel. Cerrar señalando la idea central, sin leer todas las cajas como una lista.</a:t>
            </a:r>
          </a:p>
          <a:p xmlns:a="http://schemas.openxmlformats.org/drawingml/2006/main">
            <a:r>
              <a:t>- **Pregunta al grupo:** ¿Aire uniforme o aire con gradiente?</a:t>
            </a:r>
          </a:p>
          <a:p xmlns:a="http://schemas.openxmlformats.org/drawingml/2006/main">
            <a:r>
              <a:t>- **Respuesta esperada:** El estado uniforme cambia rapidez; el gradiente puede curvar trayectorias.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Advertir que “temperatura” o “viento” no son correcciones únicas de dB.</a:t>
            </a:r>
          </a:p>
          <a:p xmlns:a="http://schemas.openxmlformats.org/drawingml/2006/main">
            <a:r>
              <a:t>- **Transición:** Comenzar por el caso uniforme más simple.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Perfil uniforme frente a perfil vertical. La composición permite reconocer que el estado uniforme cambia rapidez; el gradiente puede curvar trayectorias.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brief U9, bloque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**Propósito docente:** Recuperar una aproximación útil y acotada.</a:t>
            </a:r>
          </a:p>
          <a:p xmlns:a="http://schemas.openxmlformats.org/drawingml/2006/main">
            <a:r>
              <a:t>- **Explicación extendida:** Distinguir temperatura del aire de sensación térmica y recordar que la frecuencia de la fuente no cambia por esto. Explicitar que en aire, dentro del intervalo didáctico, `c ≈ 331 + 0,6 θ`.</a:t>
            </a:r>
          </a:p>
          <a:p xmlns:a="http://schemas.openxmlformats.org/drawingml/2006/main">
            <a:r>
              <a:t>- **Guía del visual o diagrama:** Presentar primero la estructura general y luego recorrer Ecuación, símbolos, unidades, intervalo de uso y recta `c(θ)`. Cerrar señalando la idea central, sin leer todas las cajas como una lista.</a:t>
            </a:r>
          </a:p>
          <a:p xmlns:a="http://schemas.openxmlformats.org/drawingml/2006/main">
            <a:r>
              <a:t>- **Pregunta al grupo:** ¿Qué magnitud cambia, en qué sentido y bajo qué condiciones?</a:t>
            </a:r>
          </a:p>
          <a:p xmlns:a="http://schemas.openxmlformats.org/drawingml/2006/main">
            <a:r>
              <a:t>- **Respuesta esperada:** En aire, dentro del intervalo didáctico, `c ≈ 331 + 0,6 θ`.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Distinguir temperatura del aire de sensación térmica y recordar que la frecuencia de la fuente no cambia por esto.</a:t>
            </a:r>
          </a:p>
          <a:p xmlns:a="http://schemas.openxmlformats.org/drawingml/2006/main">
            <a:r>
              <a:t>- **Transición:** Mostrar qué variable ondulatoria sí cambia si `f` se conserva.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U09-CH-003 rapidez frente a temperatura; ecuación anotada U09-DG-016. La composición permite reconocer que en aire, dentro del intervalo didáctico, c ≈ 331 + 0,6 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ec. 9.3; PDF pp. 238–239.</a:t>
            </a:r>
          </a:p>
          <a:p xmlns:a="http://schemas.openxmlformats.org/drawingml/2006/main">
            <a:r>
              <a:t>- Asset propio aprobado: U09-CH-003.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5 min.</a:t>
            </a:r>
          </a:p>
          <a:p xmlns:a="http://schemas.openxmlformats.org/drawingml/2006/main">
            <a:r>
              <a:t>- **Propósito docente:** Relacionar temperatura, rapidez y longitud de onda.</a:t>
            </a:r>
          </a:p>
          <a:p xmlns:a="http://schemas.openxmlformats.org/drawingml/2006/main">
            <a:r>
              <a:t>- **Explicación extendida:** Vincular con altura tonal sin afirmar que el pitch cambia por el trayecto uniforme. Explicitar que si la fuente conserva `f`, cambia `λ`, no la frecuencia emitida.</a:t>
            </a:r>
          </a:p>
          <a:p xmlns:a="http://schemas.openxmlformats.org/drawingml/2006/main">
            <a:r>
              <a:t>- **Guía del visual o diagrama:** Presentar primero la estructura general y luego recorrer Comparación a 5 °C y 25 °C para 1000 Hz, Datos, dos cálculos y conclusión. Cerrar señalando la idea central, sin leer todas las cajas como una lista.</a:t>
            </a:r>
          </a:p>
          <a:p xmlns:a="http://schemas.openxmlformats.org/drawingml/2006/main">
            <a:r>
              <a:t>- **Pregunta al grupo:** ¿Qué evidencia o cálculo permite responder “Temperatura, c y λ: no confundir” sin exceder el modelo?</a:t>
            </a:r>
          </a:p>
          <a:p xmlns:a="http://schemas.openxmlformats.org/drawingml/2006/main">
            <a:r>
              <a:t>- **Respuesta esperada:** Si la fuente conserva `f`, cambia `λ`, no la frecuencia emitida.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Tratar temperatura, viento o absorción atmosférica como una corrección única de nivel.</a:t>
            </a:r>
          </a:p>
          <a:p xmlns:a="http://schemas.openxmlformats.org/drawingml/2006/main">
            <a:r>
              <a:t>- **Transición:** Pasar de un valor uniforme a un perfil vertical.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Dos estados y ecuación λ=c/f; U09-DG-017, candidata para diagram-generation. La composición permite reconocer que si la fuente conserva f, cambia λ, no la frecuencia emitida.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9.3; PDF pp. 238–239; content_inventory ejemplo 3.</a:t>
            </a:r>
          </a:p>
          <a:p xmlns:a="http://schemas.openxmlformats.org/drawingml/2006/main">
            <a:r>
              <a:t>- Asset propio aprobado: U09-DG-017.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Explicar cualitativamente refracción atmosférica térmica.</a:t>
            </a:r>
          </a:p>
          <a:p xmlns:a="http://schemas.openxmlformats.org/drawingml/2006/main">
            <a:r>
              <a:t>- **Explicación extendida:** Revelar los dos estados por etapas; evitar rayos excesivos y explicar que es modelo cualitativo. Explicitar que las trayectorias se curvan hacia regiones de menor rapidez.</a:t>
            </a:r>
          </a:p>
          <a:p xmlns:a="http://schemas.openxmlformats.org/drawingml/2006/main">
            <a:r>
              <a:t>- **Guía del visual o diagrama:** Presentar primero la estructura general y luego recorrer Suelo cálido frente a inversión térmica, Perfiles `θ(z)` y `c(z)`, Zonas de sombra posibles. Cerrar señalando la idea central, sin leer todas las cajas como una lista.</a:t>
            </a:r>
          </a:p>
          <a:p xmlns:a="http://schemas.openxmlformats.org/drawingml/2006/main">
            <a:r>
              <a:t>- **Pregunta al grupo:** ¿Qué recorrido o relación del esquema sostiene la idea central?</a:t>
            </a:r>
          </a:p>
          <a:p xmlns:a="http://schemas.openxmlformats.org/drawingml/2006/main">
            <a:r>
              <a:t>- **Respuesta esperada:** Las trayectorias se curvan hacia regiones de menor rapidez.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Revelar los dos estados por etapas; evitar rayos excesivos y explicar que es modelo cualitativo.</a:t>
            </a:r>
          </a:p>
          <a:p xmlns:a="http://schemas.openxmlformats.org/drawingml/2006/main">
            <a:r>
              <a:t>- **Transición:** Preguntar qué ocurre si el aire se mueve todo junto sin gradiente.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U09-DG-018, candidata para diagram-generation, reconstrucción de figura 9.1. La composición permite reconocer que las trayectorias se curvan hacia regiones de menor rapidez.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9.3.1; PDF p. 239; figura gradientes-termicos.tex.</a:t>
            </a:r>
          </a:p>
          <a:p xmlns:a="http://schemas.openxmlformats.org/drawingml/2006/main">
            <a:r>
              <a:t>- Asset propio aprobado: U09-DG-018.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**Propósito docente:** Separar advección uniforme de gradiente.</a:t>
            </a:r>
          </a:p>
          <a:p xmlns:a="http://schemas.openxmlformats.org/drawingml/2006/main">
            <a:r>
              <a:t>- **Explicación extendida:** Justificar `v_viento` para no colisionar con velocidad de partícula `u(t)`. Explicitar que un viento uniforme modifica la rapidez respecto del suelo según la dirección, pero no curva por sí solo el trayecto.</a:t>
            </a:r>
          </a:p>
          <a:p xmlns:a="http://schemas.openxmlformats.org/drawingml/2006/main">
            <a:r>
              <a:t>- **Guía del visual o diagrama:** Presentar primero la estructura general y luego recorrer `c_ef = c + v_viento cos ψ`, Signos, ángulo y tres orientaciones. Cerrar señalando la idea central, sin leer todas las cajas como una lista.</a:t>
            </a:r>
          </a:p>
          <a:p xmlns:a="http://schemas.openxmlformats.org/drawingml/2006/main">
            <a:r>
              <a:t>- **Pregunta al grupo:** ¿Qué magnitud cambia, en qué sentido y bajo qué condiciones?</a:t>
            </a:r>
          </a:p>
          <a:p xmlns:a="http://schemas.openxmlformats.org/drawingml/2006/main">
            <a:r>
              <a:t>- **Respuesta esperada:** Un viento uniforme modifica la rapidez respecto del suelo según la dirección, pero no curva por sí solo el trayecto.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Justificar `v_viento` para no colisionar con velocidad de partícula `u(t)`.</a:t>
            </a:r>
          </a:p>
          <a:p xmlns:a="http://schemas.openxmlformats.org/drawingml/2006/main">
            <a:r>
              <a:t>- **Transición:** Introducir el perfil vertical de viento.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Ecuación con brújula angular; U09-DG-019, candidata para diagram-generation. La composición permite reconocer que un viento uniforme modifica la rapidez respecto del suelo según la dirección, pero no curva por sí solo el trayecto.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ec. 9.4; PDF pp. 239–240; notation_guide.</a:t>
            </a:r>
          </a:p>
          <a:p xmlns:a="http://schemas.openxmlformats.org/drawingml/2006/main">
            <a:r>
              <a:t>- Asset propio aprobado: U09-DG-019.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Contrastar propagación a favor y en contra.</a:t>
            </a:r>
          </a:p>
          <a:p xmlns:a="http://schemas.openxmlformats.org/drawingml/2006/main">
            <a:r>
              <a:t>- **Explicación extendida:** Mantener separadas rapidez efectiva, dirección del viento y nivel recibido. Explicitar que si `c_ef` cambia con la altura, las trayectorias se curvan y la cobertura cambia.</a:t>
            </a:r>
          </a:p>
          <a:p xmlns:a="http://schemas.openxmlformats.org/drawingml/2006/main">
            <a:r>
              <a:t>- **Guía del visual o diagrama:** Presentar primero la estructura general y luego recorrer Dos perfiles `c_ef(z)`, rayos a favor/en contra y zona de sombra conceptual. Cerrar señalando la idea central, sin leer todas las cajas como una lista.</a:t>
            </a:r>
          </a:p>
          <a:p xmlns:a="http://schemas.openxmlformats.org/drawingml/2006/main">
            <a:r>
              <a:t>- **Pregunta al grupo:** ¿Qué recorrido o relación del esquema sostiene la idea central?</a:t>
            </a:r>
          </a:p>
          <a:p xmlns:a="http://schemas.openxmlformats.org/drawingml/2006/main">
            <a:r>
              <a:t>- **Respuesta esperada:** Si `c_ef` cambia con la altura, las trayectorias se curvan y la cobertura cambia.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Tratar temperatura, viento o absorción atmosférica como una corrección única de nivel.</a:t>
            </a:r>
          </a:p>
          <a:p xmlns:a="http://schemas.openxmlformats.org/drawingml/2006/main">
            <a:r>
              <a:t>- **Transición:** Preguntar si una caída de presión aislada permite predecir `c`.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U09-DG-020, candidata para diagram-generation, reconstrucción de figura 9.2. La composición permite reconocer que si cₑf cambia con la altura, las trayectorias se curvan y la cobertura cambia.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9.4; PDF pp. 239–240; figura gradiente-viento.tex.</a:t>
            </a:r>
          </a:p>
          <a:p xmlns:a="http://schemas.openxmlformats.org/drawingml/2006/main">
            <a:r>
              <a:t>- Asset propio aprobado: U09-DG-020.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**Propósito docente:** Evitar una regla aislada por presión o altitud.</a:t>
            </a:r>
          </a:p>
          <a:p xmlns:a="http://schemas.openxmlformats.org/drawingml/2006/main">
            <a:r>
              <a:t>- **Explicación extendida:** Explicar la estructura sin derivar termodinámica; conectar con U2. Explicitar que `c = √(γ p_a/ρ_a)` no autoriza a variar `p_a` dejando implícitamente fija `ρ_a`.</a:t>
            </a:r>
          </a:p>
          <a:p xmlns:a="http://schemas.openxmlformats.org/drawingml/2006/main">
            <a:r>
              <a:t>- **Guía del visual o diagrama:** Presentar primero la estructura general y luego recorrer Ecuación, relación entre variables y actividad “¿qué se mantiene constante?”. Cerrar señalando la idea central, sin leer todas las cajas como una lista.</a:t>
            </a:r>
          </a:p>
          <a:p xmlns:a="http://schemas.openxmlformats.org/drawingml/2006/main">
            <a:r>
              <a:t>- **Pregunta al grupo:** ¿Qué magnitud cambia, en qué sentido y bajo qué condiciones?</a:t>
            </a:r>
          </a:p>
          <a:p xmlns:a="http://schemas.openxmlformats.org/drawingml/2006/main">
            <a:r>
              <a:t>- **Respuesta esperada:** `c = √(γ p_a/ρ_a)` no autoriza a variar `p_a` dejando implícitamente fija `ρ_a`.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Tratar temperatura, viento o absorción atmosférica como una corrección única de nivel.</a:t>
            </a:r>
          </a:p>
          <a:p xmlns:a="http://schemas.openxmlformats.org/drawingml/2006/main">
            <a:r>
              <a:t>- **Transición:** Ampliar a condiciones reales de altura y humedad.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Balanza conceptual de variables; U09-DG-021, candidata para diagram-generation. La composición permite reconocer que c = √(γ p_a/ρ_a) no autoriza a variar p_a dejando implícitamente fija ρ_a.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ec. 9.5; PDF p. 240.</a:t>
            </a:r>
          </a:p>
          <a:p xmlns:a="http://schemas.openxmlformats.org/drawingml/2006/main">
            <a:r>
              <a:t>- Asset propio aprobado: U09-DG-021.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Incorporar variables reales sin falsa precisión.</a:t>
            </a:r>
          </a:p>
          <a:p xmlns:a="http://schemas.openxmlformats.org/drawingml/2006/main">
            <a:r>
              <a:t>- **Explicación extendida:** Mantener el tratamiento cualitativo; no asignar dB por kilómetro o por altura. Explicitar que altitud, temperatura, humedad, presión y densidad actúan de forma relacionada.</a:t>
            </a:r>
          </a:p>
          <a:p xmlns:a="http://schemas.openxmlformats.org/drawingml/2006/main">
            <a:r>
              <a:t>- **Guía del visual o diagrama:** Presentar primero la estructura general y luego recorrer Mapa de influencias y lista de datos que exige una comparación válida. Cerrar señalando la idea central, sin leer todas las cajas como una lista.</a:t>
            </a:r>
          </a:p>
          <a:p xmlns:a="http://schemas.openxmlformats.org/drawingml/2006/main">
            <a:r>
              <a:t>- **Pregunta al grupo:** ¿Qué recorrido o relación del esquema sostiene la idea central?</a:t>
            </a:r>
          </a:p>
          <a:p xmlns:a="http://schemas.openxmlformats.org/drawingml/2006/main">
            <a:r>
              <a:t>- **Respuesta esperada:** Altitud, temperatura, humedad, presión y densidad actúan de forma relacionada.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Mantener el tratamiento cualitativo; no asignar dB por kilómetro o por altura.</a:t>
            </a:r>
          </a:p>
          <a:p xmlns:a="http://schemas.openxmlformats.org/drawingml/2006/main">
            <a:r>
              <a:t>- **Transición:** Separar ahora geometría de pérdida molecular.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U09-DG-022, candidata para diagram-generation. La composición permite reconocer que altitud, temperatura, humedad, presión y densidad actúan de forma relacionada.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9.5.3–9.6; PDF pp. 240–241.</a:t>
            </a:r>
          </a:p>
          <a:p xmlns:a="http://schemas.openxmlformats.org/drawingml/2006/main">
            <a:r>
              <a:t>- Asset propio aprobado: U09-DG-022.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Diferenciar mecanismos de disminución con distancia.</a:t>
            </a:r>
          </a:p>
          <a:p xmlns:a="http://schemas.openxmlformats.org/drawingml/2006/main">
            <a:r>
              <a:t>- **Explicación extendida:** Explicar por qué no se calcula sin fuente de `a_atm`; distinguir absorción del aire de absorción superficial. Explicitar que la divergencia redistribuye energía; la atmósfera puede disiparla de modo dependiente de frecuencia y estado.</a:t>
            </a:r>
          </a:p>
          <a:p xmlns:a="http://schemas.openxmlformats.org/drawingml/2006/main">
            <a:r>
              <a:t>- **Guía del visual o diagrama:** Presentar primero la estructura general y luego recorrer Estructura `L_p(r2)=L_p(r1)−término geométrico−a_atm(f,estado)·Δr`, Sin coeficiente numérico. Cerrar señalando la idea central, sin leer todas las cajas como una lista.</a:t>
            </a:r>
          </a:p>
          <a:p xmlns:a="http://schemas.openxmlformats.org/drawingml/2006/main">
            <a:r>
              <a:t>- **Pregunta al grupo:** ¿Cuál es la afirmación principal que esta slide permite sostener?</a:t>
            </a:r>
          </a:p>
          <a:p xmlns:a="http://schemas.openxmlformats.org/drawingml/2006/main">
            <a:r>
              <a:t>- **Respuesta esperada:** La divergencia redistribuye energía; la atmósfera puede disiparla de modo dependiente de frecuencia y estado.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Explicar por qué no se calcula sin fuente de `a_atm`; distinguir absorción del aire de absorción superficial.</a:t>
            </a:r>
          </a:p>
          <a:p xmlns:a="http://schemas.openxmlformats.org/drawingml/2006/main">
            <a:r>
              <a:t>- **Transición:** Mostrar qué variables deben registrarse en una medición exterior.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Ecuación estructural y comparación; U09-DG-023, candidata para diagram-generation. La composición permite reconocer que la divergencia redistribuye energía; la atmósfera puede disiparla de modo dependiente de frecuencia y estado.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ec. 9.6; PDF p. 241; source_analysis.</a:t>
            </a:r>
          </a:p>
          <a:p xmlns:a="http://schemas.openxmlformats.org/drawingml/2006/main">
            <a:r>
              <a:t>- Asset propio aprobado: U09-DG-023.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Reconocer fluctuaciones y límites de predicción.</a:t>
            </a:r>
          </a:p>
          <a:p xmlns:a="http://schemas.openxmlformats.org/drawingml/2006/main">
            <a:r>
              <a:t>- **Explicación extendida:** Nombrar el fenómeno y su impacto experimental sin abrir meteorología avanzada. Explicitar que un medio variable puede producir dispersión temporal y fluctuación del nivel.</a:t>
            </a:r>
          </a:p>
          <a:p xmlns:a="http://schemas.openxmlformats.org/drawingml/2006/main">
            <a:r>
              <a:t>- **Guía del visual o diagrama:** Presentar primero la estructura general y luego recorrer Esquema cualitativo de paquetes/rayos perturbados y registro fluctuante, Sin modelo numérico. Cerrar señalando la idea central, sin leer todas las cajas como una lista.</a:t>
            </a:r>
          </a:p>
          <a:p xmlns:a="http://schemas.openxmlformats.org/drawingml/2006/main">
            <a:r>
              <a:t>- **Pregunta al grupo:** ¿Qué recorrido o relación del esquema sostiene la idea central?</a:t>
            </a:r>
          </a:p>
          <a:p xmlns:a="http://schemas.openxmlformats.org/drawingml/2006/main">
            <a:r>
              <a:t>- **Respuesta esperada:** Un medio variable puede producir dispersión temporal y fluctuación del nivel.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Nombrar el fenómeno y su impacto experimental sin abrir meteorología avanzada.</a:t>
            </a:r>
          </a:p>
          <a:p xmlns:a="http://schemas.openxmlformats.org/drawingml/2006/main">
            <a:r>
              <a:t>- **Transición:** Llevar los factores atmosféricos a una ficha de campo.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U09-DG-024, candidata para diagram-generation. La composición permite reconocer que un medio variable puede producir dispersión temporal y fluctuación del nivel.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9.6; PDF p. 241.</a:t>
            </a:r>
          </a:p>
          <a:p xmlns:a="http://schemas.openxmlformats.org/drawingml/2006/main">
            <a:r>
              <a:t>- Asset propio aprobado: U09-DG-024.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**Propósito docente:** Transferir el bloque a una práctica responsable.</a:t>
            </a:r>
          </a:p>
          <a:p xmlns:a="http://schemas.openxmlformats.org/drawingml/2006/main">
            <a:r>
              <a:t>- **Explicación extendida:** Aclarar que registrar no equivale a corregir automáticamente. Explicitar que sin geometría y estado atmosférico, dos mediciones pueden no ser comparables.</a:t>
            </a:r>
          </a:p>
          <a:p xmlns:a="http://schemas.openxmlformats.org/drawingml/2006/main">
            <a:r>
              <a:t>- **Guía del visual o diagrama:** Presentar primero la estructura general y luego recorrer Checklist: distancias, alturas, dirección, temperatura, viento, humedad, presión, suelo, obstáculos, bandas y tiempo. Cerrar señalando la idea central, sin leer todas las cajas como una lista.</a:t>
            </a:r>
          </a:p>
          <a:p xmlns:a="http://schemas.openxmlformats.org/drawingml/2006/main">
            <a:r>
              <a:t>- **Pregunta al grupo:** ¿Qué evidencia o cálculo permite responder “Qué registrar antes de comparar mediciones exteriores” sin exceder el modelo?</a:t>
            </a:r>
          </a:p>
          <a:p xmlns:a="http://schemas.openxmlformats.org/drawingml/2006/main">
            <a:r>
              <a:t>- **Respuesta esperada:** Sin geometría y estado atmosférico, dos mediciones pueden no ser comparables.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Aclarar que registrar no equivale a corregir automáticamente.</a:t>
            </a:r>
          </a:p>
          <a:p xmlns:a="http://schemas.openxmlformats.org/drawingml/2006/main">
            <a:r>
              <a:t>- **Transición:** Comprobar si el grupo separa estado uniforme y gradiente.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Ficha de campo editable; U09-DG-025, candidata para diagram-generation. La composición permite reconocer que sin geometría y estado atmosférico, dos mediciones pueden no ser comparables.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9.3–9.6; PDF pp. 238–241; brief aplicaciones.</a:t>
            </a:r>
          </a:p>
          <a:p xmlns:a="http://schemas.openxmlformats.org/drawingml/2006/main">
            <a:r>
              <a:t>- Asset propio aprobado: U09-DG-025.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5 min.</a:t>
            </a:r>
          </a:p>
          <a:p xmlns:a="http://schemas.openxmlformats.org/drawingml/2006/main">
            <a:r>
              <a:t>- **Propósito docente:** Consolidar el bloque atmosférico.</a:t>
            </a:r>
          </a:p>
          <a:p xmlns:a="http://schemas.openxmlformats.org/drawingml/2006/main">
            <a:r>
              <a:t>- **Explicación extendida:** Repetir la rutina de U09-011 para decidir entre explicación cualitativa, estimación y medición. Explicitar que temperatura, viento, presión/densidad y absorción no cambian la misma magnitud ni del mismo modo.</a:t>
            </a:r>
          </a:p>
          <a:p xmlns:a="http://schemas.openxmlformats.org/drawingml/2006/main">
            <a:r>
              <a:t>- **Guía del visual o diagrama:** Presentar primero la estructura general y luego recorrer Matriz de casos: qué cambia en `c`, `λ`, trayectoria y `L_p`, Una columna “no se puede concluir”. Cerrar señalando la idea central, sin leer todas las cajas como una lista.</a:t>
            </a:r>
          </a:p>
          <a:p xmlns:a="http://schemas.openxmlformats.org/drawingml/2006/main">
            <a:r>
              <a:t>- **Pregunta al grupo:** ¿Qué evidencia o cálculo permite responder “Cuatro efectos, cuatro respuestas” sin exceder el modelo?</a:t>
            </a:r>
          </a:p>
          <a:p xmlns:a="http://schemas.openxmlformats.org/drawingml/2006/main">
            <a:r>
              <a:t>- **Respuesta esperada:** Temperatura, viento, presión/densidad y absorción no cambian la misma magnitud ni del mismo modo.</a:t>
            </a:r>
          </a:p>
          <a:p xmlns:a="http://schemas.openxmlformats.org/drawingml/2006/main">
            <a:r>
              <a:t>- **Demostración o revelado:** Dar tiempo de respuesta antes del revelado; registrar la justificación, no solo la opción elegida.</a:t>
            </a:r>
          </a:p>
          <a:p xmlns:a="http://schemas.openxmlformats.org/drawingml/2006/main">
            <a:r>
              <a:t>- **Error frecuente:** Tratar temperatura, viento o absorción atmosférica como una corrección única de nivel.</a:t>
            </a:r>
          </a:p>
          <a:p xmlns:a="http://schemas.openxmlformats.org/drawingml/2006/main">
            <a:r>
              <a:t>- **Transición:** Pasar del medio continuo a una superficie que divide rutas.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U09-DG-026, candidata para diagram-generation. La composición permite reconocer que temperatura, viento, presión/densidad y absorción no cambian la misma magnitud ni del mismo modo.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9.3–9.6; brief U9.</a:t>
            </a:r>
          </a:p>
          <a:p xmlns:a="http://schemas.openxmlformats.org/drawingml/2006/main">
            <a:r>
              <a:t>- Asset propio aprobado: U09-DG-026.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 min.</a:t>
            </a:r>
          </a:p>
          <a:p xmlns:a="http://schemas.openxmlformats.org/drawingml/2006/main">
            <a:r>
              <a:t>- **Propósito docente:** Enunciar la pregunta guía del bloque.</a:t>
            </a:r>
          </a:p>
          <a:p xmlns:a="http://schemas.openxmlformats.org/drawingml/2006/main">
            <a:r>
              <a:t>- **Explicación extendida:** Evitar presentar los mecanismos como etapas sucesivas. Explicitar que una superficie puede reflejar, absorber y transmitir simultáneamente.</a:t>
            </a:r>
          </a:p>
          <a:p xmlns:a="http://schemas.openxmlformats.org/drawingml/2006/main">
            <a:r>
              <a:t>- **Guía del visual o diagrama:** Presentar primero la estructura general y luego recorrer Pregunta guía y tres destinos de energía. Cerrar señalando la idea central, sin leer todas las cajas como una lista.</a:t>
            </a:r>
          </a:p>
          <a:p xmlns:a="http://schemas.openxmlformats.org/drawingml/2006/main">
            <a:r>
              <a:t>- **Pregunta al grupo:** ¿Adónde va la energía incidente?</a:t>
            </a:r>
          </a:p>
          <a:p xmlns:a="http://schemas.openxmlformats.org/drawingml/2006/main">
            <a:r>
              <a:t>- **Respuesta esperada:** Una superficie puede reflejar, absorber y transmitir simultáneamente.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Evitar presentar los mecanismos como etapas sucesivas.</a:t>
            </a:r>
          </a:p>
          <a:p xmlns:a="http://schemas.openxmlformats.org/drawingml/2006/main">
            <a:r>
              <a:t>- **Transición:** Representar primero el balance.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Haz incidente que llega a una interfaz. La composición permite reconocer que una superficie puede reflejar, absorber y transmitir simultáneamente.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brief U9, bloque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Construir la representación energética de una superficie.</a:t>
            </a:r>
          </a:p>
          <a:p xmlns:a="http://schemas.openxmlformats.org/drawingml/2006/main">
            <a:r>
              <a:t>- **Explicación extendida:** Aclarar que el espesor y montaje importan y que el dibujo no fija valores. Explicitar que reflexión, absorción y transmisión son fracciones del mismo incidente.</a:t>
            </a:r>
          </a:p>
          <a:p xmlns:a="http://schemas.openxmlformats.org/drawingml/2006/main">
            <a:r>
              <a:t>- **Guía del visual o diagrama:** Presentar primero la estructura general y luego recorrer Flechas incidente, reflejada y transmitida, Absorción dentro del material, Áreas proporcionales conceptuales. Cerrar señalando la idea central, sin leer todas las cajas como una lista.</a:t>
            </a:r>
          </a:p>
          <a:p xmlns:a="http://schemas.openxmlformats.org/drawingml/2006/main">
            <a:r>
              <a:t>- **Pregunta al grupo:** ¿Qué recorrido o relación del esquema sostiene la idea central?</a:t>
            </a:r>
          </a:p>
          <a:p xmlns:a="http://schemas.openxmlformats.org/drawingml/2006/main">
            <a:r>
              <a:t>- **Respuesta esperada:** Reflexión, absorción y transmisión son fracciones del mismo incidente.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Aclarar que el espesor y montaje importan y que el dibujo no fija valores.</a:t>
            </a:r>
          </a:p>
          <a:p xmlns:a="http://schemas.openxmlformats.org/drawingml/2006/main">
            <a:r>
              <a:t>- **Transición:** Formalizar el balance con símbolos no ambiguos.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U09-DG-027, candidata para diagram-generation, reconstrucción de figura 9.3. La composición permite reconocer que reflexión, absorción y transmisión son fracciones del mismo incidente.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9.7; PDF pp. 241–242; balance-superficie.tex.</a:t>
            </a:r>
          </a:p>
          <a:p xmlns:a="http://schemas.openxmlformats.org/drawingml/2006/main">
            <a:r>
              <a:t>- Asset propio aprobado: U09-DG-027.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**Propósito docente:** Aplicar conservación de energía con notación coherente.</a:t>
            </a:r>
          </a:p>
          <a:p xmlns:a="http://schemas.openxmlformats.org/drawingml/2006/main">
            <a:r>
              <a:t>- **Explicación extendida:** Diferenciar `R_E` de coeficientes de presión y del índice `R` de aislamiento. Explicitar que para fracciones energéticas ideales, `R_E + α + τ_E = 1`.</a:t>
            </a:r>
          </a:p>
          <a:p xmlns:a="http://schemas.openxmlformats.org/drawingml/2006/main">
            <a:r>
              <a:t>- **Guía del visual o diagrama:** Presentar primero la estructura general y luego recorrer Ecuación, intervalo 0–1, significado de cada término y ejemplo parcial `0,55 + 0,30`. Cerrar señalando la idea central, sin leer todas las cajas como una lista.</a:t>
            </a:r>
          </a:p>
          <a:p xmlns:a="http://schemas.openxmlformats.org/drawingml/2006/main">
            <a:r>
              <a:t>- **Pregunta al grupo:** ¿Qué magnitud cambia, en qué sentido y bajo qué condiciones?</a:t>
            </a:r>
          </a:p>
          <a:p xmlns:a="http://schemas.openxmlformats.org/drawingml/2006/main">
            <a:r>
              <a:t>- **Respuesta esperada:** Para fracciones energéticas ideales, `R_E + α + τ_E = 1`.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Diferenciar `R_E` de coeficientes de presión y del índice `R` de aislamiento.</a:t>
            </a:r>
          </a:p>
          <a:p xmlns:a="http://schemas.openxmlformats.org/drawingml/2006/main">
            <a:r>
              <a:t>- **Transición:** Pedir completar el término faltante y explicar dónde fue la energía.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U09-DG-028, candidata para diagram-generation. La composición permite reconocer que para fracciones energéticas ideales, r_e + α + τ_e = 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ec. 9.7; PDF pp. 241–242; notation_guide.</a:t>
            </a:r>
          </a:p>
          <a:p xmlns:a="http://schemas.openxmlformats.org/drawingml/2006/main">
            <a:r>
              <a:t>- Asset propio aprobado: U09-DG-028.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5 min.</a:t>
            </a:r>
          </a:p>
          <a:p xmlns:a="http://schemas.openxmlformats.org/drawingml/2006/main">
            <a:r>
              <a:t>- **Propósito docente:** Verificar balance e interpretación.</a:t>
            </a:r>
          </a:p>
          <a:p xmlns:a="http://schemas.openxmlformats.org/drawingml/2006/main">
            <a:r>
              <a:t>- **Explicación extendida:** Exigir unidad adimensional y frase física; no aceptar solo `0,15`. Explicitar que el resultado numérico solo tiene sentido si cada coeficiente refiere a la misma energía incidente.</a:t>
            </a:r>
          </a:p>
          <a:p xmlns:a="http://schemas.openxmlformats.org/drawingml/2006/main">
            <a:r>
              <a:t>- **Guía del visual o diagrama:** Presentar primero la estructura general y luego recorrer Dos balances simples, Uno válido y uno inconsistente para diagnosticar. Cerrar señalando la idea central, sin leer todas las cajas como una lista.</a:t>
            </a:r>
          </a:p>
          <a:p xmlns:a="http://schemas.openxmlformats.org/drawingml/2006/main">
            <a:r>
              <a:t>- **Pregunta al grupo:** ¿Qué evidencia o cálculo permite responder “¿Qué fracción falta?” sin exceder el modelo?</a:t>
            </a:r>
          </a:p>
          <a:p xmlns:a="http://schemas.openxmlformats.org/drawingml/2006/main">
            <a:r>
              <a:t>- **Respuesta esperada:** El resultado numérico solo tiene sentido si cada coeficiente refiere a la misma energía incidente.</a:t>
            </a:r>
          </a:p>
          <a:p xmlns:a="http://schemas.openxmlformats.org/drawingml/2006/main">
            <a:r>
              <a:t>- **Demostración o revelado:** Dar tiempo de respuesta antes del revelado; registrar la justificación, no solo la opción elegida.</a:t>
            </a:r>
          </a:p>
          <a:p xmlns:a="http://schemas.openxmlformats.org/drawingml/2006/main">
            <a:r>
              <a:t>- **Error frecuente:** Exigir unidad adimensional y frase física; no aceptar solo `0,15`.</a:t>
            </a:r>
          </a:p>
          <a:p xmlns:a="http://schemas.openxmlformats.org/drawingml/2006/main">
            <a:r>
              <a:t>- **Transición:** Profundizar qué significa “reflejar”.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Tarjeta de cálculo y diagrama reducido. La composición permite reconocer que el resultado numérico solo tiene sentido si cada coeficiente refiere a la misma energía incidente.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9.7; content_inventory ejemplo de balance.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Reconocer geometría básica de reflexión.</a:t>
            </a:r>
          </a:p>
          <a:p xmlns:a="http://schemas.openxmlformats.org/drawingml/2006/main">
            <a:r>
              <a:t>- **Explicación extendida:** Recuperar U4 y señalar que rugosidad y longitud de onda afectan el carácter especular/difuso. Explicitar que en una interfaz, una parte de la energía retorna al medio de origen.</a:t>
            </a:r>
          </a:p>
          <a:p xmlns:a="http://schemas.openxmlformats.org/drawingml/2006/main">
            <a:r>
              <a:t>- **Guía del visual o diagrama:** Presentar primero la estructura general y luego recorrer Incidencia, normal, ángulos y dependencia con impedancias, Sin desarrollar coeficientes complejos. Cerrar señalando la idea central, sin leer todas las cajas como una lista.</a:t>
            </a:r>
          </a:p>
          <a:p xmlns:a="http://schemas.openxmlformats.org/drawingml/2006/main">
            <a:r>
              <a:t>- **Pregunta al grupo:** ¿Qué recorrido o relación del esquema sostiene la idea central?</a:t>
            </a:r>
          </a:p>
          <a:p xmlns:a="http://schemas.openxmlformats.org/drawingml/2006/main">
            <a:r>
              <a:t>- **Respuesta esperada:** En una interfaz, una parte de la energía retorna al medio de origen.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Usar reflexión, absorción, transmisión, refracción y difracción como si fueran sinónimos.</a:t>
            </a:r>
          </a:p>
          <a:p xmlns:a="http://schemas.openxmlformats.org/drawingml/2006/main">
            <a:r>
              <a:t>- **Transición:** Diferenciar una reflexión física de su organización temporal y perceptual.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U09-DG-029, candidata para diagram-generation. La composición permite reconocer que en una interfaz, una parte de la energía retorna al medio de origen.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9.7.1; PDF p. 242; U4.</a:t>
            </a:r>
          </a:p>
          <a:p xmlns:a="http://schemas.openxmlformats.org/drawingml/2006/main">
            <a:r>
              <a:t>- Asset propio aprobado: U09-DG-029.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Separar mecanismo, llegada distinguible y persistencia global.</a:t>
            </a:r>
          </a:p>
          <a:p xmlns:a="http://schemas.openxmlformats.org/drawingml/2006/main">
            <a:r>
              <a:t>- **Explicación extendida:** Conectar con U7 sin fijar un umbral temporal universal. Explicitar que una reflexión es física; eco y reverberación describen patrones temporales/perceptuales distintos.</a:t>
            </a:r>
          </a:p>
          <a:p xmlns:a="http://schemas.openxmlformats.org/drawingml/2006/main">
            <a:r>
              <a:t>- **Guía del visual o diagrama:** Presentar primero la estructura general y luego recorrer Señal directa, reflexión aislada y cola de múltiples llegadas en una línea temporal. Cerrar señalando la idea central, sin leer todas las cajas como una lista.</a:t>
            </a:r>
          </a:p>
          <a:p xmlns:a="http://schemas.openxmlformats.org/drawingml/2006/main">
            <a:r>
              <a:t>- **Pregunta al grupo:** ¿Cuál es la afirmación principal que esta slide permite sostener?</a:t>
            </a:r>
          </a:p>
          <a:p xmlns:a="http://schemas.openxmlformats.org/drawingml/2006/main">
            <a:r>
              <a:t>- **Respuesta esperada:** Una reflexión es física; eco y reverberación describen patrones temporales/perceptuales distintos.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Usar reflexión, absorción, transmisión, refracción y difracción como si fueran sinónimos.</a:t>
            </a:r>
          </a:p>
          <a:p xmlns:a="http://schemas.openxmlformats.org/drawingml/2006/main">
            <a:r>
              <a:t>- **Transición:** Introducir una interfaz donde también cambia la dirección transmitida.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U09-CH-004 respuesta temporal conceptual, con anotaciones U09-DG-030. La composición permite reconocer que una reflexión es física; eco y reverberación describen patrones temporales/perceptuales distintos.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9.7.1/9.7.3; PDF pp. 242–243; U7.</a:t>
            </a:r>
          </a:p>
          <a:p xmlns:a="http://schemas.openxmlformats.org/drawingml/2006/main">
            <a:r>
              <a:t>- Asset propio aprobado: U09-DG-030.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Cubrir el requisito programático con un modelo comprensible.</a:t>
            </a:r>
          </a:p>
          <a:p xmlns:a="http://schemas.openxmlformats.org/drawingml/2006/main">
            <a:r>
              <a:t>- **Explicación extendida:** No equiparar rayos con partículas; presentar conversión modal sin ecuaciones elásticas. Explicitar que al transmitirse, una onda puede cambiar dirección y en un sólido pueden aparecer modos distintos.</a:t>
            </a:r>
          </a:p>
          <a:p xmlns:a="http://schemas.openxmlformats.org/drawingml/2006/main">
            <a:r>
              <a:t>- **Guía del visual o diagrama:** Presentar primero la estructura general y luego recorrer Onda incidente en aire, componente reflejada, transmitida y conversión modal cualitativa, Normales y ángulos. Cerrar señalando la idea central, sin leer todas las cajas como una lista.</a:t>
            </a:r>
          </a:p>
          <a:p xmlns:a="http://schemas.openxmlformats.org/drawingml/2006/main">
            <a:r>
              <a:t>- **Pregunta al grupo:** ¿Qué recorrido o relación del esquema sostiene la idea central?</a:t>
            </a:r>
          </a:p>
          <a:p xmlns:a="http://schemas.openxmlformats.org/drawingml/2006/main">
            <a:r>
              <a:t>- **Respuesta esperada:** Al transmitirse, una onda puede cambiar dirección y en un sólido pueden aparecer modos distintos.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No equiparar rayos con partículas; presentar conversión modal sin ecuaciones elásticas.</a:t>
            </a:r>
          </a:p>
          <a:p xmlns:a="http://schemas.openxmlformats.org/drawingml/2006/main">
            <a:r>
              <a:t>- **Transición:** Ofrecer Snell solo como formalización opcional.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U09-DG-031, candidata para diagram-generation. La composición permite reconocer que al transmitirse, una onda puede cambiar dirección y en un sólido pueden aparecer modos distintos.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Programa p. 5; LaTeX 9.7.4; PDF p. 244; source_analysis.</a:t>
            </a:r>
          </a:p>
          <a:p xmlns:a="http://schemas.openxmlformats.org/drawingml/2006/main">
            <a:r>
              <a:t>- Asset propio aprobado: U09-DG-031.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0 min en la ruta docente; slide bloqueada.</a:t>
            </a:r>
          </a:p>
          <a:p xmlns:a="http://schemas.openxmlformats.org/drawingml/2006/main">
            <a:r>
              <a:t>- **Propósito docente:** Dar una formalización opcional de refracción.</a:t>
            </a:r>
          </a:p>
          <a:p xmlns:a="http://schemas.openxmlformats.org/drawingml/2006/main">
            <a:r>
              <a:t>- **Explicación extendida:** Mantener fuera del núcleo cualquier cálculo de conversión modal; usar solo si el grupo domina ángulos. Explicitar que la dirección transmitida depende de las velocidades de fase y de los modos considerados.</a:t>
            </a:r>
          </a:p>
          <a:p xmlns:a="http://schemas.openxmlformats.org/drawingml/2006/main">
            <a:r>
              <a:t>- **Guía del visual o diagrama:** No presentar una ecuación. Si se muestra el placeholder, señalar la normal, los ángulos y el estado pendiente; volver inmediatamente al modelo cualitativo de U09-040.</a:t>
            </a:r>
          </a:p>
          <a:p xmlns:a="http://schemas.openxmlformats.org/drawingml/2006/main">
            <a:r>
              <a:t>- **Pregunta al grupo:** ¿Cuál es la afirmación principal que esta slide permite sostener?</a:t>
            </a:r>
          </a:p>
          <a:p xmlns:a="http://schemas.openxmlformats.org/drawingml/2006/main">
            <a:r>
              <a:t>- **Respuesta esperada:** La dirección transmitida depende de las velocidades de fase y de los modos considerados.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Usar reflexión, absorción, transmisión, refracción y difracción como si fueran sinónimos.</a:t>
            </a:r>
          </a:p>
          <a:p xmlns:a="http://schemas.openxmlformats.org/drawingml/2006/main">
            <a:r>
              <a:t>- **Transición:** Volver a una ruta que rodea el obstáculo sin atravesarlo.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Ecuación anotada U09-DG-032, candidata para diagram-generation. La composición permite reconocer que la dirección transmitida depende de las velocidades de fase y de los modos considerados.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Programa p. 5; LaTeX 9.7.4; fuente académica a seleccionar.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Explicar el rodeo de bordes y aberturas.</a:t>
            </a:r>
          </a:p>
          <a:p xmlns:a="http://schemas.openxmlformats.org/drawingml/2006/main">
            <a:r>
              <a:t>- **Explicación extendida:** Evitar “los graves atraviesan”; la ruta dibujada debe rodear el borde. Explicitar que la importancia de la difracción depende de `λ` comparada con la escala geométrica.</a:t>
            </a:r>
          </a:p>
          <a:p xmlns:a="http://schemas.openxmlformats.org/drawingml/2006/main">
            <a:r>
              <a:t>- **Guía del visual o diagrama:** Presentar primero la estructura general y luego recorrer Borde, región de sombra, frente incidente y frentes difractados, Comparación grande/pequeña `λ`. Cerrar señalando la idea central, sin leer todas las cajas como una lista.</a:t>
            </a:r>
          </a:p>
          <a:p xmlns:a="http://schemas.openxmlformats.org/drawingml/2006/main">
            <a:r>
              <a:t>- **Pregunta al grupo:** ¿Qué recorrido o relación del esquema sostiene la idea central?</a:t>
            </a:r>
          </a:p>
          <a:p xmlns:a="http://schemas.openxmlformats.org/drawingml/2006/main">
            <a:r>
              <a:t>- **Respuesta esperada:** La importancia de la difracción depende de `λ` comparada con la escala geométrica.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Evitar “los graves atraviesan”; la ruta dibujada debe rodear el borde.</a:t>
            </a:r>
          </a:p>
          <a:p xmlns:a="http://schemas.openxmlformats.org/drawingml/2006/main">
            <a:r>
              <a:t>- **Transición:** Cuantificar longitudes de onda sin calcular atenuación de barrera.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U09-DG-033, candidata para diagram-generation. La composición permite reconocer que la importancia de la difracción depende de λ comparada con la escala geométrica.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9.7.5; PDF p. 244; figura difraccion-barrera.tex.</a:t>
            </a:r>
          </a:p>
          <a:p xmlns:a="http://schemas.openxmlformats.org/drawingml/2006/main">
            <a:r>
              <a:t>- Asset propio aprobado: U09-DG-033.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**Propósito docente:** Relacionar frecuencia con tamaño de obstáculos.</a:t>
            </a:r>
          </a:p>
          <a:p xmlns:a="http://schemas.openxmlformats.org/drawingml/2006/main">
            <a:r>
              <a:t>- **Explicación extendida:** Leer ejes y unidades; evitar deducir una atenuación sin geometría adicional. Explicitar que a menor frecuencia, mayor longitud de onda para el mismo medio.</a:t>
            </a:r>
          </a:p>
          <a:p xmlns:a="http://schemas.openxmlformats.org/drawingml/2006/main">
            <a:r>
              <a:t>- **Guía del visual o diagrama:** Presentar primero la estructura general y luego recorrer Curva `λ(f)` y marcadores 125, 500 y 4000 Hz, Escalas de barrera elegidas. Cerrar señalando la idea central, sin leer todas las cajas como una lista.</a:t>
            </a:r>
          </a:p>
          <a:p xmlns:a="http://schemas.openxmlformats.org/drawingml/2006/main">
            <a:r>
              <a:t>- **Pregunta al grupo:** ¿Qué magnitud cambia, en qué sentido y bajo qué condiciones?</a:t>
            </a:r>
          </a:p>
          <a:p xmlns:a="http://schemas.openxmlformats.org/drawingml/2006/main">
            <a:r>
              <a:t>- **Respuesta esperada:** A menor frecuencia, mayor longitud de onda para el mismo medio.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Leer ejes y unidades; evitar deducir una atenuación sin geometría adicional.</a:t>
            </a:r>
          </a:p>
          <a:p xmlns:a="http://schemas.openxmlformats.org/drawingml/2006/main">
            <a:r>
              <a:t>- **Transición:** Aplicar los valores a una misma barrera.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U09-CH-005 longitud de onda frente a frecuencia. La composición permite reconocer que a menor frecuencia, mayor longitud de onda para el mismo medio.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λ=c/f; LaTeX 9.7.5 y ejercicios; PDF pp. 244, 252, 256.</a:t>
            </a:r>
          </a:p>
          <a:p xmlns:a="http://schemas.openxmlformats.org/drawingml/2006/main">
            <a:r>
              <a:t>- Asset propio aprobado: U09-CH-005.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Transferir la comparación `λ/escala`.</a:t>
            </a:r>
          </a:p>
          <a:p xmlns:a="http://schemas.openxmlformats.org/drawingml/2006/main">
            <a:r>
              <a:t>- **Explicación extendida:** Pedir predicción cualitativa antes del revelado; declarar que no es un modelo de inserción cuantitativa. Explicitar que la región de sombra y el rodeo del borde cambian con frecuencia, pero no producen una pérdida fija universal.</a:t>
            </a:r>
          </a:p>
          <a:p xmlns:a="http://schemas.openxmlformats.org/drawingml/2006/main">
            <a:r>
              <a:t>- **Guía del visual o diagrama:** Presentar primero la estructura general y luego recorrer Tres paneles con misma geometría y `λ` diferente, Receptor fijo. Cerrar señalando la idea central, sin leer todas las cajas como una lista.</a:t>
            </a:r>
          </a:p>
          <a:p xmlns:a="http://schemas.openxmlformats.org/drawingml/2006/main">
            <a:r>
              <a:t>- **Pregunta al grupo:** ¿Qué recorrido o relación del esquema sostiene la idea central?</a:t>
            </a:r>
          </a:p>
          <a:p xmlns:a="http://schemas.openxmlformats.org/drawingml/2006/main">
            <a:r>
              <a:t>- **Respuesta esperada:** La región de sombra y el rodeo del borde cambian con frecuencia, pero no producen una pérdida fija universal.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Pedir predicción cualitativa antes del revelado; declarar que no es un modelo de inserción cuantitativa.</a:t>
            </a:r>
          </a:p>
          <a:p xmlns:a="http://schemas.openxmlformats.org/drawingml/2006/main">
            <a:r>
              <a:t>- **Transición:** Separar la ruta alrededor del borde de la que atraviesa el cerramiento.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U09-DG-034, candidata para diagram-generation. La composición permite reconocer que la región de sombra y el rodeo del borde cambian con frecuencia, pero no producen una pérdida fija universal.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9.7.5; PDF p. 244; figura 9.4.</a:t>
            </a:r>
          </a:p>
          <a:p xmlns:a="http://schemas.openxmlformats.org/drawingml/2006/main">
            <a:r>
              <a:t>- Asset propio aprobado: U09-DG-034.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Desactivar la frase “los graves atraviesan”.</a:t>
            </a:r>
          </a:p>
          <a:p xmlns:a="http://schemas.openxmlformats.org/drawingml/2006/main">
            <a:r>
              <a:t>- **Explicación extendida:** Usar el mismo obstáculo para controlar que solo cambie la ruta explicada. Explicitar que rodear un borde y atravesar un material son rutas físicas diferentes.</a:t>
            </a:r>
          </a:p>
          <a:p xmlns:a="http://schemas.openxmlformats.org/drawingml/2006/main">
            <a:r>
              <a:t>- **Guía del visual o diagrama:** Presentar primero la estructura general y luego recorrer Dos diagramas paralelos: ruta exterior difractada y ruta transmitida, Variables que domina cada una. Cerrar señalando la idea central, sin leer todas las cajas como una lista.</a:t>
            </a:r>
          </a:p>
          <a:p xmlns:a="http://schemas.openxmlformats.org/drawingml/2006/main">
            <a:r>
              <a:t>- **Pregunta al grupo:** ¿Cómo reformularían la afirmación “¿Difracción o transmisión?” para que sea físicamente válida?</a:t>
            </a:r>
          </a:p>
          <a:p xmlns:a="http://schemas.openxmlformats.org/drawingml/2006/main">
            <a:r>
              <a:t>- **Respuesta esperada:** Rodear un borde y atravesar un material son rutas físicas diferentes.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Usar reflexión, absorción, transmisión, refracción y difracción como si fueran sinónimos.</a:t>
            </a:r>
          </a:p>
          <a:p xmlns:a="http://schemas.openxmlformats.org/drawingml/2006/main">
            <a:r>
              <a:t>- **Transición:** Incorporar una comparación opcional de coeficientes antes de cerrar.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U09-DG-035, candidata para diagram-generation. La composición permite reconocer que rodear un borde y atravesar un material son rutas físicas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brief U9; LaTeX 9.7/9.7.5; PDF pp. 241–245.</a:t>
            </a:r>
          </a:p>
          <a:p xmlns:a="http://schemas.openxmlformats.org/drawingml/2006/main">
            <a:r>
              <a:t>- Asset propio aprobado: U09-DG-035.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Consolidar seis mecanismos sin mezclarlos.</a:t>
            </a:r>
          </a:p>
          <a:p xmlns:a="http://schemas.openxmlformats.org/drawingml/2006/main">
            <a:r>
              <a:t>- **Explicación extendida:** Repetir la idea de U09-009 con nueva función: distinguir mecanismos en diagramas concretos. Explicitar que la clasificación correcta depende de la ruta, la magnitud y la escala geométrica.</a:t>
            </a:r>
          </a:p>
          <a:p xmlns:a="http://schemas.openxmlformats.org/drawingml/2006/main">
            <a:r>
              <a:t>- **Guía del visual o diagrama:** Presentar primero la estructura general y luego recorrer Mapa de decisión: retorna, se disipa, atraviesa, cambia dirección o rodea, Preguntas de evidencia. Cerrar señalando la idea central, sin leer todas las cajas como una lista.</a:t>
            </a:r>
          </a:p>
          <a:p xmlns:a="http://schemas.openxmlformats.org/drawingml/2006/main">
            <a:r>
              <a:t>- **Pregunta al grupo:** ¿Qué recorrido o relación del esquema sostiene la idea central?</a:t>
            </a:r>
          </a:p>
          <a:p xmlns:a="http://schemas.openxmlformats.org/drawingml/2006/main">
            <a:r>
              <a:t>- **Respuesta esperada:** La clasificación correcta depende de la ruta, la magnitud y la escala geométrica.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Repetir la idea de U09-009 con nueva función: distinguir mecanismos en diagramas concretos.</a:t>
            </a:r>
          </a:p>
          <a:p xmlns:a="http://schemas.openxmlformats.org/drawingml/2006/main">
            <a:r>
              <a:t>- **Transición:** Llevar múltiples reflexiones al interior de una sala.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U09-DG-036, candidata para diagram-generation. La composición permite reconocer que la clasificación correcta depende de la ruta, la magnitud y la escala geométrica.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Programa p. 5; LaTeX 9.7; PDF pp. 241–244.</a:t>
            </a:r>
          </a:p>
          <a:p xmlns:a="http://schemas.openxmlformats.org/drawingml/2006/main">
            <a:r>
              <a:t>- Asset propio aprobado: U09-DG-036.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 min.</a:t>
            </a:r>
          </a:p>
          <a:p xmlns:a="http://schemas.openxmlformats.org/drawingml/2006/main">
            <a:r>
              <a:t>- **Propósito docente:** Enunciar la pregunta guía del bloque.</a:t>
            </a:r>
          </a:p>
          <a:p xmlns:a="http://schemas.openxmlformats.org/drawingml/2006/main">
            <a:r>
              <a:t>- **Explicación extendida:** Conectar con U7 y anunciar que ahora se formaliza el campo. Explicitar que en un recinto, el receptor recibe una secuencia de llegadas, no una sola ruta.</a:t>
            </a:r>
          </a:p>
          <a:p xmlns:a="http://schemas.openxmlformats.org/drawingml/2006/main">
            <a:r>
              <a:t>- **Guía del visual o diagrama:** Presentar primero la estructura general y luego recorrer Pregunta guía y transición exterior–interior. Cerrar señalando la idea central, sin leer todas las cajas como una lista.</a:t>
            </a:r>
          </a:p>
          <a:p xmlns:a="http://schemas.openxmlformats.org/drawingml/2006/main">
            <a:r>
              <a:t>- **Pregunta al grupo:** ¿Cómo persiste el sonido en una sala?</a:t>
            </a:r>
          </a:p>
          <a:p xmlns:a="http://schemas.openxmlformats.org/drawingml/2006/main">
            <a:r>
              <a:t>- **Respuesta esperada:** En un recinto, el receptor recibe una secuencia de llegadas, no una sola ruta.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Confundir tiempo de reverberación con aislamiento o con un criterio universal de calidad.</a:t>
            </a:r>
          </a:p>
          <a:p xmlns:a="http://schemas.openxmlformats.org/drawingml/2006/main">
            <a:r>
              <a:t>- **Transición:** Construir la secuencia temporal de llegadas.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Sala con ruta directa y primeras reflexiones. La composición permite reconocer que en un recinto, el receptor recibe una secuencia de llegadas, no una sola ruta.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brief U9, bloque 5; U7.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**Propósito docente:** Explicar cómo se forma la persistencia.</a:t>
            </a:r>
          </a:p>
          <a:p xmlns:a="http://schemas.openxmlformats.org/drawingml/2006/main">
            <a:r>
              <a:t>- **Explicación extendida:** Evitar que cada flecha se interprete como eco audible; vincular geometría y tiempo. Explicitar que múltiples reflexiones producen una densidad creciente de llegadas y un decaimiento global.</a:t>
            </a:r>
          </a:p>
          <a:p xmlns:a="http://schemas.openxmlformats.org/drawingml/2006/main">
            <a:r>
              <a:t>- **Guía del visual o diagrama:** Presentar primero la estructura general y luego recorrer Etapas: directa, tempranas, campo denso y decaimiento. Cerrar señalando la idea central, sin leer todas las cajas como una lista.</a:t>
            </a:r>
          </a:p>
          <a:p xmlns:a="http://schemas.openxmlformats.org/drawingml/2006/main">
            <a:r>
              <a:t>- **Pregunta al grupo:** ¿Qué recorrido o relación del esquema sostiene la idea central?</a:t>
            </a:r>
          </a:p>
          <a:p xmlns:a="http://schemas.openxmlformats.org/drawingml/2006/main">
            <a:r>
              <a:t>- **Respuesta esperada:** Múltiples reflexiones producen una densidad creciente de llegadas y un decaimiento global.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Evitar que cada flecha se interprete como eco audible; vincular geometría y tiempo.</a:t>
            </a:r>
          </a:p>
          <a:p xmlns:a="http://schemas.openxmlformats.org/drawingml/2006/main">
            <a:r>
              <a:t>- **Transición:** Definir una magnitud que describa el decaimiento.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U09-DG-037, candidata para diagram-generation. La composición permite reconocer que múltiples reflexiones producen una densidad creciente de llegadas y un decaimiento global.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9.7.3; PDF pp. 242–243.</a:t>
            </a:r>
          </a:p>
          <a:p xmlns:a="http://schemas.openxmlformats.org/drawingml/2006/main">
            <a:r>
              <a:t>- Asset propio aprobado: U09-DG-037.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**Propósito docente:** Interpretar el tiempo de reverberación en un gráfico.</a:t>
            </a:r>
          </a:p>
          <a:p xmlns:a="http://schemas.openxmlformats.org/drawingml/2006/main">
            <a:r>
              <a:t>- **Explicación extendida:** Separar definición de método de medición; no presentar una única curva como universal. Explicitar que `T_60` es el tiempo asociado a una caída de 60 dB bajo condiciones definidas.</a:t>
            </a:r>
          </a:p>
          <a:p xmlns:a="http://schemas.openxmlformats.org/drawingml/2006/main">
            <a:r>
              <a:t>- **Guía del visual o diagrama:** Presentar primero la estructura general y luego recorrer Curva de decaimiento, niveles inicial/final, intervalo temporal y extrapolación indicada si se usa. Cerrar señalando la idea central, sin leer todas las cajas como una lista.</a:t>
            </a:r>
          </a:p>
          <a:p xmlns:a="http://schemas.openxmlformats.org/drawingml/2006/main">
            <a:r>
              <a:t>- **Pregunta al grupo:** ¿Qué magnitud cambia, en qué sentido y bajo qué condiciones?</a:t>
            </a:r>
          </a:p>
          <a:p xmlns:a="http://schemas.openxmlformats.org/drawingml/2006/main">
            <a:r>
              <a:t>- **Respuesta esperada:** `T_60` es el tiempo asociado a una caída de 60 dB bajo condiciones definidas.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Separar definición de método de medición; no presentar una única curva como universal.</a:t>
            </a:r>
          </a:p>
          <a:p xmlns:a="http://schemas.openxmlformats.org/drawingml/2006/main">
            <a:r>
              <a:t>- **Transición:** Explicar de qué depende el decaimiento en el modelo de Sabine.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U09-CH-006 decaimiento sonoro anotado. La composición permite reconocer que t₆₀ es el tiempo asociado a una caída de 60 db bajo condiciones definidas.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9.7.3; PDF pp. 242–243; glossary.</a:t>
            </a:r>
          </a:p>
          <a:p xmlns:a="http://schemas.openxmlformats.org/drawingml/2006/main">
            <a:r>
              <a:t>- Asset propio aprobado: U09-CH-006.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Construir el significado de `A_eq`.</a:t>
            </a:r>
          </a:p>
          <a:p xmlns:a="http://schemas.openxmlformats.org/drawingml/2006/main">
            <a:r>
              <a:t>- **Explicación extendida:** Diferenciar área geométrica de área equivalente y recordar que `α` es adimensional. Explicitar que superficies y coeficientes se combinan como `A_eq = Σ α_i S_i`.</a:t>
            </a:r>
          </a:p>
          <a:p xmlns:a="http://schemas.openxmlformats.org/drawingml/2006/main">
            <a:r>
              <a:t>- **Guía del visual o diagrama:** Presentar primero la estructura general y luego recorrer Sumas por superficies, unidades `m²` equivalentes y dependencia por frecuencia. Cerrar señalando la idea central, sin leer todas las cajas como una lista.</a:t>
            </a:r>
          </a:p>
          <a:p xmlns:a="http://schemas.openxmlformats.org/drawingml/2006/main">
            <a:r>
              <a:t>- **Pregunta al grupo:** ¿Cuál es la afirmación principal que esta slide permite sostener?</a:t>
            </a:r>
          </a:p>
          <a:p xmlns:a="http://schemas.openxmlformats.org/drawingml/2006/main">
            <a:r>
              <a:t>- **Respuesta esperada:** Superficies y coeficientes se combinan como `A_eq = Σ α_i S_i`.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Diferenciar área geométrica de área equivalente y recordar que `α` es adimensional.</a:t>
            </a:r>
          </a:p>
          <a:p xmlns:a="http://schemas.openxmlformats.org/drawingml/2006/main">
            <a:r>
              <a:t>- **Transición:** Conectar volumen y absorción con `T_60`.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U09-DG-038, candidata para diagram-generation. La composición permite reconocer que superficies y coeficientes se combinan como aₑq = σ α_i s_i.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ec. 9.8; PDF pp. 242–243; notation_guide.</a:t>
            </a:r>
          </a:p>
          <a:p xmlns:a="http://schemas.openxmlformats.org/drawingml/2006/main">
            <a:r>
              <a:t>- Asset propio aprobado: U09-DG-038.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**Propósito docente:** Aplicar un modelo simple con límites visibles.</a:t>
            </a:r>
          </a:p>
          <a:p xmlns:a="http://schemas.openxmlformats.org/drawingml/2006/main">
            <a:r>
              <a:t>- **Explicación extendida:** Explicar la constante para SI y declarar campo aproximadamente difuso y absorción distribuida. Explicitar que en el modelo de Sabine, mayor `V` alarga y mayor `A_eq` acorta `T_60`.</a:t>
            </a:r>
          </a:p>
          <a:p xmlns:a="http://schemas.openxmlformats.org/drawingml/2006/main">
            <a:r>
              <a:t>- **Guía del visual o diagrama:** Presentar primero la estructura general y luego recorrer `T_60 ≈ 0,161 V/A_eq`, Símbolos, unidades, flechas de proporcionalidad e hipótesis. Cerrar señalando la idea central, sin leer todas las cajas como una lista.</a:t>
            </a:r>
          </a:p>
          <a:p xmlns:a="http://schemas.openxmlformats.org/drawingml/2006/main">
            <a:r>
              <a:t>- **Pregunta al grupo:** ¿Qué magnitud cambia, en qué sentido y bajo qué condiciones?</a:t>
            </a:r>
          </a:p>
          <a:p xmlns:a="http://schemas.openxmlformats.org/drawingml/2006/main">
            <a:r>
              <a:t>- **Respuesta esperada:** En el modelo de Sabine, mayor `V` alarga y mayor `A_eq` acorta `T_60`.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Confundir tiempo de reverberación con aislamiento o con un criterio universal de calidad.</a:t>
            </a:r>
          </a:p>
          <a:p xmlns:a="http://schemas.openxmlformats.org/drawingml/2006/main">
            <a:r>
              <a:t>- **Transición:** Resolver el aula del capítulo.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U09-DG-039, candidata para diagram-generation. La composición permite reconocer que en el modelo de sabine, mayor v alarga y mayor aₑq acorta t₆₀.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ec. 9.8; PDF pp. 242–243; notation_guide.</a:t>
            </a:r>
          </a:p>
          <a:p xmlns:a="http://schemas.openxmlformats.org/drawingml/2006/main">
            <a:r>
              <a:t>- Asset propio aprobado: U09-DG-039.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5 min.</a:t>
            </a:r>
          </a:p>
          <a:p xmlns:a="http://schemas.openxmlformats.org/drawingml/2006/main">
            <a:r>
              <a:t>- **Propósito docente:** Integrar geometría, absorción y tiempo.</a:t>
            </a:r>
          </a:p>
          <a:p xmlns:a="http://schemas.openxmlformats.org/drawingml/2006/main">
            <a:r>
              <a:t>- **Explicación extendida:** Verificar unidades y discutir qué información falta para valorar la sala por bandas y uso. Explicitar que el cálculo entrega una estimación contextual, no un criterio universal de calidad.</a:t>
            </a:r>
          </a:p>
          <a:p xmlns:a="http://schemas.openxmlformats.org/drawingml/2006/main">
            <a:r>
              <a:t>- **Guía del visual o diagrama:** Presentar primero la estructura general y luego recorrer `V`, superficie total, `ᾱ`, `A_eq=45 m²`, `T_60≈0,52 s` e interpretación limitada. Cerrar señalando la idea central, sin leer todas las cajas como una lista.</a:t>
            </a:r>
          </a:p>
          <a:p xmlns:a="http://schemas.openxmlformats.org/drawingml/2006/main">
            <a:r>
              <a:t>- **Pregunta al grupo:** ¿Qué evidencia o cálculo permite responder “Un aula de 8 × 6 × 3 m” sin exceder el modelo?</a:t>
            </a:r>
          </a:p>
          <a:p xmlns:a="http://schemas.openxmlformats.org/drawingml/2006/main">
            <a:r>
              <a:t>- **Respuesta esperada:** El cálculo entrega una estimación contextual, no un criterio universal de calidad.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Confundir tiempo de reverberación con aislamiento o con un criterio universal de calidad.</a:t>
            </a:r>
          </a:p>
          <a:p xmlns:a="http://schemas.openxmlformats.org/drawingml/2006/main">
            <a:r>
              <a:t>- **Transición:** Mostrar por qué el mismo número puede ocultar distribuciones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Secuencia de cálculo U09-DG-040, candidata para diagram-generation. La composición permite reconocer que el cálculo entrega una estimación contextual, no un criterio universal de calidad.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9.7.3; PDF pp. 242–243; content_inventory ejemplo 4.</a:t>
            </a:r>
          </a:p>
          <a:p xmlns:a="http://schemas.openxmlformats.org/drawingml/2006/main">
            <a:r>
              <a:t>- Asset propio aprobado: U09-DG-040.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Limitar la reducción de una sala a un único número.</a:t>
            </a:r>
          </a:p>
          <a:p xmlns:a="http://schemas.openxmlformats.org/drawingml/2006/main">
            <a:r>
              <a:t>- **Explicación extendida:** No introducir modelos alternativos; usar la comparación para problematizar la extrapolación. Explicitar que la distribución espacial de la absorción y la geometría también importan.</a:t>
            </a:r>
          </a:p>
          <a:p xmlns:a="http://schemas.openxmlformats.org/drawingml/2006/main">
            <a:r>
              <a:t>- **Guía del visual o diagrama:** Presentar primero la estructura general y luego recorrer Dos salas con igual suma de absorción y ubicación distinta, Receptores con campos diferentes. Cerrar señalando la idea central, sin leer todas las cajas como una lista.</a:t>
            </a:r>
          </a:p>
          <a:p xmlns:a="http://schemas.openxmlformats.org/drawingml/2006/main">
            <a:r>
              <a:t>- **Pregunta al grupo:** ¿Qué recorrido o relación del esquema sostiene la idea central?</a:t>
            </a:r>
          </a:p>
          <a:p xmlns:a="http://schemas.openxmlformats.org/drawingml/2006/main">
            <a:r>
              <a:t>- **Respuesta esperada:** La distribución espacial de la absorción y la geometría también importan.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No introducir modelos alternativos; usar la comparación para problematizar la extrapolación.</a:t>
            </a:r>
          </a:p>
          <a:p xmlns:a="http://schemas.openxmlformats.org/drawingml/2006/main">
            <a:r>
              <a:t>- **Transición:** Convertir los límites en un checklist.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U09-DG-041, candidata para diagram-generation. La composición permite reconocer que la distribución espacial de la absorción y la geometría también importan.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brief U9; LaTeX 9.7.3; source_analysis.</a:t>
            </a:r>
          </a:p>
          <a:p xmlns:a="http://schemas.openxmlformats.org/drawingml/2006/main">
            <a:r>
              <a:t>- Asset propio aprobado: U09-DG-041.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Separar acondicionamiento de aislamiento.</a:t>
            </a:r>
          </a:p>
          <a:p xmlns:a="http://schemas.openxmlformats.org/drawingml/2006/main">
            <a:r>
              <a:t>- **Explicación extendida:** Preparar el bloque de aislamiento sin resolverlo todavía. Explicitar que `T_60` describe el decaimiento interior; no mide cuánto atraviesa el cerramiento.</a:t>
            </a:r>
          </a:p>
          <a:p xmlns:a="http://schemas.openxmlformats.org/drawingml/2006/main">
            <a:r>
              <a:t>- **Guía del visual o diagrama:** Presentar primero la estructura general y luego recorrer Dos preguntas y dos magnitudes: campo interior frente a paso entre recintos. Cerrar señalando la idea central, sin leer todas las cajas como una lista.</a:t>
            </a:r>
          </a:p>
          <a:p xmlns:a="http://schemas.openxmlformats.org/drawingml/2006/main">
            <a:r>
              <a:t>- **Pregunta al grupo:** ¿Cómo reformularían la afirmación “Un T_60 corto significa buen aislamiento” para que sea físicamente válida?</a:t>
            </a:r>
          </a:p>
          <a:p xmlns:a="http://schemas.openxmlformats.org/drawingml/2006/main">
            <a:r>
              <a:t>- **Respuesta esperada:** `T_60` describe el decaimiento interior; no mide cuánto atraviesa el cerramiento.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Confundir tiempo de reverberación con aislamiento o con un criterio universal de calidad.</a:t>
            </a:r>
          </a:p>
          <a:p xmlns:a="http://schemas.openxmlformats.org/drawingml/2006/main">
            <a:r>
              <a:t>- **Transición:** Ofrecer una demostración opcional y segura.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U09-DG-042, candidata para diagram-generation. La composición permite reconocer que t₆₀ describe el decaimiento interior; no mide cuánto atraviesa el cerramiento.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Programa p. 5; LaTeX 9.7.3–9.8; PDF pp. 242–247.</a:t>
            </a:r>
          </a:p>
          <a:p xmlns:a="http://schemas.openxmlformats.org/drawingml/2006/main">
            <a:r>
              <a:t>- Asset propio aprobado: U09-DG-042.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5 min.</a:t>
            </a:r>
          </a:p>
          <a:p xmlns:a="http://schemas.openxmlformats.org/drawingml/2006/main">
            <a:r>
              <a:t>- **Propósito docente:** Vincular experiencia auditiva con representación temporal.</a:t>
            </a:r>
          </a:p>
          <a:p xmlns:a="http://schemas.openxmlformats.org/drawingml/2006/main">
            <a:r>
              <a:t>- **Explicación extendida:** Mantener nivel seguro; no usarlo como medición ni pedir autodiagnóstico. Explicitar que la diferencia audible debe acompañarse con forma de onda o envolvente y condiciones de reproducción.</a:t>
            </a:r>
          </a:p>
          <a:p xmlns:a="http://schemas.openxmlformats.org/drawingml/2006/main">
            <a:r>
              <a:t>- **Guía del visual o diagrama:** Presentar primero la estructura general y luego recorrer Audio breve de habla seca/reverberada o animación de decaimiento, Alternativa estática completa. Cerrar señalando la idea central, sin leer todas las cajas como una lista.</a:t>
            </a:r>
          </a:p>
          <a:p xmlns:a="http://schemas.openxmlformats.org/drawingml/2006/main">
            <a:r>
              <a:t>- **Pregunta al grupo:** ¿Cuál es la afirmación principal que esta slide permite sostener?</a:t>
            </a:r>
          </a:p>
          <a:p xmlns:a="http://schemas.openxmlformats.org/drawingml/2006/main">
            <a:r>
              <a:t>- **Respuesta esperada:** La diferencia audible debe acompañarse con forma de onda o envolvente y condiciones de reproducción.</a:t>
            </a:r>
          </a:p>
          <a:p xmlns:a="http://schemas.openxmlformats.org/drawingml/2006/main">
            <a:r>
              <a:t>- **Demostración o revelado:** Reproducir primero habla seca y luego reverberada a nivel seguro; mostrar en simultáneo la alternativa estática de la envolvente.</a:t>
            </a:r>
          </a:p>
          <a:p xmlns:a="http://schemas.openxmlformats.org/drawingml/2006/main">
            <a:r>
              <a:t>- **Error frecuente:** Mantener nivel seguro; no usarlo como medición ni pedir autodiagnóstico.</a:t>
            </a:r>
          </a:p>
          <a:p xmlns:a="http://schemas.openxmlformats.org/drawingml/2006/main">
            <a:r>
              <a:t>- **Transición:** Recapitular qué describe cada magnitud antes de pasar de sala a pared.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[Media]</a:t>
            </a:r>
          </a:p>
          <a:p xmlns:a="http://schemas.openxmlformats.org/drawingml/2006/main">
            <a:r>
              <a:t>U09-MEDIA-001 identificado; no embebido en v01. Reproducir solo si se dispone del audio aprobado y mantener la alternativa estática.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U09-MEDIA-001 y U09-CH-006. La composición permite reconocer que la diferencia audible debe acompañarse con forma de onda o envolvente y condiciones de reproducción.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9.7.3; brief demostraciones; AGENTS seguridad.</a:t>
            </a:r>
          </a:p>
          <a:p xmlns:a="http://schemas.openxmlformats.org/drawingml/2006/main">
            <a:r>
              <a:t>- Asset propio aprobado: U09-CH-006.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Consolidar el modelo de sala.</a:t>
            </a:r>
          </a:p>
          <a:p xmlns:a="http://schemas.openxmlformats.org/drawingml/2006/main">
            <a:r>
              <a:t>- **Explicación extendida:** Repetir reflexión/reverberación con función nueva: conectar mecanismo y descriptor cuantitativo. Explicitar que reflexiones explican persistencia; `T_60` y Sabine resumen bajo hipótesis, no miden aislamiento.</a:t>
            </a:r>
          </a:p>
          <a:p xmlns:a="http://schemas.openxmlformats.org/drawingml/2006/main">
            <a:r>
              <a:t>- **Guía del visual o diagrama:** Presentar primero la estructura general y luego recorrer Cadena: geometría → llegadas → decaimiento → `T_60`, Caja separada de límites. Cerrar señalando la idea central, sin leer todas las cajas como una lista.</a:t>
            </a:r>
          </a:p>
          <a:p xmlns:a="http://schemas.openxmlformats.org/drawingml/2006/main">
            <a:r>
              <a:t>- **Pregunta al grupo:** ¿Qué recorrido o relación del esquema sostiene la idea central?</a:t>
            </a:r>
          </a:p>
          <a:p xmlns:a="http://schemas.openxmlformats.org/drawingml/2006/main">
            <a:r>
              <a:t>- **Respuesta esperada:** Reflexiones explican persistencia; `T_60` y Sabine resumen bajo hipótesis, no miden aislamiento.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Confundir tiempo de reverberación con aislamiento o con un criterio universal de calidad.</a:t>
            </a:r>
          </a:p>
          <a:p xmlns:a="http://schemas.openxmlformats.org/drawingml/2006/main">
            <a:r>
              <a:t>- **Transición:** Preguntar ahora qué describe la energía que sí atraviesa el cerramiento.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U09-DG-043, candidata para diagram-generation. La composición permite reconocer que reflexiones explican persistencia; t₆₀ y sabine resumen bajo hipótesis, no miden aislamiento.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9.7.1–9.7.3; PDF pp. 242–243.</a:t>
            </a:r>
          </a:p>
          <a:p xmlns:a="http://schemas.openxmlformats.org/drawingml/2006/main">
            <a:r>
              <a:t>- Asset propio aprobado: U09-DG-043.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 min.</a:t>
            </a:r>
          </a:p>
          <a:p xmlns:a="http://schemas.openxmlformats.org/drawingml/2006/main">
            <a:r>
              <a:t>- **Propósito docente:** Enunciar la pregunta guía del bloque.</a:t>
            </a:r>
          </a:p>
          <a:p xmlns:a="http://schemas.openxmlformats.org/drawingml/2006/main">
            <a:r>
              <a:t>- **Explicación extendida:** Distinguir objetivo de mecanismo y descriptor. Explicitar que aislar exige analizar el conjunto y sus rutas, no solo una superficie ideal.</a:t>
            </a:r>
          </a:p>
          <a:p xmlns:a="http://schemas.openxmlformats.org/drawingml/2006/main">
            <a:r>
              <a:t>- **Guía del visual o diagrama:** Presentar primero la estructura general y luego recorrer Pregunta guía con recinto emisor y receptor. Cerrar señalando la idea central, sin leer todas las cajas como una lista.</a:t>
            </a:r>
          </a:p>
          <a:p xmlns:a="http://schemas.openxmlformats.org/drawingml/2006/main">
            <a:r>
              <a:t>- **Pregunta al grupo:** ¿Qué limita el paso entre espacios?</a:t>
            </a:r>
          </a:p>
          <a:p xmlns:a="http://schemas.openxmlformats.org/drawingml/2006/main">
            <a:r>
              <a:t>- **Respuesta esperada:** Aislar exige analizar el conjunto y sus rutas, no solo una superficie ideal.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Distinguir objetivo de mecanismo y descriptor.</a:t>
            </a:r>
          </a:p>
          <a:p xmlns:a="http://schemas.openxmlformats.org/drawingml/2006/main">
            <a:r>
              <a:t>- **Transición:** Comenzar por la fracción transmitida.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Corte simple de dos recintos. La composición permite reconocer que aislar exige analizar el conjunto y sus rutas, no solo una superficie ideal.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brief U9, bloque 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**Propósito docente:** Relacionar transmisión energética y reducción sonora.</a:t>
            </a:r>
          </a:p>
          <a:p xmlns:a="http://schemas.openxmlformats.org/drawingml/2006/main">
            <a:r>
              <a:t>- **Explicación extendida:** Aclarar que `R` no es cualquier diferencia de niveles medida in situ. Explicitar que menor fracción transmitida corresponde a mayor `R`.</a:t>
            </a:r>
          </a:p>
          <a:p xmlns:a="http://schemas.openxmlformats.org/drawingml/2006/main">
            <a:r>
              <a:t>- **Guía del visual o diagrama:** Presentar primero la estructura general y luego recorrer `R = 10 log10(1/τ_E)`, Símbolos, unidad dB y dominio, Ejemplos 0,01 y 0,001. Cerrar señalando la idea central, sin leer todas las cajas como una lista.</a:t>
            </a:r>
          </a:p>
          <a:p xmlns:a="http://schemas.openxmlformats.org/drawingml/2006/main">
            <a:r>
              <a:t>- **Pregunta al grupo:** ¿Qué magnitud cambia, en qué sentido y bajo qué condiciones?</a:t>
            </a:r>
          </a:p>
          <a:p xmlns:a="http://schemas.openxmlformats.org/drawingml/2006/main">
            <a:r>
              <a:t>- **Respuesta esperada:** Menor fracción transmitida corresponde a mayor `R`.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Aclarar que `R` no es cualquier diferencia de niveles medida in situ.</a:t>
            </a:r>
          </a:p>
          <a:p xmlns:a="http://schemas.openxmlformats.org/drawingml/2006/main">
            <a:r>
              <a:t>- **Transición:** Hacer visible la relación en una curva.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U09-DG-044, candidata para diagram-generation. La composición permite reconocer que menor fracción transmitida corresponde a mayor 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ec. 9.9; PDF pp. 244–245; notation_guide.</a:t>
            </a:r>
          </a:p>
          <a:p xmlns:a="http://schemas.openxmlformats.org/drawingml/2006/main">
            <a:r>
              <a:t>- Asset propio aprobado: U09-DG-044.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**Propósito docente:** Leer la relación `τ_E ↔ R`.</a:t>
            </a:r>
          </a:p>
          <a:p xmlns:a="http://schemas.openxmlformats.org/drawingml/2006/main">
            <a:r>
              <a:t>- **Explicación extendida:** Exigir lectura de ejes; relacionar 1 %, 0,1 % y 0,01 % sin sugerir desempeño constructivo total. Explicitar que cada década menos de transmisión suma 10 dB al índice ideal.</a:t>
            </a:r>
          </a:p>
          <a:p xmlns:a="http://schemas.openxmlformats.org/drawingml/2006/main">
            <a:r>
              <a:t>- **Guía del visual o diagrama:** Presentar primero la estructura general y luego recorrer Curva o eje doble con `τ_E` de 1 a 10⁻⁶ y `R` correspondiente. Cerrar señalando la idea central, sin leer todas las cajas como una lista.</a:t>
            </a:r>
          </a:p>
          <a:p xmlns:a="http://schemas.openxmlformats.org/drawingml/2006/main">
            <a:r>
              <a:t>- **Pregunta al grupo:** ¿Qué magnitud cambia, en qué sentido y bajo qué condiciones?</a:t>
            </a:r>
          </a:p>
          <a:p xmlns:a="http://schemas.openxmlformats.org/drawingml/2006/main">
            <a:r>
              <a:t>- **Respuesta esperada:** Cada década menos de transmisión suma 10 dB al índice ideal.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Extrapolar el desempeño de un elemento ideal al conjunto construido y omitir rutas débiles.</a:t>
            </a:r>
          </a:p>
          <a:p xmlns:a="http://schemas.openxmlformats.org/drawingml/2006/main">
            <a:r>
              <a:t>- **Transición:** Pasar del elemento ideal al conjunto construido.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U09-CH-007 transmisión frente a índice. La composición permite reconocer que cada década menos de transmisión suma 10 db al índice ideal.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Ecuación 9.9; datos generados por fórmula.</a:t>
            </a:r>
          </a:p>
          <a:p xmlns:a="http://schemas.openxmlformats.org/drawingml/2006/main">
            <a:r>
              <a:t>- Asset propio aprobado: U09-CH-007.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Reconocer transmisión directa, fugas y rutas laterales.</a:t>
            </a:r>
          </a:p>
          <a:p xmlns:a="http://schemas.openxmlformats.org/drawingml/2006/main">
            <a:r>
              <a:t>- **Explicación extendida:** Diseñar conectores detrás de nodos y separar rutas por revelado; no prescribir soluciones. Explicitar que el desempeño del conjunto puede quedar limitado por una ruta débil.</a:t>
            </a:r>
          </a:p>
          <a:p xmlns:a="http://schemas.openxmlformats.org/drawingml/2006/main">
            <a:r>
              <a:t>- **Guía del visual o diagrama:** Presentar primero la estructura general y luego recorrer Pared principal, puerta, junta, ventilación, estructura y flanqueo, Emisor/receptor. Cerrar señalando la idea central, sin leer todas las cajas como una lista.</a:t>
            </a:r>
          </a:p>
          <a:p xmlns:a="http://schemas.openxmlformats.org/drawingml/2006/main">
            <a:r>
              <a:t>- **Pregunta al grupo:** ¿Qué recorrido o relación del esquema sostiene la idea central?</a:t>
            </a:r>
          </a:p>
          <a:p xmlns:a="http://schemas.openxmlformats.org/drawingml/2006/main">
            <a:r>
              <a:t>- **Respuesta esperada:** El desempeño del conjunto puede quedar limitado por una ruta débil.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Diseñar conectores detrás de nodos y separar rutas por revelado; no prescribir soluciones.</a:t>
            </a:r>
          </a:p>
          <a:p xmlns:a="http://schemas.openxmlformats.org/drawingml/2006/main">
            <a:r>
              <a:t>- **Transición:** Comparar tres objetivos que suelen llamarse “reducir sonido”.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U09-DG-045, candidata para diagram-generation. La composición permite reconocer que el desempeño del conjunto puede quedar limitado por una ruta débil.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9.8–9.8.1; PDF pp. 245–249.</a:t>
            </a:r>
          </a:p>
          <a:p xmlns:a="http://schemas.openxmlformats.org/drawingml/2006/main">
            <a:r>
              <a:t>- Asset propio aprobado: U09-DG-045.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Elegir términos según el objetivo físico.</a:t>
            </a:r>
          </a:p>
          <a:p xmlns:a="http://schemas.openxmlformats.org/drawingml/2006/main">
            <a:r>
              <a:t>- **Explicación extendida:** Evitar presentar “insonorización” como magnitud; usar el glosario del curso. Explicitar que acondicionar modifica el campo interior; aislar limita transmisión; insonorizar es un objetivo general.</a:t>
            </a:r>
          </a:p>
          <a:p xmlns:a="http://schemas.openxmlformats.org/drawingml/2006/main">
            <a:r>
              <a:t>- **Guía del visual o diagrama:** Presentar primero la estructura general y luego recorrer Matriz objetivo–mecanismo–magnitud–verificación–ejemplo. Cerrar señalando la idea central, sin leer todas las cajas como una lista.</a:t>
            </a:r>
          </a:p>
          <a:p xmlns:a="http://schemas.openxmlformats.org/drawingml/2006/main">
            <a:r>
              <a:t>- **Pregunta al grupo:** ¿Qué recorrido o relación del esquema sostiene la idea central?</a:t>
            </a:r>
          </a:p>
          <a:p xmlns:a="http://schemas.openxmlformats.org/drawingml/2006/main">
            <a:r>
              <a:t>- **Respuesta esperada:** Acondicionar modifica el campo interior; aislar limita transmisión; insonorizar es un objetivo general.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Evitar presentar “insonorización” como magnitud; usar el glosario del curso.</a:t>
            </a:r>
          </a:p>
          <a:p xmlns:a="http://schemas.openxmlformats.org/drawingml/2006/main">
            <a:r>
              <a:t>- **Transición:** Introducir una tendencia útil para una pared simple ideal.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U09-DG-046, candidata para diagram-generation. La composición permite reconocer que acondicionar modifica el campo interior; aislar limita transmisión; insonorizar es un objetivo general.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Programa p. 5; glossary; LaTeX 9.7–9.8; PDF pp. 242–249.</a:t>
            </a:r>
          </a:p>
          <a:p xmlns:a="http://schemas.openxmlformats.org/drawingml/2006/main">
            <a:r>
              <a:t>- Asset propio aprobado: U09-DG-046.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Preparar la ley de masas con una magnitud clara.</a:t>
            </a:r>
          </a:p>
          <a:p xmlns:a="http://schemas.openxmlformats.org/drawingml/2006/main">
            <a:r>
              <a:t>- **Explicación extendida:** Señalar que `m_s` es elección didáctica provisional coherente con la guía. Explicitar que para una hoja simple ideal importa la masa superficial, no solo el material o el espesor por separado.</a:t>
            </a:r>
          </a:p>
          <a:p xmlns:a="http://schemas.openxmlformats.org/drawingml/2006/main">
            <a:r>
              <a:t>- **Guía del visual o diagrama:** Presentar primero la estructura general y luego recorrer Definición `m_s = masa/área`, unidad `kg·m⁻²` y dos paneles comparables. Cerrar señalando la idea central, sin leer todas las cajas como una lista.</a:t>
            </a:r>
          </a:p>
          <a:p xmlns:a="http://schemas.openxmlformats.org/drawingml/2006/main">
            <a:r>
              <a:t>- **Pregunta al grupo:** ¿Cuál es la afirmación principal que esta slide permite sostener?</a:t>
            </a:r>
          </a:p>
          <a:p xmlns:a="http://schemas.openxmlformats.org/drawingml/2006/main">
            <a:r>
              <a:t>- **Respuesta esperada:** Para una hoja simple ideal importa la masa superficial, no solo el material o el espesor por separado.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Extrapolar el desempeño de un elemento ideal al conjunto construido y omitir rutas débiles.</a:t>
            </a:r>
          </a:p>
          <a:p xmlns:a="http://schemas.openxmlformats.org/drawingml/2006/main">
            <a:r>
              <a:t>- **Transición:** Presentar primero la tendencia relativa de la ley.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U09-DG-047, candidata para diagram-generation. La composición permite reconocer que para una hoja simple ideal importa la masa superficial, no solo el material o el espesor por separado.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9.8; PDF pp. 245–246; open_decisions OD-U09-06.</a:t>
            </a:r>
          </a:p>
          <a:p xmlns:a="http://schemas.openxmlformats.org/drawingml/2006/main">
            <a:r>
              <a:t>- Asset propio aprobado: U09-DG-047.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**Propósito docente:** Interpretar la dependencia con masa y frecuencia.</a:t>
            </a:r>
          </a:p>
          <a:p xmlns:a="http://schemas.openxmlformats.org/drawingml/2006/main">
            <a:r>
              <a:t>- **Explicación extendida:** Evitar fijar un valor absoluto hasta verificar convención; priorizar `ΔR`. Explicitar que en la región controlada por masa, duplicar `m_s` o `f` aumenta aproximadamente 6 dB.</a:t>
            </a:r>
          </a:p>
          <a:p xmlns:a="http://schemas.openxmlformats.org/drawingml/2006/main">
            <a:r>
              <a:t>- **Guía del visual o diagrama:** Presentar primero la estructura general y luego recorrer Forma didáctica de la ley, término dependiente de convención y cambios relativos seguros. Cerrar señalando la idea central, sin leer todas las cajas como una lista.</a:t>
            </a:r>
          </a:p>
          <a:p xmlns:a="http://schemas.openxmlformats.org/drawingml/2006/main">
            <a:r>
              <a:t>- **Pregunta al grupo:** ¿Qué magnitud cambia, en qué sentido y bajo qué condiciones?</a:t>
            </a:r>
          </a:p>
          <a:p xmlns:a="http://schemas.openxmlformats.org/drawingml/2006/main">
            <a:r>
              <a:t>- **Respuesta esperada:** En la región controlada por masa, duplicar `m_s` o `f` aumenta aproximadamente 6 dB.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Evitar fijar un valor absoluto hasta verificar convención; priorizar `ΔR`.</a:t>
            </a:r>
          </a:p>
          <a:p xmlns:a="http://schemas.openxmlformats.org/drawingml/2006/main">
            <a:r>
              <a:t>- **Transición:** Resolver solo la duplicación relativa.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U09-DG-048, candidata para diagram-generation. La composición permite reconocer que en la región controlada por masa, duplicar mₛ o f aumenta aproximadamente 6 db.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ec. 9.10; PDF pp. 245–246; open_decisions OD-U09-17.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5 min.</a:t>
            </a:r>
          </a:p>
          <a:p xmlns:a="http://schemas.openxmlformats.org/drawingml/2006/main">
            <a:r>
              <a:t>- **Propósito docente:** Practicar la pendiente relativa.</a:t>
            </a:r>
          </a:p>
          <a:p xmlns:a="http://schemas.openxmlformats.org/drawingml/2006/main">
            <a:r>
              <a:t>- **Explicación extendida:** Exigir “bajo el modelo” en la conclusión y separar pared de cabina completa. Explicitar que el cambio ideal es `20 log10 2 ≈ 6,02 dB`; no garantiza el desempeño real del sistema.</a:t>
            </a:r>
          </a:p>
          <a:p xmlns:a="http://schemas.openxmlformats.org/drawingml/2006/main">
            <a:r>
              <a:t>- **Guía del visual o diagrama:** Presentar primero la estructura general y luego recorrer Dos comparaciones relativas y una pregunta de interpretación. Cerrar señalando la idea central, sin leer todas las cajas como una lista.</a:t>
            </a:r>
          </a:p>
          <a:p xmlns:a="http://schemas.openxmlformats.org/drawingml/2006/main">
            <a:r>
              <a:t>- **Pregunta al grupo:** ¿Qué evidencia o cálculo permite responder “¿Qué cambia al duplicar masa o frecuencia?” sin exceder el modelo?</a:t>
            </a:r>
          </a:p>
          <a:p xmlns:a="http://schemas.openxmlformats.org/drawingml/2006/main">
            <a:r>
              <a:t>- **Respuesta esperada:** El cambio ideal es `20 log10 2 ≈ 6,02 dB`; no garantiza el desempeño real del sistema.</a:t>
            </a:r>
          </a:p>
          <a:p xmlns:a="http://schemas.openxmlformats.org/drawingml/2006/main">
            <a:r>
              <a:t>- **Demostración o revelado:** Dar tiempo de respuesta antes del revelado; registrar la justificación, no solo la opción elegida.</a:t>
            </a:r>
          </a:p>
          <a:p xmlns:a="http://schemas.openxmlformats.org/drawingml/2006/main">
            <a:r>
              <a:t>- **Error frecuente:** Extrapolar el desempeño de un elemento ideal al conjunto construido y omitir rutas débiles.</a:t>
            </a:r>
          </a:p>
          <a:p xmlns:a="http://schemas.openxmlformats.org/drawingml/2006/main">
            <a:r>
              <a:t>- **Transición:** Mostrar dónde deja de describir bien una pared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Secuencia de cálculo U09-DG-049, candidata para diagram-generation. La composición permite reconocer que el cambio ideal es 20 log10 2 ≈ 6,02 db; no garantiza el desempeño real del sistema.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9.8; PDF pp. 245–246; content_inventory ejemplo 6.</a:t>
            </a:r>
          </a:p>
          <a:p xmlns:a="http://schemas.openxmlformats.org/drawingml/2006/main">
            <a:r>
              <a:t>- Asset propio aprobado: U09-DG-049.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Reconocer rigidez, resonancias y coincidencia como límites.</a:t>
            </a:r>
          </a:p>
          <a:p xmlns:a="http://schemas.openxmlformats.org/drawingml/2006/main">
            <a:r>
              <a:t>- **Explicación extendida:** No introducir frecuencia crítica ni diseño multicapa; usarla como mapa de límites. Explicitar que una pared real presenta regiones que la ley de masas simple no describe.</a:t>
            </a:r>
          </a:p>
          <a:p xmlns:a="http://schemas.openxmlformats.org/drawingml/2006/main">
            <a:r>
              <a:t>- **Guía del visual o diagrama:** Presentar primero la estructura general y luego recorrer Curva conceptual por frecuencia con zonas rotuladas y región de masa destacada. Cerrar señalando la idea central, sin leer todas las cajas como una lista.</a:t>
            </a:r>
          </a:p>
          <a:p xmlns:a="http://schemas.openxmlformats.org/drawingml/2006/main">
            <a:r>
              <a:t>- **Pregunta al grupo:** ¿Cuál es la afirmación principal que esta slide permite sostener?</a:t>
            </a:r>
          </a:p>
          <a:p xmlns:a="http://schemas.openxmlformats.org/drawingml/2006/main">
            <a:r>
              <a:t>- **Respuesta esperada:** Una pared real presenta regiones que la ley de masas simple no describe.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No introducir frecuencia crítica ni diseño multicapa; usarla como mapa de límites.</a:t>
            </a:r>
          </a:p>
          <a:p xmlns:a="http://schemas.openxmlformats.org/drawingml/2006/main">
            <a:r>
              <a:t>- **Transición:** Volver al principio de ruta débil.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U09-CH-008 ley de masas con regiones cualitativas. La composición permite reconocer que una pared real presenta regiones que la ley de masas simple no describe.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9.8; PDF pp. 245–246; figura ley-masas-pared-simple.tex.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Mostrar el dominio del conjunto y las rutas laterales.</a:t>
            </a:r>
          </a:p>
          <a:p xmlns:a="http://schemas.openxmlformats.org/drawingml/2006/main">
            <a:r>
              <a:t>- **Explicación extendida:** No asignar valores comerciales; pedir identificar la ruta limitante. Explicitar que mejorar el elemento principal no compensa automáticamente fugas, accesos o flanqueo.</a:t>
            </a:r>
          </a:p>
          <a:p xmlns:a="http://schemas.openxmlformats.org/drawingml/2006/main">
            <a:r>
              <a:t>- **Guía del visual o diagrama:** Presentar primero la estructura general y luego recorrer Dos escenarios con mismo panel y distinta junta/puerta, Comparación cualitativa. Cerrar señalando la idea central, sin leer todas las cajas como una lista.</a:t>
            </a:r>
          </a:p>
          <a:p xmlns:a="http://schemas.openxmlformats.org/drawingml/2006/main">
            <a:r>
              <a:t>- **Pregunta al grupo:** ¿Cuál es la afirmación principal que esta slide permite sostener?</a:t>
            </a:r>
          </a:p>
          <a:p xmlns:a="http://schemas.openxmlformats.org/drawingml/2006/main">
            <a:r>
              <a:t>- **Respuesta esperada:** Mejorar el elemento principal no compensa automáticamente fugas, accesos o flanqueo.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No asignar valores comerciales; pedir identificar la ruta limitante.</a:t>
            </a:r>
          </a:p>
          <a:p xmlns:a="http://schemas.openxmlformats.org/drawingml/2006/main">
            <a:r>
              <a:t>- **Transición:** Cerrar con una decisión entre acondicionar, aislar o medir.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Imagen técnica U09-IMG-002 o diagrama U09-DG-050, candidata para diagram-generation. La composición permite reconocer que mejorar el elemento principal no compensa automáticamente fugas, accesos o flanqueo.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9.8–9.8.1; PDF pp. 245–249.</a:t>
            </a:r>
          </a:p>
          <a:p xmlns:a="http://schemas.openxmlformats.org/drawingml/2006/main">
            <a:r>
              <a:t>- Asset propio aprobado: U09-DG-050.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5 min.</a:t>
            </a:r>
          </a:p>
          <a:p xmlns:a="http://schemas.openxmlformats.org/drawingml/2006/main">
            <a:r>
              <a:t>- **Propósito docente:** Consolidar aislamiento y límites del modelo.</a:t>
            </a:r>
          </a:p>
          <a:p xmlns:a="http://schemas.openxmlformats.org/drawingml/2006/main">
            <a:r>
              <a:t>- **Explicación extendida:** Repetir la distinción de U09-054 con función nueva: seleccionar descriptor o intervención pertinente. Explicitar que `τ_E`, `R` y ley de masas describen relaciones acotadas; el aislamiento real pertenece al sistema.</a:t>
            </a:r>
          </a:p>
          <a:p xmlns:a="http://schemas.openxmlformats.org/drawingml/2006/main">
            <a:r>
              <a:t>- **Guía del visual o diagrama:** Presentar primero la estructura general y luego recorrer Tres casos: absorbente interior, panel más pesado y puerta abierta, Decisión y justificación. Cerrar señalando la idea central, sin leer todas las cajas como una lista.</a:t>
            </a:r>
          </a:p>
          <a:p xmlns:a="http://schemas.openxmlformats.org/drawingml/2006/main">
            <a:r>
              <a:t>- **Pregunta al grupo:** ¿Qué evidencia o cálculo permite responder “¿Elemento, conjunto o ruta débil?” sin exceder el modelo?</a:t>
            </a:r>
          </a:p>
          <a:p xmlns:a="http://schemas.openxmlformats.org/drawingml/2006/main">
            <a:r>
              <a:t>- **Respuesta esperada:** `τ_E`, `R` y ley de masas describen relaciones acotadas; el aislamiento real pertenece al sistema.</a:t>
            </a:r>
          </a:p>
          <a:p xmlns:a="http://schemas.openxmlformats.org/drawingml/2006/main">
            <a:r>
              <a:t>- **Demostración o revelado:** Dar tiempo de respuesta antes del revelado; registrar la justificación, no solo la opción elegida.</a:t>
            </a:r>
          </a:p>
          <a:p xmlns:a="http://schemas.openxmlformats.org/drawingml/2006/main">
            <a:r>
              <a:t>- **Error frecuente:** Extrapolar el desempeño de un elemento ideal al conjunto construido y omitir rutas débiles.</a:t>
            </a:r>
          </a:p>
          <a:p xmlns:a="http://schemas.openxmlformats.org/drawingml/2006/main">
            <a:r>
              <a:t>- **Transición:** Aplicar el enfoque de sistema a una cabina audiométrica.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U09-DG-051, candidata para diagram-generation. La composición permite reconocer que τ_e, r y ley de masas describen relaciones acotadas; el aislamiento real pertenece al sistema.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Programa p. 5; LaTeX 9.8; PDF pp. 244–249.</a:t>
            </a:r>
          </a:p>
          <a:p xmlns:a="http://schemas.openxmlformats.org/drawingml/2006/main">
            <a:r>
              <a:t>- Asset propio aprobado: U09-DG-051.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 min.</a:t>
            </a:r>
          </a:p>
          <a:p xmlns:a="http://schemas.openxmlformats.org/drawingml/2006/main">
            <a:r>
              <a:t>- **Propósito docente:** Enunciar la pregunta guía del bloque.</a:t>
            </a:r>
          </a:p>
          <a:p xmlns:a="http://schemas.openxmlformats.org/drawingml/2006/main">
            <a:r>
              <a:t>- **Explicación extendida:** Conectar con las mediciones de U8 y anticipar el requisito normativo. Explicitar que una cabina es un sistema de control y verificación, no una caja con espuma.</a:t>
            </a:r>
          </a:p>
          <a:p xmlns:a="http://schemas.openxmlformats.org/drawingml/2006/main">
            <a:r>
              <a:t>- **Guía del visual o diagrama:** Presentar primero la estructura general y luego recorrer Pregunta guía y tres dominios: envolvente, campo interior y medición. Cerrar señalando la idea central, sin leer todas las cajas como una lista.</a:t>
            </a:r>
          </a:p>
          <a:p xmlns:a="http://schemas.openxmlformats.org/drawingml/2006/main">
            <a:r>
              <a:t>- **Pregunta al grupo:** ¿Qué debe cumplir una cabina para una prueba concreta?</a:t>
            </a:r>
          </a:p>
          <a:p xmlns:a="http://schemas.openxmlformats.org/drawingml/2006/main">
            <a:r>
              <a:t>- **Respuesta esperada:** Una cabina es un sistema de control y verificación, no una caja con espuma.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Declarar aptitud de una cabina por su apariencia o por un único valor global en dB(A).</a:t>
            </a:r>
          </a:p>
          <a:p xmlns:a="http://schemas.openxmlformats.org/drawingml/2006/main">
            <a:r>
              <a:t>- **Transición:** Desarmar la representación ingenua.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Silueta de cabina con tres capas. La composición permite reconocer que una cabina es un sistema de control y verificación, no una caja con espuma.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brief U9, bloque 7; programa p.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Separar tratamiento interior y aislamiento.</a:t>
            </a:r>
          </a:p>
          <a:p xmlns:a="http://schemas.openxmlformats.org/drawingml/2006/main">
            <a:r>
              <a:t>- **Explicación extendida:** Recuperar U09-054/U09-061 sin repetir definiciones; aplicar al objeto cabina. Explicitar que la absorción interior puede reducir reflexiones sin impedir el ingreso de ruido exterior.</a:t>
            </a:r>
          </a:p>
          <a:p xmlns:a="http://schemas.openxmlformats.org/drawingml/2006/main">
            <a:r>
              <a:t>- **Guía del visual o diagrama:** Presentar primero la estructura general y luego recorrer Dos cabinas conceptuales: absorbente con fugas y envolvente sellada con campo interior sin tratar. Cerrar señalando la idea central, sin leer todas las cajas como una lista.</a:t>
            </a:r>
          </a:p>
          <a:p xmlns:a="http://schemas.openxmlformats.org/drawingml/2006/main">
            <a:r>
              <a:t>- **Pregunta al grupo:** ¿Cómo reformularían la afirmación “Si tiene espuma, está insonorizada” para que sea físicamente válida?</a:t>
            </a:r>
          </a:p>
          <a:p xmlns:a="http://schemas.openxmlformats.org/drawingml/2006/main">
            <a:r>
              <a:t>- **Respuesta esperada:** La absorción interior puede reducir reflexiones sin impedir el ingreso de ruido exterior.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Declarar aptitud de una cabina por su apariencia o por un único valor global en dB(A).</a:t>
            </a:r>
          </a:p>
          <a:p xmlns:a="http://schemas.openxmlformats.org/drawingml/2006/main">
            <a:r>
              <a:t>- **Transición:** Identificar los elementos reales del sistema.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U09-DG-052, candidata para diagram-generation. La composición permite reconocer que la absorción interior puede reducir reflexiones sin impedir el ingreso de ruido exterior.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9.8.1; PDF pp. 247–249; glossary.</a:t>
            </a:r>
          </a:p>
          <a:p xmlns:a="http://schemas.openxmlformats.org/drawingml/2006/main">
            <a:r>
              <a:t>- Asset propio aprobado: U09-DG-052.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Reconocer componentes que condicionan el desempeño.</a:t>
            </a:r>
          </a:p>
          <a:p xmlns:a="http://schemas.openxmlformats.org/drawingml/2006/main">
            <a:r>
              <a:t>- **Explicación extendida:** Dividir el diagrama del libro en dos slides para sostener 22–24 pt y corredores libres. Explicitar que envolvente, puerta, visor, sellos, ventilación, pasacables, uniones y apoyos interactúan.</a:t>
            </a:r>
          </a:p>
          <a:p xmlns:a="http://schemas.openxmlformats.org/drawingml/2006/main">
            <a:r>
              <a:t>- **Guía del visual o diagrama:** Presentar primero la estructura general y luego recorrer Corte de cabina con componentes agrupados por función, Sin rutas todavía. Cerrar señalando la idea central, sin leer todas las cajas como una lista.</a:t>
            </a:r>
          </a:p>
          <a:p xmlns:a="http://schemas.openxmlformats.org/drawingml/2006/main">
            <a:r>
              <a:t>- **Pregunta al grupo:** ¿Qué recorrido o relación del esquema sostiene la idea central?</a:t>
            </a:r>
          </a:p>
          <a:p xmlns:a="http://schemas.openxmlformats.org/drawingml/2006/main">
            <a:r>
              <a:t>- **Respuesta esperada:** Envolvente, puerta, visor, sellos, ventilación, pasacables, uniones y apoyos interactúan.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Declarar aptitud de una cabina por su apariencia o por un único valor global en dB(A).</a:t>
            </a:r>
          </a:p>
          <a:p xmlns:a="http://schemas.openxmlformats.org/drawingml/2006/main">
            <a:r>
              <a:t>- **Transición:** Sobre el mismo sistema, revelar las rutas de ingreso.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U09-DG-053, candidata para diagram-generation, primera mitad de figura 9.6. La composición permite reconocer que envolvente, puerta, visor, sellos, ventilación, pasacables, uniones y apoyos interactúan.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9.8.1; PDF pp. 247–249; cabina-sistema.tex.</a:t>
            </a:r>
          </a:p>
          <a:p xmlns:a="http://schemas.openxmlformats.org/drawingml/2006/main">
            <a:r>
              <a:t>- Asset propio aprobado: U09-DG-053.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Analizar transmisión directa, fugas, ventilación, estructura y ruido propio.</a:t>
            </a:r>
          </a:p>
          <a:p xmlns:a="http://schemas.openxmlformats.org/drawingml/2006/main">
            <a:r>
              <a:t>- **Explicación extendida:** Revelar una ruta por vez; no cruzar texto ni implicar atenuaciones sin medir. Explicitar que la ruta dominante puede no atravesar el panel principal.</a:t>
            </a:r>
          </a:p>
          <a:p xmlns:a="http://schemas.openxmlformats.org/drawingml/2006/main">
            <a:r>
              <a:t>- **Guía del visual o diagrama:** Presentar primero la estructura general y luego recorrer Rutas separadas por color y etiqueta: envolvente, juntas, conductos, flanqueo, vibración y equipos. Cerrar señalando la idea central, sin leer todas las cajas como una lista.</a:t>
            </a:r>
          </a:p>
          <a:p xmlns:a="http://schemas.openxmlformats.org/drawingml/2006/main">
            <a:r>
              <a:t>- **Pregunta al grupo:** ¿Qué recorrido o relación del esquema sostiene la idea central?</a:t>
            </a:r>
          </a:p>
          <a:p xmlns:a="http://schemas.openxmlformats.org/drawingml/2006/main">
            <a:r>
              <a:t>- **Respuesta esperada:** La ruta dominante puede no atravesar el panel principal.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Revelar una ruta por vez; no cruzar texto ni implicar atenuaciones sin medir.</a:t>
            </a:r>
          </a:p>
          <a:p xmlns:a="http://schemas.openxmlformats.org/drawingml/2006/main">
            <a:r>
              <a:t>- **Transición:** Conectar elementos y rutas con lo que debe verificarse.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U09-DG-054, candidata para diagram-generation, segunda mitad de figura 9.6. La composición permite reconocer que la ruta dominante puede no atravesar el panel principal.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9.8.1; PDF pp. 247–249.</a:t>
            </a:r>
          </a:p>
          <a:p xmlns:a="http://schemas.openxmlformats.org/drawingml/2006/main">
            <a:r>
              <a:t>- Asset propio aprobado: U09-DG-054.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**Propósito docente:** Ordenar una cadena metrológica mínima.</a:t>
            </a:r>
          </a:p>
          <a:p xmlns:a="http://schemas.openxmlformats.org/drawingml/2006/main">
            <a:r>
              <a:t>- **Explicación extendida:** Distinguir verificación de diseño y certificación; no inventar tolerancias. Explicitar que la aptitud depende de prueba, vía, transductor, bandas, nivel mínimo y procedimiento.</a:t>
            </a:r>
          </a:p>
          <a:p xmlns:a="http://schemas.openxmlformats.org/drawingml/2006/main">
            <a:r>
              <a:t>- **Guía del visual o diagrama:** Presentar primero la estructura general y luego recorrer Secuencia: definir prueba → seleccionar criterio → medir por bandas → comparar → documentar. Cerrar señalando la idea central, sin leer todas las cajas como una lista.</a:t>
            </a:r>
          </a:p>
          <a:p xmlns:a="http://schemas.openxmlformats.org/drawingml/2006/main">
            <a:r>
              <a:t>- **Pregunta al grupo:** ¿Qué recorrido o relación del esquema sostiene la idea central?</a:t>
            </a:r>
          </a:p>
          <a:p xmlns:a="http://schemas.openxmlformats.org/drawingml/2006/main">
            <a:r>
              <a:t>- **Respuesta esperada:** La aptitud depende de prueba, vía, transductor, bandas, nivel mínimo y procedimiento.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Distinguir verificación de diseño y certificación; no inventar tolerancias.</a:t>
            </a:r>
          </a:p>
          <a:p xmlns:a="http://schemas.openxmlformats.org/drawingml/2006/main">
            <a:r>
              <a:t>- **Transición:** Mostrar por qué un solo dB(A) no responde la pregunta.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U09-DG-055, candidata para diagram-generation. La composición permite reconocer que la aptitud depende de prueba, vía, transductor, bandas, nivel mínimo y procedimiento.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9.8.1; PDF pp. 247–249; programa p. 5.</a:t>
            </a:r>
          </a:p>
          <a:p xmlns:a="http://schemas.openxmlformats.org/drawingml/2006/main">
            <a:r>
              <a:t>- Asset propio aprobado: U09-DG-055.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Desactivar un criterio de aceptación inválido.</a:t>
            </a:r>
          </a:p>
          <a:p xmlns:a="http://schemas.openxmlformats.org/drawingml/2006/main">
            <a:r>
              <a:t>- **Explicación extendida:** Aclarar que dB(A) puede ser útil en otros contextos, pero no certifica por sí solo una cabina. Explicitar que un valor global no sustituye límites por bandas y condiciones audiométricas.</a:t>
            </a:r>
          </a:p>
          <a:p xmlns:a="http://schemas.openxmlformats.org/drawingml/2006/main">
            <a:r>
              <a:t>- **Guía del visual o diagrama:** Presentar primero la estructura general y luego recorrer Dos representaciones sin cifras normativas: valor global y espectro por bandas, Preguntas que cada una permite responder. Cerrar señalando la idea central, sin leer todas las cajas como una lista.</a:t>
            </a:r>
          </a:p>
          <a:p xmlns:a="http://schemas.openxmlformats.org/drawingml/2006/main">
            <a:r>
              <a:t>- **Pregunta al grupo:** ¿Cuál es la afirmación principal que esta slide permite sostener?</a:t>
            </a:r>
          </a:p>
          <a:p xmlns:a="http://schemas.openxmlformats.org/drawingml/2006/main">
            <a:r>
              <a:t>- **Respuesta esperada:** Un valor global no sustituye límites por bandas y condiciones audiométricas.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Aclarar que dB(A) puede ser útil en otros contextos, pero no certifica por sí solo una cabina.</a:t>
            </a:r>
          </a:p>
          <a:p xmlns:a="http://schemas.openxmlformats.org/drawingml/2006/main">
            <a:r>
              <a:t>- **Transición:** Enumerar la información que debe acompañar un límite.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U09-CH-009 comparación conceptual global/bandas. La composición permite reconocer que un valor global no sustituye límites por bandas y condiciones audiométricas.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9.8.1; PDF pp. 247–249; notation_guide; U5.</a:t>
            </a:r>
          </a:p>
          <a:p xmlns:a="http://schemas.openxmlformats.org/drawingml/2006/main">
            <a:r>
              <a:t>- Asset propio aprobado: U09-CH-009.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Preparar la lectura crítica de una tabla normativa.</a:t>
            </a:r>
          </a:p>
          <a:p xmlns:a="http://schemas.openxmlformats.org/drawingml/2006/main">
            <a:r>
              <a:t>- **Explicación extendida:** Explicar la brecha documental del repositorio; señalar respaldo U09-092 bloqueado. Explicitar que norma, edición, adopción, vía, transductor, bandas y menor nivel de prueba deben estar declarados.</a:t>
            </a:r>
          </a:p>
          <a:p xmlns:a="http://schemas.openxmlformats.org/drawingml/2006/main">
            <a:r>
              <a:t>- **Guía del visual o diagrama:** Presentar primero la estructura general y luego recorrer Checklist de siete campos y sello “sin cifras hasta verificar fuente”. Cerrar señalando la idea central, sin leer todas las cajas como una lista.</a:t>
            </a:r>
          </a:p>
          <a:p xmlns:a="http://schemas.openxmlformats.org/drawingml/2006/main">
            <a:r>
              <a:t>- **Pregunta al grupo:** ¿Qué recorrido o relación del esquema sostiene la idea central?</a:t>
            </a:r>
          </a:p>
          <a:p xmlns:a="http://schemas.openxmlformats.org/drawingml/2006/main">
            <a:r>
              <a:t>- **Respuesta esperada:** Norma, edición, adopción, vía, transductor, bandas y menor nivel de prueba deben estar declarados.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Declarar aptitud de una cabina por su apariencia o por un único valor global en dB(A).</a:t>
            </a:r>
          </a:p>
          <a:p xmlns:a="http://schemas.openxmlformats.org/drawingml/2006/main">
            <a:r>
              <a:t>- **Transición:** Aplicar el checklist a una afirmación cotidiana.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U09-DG-056, candidata para diagram-generation. La composición permite reconocer que norma, edición, adopción, vía, transductor, bandas y menor nivel de prueba deben estar declarados.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Programa p. 5; open_decisions OD-U09-22–26; source_analysis.</a:t>
            </a:r>
          </a:p>
          <a:p xmlns:a="http://schemas.openxmlformats.org/drawingml/2006/main">
            <a:r>
              <a:t>- Asset propio aprobado: U09-DG-056.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**Propósito docente:** Identificar qué puede y qué no puede concluirse.</a:t>
            </a:r>
          </a:p>
          <a:p xmlns:a="http://schemas.openxmlformats.org/drawingml/2006/main">
            <a:r>
              <a:t>- **Explicación extendida:** Evitar desacreditar toda medición orientativa; separar exploración, verificación y certificación. Explicitar que el valor aislado no demuestra aptitud para una audiometría.</a:t>
            </a:r>
          </a:p>
          <a:p xmlns:a="http://schemas.openxmlformats.org/drawingml/2006/main">
            <a:r>
              <a:t>- **Guía del visual o diagrama:** Presentar primero la estructura general y luego recorrer Preguntas: instrumento, calibración, posición, tiempo, bandas, vía, transductor, criterio y ruido propio. Cerrar señalando la idea central, sin leer todas las cajas como una lista.</a:t>
            </a:r>
          </a:p>
          <a:p xmlns:a="http://schemas.openxmlformats.org/drawingml/2006/main">
            <a:r>
              <a:t>- **Pregunta al grupo:** ¿Qué evidencia o cálculo permite responder “La cabina tiene 28 dB(A)” sin exceder el modelo?</a:t>
            </a:r>
          </a:p>
          <a:p xmlns:a="http://schemas.openxmlformats.org/drawingml/2006/main">
            <a:r>
              <a:t>- **Respuesta esperada:** El valor aislado no demuestra aptitud para una audiometría.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Evitar desacreditar toda medición orientativa; separar exploración, verificación y certificación.</a:t>
            </a:r>
          </a:p>
          <a:p xmlns:a="http://schemas.openxmlformats.org/drawingml/2006/main">
            <a:r>
              <a:t>- **Transición:** Ofrecer una inspección visual opcional de una cabina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Captura ficticia no instrumental y matriz de faltantes; U09-DG-057, candidata para diagram-generation. La composición permite reconocer que el valor aislado no demuestra aptitud para una audiometría.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brief U9; capítulo 9; U5/U8.</a:t>
            </a:r>
          </a:p>
          <a:p xmlns:a="http://schemas.openxmlformats.org/drawingml/2006/main">
            <a:r>
              <a:t>- Asset propio aprobado: U09-DG-057.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Conectar el diagrama con componentes observables.</a:t>
            </a:r>
          </a:p>
          <a:p xmlns:a="http://schemas.openxmlformats.org/drawingml/2006/main">
            <a:r>
              <a:t>- **Explicación extendida:** Pedir observaciones verificables; no evaluar marca, calidad o certificación por apariencia. Explicitar que una foto técnica sirve para localizar rutas y componentes, no para inferir desempeño.</a:t>
            </a:r>
          </a:p>
          <a:p xmlns:a="http://schemas.openxmlformats.org/drawingml/2006/main">
            <a:r>
              <a:t>- **Guía del visual o diagrama:** Presentar primero la estructura general y luego recorrer Exterior/interior o detalle de puerta, visor, ventilación y pasacables con llamados funcionales. Cerrar señalando la idea central, sin leer todas las cajas como una lista.</a:t>
            </a:r>
          </a:p>
          <a:p xmlns:a="http://schemas.openxmlformats.org/drawingml/2006/main">
            <a:r>
              <a:t>- **Pregunta al grupo:** ¿Cuál es la afirmación principal que esta slide permite sostener?</a:t>
            </a:r>
          </a:p>
          <a:p xmlns:a="http://schemas.openxmlformats.org/drawingml/2006/main">
            <a:r>
              <a:t>- **Respuesta esperada:** Una foto técnica sirve para localizar rutas y componentes, no para inferir desempeño.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Pedir observaciones verificables; no evaluar marca, calidad o certificación por apariencia.</a:t>
            </a:r>
          </a:p>
          <a:p xmlns:a="http://schemas.openxmlformats.org/drawingml/2006/main">
            <a:r>
              <a:t>- **Transición:** Regresar a la pregunta de aptitud y medición.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U09-IMG-003 y U09-IMG-004 con callouts; candidatos para diagram-generation por anotaciones. La composición permite reconocer que una foto técnica sirve para localizar rutas y componentes, no para inferir desempeño.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Capítulo 9; brief aplicaciones; fuente externa técnica a curar.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5 min.</a:t>
            </a:r>
          </a:p>
          <a:p xmlns:a="http://schemas.openxmlformats.org/drawingml/2006/main">
            <a:r>
              <a:t>- **Propósito docente:** Integrar sistema, medición y criterio.</a:t>
            </a:r>
          </a:p>
          <a:p xmlns:a="http://schemas.openxmlformats.org/drawingml/2006/main">
            <a:r>
              <a:t>- **Explicación extendida:** Repetir el caso de U09-002 con nueva función: proponer qué medir y qué no afirmar. Explicitar que la respuesta válida identifica ruta, evidencia necesaria y límite de inferencia.</a:t>
            </a:r>
          </a:p>
          <a:p xmlns:a="http://schemas.openxmlformats.org/drawingml/2006/main">
            <a:r>
              <a:t>- **Guía del visual o diagrama:** Presentar primero la estructura general y luego recorrer Caso con ruido exterior, ventilación, equipo y tratamiento interior, Priorización sin diseñar solución. Cerrar señalando la idea central, sin leer todas las cajas como una lista.</a:t>
            </a:r>
          </a:p>
          <a:p xmlns:a="http://schemas.openxmlformats.org/drawingml/2006/main">
            <a:r>
              <a:t>- **Pregunta al grupo:** ¿Qué evidencia o cálculo permite responder “¿Qué ruta limita la prueba?” sin exceder el modelo?</a:t>
            </a:r>
          </a:p>
          <a:p xmlns:a="http://schemas.openxmlformats.org/drawingml/2006/main">
            <a:r>
              <a:t>- **Respuesta esperada:** La respuesta válida identifica ruta, evidencia necesaria y límite de inferencia.</a:t>
            </a:r>
          </a:p>
          <a:p xmlns:a="http://schemas.openxmlformats.org/drawingml/2006/main">
            <a:r>
              <a:t>- **Demostración o revelado:** Dar tiempo de respuesta antes del revelado; registrar la justificación, no solo la opción elegida.</a:t>
            </a:r>
          </a:p>
          <a:p xmlns:a="http://schemas.openxmlformats.org/drawingml/2006/main">
            <a:r>
              <a:t>- **Error frecuente:** Repetir el caso de U09-002 con nueva función: proponer qué medir y qué no afirmar.</a:t>
            </a:r>
          </a:p>
          <a:p xmlns:a="http://schemas.openxmlformats.org/drawingml/2006/main">
            <a:r>
              <a:t>- **Transición:** Volver al caso completo para integrar todos los bloques.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U09-DG-058, candidata para diagram-generation. La composición permite reconocer que la respuesta válida identifica ruta, evidencia necesaria y límite de inferencia.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Programa p. 5; LaTeX 9.8.1; PDF pp. 247–249.</a:t>
            </a:r>
          </a:p>
          <a:p xmlns:a="http://schemas.openxmlformats.org/drawingml/2006/main">
            <a:r>
              <a:t>- Asset propio aprobado: U09-DG-058.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 min.</a:t>
            </a:r>
          </a:p>
          <a:p xmlns:a="http://schemas.openxmlformats.org/drawingml/2006/main">
            <a:r>
              <a:t>- **Propósito docente:** Enunciar la pregunta guía final.</a:t>
            </a:r>
          </a:p>
          <a:p xmlns:a="http://schemas.openxmlformats.org/drawingml/2006/main">
            <a:r>
              <a:t>- **Explicación extendida:** Señalar que integrar no significa sumar automáticamente todas las fórmulas. Explicitar que un buen análisis termina declarando el alcance de la evidencia.</a:t>
            </a:r>
          </a:p>
          <a:p xmlns:a="http://schemas.openxmlformats.org/drawingml/2006/main">
            <a:r>
              <a:t>- **Guía del visual o diagrama:** Presentar primero la estructura general y luego recorrer Pregunta guía y tres salidas: estimar, medir, consultar norma/especialista. Cerrar señalando la idea central, sin leer todas las cajas como una lista.</a:t>
            </a:r>
          </a:p>
          <a:p xmlns:a="http://schemas.openxmlformats.org/drawingml/2006/main">
            <a:r>
              <a:t>- **Pregunta al grupo:** ¿Qué podemos estimar y qué debemos medir?</a:t>
            </a:r>
          </a:p>
          <a:p xmlns:a="http://schemas.openxmlformats.org/drawingml/2006/main">
            <a:r>
              <a:t>- **Respuesta esperada:** Un buen análisis termina declarando el alcance de la evidencia.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Señalar que integrar no significa sumar automáticamente todas las fórmulas.</a:t>
            </a:r>
          </a:p>
          <a:p xmlns:a="http://schemas.openxmlformats.org/drawingml/2006/main">
            <a:r>
              <a:t>- **Transición:** Reabrir el caso de la clínica desde la fuente.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Tres puertas de decisión. La composición permite reconocer que un buen análisis termina declarando el alcance de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brief U9, bloque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5 min.</a:t>
            </a:r>
          </a:p>
          <a:p xmlns:a="http://schemas.openxmlformats.org/drawingml/2006/main">
            <a:r>
              <a:t>- **Propósito docente:** Identificar variables de la fuente antes del trayecto.</a:t>
            </a:r>
          </a:p>
          <a:p xmlns:a="http://schemas.openxmlformats.org/drawingml/2006/main">
            <a:r>
              <a:t>- **Explicación extendida:** Pedir qué dato falta y qué modelo de U9 corresponde; no calcular con datos inventados. Explicitar que potencia, espectro y directividad condicionan lo que entra al trayecto.</a:t>
            </a:r>
          </a:p>
          <a:p xmlns:a="http://schemas.openxmlformats.org/drawingml/2006/main">
            <a:r>
              <a:t>- **Guía del visual o diagrama:** Presentar primero la estructura general y luego recorrer Datos cualitativos del tránsito/altavoz y preguntas sobre `L_W`, patrón y bandas. Cerrar señalando la idea central, sin leer todas las cajas como una lista.</a:t>
            </a:r>
          </a:p>
          <a:p xmlns:a="http://schemas.openxmlformats.org/drawingml/2006/main">
            <a:r>
              <a:t>- **Pregunta al grupo:** ¿Qué evidencia o cálculo permite responder “Caso final I: fuente y emisión” sin exceder el modelo?</a:t>
            </a:r>
          </a:p>
          <a:p xmlns:a="http://schemas.openxmlformats.org/drawingml/2006/main">
            <a:r>
              <a:t>- **Respuesta esperada:** Potencia, espectro y directividad condicionan lo que entra al trayecto.</a:t>
            </a:r>
          </a:p>
          <a:p xmlns:a="http://schemas.openxmlformats.org/drawingml/2006/main">
            <a:r>
              <a:t>- **Demostración o revelado:** Dar tiempo de respuesta antes del revelado; registrar la justificación, no solo la opción elegida.</a:t>
            </a:r>
          </a:p>
          <a:p xmlns:a="http://schemas.openxmlformats.org/drawingml/2006/main">
            <a:r>
              <a:t>- **Error frecuente:** Pedir qué dato falta y qué modelo de U9 corresponde; no calcular con datos inventados.</a:t>
            </a:r>
          </a:p>
          <a:p xmlns:a="http://schemas.openxmlformats.org/drawingml/2006/main">
            <a:r>
              <a:t>- **Transición:** Añadir atmósfera, superficie y obstáculos.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Mapa del caso, capa fuente; U09-DG-059, candidata para diagram-generation. La composición permite reconocer que potencia, espectro y directividad condicionan lo que entra al trayecto.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9.1–9.2; PDF pp. 236–238.</a:t>
            </a:r>
          </a:p>
          <a:p xmlns:a="http://schemas.openxmlformats.org/drawingml/2006/main">
            <a:r>
              <a:t>- Asset propio aprobado: U09-DG-059.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5 min.</a:t>
            </a:r>
          </a:p>
          <a:p xmlns:a="http://schemas.openxmlformats.org/drawingml/2006/main">
            <a:r>
              <a:t>- **Propósito docente:** Integrar mecanismos sin mezclarlos.</a:t>
            </a:r>
          </a:p>
          <a:p xmlns:a="http://schemas.openxmlformats.org/drawingml/2006/main">
            <a:r>
              <a:t>- **Explicación extendida:** Revelar capas y pedir una justificación por ruta; evitar asignar una atenuación total. Explicitar que distancia, gradientes, suelo, fachada, difracción, transmisión y reflexiones describen rutas diferentes.</a:t>
            </a:r>
          </a:p>
          <a:p xmlns:a="http://schemas.openxmlformats.org/drawingml/2006/main">
            <a:r>
              <a:t>- **Guía del visual o diagrama:** Presentar primero la estructura general y luego recorrer Diagrama del caso con rutas etiquetables, Consigna de clasificar mecanismo y dependencia. Cerrar señalando la idea central, sin leer todas las cajas como una lista.</a:t>
            </a:r>
          </a:p>
          <a:p xmlns:a="http://schemas.openxmlformats.org/drawingml/2006/main">
            <a:r>
              <a:t>- **Pregunta al grupo:** ¿Qué evidencia o cálculo permite responder “Caso final II: rutas exteriores e interiores” sin exceder el modelo?</a:t>
            </a:r>
          </a:p>
          <a:p xmlns:a="http://schemas.openxmlformats.org/drawingml/2006/main">
            <a:r>
              <a:t>- **Respuesta esperada:** Distancia, gradientes, suelo, fachada, difracción, transmisión y reflexiones describen rutas diferentes.</a:t>
            </a:r>
          </a:p>
          <a:p xmlns:a="http://schemas.openxmlformats.org/drawingml/2006/main">
            <a:r>
              <a:t>- **Demostración o revelado:** Dar tiempo de respuesta antes del revelado; registrar la justificación, no solo la opción elegida.</a:t>
            </a:r>
          </a:p>
          <a:p xmlns:a="http://schemas.openxmlformats.org/drawingml/2006/main">
            <a:r>
              <a:t>- **Error frecuente:** Revelar capas y pedir una justificación por ruta; evitar asignar una atenuación total.</a:t>
            </a:r>
          </a:p>
          <a:p xmlns:a="http://schemas.openxmlformats.org/drawingml/2006/main">
            <a:r>
              <a:t>- **Transición:** Llegar al receptor y a las condiciones de prueba.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U09-DG-060, candidata para diagram-generation. La composición permite reconocer que distancia, gradientes, suelo, fachada, difracción, transmisión y reflexiones describen rutas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9.3–9.8; PDF pp. 238–247.</a:t>
            </a:r>
          </a:p>
          <a:p xmlns:a="http://schemas.openxmlformats.org/drawingml/2006/main">
            <a:r>
              <a:t>- Asset propio aprobado: U09-DG-060.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5 min.</a:t>
            </a:r>
          </a:p>
          <a:p xmlns:a="http://schemas.openxmlformats.org/drawingml/2006/main">
            <a:r>
              <a:t>- **Propósito docente:** Integrar condiciones audiométricas y límites normativos.</a:t>
            </a:r>
          </a:p>
          <a:p xmlns:a="http://schemas.openxmlformats.org/drawingml/2006/main">
            <a:r>
              <a:t>- **Explicación extendida:** Separar “nivel observado” de “cabina apta”; pedir evidencia adicional mínima. Explicitar que la medición útil debe ser compatible con el receptor, la prueba y el criterio seleccionado.</a:t>
            </a:r>
          </a:p>
          <a:p xmlns:a="http://schemas.openxmlformats.org/drawingml/2006/main">
            <a:r>
              <a:t>- **Guía del visual o diagrama:** Presentar primero la estructura general y luego recorrer Posición de micrófono/paciente, vía, transductor, bandas, ruido propio y norma pendiente. Cerrar señalando la idea central, sin leer todas las cajas como una lista.</a:t>
            </a:r>
          </a:p>
          <a:p xmlns:a="http://schemas.openxmlformats.org/drawingml/2006/main">
            <a:r>
              <a:t>- **Pregunta al grupo:** ¿Qué evidencia o cálculo permite responder “Caso final III: receptor, cabina y medición” sin exceder el modelo?</a:t>
            </a:r>
          </a:p>
          <a:p xmlns:a="http://schemas.openxmlformats.org/drawingml/2006/main">
            <a:r>
              <a:t>- **Respuesta esperada:** La medición útil debe ser compatible con el receptor, la prueba y el criterio seleccionado.</a:t>
            </a:r>
          </a:p>
          <a:p xmlns:a="http://schemas.openxmlformats.org/drawingml/2006/main">
            <a:r>
              <a:t>- **Demostración o revelado:** Dar tiempo de respuesta antes del revelado; registrar la justificación, no solo la opción elegida.</a:t>
            </a:r>
          </a:p>
          <a:p xmlns:a="http://schemas.openxmlformats.org/drawingml/2006/main">
            <a:r>
              <a:t>- **Error frecuente:** Sumar fórmulas sin localizar antes el mecanismo y el tipo de evidencia necesario.</a:t>
            </a:r>
          </a:p>
          <a:p xmlns:a="http://schemas.openxmlformats.org/drawingml/2006/main">
            <a:r>
              <a:t>- **Transición:** Sintetizar el caso en una matriz de decisión.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U09-DG-061, candidata para diagram-generation. La composición permite reconocer que la medición útil debe ser compatible con el receptor, la prueba y el criterio seleccionado.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9.8.1; PDF pp. 247–249; U8.</a:t>
            </a:r>
          </a:p>
          <a:p xmlns:a="http://schemas.openxmlformats.org/drawingml/2006/main">
            <a:r>
              <a:t>- Asset propio aprobado: U09-DG-061.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5 min.</a:t>
            </a:r>
          </a:p>
          <a:p xmlns:a="http://schemas.openxmlformats.org/drawingml/2006/main">
            <a:r>
              <a:t>- **Propósito docente:** Evaluar transferencia con una decisión argumentada.</a:t>
            </a:r>
          </a:p>
          <a:p xmlns:a="http://schemas.openxmlformats.org/drawingml/2006/main">
            <a:r>
              <a:t>- **Explicación extendida:** Valorar razonamiento y condiciones, no solo elección final; conservar soluciones en respaldo. Explicitar que cada afirmación requiere un tipo de evidencia distinto.</a:t>
            </a:r>
          </a:p>
          <a:p xmlns:a="http://schemas.openxmlformats.org/drawingml/2006/main">
            <a:r>
              <a:t>- **Guía del visual o diagrama:** Presentar primero la estructura general y luego recorrer Seis decisiones del caso, Completar mecanismo, modelo, dato, medición y límite. Cerrar señalando la idea central, sin leer todas las cajas como una lista.</a:t>
            </a:r>
          </a:p>
          <a:p xmlns:a="http://schemas.openxmlformats.org/drawingml/2006/main">
            <a:r>
              <a:t>- **Pregunta al grupo:** ¿Qué evidencia o cálculo permite responder “Estimar, medir o consultar” sin exceder el modelo?</a:t>
            </a:r>
          </a:p>
          <a:p xmlns:a="http://schemas.openxmlformats.org/drawingml/2006/main">
            <a:r>
              <a:t>- **Respuesta esperada:** Cada afirmación requiere un tipo de evidencia distinto.</a:t>
            </a:r>
          </a:p>
          <a:p xmlns:a="http://schemas.openxmlformats.org/drawingml/2006/main">
            <a:r>
              <a:t>- **Demostración o revelado:** Dar tiempo de respuesta antes del revelado; registrar la justificación, no solo la opción elegida.</a:t>
            </a:r>
          </a:p>
          <a:p xmlns:a="http://schemas.openxmlformats.org/drawingml/2006/main">
            <a:r>
              <a:t>- **Error frecuente:** Valorar razonamiento y condiciones, no solo elección final; conservar soluciones en respaldo.</a:t>
            </a:r>
          </a:p>
          <a:p xmlns:a="http://schemas.openxmlformats.org/drawingml/2006/main">
            <a:r>
              <a:t>- **Transición:** Contrastar respuestas con la síntesis final.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Matriz de trabajo U09-DG-062, candidata para diagram-generation. La composición permite reconocer que cada afirmación requiere un tipo de evidencia distinto.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Banco de ejercicios e integración del capítulo; brief U9.</a:t>
            </a:r>
          </a:p>
          <a:p xmlns:a="http://schemas.openxmlformats.org/drawingml/2006/main">
            <a:r>
              <a:t>- Asset propio aprobado: U09-DG-062.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**Propósito docente:** Integrar la unidad en una arquitectura estable.</a:t>
            </a:r>
          </a:p>
          <a:p xmlns:a="http://schemas.openxmlformats.org/drawingml/2006/main">
            <a:r>
              <a:t>- **Explicación extendida:** Recuperar las repeticiones pedagógicas y señalar cómo cada una ganó una función distinta. Explicitar que identificar mecanismo → elegir modelo → declarar condiciones → medir si hace falta → limitar la conclusión.</a:t>
            </a:r>
          </a:p>
          <a:p xmlns:a="http://schemas.openxmlformats.org/drawingml/2006/main">
            <a:r>
              <a:t>- **Guía del visual o diagrama:** Presentar primero la estructura general y luego recorrer Mapa acumulativo fuente–trayecto–receptor con fórmulas y preguntas situadas, sin cálculos. Cerrar señalando la idea central, sin leer todas las cajas como una lista.</a:t>
            </a:r>
          </a:p>
          <a:p xmlns:a="http://schemas.openxmlformats.org/drawingml/2006/main">
            <a:r>
              <a:t>- **Pregunta al grupo:** ¿Qué recorrido o relación del esquema sostiene la idea central?</a:t>
            </a:r>
          </a:p>
          <a:p xmlns:a="http://schemas.openxmlformats.org/drawingml/2006/main">
            <a:r>
              <a:t>- **Respuesta esperada:** Identificar mecanismo → elegir modelo → declarar condiciones → medir si hace falta → limitar la conclusión.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Sumar fórmulas sin localizar antes el mecanismo y el tipo de evidencia necesario.</a:t>
            </a:r>
          </a:p>
          <a:p xmlns:a="http://schemas.openxmlformats.org/drawingml/2006/main">
            <a:r>
              <a:t>- **Transición:** Preparar el puente hacia el ruido como problema de caracterización y control.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U09-DG-063, candidata para diagram-generation. La composición permite reconocer que identificar mecanismo → elegir modelo → declarar condiciones → medir si hace falta → limitar la conclusión.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Programa p. 5; LaTeX cap. 9; course_map U9.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2 min.</a:t>
            </a:r>
          </a:p>
          <a:p xmlns:a="http://schemas.openxmlformats.org/drawingml/2006/main">
            <a:r>
              <a:t>- **Propósito docente:** Cerrar U9 y anticipar U10.</a:t>
            </a:r>
          </a:p>
          <a:p xmlns:a="http://schemas.openxmlformats.org/drawingml/2006/main">
            <a:r>
              <a:t>- **Explicación extendida:** No adelantar estadística, dosis ni normativa de exposición de U10; dejar una pregunta auténtica. Explicitar que u9 explica cómo el trayecto modifica lo recibido; U10 organizará fuentes de ruido, exposición y control.</a:t>
            </a:r>
          </a:p>
          <a:p xmlns:a="http://schemas.openxmlformats.org/drawingml/2006/main">
            <a:r>
              <a:t>- **Guía del visual o diagrama:** Presentar primero la estructura general y luego recorrer Tres conclusiones, una pregunta de salida y puente fuente–trayecto–receptor hacia U10. Cerrar señalando la idea central, sin leer todas las cajas como una lista.</a:t>
            </a:r>
          </a:p>
          <a:p xmlns:a="http://schemas.openxmlformats.org/drawingml/2006/main">
            <a:r>
              <a:t>- **Pregunta al grupo:** ¿Qué recorrido o relación del esquema sostiene la idea central?</a:t>
            </a:r>
          </a:p>
          <a:p xmlns:a="http://schemas.openxmlformats.org/drawingml/2006/main">
            <a:r>
              <a:t>- **Respuesta esperada:** U9 explica cómo el trayecto modifica lo recibido; U10 organizará fuentes de ruido, exposición y control.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No adelantar estadística, dosis ni normativa de exposición de U10; dejar una pregunta auténtica.</a:t>
            </a:r>
          </a:p>
          <a:p xmlns:a="http://schemas.openxmlformats.org/drawingml/2006/main">
            <a:r>
              <a:t>- **Transición:** Fin de la ruta lineal; ofrecer respaldo solo a demanda.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Diagrama de puente U09-DG-064, candidata para diagram-generation. La composición permite reconocer que u9 explica cómo el trayecto modifica lo recibido; u10 organizará fuentes de ruido, exposición y control.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course_dependency_map U9→U10; course_map U10.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**Propósito docente:** Documentar la derivación recuperada de U4.</a:t>
            </a:r>
          </a:p>
          <a:p xmlns:a="http://schemas.openxmlformats.org/drawingml/2006/main">
            <a:r>
              <a:t>- **Explicación extendida:** Usar solo ante preguntas de fundamento; no repetirla en la ruta central. Explicitar que la regla surge de área esférica, intensidad y presión, no de una propiedad intrínseca de la fuente.</a:t>
            </a:r>
          </a:p>
          <a:p xmlns:a="http://schemas.openxmlformats.org/drawingml/2006/main">
            <a:r>
              <a:t>- **Guía del visual o diagrama:** Presentar primero la estructura general y luego recorrer Cadena proporcional completa y condiciones. Cerrar señalando la idea central, sin leer todas las cajas como una lista.</a:t>
            </a:r>
          </a:p>
          <a:p xmlns:a="http://schemas.openxmlformats.org/drawingml/2006/main">
            <a:r>
              <a:t>- **Pregunta al grupo:** ¿Cuál es la afirmación principal que esta slide permite sostener?</a:t>
            </a:r>
          </a:p>
          <a:p xmlns:a="http://schemas.openxmlformats.org/drawingml/2006/main">
            <a:r>
              <a:t>- **Respuesta esperada:** La regla surge de área esférica, intensidad y presión, no de una propiedad intrínseca de la fuente.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Usar solo ante preguntas de fundamento; no repetirla en la ruta central.</a:t>
            </a:r>
          </a:p>
          <a:p xmlns:a="http://schemas.openxmlformats.org/drawingml/2006/main">
            <a:r>
              <a:t>- **Transición:** Retorno no lineal a U09-014.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U09-DG-065, candidata para diagram-generation. La composición permite reconocer que la regla surge de área esférica, intensidad y presión, no de una propiedad intrínseca de la fuente.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U4; LaTeX 9.1; PDF p. 237.</a:t>
            </a:r>
          </a:p>
          <a:p xmlns:a="http://schemas.openxmlformats.org/drawingml/2006/main">
            <a:r>
              <a:t>- Asset propio aprobado: U09-DG-065.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**Propósito docente:** Resolver colisiones de notación.</a:t>
            </a:r>
          </a:p>
          <a:p xmlns:a="http://schemas.openxmlformats.org/drawingml/2006/main">
            <a:r>
              <a:t>- **Explicación extendida:** Explicar equivalencias con símbolos del libro cuando sea necesario. Explicitar que reflexión energética, reflexión de presión, reducción sonora y tiempo de reverberación requieren símbolos distintos.</a:t>
            </a:r>
          </a:p>
          <a:p xmlns:a="http://schemas.openxmlformats.org/drawingml/2006/main">
            <a:r>
              <a:t>- **Guía del visual o diagrama:** Presentar primero la estructura general y luego recorrer Tabla `R_E`, `R_p`, `R_I`, `R`, `τ_E`, `A_eq`, `T_60`, `Q_dir`, `v_viento`, `m_s`. Cerrar señalando la idea central, sin leer todas las cajas como una lista.</a:t>
            </a:r>
          </a:p>
          <a:p xmlns:a="http://schemas.openxmlformats.org/drawingml/2006/main">
            <a:r>
              <a:t>- **Pregunta al grupo:** ¿Cuál es la afirmación principal que esta slide permite sostener?</a:t>
            </a:r>
          </a:p>
          <a:p xmlns:a="http://schemas.openxmlformats.org/drawingml/2006/main">
            <a:r>
              <a:t>- **Respuesta esperada:** Reflexión energética, reflexión de presión, reducción sonora y tiempo de reverberación requieren símbolos distintos.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Usar una slide de respaldo fuera de sus condiciones o antes de cerrar la fuente indicada.</a:t>
            </a:r>
          </a:p>
          <a:p xmlns:a="http://schemas.openxmlformats.org/drawingml/2006/main">
            <a:r>
              <a:t>- **Transición:** Retorno a la ecuación consultada.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Tabla nativa. La composición permite reconocer que reflexión energética, reflexión de presión, reducción sonora y tiempo de reverberación requieren símbolos distintos.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notation_guide; glossary; open_decisions OD-U09-03–06, 18.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**Propósito docente:** Conservar práctica adicional sin alargar el núcleo.</a:t>
            </a:r>
          </a:p>
          <a:p xmlns:a="http://schemas.openxmlformats.org/drawingml/2006/main">
            <a:r>
              <a:t>- **Explicación extendida:** Mostrar después del intento del grupo; comparar errores de signo y doble conteo. Explicitar que la operación debe acompañarse con hipótesis y conclusión.</a:t>
            </a:r>
          </a:p>
          <a:p xmlns:a="http://schemas.openxmlformats.org/drawingml/2006/main">
            <a:r>
              <a:t>- **Guía del visual o diagrama:** Presentar primero la estructura general y luego recorrer Dos problemas con datos, pasos, unidades y límite de validez. Cerrar señalando la idea central, sin leer todas las cajas como una lista.</a:t>
            </a:r>
          </a:p>
          <a:p xmlns:a="http://schemas.openxmlformats.org/drawingml/2006/main">
            <a:r>
              <a:t>- **Pregunta al grupo:** ¿Cuál es la afirmación principal que esta slide permite sostener?</a:t>
            </a:r>
          </a:p>
          <a:p xmlns:a="http://schemas.openxmlformats.org/drawingml/2006/main">
            <a:r>
              <a:t>- **Respuesta esperada:** La operación debe acompañarse con hipótesis y conclusión.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Mostrar después del intento del grupo; comparar errores de signo y doble conteo.</a:t>
            </a:r>
          </a:p>
          <a:p xmlns:a="http://schemas.openxmlformats.org/drawingml/2006/main">
            <a:r>
              <a:t>- **Transición:** Retorno a U09-021.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U09-DG-066, candidata para diagram-generation. La composición permite reconocer que la operación debe acompañarse con hipótesis y conclusión.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Ejercicios del capítulo, pp. 250–259.</a:t>
            </a:r>
          </a:p>
          <a:p xmlns:a="http://schemas.openxmlformats.org/drawingml/2006/main">
            <a:r>
              <a:t>- Asset propio aprobado: U09-DG-066.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0 min en la ruta docente; slide bloqueada.</a:t>
            </a:r>
          </a:p>
          <a:p xmlns:a="http://schemas.openxmlformats.org/drawingml/2006/main">
            <a:r>
              <a:t>- **Propósito docente:** Reservar el lugar para datos trazables.</a:t>
            </a:r>
          </a:p>
          <a:p xmlns:a="http://schemas.openxmlformats.org/drawingml/2006/main">
            <a:r>
              <a:t>- **Explicación extendida:** No producir valores hasta seleccionar norma o bibliografía completa y condiciones. Explicitar que los coeficientes dependen de frecuencia y estado del aire; no se reconstruyen de memoria.</a:t>
            </a:r>
          </a:p>
          <a:p xmlns:a="http://schemas.openxmlformats.org/drawingml/2006/main">
            <a:r>
              <a:t>- **Guía del visual o diagrama:** No mostrar una curva. Usar la ficha vacía solo para identificar qué variables y qué referencia deberán acompañar los datos futuros.</a:t>
            </a:r>
          </a:p>
          <a:p xmlns:a="http://schemas.openxmlformats.org/drawingml/2006/main">
            <a:r>
              <a:t>- **Pregunta al grupo:** ¿Cuál es la afirmación principal que esta slide permite sostener?</a:t>
            </a:r>
          </a:p>
          <a:p xmlns:a="http://schemas.openxmlformats.org/drawingml/2006/main">
            <a:r>
              <a:t>- **Respuesta esperada:** Los coeficientes dependen de frecuencia y estado del aire; no se reconstruyen de memoria.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No producir valores hasta seleccionar norma o bibliografía completa y condiciones.</a:t>
            </a:r>
          </a:p>
          <a:p xmlns:a="http://schemas.openxmlformats.org/drawingml/2006/main">
            <a:r>
              <a:t>- **Transición:** Retorno a U09-030 o U09-032.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U09-CH-010 pendiente de fuente primaria. La composición permite reconocer que los coeficientes dependen de frecuencia y estado del aire; no se reconstruyen de memoria.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9.6; source_analysis; open_decisions OD-U09-07.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0 min en la ruta docente; slide bloqueada.</a:t>
            </a:r>
          </a:p>
          <a:p xmlns:a="http://schemas.openxmlformats.org/drawingml/2006/main">
            <a:r>
              <a:t>- **Propósito docente:** Ampliar la interfaz fluido–sólido para estudiantes avanzados.</a:t>
            </a:r>
          </a:p>
          <a:p xmlns:a="http://schemas.openxmlformats.org/drawingml/2006/main">
            <a:r>
              <a:t>- **Explicación extendida:** Evitar derivaciones elásticas; usar una fuente académica primaria antes de completar ecuaciones. Explicitar que en sólidos pueden coexistir modos con diferentes velocidades y direcciones.</a:t>
            </a:r>
          </a:p>
          <a:p xmlns:a="http://schemas.openxmlformats.org/drawingml/2006/main">
            <a:r>
              <a:t>- **Guía del visual o diagrama:** Recorrer primero el modo longitudinal y luego el transversal; no asignar ángulos, velocidades ni relaciones matemáticas hasta cerrar la fuente.</a:t>
            </a:r>
          </a:p>
          <a:p xmlns:a="http://schemas.openxmlformats.org/drawingml/2006/main">
            <a:r>
              <a:t>- **Pregunta al grupo:** ¿Qué recorrido o relación del esquema sostiene la idea central?</a:t>
            </a:r>
          </a:p>
          <a:p xmlns:a="http://schemas.openxmlformats.org/drawingml/2006/main">
            <a:r>
              <a:t>- **Respuesta esperada:** En sólidos pueden coexistir modos con diferentes velocidades y direcciones.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Evitar derivaciones elásticas; usar una fuente académica primaria antes de completar ecuaciones.</a:t>
            </a:r>
          </a:p>
          <a:p xmlns:a="http://schemas.openxmlformats.org/drawingml/2006/main">
            <a:r>
              <a:t>- **Transición:** Retorno a U09-040.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U09-DG-067, candidata para diagram-generation. La composición permite reconocer que en sólidos pueden coexistir modos con diferentes velocidades y direcciones.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Programa p. 5; LaTeX 9.7.4; fuente académica a seleccionar.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**Propósito docente:** Proveer resolución completa y control dimensional.</a:t>
            </a:r>
          </a:p>
          <a:p xmlns:a="http://schemas.openxmlformats.org/drawingml/2006/main">
            <a:r>
              <a:t>- **Explicación extendida:** Usar como solución posterior; señalar por bandas y campo difuso. Explicitar que cada resultado debe terminar con una interpretación y una crítica del modelo.</a:t>
            </a:r>
          </a:p>
          <a:p xmlns:a="http://schemas.openxmlformats.org/drawingml/2006/main">
            <a:r>
              <a:t>- **Guía del visual o diagrama:** Presentar primero la estructura general y luego recorrer Balance energético y ejemplo de aula desarrollados paso a paso. Cerrar señalando la idea central, sin leer todas las cajas como una lista.</a:t>
            </a:r>
          </a:p>
          <a:p xmlns:a="http://schemas.openxmlformats.org/drawingml/2006/main">
            <a:r>
              <a:t>- **Pregunta al grupo:** ¿Cuál es la afirmación principal que esta slide permite sostener?</a:t>
            </a:r>
          </a:p>
          <a:p xmlns:a="http://schemas.openxmlformats.org/drawingml/2006/main">
            <a:r>
              <a:t>- **Respuesta esperada:** Cada resultado debe terminar con una interpretación y una crítica del modelo.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Usar una slide de respaldo fuera de sus condiciones o antes de cerrar la fuente indicada.</a:t>
            </a:r>
          </a:p>
          <a:p xmlns:a="http://schemas.openxmlformats.org/drawingml/2006/main">
            <a:r>
              <a:t>- **Transición:** Retorno a U09-052 o U09-056.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U09-DG-068, candidata para diagram-generation. La composición permite reconocer que cada resultado debe terminar con una interpretación y una crítica del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9.7; PDF pp. 241–243; ejercicios del capítulo.</a:t>
            </a:r>
          </a:p>
          <a:p xmlns:a="http://schemas.openxmlformats.org/drawingml/2006/main">
            <a:r>
              <a:t>- Asset propio aprobado: U09-DG-068.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**Propósito docente:** Nombrar la frontera del modelo sin desarrollar otro curso.</a:t>
            </a:r>
          </a:p>
          <a:p xmlns:a="http://schemas.openxmlformats.org/drawingml/2006/main">
            <a:r>
              <a:t>- **Explicación extendida:** Nombrar Eyring solo como alternativa; no introducir su fórmula salvo decisión docente. Explicitar que recintos muy absorbentes, no difusos o pequeños pueden requerir otros modelos o medición.</a:t>
            </a:r>
          </a:p>
          <a:p xmlns:a="http://schemas.openxmlformats.org/drawingml/2006/main">
            <a:r>
              <a:t>- **Guía del visual o diagrama:** Presentar primero la estructura general y luego recorrer Tabla de condiciones, síntoma de falla y respuesta responsable. Cerrar señalando la idea central, sin leer todas las cajas como una lista.</a:t>
            </a:r>
          </a:p>
          <a:p xmlns:a="http://schemas.openxmlformats.org/drawingml/2006/main">
            <a:r>
              <a:t>- **Pregunta al grupo:** ¿Qué recorrido o relación del esquema sostiene la idea central?</a:t>
            </a:r>
          </a:p>
          <a:p xmlns:a="http://schemas.openxmlformats.org/drawingml/2006/main">
            <a:r>
              <a:t>- **Respuesta esperada:** Recintos muy absorbentes, no difusos o pequeños pueden requerir otros modelos o medición.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Nombrar Eyring solo como alternativa; no introducir su fórmula salvo decisión docente.</a:t>
            </a:r>
          </a:p>
          <a:p xmlns:a="http://schemas.openxmlformats.org/drawingml/2006/main">
            <a:r>
              <a:t>- **Transición:** Retorno a U09-054.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Tabla nativa; posible U09-DG-069, candidata para diagram-generation. La composición permite reconocer que recintos muy absorbentes, no difusos o pequeños pueden requerir otros modelos o medición.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source_analysis; open_decisions OD-U09-14.</a:t>
            </a:r>
          </a:p>
          <a:p xmlns:a="http://schemas.openxmlformats.org/drawingml/2006/main">
            <a:r>
              <a:t>- Asset propio aprobado: U09-DG-069.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0 min en la ruta docente; slide bloqueada.</a:t>
            </a:r>
          </a:p>
          <a:p xmlns:a="http://schemas.openxmlformats.org/drawingml/2006/main">
            <a:r>
              <a:t>- **Propósito docente:** Reservar la cobertura cuantitativa obligatoria.</a:t>
            </a:r>
          </a:p>
          <a:p xmlns:a="http://schemas.openxmlformats.org/drawingml/2006/main">
            <a:r>
              <a:t>- **Explicación extendida:** No redactar ni producir la tabla hasta resolver OD-U09-22–25; mantener visible el estado bloqueado. Explicitar que una tabla solo es válida con norma, edición, adopción y escenario completos.</a:t>
            </a:r>
          </a:p>
          <a:p xmlns:a="http://schemas.openxmlformats.org/drawingml/2006/main">
            <a:r>
              <a:t>- **Guía del visual o diagrama:** No proyectar como tabla normativa. Mostrar únicamente el estado bloqueado y explicar qué metadatos faltan para habilitarla.</a:t>
            </a:r>
          </a:p>
          <a:p xmlns:a="http://schemas.openxmlformats.org/drawingml/2006/main">
            <a:r>
              <a:t>- **Pregunta al grupo:** ¿Por qué no alcanza con copiar una cifra sin identificar norma y escenario?</a:t>
            </a:r>
          </a:p>
          <a:p xmlns:a="http://schemas.openxmlformats.org/drawingml/2006/main">
            <a:r>
              <a:t>- **Respuesta esperada:** Porque el límite depende de la fuente normativa completa y de las condiciones de la prueba.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No redactar ni producir la tabla hasta resolver OD-U09-22–25; mantener visible el estado bloqueado.</a:t>
            </a:r>
          </a:p>
          <a:p xmlns:a="http://schemas.openxmlformats.org/drawingml/2006/main">
            <a:r>
              <a:t>- **Transición:** Retorno a U09-074 cuando exista fuente.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Marcador de una tabla normativa bloqueada, sin cifras, con los campos de fuente y escenario todavía pendientes.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Programa p. 5; ISO/ANSI citadas en el capítulo; fuente completa pendiente.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**Propósito docente:** Comparar qué modelos y mediciones son pertinentes.</a:t>
            </a:r>
          </a:p>
          <a:p xmlns:a="http://schemas.openxmlformats.org/drawingml/2006/main">
            <a:r>
              <a:t>- **Explicación extendida:** Usar para reparar confusiones entre modelo ideal, recinto y ambiente de prueba. Explicitar que un mismo nivel se interpreta distinto según el campo y el propósito.</a:t>
            </a:r>
          </a:p>
          <a:p xmlns:a="http://schemas.openxmlformats.org/drawingml/2006/main">
            <a:r>
              <a:t>- **Guía del visual o diagrama:** Presentar primero la estructura general y luego recorrer Matriz de geometría, reflexiones, descriptor, instrumento, hipótesis y conclusión permitida. Cerrar señalando la idea central, sin leer todas las cajas como una lista.</a:t>
            </a:r>
          </a:p>
          <a:p xmlns:a="http://schemas.openxmlformats.org/drawingml/2006/main">
            <a:r>
              <a:t>- **Pregunta al grupo:** ¿Cuál es la afirmación principal que esta slide permite sostener?</a:t>
            </a:r>
          </a:p>
          <a:p xmlns:a="http://schemas.openxmlformats.org/drawingml/2006/main">
            <a:r>
              <a:t>- **Respuesta esperada:** Un mismo nivel se interpreta distinto según el campo y el propósito.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Usar una slide de respaldo fuera de sus condiciones o antes de cerrar la fuente indicada.</a:t>
            </a:r>
          </a:p>
          <a:p xmlns:a="http://schemas.openxmlformats.org/drawingml/2006/main">
            <a:r>
              <a:t>- **Transición:** Retorno al bloque que corresponda.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Tabla nativa. La composición permite reconocer que un mismo nivel se interpreta distinto según el campo y el propósito.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cap. 9; U4; U8.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**Propósito docente:** Ofrecer evaluación formativa adicional.</a:t>
            </a:r>
          </a:p>
          <a:p xmlns:a="http://schemas.openxmlformats.org/drawingml/2006/main">
            <a:r>
              <a:t>- **Explicación extendida:** Evitar respuestas binarias; pedir una reformulación correcta y acotada. Explicitar que corregir exige nombrar el mecanismo y la condición faltante.</a:t>
            </a:r>
          </a:p>
          <a:p xmlns:a="http://schemas.openxmlformats.org/drawingml/2006/main">
            <a:r>
              <a:t>- **Guía del visual o diagrama:** Presentar primero la estructura general y luego recorrer Selección de distractores sobre distancia, viento, absorción, difracción, Sabine, masa y cabina. Cerrar señalando la idea central, sin leer todas las cajas como una lista.</a:t>
            </a:r>
          </a:p>
          <a:p xmlns:a="http://schemas.openxmlformats.org/drawingml/2006/main">
            <a:r>
              <a:t>- **Pregunta al grupo:** ¿Cuál es la afirmación principal que esta slide permite sostener?</a:t>
            </a:r>
          </a:p>
          <a:p xmlns:a="http://schemas.openxmlformats.org/drawingml/2006/main">
            <a:r>
              <a:t>- **Respuesta esperada:** Corregir exige nombrar el mecanismo y la condición faltante.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Evitar respuestas binarias; pedir una reformulación correcta y acotada.</a:t>
            </a:r>
          </a:p>
          <a:p xmlns:a="http://schemas.openxmlformats.org/drawingml/2006/main">
            <a:r>
              <a:t>- **Transición:** Retorno a U09-083.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Tarjetas de verdadero/falso justificado. La composición permite reconocer que corregir exige nombrar el mecanismo y la condición faltante.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brief U9, ideas erróneas; ejercicios del capítulo.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**Propósito docente:** Documentar una ruta de razonamiento sin fingir cálculo total.</a:t>
            </a:r>
          </a:p>
          <a:p xmlns:a="http://schemas.openxmlformats.org/drawingml/2006/main">
            <a:r>
              <a:t>- **Explicación extendida:** Mostrar después de U09-082; aceptar otras rutas justificadas. Explicitar que la solución válida clasifica mecanismos, elige evidencia y declara incertidumbre.</a:t>
            </a:r>
          </a:p>
          <a:p xmlns:a="http://schemas.openxmlformats.org/drawingml/2006/main">
            <a:r>
              <a:t>- **Guía del visual o diagrama:** Presentar primero la estructura general y luego recorrer Matriz completa fuente–trayecto–receptor, modelos aplicables, mediciones requeridas y límites. Cerrar señalando la idea central, sin leer todas las cajas como una lista.</a:t>
            </a:r>
          </a:p>
          <a:p xmlns:a="http://schemas.openxmlformats.org/drawingml/2006/main">
            <a:r>
              <a:t>- **Pregunta al grupo:** ¿Qué recorrido o relación del esquema sostiene la idea central?</a:t>
            </a:r>
          </a:p>
          <a:p xmlns:a="http://schemas.openxmlformats.org/drawingml/2006/main">
            <a:r>
              <a:t>- **Respuesta esperada:** La solución válida clasifica mecanismos, elige evidencia y declara incertidumbre.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Usar una slide de respaldo fuera de sus condiciones o antes de cerrar la fuente indicada.</a:t>
            </a:r>
          </a:p>
          <a:p xmlns:a="http://schemas.openxmlformats.org/drawingml/2006/main">
            <a:r>
              <a:t>- **Transición:** Retorno a U09-083.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U09-DG-070, candidata para diagram-generation. La composición permite reconocer que la solución válida clasifica mecanismos, elige evidencia y declara incertidumbre.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Síntesis del capítulo 9; brief U9.</a:t>
            </a:r>
          </a:p>
          <a:p xmlns:a="http://schemas.openxmlformats.org/drawingml/2006/main">
            <a:r>
              <a:t>- Asset propio aprobado: U09-DG-070.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**Propósito docente:** Hacer rastreable el alcance y los recursos.</a:t>
            </a:r>
          </a:p>
          <a:p xmlns:a="http://schemas.openxmlformats.org/drawingml/2006/main">
            <a:r>
              <a:t>- **Explicación extendida:** Distinguir fuente de contenido, fuente de datos, fuente visual y ampliación didáctica. Explicitar que programa, libro, arquitectura, guías y normas deben conservar identificación completa.</a:t>
            </a:r>
          </a:p>
          <a:p xmlns:a="http://schemas.openxmlformats.org/drawingml/2006/main">
            <a:r>
              <a:t>- **Guía del visual o diagrama:** Presentar primero la estructura general y luego recorrer Fuentes locales principales, figuras heredadas, decisiones pendientes y espacio para fuentes externas aprobadas. Cerrar señalando la idea central, sin leer todas las cajas como una lista.</a:t>
            </a:r>
          </a:p>
          <a:p xmlns:a="http://schemas.openxmlformats.org/drawingml/2006/main">
            <a:r>
              <a:t>- **Pregunta al grupo:** ¿Cuál es la afirmación principal que esta slide permite sostener?</a:t>
            </a:r>
          </a:p>
          <a:p xmlns:a="http://schemas.openxmlformats.org/drawingml/2006/main">
            <a:r>
              <a:t>- **Respuesta esperada:** Programa, libro, arquitectura, guías y normas deben conservar identificación completa.</a:t>
            </a:r>
          </a:p>
          <a:p xmlns:a="http://schemas.openxmlformats.org/drawingml/2006/main">
            <a:r>
              <a:t>- **Demostración o revelado:** No corresponde.</a:t>
            </a:r>
          </a:p>
          <a:p xmlns:a="http://schemas.openxmlformats.org/drawingml/2006/main">
            <a:r>
              <a:t>- **Error frecuente:** Distinguir fuente de contenido, fuente de datos, fuente visual y ampliación didáctica.</a:t>
            </a:r>
          </a:p>
          <a:p xmlns:a="http://schemas.openxmlformats.org/drawingml/2006/main">
            <a:r>
              <a:t>- **Transición:** Fin del respaldo.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Lista bibliográfica y matriz de trazabilidad. La composición permite reconocer que programa, libro, arquitectura, guías y normas deben conservar identificación completa.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Programa; LaTeX/PDF cap. 9; archivos de arquitectura y estilo.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b8d6f2eb3b4bb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e2b54a97c34eb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51d7707cd44c4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04c0b1e13f4c6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75def7f838452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7625479fd0433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724e9962274a0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99baf08a1c4d9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446e1870274ef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dad6257cbc4c2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50cc244be747fa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2f84b7db9845f1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b5321a278d4626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2025ee78f54127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0f641e4f3547dc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8a5f462c194795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7210fa44534ea1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5a94e4326f4da8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1950f11f5c4eee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37d2cc11334271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d6af62bfee45b0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7efdc685c7400f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39c56a9f7240aa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c4f7ac8d054655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76f784b520844e3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78ccb18b18d4fb6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4f55102d3c54eb6" /></Relationships>
</file>

<file path=ppt/slideLayouts/slideLayout1.xml><?xml version="1.0" encoding="utf-8"?>
<p:sldLayout xmlns:p="http://schemas.openxmlformats.org/presentationml/2006/main" type="title">
  <p:cSld name="FA_02_OBJETIVO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h_title_0">
            <a:extLst xmlns:a="http://schemas.openxmlformats.org/drawingml/2006/main">
              <a:ext uri="{FF2B5EF4-FFF2-40B4-BE49-F238E27FC236}">
                <a16:creationId xmlns:a16="http://schemas.microsoft.com/office/drawing/2014/main" id="{4E7B686E-D1DB-4795-5290-247ED77443BC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Objetivos de aprendizaje</a:t>
            </a:r>
          </a:p>
        </p:txBody>
      </p:sp>
      <p:sp>
        <p:nvSpPr>
          <p:cNvPr id="3" name="ph_body_0">
            <a:extLst xmlns:a="http://schemas.openxmlformats.org/drawingml/2006/main">
              <a:ext uri="{FF2B5EF4-FFF2-40B4-BE49-F238E27FC236}">
                <a16:creationId xmlns:a16="http://schemas.microsoft.com/office/drawing/2014/main" id="{F07F7DEC-A90F-3966-89A5-75E897AE30F9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800100" y="1733550"/>
            <a:ext cx="8001000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Objetivos observables</a:t>
            </a:r>
          </a:p>
        </p:txBody>
      </p:sp>
      <p:sp>
        <p:nvSpPr>
          <p:cNvPr id="4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D4921F09-2F28-54BE-F644-07838B22BCE2}"/>
              </a:ext>
            </a:extLst>
          </p:cNvPr>
          <p:cNvSpPr>
            <a:spLocks xmlns:a="http://schemas.openxmlformats.org/drawingml/2006/main" noGrp="1"/>
          </p:cNvSpPr>
          <p:nvPr>
            <p:ph idx="12" hasCustomPrompt="1"/>
          </p:nvPr>
        </p:nvSpPr>
        <p:spPr>
          <a:xfrm xmlns:a="http://schemas.openxmlformats.org/drawingml/2006/main">
            <a:off x="9144000" y="1752600"/>
            <a:ext cx="2286000" cy="342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Síntesis visual</a:t>
            </a:r>
          </a:p>
        </p:txBody>
      </p:sp>
      <p:sp>
        <p:nvSpPr>
          <p:cNvPr id="5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1912B5C8-473B-C77D-A05F-B105E16C686E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493598C6-FC0D-4EB0-AFF4-EF34A4827315}" type="slidenum">
              <a:t>‹Nº›</a:t>
            </a:fld>
            <a:endParaRPr/>
          </a:p>
        </p:txBody>
      </p:sp>
    </p:spTree>
  </p:cSld>
  <p:hf hdr="0" ftr="0" dt="0"/>
</p:sldLayout>
</file>

<file path=ppt/slideLayouts/slideLayout2.xml><?xml version="1.0" encoding="utf-8"?>
<p:sldLayout xmlns:p="http://schemas.openxmlformats.org/presentationml/2006/main" userDrawn="1">
  <p:cSld name="FA_23_APENDIC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4F817AC1-63E9-74A3-6EEF-E53D71A0508E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Apéndice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3A72ED7B-043F-EB18-1C28-92B596F251B2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76400"/>
            <a:ext cx="106680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Material de consulta</a:t>
            </a:r>
          </a:p>
        </p:txBody>
      </p:sp>
      <p:sp>
        <p:nvSpPr>
          <p:cNvPr id="8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54E6216A-7B06-7D20-00D4-14737599E1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89BA0A7D-AABB-4192-B838-2BA5BB3178BC}" type="slidenum">
              <a:t>‹Nº›</a:t>
            </a:fld>
            <a:endParaRPr/>
          </a:p>
        </p:txBody>
      </p:sp>
    </p:spTree>
  </p:cSld>
  <p:hf hdr="0" ftr="0" dt="0"/>
</p:sldLayout>
</file>

<file path=ppt/slideLayouts/slideLayout3.xml><?xml version="1.0" encoding="utf-8"?>
<p:sldLayout xmlns:p="http://schemas.openxmlformats.org/presentationml/2006/main" userDrawn="1">
  <p:cSld name="FA_22_VISUAL_COMPLET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B0072429-6B7A-69F4-3F2D-C2B17968DFE0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picture_0">
            <a:extLst xmlns:a="http://schemas.openxmlformats.org/drawingml/2006/main">
              <a:ext uri="{FF2B5EF4-FFF2-40B4-BE49-F238E27FC236}">
                <a16:creationId xmlns:a16="http://schemas.microsoft.com/office/drawing/2014/main" id="{F9D8C064-C5F2-F9D4-1C9F-C48CF1E689A0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762000" y="1562100"/>
            <a:ext cx="10668000" cy="421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Visual principal</a:t>
            </a:r>
          </a:p>
        </p:txBody>
      </p:sp>
      <p:sp>
        <p:nvSpPr>
          <p:cNvPr id="8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BEAB57CB-6BFE-7577-9B58-D0EA985A28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DBBF5632-20E4-4D54-B3A4-92C990DA26EE}" type="slidenum">
              <a:t>‹Nº›</a:t>
            </a:fld>
            <a:endParaRPr/>
          </a:p>
        </p:txBody>
      </p:sp>
    </p:spTree>
  </p:cSld>
  <p:hf hdr="0" ftr="0" dt="0"/>
</p:sldLayout>
</file>

<file path=ppt/slideLayouts/slideLayout4.xml><?xml version="1.0" encoding="utf-8"?>
<p:sldLayout xmlns:p="http://schemas.openxmlformats.org/presentationml/2006/main" userDrawn="1">
  <p:cSld name="FA_20_BIBLIO_RECURSO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9FB78823-06A2-4172-6192-1B829F9AB87F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Bibliografía y recursos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009E4BB4-6F84-BBB7-BD01-0716EEE41AB5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76400"/>
            <a:ext cx="106680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Referencias y enlaces</a:t>
            </a:r>
          </a:p>
        </p:txBody>
      </p:sp>
      <p:sp>
        <p:nvSpPr>
          <p:cNvPr id="8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FCDD5430-4EE5-8B4D-B583-289E640823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E8732B64-9C97-4971-8B5F-42781D287601}" type="slidenum">
              <a:t>‹Nº›</a:t>
            </a:fld>
            <a:endParaRPr/>
          </a:p>
        </p:txBody>
      </p:sp>
    </p:spTree>
  </p:cSld>
  <p:hf hdr="0" ftr="0" dt="0"/>
</p:sldLayout>
</file>

<file path=ppt/slideLayouts/slideLayout5.xml><?xml version="1.0" encoding="utf-8"?>
<p:sldLayout xmlns:p="http://schemas.openxmlformats.org/presentationml/2006/main" userDrawn="1">
  <p:cSld name="FA_19_MEDIA_AUDIO_VIDE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B0CDC979-FF33-3EDD-88CD-DF60D4B1D61C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Video, GIF o audio</a:t>
            </a:r>
          </a:p>
        </p:txBody>
      </p:sp>
      <p:sp>
        <p:nvSpPr>
          <p:cNvPr id="7" name="ph_media_0">
            <a:extLst xmlns:a="http://schemas.openxmlformats.org/drawingml/2006/main">
              <a:ext uri="{FF2B5EF4-FFF2-40B4-BE49-F238E27FC236}">
                <a16:creationId xmlns:a16="http://schemas.microsoft.com/office/drawing/2014/main" id="{079FCF96-20BE-7B92-B825-972A93B10A07}"/>
              </a:ext>
            </a:extLst>
          </p:cNvPr>
          <p:cNvSpPr>
            <a:spLocks xmlns:a="http://schemas.openxmlformats.org/drawingml/2006/main" noGrp="1"/>
          </p:cNvSpPr>
          <p:nvPr>
            <p:ph type="media" idx="11" hasCustomPrompt="1"/>
          </p:nvPr>
        </p:nvSpPr>
        <p:spPr>
          <a:xfrm xmlns:a="http://schemas.openxmlformats.org/drawingml/2006/main">
            <a:off x="762000" y="1657350"/>
            <a:ext cx="72390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Video, GIF o audio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F555F5DB-607B-02A3-9FCF-CDD66D2EF793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8382000" y="1657350"/>
            <a:ext cx="30480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Consigna de observación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FB834D89-9F78-BAC7-245C-165FD788A321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076EB7A8-105E-44D9-AF9B-E4B002172AD7}" type="slidenum">
              <a:t>‹Nº›</a:t>
            </a:fld>
            <a:endParaRPr/>
          </a:p>
        </p:txBody>
      </p:sp>
    </p:spTree>
  </p:cSld>
  <p:hf hdr="0" ftr="0" dt="0"/>
</p:sldLayout>
</file>

<file path=ppt/slideLayouts/slideLayout6.xml><?xml version="1.0" encoding="utf-8"?>
<p:sldLayout xmlns:p="http://schemas.openxmlformats.org/presentationml/2006/main" userDrawn="1">
  <p:cSld name="FA_18_TABLA_DATO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409A66DE-F76D-5BAF-6FEA-DF1908C43A15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Tabla o datos</a:t>
            </a:r>
          </a:p>
        </p:txBody>
      </p:sp>
      <p:sp>
        <p:nvSpPr>
          <p:cNvPr id="7" name="ph_table_0">
            <a:extLst xmlns:a="http://schemas.openxmlformats.org/drawingml/2006/main">
              <a:ext uri="{FF2B5EF4-FFF2-40B4-BE49-F238E27FC236}">
                <a16:creationId xmlns:a16="http://schemas.microsoft.com/office/drawing/2014/main" id="{4C0D0D26-F100-8659-00EA-2409004E2AEE}"/>
              </a:ext>
            </a:extLst>
          </p:cNvPr>
          <p:cNvSpPr>
            <a:spLocks xmlns:a="http://schemas.openxmlformats.org/drawingml/2006/main" noGrp="1"/>
          </p:cNvSpPr>
          <p:nvPr>
            <p:ph type="tbl" idx="11" hasCustomPrompt="1"/>
          </p:nvPr>
        </p:nvSpPr>
        <p:spPr>
          <a:xfrm xmlns:a="http://schemas.openxmlformats.org/drawingml/2006/main">
            <a:off x="762000" y="1676400"/>
            <a:ext cx="106680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Tabla editable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B5DAB8AD-C9A2-9783-CB90-DB0CFE8EF09E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762000" y="5581650"/>
            <a:ext cx="10668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Lectura principal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7408CF10-5CC7-0648-9A06-15F7433C7031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4FEE56A1-BB6C-438D-8886-FF44760C7C6B}" type="slidenum">
              <a:t>‹Nº›</a:t>
            </a:fld>
            <a:endParaRPr/>
          </a:p>
        </p:txBody>
      </p:sp>
    </p:spTree>
  </p:cSld>
  <p:hf hdr="0" ftr="0" dt="0"/>
</p:sldLayout>
</file>

<file path=ppt/slideLayouts/slideLayout7.xml><?xml version="1.0" encoding="utf-8"?>
<p:sldLayout xmlns:p="http://schemas.openxmlformats.org/presentationml/2006/main" userDrawn="1">
  <p:cSld name="FA_17_RECAP_FINA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58A1AFD7-74FA-41E6-94B3-B5C8DDCED2B7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Recapitulación final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DE1EB0DD-8791-1A8B-9D62-CD8B1EF3E7B3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762000" y="1695450"/>
            <a:ext cx="106680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Mapa de conceptos</a:t>
            </a:r>
          </a:p>
        </p:txBody>
      </p:sp>
      <p:sp>
        <p:nvSpPr>
          <p:cNvPr id="8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85F550E7-9C54-188B-FFC4-467A63CBBB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456A0307-F779-4344-B886-D9280EB668B3}" type="slidenum">
              <a:t>‹Nº›</a:t>
            </a:fld>
            <a:endParaRPr/>
          </a:p>
        </p:txBody>
      </p:sp>
    </p:spTree>
  </p:cSld>
  <p:hf hdr="0" ftr="0" dt="0"/>
</p:sldLayout>
</file>

<file path=ppt/slideLayouts/slideLayout8.xml><?xml version="1.0" encoding="utf-8"?>
<p:sldLayout xmlns:p="http://schemas.openxmlformats.org/presentationml/2006/main" userDrawn="1">
  <p:cSld name="FA_16_RECAP_PARCIA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39229E1F-564D-1252-8752-640CDDC94936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Resumen parcial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26942BEC-4BB7-68A8-5D3D-0F2E7C8C878D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76400"/>
            <a:ext cx="6858000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Ideas consolidadas</a:t>
            </a:r>
          </a:p>
        </p:txBody>
      </p:sp>
      <p:sp>
        <p:nvSpPr>
          <p:cNvPr id="8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58A41835-9B86-B2F7-FDEB-E572198A44F3}"/>
              </a:ext>
            </a:extLst>
          </p:cNvPr>
          <p:cNvSpPr>
            <a:spLocks xmlns:a="http://schemas.openxmlformats.org/drawingml/2006/main" noGrp="1"/>
          </p:cNvSpPr>
          <p:nvPr>
            <p:ph idx="12" hasCustomPrompt="1"/>
          </p:nvPr>
        </p:nvSpPr>
        <p:spPr>
          <a:xfrm xmlns:a="http://schemas.openxmlformats.org/drawingml/2006/main">
            <a:off x="8001000" y="1676400"/>
            <a:ext cx="34290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Llamada de recapitulación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9448B502-DD56-36BC-C80F-26C3FDF379C3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A33687D1-4041-4057-AFDA-E8313599D529}" type="slidenum">
              <a:t>‹Nº›</a:t>
            </a:fld>
            <a:endParaRPr/>
          </a:p>
        </p:txBody>
      </p:sp>
    </p:spTree>
  </p:cSld>
  <p:hf hdr="0" ftr="0" dt="0"/>
</p:sldLayout>
</file>

<file path=ppt/slideLayouts/slideLayout9.xml><?xml version="1.0" encoding="utf-8"?>
<p:sldLayout xmlns:p="http://schemas.openxmlformats.org/presentationml/2006/main" userDrawn="1">
  <p:cSld name="FA_15_ERROR_FRECUEN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EDF6D93D-81D3-09A3-9451-58354AAA940D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Error frecuente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BEE8D141-1A7B-E1E2-4278-DACF5AEFFBB9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952500" y="1809750"/>
            <a:ext cx="102870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Idea incorrecta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51AAF03A-25D3-5D01-FCF9-2955539C92E3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143000" y="3905250"/>
            <a:ext cx="99060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Corrección razonada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2EC62D10-711F-D9B1-7D3A-18749CF1A784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BDAFD395-8463-4588-B260-79B86AAD3E51}" type="slidenum">
              <a:t>‹Nº›</a:t>
            </a:fld>
            <a:endParaRPr/>
          </a:p>
        </p:txBody>
      </p:sp>
    </p:spTree>
  </p:cSld>
  <p:hf hdr="0" ftr="0" dt="0"/>
</p:sldLayout>
</file>

<file path=ppt/slideLayouts/slideLayout10.xml><?xml version="1.0" encoding="utf-8"?>
<p:sldLayout xmlns:p="http://schemas.openxmlformats.org/presentationml/2006/main" userDrawn="1">
  <p:cSld name="FA_14B_MINI_EJERCICI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EC11DF7D-DCF3-07BF-2350-3CEDB78BCA73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Mini ejercicio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BFFBA6A1-CB2F-C08F-96BB-D862AE72699F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95450"/>
            <a:ext cx="6477000" cy="342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Consigna y datos</a:t>
            </a:r>
          </a:p>
        </p:txBody>
      </p:sp>
      <p:sp>
        <p:nvSpPr>
          <p:cNvPr id="8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91DCAFC2-EA6E-2D23-3B41-A0752099656D}"/>
              </a:ext>
            </a:extLst>
          </p:cNvPr>
          <p:cNvSpPr>
            <a:spLocks xmlns:a="http://schemas.openxmlformats.org/drawingml/2006/main" noGrp="1"/>
          </p:cNvSpPr>
          <p:nvPr>
            <p:ph idx="12" hasCustomPrompt="1"/>
          </p:nvPr>
        </p:nvSpPr>
        <p:spPr>
          <a:xfrm xmlns:a="http://schemas.openxmlformats.org/drawingml/2006/main">
            <a:off x="7620000" y="1695450"/>
            <a:ext cx="3810000" cy="342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Espacio de resolución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A0621BFB-671E-D2BB-46AB-1C4FC0833871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81336448-9F7A-438A-9B1D-8F6491D87475}" type="slidenum">
              <a:t>‹Nº›</a:t>
            </a:fld>
            <a:endParaRPr/>
          </a:p>
        </p:txBody>
      </p:sp>
    </p:spTree>
  </p:cSld>
  <p:hf hdr="0" ftr="0" dt="0"/>
</p:sldLayout>
</file>

<file path=ppt/slideLayouts/slideLayout11.xml><?xml version="1.0" encoding="utf-8"?>
<p:sldLayout xmlns:p="http://schemas.openxmlformats.org/presentationml/2006/main" userDrawn="1">
  <p:cSld name="FA_14_PREGUNTA_EJERCICI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622FF81E-C3C8-AD07-DE0B-DA2CA2611D15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Pregunta al curso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FB5F4DDD-6CFB-7D47-14E7-EA043E89CA23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1333500" y="2000250"/>
            <a:ext cx="95250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Pregunta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543AE4C9-62D3-B123-DF7D-6CA4CFF8C65B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524000" y="4457700"/>
            <a:ext cx="91440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Pistas para discutir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81D1303B-53FE-8249-310B-E605F0EE1564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1CFE78DF-3976-48C8-961D-AA1C8CA99F09}" type="slidenum">
              <a:t>‹Nº›</a:t>
            </a:fld>
            <a:endParaRPr/>
          </a:p>
        </p:txBody>
      </p:sp>
    </p:spTree>
  </p:cSld>
  <p:hf hdr="0" ftr="0" dt="0"/>
</p:sldLayout>
</file>

<file path=ppt/slideLayouts/slideLayout12.xml><?xml version="1.0" encoding="utf-8"?>
<p:sldLayout xmlns:p="http://schemas.openxmlformats.org/presentationml/2006/main" userDrawn="1">
  <p:cSld name="FA_13_APLICACION_CLINIC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DDD03774-96DE-DA2F-A511-71B36099D23A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Aplicación a Fonoaudiología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BF907AE9-FAD6-BFC9-BD52-A97C988A7F59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714500"/>
            <a:ext cx="5715000" cy="390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Concepto físico</a:t>
            </a:r>
          </a:p>
        </p:txBody>
      </p:sp>
      <p:sp>
        <p:nvSpPr>
          <p:cNvPr id="8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714E50E2-E1DA-3206-B850-EA65C2FD7D1A}"/>
              </a:ext>
            </a:extLst>
          </p:cNvPr>
          <p:cNvSpPr>
            <a:spLocks xmlns:a="http://schemas.openxmlformats.org/drawingml/2006/main" noGrp="1"/>
          </p:cNvSpPr>
          <p:nvPr>
            <p:ph idx="12" hasCustomPrompt="1"/>
          </p:nvPr>
        </p:nvSpPr>
        <p:spPr>
          <a:xfrm xmlns:a="http://schemas.openxmlformats.org/drawingml/2006/main">
            <a:off x="6858000" y="1714500"/>
            <a:ext cx="4572000" cy="342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Aplicación clínica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51F74211-E68E-8F63-B477-ED892A0B76ED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A330D82D-5740-4471-AF56-8696EEE2E4B5}" type="slidenum">
              <a:t>‹Nº›</a:t>
            </a:fld>
            <a:endParaRPr/>
          </a:p>
        </p:txBody>
      </p:sp>
    </p:spTree>
  </p:cSld>
  <p:hf hdr="0" ftr="0" dt="0"/>
</p:sldLayout>
</file>

<file path=ppt/slideLayouts/slideLayout13.xml><?xml version="1.0" encoding="utf-8"?>
<p:sldLayout xmlns:p="http://schemas.openxmlformats.org/presentationml/2006/main" userDrawn="1">
  <p:cSld name="FA_12_PROCES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6A7C0E02-1009-E9C6-5ACC-80E7D6880A69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Proceso secuencial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58205925-FD47-66F2-A802-416BCA053AEF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762000" y="1924050"/>
            <a:ext cx="10668000" cy="2952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Secuencia editable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8685E304-E9CA-43F8-8930-8E0ED8BE7286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914400" y="5219700"/>
            <a:ext cx="10363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Idea de cierre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0506C10D-1069-18D8-D511-E7658980284E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9CA5DB51-531C-4AFB-9FB5-87CA9A3111B8}" type="slidenum">
              <a:t>‹Nº›</a:t>
            </a:fld>
            <a:endParaRPr/>
          </a:p>
        </p:txBody>
      </p:sp>
    </p:spTree>
  </p:cSld>
  <p:hf hdr="0" ftr="0" dt="0"/>
</p:sldLayout>
</file>

<file path=ppt/slideLayouts/slideLayout14.xml><?xml version="1.0" encoding="utf-8"?>
<p:sldLayout xmlns:p="http://schemas.openxmlformats.org/presentationml/2006/main" userDrawn="1">
  <p:cSld name="FA_11_COMPARAC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C3754BA9-BA43-89AA-C70D-83CA68AF3401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Comparación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4E58697A-6AA1-094E-FB77-5ED2F72D0C96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95450"/>
            <a:ext cx="4953000" cy="390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Caso A</a:t>
            </a:r>
          </a:p>
        </p:txBody>
      </p:sp>
      <p:sp>
        <p:nvSpPr>
          <p:cNvPr id="8" name="ph_body_1">
            <a:extLst xmlns:a="http://schemas.openxmlformats.org/drawingml/2006/main">
              <a:ext uri="{FF2B5EF4-FFF2-40B4-BE49-F238E27FC236}">
                <a16:creationId xmlns:a16="http://schemas.microsoft.com/office/drawing/2014/main" id="{76A280CC-0448-5099-BD8C-5F5DA7427A41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6477000" y="1695450"/>
            <a:ext cx="4953000" cy="390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Caso B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B22C4027-B511-C66A-3210-C4F977C71BF0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5DBCCD25-7213-4B32-B316-993301A50991}" type="slidenum">
              <a:t>‹Nº›</a:t>
            </a:fld>
            <a:endParaRPr/>
          </a:p>
        </p:txBody>
      </p:sp>
    </p:spTree>
  </p:cSld>
  <p:hf hdr="0" ftr="0" dt="0"/>
</p:sldLayout>
</file>

<file path=ppt/slideLayouts/slideLayout15.xml><?xml version="1.0" encoding="utf-8"?>
<p:sldLayout xmlns:p="http://schemas.openxmlformats.org/presentationml/2006/main" userDrawn="1">
  <p:cSld name="FA_10_EJEMPLO_RESUELT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1EBA8C66-75F7-8786-62D4-8E39087D032A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Ejemplo resuelto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B3761D8C-5D3D-B5FC-3088-D429C5A6F945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57350"/>
            <a:ext cx="4000500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Datos y pregunta</a:t>
            </a:r>
          </a:p>
        </p:txBody>
      </p:sp>
      <p:sp>
        <p:nvSpPr>
          <p:cNvPr id="8" name="ph_body_1">
            <a:extLst xmlns:a="http://schemas.openxmlformats.org/drawingml/2006/main">
              <a:ext uri="{FF2B5EF4-FFF2-40B4-BE49-F238E27FC236}">
                <a16:creationId xmlns:a16="http://schemas.microsoft.com/office/drawing/2014/main" id="{72C3AA6E-744B-B585-1A7D-4DBA7725171B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5143500" y="1657350"/>
            <a:ext cx="6286500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Resolución paso a paso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F87FCAB0-F142-2C7C-6C7A-2118A60FE41C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1685110A-6086-4FE8-8F00-9DEAECCAACBB}" type="slidenum">
              <a:t>‹Nº›</a:t>
            </a:fld>
            <a:endParaRPr/>
          </a:p>
        </p:txBody>
      </p:sp>
    </p:spTree>
  </p:cSld>
  <p:hf hdr="0" ftr="0" dt="0"/>
</p:sldLayout>
</file>

<file path=ppt/slideLayouts/slideLayout16.xml><?xml version="1.0" encoding="utf-8"?>
<p:sldLayout xmlns:p="http://schemas.openxmlformats.org/presentationml/2006/main" userDrawn="1">
  <p:cSld name="FA_09_ECUACION_INTERPRETAC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E55D978A-66A3-12DD-6D64-38108280AE38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63049859-11E6-28FF-2063-7C84F2BCE7EA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762000" y="1752600"/>
            <a:ext cx="106680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Ecuación editable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27826603-AFCB-A7FC-DC5A-2E4905DA0F02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762000" y="3638550"/>
            <a:ext cx="106680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Interpretación y unidades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554DD594-5FD7-1BA8-C390-3B2081E1BD93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D4E3DF21-1703-4AF3-A758-2190B581AEE3}" type="slidenum">
              <a:t>‹Nº›</a:t>
            </a:fld>
            <a:endParaRPr/>
          </a:p>
        </p:txBody>
      </p:sp>
    </p:spTree>
  </p:cSld>
  <p:hf hdr="0" ftr="0" dt="0"/>
</p:sldLayout>
</file>

<file path=ppt/slideLayouts/slideLayout17.xml><?xml version="1.0" encoding="utf-8"?>
<p:sldLayout xmlns:p="http://schemas.openxmlformats.org/presentationml/2006/main" userDrawn="1">
  <p:cSld name="FA_08_DEFINIC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A64F010A-6A76-C440-2396-A624262AB04D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Concepto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314101D8-2C06-19A3-8BA4-89816CC23386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1143000" y="1981200"/>
            <a:ext cx="990600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Definición completa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4D685FE1-58B7-9044-F0E6-24526BBA1CC2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333500" y="4686300"/>
            <a:ext cx="95250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Implicación o ejemplo breve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08CAD3E8-7C2E-D428-8533-9F43F7FD3565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EF7231C5-674D-43AF-A7BF-A95F7B1AC02E}" type="slidenum">
              <a:t>‹Nº›</a:t>
            </a:fld>
            <a:endParaRPr/>
          </a:p>
        </p:txBody>
      </p:sp>
    </p:spTree>
  </p:cSld>
  <p:hf hdr="0" ftr="0" dt="0"/>
</p:sldLayout>
</file>

<file path=ppt/slideLayouts/slideLayout18.xml><?xml version="1.0" encoding="utf-8"?>
<p:sldLayout xmlns:p="http://schemas.openxmlformats.org/presentationml/2006/main" userDrawn="1">
  <p:cSld name="FA_07_GRAFICO_EXPLICAC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8E031ACD-0AD5-8809-0717-649540F4F383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chart_0">
            <a:extLst xmlns:a="http://schemas.openxmlformats.org/drawingml/2006/main">
              <a:ext uri="{FF2B5EF4-FFF2-40B4-BE49-F238E27FC236}">
                <a16:creationId xmlns:a16="http://schemas.microsoft.com/office/drawing/2014/main" id="{5380A50B-6A0F-2DF2-CF30-B0F7001B31E2}"/>
              </a:ext>
            </a:extLst>
          </p:cNvPr>
          <p:cNvSpPr>
            <a:spLocks xmlns:a="http://schemas.openxmlformats.org/drawingml/2006/main" noGrp="1"/>
          </p:cNvSpPr>
          <p:nvPr>
            <p:ph type="chart" idx="11" hasCustomPrompt="1"/>
          </p:nvPr>
        </p:nvSpPr>
        <p:spPr>
          <a:xfrm xmlns:a="http://schemas.openxmlformats.org/drawingml/2006/main">
            <a:off x="762000" y="1676400"/>
            <a:ext cx="68580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Gráfico editable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1A6588E5-AEF0-6915-CE1D-570FEF5B4711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8039100" y="1676400"/>
            <a:ext cx="3390900" cy="390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Lectura guiada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61303251-BC98-15C7-91D2-8A07695826A0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F56D38C4-B1D5-4C8E-BE72-930FD8BDBC8E}" type="slidenum">
              <a:t>‹Nº›</a:t>
            </a:fld>
            <a:endParaRPr/>
          </a:p>
        </p:txBody>
      </p:sp>
    </p:spTree>
  </p:cSld>
  <p:hf hdr="0" ftr="0" dt="0"/>
</p:sldLayout>
</file>

<file path=ppt/slideLayouts/slideLayout19.xml><?xml version="1.0" encoding="utf-8"?>
<p:sldLayout xmlns:p="http://schemas.openxmlformats.org/presentationml/2006/main" userDrawn="1">
  <p:cSld name="FA_06B_DOS_COLUMNA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08ED06A4-5573-5517-B8B5-C2075DA96245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CFF38B9F-A684-35A1-0FA9-F59A1B5AB4C6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76400"/>
            <a:ext cx="49530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Columna izquierda</a:t>
            </a:r>
          </a:p>
        </p:txBody>
      </p:sp>
      <p:sp>
        <p:nvSpPr>
          <p:cNvPr id="8" name="ph_body_1">
            <a:extLst xmlns:a="http://schemas.openxmlformats.org/drawingml/2006/main">
              <a:ext uri="{FF2B5EF4-FFF2-40B4-BE49-F238E27FC236}">
                <a16:creationId xmlns:a16="http://schemas.microsoft.com/office/drawing/2014/main" id="{8F895085-9CE5-6EE1-5F9D-097B6BDA3C7F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6477000" y="1676400"/>
            <a:ext cx="49530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Columna derecha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BA13ABB1-00AB-594A-F558-8175EBCF3114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602F4707-DF6D-4294-BB93-51F5AE613322}" type="slidenum">
              <a:t>‹Nº›</a:t>
            </a:fld>
            <a:endParaRPr/>
          </a:p>
        </p:txBody>
      </p:sp>
    </p:spTree>
  </p:cSld>
  <p:hf hdr="0" ftr="0" dt="0"/>
</p:sldLayout>
</file>

<file path=ppt/slideLayouts/slideLayout20.xml><?xml version="1.0" encoding="utf-8"?>
<p:sldLayout xmlns:p="http://schemas.openxmlformats.org/presentationml/2006/main" userDrawn="1">
  <p:cSld name="FA_06_VISUAL_TEXTO_40_60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D5AED30D-A7BD-30DD-BE10-40C7E08936FE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picture_0">
            <a:extLst xmlns:a="http://schemas.openxmlformats.org/drawingml/2006/main">
              <a:ext uri="{FF2B5EF4-FFF2-40B4-BE49-F238E27FC236}">
                <a16:creationId xmlns:a16="http://schemas.microsoft.com/office/drawing/2014/main" id="{6FA99C08-D6E3-4E98-F4FE-DDBFAED84D03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762000" y="1676400"/>
            <a:ext cx="4095750" cy="3371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Imagen o diagrama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E5F7348D-D236-9EEA-2133-597F8B480978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5238750" y="1676400"/>
            <a:ext cx="6191250" cy="390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Explicación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9B437985-0763-FCCF-F44F-242B6F5117A3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BA6B0A21-BCB8-4A3F-B261-5C6ED3AE2361}" type="slidenum">
              <a:t>‹Nº›</a:t>
            </a:fld>
            <a:endParaRPr/>
          </a:p>
        </p:txBody>
      </p:sp>
    </p:spTree>
  </p:cSld>
  <p:hf hdr="0" ftr="0" dt="0"/>
</p:sldLayout>
</file>

<file path=ppt/slideLayouts/slideLayout21.xml><?xml version="1.0" encoding="utf-8"?>
<p:sldLayout xmlns:p="http://schemas.openxmlformats.org/presentationml/2006/main" userDrawn="1">
  <p:cSld name="FA_05_TEXTO_VISUAL_60_40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3EF649E4-ADFE-13DB-6148-5183BBE49514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8F472493-280E-0CA3-7AC8-E68E8FBDBFCC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76400"/>
            <a:ext cx="6191250" cy="390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Explicación</a:t>
            </a:r>
          </a:p>
        </p:txBody>
      </p:sp>
      <p:sp>
        <p:nvSpPr>
          <p:cNvPr id="8" name="ph_picture_0">
            <a:extLst xmlns:a="http://schemas.openxmlformats.org/drawingml/2006/main">
              <a:ext uri="{FF2B5EF4-FFF2-40B4-BE49-F238E27FC236}">
                <a16:creationId xmlns:a16="http://schemas.microsoft.com/office/drawing/2014/main" id="{79FC630C-AD55-24EA-E53D-308D86D07925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7334250" y="1676400"/>
            <a:ext cx="4095750" cy="3371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Imagen o diagrama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3545EB75-FA22-76BE-9CE1-5BBC0905B29C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1060B985-A0D6-43B6-9BE3-5D6CD61324BB}" type="slidenum">
              <a:t>‹Nº›</a:t>
            </a:fld>
            <a:endParaRPr/>
          </a:p>
        </p:txBody>
      </p:sp>
    </p:spTree>
  </p:cSld>
  <p:hf hdr="0" ftr="0" dt="0"/>
</p:sldLayout>
</file>

<file path=ppt/slideLayouts/slideLayout22.xml><?xml version="1.0" encoding="utf-8"?>
<p:sldLayout xmlns:p="http://schemas.openxmlformats.org/presentationml/2006/main" userDrawn="1">
  <p:cSld name="FA_04_TITULO_CONTENID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EA73D0B5-44ED-C607-E4A8-F4FDBA1B460F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4067827F-3DFD-43A8-ED1D-4A061C6AADC3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95450"/>
            <a:ext cx="10668000" cy="411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Idea principal y desarrollo</a:t>
            </a:r>
          </a:p>
        </p:txBody>
      </p:sp>
      <p:sp>
        <p:nvSpPr>
          <p:cNvPr id="8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AB672653-EF56-0789-95CE-0ACA397242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1113A982-D864-4714-BC0D-F64786B8C006}" type="slidenum">
              <a:t>‹Nº›</a:t>
            </a:fld>
            <a:endParaRPr/>
          </a:p>
        </p:txBody>
      </p:sp>
    </p:spTree>
  </p:cSld>
  <p:hf hdr="0" ftr="0" dt="0"/>
</p:sldLayout>
</file>

<file path=ppt/slideLayouts/slideLayout23.xml><?xml version="1.0" encoding="utf-8"?>
<p:sldLayout xmlns:p="http://schemas.openxmlformats.org/presentationml/2006/main" userDrawn="1">
  <p:cSld name="FA_03_MAPA_CLA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774C0439-FC2E-F5D5-0F77-C83354962018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Mapa de la clase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5D91A08B-7367-A177-D3A1-D4D0D4FD2923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762000" y="1790700"/>
            <a:ext cx="10668000" cy="373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Secuencia de bloques</a:t>
            </a:r>
          </a:p>
        </p:txBody>
      </p:sp>
      <p:sp>
        <p:nvSpPr>
          <p:cNvPr id="8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CB1AB991-FF40-041B-F321-8D5FD60362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A4F5DA17-0689-46E4-8362-81AB21D91399}" type="slidenum">
              <a:t>‹Nº›</a:t>
            </a:fld>
            <a:endParaRPr/>
          </a:p>
        </p:txBody>
      </p:sp>
    </p:spTree>
  </p:cSld>
  <p:hf hdr="0" ftr="0" dt="0"/>
</p:sldLayout>
</file>

<file path=ppt/slideLayouts/slideLayout24.xml><?xml version="1.0" encoding="utf-8"?>
<p:sldLayout xmlns:p="http://schemas.openxmlformats.org/presentationml/2006/main" userDrawn="1">
  <p:cSld name="FA_02B_CONOCIMIENTOS_PREVIO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E86E20EB-ACF6-E98B-A7F7-FAA63FE7A1AB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Conocimientos previos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DA74F11D-A621-76AD-1939-D17C951722BA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714500"/>
            <a:ext cx="49530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Ya conocemos</a:t>
            </a:r>
          </a:p>
        </p:txBody>
      </p:sp>
      <p:sp>
        <p:nvSpPr>
          <p:cNvPr id="8" name="ph_body_1">
            <a:extLst xmlns:a="http://schemas.openxmlformats.org/drawingml/2006/main">
              <a:ext uri="{FF2B5EF4-FFF2-40B4-BE49-F238E27FC236}">
                <a16:creationId xmlns:a16="http://schemas.microsoft.com/office/drawing/2014/main" id="{3F301BAB-D31B-43BA-8C3E-29D441A86035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6477000" y="1714500"/>
            <a:ext cx="49530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Necesitamos recuperar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485A1487-76D9-6CD2-5B5D-641F847EEABE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C017E5F8-CA14-4AD9-9C34-2654E5F0D860}" type="slidenum">
              <a:t>‹Nº›</a:t>
            </a:fld>
            <a:endParaRPr/>
          </a:p>
        </p:txBody>
      </p:sp>
    </p:spTree>
  </p:cSld>
  <p:hf hdr="0" ftr="0" dt="0"/>
</p:sldLayout>
</file>

<file path=ppt/slideLayouts/slideLayout25.xml><?xml version="1.0" encoding="utf-8"?>
<p:sldLayout xmlns:p="http://schemas.openxmlformats.org/presentationml/2006/main" preserve="1" userDrawn="1">
  <p:cSld name="FA_00_PORTAD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h_title_0">
            <a:extLst xmlns:a="http://schemas.openxmlformats.org/drawingml/2006/main">
              <a:ext uri="{FF2B5EF4-FFF2-40B4-BE49-F238E27FC236}">
                <a16:creationId xmlns:a16="http://schemas.microsoft.com/office/drawing/2014/main" id="{BBF699B4-1B17-0944-8A64-D6854D8D6D1E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800100" y="1543049"/>
            <a:ext cx="85725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de la unidad</a:t>
            </a:r>
          </a:p>
        </p:txBody>
      </p:sp>
      <p:sp>
        <p:nvSpPr>
          <p:cNvPr id="8" name="ph_subtitle_0">
            <a:extLst xmlns:a="http://schemas.openxmlformats.org/drawingml/2006/main">
              <a:ext uri="{FF2B5EF4-FFF2-40B4-BE49-F238E27FC236}">
                <a16:creationId xmlns:a16="http://schemas.microsoft.com/office/drawing/2014/main" id="{5EEB7C2E-BFEB-6726-9C51-28E1E3242D9B}"/>
              </a:ext>
            </a:extLst>
          </p:cNvPr>
          <p:cNvSpPr>
            <a:spLocks xmlns:a="http://schemas.openxmlformats.org/drawingml/2006/main" noGrp="1"/>
          </p:cNvSpPr>
          <p:nvPr>
            <p:ph type="subTitle" idx="11" hasCustomPrompt="1"/>
          </p:nvPr>
        </p:nvSpPr>
        <p:spPr>
          <a:xfrm xmlns:a="http://schemas.openxmlformats.org/drawingml/2006/main">
            <a:off x="838200" y="3143250"/>
            <a:ext cx="7239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marL="0" indent="0" algn="l">
              <a:buNone/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 xmlns:a="http://schemas.openxmlformats.org/drawingml/2006/main">
            <a:r>
              <a:t>Subtítulo o alcance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F9094F21-F8D4-117E-6486-B4FB78DA57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BFBD13B0-F1EE-46B2-9204-54BDCC94E2F7}" type="slidenum">
              <a:t>‹Nº›</a:t>
            </a:fld>
            <a:endParaRPr/>
          </a:p>
        </p:txBody>
      </p:sp>
    </p:spTree>
  </p:cSld>
  <p:hf hdr="0" ftr="0" dt="0"/>
</p:sldLayout>
</file>

<file path=ppt/slideLayouts/slideLayout26.xml><?xml version="1.0" encoding="utf-8"?>
<p:sldLayout xmlns:p="http://schemas.openxmlformats.org/presentationml/2006/main" preserve="1" userDrawn="1">
  <p:cSld name="FA_21_CIERRE_PUEN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h_title_0">
            <a:extLst xmlns:a="http://schemas.openxmlformats.org/drawingml/2006/main">
              <a:ext uri="{FF2B5EF4-FFF2-40B4-BE49-F238E27FC236}">
                <a16:creationId xmlns:a16="http://schemas.microsoft.com/office/drawing/2014/main" id="{08E6C8A6-F9D3-7926-25DF-ED045F3A4CCD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800100" y="2019300"/>
            <a:ext cx="895350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Cierre</a:t>
            </a:r>
          </a:p>
        </p:txBody>
      </p:sp>
      <p:sp>
        <p:nvSpPr>
          <p:cNvPr id="3" name="ph_subtitle_0">
            <a:extLst xmlns:a="http://schemas.openxmlformats.org/drawingml/2006/main">
              <a:ext uri="{FF2B5EF4-FFF2-40B4-BE49-F238E27FC236}">
                <a16:creationId xmlns:a16="http://schemas.microsoft.com/office/drawing/2014/main" id="{7DB56B4A-8D9F-CA11-B9D5-A6125863F28F}"/>
              </a:ext>
            </a:extLst>
          </p:cNvPr>
          <p:cNvSpPr>
            <a:spLocks xmlns:a="http://schemas.openxmlformats.org/drawingml/2006/main" noGrp="1"/>
          </p:cNvSpPr>
          <p:nvPr>
            <p:ph type="subTitle" idx="11" hasCustomPrompt="1"/>
          </p:nvPr>
        </p:nvSpPr>
        <p:spPr>
          <a:xfrm xmlns:a="http://schemas.openxmlformats.org/drawingml/2006/main">
            <a:off x="838200" y="3314700"/>
            <a:ext cx="81915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marL="0" indent="0" algn="l">
              <a:buNone/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 xmlns:a="http://schemas.openxmlformats.org/drawingml/2006/main">
            <a:r>
              <a:t>Puente hacia la próxima clase</a:t>
            </a:r>
            <a:endParaRPr/>
          </a:p>
        </p:txBody>
      </p:sp>
      <p:sp>
        <p:nvSpPr>
          <p:cNvPr id="4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62762AF0-3B86-E082-1D9F-E94F6C836E6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1551B1DD-AE22-4797-A41E-B58F85D9714A}" type="slidenum">
              <a:t>‹Nº›</a:t>
            </a:fld>
            <a:endParaRPr/>
          </a:p>
        </p:txBody>
      </p:sp>
    </p:spTree>
  </p:cSld>
  <p:hf hdr="0" ftr="0" dt="0"/>
</p:sldLayout>
</file>

<file path=ppt/slideLayouts/slideLayout27.xml><?xml version="1.0" encoding="utf-8"?>
<p:sldLayout xmlns:p="http://schemas.openxmlformats.org/presentationml/2006/main" preserve="1" userDrawn="1">
  <p:cSld name="FA_01_DIVISO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h_title_0">
            <a:extLst xmlns:a="http://schemas.openxmlformats.org/drawingml/2006/main">
              <a:ext uri="{FF2B5EF4-FFF2-40B4-BE49-F238E27FC236}">
                <a16:creationId xmlns:a16="http://schemas.microsoft.com/office/drawing/2014/main" id="{D1F88028-AD7E-5C80-FCA4-7044C14652DA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800100" y="2095500"/>
            <a:ext cx="93345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del bloque</a:t>
            </a:r>
          </a:p>
        </p:txBody>
      </p:sp>
      <p:sp>
        <p:nvSpPr>
          <p:cNvPr id="3" name="ph_subtitle_0">
            <a:extLst xmlns:a="http://schemas.openxmlformats.org/drawingml/2006/main">
              <a:ext uri="{FF2B5EF4-FFF2-40B4-BE49-F238E27FC236}">
                <a16:creationId xmlns:a16="http://schemas.microsoft.com/office/drawing/2014/main" id="{8858B713-BB8F-93CF-76E5-B16753D5870D}"/>
              </a:ext>
            </a:extLst>
          </p:cNvPr>
          <p:cNvSpPr>
            <a:spLocks xmlns:a="http://schemas.openxmlformats.org/drawingml/2006/main" noGrp="1"/>
          </p:cNvSpPr>
          <p:nvPr>
            <p:ph type="subTitle" idx="11" hasCustomPrompt="1"/>
          </p:nvPr>
        </p:nvSpPr>
        <p:spPr>
          <a:xfrm xmlns:a="http://schemas.openxmlformats.org/drawingml/2006/main">
            <a:off x="838200" y="3295650"/>
            <a:ext cx="7810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marL="0" indent="0" algn="l">
              <a:buNone/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 xmlns:a="http://schemas.openxmlformats.org/drawingml/2006/main">
            <a:r>
              <a:t>Pregunta guía o propósito</a:t>
            </a:r>
          </a:p>
        </p:txBody>
      </p:sp>
      <p:sp>
        <p:nvSpPr>
          <p:cNvPr id="4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20025C06-92EB-B9DF-64E7-DAAC9343FA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60E8974C-1134-48A5-94B6-2428CCBD93A5}" type="slidenum">
              <a:t>‹Nº›</a:t>
            </a:fld>
            <a:endParaRPr/>
          </a:p>
        </p:txBody>
      </p:sp>
    </p:spTree>
  </p:cSld>
  <p:hf hdr="0" ftr="0" dt="0"/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47aba3da721c4f95" /><Relationship Type="http://schemas.openxmlformats.org/officeDocument/2006/relationships/theme" Target="/ppt/slideMasters/theme/theme2.xml" Id="R35decd6b3b7e4ee9" /><Relationship Type="http://schemas.openxmlformats.org/officeDocument/2006/relationships/slideLayout" Target="/ppt/slideLayouts/slideLayout1.xml" Id="R621b37c71ec84387" /><Relationship Type="http://schemas.openxmlformats.org/officeDocument/2006/relationships/slideLayout" Target="/ppt/slideLayouts/slideLayout2.xml" Id="R502509a23c634a33" /><Relationship Type="http://schemas.openxmlformats.org/officeDocument/2006/relationships/slideLayout" Target="/ppt/slideLayouts/slideLayout3.xml" Id="R0954336ff8124ab0" /><Relationship Type="http://schemas.openxmlformats.org/officeDocument/2006/relationships/slideLayout" Target="/ppt/slideLayouts/slideLayout4.xml" Id="Ra7180f4f830a491c" /><Relationship Type="http://schemas.openxmlformats.org/officeDocument/2006/relationships/slideLayout" Target="/ppt/slideLayouts/slideLayout5.xml" Id="Ra70e2237c5aa408c" /><Relationship Type="http://schemas.openxmlformats.org/officeDocument/2006/relationships/slideLayout" Target="/ppt/slideLayouts/slideLayout6.xml" Id="Rc68cb1430296458a" /><Relationship Type="http://schemas.openxmlformats.org/officeDocument/2006/relationships/slideLayout" Target="/ppt/slideLayouts/slideLayout7.xml" Id="Rc506c666d9a64663" /><Relationship Type="http://schemas.openxmlformats.org/officeDocument/2006/relationships/slideLayout" Target="/ppt/slideLayouts/slideLayout8.xml" Id="R75727485940f4428" /><Relationship Type="http://schemas.openxmlformats.org/officeDocument/2006/relationships/slideLayout" Target="/ppt/slideLayouts/slideLayout9.xml" Id="R8d3f2aa8743a4f83" /><Relationship Type="http://schemas.openxmlformats.org/officeDocument/2006/relationships/slideLayout" Target="/ppt/slideLayouts/slideLayout10.xml" Id="R985bef6bf6154967" /><Relationship Type="http://schemas.openxmlformats.org/officeDocument/2006/relationships/slideLayout" Target="/ppt/slideLayouts/slideLayout11.xml" Id="R2e436e354a0648aa" /><Relationship Type="http://schemas.openxmlformats.org/officeDocument/2006/relationships/slideLayout" Target="/ppt/slideLayouts/slideLayout12.xml" Id="Ref0e5c2912d7435e" /><Relationship Type="http://schemas.openxmlformats.org/officeDocument/2006/relationships/slideLayout" Target="/ppt/slideLayouts/slideLayout13.xml" Id="Rd304487c833f4c57" /><Relationship Type="http://schemas.openxmlformats.org/officeDocument/2006/relationships/slideLayout" Target="/ppt/slideLayouts/slideLayout14.xml" Id="R5c9d50d27e8b4fff" /><Relationship Type="http://schemas.openxmlformats.org/officeDocument/2006/relationships/slideLayout" Target="/ppt/slideLayouts/slideLayout15.xml" Id="R3aa4e57c02a64141" /><Relationship Type="http://schemas.openxmlformats.org/officeDocument/2006/relationships/slideLayout" Target="/ppt/slideLayouts/slideLayout16.xml" Id="Rd26417d904c94f26" /><Relationship Type="http://schemas.openxmlformats.org/officeDocument/2006/relationships/slideLayout" Target="/ppt/slideLayouts/slideLayout17.xml" Id="Rbd9e2c4f820843c9" /><Relationship Type="http://schemas.openxmlformats.org/officeDocument/2006/relationships/slideLayout" Target="/ppt/slideLayouts/slideLayout18.xml" Id="R526a86c452fb4b40" /><Relationship Type="http://schemas.openxmlformats.org/officeDocument/2006/relationships/slideLayout" Target="/ppt/slideLayouts/slideLayout19.xml" Id="R1ce1add454f14102" /><Relationship Type="http://schemas.openxmlformats.org/officeDocument/2006/relationships/slideLayout" Target="/ppt/slideLayouts/slideLayout20.xml" Id="R808b9dae0d354a28" /><Relationship Type="http://schemas.openxmlformats.org/officeDocument/2006/relationships/slideLayout" Target="/ppt/slideLayouts/slideLayout21.xml" Id="Rdc40fc70f0be4778" /><Relationship Type="http://schemas.openxmlformats.org/officeDocument/2006/relationships/slideLayout" Target="/ppt/slideLayouts/slideLayout22.xml" Id="Rdac44c7645f94a03" /><Relationship Type="http://schemas.openxmlformats.org/officeDocument/2006/relationships/slideLayout" Target="/ppt/slideLayouts/slideLayout23.xml" Id="R66fe6d64455c4622" /><Relationship Type="http://schemas.openxmlformats.org/officeDocument/2006/relationships/slideLayout" Target="/ppt/slideLayouts/slideLayout24.xml" Id="R7fe9d53c4f634dfa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image" Target="/ppt/media/image.png" Id="Rc76c7e3e9b2d4874" /><Relationship Type="http://schemas.openxmlformats.org/officeDocument/2006/relationships/theme" Target="/ppt/slideMasters/theme/theme3.xml" Id="R786b048a106848a8" /><Relationship Type="http://schemas.openxmlformats.org/officeDocument/2006/relationships/slideLayout" Target="/ppt/slideLayouts/slideLayout25.xml" Id="R592d713640c34ce0" /><Relationship Type="http://schemas.openxmlformats.org/officeDocument/2006/relationships/slideLayout" Target="/ppt/slideLayouts/slideLayout26.xml" Id="Ra8ee637909324087" /><Relationship Type="http://schemas.openxmlformats.org/officeDocument/2006/relationships/slideLayout" Target="/ppt/slideLayouts/slideLayout27.xml" Id="R57a255649f3e4e1c" /></Relationships>
</file>

<file path=ppt/slideMasters/slideMaster1.xml><?xml version="1.0" encoding="utf-8"?>
<p:sldMaster xmlns:p="http://schemas.openxmlformats.org/presentationml/2006/main">
  <p:cSld name="Master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ule_maroon">
            <a:extLst xmlns:a="http://schemas.openxmlformats.org/drawingml/2006/main">
              <a:ext uri="{FF2B5EF4-FFF2-40B4-BE49-F238E27FC236}">
                <a16:creationId xmlns:a16="http://schemas.microsoft.com/office/drawing/2014/main" id="{7ED400B0-4650-BD81-8872-00CCE539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3657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1905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rule_berry">
            <a:extLst xmlns:a="http://schemas.openxmlformats.org/drawingml/2006/main">
              <a:ext uri="{FF2B5EF4-FFF2-40B4-BE49-F238E27FC236}">
                <a16:creationId xmlns:a16="http://schemas.microsoft.com/office/drawing/2014/main" id="{19067D9B-1D69-BEBD-53A6-E2EBCE31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7650"/>
            <a:ext cx="3657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1905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rule_gray">
            <a:extLst xmlns:a="http://schemas.openxmlformats.org/drawingml/2006/main">
              <a:ext uri="{FF2B5EF4-FFF2-40B4-BE49-F238E27FC236}">
                <a16:creationId xmlns:a16="http://schemas.microsoft.com/office/drawing/2014/main" id="{D5EE4B42-9A6B-A99D-63F0-0D1F0CDA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7650"/>
            <a:ext cx="3467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1905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footer_rule">
            <a:extLst xmlns:a="http://schemas.openxmlformats.org/drawingml/2006/main">
              <a:ext uri="{FF2B5EF4-FFF2-40B4-BE49-F238E27FC236}">
                <a16:creationId xmlns:a16="http://schemas.microsoft.com/office/drawing/2014/main" id="{967B707C-1A6F-0D89-F330-66B1FD9D5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0"/>
          </a:solidFill>
          <a:ln xmlns:a="http://schemas.openxmlformats.org/drawingml/2006/main" w="1905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4" name="ucasal_logo_master_ligh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aba3da721c4f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6429375"/>
            <a:ext cx="1028700" cy="304800"/>
          </a:xfrm>
          <a:prstGeom xmlns:a="http://schemas.openxmlformats.org/drawingml/2006/main" prst="rect">
            <a:avLst/>
          </a:prstGeom>
        </p:spPr>
      </p:pic>
      <p:sp>
        <p:nvSpPr>
          <p:cNvPr id="8" name="footer_course_light">
            <a:extLst xmlns:a="http://schemas.openxmlformats.org/drawingml/2006/main">
              <a:ext uri="{FF2B5EF4-FFF2-40B4-BE49-F238E27FC236}">
                <a16:creationId xmlns:a16="http://schemas.microsoft.com/office/drawing/2014/main" id="{63C3527D-F71A-255A-556A-E956A5B2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67475"/>
            <a:ext cx="4953000" cy="2539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Física Acústica · Licenciatura en Fonoaudiología</a:t>
            </a:r>
            <a:endParaRPr sz="1050" b="0">
              <a:solidFill>
                <a:srgbClr val="667079"/>
              </a:solidFill>
              <a:latin typeface="Calibri"/>
              <a:ea typeface="Calibri"/>
              <a:cs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1b37c71ec84387"/>
    <p:sldLayoutId xmlns:r="http://schemas.openxmlformats.org/officeDocument/2006/relationships" id="2147483650" r:id="R502509a23c634a33"/>
    <p:sldLayoutId xmlns:r="http://schemas.openxmlformats.org/officeDocument/2006/relationships" id="2147483651" r:id="R0954336ff8124ab0"/>
    <p:sldLayoutId xmlns:r="http://schemas.openxmlformats.org/officeDocument/2006/relationships" id="2147483652" r:id="Ra7180f4f830a491c"/>
    <p:sldLayoutId xmlns:r="http://schemas.openxmlformats.org/officeDocument/2006/relationships" id="2147483653" r:id="Ra70e2237c5aa408c"/>
    <p:sldLayoutId xmlns:r="http://schemas.openxmlformats.org/officeDocument/2006/relationships" id="2147483654" r:id="Rc68cb1430296458a"/>
    <p:sldLayoutId xmlns:r="http://schemas.openxmlformats.org/officeDocument/2006/relationships" id="2147483655" r:id="Rc506c666d9a64663"/>
    <p:sldLayoutId xmlns:r="http://schemas.openxmlformats.org/officeDocument/2006/relationships" id="2147483656" r:id="R75727485940f4428"/>
    <p:sldLayoutId xmlns:r="http://schemas.openxmlformats.org/officeDocument/2006/relationships" id="2147483657" r:id="R8d3f2aa8743a4f83"/>
    <p:sldLayoutId xmlns:r="http://schemas.openxmlformats.org/officeDocument/2006/relationships" id="2147483658" r:id="R985bef6bf6154967"/>
    <p:sldLayoutId xmlns:r="http://schemas.openxmlformats.org/officeDocument/2006/relationships" id="2147483659" r:id="R2e436e354a0648aa"/>
    <p:sldLayoutId xmlns:r="http://schemas.openxmlformats.org/officeDocument/2006/relationships" id="2147483660" r:id="Ref0e5c2912d7435e"/>
    <p:sldLayoutId xmlns:r="http://schemas.openxmlformats.org/officeDocument/2006/relationships" id="2147483661" r:id="Rd304487c833f4c57"/>
    <p:sldLayoutId xmlns:r="http://schemas.openxmlformats.org/officeDocument/2006/relationships" id="2147483662" r:id="R5c9d50d27e8b4fff"/>
    <p:sldLayoutId xmlns:r="http://schemas.openxmlformats.org/officeDocument/2006/relationships" id="2147483663" r:id="R3aa4e57c02a64141"/>
    <p:sldLayoutId xmlns:r="http://schemas.openxmlformats.org/officeDocument/2006/relationships" id="2147483664" r:id="Rd26417d904c94f26"/>
    <p:sldLayoutId xmlns:r="http://schemas.openxmlformats.org/officeDocument/2006/relationships" id="2147483665" r:id="Rbd9e2c4f820843c9"/>
    <p:sldLayoutId xmlns:r="http://schemas.openxmlformats.org/officeDocument/2006/relationships" id="2147483666" r:id="R526a86c452fb4b40"/>
    <p:sldLayoutId xmlns:r="http://schemas.openxmlformats.org/officeDocument/2006/relationships" id="2147483667" r:id="R1ce1add454f14102"/>
    <p:sldLayoutId xmlns:r="http://schemas.openxmlformats.org/officeDocument/2006/relationships" id="2147483668" r:id="R808b9dae0d354a28"/>
    <p:sldLayoutId xmlns:r="http://schemas.openxmlformats.org/officeDocument/2006/relationships" id="2147483669" r:id="Rdc40fc70f0be4778"/>
    <p:sldLayoutId xmlns:r="http://schemas.openxmlformats.org/officeDocument/2006/relationships" id="2147483670" r:id="Rdac44c7645f94a03"/>
    <p:sldLayoutId xmlns:r="http://schemas.openxmlformats.org/officeDocument/2006/relationships" id="2147483671" r:id="R66fe6d64455c4622"/>
    <p:sldLayoutId xmlns:r="http://schemas.openxmlformats.org/officeDocument/2006/relationships" id="2147483672" r:id="R7fe9d53c4f634dfa"/>
  </p:sldLayoutIdLst>
  <p:hf hdr="0" ftr="0" dt="0"/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ule_berry">
            <a:extLst xmlns:a="http://schemas.openxmlformats.org/drawingml/2006/main">
              <a:ext uri="{FF2B5EF4-FFF2-40B4-BE49-F238E27FC236}">
                <a16:creationId xmlns:a16="http://schemas.microsoft.com/office/drawing/2014/main" id="{54233747-3B41-236E-F508-E312E7DC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3657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ule_white">
            <a:extLst xmlns:a="http://schemas.openxmlformats.org/drawingml/2006/main">
              <a:ext uri="{FF2B5EF4-FFF2-40B4-BE49-F238E27FC236}">
                <a16:creationId xmlns:a16="http://schemas.microsoft.com/office/drawing/2014/main" id="{AB7800AF-4B8D-3775-268D-A9432256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7650"/>
            <a:ext cx="3657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rule_gray">
            <a:extLst xmlns:a="http://schemas.openxmlformats.org/drawingml/2006/main">
              <a:ext uri="{FF2B5EF4-FFF2-40B4-BE49-F238E27FC236}">
                <a16:creationId xmlns:a16="http://schemas.microsoft.com/office/drawing/2014/main" id="{092696FC-D673-2DD3-4FCF-4D8518D8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7650"/>
            <a:ext cx="3467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footer_rule">
            <a:extLst xmlns:a="http://schemas.openxmlformats.org/drawingml/2006/main">
              <a:ext uri="{FF2B5EF4-FFF2-40B4-BE49-F238E27FC236}">
                <a16:creationId xmlns:a16="http://schemas.microsoft.com/office/drawing/2014/main" id="{99D069AE-519E-8032-14CB-9643E0EC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logo_backing">
            <a:extLst xmlns:a="http://schemas.openxmlformats.org/drawingml/2006/main">
              <a:ext uri="{FF2B5EF4-FFF2-40B4-BE49-F238E27FC236}">
                <a16:creationId xmlns:a16="http://schemas.microsoft.com/office/drawing/2014/main" id="{DED1A456-4096-91AC-8233-B33FFC94C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ucasal_logo_master_dark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6c7e3e9b2d48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6467475"/>
            <a:ext cx="990600" cy="228600"/>
          </a:xfrm>
          <a:prstGeom xmlns:a="http://schemas.openxmlformats.org/drawingml/2006/main" prst="rect">
            <a:avLst/>
          </a:prstGeom>
        </p:spPr>
      </p:pic>
      <p:sp>
        <p:nvSpPr>
          <p:cNvPr id="14" name="footer_course_dark">
            <a:extLst xmlns:a="http://schemas.openxmlformats.org/drawingml/2006/main">
              <a:ext uri="{FF2B5EF4-FFF2-40B4-BE49-F238E27FC236}">
                <a16:creationId xmlns:a16="http://schemas.microsoft.com/office/drawing/2014/main" id="{D186B626-134A-FBCD-AEA0-4A2A93AA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467475"/>
            <a:ext cx="4953000" cy="2539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Física Acústica · Licenciatura en Fonoaudiología</a:t>
            </a:r>
            <a:endParaRPr sz="1050" b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4" r:id="R592d713640c34ce0"/>
    <p:sldLayoutId xmlns:r="http://schemas.openxmlformats.org/officeDocument/2006/relationships" id="2147483675" r:id="Ra8ee637909324087"/>
    <p:sldLayoutId xmlns:r="http://schemas.openxmlformats.org/officeDocument/2006/relationships" id="2147483676" r:id="R57a255649f3e4e1c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FA_MASTER_CLARO">
  <a:themeElements>
    <a:clrScheme name="Física Acústica UCASAL">
      <a:dk1>
        <a:srgbClr val="000000"/>
      </a:dk1>
      <a:lt1>
        <a:srgbClr val="FFFFFF"/>
      </a:lt1>
      <a:dk2>
        <a:srgbClr val="3D3D3D"/>
      </a:dk2>
      <a:lt2>
        <a:srgbClr val="F7F6F2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ísica Acústica UCAS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FA_MASTER_BORDO">
  <a:themeElements>
    <a:clrScheme name="Office">
      <a:dk1>
        <a:srgbClr val="000000"/>
      </a:dk1>
      <a:lt1>
        <a:srgbClr val="FFFFFF"/>
      </a:lt1>
      <a:dk2>
        <a:srgbClr val="3D3D3D"/>
      </a:dk2>
      <a:lt2>
        <a:srgbClr val="F7F6F2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5.xml" Id="R5691fe6e415642af" /><Relationship Type="http://schemas.openxmlformats.org/officeDocument/2006/relationships/notesSlide" Target="/ppt/notesSlides/notesSlide1.xml" Id="Rdee26d87c54542c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0e03bae8fc748fa" /><Relationship Type="http://schemas.openxmlformats.org/officeDocument/2006/relationships/notesSlide" Target="/ppt/notesSlides/notesSlide2.xml" Id="Raa8821225df24f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e466a259a44bd0" /><Relationship Type="http://schemas.openxmlformats.org/officeDocument/2006/relationships/notesSlide" Target="/ppt/notesSlides/notesSlide3.xml" Id="R73cdec367a78410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15d5243b619c4235" /><Relationship Type="http://schemas.openxmlformats.org/officeDocument/2006/relationships/notesSlide" Target="/ppt/notesSlides/notesSlide4.xml" Id="Rf766de4cdfda472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b9403f8e871b403b" /><Relationship Type="http://schemas.openxmlformats.org/officeDocument/2006/relationships/notesSlide" Target="/ppt/notesSlides/notesSlide5.xml" Id="R4474b4939b5c474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0259aebf7f4943d6" /><Relationship Type="http://schemas.openxmlformats.org/officeDocument/2006/relationships/notesSlide" Target="/ppt/notesSlides/notesSlide6.xml" Id="R3ea6e69ecdd944b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6a732dd9dd8742c1" /><Relationship Type="http://schemas.openxmlformats.org/officeDocument/2006/relationships/notesSlide" Target="/ppt/notesSlides/notesSlide7.xml" Id="Rd6fee300612647c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6050d6e35b50472e" /><Relationship Type="http://schemas.openxmlformats.org/officeDocument/2006/relationships/notesSlide" Target="/ppt/notesSlides/notesSlide8.xml" Id="R63cf8fee165346c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89206b21694f94" /><Relationship Type="http://schemas.openxmlformats.org/officeDocument/2006/relationships/notesSlide" Target="/ppt/notesSlides/notesSlide9.xml" Id="R43660050649d4a1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4ed0c1ecf7a54999" /><Relationship Type="http://schemas.openxmlformats.org/officeDocument/2006/relationships/notesSlide" Target="/ppt/notesSlides/notesSlide10.xml" Id="R9de5e5b21a49431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8b464a9cbd0b44b2" /><Relationship Type="http://schemas.openxmlformats.org/officeDocument/2006/relationships/notesSlide" Target="/ppt/notesSlides/notesSlide11.xml" Id="Rc4d6124a831a4e4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a299f46d9f2d4b39" /><Relationship Type="http://schemas.openxmlformats.org/officeDocument/2006/relationships/notesSlide" Target="/ppt/notesSlides/notesSlide12.xml" Id="R7d3fa08cae9043b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dba237eb39142e2" /><Relationship Type="http://schemas.openxmlformats.org/officeDocument/2006/relationships/notesSlide" Target="/ppt/notesSlides/notesSlide13.xml" Id="R51834443bba2437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f6d4f6a5c247450c" /><Relationship Type="http://schemas.openxmlformats.org/officeDocument/2006/relationships/notesSlide" Target="/ppt/notesSlides/notesSlide14.xml" Id="R14900dbc5975451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10136e6c428c4fa9" /><Relationship Type="http://schemas.openxmlformats.org/officeDocument/2006/relationships/notesSlide" Target="/ppt/notesSlides/notesSlide15.xml" Id="Rcd5620ee772b424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8236f26e20ed44c0" /><Relationship Type="http://schemas.openxmlformats.org/officeDocument/2006/relationships/notesSlide" Target="/ppt/notesSlides/notesSlide16.xml" Id="R05587c6a51f1474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ad352ea52f954e99" /><Relationship Type="http://schemas.openxmlformats.org/officeDocument/2006/relationships/notesSlide" Target="/ppt/notesSlides/notesSlide17.xml" Id="Rdb2a7f972ae743a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d5a03b395d0b446d" /><Relationship Type="http://schemas.openxmlformats.org/officeDocument/2006/relationships/image" Target="/ppt/media/image2.png" Id="Rfef22e7b6a334dfa" /><Relationship Type="http://schemas.openxmlformats.org/officeDocument/2006/relationships/image" Target="/ppt/media/image.svg" Id="R71d2fd92783a45f2" /><Relationship Type="http://schemas.openxmlformats.org/officeDocument/2006/relationships/notesSlide" Target="/ppt/notesSlides/notesSlide18.xml" Id="Rbb9b51f1c6cc40e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a9734bd3fed24a02" /><Relationship Type="http://schemas.openxmlformats.org/officeDocument/2006/relationships/notesSlide" Target="/ppt/notesSlides/notesSlide19.xml" Id="R5682862b4af1489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9c9ab562bdd42eb" /><Relationship Type="http://schemas.openxmlformats.org/officeDocument/2006/relationships/notesSlide" Target="/ppt/notesSlides/notesSlide20.xml" Id="R8a690979bc814f2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792640c86bc94a4a" /><Relationship Type="http://schemas.openxmlformats.org/officeDocument/2006/relationships/notesSlide" Target="/ppt/notesSlides/notesSlide21.xml" Id="Rdd456a186d2841c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85b863014aa0460c" /><Relationship Type="http://schemas.openxmlformats.org/officeDocument/2006/relationships/notesSlide" Target="/ppt/notesSlides/notesSlide22.xml" Id="Rc9b46652875d42a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549d1debc2024539" /><Relationship Type="http://schemas.openxmlformats.org/officeDocument/2006/relationships/image" Target="/ppt/media/image3.png" Id="Rd2a9a6612bfe42f3" /><Relationship Type="http://schemas.openxmlformats.org/officeDocument/2006/relationships/image" Target="/ppt/media/image2.svg" Id="Rc5951061dab94c92" /><Relationship Type="http://schemas.openxmlformats.org/officeDocument/2006/relationships/notesSlide" Target="/ppt/notesSlides/notesSlide23.xml" Id="R449fd5bb52a5441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3e9ffa33091e43f5" /><Relationship Type="http://schemas.openxmlformats.org/officeDocument/2006/relationships/notesSlide" Target="/ppt/notesSlides/notesSlide24.xml" Id="R2c167a9a1e8c402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9e3621a81b04c87" /><Relationship Type="http://schemas.openxmlformats.org/officeDocument/2006/relationships/notesSlide" Target="/ppt/notesSlides/notesSlide25.xml" Id="R66055cbba6244b8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4d5698894b2b4da8" /><Relationship Type="http://schemas.openxmlformats.org/officeDocument/2006/relationships/notesSlide" Target="/ppt/notesSlides/notesSlide26.xml" Id="Rd3befc36bdf1496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b85daceccb724cf4" /><Relationship Type="http://schemas.openxmlformats.org/officeDocument/2006/relationships/notesSlide" Target="/ppt/notesSlides/notesSlide27.xml" Id="Rceab31ac965d4f2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a4e470beeb8c446b" /><Relationship Type="http://schemas.openxmlformats.org/officeDocument/2006/relationships/notesSlide" Target="/ppt/notesSlides/notesSlide28.xml" Id="R652550f6229a408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1.xml" Id="R44c1f17bdba94872" /><Relationship Type="http://schemas.openxmlformats.org/officeDocument/2006/relationships/notesSlide" Target="/ppt/notesSlides/notesSlide29.xml" Id="R5aa1424928964b28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69023c5403ed4805" /><Relationship Type="http://schemas.openxmlformats.org/officeDocument/2006/relationships/notesSlide" Target="/ppt/notesSlides/notesSlide30.xml" Id="Rd878c9ba7b6b4844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0.xml" Id="Rb13990811c1c4823" /><Relationship Type="http://schemas.openxmlformats.org/officeDocument/2006/relationships/notesSlide" Target="/ppt/notesSlides/notesSlide31.xml" Id="R264bbd996d574f67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7b2ae55e9b14cfa" /><Relationship Type="http://schemas.openxmlformats.org/officeDocument/2006/relationships/notesSlide" Target="/ppt/notesSlides/notesSlide32.xml" Id="Rc100e2930c2e406f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11ecc79dda6b4cef" /><Relationship Type="http://schemas.openxmlformats.org/officeDocument/2006/relationships/notesSlide" Target="/ppt/notesSlides/notesSlide33.xml" Id="R4799250a892d4e4a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040c6f5210374c94" /><Relationship Type="http://schemas.openxmlformats.org/officeDocument/2006/relationships/notesSlide" Target="/ppt/notesSlides/notesSlide34.xml" Id="R785530c133754b5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0368ed83c29440a" /><Relationship Type="http://schemas.openxmlformats.org/officeDocument/2006/relationships/notesSlide" Target="/ppt/notesSlides/notesSlide35.xml" Id="Rd538904172724fdb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4f355477263f429c" /><Relationship Type="http://schemas.openxmlformats.org/officeDocument/2006/relationships/notesSlide" Target="/ppt/notesSlides/notesSlide36.xml" Id="R62aa3800f6054138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7b9e44a39c934f7f" /><Relationship Type="http://schemas.openxmlformats.org/officeDocument/2006/relationships/notesSlide" Target="/ppt/notesSlides/notesSlide37.xml" Id="Rf3384ad0ab084c25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0d4be9c5d2dc47f1" /><Relationship Type="http://schemas.openxmlformats.org/officeDocument/2006/relationships/notesSlide" Target="/ppt/notesSlides/notesSlide38.xml" Id="Rf643ba5bc3524c57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7f5a63df2a004f91" /><Relationship Type="http://schemas.openxmlformats.org/officeDocument/2006/relationships/notesSlide" Target="/ppt/notesSlides/notesSlide39.xml" Id="Rd0fced1fabb04047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e63c26568044314" /><Relationship Type="http://schemas.openxmlformats.org/officeDocument/2006/relationships/notesSlide" Target="/ppt/notesSlides/notesSlide40.xml" Id="R739ec297ca0c40cb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54939800f8484c29" /><Relationship Type="http://schemas.openxmlformats.org/officeDocument/2006/relationships/notesSlide" Target="/ppt/notesSlides/notesSlide41.xml" Id="R7aff65f5f34d432b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1bf0e14337f146d1" /><Relationship Type="http://schemas.openxmlformats.org/officeDocument/2006/relationships/notesSlide" Target="/ppt/notesSlides/notesSlide42.xml" Id="R09f5a75ec5174044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e23d2e098d87456f" /><Relationship Type="http://schemas.openxmlformats.org/officeDocument/2006/relationships/image" Target="/ppt/media/image4.png" Id="R28e5d69e09164447" /><Relationship Type="http://schemas.openxmlformats.org/officeDocument/2006/relationships/image" Target="/ppt/media/image3.svg" Id="Rd53b5f4bcf084e6e" /><Relationship Type="http://schemas.openxmlformats.org/officeDocument/2006/relationships/notesSlide" Target="/ppt/notesSlides/notesSlide43.xml" Id="R7202165656944959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04ab190765184cc2" /><Relationship Type="http://schemas.openxmlformats.org/officeDocument/2006/relationships/notesSlide" Target="/ppt/notesSlides/notesSlide44.xml" Id="Ra0208ab37f4642ea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f4b740f13ba045aa" /><Relationship Type="http://schemas.openxmlformats.org/officeDocument/2006/relationships/notesSlide" Target="/ppt/notesSlides/notesSlide45.xml" Id="R6f7fe5df465749ce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3140c9f6d9754e45" /><Relationship Type="http://schemas.openxmlformats.org/officeDocument/2006/relationships/notesSlide" Target="/ppt/notesSlides/notesSlide46.xml" Id="R26a86db511b34ebc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b6954fb14fe34fb2" /><Relationship Type="http://schemas.openxmlformats.org/officeDocument/2006/relationships/notesSlide" Target="/ppt/notesSlides/notesSlide47.xml" Id="Re4cd0f0b4e3a441b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17dcc9017b2b4f1b" /><Relationship Type="http://schemas.openxmlformats.org/officeDocument/2006/relationships/notesSlide" Target="/ppt/notesSlides/notesSlide48.xml" Id="Racb5db248beb41b4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2d8c6c99b114420d" /><Relationship Type="http://schemas.openxmlformats.org/officeDocument/2006/relationships/image" Target="/ppt/media/image5.png" Id="R4fdfd64a4199454e" /><Relationship Type="http://schemas.openxmlformats.org/officeDocument/2006/relationships/image" Target="/ppt/media/image4.svg" Id="R27dc8ff7f6ff440b" /><Relationship Type="http://schemas.openxmlformats.org/officeDocument/2006/relationships/notesSlide" Target="/ppt/notesSlides/notesSlide49.xml" Id="R306236e3315f47ae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c511745c4efb4e65" /><Relationship Type="http://schemas.openxmlformats.org/officeDocument/2006/relationships/notesSlide" Target="/ppt/notesSlides/notesSlide50.xml" Id="R25fa6a648fac4b84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a76f4700a5f14cd9" /><Relationship Type="http://schemas.openxmlformats.org/officeDocument/2006/relationships/notesSlide" Target="/ppt/notesSlides/notesSlide51.xml" Id="R812c637a856c4ef4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5226c9b999db4de5" /><Relationship Type="http://schemas.openxmlformats.org/officeDocument/2006/relationships/notesSlide" Target="/ppt/notesSlides/notesSlide52.xml" Id="R2b6cbeb28cd4482a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7e0dedadde874c52" /><Relationship Type="http://schemas.openxmlformats.org/officeDocument/2006/relationships/notesSlide" Target="/ppt/notesSlides/notesSlide53.xml" Id="Rbc436ae58ddb44bb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8e1c9ac485984fde" /><Relationship Type="http://schemas.openxmlformats.org/officeDocument/2006/relationships/notesSlide" Target="/ppt/notesSlides/notesSlide54.xml" Id="R067a49b5d16646cb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f89090a516c4675" /><Relationship Type="http://schemas.openxmlformats.org/officeDocument/2006/relationships/image" Target="/ppt/media/image6.png" Id="Rbdabf9b1c7264d05" /><Relationship Type="http://schemas.openxmlformats.org/officeDocument/2006/relationships/image" Target="/ppt/media/image5.svg" Id="R6f80619f5d3441e6" /><Relationship Type="http://schemas.openxmlformats.org/officeDocument/2006/relationships/notesSlide" Target="/ppt/notesSlides/notesSlide55.xml" Id="Rc8aaf358f47e4e6f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b3339f6eba5f4cb2" /><Relationship Type="http://schemas.openxmlformats.org/officeDocument/2006/relationships/notesSlide" Target="/ppt/notesSlides/notesSlide56.xml" Id="Rd8e78e1adca94225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85940c01974d4b5d" /><Relationship Type="http://schemas.openxmlformats.org/officeDocument/2006/relationships/notesSlide" Target="/ppt/notesSlides/notesSlide57.xml" Id="R880e15ef5bd54e9b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a3343f4bf4a5409f" /><Relationship Type="http://schemas.openxmlformats.org/officeDocument/2006/relationships/notesSlide" Target="/ppt/notesSlides/notesSlide58.xml" Id="Rbf09987fb8644442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e49f37d4f31c4361" /><Relationship Type="http://schemas.openxmlformats.org/officeDocument/2006/relationships/image" Target="/ppt/media/image7.png" Id="Ree0bc91e65ec4b5b" /><Relationship Type="http://schemas.openxmlformats.org/officeDocument/2006/relationships/image" Target="/ppt/media/image6.svg" Id="R9a1b55fa219e483c" /><Relationship Type="http://schemas.openxmlformats.org/officeDocument/2006/relationships/notesSlide" Target="/ppt/notesSlides/notesSlide59.xml" Id="Re98de1b38e6c41dd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655cb44539f43ba" /><Relationship Type="http://schemas.openxmlformats.org/officeDocument/2006/relationships/notesSlide" Target="/ppt/notesSlides/notesSlide60.xml" Id="R02bf5df5c4964cbd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dc47778f41f7482e" /><Relationship Type="http://schemas.openxmlformats.org/officeDocument/2006/relationships/notesSlide" Target="/ppt/notesSlides/notesSlide61.xml" Id="R3b57d6ab3f4543cd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f0b4636289694a76" /><Relationship Type="http://schemas.openxmlformats.org/officeDocument/2006/relationships/notesSlide" Target="/ppt/notesSlides/notesSlide62.xml" Id="R2519261a1975469e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a6b28904ab7840ab" /><Relationship Type="http://schemas.openxmlformats.org/officeDocument/2006/relationships/notesSlide" Target="/ppt/notesSlides/notesSlide63.xml" Id="R9e512dc504f0412d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b8ac2e66103b45e9" /><Relationship Type="http://schemas.openxmlformats.org/officeDocument/2006/relationships/notesSlide" Target="/ppt/notesSlides/notesSlide64.xml" Id="R89f3a4eb387f4168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d4241007689b4620" /><Relationship Type="http://schemas.openxmlformats.org/officeDocument/2006/relationships/notesSlide" Target="/ppt/notesSlides/notesSlide65.xml" Id="Rc14b7fa5cd204091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27cf8e414db42a8" /><Relationship Type="http://schemas.openxmlformats.org/officeDocument/2006/relationships/notesSlide" Target="/ppt/notesSlides/notesSlide66.xml" Id="R7a8755b18a1d4c64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5d31860c03884087" /><Relationship Type="http://schemas.openxmlformats.org/officeDocument/2006/relationships/notesSlide" Target="/ppt/notesSlides/notesSlide67.xml" Id="R7b0c0ae969ef44f1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83edd0795f234054" /><Relationship Type="http://schemas.openxmlformats.org/officeDocument/2006/relationships/notesSlide" Target="/ppt/notesSlides/notesSlide68.xml" Id="R79ce9b73e53e40df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ac9a4bc91ec94a11" /><Relationship Type="http://schemas.openxmlformats.org/officeDocument/2006/relationships/notesSlide" Target="/ppt/notesSlides/notesSlide69.xml" Id="R5252f50ff7f9441f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0e33c8370ae479a" /><Relationship Type="http://schemas.openxmlformats.org/officeDocument/2006/relationships/notesSlide" Target="/ppt/notesSlides/notesSlide70.xml" Id="R4c4d9e908fff415f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dcd71d422924757" /><Relationship Type="http://schemas.openxmlformats.org/officeDocument/2006/relationships/notesSlide" Target="/ppt/notesSlides/notesSlide71.xml" Id="R726f4ad82cfa410b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d12a28a444564a69" /><Relationship Type="http://schemas.openxmlformats.org/officeDocument/2006/relationships/notesSlide" Target="/ppt/notesSlides/notesSlide72.xml" Id="R8a4a0a6559844a5d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573232f6c1974e8d" /><Relationship Type="http://schemas.openxmlformats.org/officeDocument/2006/relationships/image" Target="/ppt/media/image8.png" Id="R3efb107af5be429b" /><Relationship Type="http://schemas.openxmlformats.org/officeDocument/2006/relationships/image" Target="/ppt/media/image7.svg" Id="Rd0867ebbc7314a1c" /><Relationship Type="http://schemas.openxmlformats.org/officeDocument/2006/relationships/notesSlide" Target="/ppt/notesSlides/notesSlide73.xml" Id="R8ea04295a91442e8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9fa05e34e249e7" /><Relationship Type="http://schemas.openxmlformats.org/officeDocument/2006/relationships/notesSlide" Target="/ppt/notesSlides/notesSlide74.xml" Id="R2e5f0f2eff244038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55834f9829b4639" /><Relationship Type="http://schemas.openxmlformats.org/officeDocument/2006/relationships/notesSlide" Target="/ppt/notesSlides/notesSlide75.xml" Id="R75bde0f36b234ecd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0.xml" Id="R4cf0e784e28448a7" /><Relationship Type="http://schemas.openxmlformats.org/officeDocument/2006/relationships/notesSlide" Target="/ppt/notesSlides/notesSlide76.xml" Id="R72af2359450148e8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b60f7396a12149b7" /><Relationship Type="http://schemas.openxmlformats.org/officeDocument/2006/relationships/notesSlide" Target="/ppt/notesSlides/notesSlide77.xml" Id="R04303ccef78a4529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3720bce3db4e4dd8" /><Relationship Type="http://schemas.openxmlformats.org/officeDocument/2006/relationships/notesSlide" Target="/ppt/notesSlides/notesSlide78.xml" Id="Raf0cbc334b1840e5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5db772a3ae34b3d" /><Relationship Type="http://schemas.openxmlformats.org/officeDocument/2006/relationships/notesSlide" Target="/ppt/notesSlides/notesSlide79.xml" Id="R85bfc2823343418f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4a17586d9fa4c9f" /><Relationship Type="http://schemas.openxmlformats.org/officeDocument/2006/relationships/notesSlide" Target="/ppt/notesSlides/notesSlide80.xml" Id="R0403c2ea063d43f9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cc0085b69e049b8" /><Relationship Type="http://schemas.openxmlformats.org/officeDocument/2006/relationships/notesSlide" Target="/ppt/notesSlides/notesSlide81.xml" Id="Ra702741069e64f54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cd4a1b8a77504d38" /><Relationship Type="http://schemas.openxmlformats.org/officeDocument/2006/relationships/notesSlide" Target="/ppt/notesSlides/notesSlide82.xml" Id="R2d806f2662b441e7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cf7902517e94b47" /><Relationship Type="http://schemas.openxmlformats.org/officeDocument/2006/relationships/notesSlide" Target="/ppt/notesSlides/notesSlide83.xml" Id="R4ef5f08992524e62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6.xml" Id="Re26bd7b3a9e1400f" /><Relationship Type="http://schemas.openxmlformats.org/officeDocument/2006/relationships/notesSlide" Target="/ppt/notesSlides/notesSlide84.xml" Id="Ra6dcde5247084a8b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980e5b7f100406b" /><Relationship Type="http://schemas.openxmlformats.org/officeDocument/2006/relationships/notesSlide" Target="/ppt/notesSlides/notesSlide85.xml" Id="R4669517213d74eed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6f813f37bb4616" /><Relationship Type="http://schemas.openxmlformats.org/officeDocument/2006/relationships/notesSlide" Target="/ppt/notesSlides/notesSlide86.xml" Id="Ra575d8123b784e1d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5984d369054b28" /><Relationship Type="http://schemas.openxmlformats.org/officeDocument/2006/relationships/notesSlide" Target="/ppt/notesSlides/notesSlide87.xml" Id="R362ca012e97a4995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955f13f1434658" /><Relationship Type="http://schemas.openxmlformats.org/officeDocument/2006/relationships/notesSlide" Target="/ppt/notesSlides/notesSlide88.xml" Id="R01dc4b5c776b4f21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3d0bec370d4c87" /><Relationship Type="http://schemas.openxmlformats.org/officeDocument/2006/relationships/notesSlide" Target="/ppt/notesSlides/notesSlide89.xml" Id="R54cd8d559ab441d4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c88790f6544656" /><Relationship Type="http://schemas.openxmlformats.org/officeDocument/2006/relationships/notesSlide" Target="/ppt/notesSlides/notesSlide90.xml" Id="R1855b8e5e5274376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e30cf33eb84244" /><Relationship Type="http://schemas.openxmlformats.org/officeDocument/2006/relationships/notesSlide" Target="/ppt/notesSlides/notesSlide91.xml" Id="R37b27dfb85c84a5b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196c10bd2a4e20" /><Relationship Type="http://schemas.openxmlformats.org/officeDocument/2006/relationships/notesSlide" Target="/ppt/notesSlides/notesSlide92.xml" Id="Rcbbb690d53644779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55a89794604ea1" /><Relationship Type="http://schemas.openxmlformats.org/officeDocument/2006/relationships/notesSlide" Target="/ppt/notesSlides/notesSlide93.xml" Id="R1fdea059a25e43a6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1318a8118145a3" /><Relationship Type="http://schemas.openxmlformats.org/officeDocument/2006/relationships/notesSlide" Target="/ppt/notesSlides/notesSlide94.xml" Id="R918417586b5140f8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010e0a016e49d8" /><Relationship Type="http://schemas.openxmlformats.org/officeDocument/2006/relationships/notesSlide" Target="/ppt/notesSlides/notesSlide95.xml" Id="R99fd587e8ca7474d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a2108da03a3048a0" /><Relationship Type="http://schemas.openxmlformats.org/officeDocument/2006/relationships/notesSlide" Target="/ppt/notesSlides/notesSlide96.xml" Id="R6d05824c52a6452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AE120D60-7D18-4D9F-9A8A-876368D76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9 · FÍSICA ACÚSTICA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4E0272F-84DE-4D94-A1DF-B8EDC2F41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38250"/>
            <a:ext cx="6572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7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7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Factores que afectan la propagación del sonido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D5E405BD-0C63-4A6B-BE46-4883B706D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67125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0" i="0">
                <a:solidFill>
                  <a:srgbClr val="EADDE4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EADDE4"/>
                </a:solidFill>
                <a:latin typeface="Calibri"/>
                <a:ea typeface="Calibri"/>
                <a:cs typeface="Calibri"/>
              </a:rPr>
              <a:t>Fuente · trayecto · receptor · medición</a:t>
            </a:r>
          </a:p>
        </p:txBody>
      </p:sp>
      <p:sp>
        <p:nvSpPr>
          <p:cNvPr id="4" name="cover-claim">
            <a:extLst xmlns:a="http://schemas.openxmlformats.org/drawingml/2006/main">
              <a:ext uri="{FF2B5EF4-FFF2-40B4-BE49-F238E27FC236}">
                <a16:creationId xmlns:a16="http://schemas.microsoft.com/office/drawing/2014/main" id="{CB96F2B0-344E-43E1-BA12-05651A509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EADDE4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EADDE4"/>
                </a:solidFill>
                <a:latin typeface="Calibri"/>
                <a:ea typeface="Calibri"/>
                <a:cs typeface="Calibri"/>
              </a:rPr>
              <a:t>Entre la fuente y quien escucha, el trayecto importa.</a:t>
            </a:r>
          </a:p>
        </p:txBody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27AB63D-352F-47CF-8B63-D1666BBC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946631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op-rail-1">
            <a:extLst xmlns:a="http://schemas.openxmlformats.org/drawingml/2006/main">
              <a:ext uri="{FF2B5EF4-FFF2-40B4-BE49-F238E27FC236}">
                <a16:creationId xmlns:a16="http://schemas.microsoft.com/office/drawing/2014/main" id="{D92BB45F-5A3B-41ED-8CB0-C45F2BA9F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FB8F99A9-4661-419E-9BCE-D33890FDE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B6210701-5ECD-41F4-969D-E59EF387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8618337B-0014-4C77-8E8F-2ADBF83E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C85D6F2-1998-4EC1-AABF-437FDE69B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clínica junto a la avenida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61CF210-0245-4DCC-AE13-A94FD849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Apertura · Caso disparador</a:t>
            </a:r>
          </a:p>
        </p:txBody>
      </p:sp>
      <p:sp>
        <p:nvSpPr>
          <p:cNvPr id="7" name="U09-DG-002-step_1-anchor">
            <a:extLst xmlns:a="http://schemas.openxmlformats.org/drawingml/2006/main">
              <a:ext uri="{FF2B5EF4-FFF2-40B4-BE49-F238E27FC236}">
                <a16:creationId xmlns:a16="http://schemas.microsoft.com/office/drawing/2014/main" id="{FBE353B7-61E8-4A55-95EA-3AE2506D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02-step_2-anchor">
            <a:extLst xmlns:a="http://schemas.openxmlformats.org/drawingml/2006/main">
              <a:ext uri="{FF2B5EF4-FFF2-40B4-BE49-F238E27FC236}">
                <a16:creationId xmlns:a16="http://schemas.microsoft.com/office/drawing/2014/main" id="{8FEF9AF2-2BE1-4D7F-9DB3-3C2195AB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02-step_3-anchor">
            <a:extLst xmlns:a="http://schemas.openxmlformats.org/drawingml/2006/main">
              <a:ext uri="{FF2B5EF4-FFF2-40B4-BE49-F238E27FC236}">
                <a16:creationId xmlns:a16="http://schemas.microsoft.com/office/drawing/2014/main" id="{A40AF252-AAC2-477B-ADD5-5F605A28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02-step_4-anchor">
            <a:extLst xmlns:a="http://schemas.openxmlformats.org/drawingml/2006/main">
              <a:ext uri="{FF2B5EF4-FFF2-40B4-BE49-F238E27FC236}">
                <a16:creationId xmlns:a16="http://schemas.microsoft.com/office/drawing/2014/main" id="{0D7DD61D-3495-416B-9B43-9C8788FA9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02-step_5-anchor">
            <a:extLst xmlns:a="http://schemas.openxmlformats.org/drawingml/2006/main">
              <a:ext uri="{FF2B5EF4-FFF2-40B4-BE49-F238E27FC236}">
                <a16:creationId xmlns:a16="http://schemas.microsoft.com/office/drawing/2014/main" id="{77118E56-E4DB-426C-A5FC-C605D9B9A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U09-DG-002-step_6-anchor">
            <a:extLst xmlns:a="http://schemas.openxmlformats.org/drawingml/2006/main">
              <a:ext uri="{FF2B5EF4-FFF2-40B4-BE49-F238E27FC236}">
                <a16:creationId xmlns:a16="http://schemas.microsoft.com/office/drawing/2014/main" id="{503F0F9E-7773-48C2-A9D0-155F8B536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5" name="U09-DG-002-flow_1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46710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6" name="U09-DG-002-flow_2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05993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7" name="U09-DG-002-flow_3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9338310" y="2941321"/>
            <a:ext cx="0" cy="741997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8" name="U09-DG-002-flow_4"/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7059930" y="424958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9" name="U09-DG-002-flow_5"/>
          <p:cNvCxnSpPr>
            <a:stCxn xmlns:a="http://schemas.openxmlformats.org/drawingml/2006/main" id="11" idx="1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H="1">
            <a:off x="3467100" y="424958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8" name="U09-DG-002-visual-alt" descr="Mapa del caso con rutas numeradas; U09-DG-002, candidata para diagram-generation. La composición permite reconocer que un valor medido no describe por sí solo la fuente ni la aptitud del recinto.">
            <a:extLst xmlns:a="http://schemas.openxmlformats.org/drawingml/2006/main">
              <a:ext uri="{FF2B5EF4-FFF2-40B4-BE49-F238E27FC236}">
                <a16:creationId xmlns:a16="http://schemas.microsoft.com/office/drawing/2014/main" id="{263D97A0-CDB2-4F1A-9886-81586197D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9" name="U09-DG-002-step_1-text">
            <a:extLst xmlns:a="http://schemas.openxmlformats.org/drawingml/2006/main">
              <a:ext uri="{FF2B5EF4-FFF2-40B4-BE49-F238E27FC236}">
                <a16:creationId xmlns:a16="http://schemas.microsoft.com/office/drawing/2014/main" id="{4DDDE6AF-0F82-4207-A2A1-A3615A5BC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1 · Avenida</a:t>
            </a:r>
          </a:p>
        </p:txBody>
      </p:sp>
      <p:sp>
        <p:nvSpPr>
          <p:cNvPr id="20" name="U09-DG-002-step_2-box">
            <a:extLst xmlns:a="http://schemas.openxmlformats.org/drawingml/2006/main">
              <a:ext uri="{FF2B5EF4-FFF2-40B4-BE49-F238E27FC236}">
                <a16:creationId xmlns:a16="http://schemas.microsoft.com/office/drawing/2014/main" id="{BBAE9D2C-437C-4D44-B049-0A39F0AC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1" name="U09-DG-002-step_2-text">
            <a:extLst xmlns:a="http://schemas.openxmlformats.org/drawingml/2006/main">
              <a:ext uri="{FF2B5EF4-FFF2-40B4-BE49-F238E27FC236}">
                <a16:creationId xmlns:a16="http://schemas.microsoft.com/office/drawing/2014/main" id="{EB6D7E45-8A91-4EBE-950C-5E5BB8449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2 · fachada</a:t>
            </a:r>
          </a:p>
        </p:txBody>
      </p:sp>
      <p:sp>
        <p:nvSpPr>
          <p:cNvPr id="22" name="U09-DG-002-step_3-box">
            <a:extLst xmlns:a="http://schemas.openxmlformats.org/drawingml/2006/main">
              <a:ext uri="{FF2B5EF4-FFF2-40B4-BE49-F238E27FC236}">
                <a16:creationId xmlns:a16="http://schemas.microsoft.com/office/drawing/2014/main" id="{F81788F0-C6D6-4A30-80F0-CFDCB1C1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3" name="U09-DG-002-step_3-text">
            <a:extLst xmlns:a="http://schemas.openxmlformats.org/drawingml/2006/main">
              <a:ext uri="{FF2B5EF4-FFF2-40B4-BE49-F238E27FC236}">
                <a16:creationId xmlns:a16="http://schemas.microsoft.com/office/drawing/2014/main" id="{AD23EE45-CB86-481A-ABE2-7F4EFBFC9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 · consultorio</a:t>
            </a:r>
          </a:p>
        </p:txBody>
      </p:sp>
      <p:sp>
        <p:nvSpPr>
          <p:cNvPr id="24" name="U09-DG-002-step_4-box">
            <a:extLst xmlns:a="http://schemas.openxmlformats.org/drawingml/2006/main">
              <a:ext uri="{FF2B5EF4-FFF2-40B4-BE49-F238E27FC236}">
                <a16:creationId xmlns:a16="http://schemas.microsoft.com/office/drawing/2014/main" id="{3C0B0C39-F029-4786-B3B7-FC60AF5A6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5" name="U09-DG-002-step_4-text">
            <a:extLst xmlns:a="http://schemas.openxmlformats.org/drawingml/2006/main">
              <a:ext uri="{FF2B5EF4-FFF2-40B4-BE49-F238E27FC236}">
                <a16:creationId xmlns:a16="http://schemas.microsoft.com/office/drawing/2014/main" id="{D157FC3E-2ED0-4EF8-AC87-602A6EA51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4 · cabina</a:t>
            </a:r>
          </a:p>
        </p:txBody>
      </p:sp>
      <p:sp>
        <p:nvSpPr>
          <p:cNvPr id="26" name="U09-DG-002-step_5-box">
            <a:extLst xmlns:a="http://schemas.openxmlformats.org/drawingml/2006/main">
              <a:ext uri="{FF2B5EF4-FFF2-40B4-BE49-F238E27FC236}">
                <a16:creationId xmlns:a16="http://schemas.microsoft.com/office/drawing/2014/main" id="{CEBE3715-C215-4BE5-A8CB-F22342C8E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7" name="U09-DG-002-step_5-text">
            <a:extLst xmlns:a="http://schemas.openxmlformats.org/drawingml/2006/main">
              <a:ext uri="{FF2B5EF4-FFF2-40B4-BE49-F238E27FC236}">
                <a16:creationId xmlns:a16="http://schemas.microsoft.com/office/drawing/2014/main" id="{322B3353-5F9D-4E44-B09E-F5E15CFA0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5 · dos receptores</a:t>
            </a:r>
          </a:p>
        </p:txBody>
      </p:sp>
      <p:sp>
        <p:nvSpPr>
          <p:cNvPr id="28" name="U09-DG-002-step_6-box">
            <a:extLst xmlns:a="http://schemas.openxmlformats.org/drawingml/2006/main">
              <a:ext uri="{FF2B5EF4-FFF2-40B4-BE49-F238E27FC236}">
                <a16:creationId xmlns:a16="http://schemas.microsoft.com/office/drawing/2014/main" id="{0303B6B4-D7F1-412F-B451-8D6303988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9" name="U09-DG-002-step_6-text">
            <a:extLst xmlns:a="http://schemas.openxmlformats.org/drawingml/2006/main">
              <a:ext uri="{FF2B5EF4-FFF2-40B4-BE49-F238E27FC236}">
                <a16:creationId xmlns:a16="http://schemas.microsoft.com/office/drawing/2014/main" id="{84006E26-98C7-44A9-A6EE-2CC783A3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6 · rutas numeradas</a:t>
            </a:r>
          </a:p>
        </p:txBody>
      </p:sp>
      <p:sp>
        <p:nvSpPr>
          <p:cNvPr id="30" name="caption">
            <a:extLst xmlns:a="http://schemas.openxmlformats.org/drawingml/2006/main">
              <a:ext uri="{FF2B5EF4-FFF2-40B4-BE49-F238E27FC236}">
                <a16:creationId xmlns:a16="http://schemas.microsoft.com/office/drawing/2014/main" id="{386FDACC-15FD-4390-97B5-D2B9E2C3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un valor medido no describe por sí solo la fuente ni la aptitud del recinto. · Producción propia UCASAL · U09-DG-002</a:t>
            </a:r>
          </a:p>
        </p:txBody>
      </p:sp>
      <p:sp>
        <p:nvSpPr>
          <p:cNvPr id="31" name="unit-footer">
            <a:extLst xmlns:a="http://schemas.openxmlformats.org/drawingml/2006/main">
              <a:ext uri="{FF2B5EF4-FFF2-40B4-BE49-F238E27FC236}">
                <a16:creationId xmlns:a16="http://schemas.microsoft.com/office/drawing/2014/main" id="{1A808DD7-C80A-4F77-A3A1-3EFFE60AB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Física Acústica · Unidad 9</a:t>
            </a:r>
          </a:p>
        </p:txBody>
      </p:sp>
      <p:sp>
        <p:nvSpPr>
          <p:cNvPr id="3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2B1EBE8-1255-41B9-AAA2-06D4895F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op-rail-1">
            <a:extLst xmlns:a="http://schemas.openxmlformats.org/drawingml/2006/main">
              <a:ext uri="{FF2B5EF4-FFF2-40B4-BE49-F238E27FC236}">
                <a16:creationId xmlns:a16="http://schemas.microsoft.com/office/drawing/2014/main" id="{2F348659-627B-4E62-B200-3090B0A3A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5138C819-FDA9-43A9-B35D-3911557EA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CD007AFB-A75A-4FFD-89D9-EC603A1A7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D9B9A795-1AC7-4921-896B-9CE6F7C59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3BA41A3-1D9E-456D-B904-2D31F709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Qué podremos explicar y estimar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58EB11C-18B5-42CD-B9AD-6DF1214DE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Apertura · Objetivos</a:t>
            </a:r>
          </a:p>
        </p:txBody>
      </p:sp>
      <p:sp>
        <p:nvSpPr>
          <p:cNvPr id="7" name="U09-003-claim-alt" descr="Ruta de objetivos en dos niveles; sin iconos decorativos. La composición permite reconocer que la unidad exige reconocer mecanismos, aplicar modelos acotados y justificar mediciones.">
            <a:extLst xmlns:a="http://schemas.openxmlformats.org/drawingml/2006/main">
              <a:ext uri="{FF2B5EF4-FFF2-40B4-BE49-F238E27FC236}">
                <a16:creationId xmlns:a16="http://schemas.microsoft.com/office/drawing/2014/main" id="{CBDDD312-C71B-45B2-92BC-629EE8C0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19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1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Analizar mecanismos de propagación.</a:t>
            </a:r>
          </a:p>
        </p:txBody>
      </p:sp>
      <p:sp>
        <p:nvSpPr>
          <p:cNvPr id="8" name="bullet-0">
            <a:extLst xmlns:a="http://schemas.openxmlformats.org/drawingml/2006/main">
              <a:ext uri="{FF2B5EF4-FFF2-40B4-BE49-F238E27FC236}">
                <a16:creationId xmlns:a16="http://schemas.microsoft.com/office/drawing/2014/main" id="{65122303-05CA-4974-ABB8-003D1A688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ody-0">
            <a:extLst xmlns:a="http://schemas.openxmlformats.org/drawingml/2006/main">
              <a:ext uri="{FF2B5EF4-FFF2-40B4-BE49-F238E27FC236}">
                <a16:creationId xmlns:a16="http://schemas.microsoft.com/office/drawing/2014/main" id="{59F3A6BA-F863-4697-B8A3-891E6476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14625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Aplicar modelos con hipótesis explícitas.</a:t>
            </a:r>
          </a:p>
        </p:txBody>
      </p:sp>
      <p:sp>
        <p:nvSpPr>
          <p:cNvPr id="10" name="bullet-1">
            <a:extLst xmlns:a="http://schemas.openxmlformats.org/drawingml/2006/main">
              <a:ext uri="{FF2B5EF4-FFF2-40B4-BE49-F238E27FC236}">
                <a16:creationId xmlns:a16="http://schemas.microsoft.com/office/drawing/2014/main" id="{533F6C7C-D4F7-410D-93F0-FE327A09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05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ody-1">
            <a:extLst xmlns:a="http://schemas.openxmlformats.org/drawingml/2006/main">
              <a:ext uri="{FF2B5EF4-FFF2-40B4-BE49-F238E27FC236}">
                <a16:creationId xmlns:a16="http://schemas.microsoft.com/office/drawing/2014/main" id="{5A4FF5C1-749A-4E71-AE83-148CC8407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362325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Calcular e interpretar resultados con unidades.</a:t>
            </a:r>
          </a:p>
        </p:txBody>
      </p:sp>
      <p:sp>
        <p:nvSpPr>
          <p:cNvPr id="12" name="bullet-2">
            <a:extLst xmlns:a="http://schemas.openxmlformats.org/drawingml/2006/main">
              <a:ext uri="{FF2B5EF4-FFF2-40B4-BE49-F238E27FC236}">
                <a16:creationId xmlns:a16="http://schemas.microsoft.com/office/drawing/2014/main" id="{ADA87050-0D0E-4AF9-8FC6-BA7E83D6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52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ody-2">
            <a:extLst xmlns:a="http://schemas.openxmlformats.org/drawingml/2006/main">
              <a:ext uri="{FF2B5EF4-FFF2-40B4-BE49-F238E27FC236}">
                <a16:creationId xmlns:a16="http://schemas.microsoft.com/office/drawing/2014/main" id="{BEB8FE89-C634-479A-8432-12483A42D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10025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Comparar alternativas y justificar qué debe medirse.</a:t>
            </a:r>
          </a:p>
        </p:txBody>
      </p:sp>
      <p:sp>
        <p:nvSpPr>
          <p:cNvPr id="14" name="unit-footer">
            <a:extLst xmlns:a="http://schemas.openxmlformats.org/drawingml/2006/main">
              <a:ext uri="{FF2B5EF4-FFF2-40B4-BE49-F238E27FC236}">
                <a16:creationId xmlns:a16="http://schemas.microsoft.com/office/drawing/2014/main" id="{92809A37-6DC2-4AC4-BF44-E456656D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Física Acústica · Unidad 9</a:t>
            </a:r>
          </a:p>
        </p:txBody>
      </p:sp>
      <p:sp>
        <p:nvSpPr>
          <p:cNvPr id="1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1822EE7-A870-499E-BB92-76D92DCF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619184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op-rail-1">
            <a:extLst xmlns:a="http://schemas.openxmlformats.org/drawingml/2006/main">
              <a:ext uri="{FF2B5EF4-FFF2-40B4-BE49-F238E27FC236}">
                <a16:creationId xmlns:a16="http://schemas.microsoft.com/office/drawing/2014/main" id="{23BF9B97-91B8-41B2-8D50-EBA57CB1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7A580C11-218C-4EDC-A270-B4E54E64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E5C9B37E-6E85-448E-B43A-AE6EFFBC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A97E9454-9A36-48E2-BB41-F829158E9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0114FCC-6DC6-4730-AFF5-E5F76A650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Qué necesitamos recuperar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03FCD33-5D11-4C65-AC0C-8F556B3A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Apertura · Conocimientos previos</a:t>
            </a:r>
          </a:p>
        </p:txBody>
      </p:sp>
      <p:sp>
        <p:nvSpPr>
          <p:cNvPr id="7" name="U09-004-claim-alt" descr="Tarjetas de prerrequisitos y pregunta breve. La composición permite reconocer que distancia, longitud de onda, niveles, temperatura y bandas ya tienen significado físico.">
            <a:extLst xmlns:a="http://schemas.openxmlformats.org/drawingml/2006/main">
              <a:ext uri="{FF2B5EF4-FFF2-40B4-BE49-F238E27FC236}">
                <a16:creationId xmlns:a16="http://schemas.microsoft.com/office/drawing/2014/main" id="{A442AD4D-9873-4B00-80CD-E2B7652E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19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1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Ya conocemos: distancia, frecuencia, longitud de onda, niveles, temperatura y bandas.</a:t>
            </a:r>
          </a:p>
        </p:txBody>
      </p:sp>
      <p:sp>
        <p:nvSpPr>
          <p:cNvPr id="8" name="bullet-0">
            <a:extLst xmlns:a="http://schemas.openxmlformats.org/drawingml/2006/main">
              <a:ext uri="{FF2B5EF4-FFF2-40B4-BE49-F238E27FC236}">
                <a16:creationId xmlns:a16="http://schemas.microsoft.com/office/drawing/2014/main" id="{A6D8637F-7960-43EC-80D1-0CF47B53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ody-0">
            <a:extLst xmlns:a="http://schemas.openxmlformats.org/drawingml/2006/main">
              <a:ext uri="{FF2B5EF4-FFF2-40B4-BE49-F238E27FC236}">
                <a16:creationId xmlns:a16="http://schemas.microsoft.com/office/drawing/2014/main" id="{F9699402-3F11-401F-A65B-60FA9BBB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14625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Necesitamos recuperar: unidades, razones, logaritmos y lectura de gráficos.</a:t>
            </a:r>
          </a:p>
        </p:txBody>
      </p:sp>
      <p:sp>
        <p:nvSpPr>
          <p:cNvPr id="10" name="bullet-1">
            <a:extLst xmlns:a="http://schemas.openxmlformats.org/drawingml/2006/main">
              <a:ext uri="{FF2B5EF4-FFF2-40B4-BE49-F238E27FC236}">
                <a16:creationId xmlns:a16="http://schemas.microsoft.com/office/drawing/2014/main" id="{CAAA270A-4809-42F9-9894-E7A09E92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05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ody-1">
            <a:extLst xmlns:a="http://schemas.openxmlformats.org/drawingml/2006/main">
              <a:ext uri="{FF2B5EF4-FFF2-40B4-BE49-F238E27FC236}">
                <a16:creationId xmlns:a16="http://schemas.microsoft.com/office/drawing/2014/main" id="{D968C488-2B82-4D06-892B-5ED7A395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362325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Diagnóstico: ¿qué magnitud cambiaría en cada situación?</a:t>
            </a:r>
          </a:p>
        </p:txBody>
      </p:sp>
      <p:sp>
        <p:nvSpPr>
          <p:cNvPr id="12" name="unit-footer">
            <a:extLst xmlns:a="http://schemas.openxmlformats.org/drawingml/2006/main">
              <a:ext uri="{FF2B5EF4-FFF2-40B4-BE49-F238E27FC236}">
                <a16:creationId xmlns:a16="http://schemas.microsoft.com/office/drawing/2014/main" id="{D4E99890-70BB-404E-AE83-A3CB06660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Física Acústica · Unidad 9</a:t>
            </a:r>
          </a:p>
        </p:txBody>
      </p:sp>
      <p:sp>
        <p:nvSpPr>
          <p:cNvPr id="1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76AD28B-43F8-416A-B4AC-5D908569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8335951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op-rail-1">
            <a:extLst xmlns:a="http://schemas.openxmlformats.org/drawingml/2006/main">
              <a:ext uri="{FF2B5EF4-FFF2-40B4-BE49-F238E27FC236}">
                <a16:creationId xmlns:a16="http://schemas.microsoft.com/office/drawing/2014/main" id="{24E5818D-F266-4F44-98FB-A38E932C7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0EE6BA38-DD26-4379-9454-840AC7144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0C9941E6-53DC-4426-ABAA-D73544EB8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014E6B09-82A6-4104-BD8F-8B8072B3A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8382D50-DE46-4F15-A650-2E9D7E95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 la emisión a la verificación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55EC2FE-5F33-44F2-922A-23BB78B2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Apertura · Mapa de clase</a:t>
            </a:r>
          </a:p>
        </p:txBody>
      </p:sp>
      <p:sp>
        <p:nvSpPr>
          <p:cNvPr id="7" name="U09-DG-003-step_1-anchor">
            <a:extLst xmlns:a="http://schemas.openxmlformats.org/drawingml/2006/main">
              <a:ext uri="{FF2B5EF4-FFF2-40B4-BE49-F238E27FC236}">
                <a16:creationId xmlns:a16="http://schemas.microsoft.com/office/drawing/2014/main" id="{21CCD671-830A-4063-B3FD-E4C1FFAF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03-step_2-anchor">
            <a:extLst xmlns:a="http://schemas.openxmlformats.org/drawingml/2006/main">
              <a:ext uri="{FF2B5EF4-FFF2-40B4-BE49-F238E27FC236}">
                <a16:creationId xmlns:a16="http://schemas.microsoft.com/office/drawing/2014/main" id="{C92FDB02-CD2A-42D9-90A9-F22EF736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03-step_3-anchor">
            <a:extLst xmlns:a="http://schemas.openxmlformats.org/drawingml/2006/main">
              <a:ext uri="{FF2B5EF4-FFF2-40B4-BE49-F238E27FC236}">
                <a16:creationId xmlns:a16="http://schemas.microsoft.com/office/drawing/2014/main" id="{B2A11AB3-83A1-4054-A5C4-BB1B154E9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03-step_4-anchor">
            <a:extLst xmlns:a="http://schemas.openxmlformats.org/drawingml/2006/main">
              <a:ext uri="{FF2B5EF4-FFF2-40B4-BE49-F238E27FC236}">
                <a16:creationId xmlns:a16="http://schemas.microsoft.com/office/drawing/2014/main" id="{2EC763D1-597E-4E8A-BEBD-A1CE26E7C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03-step_5-anchor">
            <a:extLst xmlns:a="http://schemas.openxmlformats.org/drawingml/2006/main">
              <a:ext uri="{FF2B5EF4-FFF2-40B4-BE49-F238E27FC236}">
                <a16:creationId xmlns:a16="http://schemas.microsoft.com/office/drawing/2014/main" id="{BF86ABF2-45BA-443F-BF1C-346C4F0BA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U09-DG-003-step_6-anchor">
            <a:extLst xmlns:a="http://schemas.openxmlformats.org/drawingml/2006/main">
              <a:ext uri="{FF2B5EF4-FFF2-40B4-BE49-F238E27FC236}">
                <a16:creationId xmlns:a16="http://schemas.microsoft.com/office/drawing/2014/main" id="{C40C9958-948F-4F0B-9C6A-CC22D6131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5" name="U09-DG-003-flow_1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46710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6" name="U09-DG-003-flow_2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05993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7" name="U09-DG-003-flow_3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9338310" y="2941321"/>
            <a:ext cx="0" cy="741997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8" name="U09-DG-003-flow_4"/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7059930" y="424958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9" name="U09-DG-003-flow_5"/>
          <p:cNvCxnSpPr>
            <a:stCxn xmlns:a="http://schemas.openxmlformats.org/drawingml/2006/main" id="11" idx="1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H="1">
            <a:off x="3467100" y="424958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8" name="U09-DG-003-visual-alt" descr="Mapa horizontal con hitos y pausas; U09-DG-003, candidata para diagram-generation. La composición permite reconocer que la secuencia avanza de fuente y trayecto a superficies, recintos, aislamiento y cabinas.">
            <a:extLst xmlns:a="http://schemas.openxmlformats.org/drawingml/2006/main">
              <a:ext uri="{FF2B5EF4-FFF2-40B4-BE49-F238E27FC236}">
                <a16:creationId xmlns:a16="http://schemas.microsoft.com/office/drawing/2014/main" id="{C8FA2820-31EB-4830-B325-5CEFBCE2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9" name="U09-DG-003-step_1-text">
            <a:extLst xmlns:a="http://schemas.openxmlformats.org/drawingml/2006/main">
              <a:ext uri="{FF2B5EF4-FFF2-40B4-BE49-F238E27FC236}">
                <a16:creationId xmlns:a16="http://schemas.microsoft.com/office/drawing/2014/main" id="{ECB6D3F7-DD98-4A09-AF50-48855E73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1 · Modelo organizador</a:t>
            </a:r>
          </a:p>
        </p:txBody>
      </p:sp>
      <p:sp>
        <p:nvSpPr>
          <p:cNvPr id="20" name="U09-DG-003-step_2-box">
            <a:extLst xmlns:a="http://schemas.openxmlformats.org/drawingml/2006/main">
              <a:ext uri="{FF2B5EF4-FFF2-40B4-BE49-F238E27FC236}">
                <a16:creationId xmlns:a16="http://schemas.microsoft.com/office/drawing/2014/main" id="{148C6496-831C-4411-8FD4-4C9DC1C9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1" name="U09-DG-003-step_2-text">
            <a:extLst xmlns:a="http://schemas.openxmlformats.org/drawingml/2006/main">
              <a:ext uri="{FF2B5EF4-FFF2-40B4-BE49-F238E27FC236}">
                <a16:creationId xmlns:a16="http://schemas.microsoft.com/office/drawing/2014/main" id="{FBF6193E-AE56-4774-869A-13135BA91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2 · Distancia y directividad</a:t>
            </a:r>
          </a:p>
        </p:txBody>
      </p:sp>
      <p:sp>
        <p:nvSpPr>
          <p:cNvPr id="22" name="U09-DG-003-step_3-box">
            <a:extLst xmlns:a="http://schemas.openxmlformats.org/drawingml/2006/main">
              <a:ext uri="{FF2B5EF4-FFF2-40B4-BE49-F238E27FC236}">
                <a16:creationId xmlns:a16="http://schemas.microsoft.com/office/drawing/2014/main" id="{AB137B78-9011-4CE3-80F9-BC77ADC3D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3" name="U09-DG-003-step_3-text">
            <a:extLst xmlns:a="http://schemas.openxmlformats.org/drawingml/2006/main">
              <a:ext uri="{FF2B5EF4-FFF2-40B4-BE49-F238E27FC236}">
                <a16:creationId xmlns:a16="http://schemas.microsoft.com/office/drawing/2014/main" id="{136F6777-7227-4FBC-A722-DE0EA95AE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 · Atmósfera</a:t>
            </a:r>
          </a:p>
        </p:txBody>
      </p:sp>
      <p:sp>
        <p:nvSpPr>
          <p:cNvPr id="24" name="U09-DG-003-step_4-box">
            <a:extLst xmlns:a="http://schemas.openxmlformats.org/drawingml/2006/main">
              <a:ext uri="{FF2B5EF4-FFF2-40B4-BE49-F238E27FC236}">
                <a16:creationId xmlns:a16="http://schemas.microsoft.com/office/drawing/2014/main" id="{DA1AAD19-F24C-4C12-9C66-CF64B3F2D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5" name="U09-DG-003-step_4-text">
            <a:extLst xmlns:a="http://schemas.openxmlformats.org/drawingml/2006/main">
              <a:ext uri="{FF2B5EF4-FFF2-40B4-BE49-F238E27FC236}">
                <a16:creationId xmlns:a16="http://schemas.microsoft.com/office/drawing/2014/main" id="{1D701123-1B12-4EAE-A73E-84792419D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4 · Superficies y recintos</a:t>
            </a:r>
          </a:p>
        </p:txBody>
      </p:sp>
      <p:sp>
        <p:nvSpPr>
          <p:cNvPr id="26" name="U09-DG-003-step_5-box">
            <a:extLst xmlns:a="http://schemas.openxmlformats.org/drawingml/2006/main">
              <a:ext uri="{FF2B5EF4-FFF2-40B4-BE49-F238E27FC236}">
                <a16:creationId xmlns:a16="http://schemas.microsoft.com/office/drawing/2014/main" id="{A6AA9B4E-FEAB-4602-8261-D72C15326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7" name="U09-DG-003-step_5-text">
            <a:extLst xmlns:a="http://schemas.openxmlformats.org/drawingml/2006/main">
              <a:ext uri="{FF2B5EF4-FFF2-40B4-BE49-F238E27FC236}">
                <a16:creationId xmlns:a16="http://schemas.microsoft.com/office/drawing/2014/main" id="{9B4F2625-CC4E-42F3-8997-E37B7C211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5 · Aislamiento y cabinas</a:t>
            </a:r>
          </a:p>
        </p:txBody>
      </p:sp>
      <p:sp>
        <p:nvSpPr>
          <p:cNvPr id="28" name="U09-DG-003-step_6-box">
            <a:extLst xmlns:a="http://schemas.openxmlformats.org/drawingml/2006/main">
              <a:ext uri="{FF2B5EF4-FFF2-40B4-BE49-F238E27FC236}">
                <a16:creationId xmlns:a16="http://schemas.microsoft.com/office/drawing/2014/main" id="{3EE3FB24-0301-4E97-A973-2A2A093FB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9" name="U09-DG-003-step_6-text">
            <a:extLst xmlns:a="http://schemas.openxmlformats.org/drawingml/2006/main">
              <a:ext uri="{FF2B5EF4-FFF2-40B4-BE49-F238E27FC236}">
                <a16:creationId xmlns:a16="http://schemas.microsoft.com/office/drawing/2014/main" id="{980A87FE-60CC-43AF-9231-D75F9CE6C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6 · Integración</a:t>
            </a:r>
          </a:p>
        </p:txBody>
      </p:sp>
      <p:sp>
        <p:nvSpPr>
          <p:cNvPr id="30" name="caption">
            <a:extLst xmlns:a="http://schemas.openxmlformats.org/drawingml/2006/main">
              <a:ext uri="{FF2B5EF4-FFF2-40B4-BE49-F238E27FC236}">
                <a16:creationId xmlns:a16="http://schemas.microsoft.com/office/drawing/2014/main" id="{FEA57CD8-F79B-487A-B8C3-7B43E72E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la secuencia avanza de fuente y trayecto a superficies, recintos, aislamiento y cabinas. · Producción propia UCASAL · U09-DG-003</a:t>
            </a:r>
          </a:p>
        </p:txBody>
      </p:sp>
      <p:sp>
        <p:nvSpPr>
          <p:cNvPr id="31" name="unit-footer">
            <a:extLst xmlns:a="http://schemas.openxmlformats.org/drawingml/2006/main">
              <a:ext uri="{FF2B5EF4-FFF2-40B4-BE49-F238E27FC236}">
                <a16:creationId xmlns:a16="http://schemas.microsoft.com/office/drawing/2014/main" id="{0F27DE62-9B95-4E94-9047-FD71E3D3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Física Acústica · Unidad 9</a:t>
            </a:r>
          </a:p>
        </p:txBody>
      </p:sp>
      <p:sp>
        <p:nvSpPr>
          <p:cNvPr id="3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624714C-A23F-4392-8057-430F540E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2714790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ark-eyebrow">
            <a:extLst xmlns:a="http://schemas.openxmlformats.org/drawingml/2006/main">
              <a:ext uri="{FF2B5EF4-FFF2-40B4-BE49-F238E27FC236}">
                <a16:creationId xmlns:a16="http://schemas.microsoft.com/office/drawing/2014/main" id="{D5C30DFB-3865-409F-BA57-7791600D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UNIDAD 9 · RUTA CENTRAL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4A58BA7B-166B-49B5-9B77-E20BF5F79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47875"/>
            <a:ext cx="1057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¿De quién es el nivel recibido?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93377EA9-D1B3-4093-8BEB-C5167C4D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571875"/>
            <a:ext cx="885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rPr>
              <a:t>Un nivel observado emerge de una cadena física y metrológica.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1010244-A830-497B-883C-7B7C32C3A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op-rail-1">
            <a:extLst xmlns:a="http://schemas.openxmlformats.org/drawingml/2006/main">
              <a:ext uri="{FF2B5EF4-FFF2-40B4-BE49-F238E27FC236}">
                <a16:creationId xmlns:a16="http://schemas.microsoft.com/office/drawing/2014/main" id="{A713EA7A-D8C0-4CB7-B473-DD92888E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65311DE2-8597-436C-8798-3BBB6EF8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E1D3D56D-5FD0-4672-9EA8-CDD91702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B8253FC7-6E2A-4253-826B-F14150A4A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1B26BAC-83A2-493B-8C47-5A9242B3A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Fuente–trayecto–receptor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B74694D-4A16-4831-AAA0-7175129A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Modelo organizador · Modelo conceptual</a:t>
            </a:r>
          </a:p>
        </p:txBody>
      </p:sp>
      <p:sp>
        <p:nvSpPr>
          <p:cNvPr id="7" name="U09-DG-004-source-anchor">
            <a:extLst xmlns:a="http://schemas.openxmlformats.org/drawingml/2006/main">
              <a:ext uri="{FF2B5EF4-FFF2-40B4-BE49-F238E27FC236}">
                <a16:creationId xmlns:a16="http://schemas.microsoft.com/office/drawing/2014/main" id="{59CF5B03-A85B-4125-A7C9-9704D2C0C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2628900"/>
            <a:ext cx="227838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04-path_upper-anchor">
            <a:extLst xmlns:a="http://schemas.openxmlformats.org/drawingml/2006/main">
              <a:ext uri="{FF2B5EF4-FFF2-40B4-BE49-F238E27FC236}">
                <a16:creationId xmlns:a16="http://schemas.microsoft.com/office/drawing/2014/main" id="{20B40877-EED8-460D-9A99-73B7D911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1691640"/>
            <a:ext cx="2804160" cy="976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04-path_lower-anchor">
            <a:extLst xmlns:a="http://schemas.openxmlformats.org/drawingml/2006/main">
              <a:ext uri="{FF2B5EF4-FFF2-40B4-BE49-F238E27FC236}">
                <a16:creationId xmlns:a16="http://schemas.microsoft.com/office/drawing/2014/main" id="{C392F6A7-6B6A-405A-BAB7-86460CA3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3644265"/>
            <a:ext cx="2804160" cy="976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04-receiver-anchor">
            <a:extLst xmlns:a="http://schemas.openxmlformats.org/drawingml/2006/main">
              <a:ext uri="{FF2B5EF4-FFF2-40B4-BE49-F238E27FC236}">
                <a16:creationId xmlns:a16="http://schemas.microsoft.com/office/drawing/2014/main" id="{F63650F1-CCE6-4185-AA33-2F9B845D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195" y="2628900"/>
            <a:ext cx="227838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04-condition-anchor">
            <a:extLst xmlns:a="http://schemas.openxmlformats.org/drawingml/2006/main">
              <a:ext uri="{FF2B5EF4-FFF2-40B4-BE49-F238E27FC236}">
                <a16:creationId xmlns:a16="http://schemas.microsoft.com/office/drawing/2014/main" id="{87818F1F-ACD7-4C6B-B734-2EC2178E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4815840"/>
            <a:ext cx="2804160" cy="5857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0" name="U09-DG-004-route_1a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072765" y="2179797"/>
            <a:ext cx="1183005" cy="9958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1" name="U09-DG-004-route_1b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059930" y="2179797"/>
            <a:ext cx="1358265" cy="9958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2" name="U09-DG-004-route_2a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072765" y="3175635"/>
            <a:ext cx="1183005" cy="95678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3" name="U09-DG-004-route_2b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7059930" y="3175635"/>
            <a:ext cx="1358265" cy="95678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U09-DG-004-visual-alt" descr="Diagrama principal con zonas y ejemplos; U09-DG-004, candidata para diagram-generation. La composición permite reconocer que cada mecanismo debe localizarse en una parte de la cadena.">
            <a:extLst xmlns:a="http://schemas.openxmlformats.org/drawingml/2006/main">
              <a:ext uri="{FF2B5EF4-FFF2-40B4-BE49-F238E27FC236}">
                <a16:creationId xmlns:a16="http://schemas.microsoft.com/office/drawing/2014/main" id="{4A794D2D-B873-4AEC-83A3-36D2DE89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2628900"/>
            <a:ext cx="227838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7" name="U09-DG-004-source-text">
            <a:extLst xmlns:a="http://schemas.openxmlformats.org/drawingml/2006/main">
              <a:ext uri="{FF2B5EF4-FFF2-40B4-BE49-F238E27FC236}">
                <a16:creationId xmlns:a16="http://schemas.microsoft.com/office/drawing/2014/main" id="{987F1D47-2CBF-4BBE-9304-7D2B25C5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" y="2752725"/>
            <a:ext cx="193548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Fuente</a:t>
            </a:r>
          </a:p>
        </p:txBody>
      </p:sp>
      <p:sp>
        <p:nvSpPr>
          <p:cNvPr id="18" name="U09-DG-004-path_upper-box">
            <a:extLst xmlns:a="http://schemas.openxmlformats.org/drawingml/2006/main">
              <a:ext uri="{FF2B5EF4-FFF2-40B4-BE49-F238E27FC236}">
                <a16:creationId xmlns:a16="http://schemas.microsoft.com/office/drawing/2014/main" id="{2D2474F8-85F3-46A5-B883-F6C2CC947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1691640"/>
            <a:ext cx="2804160" cy="976313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9" name="U09-DG-004-path_upper-text">
            <a:extLst xmlns:a="http://schemas.openxmlformats.org/drawingml/2006/main">
              <a:ext uri="{FF2B5EF4-FFF2-40B4-BE49-F238E27FC236}">
                <a16:creationId xmlns:a16="http://schemas.microsoft.com/office/drawing/2014/main" id="{D86FC13C-633D-4D04-9480-BDEBD0497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220" y="1815465"/>
            <a:ext cx="2461260" cy="728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Redistribuye</a:t>
            </a:r>
          </a:p>
        </p:txBody>
      </p:sp>
      <p:sp>
        <p:nvSpPr>
          <p:cNvPr id="20" name="U09-DG-004-path_lower-box">
            <a:extLst xmlns:a="http://schemas.openxmlformats.org/drawingml/2006/main">
              <a:ext uri="{FF2B5EF4-FFF2-40B4-BE49-F238E27FC236}">
                <a16:creationId xmlns:a16="http://schemas.microsoft.com/office/drawing/2014/main" id="{A40D6753-8ECF-4387-A8F2-869031C7E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3644265"/>
            <a:ext cx="2804160" cy="976313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1" name="U09-DG-004-path_lower-text">
            <a:extLst xmlns:a="http://schemas.openxmlformats.org/drawingml/2006/main">
              <a:ext uri="{FF2B5EF4-FFF2-40B4-BE49-F238E27FC236}">
                <a16:creationId xmlns:a16="http://schemas.microsoft.com/office/drawing/2014/main" id="{FDDD81A3-8466-4F85-9892-2A08B67D3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220" y="3768090"/>
            <a:ext cx="2461260" cy="728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Disipa o desvía</a:t>
            </a:r>
          </a:p>
        </p:txBody>
      </p:sp>
      <p:sp>
        <p:nvSpPr>
          <p:cNvPr id="22" name="U09-DG-004-receiver-box">
            <a:extLst xmlns:a="http://schemas.openxmlformats.org/drawingml/2006/main">
              <a:ext uri="{FF2B5EF4-FFF2-40B4-BE49-F238E27FC236}">
                <a16:creationId xmlns:a16="http://schemas.microsoft.com/office/drawing/2014/main" id="{6C6F0C5C-0452-4C65-9617-B2D625CC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195" y="2628900"/>
            <a:ext cx="227838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3" name="U09-DG-004-receiver-text">
            <a:extLst xmlns:a="http://schemas.openxmlformats.org/drawingml/2006/main">
              <a:ext uri="{FF2B5EF4-FFF2-40B4-BE49-F238E27FC236}">
                <a16:creationId xmlns:a16="http://schemas.microsoft.com/office/drawing/2014/main" id="{1807F9F5-B6E4-408F-9529-B165BBE05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645" y="2752725"/>
            <a:ext cx="193548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Receptor y medición</a:t>
            </a:r>
          </a:p>
        </p:txBody>
      </p:sp>
      <p:sp>
        <p:nvSpPr>
          <p:cNvPr id="24" name="U09-DG-004-condition-box">
            <a:extLst xmlns:a="http://schemas.openxmlformats.org/drawingml/2006/main">
              <a:ext uri="{FF2B5EF4-FFF2-40B4-BE49-F238E27FC236}">
                <a16:creationId xmlns:a16="http://schemas.microsoft.com/office/drawing/2014/main" id="{819B6166-30AA-4E5A-86DA-967A5EBF6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4815840"/>
            <a:ext cx="2804160" cy="585787"/>
          </a:xfrm>
          <a:prstGeom xmlns:a="http://schemas.openxmlformats.org/drawingml/2006/main" prst="roundRect">
            <a:avLst>
              <a:gd name="adj" fmla="val 11382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5" name="U09-DG-004-condition-text">
            <a:extLst xmlns:a="http://schemas.openxmlformats.org/drawingml/2006/main">
              <a:ext uri="{FF2B5EF4-FFF2-40B4-BE49-F238E27FC236}">
                <a16:creationId xmlns:a16="http://schemas.microsoft.com/office/drawing/2014/main" id="{76D77BDE-7148-4FC9-8908-92E9B9B8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220" y="4939665"/>
            <a:ext cx="2461260" cy="3381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Condiciones</a:t>
            </a:r>
          </a:p>
        </p:txBody>
      </p:sp>
      <p:sp>
        <p:nvSpPr>
          <p:cNvPr id="26" name="caption">
            <a:extLst xmlns:a="http://schemas.openxmlformats.org/drawingml/2006/main">
              <a:ext uri="{FF2B5EF4-FFF2-40B4-BE49-F238E27FC236}">
                <a16:creationId xmlns:a16="http://schemas.microsoft.com/office/drawing/2014/main" id="{7C8D2DEA-656B-4E71-9019-528632022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cada mecanismo debe localizarse en una parte de la cadena. · Producción propia UCASAL · U09-DG-004</a:t>
            </a:r>
          </a:p>
        </p:txBody>
      </p:sp>
      <p:sp>
        <p:nvSpPr>
          <p:cNvPr id="27" name="unit-footer">
            <a:extLst xmlns:a="http://schemas.openxmlformats.org/drawingml/2006/main">
              <a:ext uri="{FF2B5EF4-FFF2-40B4-BE49-F238E27FC236}">
                <a16:creationId xmlns:a16="http://schemas.microsoft.com/office/drawing/2014/main" id="{21C6F2B7-020F-47B8-B282-4DC4DA4E2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Física Acústica · Unidad 9</a:t>
            </a:r>
          </a:p>
        </p:txBody>
      </p:sp>
      <p:sp>
        <p:nvSpPr>
          <p:cNvPr id="2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CA5B00D-98C5-4564-BCF6-D8456E730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-rail-1">
            <a:extLst xmlns:a="http://schemas.openxmlformats.org/drawingml/2006/main">
              <a:ext uri="{FF2B5EF4-FFF2-40B4-BE49-F238E27FC236}">
                <a16:creationId xmlns:a16="http://schemas.microsoft.com/office/drawing/2014/main" id="{13EBEC96-BAF1-409C-9EE1-38913C678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46FB2F0C-AA01-4A37-8EDE-B8D7CF1F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D04222F1-10F6-4E52-8B78-DA296986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C1390F3F-9D5F-4519-8D89-1C8E33F7E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049047C-4441-4B07-ADA9-299409C12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Emitir no es recibir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27876BD-5ABF-4B8B-BCDE-58922EC4F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Modelo organizador · Comparación</a:t>
            </a:r>
          </a:p>
        </p:txBody>
      </p:sp>
      <p:sp>
        <p:nvSpPr>
          <p:cNvPr id="7" name="U09-DG-005-concept_1-anchor">
            <a:extLst xmlns:a="http://schemas.openxmlformats.org/drawingml/2006/main">
              <a:ext uri="{FF2B5EF4-FFF2-40B4-BE49-F238E27FC236}">
                <a16:creationId xmlns:a16="http://schemas.microsoft.com/office/drawing/2014/main" id="{DA552B1D-B40B-4D23-911C-5F8074E7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4784598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05-concept_2-anchor">
            <a:extLst xmlns:a="http://schemas.openxmlformats.org/drawingml/2006/main">
              <a:ext uri="{FF2B5EF4-FFF2-40B4-BE49-F238E27FC236}">
                <a16:creationId xmlns:a16="http://schemas.microsoft.com/office/drawing/2014/main" id="{A851D2E4-2202-4A2F-9CAD-9F0AA3CE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1840040"/>
            <a:ext cx="4784598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05-concept_3-anchor">
            <a:extLst xmlns:a="http://schemas.openxmlformats.org/drawingml/2006/main">
              <a:ext uri="{FF2B5EF4-FFF2-40B4-BE49-F238E27FC236}">
                <a16:creationId xmlns:a16="http://schemas.microsoft.com/office/drawing/2014/main" id="{4C6627EB-187F-4852-A27D-A03D870B3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4784598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05-concept_4-anchor">
            <a:extLst xmlns:a="http://schemas.openxmlformats.org/drawingml/2006/main">
              <a:ext uri="{FF2B5EF4-FFF2-40B4-BE49-F238E27FC236}">
                <a16:creationId xmlns:a16="http://schemas.microsoft.com/office/drawing/2014/main" id="{E0AE2B8F-A752-46AB-BD91-9A51BFFE3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3573971"/>
            <a:ext cx="4784598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05-visual-alt" descr="Tabla comparativa y mini cadena; U09-DG-005, candidata para diagram-generation. La composición permite reconocer que la potencia caracteriza la emisión; la presión depende del punto y del campo.">
            <a:extLst xmlns:a="http://schemas.openxmlformats.org/drawingml/2006/main">
              <a:ext uri="{FF2B5EF4-FFF2-40B4-BE49-F238E27FC236}">
                <a16:creationId xmlns:a16="http://schemas.microsoft.com/office/drawing/2014/main" id="{564F88C6-8507-48DB-AD73-52B3B6D89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4784598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2" name="U09-DG-005-concept_1-text">
            <a:extLst xmlns:a="http://schemas.openxmlformats.org/drawingml/2006/main">
              <a:ext uri="{FF2B5EF4-FFF2-40B4-BE49-F238E27FC236}">
                <a16:creationId xmlns:a16="http://schemas.microsoft.com/office/drawing/2014/main" id="{31978558-309F-49A0-AE86-434F958B0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63865"/>
            <a:ext cx="4441698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Comparación por magnitud</a:t>
            </a:r>
          </a:p>
        </p:txBody>
      </p:sp>
      <p:sp>
        <p:nvSpPr>
          <p:cNvPr id="13" name="U09-DG-005-concept_2-box">
            <a:extLst xmlns:a="http://schemas.openxmlformats.org/drawingml/2006/main">
              <a:ext uri="{FF2B5EF4-FFF2-40B4-BE49-F238E27FC236}">
                <a16:creationId xmlns:a16="http://schemas.microsoft.com/office/drawing/2014/main" id="{89306924-AD10-4BC1-9C00-5F2CF1CA1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1840040"/>
            <a:ext cx="4784598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4" name="U09-DG-005-concept_2-text">
            <a:extLst xmlns:a="http://schemas.openxmlformats.org/drawingml/2006/main">
              <a:ext uri="{FF2B5EF4-FFF2-40B4-BE49-F238E27FC236}">
                <a16:creationId xmlns:a16="http://schemas.microsoft.com/office/drawing/2014/main" id="{53A71385-DA2B-428A-A17B-9A680067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9612" y="1963865"/>
            <a:ext cx="4441698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dependencia espacial</a:t>
            </a:r>
          </a:p>
        </p:txBody>
      </p:sp>
      <p:sp>
        <p:nvSpPr>
          <p:cNvPr id="15" name="U09-DG-005-concept_3-box">
            <a:extLst xmlns:a="http://schemas.openxmlformats.org/drawingml/2006/main">
              <a:ext uri="{FF2B5EF4-FFF2-40B4-BE49-F238E27FC236}">
                <a16:creationId xmlns:a16="http://schemas.microsoft.com/office/drawing/2014/main" id="{04DE9587-FC3B-4B36-8D41-26C885553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4784598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6" name="U09-DG-005-concept_3-text">
            <a:extLst xmlns:a="http://schemas.openxmlformats.org/drawingml/2006/main">
              <a:ext uri="{FF2B5EF4-FFF2-40B4-BE49-F238E27FC236}">
                <a16:creationId xmlns:a16="http://schemas.microsoft.com/office/drawing/2014/main" id="{E71D91DB-7A07-4FDE-8474-F58DB7DD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7796"/>
            <a:ext cx="4441698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unidad</a:t>
            </a:r>
          </a:p>
        </p:txBody>
      </p:sp>
      <p:sp>
        <p:nvSpPr>
          <p:cNvPr id="17" name="U09-DG-005-concept_4-box">
            <a:extLst xmlns:a="http://schemas.openxmlformats.org/drawingml/2006/main">
              <a:ext uri="{FF2B5EF4-FFF2-40B4-BE49-F238E27FC236}">
                <a16:creationId xmlns:a16="http://schemas.microsoft.com/office/drawing/2014/main" id="{AA015FF5-E23B-462B-B205-7C8921CF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3573971"/>
            <a:ext cx="4784598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18" name="U09-DG-005-concept_4-text">
            <a:extLst xmlns:a="http://schemas.openxmlformats.org/drawingml/2006/main">
              <a:ext uri="{FF2B5EF4-FFF2-40B4-BE49-F238E27FC236}">
                <a16:creationId xmlns:a16="http://schemas.microsoft.com/office/drawing/2014/main" id="{7B208B85-B694-4DED-A646-FF1079EF4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9612" y="3697796"/>
            <a:ext cx="4441698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pregunta que responde</a:t>
            </a:r>
          </a:p>
        </p:txBody>
      </p:sp>
      <p:sp>
        <p:nvSpPr>
          <p:cNvPr id="19" name="caption">
            <a:extLst xmlns:a="http://schemas.openxmlformats.org/drawingml/2006/main">
              <a:ext uri="{FF2B5EF4-FFF2-40B4-BE49-F238E27FC236}">
                <a16:creationId xmlns:a16="http://schemas.microsoft.com/office/drawing/2014/main" id="{E46FF7B9-A7C5-450B-8D88-92871216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la potencia caracteriza la emisión; la presión depende del punto y del campo. · Producción propia UCASAL · U09-DG-005</a:t>
            </a:r>
          </a:p>
        </p:txBody>
      </p:sp>
      <p:sp>
        <p:nvSpPr>
          <p:cNvPr id="20" name="unit-footer">
            <a:extLst xmlns:a="http://schemas.openxmlformats.org/drawingml/2006/main">
              <a:ext uri="{FF2B5EF4-FFF2-40B4-BE49-F238E27FC236}">
                <a16:creationId xmlns:a16="http://schemas.microsoft.com/office/drawing/2014/main" id="{9CFACBCE-6040-4F35-B590-4DF833C50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Física Acústica · Unidad 9</a:t>
            </a:r>
          </a:p>
        </p:txBody>
      </p:sp>
      <p:sp>
        <p:nvSpPr>
          <p:cNvPr id="2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FFFDD03-CF75-475F-A436-C9416565E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top-rail-1">
            <a:extLst xmlns:a="http://schemas.openxmlformats.org/drawingml/2006/main">
              <a:ext uri="{FF2B5EF4-FFF2-40B4-BE49-F238E27FC236}">
                <a16:creationId xmlns:a16="http://schemas.microsoft.com/office/drawing/2014/main" id="{B0927DEB-B68F-4D43-A83D-A4F54EED5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9374962F-E714-47B8-93F8-C9093AC1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BA8FFBEE-CA75-4931-9177-A53CA111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77A224F0-12F9-418A-8713-DE19B436E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FA26DC2-ADC0-4C6B-B6F9-00808F431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Ocho mecanismos, cuatro preguntas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8D2D530-7CC3-4E98-858E-D00226757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Modelo organizador · Mapa de mecanismos</a:t>
            </a:r>
          </a:p>
        </p:txBody>
      </p:sp>
      <p:sp>
        <p:nvSpPr>
          <p:cNvPr id="7" name="U09-DG-006-concept_1-anchor">
            <a:extLst xmlns:a="http://schemas.openxmlformats.org/drawingml/2006/main">
              <a:ext uri="{FF2B5EF4-FFF2-40B4-BE49-F238E27FC236}">
                <a16:creationId xmlns:a16="http://schemas.microsoft.com/office/drawing/2014/main" id="{9F61EF89-02F8-40AA-ACF8-80038C24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06-concept_2-anchor">
            <a:extLst xmlns:a="http://schemas.openxmlformats.org/drawingml/2006/main">
              <a:ext uri="{FF2B5EF4-FFF2-40B4-BE49-F238E27FC236}">
                <a16:creationId xmlns:a16="http://schemas.microsoft.com/office/drawing/2014/main" id="{6C786827-D0F0-41FA-8F51-0817A250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181" y="1840040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06-concept_3-anchor">
            <a:extLst xmlns:a="http://schemas.openxmlformats.org/drawingml/2006/main">
              <a:ext uri="{FF2B5EF4-FFF2-40B4-BE49-F238E27FC236}">
                <a16:creationId xmlns:a16="http://schemas.microsoft.com/office/drawing/2014/main" id="{85D5FD5F-48E4-4585-96B8-90268ED9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1840040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06-concept_4-anchor">
            <a:extLst xmlns:a="http://schemas.openxmlformats.org/drawingml/2006/main">
              <a:ext uri="{FF2B5EF4-FFF2-40B4-BE49-F238E27FC236}">
                <a16:creationId xmlns:a16="http://schemas.microsoft.com/office/drawing/2014/main" id="{E2A0983C-7BB3-4F31-A9BA-0C2432E6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3143" y="1840040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06-concept_5-anchor">
            <a:extLst xmlns:a="http://schemas.openxmlformats.org/drawingml/2006/main">
              <a:ext uri="{FF2B5EF4-FFF2-40B4-BE49-F238E27FC236}">
                <a16:creationId xmlns:a16="http://schemas.microsoft.com/office/drawing/2014/main" id="{4EAFD7B6-E812-4369-AAC7-9BE3FE754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U09-DG-006-concept_6-anchor">
            <a:extLst xmlns:a="http://schemas.openxmlformats.org/drawingml/2006/main">
              <a:ext uri="{FF2B5EF4-FFF2-40B4-BE49-F238E27FC236}">
                <a16:creationId xmlns:a16="http://schemas.microsoft.com/office/drawing/2014/main" id="{B23D9C1B-80E4-4620-BCC3-C8B253855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181" y="3573971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U09-DG-006-concept_7-anchor">
            <a:extLst xmlns:a="http://schemas.openxmlformats.org/drawingml/2006/main">
              <a:ext uri="{FF2B5EF4-FFF2-40B4-BE49-F238E27FC236}">
                <a16:creationId xmlns:a16="http://schemas.microsoft.com/office/drawing/2014/main" id="{EFB0BCF3-EE4A-4BE6-9552-C5C6AD330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3573971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U09-DG-006-concept_8-anchor">
            <a:extLst xmlns:a="http://schemas.openxmlformats.org/drawingml/2006/main">
              <a:ext uri="{FF2B5EF4-FFF2-40B4-BE49-F238E27FC236}">
                <a16:creationId xmlns:a16="http://schemas.microsoft.com/office/drawing/2014/main" id="{EAAFA156-CA00-42A8-BD9C-8475D76F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3143" y="3573971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" name="U09-DG-006-visual-alt" descr="Matriz mecanismo–magnitud–dependencia–modelo; U09-DG-006, candidata para diagram-generation. La composición permite reconocer que no toda disminución es absorción y no toda llegada sigue la ruta directa.">
            <a:extLst xmlns:a="http://schemas.openxmlformats.org/drawingml/2006/main">
              <a:ext uri="{FF2B5EF4-FFF2-40B4-BE49-F238E27FC236}">
                <a16:creationId xmlns:a16="http://schemas.microsoft.com/office/drawing/2014/main" id="{BFDF1EDF-3025-4507-B611-D8F471CFF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6" name="U09-DG-006-concept_1-text">
            <a:extLst xmlns:a="http://schemas.openxmlformats.org/drawingml/2006/main">
              <a:ext uri="{FF2B5EF4-FFF2-40B4-BE49-F238E27FC236}">
                <a16:creationId xmlns:a16="http://schemas.microsoft.com/office/drawing/2014/main" id="{7E006742-E7E8-4013-AB53-77BCD5C6A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63865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Divergencia</a:t>
            </a:r>
          </a:p>
        </p:txBody>
      </p:sp>
      <p:sp>
        <p:nvSpPr>
          <p:cNvPr id="17" name="U09-DG-006-concept_2-box">
            <a:extLst xmlns:a="http://schemas.openxmlformats.org/drawingml/2006/main">
              <a:ext uri="{FF2B5EF4-FFF2-40B4-BE49-F238E27FC236}">
                <a16:creationId xmlns:a16="http://schemas.microsoft.com/office/drawing/2014/main" id="{0A917A88-BF51-4165-B64F-B776AD08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181" y="1840040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8" name="U09-DG-006-concept_2-text">
            <a:extLst xmlns:a="http://schemas.openxmlformats.org/drawingml/2006/main">
              <a:ext uri="{FF2B5EF4-FFF2-40B4-BE49-F238E27FC236}">
                <a16:creationId xmlns:a16="http://schemas.microsoft.com/office/drawing/2014/main" id="{547FCF89-F109-441C-BD1B-2E2DDB471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631" y="1963865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Directividad</a:t>
            </a:r>
          </a:p>
        </p:txBody>
      </p:sp>
      <p:sp>
        <p:nvSpPr>
          <p:cNvPr id="19" name="U09-DG-006-concept_3-box">
            <a:extLst xmlns:a="http://schemas.openxmlformats.org/drawingml/2006/main">
              <a:ext uri="{FF2B5EF4-FFF2-40B4-BE49-F238E27FC236}">
                <a16:creationId xmlns:a16="http://schemas.microsoft.com/office/drawing/2014/main" id="{6D1C7962-AA91-4A80-B6A4-AB3152098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1840040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0" name="U09-DG-006-concept_3-text">
            <a:extLst xmlns:a="http://schemas.openxmlformats.org/drawingml/2006/main">
              <a:ext uri="{FF2B5EF4-FFF2-40B4-BE49-F238E27FC236}">
                <a16:creationId xmlns:a16="http://schemas.microsoft.com/office/drawing/2014/main" id="{2CF1C566-1A39-4F16-B27C-D187CA755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9612" y="1963865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Absorción atmosférica</a:t>
            </a:r>
          </a:p>
        </p:txBody>
      </p:sp>
      <p:sp>
        <p:nvSpPr>
          <p:cNvPr id="21" name="U09-DG-006-concept_4-box">
            <a:extLst xmlns:a="http://schemas.openxmlformats.org/drawingml/2006/main">
              <a:ext uri="{FF2B5EF4-FFF2-40B4-BE49-F238E27FC236}">
                <a16:creationId xmlns:a16="http://schemas.microsoft.com/office/drawing/2014/main" id="{B916C5A6-5FE9-4499-A9C2-760436BFD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3143" y="1840040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2" name="U09-DG-006-concept_4-text">
            <a:extLst xmlns:a="http://schemas.openxmlformats.org/drawingml/2006/main">
              <a:ext uri="{FF2B5EF4-FFF2-40B4-BE49-F238E27FC236}">
                <a16:creationId xmlns:a16="http://schemas.microsoft.com/office/drawing/2014/main" id="{2980012A-E391-4AA3-8362-0CA3FAE7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4593" y="1963865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Reflexión</a:t>
            </a:r>
          </a:p>
        </p:txBody>
      </p:sp>
      <p:sp>
        <p:nvSpPr>
          <p:cNvPr id="23" name="U09-DG-006-concept_5-box">
            <a:extLst xmlns:a="http://schemas.openxmlformats.org/drawingml/2006/main">
              <a:ext uri="{FF2B5EF4-FFF2-40B4-BE49-F238E27FC236}">
                <a16:creationId xmlns:a16="http://schemas.microsoft.com/office/drawing/2014/main" id="{A95B0DAF-5F29-4B3A-9B85-EF93B41B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4" name="U09-DG-006-concept_5-text">
            <a:extLst xmlns:a="http://schemas.openxmlformats.org/drawingml/2006/main">
              <a:ext uri="{FF2B5EF4-FFF2-40B4-BE49-F238E27FC236}">
                <a16:creationId xmlns:a16="http://schemas.microsoft.com/office/drawing/2014/main" id="{4F6E4248-383A-4351-9BCB-B1E63EC2B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7796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Absorción material</a:t>
            </a:r>
          </a:p>
        </p:txBody>
      </p:sp>
      <p:sp>
        <p:nvSpPr>
          <p:cNvPr id="25" name="U09-DG-006-concept_6-box">
            <a:extLst xmlns:a="http://schemas.openxmlformats.org/drawingml/2006/main">
              <a:ext uri="{FF2B5EF4-FFF2-40B4-BE49-F238E27FC236}">
                <a16:creationId xmlns:a16="http://schemas.microsoft.com/office/drawing/2014/main" id="{CA7763CB-898A-4F1E-A136-65362F912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181" y="3573971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6" name="U09-DG-006-concept_6-text">
            <a:extLst xmlns:a="http://schemas.openxmlformats.org/drawingml/2006/main">
              <a:ext uri="{FF2B5EF4-FFF2-40B4-BE49-F238E27FC236}">
                <a16:creationId xmlns:a16="http://schemas.microsoft.com/office/drawing/2014/main" id="{13B62CDB-772B-45FA-AA3D-7E7615589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631" y="3697796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Transmisión</a:t>
            </a:r>
          </a:p>
        </p:txBody>
      </p:sp>
      <p:sp>
        <p:nvSpPr>
          <p:cNvPr id="27" name="U09-DG-006-concept_7-box">
            <a:extLst xmlns:a="http://schemas.openxmlformats.org/drawingml/2006/main">
              <a:ext uri="{FF2B5EF4-FFF2-40B4-BE49-F238E27FC236}">
                <a16:creationId xmlns:a16="http://schemas.microsoft.com/office/drawing/2014/main" id="{6FC6B197-8E9A-41CD-8A02-313E3E48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3573971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8" name="U09-DG-006-concept_7-text">
            <a:extLst xmlns:a="http://schemas.openxmlformats.org/drawingml/2006/main">
              <a:ext uri="{FF2B5EF4-FFF2-40B4-BE49-F238E27FC236}">
                <a16:creationId xmlns:a16="http://schemas.microsoft.com/office/drawing/2014/main" id="{06B09C29-95C0-4F6B-AFE3-2DFDFBB21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9612" y="3697796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Refracción</a:t>
            </a:r>
          </a:p>
        </p:txBody>
      </p:sp>
      <p:sp>
        <p:nvSpPr>
          <p:cNvPr id="29" name="U09-DG-006-concept_8-box">
            <a:extLst xmlns:a="http://schemas.openxmlformats.org/drawingml/2006/main">
              <a:ext uri="{FF2B5EF4-FFF2-40B4-BE49-F238E27FC236}">
                <a16:creationId xmlns:a16="http://schemas.microsoft.com/office/drawing/2014/main" id="{7924CF8D-32AE-407E-98D6-90C846AAC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3143" y="3573971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30" name="U09-DG-006-concept_8-text">
            <a:extLst xmlns:a="http://schemas.openxmlformats.org/drawingml/2006/main">
              <a:ext uri="{FF2B5EF4-FFF2-40B4-BE49-F238E27FC236}">
                <a16:creationId xmlns:a16="http://schemas.microsoft.com/office/drawing/2014/main" id="{4CFA5B52-6EB8-463E-8B5D-B153E696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4593" y="3697796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Difracción</a:t>
            </a:r>
          </a:p>
        </p:txBody>
      </p:sp>
      <p:sp>
        <p:nvSpPr>
          <p:cNvPr id="31" name="caption">
            <a:extLst xmlns:a="http://schemas.openxmlformats.org/drawingml/2006/main">
              <a:ext uri="{FF2B5EF4-FFF2-40B4-BE49-F238E27FC236}">
                <a16:creationId xmlns:a16="http://schemas.microsoft.com/office/drawing/2014/main" id="{A7229FC9-6C22-42DB-9246-E0DAB8AE9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no toda disminución es absorción y no toda llegada sigue la ruta directa. · Producción propia UCASAL · U09-DG-006</a:t>
            </a:r>
          </a:p>
        </p:txBody>
      </p:sp>
      <p:sp>
        <p:nvSpPr>
          <p:cNvPr id="32" name="unit-footer">
            <a:extLst xmlns:a="http://schemas.openxmlformats.org/drawingml/2006/main">
              <a:ext uri="{FF2B5EF4-FFF2-40B4-BE49-F238E27FC236}">
                <a16:creationId xmlns:a16="http://schemas.microsoft.com/office/drawing/2014/main" id="{57114CF4-6637-475D-B0D9-BF20C683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Física Acústica · Unidad 9</a:t>
            </a:r>
          </a:p>
        </p:txBody>
      </p:sp>
      <p:sp>
        <p:nvSpPr>
          <p:cNvPr id="3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15690BC-1606-4420-80CF-ADE4EEB18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46191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op-rail-1">
            <a:extLst xmlns:a="http://schemas.openxmlformats.org/drawingml/2006/main">
              <a:ext uri="{FF2B5EF4-FFF2-40B4-BE49-F238E27FC236}">
                <a16:creationId xmlns:a16="http://schemas.microsoft.com/office/drawing/2014/main" id="{42B80AE7-3159-41F5-9CF9-DBA87493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D9F2E7C0-D8F4-4011-8B6F-3A60E1152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9062704B-FDA8-4F8E-B8A1-E48160723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B8D8ED5-9C1C-40E2-85C5-1F969984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338D93B-5C72-49B5-88CD-D4692D7F9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¿Fuente, trayecto o medición?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61FA207-1B22-4251-8A20-541245561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Modelo organizador · Actividad diagnóstica</a:t>
            </a:r>
          </a:p>
        </p:txBody>
      </p:sp>
      <p:sp>
        <p:nvSpPr>
          <p:cNvPr id="7" name="U09-DG-007-step_1-anchor">
            <a:extLst xmlns:a="http://schemas.openxmlformats.org/drawingml/2006/main">
              <a:ext uri="{FF2B5EF4-FFF2-40B4-BE49-F238E27FC236}">
                <a16:creationId xmlns:a16="http://schemas.microsoft.com/office/drawing/2014/main" id="{2B7BF62D-1B8D-4E0F-BAFD-F3806096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07-step_2-anchor">
            <a:extLst xmlns:a="http://schemas.openxmlformats.org/drawingml/2006/main">
              <a:ext uri="{FF2B5EF4-FFF2-40B4-BE49-F238E27FC236}">
                <a16:creationId xmlns:a16="http://schemas.microsoft.com/office/drawing/2014/main" id="{C6D171D9-E33D-4C0E-BECC-830BE48F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07-step_3-anchor">
            <a:extLst xmlns:a="http://schemas.openxmlformats.org/drawingml/2006/main">
              <a:ext uri="{FF2B5EF4-FFF2-40B4-BE49-F238E27FC236}">
                <a16:creationId xmlns:a16="http://schemas.microsoft.com/office/drawing/2014/main" id="{A5A9D679-8C39-4A4A-B5F3-38C7DB2A1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07-step_4-anchor">
            <a:extLst xmlns:a="http://schemas.openxmlformats.org/drawingml/2006/main">
              <a:ext uri="{FF2B5EF4-FFF2-40B4-BE49-F238E27FC236}">
                <a16:creationId xmlns:a16="http://schemas.microsoft.com/office/drawing/2014/main" id="{9BA9FE96-6209-4A7F-A9EC-C6145A29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07-step_5-anchor">
            <a:extLst xmlns:a="http://schemas.openxmlformats.org/drawingml/2006/main">
              <a:ext uri="{FF2B5EF4-FFF2-40B4-BE49-F238E27FC236}">
                <a16:creationId xmlns:a16="http://schemas.microsoft.com/office/drawing/2014/main" id="{AAA1BD08-49CF-4F96-9EF4-D984247DB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U09-DG-007-step_6-anchor">
            <a:extLst xmlns:a="http://schemas.openxmlformats.org/drawingml/2006/main">
              <a:ext uri="{FF2B5EF4-FFF2-40B4-BE49-F238E27FC236}">
                <a16:creationId xmlns:a16="http://schemas.microsoft.com/office/drawing/2014/main" id="{06EABDF7-7308-4094-900A-72133ADDB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5" name="U09-DG-007-flow_1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46710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6" name="U09-DG-007-flow_2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05993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7" name="U09-DG-007-flow_3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9338310" y="2941321"/>
            <a:ext cx="0" cy="741997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8" name="U09-DG-007-flow_4"/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7059930" y="424958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9" name="U09-DG-007-flow_5"/>
          <p:cNvCxnSpPr>
            <a:stCxn xmlns:a="http://schemas.openxmlformats.org/drawingml/2006/main" id="11" idx="1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H="1">
            <a:off x="3467100" y="424958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8" name="U09-DG-007-visual-alt" descr="Tarjetas arrastrables o revelado; U09-DG-007, candidata para diagram-generation. La composición permite reconocer que antes de calcular, hay que identificar qué parte del sistema cambió.">
            <a:extLst xmlns:a="http://schemas.openxmlformats.org/drawingml/2006/main">
              <a:ext uri="{FF2B5EF4-FFF2-40B4-BE49-F238E27FC236}">
                <a16:creationId xmlns:a16="http://schemas.microsoft.com/office/drawing/2014/main" id="{25FC565C-44C0-4B6C-9025-FB2F60556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9" name="U09-DG-007-step_1-text">
            <a:extLst xmlns:a="http://schemas.openxmlformats.org/drawingml/2006/main">
              <a:ext uri="{FF2B5EF4-FFF2-40B4-BE49-F238E27FC236}">
                <a16:creationId xmlns:a16="http://schemas.microsoft.com/office/drawing/2014/main" id="{BF04CCAA-556D-41BE-B16B-0A878A43D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1 · Orientación del altavoz</a:t>
            </a:r>
          </a:p>
        </p:txBody>
      </p:sp>
      <p:sp>
        <p:nvSpPr>
          <p:cNvPr id="20" name="U09-DG-007-step_2-box">
            <a:extLst xmlns:a="http://schemas.openxmlformats.org/drawingml/2006/main">
              <a:ext uri="{FF2B5EF4-FFF2-40B4-BE49-F238E27FC236}">
                <a16:creationId xmlns:a16="http://schemas.microsoft.com/office/drawing/2014/main" id="{36C052E5-1CED-4CAD-AC25-3BC1BCCBA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1" name="U09-DG-007-step_2-text">
            <a:extLst xmlns:a="http://schemas.openxmlformats.org/drawingml/2006/main">
              <a:ext uri="{FF2B5EF4-FFF2-40B4-BE49-F238E27FC236}">
                <a16:creationId xmlns:a16="http://schemas.microsoft.com/office/drawing/2014/main" id="{2E32DFDF-D418-4E30-91E5-AF3C0FEF5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2 · Distancia</a:t>
            </a:r>
          </a:p>
        </p:txBody>
      </p:sp>
      <p:sp>
        <p:nvSpPr>
          <p:cNvPr id="22" name="U09-DG-007-step_3-box">
            <a:extLst xmlns:a="http://schemas.openxmlformats.org/drawingml/2006/main">
              <a:ext uri="{FF2B5EF4-FFF2-40B4-BE49-F238E27FC236}">
                <a16:creationId xmlns:a16="http://schemas.microsoft.com/office/drawing/2014/main" id="{E2A4BB6C-F761-4CE7-AFCD-337AC030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3" name="U09-DG-007-step_3-text">
            <a:extLst xmlns:a="http://schemas.openxmlformats.org/drawingml/2006/main">
              <a:ext uri="{FF2B5EF4-FFF2-40B4-BE49-F238E27FC236}">
                <a16:creationId xmlns:a16="http://schemas.microsoft.com/office/drawing/2014/main" id="{F506F320-8F9E-4B45-928D-CC5D2252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 · Viento</a:t>
            </a:r>
          </a:p>
        </p:txBody>
      </p:sp>
      <p:sp>
        <p:nvSpPr>
          <p:cNvPr id="24" name="U09-DG-007-step_4-box">
            <a:extLst xmlns:a="http://schemas.openxmlformats.org/drawingml/2006/main">
              <a:ext uri="{FF2B5EF4-FFF2-40B4-BE49-F238E27FC236}">
                <a16:creationId xmlns:a16="http://schemas.microsoft.com/office/drawing/2014/main" id="{7E173FD5-CC39-4C2E-8C85-645265F0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5" name="U09-DG-007-step_4-text">
            <a:extLst xmlns:a="http://schemas.openxmlformats.org/drawingml/2006/main">
              <a:ext uri="{FF2B5EF4-FFF2-40B4-BE49-F238E27FC236}">
                <a16:creationId xmlns:a16="http://schemas.microsoft.com/office/drawing/2014/main" id="{6BEFDFAE-E1A5-4CD1-AC72-9E49F5D3C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4 · Puerta</a:t>
            </a:r>
          </a:p>
        </p:txBody>
      </p:sp>
      <p:sp>
        <p:nvSpPr>
          <p:cNvPr id="26" name="U09-DG-007-step_5-box">
            <a:extLst xmlns:a="http://schemas.openxmlformats.org/drawingml/2006/main">
              <a:ext uri="{FF2B5EF4-FFF2-40B4-BE49-F238E27FC236}">
                <a16:creationId xmlns:a16="http://schemas.microsoft.com/office/drawing/2014/main" id="{2E9A6D6B-9E0B-476D-9B07-369C5C60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7" name="U09-DG-007-step_5-text">
            <a:extLst xmlns:a="http://schemas.openxmlformats.org/drawingml/2006/main">
              <a:ext uri="{FF2B5EF4-FFF2-40B4-BE49-F238E27FC236}">
                <a16:creationId xmlns:a16="http://schemas.microsoft.com/office/drawing/2014/main" id="{2714D832-C0FD-4779-B353-8F36A8042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5 · Micrófono</a:t>
            </a:r>
          </a:p>
        </p:txBody>
      </p:sp>
      <p:sp>
        <p:nvSpPr>
          <p:cNvPr id="28" name="U09-DG-007-step_6-box">
            <a:extLst xmlns:a="http://schemas.openxmlformats.org/drawingml/2006/main">
              <a:ext uri="{FF2B5EF4-FFF2-40B4-BE49-F238E27FC236}">
                <a16:creationId xmlns:a16="http://schemas.microsoft.com/office/drawing/2014/main" id="{A24F2039-B2D3-4B1A-ACFE-E2A39533B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9" name="U09-DG-007-step_6-text">
            <a:extLst xmlns:a="http://schemas.openxmlformats.org/drawingml/2006/main">
              <a:ext uri="{FF2B5EF4-FFF2-40B4-BE49-F238E27FC236}">
                <a16:creationId xmlns:a16="http://schemas.microsoft.com/office/drawing/2014/main" id="{D8E13DF2-70DB-4473-9F90-1B06F389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6 · Escala de lectura</a:t>
            </a:r>
          </a:p>
        </p:txBody>
      </p:sp>
      <p:sp>
        <p:nvSpPr>
          <p:cNvPr id="30" name="caption">
            <a:extLst xmlns:a="http://schemas.openxmlformats.org/drawingml/2006/main">
              <a:ext uri="{FF2B5EF4-FFF2-40B4-BE49-F238E27FC236}">
                <a16:creationId xmlns:a16="http://schemas.microsoft.com/office/drawing/2014/main" id="{D28908F0-0E58-4AE2-ABEE-A9DD21E6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antes de calcular, hay que identificar qué parte del sistema cambió. · Producción propia UCASAL · U09-DG-007</a:t>
            </a:r>
          </a:p>
        </p:txBody>
      </p:sp>
      <p:sp>
        <p:nvSpPr>
          <p:cNvPr id="31" name="unit-footer">
            <a:extLst xmlns:a="http://schemas.openxmlformats.org/drawingml/2006/main">
              <a:ext uri="{FF2B5EF4-FFF2-40B4-BE49-F238E27FC236}">
                <a16:creationId xmlns:a16="http://schemas.microsoft.com/office/drawing/2014/main" id="{5659648B-B3E1-4EF7-A250-7759DEC1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Física Acústica · Unidad 9</a:t>
            </a:r>
          </a:p>
        </p:txBody>
      </p:sp>
      <p:sp>
        <p:nvSpPr>
          <p:cNvPr id="3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9B19642-8379-49D8-924F-55CF72F3F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-rail-1">
            <a:extLst xmlns:a="http://schemas.openxmlformats.org/drawingml/2006/main">
              <a:ext uri="{FF2B5EF4-FFF2-40B4-BE49-F238E27FC236}">
                <a16:creationId xmlns:a16="http://schemas.microsoft.com/office/drawing/2014/main" id="{D7BC088A-3E73-4186-B928-4A069899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B5F5AFE1-4062-4D26-9FF8-7046B12F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B86BB0C2-5301-40AF-85A0-A3217022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2F33F285-8DBB-40FB-B36E-0C86AFE8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2DB3DE9-6AF8-4727-AEB3-78A119A5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Antes de una fórmula: cuatro preguntas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473D479-CD4F-4DD0-ADE4-B6CAF955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Modelo organizador · Recapitulación</a:t>
            </a:r>
          </a:p>
        </p:txBody>
      </p:sp>
      <p:sp>
        <p:nvSpPr>
          <p:cNvPr id="7" name="U09-DG-008-concept_1-anchor">
            <a:extLst xmlns:a="http://schemas.openxmlformats.org/drawingml/2006/main">
              <a:ext uri="{FF2B5EF4-FFF2-40B4-BE49-F238E27FC236}">
                <a16:creationId xmlns:a16="http://schemas.microsoft.com/office/drawing/2014/main" id="{56CE9BF5-93EA-4385-8A53-9A8A16D6C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4784598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08-concept_2-anchor">
            <a:extLst xmlns:a="http://schemas.openxmlformats.org/drawingml/2006/main">
              <a:ext uri="{FF2B5EF4-FFF2-40B4-BE49-F238E27FC236}">
                <a16:creationId xmlns:a16="http://schemas.microsoft.com/office/drawing/2014/main" id="{07244B99-9B3E-4C62-919B-5625D516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1840040"/>
            <a:ext cx="4784598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08-concept_3-anchor">
            <a:extLst xmlns:a="http://schemas.openxmlformats.org/drawingml/2006/main">
              <a:ext uri="{FF2B5EF4-FFF2-40B4-BE49-F238E27FC236}">
                <a16:creationId xmlns:a16="http://schemas.microsoft.com/office/drawing/2014/main" id="{75F00AD7-5838-464B-BAE1-9561E7903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4784598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08-concept_4-anchor">
            <a:extLst xmlns:a="http://schemas.openxmlformats.org/drawingml/2006/main">
              <a:ext uri="{FF2B5EF4-FFF2-40B4-BE49-F238E27FC236}">
                <a16:creationId xmlns:a16="http://schemas.microsoft.com/office/drawing/2014/main" id="{7032B23D-5BC0-4C33-9721-CED586E1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3573971"/>
            <a:ext cx="4784598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08-visual-alt" descr="Cuatro bloques conectados; U09-DG-008, candidata para diagram-generation. La composición permite reconocer que identificar fuente, trayecto, receptor y condiciones evita aplicar reglas fuera de contexto.">
            <a:extLst xmlns:a="http://schemas.openxmlformats.org/drawingml/2006/main">
              <a:ext uri="{FF2B5EF4-FFF2-40B4-BE49-F238E27FC236}">
                <a16:creationId xmlns:a16="http://schemas.microsoft.com/office/drawing/2014/main" id="{13FEC74B-3200-4DDB-AB16-9B8C9F3D3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4784598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2" name="U09-DG-008-concept_1-text">
            <a:extLst xmlns:a="http://schemas.openxmlformats.org/drawingml/2006/main">
              <a:ext uri="{FF2B5EF4-FFF2-40B4-BE49-F238E27FC236}">
                <a16:creationId xmlns:a16="http://schemas.microsoft.com/office/drawing/2014/main" id="{88795C90-4659-41BD-93AE-FF43EF52C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63865"/>
            <a:ext cx="4441698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Qué cambia</a:t>
            </a:r>
          </a:p>
        </p:txBody>
      </p:sp>
      <p:sp>
        <p:nvSpPr>
          <p:cNvPr id="13" name="U09-DG-008-concept_2-box">
            <a:extLst xmlns:a="http://schemas.openxmlformats.org/drawingml/2006/main">
              <a:ext uri="{FF2B5EF4-FFF2-40B4-BE49-F238E27FC236}">
                <a16:creationId xmlns:a16="http://schemas.microsoft.com/office/drawing/2014/main" id="{114A8FCC-0C5E-4597-9F53-2D0D5F21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1840040"/>
            <a:ext cx="4784598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4" name="U09-DG-008-concept_2-text">
            <a:extLst xmlns:a="http://schemas.openxmlformats.org/drawingml/2006/main">
              <a:ext uri="{FF2B5EF4-FFF2-40B4-BE49-F238E27FC236}">
                <a16:creationId xmlns:a16="http://schemas.microsoft.com/office/drawing/2014/main" id="{29A4EBC0-8630-4742-A936-2DC04AC1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9612" y="1963865"/>
            <a:ext cx="4441698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qué se conserva</a:t>
            </a:r>
          </a:p>
        </p:txBody>
      </p:sp>
      <p:sp>
        <p:nvSpPr>
          <p:cNvPr id="15" name="U09-DG-008-concept_3-box">
            <a:extLst xmlns:a="http://schemas.openxmlformats.org/drawingml/2006/main">
              <a:ext uri="{FF2B5EF4-FFF2-40B4-BE49-F238E27FC236}">
                <a16:creationId xmlns:a16="http://schemas.microsoft.com/office/drawing/2014/main" id="{DB0C69F8-4BD1-46E0-805C-41E7DA35B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4784598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6" name="U09-DG-008-concept_3-text">
            <a:extLst xmlns:a="http://schemas.openxmlformats.org/drawingml/2006/main">
              <a:ext uri="{FF2B5EF4-FFF2-40B4-BE49-F238E27FC236}">
                <a16:creationId xmlns:a16="http://schemas.microsoft.com/office/drawing/2014/main" id="{4E6A30E4-1917-4E12-8ED4-653C343E2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7796"/>
            <a:ext cx="4441698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qué se estima</a:t>
            </a:r>
          </a:p>
        </p:txBody>
      </p:sp>
      <p:sp>
        <p:nvSpPr>
          <p:cNvPr id="17" name="U09-DG-008-concept_4-box">
            <a:extLst xmlns:a="http://schemas.openxmlformats.org/drawingml/2006/main">
              <a:ext uri="{FF2B5EF4-FFF2-40B4-BE49-F238E27FC236}">
                <a16:creationId xmlns:a16="http://schemas.microsoft.com/office/drawing/2014/main" id="{418A71A6-6FF1-44D3-AFF5-463687684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3573971"/>
            <a:ext cx="4784598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18" name="U09-DG-008-concept_4-text">
            <a:extLst xmlns:a="http://schemas.openxmlformats.org/drawingml/2006/main">
              <a:ext uri="{FF2B5EF4-FFF2-40B4-BE49-F238E27FC236}">
                <a16:creationId xmlns:a16="http://schemas.microsoft.com/office/drawing/2014/main" id="{6A30CF61-84B3-4B08-9310-6ABA523E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9612" y="3697796"/>
            <a:ext cx="4441698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qué se mide</a:t>
            </a:r>
          </a:p>
        </p:txBody>
      </p:sp>
      <p:sp>
        <p:nvSpPr>
          <p:cNvPr id="19" name="caption">
            <a:extLst xmlns:a="http://schemas.openxmlformats.org/drawingml/2006/main">
              <a:ext uri="{FF2B5EF4-FFF2-40B4-BE49-F238E27FC236}">
                <a16:creationId xmlns:a16="http://schemas.microsoft.com/office/drawing/2014/main" id="{DE6132B2-B244-4B21-B62B-1E2564A7F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identificar fuente, trayecto, receptor y condiciones evita aplicar reglas fuera de contexto. · Producción propia UCASAL · U09-DG-008</a:t>
            </a:r>
          </a:p>
        </p:txBody>
      </p:sp>
      <p:sp>
        <p:nvSpPr>
          <p:cNvPr id="20" name="unit-footer">
            <a:extLst xmlns:a="http://schemas.openxmlformats.org/drawingml/2006/main">
              <a:ext uri="{FF2B5EF4-FFF2-40B4-BE49-F238E27FC236}">
                <a16:creationId xmlns:a16="http://schemas.microsoft.com/office/drawing/2014/main" id="{440A8412-EABA-46A1-A8CD-34BC3529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Física Acústica · Unidad 9</a:t>
            </a:r>
          </a:p>
        </p:txBody>
      </p:sp>
      <p:sp>
        <p:nvSpPr>
          <p:cNvPr id="2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303033B-4484-4858-AA24-564D71DA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ark-eyebrow">
            <a:extLst xmlns:a="http://schemas.openxmlformats.org/drawingml/2006/main">
              <a:ext uri="{FF2B5EF4-FFF2-40B4-BE49-F238E27FC236}">
                <a16:creationId xmlns:a16="http://schemas.microsoft.com/office/drawing/2014/main" id="{0EB0A4B9-601C-4081-9C51-1B8C7FE4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UNIDAD 9 · RUTA CENTRAL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66AB17D2-12C6-477E-8C12-4E32FD10E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47875"/>
            <a:ext cx="1057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¿Qué explica el modelo ideal?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C4F7B369-87D5-4D74-BB3A-2A7A1BAC0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571875"/>
            <a:ext cx="885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rPr>
              <a:t>Distancia y dirección son efectos distintos y condicionados.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6FEA01A-26D1-45A4-B911-22993389F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op-rail-1">
            <a:extLst xmlns:a="http://schemas.openxmlformats.org/drawingml/2006/main">
              <a:ext uri="{FF2B5EF4-FFF2-40B4-BE49-F238E27FC236}">
                <a16:creationId xmlns:a16="http://schemas.microsoft.com/office/drawing/2014/main" id="{EBEF7889-06A1-4014-88EF-2C95D37D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FE0BC326-5117-41B4-A2C5-4F72E56D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2F539F89-8B58-4198-9DBD-E11154715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3E79B0F7-AF90-4CB7-A8EB-9B944CAD3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80C54D2-94CB-4BA4-A98F-9D3171D64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misma potencia ocupa más superficie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5B2FB17-9C4E-4F6B-8292-AF6631E6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Distancia y directividad · Recordatorio visual</a:t>
            </a:r>
          </a:p>
        </p:txBody>
      </p:sp>
      <p:sp>
        <p:nvSpPr>
          <p:cNvPr id="7" name="U09-DG-009-source-anchor">
            <a:extLst xmlns:a="http://schemas.openxmlformats.org/drawingml/2006/main">
              <a:ext uri="{FF2B5EF4-FFF2-40B4-BE49-F238E27FC236}">
                <a16:creationId xmlns:a16="http://schemas.microsoft.com/office/drawing/2014/main" id="{DD23BC8E-C85B-430E-B372-7814DF2F7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2628900"/>
            <a:ext cx="227838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09-path_upper-anchor">
            <a:extLst xmlns:a="http://schemas.openxmlformats.org/drawingml/2006/main">
              <a:ext uri="{FF2B5EF4-FFF2-40B4-BE49-F238E27FC236}">
                <a16:creationId xmlns:a16="http://schemas.microsoft.com/office/drawing/2014/main" id="{F56CE570-F5BC-49C1-A02D-E158CF2F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1691640"/>
            <a:ext cx="2804160" cy="976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09-path_lower-anchor">
            <a:extLst xmlns:a="http://schemas.openxmlformats.org/drawingml/2006/main">
              <a:ext uri="{FF2B5EF4-FFF2-40B4-BE49-F238E27FC236}">
                <a16:creationId xmlns:a16="http://schemas.microsoft.com/office/drawing/2014/main" id="{16B08304-E607-49EC-AC30-7F0B48422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3644265"/>
            <a:ext cx="2804160" cy="976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09-receiver-anchor">
            <a:extLst xmlns:a="http://schemas.openxmlformats.org/drawingml/2006/main">
              <a:ext uri="{FF2B5EF4-FFF2-40B4-BE49-F238E27FC236}">
                <a16:creationId xmlns:a16="http://schemas.microsoft.com/office/drawing/2014/main" id="{0E0B3167-62FF-4160-851E-C715FB19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195" y="2628900"/>
            <a:ext cx="227838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09-condition-anchor">
            <a:extLst xmlns:a="http://schemas.openxmlformats.org/drawingml/2006/main">
              <a:ext uri="{FF2B5EF4-FFF2-40B4-BE49-F238E27FC236}">
                <a16:creationId xmlns:a16="http://schemas.microsoft.com/office/drawing/2014/main" id="{1D78F7C8-8D34-4C07-90DD-107A803CD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4815840"/>
            <a:ext cx="2804160" cy="5857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0" name="U09-DG-009-route_1a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072765" y="2179797"/>
            <a:ext cx="1183005" cy="9958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1" name="U09-DG-009-route_1b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059930" y="2179797"/>
            <a:ext cx="1358265" cy="9958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2" name="U09-DG-009-route_2a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072765" y="3175635"/>
            <a:ext cx="1183005" cy="95678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3" name="U09-DG-009-route_2b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7059930" y="3175635"/>
            <a:ext cx="1358265" cy="95678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U09-DG-009-visual-alt" descr="Reconstrucción de figura U4; U09-DG-009, candidata para diagram-generation. La composición permite reconocer que en campo aproximadamente libre, la energía se distribuye sobre áreas crecientes.">
            <a:extLst xmlns:a="http://schemas.openxmlformats.org/drawingml/2006/main">
              <a:ext uri="{FF2B5EF4-FFF2-40B4-BE49-F238E27FC236}">
                <a16:creationId xmlns:a16="http://schemas.microsoft.com/office/drawing/2014/main" id="{4703BE1E-F550-419D-BE21-5274BAB1C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2628900"/>
            <a:ext cx="227838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7" name="U09-DG-009-source-text">
            <a:extLst xmlns:a="http://schemas.openxmlformats.org/drawingml/2006/main">
              <a:ext uri="{FF2B5EF4-FFF2-40B4-BE49-F238E27FC236}">
                <a16:creationId xmlns:a16="http://schemas.microsoft.com/office/drawing/2014/main" id="{E2954E30-7C74-4A33-9486-142BD91A8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" y="2752725"/>
            <a:ext cx="193548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Fuente puntual</a:t>
            </a:r>
          </a:p>
        </p:txBody>
      </p:sp>
      <p:sp>
        <p:nvSpPr>
          <p:cNvPr id="18" name="U09-DG-009-path_upper-box">
            <a:extLst xmlns:a="http://schemas.openxmlformats.org/drawingml/2006/main">
              <a:ext uri="{FF2B5EF4-FFF2-40B4-BE49-F238E27FC236}">
                <a16:creationId xmlns:a16="http://schemas.microsoft.com/office/drawing/2014/main" id="{5336A565-C393-4A85-9A82-8EEAD05A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1691640"/>
            <a:ext cx="2804160" cy="976313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9" name="U09-DG-009-path_upper-text">
            <a:extLst xmlns:a="http://schemas.openxmlformats.org/drawingml/2006/main">
              <a:ext uri="{FF2B5EF4-FFF2-40B4-BE49-F238E27FC236}">
                <a16:creationId xmlns:a16="http://schemas.microsoft.com/office/drawing/2014/main" id="{12CF925F-B1DF-42A5-B8A0-350E4F670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220" y="1815465"/>
            <a:ext cx="2461260" cy="728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Frentes esféricos</a:t>
            </a:r>
          </a:p>
        </p:txBody>
      </p:sp>
      <p:sp>
        <p:nvSpPr>
          <p:cNvPr id="20" name="U09-DG-009-path_lower-box">
            <a:extLst xmlns:a="http://schemas.openxmlformats.org/drawingml/2006/main">
              <a:ext uri="{FF2B5EF4-FFF2-40B4-BE49-F238E27FC236}">
                <a16:creationId xmlns:a16="http://schemas.microsoft.com/office/drawing/2014/main" id="{6A52324E-4F10-4DA6-818D-A3197A127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3644265"/>
            <a:ext cx="2804160" cy="976313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1" name="U09-DG-009-path_lower-text">
            <a:extLst xmlns:a="http://schemas.openxmlformats.org/drawingml/2006/main">
              <a:ext uri="{FF2B5EF4-FFF2-40B4-BE49-F238E27FC236}">
                <a16:creationId xmlns:a16="http://schemas.microsoft.com/office/drawing/2014/main" id="{02E3D721-8D21-40F3-8FC8-CE8062245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220" y="3768090"/>
            <a:ext cx="2461260" cy="728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Radio r</a:t>
            </a:r>
          </a:p>
        </p:txBody>
      </p:sp>
      <p:sp>
        <p:nvSpPr>
          <p:cNvPr id="22" name="U09-DG-009-receiver-box">
            <a:extLst xmlns:a="http://schemas.openxmlformats.org/drawingml/2006/main">
              <a:ext uri="{FF2B5EF4-FFF2-40B4-BE49-F238E27FC236}">
                <a16:creationId xmlns:a16="http://schemas.microsoft.com/office/drawing/2014/main" id="{BB3AA882-04E5-45D8-81F9-24081DA5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195" y="2628900"/>
            <a:ext cx="227838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3" name="U09-DG-009-receiver-text">
            <a:extLst xmlns:a="http://schemas.openxmlformats.org/drawingml/2006/main">
              <a:ext uri="{FF2B5EF4-FFF2-40B4-BE49-F238E27FC236}">
                <a16:creationId xmlns:a16="http://schemas.microsoft.com/office/drawing/2014/main" id="{A6EBECB7-4E8E-46C4-8977-710C2E69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645" y="2752725"/>
            <a:ext cx="193548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Área 4πr²</a:t>
            </a:r>
          </a:p>
        </p:txBody>
      </p:sp>
      <p:sp>
        <p:nvSpPr>
          <p:cNvPr id="24" name="U09-DG-009-condition-box">
            <a:extLst xmlns:a="http://schemas.openxmlformats.org/drawingml/2006/main">
              <a:ext uri="{FF2B5EF4-FFF2-40B4-BE49-F238E27FC236}">
                <a16:creationId xmlns:a16="http://schemas.microsoft.com/office/drawing/2014/main" id="{7DF8B654-ABBA-462F-98E3-2EB5D91FE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4815840"/>
            <a:ext cx="2804160" cy="585787"/>
          </a:xfrm>
          <a:prstGeom xmlns:a="http://schemas.openxmlformats.org/drawingml/2006/main" prst="roundRect">
            <a:avLst>
              <a:gd name="adj" fmla="val 11382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5" name="U09-DG-009-condition-text">
            <a:extLst xmlns:a="http://schemas.openxmlformats.org/drawingml/2006/main">
              <a:ext uri="{FF2B5EF4-FFF2-40B4-BE49-F238E27FC236}">
                <a16:creationId xmlns:a16="http://schemas.microsoft.com/office/drawing/2014/main" id="{75B2071E-4BC3-4173-B976-D75534DC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220" y="4939665"/>
            <a:ext cx="2461260" cy="3381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Intensidad y presión</a:t>
            </a:r>
          </a:p>
        </p:txBody>
      </p:sp>
      <p:sp>
        <p:nvSpPr>
          <p:cNvPr id="26" name="caption">
            <a:extLst xmlns:a="http://schemas.openxmlformats.org/drawingml/2006/main">
              <a:ext uri="{FF2B5EF4-FFF2-40B4-BE49-F238E27FC236}">
                <a16:creationId xmlns:a16="http://schemas.microsoft.com/office/drawing/2014/main" id="{C3AF3E68-798B-46F2-97A6-CE176C22E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en campo aproximadamente libre, la energía se distribuye sobre áreas crecientes. · Producción propia UCASAL · U09-DG-009</a:t>
            </a:r>
          </a:p>
        </p:txBody>
      </p:sp>
      <p:sp>
        <p:nvSpPr>
          <p:cNvPr id="27" name="unit-footer">
            <a:extLst xmlns:a="http://schemas.openxmlformats.org/drawingml/2006/main">
              <a:ext uri="{FF2B5EF4-FFF2-40B4-BE49-F238E27FC236}">
                <a16:creationId xmlns:a16="http://schemas.microsoft.com/office/drawing/2014/main" id="{282A19BA-48EB-4892-9FE2-5448FDCC3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Física Acústica · Unidad 9</a:t>
            </a:r>
          </a:p>
        </p:txBody>
      </p:sp>
      <p:sp>
        <p:nvSpPr>
          <p:cNvPr id="2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5D42EBA-DB37-4505-B600-A50953A8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op-rail-1">
            <a:extLst xmlns:a="http://schemas.openxmlformats.org/drawingml/2006/main">
              <a:ext uri="{FF2B5EF4-FFF2-40B4-BE49-F238E27FC236}">
                <a16:creationId xmlns:a16="http://schemas.microsoft.com/office/drawing/2014/main" id="{AB1A1429-A44B-476E-8333-39674BDCE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781BE9F8-8255-4563-89B9-964FB3BB7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3211672A-3BB5-407F-A227-36D828B6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11A9F95B-B7D7-426E-9360-9300F4CF6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984DF5C-5ED9-4BF5-A7C3-E68CF77B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Cambiar la distancia cambia Lₚ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BAC6106-3500-49B2-983F-37CDEFC51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Distancia y directividad · Ecuación anotada</a:t>
            </a:r>
          </a:p>
        </p:txBody>
      </p:sp>
      <p:sp>
        <p:nvSpPr>
          <p:cNvPr id="7" name="U09-DG-010-equation-anchor">
            <a:extLst xmlns:a="http://schemas.openxmlformats.org/drawingml/2006/main">
              <a:ext uri="{FF2B5EF4-FFF2-40B4-BE49-F238E27FC236}">
                <a16:creationId xmlns:a16="http://schemas.microsoft.com/office/drawing/2014/main" id="{7B3CEBFD-0103-4D50-8F24-FD1A09C93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9470" y="2707005"/>
            <a:ext cx="4732020" cy="1015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10-callout_1-anchor">
            <a:extLst xmlns:a="http://schemas.openxmlformats.org/drawingml/2006/main">
              <a:ext uri="{FF2B5EF4-FFF2-40B4-BE49-F238E27FC236}">
                <a16:creationId xmlns:a16="http://schemas.microsoft.com/office/drawing/2014/main" id="{C5EAB872-09E3-4C04-AE8D-1BE7BF67E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2588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10-callout_2-anchor">
            <a:extLst xmlns:a="http://schemas.openxmlformats.org/drawingml/2006/main">
              <a:ext uri="{FF2B5EF4-FFF2-40B4-BE49-F238E27FC236}">
                <a16:creationId xmlns:a16="http://schemas.microsoft.com/office/drawing/2014/main" id="{CC5529FA-0336-412B-8E20-AE0B96D4C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1652588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10-callout_3-anchor">
            <a:extLst xmlns:a="http://schemas.openxmlformats.org/drawingml/2006/main">
              <a:ext uri="{FF2B5EF4-FFF2-40B4-BE49-F238E27FC236}">
                <a16:creationId xmlns:a16="http://schemas.microsoft.com/office/drawing/2014/main" id="{A49E20BC-FAC2-4E3C-9527-A068B4A0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10-callout_4-anchor">
            <a:extLst xmlns:a="http://schemas.openxmlformats.org/drawingml/2006/main">
              <a:ext uri="{FF2B5EF4-FFF2-40B4-BE49-F238E27FC236}">
                <a16:creationId xmlns:a16="http://schemas.microsoft.com/office/drawing/2014/main" id="{A70E6726-78A7-461A-A7A8-0C993654C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4191000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0" name="U09-DG-010-leader_1"/>
          <p:cNvCxnSpPr>
            <a:stCxn xmlns:a="http://schemas.openxmlformats.org/drawingml/2006/main" id="8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28950" y="2101692"/>
            <a:ext cx="350520" cy="111299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1" name="U09-DG-010-leader_2"/>
          <p:cNvCxnSpPr>
            <a:stCxn xmlns:a="http://schemas.openxmlformats.org/drawingml/2006/main" id="9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8111490" y="2101692"/>
            <a:ext cx="350520" cy="111299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2" name="U09-DG-010-leader_3"/>
          <p:cNvCxnSpPr>
            <a:stCxn xmlns:a="http://schemas.openxmlformats.org/drawingml/2006/main" id="10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028950" y="3214688"/>
            <a:ext cx="350520" cy="142541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3" name="U09-DG-010-leader_4"/>
          <p:cNvCxnSpPr>
            <a:stCxn xmlns:a="http://schemas.openxmlformats.org/drawingml/2006/main" id="11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 flipV="1">
            <a:off x="8111490" y="3214688"/>
            <a:ext cx="350520" cy="142541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U09-DG-010-visual-alt" descr="Ecuación central U09-DG-010 y mini curva U09-CH-001; candidata para diagram-generation. La composición permite reconocer que la razón de distancias, no la distancia aislada, determina el cambio ideal de nivel.">
            <a:extLst xmlns:a="http://schemas.openxmlformats.org/drawingml/2006/main">
              <a:ext uri="{FF2B5EF4-FFF2-40B4-BE49-F238E27FC236}">
                <a16:creationId xmlns:a16="http://schemas.microsoft.com/office/drawing/2014/main" id="{8D5B19BE-3DFA-4EC9-ABBB-7387A5799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9470" y="2707005"/>
            <a:ext cx="4732020" cy="1015365"/>
          </a:xfrm>
          <a:prstGeom xmlns:a="http://schemas.openxmlformats.org/drawingml/2006/main" prst="roundRect">
            <a:avLst>
              <a:gd name="adj" fmla="val 65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7" name="U09-DG-010-equation-text">
            <a:extLst xmlns:a="http://schemas.openxmlformats.org/drawingml/2006/main">
              <a:ext uri="{FF2B5EF4-FFF2-40B4-BE49-F238E27FC236}">
                <a16:creationId xmlns:a16="http://schemas.microsoft.com/office/drawing/2014/main" id="{9E67274F-3112-475D-B34E-44A0C4D8D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830830"/>
            <a:ext cx="4389120" cy="767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91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691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L_p2=L_p1−20 log10(r₂/r₁)</a:t>
            </a:r>
          </a:p>
        </p:txBody>
      </p:sp>
      <p:sp>
        <p:nvSpPr>
          <p:cNvPr id="18" name="U09-DG-010-callout_1-box">
            <a:extLst xmlns:a="http://schemas.openxmlformats.org/drawingml/2006/main">
              <a:ext uri="{FF2B5EF4-FFF2-40B4-BE49-F238E27FC236}">
                <a16:creationId xmlns:a16="http://schemas.microsoft.com/office/drawing/2014/main" id="{E81F468D-6834-4611-A960-66FEC1CC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2588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9" name="U09-DG-010-callout_1-text">
            <a:extLst xmlns:a="http://schemas.openxmlformats.org/drawingml/2006/main">
              <a:ext uri="{FF2B5EF4-FFF2-40B4-BE49-F238E27FC236}">
                <a16:creationId xmlns:a16="http://schemas.microsoft.com/office/drawing/2014/main" id="{0F0FA5F6-5826-497C-AFF7-8A4115939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76413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Lₚ₁ y Lₚ₂: niveles</a:t>
            </a:r>
          </a:p>
        </p:txBody>
      </p:sp>
      <p:sp>
        <p:nvSpPr>
          <p:cNvPr id="20" name="U09-DG-010-callout_2-box">
            <a:extLst xmlns:a="http://schemas.openxmlformats.org/drawingml/2006/main">
              <a:ext uri="{FF2B5EF4-FFF2-40B4-BE49-F238E27FC236}">
                <a16:creationId xmlns:a16="http://schemas.microsoft.com/office/drawing/2014/main" id="{BB423E12-7111-4CCC-9E8B-92E856B83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1652588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1" name="U09-DG-010-callout_2-text">
            <a:extLst xmlns:a="http://schemas.openxmlformats.org/drawingml/2006/main">
              <a:ext uri="{FF2B5EF4-FFF2-40B4-BE49-F238E27FC236}">
                <a16:creationId xmlns:a16="http://schemas.microsoft.com/office/drawing/2014/main" id="{D0C621AB-86C5-4080-A5AA-4E1DFA7B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3460" y="1776413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r₁ y r₂: distancias</a:t>
            </a:r>
          </a:p>
        </p:txBody>
      </p:sp>
      <p:sp>
        <p:nvSpPr>
          <p:cNvPr id="22" name="U09-DG-010-callout_3-box">
            <a:extLst xmlns:a="http://schemas.openxmlformats.org/drawingml/2006/main">
              <a:ext uri="{FF2B5EF4-FFF2-40B4-BE49-F238E27FC236}">
                <a16:creationId xmlns:a16="http://schemas.microsoft.com/office/drawing/2014/main" id="{FD48B108-B6A8-4104-8AE7-54102627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3" name="U09-DG-010-callout_3-text">
            <a:extLst xmlns:a="http://schemas.openxmlformats.org/drawingml/2006/main">
              <a:ext uri="{FF2B5EF4-FFF2-40B4-BE49-F238E27FC236}">
                <a16:creationId xmlns:a16="http://schemas.microsoft.com/office/drawing/2014/main" id="{79B31DC7-5302-460F-B5AA-0734FFA9A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14825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Signo: bajar al alejarse</a:t>
            </a:r>
          </a:p>
        </p:txBody>
      </p:sp>
      <p:sp>
        <p:nvSpPr>
          <p:cNvPr id="24" name="U09-DG-010-callout_4-box">
            <a:extLst xmlns:a="http://schemas.openxmlformats.org/drawingml/2006/main">
              <a:ext uri="{FF2B5EF4-FFF2-40B4-BE49-F238E27FC236}">
                <a16:creationId xmlns:a16="http://schemas.microsoft.com/office/drawing/2014/main" id="{77BAAAF1-779C-4EB8-9CBD-B1D417C9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4191000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5" name="U09-DG-010-callout_4-text">
            <a:extLst xmlns:a="http://schemas.openxmlformats.org/drawingml/2006/main">
              <a:ext uri="{FF2B5EF4-FFF2-40B4-BE49-F238E27FC236}">
                <a16:creationId xmlns:a16="http://schemas.microsoft.com/office/drawing/2014/main" id="{94A6895F-2B31-47D7-80E3-617FD0F9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3460" y="4314825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Campo libre y lejano</a:t>
            </a:r>
          </a:p>
        </p:txBody>
      </p:sp>
      <p:sp>
        <p:nvSpPr>
          <p:cNvPr id="26" name="caption">
            <a:extLst xmlns:a="http://schemas.openxmlformats.org/drawingml/2006/main">
              <a:ext uri="{FF2B5EF4-FFF2-40B4-BE49-F238E27FC236}">
                <a16:creationId xmlns:a16="http://schemas.microsoft.com/office/drawing/2014/main" id="{18B56145-5F11-41B0-90EE-761269693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la razón de distancias, no la distancia aislada, determina el cambio ideal de nivel. · Producción propia UCASAL · U09-DG-010</a:t>
            </a:r>
          </a:p>
        </p:txBody>
      </p:sp>
      <p:sp>
        <p:nvSpPr>
          <p:cNvPr id="27" name="unit-footer">
            <a:extLst xmlns:a="http://schemas.openxmlformats.org/drawingml/2006/main">
              <a:ext uri="{FF2B5EF4-FFF2-40B4-BE49-F238E27FC236}">
                <a16:creationId xmlns:a16="http://schemas.microsoft.com/office/drawing/2014/main" id="{477C698C-C52B-4DB1-89EB-97A536874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Física Acústica · Unidad 9</a:t>
            </a:r>
          </a:p>
        </p:txBody>
      </p:sp>
      <p:sp>
        <p:nvSpPr>
          <p:cNvPr id="2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6254D29-9994-4988-8944-33F2710F3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op-rail-1">
            <a:extLst xmlns:a="http://schemas.openxmlformats.org/drawingml/2006/main">
              <a:ext uri="{FF2B5EF4-FFF2-40B4-BE49-F238E27FC236}">
                <a16:creationId xmlns:a16="http://schemas.microsoft.com/office/drawing/2014/main" id="{5186302F-CAF3-4C6F-A618-7A0E420E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851E6149-0D60-405D-9705-9E74FDE3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57A9A1E1-E1C4-4EF0-8BAA-271A20DD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EF8A6A1-0ACB-40ED-8C19-EF71316A3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FFC0427-AFAB-47D6-B9E1-5B86B65C5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 0,50 m a 1,00 m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42AA146-409D-4DE4-9422-0554C9F0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Distancia y directividad · Ejemplo resuelto</a:t>
            </a:r>
          </a:p>
        </p:txBody>
      </p:sp>
      <p:sp>
        <p:nvSpPr>
          <p:cNvPr id="7" name="U09-DG-011-source-anchor">
            <a:extLst xmlns:a="http://schemas.openxmlformats.org/drawingml/2006/main">
              <a:ext uri="{FF2B5EF4-FFF2-40B4-BE49-F238E27FC236}">
                <a16:creationId xmlns:a16="http://schemas.microsoft.com/office/drawing/2014/main" id="{D1B80EA0-C09C-449C-9ADD-9C55FF5A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2628900"/>
            <a:ext cx="227838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11-path_upper-anchor">
            <a:extLst xmlns:a="http://schemas.openxmlformats.org/drawingml/2006/main">
              <a:ext uri="{FF2B5EF4-FFF2-40B4-BE49-F238E27FC236}">
                <a16:creationId xmlns:a16="http://schemas.microsoft.com/office/drawing/2014/main" id="{EE91F151-0E75-405D-85A5-C83AA24D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1691640"/>
            <a:ext cx="2804160" cy="976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11-path_lower-anchor">
            <a:extLst xmlns:a="http://schemas.openxmlformats.org/drawingml/2006/main">
              <a:ext uri="{FF2B5EF4-FFF2-40B4-BE49-F238E27FC236}">
                <a16:creationId xmlns:a16="http://schemas.microsoft.com/office/drawing/2014/main" id="{88090328-5CC8-4B0A-BB82-4BF9D462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3644265"/>
            <a:ext cx="2804160" cy="976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11-receiver-anchor">
            <a:extLst xmlns:a="http://schemas.openxmlformats.org/drawingml/2006/main">
              <a:ext uri="{FF2B5EF4-FFF2-40B4-BE49-F238E27FC236}">
                <a16:creationId xmlns:a16="http://schemas.microsoft.com/office/drawing/2014/main" id="{462F4195-3015-4BBA-8DEE-729D5F14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195" y="2628900"/>
            <a:ext cx="227838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11-condition-anchor">
            <a:extLst xmlns:a="http://schemas.openxmlformats.org/drawingml/2006/main">
              <a:ext uri="{FF2B5EF4-FFF2-40B4-BE49-F238E27FC236}">
                <a16:creationId xmlns:a16="http://schemas.microsoft.com/office/drawing/2014/main" id="{F2850E71-DAC4-4C05-9601-267834FC4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4815840"/>
            <a:ext cx="2804160" cy="5857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0" name="U09-DG-011-route_1a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072765" y="2179797"/>
            <a:ext cx="1183005" cy="9958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1" name="U09-DG-011-route_1b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059930" y="2179797"/>
            <a:ext cx="1358265" cy="9958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2" name="U09-DG-011-route_2a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072765" y="3175635"/>
            <a:ext cx="1183005" cy="95678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3" name="U09-DG-011-route_2b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7059930" y="3175635"/>
            <a:ext cx="1358265" cy="95678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U09-DG-011-visual-alt" descr="Secuencia de cálculo; U09-DG-011, candidata para diagram-generation. La composición permite reconocer que duplicar distancia produce aproximadamente −6 db solo bajo el modelo declarado.">
            <a:extLst xmlns:a="http://schemas.openxmlformats.org/drawingml/2006/main">
              <a:ext uri="{FF2B5EF4-FFF2-40B4-BE49-F238E27FC236}">
                <a16:creationId xmlns:a16="http://schemas.microsoft.com/office/drawing/2014/main" id="{45AA8802-406E-46B4-BF5B-0469D09C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2628900"/>
            <a:ext cx="227838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7" name="U09-DG-011-source-text">
            <a:extLst xmlns:a="http://schemas.openxmlformats.org/drawingml/2006/main">
              <a:ext uri="{FF2B5EF4-FFF2-40B4-BE49-F238E27FC236}">
                <a16:creationId xmlns:a16="http://schemas.microsoft.com/office/drawing/2014/main" id="{0F2B3C07-E0C8-4A4F-96CB-5DB9BDCF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" y="2752725"/>
            <a:ext cx="193548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Datos: 0,50 y 1,00 m</a:t>
            </a:r>
          </a:p>
        </p:txBody>
      </p:sp>
      <p:sp>
        <p:nvSpPr>
          <p:cNvPr id="18" name="U09-DG-011-path_upper-box">
            <a:extLst xmlns:a="http://schemas.openxmlformats.org/drawingml/2006/main">
              <a:ext uri="{FF2B5EF4-FFF2-40B4-BE49-F238E27FC236}">
                <a16:creationId xmlns:a16="http://schemas.microsoft.com/office/drawing/2014/main" id="{79A432E5-8DEF-40DC-9704-36BAAA63A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1691640"/>
            <a:ext cx="2804160" cy="976313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9" name="U09-DG-011-path_upper-text">
            <a:extLst xmlns:a="http://schemas.openxmlformats.org/drawingml/2006/main">
              <a:ext uri="{FF2B5EF4-FFF2-40B4-BE49-F238E27FC236}">
                <a16:creationId xmlns:a16="http://schemas.microsoft.com/office/drawing/2014/main" id="{602861BB-3148-490E-8902-F604E9B8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220" y="1815465"/>
            <a:ext cx="2461260" cy="728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Razón r₂/r₁ = 2</a:t>
            </a:r>
          </a:p>
        </p:txBody>
      </p:sp>
      <p:sp>
        <p:nvSpPr>
          <p:cNvPr id="20" name="U09-DG-011-path_lower-box">
            <a:extLst xmlns:a="http://schemas.openxmlformats.org/drawingml/2006/main">
              <a:ext uri="{FF2B5EF4-FFF2-40B4-BE49-F238E27FC236}">
                <a16:creationId xmlns:a16="http://schemas.microsoft.com/office/drawing/2014/main" id="{54875848-1BA9-4DCD-B8BC-8CE5FBA69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3644265"/>
            <a:ext cx="2804160" cy="976313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1" name="U09-DG-011-path_lower-text">
            <a:extLst xmlns:a="http://schemas.openxmlformats.org/drawingml/2006/main">
              <a:ext uri="{FF2B5EF4-FFF2-40B4-BE49-F238E27FC236}">
                <a16:creationId xmlns:a16="http://schemas.microsoft.com/office/drawing/2014/main" id="{6DCBC46B-E01D-4824-80F1-40AE6B81B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220" y="3768090"/>
            <a:ext cx="2461260" cy="728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ΔLₚ = −6,02 dB</a:t>
            </a:r>
          </a:p>
        </p:txBody>
      </p:sp>
      <p:sp>
        <p:nvSpPr>
          <p:cNvPr id="22" name="U09-DG-011-receiver-box">
            <a:extLst xmlns:a="http://schemas.openxmlformats.org/drawingml/2006/main">
              <a:ext uri="{FF2B5EF4-FFF2-40B4-BE49-F238E27FC236}">
                <a16:creationId xmlns:a16="http://schemas.microsoft.com/office/drawing/2014/main" id="{B8F0A5C4-140E-4B64-8620-F9E7CD2E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195" y="2628900"/>
            <a:ext cx="227838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3" name="U09-DG-011-receiver-text">
            <a:extLst xmlns:a="http://schemas.openxmlformats.org/drawingml/2006/main">
              <a:ext uri="{FF2B5EF4-FFF2-40B4-BE49-F238E27FC236}">
                <a16:creationId xmlns:a16="http://schemas.microsoft.com/office/drawing/2014/main" id="{90B185B6-3831-486A-90B1-0948D0B77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645" y="2752725"/>
            <a:ext cx="193548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Resultado ≈ 84 dB SPL</a:t>
            </a:r>
          </a:p>
        </p:txBody>
      </p:sp>
      <p:sp>
        <p:nvSpPr>
          <p:cNvPr id="24" name="U09-DG-011-condition-box">
            <a:extLst xmlns:a="http://schemas.openxmlformats.org/drawingml/2006/main">
              <a:ext uri="{FF2B5EF4-FFF2-40B4-BE49-F238E27FC236}">
                <a16:creationId xmlns:a16="http://schemas.microsoft.com/office/drawing/2014/main" id="{7C356B3B-1312-436A-87A1-E920D030D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4815840"/>
            <a:ext cx="2804160" cy="585787"/>
          </a:xfrm>
          <a:prstGeom xmlns:a="http://schemas.openxmlformats.org/drawingml/2006/main" prst="roundRect">
            <a:avLst>
              <a:gd name="adj" fmla="val 11382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5" name="U09-DG-011-condition-text">
            <a:extLst xmlns:a="http://schemas.openxmlformats.org/drawingml/2006/main">
              <a:ext uri="{FF2B5EF4-FFF2-40B4-BE49-F238E27FC236}">
                <a16:creationId xmlns:a16="http://schemas.microsoft.com/office/drawing/2014/main" id="{7B455480-AF55-4AFB-9E01-96D78A79D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220" y="4939665"/>
            <a:ext cx="2461260" cy="3381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Interpretación condicionada</a:t>
            </a:r>
          </a:p>
        </p:txBody>
      </p:sp>
      <p:sp>
        <p:nvSpPr>
          <p:cNvPr id="26" name="caption">
            <a:extLst xmlns:a="http://schemas.openxmlformats.org/drawingml/2006/main">
              <a:ext uri="{FF2B5EF4-FFF2-40B4-BE49-F238E27FC236}">
                <a16:creationId xmlns:a16="http://schemas.microsoft.com/office/drawing/2014/main" id="{3671FFFA-4336-449E-8278-912E5FDB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duplicar distancia produce aproximadamente −6 db solo bajo el modelo declarado. · Producción propia UCASAL · U09-DG-011</a:t>
            </a:r>
          </a:p>
        </p:txBody>
      </p:sp>
      <p:sp>
        <p:nvSpPr>
          <p:cNvPr id="27" name="unit-footer">
            <a:extLst xmlns:a="http://schemas.openxmlformats.org/drawingml/2006/main">
              <a:ext uri="{FF2B5EF4-FFF2-40B4-BE49-F238E27FC236}">
                <a16:creationId xmlns:a16="http://schemas.microsoft.com/office/drawing/2014/main" id="{483233C7-72D0-49D2-BBAD-E9A8A0016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Física Acústica · Unidad 9</a:t>
            </a:r>
          </a:p>
        </p:txBody>
      </p:sp>
      <p:sp>
        <p:nvSpPr>
          <p:cNvPr id="2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BF62AF7-79AB-44EC-B17D-C7C671B9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rail-1">
            <a:extLst xmlns:a="http://schemas.openxmlformats.org/drawingml/2006/main">
              <a:ext uri="{FF2B5EF4-FFF2-40B4-BE49-F238E27FC236}">
                <a16:creationId xmlns:a16="http://schemas.microsoft.com/office/drawing/2014/main" id="{96E19FC7-7C8F-47C2-8594-715C47155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512F7116-1C66-4893-AF40-A46A9FD0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CDCD5CB3-8A6F-4FAA-9DB0-2E1162D30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155D6C61-7869-4305-8918-8FC12A8E2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9508755-5BD3-4AD1-8291-20A05846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“Duplicar distancia siempre resta 6 dB”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37872D1-B3A2-4738-9A5B-FA6B74C9F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Distancia y directividad · Error frecuente</a:t>
            </a:r>
          </a:p>
        </p:txBody>
      </p:sp>
      <p:sp>
        <p:nvSpPr>
          <p:cNvPr id="7" name="error-box">
            <a:extLst xmlns:a="http://schemas.openxmlformats.org/drawingml/2006/main">
              <a:ext uri="{FF2B5EF4-FFF2-40B4-BE49-F238E27FC236}">
                <a16:creationId xmlns:a16="http://schemas.microsoft.com/office/drawing/2014/main" id="{192388A5-3294-4719-ABD8-2BB1F84FD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1047750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2383">
            <a:solidFill>
              <a:srgbClr val="4D1434"/>
            </a:solidFill>
            <a:prstDash val="solid"/>
          </a:ln>
        </p:spPr>
      </p:sp>
      <p:sp>
        <p:nvSpPr>
          <p:cNvPr id="8" name="error-title">
            <a:extLst xmlns:a="http://schemas.openxmlformats.org/drawingml/2006/main">
              <a:ext uri="{FF2B5EF4-FFF2-40B4-BE49-F238E27FC236}">
                <a16:creationId xmlns:a16="http://schemas.microsoft.com/office/drawing/2014/main" id="{E2A544ED-21BA-4238-A85F-03B4CCDCA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38325"/>
            <a:ext cx="1005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Es frecuente pensar…</a:t>
            </a:r>
          </a:p>
        </p:txBody>
      </p:sp>
      <p:sp>
        <p:nvSpPr>
          <p:cNvPr id="9" name="error-body">
            <a:extLst xmlns:a="http://schemas.openxmlformats.org/drawingml/2006/main">
              <a:ext uri="{FF2B5EF4-FFF2-40B4-BE49-F238E27FC236}">
                <a16:creationId xmlns:a16="http://schemas.microsoft.com/office/drawing/2014/main" id="{6AA269DA-1131-4D6A-B29A-27D221F3D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52675"/>
            <a:ext cx="1005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“Duplicar distancia siempre resta 6 dB”</a:t>
            </a:r>
          </a:p>
        </p:txBody>
      </p:sp>
      <p:sp>
        <p:nvSpPr>
          <p:cNvPr id="10" name="correction-box">
            <a:extLst xmlns:a="http://schemas.openxmlformats.org/drawingml/2006/main">
              <a:ext uri="{FF2B5EF4-FFF2-40B4-BE49-F238E27FC236}">
                <a16:creationId xmlns:a16="http://schemas.microsoft.com/office/drawing/2014/main" id="{5ABBE303-F57F-4B5D-A5F2-B5B389FBC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10477500" cy="1952625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2383">
            <a:solidFill>
              <a:srgbClr val="2F7E83"/>
            </a:solidFill>
            <a:prstDash val="solid"/>
          </a:ln>
        </p:spPr>
      </p:sp>
      <p:sp>
        <p:nvSpPr>
          <p:cNvPr id="11" name="correction-title">
            <a:extLst xmlns:a="http://schemas.openxmlformats.org/drawingml/2006/main">
              <a:ext uri="{FF2B5EF4-FFF2-40B4-BE49-F238E27FC236}">
                <a16:creationId xmlns:a16="http://schemas.microsoft.com/office/drawing/2014/main" id="{3127436F-B1E9-4414-9115-E247EAE5F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0450"/>
            <a:ext cx="1005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En realidad…</a:t>
            </a:r>
          </a:p>
        </p:txBody>
      </p:sp>
      <p:sp>
        <p:nvSpPr>
          <p:cNvPr id="12" name="correction-body">
            <a:extLst xmlns:a="http://schemas.openxmlformats.org/drawingml/2006/main">
              <a:ext uri="{FF2B5EF4-FFF2-40B4-BE49-F238E27FC236}">
                <a16:creationId xmlns:a16="http://schemas.microsoft.com/office/drawing/2014/main" id="{A9402AF6-40EC-42F7-A474-8FEFCB0F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14800"/>
            <a:ext cx="100584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regla falla si cambian campo, dirección, reflexiones o pérdidas adicionales.</a:t>
            </a:r>
          </a:p>
        </p:txBody>
      </p:sp>
      <p:sp>
        <p:nvSpPr>
          <p:cNvPr id="13" name="unit-footer">
            <a:extLst xmlns:a="http://schemas.openxmlformats.org/drawingml/2006/main">
              <a:ext uri="{FF2B5EF4-FFF2-40B4-BE49-F238E27FC236}">
                <a16:creationId xmlns:a16="http://schemas.microsoft.com/office/drawing/2014/main" id="{612A560C-93AA-43FF-AA77-99277AFA7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Física Acústica · Unidad 9</a:t>
            </a:r>
          </a:p>
        </p:txBody>
      </p:sp>
      <p:sp>
        <p:nvSpPr>
          <p:cNvPr id="1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08D9CCB-826A-4548-BC82-E033E959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op-rail-1">
            <a:extLst xmlns:a="http://schemas.openxmlformats.org/drawingml/2006/main">
              <a:ext uri="{FF2B5EF4-FFF2-40B4-BE49-F238E27FC236}">
                <a16:creationId xmlns:a16="http://schemas.microsoft.com/office/drawing/2014/main" id="{4351A1CD-DCCB-4250-ADC2-30F2F4EFB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BFED705E-2258-4495-9400-BF7EE12F6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76CF7448-7677-4E59-957D-E75B6EA9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09EA3F34-3330-4DA6-B65C-8CAF35637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12E32FD-A6EE-45E9-A219-11621ADF6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fuente no emite igual en todas las direcciones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21E8862-0CC8-4CEF-AF67-F130F039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Distancia y directividad · Concepto visual</a:t>
            </a:r>
          </a:p>
        </p:txBody>
      </p:sp>
      <p:sp>
        <p:nvSpPr>
          <p:cNvPr id="7" name="U09-DG-012-concept_1-anchor">
            <a:extLst xmlns:a="http://schemas.openxmlformats.org/drawingml/2006/main">
              <a:ext uri="{FF2B5EF4-FFF2-40B4-BE49-F238E27FC236}">
                <a16:creationId xmlns:a16="http://schemas.microsoft.com/office/drawing/2014/main" id="{B7F70F4C-DED3-47EF-8715-F740514E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12-concept_2-anchor">
            <a:extLst xmlns:a="http://schemas.openxmlformats.org/drawingml/2006/main">
              <a:ext uri="{FF2B5EF4-FFF2-40B4-BE49-F238E27FC236}">
                <a16:creationId xmlns:a16="http://schemas.microsoft.com/office/drawing/2014/main" id="{A6287140-7E7A-449D-A0DE-BBCA8E1A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8400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12-concept_3-anchor">
            <a:extLst xmlns:a="http://schemas.openxmlformats.org/drawingml/2006/main">
              <a:ext uri="{FF2B5EF4-FFF2-40B4-BE49-F238E27FC236}">
                <a16:creationId xmlns:a16="http://schemas.microsoft.com/office/drawing/2014/main" id="{66065101-E161-4BF5-84FB-F5F790071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8400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12-concept_4-anchor">
            <a:extLst xmlns:a="http://schemas.openxmlformats.org/drawingml/2006/main">
              <a:ext uri="{FF2B5EF4-FFF2-40B4-BE49-F238E27FC236}">
                <a16:creationId xmlns:a16="http://schemas.microsoft.com/office/drawing/2014/main" id="{3F9E1859-E40D-4C97-A2A4-5BBBCB9A9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12-concept_5-anchor">
            <a:extLst xmlns:a="http://schemas.openxmlformats.org/drawingml/2006/main">
              <a:ext uri="{FF2B5EF4-FFF2-40B4-BE49-F238E27FC236}">
                <a16:creationId xmlns:a16="http://schemas.microsoft.com/office/drawing/2014/main" id="{B98E927F-F6C7-466F-BD8E-B0180F19C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3573971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U09-DG-012-visual-alt" descr="Reconstrucción de figura U4; U09-DG-012, candidata para diagram-generation. La composición permite reconocer que a igual potencia y distancia, el nivel puede depender de la dirección.">
            <a:extLst xmlns:a="http://schemas.openxmlformats.org/drawingml/2006/main">
              <a:ext uri="{FF2B5EF4-FFF2-40B4-BE49-F238E27FC236}">
                <a16:creationId xmlns:a16="http://schemas.microsoft.com/office/drawing/2014/main" id="{0A554208-0B4E-4F5E-9834-95D2A794A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3" name="U09-DG-012-concept_1-text">
            <a:extLst xmlns:a="http://schemas.openxmlformats.org/drawingml/2006/main">
              <a:ext uri="{FF2B5EF4-FFF2-40B4-BE49-F238E27FC236}">
                <a16:creationId xmlns:a16="http://schemas.microsoft.com/office/drawing/2014/main" id="{7CE0B81D-7631-4B14-8C51-26071C8A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638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Omnidireccional</a:t>
            </a:r>
          </a:p>
        </p:txBody>
      </p:sp>
      <p:sp>
        <p:nvSpPr>
          <p:cNvPr id="14" name="U09-DG-012-concept_2-box">
            <a:extLst xmlns:a="http://schemas.openxmlformats.org/drawingml/2006/main">
              <a:ext uri="{FF2B5EF4-FFF2-40B4-BE49-F238E27FC236}">
                <a16:creationId xmlns:a16="http://schemas.microsoft.com/office/drawing/2014/main" id="{B0E745E9-7109-46C4-BD86-90D43575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8400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5" name="U09-DG-012-concept_2-text">
            <a:extLst xmlns:a="http://schemas.openxmlformats.org/drawingml/2006/main">
              <a:ext uri="{FF2B5EF4-FFF2-40B4-BE49-F238E27FC236}">
                <a16:creationId xmlns:a16="http://schemas.microsoft.com/office/drawing/2014/main" id="{352D99F1-C51A-4742-9A13-3D178929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19638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direccional</a:t>
            </a:r>
          </a:p>
        </p:txBody>
      </p:sp>
      <p:sp>
        <p:nvSpPr>
          <p:cNvPr id="16" name="U09-DG-012-concept_3-box">
            <a:extLst xmlns:a="http://schemas.openxmlformats.org/drawingml/2006/main">
              <a:ext uri="{FF2B5EF4-FFF2-40B4-BE49-F238E27FC236}">
                <a16:creationId xmlns:a16="http://schemas.microsoft.com/office/drawing/2014/main" id="{2593031C-0078-4CF1-AF70-FE74BAC58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8400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7" name="U09-DG-012-concept_3-text">
            <a:extLst xmlns:a="http://schemas.openxmlformats.org/drawingml/2006/main">
              <a:ext uri="{FF2B5EF4-FFF2-40B4-BE49-F238E27FC236}">
                <a16:creationId xmlns:a16="http://schemas.microsoft.com/office/drawing/2014/main" id="{8540461E-5329-4F0F-9C17-6CAC9508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266" y="19638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eje</a:t>
            </a:r>
          </a:p>
        </p:txBody>
      </p:sp>
      <p:sp>
        <p:nvSpPr>
          <p:cNvPr id="18" name="U09-DG-012-concept_4-box">
            <a:extLst xmlns:a="http://schemas.openxmlformats.org/drawingml/2006/main">
              <a:ext uri="{FF2B5EF4-FFF2-40B4-BE49-F238E27FC236}">
                <a16:creationId xmlns:a16="http://schemas.microsoft.com/office/drawing/2014/main" id="{84EC7DC6-2477-4F09-BFBC-1C1B26C28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19" name="U09-DG-012-concept_4-text">
            <a:extLst xmlns:a="http://schemas.openxmlformats.org/drawingml/2006/main">
              <a:ext uri="{FF2B5EF4-FFF2-40B4-BE49-F238E27FC236}">
                <a16:creationId xmlns:a16="http://schemas.microsoft.com/office/drawing/2014/main" id="{F44316A5-7255-4166-8257-9F8164E4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7796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ángulo</a:t>
            </a:r>
          </a:p>
        </p:txBody>
      </p:sp>
      <p:sp>
        <p:nvSpPr>
          <p:cNvPr id="20" name="U09-DG-012-concept_5-box">
            <a:extLst xmlns:a="http://schemas.openxmlformats.org/drawingml/2006/main">
              <a:ext uri="{FF2B5EF4-FFF2-40B4-BE49-F238E27FC236}">
                <a16:creationId xmlns:a16="http://schemas.microsoft.com/office/drawing/2014/main" id="{BD11153B-E2BB-4965-880F-10D9D103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3573971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1" name="U09-DG-012-concept_5-text">
            <a:extLst xmlns:a="http://schemas.openxmlformats.org/drawingml/2006/main">
              <a:ext uri="{FF2B5EF4-FFF2-40B4-BE49-F238E27FC236}">
                <a16:creationId xmlns:a16="http://schemas.microsoft.com/office/drawing/2014/main" id="{C5C8EE90-6A2B-47A3-87C8-7D34EB6E9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3697796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punto de comparación</a:t>
            </a:r>
          </a:p>
        </p:txBody>
      </p:sp>
      <p:sp>
        <p:nvSpPr>
          <p:cNvPr id="22" name="caption">
            <a:extLst xmlns:a="http://schemas.openxmlformats.org/drawingml/2006/main">
              <a:ext uri="{FF2B5EF4-FFF2-40B4-BE49-F238E27FC236}">
                <a16:creationId xmlns:a16="http://schemas.microsoft.com/office/drawing/2014/main" id="{8EFA5DC5-9F22-4835-B022-9D64FCEB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a igual potencia y distancia, el nivel puede depender de la dirección. · Producción propia UCASAL · U09-DG-012</a:t>
            </a:r>
          </a:p>
        </p:txBody>
      </p:sp>
      <p:sp>
        <p:nvSpPr>
          <p:cNvPr id="23" name="unit-footer">
            <a:extLst xmlns:a="http://schemas.openxmlformats.org/drawingml/2006/main">
              <a:ext uri="{FF2B5EF4-FFF2-40B4-BE49-F238E27FC236}">
                <a16:creationId xmlns:a16="http://schemas.microsoft.com/office/drawing/2014/main" id="{04199073-037F-4BDF-834C-AF62061E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Física Acústica · Unidad 9</a:t>
            </a:r>
          </a:p>
        </p:txBody>
      </p:sp>
      <p:sp>
        <p:nvSpPr>
          <p:cNvPr id="2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CCFF5CC-376D-45A1-8FD7-A756BEBEF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op-rail-1">
            <a:extLst xmlns:a="http://schemas.openxmlformats.org/drawingml/2006/main">
              <a:ext uri="{FF2B5EF4-FFF2-40B4-BE49-F238E27FC236}">
                <a16:creationId xmlns:a16="http://schemas.microsoft.com/office/drawing/2014/main" id="{9D015B16-3FE3-4AD8-A540-7F30D544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0E702668-7D3B-4D7F-9219-5BDB67474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C4793BCF-E6DF-4A3C-9697-3A673E994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2C0FCFEA-B5D0-487E-8C61-92E76A74B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1 · AMPLIACIÓN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95B77D9-7E57-4D87-A2B7-0F9D87EF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patrón cambia con la frecuencia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9A1A7F7-3264-4F32-973D-67968093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Distancia y directividad · Gráfico cuantitativo</a:t>
            </a:r>
          </a:p>
        </p:txBody>
      </p:sp>
      <p:pic>
        <p:nvPicPr>
          <p:cNvPr id="20" name="U09-CH-002-chart" descr="U09-CH-002 patrón polar por frecuencia. La composición permite reconocer que una fuente real no tiene un único patrón para todas las frecuencia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f22e7b6a334dfa">
            <a:extLst>
              <a:ext uri="{96DAC541-7B7A-43D3-8B79-37D633B846F1}">
                <asvg:svgBlip xmlns:asvg="http://schemas.microsoft.com/office/drawing/2016/SVG/main" r:embed="R71d2fd92783a45f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0550" y="1476375"/>
            <a:ext cx="7048500" cy="4238625"/>
          </a:xfrm>
          <a:prstGeom xmlns:a="http://schemas.openxmlformats.org/drawingml/2006/main" prst="rect">
            <a:avLst/>
          </a:prstGeom>
        </p:spPr>
      </p:pic>
      <p:sp>
        <p:nvSpPr>
          <p:cNvPr id="8" name="chart-reading-box">
            <a:extLst xmlns:a="http://schemas.openxmlformats.org/drawingml/2006/main">
              <a:ext uri="{FF2B5EF4-FFF2-40B4-BE49-F238E27FC236}">
                <a16:creationId xmlns:a16="http://schemas.microsoft.com/office/drawing/2014/main" id="{28137617-E4E4-4EEB-9316-99852CC3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809750"/>
            <a:ext cx="3429000" cy="2762250"/>
          </a:xfrm>
          <a:prstGeom xmlns:a="http://schemas.openxmlformats.org/drawingml/2006/main" prst="roundRect">
            <a:avLst>
              <a:gd name="adj" fmla="val 206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9525">
            <a:solidFill>
              <a:srgbClr val="D9DCE0"/>
            </a:solidFill>
            <a:prstDash val="solid"/>
          </a:ln>
        </p:spPr>
      </p:sp>
      <p:sp>
        <p:nvSpPr>
          <p:cNvPr id="9" name="chart-reading-title">
            <a:extLst xmlns:a="http://schemas.openxmlformats.org/drawingml/2006/main">
              <a:ext uri="{FF2B5EF4-FFF2-40B4-BE49-F238E27FC236}">
                <a16:creationId xmlns:a16="http://schemas.microsoft.com/office/drawing/2014/main" id="{7D726EAD-C0E9-4E62-927C-47019C611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95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Qué observar</a:t>
            </a:r>
          </a:p>
        </p:txBody>
      </p:sp>
      <p:sp>
        <p:nvSpPr>
          <p:cNvPr id="10" name="chart-reading-body">
            <a:extLst xmlns:a="http://schemas.openxmlformats.org/drawingml/2006/main">
              <a:ext uri="{FF2B5EF4-FFF2-40B4-BE49-F238E27FC236}">
                <a16:creationId xmlns:a16="http://schemas.microsoft.com/office/drawing/2014/main" id="{2EEFA794-55AF-47DE-BA25-A1394226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47950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Una fuente real no tiene un único patrón para todas las frecuencias. Patrones sintéticos a tres frecuencias, misma escala radial y orientación.</a:t>
            </a:r>
          </a:p>
        </p:txBody>
      </p:sp>
      <p:sp>
        <p:nvSpPr>
          <p:cNvPr id="11" name="caption">
            <a:extLst xmlns:a="http://schemas.openxmlformats.org/drawingml/2006/main">
              <a:ext uri="{FF2B5EF4-FFF2-40B4-BE49-F238E27FC236}">
                <a16:creationId xmlns:a16="http://schemas.microsoft.com/office/drawing/2014/main" id="{F7B873F5-938D-4CE9-91D8-C26583EF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Lectura propuesta: una fuente real no tiene un único patrón para todas las frecuencias. · Producción propia UCASAL · U09-CH-002</a:t>
            </a:r>
          </a:p>
        </p:txBody>
      </p:sp>
      <p:sp>
        <p:nvSpPr>
          <p:cNvPr id="12" name="unit-footer">
            <a:extLst xmlns:a="http://schemas.openxmlformats.org/drawingml/2006/main">
              <a:ext uri="{FF2B5EF4-FFF2-40B4-BE49-F238E27FC236}">
                <a16:creationId xmlns:a16="http://schemas.microsoft.com/office/drawing/2014/main" id="{79A7F19C-6320-481D-8F46-136F9C82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Física Acústica · Unidad 9</a:t>
            </a:r>
          </a:p>
        </p:txBody>
      </p:sp>
      <p:sp>
        <p:nvSpPr>
          <p:cNvPr id="1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038EBE8-F31C-4EB0-8A36-95E20563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op-rail-1">
            <a:extLst xmlns:a="http://schemas.openxmlformats.org/drawingml/2006/main">
              <a:ext uri="{FF2B5EF4-FFF2-40B4-BE49-F238E27FC236}">
                <a16:creationId xmlns:a16="http://schemas.microsoft.com/office/drawing/2014/main" id="{9E1D1AC0-607C-47F9-AF5E-45A6943DF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72B944C1-0621-409E-93FE-91FA489FA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6E532F19-F5DE-4285-8DA7-B30ABB9B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E029EFF9-9E98-415A-9EED-7072FDC46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2F6DF9A-4B8D-4600-8121-8B74155B7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Del factor Qdir al índice DI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2FC721B-191E-4DEF-96D3-9E83633B0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Distancia y directividad · Ecuación anotada</a:t>
            </a:r>
          </a:p>
        </p:txBody>
      </p:sp>
      <p:sp>
        <p:nvSpPr>
          <p:cNvPr id="7" name="U09-DG-013-equation-anchor">
            <a:extLst xmlns:a="http://schemas.openxmlformats.org/drawingml/2006/main">
              <a:ext uri="{FF2B5EF4-FFF2-40B4-BE49-F238E27FC236}">
                <a16:creationId xmlns:a16="http://schemas.microsoft.com/office/drawing/2014/main" id="{70E8D754-2C72-4314-994C-24D77BFDF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9470" y="2707005"/>
            <a:ext cx="4732020" cy="1015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13-callout_1-anchor">
            <a:extLst xmlns:a="http://schemas.openxmlformats.org/drawingml/2006/main">
              <a:ext uri="{FF2B5EF4-FFF2-40B4-BE49-F238E27FC236}">
                <a16:creationId xmlns:a16="http://schemas.microsoft.com/office/drawing/2014/main" id="{2D3219CA-8728-4747-8919-C53C2BBCC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2588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13-callout_2-anchor">
            <a:extLst xmlns:a="http://schemas.openxmlformats.org/drawingml/2006/main">
              <a:ext uri="{FF2B5EF4-FFF2-40B4-BE49-F238E27FC236}">
                <a16:creationId xmlns:a16="http://schemas.microsoft.com/office/drawing/2014/main" id="{712E6D05-0E6C-44B5-90F1-052C0BA38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1652588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13-callout_3-anchor">
            <a:extLst xmlns:a="http://schemas.openxmlformats.org/drawingml/2006/main">
              <a:ext uri="{FF2B5EF4-FFF2-40B4-BE49-F238E27FC236}">
                <a16:creationId xmlns:a16="http://schemas.microsoft.com/office/drawing/2014/main" id="{4A539028-C59E-4157-BBDA-FD443E589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13-callout_4-anchor">
            <a:extLst xmlns:a="http://schemas.openxmlformats.org/drawingml/2006/main">
              <a:ext uri="{FF2B5EF4-FFF2-40B4-BE49-F238E27FC236}">
                <a16:creationId xmlns:a16="http://schemas.microsoft.com/office/drawing/2014/main" id="{A68A48DA-B485-40E1-8939-067B5B35E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4191000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0" name="U09-DG-013-leader_1"/>
          <p:cNvCxnSpPr>
            <a:stCxn xmlns:a="http://schemas.openxmlformats.org/drawingml/2006/main" id="8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28950" y="2101692"/>
            <a:ext cx="350520" cy="111299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1" name="U09-DG-013-leader_2"/>
          <p:cNvCxnSpPr>
            <a:stCxn xmlns:a="http://schemas.openxmlformats.org/drawingml/2006/main" id="9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8111490" y="2101692"/>
            <a:ext cx="350520" cy="111299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2" name="U09-DG-013-leader_3"/>
          <p:cNvCxnSpPr>
            <a:stCxn xmlns:a="http://schemas.openxmlformats.org/drawingml/2006/main" id="10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028950" y="3214688"/>
            <a:ext cx="350520" cy="142541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3" name="U09-DG-013-leader_4"/>
          <p:cNvCxnSpPr>
            <a:stCxn xmlns:a="http://schemas.openxmlformats.org/drawingml/2006/main" id="11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 flipV="1">
            <a:off x="8111490" y="3214688"/>
            <a:ext cx="350520" cy="142541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U09-DG-013-visual-alt" descr="Ecuación con comparador omnidireccional; U09-DG-013, candidata para diagram-generation. La composición permite reconocer que di expresa en db la concentración relativa definida por qdir.">
            <a:extLst xmlns:a="http://schemas.openxmlformats.org/drawingml/2006/main">
              <a:ext uri="{FF2B5EF4-FFF2-40B4-BE49-F238E27FC236}">
                <a16:creationId xmlns:a16="http://schemas.microsoft.com/office/drawing/2014/main" id="{C439202A-3144-4780-9269-60870D258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9470" y="2707005"/>
            <a:ext cx="4732020" cy="1015365"/>
          </a:xfrm>
          <a:prstGeom xmlns:a="http://schemas.openxmlformats.org/drawingml/2006/main" prst="roundRect">
            <a:avLst>
              <a:gd name="adj" fmla="val 65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7" name="U09-DG-013-equation-text">
            <a:extLst xmlns:a="http://schemas.openxmlformats.org/drawingml/2006/main">
              <a:ext uri="{FF2B5EF4-FFF2-40B4-BE49-F238E27FC236}">
                <a16:creationId xmlns:a16="http://schemas.microsoft.com/office/drawing/2014/main" id="{A4730C0E-DCE3-44A2-A7E0-AE2115272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830830"/>
            <a:ext cx="4389120" cy="767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91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691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DI=10 log10 Qdir</a:t>
            </a:r>
          </a:p>
        </p:txBody>
      </p:sp>
      <p:sp>
        <p:nvSpPr>
          <p:cNvPr id="18" name="U09-DG-013-callout_1-box">
            <a:extLst xmlns:a="http://schemas.openxmlformats.org/drawingml/2006/main">
              <a:ext uri="{FF2B5EF4-FFF2-40B4-BE49-F238E27FC236}">
                <a16:creationId xmlns:a16="http://schemas.microsoft.com/office/drawing/2014/main" id="{101BD140-F0E7-4C5B-AD72-6839E321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2588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9" name="U09-DG-013-callout_1-text">
            <a:extLst xmlns:a="http://schemas.openxmlformats.org/drawingml/2006/main">
              <a:ext uri="{FF2B5EF4-FFF2-40B4-BE49-F238E27FC236}">
                <a16:creationId xmlns:a16="http://schemas.microsoft.com/office/drawing/2014/main" id="{E6450A09-2CC9-4B35-B91D-EA0946627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76413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Qdir: razón lineal</a:t>
            </a:r>
          </a:p>
        </p:txBody>
      </p:sp>
      <p:sp>
        <p:nvSpPr>
          <p:cNvPr id="20" name="U09-DG-013-callout_2-box">
            <a:extLst xmlns:a="http://schemas.openxmlformats.org/drawingml/2006/main">
              <a:ext uri="{FF2B5EF4-FFF2-40B4-BE49-F238E27FC236}">
                <a16:creationId xmlns:a16="http://schemas.microsoft.com/office/drawing/2014/main" id="{66E9D684-D53F-4F3F-8081-7FFA34759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1652588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1" name="U09-DG-013-callout_2-text">
            <a:extLst xmlns:a="http://schemas.openxmlformats.org/drawingml/2006/main">
              <a:ext uri="{FF2B5EF4-FFF2-40B4-BE49-F238E27FC236}">
                <a16:creationId xmlns:a16="http://schemas.microsoft.com/office/drawing/2014/main" id="{E6260AD9-AE50-4269-9857-FAE1684D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3460" y="1776413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Referencia</a:t>
            </a:r>
          </a:p>
        </p:txBody>
      </p:sp>
      <p:sp>
        <p:nvSpPr>
          <p:cNvPr id="22" name="U09-DG-013-callout_3-box">
            <a:extLst xmlns:a="http://schemas.openxmlformats.org/drawingml/2006/main">
              <a:ext uri="{FF2B5EF4-FFF2-40B4-BE49-F238E27FC236}">
                <a16:creationId xmlns:a16="http://schemas.microsoft.com/office/drawing/2014/main" id="{87D014B4-56D9-4A3A-8CB2-8797A31CC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3" name="U09-DG-013-callout_3-text">
            <a:extLst xmlns:a="http://schemas.openxmlformats.org/drawingml/2006/main">
              <a:ext uri="{FF2B5EF4-FFF2-40B4-BE49-F238E27FC236}">
                <a16:creationId xmlns:a16="http://schemas.microsoft.com/office/drawing/2014/main" id="{2D7C3090-90AF-4D7B-9C15-C6BA3EAE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14825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Qdir = 4</a:t>
            </a:r>
          </a:p>
        </p:txBody>
      </p:sp>
      <p:sp>
        <p:nvSpPr>
          <p:cNvPr id="24" name="U09-DG-013-callout_4-box">
            <a:extLst xmlns:a="http://schemas.openxmlformats.org/drawingml/2006/main">
              <a:ext uri="{FF2B5EF4-FFF2-40B4-BE49-F238E27FC236}">
                <a16:creationId xmlns:a16="http://schemas.microsoft.com/office/drawing/2014/main" id="{0DD37CE0-03B0-4A6C-BDEA-DD52898B8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4191000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5" name="U09-DG-013-callout_4-text">
            <a:extLst xmlns:a="http://schemas.openxmlformats.org/drawingml/2006/main">
              <a:ext uri="{FF2B5EF4-FFF2-40B4-BE49-F238E27FC236}">
                <a16:creationId xmlns:a16="http://schemas.microsoft.com/office/drawing/2014/main" id="{20C4731B-5F25-4A9D-8099-A4E07C4A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3460" y="4314825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DI = 6,02 dB</a:t>
            </a:r>
          </a:p>
        </p:txBody>
      </p:sp>
      <p:sp>
        <p:nvSpPr>
          <p:cNvPr id="26" name="caption">
            <a:extLst xmlns:a="http://schemas.openxmlformats.org/drawingml/2006/main">
              <a:ext uri="{FF2B5EF4-FFF2-40B4-BE49-F238E27FC236}">
                <a16:creationId xmlns:a16="http://schemas.microsoft.com/office/drawing/2014/main" id="{E630B5F9-5CE2-4C6D-A60B-77AACFA47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di expresa en db la concentración relativa definida por qdir. · Producción propia UCASAL · U09-DG-013</a:t>
            </a:r>
          </a:p>
        </p:txBody>
      </p:sp>
      <p:sp>
        <p:nvSpPr>
          <p:cNvPr id="27" name="unit-footer">
            <a:extLst xmlns:a="http://schemas.openxmlformats.org/drawingml/2006/main">
              <a:ext uri="{FF2B5EF4-FFF2-40B4-BE49-F238E27FC236}">
                <a16:creationId xmlns:a16="http://schemas.microsoft.com/office/drawing/2014/main" id="{6DB42E80-656F-431E-A639-184243E3C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Física Acústica · Unidad 9</a:t>
            </a:r>
          </a:p>
        </p:txBody>
      </p:sp>
      <p:sp>
        <p:nvSpPr>
          <p:cNvPr id="2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8C9286C-D71A-46B5-B5F5-DD185508E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op-rail-1">
            <a:extLst xmlns:a="http://schemas.openxmlformats.org/drawingml/2006/main">
              <a:ext uri="{FF2B5EF4-FFF2-40B4-BE49-F238E27FC236}">
                <a16:creationId xmlns:a16="http://schemas.microsoft.com/office/drawing/2014/main" id="{FF312E8B-8E74-4125-9B86-F54F1861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090B10C1-1F3E-4066-BB3F-FCFCF03AE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430421F9-DF3B-4662-BDD4-62BA8595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7A0966BF-909E-40A6-9295-9AB6DEAB1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6EECA71-1F7B-40B0-AC8B-E2235F21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Campo sonoro: geometría y orientación importan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01907C9-F5AA-429F-AFB0-B3D60A27C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Distancia y directividad · Aplicación clínica</a:t>
            </a:r>
          </a:p>
        </p:txBody>
      </p:sp>
      <p:sp>
        <p:nvSpPr>
          <p:cNvPr id="7" name="U09-DG-014-source-anchor">
            <a:extLst xmlns:a="http://schemas.openxmlformats.org/drawingml/2006/main">
              <a:ext uri="{FF2B5EF4-FFF2-40B4-BE49-F238E27FC236}">
                <a16:creationId xmlns:a16="http://schemas.microsoft.com/office/drawing/2014/main" id="{CB7BFE4A-15F0-45FA-BE6D-01BC8C94F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2628900"/>
            <a:ext cx="227838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14-path_upper-anchor">
            <a:extLst xmlns:a="http://schemas.openxmlformats.org/drawingml/2006/main">
              <a:ext uri="{FF2B5EF4-FFF2-40B4-BE49-F238E27FC236}">
                <a16:creationId xmlns:a16="http://schemas.microsoft.com/office/drawing/2014/main" id="{FC7DC484-8C02-47FE-A801-59C204147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1691640"/>
            <a:ext cx="2804160" cy="976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14-path_lower-anchor">
            <a:extLst xmlns:a="http://schemas.openxmlformats.org/drawingml/2006/main">
              <a:ext uri="{FF2B5EF4-FFF2-40B4-BE49-F238E27FC236}">
                <a16:creationId xmlns:a16="http://schemas.microsoft.com/office/drawing/2014/main" id="{D1B008B6-90C0-425E-85AF-FD679CCD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3644265"/>
            <a:ext cx="2804160" cy="976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14-receiver-anchor">
            <a:extLst xmlns:a="http://schemas.openxmlformats.org/drawingml/2006/main">
              <a:ext uri="{FF2B5EF4-FFF2-40B4-BE49-F238E27FC236}">
                <a16:creationId xmlns:a16="http://schemas.microsoft.com/office/drawing/2014/main" id="{853F87FA-B0B2-4896-B5E1-97B25C143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195" y="2628900"/>
            <a:ext cx="227838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14-condition-anchor">
            <a:extLst xmlns:a="http://schemas.openxmlformats.org/drawingml/2006/main">
              <a:ext uri="{FF2B5EF4-FFF2-40B4-BE49-F238E27FC236}">
                <a16:creationId xmlns:a16="http://schemas.microsoft.com/office/drawing/2014/main" id="{561759E6-F1D1-4AD8-9596-69FEBAE7E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4815840"/>
            <a:ext cx="2804160" cy="5857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0" name="U09-DG-014-route_1a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072765" y="2179797"/>
            <a:ext cx="1183005" cy="9958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1" name="U09-DG-014-route_1b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059930" y="2179797"/>
            <a:ext cx="1358265" cy="9958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2" name="U09-DG-014-route_2a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072765" y="3175635"/>
            <a:ext cx="1183005" cy="95678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3" name="U09-DG-014-route_2b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7059930" y="3175635"/>
            <a:ext cx="1358265" cy="95678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U09-DG-014-visual-alt" descr="Foto técnica U09-IMG-001 con sobreimpresión geométrica o diagrama alternativo U09-DG-014. La composición permite reconocer que posición, eje del altavoz, punto de referencia y reflexiones condicionan el estímulo.">
            <a:extLst xmlns:a="http://schemas.openxmlformats.org/drawingml/2006/main">
              <a:ext uri="{FF2B5EF4-FFF2-40B4-BE49-F238E27FC236}">
                <a16:creationId xmlns:a16="http://schemas.microsoft.com/office/drawing/2014/main" id="{F8C68308-6BBE-4EBA-846E-3DA36C374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2628900"/>
            <a:ext cx="227838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7" name="U09-DG-014-source-text">
            <a:extLst xmlns:a="http://schemas.openxmlformats.org/drawingml/2006/main">
              <a:ext uri="{FF2B5EF4-FFF2-40B4-BE49-F238E27FC236}">
                <a16:creationId xmlns:a16="http://schemas.microsoft.com/office/drawing/2014/main" id="{2EFF6CC6-E2D9-4EF4-9067-F831578AA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" y="2752725"/>
            <a:ext cx="193548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Altavoz</a:t>
            </a:r>
          </a:p>
        </p:txBody>
      </p:sp>
      <p:sp>
        <p:nvSpPr>
          <p:cNvPr id="18" name="U09-DG-014-path_upper-box">
            <a:extLst xmlns:a="http://schemas.openxmlformats.org/drawingml/2006/main">
              <a:ext uri="{FF2B5EF4-FFF2-40B4-BE49-F238E27FC236}">
                <a16:creationId xmlns:a16="http://schemas.microsoft.com/office/drawing/2014/main" id="{E69DDFE1-3802-40DA-B507-572886E7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1691640"/>
            <a:ext cx="2804160" cy="976313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9" name="U09-DG-014-path_upper-text">
            <a:extLst xmlns:a="http://schemas.openxmlformats.org/drawingml/2006/main">
              <a:ext uri="{FF2B5EF4-FFF2-40B4-BE49-F238E27FC236}">
                <a16:creationId xmlns:a16="http://schemas.microsoft.com/office/drawing/2014/main" id="{622BC752-5521-43C9-B58D-3DC8E899F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220" y="1815465"/>
            <a:ext cx="2461260" cy="728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eje</a:t>
            </a:r>
          </a:p>
        </p:txBody>
      </p:sp>
      <p:sp>
        <p:nvSpPr>
          <p:cNvPr id="20" name="U09-DG-014-path_lower-box">
            <a:extLst xmlns:a="http://schemas.openxmlformats.org/drawingml/2006/main">
              <a:ext uri="{FF2B5EF4-FFF2-40B4-BE49-F238E27FC236}">
                <a16:creationId xmlns:a16="http://schemas.microsoft.com/office/drawing/2014/main" id="{AC4F300C-BE88-4FA3-961E-DE670F5F7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3644265"/>
            <a:ext cx="2804160" cy="976313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1" name="U09-DG-014-path_lower-text">
            <a:extLst xmlns:a="http://schemas.openxmlformats.org/drawingml/2006/main">
              <a:ext uri="{FF2B5EF4-FFF2-40B4-BE49-F238E27FC236}">
                <a16:creationId xmlns:a16="http://schemas.microsoft.com/office/drawing/2014/main" id="{E951F939-B520-44BC-8EFD-EC5B93CB0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220" y="3768090"/>
            <a:ext cx="2461260" cy="728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distancias</a:t>
            </a:r>
          </a:p>
        </p:txBody>
      </p:sp>
      <p:sp>
        <p:nvSpPr>
          <p:cNvPr id="22" name="U09-DG-014-receiver-box">
            <a:extLst xmlns:a="http://schemas.openxmlformats.org/drawingml/2006/main">
              <a:ext uri="{FF2B5EF4-FFF2-40B4-BE49-F238E27FC236}">
                <a16:creationId xmlns:a16="http://schemas.microsoft.com/office/drawing/2014/main" id="{165BC2DF-F774-4D61-A5A3-49754D879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195" y="2628900"/>
            <a:ext cx="227838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3" name="U09-DG-014-receiver-text">
            <a:extLst xmlns:a="http://schemas.openxmlformats.org/drawingml/2006/main">
              <a:ext uri="{FF2B5EF4-FFF2-40B4-BE49-F238E27FC236}">
                <a16:creationId xmlns:a16="http://schemas.microsoft.com/office/drawing/2014/main" id="{137CAF30-77B1-40F8-B306-2A9390E3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645" y="2752725"/>
            <a:ext cx="193548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punto de referencia</a:t>
            </a:r>
          </a:p>
        </p:txBody>
      </p:sp>
      <p:sp>
        <p:nvSpPr>
          <p:cNvPr id="24" name="U09-DG-014-condition-box">
            <a:extLst xmlns:a="http://schemas.openxmlformats.org/drawingml/2006/main">
              <a:ext uri="{FF2B5EF4-FFF2-40B4-BE49-F238E27FC236}">
                <a16:creationId xmlns:a16="http://schemas.microsoft.com/office/drawing/2014/main" id="{C6005258-41B4-48EE-940C-B731BB21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4815840"/>
            <a:ext cx="2804160" cy="585787"/>
          </a:xfrm>
          <a:prstGeom xmlns:a="http://schemas.openxmlformats.org/drawingml/2006/main" prst="roundRect">
            <a:avLst>
              <a:gd name="adj" fmla="val 11382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5" name="U09-DG-014-condition-text">
            <a:extLst xmlns:a="http://schemas.openxmlformats.org/drawingml/2006/main">
              <a:ext uri="{FF2B5EF4-FFF2-40B4-BE49-F238E27FC236}">
                <a16:creationId xmlns:a16="http://schemas.microsoft.com/office/drawing/2014/main" id="{C168513B-1FCB-490E-82D5-E290967C0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220" y="4939665"/>
            <a:ext cx="2461260" cy="3381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paciente/micrófono</a:t>
            </a:r>
          </a:p>
        </p:txBody>
      </p:sp>
      <p:sp>
        <p:nvSpPr>
          <p:cNvPr id="26" name="caption">
            <a:extLst xmlns:a="http://schemas.openxmlformats.org/drawingml/2006/main">
              <a:ext uri="{FF2B5EF4-FFF2-40B4-BE49-F238E27FC236}">
                <a16:creationId xmlns:a16="http://schemas.microsoft.com/office/drawing/2014/main" id="{8F1753A2-08E6-45D2-A1AB-3C86C959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posición, eje del altavoz, punto de referencia y reflexiones condicionan el estímulo. · Producción propia UCASAL · U09-DG-014</a:t>
            </a:r>
          </a:p>
        </p:txBody>
      </p:sp>
      <p:sp>
        <p:nvSpPr>
          <p:cNvPr id="27" name="unit-footer">
            <a:extLst xmlns:a="http://schemas.openxmlformats.org/drawingml/2006/main">
              <a:ext uri="{FF2B5EF4-FFF2-40B4-BE49-F238E27FC236}">
                <a16:creationId xmlns:a16="http://schemas.microsoft.com/office/drawing/2014/main" id="{F12C1EF6-0DDC-4BA9-A750-A7AE64D0A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Física Acústica · Unidad 9</a:t>
            </a:r>
          </a:p>
        </p:txBody>
      </p:sp>
      <p:sp>
        <p:nvSpPr>
          <p:cNvPr id="2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200C81B-D2BD-4542-86FB-40B3CA58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op-rail-1">
            <a:extLst xmlns:a="http://schemas.openxmlformats.org/drawingml/2006/main">
              <a:ext uri="{FF2B5EF4-FFF2-40B4-BE49-F238E27FC236}">
                <a16:creationId xmlns:a16="http://schemas.microsoft.com/office/drawing/2014/main" id="{894E992D-3A3F-47E8-A5D1-706493364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FA0E2FA6-C9C8-4622-BCB4-EF4529FE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FB69828C-C760-443B-B4C3-926F2DCC7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56A102BE-4926-42BB-96F7-A32059840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535329D-FB28-4916-80B4-D324F237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¿Distancia, dirección o ambos?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58455EB-1827-4CE0-8678-2B53A4AE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Distancia y directividad · Recapitulación y pregunta</a:t>
            </a:r>
          </a:p>
        </p:txBody>
      </p:sp>
      <p:sp>
        <p:nvSpPr>
          <p:cNvPr id="7" name="U09-DG-015-step_1-anchor">
            <a:extLst xmlns:a="http://schemas.openxmlformats.org/drawingml/2006/main">
              <a:ext uri="{FF2B5EF4-FFF2-40B4-BE49-F238E27FC236}">
                <a16:creationId xmlns:a16="http://schemas.microsoft.com/office/drawing/2014/main" id="{3FC31AD7-78A4-4006-8DBB-2636EF530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15-step_2-anchor">
            <a:extLst xmlns:a="http://schemas.openxmlformats.org/drawingml/2006/main">
              <a:ext uri="{FF2B5EF4-FFF2-40B4-BE49-F238E27FC236}">
                <a16:creationId xmlns:a16="http://schemas.microsoft.com/office/drawing/2014/main" id="{A18538D7-39E9-41BE-863F-5BDA95993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15-step_3-anchor">
            <a:extLst xmlns:a="http://schemas.openxmlformats.org/drawingml/2006/main">
              <a:ext uri="{FF2B5EF4-FFF2-40B4-BE49-F238E27FC236}">
                <a16:creationId xmlns:a16="http://schemas.microsoft.com/office/drawing/2014/main" id="{BD023689-2005-4D11-B436-B8DB8836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15-step_4-anchor">
            <a:extLst xmlns:a="http://schemas.openxmlformats.org/drawingml/2006/main">
              <a:ext uri="{FF2B5EF4-FFF2-40B4-BE49-F238E27FC236}">
                <a16:creationId xmlns:a16="http://schemas.microsoft.com/office/drawing/2014/main" id="{240F5595-D49A-4FD8-8524-FCD647F2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15-step_5-anchor">
            <a:extLst xmlns:a="http://schemas.openxmlformats.org/drawingml/2006/main">
              <a:ext uri="{FF2B5EF4-FFF2-40B4-BE49-F238E27FC236}">
                <a16:creationId xmlns:a16="http://schemas.microsoft.com/office/drawing/2014/main" id="{87E44BA0-5A25-445C-8559-EBFF8DAF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U09-DG-015-step_6-anchor">
            <a:extLst xmlns:a="http://schemas.openxmlformats.org/drawingml/2006/main">
              <a:ext uri="{FF2B5EF4-FFF2-40B4-BE49-F238E27FC236}">
                <a16:creationId xmlns:a16="http://schemas.microsoft.com/office/drawing/2014/main" id="{546CEBB8-D224-4AFB-B492-712AAE45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5" name="U09-DG-015-flow_1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46710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6" name="U09-DG-015-flow_2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05993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7" name="U09-DG-015-flow_3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9338310" y="2941321"/>
            <a:ext cx="0" cy="741997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8" name="U09-DG-015-flow_4"/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7059930" y="424958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9" name="U09-DG-015-flow_5"/>
          <p:cNvCxnSpPr>
            <a:stCxn xmlns:a="http://schemas.openxmlformats.org/drawingml/2006/main" id="11" idx="1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H="1">
            <a:off x="3467100" y="424958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8" name="U09-DG-015-visual-alt" descr="Tarjetas de decisión; U09-DG-015, candidata para diagram-generation. La composición permite reconocer que se estima por separado cada efecto y se evita contabilizarlo dos veces.">
            <a:extLst xmlns:a="http://schemas.openxmlformats.org/drawingml/2006/main">
              <a:ext uri="{FF2B5EF4-FFF2-40B4-BE49-F238E27FC236}">
                <a16:creationId xmlns:a16="http://schemas.microsoft.com/office/drawing/2014/main" id="{CAD3F063-EA78-4157-96B1-D8E788EBA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9" name="U09-DG-015-step_1-text">
            <a:extLst xmlns:a="http://schemas.openxmlformats.org/drawingml/2006/main">
              <a:ext uri="{FF2B5EF4-FFF2-40B4-BE49-F238E27FC236}">
                <a16:creationId xmlns:a16="http://schemas.microsoft.com/office/drawing/2014/main" id="{B660F4BC-08D4-47ED-9FA8-644CDBFCC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1 · Cambia distancia</a:t>
            </a:r>
          </a:p>
        </p:txBody>
      </p:sp>
      <p:sp>
        <p:nvSpPr>
          <p:cNvPr id="20" name="U09-DG-015-step_2-box">
            <a:extLst xmlns:a="http://schemas.openxmlformats.org/drawingml/2006/main">
              <a:ext uri="{FF2B5EF4-FFF2-40B4-BE49-F238E27FC236}">
                <a16:creationId xmlns:a16="http://schemas.microsoft.com/office/drawing/2014/main" id="{8C6A222E-5371-4857-A84D-D1FF2AC77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1" name="U09-DG-015-step_2-text">
            <a:extLst xmlns:a="http://schemas.openxmlformats.org/drawingml/2006/main">
              <a:ext uri="{FF2B5EF4-FFF2-40B4-BE49-F238E27FC236}">
                <a16:creationId xmlns:a16="http://schemas.microsoft.com/office/drawing/2014/main" id="{2B78EACC-652D-4FA9-94CB-A7F8706A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2 · Cambia dirección</a:t>
            </a:r>
          </a:p>
        </p:txBody>
      </p:sp>
      <p:sp>
        <p:nvSpPr>
          <p:cNvPr id="22" name="U09-DG-015-step_3-box">
            <a:extLst xmlns:a="http://schemas.openxmlformats.org/drawingml/2006/main">
              <a:ext uri="{FF2B5EF4-FFF2-40B4-BE49-F238E27FC236}">
                <a16:creationId xmlns:a16="http://schemas.microsoft.com/office/drawing/2014/main" id="{7F543C77-6506-48F7-9F7C-4BE45F0CD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3" name="U09-DG-015-step_3-text">
            <a:extLst xmlns:a="http://schemas.openxmlformats.org/drawingml/2006/main">
              <a:ext uri="{FF2B5EF4-FFF2-40B4-BE49-F238E27FC236}">
                <a16:creationId xmlns:a16="http://schemas.microsoft.com/office/drawing/2014/main" id="{CFBC518B-C0EB-4268-BC5F-8E5F037C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 · Cambian ambas</a:t>
            </a:r>
          </a:p>
        </p:txBody>
      </p:sp>
      <p:sp>
        <p:nvSpPr>
          <p:cNvPr id="24" name="U09-DG-015-step_4-box">
            <a:extLst xmlns:a="http://schemas.openxmlformats.org/drawingml/2006/main">
              <a:ext uri="{FF2B5EF4-FFF2-40B4-BE49-F238E27FC236}">
                <a16:creationId xmlns:a16="http://schemas.microsoft.com/office/drawing/2014/main" id="{432AC2D2-FBD4-4B93-9E4A-847F88A4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5" name="U09-DG-015-step_4-text">
            <a:extLst xmlns:a="http://schemas.openxmlformats.org/drawingml/2006/main">
              <a:ext uri="{FF2B5EF4-FFF2-40B4-BE49-F238E27FC236}">
                <a16:creationId xmlns:a16="http://schemas.microsoft.com/office/drawing/2014/main" id="{B0F62A2F-0207-41E5-8556-300449DD3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4 · Elegir modelo</a:t>
            </a:r>
          </a:p>
        </p:txBody>
      </p:sp>
      <p:sp>
        <p:nvSpPr>
          <p:cNvPr id="26" name="U09-DG-015-step_5-box">
            <a:extLst xmlns:a="http://schemas.openxmlformats.org/drawingml/2006/main">
              <a:ext uri="{FF2B5EF4-FFF2-40B4-BE49-F238E27FC236}">
                <a16:creationId xmlns:a16="http://schemas.microsoft.com/office/drawing/2014/main" id="{3835E1DE-C3C7-438E-A58C-E310605D8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7" name="U09-DG-015-step_5-text">
            <a:extLst xmlns:a="http://schemas.openxmlformats.org/drawingml/2006/main">
              <a:ext uri="{FF2B5EF4-FFF2-40B4-BE49-F238E27FC236}">
                <a16:creationId xmlns:a16="http://schemas.microsoft.com/office/drawing/2014/main" id="{A29D8468-C012-4687-BE7F-0A2B554B8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5 · Declarar hipótesis</a:t>
            </a:r>
          </a:p>
        </p:txBody>
      </p:sp>
      <p:sp>
        <p:nvSpPr>
          <p:cNvPr id="28" name="U09-DG-015-step_6-box">
            <a:extLst xmlns:a="http://schemas.openxmlformats.org/drawingml/2006/main">
              <a:ext uri="{FF2B5EF4-FFF2-40B4-BE49-F238E27FC236}">
                <a16:creationId xmlns:a16="http://schemas.microsoft.com/office/drawing/2014/main" id="{FA958A6E-78F4-4FFD-9AD8-BA93CBF7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9" name="U09-DG-015-step_6-text">
            <a:extLst xmlns:a="http://schemas.openxmlformats.org/drawingml/2006/main">
              <a:ext uri="{FF2B5EF4-FFF2-40B4-BE49-F238E27FC236}">
                <a16:creationId xmlns:a16="http://schemas.microsoft.com/office/drawing/2014/main" id="{82DDE6A6-9A72-4BC4-9D4C-320E6C7C7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6 · Identificar dato faltante</a:t>
            </a:r>
          </a:p>
        </p:txBody>
      </p:sp>
      <p:sp>
        <p:nvSpPr>
          <p:cNvPr id="30" name="caption">
            <a:extLst xmlns:a="http://schemas.openxmlformats.org/drawingml/2006/main">
              <a:ext uri="{FF2B5EF4-FFF2-40B4-BE49-F238E27FC236}">
                <a16:creationId xmlns:a16="http://schemas.microsoft.com/office/drawing/2014/main" id="{71611B0E-6AF5-4FD1-954B-DCBE116B9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se estima por separado cada efecto y se evita contabilizarlo dos veces. · Producción propia UCASAL · U09-DG-015</a:t>
            </a:r>
          </a:p>
        </p:txBody>
      </p:sp>
      <p:sp>
        <p:nvSpPr>
          <p:cNvPr id="31" name="unit-footer">
            <a:extLst xmlns:a="http://schemas.openxmlformats.org/drawingml/2006/main">
              <a:ext uri="{FF2B5EF4-FFF2-40B4-BE49-F238E27FC236}">
                <a16:creationId xmlns:a16="http://schemas.microsoft.com/office/drawing/2014/main" id="{5E29765F-7DA1-428B-A2C4-CA06428C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Física Acústica · Unidad 9</a:t>
            </a:r>
          </a:p>
        </p:txBody>
      </p:sp>
      <p:sp>
        <p:nvSpPr>
          <p:cNvPr id="3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9161EA7-DEB8-4372-81C1-E7E316E0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ark-eyebrow">
            <a:extLst xmlns:a="http://schemas.openxmlformats.org/drawingml/2006/main">
              <a:ext uri="{FF2B5EF4-FFF2-40B4-BE49-F238E27FC236}">
                <a16:creationId xmlns:a16="http://schemas.microsoft.com/office/drawing/2014/main" id="{A6B8FD4E-AD39-4B2E-A39B-EA1E23C2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UNIDAD 9 · RUTA CENTRAL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79C58943-7687-441D-9267-18A02C43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47875"/>
            <a:ext cx="1057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¿Aire uniforme o aire con gradiente?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D71085D6-0285-41BC-BF76-0FA9D2190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571875"/>
            <a:ext cx="885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rPr>
              <a:t>El estado uniforme cambia rapidez; el gradiente puede curvar trayectorias.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A63A20C-FF62-4666-A1FC-76FB83EF7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op-rail-1">
            <a:extLst xmlns:a="http://schemas.openxmlformats.org/drawingml/2006/main">
              <a:ext uri="{FF2B5EF4-FFF2-40B4-BE49-F238E27FC236}">
                <a16:creationId xmlns:a16="http://schemas.microsoft.com/office/drawing/2014/main" id="{F460131B-50A2-43D9-8556-DEAAEFF4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BD06FF4A-0256-4807-8FD9-DDDC66C8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14E9EA6F-846A-4818-8F4B-9788AEF78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2308CBD8-AD20-4F16-8453-3E087BDF3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A7513D6-941C-46D6-9B5F-71D83D8C5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rapidez aumenta con la temperatura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F28A414-C400-4C5A-A053-3810771A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Atmósfera · Ecuación y gráfico</a:t>
            </a:r>
          </a:p>
        </p:txBody>
      </p:sp>
      <p:pic>
        <p:nvPicPr>
          <p:cNvPr id="20" name="U09-CH-003-chart" descr="U09-CH-003 rapidez frente a temperatura; ecuación anotada U09-DG-016. La composición permite reconocer que en aire, dentro del intervalo didáctico, c ≈ 331 + 0,6 θ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a9a6612bfe42f3">
            <a:extLst>
              <a:ext uri="{96DAC541-7B7A-43D3-8B79-37D633B846F1}">
                <asvg:svgBlip xmlns:asvg="http://schemas.microsoft.com/office/drawing/2016/SVG/main" r:embed="Rc5951061dab94c9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0550" y="1476375"/>
            <a:ext cx="7048500" cy="4238625"/>
          </a:xfrm>
          <a:prstGeom xmlns:a="http://schemas.openxmlformats.org/drawingml/2006/main" prst="rect">
            <a:avLst/>
          </a:prstGeom>
        </p:spPr>
      </p:pic>
      <p:sp>
        <p:nvSpPr>
          <p:cNvPr id="8" name="chart-reading-box">
            <a:extLst xmlns:a="http://schemas.openxmlformats.org/drawingml/2006/main">
              <a:ext uri="{FF2B5EF4-FFF2-40B4-BE49-F238E27FC236}">
                <a16:creationId xmlns:a16="http://schemas.microsoft.com/office/drawing/2014/main" id="{6898D0E3-BF84-4070-9A74-FBAD96628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809750"/>
            <a:ext cx="3429000" cy="2762250"/>
          </a:xfrm>
          <a:prstGeom xmlns:a="http://schemas.openxmlformats.org/drawingml/2006/main" prst="roundRect">
            <a:avLst>
              <a:gd name="adj" fmla="val 206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9525">
            <a:solidFill>
              <a:srgbClr val="D9DCE0"/>
            </a:solidFill>
            <a:prstDash val="solid"/>
          </a:ln>
        </p:spPr>
      </p:sp>
      <p:sp>
        <p:nvSpPr>
          <p:cNvPr id="9" name="chart-reading-title">
            <a:extLst xmlns:a="http://schemas.openxmlformats.org/drawingml/2006/main">
              <a:ext uri="{FF2B5EF4-FFF2-40B4-BE49-F238E27FC236}">
                <a16:creationId xmlns:a16="http://schemas.microsoft.com/office/drawing/2014/main" id="{21BB6E26-73DB-43D3-A19E-E9F9E538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95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Qué observar</a:t>
            </a:r>
          </a:p>
        </p:txBody>
      </p:sp>
      <p:sp>
        <p:nvSpPr>
          <p:cNvPr id="10" name="chart-reading-body">
            <a:extLst xmlns:a="http://schemas.openxmlformats.org/drawingml/2006/main">
              <a:ext uri="{FF2B5EF4-FFF2-40B4-BE49-F238E27FC236}">
                <a16:creationId xmlns:a16="http://schemas.microsoft.com/office/drawing/2014/main" id="{3B626FC5-7A82-4722-B215-032225A8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47950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 aire, dentro del intervalo didáctico, c ≈ 331 + 0,6 θ. Ecuación, símbolos, unidades, intervalo de uso y recta c(θ).</a:t>
            </a:r>
          </a:p>
        </p:txBody>
      </p:sp>
      <p:sp>
        <p:nvSpPr>
          <p:cNvPr id="11" name="caption">
            <a:extLst xmlns:a="http://schemas.openxmlformats.org/drawingml/2006/main">
              <a:ext uri="{FF2B5EF4-FFF2-40B4-BE49-F238E27FC236}">
                <a16:creationId xmlns:a16="http://schemas.microsoft.com/office/drawing/2014/main" id="{0805E873-B5FC-4D1F-AD44-6F27A939B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en aire, dentro del intervalo didáctico, c ≈ 331 + 0,6 θ. · Producción propia UCASAL · U09-CH-003</a:t>
            </a:r>
          </a:p>
        </p:txBody>
      </p:sp>
      <p:sp>
        <p:nvSpPr>
          <p:cNvPr id="12" name="unit-footer">
            <a:extLst xmlns:a="http://schemas.openxmlformats.org/drawingml/2006/main">
              <a:ext uri="{FF2B5EF4-FFF2-40B4-BE49-F238E27FC236}">
                <a16:creationId xmlns:a16="http://schemas.microsoft.com/office/drawing/2014/main" id="{3FB15A18-A4BA-4394-A6A2-DC83668D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Física Acústica · Unidad 9</a:t>
            </a:r>
          </a:p>
        </p:txBody>
      </p:sp>
      <p:sp>
        <p:nvSpPr>
          <p:cNvPr id="1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DB544AD-A37F-48F8-BED8-79B74F04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op-rail-1">
            <a:extLst xmlns:a="http://schemas.openxmlformats.org/drawingml/2006/main">
              <a:ext uri="{FF2B5EF4-FFF2-40B4-BE49-F238E27FC236}">
                <a16:creationId xmlns:a16="http://schemas.microsoft.com/office/drawing/2014/main" id="{EF0EB5FE-08A7-4C32-9FF3-FE067E7F0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A4463C9B-316F-4BF6-937C-14FE5B7A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64F8B201-C6F3-405B-A340-AF5EACA0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D9B4E648-BD09-4805-A328-109083FBA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A1CCA6B-6A2B-4E60-B96C-E52D3B7D3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Temperatura, c y λ: no confundir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2F3E3EF-44B3-4429-A54C-8C27F4BE8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Atmósfera · Ejemplo resuelto</a:t>
            </a:r>
          </a:p>
        </p:txBody>
      </p:sp>
      <p:sp>
        <p:nvSpPr>
          <p:cNvPr id="7" name="U09-DG-017-equation-anchor">
            <a:extLst xmlns:a="http://schemas.openxmlformats.org/drawingml/2006/main">
              <a:ext uri="{FF2B5EF4-FFF2-40B4-BE49-F238E27FC236}">
                <a16:creationId xmlns:a16="http://schemas.microsoft.com/office/drawing/2014/main" id="{4CE2CDA7-AEFA-4F00-89B1-E3D15315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9470" y="2707005"/>
            <a:ext cx="4732020" cy="1015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17-callout_1-anchor">
            <a:extLst xmlns:a="http://schemas.openxmlformats.org/drawingml/2006/main">
              <a:ext uri="{FF2B5EF4-FFF2-40B4-BE49-F238E27FC236}">
                <a16:creationId xmlns:a16="http://schemas.microsoft.com/office/drawing/2014/main" id="{089C7340-DADB-4654-B449-A1D04B82E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2588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17-callout_2-anchor">
            <a:extLst xmlns:a="http://schemas.openxmlformats.org/drawingml/2006/main">
              <a:ext uri="{FF2B5EF4-FFF2-40B4-BE49-F238E27FC236}">
                <a16:creationId xmlns:a16="http://schemas.microsoft.com/office/drawing/2014/main" id="{26C242AD-9037-43EF-98F8-C9E330A54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1652588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17-callout_3-anchor">
            <a:extLst xmlns:a="http://schemas.openxmlformats.org/drawingml/2006/main">
              <a:ext uri="{FF2B5EF4-FFF2-40B4-BE49-F238E27FC236}">
                <a16:creationId xmlns:a16="http://schemas.microsoft.com/office/drawing/2014/main" id="{45C99B0C-C915-4754-B3D3-F8B668E68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17-callout_4-anchor">
            <a:extLst xmlns:a="http://schemas.openxmlformats.org/drawingml/2006/main">
              <a:ext uri="{FF2B5EF4-FFF2-40B4-BE49-F238E27FC236}">
                <a16:creationId xmlns:a16="http://schemas.microsoft.com/office/drawing/2014/main" id="{E5BED0B4-C4F7-40F6-9AFF-59AE9408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4191000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0" name="U09-DG-017-leader_1"/>
          <p:cNvCxnSpPr>
            <a:stCxn xmlns:a="http://schemas.openxmlformats.org/drawingml/2006/main" id="8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28950" y="2101692"/>
            <a:ext cx="350520" cy="111299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1" name="U09-DG-017-leader_2"/>
          <p:cNvCxnSpPr>
            <a:stCxn xmlns:a="http://schemas.openxmlformats.org/drawingml/2006/main" id="9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8111490" y="2101692"/>
            <a:ext cx="350520" cy="111299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2" name="U09-DG-017-leader_3"/>
          <p:cNvCxnSpPr>
            <a:stCxn xmlns:a="http://schemas.openxmlformats.org/drawingml/2006/main" id="10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028950" y="3214688"/>
            <a:ext cx="350520" cy="142541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3" name="U09-DG-017-leader_4"/>
          <p:cNvCxnSpPr>
            <a:stCxn xmlns:a="http://schemas.openxmlformats.org/drawingml/2006/main" id="11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 flipV="1">
            <a:off x="8111490" y="3214688"/>
            <a:ext cx="350520" cy="142541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U09-DG-017-visual-alt" descr="Dos estados y ecuación λ=c/f; U09-DG-017, candidata para diagram-generation. La composición permite reconocer que si la fuente conserva f, cambia λ, no la frecuencia emitida.">
            <a:extLst xmlns:a="http://schemas.openxmlformats.org/drawingml/2006/main">
              <a:ext uri="{FF2B5EF4-FFF2-40B4-BE49-F238E27FC236}">
                <a16:creationId xmlns:a16="http://schemas.microsoft.com/office/drawing/2014/main" id="{F03BAEFF-7686-4E4E-8006-3C0B68C45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9470" y="2707005"/>
            <a:ext cx="4732020" cy="1015365"/>
          </a:xfrm>
          <a:prstGeom xmlns:a="http://schemas.openxmlformats.org/drawingml/2006/main" prst="roundRect">
            <a:avLst>
              <a:gd name="adj" fmla="val 65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7" name="U09-DG-017-equation-text">
            <a:extLst xmlns:a="http://schemas.openxmlformats.org/drawingml/2006/main">
              <a:ext uri="{FF2B5EF4-FFF2-40B4-BE49-F238E27FC236}">
                <a16:creationId xmlns:a16="http://schemas.microsoft.com/office/drawing/2014/main" id="{0E726095-5142-4DAC-9780-60A5054E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830830"/>
            <a:ext cx="4389120" cy="767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91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691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λ=c/f y valores del ejemplo</a:t>
            </a:r>
          </a:p>
        </p:txBody>
      </p:sp>
      <p:sp>
        <p:nvSpPr>
          <p:cNvPr id="18" name="U09-DG-017-callout_1-box">
            <a:extLst xmlns:a="http://schemas.openxmlformats.org/drawingml/2006/main">
              <a:ext uri="{FF2B5EF4-FFF2-40B4-BE49-F238E27FC236}">
                <a16:creationId xmlns:a16="http://schemas.microsoft.com/office/drawing/2014/main" id="{F5532689-E2F5-4947-A953-2DB9131A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2588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9" name="U09-DG-017-callout_1-text">
            <a:extLst xmlns:a="http://schemas.openxmlformats.org/drawingml/2006/main">
              <a:ext uri="{FF2B5EF4-FFF2-40B4-BE49-F238E27FC236}">
                <a16:creationId xmlns:a16="http://schemas.microsoft.com/office/drawing/2014/main" id="{D91AA787-87B8-4FFF-AD3A-62782906E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76413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Estado 1: 5 °C</a:t>
            </a:r>
          </a:p>
        </p:txBody>
      </p:sp>
      <p:sp>
        <p:nvSpPr>
          <p:cNvPr id="20" name="U09-DG-017-callout_2-box">
            <a:extLst xmlns:a="http://schemas.openxmlformats.org/drawingml/2006/main">
              <a:ext uri="{FF2B5EF4-FFF2-40B4-BE49-F238E27FC236}">
                <a16:creationId xmlns:a16="http://schemas.microsoft.com/office/drawing/2014/main" id="{4794F155-F2B0-4C24-9022-00BDC0249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1652588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1" name="U09-DG-017-callout_2-text">
            <a:extLst xmlns:a="http://schemas.openxmlformats.org/drawingml/2006/main">
              <a:ext uri="{FF2B5EF4-FFF2-40B4-BE49-F238E27FC236}">
                <a16:creationId xmlns:a16="http://schemas.microsoft.com/office/drawing/2014/main" id="{9BE9720A-E282-48FD-B79F-DE56773D8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3460" y="1776413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Estado 2: 25 °C</a:t>
            </a:r>
          </a:p>
        </p:txBody>
      </p:sp>
      <p:sp>
        <p:nvSpPr>
          <p:cNvPr id="22" name="U09-DG-017-callout_3-box">
            <a:extLst xmlns:a="http://schemas.openxmlformats.org/drawingml/2006/main">
              <a:ext uri="{FF2B5EF4-FFF2-40B4-BE49-F238E27FC236}">
                <a16:creationId xmlns:a16="http://schemas.microsoft.com/office/drawing/2014/main" id="{1011963B-B83D-4988-B12C-BDD42B82C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3" name="U09-DG-017-callout_3-text">
            <a:extLst xmlns:a="http://schemas.openxmlformats.org/drawingml/2006/main">
              <a:ext uri="{FF2B5EF4-FFF2-40B4-BE49-F238E27FC236}">
                <a16:creationId xmlns:a16="http://schemas.microsoft.com/office/drawing/2014/main" id="{D282019E-16E2-43C8-B1E3-CD217402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14825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 se conserva</a:t>
            </a:r>
          </a:p>
        </p:txBody>
      </p:sp>
      <p:sp>
        <p:nvSpPr>
          <p:cNvPr id="24" name="U09-DG-017-callout_4-box">
            <a:extLst xmlns:a="http://schemas.openxmlformats.org/drawingml/2006/main">
              <a:ext uri="{FF2B5EF4-FFF2-40B4-BE49-F238E27FC236}">
                <a16:creationId xmlns:a16="http://schemas.microsoft.com/office/drawing/2014/main" id="{C4FFCDD3-DF84-4FF1-AC66-4ECF7921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4191000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5" name="U09-DG-017-callout_4-text">
            <a:extLst xmlns:a="http://schemas.openxmlformats.org/drawingml/2006/main">
              <a:ext uri="{FF2B5EF4-FFF2-40B4-BE49-F238E27FC236}">
                <a16:creationId xmlns:a16="http://schemas.microsoft.com/office/drawing/2014/main" id="{483B95F0-B09E-4230-B119-01C44931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3460" y="4314825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λ cambia con c</a:t>
            </a:r>
          </a:p>
        </p:txBody>
      </p:sp>
      <p:sp>
        <p:nvSpPr>
          <p:cNvPr id="26" name="caption">
            <a:extLst xmlns:a="http://schemas.openxmlformats.org/drawingml/2006/main">
              <a:ext uri="{FF2B5EF4-FFF2-40B4-BE49-F238E27FC236}">
                <a16:creationId xmlns:a16="http://schemas.microsoft.com/office/drawing/2014/main" id="{AF1D9951-1DCF-46B4-A925-9EDE3A76B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si la fuente conserva f, cambia λ, no la frecuencia emitida. · Producción propia UCASAL · U09-DG-017</a:t>
            </a:r>
          </a:p>
        </p:txBody>
      </p:sp>
      <p:sp>
        <p:nvSpPr>
          <p:cNvPr id="27" name="unit-footer">
            <a:extLst xmlns:a="http://schemas.openxmlformats.org/drawingml/2006/main">
              <a:ext uri="{FF2B5EF4-FFF2-40B4-BE49-F238E27FC236}">
                <a16:creationId xmlns:a16="http://schemas.microsoft.com/office/drawing/2014/main" id="{C227FC93-AAC9-4AC8-8E33-3268C969C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Física Acústica · Unidad 9</a:t>
            </a:r>
          </a:p>
        </p:txBody>
      </p:sp>
      <p:sp>
        <p:nvSpPr>
          <p:cNvPr id="2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7FFB3ED-A3AD-416D-99B2-44B0E637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-rail-1">
            <a:extLst xmlns:a="http://schemas.openxmlformats.org/drawingml/2006/main">
              <a:ext uri="{FF2B5EF4-FFF2-40B4-BE49-F238E27FC236}">
                <a16:creationId xmlns:a16="http://schemas.microsoft.com/office/drawing/2014/main" id="{68F4D13B-967E-4EFF-9294-2DDAFE0F5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565F305F-1754-4BAA-BE86-80A5EBB30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C537E613-9190-4F6C-B954-DB2F1FFC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C78D8BC4-AE6D-4057-BB70-9F9B0032D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84BBF6A-CAD0-4965-BB6B-7862AEB2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Gradientes térmicos: la trayectoria puede curvarse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9F62DD8-BB84-4BB3-BAB3-C1582599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Atmósfera · Diagrama conceptual</a:t>
            </a:r>
          </a:p>
        </p:txBody>
      </p:sp>
      <p:sp>
        <p:nvSpPr>
          <p:cNvPr id="7" name="U09-DG-018-concept_1-anchor">
            <a:extLst xmlns:a="http://schemas.openxmlformats.org/drawingml/2006/main">
              <a:ext uri="{FF2B5EF4-FFF2-40B4-BE49-F238E27FC236}">
                <a16:creationId xmlns:a16="http://schemas.microsoft.com/office/drawing/2014/main" id="{C60BCD9D-47F1-45D9-BE21-733BFD36B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4784598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18-concept_2-anchor">
            <a:extLst xmlns:a="http://schemas.openxmlformats.org/drawingml/2006/main">
              <a:ext uri="{FF2B5EF4-FFF2-40B4-BE49-F238E27FC236}">
                <a16:creationId xmlns:a16="http://schemas.microsoft.com/office/drawing/2014/main" id="{0E551FED-2ED0-4FA8-A247-46603ECEE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1840040"/>
            <a:ext cx="4784598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18-concept_3-anchor">
            <a:extLst xmlns:a="http://schemas.openxmlformats.org/drawingml/2006/main">
              <a:ext uri="{FF2B5EF4-FFF2-40B4-BE49-F238E27FC236}">
                <a16:creationId xmlns:a16="http://schemas.microsoft.com/office/drawing/2014/main" id="{8872B8F0-3305-49DA-80A4-16A21861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4784598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18-concept_4-anchor">
            <a:extLst xmlns:a="http://schemas.openxmlformats.org/drawingml/2006/main">
              <a:ext uri="{FF2B5EF4-FFF2-40B4-BE49-F238E27FC236}">
                <a16:creationId xmlns:a16="http://schemas.microsoft.com/office/drawing/2014/main" id="{07B87575-CEF1-4A33-B11E-5A61A11CA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3573971"/>
            <a:ext cx="4784598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18-visual-alt" descr="U09-DG-018, candidata para diagram-generation, reconstrucción de figura 9.1. La composición permite reconocer que las trayectorias se curvan hacia regiones de menor rapidez.">
            <a:extLst xmlns:a="http://schemas.openxmlformats.org/drawingml/2006/main">
              <a:ext uri="{FF2B5EF4-FFF2-40B4-BE49-F238E27FC236}">
                <a16:creationId xmlns:a16="http://schemas.microsoft.com/office/drawing/2014/main" id="{B6566638-1D72-40BD-8FA1-5031CC1D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4784598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2" name="U09-DG-018-concept_1-text">
            <a:extLst xmlns:a="http://schemas.openxmlformats.org/drawingml/2006/main">
              <a:ext uri="{FF2B5EF4-FFF2-40B4-BE49-F238E27FC236}">
                <a16:creationId xmlns:a16="http://schemas.microsoft.com/office/drawing/2014/main" id="{474A717E-DE99-40C6-A384-19E9F925B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63865"/>
            <a:ext cx="4441698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Perfil θ(z)</a:t>
            </a:r>
          </a:p>
        </p:txBody>
      </p:sp>
      <p:sp>
        <p:nvSpPr>
          <p:cNvPr id="13" name="U09-DG-018-concept_2-box">
            <a:extLst xmlns:a="http://schemas.openxmlformats.org/drawingml/2006/main">
              <a:ext uri="{FF2B5EF4-FFF2-40B4-BE49-F238E27FC236}">
                <a16:creationId xmlns:a16="http://schemas.microsoft.com/office/drawing/2014/main" id="{F1AA2680-5DC9-49BB-B1FD-91A58CC0F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1840040"/>
            <a:ext cx="4784598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4" name="U09-DG-018-concept_2-text">
            <a:extLst xmlns:a="http://schemas.openxmlformats.org/drawingml/2006/main">
              <a:ext uri="{FF2B5EF4-FFF2-40B4-BE49-F238E27FC236}">
                <a16:creationId xmlns:a16="http://schemas.microsoft.com/office/drawing/2014/main" id="{4E0F2D3C-5295-4265-9CED-6A4374E2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9612" y="1963865"/>
            <a:ext cx="4441698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Perfil c(z)</a:t>
            </a:r>
          </a:p>
        </p:txBody>
      </p:sp>
      <p:sp>
        <p:nvSpPr>
          <p:cNvPr id="15" name="U09-DG-018-concept_3-box">
            <a:extLst xmlns:a="http://schemas.openxmlformats.org/drawingml/2006/main">
              <a:ext uri="{FF2B5EF4-FFF2-40B4-BE49-F238E27FC236}">
                <a16:creationId xmlns:a16="http://schemas.microsoft.com/office/drawing/2014/main" id="{6C55FFEF-004D-42BD-AE5E-3BCDC97A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4784598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6" name="U09-DG-018-concept_3-text">
            <a:extLst xmlns:a="http://schemas.openxmlformats.org/drawingml/2006/main">
              <a:ext uri="{FF2B5EF4-FFF2-40B4-BE49-F238E27FC236}">
                <a16:creationId xmlns:a16="http://schemas.microsoft.com/office/drawing/2014/main" id="{401A25F2-7C70-478A-A459-8A220B60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7796"/>
            <a:ext cx="4441698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Trayectoria curvada</a:t>
            </a:r>
          </a:p>
        </p:txBody>
      </p:sp>
      <p:sp>
        <p:nvSpPr>
          <p:cNvPr id="17" name="U09-DG-018-concept_4-box">
            <a:extLst xmlns:a="http://schemas.openxmlformats.org/drawingml/2006/main">
              <a:ext uri="{FF2B5EF4-FFF2-40B4-BE49-F238E27FC236}">
                <a16:creationId xmlns:a16="http://schemas.microsoft.com/office/drawing/2014/main" id="{F85BBF9C-2D2B-4243-81CA-5E23A5452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3573971"/>
            <a:ext cx="4784598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18" name="U09-DG-018-concept_4-text">
            <a:extLst xmlns:a="http://schemas.openxmlformats.org/drawingml/2006/main">
              <a:ext uri="{FF2B5EF4-FFF2-40B4-BE49-F238E27FC236}">
                <a16:creationId xmlns:a16="http://schemas.microsoft.com/office/drawing/2014/main" id="{D72B4B0D-8810-4592-9E89-A45703FD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9612" y="3697796"/>
            <a:ext cx="4441698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Zona de sombra</a:t>
            </a:r>
          </a:p>
        </p:txBody>
      </p:sp>
      <p:sp>
        <p:nvSpPr>
          <p:cNvPr id="19" name="caption">
            <a:extLst xmlns:a="http://schemas.openxmlformats.org/drawingml/2006/main">
              <a:ext uri="{FF2B5EF4-FFF2-40B4-BE49-F238E27FC236}">
                <a16:creationId xmlns:a16="http://schemas.microsoft.com/office/drawing/2014/main" id="{0FE64A96-23B8-445B-8E12-0CE62AA07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las trayectorias se curvan hacia regiones de menor rapidez. · Producción propia UCASAL · U09-DG-018</a:t>
            </a:r>
          </a:p>
        </p:txBody>
      </p:sp>
      <p:sp>
        <p:nvSpPr>
          <p:cNvPr id="20" name="unit-footer">
            <a:extLst xmlns:a="http://schemas.openxmlformats.org/drawingml/2006/main">
              <a:ext uri="{FF2B5EF4-FFF2-40B4-BE49-F238E27FC236}">
                <a16:creationId xmlns:a16="http://schemas.microsoft.com/office/drawing/2014/main" id="{7D6C6A86-615F-49B8-8F29-18A0A24C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Física Acústica · Unidad 9</a:t>
            </a:r>
          </a:p>
        </p:txBody>
      </p:sp>
      <p:sp>
        <p:nvSpPr>
          <p:cNvPr id="2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39314B1-0FC9-458E-A915-2D30B02C5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op-rail-1">
            <a:extLst xmlns:a="http://schemas.openxmlformats.org/drawingml/2006/main">
              <a:ext uri="{FF2B5EF4-FFF2-40B4-BE49-F238E27FC236}">
                <a16:creationId xmlns:a16="http://schemas.microsoft.com/office/drawing/2014/main" id="{9017CA8B-CD5C-4CF2-8411-1A8B45DC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65162BA0-6B22-4E88-8D2D-85545B63D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D5C77833-C0EF-444C-AF22-D8779109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3B53041D-4DA5-4FAC-AB59-78D3E70E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BC8C2BA-E9D5-49D6-8B03-770151EA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Viento uniforme: cambia la rapidez efectiva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F69AB40-1D90-43B3-A402-1F2464EDF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Atmósfera · Ecuación anotada</a:t>
            </a:r>
          </a:p>
        </p:txBody>
      </p:sp>
      <p:sp>
        <p:nvSpPr>
          <p:cNvPr id="7" name="U09-DG-019-equation-anchor">
            <a:extLst xmlns:a="http://schemas.openxmlformats.org/drawingml/2006/main">
              <a:ext uri="{FF2B5EF4-FFF2-40B4-BE49-F238E27FC236}">
                <a16:creationId xmlns:a16="http://schemas.microsoft.com/office/drawing/2014/main" id="{93D1E202-C908-49C4-B849-88338CF6A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9470" y="2707005"/>
            <a:ext cx="4732020" cy="1015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19-callout_1-anchor">
            <a:extLst xmlns:a="http://schemas.openxmlformats.org/drawingml/2006/main">
              <a:ext uri="{FF2B5EF4-FFF2-40B4-BE49-F238E27FC236}">
                <a16:creationId xmlns:a16="http://schemas.microsoft.com/office/drawing/2014/main" id="{0048CC0D-D19C-43FE-9A3C-44170B4B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2588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19-callout_2-anchor">
            <a:extLst xmlns:a="http://schemas.openxmlformats.org/drawingml/2006/main">
              <a:ext uri="{FF2B5EF4-FFF2-40B4-BE49-F238E27FC236}">
                <a16:creationId xmlns:a16="http://schemas.microsoft.com/office/drawing/2014/main" id="{82430261-2EDB-41D4-AA7C-872C3D7F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1652588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19-callout_3-anchor">
            <a:extLst xmlns:a="http://schemas.openxmlformats.org/drawingml/2006/main">
              <a:ext uri="{FF2B5EF4-FFF2-40B4-BE49-F238E27FC236}">
                <a16:creationId xmlns:a16="http://schemas.microsoft.com/office/drawing/2014/main" id="{62F1E475-9F6E-47C6-8F6C-8B63605A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19-callout_4-anchor">
            <a:extLst xmlns:a="http://schemas.openxmlformats.org/drawingml/2006/main">
              <a:ext uri="{FF2B5EF4-FFF2-40B4-BE49-F238E27FC236}">
                <a16:creationId xmlns:a16="http://schemas.microsoft.com/office/drawing/2014/main" id="{13031183-6B33-4BDF-8C37-45AE0D63C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4191000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0" name="U09-DG-019-leader_1"/>
          <p:cNvCxnSpPr>
            <a:stCxn xmlns:a="http://schemas.openxmlformats.org/drawingml/2006/main" id="8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28950" y="2101692"/>
            <a:ext cx="350520" cy="111299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1" name="U09-DG-019-leader_2"/>
          <p:cNvCxnSpPr>
            <a:stCxn xmlns:a="http://schemas.openxmlformats.org/drawingml/2006/main" id="9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8111490" y="2101692"/>
            <a:ext cx="350520" cy="111299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2" name="U09-DG-019-leader_3"/>
          <p:cNvCxnSpPr>
            <a:stCxn xmlns:a="http://schemas.openxmlformats.org/drawingml/2006/main" id="10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028950" y="3214688"/>
            <a:ext cx="350520" cy="142541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3" name="U09-DG-019-leader_4"/>
          <p:cNvCxnSpPr>
            <a:stCxn xmlns:a="http://schemas.openxmlformats.org/drawingml/2006/main" id="11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 flipV="1">
            <a:off x="8111490" y="3214688"/>
            <a:ext cx="350520" cy="142541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U09-DG-019-visual-alt" descr="Ecuación con brújula angular; U09-DG-019, candidata para diagram-generation. La composición permite reconocer que un viento uniforme modifica la rapidez respecto del suelo según la dirección, pero no curva por sí solo el trayecto.">
            <a:extLst xmlns:a="http://schemas.openxmlformats.org/drawingml/2006/main">
              <a:ext uri="{FF2B5EF4-FFF2-40B4-BE49-F238E27FC236}">
                <a16:creationId xmlns:a16="http://schemas.microsoft.com/office/drawing/2014/main" id="{8B7BBC62-B879-47C4-93D3-8C41A7359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9470" y="2707005"/>
            <a:ext cx="4732020" cy="1015365"/>
          </a:xfrm>
          <a:prstGeom xmlns:a="http://schemas.openxmlformats.org/drawingml/2006/main" prst="roundRect">
            <a:avLst>
              <a:gd name="adj" fmla="val 65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7" name="U09-DG-019-equation-text">
            <a:extLst xmlns:a="http://schemas.openxmlformats.org/drawingml/2006/main">
              <a:ext uri="{FF2B5EF4-FFF2-40B4-BE49-F238E27FC236}">
                <a16:creationId xmlns:a16="http://schemas.microsoft.com/office/drawing/2014/main" id="{56A339E2-5153-4D1E-9068-7F72E372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830830"/>
            <a:ext cx="4389120" cy="767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91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691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cₑf=c+v_viento cos ψ</a:t>
            </a:r>
          </a:p>
        </p:txBody>
      </p:sp>
      <p:sp>
        <p:nvSpPr>
          <p:cNvPr id="18" name="U09-DG-019-callout_1-box">
            <a:extLst xmlns:a="http://schemas.openxmlformats.org/drawingml/2006/main">
              <a:ext uri="{FF2B5EF4-FFF2-40B4-BE49-F238E27FC236}">
                <a16:creationId xmlns:a16="http://schemas.microsoft.com/office/drawing/2014/main" id="{4D218D62-2A9D-4C78-B9DF-95253EA87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2588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9" name="U09-DG-019-callout_1-text">
            <a:extLst xmlns:a="http://schemas.openxmlformats.org/drawingml/2006/main">
              <a:ext uri="{FF2B5EF4-FFF2-40B4-BE49-F238E27FC236}">
                <a16:creationId xmlns:a16="http://schemas.microsoft.com/office/drawing/2014/main" id="{59B9991D-C346-4078-9AF5-0EEE518A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76413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c: rapidez sin viento</a:t>
            </a:r>
          </a:p>
        </p:txBody>
      </p:sp>
      <p:sp>
        <p:nvSpPr>
          <p:cNvPr id="20" name="U09-DG-019-callout_2-box">
            <a:extLst xmlns:a="http://schemas.openxmlformats.org/drawingml/2006/main">
              <a:ext uri="{FF2B5EF4-FFF2-40B4-BE49-F238E27FC236}">
                <a16:creationId xmlns:a16="http://schemas.microsoft.com/office/drawing/2014/main" id="{D7DE6AE9-CF28-4CD1-AAB9-7A46A669B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1652588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1" name="U09-DG-019-callout_2-text">
            <a:extLst xmlns:a="http://schemas.openxmlformats.org/drawingml/2006/main">
              <a:ext uri="{FF2B5EF4-FFF2-40B4-BE49-F238E27FC236}">
                <a16:creationId xmlns:a16="http://schemas.microsoft.com/office/drawing/2014/main" id="{88EED4B7-4226-46A6-BCF7-586CDD364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3460" y="1776413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v_viento: módulo</a:t>
            </a:r>
          </a:p>
        </p:txBody>
      </p:sp>
      <p:sp>
        <p:nvSpPr>
          <p:cNvPr id="22" name="U09-DG-019-callout_3-box">
            <a:extLst xmlns:a="http://schemas.openxmlformats.org/drawingml/2006/main">
              <a:ext uri="{FF2B5EF4-FFF2-40B4-BE49-F238E27FC236}">
                <a16:creationId xmlns:a16="http://schemas.microsoft.com/office/drawing/2014/main" id="{FA8E1025-4866-4694-AF66-3DA21571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3" name="U09-DG-019-callout_3-text">
            <a:extLst xmlns:a="http://schemas.openxmlformats.org/drawingml/2006/main">
              <a:ext uri="{FF2B5EF4-FFF2-40B4-BE49-F238E27FC236}">
                <a16:creationId xmlns:a16="http://schemas.microsoft.com/office/drawing/2014/main" id="{894F9200-3842-4DDB-849A-8FF5625B8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14825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ψ: ángulo</a:t>
            </a:r>
          </a:p>
        </p:txBody>
      </p:sp>
      <p:sp>
        <p:nvSpPr>
          <p:cNvPr id="24" name="U09-DG-019-callout_4-box">
            <a:extLst xmlns:a="http://schemas.openxmlformats.org/drawingml/2006/main">
              <a:ext uri="{FF2B5EF4-FFF2-40B4-BE49-F238E27FC236}">
                <a16:creationId xmlns:a16="http://schemas.microsoft.com/office/drawing/2014/main" id="{12AD947E-3BDB-4F06-9382-2319E47BD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4191000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5" name="U09-DG-019-callout_4-text">
            <a:extLst xmlns:a="http://schemas.openxmlformats.org/drawingml/2006/main">
              <a:ext uri="{FF2B5EF4-FFF2-40B4-BE49-F238E27FC236}">
                <a16:creationId xmlns:a16="http://schemas.microsoft.com/office/drawing/2014/main" id="{7E4F3C25-2303-4C00-BF15-30C0B86D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3460" y="4314825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cos ψ: dirección</a:t>
            </a:r>
          </a:p>
        </p:txBody>
      </p:sp>
      <p:sp>
        <p:nvSpPr>
          <p:cNvPr id="26" name="caption">
            <a:extLst xmlns:a="http://schemas.openxmlformats.org/drawingml/2006/main">
              <a:ext uri="{FF2B5EF4-FFF2-40B4-BE49-F238E27FC236}">
                <a16:creationId xmlns:a16="http://schemas.microsoft.com/office/drawing/2014/main" id="{B1FED837-47D5-472A-8345-D2A2023C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un viento uniforme modifica la rapidez respecto del suelo según la dirección, pero no curva por sí solo el trayecto. · Producción propia UCASAL ·…</a:t>
            </a:r>
          </a:p>
        </p:txBody>
      </p:sp>
      <p:sp>
        <p:nvSpPr>
          <p:cNvPr id="27" name="unit-footer">
            <a:extLst xmlns:a="http://schemas.openxmlformats.org/drawingml/2006/main">
              <a:ext uri="{FF2B5EF4-FFF2-40B4-BE49-F238E27FC236}">
                <a16:creationId xmlns:a16="http://schemas.microsoft.com/office/drawing/2014/main" id="{F66D6BDF-F88C-454C-BE40-A942A782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Física Acústica · Unidad 9</a:t>
            </a:r>
          </a:p>
        </p:txBody>
      </p:sp>
      <p:sp>
        <p:nvSpPr>
          <p:cNvPr id="2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1B858DF-D5AF-4B7F-A23C-00DF09C8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-rail-1">
            <a:extLst xmlns:a="http://schemas.openxmlformats.org/drawingml/2006/main">
              <a:ext uri="{FF2B5EF4-FFF2-40B4-BE49-F238E27FC236}">
                <a16:creationId xmlns:a16="http://schemas.microsoft.com/office/drawing/2014/main" id="{98B49D27-A8BA-42C3-B6C3-B5A83BB6B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34508DE9-AD7B-4E24-B981-B36549D9C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FC804196-6E8C-4FB9-A4B7-8AF762E5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0320E0A7-E0C7-44E9-83CB-2C210F6CE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64CCF98-A363-4F6F-A1E0-41D3DB60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Gradiente de viento: aparece curvatura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7EED427-1602-4456-9F77-B825DDBAA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Atmósfera · Diagrama conceptual</a:t>
            </a:r>
          </a:p>
        </p:txBody>
      </p:sp>
      <p:sp>
        <p:nvSpPr>
          <p:cNvPr id="7" name="U09-DG-020-concept_1-anchor">
            <a:extLst xmlns:a="http://schemas.openxmlformats.org/drawingml/2006/main">
              <a:ext uri="{FF2B5EF4-FFF2-40B4-BE49-F238E27FC236}">
                <a16:creationId xmlns:a16="http://schemas.microsoft.com/office/drawing/2014/main" id="{E52A7932-737F-4D9D-9D9B-01961199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4784598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20-concept_2-anchor">
            <a:extLst xmlns:a="http://schemas.openxmlformats.org/drawingml/2006/main">
              <a:ext uri="{FF2B5EF4-FFF2-40B4-BE49-F238E27FC236}">
                <a16:creationId xmlns:a16="http://schemas.microsoft.com/office/drawing/2014/main" id="{95831BC5-9BE5-436A-B968-A54F3707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1840040"/>
            <a:ext cx="4784598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20-concept_3-anchor">
            <a:extLst xmlns:a="http://schemas.openxmlformats.org/drawingml/2006/main">
              <a:ext uri="{FF2B5EF4-FFF2-40B4-BE49-F238E27FC236}">
                <a16:creationId xmlns:a16="http://schemas.microsoft.com/office/drawing/2014/main" id="{6874B0D6-1E72-4F88-ABE4-48D04C05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4784598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20-concept_4-anchor">
            <a:extLst xmlns:a="http://schemas.openxmlformats.org/drawingml/2006/main">
              <a:ext uri="{FF2B5EF4-FFF2-40B4-BE49-F238E27FC236}">
                <a16:creationId xmlns:a16="http://schemas.microsoft.com/office/drawing/2014/main" id="{C328CECA-4FAB-4F95-BBCE-ED97E7CA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3573971"/>
            <a:ext cx="4784598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20-visual-alt" descr="U09-DG-020, candidata para diagram-generation, reconstrucción de figura 9.2. La composición permite reconocer que si cₑf cambia con la altura, las trayectorias se curvan y la cobertura cambia.">
            <a:extLst xmlns:a="http://schemas.openxmlformats.org/drawingml/2006/main">
              <a:ext uri="{FF2B5EF4-FFF2-40B4-BE49-F238E27FC236}">
                <a16:creationId xmlns:a16="http://schemas.microsoft.com/office/drawing/2014/main" id="{4D741C03-CE75-4B6E-8386-AA81B8E73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4784598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2" name="U09-DG-020-concept_1-text">
            <a:extLst xmlns:a="http://schemas.openxmlformats.org/drawingml/2006/main">
              <a:ext uri="{FF2B5EF4-FFF2-40B4-BE49-F238E27FC236}">
                <a16:creationId xmlns:a16="http://schemas.microsoft.com/office/drawing/2014/main" id="{8F5309AD-4547-442A-AC20-EBE60B5D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63865"/>
            <a:ext cx="4441698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A favor del viento</a:t>
            </a:r>
          </a:p>
        </p:txBody>
      </p:sp>
      <p:sp>
        <p:nvSpPr>
          <p:cNvPr id="13" name="U09-DG-020-concept_2-box">
            <a:extLst xmlns:a="http://schemas.openxmlformats.org/drawingml/2006/main">
              <a:ext uri="{FF2B5EF4-FFF2-40B4-BE49-F238E27FC236}">
                <a16:creationId xmlns:a16="http://schemas.microsoft.com/office/drawing/2014/main" id="{F96E7781-562A-482C-9088-F697726C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1840040"/>
            <a:ext cx="4784598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4" name="U09-DG-020-concept_2-text">
            <a:extLst xmlns:a="http://schemas.openxmlformats.org/drawingml/2006/main">
              <a:ext uri="{FF2B5EF4-FFF2-40B4-BE49-F238E27FC236}">
                <a16:creationId xmlns:a16="http://schemas.microsoft.com/office/drawing/2014/main" id="{D18D8166-34C9-42E6-9315-631E7175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9612" y="1963865"/>
            <a:ext cx="4441698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En contra del viento</a:t>
            </a:r>
          </a:p>
        </p:txBody>
      </p:sp>
      <p:sp>
        <p:nvSpPr>
          <p:cNvPr id="15" name="U09-DG-020-concept_3-box">
            <a:extLst xmlns:a="http://schemas.openxmlformats.org/drawingml/2006/main">
              <a:ext uri="{FF2B5EF4-FFF2-40B4-BE49-F238E27FC236}">
                <a16:creationId xmlns:a16="http://schemas.microsoft.com/office/drawing/2014/main" id="{D98963FE-02BF-44F7-9285-8F909171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4784598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6" name="U09-DG-020-concept_3-text">
            <a:extLst xmlns:a="http://schemas.openxmlformats.org/drawingml/2006/main">
              <a:ext uri="{FF2B5EF4-FFF2-40B4-BE49-F238E27FC236}">
                <a16:creationId xmlns:a16="http://schemas.microsoft.com/office/drawing/2014/main" id="{54642760-8475-4B07-8A0E-C8F1AB8D2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7796"/>
            <a:ext cx="4441698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Perfil cₑf(z)</a:t>
            </a:r>
          </a:p>
        </p:txBody>
      </p:sp>
      <p:sp>
        <p:nvSpPr>
          <p:cNvPr id="17" name="U09-DG-020-concept_4-box">
            <a:extLst xmlns:a="http://schemas.openxmlformats.org/drawingml/2006/main">
              <a:ext uri="{FF2B5EF4-FFF2-40B4-BE49-F238E27FC236}">
                <a16:creationId xmlns:a16="http://schemas.microsoft.com/office/drawing/2014/main" id="{7D695305-4610-4DE1-A27F-927789F99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3573971"/>
            <a:ext cx="4784598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18" name="U09-DG-020-concept_4-text">
            <a:extLst xmlns:a="http://schemas.openxmlformats.org/drawingml/2006/main">
              <a:ext uri="{FF2B5EF4-FFF2-40B4-BE49-F238E27FC236}">
                <a16:creationId xmlns:a16="http://schemas.microsoft.com/office/drawing/2014/main" id="{7B7EDF36-21FD-4943-B878-02DD2BEF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9612" y="3697796"/>
            <a:ext cx="4441698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Trayectoria curvada</a:t>
            </a:r>
          </a:p>
        </p:txBody>
      </p:sp>
      <p:sp>
        <p:nvSpPr>
          <p:cNvPr id="19" name="caption">
            <a:extLst xmlns:a="http://schemas.openxmlformats.org/drawingml/2006/main">
              <a:ext uri="{FF2B5EF4-FFF2-40B4-BE49-F238E27FC236}">
                <a16:creationId xmlns:a16="http://schemas.microsoft.com/office/drawing/2014/main" id="{3B5819D1-3067-4D59-BFE0-B01DD3FB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si cₑf cambia con la altura, las trayectorias se curvan y la cobertura cambia. · Producción propia UCASAL · U09-DG-020</a:t>
            </a:r>
          </a:p>
        </p:txBody>
      </p:sp>
      <p:sp>
        <p:nvSpPr>
          <p:cNvPr id="20" name="unit-footer">
            <a:extLst xmlns:a="http://schemas.openxmlformats.org/drawingml/2006/main">
              <a:ext uri="{FF2B5EF4-FFF2-40B4-BE49-F238E27FC236}">
                <a16:creationId xmlns:a16="http://schemas.microsoft.com/office/drawing/2014/main" id="{A9F03D10-FF61-45F0-89B8-88FDA613E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Física Acústica · Unidad 9</a:t>
            </a:r>
          </a:p>
        </p:txBody>
      </p:sp>
      <p:sp>
        <p:nvSpPr>
          <p:cNvPr id="2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AD3605B-65EC-4BD9-9C5D-2880E2691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op-rail-1">
            <a:extLst xmlns:a="http://schemas.openxmlformats.org/drawingml/2006/main">
              <a:ext uri="{FF2B5EF4-FFF2-40B4-BE49-F238E27FC236}">
                <a16:creationId xmlns:a16="http://schemas.microsoft.com/office/drawing/2014/main" id="{EA6F5F38-AF3B-415B-9307-397291A7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37195969-F2DD-440D-9E33-3AF0782A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38E61313-9CF4-436A-B56A-DF134A6B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46D0502E-AA4B-406C-9EF4-F092C14D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1AD57CD-84EC-4505-A043-186014446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Presión y densidad cambian juntas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45CD745-BC95-4E55-B5AF-E09D2505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Atmósfera · Ecuación conceptual</a:t>
            </a:r>
          </a:p>
        </p:txBody>
      </p:sp>
      <p:sp>
        <p:nvSpPr>
          <p:cNvPr id="7" name="U09-DG-021-equation-anchor">
            <a:extLst xmlns:a="http://schemas.openxmlformats.org/drawingml/2006/main">
              <a:ext uri="{FF2B5EF4-FFF2-40B4-BE49-F238E27FC236}">
                <a16:creationId xmlns:a16="http://schemas.microsoft.com/office/drawing/2014/main" id="{3299864C-9176-4B5F-95F5-7AF89CA53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9470" y="2707005"/>
            <a:ext cx="4732020" cy="1015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21-callout_1-anchor">
            <a:extLst xmlns:a="http://schemas.openxmlformats.org/drawingml/2006/main">
              <a:ext uri="{FF2B5EF4-FFF2-40B4-BE49-F238E27FC236}">
                <a16:creationId xmlns:a16="http://schemas.microsoft.com/office/drawing/2014/main" id="{2514C414-6A6D-4934-9C8D-ED56BA518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2588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21-callout_2-anchor">
            <a:extLst xmlns:a="http://schemas.openxmlformats.org/drawingml/2006/main">
              <a:ext uri="{FF2B5EF4-FFF2-40B4-BE49-F238E27FC236}">
                <a16:creationId xmlns:a16="http://schemas.microsoft.com/office/drawing/2014/main" id="{CF26EA8B-BA32-415E-8290-A5C1861C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1652588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21-callout_3-anchor">
            <a:extLst xmlns:a="http://schemas.openxmlformats.org/drawingml/2006/main">
              <a:ext uri="{FF2B5EF4-FFF2-40B4-BE49-F238E27FC236}">
                <a16:creationId xmlns:a16="http://schemas.microsoft.com/office/drawing/2014/main" id="{7E3C2064-910C-4F63-9D94-5D0384F7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21-callout_4-anchor">
            <a:extLst xmlns:a="http://schemas.openxmlformats.org/drawingml/2006/main">
              <a:ext uri="{FF2B5EF4-FFF2-40B4-BE49-F238E27FC236}">
                <a16:creationId xmlns:a16="http://schemas.microsoft.com/office/drawing/2014/main" id="{5374297C-16EE-44EB-81B5-D60E7D7CA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4191000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0" name="U09-DG-021-leader_1"/>
          <p:cNvCxnSpPr>
            <a:stCxn xmlns:a="http://schemas.openxmlformats.org/drawingml/2006/main" id="8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28950" y="2101692"/>
            <a:ext cx="350520" cy="111299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1" name="U09-DG-021-leader_2"/>
          <p:cNvCxnSpPr>
            <a:stCxn xmlns:a="http://schemas.openxmlformats.org/drawingml/2006/main" id="9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8111490" y="2101692"/>
            <a:ext cx="350520" cy="111299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2" name="U09-DG-021-leader_3"/>
          <p:cNvCxnSpPr>
            <a:stCxn xmlns:a="http://schemas.openxmlformats.org/drawingml/2006/main" id="10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028950" y="3214688"/>
            <a:ext cx="350520" cy="142541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3" name="U09-DG-021-leader_4"/>
          <p:cNvCxnSpPr>
            <a:stCxn xmlns:a="http://schemas.openxmlformats.org/drawingml/2006/main" id="11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 flipV="1">
            <a:off x="8111490" y="3214688"/>
            <a:ext cx="350520" cy="142541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U09-DG-021-visual-alt" descr="Balanza conceptual de variables; U09-DG-021, candidata para diagram-generation. La composición permite reconocer que c = √(γ p_a/ρ_a) no autoriza a variar p_a dejando implícitamente fija ρ_a.">
            <a:extLst xmlns:a="http://schemas.openxmlformats.org/drawingml/2006/main">
              <a:ext uri="{FF2B5EF4-FFF2-40B4-BE49-F238E27FC236}">
                <a16:creationId xmlns:a16="http://schemas.microsoft.com/office/drawing/2014/main" id="{415949CC-F0FC-4203-A504-EB2E1657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9470" y="2707005"/>
            <a:ext cx="4732020" cy="1015365"/>
          </a:xfrm>
          <a:prstGeom xmlns:a="http://schemas.openxmlformats.org/drawingml/2006/main" prst="roundRect">
            <a:avLst>
              <a:gd name="adj" fmla="val 65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7" name="U09-DG-021-equation-text">
            <a:extLst xmlns:a="http://schemas.openxmlformats.org/drawingml/2006/main">
              <a:ext uri="{FF2B5EF4-FFF2-40B4-BE49-F238E27FC236}">
                <a16:creationId xmlns:a16="http://schemas.microsoft.com/office/drawing/2014/main" id="{F1C53AA5-F2DE-4DE6-BC9A-F714321E0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830830"/>
            <a:ext cx="4389120" cy="767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91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691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c=√(γp_a/ρ_a)</a:t>
            </a:r>
          </a:p>
        </p:txBody>
      </p:sp>
      <p:sp>
        <p:nvSpPr>
          <p:cNvPr id="18" name="U09-DG-021-callout_1-box">
            <a:extLst xmlns:a="http://schemas.openxmlformats.org/drawingml/2006/main">
              <a:ext uri="{FF2B5EF4-FFF2-40B4-BE49-F238E27FC236}">
                <a16:creationId xmlns:a16="http://schemas.microsoft.com/office/drawing/2014/main" id="{B4799735-306C-4A1B-8DA0-25AA1BEF4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2588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9" name="U09-DG-021-callout_1-text">
            <a:extLst xmlns:a="http://schemas.openxmlformats.org/drawingml/2006/main">
              <a:ext uri="{FF2B5EF4-FFF2-40B4-BE49-F238E27FC236}">
                <a16:creationId xmlns:a16="http://schemas.microsoft.com/office/drawing/2014/main" id="{B3AD985E-D0A9-4E06-9290-D5BE9883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76413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γ: cociente térmico</a:t>
            </a:r>
          </a:p>
        </p:txBody>
      </p:sp>
      <p:sp>
        <p:nvSpPr>
          <p:cNvPr id="20" name="U09-DG-021-callout_2-box">
            <a:extLst xmlns:a="http://schemas.openxmlformats.org/drawingml/2006/main">
              <a:ext uri="{FF2B5EF4-FFF2-40B4-BE49-F238E27FC236}">
                <a16:creationId xmlns:a16="http://schemas.microsoft.com/office/drawing/2014/main" id="{5F37AC7F-8F44-4731-A02E-2E15E6EC2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1652588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1" name="U09-DG-021-callout_2-text">
            <a:extLst xmlns:a="http://schemas.openxmlformats.org/drawingml/2006/main">
              <a:ext uri="{FF2B5EF4-FFF2-40B4-BE49-F238E27FC236}">
                <a16:creationId xmlns:a16="http://schemas.microsoft.com/office/drawing/2014/main" id="{D406CE73-6CAE-4F16-8D2B-DF28BE2A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3460" y="1776413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p_a: presión</a:t>
            </a:r>
          </a:p>
        </p:txBody>
      </p:sp>
      <p:sp>
        <p:nvSpPr>
          <p:cNvPr id="22" name="U09-DG-021-callout_3-box">
            <a:extLst xmlns:a="http://schemas.openxmlformats.org/drawingml/2006/main">
              <a:ext uri="{FF2B5EF4-FFF2-40B4-BE49-F238E27FC236}">
                <a16:creationId xmlns:a16="http://schemas.microsoft.com/office/drawing/2014/main" id="{71000AF1-1EDE-451C-BFC3-D2299EE3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3" name="U09-DG-021-callout_3-text">
            <a:extLst xmlns:a="http://schemas.openxmlformats.org/drawingml/2006/main">
              <a:ext uri="{FF2B5EF4-FFF2-40B4-BE49-F238E27FC236}">
                <a16:creationId xmlns:a16="http://schemas.microsoft.com/office/drawing/2014/main" id="{155D1865-6672-4114-8D92-E446ED9E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14825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ρ_a: densidad</a:t>
            </a:r>
          </a:p>
        </p:txBody>
      </p:sp>
      <p:sp>
        <p:nvSpPr>
          <p:cNvPr id="24" name="U09-DG-021-callout_4-box">
            <a:extLst xmlns:a="http://schemas.openxmlformats.org/drawingml/2006/main">
              <a:ext uri="{FF2B5EF4-FFF2-40B4-BE49-F238E27FC236}">
                <a16:creationId xmlns:a16="http://schemas.microsoft.com/office/drawing/2014/main" id="{55E4BF2D-4622-4FC4-A3AC-B8CB55EA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4191000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5" name="U09-DG-021-callout_4-text">
            <a:extLst xmlns:a="http://schemas.openxmlformats.org/drawingml/2006/main">
              <a:ext uri="{FF2B5EF4-FFF2-40B4-BE49-F238E27FC236}">
                <a16:creationId xmlns:a16="http://schemas.microsoft.com/office/drawing/2014/main" id="{87AC05AD-CDF6-4490-B8E7-488DD0D81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3460" y="4314825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Qué variable se fija</a:t>
            </a:r>
          </a:p>
        </p:txBody>
      </p:sp>
      <p:sp>
        <p:nvSpPr>
          <p:cNvPr id="26" name="caption">
            <a:extLst xmlns:a="http://schemas.openxmlformats.org/drawingml/2006/main">
              <a:ext uri="{FF2B5EF4-FFF2-40B4-BE49-F238E27FC236}">
                <a16:creationId xmlns:a16="http://schemas.microsoft.com/office/drawing/2014/main" id="{007CFF2F-D3B3-4BDC-B721-2DE9FC39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c = √(γ p_a/ρ_a) no autoriza a variar p_a dejando implícitamente fija ρ_a. · Producción propia UCASAL · U09-DG-021</a:t>
            </a:r>
          </a:p>
        </p:txBody>
      </p:sp>
      <p:sp>
        <p:nvSpPr>
          <p:cNvPr id="27" name="unit-footer">
            <a:extLst xmlns:a="http://schemas.openxmlformats.org/drawingml/2006/main">
              <a:ext uri="{FF2B5EF4-FFF2-40B4-BE49-F238E27FC236}">
                <a16:creationId xmlns:a16="http://schemas.microsoft.com/office/drawing/2014/main" id="{9944DD7B-304B-413B-94A1-E6910CDF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Física Acústica · Unidad 9</a:t>
            </a:r>
          </a:p>
        </p:txBody>
      </p:sp>
      <p:sp>
        <p:nvSpPr>
          <p:cNvPr id="2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6DACB63-B9C0-4888-8733-4F3206CED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op-rail-1">
            <a:extLst xmlns:a="http://schemas.openxmlformats.org/drawingml/2006/main">
              <a:ext uri="{FF2B5EF4-FFF2-40B4-BE49-F238E27FC236}">
                <a16:creationId xmlns:a16="http://schemas.microsoft.com/office/drawing/2014/main" id="{E1757EA9-2293-42BA-B072-B4E927BF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4EB0D8FD-5D44-4660-97A1-63BE10E6B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9546D6FB-18E0-423E-9236-BA33B0C47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9355A27-585A-43AD-9B21-8DBF9BAC7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1 · AMPLIACIÓN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82EA51D-AFBB-49D5-9380-7375028CC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Altitud y humedad: no hay una resta universal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02D4491-C280-4466-82EB-432F555C2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Atmósfera · Ampliación</a:t>
            </a:r>
          </a:p>
        </p:txBody>
      </p:sp>
      <p:sp>
        <p:nvSpPr>
          <p:cNvPr id="7" name="U09-DG-022-concept_1-anchor">
            <a:extLst xmlns:a="http://schemas.openxmlformats.org/drawingml/2006/main">
              <a:ext uri="{FF2B5EF4-FFF2-40B4-BE49-F238E27FC236}">
                <a16:creationId xmlns:a16="http://schemas.microsoft.com/office/drawing/2014/main" id="{3B775436-B7F1-4DA1-A195-A56EE6019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22-concept_2-anchor">
            <a:extLst xmlns:a="http://schemas.openxmlformats.org/drawingml/2006/main">
              <a:ext uri="{FF2B5EF4-FFF2-40B4-BE49-F238E27FC236}">
                <a16:creationId xmlns:a16="http://schemas.microsoft.com/office/drawing/2014/main" id="{8B04DD81-0336-457C-BDDA-C70BE3FA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8400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22-concept_3-anchor">
            <a:extLst xmlns:a="http://schemas.openxmlformats.org/drawingml/2006/main">
              <a:ext uri="{FF2B5EF4-FFF2-40B4-BE49-F238E27FC236}">
                <a16:creationId xmlns:a16="http://schemas.microsoft.com/office/drawing/2014/main" id="{AC01DE12-5677-4922-941B-B08410D36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8400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22-concept_4-anchor">
            <a:extLst xmlns:a="http://schemas.openxmlformats.org/drawingml/2006/main">
              <a:ext uri="{FF2B5EF4-FFF2-40B4-BE49-F238E27FC236}">
                <a16:creationId xmlns:a16="http://schemas.microsoft.com/office/drawing/2014/main" id="{6817210E-A58B-4875-B709-1905B8B9D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22-concept_5-anchor">
            <a:extLst xmlns:a="http://schemas.openxmlformats.org/drawingml/2006/main">
              <a:ext uri="{FF2B5EF4-FFF2-40B4-BE49-F238E27FC236}">
                <a16:creationId xmlns:a16="http://schemas.microsoft.com/office/drawing/2014/main" id="{6523C212-7117-44CA-BFCD-E246BB04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3573971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U09-DG-022-concept_6-anchor">
            <a:extLst xmlns:a="http://schemas.openxmlformats.org/drawingml/2006/main">
              <a:ext uri="{FF2B5EF4-FFF2-40B4-BE49-F238E27FC236}">
                <a16:creationId xmlns:a16="http://schemas.microsoft.com/office/drawing/2014/main" id="{01CF63B4-E9D0-4C35-92B7-FAAC4465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3573971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U09-DG-022-visual-alt" descr="U09-DG-022, candidata para diagram-generation. La composición permite reconocer que altitud, temperatura, humedad, presión y densidad actúan de forma relacionada.">
            <a:extLst xmlns:a="http://schemas.openxmlformats.org/drawingml/2006/main">
              <a:ext uri="{FF2B5EF4-FFF2-40B4-BE49-F238E27FC236}">
                <a16:creationId xmlns:a16="http://schemas.microsoft.com/office/drawing/2014/main" id="{1B68F674-3E56-49A7-9A56-41C5FD670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4" name="U09-DG-022-concept_1-text">
            <a:extLst xmlns:a="http://schemas.openxmlformats.org/drawingml/2006/main">
              <a:ext uri="{FF2B5EF4-FFF2-40B4-BE49-F238E27FC236}">
                <a16:creationId xmlns:a16="http://schemas.microsoft.com/office/drawing/2014/main" id="{40AA4622-4D06-4991-A6FA-0C8386A9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638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Altitud</a:t>
            </a:r>
          </a:p>
        </p:txBody>
      </p:sp>
      <p:sp>
        <p:nvSpPr>
          <p:cNvPr id="15" name="U09-DG-022-concept_2-box">
            <a:extLst xmlns:a="http://schemas.openxmlformats.org/drawingml/2006/main">
              <a:ext uri="{FF2B5EF4-FFF2-40B4-BE49-F238E27FC236}">
                <a16:creationId xmlns:a16="http://schemas.microsoft.com/office/drawing/2014/main" id="{62592EFC-847C-46EA-B743-ACDC350DB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8400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6" name="U09-DG-022-concept_2-text">
            <a:extLst xmlns:a="http://schemas.openxmlformats.org/drawingml/2006/main">
              <a:ext uri="{FF2B5EF4-FFF2-40B4-BE49-F238E27FC236}">
                <a16:creationId xmlns:a16="http://schemas.microsoft.com/office/drawing/2014/main" id="{2B206ECA-4547-494C-91B2-14D73B8D8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19638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Humedad</a:t>
            </a:r>
          </a:p>
        </p:txBody>
      </p:sp>
      <p:sp>
        <p:nvSpPr>
          <p:cNvPr id="17" name="U09-DG-022-concept_3-box">
            <a:extLst xmlns:a="http://schemas.openxmlformats.org/drawingml/2006/main">
              <a:ext uri="{FF2B5EF4-FFF2-40B4-BE49-F238E27FC236}">
                <a16:creationId xmlns:a16="http://schemas.microsoft.com/office/drawing/2014/main" id="{79F1C6DD-A949-4D9F-AC7C-ADF5FFF1E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8400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8" name="U09-DG-022-concept_3-text">
            <a:extLst xmlns:a="http://schemas.openxmlformats.org/drawingml/2006/main">
              <a:ext uri="{FF2B5EF4-FFF2-40B4-BE49-F238E27FC236}">
                <a16:creationId xmlns:a16="http://schemas.microsoft.com/office/drawing/2014/main" id="{0AEA0C23-0377-4D5E-BC5C-376000AD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266" y="19638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Presión y densidad</a:t>
            </a:r>
          </a:p>
        </p:txBody>
      </p:sp>
      <p:sp>
        <p:nvSpPr>
          <p:cNvPr id="19" name="U09-DG-022-concept_4-box">
            <a:extLst xmlns:a="http://schemas.openxmlformats.org/drawingml/2006/main">
              <a:ext uri="{FF2B5EF4-FFF2-40B4-BE49-F238E27FC236}">
                <a16:creationId xmlns:a16="http://schemas.microsoft.com/office/drawing/2014/main" id="{4ABAB1AF-86EB-4F81-B748-7EE08570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0" name="U09-DG-022-concept_4-text">
            <a:extLst xmlns:a="http://schemas.openxmlformats.org/drawingml/2006/main">
              <a:ext uri="{FF2B5EF4-FFF2-40B4-BE49-F238E27FC236}">
                <a16:creationId xmlns:a16="http://schemas.microsoft.com/office/drawing/2014/main" id="{ECE451EF-14B2-4E09-8C74-F68226E3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7796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Temperatura</a:t>
            </a:r>
          </a:p>
        </p:txBody>
      </p:sp>
      <p:sp>
        <p:nvSpPr>
          <p:cNvPr id="21" name="U09-DG-022-concept_5-box">
            <a:extLst xmlns:a="http://schemas.openxmlformats.org/drawingml/2006/main">
              <a:ext uri="{FF2B5EF4-FFF2-40B4-BE49-F238E27FC236}">
                <a16:creationId xmlns:a16="http://schemas.microsoft.com/office/drawing/2014/main" id="{41CCECDF-68DE-4123-BAB9-7F0D9037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3573971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2" name="U09-DG-022-concept_5-text">
            <a:extLst xmlns:a="http://schemas.openxmlformats.org/drawingml/2006/main">
              <a:ext uri="{FF2B5EF4-FFF2-40B4-BE49-F238E27FC236}">
                <a16:creationId xmlns:a16="http://schemas.microsoft.com/office/drawing/2014/main" id="{C3D0F9DB-D4F0-4138-A105-BF2D1E52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3697796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Datos necesarios</a:t>
            </a:r>
          </a:p>
        </p:txBody>
      </p:sp>
      <p:sp>
        <p:nvSpPr>
          <p:cNvPr id="23" name="U09-DG-022-concept_6-box">
            <a:extLst xmlns:a="http://schemas.openxmlformats.org/drawingml/2006/main">
              <a:ext uri="{FF2B5EF4-FFF2-40B4-BE49-F238E27FC236}">
                <a16:creationId xmlns:a16="http://schemas.microsoft.com/office/drawing/2014/main" id="{B4A4C380-60F2-4881-844A-0F42AA95A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3573971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4" name="U09-DG-022-concept_6-text">
            <a:extLst xmlns:a="http://schemas.openxmlformats.org/drawingml/2006/main">
              <a:ext uri="{FF2B5EF4-FFF2-40B4-BE49-F238E27FC236}">
                <a16:creationId xmlns:a16="http://schemas.microsoft.com/office/drawing/2014/main" id="{76CFE73E-3FDF-4BB1-8A89-A3417174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266" y="3697796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No concluye por sí solo</a:t>
            </a:r>
          </a:p>
        </p:txBody>
      </p:sp>
      <p:sp>
        <p:nvSpPr>
          <p:cNvPr id="25" name="caption">
            <a:extLst xmlns:a="http://schemas.openxmlformats.org/drawingml/2006/main">
              <a:ext uri="{FF2B5EF4-FFF2-40B4-BE49-F238E27FC236}">
                <a16:creationId xmlns:a16="http://schemas.microsoft.com/office/drawing/2014/main" id="{D070DAE9-B87D-4A92-8126-4D0E7C6E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altitud, temperatura, humedad, presión y densidad actúan de forma relacionada. · Producción propia UCASAL · U09-DG-022</a:t>
            </a:r>
          </a:p>
        </p:txBody>
      </p:sp>
      <p:sp>
        <p:nvSpPr>
          <p:cNvPr id="26" name="unit-footer">
            <a:extLst xmlns:a="http://schemas.openxmlformats.org/drawingml/2006/main">
              <a:ext uri="{FF2B5EF4-FFF2-40B4-BE49-F238E27FC236}">
                <a16:creationId xmlns:a16="http://schemas.microsoft.com/office/drawing/2014/main" id="{FB0340F5-A063-4A2E-8347-24CB5CFF5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Física Acústica · Unidad 9</a:t>
            </a:r>
          </a:p>
        </p:txBody>
      </p:sp>
      <p:sp>
        <p:nvSpPr>
          <p:cNvPr id="2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3B9A766-34A8-4025-A186-3C619D1A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92697577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op-rail-1">
            <a:extLst xmlns:a="http://schemas.openxmlformats.org/drawingml/2006/main">
              <a:ext uri="{FF2B5EF4-FFF2-40B4-BE49-F238E27FC236}">
                <a16:creationId xmlns:a16="http://schemas.microsoft.com/office/drawing/2014/main" id="{70E02AC8-7207-4932-A2F5-8B327E791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03F2D6D0-1AEB-4B61-9438-6D60B47FD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FD800286-6386-49D9-BD69-AEACD8E4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DD5144C7-9828-4A49-990D-59DE9FC0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6DA150E-34D9-4536-9597-B00AC5C3D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Absorción atmosférica no es divergencia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E2F9291-480C-42B7-B9F6-D0EE82FA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Atmósfera · Modelo conceptual</a:t>
            </a:r>
          </a:p>
        </p:txBody>
      </p:sp>
      <p:sp>
        <p:nvSpPr>
          <p:cNvPr id="7" name="U09-DG-023-equation-anchor">
            <a:extLst xmlns:a="http://schemas.openxmlformats.org/drawingml/2006/main">
              <a:ext uri="{FF2B5EF4-FFF2-40B4-BE49-F238E27FC236}">
                <a16:creationId xmlns:a16="http://schemas.microsoft.com/office/drawing/2014/main" id="{C0E6B9BF-9C62-4440-8895-2534919EA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9470" y="2707005"/>
            <a:ext cx="4732020" cy="1015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23-callout_1-anchor">
            <a:extLst xmlns:a="http://schemas.openxmlformats.org/drawingml/2006/main">
              <a:ext uri="{FF2B5EF4-FFF2-40B4-BE49-F238E27FC236}">
                <a16:creationId xmlns:a16="http://schemas.microsoft.com/office/drawing/2014/main" id="{76D27EC6-043A-4D6C-BDB2-693A9BF80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2588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23-callout_2-anchor">
            <a:extLst xmlns:a="http://schemas.openxmlformats.org/drawingml/2006/main">
              <a:ext uri="{FF2B5EF4-FFF2-40B4-BE49-F238E27FC236}">
                <a16:creationId xmlns:a16="http://schemas.microsoft.com/office/drawing/2014/main" id="{5881AADA-7E8C-4070-AB55-D966B0190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1652588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23-callout_3-anchor">
            <a:extLst xmlns:a="http://schemas.openxmlformats.org/drawingml/2006/main">
              <a:ext uri="{FF2B5EF4-FFF2-40B4-BE49-F238E27FC236}">
                <a16:creationId xmlns:a16="http://schemas.microsoft.com/office/drawing/2014/main" id="{CA76197C-89DD-407D-838A-C6E0EA1C2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23-callout_4-anchor">
            <a:extLst xmlns:a="http://schemas.openxmlformats.org/drawingml/2006/main">
              <a:ext uri="{FF2B5EF4-FFF2-40B4-BE49-F238E27FC236}">
                <a16:creationId xmlns:a16="http://schemas.microsoft.com/office/drawing/2014/main" id="{FCF8323D-403C-40A9-AB8B-AFC575DAD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4191000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0" name="U09-DG-023-leader_1"/>
          <p:cNvCxnSpPr>
            <a:stCxn xmlns:a="http://schemas.openxmlformats.org/drawingml/2006/main" id="8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28950" y="2101692"/>
            <a:ext cx="350520" cy="111299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1" name="U09-DG-023-leader_2"/>
          <p:cNvCxnSpPr>
            <a:stCxn xmlns:a="http://schemas.openxmlformats.org/drawingml/2006/main" id="9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8111490" y="2101692"/>
            <a:ext cx="350520" cy="111299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2" name="U09-DG-023-leader_3"/>
          <p:cNvCxnSpPr>
            <a:stCxn xmlns:a="http://schemas.openxmlformats.org/drawingml/2006/main" id="10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028950" y="3214688"/>
            <a:ext cx="350520" cy="142541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3" name="U09-DG-023-leader_4"/>
          <p:cNvCxnSpPr>
            <a:stCxn xmlns:a="http://schemas.openxmlformats.org/drawingml/2006/main" id="11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 flipV="1">
            <a:off x="8111490" y="3214688"/>
            <a:ext cx="350520" cy="142541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U09-DG-023-visual-alt" descr="Ecuación estructural y comparación; U09-DG-023, candidata para diagram-generation. La composición permite reconocer que la divergencia redistribuye energía; la atmósfera puede disiparla de modo dependiente de frecuencia y estado.">
            <a:extLst xmlns:a="http://schemas.openxmlformats.org/drawingml/2006/main">
              <a:ext uri="{FF2B5EF4-FFF2-40B4-BE49-F238E27FC236}">
                <a16:creationId xmlns:a16="http://schemas.microsoft.com/office/drawing/2014/main" id="{69D1292C-8447-4FCD-925E-A975B461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9470" y="2707005"/>
            <a:ext cx="4732020" cy="1015365"/>
          </a:xfrm>
          <a:prstGeom xmlns:a="http://schemas.openxmlformats.org/drawingml/2006/main" prst="roundRect">
            <a:avLst>
              <a:gd name="adj" fmla="val 65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7" name="U09-DG-023-equation-text">
            <a:extLst xmlns:a="http://schemas.openxmlformats.org/drawingml/2006/main">
              <a:ext uri="{FF2B5EF4-FFF2-40B4-BE49-F238E27FC236}">
                <a16:creationId xmlns:a16="http://schemas.microsoft.com/office/drawing/2014/main" id="{72026836-2100-410C-A616-D4A04779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830830"/>
            <a:ext cx="4389120" cy="767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340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340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ecuación estructural de divergencia +</a:t>
            </a:r>
          </a:p>
        </p:txBody>
      </p:sp>
      <p:sp>
        <p:nvSpPr>
          <p:cNvPr id="18" name="U09-DG-023-callout_1-box">
            <a:extLst xmlns:a="http://schemas.openxmlformats.org/drawingml/2006/main">
              <a:ext uri="{FF2B5EF4-FFF2-40B4-BE49-F238E27FC236}">
                <a16:creationId xmlns:a16="http://schemas.microsoft.com/office/drawing/2014/main" id="{26C559EF-0BEA-4AB4-939B-A0E4CA71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2588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9" name="U09-DG-023-callout_1-text">
            <a:extLst xmlns:a="http://schemas.openxmlformats.org/drawingml/2006/main">
              <a:ext uri="{FF2B5EF4-FFF2-40B4-BE49-F238E27FC236}">
                <a16:creationId xmlns:a16="http://schemas.microsoft.com/office/drawing/2014/main" id="{7EA53802-1C4D-4FCF-8828-F6FDB1888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76413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Divergencia geométrica</a:t>
            </a:r>
          </a:p>
        </p:txBody>
      </p:sp>
      <p:sp>
        <p:nvSpPr>
          <p:cNvPr id="20" name="U09-DG-023-callout_2-box">
            <a:extLst xmlns:a="http://schemas.openxmlformats.org/drawingml/2006/main">
              <a:ext uri="{FF2B5EF4-FFF2-40B4-BE49-F238E27FC236}">
                <a16:creationId xmlns:a16="http://schemas.microsoft.com/office/drawing/2014/main" id="{486180A3-55B1-4536-A8C7-18A713F5D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1652588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1" name="U09-DG-023-callout_2-text">
            <a:extLst xmlns:a="http://schemas.openxmlformats.org/drawingml/2006/main">
              <a:ext uri="{FF2B5EF4-FFF2-40B4-BE49-F238E27FC236}">
                <a16:creationId xmlns:a16="http://schemas.microsoft.com/office/drawing/2014/main" id="{0FAFAD7D-428D-4F7B-86C4-A1D11DCA9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3460" y="1776413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Absorción atmosférica</a:t>
            </a:r>
          </a:p>
        </p:txBody>
      </p:sp>
      <p:sp>
        <p:nvSpPr>
          <p:cNvPr id="22" name="U09-DG-023-callout_3-box">
            <a:extLst xmlns:a="http://schemas.openxmlformats.org/drawingml/2006/main">
              <a:ext uri="{FF2B5EF4-FFF2-40B4-BE49-F238E27FC236}">
                <a16:creationId xmlns:a16="http://schemas.microsoft.com/office/drawing/2014/main" id="{A7FD3A84-BB49-4E79-BCE8-8FCF5854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3" name="U09-DG-023-callout_3-text">
            <a:extLst xmlns:a="http://schemas.openxmlformats.org/drawingml/2006/main">
              <a:ext uri="{FF2B5EF4-FFF2-40B4-BE49-F238E27FC236}">
                <a16:creationId xmlns:a16="http://schemas.microsoft.com/office/drawing/2014/main" id="{97944DB2-8B3A-493D-BA57-D0530ECDF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14825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Frecuencia</a:t>
            </a:r>
          </a:p>
        </p:txBody>
      </p:sp>
      <p:sp>
        <p:nvSpPr>
          <p:cNvPr id="24" name="U09-DG-023-callout_4-box">
            <a:extLst xmlns:a="http://schemas.openxmlformats.org/drawingml/2006/main">
              <a:ext uri="{FF2B5EF4-FFF2-40B4-BE49-F238E27FC236}">
                <a16:creationId xmlns:a16="http://schemas.microsoft.com/office/drawing/2014/main" id="{925B55A4-7990-4E9C-A518-E7966D1B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4191000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5" name="U09-DG-023-callout_4-text">
            <a:extLst xmlns:a="http://schemas.openxmlformats.org/drawingml/2006/main">
              <a:ext uri="{FF2B5EF4-FFF2-40B4-BE49-F238E27FC236}">
                <a16:creationId xmlns:a16="http://schemas.microsoft.com/office/drawing/2014/main" id="{67CD298E-B166-46A6-9BB8-69090A65C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3460" y="4314825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Estado del aire</a:t>
            </a:r>
          </a:p>
        </p:txBody>
      </p:sp>
      <p:sp>
        <p:nvSpPr>
          <p:cNvPr id="26" name="caption">
            <a:extLst xmlns:a="http://schemas.openxmlformats.org/drawingml/2006/main">
              <a:ext uri="{FF2B5EF4-FFF2-40B4-BE49-F238E27FC236}">
                <a16:creationId xmlns:a16="http://schemas.microsoft.com/office/drawing/2014/main" id="{1B1A95E7-10AC-4B08-9FB1-5E1EDF29A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la divergencia redistribuye energía; la atmósfera puede disiparla de modo dependiente de frecuencia y estado. · Producción propia UCASAL · U09-DG…</a:t>
            </a:r>
          </a:p>
        </p:txBody>
      </p:sp>
      <p:sp>
        <p:nvSpPr>
          <p:cNvPr id="27" name="unit-footer">
            <a:extLst xmlns:a="http://schemas.openxmlformats.org/drawingml/2006/main">
              <a:ext uri="{FF2B5EF4-FFF2-40B4-BE49-F238E27FC236}">
                <a16:creationId xmlns:a16="http://schemas.microsoft.com/office/drawing/2014/main" id="{2715489F-6887-45AF-98EB-4539B223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Física Acústica · Unidad 9</a:t>
            </a:r>
          </a:p>
        </p:txBody>
      </p:sp>
      <p:sp>
        <p:nvSpPr>
          <p:cNvPr id="2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1AC660E-4C7A-4D6A-A890-47C85FFA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op-rail-1">
            <a:extLst xmlns:a="http://schemas.openxmlformats.org/drawingml/2006/main">
              <a:ext uri="{FF2B5EF4-FFF2-40B4-BE49-F238E27FC236}">
                <a16:creationId xmlns:a16="http://schemas.microsoft.com/office/drawing/2014/main" id="{7188950B-37DE-4A36-AD40-1C8DF15D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C7577DC9-DB82-47C2-A478-2A5C3608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7BFA0631-8B1D-43CE-AF5F-7F024172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FB060C35-A6D0-458A-9F87-DDA7E37AB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1 · AMPLIACIÓN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9F95C7D-6BE6-4536-87A9-46ED23BE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Turbulencia: variabilidad, no corrección fija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68A31BF-F7A3-4BF0-B978-B6B1A6CDE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Atmósfera · Ampliación</a:t>
            </a:r>
          </a:p>
        </p:txBody>
      </p:sp>
      <p:sp>
        <p:nvSpPr>
          <p:cNvPr id="7" name="U09-DG-024-source-anchor">
            <a:extLst xmlns:a="http://schemas.openxmlformats.org/drawingml/2006/main">
              <a:ext uri="{FF2B5EF4-FFF2-40B4-BE49-F238E27FC236}">
                <a16:creationId xmlns:a16="http://schemas.microsoft.com/office/drawing/2014/main" id="{1A58A565-8B1B-4C29-BE78-B93DA856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2628900"/>
            <a:ext cx="227838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24-path_upper-anchor">
            <a:extLst xmlns:a="http://schemas.openxmlformats.org/drawingml/2006/main">
              <a:ext uri="{FF2B5EF4-FFF2-40B4-BE49-F238E27FC236}">
                <a16:creationId xmlns:a16="http://schemas.microsoft.com/office/drawing/2014/main" id="{DBC3091C-C45F-44B0-9BF7-B43BD42F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1691640"/>
            <a:ext cx="2804160" cy="976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24-path_lower-anchor">
            <a:extLst xmlns:a="http://schemas.openxmlformats.org/drawingml/2006/main">
              <a:ext uri="{FF2B5EF4-FFF2-40B4-BE49-F238E27FC236}">
                <a16:creationId xmlns:a16="http://schemas.microsoft.com/office/drawing/2014/main" id="{B2712BBF-FC12-4AAF-A4EE-F98DC5F6F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3644265"/>
            <a:ext cx="2804160" cy="976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24-receiver-anchor">
            <a:extLst xmlns:a="http://schemas.openxmlformats.org/drawingml/2006/main">
              <a:ext uri="{FF2B5EF4-FFF2-40B4-BE49-F238E27FC236}">
                <a16:creationId xmlns:a16="http://schemas.microsoft.com/office/drawing/2014/main" id="{D8A16339-D928-4A4A-8EA2-16D839622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195" y="2628900"/>
            <a:ext cx="227838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24-condition-anchor">
            <a:extLst xmlns:a="http://schemas.openxmlformats.org/drawingml/2006/main">
              <a:ext uri="{FF2B5EF4-FFF2-40B4-BE49-F238E27FC236}">
                <a16:creationId xmlns:a16="http://schemas.microsoft.com/office/drawing/2014/main" id="{35C00A99-7BD0-4D1F-82EB-2A33A080B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4815840"/>
            <a:ext cx="2804160" cy="5857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0" name="U09-DG-024-route_1a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072765" y="2179797"/>
            <a:ext cx="1183005" cy="9958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1" name="U09-DG-024-route_1b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059930" y="2179797"/>
            <a:ext cx="1358265" cy="9958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2" name="U09-DG-024-route_2a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072765" y="3175635"/>
            <a:ext cx="1183005" cy="95678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3" name="U09-DG-024-route_2b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7059930" y="3175635"/>
            <a:ext cx="1358265" cy="95678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U09-DG-024-visual-alt" descr="U09-DG-024, candidata para diagram-generation. La composición permite reconocer que un medio variable puede producir dispersión temporal y fluctuación del nivel.">
            <a:extLst xmlns:a="http://schemas.openxmlformats.org/drawingml/2006/main">
              <a:ext uri="{FF2B5EF4-FFF2-40B4-BE49-F238E27FC236}">
                <a16:creationId xmlns:a16="http://schemas.microsoft.com/office/drawing/2014/main" id="{DB5AC063-5177-4244-ACA5-1D57359E1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2628900"/>
            <a:ext cx="227838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7" name="U09-DG-024-source-text">
            <a:extLst xmlns:a="http://schemas.openxmlformats.org/drawingml/2006/main">
              <a:ext uri="{FF2B5EF4-FFF2-40B4-BE49-F238E27FC236}">
                <a16:creationId xmlns:a16="http://schemas.microsoft.com/office/drawing/2014/main" id="{6E2C6D1E-3F72-47BF-899F-970CC60DF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" y="2752725"/>
            <a:ext cx="193548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Esquema cualitativo</a:t>
            </a:r>
          </a:p>
        </p:txBody>
      </p:sp>
      <p:sp>
        <p:nvSpPr>
          <p:cNvPr id="18" name="U09-DG-024-path_upper-box">
            <a:extLst xmlns:a="http://schemas.openxmlformats.org/drawingml/2006/main">
              <a:ext uri="{FF2B5EF4-FFF2-40B4-BE49-F238E27FC236}">
                <a16:creationId xmlns:a16="http://schemas.microsoft.com/office/drawing/2014/main" id="{48B73BE6-D6DA-4CEA-81D6-16490DD34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1691640"/>
            <a:ext cx="2804160" cy="976313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9" name="U09-DG-024-path_upper-text">
            <a:extLst xmlns:a="http://schemas.openxmlformats.org/drawingml/2006/main">
              <a:ext uri="{FF2B5EF4-FFF2-40B4-BE49-F238E27FC236}">
                <a16:creationId xmlns:a16="http://schemas.microsoft.com/office/drawing/2014/main" id="{07962496-1AA5-421E-9848-8C563D198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220" y="1815465"/>
            <a:ext cx="2461260" cy="728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registro fluctuante</a:t>
            </a:r>
          </a:p>
        </p:txBody>
      </p:sp>
      <p:sp>
        <p:nvSpPr>
          <p:cNvPr id="20" name="U09-DG-024-path_lower-box">
            <a:extLst xmlns:a="http://schemas.openxmlformats.org/drawingml/2006/main">
              <a:ext uri="{FF2B5EF4-FFF2-40B4-BE49-F238E27FC236}">
                <a16:creationId xmlns:a16="http://schemas.microsoft.com/office/drawing/2014/main" id="{ADE3E2B5-2111-4680-A7F8-75143C49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3644265"/>
            <a:ext cx="2804160" cy="976313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1" name="U09-DG-024-path_lower-text">
            <a:extLst xmlns:a="http://schemas.openxmlformats.org/drawingml/2006/main">
              <a:ext uri="{FF2B5EF4-FFF2-40B4-BE49-F238E27FC236}">
                <a16:creationId xmlns:a16="http://schemas.microsoft.com/office/drawing/2014/main" id="{E5D0001F-0650-4533-AB70-B7D41D1D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220" y="3768090"/>
            <a:ext cx="2461260" cy="728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sin modelo numérico</a:t>
            </a:r>
          </a:p>
        </p:txBody>
      </p:sp>
      <p:sp>
        <p:nvSpPr>
          <p:cNvPr id="22" name="U09-DG-024-receiver-box">
            <a:extLst xmlns:a="http://schemas.openxmlformats.org/drawingml/2006/main">
              <a:ext uri="{FF2B5EF4-FFF2-40B4-BE49-F238E27FC236}">
                <a16:creationId xmlns:a16="http://schemas.microsoft.com/office/drawing/2014/main" id="{C63687B2-E02E-4B65-AB6B-AE35B2C6A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195" y="2628900"/>
            <a:ext cx="227838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3" name="U09-DG-024-receiver-text">
            <a:extLst xmlns:a="http://schemas.openxmlformats.org/drawingml/2006/main">
              <a:ext uri="{FF2B5EF4-FFF2-40B4-BE49-F238E27FC236}">
                <a16:creationId xmlns:a16="http://schemas.microsoft.com/office/drawing/2014/main" id="{698604FA-454A-4F06-82CA-9D71F9FE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645" y="2752725"/>
            <a:ext cx="193548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Turbulencia cualitativa</a:t>
            </a:r>
          </a:p>
        </p:txBody>
      </p:sp>
      <p:sp>
        <p:nvSpPr>
          <p:cNvPr id="24" name="U09-DG-024-condition-box">
            <a:extLst xmlns:a="http://schemas.openxmlformats.org/drawingml/2006/main">
              <a:ext uri="{FF2B5EF4-FFF2-40B4-BE49-F238E27FC236}">
                <a16:creationId xmlns:a16="http://schemas.microsoft.com/office/drawing/2014/main" id="{1060F47F-64ED-40CA-BCB8-313659882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4815840"/>
            <a:ext cx="2804160" cy="585787"/>
          </a:xfrm>
          <a:prstGeom xmlns:a="http://schemas.openxmlformats.org/drawingml/2006/main" prst="roundRect">
            <a:avLst>
              <a:gd name="adj" fmla="val 11382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5" name="U09-DG-024-condition-text">
            <a:extLst xmlns:a="http://schemas.openxmlformats.org/drawingml/2006/main">
              <a:ext uri="{FF2B5EF4-FFF2-40B4-BE49-F238E27FC236}">
                <a16:creationId xmlns:a16="http://schemas.microsoft.com/office/drawing/2014/main" id="{16C8DC08-9EF9-453F-8BDC-F0579416A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220" y="4939665"/>
            <a:ext cx="2461260" cy="3381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Condiciones declaradas</a:t>
            </a:r>
          </a:p>
        </p:txBody>
      </p:sp>
      <p:sp>
        <p:nvSpPr>
          <p:cNvPr id="26" name="caption">
            <a:extLst xmlns:a="http://schemas.openxmlformats.org/drawingml/2006/main">
              <a:ext uri="{FF2B5EF4-FFF2-40B4-BE49-F238E27FC236}">
                <a16:creationId xmlns:a16="http://schemas.microsoft.com/office/drawing/2014/main" id="{11594F3B-196D-45F0-B6A1-F6B2FA41E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un medio variable puede producir dispersión temporal y fluctuación del nivel. · Producción propia UCASAL · U09-DG-024</a:t>
            </a:r>
          </a:p>
        </p:txBody>
      </p:sp>
      <p:sp>
        <p:nvSpPr>
          <p:cNvPr id="27" name="unit-footer">
            <a:extLst xmlns:a="http://schemas.openxmlformats.org/drawingml/2006/main">
              <a:ext uri="{FF2B5EF4-FFF2-40B4-BE49-F238E27FC236}">
                <a16:creationId xmlns:a16="http://schemas.microsoft.com/office/drawing/2014/main" id="{FEEB2F49-40B0-4AAE-8215-9601D74B5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Física Acústica · Unidad 9</a:t>
            </a:r>
          </a:p>
        </p:txBody>
      </p:sp>
      <p:sp>
        <p:nvSpPr>
          <p:cNvPr id="2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C8C847F-9F69-496C-9C10-724D00A5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68726306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top-rail-1">
            <a:extLst xmlns:a="http://schemas.openxmlformats.org/drawingml/2006/main">
              <a:ext uri="{FF2B5EF4-FFF2-40B4-BE49-F238E27FC236}">
                <a16:creationId xmlns:a16="http://schemas.microsoft.com/office/drawing/2014/main" id="{F08430A6-FC52-4ACC-A20E-98BD986A9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FA70F072-8E1E-4818-AD1C-376FCA4ED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2B8D0C7B-70A0-41D9-9F93-D104DD17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BAE82B5B-B404-4C34-BC6C-3BF1E455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422E826-03F6-40C6-AC8D-F8C7D8F7F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Qué registrar antes de comparar mediciones exteriores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5B3B19E-DD29-4442-A16E-8008993E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Atmósfera · Aplicación</a:t>
            </a:r>
          </a:p>
        </p:txBody>
      </p:sp>
      <p:sp>
        <p:nvSpPr>
          <p:cNvPr id="7" name="U09-DG-025-concept_1-anchor">
            <a:extLst xmlns:a="http://schemas.openxmlformats.org/drawingml/2006/main">
              <a:ext uri="{FF2B5EF4-FFF2-40B4-BE49-F238E27FC236}">
                <a16:creationId xmlns:a16="http://schemas.microsoft.com/office/drawing/2014/main" id="{1FD413B9-0F6E-452F-A548-99B84450E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25-concept_2-anchor">
            <a:extLst xmlns:a="http://schemas.openxmlformats.org/drawingml/2006/main">
              <a:ext uri="{FF2B5EF4-FFF2-40B4-BE49-F238E27FC236}">
                <a16:creationId xmlns:a16="http://schemas.microsoft.com/office/drawing/2014/main" id="{720D8025-4EFD-476D-9638-A59FA49A5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181" y="1840040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25-concept_3-anchor">
            <a:extLst xmlns:a="http://schemas.openxmlformats.org/drawingml/2006/main">
              <a:ext uri="{FF2B5EF4-FFF2-40B4-BE49-F238E27FC236}">
                <a16:creationId xmlns:a16="http://schemas.microsoft.com/office/drawing/2014/main" id="{608CBFFC-8B94-42D1-B705-3D3436A3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1840040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25-concept_4-anchor">
            <a:extLst xmlns:a="http://schemas.openxmlformats.org/drawingml/2006/main">
              <a:ext uri="{FF2B5EF4-FFF2-40B4-BE49-F238E27FC236}">
                <a16:creationId xmlns:a16="http://schemas.microsoft.com/office/drawing/2014/main" id="{AEBB42F1-B52E-472F-BB39-F0499BA66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3143" y="1840040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25-concept_5-anchor">
            <a:extLst xmlns:a="http://schemas.openxmlformats.org/drawingml/2006/main">
              <a:ext uri="{FF2B5EF4-FFF2-40B4-BE49-F238E27FC236}">
                <a16:creationId xmlns:a16="http://schemas.microsoft.com/office/drawing/2014/main" id="{5DC52CA0-3C39-437D-B4EC-22769CBB4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U09-DG-025-concept_6-anchor">
            <a:extLst xmlns:a="http://schemas.openxmlformats.org/drawingml/2006/main">
              <a:ext uri="{FF2B5EF4-FFF2-40B4-BE49-F238E27FC236}">
                <a16:creationId xmlns:a16="http://schemas.microsoft.com/office/drawing/2014/main" id="{1D937D9B-F22E-4928-9870-4C4DAB122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181" y="3573971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U09-DG-025-concept_7-anchor">
            <a:extLst xmlns:a="http://schemas.openxmlformats.org/drawingml/2006/main">
              <a:ext uri="{FF2B5EF4-FFF2-40B4-BE49-F238E27FC236}">
                <a16:creationId xmlns:a16="http://schemas.microsoft.com/office/drawing/2014/main" id="{0942343F-5DD0-4258-8F17-DD509FB9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3573971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U09-DG-025-concept_8-anchor">
            <a:extLst xmlns:a="http://schemas.openxmlformats.org/drawingml/2006/main">
              <a:ext uri="{FF2B5EF4-FFF2-40B4-BE49-F238E27FC236}">
                <a16:creationId xmlns:a16="http://schemas.microsoft.com/office/drawing/2014/main" id="{9A1C70DB-6C1E-4A93-BBD8-75AD35DE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3143" y="3573971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" name="U09-DG-025-visual-alt" descr="Ficha de campo editable; U09-DG-025, candidata para diagram-generation. La composición permite reconocer que sin geometría y estado atmosférico, dos mediciones pueden no ser comparables.">
            <a:extLst xmlns:a="http://schemas.openxmlformats.org/drawingml/2006/main">
              <a:ext uri="{FF2B5EF4-FFF2-40B4-BE49-F238E27FC236}">
                <a16:creationId xmlns:a16="http://schemas.microsoft.com/office/drawing/2014/main" id="{2C510A27-C59E-4FA7-9A0B-22CCD60F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6" name="U09-DG-025-concept_1-text">
            <a:extLst xmlns:a="http://schemas.openxmlformats.org/drawingml/2006/main">
              <a:ext uri="{FF2B5EF4-FFF2-40B4-BE49-F238E27FC236}">
                <a16:creationId xmlns:a16="http://schemas.microsoft.com/office/drawing/2014/main" id="{AD31AD86-36BD-4165-8415-E93C92488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63865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Checklist: distancias</a:t>
            </a:r>
          </a:p>
        </p:txBody>
      </p:sp>
      <p:sp>
        <p:nvSpPr>
          <p:cNvPr id="17" name="U09-DG-025-concept_2-box">
            <a:extLst xmlns:a="http://schemas.openxmlformats.org/drawingml/2006/main">
              <a:ext uri="{FF2B5EF4-FFF2-40B4-BE49-F238E27FC236}">
                <a16:creationId xmlns:a16="http://schemas.microsoft.com/office/drawing/2014/main" id="{8B4B6978-1952-4CA2-9DE9-19DE1499A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181" y="1840040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8" name="U09-DG-025-concept_2-text">
            <a:extLst xmlns:a="http://schemas.openxmlformats.org/drawingml/2006/main">
              <a:ext uri="{FF2B5EF4-FFF2-40B4-BE49-F238E27FC236}">
                <a16:creationId xmlns:a16="http://schemas.microsoft.com/office/drawing/2014/main" id="{9F4925F4-0614-4B27-8CC9-8C28A461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631" y="1963865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alturas</a:t>
            </a:r>
          </a:p>
        </p:txBody>
      </p:sp>
      <p:sp>
        <p:nvSpPr>
          <p:cNvPr id="19" name="U09-DG-025-concept_3-box">
            <a:extLst xmlns:a="http://schemas.openxmlformats.org/drawingml/2006/main">
              <a:ext uri="{FF2B5EF4-FFF2-40B4-BE49-F238E27FC236}">
                <a16:creationId xmlns:a16="http://schemas.microsoft.com/office/drawing/2014/main" id="{1DDCA968-9BE8-4EE4-BA96-2CD162720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1840040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0" name="U09-DG-025-concept_3-text">
            <a:extLst xmlns:a="http://schemas.openxmlformats.org/drawingml/2006/main">
              <a:ext uri="{FF2B5EF4-FFF2-40B4-BE49-F238E27FC236}">
                <a16:creationId xmlns:a16="http://schemas.microsoft.com/office/drawing/2014/main" id="{2D11C94B-2BF3-4574-8123-5745771B4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9612" y="1963865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dirección</a:t>
            </a:r>
          </a:p>
        </p:txBody>
      </p:sp>
      <p:sp>
        <p:nvSpPr>
          <p:cNvPr id="21" name="U09-DG-025-concept_4-box">
            <a:extLst xmlns:a="http://schemas.openxmlformats.org/drawingml/2006/main">
              <a:ext uri="{FF2B5EF4-FFF2-40B4-BE49-F238E27FC236}">
                <a16:creationId xmlns:a16="http://schemas.microsoft.com/office/drawing/2014/main" id="{EDF68C6F-86CB-4E2E-B85E-65DCCA0D5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3143" y="1840040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2" name="U09-DG-025-concept_4-text">
            <a:extLst xmlns:a="http://schemas.openxmlformats.org/drawingml/2006/main">
              <a:ext uri="{FF2B5EF4-FFF2-40B4-BE49-F238E27FC236}">
                <a16:creationId xmlns:a16="http://schemas.microsoft.com/office/drawing/2014/main" id="{58C8CCC8-2BAE-4F37-94C2-7A673C5D4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4593" y="1963865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temperatura</a:t>
            </a:r>
          </a:p>
        </p:txBody>
      </p:sp>
      <p:sp>
        <p:nvSpPr>
          <p:cNvPr id="23" name="U09-DG-025-concept_5-box">
            <a:extLst xmlns:a="http://schemas.openxmlformats.org/drawingml/2006/main">
              <a:ext uri="{FF2B5EF4-FFF2-40B4-BE49-F238E27FC236}">
                <a16:creationId xmlns:a16="http://schemas.microsoft.com/office/drawing/2014/main" id="{94283B4A-57A2-42F8-8FE9-CC84A148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4" name="U09-DG-025-concept_5-text">
            <a:extLst xmlns:a="http://schemas.openxmlformats.org/drawingml/2006/main">
              <a:ext uri="{FF2B5EF4-FFF2-40B4-BE49-F238E27FC236}">
                <a16:creationId xmlns:a16="http://schemas.microsoft.com/office/drawing/2014/main" id="{867A2C7A-2EC8-48BC-8B7E-2939CF8EC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7796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viento</a:t>
            </a:r>
          </a:p>
        </p:txBody>
      </p:sp>
      <p:sp>
        <p:nvSpPr>
          <p:cNvPr id="25" name="U09-DG-025-concept_6-box">
            <a:extLst xmlns:a="http://schemas.openxmlformats.org/drawingml/2006/main">
              <a:ext uri="{FF2B5EF4-FFF2-40B4-BE49-F238E27FC236}">
                <a16:creationId xmlns:a16="http://schemas.microsoft.com/office/drawing/2014/main" id="{71D7B266-8114-4AF4-A4B0-82114B23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181" y="3573971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6" name="U09-DG-025-concept_6-text">
            <a:extLst xmlns:a="http://schemas.openxmlformats.org/drawingml/2006/main">
              <a:ext uri="{FF2B5EF4-FFF2-40B4-BE49-F238E27FC236}">
                <a16:creationId xmlns:a16="http://schemas.microsoft.com/office/drawing/2014/main" id="{5566063C-F15E-452E-B5B2-E683EA850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631" y="3697796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humedad</a:t>
            </a:r>
          </a:p>
        </p:txBody>
      </p:sp>
      <p:sp>
        <p:nvSpPr>
          <p:cNvPr id="27" name="U09-DG-025-concept_7-box">
            <a:extLst xmlns:a="http://schemas.openxmlformats.org/drawingml/2006/main">
              <a:ext uri="{FF2B5EF4-FFF2-40B4-BE49-F238E27FC236}">
                <a16:creationId xmlns:a16="http://schemas.microsoft.com/office/drawing/2014/main" id="{72B532C9-33B5-487D-8C8D-1AE75144F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3573971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8" name="U09-DG-025-concept_7-text">
            <a:extLst xmlns:a="http://schemas.openxmlformats.org/drawingml/2006/main">
              <a:ext uri="{FF2B5EF4-FFF2-40B4-BE49-F238E27FC236}">
                <a16:creationId xmlns:a16="http://schemas.microsoft.com/office/drawing/2014/main" id="{FDB3A9F3-584C-493B-AA29-B2F0D1C47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9612" y="3697796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presión</a:t>
            </a:r>
          </a:p>
        </p:txBody>
      </p:sp>
      <p:sp>
        <p:nvSpPr>
          <p:cNvPr id="29" name="U09-DG-025-concept_8-box">
            <a:extLst xmlns:a="http://schemas.openxmlformats.org/drawingml/2006/main">
              <a:ext uri="{FF2B5EF4-FFF2-40B4-BE49-F238E27FC236}">
                <a16:creationId xmlns:a16="http://schemas.microsoft.com/office/drawing/2014/main" id="{F6A8E248-F2FE-4307-9490-FC757A3A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3143" y="3573971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30" name="U09-DG-025-concept_8-text">
            <a:extLst xmlns:a="http://schemas.openxmlformats.org/drawingml/2006/main">
              <a:ext uri="{FF2B5EF4-FFF2-40B4-BE49-F238E27FC236}">
                <a16:creationId xmlns:a16="http://schemas.microsoft.com/office/drawing/2014/main" id="{D1C29D38-ACD0-483C-A80A-582EBE645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4593" y="3697796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suelo</a:t>
            </a:r>
          </a:p>
        </p:txBody>
      </p:sp>
      <p:sp>
        <p:nvSpPr>
          <p:cNvPr id="31" name="caption">
            <a:extLst xmlns:a="http://schemas.openxmlformats.org/drawingml/2006/main">
              <a:ext uri="{FF2B5EF4-FFF2-40B4-BE49-F238E27FC236}">
                <a16:creationId xmlns:a16="http://schemas.microsoft.com/office/drawing/2014/main" id="{F933E15E-5069-4E97-9793-D084C5AEC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sin geometría y estado atmosférico, dos mediciones pueden no ser comparables. · Producción propia UCASAL · U09-DG-025</a:t>
            </a:r>
          </a:p>
        </p:txBody>
      </p:sp>
      <p:sp>
        <p:nvSpPr>
          <p:cNvPr id="32" name="unit-footer">
            <a:extLst xmlns:a="http://schemas.openxmlformats.org/drawingml/2006/main">
              <a:ext uri="{FF2B5EF4-FFF2-40B4-BE49-F238E27FC236}">
                <a16:creationId xmlns:a16="http://schemas.microsoft.com/office/drawing/2014/main" id="{A7175B44-D382-42BE-81E2-596DD44B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Física Acústica · Unidad 9</a:t>
            </a:r>
          </a:p>
        </p:txBody>
      </p:sp>
      <p:sp>
        <p:nvSpPr>
          <p:cNvPr id="3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C6435EF-A1FA-4403-9A56-30EAE236C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op-rail-1">
            <a:extLst xmlns:a="http://schemas.openxmlformats.org/drawingml/2006/main">
              <a:ext uri="{FF2B5EF4-FFF2-40B4-BE49-F238E27FC236}">
                <a16:creationId xmlns:a16="http://schemas.microsoft.com/office/drawing/2014/main" id="{E9EBC046-CDCB-475A-8FFF-60AEE54B7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A66FCA16-BA80-40E1-8DDE-0A179337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9C056465-A597-4A55-A3B8-6F84D169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179296E1-4FA6-49C5-B3AE-BDDF811E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7EC55FB-83EA-46CD-AAEA-D76191836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Cuatro efectos, cuatro respuestas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51AB051-3A35-4DF0-B3CA-B4F4CAC85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Atmósfera · Recapitulación y actividad</a:t>
            </a:r>
          </a:p>
        </p:txBody>
      </p:sp>
      <p:sp>
        <p:nvSpPr>
          <p:cNvPr id="7" name="U09-DG-026-concept_1-anchor">
            <a:extLst xmlns:a="http://schemas.openxmlformats.org/drawingml/2006/main">
              <a:ext uri="{FF2B5EF4-FFF2-40B4-BE49-F238E27FC236}">
                <a16:creationId xmlns:a16="http://schemas.microsoft.com/office/drawing/2014/main" id="{0764AF27-F4D6-441B-A8E5-2ADE2691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26-concept_2-anchor">
            <a:extLst xmlns:a="http://schemas.openxmlformats.org/drawingml/2006/main">
              <a:ext uri="{FF2B5EF4-FFF2-40B4-BE49-F238E27FC236}">
                <a16:creationId xmlns:a16="http://schemas.microsoft.com/office/drawing/2014/main" id="{17DBFF56-9BDF-4E1F-88B4-20349EDEB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8400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26-concept_3-anchor">
            <a:extLst xmlns:a="http://schemas.openxmlformats.org/drawingml/2006/main">
              <a:ext uri="{FF2B5EF4-FFF2-40B4-BE49-F238E27FC236}">
                <a16:creationId xmlns:a16="http://schemas.microsoft.com/office/drawing/2014/main" id="{7681AF5D-48BF-4238-ADB9-84E3F946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8400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26-concept_4-anchor">
            <a:extLst xmlns:a="http://schemas.openxmlformats.org/drawingml/2006/main">
              <a:ext uri="{FF2B5EF4-FFF2-40B4-BE49-F238E27FC236}">
                <a16:creationId xmlns:a16="http://schemas.microsoft.com/office/drawing/2014/main" id="{D9DB824E-2DDC-499E-9014-2312D8F78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26-concept_5-anchor">
            <a:extLst xmlns:a="http://schemas.openxmlformats.org/drawingml/2006/main">
              <a:ext uri="{FF2B5EF4-FFF2-40B4-BE49-F238E27FC236}">
                <a16:creationId xmlns:a16="http://schemas.microsoft.com/office/drawing/2014/main" id="{CC2E34D4-F1B6-41AD-84A9-ADE08E30F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3573971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U09-DG-026-concept_6-anchor">
            <a:extLst xmlns:a="http://schemas.openxmlformats.org/drawingml/2006/main">
              <a:ext uri="{FF2B5EF4-FFF2-40B4-BE49-F238E27FC236}">
                <a16:creationId xmlns:a16="http://schemas.microsoft.com/office/drawing/2014/main" id="{65148C94-8A3D-46FF-A747-7991E094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3573971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U09-DG-026-visual-alt" descr="U09-DG-026, candidata para diagram-generation. La composición permite reconocer que temperatura, viento, presión/densidad y absorción no cambian la misma magnitud ni del mismo modo.">
            <a:extLst xmlns:a="http://schemas.openxmlformats.org/drawingml/2006/main">
              <a:ext uri="{FF2B5EF4-FFF2-40B4-BE49-F238E27FC236}">
                <a16:creationId xmlns:a16="http://schemas.microsoft.com/office/drawing/2014/main" id="{F1F33D37-462B-47AE-A5C8-68928FF8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4" name="U09-DG-026-concept_1-text">
            <a:extLst xmlns:a="http://schemas.openxmlformats.org/drawingml/2006/main">
              <a:ext uri="{FF2B5EF4-FFF2-40B4-BE49-F238E27FC236}">
                <a16:creationId xmlns:a16="http://schemas.microsoft.com/office/drawing/2014/main" id="{5A17382D-DF99-45C6-8279-89A73FC5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638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Casos</a:t>
            </a:r>
          </a:p>
        </p:txBody>
      </p:sp>
      <p:sp>
        <p:nvSpPr>
          <p:cNvPr id="15" name="U09-DG-026-concept_2-box">
            <a:extLst xmlns:a="http://schemas.openxmlformats.org/drawingml/2006/main">
              <a:ext uri="{FF2B5EF4-FFF2-40B4-BE49-F238E27FC236}">
                <a16:creationId xmlns:a16="http://schemas.microsoft.com/office/drawing/2014/main" id="{052068D8-B002-447D-A2EA-BDAE35A1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8400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6" name="U09-DG-026-concept_2-text">
            <a:extLst xmlns:a="http://schemas.openxmlformats.org/drawingml/2006/main">
              <a:ext uri="{FF2B5EF4-FFF2-40B4-BE49-F238E27FC236}">
                <a16:creationId xmlns:a16="http://schemas.microsoft.com/office/drawing/2014/main" id="{2565BFA4-C169-4379-8E4B-E3D604F4F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19638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columnas c</a:t>
            </a:r>
          </a:p>
        </p:txBody>
      </p:sp>
      <p:sp>
        <p:nvSpPr>
          <p:cNvPr id="17" name="U09-DG-026-concept_3-box">
            <a:extLst xmlns:a="http://schemas.openxmlformats.org/drawingml/2006/main">
              <a:ext uri="{FF2B5EF4-FFF2-40B4-BE49-F238E27FC236}">
                <a16:creationId xmlns:a16="http://schemas.microsoft.com/office/drawing/2014/main" id="{788EB312-74E8-4FFD-BBC6-8BF8C284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8400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8" name="U09-DG-026-concept_3-text">
            <a:extLst xmlns:a="http://schemas.openxmlformats.org/drawingml/2006/main">
              <a:ext uri="{FF2B5EF4-FFF2-40B4-BE49-F238E27FC236}">
                <a16:creationId xmlns:a16="http://schemas.microsoft.com/office/drawing/2014/main" id="{361FB317-49A7-4083-B67B-FAEA67184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266" y="19638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λ</a:t>
            </a:r>
          </a:p>
        </p:txBody>
      </p:sp>
      <p:sp>
        <p:nvSpPr>
          <p:cNvPr id="19" name="U09-DG-026-concept_4-box">
            <a:extLst xmlns:a="http://schemas.openxmlformats.org/drawingml/2006/main">
              <a:ext uri="{FF2B5EF4-FFF2-40B4-BE49-F238E27FC236}">
                <a16:creationId xmlns:a16="http://schemas.microsoft.com/office/drawing/2014/main" id="{7419927A-1312-4CB2-882C-767D154E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0" name="U09-DG-026-concept_4-text">
            <a:extLst xmlns:a="http://schemas.openxmlformats.org/drawingml/2006/main">
              <a:ext uri="{FF2B5EF4-FFF2-40B4-BE49-F238E27FC236}">
                <a16:creationId xmlns:a16="http://schemas.microsoft.com/office/drawing/2014/main" id="{9DDCF4CC-C850-46A5-9AE7-FF70CA601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7796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trayectoria</a:t>
            </a:r>
          </a:p>
        </p:txBody>
      </p:sp>
      <p:sp>
        <p:nvSpPr>
          <p:cNvPr id="21" name="U09-DG-026-concept_5-box">
            <a:extLst xmlns:a="http://schemas.openxmlformats.org/drawingml/2006/main">
              <a:ext uri="{FF2B5EF4-FFF2-40B4-BE49-F238E27FC236}">
                <a16:creationId xmlns:a16="http://schemas.microsoft.com/office/drawing/2014/main" id="{26FD1F0C-052A-4C2C-8EA0-A3D8A59A3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3573971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2" name="U09-DG-026-concept_5-text">
            <a:extLst xmlns:a="http://schemas.openxmlformats.org/drawingml/2006/main">
              <a:ext uri="{FF2B5EF4-FFF2-40B4-BE49-F238E27FC236}">
                <a16:creationId xmlns:a16="http://schemas.microsoft.com/office/drawing/2014/main" id="{B9E8532F-94F9-42B4-9D12-06E7CFF6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3697796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Lₚ</a:t>
            </a:r>
          </a:p>
        </p:txBody>
      </p:sp>
      <p:sp>
        <p:nvSpPr>
          <p:cNvPr id="23" name="U09-DG-026-concept_6-box">
            <a:extLst xmlns:a="http://schemas.openxmlformats.org/drawingml/2006/main">
              <a:ext uri="{FF2B5EF4-FFF2-40B4-BE49-F238E27FC236}">
                <a16:creationId xmlns:a16="http://schemas.microsoft.com/office/drawing/2014/main" id="{A08F02DB-6E16-465A-BA0E-E9A311E2F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3573971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4" name="U09-DG-026-concept_6-text">
            <a:extLst xmlns:a="http://schemas.openxmlformats.org/drawingml/2006/main">
              <a:ext uri="{FF2B5EF4-FFF2-40B4-BE49-F238E27FC236}">
                <a16:creationId xmlns:a16="http://schemas.microsoft.com/office/drawing/2014/main" id="{A3AD33CF-A229-488D-AEF1-AA96CF5E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266" y="3697796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“no concluye”</a:t>
            </a:r>
          </a:p>
        </p:txBody>
      </p:sp>
      <p:sp>
        <p:nvSpPr>
          <p:cNvPr id="25" name="caption">
            <a:extLst xmlns:a="http://schemas.openxmlformats.org/drawingml/2006/main">
              <a:ext uri="{FF2B5EF4-FFF2-40B4-BE49-F238E27FC236}">
                <a16:creationId xmlns:a16="http://schemas.microsoft.com/office/drawing/2014/main" id="{723460AA-6FB0-44C7-9E37-0296056E6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temperatura, viento, presión/densidad y absorción no cambian la misma magnitud ni del mismo modo. · Producción propia UCASAL · U09-DG-026</a:t>
            </a:r>
          </a:p>
        </p:txBody>
      </p:sp>
      <p:sp>
        <p:nvSpPr>
          <p:cNvPr id="26" name="unit-footer">
            <a:extLst xmlns:a="http://schemas.openxmlformats.org/drawingml/2006/main">
              <a:ext uri="{FF2B5EF4-FFF2-40B4-BE49-F238E27FC236}">
                <a16:creationId xmlns:a16="http://schemas.microsoft.com/office/drawing/2014/main" id="{D3E08F37-E335-449A-AB0F-226219A3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Física Acústica · Unidad 9</a:t>
            </a:r>
          </a:p>
        </p:txBody>
      </p:sp>
      <p:sp>
        <p:nvSpPr>
          <p:cNvPr id="2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4A4B7EF-D656-4E07-9716-8EE07B15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ark-eyebrow">
            <a:extLst xmlns:a="http://schemas.openxmlformats.org/drawingml/2006/main">
              <a:ext uri="{FF2B5EF4-FFF2-40B4-BE49-F238E27FC236}">
                <a16:creationId xmlns:a16="http://schemas.microsoft.com/office/drawing/2014/main" id="{E6BB421C-3A85-4C83-A269-6F606F7E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UNIDAD 9 · RUTA CENTRAL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7A0994A7-F8B4-4214-8AD2-896BAC13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47875"/>
            <a:ext cx="1057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¿Adónde va la energía incidente?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5B92F56F-F320-45AD-8883-4BC10727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571875"/>
            <a:ext cx="885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rPr>
              <a:t>Una superficie puede reflejar, absorber y transmitir simultáneamente.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D7B010D-7B50-4B20-A079-4750E19F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op-rail-1">
            <a:extLst xmlns:a="http://schemas.openxmlformats.org/drawingml/2006/main">
              <a:ext uri="{FF2B5EF4-FFF2-40B4-BE49-F238E27FC236}">
                <a16:creationId xmlns:a16="http://schemas.microsoft.com/office/drawing/2014/main" id="{1BAAAF2B-0C06-4313-9F17-42D52D1E6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6B9A3908-7692-4539-8C78-DF3FA628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56596F79-4270-4BF1-9426-E93D13C8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0A83B7FE-7743-4969-95A9-8203FE78C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2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A3DD7CA-5D5F-4815-A3BF-D250DBF2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Tres destinos simultáneos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B5A7BB8-37ED-4FB7-A3D9-3EACCEAD8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Superficies y obstáculos · Diagrama conceptual</a:t>
            </a:r>
          </a:p>
        </p:txBody>
      </p:sp>
      <p:sp>
        <p:nvSpPr>
          <p:cNvPr id="7" name="U09-DG-027-branch_source-anchor">
            <a:extLst xmlns:a="http://schemas.openxmlformats.org/drawingml/2006/main">
              <a:ext uri="{FF2B5EF4-FFF2-40B4-BE49-F238E27FC236}">
                <a16:creationId xmlns:a16="http://schemas.microsoft.com/office/drawing/2014/main" id="{1F18C4DC-B68D-4599-9BCD-BC515552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953"/>
            <a:ext cx="236601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27-branch_1-anchor">
            <a:extLst xmlns:a="http://schemas.openxmlformats.org/drawingml/2006/main">
              <a:ext uri="{FF2B5EF4-FFF2-40B4-BE49-F238E27FC236}">
                <a16:creationId xmlns:a16="http://schemas.microsoft.com/office/drawing/2014/main" id="{DE6A7632-01A9-40B0-A205-68E6FEDB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92472"/>
            <a:ext cx="3680460" cy="765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27-branch_2-anchor">
            <a:extLst xmlns:a="http://schemas.openxmlformats.org/drawingml/2006/main">
              <a:ext uri="{FF2B5EF4-FFF2-40B4-BE49-F238E27FC236}">
                <a16:creationId xmlns:a16="http://schemas.microsoft.com/office/drawing/2014/main" id="{F82B4D2D-17CD-4EC7-9241-D6B4BB1F8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76595"/>
            <a:ext cx="3680460" cy="765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27-branch_3-anchor">
            <a:extLst xmlns:a="http://schemas.openxmlformats.org/drawingml/2006/main">
              <a:ext uri="{FF2B5EF4-FFF2-40B4-BE49-F238E27FC236}">
                <a16:creationId xmlns:a16="http://schemas.microsoft.com/office/drawing/2014/main" id="{FF6BEEEA-EB29-43A8-94BC-C6F6CEB8A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60718"/>
            <a:ext cx="3680460" cy="765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27-branch_4-anchor">
            <a:extLst xmlns:a="http://schemas.openxmlformats.org/drawingml/2006/main">
              <a:ext uri="{FF2B5EF4-FFF2-40B4-BE49-F238E27FC236}">
                <a16:creationId xmlns:a16="http://schemas.microsoft.com/office/drawing/2014/main" id="{D397DBF8-B059-4EED-AD61-7E1AA93D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44841"/>
            <a:ext cx="3680460" cy="765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0" name="U09-DG-027-branch_edge_1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204210" y="1875187"/>
            <a:ext cx="2891790" cy="1339502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1" name="U09-DG-027-branch_edge_2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3204210" y="2859310"/>
            <a:ext cx="2891790" cy="355379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2" name="U09-DG-027-branch_edge_3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204210" y="3214688"/>
            <a:ext cx="2891790" cy="628744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3" name="U09-DG-027-branch_edge_4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204210" y="3214688"/>
            <a:ext cx="2891790" cy="161286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U09-DG-027-visual-alt" descr="U09-DG-027, candidata para diagram-generation, reconstrucción de figura 9.3. La composición permite reconocer que reflexión, absorción y transmisión son fracciones del mismo incidente.">
            <a:extLst xmlns:a="http://schemas.openxmlformats.org/drawingml/2006/main">
              <a:ext uri="{FF2B5EF4-FFF2-40B4-BE49-F238E27FC236}">
                <a16:creationId xmlns:a16="http://schemas.microsoft.com/office/drawing/2014/main" id="{FCFF0D4E-802C-4F16-8853-6A78013E7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953"/>
            <a:ext cx="236601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7" name="U09-DG-027-branch_source-text">
            <a:extLst xmlns:a="http://schemas.openxmlformats.org/drawingml/2006/main">
              <a:ext uri="{FF2B5EF4-FFF2-40B4-BE49-F238E27FC236}">
                <a16:creationId xmlns:a16="http://schemas.microsoft.com/office/drawing/2014/main" id="{9C67C2F0-454A-4C00-940E-F1717FD4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91778"/>
            <a:ext cx="202311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Energía incidente</a:t>
            </a:r>
          </a:p>
        </p:txBody>
      </p:sp>
      <p:sp>
        <p:nvSpPr>
          <p:cNvPr id="18" name="U09-DG-027-branch_1-box">
            <a:extLst xmlns:a="http://schemas.openxmlformats.org/drawingml/2006/main">
              <a:ext uri="{FF2B5EF4-FFF2-40B4-BE49-F238E27FC236}">
                <a16:creationId xmlns:a16="http://schemas.microsoft.com/office/drawing/2014/main" id="{1BB7BFFA-12A1-44F6-A10F-A94493A1A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92472"/>
            <a:ext cx="3680460" cy="765429"/>
          </a:xfrm>
          <a:prstGeom xmlns:a="http://schemas.openxmlformats.org/drawingml/2006/main" prst="roundRect">
            <a:avLst>
              <a:gd name="adj" fmla="val 8711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9" name="U09-DG-027-branch_1-text">
            <a:extLst xmlns:a="http://schemas.openxmlformats.org/drawingml/2006/main">
              <a:ext uri="{FF2B5EF4-FFF2-40B4-BE49-F238E27FC236}">
                <a16:creationId xmlns:a16="http://schemas.microsoft.com/office/drawing/2014/main" id="{6CEB6965-9666-4210-B617-98B2F601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6297"/>
            <a:ext cx="3337560" cy="5177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Reflejada Rₑ</a:t>
            </a:r>
          </a:p>
        </p:txBody>
      </p:sp>
      <p:sp>
        <p:nvSpPr>
          <p:cNvPr id="20" name="U09-DG-027-branch_2-box">
            <a:extLst xmlns:a="http://schemas.openxmlformats.org/drawingml/2006/main">
              <a:ext uri="{FF2B5EF4-FFF2-40B4-BE49-F238E27FC236}">
                <a16:creationId xmlns:a16="http://schemas.microsoft.com/office/drawing/2014/main" id="{BBB889D0-A93D-4BFD-A1B0-8E07E0FF4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76595"/>
            <a:ext cx="3680460" cy="765429"/>
          </a:xfrm>
          <a:prstGeom xmlns:a="http://schemas.openxmlformats.org/drawingml/2006/main" prst="roundRect">
            <a:avLst>
              <a:gd name="adj" fmla="val 8711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1" name="U09-DG-027-branch_2-text">
            <a:extLst xmlns:a="http://schemas.openxmlformats.org/drawingml/2006/main">
              <a:ext uri="{FF2B5EF4-FFF2-40B4-BE49-F238E27FC236}">
                <a16:creationId xmlns:a16="http://schemas.microsoft.com/office/drawing/2014/main" id="{5A59C117-8C37-4F6B-8558-4B416290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00420"/>
            <a:ext cx="3337560" cy="5177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Absorbida α</a:t>
            </a:r>
          </a:p>
        </p:txBody>
      </p:sp>
      <p:sp>
        <p:nvSpPr>
          <p:cNvPr id="22" name="U09-DG-027-branch_3-box">
            <a:extLst xmlns:a="http://schemas.openxmlformats.org/drawingml/2006/main">
              <a:ext uri="{FF2B5EF4-FFF2-40B4-BE49-F238E27FC236}">
                <a16:creationId xmlns:a16="http://schemas.microsoft.com/office/drawing/2014/main" id="{FE8242E3-57AA-4042-A86B-902F896E8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60718"/>
            <a:ext cx="3680460" cy="765429"/>
          </a:xfrm>
          <a:prstGeom xmlns:a="http://schemas.openxmlformats.org/drawingml/2006/main" prst="roundRect">
            <a:avLst>
              <a:gd name="adj" fmla="val 8711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3" name="U09-DG-027-branch_3-text">
            <a:extLst xmlns:a="http://schemas.openxmlformats.org/drawingml/2006/main">
              <a:ext uri="{FF2B5EF4-FFF2-40B4-BE49-F238E27FC236}">
                <a16:creationId xmlns:a16="http://schemas.microsoft.com/office/drawing/2014/main" id="{89A46D3A-9F4E-4304-B74A-5671A6506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84543"/>
            <a:ext cx="3337560" cy="5177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Transmitida τₑ</a:t>
            </a:r>
          </a:p>
        </p:txBody>
      </p:sp>
      <p:sp>
        <p:nvSpPr>
          <p:cNvPr id="24" name="U09-DG-027-branch_4-box">
            <a:extLst xmlns:a="http://schemas.openxmlformats.org/drawingml/2006/main">
              <a:ext uri="{FF2B5EF4-FFF2-40B4-BE49-F238E27FC236}">
                <a16:creationId xmlns:a16="http://schemas.microsoft.com/office/drawing/2014/main" id="{AD634C5C-015A-4EBD-B714-4437A4110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44841"/>
            <a:ext cx="3680460" cy="765429"/>
          </a:xfrm>
          <a:prstGeom xmlns:a="http://schemas.openxmlformats.org/drawingml/2006/main" prst="roundRect">
            <a:avLst>
              <a:gd name="adj" fmla="val 871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5" name="U09-DG-027-branch_4-text">
            <a:extLst xmlns:a="http://schemas.openxmlformats.org/drawingml/2006/main">
              <a:ext uri="{FF2B5EF4-FFF2-40B4-BE49-F238E27FC236}">
                <a16:creationId xmlns:a16="http://schemas.microsoft.com/office/drawing/2014/main" id="{F2153919-36EB-4FE3-BE6B-BCC7C6E03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68666"/>
            <a:ext cx="3337560" cy="5177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Balance = 1</a:t>
            </a:r>
          </a:p>
        </p:txBody>
      </p:sp>
      <p:sp>
        <p:nvSpPr>
          <p:cNvPr id="26" name="caption">
            <a:extLst xmlns:a="http://schemas.openxmlformats.org/drawingml/2006/main">
              <a:ext uri="{FF2B5EF4-FFF2-40B4-BE49-F238E27FC236}">
                <a16:creationId xmlns:a16="http://schemas.microsoft.com/office/drawing/2014/main" id="{6AF3EFCA-24F3-4E79-9776-2D6307D9A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reflexión, absorción y transmisión son fracciones del mismo incidente. · Producción propia UCASAL · U09-DG-027</a:t>
            </a:r>
          </a:p>
        </p:txBody>
      </p:sp>
      <p:sp>
        <p:nvSpPr>
          <p:cNvPr id="27" name="unit-footer">
            <a:extLst xmlns:a="http://schemas.openxmlformats.org/drawingml/2006/main">
              <a:ext uri="{FF2B5EF4-FFF2-40B4-BE49-F238E27FC236}">
                <a16:creationId xmlns:a16="http://schemas.microsoft.com/office/drawing/2014/main" id="{FEF8C0B1-0E22-4EA2-A6B0-6A5DCEAB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Física Acústica · Unidad 9</a:t>
            </a:r>
          </a:p>
        </p:txBody>
      </p:sp>
      <p:sp>
        <p:nvSpPr>
          <p:cNvPr id="2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7C84F7C-8083-4B67-A001-8F869B50C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op-rail-1">
            <a:extLst xmlns:a="http://schemas.openxmlformats.org/drawingml/2006/main">
              <a:ext uri="{FF2B5EF4-FFF2-40B4-BE49-F238E27FC236}">
                <a16:creationId xmlns:a16="http://schemas.microsoft.com/office/drawing/2014/main" id="{D5B3063E-3962-4F72-A995-29407A49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C6E10A84-ECFE-408B-B13F-CBDF7FF32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6425454C-54F5-4F7C-8199-3C15CCD33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3A40E015-5AEE-4E4C-860A-2C66F55A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2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D52A794-D7A5-4FDB-B568-C40489E65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balance debe cerrar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019E065-67A4-4D4D-874F-6C8F73FE3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Superficies y obstáculos · Ecuación anotada</a:t>
            </a:r>
          </a:p>
        </p:txBody>
      </p:sp>
      <p:sp>
        <p:nvSpPr>
          <p:cNvPr id="7" name="U09-DG-028-equation-anchor">
            <a:extLst xmlns:a="http://schemas.openxmlformats.org/drawingml/2006/main">
              <a:ext uri="{FF2B5EF4-FFF2-40B4-BE49-F238E27FC236}">
                <a16:creationId xmlns:a16="http://schemas.microsoft.com/office/drawing/2014/main" id="{2F25478E-F450-49BA-B846-8965FC73D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9470" y="2707005"/>
            <a:ext cx="4732020" cy="1015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28-callout_1-anchor">
            <a:extLst xmlns:a="http://schemas.openxmlformats.org/drawingml/2006/main">
              <a:ext uri="{FF2B5EF4-FFF2-40B4-BE49-F238E27FC236}">
                <a16:creationId xmlns:a16="http://schemas.microsoft.com/office/drawing/2014/main" id="{4C8037F8-684A-404F-972D-D1A013CE2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2588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28-callout_2-anchor">
            <a:extLst xmlns:a="http://schemas.openxmlformats.org/drawingml/2006/main">
              <a:ext uri="{FF2B5EF4-FFF2-40B4-BE49-F238E27FC236}">
                <a16:creationId xmlns:a16="http://schemas.microsoft.com/office/drawing/2014/main" id="{EA8495B5-9B12-46FC-9607-9203DD88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1652588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28-callout_3-anchor">
            <a:extLst xmlns:a="http://schemas.openxmlformats.org/drawingml/2006/main">
              <a:ext uri="{FF2B5EF4-FFF2-40B4-BE49-F238E27FC236}">
                <a16:creationId xmlns:a16="http://schemas.microsoft.com/office/drawing/2014/main" id="{BAC72484-8265-4CFD-8D84-60E8EF8C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28-callout_4-anchor">
            <a:extLst xmlns:a="http://schemas.openxmlformats.org/drawingml/2006/main">
              <a:ext uri="{FF2B5EF4-FFF2-40B4-BE49-F238E27FC236}">
                <a16:creationId xmlns:a16="http://schemas.microsoft.com/office/drawing/2014/main" id="{EC1C1A09-69F0-4FEE-AAEC-8E079D66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4191000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0" name="U09-DG-028-leader_1"/>
          <p:cNvCxnSpPr>
            <a:stCxn xmlns:a="http://schemas.openxmlformats.org/drawingml/2006/main" id="8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28950" y="2101692"/>
            <a:ext cx="350520" cy="111299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1" name="U09-DG-028-leader_2"/>
          <p:cNvCxnSpPr>
            <a:stCxn xmlns:a="http://schemas.openxmlformats.org/drawingml/2006/main" id="9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8111490" y="2101692"/>
            <a:ext cx="350520" cy="111299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2" name="U09-DG-028-leader_3"/>
          <p:cNvCxnSpPr>
            <a:stCxn xmlns:a="http://schemas.openxmlformats.org/drawingml/2006/main" id="10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028950" y="3214688"/>
            <a:ext cx="350520" cy="142541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3" name="U09-DG-028-leader_4"/>
          <p:cNvCxnSpPr>
            <a:stCxn xmlns:a="http://schemas.openxmlformats.org/drawingml/2006/main" id="11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 flipV="1">
            <a:off x="8111490" y="3214688"/>
            <a:ext cx="350520" cy="142541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U09-DG-028-visual-alt" descr="U09-DG-028, candidata para diagram-generation. La composición permite reconocer que para fracciones energéticas ideales, r_e + α + τ_e = 1.">
            <a:extLst xmlns:a="http://schemas.openxmlformats.org/drawingml/2006/main">
              <a:ext uri="{FF2B5EF4-FFF2-40B4-BE49-F238E27FC236}">
                <a16:creationId xmlns:a16="http://schemas.microsoft.com/office/drawing/2014/main" id="{F45F400D-4E9F-45A8-A270-CBEA63B6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9470" y="2707005"/>
            <a:ext cx="4732020" cy="1015365"/>
          </a:xfrm>
          <a:prstGeom xmlns:a="http://schemas.openxmlformats.org/drawingml/2006/main" prst="roundRect">
            <a:avLst>
              <a:gd name="adj" fmla="val 65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7" name="U09-DG-028-equation-text">
            <a:extLst xmlns:a="http://schemas.openxmlformats.org/drawingml/2006/main">
              <a:ext uri="{FF2B5EF4-FFF2-40B4-BE49-F238E27FC236}">
                <a16:creationId xmlns:a16="http://schemas.microsoft.com/office/drawing/2014/main" id="{14C46F99-19A7-4F66-93E6-227D1B9F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830830"/>
            <a:ext cx="4389120" cy="767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91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691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Rₑ+α+τₑ=1</a:t>
            </a:r>
          </a:p>
        </p:txBody>
      </p:sp>
      <p:sp>
        <p:nvSpPr>
          <p:cNvPr id="18" name="U09-DG-028-callout_1-box">
            <a:extLst xmlns:a="http://schemas.openxmlformats.org/drawingml/2006/main">
              <a:ext uri="{FF2B5EF4-FFF2-40B4-BE49-F238E27FC236}">
                <a16:creationId xmlns:a16="http://schemas.microsoft.com/office/drawing/2014/main" id="{DA3FAB4B-DAEC-4FB0-849D-6A2F5DCDC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2588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9" name="U09-DG-028-callout_1-text">
            <a:extLst xmlns:a="http://schemas.openxmlformats.org/drawingml/2006/main">
              <a:ext uri="{FF2B5EF4-FFF2-40B4-BE49-F238E27FC236}">
                <a16:creationId xmlns:a16="http://schemas.microsoft.com/office/drawing/2014/main" id="{A9FEB118-63DE-49E6-8467-5604B0911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76413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Ecuación</a:t>
            </a:r>
          </a:p>
        </p:txBody>
      </p:sp>
      <p:sp>
        <p:nvSpPr>
          <p:cNvPr id="20" name="U09-DG-028-callout_2-box">
            <a:extLst xmlns:a="http://schemas.openxmlformats.org/drawingml/2006/main">
              <a:ext uri="{FF2B5EF4-FFF2-40B4-BE49-F238E27FC236}">
                <a16:creationId xmlns:a16="http://schemas.microsoft.com/office/drawing/2014/main" id="{D695574C-86F1-4612-A7B0-D163FAADE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1652588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1" name="U09-DG-028-callout_2-text">
            <a:extLst xmlns:a="http://schemas.openxmlformats.org/drawingml/2006/main">
              <a:ext uri="{FF2B5EF4-FFF2-40B4-BE49-F238E27FC236}">
                <a16:creationId xmlns:a16="http://schemas.microsoft.com/office/drawing/2014/main" id="{05428058-B991-470B-B8F0-2D334204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3460" y="1776413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intervalo 0–1</a:t>
            </a:r>
          </a:p>
        </p:txBody>
      </p:sp>
      <p:sp>
        <p:nvSpPr>
          <p:cNvPr id="22" name="U09-DG-028-callout_3-box">
            <a:extLst xmlns:a="http://schemas.openxmlformats.org/drawingml/2006/main">
              <a:ext uri="{FF2B5EF4-FFF2-40B4-BE49-F238E27FC236}">
                <a16:creationId xmlns:a16="http://schemas.microsoft.com/office/drawing/2014/main" id="{AB6B6A7A-2DD5-4A03-A488-5161CE0B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3" name="U09-DG-028-callout_3-text">
            <a:extLst xmlns:a="http://schemas.openxmlformats.org/drawingml/2006/main">
              <a:ext uri="{FF2B5EF4-FFF2-40B4-BE49-F238E27FC236}">
                <a16:creationId xmlns:a16="http://schemas.microsoft.com/office/drawing/2014/main" id="{BF5C9425-654E-458C-9D1A-8813DF79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14825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significado de cada</a:t>
            </a:r>
          </a:p>
        </p:txBody>
      </p:sp>
      <p:sp>
        <p:nvSpPr>
          <p:cNvPr id="24" name="U09-DG-028-callout_4-box">
            <a:extLst xmlns:a="http://schemas.openxmlformats.org/drawingml/2006/main">
              <a:ext uri="{FF2B5EF4-FFF2-40B4-BE49-F238E27FC236}">
                <a16:creationId xmlns:a16="http://schemas.microsoft.com/office/drawing/2014/main" id="{E77F7922-06D2-40DC-92A5-7DA34972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4191000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5" name="U09-DG-028-callout_4-text">
            <a:extLst xmlns:a="http://schemas.openxmlformats.org/drawingml/2006/main">
              <a:ext uri="{FF2B5EF4-FFF2-40B4-BE49-F238E27FC236}">
                <a16:creationId xmlns:a16="http://schemas.microsoft.com/office/drawing/2014/main" id="{09E6AD87-587F-4588-8FF5-831B85DBC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3460" y="4314825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ejemplo parcial 0,55</a:t>
            </a:r>
          </a:p>
        </p:txBody>
      </p:sp>
      <p:sp>
        <p:nvSpPr>
          <p:cNvPr id="26" name="caption">
            <a:extLst xmlns:a="http://schemas.openxmlformats.org/drawingml/2006/main">
              <a:ext uri="{FF2B5EF4-FFF2-40B4-BE49-F238E27FC236}">
                <a16:creationId xmlns:a16="http://schemas.microsoft.com/office/drawing/2014/main" id="{BED615C9-62D4-461A-98A1-477C69F8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para fracciones energéticas ideales, r_e + α + τ_e = 1. · Producción propia UCASAL · U09-DG-028</a:t>
            </a:r>
          </a:p>
        </p:txBody>
      </p:sp>
      <p:sp>
        <p:nvSpPr>
          <p:cNvPr id="27" name="unit-footer">
            <a:extLst xmlns:a="http://schemas.openxmlformats.org/drawingml/2006/main">
              <a:ext uri="{FF2B5EF4-FFF2-40B4-BE49-F238E27FC236}">
                <a16:creationId xmlns:a16="http://schemas.microsoft.com/office/drawing/2014/main" id="{3075194A-7122-4DCD-B661-19E741F5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Física Acústica · Unidad 9</a:t>
            </a:r>
          </a:p>
        </p:txBody>
      </p:sp>
      <p:sp>
        <p:nvSpPr>
          <p:cNvPr id="2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FE94F3D-11A2-4447-A821-D3632893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op-rail-1">
            <a:extLst xmlns:a="http://schemas.openxmlformats.org/drawingml/2006/main">
              <a:ext uri="{FF2B5EF4-FFF2-40B4-BE49-F238E27FC236}">
                <a16:creationId xmlns:a16="http://schemas.microsoft.com/office/drawing/2014/main" id="{0927ACF0-4696-4D5F-9DC3-BAD0ED3D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BEE70D1C-AD6A-4E2B-8044-930C124FB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11DC84B7-3FEE-4A14-A1F8-6492DB662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25EF108B-4268-4991-A5D6-9AA07D060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2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675EBBA-9F26-4416-AA10-FBEDCEBF5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¿Qué fracción falta?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50CD8FD-8909-40C9-B575-368A0B2F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Superficies y obstáculos · Mini ejercicio</a:t>
            </a:r>
          </a:p>
        </p:txBody>
      </p:sp>
      <p:sp>
        <p:nvSpPr>
          <p:cNvPr id="7" name="step-anchor-0">
            <a:extLst xmlns:a="http://schemas.openxmlformats.org/drawingml/2006/main">
              <a:ext uri="{FF2B5EF4-FFF2-40B4-BE49-F238E27FC236}">
                <a16:creationId xmlns:a16="http://schemas.microsoft.com/office/drawing/2014/main" id="{F22B5589-932A-47BE-AA74-9570245D1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2381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step-anchor-1">
            <a:extLst xmlns:a="http://schemas.openxmlformats.org/drawingml/2006/main">
              <a:ext uri="{FF2B5EF4-FFF2-40B4-BE49-F238E27FC236}">
                <a16:creationId xmlns:a16="http://schemas.microsoft.com/office/drawing/2014/main" id="{E90793CC-34B6-469A-BE18-9AC4E9003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095500"/>
            <a:ext cx="2381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step-anchor-2">
            <a:extLst xmlns:a="http://schemas.openxmlformats.org/drawingml/2006/main">
              <a:ext uri="{FF2B5EF4-FFF2-40B4-BE49-F238E27FC236}">
                <a16:creationId xmlns:a16="http://schemas.microsoft.com/office/drawing/2014/main" id="{2A3FDDC7-87A9-40B3-B192-E4949DA43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95500"/>
            <a:ext cx="2381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step-anchor-3">
            <a:extLst xmlns:a="http://schemas.openxmlformats.org/drawingml/2006/main">
              <a:ext uri="{FF2B5EF4-FFF2-40B4-BE49-F238E27FC236}">
                <a16:creationId xmlns:a16="http://schemas.microsoft.com/office/drawing/2014/main" id="{4DB34160-A364-4C39-A31D-D62F3FC4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095500"/>
            <a:ext cx="2381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124200" y="3190875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3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743575" y="3190875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4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362950" y="3190875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03163"/>
            </a:solidFill>
            <a:prstDash val="solid"/>
            <a:tailEnd type="arrow" w="med" len="med"/>
          </a:ln>
        </p:spPr>
      </p:cxnSp>
      <p:sp>
        <p:nvSpPr>
          <p:cNvPr id="14" name="step-0-box">
            <a:extLst xmlns:a="http://schemas.openxmlformats.org/drawingml/2006/main">
              <a:ext uri="{FF2B5EF4-FFF2-40B4-BE49-F238E27FC236}">
                <a16:creationId xmlns:a16="http://schemas.microsoft.com/office/drawing/2014/main" id="{FD8C13DC-163E-4AFB-99D5-3FCFFF115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2381250" cy="2190750"/>
          </a:xfrm>
          <a:prstGeom xmlns:a="http://schemas.openxmlformats.org/drawingml/2006/main" prst="roundRect">
            <a:avLst>
              <a:gd name="adj" fmla="val 2609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2383">
            <a:solidFill>
              <a:srgbClr val="2F7E83"/>
            </a:solidFill>
            <a:prstDash val="solid"/>
          </a:ln>
        </p:spPr>
      </p:sp>
      <p:sp>
        <p:nvSpPr>
          <p:cNvPr id="15" name="step-0-title">
            <a:extLst xmlns:a="http://schemas.openxmlformats.org/drawingml/2006/main">
              <a:ext uri="{FF2B5EF4-FFF2-40B4-BE49-F238E27FC236}">
                <a16:creationId xmlns:a16="http://schemas.microsoft.com/office/drawing/2014/main" id="{B400F270-2CF2-4A5E-B082-A63C893BD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6" name="step-0-body">
            <a:extLst xmlns:a="http://schemas.openxmlformats.org/drawingml/2006/main">
              <a:ext uri="{FF2B5EF4-FFF2-40B4-BE49-F238E27FC236}">
                <a16:creationId xmlns:a16="http://schemas.microsoft.com/office/drawing/2014/main" id="{8B0E7DC8-643B-4CFD-AC9B-D5B2760F7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19621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τₑ=1-0,55-0,30=0,15</a:t>
            </a:r>
          </a:p>
        </p:txBody>
      </p:sp>
      <p:sp>
        <p:nvSpPr>
          <p:cNvPr id="17" name="step-1-box">
            <a:extLst xmlns:a="http://schemas.openxmlformats.org/drawingml/2006/main">
              <a:ext uri="{FF2B5EF4-FFF2-40B4-BE49-F238E27FC236}">
                <a16:creationId xmlns:a16="http://schemas.microsoft.com/office/drawing/2014/main" id="{7E7AC919-C0D7-407E-A604-EFDBF631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095500"/>
            <a:ext cx="2381250" cy="2190750"/>
          </a:xfrm>
          <a:prstGeom xmlns:a="http://schemas.openxmlformats.org/drawingml/2006/main" prst="roundRect">
            <a:avLst>
              <a:gd name="adj" fmla="val 2609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2383">
            <a:solidFill>
              <a:srgbClr val="4D1434"/>
            </a:solidFill>
            <a:prstDash val="solid"/>
          </a:ln>
        </p:spPr>
      </p:sp>
      <p:sp>
        <p:nvSpPr>
          <p:cNvPr id="18" name="step-1-title">
            <a:extLst xmlns:a="http://schemas.openxmlformats.org/drawingml/2006/main">
              <a:ext uri="{FF2B5EF4-FFF2-40B4-BE49-F238E27FC236}">
                <a16:creationId xmlns:a16="http://schemas.microsoft.com/office/drawing/2014/main" id="{E485D78A-8348-481F-BB29-4BE85071B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26695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9" name="step-1-body">
            <a:extLst xmlns:a="http://schemas.openxmlformats.org/drawingml/2006/main">
              <a:ext uri="{FF2B5EF4-FFF2-40B4-BE49-F238E27FC236}">
                <a16:creationId xmlns:a16="http://schemas.microsoft.com/office/drawing/2014/main" id="{0E802C04-08CE-4EC0-BD35-6BFE373B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781300"/>
            <a:ext cx="19621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resultado numérico solo tiene sentido si cada coeficiente refiere a la misma energía incidente.</a:t>
            </a:r>
          </a:p>
        </p:txBody>
      </p:sp>
      <p:sp>
        <p:nvSpPr>
          <p:cNvPr id="20" name="step-2-box">
            <a:extLst xmlns:a="http://schemas.openxmlformats.org/drawingml/2006/main">
              <a:ext uri="{FF2B5EF4-FFF2-40B4-BE49-F238E27FC236}">
                <a16:creationId xmlns:a16="http://schemas.microsoft.com/office/drawing/2014/main" id="{F6DA9B4F-F024-4964-8C99-A605DB24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95500"/>
            <a:ext cx="2381250" cy="2190750"/>
          </a:xfrm>
          <a:prstGeom xmlns:a="http://schemas.openxmlformats.org/drawingml/2006/main" prst="roundRect">
            <a:avLst>
              <a:gd name="adj" fmla="val 260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2383">
            <a:solidFill>
              <a:srgbClr val="969FA7"/>
            </a:solidFill>
            <a:prstDash val="solid"/>
          </a:ln>
        </p:spPr>
      </p:sp>
      <p:sp>
        <p:nvSpPr>
          <p:cNvPr id="21" name="step-2-title">
            <a:extLst xmlns:a="http://schemas.openxmlformats.org/drawingml/2006/main">
              <a:ext uri="{FF2B5EF4-FFF2-40B4-BE49-F238E27FC236}">
                <a16:creationId xmlns:a16="http://schemas.microsoft.com/office/drawing/2014/main" id="{8B248DF0-35A1-45AF-8D8C-B59E4837E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6695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2" name="step-2-body">
            <a:extLst xmlns:a="http://schemas.openxmlformats.org/drawingml/2006/main">
              <a:ext uri="{FF2B5EF4-FFF2-40B4-BE49-F238E27FC236}">
                <a16:creationId xmlns:a16="http://schemas.microsoft.com/office/drawing/2014/main" id="{E52FC506-7CB3-4BEA-BF4F-5FB1DA5C2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81300"/>
            <a:ext cx="19621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Dos balances simples.</a:t>
            </a:r>
          </a:p>
        </p:txBody>
      </p:sp>
      <p:sp>
        <p:nvSpPr>
          <p:cNvPr id="23" name="step-3-box">
            <a:extLst xmlns:a="http://schemas.openxmlformats.org/drawingml/2006/main">
              <a:ext uri="{FF2B5EF4-FFF2-40B4-BE49-F238E27FC236}">
                <a16:creationId xmlns:a16="http://schemas.microsoft.com/office/drawing/2014/main" id="{54B01280-3670-47C3-A62B-A24B230C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095500"/>
            <a:ext cx="2381250" cy="2190750"/>
          </a:xfrm>
          <a:prstGeom xmlns:a="http://schemas.openxmlformats.org/drawingml/2006/main" prst="roundRect">
            <a:avLst>
              <a:gd name="adj" fmla="val 2609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2383">
            <a:solidFill>
              <a:srgbClr val="9F541A"/>
            </a:solidFill>
            <a:prstDash val="solid"/>
          </a:ln>
        </p:spPr>
      </p:sp>
      <p:sp>
        <p:nvSpPr>
          <p:cNvPr id="24" name="step-3-title">
            <a:extLst xmlns:a="http://schemas.openxmlformats.org/drawingml/2006/main">
              <a:ext uri="{FF2B5EF4-FFF2-40B4-BE49-F238E27FC236}">
                <a16:creationId xmlns:a16="http://schemas.microsoft.com/office/drawing/2014/main" id="{691F716F-802F-47E6-A0B2-BACE1AD2A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26695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5" name="step-3-body">
            <a:extLst xmlns:a="http://schemas.openxmlformats.org/drawingml/2006/main">
              <a:ext uri="{FF2B5EF4-FFF2-40B4-BE49-F238E27FC236}">
                <a16:creationId xmlns:a16="http://schemas.microsoft.com/office/drawing/2014/main" id="{E8E43C30-F0F1-46A2-A0A3-2B43CF95C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781300"/>
            <a:ext cx="19621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Uno válido y uno inconsistente para diagnosticar.</a:t>
            </a:r>
          </a:p>
        </p:txBody>
      </p:sp>
      <p:sp>
        <p:nvSpPr>
          <p:cNvPr id="26" name="unit-footer">
            <a:extLst xmlns:a="http://schemas.openxmlformats.org/drawingml/2006/main">
              <a:ext uri="{FF2B5EF4-FFF2-40B4-BE49-F238E27FC236}">
                <a16:creationId xmlns:a16="http://schemas.microsoft.com/office/drawing/2014/main" id="{ECF5DA86-2826-4510-8210-E38C2A87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Física Acústica · Unidad 9</a:t>
            </a:r>
          </a:p>
        </p:txBody>
      </p:sp>
      <p:sp>
        <p:nvSpPr>
          <p:cNvPr id="2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1965D45-D25D-4E2C-A5F0-12121AD7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28154637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op-rail-1">
            <a:extLst xmlns:a="http://schemas.openxmlformats.org/drawingml/2006/main">
              <a:ext uri="{FF2B5EF4-FFF2-40B4-BE49-F238E27FC236}">
                <a16:creationId xmlns:a16="http://schemas.microsoft.com/office/drawing/2014/main" id="{1B57A734-61C6-4F64-877B-0398DBA0C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134A164B-5F9D-4B89-B45A-16A3D00B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F4BB1931-8118-4D12-AC34-F5E7B926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5DF8D341-3F8B-4F5D-B8AC-35FD8EDF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2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458BF5E-BB7D-4C87-BC4E-F3E9429CD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1163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Reflexión: cambia la dirección, no la identidad del mecanismo</a:t>
            </a:r>
          </a:p>
        </p:txBody>
      </p:sp>
      <p:sp>
        <p:nvSpPr>
          <p:cNvPr id="6" name="U09-DG-029-source-anchor">
            <a:extLst xmlns:a="http://schemas.openxmlformats.org/drawingml/2006/main">
              <a:ext uri="{FF2B5EF4-FFF2-40B4-BE49-F238E27FC236}">
                <a16:creationId xmlns:a16="http://schemas.microsoft.com/office/drawing/2014/main" id="{1A331CD4-C8AC-4D53-A63E-6C9D2456D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2628900"/>
            <a:ext cx="227838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09-DG-029-path_upper-anchor">
            <a:extLst xmlns:a="http://schemas.openxmlformats.org/drawingml/2006/main">
              <a:ext uri="{FF2B5EF4-FFF2-40B4-BE49-F238E27FC236}">
                <a16:creationId xmlns:a16="http://schemas.microsoft.com/office/drawing/2014/main" id="{F645266C-C866-4059-A00F-A29B5107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1691640"/>
            <a:ext cx="2804160" cy="976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29-path_lower-anchor">
            <a:extLst xmlns:a="http://schemas.openxmlformats.org/drawingml/2006/main">
              <a:ext uri="{FF2B5EF4-FFF2-40B4-BE49-F238E27FC236}">
                <a16:creationId xmlns:a16="http://schemas.microsoft.com/office/drawing/2014/main" id="{57358D62-E359-48BF-AA77-BF09AF7D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3644265"/>
            <a:ext cx="2804160" cy="976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29-receiver-anchor">
            <a:extLst xmlns:a="http://schemas.openxmlformats.org/drawingml/2006/main">
              <a:ext uri="{FF2B5EF4-FFF2-40B4-BE49-F238E27FC236}">
                <a16:creationId xmlns:a16="http://schemas.microsoft.com/office/drawing/2014/main" id="{276E5D04-C5A4-43AD-B161-A1111F3ED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195" y="2628900"/>
            <a:ext cx="227838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29-condition-anchor">
            <a:extLst xmlns:a="http://schemas.openxmlformats.org/drawingml/2006/main">
              <a:ext uri="{FF2B5EF4-FFF2-40B4-BE49-F238E27FC236}">
                <a16:creationId xmlns:a16="http://schemas.microsoft.com/office/drawing/2014/main" id="{558410C6-8F2F-4805-933A-36F867D79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4815840"/>
            <a:ext cx="2804160" cy="5857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8" name="U09-DG-029-route_1a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072765" y="2179797"/>
            <a:ext cx="1183005" cy="9958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9" name="U09-DG-029-route_1b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059930" y="2179797"/>
            <a:ext cx="1358265" cy="9958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0" name="U09-DG-029-route_2a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072765" y="3175635"/>
            <a:ext cx="1183005" cy="95678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1" name="U09-DG-029-route_2b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7059930" y="3175635"/>
            <a:ext cx="1358265" cy="95678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5" name="U09-DG-029-visual-alt" descr="U09-DG-029, candidata para diagram-generation. La composición permite reconocer que en una interfaz, una parte de la energía retorna al medio de origen.">
            <a:extLst xmlns:a="http://schemas.openxmlformats.org/drawingml/2006/main">
              <a:ext uri="{FF2B5EF4-FFF2-40B4-BE49-F238E27FC236}">
                <a16:creationId xmlns:a16="http://schemas.microsoft.com/office/drawing/2014/main" id="{CB090EBB-8EE3-4F71-81B2-50F77964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2628900"/>
            <a:ext cx="227838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6" name="U09-DG-029-source-text">
            <a:extLst xmlns:a="http://schemas.openxmlformats.org/drawingml/2006/main">
              <a:ext uri="{FF2B5EF4-FFF2-40B4-BE49-F238E27FC236}">
                <a16:creationId xmlns:a16="http://schemas.microsoft.com/office/drawing/2014/main" id="{6D79FDDC-80DE-4D51-A415-1BFF5D8EB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" y="2752725"/>
            <a:ext cx="193548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Incidencia</a:t>
            </a:r>
          </a:p>
        </p:txBody>
      </p:sp>
      <p:sp>
        <p:nvSpPr>
          <p:cNvPr id="17" name="U09-DG-029-path_upper-box">
            <a:extLst xmlns:a="http://schemas.openxmlformats.org/drawingml/2006/main">
              <a:ext uri="{FF2B5EF4-FFF2-40B4-BE49-F238E27FC236}">
                <a16:creationId xmlns:a16="http://schemas.microsoft.com/office/drawing/2014/main" id="{26553F1F-EAFE-4927-B475-77003C1C2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1691640"/>
            <a:ext cx="2804160" cy="976313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8" name="U09-DG-029-path_upper-text">
            <a:extLst xmlns:a="http://schemas.openxmlformats.org/drawingml/2006/main">
              <a:ext uri="{FF2B5EF4-FFF2-40B4-BE49-F238E27FC236}">
                <a16:creationId xmlns:a16="http://schemas.microsoft.com/office/drawing/2014/main" id="{47814242-32B7-4322-AC55-933531542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220" y="1815465"/>
            <a:ext cx="2461260" cy="728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normal</a:t>
            </a:r>
          </a:p>
        </p:txBody>
      </p:sp>
      <p:sp>
        <p:nvSpPr>
          <p:cNvPr id="19" name="U09-DG-029-path_lower-box">
            <a:extLst xmlns:a="http://schemas.openxmlformats.org/drawingml/2006/main">
              <a:ext uri="{FF2B5EF4-FFF2-40B4-BE49-F238E27FC236}">
                <a16:creationId xmlns:a16="http://schemas.microsoft.com/office/drawing/2014/main" id="{D0C1181E-5051-4388-B5BD-49F302E6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3644265"/>
            <a:ext cx="2804160" cy="976313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0" name="U09-DG-029-path_lower-text">
            <a:extLst xmlns:a="http://schemas.openxmlformats.org/drawingml/2006/main">
              <a:ext uri="{FF2B5EF4-FFF2-40B4-BE49-F238E27FC236}">
                <a16:creationId xmlns:a16="http://schemas.microsoft.com/office/drawing/2014/main" id="{18A19068-525D-4A98-B240-893B2DA9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220" y="3768090"/>
            <a:ext cx="2461260" cy="728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ángulos</a:t>
            </a:r>
          </a:p>
        </p:txBody>
      </p:sp>
      <p:sp>
        <p:nvSpPr>
          <p:cNvPr id="21" name="U09-DG-029-receiver-box">
            <a:extLst xmlns:a="http://schemas.openxmlformats.org/drawingml/2006/main">
              <a:ext uri="{FF2B5EF4-FFF2-40B4-BE49-F238E27FC236}">
                <a16:creationId xmlns:a16="http://schemas.microsoft.com/office/drawing/2014/main" id="{23BF7BB1-CC41-4476-85D4-5D4D6E27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195" y="2628900"/>
            <a:ext cx="227838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2" name="U09-DG-029-receiver-text">
            <a:extLst xmlns:a="http://schemas.openxmlformats.org/drawingml/2006/main">
              <a:ext uri="{FF2B5EF4-FFF2-40B4-BE49-F238E27FC236}">
                <a16:creationId xmlns:a16="http://schemas.microsoft.com/office/drawing/2014/main" id="{BFA5A8BE-E09D-4D24-9036-E95D1DE4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645" y="2752725"/>
            <a:ext cx="193548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dependencia con</a:t>
            </a:r>
          </a:p>
        </p:txBody>
      </p:sp>
      <p:sp>
        <p:nvSpPr>
          <p:cNvPr id="23" name="U09-DG-029-condition-box">
            <a:extLst xmlns:a="http://schemas.openxmlformats.org/drawingml/2006/main">
              <a:ext uri="{FF2B5EF4-FFF2-40B4-BE49-F238E27FC236}">
                <a16:creationId xmlns:a16="http://schemas.microsoft.com/office/drawing/2014/main" id="{3A5657AB-FC66-43E5-BEAD-6D08397A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4815840"/>
            <a:ext cx="2804160" cy="585787"/>
          </a:xfrm>
          <a:prstGeom xmlns:a="http://schemas.openxmlformats.org/drawingml/2006/main" prst="roundRect">
            <a:avLst>
              <a:gd name="adj" fmla="val 11382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4" name="U09-DG-029-condition-text">
            <a:extLst xmlns:a="http://schemas.openxmlformats.org/drawingml/2006/main">
              <a:ext uri="{FF2B5EF4-FFF2-40B4-BE49-F238E27FC236}">
                <a16:creationId xmlns:a16="http://schemas.microsoft.com/office/drawing/2014/main" id="{8B8F13F8-B7EB-4089-81D6-D3353D9B2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220" y="4939665"/>
            <a:ext cx="2461260" cy="3381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sin desarrollar coeficientes</a:t>
            </a:r>
          </a:p>
        </p:txBody>
      </p:sp>
      <p:sp>
        <p:nvSpPr>
          <p:cNvPr id="25" name="caption">
            <a:extLst xmlns:a="http://schemas.openxmlformats.org/drawingml/2006/main">
              <a:ext uri="{FF2B5EF4-FFF2-40B4-BE49-F238E27FC236}">
                <a16:creationId xmlns:a16="http://schemas.microsoft.com/office/drawing/2014/main" id="{B5D84B3D-ED30-47A5-AE18-0BC633496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en una interfaz, una parte de la energía retorna al medio de origen. · Producción propia UCASAL · U09-DG-029</a:t>
            </a:r>
          </a:p>
        </p:txBody>
      </p:sp>
      <p:sp>
        <p:nvSpPr>
          <p:cNvPr id="26" name="unit-footer">
            <a:extLst xmlns:a="http://schemas.openxmlformats.org/drawingml/2006/main">
              <a:ext uri="{FF2B5EF4-FFF2-40B4-BE49-F238E27FC236}">
                <a16:creationId xmlns:a16="http://schemas.microsoft.com/office/drawing/2014/main" id="{6295BB29-2721-40A4-880D-500E63EED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Física Acústica · Unidad 9</a:t>
            </a:r>
          </a:p>
        </p:txBody>
      </p:sp>
      <p:sp>
        <p:nvSpPr>
          <p:cNvPr id="2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5EA72A2-D0D6-4F69-BF08-012DB7691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op-rail-1">
            <a:extLst xmlns:a="http://schemas.openxmlformats.org/drawingml/2006/main">
              <a:ext uri="{FF2B5EF4-FFF2-40B4-BE49-F238E27FC236}">
                <a16:creationId xmlns:a16="http://schemas.microsoft.com/office/drawing/2014/main" id="{9941C0AF-082B-4C7F-AF3B-F16457BD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A8DB55A3-BD00-4D69-B53F-19C2B181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64F9AB3D-D9D5-4FCB-AF4E-078A909DA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7A8E3B79-BECC-4B82-A50B-17C6774A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2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F8F1EB7-ED29-4EF0-9B81-953C5B33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Reflexión, eco y reverberación no son sinónimos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726B5F9-0757-46B2-AB39-C35F04932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Superficies y obstáculos · Comparación temporal</a:t>
            </a:r>
          </a:p>
        </p:txBody>
      </p:sp>
      <p:sp>
        <p:nvSpPr>
          <p:cNvPr id="7" name="U09-DG-030-source-anchor">
            <a:extLst xmlns:a="http://schemas.openxmlformats.org/drawingml/2006/main">
              <a:ext uri="{FF2B5EF4-FFF2-40B4-BE49-F238E27FC236}">
                <a16:creationId xmlns:a16="http://schemas.microsoft.com/office/drawing/2014/main" id="{BBB7B5B8-8A91-44E8-AAC3-61692B8C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2628900"/>
            <a:ext cx="227838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30-path_upper-anchor">
            <a:extLst xmlns:a="http://schemas.openxmlformats.org/drawingml/2006/main">
              <a:ext uri="{FF2B5EF4-FFF2-40B4-BE49-F238E27FC236}">
                <a16:creationId xmlns:a16="http://schemas.microsoft.com/office/drawing/2014/main" id="{0C51B3F5-DDAF-4CE0-8567-B77F1A934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1691640"/>
            <a:ext cx="2804160" cy="976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30-path_lower-anchor">
            <a:extLst xmlns:a="http://schemas.openxmlformats.org/drawingml/2006/main">
              <a:ext uri="{FF2B5EF4-FFF2-40B4-BE49-F238E27FC236}">
                <a16:creationId xmlns:a16="http://schemas.microsoft.com/office/drawing/2014/main" id="{B1445929-37B8-4F60-8E84-5ECD5EC4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3644265"/>
            <a:ext cx="2804160" cy="976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30-receiver-anchor">
            <a:extLst xmlns:a="http://schemas.openxmlformats.org/drawingml/2006/main">
              <a:ext uri="{FF2B5EF4-FFF2-40B4-BE49-F238E27FC236}">
                <a16:creationId xmlns:a16="http://schemas.microsoft.com/office/drawing/2014/main" id="{749AE105-AD84-44F0-85DA-BCF13066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195" y="2628900"/>
            <a:ext cx="227838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30-condition-anchor">
            <a:extLst xmlns:a="http://schemas.openxmlformats.org/drawingml/2006/main">
              <a:ext uri="{FF2B5EF4-FFF2-40B4-BE49-F238E27FC236}">
                <a16:creationId xmlns:a16="http://schemas.microsoft.com/office/drawing/2014/main" id="{0F3035AC-8654-4053-AE99-C6A3A990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4815840"/>
            <a:ext cx="2804160" cy="5857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0" name="U09-DG-030-route_1a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072765" y="2179797"/>
            <a:ext cx="1183005" cy="9958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1" name="U09-DG-030-route_1b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059930" y="2179797"/>
            <a:ext cx="1358265" cy="9958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2" name="U09-DG-030-route_2a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072765" y="3175635"/>
            <a:ext cx="1183005" cy="95678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3" name="U09-DG-030-route_2b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7059930" y="3175635"/>
            <a:ext cx="1358265" cy="95678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U09-DG-030-visual-alt" descr="U09-CH-004 respuesta temporal conceptual, con anotaciones U09-DG-030. La composición permite reconocer que una reflexión es física; eco y reverberación describen patrones temporales/perceptuales distintos.">
            <a:extLst xmlns:a="http://schemas.openxmlformats.org/drawingml/2006/main">
              <a:ext uri="{FF2B5EF4-FFF2-40B4-BE49-F238E27FC236}">
                <a16:creationId xmlns:a16="http://schemas.microsoft.com/office/drawing/2014/main" id="{6A39D903-3DD8-4C5A-ABC2-026376D92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2628900"/>
            <a:ext cx="227838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7" name="U09-DG-030-source-text">
            <a:extLst xmlns:a="http://schemas.openxmlformats.org/drawingml/2006/main">
              <a:ext uri="{FF2B5EF4-FFF2-40B4-BE49-F238E27FC236}">
                <a16:creationId xmlns:a16="http://schemas.microsoft.com/office/drawing/2014/main" id="{6EDB85FA-2619-4D08-B868-86E027673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" y="2752725"/>
            <a:ext cx="193548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Líderes a directa</a:t>
            </a:r>
          </a:p>
        </p:txBody>
      </p:sp>
      <p:sp>
        <p:nvSpPr>
          <p:cNvPr id="18" name="U09-DG-030-path_upper-box">
            <a:extLst xmlns:a="http://schemas.openxmlformats.org/drawingml/2006/main">
              <a:ext uri="{FF2B5EF4-FFF2-40B4-BE49-F238E27FC236}">
                <a16:creationId xmlns:a16="http://schemas.microsoft.com/office/drawing/2014/main" id="{CDCDD7EB-9D73-404F-8B6F-9D59007C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1691640"/>
            <a:ext cx="2804160" cy="976313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9" name="U09-DG-030-path_upper-text">
            <a:extLst xmlns:a="http://schemas.openxmlformats.org/drawingml/2006/main">
              <a:ext uri="{FF2B5EF4-FFF2-40B4-BE49-F238E27FC236}">
                <a16:creationId xmlns:a16="http://schemas.microsoft.com/office/drawing/2014/main" id="{668F83A4-347F-4DEF-9E51-8D7B4D64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220" y="1815465"/>
            <a:ext cx="2461260" cy="728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reflexión aislada</a:t>
            </a:r>
          </a:p>
        </p:txBody>
      </p:sp>
      <p:sp>
        <p:nvSpPr>
          <p:cNvPr id="20" name="U09-DG-030-path_lower-box">
            <a:extLst xmlns:a="http://schemas.openxmlformats.org/drawingml/2006/main">
              <a:ext uri="{FF2B5EF4-FFF2-40B4-BE49-F238E27FC236}">
                <a16:creationId xmlns:a16="http://schemas.microsoft.com/office/drawing/2014/main" id="{59A2635F-1BB4-4DD1-A449-0092E03F7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3644265"/>
            <a:ext cx="2804160" cy="976313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1" name="U09-DG-030-path_lower-text">
            <a:extLst xmlns:a="http://schemas.openxmlformats.org/drawingml/2006/main">
              <a:ext uri="{FF2B5EF4-FFF2-40B4-BE49-F238E27FC236}">
                <a16:creationId xmlns:a16="http://schemas.microsoft.com/office/drawing/2014/main" id="{AFCE46F1-C4FA-4719-ACBA-555DE3D10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220" y="3768090"/>
            <a:ext cx="2461260" cy="728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cola en U09-CH-004</a:t>
            </a:r>
          </a:p>
        </p:txBody>
      </p:sp>
      <p:sp>
        <p:nvSpPr>
          <p:cNvPr id="22" name="U09-DG-030-receiver-box">
            <a:extLst xmlns:a="http://schemas.openxmlformats.org/drawingml/2006/main">
              <a:ext uri="{FF2B5EF4-FFF2-40B4-BE49-F238E27FC236}">
                <a16:creationId xmlns:a16="http://schemas.microsoft.com/office/drawing/2014/main" id="{2686B0F5-B93C-4664-B242-C0448625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195" y="2628900"/>
            <a:ext cx="227838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3" name="U09-DG-030-receiver-text">
            <a:extLst xmlns:a="http://schemas.openxmlformats.org/drawingml/2006/main">
              <a:ext uri="{FF2B5EF4-FFF2-40B4-BE49-F238E27FC236}">
                <a16:creationId xmlns:a16="http://schemas.microsoft.com/office/drawing/2014/main" id="{6ED80AF5-2C81-4DF8-994A-2E34DD61C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645" y="2752725"/>
            <a:ext cx="193548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Anotaciones de línea</a:t>
            </a:r>
          </a:p>
        </p:txBody>
      </p:sp>
      <p:sp>
        <p:nvSpPr>
          <p:cNvPr id="24" name="U09-DG-030-condition-box">
            <a:extLst xmlns:a="http://schemas.openxmlformats.org/drawingml/2006/main">
              <a:ext uri="{FF2B5EF4-FFF2-40B4-BE49-F238E27FC236}">
                <a16:creationId xmlns:a16="http://schemas.microsoft.com/office/drawing/2014/main" id="{8660F66E-950F-4002-B614-A279B311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4815840"/>
            <a:ext cx="2804160" cy="585787"/>
          </a:xfrm>
          <a:prstGeom xmlns:a="http://schemas.openxmlformats.org/drawingml/2006/main" prst="roundRect">
            <a:avLst>
              <a:gd name="adj" fmla="val 11382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5" name="U09-DG-030-condition-text">
            <a:extLst xmlns:a="http://schemas.openxmlformats.org/drawingml/2006/main">
              <a:ext uri="{FF2B5EF4-FFF2-40B4-BE49-F238E27FC236}">
                <a16:creationId xmlns:a16="http://schemas.microsoft.com/office/drawing/2014/main" id="{7126A8FB-EB52-4D41-8C49-8E7D84B6B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220" y="4939665"/>
            <a:ext cx="2461260" cy="3381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Condiciones declaradas</a:t>
            </a:r>
          </a:p>
        </p:txBody>
      </p:sp>
      <p:sp>
        <p:nvSpPr>
          <p:cNvPr id="26" name="caption">
            <a:extLst xmlns:a="http://schemas.openxmlformats.org/drawingml/2006/main">
              <a:ext uri="{FF2B5EF4-FFF2-40B4-BE49-F238E27FC236}">
                <a16:creationId xmlns:a16="http://schemas.microsoft.com/office/drawing/2014/main" id="{841182F9-A6B6-42C0-9208-74B669DD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una reflexión es física; eco y reverberación describen patrones temporales/perceptuales distintos. · Producción propia UCASAL · U09-DG-030</a:t>
            </a:r>
          </a:p>
        </p:txBody>
      </p:sp>
      <p:sp>
        <p:nvSpPr>
          <p:cNvPr id="27" name="unit-footer">
            <a:extLst xmlns:a="http://schemas.openxmlformats.org/drawingml/2006/main">
              <a:ext uri="{FF2B5EF4-FFF2-40B4-BE49-F238E27FC236}">
                <a16:creationId xmlns:a16="http://schemas.microsoft.com/office/drawing/2014/main" id="{697A43B1-ACD4-4385-8034-7AF66C50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Física Acústica · Unidad 9</a:t>
            </a:r>
          </a:p>
        </p:txBody>
      </p:sp>
      <p:sp>
        <p:nvSpPr>
          <p:cNvPr id="2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DF8D872-CBCC-4B83-898C-02CE34F36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op-rail-1">
            <a:extLst xmlns:a="http://schemas.openxmlformats.org/drawingml/2006/main">
              <a:ext uri="{FF2B5EF4-FFF2-40B4-BE49-F238E27FC236}">
                <a16:creationId xmlns:a16="http://schemas.microsoft.com/office/drawing/2014/main" id="{A8A5AF33-ADD2-4F1D-B5D2-2604798CE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97867134-07E3-405D-B50B-1BC3D80CB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2F6BA207-7783-48E8-9ABC-4F2C5441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4D92F352-A41B-48D8-B14D-75ABBEFA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2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E7E1D1E-E159-4020-9836-CB12D1D8C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Refracción en una interfaz aire–sólido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15D4E14-6597-4162-926C-DEF79C732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Superficies y obstáculos · Diagrama conceptual</a:t>
            </a:r>
          </a:p>
        </p:txBody>
      </p:sp>
      <p:sp>
        <p:nvSpPr>
          <p:cNvPr id="7" name="U09-DG-031-branch_source-anchor">
            <a:extLst xmlns:a="http://schemas.openxmlformats.org/drawingml/2006/main">
              <a:ext uri="{FF2B5EF4-FFF2-40B4-BE49-F238E27FC236}">
                <a16:creationId xmlns:a16="http://schemas.microsoft.com/office/drawing/2014/main" id="{895AF78A-E607-4E07-A494-EA538AD1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953"/>
            <a:ext cx="236601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31-branch_1-anchor">
            <a:extLst xmlns:a="http://schemas.openxmlformats.org/drawingml/2006/main">
              <a:ext uri="{FF2B5EF4-FFF2-40B4-BE49-F238E27FC236}">
                <a16:creationId xmlns:a16="http://schemas.microsoft.com/office/drawing/2014/main" id="{388F923A-24DF-466F-BEFE-42FCE8A25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92472"/>
            <a:ext cx="3680460" cy="765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31-branch_2-anchor">
            <a:extLst xmlns:a="http://schemas.openxmlformats.org/drawingml/2006/main">
              <a:ext uri="{FF2B5EF4-FFF2-40B4-BE49-F238E27FC236}">
                <a16:creationId xmlns:a16="http://schemas.microsoft.com/office/drawing/2014/main" id="{0DF2E5C6-5F9A-4C1E-9329-852C2630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76595"/>
            <a:ext cx="3680460" cy="765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31-branch_3-anchor">
            <a:extLst xmlns:a="http://schemas.openxmlformats.org/drawingml/2006/main">
              <a:ext uri="{FF2B5EF4-FFF2-40B4-BE49-F238E27FC236}">
                <a16:creationId xmlns:a16="http://schemas.microsoft.com/office/drawing/2014/main" id="{0474578F-A30F-4E11-8477-C7124756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60718"/>
            <a:ext cx="3680460" cy="765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31-branch_4-anchor">
            <a:extLst xmlns:a="http://schemas.openxmlformats.org/drawingml/2006/main">
              <a:ext uri="{FF2B5EF4-FFF2-40B4-BE49-F238E27FC236}">
                <a16:creationId xmlns:a16="http://schemas.microsoft.com/office/drawing/2014/main" id="{E3A4CA2D-A012-42AF-BF23-6682C428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44841"/>
            <a:ext cx="3680460" cy="765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0" name="U09-DG-031-branch_edge_1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204210" y="1875187"/>
            <a:ext cx="2891790" cy="1339502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1" name="U09-DG-031-branch_edge_2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3204210" y="2859310"/>
            <a:ext cx="2891790" cy="355379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2" name="U09-DG-031-branch_edge_3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204210" y="3214688"/>
            <a:ext cx="2891790" cy="628744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3" name="U09-DG-031-branch_edge_4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204210" y="3214688"/>
            <a:ext cx="2891790" cy="161286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U09-DG-031-visual-alt" descr="U09-DG-031, candidata para diagram-generation. La composición permite reconocer que al transmitirse, una onda puede cambiar dirección y en un sólido pueden aparecer modos distintos.">
            <a:extLst xmlns:a="http://schemas.openxmlformats.org/drawingml/2006/main">
              <a:ext uri="{FF2B5EF4-FFF2-40B4-BE49-F238E27FC236}">
                <a16:creationId xmlns:a16="http://schemas.microsoft.com/office/drawing/2014/main" id="{9B940093-3C1F-402F-AF05-F0FC389A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953"/>
            <a:ext cx="236601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7" name="U09-DG-031-branch_source-text">
            <a:extLst xmlns:a="http://schemas.openxmlformats.org/drawingml/2006/main">
              <a:ext uri="{FF2B5EF4-FFF2-40B4-BE49-F238E27FC236}">
                <a16:creationId xmlns:a16="http://schemas.microsoft.com/office/drawing/2014/main" id="{638ABA8C-5ECE-4A70-9326-0109FC376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91778"/>
            <a:ext cx="202311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Incidente</a:t>
            </a:r>
          </a:p>
        </p:txBody>
      </p:sp>
      <p:sp>
        <p:nvSpPr>
          <p:cNvPr id="18" name="U09-DG-031-branch_1-box">
            <a:extLst xmlns:a="http://schemas.openxmlformats.org/drawingml/2006/main">
              <a:ext uri="{FF2B5EF4-FFF2-40B4-BE49-F238E27FC236}">
                <a16:creationId xmlns:a16="http://schemas.microsoft.com/office/drawing/2014/main" id="{7B10170A-E030-4F2F-9300-7C0EAF9AD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92472"/>
            <a:ext cx="3680460" cy="765429"/>
          </a:xfrm>
          <a:prstGeom xmlns:a="http://schemas.openxmlformats.org/drawingml/2006/main" prst="roundRect">
            <a:avLst>
              <a:gd name="adj" fmla="val 8711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9" name="U09-DG-031-branch_1-text">
            <a:extLst xmlns:a="http://schemas.openxmlformats.org/drawingml/2006/main">
              <a:ext uri="{FF2B5EF4-FFF2-40B4-BE49-F238E27FC236}">
                <a16:creationId xmlns:a16="http://schemas.microsoft.com/office/drawing/2014/main" id="{289A9340-0BA7-4BA8-B75F-9334132D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6297"/>
            <a:ext cx="3337560" cy="5177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Reflejada</a:t>
            </a:r>
          </a:p>
        </p:txBody>
      </p:sp>
      <p:sp>
        <p:nvSpPr>
          <p:cNvPr id="20" name="U09-DG-031-branch_2-box">
            <a:extLst xmlns:a="http://schemas.openxmlformats.org/drawingml/2006/main">
              <a:ext uri="{FF2B5EF4-FFF2-40B4-BE49-F238E27FC236}">
                <a16:creationId xmlns:a16="http://schemas.microsoft.com/office/drawing/2014/main" id="{DB9F03DB-F2B1-4598-9373-23DF1D4B9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76595"/>
            <a:ext cx="3680460" cy="765429"/>
          </a:xfrm>
          <a:prstGeom xmlns:a="http://schemas.openxmlformats.org/drawingml/2006/main" prst="roundRect">
            <a:avLst>
              <a:gd name="adj" fmla="val 8711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1" name="U09-DG-031-branch_2-text">
            <a:extLst xmlns:a="http://schemas.openxmlformats.org/drawingml/2006/main">
              <a:ext uri="{FF2B5EF4-FFF2-40B4-BE49-F238E27FC236}">
                <a16:creationId xmlns:a16="http://schemas.microsoft.com/office/drawing/2014/main" id="{380D0EA8-5BF6-41A8-8820-0EFB3F600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00420"/>
            <a:ext cx="3337560" cy="5177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Modo longitudinal</a:t>
            </a:r>
          </a:p>
        </p:txBody>
      </p:sp>
      <p:sp>
        <p:nvSpPr>
          <p:cNvPr id="22" name="U09-DG-031-branch_3-box">
            <a:extLst xmlns:a="http://schemas.openxmlformats.org/drawingml/2006/main">
              <a:ext uri="{FF2B5EF4-FFF2-40B4-BE49-F238E27FC236}">
                <a16:creationId xmlns:a16="http://schemas.microsoft.com/office/drawing/2014/main" id="{0EF8BF1C-A9BD-416B-B2C4-14260F810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60718"/>
            <a:ext cx="3680460" cy="765429"/>
          </a:xfrm>
          <a:prstGeom xmlns:a="http://schemas.openxmlformats.org/drawingml/2006/main" prst="roundRect">
            <a:avLst>
              <a:gd name="adj" fmla="val 8711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3" name="U09-DG-031-branch_3-text">
            <a:extLst xmlns:a="http://schemas.openxmlformats.org/drawingml/2006/main">
              <a:ext uri="{FF2B5EF4-FFF2-40B4-BE49-F238E27FC236}">
                <a16:creationId xmlns:a16="http://schemas.microsoft.com/office/drawing/2014/main" id="{37A5E017-2869-4712-8919-92766271D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84543"/>
            <a:ext cx="3337560" cy="5177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Modo transversal</a:t>
            </a:r>
          </a:p>
        </p:txBody>
      </p:sp>
      <p:sp>
        <p:nvSpPr>
          <p:cNvPr id="24" name="U09-DG-031-branch_4-box">
            <a:extLst xmlns:a="http://schemas.openxmlformats.org/drawingml/2006/main">
              <a:ext uri="{FF2B5EF4-FFF2-40B4-BE49-F238E27FC236}">
                <a16:creationId xmlns:a16="http://schemas.microsoft.com/office/drawing/2014/main" id="{99E9167B-DEBB-4B7B-BA25-2B7DD1EE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44841"/>
            <a:ext cx="3680460" cy="765429"/>
          </a:xfrm>
          <a:prstGeom xmlns:a="http://schemas.openxmlformats.org/drawingml/2006/main" prst="roundRect">
            <a:avLst>
              <a:gd name="adj" fmla="val 871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5" name="U09-DG-031-branch_4-text">
            <a:extLst xmlns:a="http://schemas.openxmlformats.org/drawingml/2006/main">
              <a:ext uri="{FF2B5EF4-FFF2-40B4-BE49-F238E27FC236}">
                <a16:creationId xmlns:a16="http://schemas.microsoft.com/office/drawing/2014/main" id="{DD663877-E1CC-4B72-83F8-02625591B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68666"/>
            <a:ext cx="3337560" cy="5177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Normal</a:t>
            </a:r>
          </a:p>
        </p:txBody>
      </p:sp>
      <p:sp>
        <p:nvSpPr>
          <p:cNvPr id="26" name="caption">
            <a:extLst xmlns:a="http://schemas.openxmlformats.org/drawingml/2006/main">
              <a:ext uri="{FF2B5EF4-FFF2-40B4-BE49-F238E27FC236}">
                <a16:creationId xmlns:a16="http://schemas.microsoft.com/office/drawing/2014/main" id="{16EBF47B-8CC4-4F6F-9397-4AC7424B3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al transmitirse, una onda puede cambiar dirección y en un sólido pueden aparecer modos distintos. · Producción propia UCASAL · U09-DG-031</a:t>
            </a:r>
          </a:p>
        </p:txBody>
      </p:sp>
      <p:sp>
        <p:nvSpPr>
          <p:cNvPr id="27" name="unit-footer">
            <a:extLst xmlns:a="http://schemas.openxmlformats.org/drawingml/2006/main">
              <a:ext uri="{FF2B5EF4-FFF2-40B4-BE49-F238E27FC236}">
                <a16:creationId xmlns:a16="http://schemas.microsoft.com/office/drawing/2014/main" id="{ABC0998B-835F-4C3B-8A75-B02462EF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Física Acústica · Unidad 9</a:t>
            </a:r>
          </a:p>
        </p:txBody>
      </p:sp>
      <p:sp>
        <p:nvSpPr>
          <p:cNvPr id="2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F4C9254-AA0F-4379-B2B6-94E12F31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ail-1">
            <a:extLst xmlns:a="http://schemas.openxmlformats.org/drawingml/2006/main">
              <a:ext uri="{FF2B5EF4-FFF2-40B4-BE49-F238E27FC236}">
                <a16:creationId xmlns:a16="http://schemas.microsoft.com/office/drawing/2014/main" id="{1325774B-B489-417C-8A84-C9A0300FC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5AE42FE3-558A-4FE6-A4A4-67968292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0CE6A784-A5DC-4DCE-9437-4402B9264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43E31410-A2DA-41BC-A337-1DA222F4F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2 · AMPLIACIÓN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FA60F8A-48FD-4393-9BFA-9AF22D03E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Snell acústica: relación entre ángulos y rapidez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3333E7B-5429-4B43-B151-E26F29B85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Superficies y obstáculos · Ampliación formal</a:t>
            </a:r>
          </a:p>
        </p:txBody>
      </p:sp>
      <p:sp>
        <p:nvSpPr>
          <p:cNvPr id="7" name="U09-041-conditional-alt" descr="Ecuación anotada U09-DG-032, candidata para diagram-generation. La composición permite reconocer que la dirección transmitida depende de las velocidades de fase y de los modos considerados.">
            <a:extLst xmlns:a="http://schemas.openxmlformats.org/drawingml/2006/main">
              <a:ext uri="{FF2B5EF4-FFF2-40B4-BE49-F238E27FC236}">
                <a16:creationId xmlns:a16="http://schemas.microsoft.com/office/drawing/2014/main" id="{AB32FF2A-364B-48B8-AC68-259491873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10096500" cy="3429000"/>
          </a:xfrm>
          <a:prstGeom xmlns:a="http://schemas.openxmlformats.org/drawingml/2006/main" prst="roundRect">
            <a:avLst>
              <a:gd name="adj" fmla="val 1944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A641E"/>
            </a:solidFill>
            <a:prstDash val="solid"/>
          </a:ln>
        </p:spPr>
      </p:sp>
      <p:sp>
        <p:nvSpPr>
          <p:cNvPr id="8" name="conditional-title">
            <a:extLst xmlns:a="http://schemas.openxmlformats.org/drawingml/2006/main">
              <a:ext uri="{FF2B5EF4-FFF2-40B4-BE49-F238E27FC236}">
                <a16:creationId xmlns:a16="http://schemas.microsoft.com/office/drawing/2014/main" id="{15B0BD3B-6442-402B-AD70-00D935C7A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9550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Material de respaldo no habilitado para proyección</a:t>
            </a:r>
          </a:p>
        </p:txBody>
      </p:sp>
      <p:sp>
        <p:nvSpPr>
          <p:cNvPr id="9" name="conditional-message">
            <a:extLst xmlns:a="http://schemas.openxmlformats.org/drawingml/2006/main">
              <a:ext uri="{FF2B5EF4-FFF2-40B4-BE49-F238E27FC236}">
                <a16:creationId xmlns:a16="http://schemas.microsoft.com/office/drawing/2014/main" id="{B6D38349-2D3D-491F-B3FF-4C82E2B4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000375"/>
            <a:ext cx="8191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formalización de Snell permanece fuera de esta versión hasta aprobar una fuente académica completa.</a:t>
            </a:r>
          </a:p>
        </p:txBody>
      </p:sp>
      <p:sp>
        <p:nvSpPr>
          <p:cNvPr id="10" name="unit-footer">
            <a:extLst xmlns:a="http://schemas.openxmlformats.org/drawingml/2006/main">
              <a:ext uri="{FF2B5EF4-FFF2-40B4-BE49-F238E27FC236}">
                <a16:creationId xmlns:a16="http://schemas.microsoft.com/office/drawing/2014/main" id="{B065D638-6AAF-4170-AA6C-34CA647BB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Física Acústica · Unidad 9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99643DD-A0C5-4374-8936-D4918845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op-rail-1">
            <a:extLst xmlns:a="http://schemas.openxmlformats.org/drawingml/2006/main">
              <a:ext uri="{FF2B5EF4-FFF2-40B4-BE49-F238E27FC236}">
                <a16:creationId xmlns:a16="http://schemas.microsoft.com/office/drawing/2014/main" id="{8B3BDC12-EADB-4AA9-BEB4-13C506D0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69DDDAEE-DAB1-4E25-B256-64536B870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EA49B174-D935-4D37-893A-CB1F7E43B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BF76269F-5634-4F8F-A7C4-2E279E4F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2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DDE3857-0898-437B-88F6-FAA2B322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Difracción: la onda alcanza la “sombra”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3B96C1D-45A3-4A93-8214-520706A4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Superficies y obstáculos · Definición visual</a:t>
            </a:r>
          </a:p>
        </p:txBody>
      </p:sp>
      <p:sp>
        <p:nvSpPr>
          <p:cNvPr id="7" name="U09-DG-033-branch_source-anchor">
            <a:extLst xmlns:a="http://schemas.openxmlformats.org/drawingml/2006/main">
              <a:ext uri="{FF2B5EF4-FFF2-40B4-BE49-F238E27FC236}">
                <a16:creationId xmlns:a16="http://schemas.microsoft.com/office/drawing/2014/main" id="{2A66EAC5-ED95-4E54-9FA2-ED9D5EE1B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953"/>
            <a:ext cx="236601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33-branch_1-anchor">
            <a:extLst xmlns:a="http://schemas.openxmlformats.org/drawingml/2006/main">
              <a:ext uri="{FF2B5EF4-FFF2-40B4-BE49-F238E27FC236}">
                <a16:creationId xmlns:a16="http://schemas.microsoft.com/office/drawing/2014/main" id="{23D29946-68B5-4134-A30F-91BC61D3F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92472"/>
            <a:ext cx="3680460" cy="765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33-branch_2-anchor">
            <a:extLst xmlns:a="http://schemas.openxmlformats.org/drawingml/2006/main">
              <a:ext uri="{FF2B5EF4-FFF2-40B4-BE49-F238E27FC236}">
                <a16:creationId xmlns:a16="http://schemas.microsoft.com/office/drawing/2014/main" id="{69FF6A40-C535-4386-A8A8-8B1F19662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76595"/>
            <a:ext cx="3680460" cy="765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33-branch_3-anchor">
            <a:extLst xmlns:a="http://schemas.openxmlformats.org/drawingml/2006/main">
              <a:ext uri="{FF2B5EF4-FFF2-40B4-BE49-F238E27FC236}">
                <a16:creationId xmlns:a16="http://schemas.microsoft.com/office/drawing/2014/main" id="{0270844A-811A-45CA-AA82-9E8CEEF2B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60718"/>
            <a:ext cx="3680460" cy="765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33-branch_4-anchor">
            <a:extLst xmlns:a="http://schemas.openxmlformats.org/drawingml/2006/main">
              <a:ext uri="{FF2B5EF4-FFF2-40B4-BE49-F238E27FC236}">
                <a16:creationId xmlns:a16="http://schemas.microsoft.com/office/drawing/2014/main" id="{7E190AFE-BE78-4BC4-953B-397BB2EDA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44841"/>
            <a:ext cx="3680460" cy="765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0" name="U09-DG-033-branch_edge_1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204210" y="1875187"/>
            <a:ext cx="2891790" cy="1339502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1" name="U09-DG-033-branch_edge_2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3204210" y="2859310"/>
            <a:ext cx="2891790" cy="355379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2" name="U09-DG-033-branch_edge_3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204210" y="3214688"/>
            <a:ext cx="2891790" cy="628744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3" name="U09-DG-033-branch_edge_4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204210" y="3214688"/>
            <a:ext cx="2891790" cy="161286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U09-DG-033-visual-alt" descr="U09-DG-033, candidata para diagram-generation. La composición permite reconocer que la importancia de la difracción depende de λ comparada con la escala geométrica.">
            <a:extLst xmlns:a="http://schemas.openxmlformats.org/drawingml/2006/main">
              <a:ext uri="{FF2B5EF4-FFF2-40B4-BE49-F238E27FC236}">
                <a16:creationId xmlns:a16="http://schemas.microsoft.com/office/drawing/2014/main" id="{E170132F-F15D-4324-A4CB-1BC2288CF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953"/>
            <a:ext cx="236601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7" name="U09-DG-033-branch_source-text">
            <a:extLst xmlns:a="http://schemas.openxmlformats.org/drawingml/2006/main">
              <a:ext uri="{FF2B5EF4-FFF2-40B4-BE49-F238E27FC236}">
                <a16:creationId xmlns:a16="http://schemas.microsoft.com/office/drawing/2014/main" id="{4FFDC2D6-9C70-4E14-BE12-F1580F91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91778"/>
            <a:ext cx="202311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Frente incidente</a:t>
            </a:r>
          </a:p>
        </p:txBody>
      </p:sp>
      <p:sp>
        <p:nvSpPr>
          <p:cNvPr id="18" name="U09-DG-033-branch_1-box">
            <a:extLst xmlns:a="http://schemas.openxmlformats.org/drawingml/2006/main">
              <a:ext uri="{FF2B5EF4-FFF2-40B4-BE49-F238E27FC236}">
                <a16:creationId xmlns:a16="http://schemas.microsoft.com/office/drawing/2014/main" id="{90EB6263-B11D-4811-8374-E5DCAEF29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92472"/>
            <a:ext cx="3680460" cy="765429"/>
          </a:xfrm>
          <a:prstGeom xmlns:a="http://schemas.openxmlformats.org/drawingml/2006/main" prst="roundRect">
            <a:avLst>
              <a:gd name="adj" fmla="val 8711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9" name="U09-DG-033-branch_1-text">
            <a:extLst xmlns:a="http://schemas.openxmlformats.org/drawingml/2006/main">
              <a:ext uri="{FF2B5EF4-FFF2-40B4-BE49-F238E27FC236}">
                <a16:creationId xmlns:a16="http://schemas.microsoft.com/office/drawing/2014/main" id="{841F4335-A4E5-4B89-B541-6CB37C50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6297"/>
            <a:ext cx="3337560" cy="5177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Borde</a:t>
            </a:r>
          </a:p>
        </p:txBody>
      </p:sp>
      <p:sp>
        <p:nvSpPr>
          <p:cNvPr id="20" name="U09-DG-033-branch_2-box">
            <a:extLst xmlns:a="http://schemas.openxmlformats.org/drawingml/2006/main">
              <a:ext uri="{FF2B5EF4-FFF2-40B4-BE49-F238E27FC236}">
                <a16:creationId xmlns:a16="http://schemas.microsoft.com/office/drawing/2014/main" id="{684E4629-E1B5-473B-8E26-5D41AA351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76595"/>
            <a:ext cx="3680460" cy="765429"/>
          </a:xfrm>
          <a:prstGeom xmlns:a="http://schemas.openxmlformats.org/drawingml/2006/main" prst="roundRect">
            <a:avLst>
              <a:gd name="adj" fmla="val 8711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1" name="U09-DG-033-branch_2-text">
            <a:extLst xmlns:a="http://schemas.openxmlformats.org/drawingml/2006/main">
              <a:ext uri="{FF2B5EF4-FFF2-40B4-BE49-F238E27FC236}">
                <a16:creationId xmlns:a16="http://schemas.microsoft.com/office/drawing/2014/main" id="{054CB762-6DFC-4AA1-9572-F273F9166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00420"/>
            <a:ext cx="3337560" cy="5177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Sombra geométrica</a:t>
            </a:r>
          </a:p>
        </p:txBody>
      </p:sp>
      <p:sp>
        <p:nvSpPr>
          <p:cNvPr id="22" name="U09-DG-033-branch_3-box">
            <a:extLst xmlns:a="http://schemas.openxmlformats.org/drawingml/2006/main">
              <a:ext uri="{FF2B5EF4-FFF2-40B4-BE49-F238E27FC236}">
                <a16:creationId xmlns:a16="http://schemas.microsoft.com/office/drawing/2014/main" id="{C5AEAFD5-6BD2-465E-94BF-315090AF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60718"/>
            <a:ext cx="3680460" cy="765429"/>
          </a:xfrm>
          <a:prstGeom xmlns:a="http://schemas.openxmlformats.org/drawingml/2006/main" prst="roundRect">
            <a:avLst>
              <a:gd name="adj" fmla="val 8711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3" name="U09-DG-033-branch_3-text">
            <a:extLst xmlns:a="http://schemas.openxmlformats.org/drawingml/2006/main">
              <a:ext uri="{FF2B5EF4-FFF2-40B4-BE49-F238E27FC236}">
                <a16:creationId xmlns:a16="http://schemas.microsoft.com/office/drawing/2014/main" id="{C2C2E9F8-1342-4BB8-815D-59A6A748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84543"/>
            <a:ext cx="3337560" cy="5177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Frentes difractados</a:t>
            </a:r>
          </a:p>
        </p:txBody>
      </p:sp>
      <p:sp>
        <p:nvSpPr>
          <p:cNvPr id="24" name="U09-DG-033-branch_4-box">
            <a:extLst xmlns:a="http://schemas.openxmlformats.org/drawingml/2006/main">
              <a:ext uri="{FF2B5EF4-FFF2-40B4-BE49-F238E27FC236}">
                <a16:creationId xmlns:a16="http://schemas.microsoft.com/office/drawing/2014/main" id="{A700DC55-CEEA-46D1-8CF3-7D26E4F7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44841"/>
            <a:ext cx="3680460" cy="765429"/>
          </a:xfrm>
          <a:prstGeom xmlns:a="http://schemas.openxmlformats.org/drawingml/2006/main" prst="roundRect">
            <a:avLst>
              <a:gd name="adj" fmla="val 871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5" name="U09-DG-033-branch_4-text">
            <a:extLst xmlns:a="http://schemas.openxmlformats.org/drawingml/2006/main">
              <a:ext uri="{FF2B5EF4-FFF2-40B4-BE49-F238E27FC236}">
                <a16:creationId xmlns:a16="http://schemas.microsoft.com/office/drawing/2014/main" id="{78AD5D95-97A6-4B06-933B-AF84D4BC2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68666"/>
            <a:ext cx="3337560" cy="5177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Receptor</a:t>
            </a:r>
          </a:p>
        </p:txBody>
      </p:sp>
      <p:sp>
        <p:nvSpPr>
          <p:cNvPr id="26" name="caption">
            <a:extLst xmlns:a="http://schemas.openxmlformats.org/drawingml/2006/main">
              <a:ext uri="{FF2B5EF4-FFF2-40B4-BE49-F238E27FC236}">
                <a16:creationId xmlns:a16="http://schemas.microsoft.com/office/drawing/2014/main" id="{DF63DF9E-5C9B-4DB7-89BD-250F3B52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la importancia de la difracción depende de λ comparada con la escala geométrica. · Producción propia UCASAL · U09-DG-033</a:t>
            </a:r>
          </a:p>
        </p:txBody>
      </p:sp>
      <p:sp>
        <p:nvSpPr>
          <p:cNvPr id="27" name="unit-footer">
            <a:extLst xmlns:a="http://schemas.openxmlformats.org/drawingml/2006/main">
              <a:ext uri="{FF2B5EF4-FFF2-40B4-BE49-F238E27FC236}">
                <a16:creationId xmlns:a16="http://schemas.microsoft.com/office/drawing/2014/main" id="{79589DA7-76D4-4BB2-9C00-7798DAEDC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Física Acústica · Unidad 9</a:t>
            </a:r>
          </a:p>
        </p:txBody>
      </p:sp>
      <p:sp>
        <p:nvSpPr>
          <p:cNvPr id="2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D6EA389-772F-4D42-B362-077FD350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op-rail-1">
            <a:extLst xmlns:a="http://schemas.openxmlformats.org/drawingml/2006/main">
              <a:ext uri="{FF2B5EF4-FFF2-40B4-BE49-F238E27FC236}">
                <a16:creationId xmlns:a16="http://schemas.microsoft.com/office/drawing/2014/main" id="{FF4668FB-2BCB-4D8F-B242-44FE59C4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1BFF1191-36A7-4DA5-81E7-0E36867B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80F72440-7C7D-4226-A728-BEC1A4682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17C1C961-4BF6-4D9A-B3A5-6CD2A67F2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2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55BD590-DE48-48B8-9914-E827FA7B5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escala de λ cambia con la frecuencia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0E6695B-1B9F-45D6-85F0-8B103C6E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Superficies y obstáculos · Gráfico cuantitativo</a:t>
            </a:r>
          </a:p>
        </p:txBody>
      </p:sp>
      <p:pic>
        <p:nvPicPr>
          <p:cNvPr id="20" name="U09-CH-005-chart" descr="U09-CH-005 longitud de onda frente a frecuencia. La composición permite reconocer que a menor frecuencia, mayor longitud de onda para el mismo medio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e5d69e09164447">
            <a:extLst>
              <a:ext uri="{96DAC541-7B7A-43D3-8B79-37D633B846F1}">
                <asvg:svgBlip xmlns:asvg="http://schemas.microsoft.com/office/drawing/2016/SVG/main" r:embed="Rd53b5f4bcf084e6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0550" y="1476375"/>
            <a:ext cx="7048500" cy="4238625"/>
          </a:xfrm>
          <a:prstGeom xmlns:a="http://schemas.openxmlformats.org/drawingml/2006/main" prst="rect">
            <a:avLst/>
          </a:prstGeom>
        </p:spPr>
      </p:pic>
      <p:sp>
        <p:nvSpPr>
          <p:cNvPr id="8" name="chart-reading-box">
            <a:extLst xmlns:a="http://schemas.openxmlformats.org/drawingml/2006/main">
              <a:ext uri="{FF2B5EF4-FFF2-40B4-BE49-F238E27FC236}">
                <a16:creationId xmlns:a16="http://schemas.microsoft.com/office/drawing/2014/main" id="{A6827C30-9E89-4A4A-A412-6CE0EFB0B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809750"/>
            <a:ext cx="3429000" cy="2762250"/>
          </a:xfrm>
          <a:prstGeom xmlns:a="http://schemas.openxmlformats.org/drawingml/2006/main" prst="roundRect">
            <a:avLst>
              <a:gd name="adj" fmla="val 206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9525">
            <a:solidFill>
              <a:srgbClr val="D9DCE0"/>
            </a:solidFill>
            <a:prstDash val="solid"/>
          </a:ln>
        </p:spPr>
      </p:sp>
      <p:sp>
        <p:nvSpPr>
          <p:cNvPr id="9" name="chart-reading-title">
            <a:extLst xmlns:a="http://schemas.openxmlformats.org/drawingml/2006/main">
              <a:ext uri="{FF2B5EF4-FFF2-40B4-BE49-F238E27FC236}">
                <a16:creationId xmlns:a16="http://schemas.microsoft.com/office/drawing/2014/main" id="{F5729CAE-0878-47C0-B51A-CB3A4F0FF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95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Qué observar</a:t>
            </a:r>
          </a:p>
        </p:txBody>
      </p:sp>
      <p:sp>
        <p:nvSpPr>
          <p:cNvPr id="10" name="chart-reading-body">
            <a:extLst xmlns:a="http://schemas.openxmlformats.org/drawingml/2006/main">
              <a:ext uri="{FF2B5EF4-FFF2-40B4-BE49-F238E27FC236}">
                <a16:creationId xmlns:a16="http://schemas.microsoft.com/office/drawing/2014/main" id="{328D505D-4EB3-4E05-A8C7-35A42D24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47950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 menor frecuencia, mayor longitud de onda para el mismo medio. Curva λ(f) y marcadores 125, 500 y 4000 Hz. Escalas de barrera elegidas.</a:t>
            </a:r>
          </a:p>
        </p:txBody>
      </p:sp>
      <p:sp>
        <p:nvSpPr>
          <p:cNvPr id="11" name="caption">
            <a:extLst xmlns:a="http://schemas.openxmlformats.org/drawingml/2006/main">
              <a:ext uri="{FF2B5EF4-FFF2-40B4-BE49-F238E27FC236}">
                <a16:creationId xmlns:a16="http://schemas.microsoft.com/office/drawing/2014/main" id="{5DEF3567-9550-4154-AE4C-0BAD5306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Lectura propuesta: a menor frecuencia, mayor longitud de onda para el mismo medio. · Producción propia UCASAL · U09-CH-005</a:t>
            </a:r>
          </a:p>
        </p:txBody>
      </p:sp>
      <p:sp>
        <p:nvSpPr>
          <p:cNvPr id="12" name="unit-footer">
            <a:extLst xmlns:a="http://schemas.openxmlformats.org/drawingml/2006/main">
              <a:ext uri="{FF2B5EF4-FFF2-40B4-BE49-F238E27FC236}">
                <a16:creationId xmlns:a16="http://schemas.microsoft.com/office/drawing/2014/main" id="{2187770D-0306-4658-978F-14C647BD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Física Acústica · Unidad 9</a:t>
            </a:r>
          </a:p>
        </p:txBody>
      </p:sp>
      <p:sp>
        <p:nvSpPr>
          <p:cNvPr id="1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E87D9F4-710B-48DF-B5A4-2AB22D44E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rail-1">
            <a:extLst xmlns:a="http://schemas.openxmlformats.org/drawingml/2006/main">
              <a:ext uri="{FF2B5EF4-FFF2-40B4-BE49-F238E27FC236}">
                <a16:creationId xmlns:a16="http://schemas.microsoft.com/office/drawing/2014/main" id="{F15B63A6-F985-49A2-8C69-1AD15481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E4C02584-2166-400D-B7DC-1ABB6B45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89279A7C-F08E-45FA-A49D-363A5A000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D414DEEF-2453-4F02-8702-F03B748C4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2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B9488B7-06D8-4F3B-9E91-BFB100AAC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misma barrera, tres frecuencias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D7C8144-0EF2-4358-82D0-D7D43A4BD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Superficies y obstáculos · Comparación visual</a:t>
            </a:r>
          </a:p>
        </p:txBody>
      </p:sp>
      <p:sp>
        <p:nvSpPr>
          <p:cNvPr id="7" name="U09-DG-034-concept_1-anchor">
            <a:extLst xmlns:a="http://schemas.openxmlformats.org/drawingml/2006/main">
              <a:ext uri="{FF2B5EF4-FFF2-40B4-BE49-F238E27FC236}">
                <a16:creationId xmlns:a16="http://schemas.microsoft.com/office/drawing/2014/main" id="{20BC71A0-8FE4-4217-9F93-7D83059F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4784598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34-concept_2-anchor">
            <a:extLst xmlns:a="http://schemas.openxmlformats.org/drawingml/2006/main">
              <a:ext uri="{FF2B5EF4-FFF2-40B4-BE49-F238E27FC236}">
                <a16:creationId xmlns:a16="http://schemas.microsoft.com/office/drawing/2014/main" id="{499AD651-CC9B-444E-9E51-46D0D3492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1840040"/>
            <a:ext cx="4784598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34-concept_3-anchor">
            <a:extLst xmlns:a="http://schemas.openxmlformats.org/drawingml/2006/main">
              <a:ext uri="{FF2B5EF4-FFF2-40B4-BE49-F238E27FC236}">
                <a16:creationId xmlns:a16="http://schemas.microsoft.com/office/drawing/2014/main" id="{5AB198C6-D6E2-47BC-B0D1-806F8D1FE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4784598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34-visual-alt" descr="U09-DG-034, candidata para diagram-generation. La composición permite reconocer que la región de sombra y el rodeo del borde cambian con frecuencia, pero no producen una pérdida fija universal.">
            <a:extLst xmlns:a="http://schemas.openxmlformats.org/drawingml/2006/main">
              <a:ext uri="{FF2B5EF4-FFF2-40B4-BE49-F238E27FC236}">
                <a16:creationId xmlns:a16="http://schemas.microsoft.com/office/drawing/2014/main" id="{33F79724-9774-49E1-9B9B-F345B78BE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4784598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1" name="U09-DG-034-concept_1-text">
            <a:extLst xmlns:a="http://schemas.openxmlformats.org/drawingml/2006/main">
              <a:ext uri="{FF2B5EF4-FFF2-40B4-BE49-F238E27FC236}">
                <a16:creationId xmlns:a16="http://schemas.microsoft.com/office/drawing/2014/main" id="{B562247A-A07D-4B28-9F6D-89DEA3CBA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63865"/>
            <a:ext cx="4441698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Tres paneles sincronizados con λ</a:t>
            </a:r>
          </a:p>
        </p:txBody>
      </p:sp>
      <p:sp>
        <p:nvSpPr>
          <p:cNvPr id="12" name="U09-DG-034-concept_2-box">
            <a:extLst xmlns:a="http://schemas.openxmlformats.org/drawingml/2006/main">
              <a:ext uri="{FF2B5EF4-FFF2-40B4-BE49-F238E27FC236}">
                <a16:creationId xmlns:a16="http://schemas.microsoft.com/office/drawing/2014/main" id="{5F224140-305D-40D4-BBAF-196E0E4CF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1840040"/>
            <a:ext cx="4784598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3" name="U09-DG-034-concept_2-text">
            <a:extLst xmlns:a="http://schemas.openxmlformats.org/drawingml/2006/main">
              <a:ext uri="{FF2B5EF4-FFF2-40B4-BE49-F238E27FC236}">
                <a16:creationId xmlns:a16="http://schemas.microsoft.com/office/drawing/2014/main" id="{FC8E2463-76A1-40FB-93D2-5DAB0D034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9612" y="1963865"/>
            <a:ext cx="4441698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obstáculo</a:t>
            </a:r>
          </a:p>
        </p:txBody>
      </p:sp>
      <p:sp>
        <p:nvSpPr>
          <p:cNvPr id="14" name="U09-DG-034-concept_3-box">
            <a:extLst xmlns:a="http://schemas.openxmlformats.org/drawingml/2006/main">
              <a:ext uri="{FF2B5EF4-FFF2-40B4-BE49-F238E27FC236}">
                <a16:creationId xmlns:a16="http://schemas.microsoft.com/office/drawing/2014/main" id="{028E2D1D-26F9-4361-8BF3-896B0AA0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4784598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5" name="U09-DG-034-concept_3-text">
            <a:extLst xmlns:a="http://schemas.openxmlformats.org/drawingml/2006/main">
              <a:ext uri="{FF2B5EF4-FFF2-40B4-BE49-F238E27FC236}">
                <a16:creationId xmlns:a16="http://schemas.microsoft.com/office/drawing/2014/main" id="{9C3D20D3-C148-4ACC-81E3-EFF27CB61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7796"/>
            <a:ext cx="4441698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receptor constantes</a:t>
            </a:r>
          </a:p>
        </p:txBody>
      </p:sp>
      <p:sp>
        <p:nvSpPr>
          <p:cNvPr id="16" name="caption">
            <a:extLst xmlns:a="http://schemas.openxmlformats.org/drawingml/2006/main">
              <a:ext uri="{FF2B5EF4-FFF2-40B4-BE49-F238E27FC236}">
                <a16:creationId xmlns:a16="http://schemas.microsoft.com/office/drawing/2014/main" id="{B1739449-6541-43C7-9308-6B0C9580B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la región de sombra y el rodeo del borde cambian con frecuencia, pero no producen una pérdida fija universal. · Producción propia UCASAL · U09-DG…</a:t>
            </a:r>
          </a:p>
        </p:txBody>
      </p:sp>
      <p:sp>
        <p:nvSpPr>
          <p:cNvPr id="17" name="unit-footer">
            <a:extLst xmlns:a="http://schemas.openxmlformats.org/drawingml/2006/main">
              <a:ext uri="{FF2B5EF4-FFF2-40B4-BE49-F238E27FC236}">
                <a16:creationId xmlns:a16="http://schemas.microsoft.com/office/drawing/2014/main" id="{2ACC561C-7A6F-4785-A541-066DA0B0D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Física Acústica · Unidad 9</a:t>
            </a:r>
          </a:p>
        </p:txBody>
      </p:sp>
      <p:sp>
        <p:nvSpPr>
          <p:cNvPr id="1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4FE6D2E-5A90-463E-8112-930BEA000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-rail-1">
            <a:extLst xmlns:a="http://schemas.openxmlformats.org/drawingml/2006/main">
              <a:ext uri="{FF2B5EF4-FFF2-40B4-BE49-F238E27FC236}">
                <a16:creationId xmlns:a16="http://schemas.microsoft.com/office/drawing/2014/main" id="{5387F977-7AF5-44D2-A889-80EAE992B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37352095-FCD6-46E2-9864-80ED16EBA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A3CC1F95-A5D7-42CA-840E-17C64453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DAF089FD-797D-4B5A-975C-040DE61C5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2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6ED6C3A-AD4D-4D4C-80A3-177C28DE3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¿Difracción o transmisión?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ECC1DB5-5CDC-4FD3-B1F1-C74B09ED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Superficies y obstáculos · Error frecuente</a:t>
            </a:r>
          </a:p>
        </p:txBody>
      </p:sp>
      <p:sp>
        <p:nvSpPr>
          <p:cNvPr id="7" name="U09-DG-035-concept_1-anchor">
            <a:extLst xmlns:a="http://schemas.openxmlformats.org/drawingml/2006/main">
              <a:ext uri="{FF2B5EF4-FFF2-40B4-BE49-F238E27FC236}">
                <a16:creationId xmlns:a16="http://schemas.microsoft.com/office/drawing/2014/main" id="{606FB876-EB67-4581-BFE5-24F8C13F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4784598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35-concept_2-anchor">
            <a:extLst xmlns:a="http://schemas.openxmlformats.org/drawingml/2006/main">
              <a:ext uri="{FF2B5EF4-FFF2-40B4-BE49-F238E27FC236}">
                <a16:creationId xmlns:a16="http://schemas.microsoft.com/office/drawing/2014/main" id="{82D5B31C-0D41-4E2B-B4BD-8EC19CD0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1840040"/>
            <a:ext cx="4784598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35-concept_3-anchor">
            <a:extLst xmlns:a="http://schemas.openxmlformats.org/drawingml/2006/main">
              <a:ext uri="{FF2B5EF4-FFF2-40B4-BE49-F238E27FC236}">
                <a16:creationId xmlns:a16="http://schemas.microsoft.com/office/drawing/2014/main" id="{0D13F697-C6DF-4950-A127-321B36AB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4784598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35-concept_4-anchor">
            <a:extLst xmlns:a="http://schemas.openxmlformats.org/drawingml/2006/main">
              <a:ext uri="{FF2B5EF4-FFF2-40B4-BE49-F238E27FC236}">
                <a16:creationId xmlns:a16="http://schemas.microsoft.com/office/drawing/2014/main" id="{81EEFD4A-7E95-4B46-91AB-B2AAC06D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3573971"/>
            <a:ext cx="4784598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35-visual-alt" descr="U09-DG-035, candidata para diagram-generation. La composición permite reconocer que rodear un borde y atravesar un material son rutas físicas diferentes.">
            <a:extLst xmlns:a="http://schemas.openxmlformats.org/drawingml/2006/main">
              <a:ext uri="{FF2B5EF4-FFF2-40B4-BE49-F238E27FC236}">
                <a16:creationId xmlns:a16="http://schemas.microsoft.com/office/drawing/2014/main" id="{7ACAC62E-0196-4C6A-BCAA-777A11C53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4784598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2" name="U09-DG-035-concept_1-text">
            <a:extLst xmlns:a="http://schemas.openxmlformats.org/drawingml/2006/main">
              <a:ext uri="{FF2B5EF4-FFF2-40B4-BE49-F238E27FC236}">
                <a16:creationId xmlns:a16="http://schemas.microsoft.com/office/drawing/2014/main" id="{C56C8D03-96DE-4939-B764-9340999B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63865"/>
            <a:ext cx="4441698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Mismo obstáculo</a:t>
            </a:r>
          </a:p>
        </p:txBody>
      </p:sp>
      <p:sp>
        <p:nvSpPr>
          <p:cNvPr id="13" name="U09-DG-035-concept_2-box">
            <a:extLst xmlns:a="http://schemas.openxmlformats.org/drawingml/2006/main">
              <a:ext uri="{FF2B5EF4-FFF2-40B4-BE49-F238E27FC236}">
                <a16:creationId xmlns:a16="http://schemas.microsoft.com/office/drawing/2014/main" id="{A75BBE18-5CE7-418F-972D-DAAD339B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1840040"/>
            <a:ext cx="4784598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4" name="U09-DG-035-concept_2-text">
            <a:extLst xmlns:a="http://schemas.openxmlformats.org/drawingml/2006/main">
              <a:ext uri="{FF2B5EF4-FFF2-40B4-BE49-F238E27FC236}">
                <a16:creationId xmlns:a16="http://schemas.microsoft.com/office/drawing/2014/main" id="{4EF9458B-429F-4279-9128-5AFB92E98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9612" y="1963865"/>
            <a:ext cx="4441698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Alrededor: difracción</a:t>
            </a:r>
          </a:p>
        </p:txBody>
      </p:sp>
      <p:sp>
        <p:nvSpPr>
          <p:cNvPr id="15" name="U09-DG-035-concept_3-box">
            <a:extLst xmlns:a="http://schemas.openxmlformats.org/drawingml/2006/main">
              <a:ext uri="{FF2B5EF4-FFF2-40B4-BE49-F238E27FC236}">
                <a16:creationId xmlns:a16="http://schemas.microsoft.com/office/drawing/2014/main" id="{AC522360-7FC6-4F6C-9722-B64B5B7C1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4784598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6" name="U09-DG-035-concept_3-text">
            <a:extLst xmlns:a="http://schemas.openxmlformats.org/drawingml/2006/main">
              <a:ext uri="{FF2B5EF4-FFF2-40B4-BE49-F238E27FC236}">
                <a16:creationId xmlns:a16="http://schemas.microsoft.com/office/drawing/2014/main" id="{0667BDA2-996E-451D-989B-92F2F348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7796"/>
            <a:ext cx="4441698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 través: transmisión</a:t>
            </a:r>
          </a:p>
        </p:txBody>
      </p:sp>
      <p:sp>
        <p:nvSpPr>
          <p:cNvPr id="17" name="U09-DG-035-concept_4-box">
            <a:extLst xmlns:a="http://schemas.openxmlformats.org/drawingml/2006/main">
              <a:ext uri="{FF2B5EF4-FFF2-40B4-BE49-F238E27FC236}">
                <a16:creationId xmlns:a16="http://schemas.microsoft.com/office/drawing/2014/main" id="{D7D69984-9005-4BFC-9814-F237FAA55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3573971"/>
            <a:ext cx="4784598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18" name="U09-DG-035-concept_4-text">
            <a:extLst xmlns:a="http://schemas.openxmlformats.org/drawingml/2006/main">
              <a:ext uri="{FF2B5EF4-FFF2-40B4-BE49-F238E27FC236}">
                <a16:creationId xmlns:a16="http://schemas.microsoft.com/office/drawing/2014/main" id="{853ECEB6-669A-4A86-8392-FB2FE011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9612" y="3697796"/>
            <a:ext cx="4441698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Evidencia distinta</a:t>
            </a:r>
          </a:p>
        </p:txBody>
      </p:sp>
      <p:sp>
        <p:nvSpPr>
          <p:cNvPr id="19" name="caption">
            <a:extLst xmlns:a="http://schemas.openxmlformats.org/drawingml/2006/main">
              <a:ext uri="{FF2B5EF4-FFF2-40B4-BE49-F238E27FC236}">
                <a16:creationId xmlns:a16="http://schemas.microsoft.com/office/drawing/2014/main" id="{18600E17-1910-4018-BF85-779E45D0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rodear un borde y atravesar un material son rutas físicas diferentes. · Producción propia UCASAL · U09-DG-035</a:t>
            </a:r>
          </a:p>
        </p:txBody>
      </p:sp>
      <p:sp>
        <p:nvSpPr>
          <p:cNvPr id="20" name="unit-footer">
            <a:extLst xmlns:a="http://schemas.openxmlformats.org/drawingml/2006/main">
              <a:ext uri="{FF2B5EF4-FFF2-40B4-BE49-F238E27FC236}">
                <a16:creationId xmlns:a16="http://schemas.microsoft.com/office/drawing/2014/main" id="{F71F6C70-AFAA-4C8E-9649-6F423B2B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Física Acústica · Unidad 9</a:t>
            </a:r>
          </a:p>
        </p:txBody>
      </p:sp>
      <p:sp>
        <p:nvSpPr>
          <p:cNvPr id="2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1794B06-4E53-4218-9048-E1EB45AFF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op-rail-1">
            <a:extLst xmlns:a="http://schemas.openxmlformats.org/drawingml/2006/main">
              <a:ext uri="{FF2B5EF4-FFF2-40B4-BE49-F238E27FC236}">
                <a16:creationId xmlns:a16="http://schemas.microsoft.com/office/drawing/2014/main" id="{5AEBE68A-39A5-4A23-AA7A-F16A749A4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8A0019F3-92B1-415E-930F-17CCB9F9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B5A28A01-510E-450C-8955-80E22DA3F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B827AD96-E6A5-48AE-ACA5-27755AEFC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2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4DE0150-4A6F-4347-9905-35127341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¿Qué ocurrió en la interfaz?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ED18F31-F2C8-40CC-B1C4-3DE85728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Superficies y obstáculos · Recapitulación</a:t>
            </a:r>
          </a:p>
        </p:txBody>
      </p:sp>
      <p:sp>
        <p:nvSpPr>
          <p:cNvPr id="7" name="U09-DG-036-branch_source-anchor">
            <a:extLst xmlns:a="http://schemas.openxmlformats.org/drawingml/2006/main">
              <a:ext uri="{FF2B5EF4-FFF2-40B4-BE49-F238E27FC236}">
                <a16:creationId xmlns:a16="http://schemas.microsoft.com/office/drawing/2014/main" id="{B0B09D29-E242-42DB-A56B-705DACEC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953"/>
            <a:ext cx="236601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36-branch_1-anchor">
            <a:extLst xmlns:a="http://schemas.openxmlformats.org/drawingml/2006/main">
              <a:ext uri="{FF2B5EF4-FFF2-40B4-BE49-F238E27FC236}">
                <a16:creationId xmlns:a16="http://schemas.microsoft.com/office/drawing/2014/main" id="{3C07B6BF-1DDE-481A-A5B4-2648ED75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69041"/>
            <a:ext cx="3680460" cy="64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36-branch_2-anchor">
            <a:extLst xmlns:a="http://schemas.openxmlformats.org/drawingml/2006/main">
              <a:ext uri="{FF2B5EF4-FFF2-40B4-BE49-F238E27FC236}">
                <a16:creationId xmlns:a16="http://schemas.microsoft.com/office/drawing/2014/main" id="{A5B15BD6-9A6F-474E-8D35-D70829DD9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50091"/>
            <a:ext cx="3680460" cy="64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36-branch_3-anchor">
            <a:extLst xmlns:a="http://schemas.openxmlformats.org/drawingml/2006/main">
              <a:ext uri="{FF2B5EF4-FFF2-40B4-BE49-F238E27FC236}">
                <a16:creationId xmlns:a16="http://schemas.microsoft.com/office/drawing/2014/main" id="{9076055D-5281-41A2-96C9-5F3E415C3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31141"/>
            <a:ext cx="3680460" cy="64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36-branch_4-anchor">
            <a:extLst xmlns:a="http://schemas.openxmlformats.org/drawingml/2006/main">
              <a:ext uri="{FF2B5EF4-FFF2-40B4-BE49-F238E27FC236}">
                <a16:creationId xmlns:a16="http://schemas.microsoft.com/office/drawing/2014/main" id="{989F80ED-A7F4-4AC4-8024-196E8F3E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12191"/>
            <a:ext cx="3680460" cy="64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U09-DG-036-branch_5-anchor">
            <a:extLst xmlns:a="http://schemas.openxmlformats.org/drawingml/2006/main">
              <a:ext uri="{FF2B5EF4-FFF2-40B4-BE49-F238E27FC236}">
                <a16:creationId xmlns:a16="http://schemas.microsoft.com/office/drawing/2014/main" id="{145B932D-787E-4580-8260-3B9C4BA1D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93241"/>
            <a:ext cx="3680460" cy="64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5" name="U09-DG-036-branch_edge_1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204210" y="1789272"/>
            <a:ext cx="2891790" cy="142541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6" name="U09-DG-036-branch_edge_2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3204210" y="2570322"/>
            <a:ext cx="2891790" cy="64436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7" name="U09-DG-036-branch_edge_3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204210" y="3214688"/>
            <a:ext cx="2891790" cy="13668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8" name="U09-DG-036-branch_edge_4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204210" y="3214688"/>
            <a:ext cx="2891790" cy="91773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9" name="U09-DG-036-branch_edge_5"/>
          <p:cNvCxnSpPr>
            <a:stCxn xmlns:a="http://schemas.openxmlformats.org/drawingml/2006/main" id="7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204210" y="3214688"/>
            <a:ext cx="2891790" cy="169878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8" name="U09-DG-036-visual-alt" descr="U09-DG-036, candidata para diagram-generation. La composición permite reconocer que la clasificación correcta depende de la ruta, la magnitud y la escala geométrica.">
            <a:extLst xmlns:a="http://schemas.openxmlformats.org/drawingml/2006/main">
              <a:ext uri="{FF2B5EF4-FFF2-40B4-BE49-F238E27FC236}">
                <a16:creationId xmlns:a16="http://schemas.microsoft.com/office/drawing/2014/main" id="{06DB8F11-25FA-48B2-885C-A4773414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953"/>
            <a:ext cx="236601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9" name="U09-DG-036-branch_source-text">
            <a:extLst xmlns:a="http://schemas.openxmlformats.org/drawingml/2006/main">
              <a:ext uri="{FF2B5EF4-FFF2-40B4-BE49-F238E27FC236}">
                <a16:creationId xmlns:a16="http://schemas.microsoft.com/office/drawing/2014/main" id="{D7BC4F87-7168-4567-9989-F02BCD6C2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91778"/>
            <a:ext cx="202311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Interfaz</a:t>
            </a:r>
          </a:p>
        </p:txBody>
      </p:sp>
      <p:sp>
        <p:nvSpPr>
          <p:cNvPr id="20" name="U09-DG-036-branch_1-box">
            <a:extLst xmlns:a="http://schemas.openxmlformats.org/drawingml/2006/main">
              <a:ext uri="{FF2B5EF4-FFF2-40B4-BE49-F238E27FC236}">
                <a16:creationId xmlns:a16="http://schemas.microsoft.com/office/drawing/2014/main" id="{8725F8DE-4E2C-4132-815B-B396B856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69041"/>
            <a:ext cx="3680460" cy="640461"/>
          </a:xfrm>
          <a:prstGeom xmlns:a="http://schemas.openxmlformats.org/drawingml/2006/main" prst="roundRect">
            <a:avLst>
              <a:gd name="adj" fmla="val 10410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1" name="U09-DG-036-branch_1-text">
            <a:extLst xmlns:a="http://schemas.openxmlformats.org/drawingml/2006/main">
              <a:ext uri="{FF2B5EF4-FFF2-40B4-BE49-F238E27FC236}">
                <a16:creationId xmlns:a16="http://schemas.microsoft.com/office/drawing/2014/main" id="{FE10BB58-CAE9-4108-8387-D8E4A76F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592866"/>
            <a:ext cx="3337560" cy="3928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Reflexión</a:t>
            </a:r>
          </a:p>
        </p:txBody>
      </p:sp>
      <p:sp>
        <p:nvSpPr>
          <p:cNvPr id="22" name="U09-DG-036-branch_2-box">
            <a:extLst xmlns:a="http://schemas.openxmlformats.org/drawingml/2006/main">
              <a:ext uri="{FF2B5EF4-FFF2-40B4-BE49-F238E27FC236}">
                <a16:creationId xmlns:a16="http://schemas.microsoft.com/office/drawing/2014/main" id="{282E51AD-5C0F-4BF1-83C0-2D513EF5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50091"/>
            <a:ext cx="3680460" cy="640461"/>
          </a:xfrm>
          <a:prstGeom xmlns:a="http://schemas.openxmlformats.org/drawingml/2006/main" prst="roundRect">
            <a:avLst>
              <a:gd name="adj" fmla="val 1041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3" name="U09-DG-036-branch_2-text">
            <a:extLst xmlns:a="http://schemas.openxmlformats.org/drawingml/2006/main">
              <a:ext uri="{FF2B5EF4-FFF2-40B4-BE49-F238E27FC236}">
                <a16:creationId xmlns:a16="http://schemas.microsoft.com/office/drawing/2014/main" id="{064D4670-012A-48E7-93C6-0CB7C9511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73916"/>
            <a:ext cx="3337560" cy="3928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Absorción</a:t>
            </a:r>
          </a:p>
        </p:txBody>
      </p:sp>
      <p:sp>
        <p:nvSpPr>
          <p:cNvPr id="24" name="U09-DG-036-branch_3-box">
            <a:extLst xmlns:a="http://schemas.openxmlformats.org/drawingml/2006/main">
              <a:ext uri="{FF2B5EF4-FFF2-40B4-BE49-F238E27FC236}">
                <a16:creationId xmlns:a16="http://schemas.microsoft.com/office/drawing/2014/main" id="{FE12D885-69AD-4AC4-B042-43F94DF93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31141"/>
            <a:ext cx="3680460" cy="640461"/>
          </a:xfrm>
          <a:prstGeom xmlns:a="http://schemas.openxmlformats.org/drawingml/2006/main" prst="roundRect">
            <a:avLst>
              <a:gd name="adj" fmla="val 1041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5" name="U09-DG-036-branch_3-text">
            <a:extLst xmlns:a="http://schemas.openxmlformats.org/drawingml/2006/main">
              <a:ext uri="{FF2B5EF4-FFF2-40B4-BE49-F238E27FC236}">
                <a16:creationId xmlns:a16="http://schemas.microsoft.com/office/drawing/2014/main" id="{BE0095CA-B74F-42C2-B7AA-B3A97728B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54966"/>
            <a:ext cx="3337560" cy="3928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Transmisión</a:t>
            </a:r>
          </a:p>
        </p:txBody>
      </p:sp>
      <p:sp>
        <p:nvSpPr>
          <p:cNvPr id="26" name="U09-DG-036-branch_4-box">
            <a:extLst xmlns:a="http://schemas.openxmlformats.org/drawingml/2006/main">
              <a:ext uri="{FF2B5EF4-FFF2-40B4-BE49-F238E27FC236}">
                <a16:creationId xmlns:a16="http://schemas.microsoft.com/office/drawing/2014/main" id="{7F6D4DD4-7BCF-4D25-9EB3-DF80E12E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12191"/>
            <a:ext cx="3680460" cy="640461"/>
          </a:xfrm>
          <a:prstGeom xmlns:a="http://schemas.openxmlformats.org/drawingml/2006/main" prst="roundRect">
            <a:avLst>
              <a:gd name="adj" fmla="val 1041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7" name="U09-DG-036-branch_4-text">
            <a:extLst xmlns:a="http://schemas.openxmlformats.org/drawingml/2006/main">
              <a:ext uri="{FF2B5EF4-FFF2-40B4-BE49-F238E27FC236}">
                <a16:creationId xmlns:a16="http://schemas.microsoft.com/office/drawing/2014/main" id="{C77A789B-0995-4965-80F0-38842072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36016"/>
            <a:ext cx="3337560" cy="3928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Refracción</a:t>
            </a:r>
          </a:p>
        </p:txBody>
      </p:sp>
      <p:sp>
        <p:nvSpPr>
          <p:cNvPr id="28" name="U09-DG-036-branch_5-box">
            <a:extLst xmlns:a="http://schemas.openxmlformats.org/drawingml/2006/main">
              <a:ext uri="{FF2B5EF4-FFF2-40B4-BE49-F238E27FC236}">
                <a16:creationId xmlns:a16="http://schemas.microsoft.com/office/drawing/2014/main" id="{82C86C9C-A392-4D44-A766-993873301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93241"/>
            <a:ext cx="3680460" cy="640461"/>
          </a:xfrm>
          <a:prstGeom xmlns:a="http://schemas.openxmlformats.org/drawingml/2006/main" prst="roundRect">
            <a:avLst>
              <a:gd name="adj" fmla="val 10410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9" name="U09-DG-036-branch_5-text">
            <a:extLst xmlns:a="http://schemas.openxmlformats.org/drawingml/2006/main">
              <a:ext uri="{FF2B5EF4-FFF2-40B4-BE49-F238E27FC236}">
                <a16:creationId xmlns:a16="http://schemas.microsoft.com/office/drawing/2014/main" id="{8D0B5628-07A2-4C95-8DC7-ACBA8FD7B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17066"/>
            <a:ext cx="3337560" cy="3928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Difracción</a:t>
            </a:r>
          </a:p>
        </p:txBody>
      </p:sp>
      <p:sp>
        <p:nvSpPr>
          <p:cNvPr id="30" name="caption">
            <a:extLst xmlns:a="http://schemas.openxmlformats.org/drawingml/2006/main">
              <a:ext uri="{FF2B5EF4-FFF2-40B4-BE49-F238E27FC236}">
                <a16:creationId xmlns:a16="http://schemas.microsoft.com/office/drawing/2014/main" id="{EAA34A76-7BB7-4058-B652-EED1DC30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la clasificación correcta depende de la ruta, la magnitud y la escala geométrica. · Producción propia UCASAL · U09-DG-036</a:t>
            </a:r>
          </a:p>
        </p:txBody>
      </p:sp>
      <p:sp>
        <p:nvSpPr>
          <p:cNvPr id="31" name="unit-footer">
            <a:extLst xmlns:a="http://schemas.openxmlformats.org/drawingml/2006/main">
              <a:ext uri="{FF2B5EF4-FFF2-40B4-BE49-F238E27FC236}">
                <a16:creationId xmlns:a16="http://schemas.microsoft.com/office/drawing/2014/main" id="{49301BF7-FB37-4ADC-83E5-7367C446E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Física Acústica · Unidad 9</a:t>
            </a:r>
          </a:p>
        </p:txBody>
      </p:sp>
      <p:sp>
        <p:nvSpPr>
          <p:cNvPr id="3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10C0644-CD3E-4BF2-AFED-E4D1E363D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ark-eyebrow">
            <a:extLst xmlns:a="http://schemas.openxmlformats.org/drawingml/2006/main">
              <a:ext uri="{FF2B5EF4-FFF2-40B4-BE49-F238E27FC236}">
                <a16:creationId xmlns:a16="http://schemas.microsoft.com/office/drawing/2014/main" id="{E7A30019-9DF3-4FD6-A75A-1F4D6D90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UNIDAD 9 · RUTA CENTRAL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CE76F7C2-68DE-4C9C-A6C0-74E9940A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47875"/>
            <a:ext cx="1057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¿Cómo persiste el sonido en una sala?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D4885887-FFFE-4E24-AC59-53FA30F85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571875"/>
            <a:ext cx="885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rPr>
              <a:t>En un recinto, el receptor recibe una secuencia de llegadas, no una sola ruta.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1CBBA56-0301-466C-8456-AE5945AE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rPr>
              <a:t>47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op-rail-1">
            <a:extLst xmlns:a="http://schemas.openxmlformats.org/drawingml/2006/main">
              <a:ext uri="{FF2B5EF4-FFF2-40B4-BE49-F238E27FC236}">
                <a16:creationId xmlns:a16="http://schemas.microsoft.com/office/drawing/2014/main" id="{D02340F9-8BF4-4ADF-984D-CF503C45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7F1461F7-A50C-4138-BAC5-C1E52A0D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2C76CA81-9A61-4805-81FC-94B5625D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C4BD62C0-FB21-4A45-A619-35762C3A3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2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B5129DF-9DA8-4D70-B691-8C5E8B77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 la llegada directa a la cola reverberante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2076570-72F1-4723-BC2E-82B9B8985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Recintos y reverberación · Proceso</a:t>
            </a:r>
          </a:p>
        </p:txBody>
      </p:sp>
      <p:sp>
        <p:nvSpPr>
          <p:cNvPr id="7" name="U09-DG-037-step_1-anchor">
            <a:extLst xmlns:a="http://schemas.openxmlformats.org/drawingml/2006/main">
              <a:ext uri="{FF2B5EF4-FFF2-40B4-BE49-F238E27FC236}">
                <a16:creationId xmlns:a16="http://schemas.microsoft.com/office/drawing/2014/main" id="{06D81166-1AD7-4E76-9C4E-859AF9FEF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37-step_2-anchor">
            <a:extLst xmlns:a="http://schemas.openxmlformats.org/drawingml/2006/main">
              <a:ext uri="{FF2B5EF4-FFF2-40B4-BE49-F238E27FC236}">
                <a16:creationId xmlns:a16="http://schemas.microsoft.com/office/drawing/2014/main" id="{B2073DEE-0D90-4ED4-BC4A-48318E482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37-step_3-anchor">
            <a:extLst xmlns:a="http://schemas.openxmlformats.org/drawingml/2006/main">
              <a:ext uri="{FF2B5EF4-FFF2-40B4-BE49-F238E27FC236}">
                <a16:creationId xmlns:a16="http://schemas.microsoft.com/office/drawing/2014/main" id="{B0133B39-B09C-4C89-A447-FC14A4AA5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37-step_4-anchor">
            <a:extLst xmlns:a="http://schemas.openxmlformats.org/drawingml/2006/main">
              <a:ext uri="{FF2B5EF4-FFF2-40B4-BE49-F238E27FC236}">
                <a16:creationId xmlns:a16="http://schemas.microsoft.com/office/drawing/2014/main" id="{D5D7BE8B-B4F9-4102-94CC-6BC7E240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5" name="U09-DG-037-flow_1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46710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6" name="U09-DG-037-flow_2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05993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7" name="U09-DG-037-flow_3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9338310" y="2941321"/>
            <a:ext cx="0" cy="741997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4" name="U09-DG-037-visual-alt" descr="U09-DG-037, candidata para diagram-generation. La composición permite reconocer que múltiples reflexiones producen una densidad creciente de llegadas y un decaimiento global.">
            <a:extLst xmlns:a="http://schemas.openxmlformats.org/drawingml/2006/main">
              <a:ext uri="{FF2B5EF4-FFF2-40B4-BE49-F238E27FC236}">
                <a16:creationId xmlns:a16="http://schemas.microsoft.com/office/drawing/2014/main" id="{C2894916-609E-4F0E-8A49-AE187976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5" name="U09-DG-037-step_1-text">
            <a:extLst xmlns:a="http://schemas.openxmlformats.org/drawingml/2006/main">
              <a:ext uri="{FF2B5EF4-FFF2-40B4-BE49-F238E27FC236}">
                <a16:creationId xmlns:a16="http://schemas.microsoft.com/office/drawing/2014/main" id="{D8180AD6-6A46-4360-BEB9-570DB0BC5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1 · Directa</a:t>
            </a:r>
          </a:p>
        </p:txBody>
      </p:sp>
      <p:sp>
        <p:nvSpPr>
          <p:cNvPr id="16" name="U09-DG-037-step_2-box">
            <a:extLst xmlns:a="http://schemas.openxmlformats.org/drawingml/2006/main">
              <a:ext uri="{FF2B5EF4-FFF2-40B4-BE49-F238E27FC236}">
                <a16:creationId xmlns:a16="http://schemas.microsoft.com/office/drawing/2014/main" id="{E9E3B8F9-62B8-4A96-93AB-023CB7005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7" name="U09-DG-037-step_2-text">
            <a:extLst xmlns:a="http://schemas.openxmlformats.org/drawingml/2006/main">
              <a:ext uri="{FF2B5EF4-FFF2-40B4-BE49-F238E27FC236}">
                <a16:creationId xmlns:a16="http://schemas.microsoft.com/office/drawing/2014/main" id="{5602C9B3-6869-4CCE-B5BB-A2A71F1C5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2 · tempranas</a:t>
            </a:r>
          </a:p>
        </p:txBody>
      </p:sp>
      <p:sp>
        <p:nvSpPr>
          <p:cNvPr id="18" name="U09-DG-037-step_3-box">
            <a:extLst xmlns:a="http://schemas.openxmlformats.org/drawingml/2006/main">
              <a:ext uri="{FF2B5EF4-FFF2-40B4-BE49-F238E27FC236}">
                <a16:creationId xmlns:a16="http://schemas.microsoft.com/office/drawing/2014/main" id="{9D69FB83-276E-44C2-8C42-377B2306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9" name="U09-DG-037-step_3-text">
            <a:extLst xmlns:a="http://schemas.openxmlformats.org/drawingml/2006/main">
              <a:ext uri="{FF2B5EF4-FFF2-40B4-BE49-F238E27FC236}">
                <a16:creationId xmlns:a16="http://schemas.microsoft.com/office/drawing/2014/main" id="{E27FC4D1-0C41-48B0-AC5C-D7743F31D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 · densidad de reflexiones</a:t>
            </a:r>
          </a:p>
        </p:txBody>
      </p:sp>
      <p:sp>
        <p:nvSpPr>
          <p:cNvPr id="20" name="U09-DG-037-step_4-box">
            <a:extLst xmlns:a="http://schemas.openxmlformats.org/drawingml/2006/main">
              <a:ext uri="{FF2B5EF4-FFF2-40B4-BE49-F238E27FC236}">
                <a16:creationId xmlns:a16="http://schemas.microsoft.com/office/drawing/2014/main" id="{A012FCF1-7C0D-475D-A6F7-F4105D4C5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1" name="U09-DG-037-step_4-text">
            <a:extLst xmlns:a="http://schemas.openxmlformats.org/drawingml/2006/main">
              <a:ext uri="{FF2B5EF4-FFF2-40B4-BE49-F238E27FC236}">
                <a16:creationId xmlns:a16="http://schemas.microsoft.com/office/drawing/2014/main" id="{2EF61315-5632-4FC2-9C57-C2D2C590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4 · cola</a:t>
            </a:r>
          </a:p>
        </p:txBody>
      </p:sp>
      <p:sp>
        <p:nvSpPr>
          <p:cNvPr id="22" name="caption">
            <a:extLst xmlns:a="http://schemas.openxmlformats.org/drawingml/2006/main">
              <a:ext uri="{FF2B5EF4-FFF2-40B4-BE49-F238E27FC236}">
                <a16:creationId xmlns:a16="http://schemas.microsoft.com/office/drawing/2014/main" id="{65F65864-74DC-433F-A733-F22E63C39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múltiples reflexiones producen una densidad creciente de llegadas y un decaimiento global. · Producción propia UCASAL · U09-DG-037</a:t>
            </a:r>
          </a:p>
        </p:txBody>
      </p:sp>
      <p:sp>
        <p:nvSpPr>
          <p:cNvPr id="23" name="unit-footer">
            <a:extLst xmlns:a="http://schemas.openxmlformats.org/drawingml/2006/main">
              <a:ext uri="{FF2B5EF4-FFF2-40B4-BE49-F238E27FC236}">
                <a16:creationId xmlns:a16="http://schemas.microsoft.com/office/drawing/2014/main" id="{87DEAAD6-052B-42B2-B749-DB8BAE510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Física Acústica · Unidad 9</a:t>
            </a:r>
          </a:p>
        </p:txBody>
      </p:sp>
      <p:sp>
        <p:nvSpPr>
          <p:cNvPr id="2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E549C05-F137-4B4F-BAE7-FCE1DF1DA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48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op-rail-1">
            <a:extLst xmlns:a="http://schemas.openxmlformats.org/drawingml/2006/main">
              <a:ext uri="{FF2B5EF4-FFF2-40B4-BE49-F238E27FC236}">
                <a16:creationId xmlns:a16="http://schemas.microsoft.com/office/drawing/2014/main" id="{46A48AFE-1F67-439A-9095-C5A53EBD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3AB8CAA0-C694-478C-876A-A8FD5DE5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FE3D4EFC-A981-463B-8EC4-E15086556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DB982D1D-D2C6-479A-8ED4-06012EB08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2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1888753-4F26-4E08-AEBD-F5667713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T₆₀: describir un decaimiento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3E9B7A5-9FAC-4DD9-B7D7-50FB3AB52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Recintos y reverberación · Gráfico cuantitativo</a:t>
            </a:r>
          </a:p>
        </p:txBody>
      </p:sp>
      <p:pic>
        <p:nvPicPr>
          <p:cNvPr id="20" name="U09-CH-006-chart" descr="U09-CH-006 decaimiento sonoro anotado. La composición permite reconocer que t₆₀ es el tiempo asociado a una caída de 60 db bajo condiciones definida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dfd64a4199454e">
            <a:extLst>
              <a:ext uri="{96DAC541-7B7A-43D3-8B79-37D633B846F1}">
                <asvg:svgBlip xmlns:asvg="http://schemas.microsoft.com/office/drawing/2016/SVG/main" r:embed="R27dc8ff7f6ff440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0550" y="1476375"/>
            <a:ext cx="7048500" cy="4238625"/>
          </a:xfrm>
          <a:prstGeom xmlns:a="http://schemas.openxmlformats.org/drawingml/2006/main" prst="rect">
            <a:avLst/>
          </a:prstGeom>
        </p:spPr>
      </p:pic>
      <p:sp>
        <p:nvSpPr>
          <p:cNvPr id="8" name="chart-reading-box">
            <a:extLst xmlns:a="http://schemas.openxmlformats.org/drawingml/2006/main">
              <a:ext uri="{FF2B5EF4-FFF2-40B4-BE49-F238E27FC236}">
                <a16:creationId xmlns:a16="http://schemas.microsoft.com/office/drawing/2014/main" id="{03360FC5-5182-4809-964A-D1CC03CC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809750"/>
            <a:ext cx="3429000" cy="2762250"/>
          </a:xfrm>
          <a:prstGeom xmlns:a="http://schemas.openxmlformats.org/drawingml/2006/main" prst="roundRect">
            <a:avLst>
              <a:gd name="adj" fmla="val 206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9525">
            <a:solidFill>
              <a:srgbClr val="D9DCE0"/>
            </a:solidFill>
            <a:prstDash val="solid"/>
          </a:ln>
        </p:spPr>
      </p:sp>
      <p:sp>
        <p:nvSpPr>
          <p:cNvPr id="9" name="chart-reading-title">
            <a:extLst xmlns:a="http://schemas.openxmlformats.org/drawingml/2006/main">
              <a:ext uri="{FF2B5EF4-FFF2-40B4-BE49-F238E27FC236}">
                <a16:creationId xmlns:a16="http://schemas.microsoft.com/office/drawing/2014/main" id="{4CB90C36-809A-40CA-B60C-808F2BCBD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95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Qué observar</a:t>
            </a:r>
          </a:p>
        </p:txBody>
      </p:sp>
      <p:sp>
        <p:nvSpPr>
          <p:cNvPr id="10" name="chart-reading-body">
            <a:extLst xmlns:a="http://schemas.openxmlformats.org/drawingml/2006/main">
              <a:ext uri="{FF2B5EF4-FFF2-40B4-BE49-F238E27FC236}">
                <a16:creationId xmlns:a16="http://schemas.microsoft.com/office/drawing/2014/main" id="{656A891A-2AEF-4FAB-9635-3E3AE1049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47950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T₆₀ es el tiempo asociado a una caída de 60 dB bajo condiciones definidas. Curva de decaimiento, niveles inicial/final, intervalo temporal y extrapolación indicada si se usa.</a:t>
            </a:r>
          </a:p>
        </p:txBody>
      </p:sp>
      <p:sp>
        <p:nvSpPr>
          <p:cNvPr id="11" name="caption">
            <a:extLst xmlns:a="http://schemas.openxmlformats.org/drawingml/2006/main">
              <a:ext uri="{FF2B5EF4-FFF2-40B4-BE49-F238E27FC236}">
                <a16:creationId xmlns:a16="http://schemas.microsoft.com/office/drawing/2014/main" id="{D4526D1E-8D87-456F-9766-5AB4AEB4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Lectura propuesta: t₆₀ es el tiempo asociado a una caída de 60 db bajo condiciones definidas. · Producción propia UCASAL · U09-CH-006</a:t>
            </a:r>
          </a:p>
        </p:txBody>
      </p:sp>
      <p:sp>
        <p:nvSpPr>
          <p:cNvPr id="12" name="unit-footer">
            <a:extLst xmlns:a="http://schemas.openxmlformats.org/drawingml/2006/main">
              <a:ext uri="{FF2B5EF4-FFF2-40B4-BE49-F238E27FC236}">
                <a16:creationId xmlns:a16="http://schemas.microsoft.com/office/drawing/2014/main" id="{E5B6E78F-3A58-41FA-92D1-3EB32315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Física Acústica · Unidad 9</a:t>
            </a:r>
          </a:p>
        </p:txBody>
      </p:sp>
      <p:sp>
        <p:nvSpPr>
          <p:cNvPr id="1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C770526-1453-455F-BD6B-1ABEBDE8C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49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op-rail-1">
            <a:extLst xmlns:a="http://schemas.openxmlformats.org/drawingml/2006/main">
              <a:ext uri="{FF2B5EF4-FFF2-40B4-BE49-F238E27FC236}">
                <a16:creationId xmlns:a16="http://schemas.microsoft.com/office/drawing/2014/main" id="{B821285F-5B87-425F-9BF0-1BBCA8F8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0213BF41-60E0-43A2-8731-7E2DFDA3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74DB885F-D0BB-4552-AA77-5D93376C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459247EE-2B3E-4DFF-AF3C-C7FD860AF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2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7B30E65-015A-4C45-96BC-C334DA516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Área equivalente de absorción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B752123-E04E-46A3-84B3-725A065B7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Recintos y reverberación · Definición</a:t>
            </a:r>
          </a:p>
        </p:txBody>
      </p:sp>
      <p:sp>
        <p:nvSpPr>
          <p:cNvPr id="7" name="U09-DG-038-equation-anchor">
            <a:extLst xmlns:a="http://schemas.openxmlformats.org/drawingml/2006/main">
              <a:ext uri="{FF2B5EF4-FFF2-40B4-BE49-F238E27FC236}">
                <a16:creationId xmlns:a16="http://schemas.microsoft.com/office/drawing/2014/main" id="{4683EF6D-09A2-4E3E-A70A-4657F808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9470" y="2707005"/>
            <a:ext cx="4732020" cy="1015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38-callout_1-anchor">
            <a:extLst xmlns:a="http://schemas.openxmlformats.org/drawingml/2006/main">
              <a:ext uri="{FF2B5EF4-FFF2-40B4-BE49-F238E27FC236}">
                <a16:creationId xmlns:a16="http://schemas.microsoft.com/office/drawing/2014/main" id="{D9F6C25A-BC87-4F40-BCE8-088CA0869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2588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38-callout_2-anchor">
            <a:extLst xmlns:a="http://schemas.openxmlformats.org/drawingml/2006/main">
              <a:ext uri="{FF2B5EF4-FFF2-40B4-BE49-F238E27FC236}">
                <a16:creationId xmlns:a16="http://schemas.microsoft.com/office/drawing/2014/main" id="{6AE4655F-19AC-47B0-B8C2-28B6996E4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1652588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38-callout_3-anchor">
            <a:extLst xmlns:a="http://schemas.openxmlformats.org/drawingml/2006/main">
              <a:ext uri="{FF2B5EF4-FFF2-40B4-BE49-F238E27FC236}">
                <a16:creationId xmlns:a16="http://schemas.microsoft.com/office/drawing/2014/main" id="{4D000B69-91AD-4571-B602-B3A0467A9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38-callout_4-anchor">
            <a:extLst xmlns:a="http://schemas.openxmlformats.org/drawingml/2006/main">
              <a:ext uri="{FF2B5EF4-FFF2-40B4-BE49-F238E27FC236}">
                <a16:creationId xmlns:a16="http://schemas.microsoft.com/office/drawing/2014/main" id="{F082D7BC-53EA-4048-ABFD-840660E74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4191000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0" name="U09-DG-038-leader_1"/>
          <p:cNvCxnSpPr>
            <a:stCxn xmlns:a="http://schemas.openxmlformats.org/drawingml/2006/main" id="8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28950" y="2101692"/>
            <a:ext cx="350520" cy="111299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1" name="U09-DG-038-leader_2"/>
          <p:cNvCxnSpPr>
            <a:stCxn xmlns:a="http://schemas.openxmlformats.org/drawingml/2006/main" id="9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8111490" y="2101692"/>
            <a:ext cx="350520" cy="111299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2" name="U09-DG-038-leader_3"/>
          <p:cNvCxnSpPr>
            <a:stCxn xmlns:a="http://schemas.openxmlformats.org/drawingml/2006/main" id="10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028950" y="3214688"/>
            <a:ext cx="350520" cy="142541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3" name="U09-DG-038-leader_4"/>
          <p:cNvCxnSpPr>
            <a:stCxn xmlns:a="http://schemas.openxmlformats.org/drawingml/2006/main" id="11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 flipV="1">
            <a:off x="8111490" y="3214688"/>
            <a:ext cx="350520" cy="142541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U09-DG-038-visual-alt" descr="U09-DG-038, candidata para diagram-generation. La composición permite reconocer que superficies y coeficientes se combinan como aₑq = σ α_i s_i.">
            <a:extLst xmlns:a="http://schemas.openxmlformats.org/drawingml/2006/main">
              <a:ext uri="{FF2B5EF4-FFF2-40B4-BE49-F238E27FC236}">
                <a16:creationId xmlns:a16="http://schemas.microsoft.com/office/drawing/2014/main" id="{E5ECB125-FDC9-4E1F-9ED1-C0FEF4F04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9470" y="2707005"/>
            <a:ext cx="4732020" cy="1015365"/>
          </a:xfrm>
          <a:prstGeom xmlns:a="http://schemas.openxmlformats.org/drawingml/2006/main" prst="roundRect">
            <a:avLst>
              <a:gd name="adj" fmla="val 65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7" name="U09-DG-038-equation-text">
            <a:extLst xmlns:a="http://schemas.openxmlformats.org/drawingml/2006/main">
              <a:ext uri="{FF2B5EF4-FFF2-40B4-BE49-F238E27FC236}">
                <a16:creationId xmlns:a16="http://schemas.microsoft.com/office/drawing/2014/main" id="{61A37C64-AFE3-4B6F-8AF0-D75DA4B75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830830"/>
            <a:ext cx="4389120" cy="767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91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691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Aₑq=Σα_iS_i</a:t>
            </a:r>
          </a:p>
        </p:txBody>
      </p:sp>
      <p:sp>
        <p:nvSpPr>
          <p:cNvPr id="18" name="U09-DG-038-callout_1-box">
            <a:extLst xmlns:a="http://schemas.openxmlformats.org/drawingml/2006/main">
              <a:ext uri="{FF2B5EF4-FFF2-40B4-BE49-F238E27FC236}">
                <a16:creationId xmlns:a16="http://schemas.microsoft.com/office/drawing/2014/main" id="{11DB3347-D18F-49E1-AB15-0584A8A6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2588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9" name="U09-DG-038-callout_1-text">
            <a:extLst xmlns:a="http://schemas.openxmlformats.org/drawingml/2006/main">
              <a:ext uri="{FF2B5EF4-FFF2-40B4-BE49-F238E27FC236}">
                <a16:creationId xmlns:a16="http://schemas.microsoft.com/office/drawing/2014/main" id="{38C47712-9A26-4E5D-B82C-52C08B89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76413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Superficies S_i</a:t>
            </a:r>
          </a:p>
        </p:txBody>
      </p:sp>
      <p:sp>
        <p:nvSpPr>
          <p:cNvPr id="20" name="U09-DG-038-callout_2-box">
            <a:extLst xmlns:a="http://schemas.openxmlformats.org/drawingml/2006/main">
              <a:ext uri="{FF2B5EF4-FFF2-40B4-BE49-F238E27FC236}">
                <a16:creationId xmlns:a16="http://schemas.microsoft.com/office/drawing/2014/main" id="{AB73EEF6-410F-472B-B65B-2038AF7E6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1652588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1" name="U09-DG-038-callout_2-text">
            <a:extLst xmlns:a="http://schemas.openxmlformats.org/drawingml/2006/main">
              <a:ext uri="{FF2B5EF4-FFF2-40B4-BE49-F238E27FC236}">
                <a16:creationId xmlns:a16="http://schemas.microsoft.com/office/drawing/2014/main" id="{740BC11D-50AF-4620-966A-BE479A0B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3460" y="1776413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coeficientes α_i</a:t>
            </a:r>
          </a:p>
        </p:txBody>
      </p:sp>
      <p:sp>
        <p:nvSpPr>
          <p:cNvPr id="22" name="U09-DG-038-callout_3-box">
            <a:extLst xmlns:a="http://schemas.openxmlformats.org/drawingml/2006/main">
              <a:ext uri="{FF2B5EF4-FFF2-40B4-BE49-F238E27FC236}">
                <a16:creationId xmlns:a16="http://schemas.microsoft.com/office/drawing/2014/main" id="{E5D1E7F0-48FD-48B3-A7ED-04F94AB46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3" name="U09-DG-038-callout_3-text">
            <a:extLst xmlns:a="http://schemas.openxmlformats.org/drawingml/2006/main">
              <a:ext uri="{FF2B5EF4-FFF2-40B4-BE49-F238E27FC236}">
                <a16:creationId xmlns:a16="http://schemas.microsoft.com/office/drawing/2014/main" id="{32969212-6EB3-41D5-A3E2-538D79ED9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14825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sumatoria hacia un</a:t>
            </a:r>
          </a:p>
        </p:txBody>
      </p:sp>
      <p:sp>
        <p:nvSpPr>
          <p:cNvPr id="24" name="U09-DG-038-callout_4-box">
            <a:extLst xmlns:a="http://schemas.openxmlformats.org/drawingml/2006/main">
              <a:ext uri="{FF2B5EF4-FFF2-40B4-BE49-F238E27FC236}">
                <a16:creationId xmlns:a16="http://schemas.microsoft.com/office/drawing/2014/main" id="{30C41B67-887F-470C-9C4A-BE825779B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4191000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5" name="U09-DG-038-callout_4-text">
            <a:extLst xmlns:a="http://schemas.openxmlformats.org/drawingml/2006/main">
              <a:ext uri="{FF2B5EF4-FFF2-40B4-BE49-F238E27FC236}">
                <a16:creationId xmlns:a16="http://schemas.microsoft.com/office/drawing/2014/main" id="{C89FBF45-F034-4745-9218-80962D909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3460" y="4314825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alcance del modelo</a:t>
            </a:r>
          </a:p>
        </p:txBody>
      </p:sp>
      <p:sp>
        <p:nvSpPr>
          <p:cNvPr id="26" name="caption">
            <a:extLst xmlns:a="http://schemas.openxmlformats.org/drawingml/2006/main">
              <a:ext uri="{FF2B5EF4-FFF2-40B4-BE49-F238E27FC236}">
                <a16:creationId xmlns:a16="http://schemas.microsoft.com/office/drawing/2014/main" id="{DCF327B9-303C-47B6-B0E5-7A322D83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superficies y coeficientes se combinan como aₑq = σ α_i s_i. · Producción propia UCASAL · U09-DG-038</a:t>
            </a:r>
          </a:p>
        </p:txBody>
      </p:sp>
      <p:sp>
        <p:nvSpPr>
          <p:cNvPr id="27" name="unit-footer">
            <a:extLst xmlns:a="http://schemas.openxmlformats.org/drawingml/2006/main">
              <a:ext uri="{FF2B5EF4-FFF2-40B4-BE49-F238E27FC236}">
                <a16:creationId xmlns:a16="http://schemas.microsoft.com/office/drawing/2014/main" id="{8BC758BA-16F2-4672-A128-C78E62615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Física Acústica · Unidad 9</a:t>
            </a:r>
          </a:p>
        </p:txBody>
      </p:sp>
      <p:sp>
        <p:nvSpPr>
          <p:cNvPr id="2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AA839B2-2865-4AB1-94B1-FA280C798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op-rail-1">
            <a:extLst xmlns:a="http://schemas.openxmlformats.org/drawingml/2006/main">
              <a:ext uri="{FF2B5EF4-FFF2-40B4-BE49-F238E27FC236}">
                <a16:creationId xmlns:a16="http://schemas.microsoft.com/office/drawing/2014/main" id="{86D5B9B0-F12D-489E-A968-1CBCCEC6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127F20D6-2656-42E9-9437-8155B691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FCA1E781-44AE-4277-A802-59E9B49A9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6AE35F62-2E1F-4168-896C-EC3DA0B2A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2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602E716-86D1-4736-8CCA-E89CAA38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Sabine: volumen frente a absorción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0531B83-4165-4BC0-AE20-0C855EB53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Recintos y reverberación · Ecuación anotada</a:t>
            </a:r>
          </a:p>
        </p:txBody>
      </p:sp>
      <p:sp>
        <p:nvSpPr>
          <p:cNvPr id="7" name="U09-DG-039-equation-anchor">
            <a:extLst xmlns:a="http://schemas.openxmlformats.org/drawingml/2006/main">
              <a:ext uri="{FF2B5EF4-FFF2-40B4-BE49-F238E27FC236}">
                <a16:creationId xmlns:a16="http://schemas.microsoft.com/office/drawing/2014/main" id="{3E6131EF-EC54-47DF-8E6D-E4F8F9E7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9470" y="2707005"/>
            <a:ext cx="4732020" cy="1015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39-callout_1-anchor">
            <a:extLst xmlns:a="http://schemas.openxmlformats.org/drawingml/2006/main">
              <a:ext uri="{FF2B5EF4-FFF2-40B4-BE49-F238E27FC236}">
                <a16:creationId xmlns:a16="http://schemas.microsoft.com/office/drawing/2014/main" id="{45374E9F-C70E-405D-B563-1ED7FAE6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2588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39-callout_2-anchor">
            <a:extLst xmlns:a="http://schemas.openxmlformats.org/drawingml/2006/main">
              <a:ext uri="{FF2B5EF4-FFF2-40B4-BE49-F238E27FC236}">
                <a16:creationId xmlns:a16="http://schemas.microsoft.com/office/drawing/2014/main" id="{128941CA-4E37-46CE-97F1-10EC054C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1652588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39-callout_3-anchor">
            <a:extLst xmlns:a="http://schemas.openxmlformats.org/drawingml/2006/main">
              <a:ext uri="{FF2B5EF4-FFF2-40B4-BE49-F238E27FC236}">
                <a16:creationId xmlns:a16="http://schemas.microsoft.com/office/drawing/2014/main" id="{9B4EF0A2-A98B-4310-8264-9C4DD5B66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39-callout_4-anchor">
            <a:extLst xmlns:a="http://schemas.openxmlformats.org/drawingml/2006/main">
              <a:ext uri="{FF2B5EF4-FFF2-40B4-BE49-F238E27FC236}">
                <a16:creationId xmlns:a16="http://schemas.microsoft.com/office/drawing/2014/main" id="{92FAD313-1645-4663-B6E1-58496A8E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4191000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0" name="U09-DG-039-leader_1"/>
          <p:cNvCxnSpPr>
            <a:stCxn xmlns:a="http://schemas.openxmlformats.org/drawingml/2006/main" id="8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28950" y="2101692"/>
            <a:ext cx="350520" cy="111299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1" name="U09-DG-039-leader_2"/>
          <p:cNvCxnSpPr>
            <a:stCxn xmlns:a="http://schemas.openxmlformats.org/drawingml/2006/main" id="9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8111490" y="2101692"/>
            <a:ext cx="350520" cy="111299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2" name="U09-DG-039-leader_3"/>
          <p:cNvCxnSpPr>
            <a:stCxn xmlns:a="http://schemas.openxmlformats.org/drawingml/2006/main" id="10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028950" y="3214688"/>
            <a:ext cx="350520" cy="142541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3" name="U09-DG-039-leader_4"/>
          <p:cNvCxnSpPr>
            <a:stCxn xmlns:a="http://schemas.openxmlformats.org/drawingml/2006/main" id="11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 flipV="1">
            <a:off x="8111490" y="3214688"/>
            <a:ext cx="350520" cy="142541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U09-DG-039-visual-alt" descr="U09-DG-039, candidata para diagram-generation. La composición permite reconocer que en el modelo de sabine, mayor v alarga y mayor aₑq acorta t₆₀.">
            <a:extLst xmlns:a="http://schemas.openxmlformats.org/drawingml/2006/main">
              <a:ext uri="{FF2B5EF4-FFF2-40B4-BE49-F238E27FC236}">
                <a16:creationId xmlns:a16="http://schemas.microsoft.com/office/drawing/2014/main" id="{F3FCE6AD-EF2E-4D87-AFCD-E1E8A8608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9470" y="2707005"/>
            <a:ext cx="4732020" cy="1015365"/>
          </a:xfrm>
          <a:prstGeom xmlns:a="http://schemas.openxmlformats.org/drawingml/2006/main" prst="roundRect">
            <a:avLst>
              <a:gd name="adj" fmla="val 65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7" name="U09-DG-039-equation-text">
            <a:extLst xmlns:a="http://schemas.openxmlformats.org/drawingml/2006/main">
              <a:ext uri="{FF2B5EF4-FFF2-40B4-BE49-F238E27FC236}">
                <a16:creationId xmlns:a16="http://schemas.microsoft.com/office/drawing/2014/main" id="{94E11658-034A-4520-A2A3-52828573E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830830"/>
            <a:ext cx="4389120" cy="767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91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691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T₆₀≈0,161V/Aₑq</a:t>
            </a:r>
          </a:p>
        </p:txBody>
      </p:sp>
      <p:sp>
        <p:nvSpPr>
          <p:cNvPr id="18" name="U09-DG-039-callout_1-box">
            <a:extLst xmlns:a="http://schemas.openxmlformats.org/drawingml/2006/main">
              <a:ext uri="{FF2B5EF4-FFF2-40B4-BE49-F238E27FC236}">
                <a16:creationId xmlns:a16="http://schemas.microsoft.com/office/drawing/2014/main" id="{8D469EE6-7043-4523-8026-1F4E045B3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2588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9" name="U09-DG-039-callout_1-text">
            <a:extLst xmlns:a="http://schemas.openxmlformats.org/drawingml/2006/main">
              <a:ext uri="{FF2B5EF4-FFF2-40B4-BE49-F238E27FC236}">
                <a16:creationId xmlns:a16="http://schemas.microsoft.com/office/drawing/2014/main" id="{FF5493AE-CD73-431B-A97F-3BCCD21E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76413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T₆₀: tiempo</a:t>
            </a:r>
          </a:p>
        </p:txBody>
      </p:sp>
      <p:sp>
        <p:nvSpPr>
          <p:cNvPr id="20" name="U09-DG-039-callout_2-box">
            <a:extLst xmlns:a="http://schemas.openxmlformats.org/drawingml/2006/main">
              <a:ext uri="{FF2B5EF4-FFF2-40B4-BE49-F238E27FC236}">
                <a16:creationId xmlns:a16="http://schemas.microsoft.com/office/drawing/2014/main" id="{D8062D51-4EAC-4C53-91A5-D3C26CA75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1652588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1" name="U09-DG-039-callout_2-text">
            <a:extLst xmlns:a="http://schemas.openxmlformats.org/drawingml/2006/main">
              <a:ext uri="{FF2B5EF4-FFF2-40B4-BE49-F238E27FC236}">
                <a16:creationId xmlns:a16="http://schemas.microsoft.com/office/drawing/2014/main" id="{7C8404D6-6A98-4B24-9E7F-D57B7334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3460" y="1776413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V: volumen en m³</a:t>
            </a:r>
          </a:p>
        </p:txBody>
      </p:sp>
      <p:sp>
        <p:nvSpPr>
          <p:cNvPr id="22" name="U09-DG-039-callout_3-box">
            <a:extLst xmlns:a="http://schemas.openxmlformats.org/drawingml/2006/main">
              <a:ext uri="{FF2B5EF4-FFF2-40B4-BE49-F238E27FC236}">
                <a16:creationId xmlns:a16="http://schemas.microsoft.com/office/drawing/2014/main" id="{7F0539C5-44EC-45DA-8EFA-8B9355C41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3" name="U09-DG-039-callout_3-text">
            <a:extLst xmlns:a="http://schemas.openxmlformats.org/drawingml/2006/main">
              <a:ext uri="{FF2B5EF4-FFF2-40B4-BE49-F238E27FC236}">
                <a16:creationId xmlns:a16="http://schemas.microsoft.com/office/drawing/2014/main" id="{FD6067AA-BE85-4B94-88CF-1AFC94EC3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14825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Aₑq: absorción en</a:t>
            </a:r>
          </a:p>
        </p:txBody>
      </p:sp>
      <p:sp>
        <p:nvSpPr>
          <p:cNvPr id="24" name="U09-DG-039-callout_4-box">
            <a:extLst xmlns:a="http://schemas.openxmlformats.org/drawingml/2006/main">
              <a:ext uri="{FF2B5EF4-FFF2-40B4-BE49-F238E27FC236}">
                <a16:creationId xmlns:a16="http://schemas.microsoft.com/office/drawing/2014/main" id="{9E81F21A-96BD-416C-B340-DCCA44FD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4191000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5" name="U09-DG-039-callout_4-text">
            <a:extLst xmlns:a="http://schemas.openxmlformats.org/drawingml/2006/main">
              <a:ext uri="{FF2B5EF4-FFF2-40B4-BE49-F238E27FC236}">
                <a16:creationId xmlns:a16="http://schemas.microsoft.com/office/drawing/2014/main" id="{55121282-5827-4B4B-A7A7-E389B5A6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3460" y="4314825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Campo difuso aproximado</a:t>
            </a:r>
          </a:p>
        </p:txBody>
      </p:sp>
      <p:sp>
        <p:nvSpPr>
          <p:cNvPr id="26" name="caption">
            <a:extLst xmlns:a="http://schemas.openxmlformats.org/drawingml/2006/main">
              <a:ext uri="{FF2B5EF4-FFF2-40B4-BE49-F238E27FC236}">
                <a16:creationId xmlns:a16="http://schemas.microsoft.com/office/drawing/2014/main" id="{32CA99A1-ACE3-46AC-A9E5-0DE0048C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en el modelo de sabine, mayor v alarga y mayor aₑq acorta t₆₀. · Producción propia UCASAL · U09-DG-039</a:t>
            </a:r>
          </a:p>
        </p:txBody>
      </p:sp>
      <p:sp>
        <p:nvSpPr>
          <p:cNvPr id="27" name="unit-footer">
            <a:extLst xmlns:a="http://schemas.openxmlformats.org/drawingml/2006/main">
              <a:ext uri="{FF2B5EF4-FFF2-40B4-BE49-F238E27FC236}">
                <a16:creationId xmlns:a16="http://schemas.microsoft.com/office/drawing/2014/main" id="{D243C258-3F15-46A4-A7AF-45B3C146F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Física Acústica · Unidad 9</a:t>
            </a:r>
          </a:p>
        </p:txBody>
      </p:sp>
      <p:sp>
        <p:nvSpPr>
          <p:cNvPr id="2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6F5F762-16D6-444A-B268-091E802A0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51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op-rail-1">
            <a:extLst xmlns:a="http://schemas.openxmlformats.org/drawingml/2006/main">
              <a:ext uri="{FF2B5EF4-FFF2-40B4-BE49-F238E27FC236}">
                <a16:creationId xmlns:a16="http://schemas.microsoft.com/office/drawing/2014/main" id="{63B654E0-1131-472D-AA79-7FAF065A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EB6933FD-559B-4E26-8414-D6DB42F7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B110C1BA-22B7-4816-A11E-009E4685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15FA0F0E-5062-4E2E-8F35-B8CDC65CC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2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9731D64-7FAB-4997-8F1E-29832FC85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 aula de 8 × 6 × 3 m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FE17CC3-17ED-44BB-9D78-77849D5B2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Recintos y reverberación · Ejemplo resuelto</a:t>
            </a:r>
          </a:p>
        </p:txBody>
      </p:sp>
      <p:sp>
        <p:nvSpPr>
          <p:cNvPr id="7" name="U09-DG-040-equation-anchor">
            <a:extLst xmlns:a="http://schemas.openxmlformats.org/drawingml/2006/main">
              <a:ext uri="{FF2B5EF4-FFF2-40B4-BE49-F238E27FC236}">
                <a16:creationId xmlns:a16="http://schemas.microsoft.com/office/drawing/2014/main" id="{6AAD21D7-41A7-41E1-AFE8-5CEC4D074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9470" y="2707005"/>
            <a:ext cx="4732020" cy="1015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40-callout_1-anchor">
            <a:extLst xmlns:a="http://schemas.openxmlformats.org/drawingml/2006/main">
              <a:ext uri="{FF2B5EF4-FFF2-40B4-BE49-F238E27FC236}">
                <a16:creationId xmlns:a16="http://schemas.microsoft.com/office/drawing/2014/main" id="{BF71C81F-43EA-4FF1-BC3E-674DBA9E9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2588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40-callout_2-anchor">
            <a:extLst xmlns:a="http://schemas.openxmlformats.org/drawingml/2006/main">
              <a:ext uri="{FF2B5EF4-FFF2-40B4-BE49-F238E27FC236}">
                <a16:creationId xmlns:a16="http://schemas.microsoft.com/office/drawing/2014/main" id="{46F485DE-B006-4C26-8F64-4F3729840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1652588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40-callout_3-anchor">
            <a:extLst xmlns:a="http://schemas.openxmlformats.org/drawingml/2006/main">
              <a:ext uri="{FF2B5EF4-FFF2-40B4-BE49-F238E27FC236}">
                <a16:creationId xmlns:a16="http://schemas.microsoft.com/office/drawing/2014/main" id="{C764EDB2-A67C-4A5F-825A-7E8CACEE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40-callout_4-anchor">
            <a:extLst xmlns:a="http://schemas.openxmlformats.org/drawingml/2006/main">
              <a:ext uri="{FF2B5EF4-FFF2-40B4-BE49-F238E27FC236}">
                <a16:creationId xmlns:a16="http://schemas.microsoft.com/office/drawing/2014/main" id="{83AF9A02-961F-41E3-8B37-F2F2CF6A6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4191000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0" name="U09-DG-040-leader_1"/>
          <p:cNvCxnSpPr>
            <a:stCxn xmlns:a="http://schemas.openxmlformats.org/drawingml/2006/main" id="8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28950" y="2101692"/>
            <a:ext cx="350520" cy="111299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1" name="U09-DG-040-leader_2"/>
          <p:cNvCxnSpPr>
            <a:stCxn xmlns:a="http://schemas.openxmlformats.org/drawingml/2006/main" id="9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8111490" y="2101692"/>
            <a:ext cx="350520" cy="111299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2" name="U09-DG-040-leader_3"/>
          <p:cNvCxnSpPr>
            <a:stCxn xmlns:a="http://schemas.openxmlformats.org/drawingml/2006/main" id="10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028950" y="3214688"/>
            <a:ext cx="350520" cy="142541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3" name="U09-DG-040-leader_4"/>
          <p:cNvCxnSpPr>
            <a:stCxn xmlns:a="http://schemas.openxmlformats.org/drawingml/2006/main" id="11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 flipV="1">
            <a:off x="8111490" y="3214688"/>
            <a:ext cx="350520" cy="142541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U09-DG-040-visual-alt" descr="Secuencia de cálculo U09-DG-040, candidata para diagram-generation. La composición permite reconocer que el cálculo entrega una estimación contextual, no un criterio universal de calidad.">
            <a:extLst xmlns:a="http://schemas.openxmlformats.org/drawingml/2006/main">
              <a:ext uri="{FF2B5EF4-FFF2-40B4-BE49-F238E27FC236}">
                <a16:creationId xmlns:a16="http://schemas.microsoft.com/office/drawing/2014/main" id="{98445E09-1131-4E63-9389-9E27CEE1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9470" y="2707005"/>
            <a:ext cx="4732020" cy="1015365"/>
          </a:xfrm>
          <a:prstGeom xmlns:a="http://schemas.openxmlformats.org/drawingml/2006/main" prst="roundRect">
            <a:avLst>
              <a:gd name="adj" fmla="val 65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7" name="U09-DG-040-equation-text">
            <a:extLst xmlns:a="http://schemas.openxmlformats.org/drawingml/2006/main">
              <a:ext uri="{FF2B5EF4-FFF2-40B4-BE49-F238E27FC236}">
                <a16:creationId xmlns:a16="http://schemas.microsoft.com/office/drawing/2014/main" id="{B64DC0F8-1DB3-4265-A8CE-E1C575977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830830"/>
            <a:ext cx="4389120" cy="767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91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691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cálculo V→Aₑq→T₆₀</a:t>
            </a:r>
          </a:p>
        </p:txBody>
      </p:sp>
      <p:sp>
        <p:nvSpPr>
          <p:cNvPr id="18" name="U09-DG-040-callout_1-box">
            <a:extLst xmlns:a="http://schemas.openxmlformats.org/drawingml/2006/main">
              <a:ext uri="{FF2B5EF4-FFF2-40B4-BE49-F238E27FC236}">
                <a16:creationId xmlns:a16="http://schemas.microsoft.com/office/drawing/2014/main" id="{2FE778F4-D703-4620-821C-5DD66044C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2588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9" name="U09-DG-040-callout_1-text">
            <a:extLst xmlns:a="http://schemas.openxmlformats.org/drawingml/2006/main">
              <a:ext uri="{FF2B5EF4-FFF2-40B4-BE49-F238E27FC236}">
                <a16:creationId xmlns:a16="http://schemas.microsoft.com/office/drawing/2014/main" id="{3B437EC3-A300-4EB0-AC92-889D9111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76413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Geometría</a:t>
            </a:r>
          </a:p>
        </p:txBody>
      </p:sp>
      <p:sp>
        <p:nvSpPr>
          <p:cNvPr id="20" name="U09-DG-040-callout_2-box">
            <a:extLst xmlns:a="http://schemas.openxmlformats.org/drawingml/2006/main">
              <a:ext uri="{FF2B5EF4-FFF2-40B4-BE49-F238E27FC236}">
                <a16:creationId xmlns:a16="http://schemas.microsoft.com/office/drawing/2014/main" id="{826945F0-07E1-4F1B-83C6-0BD211EC9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1652588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1" name="U09-DG-040-callout_2-text">
            <a:extLst xmlns:a="http://schemas.openxmlformats.org/drawingml/2006/main">
              <a:ext uri="{FF2B5EF4-FFF2-40B4-BE49-F238E27FC236}">
                <a16:creationId xmlns:a16="http://schemas.microsoft.com/office/drawing/2014/main" id="{11587293-712C-4688-933D-6FF7B04D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3460" y="1776413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V/superficie</a:t>
            </a:r>
          </a:p>
        </p:txBody>
      </p:sp>
      <p:sp>
        <p:nvSpPr>
          <p:cNvPr id="22" name="U09-DG-040-callout_3-box">
            <a:extLst xmlns:a="http://schemas.openxmlformats.org/drawingml/2006/main">
              <a:ext uri="{FF2B5EF4-FFF2-40B4-BE49-F238E27FC236}">
                <a16:creationId xmlns:a16="http://schemas.microsoft.com/office/drawing/2014/main" id="{125E41F8-A4AC-4183-83CF-947E29830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3" name="U09-DG-040-callout_3-text">
            <a:extLst xmlns:a="http://schemas.openxmlformats.org/drawingml/2006/main">
              <a:ext uri="{FF2B5EF4-FFF2-40B4-BE49-F238E27FC236}">
                <a16:creationId xmlns:a16="http://schemas.microsoft.com/office/drawing/2014/main" id="{61EBDEA4-3992-48FE-835E-B6B3F37DD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14825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Aₑq</a:t>
            </a:r>
          </a:p>
        </p:txBody>
      </p:sp>
      <p:sp>
        <p:nvSpPr>
          <p:cNvPr id="24" name="U09-DG-040-callout_4-box">
            <a:extLst xmlns:a="http://schemas.openxmlformats.org/drawingml/2006/main">
              <a:ext uri="{FF2B5EF4-FFF2-40B4-BE49-F238E27FC236}">
                <a16:creationId xmlns:a16="http://schemas.microsoft.com/office/drawing/2014/main" id="{733C8B06-1503-4536-B24B-9D695369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4191000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5" name="U09-DG-040-callout_4-text">
            <a:extLst xmlns:a="http://schemas.openxmlformats.org/drawingml/2006/main">
              <a:ext uri="{FF2B5EF4-FFF2-40B4-BE49-F238E27FC236}">
                <a16:creationId xmlns:a16="http://schemas.microsoft.com/office/drawing/2014/main" id="{658BDDD2-D991-433C-A881-E22D28EEE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3460" y="4314825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T₆₀</a:t>
            </a:r>
          </a:p>
        </p:txBody>
      </p:sp>
      <p:sp>
        <p:nvSpPr>
          <p:cNvPr id="26" name="caption">
            <a:extLst xmlns:a="http://schemas.openxmlformats.org/drawingml/2006/main">
              <a:ext uri="{FF2B5EF4-FFF2-40B4-BE49-F238E27FC236}">
                <a16:creationId xmlns:a16="http://schemas.microsoft.com/office/drawing/2014/main" id="{12EEB672-95E6-49D3-8B4D-7D6804F17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el cálculo entrega una estimación contextual, no un criterio universal de calidad. · Producción propia UCASAL · U09-DG-040</a:t>
            </a:r>
          </a:p>
        </p:txBody>
      </p:sp>
      <p:sp>
        <p:nvSpPr>
          <p:cNvPr id="27" name="unit-footer">
            <a:extLst xmlns:a="http://schemas.openxmlformats.org/drawingml/2006/main">
              <a:ext uri="{FF2B5EF4-FFF2-40B4-BE49-F238E27FC236}">
                <a16:creationId xmlns:a16="http://schemas.microsoft.com/office/drawing/2014/main" id="{376BB3C5-A330-4871-8817-62C4CFD96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Física Acústica · Unidad 9</a:t>
            </a:r>
          </a:p>
        </p:txBody>
      </p:sp>
      <p:sp>
        <p:nvSpPr>
          <p:cNvPr id="2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5433851-0EB0-4A49-A734-A13AB3D2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52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rail-1">
            <a:extLst xmlns:a="http://schemas.openxmlformats.org/drawingml/2006/main">
              <a:ext uri="{FF2B5EF4-FFF2-40B4-BE49-F238E27FC236}">
                <a16:creationId xmlns:a16="http://schemas.microsoft.com/office/drawing/2014/main" id="{837CB7A4-7CDD-43DD-8988-A4374539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E4B0C00C-55B0-4735-BF5F-448D5CBF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24B71738-736A-4D16-B386-7224B35B1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195091F3-F57E-4A7D-B77C-AD5F548F5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2 · AMPLIACIÓN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2CA1F4E-5CB3-4104-A344-99F1AC63A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Igual Aₑq, distinto campo local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F84C573-B45A-4D8C-B2AD-590AB89E4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Recintos y reverberación · Ampliación conceptual</a:t>
            </a:r>
          </a:p>
        </p:txBody>
      </p:sp>
      <p:sp>
        <p:nvSpPr>
          <p:cNvPr id="7" name="U09-DG-041-concept_1-anchor">
            <a:extLst xmlns:a="http://schemas.openxmlformats.org/drawingml/2006/main">
              <a:ext uri="{FF2B5EF4-FFF2-40B4-BE49-F238E27FC236}">
                <a16:creationId xmlns:a16="http://schemas.microsoft.com/office/drawing/2014/main" id="{44CBE11B-8DE7-4300-B1C9-7470F4A08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4784598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41-concept_2-anchor">
            <a:extLst xmlns:a="http://schemas.openxmlformats.org/drawingml/2006/main">
              <a:ext uri="{FF2B5EF4-FFF2-40B4-BE49-F238E27FC236}">
                <a16:creationId xmlns:a16="http://schemas.microsoft.com/office/drawing/2014/main" id="{8C602420-1EA2-49D5-B132-3AD9B49E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1840040"/>
            <a:ext cx="4784598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41-concept_3-anchor">
            <a:extLst xmlns:a="http://schemas.openxmlformats.org/drawingml/2006/main">
              <a:ext uri="{FF2B5EF4-FFF2-40B4-BE49-F238E27FC236}">
                <a16:creationId xmlns:a16="http://schemas.microsoft.com/office/drawing/2014/main" id="{430792E9-61CE-46E7-968B-77ED013DB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4784598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41-visual-alt" descr="U09-DG-041, candidata para diagram-generation. La composición permite reconocer que la distribución espacial de la absorción y la geometría también importan.">
            <a:extLst xmlns:a="http://schemas.openxmlformats.org/drawingml/2006/main">
              <a:ext uri="{FF2B5EF4-FFF2-40B4-BE49-F238E27FC236}">
                <a16:creationId xmlns:a16="http://schemas.microsoft.com/office/drawing/2014/main" id="{ED210C3E-36C2-436E-878F-BB04AA9E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4784598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1" name="U09-DG-041-concept_1-text">
            <a:extLst xmlns:a="http://schemas.openxmlformats.org/drawingml/2006/main">
              <a:ext uri="{FF2B5EF4-FFF2-40B4-BE49-F238E27FC236}">
                <a16:creationId xmlns:a16="http://schemas.microsoft.com/office/drawing/2014/main" id="{BF6127D3-3BD1-487C-AEA8-E6933EAC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63865"/>
            <a:ext cx="4441698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Dos salas con igual suma de</a:t>
            </a:r>
          </a:p>
        </p:txBody>
      </p:sp>
      <p:sp>
        <p:nvSpPr>
          <p:cNvPr id="12" name="U09-DG-041-concept_2-box">
            <a:extLst xmlns:a="http://schemas.openxmlformats.org/drawingml/2006/main">
              <a:ext uri="{FF2B5EF4-FFF2-40B4-BE49-F238E27FC236}">
                <a16:creationId xmlns:a16="http://schemas.microsoft.com/office/drawing/2014/main" id="{4BDFAD31-D181-40E6-B83F-D711DF501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1840040"/>
            <a:ext cx="4784598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3" name="U09-DG-041-concept_2-text">
            <a:extLst xmlns:a="http://schemas.openxmlformats.org/drawingml/2006/main">
              <a:ext uri="{FF2B5EF4-FFF2-40B4-BE49-F238E27FC236}">
                <a16:creationId xmlns:a16="http://schemas.microsoft.com/office/drawing/2014/main" id="{E4E7788C-F6D0-4D90-B85A-1E801F6B1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9612" y="1963865"/>
            <a:ext cx="4441698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ubicación distinta</a:t>
            </a:r>
          </a:p>
        </p:txBody>
      </p:sp>
      <p:sp>
        <p:nvSpPr>
          <p:cNvPr id="14" name="U09-DG-041-concept_3-box">
            <a:extLst xmlns:a="http://schemas.openxmlformats.org/drawingml/2006/main">
              <a:ext uri="{FF2B5EF4-FFF2-40B4-BE49-F238E27FC236}">
                <a16:creationId xmlns:a16="http://schemas.microsoft.com/office/drawing/2014/main" id="{7114E40D-BAE0-405D-8896-965B3238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4784598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5" name="U09-DG-041-concept_3-text">
            <a:extLst xmlns:a="http://schemas.openxmlformats.org/drawingml/2006/main">
              <a:ext uri="{FF2B5EF4-FFF2-40B4-BE49-F238E27FC236}">
                <a16:creationId xmlns:a16="http://schemas.microsoft.com/office/drawing/2014/main" id="{A1CD503D-5BE1-4C40-B366-DB9AECC5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7796"/>
            <a:ext cx="4441698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receptores con campos diferentes</a:t>
            </a:r>
          </a:p>
        </p:txBody>
      </p:sp>
      <p:sp>
        <p:nvSpPr>
          <p:cNvPr id="16" name="caption">
            <a:extLst xmlns:a="http://schemas.openxmlformats.org/drawingml/2006/main">
              <a:ext uri="{FF2B5EF4-FFF2-40B4-BE49-F238E27FC236}">
                <a16:creationId xmlns:a16="http://schemas.microsoft.com/office/drawing/2014/main" id="{F61B938D-2399-46C4-868B-1F5023DA9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la distribución espacial de la absorción y la geometría también importan. · Producción propia UCASAL · U09-DG-041</a:t>
            </a:r>
          </a:p>
        </p:txBody>
      </p:sp>
      <p:sp>
        <p:nvSpPr>
          <p:cNvPr id="17" name="unit-footer">
            <a:extLst xmlns:a="http://schemas.openxmlformats.org/drawingml/2006/main">
              <a:ext uri="{FF2B5EF4-FFF2-40B4-BE49-F238E27FC236}">
                <a16:creationId xmlns:a16="http://schemas.microsoft.com/office/drawing/2014/main" id="{20C8E81A-96DC-40C7-829A-AAF2EBF6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Física Acústica · Unidad 9</a:t>
            </a:r>
          </a:p>
        </p:txBody>
      </p:sp>
      <p:sp>
        <p:nvSpPr>
          <p:cNvPr id="1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70FEAD5-8794-4873-B7A1-141A1082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53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-rail-1">
            <a:extLst xmlns:a="http://schemas.openxmlformats.org/drawingml/2006/main">
              <a:ext uri="{FF2B5EF4-FFF2-40B4-BE49-F238E27FC236}">
                <a16:creationId xmlns:a16="http://schemas.microsoft.com/office/drawing/2014/main" id="{346DF612-1870-4F58-9E64-1BD4EA8F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AD03D981-62A1-4FB7-9841-26AB9D02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C7EF99FE-787B-420F-A0B0-9CBD83F2E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1E1E0B95-4D8A-4957-BBD7-FF6369DD8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2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3A4AC0D-E455-4D2A-A019-5466FA6A5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“Un T₆₀ corto significa buen aislamiento”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4260B5A-0AAE-4488-BA06-6A4FB4B0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Recintos y reverberación · Error frecuente</a:t>
            </a:r>
          </a:p>
        </p:txBody>
      </p:sp>
      <p:sp>
        <p:nvSpPr>
          <p:cNvPr id="7" name="U09-DG-042-concept_1-anchor">
            <a:extLst xmlns:a="http://schemas.openxmlformats.org/drawingml/2006/main">
              <a:ext uri="{FF2B5EF4-FFF2-40B4-BE49-F238E27FC236}">
                <a16:creationId xmlns:a16="http://schemas.microsoft.com/office/drawing/2014/main" id="{2A1E0AF7-8446-43FB-B2EF-F7AD02862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4784598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42-concept_2-anchor">
            <a:extLst xmlns:a="http://schemas.openxmlformats.org/drawingml/2006/main">
              <a:ext uri="{FF2B5EF4-FFF2-40B4-BE49-F238E27FC236}">
                <a16:creationId xmlns:a16="http://schemas.microsoft.com/office/drawing/2014/main" id="{1EBBB053-D98E-47F9-BA6F-089B4A6E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1840040"/>
            <a:ext cx="4784598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42-concept_3-anchor">
            <a:extLst xmlns:a="http://schemas.openxmlformats.org/drawingml/2006/main">
              <a:ext uri="{FF2B5EF4-FFF2-40B4-BE49-F238E27FC236}">
                <a16:creationId xmlns:a16="http://schemas.microsoft.com/office/drawing/2014/main" id="{012CEAD5-2799-48AA-8800-EF472250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4784598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42-concept_4-anchor">
            <a:extLst xmlns:a="http://schemas.openxmlformats.org/drawingml/2006/main">
              <a:ext uri="{FF2B5EF4-FFF2-40B4-BE49-F238E27FC236}">
                <a16:creationId xmlns:a16="http://schemas.microsoft.com/office/drawing/2014/main" id="{15B43778-5819-4084-BDFD-D7BE79587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3573971"/>
            <a:ext cx="4784598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42-visual-alt" descr="U09-DG-042, candidata para diagram-generation. La composición permite reconocer que t₆₀ describe el decaimiento interior; no mide cuánto atraviesa el cerramiento.">
            <a:extLst xmlns:a="http://schemas.openxmlformats.org/drawingml/2006/main">
              <a:ext uri="{FF2B5EF4-FFF2-40B4-BE49-F238E27FC236}">
                <a16:creationId xmlns:a16="http://schemas.microsoft.com/office/drawing/2014/main" id="{C9233D04-3012-427B-8D72-0267A8AAC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4784598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2" name="U09-DG-042-concept_1-text">
            <a:extLst xmlns:a="http://schemas.openxmlformats.org/drawingml/2006/main">
              <a:ext uri="{FF2B5EF4-FFF2-40B4-BE49-F238E27FC236}">
                <a16:creationId xmlns:a16="http://schemas.microsoft.com/office/drawing/2014/main" id="{DBE28B54-A993-4F25-B4E1-7D26BF97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63865"/>
            <a:ext cx="4441698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Dos recintos</a:t>
            </a:r>
          </a:p>
        </p:txBody>
      </p:sp>
      <p:sp>
        <p:nvSpPr>
          <p:cNvPr id="13" name="U09-DG-042-concept_2-box">
            <a:extLst xmlns:a="http://schemas.openxmlformats.org/drawingml/2006/main">
              <a:ext uri="{FF2B5EF4-FFF2-40B4-BE49-F238E27FC236}">
                <a16:creationId xmlns:a16="http://schemas.microsoft.com/office/drawing/2014/main" id="{2E68AA1F-93FA-4E77-8470-D5881EE47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1840040"/>
            <a:ext cx="4784598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4" name="U09-DG-042-concept_2-text">
            <a:extLst xmlns:a="http://schemas.openxmlformats.org/drawingml/2006/main">
              <a:ext uri="{FF2B5EF4-FFF2-40B4-BE49-F238E27FC236}">
                <a16:creationId xmlns:a16="http://schemas.microsoft.com/office/drawing/2014/main" id="{B58E3C5D-21CC-411A-857F-3C772C67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9612" y="1963865"/>
            <a:ext cx="4441698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dos preguntas</a:t>
            </a:r>
          </a:p>
        </p:txBody>
      </p:sp>
      <p:sp>
        <p:nvSpPr>
          <p:cNvPr id="15" name="U09-DG-042-concept_3-box">
            <a:extLst xmlns:a="http://schemas.openxmlformats.org/drawingml/2006/main">
              <a:ext uri="{FF2B5EF4-FFF2-40B4-BE49-F238E27FC236}">
                <a16:creationId xmlns:a16="http://schemas.microsoft.com/office/drawing/2014/main" id="{05C5BCE2-D659-46DA-8DE9-32918C5A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4784598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6" name="U09-DG-042-concept_3-text">
            <a:extLst xmlns:a="http://schemas.openxmlformats.org/drawingml/2006/main">
              <a:ext uri="{FF2B5EF4-FFF2-40B4-BE49-F238E27FC236}">
                <a16:creationId xmlns:a16="http://schemas.microsoft.com/office/drawing/2014/main" id="{9700D3E7-A89E-4BDE-BB3F-8277C834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7796"/>
            <a:ext cx="4441698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dos magnitudes</a:t>
            </a:r>
          </a:p>
        </p:txBody>
      </p:sp>
      <p:sp>
        <p:nvSpPr>
          <p:cNvPr id="17" name="U09-DG-042-concept_4-box">
            <a:extLst xmlns:a="http://schemas.openxmlformats.org/drawingml/2006/main">
              <a:ext uri="{FF2B5EF4-FFF2-40B4-BE49-F238E27FC236}">
                <a16:creationId xmlns:a16="http://schemas.microsoft.com/office/drawing/2014/main" id="{D4FE6A17-A4A2-4071-939C-9522FAE4B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3573971"/>
            <a:ext cx="4784598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18" name="U09-DG-042-concept_4-text">
            <a:extLst xmlns:a="http://schemas.openxmlformats.org/drawingml/2006/main">
              <a:ext uri="{FF2B5EF4-FFF2-40B4-BE49-F238E27FC236}">
                <a16:creationId xmlns:a16="http://schemas.microsoft.com/office/drawing/2014/main" id="{31DDAC2C-AA02-45FD-B3ED-1D1BC8C2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9612" y="3697796"/>
            <a:ext cx="4441698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flechas separadas</a:t>
            </a:r>
          </a:p>
        </p:txBody>
      </p:sp>
      <p:sp>
        <p:nvSpPr>
          <p:cNvPr id="19" name="caption">
            <a:extLst xmlns:a="http://schemas.openxmlformats.org/drawingml/2006/main">
              <a:ext uri="{FF2B5EF4-FFF2-40B4-BE49-F238E27FC236}">
                <a16:creationId xmlns:a16="http://schemas.microsoft.com/office/drawing/2014/main" id="{DC204BB5-9EC0-4A56-8454-35533A78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t₆₀ describe el decaimiento interior; no mide cuánto atraviesa el cerramiento. · Producción propia UCASAL · U09-DG-042</a:t>
            </a:r>
          </a:p>
        </p:txBody>
      </p:sp>
      <p:sp>
        <p:nvSpPr>
          <p:cNvPr id="20" name="unit-footer">
            <a:extLst xmlns:a="http://schemas.openxmlformats.org/drawingml/2006/main">
              <a:ext uri="{FF2B5EF4-FFF2-40B4-BE49-F238E27FC236}">
                <a16:creationId xmlns:a16="http://schemas.microsoft.com/office/drawing/2014/main" id="{951AADE6-5197-489E-BF35-C6114FDFA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Física Acústica · Unidad 9</a:t>
            </a:r>
          </a:p>
        </p:txBody>
      </p:sp>
      <p:sp>
        <p:nvSpPr>
          <p:cNvPr id="2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5B24F5B-EAF6-4745-BCF7-4AB5D14C3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54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op-rail-1">
            <a:extLst xmlns:a="http://schemas.openxmlformats.org/drawingml/2006/main">
              <a:ext uri="{FF2B5EF4-FFF2-40B4-BE49-F238E27FC236}">
                <a16:creationId xmlns:a16="http://schemas.microsoft.com/office/drawing/2014/main" id="{608AE433-529B-463E-892E-D1F67E28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1798999A-3579-4D57-BF38-DEA4FDB66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5A3E1DE7-3FA5-48E7-98AF-0D2958981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2EAD52CC-5FE0-4CD7-AA4A-0F655F8D6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2 · AMPLIACIÓN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2646BE6-6884-4A4A-933F-E30D8551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Seco y reverberado: escuchar y ver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D3E43C6-33AE-417B-ABB6-FCE437A1D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Recintos y reverberación · Multimedia opcional</a:t>
            </a:r>
          </a:p>
        </p:txBody>
      </p:sp>
      <p:pic>
        <p:nvPicPr>
          <p:cNvPr id="20" name="U09-CH-006-chart" descr="U09-MEDIA-001 y U09-CH-006. La composición permite reconocer que la diferencia audible debe acompañarse con forma de onda o envolvente y condiciones de reproducción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abf9b1c7264d05">
            <a:extLst>
              <a:ext uri="{96DAC541-7B7A-43D3-8B79-37D633B846F1}">
                <asvg:svgBlip xmlns:asvg="http://schemas.microsoft.com/office/drawing/2016/SVG/main" r:embed="R6f80619f5d3441e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0550" y="1476375"/>
            <a:ext cx="7048500" cy="4238625"/>
          </a:xfrm>
          <a:prstGeom xmlns:a="http://schemas.openxmlformats.org/drawingml/2006/main" prst="rect">
            <a:avLst/>
          </a:prstGeom>
        </p:spPr>
      </p:pic>
      <p:sp>
        <p:nvSpPr>
          <p:cNvPr id="8" name="chart-reading-box">
            <a:extLst xmlns:a="http://schemas.openxmlformats.org/drawingml/2006/main">
              <a:ext uri="{FF2B5EF4-FFF2-40B4-BE49-F238E27FC236}">
                <a16:creationId xmlns:a16="http://schemas.microsoft.com/office/drawing/2014/main" id="{54AB89B2-23B0-47A3-AE79-7C25E6EF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809750"/>
            <a:ext cx="3429000" cy="2762250"/>
          </a:xfrm>
          <a:prstGeom xmlns:a="http://schemas.openxmlformats.org/drawingml/2006/main" prst="roundRect">
            <a:avLst>
              <a:gd name="adj" fmla="val 206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9525">
            <a:solidFill>
              <a:srgbClr val="D9DCE0"/>
            </a:solidFill>
            <a:prstDash val="solid"/>
          </a:ln>
        </p:spPr>
      </p:sp>
      <p:sp>
        <p:nvSpPr>
          <p:cNvPr id="9" name="chart-reading-title">
            <a:extLst xmlns:a="http://schemas.openxmlformats.org/drawingml/2006/main">
              <a:ext uri="{FF2B5EF4-FFF2-40B4-BE49-F238E27FC236}">
                <a16:creationId xmlns:a16="http://schemas.microsoft.com/office/drawing/2014/main" id="{1D13319E-D57C-4D9A-8B3B-BD245988D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95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Qué observar</a:t>
            </a:r>
          </a:p>
        </p:txBody>
      </p:sp>
      <p:sp>
        <p:nvSpPr>
          <p:cNvPr id="10" name="chart-reading-body">
            <a:extLst xmlns:a="http://schemas.openxmlformats.org/drawingml/2006/main">
              <a:ext uri="{FF2B5EF4-FFF2-40B4-BE49-F238E27FC236}">
                <a16:creationId xmlns:a16="http://schemas.microsoft.com/office/drawing/2014/main" id="{76189DC4-DACB-47B2-9243-490EE74D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47950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diferencia audible debe acompañarse con forma de onda o envolvente y condiciones de reproducción. Audio breve de habla seca/reverberada o animación de decaimiento. Alternativa estática completa.</a:t>
            </a:r>
          </a:p>
        </p:txBody>
      </p:sp>
      <p:sp>
        <p:nvSpPr>
          <p:cNvPr id="11" name="caption">
            <a:extLst xmlns:a="http://schemas.openxmlformats.org/drawingml/2006/main">
              <a:ext uri="{FF2B5EF4-FFF2-40B4-BE49-F238E27FC236}">
                <a16:creationId xmlns:a16="http://schemas.microsoft.com/office/drawing/2014/main" id="{BBE76AA1-3289-46DF-83FB-DC0907526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Comparación auditiva y temporal con reproducción a nivel seguro; no constituye una medición. · Producción propia UCASAL · U09-CH-006</a:t>
            </a:r>
          </a:p>
        </p:txBody>
      </p:sp>
      <p:sp>
        <p:nvSpPr>
          <p:cNvPr id="12" name="unit-footer">
            <a:extLst xmlns:a="http://schemas.openxmlformats.org/drawingml/2006/main">
              <a:ext uri="{FF2B5EF4-FFF2-40B4-BE49-F238E27FC236}">
                <a16:creationId xmlns:a16="http://schemas.microsoft.com/office/drawing/2014/main" id="{7C86F425-9CC3-4E66-A27F-759A0909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Física Acústica · Unidad 9</a:t>
            </a:r>
          </a:p>
        </p:txBody>
      </p:sp>
      <p:sp>
        <p:nvSpPr>
          <p:cNvPr id="1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AF7ED97-BE37-4D73-A498-B41B7D35C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55</a:t>
            </a:r>
          </a:p>
        </p:txBody>
      </p:sp>
    </p:spTree>
    <p:extLst>
      <p:ext uri="{BB962C8B-B14F-4D97-AF65-F5344CB8AC3E}">
        <p14:creationId xmlns:p14="http://schemas.microsoft.com/office/powerpoint/2010/main" val="1046213385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op-rail-1">
            <a:extLst xmlns:a="http://schemas.openxmlformats.org/drawingml/2006/main">
              <a:ext uri="{FF2B5EF4-FFF2-40B4-BE49-F238E27FC236}">
                <a16:creationId xmlns:a16="http://schemas.microsoft.com/office/drawing/2014/main" id="{E84E8056-BEDF-473D-8553-1F514DDFE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01C76368-2832-47EF-B2A7-134E997BE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4E942965-8BCA-43B9-A4C2-6CB627F99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4B684DD1-9A8F-4EE6-AE78-23336FFA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2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5E2E7D8-25AB-41CF-8046-624ECEA2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Recinto: llegada, decaimiento y límite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5283CD7-2A2F-42C4-88EB-761590A4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Recintos y reverberación · Recapitulación</a:t>
            </a:r>
          </a:p>
        </p:txBody>
      </p:sp>
      <p:sp>
        <p:nvSpPr>
          <p:cNvPr id="7" name="U09-DG-043-step_1-anchor">
            <a:extLst xmlns:a="http://schemas.openxmlformats.org/drawingml/2006/main">
              <a:ext uri="{FF2B5EF4-FFF2-40B4-BE49-F238E27FC236}">
                <a16:creationId xmlns:a16="http://schemas.microsoft.com/office/drawing/2014/main" id="{31DD1F0D-CE2C-4683-8F05-5EFF77FA6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43-step_2-anchor">
            <a:extLst xmlns:a="http://schemas.openxmlformats.org/drawingml/2006/main">
              <a:ext uri="{FF2B5EF4-FFF2-40B4-BE49-F238E27FC236}">
                <a16:creationId xmlns:a16="http://schemas.microsoft.com/office/drawing/2014/main" id="{81381A47-E064-482D-AB33-CF53EB76E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43-step_3-anchor">
            <a:extLst xmlns:a="http://schemas.openxmlformats.org/drawingml/2006/main">
              <a:ext uri="{FF2B5EF4-FFF2-40B4-BE49-F238E27FC236}">
                <a16:creationId xmlns:a16="http://schemas.microsoft.com/office/drawing/2014/main" id="{E079E874-7211-4ACE-BD38-ACCD0D9A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43-step_4-anchor">
            <a:extLst xmlns:a="http://schemas.openxmlformats.org/drawingml/2006/main">
              <a:ext uri="{FF2B5EF4-FFF2-40B4-BE49-F238E27FC236}">
                <a16:creationId xmlns:a16="http://schemas.microsoft.com/office/drawing/2014/main" id="{15DAC0CD-DECC-4750-968D-7823689C6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43-step_5-anchor">
            <a:extLst xmlns:a="http://schemas.openxmlformats.org/drawingml/2006/main">
              <a:ext uri="{FF2B5EF4-FFF2-40B4-BE49-F238E27FC236}">
                <a16:creationId xmlns:a16="http://schemas.microsoft.com/office/drawing/2014/main" id="{34B8C682-F835-47A2-B20D-7D3ED337F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0" name="U09-DG-043-flow_1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46710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1" name="U09-DG-043-flow_2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05993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2" name="U09-DG-043-flow_3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9338310" y="2941321"/>
            <a:ext cx="0" cy="741997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3" name="U09-DG-043-flow_4"/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7059930" y="424958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U09-DG-043-visual-alt" descr="U09-DG-043, candidata para diagram-generation. La composición permite reconocer que reflexiones explican persistencia; t₆₀ y sabine resumen bajo hipótesis, no miden aislamiento.">
            <a:extLst xmlns:a="http://schemas.openxmlformats.org/drawingml/2006/main">
              <a:ext uri="{FF2B5EF4-FFF2-40B4-BE49-F238E27FC236}">
                <a16:creationId xmlns:a16="http://schemas.microsoft.com/office/drawing/2014/main" id="{458A6EF4-42F4-430B-8FF6-BBA369EFE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7" name="U09-DG-043-step_1-text">
            <a:extLst xmlns:a="http://schemas.openxmlformats.org/drawingml/2006/main">
              <a:ext uri="{FF2B5EF4-FFF2-40B4-BE49-F238E27FC236}">
                <a16:creationId xmlns:a16="http://schemas.microsoft.com/office/drawing/2014/main" id="{2FB76398-1E7A-4F2D-AC7A-AC25B4C1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1 · Geometría</a:t>
            </a:r>
          </a:p>
        </p:txBody>
      </p:sp>
      <p:sp>
        <p:nvSpPr>
          <p:cNvPr id="18" name="U09-DG-043-step_2-box">
            <a:extLst xmlns:a="http://schemas.openxmlformats.org/drawingml/2006/main">
              <a:ext uri="{FF2B5EF4-FFF2-40B4-BE49-F238E27FC236}">
                <a16:creationId xmlns:a16="http://schemas.microsoft.com/office/drawing/2014/main" id="{736D6907-FBBF-403D-A420-2B1EE137B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9" name="U09-DG-043-step_2-text">
            <a:extLst xmlns:a="http://schemas.openxmlformats.org/drawingml/2006/main">
              <a:ext uri="{FF2B5EF4-FFF2-40B4-BE49-F238E27FC236}">
                <a16:creationId xmlns:a16="http://schemas.microsoft.com/office/drawing/2014/main" id="{FFC6E251-4C03-4B76-8BDB-DD55D5553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2 · llegadas</a:t>
            </a:r>
          </a:p>
        </p:txBody>
      </p:sp>
      <p:sp>
        <p:nvSpPr>
          <p:cNvPr id="20" name="U09-DG-043-step_3-box">
            <a:extLst xmlns:a="http://schemas.openxmlformats.org/drawingml/2006/main">
              <a:ext uri="{FF2B5EF4-FFF2-40B4-BE49-F238E27FC236}">
                <a16:creationId xmlns:a16="http://schemas.microsoft.com/office/drawing/2014/main" id="{5B43D768-9302-407C-B198-18A01275F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1" name="U09-DG-043-step_3-text">
            <a:extLst xmlns:a="http://schemas.openxmlformats.org/drawingml/2006/main">
              <a:ext uri="{FF2B5EF4-FFF2-40B4-BE49-F238E27FC236}">
                <a16:creationId xmlns:a16="http://schemas.microsoft.com/office/drawing/2014/main" id="{FE8D5623-6DE3-4693-A67B-080F8D6B6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 · decaimiento</a:t>
            </a:r>
          </a:p>
        </p:txBody>
      </p:sp>
      <p:sp>
        <p:nvSpPr>
          <p:cNvPr id="22" name="U09-DG-043-step_4-box">
            <a:extLst xmlns:a="http://schemas.openxmlformats.org/drawingml/2006/main">
              <a:ext uri="{FF2B5EF4-FFF2-40B4-BE49-F238E27FC236}">
                <a16:creationId xmlns:a16="http://schemas.microsoft.com/office/drawing/2014/main" id="{628EEE25-34C2-4668-8E73-A9855551D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3" name="U09-DG-043-step_4-text">
            <a:extLst xmlns:a="http://schemas.openxmlformats.org/drawingml/2006/main">
              <a:ext uri="{FF2B5EF4-FFF2-40B4-BE49-F238E27FC236}">
                <a16:creationId xmlns:a16="http://schemas.microsoft.com/office/drawing/2014/main" id="{ADBA2748-18E2-4140-A5C8-A6A6AC3A4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4 · descriptor</a:t>
            </a:r>
          </a:p>
        </p:txBody>
      </p:sp>
      <p:sp>
        <p:nvSpPr>
          <p:cNvPr id="24" name="U09-DG-043-step_5-box">
            <a:extLst xmlns:a="http://schemas.openxmlformats.org/drawingml/2006/main">
              <a:ext uri="{FF2B5EF4-FFF2-40B4-BE49-F238E27FC236}">
                <a16:creationId xmlns:a16="http://schemas.microsoft.com/office/drawing/2014/main" id="{156C9802-10DF-486B-AE18-CAF23ADA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5" name="U09-DG-043-step_5-text">
            <a:extLst xmlns:a="http://schemas.openxmlformats.org/drawingml/2006/main">
              <a:ext uri="{FF2B5EF4-FFF2-40B4-BE49-F238E27FC236}">
                <a16:creationId xmlns:a16="http://schemas.microsoft.com/office/drawing/2014/main" id="{E44CA0F5-46D5-4A59-B862-E968AF92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5 · con límites laterales</a:t>
            </a:r>
          </a:p>
        </p:txBody>
      </p:sp>
      <p:sp>
        <p:nvSpPr>
          <p:cNvPr id="26" name="caption">
            <a:extLst xmlns:a="http://schemas.openxmlformats.org/drawingml/2006/main">
              <a:ext uri="{FF2B5EF4-FFF2-40B4-BE49-F238E27FC236}">
                <a16:creationId xmlns:a16="http://schemas.microsoft.com/office/drawing/2014/main" id="{EC1A9C18-A142-48E0-955A-100269D13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reflexiones explican persistencia; t₆₀ y sabine resumen bajo hipótesis, no miden aislamiento. · Producción propia UCASAL · U09-DG-043</a:t>
            </a:r>
          </a:p>
        </p:txBody>
      </p:sp>
      <p:sp>
        <p:nvSpPr>
          <p:cNvPr id="27" name="unit-footer">
            <a:extLst xmlns:a="http://schemas.openxmlformats.org/drawingml/2006/main">
              <a:ext uri="{FF2B5EF4-FFF2-40B4-BE49-F238E27FC236}">
                <a16:creationId xmlns:a16="http://schemas.microsoft.com/office/drawing/2014/main" id="{3C6F84FA-1B59-45B8-A4E6-79A47CEC4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Física Acústica · Unidad 9</a:t>
            </a:r>
          </a:p>
        </p:txBody>
      </p:sp>
      <p:sp>
        <p:nvSpPr>
          <p:cNvPr id="2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520EE26-665B-42FA-9606-7B775C4E6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56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ark-eyebrow">
            <a:extLst xmlns:a="http://schemas.openxmlformats.org/drawingml/2006/main">
              <a:ext uri="{FF2B5EF4-FFF2-40B4-BE49-F238E27FC236}">
                <a16:creationId xmlns:a16="http://schemas.microsoft.com/office/drawing/2014/main" id="{2523AE62-8B93-498F-90C3-90202FFEF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UNIDAD 9 · RUTA CENTRAL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1E066797-B1BB-402A-958A-F24C48C62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47875"/>
            <a:ext cx="1057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¿Qué limita el paso entre espacios?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D4AA9275-57A7-4524-9ECD-9FF91FC42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571875"/>
            <a:ext cx="885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rPr>
              <a:t>Aislar exige analizar el conjunto y sus rutas, no solo una superficie ideal.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CA9500F-C7C1-4A85-9363-05C2DF1FA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rPr>
              <a:t>57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op-rail-1">
            <a:extLst xmlns:a="http://schemas.openxmlformats.org/drawingml/2006/main">
              <a:ext uri="{FF2B5EF4-FFF2-40B4-BE49-F238E27FC236}">
                <a16:creationId xmlns:a16="http://schemas.microsoft.com/office/drawing/2014/main" id="{D4ADD89D-6B93-46FD-BD14-4A11995B7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420F0FF8-AB63-48BB-97A7-954130EA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9AF16F69-FC43-473C-BD22-12222236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0EEA6247-0017-4A27-B596-348E0E4F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3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0C33A96-DD02-4B37-AF0F-D78D29A12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 τₑ al índice R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AD1248F-6F8E-4511-9055-5ADBC9BA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Aislamiento y ley de masas · Ecuación anotada</a:t>
            </a:r>
          </a:p>
        </p:txBody>
      </p:sp>
      <p:sp>
        <p:nvSpPr>
          <p:cNvPr id="7" name="U09-DG-044-equation-anchor">
            <a:extLst xmlns:a="http://schemas.openxmlformats.org/drawingml/2006/main">
              <a:ext uri="{FF2B5EF4-FFF2-40B4-BE49-F238E27FC236}">
                <a16:creationId xmlns:a16="http://schemas.microsoft.com/office/drawing/2014/main" id="{E3704486-5425-492F-9749-599292CFE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9470" y="2707005"/>
            <a:ext cx="4732020" cy="1015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44-callout_1-anchor">
            <a:extLst xmlns:a="http://schemas.openxmlformats.org/drawingml/2006/main">
              <a:ext uri="{FF2B5EF4-FFF2-40B4-BE49-F238E27FC236}">
                <a16:creationId xmlns:a16="http://schemas.microsoft.com/office/drawing/2014/main" id="{C0495868-D18F-47F5-B936-4B9D6D9E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2588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44-callout_2-anchor">
            <a:extLst xmlns:a="http://schemas.openxmlformats.org/drawingml/2006/main">
              <a:ext uri="{FF2B5EF4-FFF2-40B4-BE49-F238E27FC236}">
                <a16:creationId xmlns:a16="http://schemas.microsoft.com/office/drawing/2014/main" id="{0A66742E-5020-49F4-AF2D-F0E366CB2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1652588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44-callout_3-anchor">
            <a:extLst xmlns:a="http://schemas.openxmlformats.org/drawingml/2006/main">
              <a:ext uri="{FF2B5EF4-FFF2-40B4-BE49-F238E27FC236}">
                <a16:creationId xmlns:a16="http://schemas.microsoft.com/office/drawing/2014/main" id="{BAACDEA0-5FF8-4A5A-9D6D-294ADEA3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44-callout_4-anchor">
            <a:extLst xmlns:a="http://schemas.openxmlformats.org/drawingml/2006/main">
              <a:ext uri="{FF2B5EF4-FFF2-40B4-BE49-F238E27FC236}">
                <a16:creationId xmlns:a16="http://schemas.microsoft.com/office/drawing/2014/main" id="{97D69CD1-CCCE-4DA8-AAA1-C93B8F988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4191000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0" name="U09-DG-044-leader_1"/>
          <p:cNvCxnSpPr>
            <a:stCxn xmlns:a="http://schemas.openxmlformats.org/drawingml/2006/main" id="8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28950" y="2101692"/>
            <a:ext cx="350520" cy="111299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1" name="U09-DG-044-leader_2"/>
          <p:cNvCxnSpPr>
            <a:stCxn xmlns:a="http://schemas.openxmlformats.org/drawingml/2006/main" id="9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8111490" y="2101692"/>
            <a:ext cx="350520" cy="111299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2" name="U09-DG-044-leader_3"/>
          <p:cNvCxnSpPr>
            <a:stCxn xmlns:a="http://schemas.openxmlformats.org/drawingml/2006/main" id="10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028950" y="3214688"/>
            <a:ext cx="350520" cy="142541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3" name="U09-DG-044-leader_4"/>
          <p:cNvCxnSpPr>
            <a:stCxn xmlns:a="http://schemas.openxmlformats.org/drawingml/2006/main" id="11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 flipV="1">
            <a:off x="8111490" y="3214688"/>
            <a:ext cx="350520" cy="142541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U09-DG-044-visual-alt" descr="U09-DG-044, candidata para diagram-generation. La composición permite reconocer que menor fracción transmitida corresponde a mayor r.">
            <a:extLst xmlns:a="http://schemas.openxmlformats.org/drawingml/2006/main">
              <a:ext uri="{FF2B5EF4-FFF2-40B4-BE49-F238E27FC236}">
                <a16:creationId xmlns:a16="http://schemas.microsoft.com/office/drawing/2014/main" id="{F46A6633-B2EB-4AB6-A7ED-44C36CD5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9470" y="2707005"/>
            <a:ext cx="4732020" cy="1015365"/>
          </a:xfrm>
          <a:prstGeom xmlns:a="http://schemas.openxmlformats.org/drawingml/2006/main" prst="roundRect">
            <a:avLst>
              <a:gd name="adj" fmla="val 65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7" name="U09-DG-044-equation-text">
            <a:extLst xmlns:a="http://schemas.openxmlformats.org/drawingml/2006/main">
              <a:ext uri="{FF2B5EF4-FFF2-40B4-BE49-F238E27FC236}">
                <a16:creationId xmlns:a16="http://schemas.microsoft.com/office/drawing/2014/main" id="{E4D52ED2-4123-46EE-845E-DC5C38D1B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830830"/>
            <a:ext cx="4389120" cy="767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91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691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R=10 log10(1/τₑ)</a:t>
            </a:r>
          </a:p>
        </p:txBody>
      </p:sp>
      <p:sp>
        <p:nvSpPr>
          <p:cNvPr id="18" name="U09-DG-044-callout_1-box">
            <a:extLst xmlns:a="http://schemas.openxmlformats.org/drawingml/2006/main">
              <a:ext uri="{FF2B5EF4-FFF2-40B4-BE49-F238E27FC236}">
                <a16:creationId xmlns:a16="http://schemas.microsoft.com/office/drawing/2014/main" id="{DF25369E-24E4-480E-9B6F-A5F2F3F3F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2588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9" name="U09-DG-044-callout_1-text">
            <a:extLst xmlns:a="http://schemas.openxmlformats.org/drawingml/2006/main">
              <a:ext uri="{FF2B5EF4-FFF2-40B4-BE49-F238E27FC236}">
                <a16:creationId xmlns:a16="http://schemas.microsoft.com/office/drawing/2014/main" id="{2B1332FD-3160-4587-B00C-07F33675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76413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τₑ: fracción</a:t>
            </a:r>
          </a:p>
        </p:txBody>
      </p:sp>
      <p:sp>
        <p:nvSpPr>
          <p:cNvPr id="20" name="U09-DG-044-callout_2-box">
            <a:extLst xmlns:a="http://schemas.openxmlformats.org/drawingml/2006/main">
              <a:ext uri="{FF2B5EF4-FFF2-40B4-BE49-F238E27FC236}">
                <a16:creationId xmlns:a16="http://schemas.microsoft.com/office/drawing/2014/main" id="{7374038D-5EB1-44D6-8612-05132CF8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1652588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1" name="U09-DG-044-callout_2-text">
            <a:extLst xmlns:a="http://schemas.openxmlformats.org/drawingml/2006/main">
              <a:ext uri="{FF2B5EF4-FFF2-40B4-BE49-F238E27FC236}">
                <a16:creationId xmlns:a16="http://schemas.microsoft.com/office/drawing/2014/main" id="{7489AFFC-26A2-46E7-A4B3-1D0605F87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3460" y="1776413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R: índice en dB</a:t>
            </a:r>
          </a:p>
        </p:txBody>
      </p:sp>
      <p:sp>
        <p:nvSpPr>
          <p:cNvPr id="22" name="U09-DG-044-callout_3-box">
            <a:extLst xmlns:a="http://schemas.openxmlformats.org/drawingml/2006/main">
              <a:ext uri="{FF2B5EF4-FFF2-40B4-BE49-F238E27FC236}">
                <a16:creationId xmlns:a16="http://schemas.microsoft.com/office/drawing/2014/main" id="{80791F1F-E355-450C-A5CA-51EA82D9C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3" name="U09-DG-044-callout_3-text">
            <a:extLst xmlns:a="http://schemas.openxmlformats.org/drawingml/2006/main">
              <a:ext uri="{FF2B5EF4-FFF2-40B4-BE49-F238E27FC236}">
                <a16:creationId xmlns:a16="http://schemas.microsoft.com/office/drawing/2014/main" id="{F502C1B8-F40B-4D80-ABBF-2549E76C6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14825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Escala logarítmica</a:t>
            </a:r>
          </a:p>
        </p:txBody>
      </p:sp>
      <p:sp>
        <p:nvSpPr>
          <p:cNvPr id="24" name="U09-DG-044-callout_4-box">
            <a:extLst xmlns:a="http://schemas.openxmlformats.org/drawingml/2006/main">
              <a:ext uri="{FF2B5EF4-FFF2-40B4-BE49-F238E27FC236}">
                <a16:creationId xmlns:a16="http://schemas.microsoft.com/office/drawing/2014/main" id="{E2D83346-8BA5-4333-9C7C-B05351E0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4191000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5" name="U09-DG-044-callout_4-text">
            <a:extLst xmlns:a="http://schemas.openxmlformats.org/drawingml/2006/main">
              <a:ext uri="{FF2B5EF4-FFF2-40B4-BE49-F238E27FC236}">
                <a16:creationId xmlns:a16="http://schemas.microsoft.com/office/drawing/2014/main" id="{B3C062BA-956C-45C7-B901-6F0D8D41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3460" y="4314825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0,01 → 20 dB</a:t>
            </a:r>
          </a:p>
        </p:txBody>
      </p:sp>
      <p:sp>
        <p:nvSpPr>
          <p:cNvPr id="26" name="caption">
            <a:extLst xmlns:a="http://schemas.openxmlformats.org/drawingml/2006/main">
              <a:ext uri="{FF2B5EF4-FFF2-40B4-BE49-F238E27FC236}">
                <a16:creationId xmlns:a16="http://schemas.microsoft.com/office/drawing/2014/main" id="{5317DEF7-B177-4947-BB27-251DA8EF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menor fracción transmitida corresponde a mayor r. · Producción propia UCASAL · U09-DG-044</a:t>
            </a:r>
          </a:p>
        </p:txBody>
      </p:sp>
      <p:sp>
        <p:nvSpPr>
          <p:cNvPr id="27" name="unit-footer">
            <a:extLst xmlns:a="http://schemas.openxmlformats.org/drawingml/2006/main">
              <a:ext uri="{FF2B5EF4-FFF2-40B4-BE49-F238E27FC236}">
                <a16:creationId xmlns:a16="http://schemas.microsoft.com/office/drawing/2014/main" id="{0B7ACFA5-07B3-4607-B2DA-5E300067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Física Acústica · Unidad 9</a:t>
            </a:r>
          </a:p>
        </p:txBody>
      </p:sp>
      <p:sp>
        <p:nvSpPr>
          <p:cNvPr id="2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3C70F86-DE7F-4D8F-81DC-4E9ECF38C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58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op-rail-1">
            <a:extLst xmlns:a="http://schemas.openxmlformats.org/drawingml/2006/main">
              <a:ext uri="{FF2B5EF4-FFF2-40B4-BE49-F238E27FC236}">
                <a16:creationId xmlns:a16="http://schemas.microsoft.com/office/drawing/2014/main" id="{9873937C-C084-42B6-92D3-628FE69E1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D4897322-825A-4F59-A6AC-483D2659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39C46646-FC60-4123-A37A-4C05F3435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C6CF992-2252-4AC9-ACC5-C6FF59DD4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3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18842FE-0B57-46C0-B4F5-D4416DBE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escala lineal se vuelve logarítmica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95C711D-6E66-49E0-BCA2-2CE38AAC7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Aislamiento y ley de masas · Gráfico cuantitativo</a:t>
            </a:r>
          </a:p>
        </p:txBody>
      </p:sp>
      <p:pic>
        <p:nvPicPr>
          <p:cNvPr id="20" name="U09-CH-007-chart" descr="U09-CH-007 transmisión frente a índice. La composición permite reconocer que cada década menos de transmisión suma 10 db al índice ideal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0bc91e65ec4b5b">
            <a:extLst>
              <a:ext uri="{96DAC541-7B7A-43D3-8B79-37D633B846F1}">
                <asvg:svgBlip xmlns:asvg="http://schemas.microsoft.com/office/drawing/2016/SVG/main" r:embed="R9a1b55fa219e483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0550" y="1476375"/>
            <a:ext cx="7048500" cy="4238625"/>
          </a:xfrm>
          <a:prstGeom xmlns:a="http://schemas.openxmlformats.org/drawingml/2006/main" prst="rect">
            <a:avLst/>
          </a:prstGeom>
        </p:spPr>
      </p:pic>
      <p:sp>
        <p:nvSpPr>
          <p:cNvPr id="8" name="chart-reading-box">
            <a:extLst xmlns:a="http://schemas.openxmlformats.org/drawingml/2006/main">
              <a:ext uri="{FF2B5EF4-FFF2-40B4-BE49-F238E27FC236}">
                <a16:creationId xmlns:a16="http://schemas.microsoft.com/office/drawing/2014/main" id="{BE5B47F0-2D45-4E08-A86A-9773226E8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809750"/>
            <a:ext cx="3429000" cy="2762250"/>
          </a:xfrm>
          <a:prstGeom xmlns:a="http://schemas.openxmlformats.org/drawingml/2006/main" prst="roundRect">
            <a:avLst>
              <a:gd name="adj" fmla="val 206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9525">
            <a:solidFill>
              <a:srgbClr val="D9DCE0"/>
            </a:solidFill>
            <a:prstDash val="solid"/>
          </a:ln>
        </p:spPr>
      </p:sp>
      <p:sp>
        <p:nvSpPr>
          <p:cNvPr id="9" name="chart-reading-title">
            <a:extLst xmlns:a="http://schemas.openxmlformats.org/drawingml/2006/main">
              <a:ext uri="{FF2B5EF4-FFF2-40B4-BE49-F238E27FC236}">
                <a16:creationId xmlns:a16="http://schemas.microsoft.com/office/drawing/2014/main" id="{0EE51447-B78A-4721-AD53-634B32E98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95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Qué observar</a:t>
            </a:r>
          </a:p>
        </p:txBody>
      </p:sp>
      <p:sp>
        <p:nvSpPr>
          <p:cNvPr id="10" name="chart-reading-body">
            <a:extLst xmlns:a="http://schemas.openxmlformats.org/drawingml/2006/main">
              <a:ext uri="{FF2B5EF4-FFF2-40B4-BE49-F238E27FC236}">
                <a16:creationId xmlns:a16="http://schemas.microsoft.com/office/drawing/2014/main" id="{63689EBD-0953-4C20-AEAC-6E86D7A10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47950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Cada década menos de transmisión suma 10 dB al índice ideal. Curva o eje doble con τₑ de 1 a 10⁻⁶ y R correspondiente.</a:t>
            </a:r>
          </a:p>
        </p:txBody>
      </p:sp>
      <p:sp>
        <p:nvSpPr>
          <p:cNvPr id="11" name="caption">
            <a:extLst xmlns:a="http://schemas.openxmlformats.org/drawingml/2006/main">
              <a:ext uri="{FF2B5EF4-FFF2-40B4-BE49-F238E27FC236}">
                <a16:creationId xmlns:a16="http://schemas.microsoft.com/office/drawing/2014/main" id="{F1554F72-FC2B-465F-A09C-91C054A0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Lectura propuesta: cada década menos de transmisión suma 10 db al índice ideal. · Producción propia UCASAL · U09-CH-007</a:t>
            </a:r>
          </a:p>
        </p:txBody>
      </p:sp>
      <p:sp>
        <p:nvSpPr>
          <p:cNvPr id="12" name="unit-footer">
            <a:extLst xmlns:a="http://schemas.openxmlformats.org/drawingml/2006/main">
              <a:ext uri="{FF2B5EF4-FFF2-40B4-BE49-F238E27FC236}">
                <a16:creationId xmlns:a16="http://schemas.microsoft.com/office/drawing/2014/main" id="{80C97875-90BD-4999-8098-B2B22EAAD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Física Acústica · Unidad 9</a:t>
            </a:r>
          </a:p>
        </p:txBody>
      </p:sp>
      <p:sp>
        <p:nvSpPr>
          <p:cNvPr id="1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41A1085-B539-4857-A086-657C2FE5D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59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op-rail-1">
            <a:extLst xmlns:a="http://schemas.openxmlformats.org/drawingml/2006/main">
              <a:ext uri="{FF2B5EF4-FFF2-40B4-BE49-F238E27FC236}">
                <a16:creationId xmlns:a16="http://schemas.microsoft.com/office/drawing/2014/main" id="{AB04444A-72C3-4CC3-9EA8-9A900947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083E4B8E-857C-494E-959C-888350CE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14161DE6-5EE0-4B6D-8E67-50CFBE2C8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55383A4A-1ACC-4689-891C-EB080ED16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3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88271E-CA82-426E-9048-6EEC7D81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sonido encuentra más de un camino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AC524CD-AC5B-436E-BD74-22904F0B3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Aislamiento y ley de masas · Diagrama de rutas</a:t>
            </a:r>
          </a:p>
        </p:txBody>
      </p:sp>
      <p:sp>
        <p:nvSpPr>
          <p:cNvPr id="7" name="U09-DG-045-branch_source-anchor">
            <a:extLst xmlns:a="http://schemas.openxmlformats.org/drawingml/2006/main">
              <a:ext uri="{FF2B5EF4-FFF2-40B4-BE49-F238E27FC236}">
                <a16:creationId xmlns:a16="http://schemas.microsoft.com/office/drawing/2014/main" id="{7FCF5CD1-7907-4B72-A63E-2D54C2E77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953"/>
            <a:ext cx="236601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45-branch_1-anchor">
            <a:extLst xmlns:a="http://schemas.openxmlformats.org/drawingml/2006/main">
              <a:ext uri="{FF2B5EF4-FFF2-40B4-BE49-F238E27FC236}">
                <a16:creationId xmlns:a16="http://schemas.microsoft.com/office/drawing/2014/main" id="{D029A6B8-7BC4-4FD0-8F9C-8CCA9D50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69041"/>
            <a:ext cx="3680460" cy="64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45-branch_2-anchor">
            <a:extLst xmlns:a="http://schemas.openxmlformats.org/drawingml/2006/main">
              <a:ext uri="{FF2B5EF4-FFF2-40B4-BE49-F238E27FC236}">
                <a16:creationId xmlns:a16="http://schemas.microsoft.com/office/drawing/2014/main" id="{B7A097A4-4384-4E96-B6BD-5C8DA66A0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50091"/>
            <a:ext cx="3680460" cy="64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45-branch_3-anchor">
            <a:extLst xmlns:a="http://schemas.openxmlformats.org/drawingml/2006/main">
              <a:ext uri="{FF2B5EF4-FFF2-40B4-BE49-F238E27FC236}">
                <a16:creationId xmlns:a16="http://schemas.microsoft.com/office/drawing/2014/main" id="{EC0825E3-B9E4-4BF1-9184-9AC697A4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31141"/>
            <a:ext cx="3680460" cy="64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45-branch_4-anchor">
            <a:extLst xmlns:a="http://schemas.openxmlformats.org/drawingml/2006/main">
              <a:ext uri="{FF2B5EF4-FFF2-40B4-BE49-F238E27FC236}">
                <a16:creationId xmlns:a16="http://schemas.microsoft.com/office/drawing/2014/main" id="{C7AFD37E-95DA-48EC-8EFA-5E82F543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12191"/>
            <a:ext cx="3680460" cy="64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U09-DG-045-branch_5-anchor">
            <a:extLst xmlns:a="http://schemas.openxmlformats.org/drawingml/2006/main">
              <a:ext uri="{FF2B5EF4-FFF2-40B4-BE49-F238E27FC236}">
                <a16:creationId xmlns:a16="http://schemas.microsoft.com/office/drawing/2014/main" id="{6443561B-2C6B-48C6-9DAF-036377BB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93241"/>
            <a:ext cx="3680460" cy="64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5" name="U09-DG-045-branch_edge_1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204210" y="1789272"/>
            <a:ext cx="2891790" cy="142541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6" name="U09-DG-045-branch_edge_2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3204210" y="2570322"/>
            <a:ext cx="2891790" cy="64436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7" name="U09-DG-045-branch_edge_3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204210" y="3214688"/>
            <a:ext cx="2891790" cy="13668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8" name="U09-DG-045-branch_edge_4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204210" y="3214688"/>
            <a:ext cx="2891790" cy="91773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9" name="U09-DG-045-branch_edge_5"/>
          <p:cNvCxnSpPr>
            <a:stCxn xmlns:a="http://schemas.openxmlformats.org/drawingml/2006/main" id="7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204210" y="3214688"/>
            <a:ext cx="2891790" cy="169878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8" name="U09-DG-045-visual-alt" descr="U09-DG-045, candidata para diagram-generation. La composición permite reconocer que el desempeño del conjunto puede quedar limitado por una ruta débil.">
            <a:extLst xmlns:a="http://schemas.openxmlformats.org/drawingml/2006/main">
              <a:ext uri="{FF2B5EF4-FFF2-40B4-BE49-F238E27FC236}">
                <a16:creationId xmlns:a16="http://schemas.microsoft.com/office/drawing/2014/main" id="{22F118AD-0954-4856-912B-A5A9D722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953"/>
            <a:ext cx="236601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9" name="U09-DG-045-branch_source-text">
            <a:extLst xmlns:a="http://schemas.openxmlformats.org/drawingml/2006/main">
              <a:ext uri="{FF2B5EF4-FFF2-40B4-BE49-F238E27FC236}">
                <a16:creationId xmlns:a16="http://schemas.microsoft.com/office/drawing/2014/main" id="{8A53DBF0-06DD-4A96-80FF-30DBF1CB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91778"/>
            <a:ext cx="202311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Rutas entre recintos</a:t>
            </a:r>
          </a:p>
        </p:txBody>
      </p:sp>
      <p:sp>
        <p:nvSpPr>
          <p:cNvPr id="20" name="U09-DG-045-branch_1-box">
            <a:extLst xmlns:a="http://schemas.openxmlformats.org/drawingml/2006/main">
              <a:ext uri="{FF2B5EF4-FFF2-40B4-BE49-F238E27FC236}">
                <a16:creationId xmlns:a16="http://schemas.microsoft.com/office/drawing/2014/main" id="{06A25D72-B613-4B93-944F-8F5DB31C4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69041"/>
            <a:ext cx="3680460" cy="640461"/>
          </a:xfrm>
          <a:prstGeom xmlns:a="http://schemas.openxmlformats.org/drawingml/2006/main" prst="roundRect">
            <a:avLst>
              <a:gd name="adj" fmla="val 10410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1" name="U09-DG-045-branch_1-text">
            <a:extLst xmlns:a="http://schemas.openxmlformats.org/drawingml/2006/main">
              <a:ext uri="{FF2B5EF4-FFF2-40B4-BE49-F238E27FC236}">
                <a16:creationId xmlns:a16="http://schemas.microsoft.com/office/drawing/2014/main" id="{3AADC9A3-B90E-4868-8812-A1073955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592866"/>
            <a:ext cx="3337560" cy="3928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Pared</a:t>
            </a:r>
          </a:p>
        </p:txBody>
      </p:sp>
      <p:sp>
        <p:nvSpPr>
          <p:cNvPr id="22" name="U09-DG-045-branch_2-box">
            <a:extLst xmlns:a="http://schemas.openxmlformats.org/drawingml/2006/main">
              <a:ext uri="{FF2B5EF4-FFF2-40B4-BE49-F238E27FC236}">
                <a16:creationId xmlns:a16="http://schemas.microsoft.com/office/drawing/2014/main" id="{39B19F6E-9D86-4FE2-A2AE-0F1F2E2DD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50091"/>
            <a:ext cx="3680460" cy="640461"/>
          </a:xfrm>
          <a:prstGeom xmlns:a="http://schemas.openxmlformats.org/drawingml/2006/main" prst="roundRect">
            <a:avLst>
              <a:gd name="adj" fmla="val 1041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3" name="U09-DG-045-branch_2-text">
            <a:extLst xmlns:a="http://schemas.openxmlformats.org/drawingml/2006/main">
              <a:ext uri="{FF2B5EF4-FFF2-40B4-BE49-F238E27FC236}">
                <a16:creationId xmlns:a16="http://schemas.microsoft.com/office/drawing/2014/main" id="{DF809731-34A0-47BA-948A-34B5E4A3B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73916"/>
            <a:ext cx="3337560" cy="3928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Puerta y junta</a:t>
            </a:r>
          </a:p>
        </p:txBody>
      </p:sp>
      <p:sp>
        <p:nvSpPr>
          <p:cNvPr id="24" name="U09-DG-045-branch_3-box">
            <a:extLst xmlns:a="http://schemas.openxmlformats.org/drawingml/2006/main">
              <a:ext uri="{FF2B5EF4-FFF2-40B4-BE49-F238E27FC236}">
                <a16:creationId xmlns:a16="http://schemas.microsoft.com/office/drawing/2014/main" id="{3414886F-8220-4169-9374-D15F6186C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31141"/>
            <a:ext cx="3680460" cy="640461"/>
          </a:xfrm>
          <a:prstGeom xmlns:a="http://schemas.openxmlformats.org/drawingml/2006/main" prst="roundRect">
            <a:avLst>
              <a:gd name="adj" fmla="val 1041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5" name="U09-DG-045-branch_3-text">
            <a:extLst xmlns:a="http://schemas.openxmlformats.org/drawingml/2006/main">
              <a:ext uri="{FF2B5EF4-FFF2-40B4-BE49-F238E27FC236}">
                <a16:creationId xmlns:a16="http://schemas.microsoft.com/office/drawing/2014/main" id="{63FF509E-8FF5-42F4-B3A3-092222EE8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54966"/>
            <a:ext cx="3337560" cy="3928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Ventilación</a:t>
            </a:r>
          </a:p>
        </p:txBody>
      </p:sp>
      <p:sp>
        <p:nvSpPr>
          <p:cNvPr id="26" name="U09-DG-045-branch_4-box">
            <a:extLst xmlns:a="http://schemas.openxmlformats.org/drawingml/2006/main">
              <a:ext uri="{FF2B5EF4-FFF2-40B4-BE49-F238E27FC236}">
                <a16:creationId xmlns:a16="http://schemas.microsoft.com/office/drawing/2014/main" id="{8350FF20-49CB-4837-BD67-9C76DEE99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12191"/>
            <a:ext cx="3680460" cy="640461"/>
          </a:xfrm>
          <a:prstGeom xmlns:a="http://schemas.openxmlformats.org/drawingml/2006/main" prst="roundRect">
            <a:avLst>
              <a:gd name="adj" fmla="val 1041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7" name="U09-DG-045-branch_4-text">
            <a:extLst xmlns:a="http://schemas.openxmlformats.org/drawingml/2006/main">
              <a:ext uri="{FF2B5EF4-FFF2-40B4-BE49-F238E27FC236}">
                <a16:creationId xmlns:a16="http://schemas.microsoft.com/office/drawing/2014/main" id="{6D494EB4-9CCA-4F6A-9090-2616CDFE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36016"/>
            <a:ext cx="3337560" cy="3928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Estructura</a:t>
            </a:r>
          </a:p>
        </p:txBody>
      </p:sp>
      <p:sp>
        <p:nvSpPr>
          <p:cNvPr id="28" name="U09-DG-045-branch_5-box">
            <a:extLst xmlns:a="http://schemas.openxmlformats.org/drawingml/2006/main">
              <a:ext uri="{FF2B5EF4-FFF2-40B4-BE49-F238E27FC236}">
                <a16:creationId xmlns:a16="http://schemas.microsoft.com/office/drawing/2014/main" id="{B68D5A10-0D1F-44DA-BB16-B7B865AEA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93241"/>
            <a:ext cx="3680460" cy="640461"/>
          </a:xfrm>
          <a:prstGeom xmlns:a="http://schemas.openxmlformats.org/drawingml/2006/main" prst="roundRect">
            <a:avLst>
              <a:gd name="adj" fmla="val 10410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9" name="U09-DG-045-branch_5-text">
            <a:extLst xmlns:a="http://schemas.openxmlformats.org/drawingml/2006/main">
              <a:ext uri="{FF2B5EF4-FFF2-40B4-BE49-F238E27FC236}">
                <a16:creationId xmlns:a16="http://schemas.microsoft.com/office/drawing/2014/main" id="{ACF96A6F-3064-4473-AFC6-2E2B03C4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17066"/>
            <a:ext cx="3337560" cy="3928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Flanqueo</a:t>
            </a:r>
          </a:p>
        </p:txBody>
      </p:sp>
      <p:sp>
        <p:nvSpPr>
          <p:cNvPr id="30" name="caption">
            <a:extLst xmlns:a="http://schemas.openxmlformats.org/drawingml/2006/main">
              <a:ext uri="{FF2B5EF4-FFF2-40B4-BE49-F238E27FC236}">
                <a16:creationId xmlns:a16="http://schemas.microsoft.com/office/drawing/2014/main" id="{0225E601-CB68-4972-89D1-76B47C78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el desempeño del conjunto puede quedar limitado por una ruta débil. · Producción propia UCASAL · U09-DG-045</a:t>
            </a:r>
          </a:p>
        </p:txBody>
      </p:sp>
      <p:sp>
        <p:nvSpPr>
          <p:cNvPr id="31" name="unit-footer">
            <a:extLst xmlns:a="http://schemas.openxmlformats.org/drawingml/2006/main">
              <a:ext uri="{FF2B5EF4-FFF2-40B4-BE49-F238E27FC236}">
                <a16:creationId xmlns:a16="http://schemas.microsoft.com/office/drawing/2014/main" id="{BFB0D6A6-5D42-4049-A515-A0D07CAFC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Física Acústica · Unidad 9</a:t>
            </a:r>
          </a:p>
        </p:txBody>
      </p:sp>
      <p:sp>
        <p:nvSpPr>
          <p:cNvPr id="3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189C176-CE43-444C-82EC-D248C132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60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op-rail-1">
            <a:extLst xmlns:a="http://schemas.openxmlformats.org/drawingml/2006/main">
              <a:ext uri="{FF2B5EF4-FFF2-40B4-BE49-F238E27FC236}">
                <a16:creationId xmlns:a16="http://schemas.microsoft.com/office/drawing/2014/main" id="{0E76C3AD-89FF-4686-8EFD-2434F5F7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47BDCE55-B8A7-454A-BF7F-B577D1F2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85832229-FB38-45B5-BAF5-B402C015D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A0E48DD7-A8E7-4A6D-883C-84A7E19F7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3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7298C0-8E66-4A6E-A90C-2A3A061B6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Acondicionar, aislar e insonorizar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082F4EB-D551-4974-97BC-22DE878D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Aislamiento y ley de masas · Comparación</a:t>
            </a:r>
          </a:p>
        </p:txBody>
      </p:sp>
      <p:sp>
        <p:nvSpPr>
          <p:cNvPr id="7" name="U09-DG-046-concept_1-anchor">
            <a:extLst xmlns:a="http://schemas.openxmlformats.org/drawingml/2006/main">
              <a:ext uri="{FF2B5EF4-FFF2-40B4-BE49-F238E27FC236}">
                <a16:creationId xmlns:a16="http://schemas.microsoft.com/office/drawing/2014/main" id="{319291C8-836A-49CF-9298-549AF03F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46-concept_2-anchor">
            <a:extLst xmlns:a="http://schemas.openxmlformats.org/drawingml/2006/main">
              <a:ext uri="{FF2B5EF4-FFF2-40B4-BE49-F238E27FC236}">
                <a16:creationId xmlns:a16="http://schemas.microsoft.com/office/drawing/2014/main" id="{87982272-00FE-4701-AB0D-E206B22C1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8400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46-concept_3-anchor">
            <a:extLst xmlns:a="http://schemas.openxmlformats.org/drawingml/2006/main">
              <a:ext uri="{FF2B5EF4-FFF2-40B4-BE49-F238E27FC236}">
                <a16:creationId xmlns:a16="http://schemas.microsoft.com/office/drawing/2014/main" id="{F374CDA7-CCF7-489B-82ED-21AE6423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8400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46-concept_4-anchor">
            <a:extLst xmlns:a="http://schemas.openxmlformats.org/drawingml/2006/main">
              <a:ext uri="{FF2B5EF4-FFF2-40B4-BE49-F238E27FC236}">
                <a16:creationId xmlns:a16="http://schemas.microsoft.com/office/drawing/2014/main" id="{3BDD8A95-231D-4F01-A0EA-B1F06D9F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46-concept_5-anchor">
            <a:extLst xmlns:a="http://schemas.openxmlformats.org/drawingml/2006/main">
              <a:ext uri="{FF2B5EF4-FFF2-40B4-BE49-F238E27FC236}">
                <a16:creationId xmlns:a16="http://schemas.microsoft.com/office/drawing/2014/main" id="{3A977B9D-AA4E-4C99-82E7-B16C27C4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3573971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U09-DG-046-concept_6-anchor">
            <a:extLst xmlns:a="http://schemas.openxmlformats.org/drawingml/2006/main">
              <a:ext uri="{FF2B5EF4-FFF2-40B4-BE49-F238E27FC236}">
                <a16:creationId xmlns:a16="http://schemas.microsoft.com/office/drawing/2014/main" id="{4D276829-2790-4503-87FD-E209A96C7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3573971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U09-DG-046-visual-alt" descr="U09-DG-046, candidata para diagram-generation. La composición permite reconocer que acondicionar modifica el campo interior; aislar limita transmisión; insonorizar es un objetivo general.">
            <a:extLst xmlns:a="http://schemas.openxmlformats.org/drawingml/2006/main">
              <a:ext uri="{FF2B5EF4-FFF2-40B4-BE49-F238E27FC236}">
                <a16:creationId xmlns:a16="http://schemas.microsoft.com/office/drawing/2014/main" id="{B8C1F5F3-7923-4D0B-96B5-02B880477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4" name="U09-DG-046-concept_1-text">
            <a:extLst xmlns:a="http://schemas.openxmlformats.org/drawingml/2006/main">
              <a:ext uri="{FF2B5EF4-FFF2-40B4-BE49-F238E27FC236}">
                <a16:creationId xmlns:a16="http://schemas.microsoft.com/office/drawing/2014/main" id="{9B2276A6-5A7C-4B25-80D1-6AAD37E3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638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Acondicionar</a:t>
            </a:r>
          </a:p>
        </p:txBody>
      </p:sp>
      <p:sp>
        <p:nvSpPr>
          <p:cNvPr id="15" name="U09-DG-046-concept_2-box">
            <a:extLst xmlns:a="http://schemas.openxmlformats.org/drawingml/2006/main">
              <a:ext uri="{FF2B5EF4-FFF2-40B4-BE49-F238E27FC236}">
                <a16:creationId xmlns:a16="http://schemas.microsoft.com/office/drawing/2014/main" id="{4855C4D2-FFBD-4D20-A29B-A36462674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8400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6" name="U09-DG-046-concept_2-text">
            <a:extLst xmlns:a="http://schemas.openxmlformats.org/drawingml/2006/main">
              <a:ext uri="{FF2B5EF4-FFF2-40B4-BE49-F238E27FC236}">
                <a16:creationId xmlns:a16="http://schemas.microsoft.com/office/drawing/2014/main" id="{84BA768E-8479-4B09-811D-43D0FA0A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19638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Aislar</a:t>
            </a:r>
          </a:p>
        </p:txBody>
      </p:sp>
      <p:sp>
        <p:nvSpPr>
          <p:cNvPr id="17" name="U09-DG-046-concept_3-box">
            <a:extLst xmlns:a="http://schemas.openxmlformats.org/drawingml/2006/main">
              <a:ext uri="{FF2B5EF4-FFF2-40B4-BE49-F238E27FC236}">
                <a16:creationId xmlns:a16="http://schemas.microsoft.com/office/drawing/2014/main" id="{FB0735BE-9B72-4DD1-9F08-CADB5A61E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8400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8" name="U09-DG-046-concept_3-text">
            <a:extLst xmlns:a="http://schemas.openxmlformats.org/drawingml/2006/main">
              <a:ext uri="{FF2B5EF4-FFF2-40B4-BE49-F238E27FC236}">
                <a16:creationId xmlns:a16="http://schemas.microsoft.com/office/drawing/2014/main" id="{CA0D65C0-2AA0-488C-A32E-158A3B71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266" y="19638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Insonorizar</a:t>
            </a:r>
          </a:p>
        </p:txBody>
      </p:sp>
      <p:sp>
        <p:nvSpPr>
          <p:cNvPr id="19" name="U09-DG-046-concept_4-box">
            <a:extLst xmlns:a="http://schemas.openxmlformats.org/drawingml/2006/main">
              <a:ext uri="{FF2B5EF4-FFF2-40B4-BE49-F238E27FC236}">
                <a16:creationId xmlns:a16="http://schemas.microsoft.com/office/drawing/2014/main" id="{90BD85A1-E73F-4D22-9E4D-E115D2542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0" name="U09-DG-046-concept_4-text">
            <a:extLst xmlns:a="http://schemas.openxmlformats.org/drawingml/2006/main">
              <a:ext uri="{FF2B5EF4-FFF2-40B4-BE49-F238E27FC236}">
                <a16:creationId xmlns:a16="http://schemas.microsoft.com/office/drawing/2014/main" id="{C58B4946-AD1D-4857-9C9E-9ED072C75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7796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Mecanismo</a:t>
            </a:r>
          </a:p>
        </p:txBody>
      </p:sp>
      <p:sp>
        <p:nvSpPr>
          <p:cNvPr id="21" name="U09-DG-046-concept_5-box">
            <a:extLst xmlns:a="http://schemas.openxmlformats.org/drawingml/2006/main">
              <a:ext uri="{FF2B5EF4-FFF2-40B4-BE49-F238E27FC236}">
                <a16:creationId xmlns:a16="http://schemas.microsoft.com/office/drawing/2014/main" id="{0C2BF2F4-0B33-44BA-9C1B-BA39632AC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3573971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2" name="U09-DG-046-concept_5-text">
            <a:extLst xmlns:a="http://schemas.openxmlformats.org/drawingml/2006/main">
              <a:ext uri="{FF2B5EF4-FFF2-40B4-BE49-F238E27FC236}">
                <a16:creationId xmlns:a16="http://schemas.microsoft.com/office/drawing/2014/main" id="{39D929A1-122F-41A5-954D-AD0B1A18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3697796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Magnitud</a:t>
            </a:r>
          </a:p>
        </p:txBody>
      </p:sp>
      <p:sp>
        <p:nvSpPr>
          <p:cNvPr id="23" name="U09-DG-046-concept_6-box">
            <a:extLst xmlns:a="http://schemas.openxmlformats.org/drawingml/2006/main">
              <a:ext uri="{FF2B5EF4-FFF2-40B4-BE49-F238E27FC236}">
                <a16:creationId xmlns:a16="http://schemas.microsoft.com/office/drawing/2014/main" id="{A841006F-2222-4E3F-9021-E64EA6EF4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3573971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4" name="U09-DG-046-concept_6-text">
            <a:extLst xmlns:a="http://schemas.openxmlformats.org/drawingml/2006/main">
              <a:ext uri="{FF2B5EF4-FFF2-40B4-BE49-F238E27FC236}">
                <a16:creationId xmlns:a16="http://schemas.microsoft.com/office/drawing/2014/main" id="{63B7394D-A5BA-45D3-9688-C79A75A4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266" y="3697796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Verificación</a:t>
            </a:r>
          </a:p>
        </p:txBody>
      </p:sp>
      <p:sp>
        <p:nvSpPr>
          <p:cNvPr id="25" name="caption">
            <a:extLst xmlns:a="http://schemas.openxmlformats.org/drawingml/2006/main">
              <a:ext uri="{FF2B5EF4-FFF2-40B4-BE49-F238E27FC236}">
                <a16:creationId xmlns:a16="http://schemas.microsoft.com/office/drawing/2014/main" id="{F11F70C4-6B99-4618-8FE2-74AB23BD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acondicionar modifica el campo interior; aislar limita transmisión; insonorizar es un objetivo general. · Producción propia UCASAL · U09-DG-046</a:t>
            </a:r>
          </a:p>
        </p:txBody>
      </p:sp>
      <p:sp>
        <p:nvSpPr>
          <p:cNvPr id="26" name="unit-footer">
            <a:extLst xmlns:a="http://schemas.openxmlformats.org/drawingml/2006/main">
              <a:ext uri="{FF2B5EF4-FFF2-40B4-BE49-F238E27FC236}">
                <a16:creationId xmlns:a16="http://schemas.microsoft.com/office/drawing/2014/main" id="{D66C93ED-DD87-4AEE-8572-2412DCC79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Física Acústica · Unidad 9</a:t>
            </a:r>
          </a:p>
        </p:txBody>
      </p:sp>
      <p:sp>
        <p:nvSpPr>
          <p:cNvPr id="2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29EC99D-325A-4261-ACF4-9AA9C7644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61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op-rail-1">
            <a:extLst xmlns:a="http://schemas.openxmlformats.org/drawingml/2006/main">
              <a:ext uri="{FF2B5EF4-FFF2-40B4-BE49-F238E27FC236}">
                <a16:creationId xmlns:a16="http://schemas.microsoft.com/office/drawing/2014/main" id="{C15CB859-B3BB-41AC-8272-022D2B305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FAE6E83F-9846-482E-BA22-565D64786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2FF1E2C8-2979-4FE8-BBFA-DEED190E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CF4E1739-0542-4EE0-B5C8-99CA8368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3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EF416C0-E1BC-4E6C-89E3-154C28327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Masa superficial: masa por unidad de área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345AEB8-0B57-4F86-94BE-AAA27B657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Aislamiento y ley de masas · Concepto</a:t>
            </a:r>
          </a:p>
        </p:txBody>
      </p:sp>
      <p:sp>
        <p:nvSpPr>
          <p:cNvPr id="7" name="U09-DG-047-equation-anchor">
            <a:extLst xmlns:a="http://schemas.openxmlformats.org/drawingml/2006/main">
              <a:ext uri="{FF2B5EF4-FFF2-40B4-BE49-F238E27FC236}">
                <a16:creationId xmlns:a16="http://schemas.microsoft.com/office/drawing/2014/main" id="{3C568DE2-7FDB-407B-92F6-33DDC011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9470" y="2707005"/>
            <a:ext cx="4732020" cy="1015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47-callout_1-anchor">
            <a:extLst xmlns:a="http://schemas.openxmlformats.org/drawingml/2006/main">
              <a:ext uri="{FF2B5EF4-FFF2-40B4-BE49-F238E27FC236}">
                <a16:creationId xmlns:a16="http://schemas.microsoft.com/office/drawing/2014/main" id="{D8AA069D-B3F5-4F8C-9E25-CFA6C9C6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2588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47-callout_2-anchor">
            <a:extLst xmlns:a="http://schemas.openxmlformats.org/drawingml/2006/main">
              <a:ext uri="{FF2B5EF4-FFF2-40B4-BE49-F238E27FC236}">
                <a16:creationId xmlns:a16="http://schemas.microsoft.com/office/drawing/2014/main" id="{F4E6D13B-0480-439D-B5F3-EC1F4290A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1652588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47-callout_3-anchor">
            <a:extLst xmlns:a="http://schemas.openxmlformats.org/drawingml/2006/main">
              <a:ext uri="{FF2B5EF4-FFF2-40B4-BE49-F238E27FC236}">
                <a16:creationId xmlns:a16="http://schemas.microsoft.com/office/drawing/2014/main" id="{F7E7EC0C-2E00-4807-9F0E-F2972D07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47-callout_4-anchor">
            <a:extLst xmlns:a="http://schemas.openxmlformats.org/drawingml/2006/main">
              <a:ext uri="{FF2B5EF4-FFF2-40B4-BE49-F238E27FC236}">
                <a16:creationId xmlns:a16="http://schemas.microsoft.com/office/drawing/2014/main" id="{6193D460-AF46-4014-A0F1-850547577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4191000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0" name="U09-DG-047-leader_1"/>
          <p:cNvCxnSpPr>
            <a:stCxn xmlns:a="http://schemas.openxmlformats.org/drawingml/2006/main" id="8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28950" y="2101692"/>
            <a:ext cx="350520" cy="111299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1" name="U09-DG-047-leader_2"/>
          <p:cNvCxnSpPr>
            <a:stCxn xmlns:a="http://schemas.openxmlformats.org/drawingml/2006/main" id="9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8111490" y="2101692"/>
            <a:ext cx="350520" cy="111299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2" name="U09-DG-047-leader_3"/>
          <p:cNvCxnSpPr>
            <a:stCxn xmlns:a="http://schemas.openxmlformats.org/drawingml/2006/main" id="10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028950" y="3214688"/>
            <a:ext cx="350520" cy="142541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3" name="U09-DG-047-leader_4"/>
          <p:cNvCxnSpPr>
            <a:stCxn xmlns:a="http://schemas.openxmlformats.org/drawingml/2006/main" id="11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 flipV="1">
            <a:off x="8111490" y="3214688"/>
            <a:ext cx="350520" cy="142541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U09-DG-047-visual-alt" descr="U09-DG-047, candidata para diagram-generation. La composición permite reconocer que para una hoja simple ideal importa la masa superficial, no solo el material o el espesor por separado.">
            <a:extLst xmlns:a="http://schemas.openxmlformats.org/drawingml/2006/main">
              <a:ext uri="{FF2B5EF4-FFF2-40B4-BE49-F238E27FC236}">
                <a16:creationId xmlns:a16="http://schemas.microsoft.com/office/drawing/2014/main" id="{125CD346-CE55-4B2E-8F06-C8611E58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9470" y="2707005"/>
            <a:ext cx="4732020" cy="1015365"/>
          </a:xfrm>
          <a:prstGeom xmlns:a="http://schemas.openxmlformats.org/drawingml/2006/main" prst="roundRect">
            <a:avLst>
              <a:gd name="adj" fmla="val 65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7" name="U09-DG-047-equation-text">
            <a:extLst xmlns:a="http://schemas.openxmlformats.org/drawingml/2006/main">
              <a:ext uri="{FF2B5EF4-FFF2-40B4-BE49-F238E27FC236}">
                <a16:creationId xmlns:a16="http://schemas.microsoft.com/office/drawing/2014/main" id="{53532559-C5DA-45E5-B87E-9DF6C1727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830830"/>
            <a:ext cx="4389120" cy="767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91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691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mₛ=m/A</a:t>
            </a:r>
          </a:p>
        </p:txBody>
      </p:sp>
      <p:sp>
        <p:nvSpPr>
          <p:cNvPr id="18" name="U09-DG-047-callout_1-box">
            <a:extLst xmlns:a="http://schemas.openxmlformats.org/drawingml/2006/main">
              <a:ext uri="{FF2B5EF4-FFF2-40B4-BE49-F238E27FC236}">
                <a16:creationId xmlns:a16="http://schemas.microsoft.com/office/drawing/2014/main" id="{298EF512-06AC-4FA8-BE6D-05B0026E4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2588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9" name="U09-DG-047-callout_1-text">
            <a:extLst xmlns:a="http://schemas.openxmlformats.org/drawingml/2006/main">
              <a:ext uri="{FF2B5EF4-FFF2-40B4-BE49-F238E27FC236}">
                <a16:creationId xmlns:a16="http://schemas.microsoft.com/office/drawing/2014/main" id="{6279AF7B-0F09-4EDA-80F6-670B387A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76413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Paneles</a:t>
            </a:r>
          </a:p>
        </p:txBody>
      </p:sp>
      <p:sp>
        <p:nvSpPr>
          <p:cNvPr id="20" name="U09-DG-047-callout_2-box">
            <a:extLst xmlns:a="http://schemas.openxmlformats.org/drawingml/2006/main">
              <a:ext uri="{FF2B5EF4-FFF2-40B4-BE49-F238E27FC236}">
                <a16:creationId xmlns:a16="http://schemas.microsoft.com/office/drawing/2014/main" id="{FE5B4B60-ABFB-4838-9181-F5F0E6337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1652588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1" name="U09-DG-047-callout_2-text">
            <a:extLst xmlns:a="http://schemas.openxmlformats.org/drawingml/2006/main">
              <a:ext uri="{FF2B5EF4-FFF2-40B4-BE49-F238E27FC236}">
                <a16:creationId xmlns:a16="http://schemas.microsoft.com/office/drawing/2014/main" id="{74AF3E04-CE02-419A-BF36-BE1F25BD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3460" y="1776413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masa</a:t>
            </a:r>
          </a:p>
        </p:txBody>
      </p:sp>
      <p:sp>
        <p:nvSpPr>
          <p:cNvPr id="22" name="U09-DG-047-callout_3-box">
            <a:extLst xmlns:a="http://schemas.openxmlformats.org/drawingml/2006/main">
              <a:ext uri="{FF2B5EF4-FFF2-40B4-BE49-F238E27FC236}">
                <a16:creationId xmlns:a16="http://schemas.microsoft.com/office/drawing/2014/main" id="{DB6BCBBD-6E11-4486-83FA-1DCDA354D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3" name="U09-DG-047-callout_3-text">
            <a:extLst xmlns:a="http://schemas.openxmlformats.org/drawingml/2006/main">
              <a:ext uri="{FF2B5EF4-FFF2-40B4-BE49-F238E27FC236}">
                <a16:creationId xmlns:a16="http://schemas.microsoft.com/office/drawing/2014/main" id="{18D5AE10-5C51-42CA-B318-8F39DDD91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14825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área</a:t>
            </a:r>
          </a:p>
        </p:txBody>
      </p:sp>
      <p:sp>
        <p:nvSpPr>
          <p:cNvPr id="24" name="U09-DG-047-callout_4-box">
            <a:extLst xmlns:a="http://schemas.openxmlformats.org/drawingml/2006/main">
              <a:ext uri="{FF2B5EF4-FFF2-40B4-BE49-F238E27FC236}">
                <a16:creationId xmlns:a16="http://schemas.microsoft.com/office/drawing/2014/main" id="{F420C436-44C9-4D15-A9EA-A0B55851E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4191000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5" name="U09-DG-047-callout_4-text">
            <a:extLst xmlns:a="http://schemas.openxmlformats.org/drawingml/2006/main">
              <a:ext uri="{FF2B5EF4-FFF2-40B4-BE49-F238E27FC236}">
                <a16:creationId xmlns:a16="http://schemas.microsoft.com/office/drawing/2014/main" id="{C5BCBA89-33A3-405B-8E82-E235BEA5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3460" y="4314825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definición mₛ</a:t>
            </a:r>
          </a:p>
        </p:txBody>
      </p:sp>
      <p:sp>
        <p:nvSpPr>
          <p:cNvPr id="26" name="caption">
            <a:extLst xmlns:a="http://schemas.openxmlformats.org/drawingml/2006/main">
              <a:ext uri="{FF2B5EF4-FFF2-40B4-BE49-F238E27FC236}">
                <a16:creationId xmlns:a16="http://schemas.microsoft.com/office/drawing/2014/main" id="{544BB2DB-4DC5-4E82-BA54-356289735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para una hoja simple ideal importa la masa superficial, no solo el material o el espesor por separado. · Producción propia UCASAL · U09-DG-047</a:t>
            </a:r>
          </a:p>
        </p:txBody>
      </p:sp>
      <p:sp>
        <p:nvSpPr>
          <p:cNvPr id="27" name="unit-footer">
            <a:extLst xmlns:a="http://schemas.openxmlformats.org/drawingml/2006/main">
              <a:ext uri="{FF2B5EF4-FFF2-40B4-BE49-F238E27FC236}">
                <a16:creationId xmlns:a16="http://schemas.microsoft.com/office/drawing/2014/main" id="{D1245704-8772-45D0-88ED-75EBD173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Física Acústica · Unidad 9</a:t>
            </a:r>
          </a:p>
        </p:txBody>
      </p:sp>
      <p:sp>
        <p:nvSpPr>
          <p:cNvPr id="2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F998906-6D77-4F2B-9E38-936A2F7A3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62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op-rail-1">
            <a:extLst xmlns:a="http://schemas.openxmlformats.org/drawingml/2006/main">
              <a:ext uri="{FF2B5EF4-FFF2-40B4-BE49-F238E27FC236}">
                <a16:creationId xmlns:a16="http://schemas.microsoft.com/office/drawing/2014/main" id="{F1778037-075C-4F4D-B386-CD2096FBC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DF4EB892-E67B-4264-A52E-F7E7B99E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2EFE9BA5-C9B5-46B8-952B-4FB1058C1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4ED7797E-43F4-4951-97D0-778B2C114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3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91F496A-6C65-4364-8EB5-009096AA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Ley de masas: una tendencia ideal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268A030-08EA-4EF9-A2F4-D607EC6C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Aislamiento y ley de masas · Ecuación anotada</a:t>
            </a:r>
          </a:p>
        </p:txBody>
      </p:sp>
      <p:sp>
        <p:nvSpPr>
          <p:cNvPr id="7" name="U09-063-conditional-alt" descr="U09-DG-048, candidata para diagram-generation. La composición permite reconocer que en la región controlada por masa, duplicar mₛ o f aumenta aproximadamente 6 db.">
            <a:extLst xmlns:a="http://schemas.openxmlformats.org/drawingml/2006/main">
              <a:ext uri="{FF2B5EF4-FFF2-40B4-BE49-F238E27FC236}">
                <a16:creationId xmlns:a16="http://schemas.microsoft.com/office/drawing/2014/main" id="{AAA8D63C-7A9D-4A78-AEA3-43CCDD83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10096500" cy="3429000"/>
          </a:xfrm>
          <a:prstGeom xmlns:a="http://schemas.openxmlformats.org/drawingml/2006/main" prst="roundRect">
            <a:avLst>
              <a:gd name="adj" fmla="val 1944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A641E"/>
            </a:solidFill>
            <a:prstDash val="solid"/>
          </a:ln>
        </p:spPr>
      </p:sp>
      <p:sp>
        <p:nvSpPr>
          <p:cNvPr id="8" name="conditional-title">
            <a:extLst xmlns:a="http://schemas.openxmlformats.org/drawingml/2006/main">
              <a:ext uri="{FF2B5EF4-FFF2-40B4-BE49-F238E27FC236}">
                <a16:creationId xmlns:a16="http://schemas.microsoft.com/office/drawing/2014/main" id="{06BC7F92-39DD-43E5-9651-F75ECE4A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9550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Forma relativa habilitada</a:t>
            </a:r>
          </a:p>
        </p:txBody>
      </p:sp>
      <p:sp>
        <p:nvSpPr>
          <p:cNvPr id="9" name="conditional-message">
            <a:extLst xmlns:a="http://schemas.openxmlformats.org/drawingml/2006/main">
              <a:ext uri="{FF2B5EF4-FFF2-40B4-BE49-F238E27FC236}">
                <a16:creationId xmlns:a16="http://schemas.microsoft.com/office/drawing/2014/main" id="{42A19DB7-5E85-43BD-A8FF-6FC05BFE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000375"/>
            <a:ext cx="8191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 conserva únicamente la forma relativa segura de la ley de masas; la constante absoluta depende de la convención pendiente.</a:t>
            </a:r>
          </a:p>
        </p:txBody>
      </p:sp>
      <p:sp>
        <p:nvSpPr>
          <p:cNvPr id="10" name="conditional-equation">
            <a:extLst xmlns:a="http://schemas.openxmlformats.org/drawingml/2006/main">
              <a:ext uri="{FF2B5EF4-FFF2-40B4-BE49-F238E27FC236}">
                <a16:creationId xmlns:a16="http://schemas.microsoft.com/office/drawing/2014/main" id="{6D8B6297-D9AB-471C-B04B-2C4758CB8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333875"/>
            <a:ext cx="742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Forma relativa segura: Δ R=20log₁₀(m_s2/m_s1)+20log₁₀(f₂/f₁).</a:t>
            </a:r>
          </a:p>
        </p:txBody>
      </p:sp>
      <p:sp>
        <p:nvSpPr>
          <p:cNvPr id="11" name="unit-footer">
            <a:extLst xmlns:a="http://schemas.openxmlformats.org/drawingml/2006/main">
              <a:ext uri="{FF2B5EF4-FFF2-40B4-BE49-F238E27FC236}">
                <a16:creationId xmlns:a16="http://schemas.microsoft.com/office/drawing/2014/main" id="{ACFA89E7-4805-47C1-9F7B-21D0C95A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Física Acústica · Unidad 9</a:t>
            </a:r>
          </a:p>
        </p:txBody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F5D6706-EA72-4342-B27E-7A6AA079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63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op-rail-1">
            <a:extLst xmlns:a="http://schemas.openxmlformats.org/drawingml/2006/main">
              <a:ext uri="{FF2B5EF4-FFF2-40B4-BE49-F238E27FC236}">
                <a16:creationId xmlns:a16="http://schemas.microsoft.com/office/drawing/2014/main" id="{245E72D8-11AD-4A66-BE23-2FEED126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2E4B6A7A-7831-4EBE-AB80-8EA0C5D3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8A77D606-3123-4AC6-BD3A-3DB96CD5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D357D29E-8295-4DC2-A010-1B11AA37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3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8A32197-499E-4432-B4DC-4341AA238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¿Qué cambia al duplicar masa o frecuencia?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19D4ECD-685A-422F-9D0E-A15AAE742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Aislamiento y ley de masas · Mini ejercicio</a:t>
            </a:r>
          </a:p>
        </p:txBody>
      </p:sp>
      <p:sp>
        <p:nvSpPr>
          <p:cNvPr id="7" name="U09-DG-049-equation-anchor">
            <a:extLst xmlns:a="http://schemas.openxmlformats.org/drawingml/2006/main">
              <a:ext uri="{FF2B5EF4-FFF2-40B4-BE49-F238E27FC236}">
                <a16:creationId xmlns:a16="http://schemas.microsoft.com/office/drawing/2014/main" id="{9A0FBAD1-3E54-4506-98CD-76BC0E832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9470" y="2707005"/>
            <a:ext cx="4732020" cy="1015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49-callout_1-anchor">
            <a:extLst xmlns:a="http://schemas.openxmlformats.org/drawingml/2006/main">
              <a:ext uri="{FF2B5EF4-FFF2-40B4-BE49-F238E27FC236}">
                <a16:creationId xmlns:a16="http://schemas.microsoft.com/office/drawing/2014/main" id="{53DBC23F-9E89-46A5-9090-BFA40B2FC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2588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49-callout_2-anchor">
            <a:extLst xmlns:a="http://schemas.openxmlformats.org/drawingml/2006/main">
              <a:ext uri="{FF2B5EF4-FFF2-40B4-BE49-F238E27FC236}">
                <a16:creationId xmlns:a16="http://schemas.microsoft.com/office/drawing/2014/main" id="{0AB8E8A4-B463-443C-918F-D9FD69D3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1652588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49-callout_3-anchor">
            <a:extLst xmlns:a="http://schemas.openxmlformats.org/drawingml/2006/main">
              <a:ext uri="{FF2B5EF4-FFF2-40B4-BE49-F238E27FC236}">
                <a16:creationId xmlns:a16="http://schemas.microsoft.com/office/drawing/2014/main" id="{B278359D-4A69-4F7D-BAEA-F37CCE76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49-callout_4-anchor">
            <a:extLst xmlns:a="http://schemas.openxmlformats.org/drawingml/2006/main">
              <a:ext uri="{FF2B5EF4-FFF2-40B4-BE49-F238E27FC236}">
                <a16:creationId xmlns:a16="http://schemas.microsoft.com/office/drawing/2014/main" id="{B6D2462A-0DFE-4BD4-A67A-C11B1CD8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4191000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0" name="U09-DG-049-leader_1"/>
          <p:cNvCxnSpPr>
            <a:stCxn xmlns:a="http://schemas.openxmlformats.org/drawingml/2006/main" id="8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28950" y="2101692"/>
            <a:ext cx="350520" cy="111299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1" name="U09-DG-049-leader_2"/>
          <p:cNvCxnSpPr>
            <a:stCxn xmlns:a="http://schemas.openxmlformats.org/drawingml/2006/main" id="9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8111490" y="2101692"/>
            <a:ext cx="350520" cy="111299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2" name="U09-DG-049-leader_3"/>
          <p:cNvCxnSpPr>
            <a:stCxn xmlns:a="http://schemas.openxmlformats.org/drawingml/2006/main" id="10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028950" y="3214688"/>
            <a:ext cx="350520" cy="142541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3" name="U09-DG-049-leader_4"/>
          <p:cNvCxnSpPr>
            <a:stCxn xmlns:a="http://schemas.openxmlformats.org/drawingml/2006/main" id="11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 flipV="1">
            <a:off x="8111490" y="3214688"/>
            <a:ext cx="350520" cy="142541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U09-DG-049-visual-alt" descr="Secuencia de cálculo U09-DG-049, candidata para diagram-generation. La composición permite reconocer que el cambio ideal es 20 log10 2 ≈ 6,02 db; no garantiza el desempeño real del sistema.">
            <a:extLst xmlns:a="http://schemas.openxmlformats.org/drawingml/2006/main">
              <a:ext uri="{FF2B5EF4-FFF2-40B4-BE49-F238E27FC236}">
                <a16:creationId xmlns:a16="http://schemas.microsoft.com/office/drawing/2014/main" id="{3B9480E5-617E-4A5C-B61B-D70C7D64E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9470" y="2707005"/>
            <a:ext cx="4732020" cy="1015365"/>
          </a:xfrm>
          <a:prstGeom xmlns:a="http://schemas.openxmlformats.org/drawingml/2006/main" prst="roundRect">
            <a:avLst>
              <a:gd name="adj" fmla="val 65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7" name="U09-DG-049-equation-text">
            <a:extLst xmlns:a="http://schemas.openxmlformats.org/drawingml/2006/main">
              <a:ext uri="{FF2B5EF4-FFF2-40B4-BE49-F238E27FC236}">
                <a16:creationId xmlns:a16="http://schemas.microsoft.com/office/drawing/2014/main" id="{81520660-612A-4AC2-831F-D880747C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830830"/>
            <a:ext cx="4389120" cy="767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91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691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ΔR=20 log10 2≈6,02 dB</a:t>
            </a:r>
          </a:p>
        </p:txBody>
      </p:sp>
      <p:sp>
        <p:nvSpPr>
          <p:cNvPr id="18" name="U09-DG-049-callout_1-box">
            <a:extLst xmlns:a="http://schemas.openxmlformats.org/drawingml/2006/main">
              <a:ext uri="{FF2B5EF4-FFF2-40B4-BE49-F238E27FC236}">
                <a16:creationId xmlns:a16="http://schemas.microsoft.com/office/drawing/2014/main" id="{B927F4B9-83B3-473D-827E-B3C6DC09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2588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9" name="U09-DG-049-callout_1-text">
            <a:extLst xmlns:a="http://schemas.openxmlformats.org/drawingml/2006/main">
              <a:ext uri="{FF2B5EF4-FFF2-40B4-BE49-F238E27FC236}">
                <a16:creationId xmlns:a16="http://schemas.microsoft.com/office/drawing/2014/main" id="{BCD9BEC3-25E3-492F-999E-A35E64896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76413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Dos cadenas de cálculo</a:t>
            </a:r>
          </a:p>
        </p:txBody>
      </p:sp>
      <p:sp>
        <p:nvSpPr>
          <p:cNvPr id="20" name="U09-DG-049-callout_2-box">
            <a:extLst xmlns:a="http://schemas.openxmlformats.org/drawingml/2006/main">
              <a:ext uri="{FF2B5EF4-FFF2-40B4-BE49-F238E27FC236}">
                <a16:creationId xmlns:a16="http://schemas.microsoft.com/office/drawing/2014/main" id="{0A038EAE-80D7-417A-9C22-0672E5D6F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1652588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1" name="U09-DG-049-callout_2-text">
            <a:extLst xmlns:a="http://schemas.openxmlformats.org/drawingml/2006/main">
              <a:ext uri="{FF2B5EF4-FFF2-40B4-BE49-F238E27FC236}">
                <a16:creationId xmlns:a16="http://schemas.microsoft.com/office/drawing/2014/main" id="{DBFC4F64-5FE7-401E-B956-67D01D4F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3460" y="1776413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f×2</a:t>
            </a:r>
          </a:p>
        </p:txBody>
      </p:sp>
      <p:sp>
        <p:nvSpPr>
          <p:cNvPr id="22" name="U09-DG-049-callout_3-box">
            <a:extLst xmlns:a="http://schemas.openxmlformats.org/drawingml/2006/main">
              <a:ext uri="{FF2B5EF4-FFF2-40B4-BE49-F238E27FC236}">
                <a16:creationId xmlns:a16="http://schemas.microsoft.com/office/drawing/2014/main" id="{92D22CF0-E226-40D7-8B1A-DC2F75473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3" name="U09-DG-049-callout_3-text">
            <a:extLst xmlns:a="http://schemas.openxmlformats.org/drawingml/2006/main">
              <a:ext uri="{FF2B5EF4-FFF2-40B4-BE49-F238E27FC236}">
                <a16:creationId xmlns:a16="http://schemas.microsoft.com/office/drawing/2014/main" id="{2B786ACD-A680-4CF2-9986-D52E2A56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14825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conclusión común</a:t>
            </a:r>
          </a:p>
        </p:txBody>
      </p:sp>
      <p:sp>
        <p:nvSpPr>
          <p:cNvPr id="24" name="U09-DG-049-callout_4-box">
            <a:extLst xmlns:a="http://schemas.openxmlformats.org/drawingml/2006/main">
              <a:ext uri="{FF2B5EF4-FFF2-40B4-BE49-F238E27FC236}">
                <a16:creationId xmlns:a16="http://schemas.microsoft.com/office/drawing/2014/main" id="{D6B17223-A195-4F02-9F43-51C8F545C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4191000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5" name="U09-DG-049-callout_4-text">
            <a:extLst xmlns:a="http://schemas.openxmlformats.org/drawingml/2006/main">
              <a:ext uri="{FF2B5EF4-FFF2-40B4-BE49-F238E27FC236}">
                <a16:creationId xmlns:a16="http://schemas.microsoft.com/office/drawing/2014/main" id="{64FC27C7-D8AF-48D5-8D0F-F04FD11EA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3460" y="4314825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alcance del modelo</a:t>
            </a:r>
          </a:p>
        </p:txBody>
      </p:sp>
      <p:sp>
        <p:nvSpPr>
          <p:cNvPr id="26" name="caption">
            <a:extLst xmlns:a="http://schemas.openxmlformats.org/drawingml/2006/main">
              <a:ext uri="{FF2B5EF4-FFF2-40B4-BE49-F238E27FC236}">
                <a16:creationId xmlns:a16="http://schemas.microsoft.com/office/drawing/2014/main" id="{C4250D86-2E1B-4D39-8F59-E143DB591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el cambio ideal es 20 log10 2 ≈ 6,02 db; no garantiza el desempeño real del sistema. · Producción propia UCASAL · U09-DG-049</a:t>
            </a:r>
          </a:p>
        </p:txBody>
      </p:sp>
      <p:sp>
        <p:nvSpPr>
          <p:cNvPr id="27" name="unit-footer">
            <a:extLst xmlns:a="http://schemas.openxmlformats.org/drawingml/2006/main">
              <a:ext uri="{FF2B5EF4-FFF2-40B4-BE49-F238E27FC236}">
                <a16:creationId xmlns:a16="http://schemas.microsoft.com/office/drawing/2014/main" id="{9E8D64E1-EAF0-4C8E-9BFA-26E372AA0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Física Acústica · Unidad 9</a:t>
            </a:r>
          </a:p>
        </p:txBody>
      </p:sp>
      <p:sp>
        <p:nvSpPr>
          <p:cNvPr id="2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0C40C81-6A22-481B-80C6-B29E18A07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64</a:t>
            </a:r>
          </a:p>
        </p:txBody>
      </p:sp>
    </p:spTree>
    <p:extLst>
      <p:ext uri="{BB962C8B-B14F-4D97-AF65-F5344CB8AC3E}">
        <p14:creationId xmlns:p14="http://schemas.microsoft.com/office/powerpoint/2010/main" val="281546375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ail-1">
            <a:extLst xmlns:a="http://schemas.openxmlformats.org/drawingml/2006/main">
              <a:ext uri="{FF2B5EF4-FFF2-40B4-BE49-F238E27FC236}">
                <a16:creationId xmlns:a16="http://schemas.microsoft.com/office/drawing/2014/main" id="{704336E6-D6E3-4E51-ACDB-1E81AE97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31AF6083-F720-401D-9730-B8EDDA7B4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C55A50AB-ADF4-450A-9675-AB8BE37E8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52874EC-C353-4D97-802B-B4BDE7B5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3 · AMPLIACIÓN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007A9FF-6FC4-4FE7-B79D-236F72553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Fuera de la recta ideal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ED76A34-BBA2-4875-ACAA-BB4992C66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Aislamiento y ley de masas · Ampliación gráfica</a:t>
            </a:r>
          </a:p>
        </p:txBody>
      </p:sp>
      <p:sp>
        <p:nvSpPr>
          <p:cNvPr id="7" name="U09-065-claim-alt" descr="U09-CH-008 ley de masas con regiones cualitativas. La composición permite reconocer que una pared real presenta regiones que la ley de masas simple no describe.">
            <a:extLst xmlns:a="http://schemas.openxmlformats.org/drawingml/2006/main">
              <a:ext uri="{FF2B5EF4-FFF2-40B4-BE49-F238E27FC236}">
                <a16:creationId xmlns:a16="http://schemas.microsoft.com/office/drawing/2014/main" id="{AEDC812B-C6DF-4599-8AD0-F40320A28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19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1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Una pared real presenta regiones que la ley de masas simple no describe.</a:t>
            </a:r>
          </a:p>
        </p:txBody>
      </p:sp>
      <p:sp>
        <p:nvSpPr>
          <p:cNvPr id="8" name="bullet-0">
            <a:extLst xmlns:a="http://schemas.openxmlformats.org/drawingml/2006/main">
              <a:ext uri="{FF2B5EF4-FFF2-40B4-BE49-F238E27FC236}">
                <a16:creationId xmlns:a16="http://schemas.microsoft.com/office/drawing/2014/main" id="{49D014B2-22DE-46DF-9FB2-635D96924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ody-0">
            <a:extLst xmlns:a="http://schemas.openxmlformats.org/drawingml/2006/main">
              <a:ext uri="{FF2B5EF4-FFF2-40B4-BE49-F238E27FC236}">
                <a16:creationId xmlns:a16="http://schemas.microsoft.com/office/drawing/2014/main" id="{CBF160C4-61C9-4DF6-ABD4-ABA48C155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14625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Curva conceptual por frecuencia con zonas rotuladas y región de masa destacada.</a:t>
            </a:r>
          </a:p>
        </p:txBody>
      </p:sp>
      <p:sp>
        <p:nvSpPr>
          <p:cNvPr id="10" name="unit-footer">
            <a:extLst xmlns:a="http://schemas.openxmlformats.org/drawingml/2006/main">
              <a:ext uri="{FF2B5EF4-FFF2-40B4-BE49-F238E27FC236}">
                <a16:creationId xmlns:a16="http://schemas.microsoft.com/office/drawing/2014/main" id="{08BC41B0-D838-418B-A0FF-E53411461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Física Acústica · Unidad 9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6E830FB-0BA3-4840-BECD-85FBBCA1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65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rail-1">
            <a:extLst xmlns:a="http://schemas.openxmlformats.org/drawingml/2006/main">
              <a:ext uri="{FF2B5EF4-FFF2-40B4-BE49-F238E27FC236}">
                <a16:creationId xmlns:a16="http://schemas.microsoft.com/office/drawing/2014/main" id="{38DED3DB-8EC0-41DA-B7EA-DFB5BB5DB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84EBFC33-AD40-48EF-B12C-C8F58D80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9AA73751-A366-45F6-8F5E-7F3B39ED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74D3B924-928B-4F18-9DF6-5917BB50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3 · AMPLIACIÓN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E0091FB-A179-4828-A9FC-470329B4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pared robusta con una puerta débil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8F55B92-73ED-468C-8539-35226512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Aislamiento y ley de masas · Ampliación aplicada</a:t>
            </a:r>
          </a:p>
        </p:txBody>
      </p:sp>
      <p:sp>
        <p:nvSpPr>
          <p:cNvPr id="7" name="U09-DG-050-concept_1-anchor">
            <a:extLst xmlns:a="http://schemas.openxmlformats.org/drawingml/2006/main">
              <a:ext uri="{FF2B5EF4-FFF2-40B4-BE49-F238E27FC236}">
                <a16:creationId xmlns:a16="http://schemas.microsoft.com/office/drawing/2014/main" id="{F0C2DEF9-E92B-4C8D-A178-A92748D4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4784598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50-concept_2-anchor">
            <a:extLst xmlns:a="http://schemas.openxmlformats.org/drawingml/2006/main">
              <a:ext uri="{FF2B5EF4-FFF2-40B4-BE49-F238E27FC236}">
                <a16:creationId xmlns:a16="http://schemas.microsoft.com/office/drawing/2014/main" id="{AC1EAD82-285D-49D1-9B98-812B2D5D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1840040"/>
            <a:ext cx="4784598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50-concept_3-anchor">
            <a:extLst xmlns:a="http://schemas.openxmlformats.org/drawingml/2006/main">
              <a:ext uri="{FF2B5EF4-FFF2-40B4-BE49-F238E27FC236}">
                <a16:creationId xmlns:a16="http://schemas.microsoft.com/office/drawing/2014/main" id="{4790E7CD-A5F4-4638-939E-AC1BA6386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4784598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50-visual-alt" descr="Imagen técnica U09-IMG-002 o diagrama U09-DG-050, candidata para diagram-generation. La composición permite reconocer que mejorar el elemento principal no compensa automáticamente fugas, accesos o flanqueo.">
            <a:extLst xmlns:a="http://schemas.openxmlformats.org/drawingml/2006/main">
              <a:ext uri="{FF2B5EF4-FFF2-40B4-BE49-F238E27FC236}">
                <a16:creationId xmlns:a16="http://schemas.microsoft.com/office/drawing/2014/main" id="{5B2E033E-D39B-4D6E-A7E9-989E67625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4784598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1" name="U09-DG-050-concept_1-text">
            <a:extLst xmlns:a="http://schemas.openxmlformats.org/drawingml/2006/main">
              <a:ext uri="{FF2B5EF4-FFF2-40B4-BE49-F238E27FC236}">
                <a16:creationId xmlns:a16="http://schemas.microsoft.com/office/drawing/2014/main" id="{E01AC9AB-D353-41A6-AFE9-F08A55199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63865"/>
            <a:ext cx="4441698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Dos escenarios con mismo panel</a:t>
            </a:r>
          </a:p>
        </p:txBody>
      </p:sp>
      <p:sp>
        <p:nvSpPr>
          <p:cNvPr id="12" name="U09-DG-050-concept_2-box">
            <a:extLst xmlns:a="http://schemas.openxmlformats.org/drawingml/2006/main">
              <a:ext uri="{FF2B5EF4-FFF2-40B4-BE49-F238E27FC236}">
                <a16:creationId xmlns:a16="http://schemas.microsoft.com/office/drawing/2014/main" id="{B2DA63C5-7D49-4DD7-9D80-E9CF3317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1840040"/>
            <a:ext cx="4784598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3" name="U09-DG-050-concept_2-text">
            <a:extLst xmlns:a="http://schemas.openxmlformats.org/drawingml/2006/main">
              <a:ext uri="{FF2B5EF4-FFF2-40B4-BE49-F238E27FC236}">
                <a16:creationId xmlns:a16="http://schemas.microsoft.com/office/drawing/2014/main" id="{9C1EE66D-F2F5-4053-A5A1-D695AE2A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9612" y="1963865"/>
            <a:ext cx="4441698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distinta junta/puerta</a:t>
            </a:r>
          </a:p>
        </p:txBody>
      </p:sp>
      <p:sp>
        <p:nvSpPr>
          <p:cNvPr id="14" name="U09-DG-050-concept_3-box">
            <a:extLst xmlns:a="http://schemas.openxmlformats.org/drawingml/2006/main">
              <a:ext uri="{FF2B5EF4-FFF2-40B4-BE49-F238E27FC236}">
                <a16:creationId xmlns:a16="http://schemas.microsoft.com/office/drawing/2014/main" id="{AA8C08A2-0A95-4536-AA4D-584E0BF00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4784598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5" name="U09-DG-050-concept_3-text">
            <a:extLst xmlns:a="http://schemas.openxmlformats.org/drawingml/2006/main">
              <a:ext uri="{FF2B5EF4-FFF2-40B4-BE49-F238E27FC236}">
                <a16:creationId xmlns:a16="http://schemas.microsoft.com/office/drawing/2014/main" id="{322A6BB1-BB69-4F01-9594-A7BE823C2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7796"/>
            <a:ext cx="4441698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comparación cualitativa</a:t>
            </a:r>
          </a:p>
        </p:txBody>
      </p:sp>
      <p:sp>
        <p:nvSpPr>
          <p:cNvPr id="16" name="caption">
            <a:extLst xmlns:a="http://schemas.openxmlformats.org/drawingml/2006/main">
              <a:ext uri="{FF2B5EF4-FFF2-40B4-BE49-F238E27FC236}">
                <a16:creationId xmlns:a16="http://schemas.microsoft.com/office/drawing/2014/main" id="{38D9E9A7-6066-4819-A184-FD47CC1F6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mejorar el elemento principal no compensa automáticamente fugas, accesos o flanqueo. · Producción propia UCASAL · U09-DG-050</a:t>
            </a:r>
          </a:p>
        </p:txBody>
      </p:sp>
      <p:sp>
        <p:nvSpPr>
          <p:cNvPr id="17" name="unit-footer">
            <a:extLst xmlns:a="http://schemas.openxmlformats.org/drawingml/2006/main">
              <a:ext uri="{FF2B5EF4-FFF2-40B4-BE49-F238E27FC236}">
                <a16:creationId xmlns:a16="http://schemas.microsoft.com/office/drawing/2014/main" id="{8E092429-5405-40D7-BE20-AC92E77A4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Física Acústica · Unidad 9</a:t>
            </a:r>
          </a:p>
        </p:txBody>
      </p:sp>
      <p:sp>
        <p:nvSpPr>
          <p:cNvPr id="1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1E5A82C-271B-4F5E-AF27-78A9F2B5D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66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op-rail-1">
            <a:extLst xmlns:a="http://schemas.openxmlformats.org/drawingml/2006/main">
              <a:ext uri="{FF2B5EF4-FFF2-40B4-BE49-F238E27FC236}">
                <a16:creationId xmlns:a16="http://schemas.microsoft.com/office/drawing/2014/main" id="{4C4279B3-1023-4712-94BD-387229474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39FCF669-4EF8-484C-958E-9B7918654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97A45EEF-4BD5-434A-ADC2-12F9900C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B8179A11-3080-4AFE-95CB-60C421C2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3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D177E1F-7C4F-4ACC-BC06-DB1066EF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¿Elemento, conjunto o ruta débil?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D00154B-7B6F-41A1-BCFA-170D3268C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Aislamiento y ley de masas · Recapitulación y actividad</a:t>
            </a:r>
          </a:p>
        </p:txBody>
      </p:sp>
      <p:sp>
        <p:nvSpPr>
          <p:cNvPr id="7" name="U09-DG-051-step_1-anchor">
            <a:extLst xmlns:a="http://schemas.openxmlformats.org/drawingml/2006/main">
              <a:ext uri="{FF2B5EF4-FFF2-40B4-BE49-F238E27FC236}">
                <a16:creationId xmlns:a16="http://schemas.microsoft.com/office/drawing/2014/main" id="{526C9E4C-9000-456B-8D7D-3AC32234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51-step_2-anchor">
            <a:extLst xmlns:a="http://schemas.openxmlformats.org/drawingml/2006/main">
              <a:ext uri="{FF2B5EF4-FFF2-40B4-BE49-F238E27FC236}">
                <a16:creationId xmlns:a16="http://schemas.microsoft.com/office/drawing/2014/main" id="{96463923-8186-4108-A2C3-773C30AF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51-step_3-anchor">
            <a:extLst xmlns:a="http://schemas.openxmlformats.org/drawingml/2006/main">
              <a:ext uri="{FF2B5EF4-FFF2-40B4-BE49-F238E27FC236}">
                <a16:creationId xmlns:a16="http://schemas.microsoft.com/office/drawing/2014/main" id="{8DC045AB-117C-4BA8-8F9D-6C276699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51-step_4-anchor">
            <a:extLst xmlns:a="http://schemas.openxmlformats.org/drawingml/2006/main">
              <a:ext uri="{FF2B5EF4-FFF2-40B4-BE49-F238E27FC236}">
                <a16:creationId xmlns:a16="http://schemas.microsoft.com/office/drawing/2014/main" id="{3472DF43-5403-466D-8B67-DB622580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51-step_5-anchor">
            <a:extLst xmlns:a="http://schemas.openxmlformats.org/drawingml/2006/main">
              <a:ext uri="{FF2B5EF4-FFF2-40B4-BE49-F238E27FC236}">
                <a16:creationId xmlns:a16="http://schemas.microsoft.com/office/drawing/2014/main" id="{B58314ED-10BE-4031-91B9-70D3BF5D2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0" name="U09-DG-051-flow_1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46710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1" name="U09-DG-051-flow_2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05993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2" name="U09-DG-051-flow_3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9338310" y="2941321"/>
            <a:ext cx="0" cy="741997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3" name="U09-DG-051-flow_4"/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7059930" y="424958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U09-DG-051-visual-alt" descr="U09-DG-051, candidata para diagram-generation. La composición permite reconocer que τ_e, r y ley de masas describen relaciones acotadas; el aislamiento real pertenece al sistema.">
            <a:extLst xmlns:a="http://schemas.openxmlformats.org/drawingml/2006/main">
              <a:ext uri="{FF2B5EF4-FFF2-40B4-BE49-F238E27FC236}">
                <a16:creationId xmlns:a16="http://schemas.microsoft.com/office/drawing/2014/main" id="{F6AA7336-C8F4-41E6-B4F5-461273357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7" name="U09-DG-051-step_1-text">
            <a:extLst xmlns:a="http://schemas.openxmlformats.org/drawingml/2006/main">
              <a:ext uri="{FF2B5EF4-FFF2-40B4-BE49-F238E27FC236}">
                <a16:creationId xmlns:a16="http://schemas.microsoft.com/office/drawing/2014/main" id="{4B0B4242-C52D-403A-97A0-D3904BD3B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1 · Tres casos: absorbente</a:t>
            </a:r>
          </a:p>
        </p:txBody>
      </p:sp>
      <p:sp>
        <p:nvSpPr>
          <p:cNvPr id="18" name="U09-DG-051-step_2-box">
            <a:extLst xmlns:a="http://schemas.openxmlformats.org/drawingml/2006/main">
              <a:ext uri="{FF2B5EF4-FFF2-40B4-BE49-F238E27FC236}">
                <a16:creationId xmlns:a16="http://schemas.microsoft.com/office/drawing/2014/main" id="{9549F526-AFD6-4732-BBBD-106872514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9" name="U09-DG-051-step_2-text">
            <a:extLst xmlns:a="http://schemas.openxmlformats.org/drawingml/2006/main">
              <a:ext uri="{FF2B5EF4-FFF2-40B4-BE49-F238E27FC236}">
                <a16:creationId xmlns:a16="http://schemas.microsoft.com/office/drawing/2014/main" id="{DEE37BFF-E9BC-4C2E-99DA-474DC2359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2 · panel más pesado</a:t>
            </a:r>
          </a:p>
        </p:txBody>
      </p:sp>
      <p:sp>
        <p:nvSpPr>
          <p:cNvPr id="20" name="U09-DG-051-step_3-box">
            <a:extLst xmlns:a="http://schemas.openxmlformats.org/drawingml/2006/main">
              <a:ext uri="{FF2B5EF4-FFF2-40B4-BE49-F238E27FC236}">
                <a16:creationId xmlns:a16="http://schemas.microsoft.com/office/drawing/2014/main" id="{C8CC0BE2-927E-44E0-94B5-19EE31861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1" name="U09-DG-051-step_3-text">
            <a:extLst xmlns:a="http://schemas.openxmlformats.org/drawingml/2006/main">
              <a:ext uri="{FF2B5EF4-FFF2-40B4-BE49-F238E27FC236}">
                <a16:creationId xmlns:a16="http://schemas.microsoft.com/office/drawing/2014/main" id="{A47E9BD7-00A1-461A-8C2D-E39AF1CB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 · puerta abierta</a:t>
            </a:r>
          </a:p>
        </p:txBody>
      </p:sp>
      <p:sp>
        <p:nvSpPr>
          <p:cNvPr id="22" name="U09-DG-051-step_4-box">
            <a:extLst xmlns:a="http://schemas.openxmlformats.org/drawingml/2006/main">
              <a:ext uri="{FF2B5EF4-FFF2-40B4-BE49-F238E27FC236}">
                <a16:creationId xmlns:a16="http://schemas.microsoft.com/office/drawing/2014/main" id="{8F858B1F-8DE4-4CAD-85BA-79B25F9C0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3" name="U09-DG-051-step_4-text">
            <a:extLst xmlns:a="http://schemas.openxmlformats.org/drawingml/2006/main">
              <a:ext uri="{FF2B5EF4-FFF2-40B4-BE49-F238E27FC236}">
                <a16:creationId xmlns:a16="http://schemas.microsoft.com/office/drawing/2014/main" id="{5BE942D5-F1A7-443A-AC80-08EFCB91D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4 · decisión</a:t>
            </a:r>
          </a:p>
        </p:txBody>
      </p:sp>
      <p:sp>
        <p:nvSpPr>
          <p:cNvPr id="24" name="U09-DG-051-step_5-box">
            <a:extLst xmlns:a="http://schemas.openxmlformats.org/drawingml/2006/main">
              <a:ext uri="{FF2B5EF4-FFF2-40B4-BE49-F238E27FC236}">
                <a16:creationId xmlns:a16="http://schemas.microsoft.com/office/drawing/2014/main" id="{04AECC99-A7CC-4862-84F2-756EACAA0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5" name="U09-DG-051-step_5-text">
            <a:extLst xmlns:a="http://schemas.openxmlformats.org/drawingml/2006/main">
              <a:ext uri="{FF2B5EF4-FFF2-40B4-BE49-F238E27FC236}">
                <a16:creationId xmlns:a16="http://schemas.microsoft.com/office/drawing/2014/main" id="{75164B4A-6362-4C6C-9126-9AFD8B30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5 · justificación</a:t>
            </a:r>
          </a:p>
        </p:txBody>
      </p:sp>
      <p:sp>
        <p:nvSpPr>
          <p:cNvPr id="26" name="caption">
            <a:extLst xmlns:a="http://schemas.openxmlformats.org/drawingml/2006/main">
              <a:ext uri="{FF2B5EF4-FFF2-40B4-BE49-F238E27FC236}">
                <a16:creationId xmlns:a16="http://schemas.microsoft.com/office/drawing/2014/main" id="{D135A50C-2529-4A8E-BE0B-090DD985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τ_e, r y ley de masas describen relaciones acotadas; el aislamiento real pertenece al sistema. · Producción propia UCASAL · U09-DG-051</a:t>
            </a:r>
          </a:p>
        </p:txBody>
      </p:sp>
      <p:sp>
        <p:nvSpPr>
          <p:cNvPr id="27" name="unit-footer">
            <a:extLst xmlns:a="http://schemas.openxmlformats.org/drawingml/2006/main">
              <a:ext uri="{FF2B5EF4-FFF2-40B4-BE49-F238E27FC236}">
                <a16:creationId xmlns:a16="http://schemas.microsoft.com/office/drawing/2014/main" id="{5C031A90-6D37-4EAE-953F-7743F691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Física Acústica · Unidad 9</a:t>
            </a:r>
          </a:p>
        </p:txBody>
      </p:sp>
      <p:sp>
        <p:nvSpPr>
          <p:cNvPr id="2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7788C7A-C4F1-4EA8-8788-6872613E3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67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ark-eyebrow">
            <a:extLst xmlns:a="http://schemas.openxmlformats.org/drawingml/2006/main">
              <a:ext uri="{FF2B5EF4-FFF2-40B4-BE49-F238E27FC236}">
                <a16:creationId xmlns:a16="http://schemas.microsoft.com/office/drawing/2014/main" id="{E262B3DA-36D9-437C-B95E-F197A199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UNIDAD 9 · RUTA CENTRAL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264A827A-CD13-402C-9F1D-904DCEE14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47875"/>
            <a:ext cx="1057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¿Qué debe cumplir una cabina para una prueba concreta?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20582B28-6265-4F08-8897-E530C043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571875"/>
            <a:ext cx="885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rPr>
              <a:t>Una cabina es un sistema de control y verificación, no una caja con espuma.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CA53F5D-F972-4F4C-A7C1-B4A2F14D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rPr>
              <a:t>68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op-rail-1">
            <a:extLst xmlns:a="http://schemas.openxmlformats.org/drawingml/2006/main">
              <a:ext uri="{FF2B5EF4-FFF2-40B4-BE49-F238E27FC236}">
                <a16:creationId xmlns:a16="http://schemas.microsoft.com/office/drawing/2014/main" id="{7486AD51-AEC8-4F8C-8ACE-FAB05CBFB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B51BCD94-FE57-46ED-A39B-BDEB5405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003A17C2-E492-4574-B2B9-93D832DB0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BC7C8E04-30E3-46F8-99E6-291923B41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3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5F6A6C-7AC2-4CEB-BADD-99B509039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“Si tiene espuma, está insonorizada”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AF326B7-C256-4447-AABB-DCC9B5AA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Cabinas y verificación · Error frecuente</a:t>
            </a:r>
          </a:p>
        </p:txBody>
      </p:sp>
      <p:sp>
        <p:nvSpPr>
          <p:cNvPr id="7" name="U09-DG-052-concept_1-anchor">
            <a:extLst xmlns:a="http://schemas.openxmlformats.org/drawingml/2006/main">
              <a:ext uri="{FF2B5EF4-FFF2-40B4-BE49-F238E27FC236}">
                <a16:creationId xmlns:a16="http://schemas.microsoft.com/office/drawing/2014/main" id="{C3E4F080-F5B4-4AE0-9074-D45A41B4E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52-concept_2-anchor">
            <a:extLst xmlns:a="http://schemas.openxmlformats.org/drawingml/2006/main">
              <a:ext uri="{FF2B5EF4-FFF2-40B4-BE49-F238E27FC236}">
                <a16:creationId xmlns:a16="http://schemas.microsoft.com/office/drawing/2014/main" id="{3A0B28D7-F2E4-4B50-B69F-B21BA6A2F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8400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52-concept_3-anchor">
            <a:extLst xmlns:a="http://schemas.openxmlformats.org/drawingml/2006/main">
              <a:ext uri="{FF2B5EF4-FFF2-40B4-BE49-F238E27FC236}">
                <a16:creationId xmlns:a16="http://schemas.microsoft.com/office/drawing/2014/main" id="{BC9B3A35-3179-443C-AFBF-49732409D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8400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52-concept_4-anchor">
            <a:extLst xmlns:a="http://schemas.openxmlformats.org/drawingml/2006/main">
              <a:ext uri="{FF2B5EF4-FFF2-40B4-BE49-F238E27FC236}">
                <a16:creationId xmlns:a16="http://schemas.microsoft.com/office/drawing/2014/main" id="{06D780C3-3EFD-4D24-A094-CB74D2CA0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52-concept_5-anchor">
            <a:extLst xmlns:a="http://schemas.openxmlformats.org/drawingml/2006/main">
              <a:ext uri="{FF2B5EF4-FFF2-40B4-BE49-F238E27FC236}">
                <a16:creationId xmlns:a16="http://schemas.microsoft.com/office/drawing/2014/main" id="{1D47FECC-A278-4024-9DBB-EE2C3036F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3573971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U09-DG-052-visual-alt" descr="U09-DG-052, candidata para diagram-generation. La composición permite reconocer que la absorción interior puede reducir reflexiones sin impedir el ingreso de ruido exterior.">
            <a:extLst xmlns:a="http://schemas.openxmlformats.org/drawingml/2006/main">
              <a:ext uri="{FF2B5EF4-FFF2-40B4-BE49-F238E27FC236}">
                <a16:creationId xmlns:a16="http://schemas.microsoft.com/office/drawing/2014/main" id="{17C7C760-58A4-4BA6-A41C-B5F919C2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3" name="U09-DG-052-concept_1-text">
            <a:extLst xmlns:a="http://schemas.openxmlformats.org/drawingml/2006/main">
              <a:ext uri="{FF2B5EF4-FFF2-40B4-BE49-F238E27FC236}">
                <a16:creationId xmlns:a16="http://schemas.microsoft.com/office/drawing/2014/main" id="{2620105B-032F-4C62-B285-A8D5EC546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638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Espuma interior</a:t>
            </a:r>
          </a:p>
        </p:txBody>
      </p:sp>
      <p:sp>
        <p:nvSpPr>
          <p:cNvPr id="14" name="U09-DG-052-concept_2-box">
            <a:extLst xmlns:a="http://schemas.openxmlformats.org/drawingml/2006/main">
              <a:ext uri="{FF2B5EF4-FFF2-40B4-BE49-F238E27FC236}">
                <a16:creationId xmlns:a16="http://schemas.microsoft.com/office/drawing/2014/main" id="{FD151D84-BB36-48DC-9AC7-C0019444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8400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5" name="U09-DG-052-concept_2-text">
            <a:extLst xmlns:a="http://schemas.openxmlformats.org/drawingml/2006/main">
              <a:ext uri="{FF2B5EF4-FFF2-40B4-BE49-F238E27FC236}">
                <a16:creationId xmlns:a16="http://schemas.microsoft.com/office/drawing/2014/main" id="{C589CCA8-3C74-4F41-B2DB-3F6A7E338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19638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Menos reflexiones</a:t>
            </a:r>
          </a:p>
        </p:txBody>
      </p:sp>
      <p:sp>
        <p:nvSpPr>
          <p:cNvPr id="16" name="U09-DG-052-concept_3-box">
            <a:extLst xmlns:a="http://schemas.openxmlformats.org/drawingml/2006/main">
              <a:ext uri="{FF2B5EF4-FFF2-40B4-BE49-F238E27FC236}">
                <a16:creationId xmlns:a16="http://schemas.microsoft.com/office/drawing/2014/main" id="{FDF25B1D-B9AE-412C-8709-47D79A9AC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8400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7" name="U09-DG-052-concept_3-text">
            <a:extLst xmlns:a="http://schemas.openxmlformats.org/drawingml/2006/main">
              <a:ext uri="{FF2B5EF4-FFF2-40B4-BE49-F238E27FC236}">
                <a16:creationId xmlns:a16="http://schemas.microsoft.com/office/drawing/2014/main" id="{C2AE4AB3-376C-41CE-928F-11D53C75C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266" y="19638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Envolvente sellada</a:t>
            </a:r>
          </a:p>
        </p:txBody>
      </p:sp>
      <p:sp>
        <p:nvSpPr>
          <p:cNvPr id="18" name="U09-DG-052-concept_4-box">
            <a:extLst xmlns:a="http://schemas.openxmlformats.org/drawingml/2006/main">
              <a:ext uri="{FF2B5EF4-FFF2-40B4-BE49-F238E27FC236}">
                <a16:creationId xmlns:a16="http://schemas.microsoft.com/office/drawing/2014/main" id="{E6F64057-384A-48DD-A999-000854609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19" name="U09-DG-052-concept_4-text">
            <a:extLst xmlns:a="http://schemas.openxmlformats.org/drawingml/2006/main">
              <a:ext uri="{FF2B5EF4-FFF2-40B4-BE49-F238E27FC236}">
                <a16:creationId xmlns:a16="http://schemas.microsoft.com/office/drawing/2014/main" id="{153D9476-44ED-498C-9D5B-854CE37AE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7796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Menos ingreso exterior</a:t>
            </a:r>
          </a:p>
        </p:txBody>
      </p:sp>
      <p:sp>
        <p:nvSpPr>
          <p:cNvPr id="20" name="U09-DG-052-concept_5-box">
            <a:extLst xmlns:a="http://schemas.openxmlformats.org/drawingml/2006/main">
              <a:ext uri="{FF2B5EF4-FFF2-40B4-BE49-F238E27FC236}">
                <a16:creationId xmlns:a16="http://schemas.microsoft.com/office/drawing/2014/main" id="{88F91346-D024-4B0E-AB6A-F7B5605EC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3573971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1" name="U09-DG-052-concept_5-text">
            <a:extLst xmlns:a="http://schemas.openxmlformats.org/drawingml/2006/main">
              <a:ext uri="{FF2B5EF4-FFF2-40B4-BE49-F238E27FC236}">
                <a16:creationId xmlns:a16="http://schemas.microsoft.com/office/drawing/2014/main" id="{C5564FDA-F031-4247-99E7-71B5BC267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3697796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No son equivalentes</a:t>
            </a:r>
          </a:p>
        </p:txBody>
      </p:sp>
      <p:sp>
        <p:nvSpPr>
          <p:cNvPr id="22" name="caption">
            <a:extLst xmlns:a="http://schemas.openxmlformats.org/drawingml/2006/main">
              <a:ext uri="{FF2B5EF4-FFF2-40B4-BE49-F238E27FC236}">
                <a16:creationId xmlns:a16="http://schemas.microsoft.com/office/drawing/2014/main" id="{FBDAEF7D-FD34-4FC2-97F6-7ACFDA158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la absorción interior puede reducir reflexiones sin impedir el ingreso de ruido exterior. · Producción propia UCASAL · U09-DG-052</a:t>
            </a:r>
          </a:p>
        </p:txBody>
      </p:sp>
      <p:sp>
        <p:nvSpPr>
          <p:cNvPr id="23" name="unit-footer">
            <a:extLst xmlns:a="http://schemas.openxmlformats.org/drawingml/2006/main">
              <a:ext uri="{FF2B5EF4-FFF2-40B4-BE49-F238E27FC236}">
                <a16:creationId xmlns:a16="http://schemas.microsoft.com/office/drawing/2014/main" id="{D7717C69-426E-4BD9-A418-BEF58C5A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Física Acústica · Unidad 9</a:t>
            </a:r>
          </a:p>
        </p:txBody>
      </p:sp>
      <p:sp>
        <p:nvSpPr>
          <p:cNvPr id="2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9858ED6-2DBB-4125-8593-3C7F9A86D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69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op-rail-1">
            <a:extLst xmlns:a="http://schemas.openxmlformats.org/drawingml/2006/main">
              <a:ext uri="{FF2B5EF4-FFF2-40B4-BE49-F238E27FC236}">
                <a16:creationId xmlns:a16="http://schemas.microsoft.com/office/drawing/2014/main" id="{1641B5D7-52AB-4330-9FB4-58FCECFA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F230A968-0BA7-4DE6-B9A5-8FEE8886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06A6B276-2C91-4E88-B53A-F1970797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DB937FA3-3F52-4CC3-8638-C26626D5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3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C6005CF-1448-46FC-B954-6BD60321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cabina como conjunto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5E564B1-1B1A-436F-8E48-7FA493A1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Cabinas y verificación · Diagrama de sistema</a:t>
            </a:r>
          </a:p>
        </p:txBody>
      </p:sp>
      <p:sp>
        <p:nvSpPr>
          <p:cNvPr id="7" name="U09-DG-053-concept_1-anchor">
            <a:extLst xmlns:a="http://schemas.openxmlformats.org/drawingml/2006/main">
              <a:ext uri="{FF2B5EF4-FFF2-40B4-BE49-F238E27FC236}">
                <a16:creationId xmlns:a16="http://schemas.microsoft.com/office/drawing/2014/main" id="{C691C868-0AB9-48EF-AE1B-1A7BCB4D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53-concept_2-anchor">
            <a:extLst xmlns:a="http://schemas.openxmlformats.org/drawingml/2006/main">
              <a:ext uri="{FF2B5EF4-FFF2-40B4-BE49-F238E27FC236}">
                <a16:creationId xmlns:a16="http://schemas.microsoft.com/office/drawing/2014/main" id="{659AD6DD-A4C4-4327-9315-CB20326C7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8400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53-concept_3-anchor">
            <a:extLst xmlns:a="http://schemas.openxmlformats.org/drawingml/2006/main">
              <a:ext uri="{FF2B5EF4-FFF2-40B4-BE49-F238E27FC236}">
                <a16:creationId xmlns:a16="http://schemas.microsoft.com/office/drawing/2014/main" id="{C3A8DFC0-930E-4341-8B7D-0879BDF11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8400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53-concept_4-anchor">
            <a:extLst xmlns:a="http://schemas.openxmlformats.org/drawingml/2006/main">
              <a:ext uri="{FF2B5EF4-FFF2-40B4-BE49-F238E27FC236}">
                <a16:creationId xmlns:a16="http://schemas.microsoft.com/office/drawing/2014/main" id="{44D95B1F-16AF-46AE-8B97-2BCD47488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53-concept_5-anchor">
            <a:extLst xmlns:a="http://schemas.openxmlformats.org/drawingml/2006/main">
              <a:ext uri="{FF2B5EF4-FFF2-40B4-BE49-F238E27FC236}">
                <a16:creationId xmlns:a16="http://schemas.microsoft.com/office/drawing/2014/main" id="{23E359A1-C5CA-4DEC-8ECA-3F5C3C80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3573971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U09-DG-053-visual-alt" descr="U09-DG-053, candidata para diagram-generation, primera mitad de figura 9.6. La composición permite reconocer que envolvente, puerta, visor, sellos, ventilación, pasacables, uniones y apoyos interactúan.">
            <a:extLst xmlns:a="http://schemas.openxmlformats.org/drawingml/2006/main">
              <a:ext uri="{FF2B5EF4-FFF2-40B4-BE49-F238E27FC236}">
                <a16:creationId xmlns:a16="http://schemas.microsoft.com/office/drawing/2014/main" id="{03DFDD47-61DF-4BE4-8784-1FADCBD41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3" name="U09-DG-053-concept_1-text">
            <a:extLst xmlns:a="http://schemas.openxmlformats.org/drawingml/2006/main">
              <a:ext uri="{FF2B5EF4-FFF2-40B4-BE49-F238E27FC236}">
                <a16:creationId xmlns:a16="http://schemas.microsoft.com/office/drawing/2014/main" id="{DBC4CAAE-1CE1-4550-9CCE-CD7F4097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638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Envolvente</a:t>
            </a:r>
          </a:p>
        </p:txBody>
      </p:sp>
      <p:sp>
        <p:nvSpPr>
          <p:cNvPr id="14" name="U09-DG-053-concept_2-box">
            <a:extLst xmlns:a="http://schemas.openxmlformats.org/drawingml/2006/main">
              <a:ext uri="{FF2B5EF4-FFF2-40B4-BE49-F238E27FC236}">
                <a16:creationId xmlns:a16="http://schemas.microsoft.com/office/drawing/2014/main" id="{5DB2023D-3CF0-409E-95FA-94208D6CA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8400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5" name="U09-DG-053-concept_2-text">
            <a:extLst xmlns:a="http://schemas.openxmlformats.org/drawingml/2006/main">
              <a:ext uri="{FF2B5EF4-FFF2-40B4-BE49-F238E27FC236}">
                <a16:creationId xmlns:a16="http://schemas.microsoft.com/office/drawing/2014/main" id="{9AF314B6-21F2-49D9-9708-A80323D4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19638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Puerta y sellos</a:t>
            </a:r>
          </a:p>
        </p:txBody>
      </p:sp>
      <p:sp>
        <p:nvSpPr>
          <p:cNvPr id="16" name="U09-DG-053-concept_3-box">
            <a:extLst xmlns:a="http://schemas.openxmlformats.org/drawingml/2006/main">
              <a:ext uri="{FF2B5EF4-FFF2-40B4-BE49-F238E27FC236}">
                <a16:creationId xmlns:a16="http://schemas.microsoft.com/office/drawing/2014/main" id="{E38EEEEF-10B6-4B61-90FB-D53215270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8400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7" name="U09-DG-053-concept_3-text">
            <a:extLst xmlns:a="http://schemas.openxmlformats.org/drawingml/2006/main">
              <a:ext uri="{FF2B5EF4-FFF2-40B4-BE49-F238E27FC236}">
                <a16:creationId xmlns:a16="http://schemas.microsoft.com/office/drawing/2014/main" id="{0B945153-1B48-4FD7-A442-55735211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266" y="19638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Visor</a:t>
            </a:r>
          </a:p>
        </p:txBody>
      </p:sp>
      <p:sp>
        <p:nvSpPr>
          <p:cNvPr id="18" name="U09-DG-053-concept_4-box">
            <a:extLst xmlns:a="http://schemas.openxmlformats.org/drawingml/2006/main">
              <a:ext uri="{FF2B5EF4-FFF2-40B4-BE49-F238E27FC236}">
                <a16:creationId xmlns:a16="http://schemas.microsoft.com/office/drawing/2014/main" id="{675518A6-4F96-4100-B8E5-4F2EF7DF4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19" name="U09-DG-053-concept_4-text">
            <a:extLst xmlns:a="http://schemas.openxmlformats.org/drawingml/2006/main">
              <a:ext uri="{FF2B5EF4-FFF2-40B4-BE49-F238E27FC236}">
                <a16:creationId xmlns:a16="http://schemas.microsoft.com/office/drawing/2014/main" id="{CECB3B8C-1711-44CD-BE2F-7EFCED17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7796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Ventilación</a:t>
            </a:r>
          </a:p>
        </p:txBody>
      </p:sp>
      <p:sp>
        <p:nvSpPr>
          <p:cNvPr id="20" name="U09-DG-053-concept_5-box">
            <a:extLst xmlns:a="http://schemas.openxmlformats.org/drawingml/2006/main">
              <a:ext uri="{FF2B5EF4-FFF2-40B4-BE49-F238E27FC236}">
                <a16:creationId xmlns:a16="http://schemas.microsoft.com/office/drawing/2014/main" id="{B6A7D42F-E117-4403-A04B-E5E01D16B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3573971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1" name="U09-DG-053-concept_5-text">
            <a:extLst xmlns:a="http://schemas.openxmlformats.org/drawingml/2006/main">
              <a:ext uri="{FF2B5EF4-FFF2-40B4-BE49-F238E27FC236}">
                <a16:creationId xmlns:a16="http://schemas.microsoft.com/office/drawing/2014/main" id="{FAA558E5-FBB9-451B-B186-90200FC79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3697796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Pasacables y uniones</a:t>
            </a:r>
          </a:p>
        </p:txBody>
      </p:sp>
      <p:sp>
        <p:nvSpPr>
          <p:cNvPr id="22" name="caption">
            <a:extLst xmlns:a="http://schemas.openxmlformats.org/drawingml/2006/main">
              <a:ext uri="{FF2B5EF4-FFF2-40B4-BE49-F238E27FC236}">
                <a16:creationId xmlns:a16="http://schemas.microsoft.com/office/drawing/2014/main" id="{E77C6807-D268-46DD-BABD-05153590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envolvente, puerta, visor, sellos, ventilación, pasacables, uniones y apoyos interactúan. · Producción propia UCASAL · U09-DG-053</a:t>
            </a:r>
          </a:p>
        </p:txBody>
      </p:sp>
      <p:sp>
        <p:nvSpPr>
          <p:cNvPr id="23" name="unit-footer">
            <a:extLst xmlns:a="http://schemas.openxmlformats.org/drawingml/2006/main">
              <a:ext uri="{FF2B5EF4-FFF2-40B4-BE49-F238E27FC236}">
                <a16:creationId xmlns:a16="http://schemas.microsoft.com/office/drawing/2014/main" id="{FBC4F1B2-4550-4577-8F70-49328A48C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Física Acústica · Unidad 9</a:t>
            </a:r>
          </a:p>
        </p:txBody>
      </p:sp>
      <p:sp>
        <p:nvSpPr>
          <p:cNvPr id="2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2656C24-FA09-40E6-A689-6ED9485A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70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op-rail-1">
            <a:extLst xmlns:a="http://schemas.openxmlformats.org/drawingml/2006/main">
              <a:ext uri="{FF2B5EF4-FFF2-40B4-BE49-F238E27FC236}">
                <a16:creationId xmlns:a16="http://schemas.microsoft.com/office/drawing/2014/main" id="{CAEB003A-B9A8-4C62-9D59-5448E2CC0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1A1A1CC9-177D-46F0-8268-ED9AAD54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3A91B062-03CA-40E1-BE2D-24D81AAB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1F6D725A-EEA4-4891-A682-9CFE6E02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3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924DBDF-42B0-4B51-AA3D-F55FAB3FC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Por dónde puede ingresar el ruido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8AE7047-8752-474B-8C48-385FFA1F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Cabinas y verificación · Diagrama de rutas</a:t>
            </a:r>
          </a:p>
        </p:txBody>
      </p:sp>
      <p:sp>
        <p:nvSpPr>
          <p:cNvPr id="7" name="U09-DG-054-branch_source-anchor">
            <a:extLst xmlns:a="http://schemas.openxmlformats.org/drawingml/2006/main">
              <a:ext uri="{FF2B5EF4-FFF2-40B4-BE49-F238E27FC236}">
                <a16:creationId xmlns:a16="http://schemas.microsoft.com/office/drawing/2014/main" id="{7DE259DD-5FCD-417B-8811-B4F65D44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953"/>
            <a:ext cx="236601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54-branch_1-anchor">
            <a:extLst xmlns:a="http://schemas.openxmlformats.org/drawingml/2006/main">
              <a:ext uri="{FF2B5EF4-FFF2-40B4-BE49-F238E27FC236}">
                <a16:creationId xmlns:a16="http://schemas.microsoft.com/office/drawing/2014/main" id="{806CF3EB-B4E1-4B73-9A08-E5FC50D4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69041"/>
            <a:ext cx="3680460" cy="64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54-branch_2-anchor">
            <a:extLst xmlns:a="http://schemas.openxmlformats.org/drawingml/2006/main">
              <a:ext uri="{FF2B5EF4-FFF2-40B4-BE49-F238E27FC236}">
                <a16:creationId xmlns:a16="http://schemas.microsoft.com/office/drawing/2014/main" id="{B508505A-A808-419A-9753-0C23CA5C8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50091"/>
            <a:ext cx="3680460" cy="64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54-branch_3-anchor">
            <a:extLst xmlns:a="http://schemas.openxmlformats.org/drawingml/2006/main">
              <a:ext uri="{FF2B5EF4-FFF2-40B4-BE49-F238E27FC236}">
                <a16:creationId xmlns:a16="http://schemas.microsoft.com/office/drawing/2014/main" id="{9B361DD3-56D0-48D0-9EF9-82C8F4B82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31141"/>
            <a:ext cx="3680460" cy="64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54-branch_4-anchor">
            <a:extLst xmlns:a="http://schemas.openxmlformats.org/drawingml/2006/main">
              <a:ext uri="{FF2B5EF4-FFF2-40B4-BE49-F238E27FC236}">
                <a16:creationId xmlns:a16="http://schemas.microsoft.com/office/drawing/2014/main" id="{1E7D34F9-FCA4-4DBD-9FEA-910727362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12191"/>
            <a:ext cx="3680460" cy="64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U09-DG-054-branch_5-anchor">
            <a:extLst xmlns:a="http://schemas.openxmlformats.org/drawingml/2006/main">
              <a:ext uri="{FF2B5EF4-FFF2-40B4-BE49-F238E27FC236}">
                <a16:creationId xmlns:a16="http://schemas.microsoft.com/office/drawing/2014/main" id="{A4CACD37-C150-4100-A18C-2A773476A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93241"/>
            <a:ext cx="3680460" cy="64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5" name="U09-DG-054-branch_edge_1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204210" y="1789272"/>
            <a:ext cx="2891790" cy="142541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6" name="U09-DG-054-branch_edge_2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3204210" y="2570322"/>
            <a:ext cx="2891790" cy="64436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7" name="U09-DG-054-branch_edge_3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204210" y="3214688"/>
            <a:ext cx="2891790" cy="13668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8" name="U09-DG-054-branch_edge_4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204210" y="3214688"/>
            <a:ext cx="2891790" cy="91773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9" name="U09-DG-054-branch_edge_5"/>
          <p:cNvCxnSpPr>
            <a:stCxn xmlns:a="http://schemas.openxmlformats.org/drawingml/2006/main" id="7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204210" y="3214688"/>
            <a:ext cx="2891790" cy="169878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8" name="U09-DG-054-visual-alt" descr="U09-DG-054, candidata para diagram-generation, segunda mitad de figura 9.6. La composición permite reconocer que la ruta dominante puede no atravesar el panel principal.">
            <a:extLst xmlns:a="http://schemas.openxmlformats.org/drawingml/2006/main">
              <a:ext uri="{FF2B5EF4-FFF2-40B4-BE49-F238E27FC236}">
                <a16:creationId xmlns:a16="http://schemas.microsoft.com/office/drawing/2014/main" id="{16CDD09B-0995-4615-9026-2734A9B11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953"/>
            <a:ext cx="236601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9" name="U09-DG-054-branch_source-text">
            <a:extLst xmlns:a="http://schemas.openxmlformats.org/drawingml/2006/main">
              <a:ext uri="{FF2B5EF4-FFF2-40B4-BE49-F238E27FC236}">
                <a16:creationId xmlns:a16="http://schemas.microsoft.com/office/drawing/2014/main" id="{08BBE8E5-8BE1-4152-901B-E43D37B1C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91778"/>
            <a:ext cx="202311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Cabina</a:t>
            </a:r>
          </a:p>
        </p:txBody>
      </p:sp>
      <p:sp>
        <p:nvSpPr>
          <p:cNvPr id="20" name="U09-DG-054-branch_1-box">
            <a:extLst xmlns:a="http://schemas.openxmlformats.org/drawingml/2006/main">
              <a:ext uri="{FF2B5EF4-FFF2-40B4-BE49-F238E27FC236}">
                <a16:creationId xmlns:a16="http://schemas.microsoft.com/office/drawing/2014/main" id="{D7268E92-7313-4B11-A6DB-3C8E24FB1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69041"/>
            <a:ext cx="3680460" cy="640461"/>
          </a:xfrm>
          <a:prstGeom xmlns:a="http://schemas.openxmlformats.org/drawingml/2006/main" prst="roundRect">
            <a:avLst>
              <a:gd name="adj" fmla="val 10410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1" name="U09-DG-054-branch_1-text">
            <a:extLst xmlns:a="http://schemas.openxmlformats.org/drawingml/2006/main">
              <a:ext uri="{FF2B5EF4-FFF2-40B4-BE49-F238E27FC236}">
                <a16:creationId xmlns:a16="http://schemas.microsoft.com/office/drawing/2014/main" id="{61150E1D-2190-4E1C-B1CC-2B5B2A0B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592866"/>
            <a:ext cx="3337560" cy="3928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Transmisión directa</a:t>
            </a:r>
          </a:p>
        </p:txBody>
      </p:sp>
      <p:sp>
        <p:nvSpPr>
          <p:cNvPr id="22" name="U09-DG-054-branch_2-box">
            <a:extLst xmlns:a="http://schemas.openxmlformats.org/drawingml/2006/main">
              <a:ext uri="{FF2B5EF4-FFF2-40B4-BE49-F238E27FC236}">
                <a16:creationId xmlns:a16="http://schemas.microsoft.com/office/drawing/2014/main" id="{E658B0B7-FE40-4C1F-9C00-5BF24DF9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50091"/>
            <a:ext cx="3680460" cy="640461"/>
          </a:xfrm>
          <a:prstGeom xmlns:a="http://schemas.openxmlformats.org/drawingml/2006/main" prst="roundRect">
            <a:avLst>
              <a:gd name="adj" fmla="val 1041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3" name="U09-DG-054-branch_2-text">
            <a:extLst xmlns:a="http://schemas.openxmlformats.org/drawingml/2006/main">
              <a:ext uri="{FF2B5EF4-FFF2-40B4-BE49-F238E27FC236}">
                <a16:creationId xmlns:a16="http://schemas.microsoft.com/office/drawing/2014/main" id="{8BFBAADF-FA95-40E3-8BEB-DB7FC6C60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73916"/>
            <a:ext cx="3337560" cy="3928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Fuga en juntas</a:t>
            </a:r>
          </a:p>
        </p:txBody>
      </p:sp>
      <p:sp>
        <p:nvSpPr>
          <p:cNvPr id="24" name="U09-DG-054-branch_3-box">
            <a:extLst xmlns:a="http://schemas.openxmlformats.org/drawingml/2006/main">
              <a:ext uri="{FF2B5EF4-FFF2-40B4-BE49-F238E27FC236}">
                <a16:creationId xmlns:a16="http://schemas.microsoft.com/office/drawing/2014/main" id="{EA7554EF-051B-4D6D-BCA0-3951CDB2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31141"/>
            <a:ext cx="3680460" cy="640461"/>
          </a:xfrm>
          <a:prstGeom xmlns:a="http://schemas.openxmlformats.org/drawingml/2006/main" prst="roundRect">
            <a:avLst>
              <a:gd name="adj" fmla="val 1041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5" name="U09-DG-054-branch_3-text">
            <a:extLst xmlns:a="http://schemas.openxmlformats.org/drawingml/2006/main">
              <a:ext uri="{FF2B5EF4-FFF2-40B4-BE49-F238E27FC236}">
                <a16:creationId xmlns:a16="http://schemas.microsoft.com/office/drawing/2014/main" id="{A82DF5EB-B1FA-416B-987C-26D49BDF6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54966"/>
            <a:ext cx="3337560" cy="3928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Conducto</a:t>
            </a:r>
          </a:p>
        </p:txBody>
      </p:sp>
      <p:sp>
        <p:nvSpPr>
          <p:cNvPr id="26" name="U09-DG-054-branch_4-box">
            <a:extLst xmlns:a="http://schemas.openxmlformats.org/drawingml/2006/main">
              <a:ext uri="{FF2B5EF4-FFF2-40B4-BE49-F238E27FC236}">
                <a16:creationId xmlns:a16="http://schemas.microsoft.com/office/drawing/2014/main" id="{5307378E-39DE-4B34-BB7D-C7E41B2D3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12191"/>
            <a:ext cx="3680460" cy="640461"/>
          </a:xfrm>
          <a:prstGeom xmlns:a="http://schemas.openxmlformats.org/drawingml/2006/main" prst="roundRect">
            <a:avLst>
              <a:gd name="adj" fmla="val 1041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7" name="U09-DG-054-branch_4-text">
            <a:extLst xmlns:a="http://schemas.openxmlformats.org/drawingml/2006/main">
              <a:ext uri="{FF2B5EF4-FFF2-40B4-BE49-F238E27FC236}">
                <a16:creationId xmlns:a16="http://schemas.microsoft.com/office/drawing/2014/main" id="{E168EF69-3087-46CB-AE99-805E39057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36016"/>
            <a:ext cx="3337560" cy="3928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Flanqueo</a:t>
            </a:r>
          </a:p>
        </p:txBody>
      </p:sp>
      <p:sp>
        <p:nvSpPr>
          <p:cNvPr id="28" name="U09-DG-054-branch_5-box">
            <a:extLst xmlns:a="http://schemas.openxmlformats.org/drawingml/2006/main">
              <a:ext uri="{FF2B5EF4-FFF2-40B4-BE49-F238E27FC236}">
                <a16:creationId xmlns:a16="http://schemas.microsoft.com/office/drawing/2014/main" id="{545B3C78-7E2F-4EFA-B1BA-170A590EC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93241"/>
            <a:ext cx="3680460" cy="640461"/>
          </a:xfrm>
          <a:prstGeom xmlns:a="http://schemas.openxmlformats.org/drawingml/2006/main" prst="roundRect">
            <a:avLst>
              <a:gd name="adj" fmla="val 10410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9" name="U09-DG-054-branch_5-text">
            <a:extLst xmlns:a="http://schemas.openxmlformats.org/drawingml/2006/main">
              <a:ext uri="{FF2B5EF4-FFF2-40B4-BE49-F238E27FC236}">
                <a16:creationId xmlns:a16="http://schemas.microsoft.com/office/drawing/2014/main" id="{1FDD892D-7411-4B78-9F92-73BBE9D8F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17066"/>
            <a:ext cx="3337560" cy="3928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Vibración y ruido propio</a:t>
            </a:r>
          </a:p>
        </p:txBody>
      </p:sp>
      <p:sp>
        <p:nvSpPr>
          <p:cNvPr id="30" name="caption">
            <a:extLst xmlns:a="http://schemas.openxmlformats.org/drawingml/2006/main">
              <a:ext uri="{FF2B5EF4-FFF2-40B4-BE49-F238E27FC236}">
                <a16:creationId xmlns:a16="http://schemas.microsoft.com/office/drawing/2014/main" id="{4A17CEBC-898A-41ED-AF7A-D26F7B0A6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la ruta dominante puede no atravesar el panel principal. · Producción propia UCASAL · U09-DG-054</a:t>
            </a:r>
          </a:p>
        </p:txBody>
      </p:sp>
      <p:sp>
        <p:nvSpPr>
          <p:cNvPr id="31" name="unit-footer">
            <a:extLst xmlns:a="http://schemas.openxmlformats.org/drawingml/2006/main">
              <a:ext uri="{FF2B5EF4-FFF2-40B4-BE49-F238E27FC236}">
                <a16:creationId xmlns:a16="http://schemas.microsoft.com/office/drawing/2014/main" id="{A33363F6-5768-4A72-860F-6CC4590B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Física Acústica · Unidad 9</a:t>
            </a:r>
          </a:p>
        </p:txBody>
      </p:sp>
      <p:sp>
        <p:nvSpPr>
          <p:cNvPr id="3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E284900-6975-4ABE-9470-FCB819F27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71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op-rail-1">
            <a:extLst xmlns:a="http://schemas.openxmlformats.org/drawingml/2006/main">
              <a:ext uri="{FF2B5EF4-FFF2-40B4-BE49-F238E27FC236}">
                <a16:creationId xmlns:a16="http://schemas.microsoft.com/office/drawing/2014/main" id="{110EE292-2A23-405A-B0F6-B938BA60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CEE0A229-F880-4034-9C77-B99FE8F57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44215905-93E8-45AE-8EC8-EA98FFBE6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70F8B3F9-E85C-457E-A3FC-421DEC4E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3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41140A2-D133-462A-BD7E-5D078709E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Verificar una cabina es verificar un sistema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6B2E511-F822-42CC-90A3-CA12AD9C1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Cabinas y verificación · Proceso</a:t>
            </a:r>
          </a:p>
        </p:txBody>
      </p:sp>
      <p:sp>
        <p:nvSpPr>
          <p:cNvPr id="7" name="U09-DG-055-step_1-anchor">
            <a:extLst xmlns:a="http://schemas.openxmlformats.org/drawingml/2006/main">
              <a:ext uri="{FF2B5EF4-FFF2-40B4-BE49-F238E27FC236}">
                <a16:creationId xmlns:a16="http://schemas.microsoft.com/office/drawing/2014/main" id="{51C1EA72-0F19-4FD4-AA06-AB153117F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55-step_2-anchor">
            <a:extLst xmlns:a="http://schemas.openxmlformats.org/drawingml/2006/main">
              <a:ext uri="{FF2B5EF4-FFF2-40B4-BE49-F238E27FC236}">
                <a16:creationId xmlns:a16="http://schemas.microsoft.com/office/drawing/2014/main" id="{A14E90C0-51D5-4C78-858F-5E515DCA9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55-step_3-anchor">
            <a:extLst xmlns:a="http://schemas.openxmlformats.org/drawingml/2006/main">
              <a:ext uri="{FF2B5EF4-FFF2-40B4-BE49-F238E27FC236}">
                <a16:creationId xmlns:a16="http://schemas.microsoft.com/office/drawing/2014/main" id="{0FDD14D5-EE6E-4EC5-B985-07D29448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55-step_4-anchor">
            <a:extLst xmlns:a="http://schemas.openxmlformats.org/drawingml/2006/main">
              <a:ext uri="{FF2B5EF4-FFF2-40B4-BE49-F238E27FC236}">
                <a16:creationId xmlns:a16="http://schemas.microsoft.com/office/drawing/2014/main" id="{0C2DC197-B7B8-4D10-8BB9-44F1D1FA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55-step_5-anchor">
            <a:extLst xmlns:a="http://schemas.openxmlformats.org/drawingml/2006/main">
              <a:ext uri="{FF2B5EF4-FFF2-40B4-BE49-F238E27FC236}">
                <a16:creationId xmlns:a16="http://schemas.microsoft.com/office/drawing/2014/main" id="{95FB1DE0-AD12-4DD2-ADAF-F2AA73203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0" name="U09-DG-055-flow_1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46710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1" name="U09-DG-055-flow_2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05993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2" name="U09-DG-055-flow_3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9338310" y="2941321"/>
            <a:ext cx="0" cy="741997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3" name="U09-DG-055-flow_4"/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7059930" y="424958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U09-DG-055-visual-alt" descr="U09-DG-055, candidata para diagram-generation. La composición permite reconocer que la aptitud depende de prueba, vía, transductor, bandas, nivel mínimo y procedimiento.">
            <a:extLst xmlns:a="http://schemas.openxmlformats.org/drawingml/2006/main">
              <a:ext uri="{FF2B5EF4-FFF2-40B4-BE49-F238E27FC236}">
                <a16:creationId xmlns:a16="http://schemas.microsoft.com/office/drawing/2014/main" id="{F3977A79-15EF-4314-91EC-D062F7943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7" name="U09-DG-055-step_1-text">
            <a:extLst xmlns:a="http://schemas.openxmlformats.org/drawingml/2006/main">
              <a:ext uri="{FF2B5EF4-FFF2-40B4-BE49-F238E27FC236}">
                <a16:creationId xmlns:a16="http://schemas.microsoft.com/office/drawing/2014/main" id="{9AA23213-7911-4370-AAF8-4C73E3C71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1 · Prueba</a:t>
            </a:r>
          </a:p>
        </p:txBody>
      </p:sp>
      <p:sp>
        <p:nvSpPr>
          <p:cNvPr id="18" name="U09-DG-055-step_2-box">
            <a:extLst xmlns:a="http://schemas.openxmlformats.org/drawingml/2006/main">
              <a:ext uri="{FF2B5EF4-FFF2-40B4-BE49-F238E27FC236}">
                <a16:creationId xmlns:a16="http://schemas.microsoft.com/office/drawing/2014/main" id="{EF04F195-D231-4162-AA87-4A842CE8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9" name="U09-DG-055-step_2-text">
            <a:extLst xmlns:a="http://schemas.openxmlformats.org/drawingml/2006/main">
              <a:ext uri="{FF2B5EF4-FFF2-40B4-BE49-F238E27FC236}">
                <a16:creationId xmlns:a16="http://schemas.microsoft.com/office/drawing/2014/main" id="{165F446E-2460-44AE-9DB2-8D7F516D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2 · criterio</a:t>
            </a:r>
          </a:p>
        </p:txBody>
      </p:sp>
      <p:sp>
        <p:nvSpPr>
          <p:cNvPr id="20" name="U09-DG-055-step_3-box">
            <a:extLst xmlns:a="http://schemas.openxmlformats.org/drawingml/2006/main">
              <a:ext uri="{FF2B5EF4-FFF2-40B4-BE49-F238E27FC236}">
                <a16:creationId xmlns:a16="http://schemas.microsoft.com/office/drawing/2014/main" id="{0B14A2AD-D760-4CCA-BECA-17B580579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1" name="U09-DG-055-step_3-text">
            <a:extLst xmlns:a="http://schemas.openxmlformats.org/drawingml/2006/main">
              <a:ext uri="{FF2B5EF4-FFF2-40B4-BE49-F238E27FC236}">
                <a16:creationId xmlns:a16="http://schemas.microsoft.com/office/drawing/2014/main" id="{88B8918C-0C42-4970-B7B9-558B27408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 · medición por bandas</a:t>
            </a:r>
          </a:p>
        </p:txBody>
      </p:sp>
      <p:sp>
        <p:nvSpPr>
          <p:cNvPr id="22" name="U09-DG-055-step_4-box">
            <a:extLst xmlns:a="http://schemas.openxmlformats.org/drawingml/2006/main">
              <a:ext uri="{FF2B5EF4-FFF2-40B4-BE49-F238E27FC236}">
                <a16:creationId xmlns:a16="http://schemas.microsoft.com/office/drawing/2014/main" id="{A68E0238-D7EF-47AA-971F-DFD6249C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3" name="U09-DG-055-step_4-text">
            <a:extLst xmlns:a="http://schemas.openxmlformats.org/drawingml/2006/main">
              <a:ext uri="{FF2B5EF4-FFF2-40B4-BE49-F238E27FC236}">
                <a16:creationId xmlns:a16="http://schemas.microsoft.com/office/drawing/2014/main" id="{2B8C551D-EBD5-4DAE-AAA8-65ED17D1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4 · comparación</a:t>
            </a:r>
          </a:p>
        </p:txBody>
      </p:sp>
      <p:sp>
        <p:nvSpPr>
          <p:cNvPr id="24" name="U09-DG-055-step_5-box">
            <a:extLst xmlns:a="http://schemas.openxmlformats.org/drawingml/2006/main">
              <a:ext uri="{FF2B5EF4-FFF2-40B4-BE49-F238E27FC236}">
                <a16:creationId xmlns:a16="http://schemas.microsoft.com/office/drawing/2014/main" id="{4944B926-B360-4B16-9B41-024251E1B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5" name="U09-DG-055-step_5-text">
            <a:extLst xmlns:a="http://schemas.openxmlformats.org/drawingml/2006/main">
              <a:ext uri="{FF2B5EF4-FFF2-40B4-BE49-F238E27FC236}">
                <a16:creationId xmlns:a16="http://schemas.microsoft.com/office/drawing/2014/main" id="{4880C407-F990-4347-8ACB-5D79143BA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5 · documentación</a:t>
            </a:r>
          </a:p>
        </p:txBody>
      </p:sp>
      <p:sp>
        <p:nvSpPr>
          <p:cNvPr id="26" name="caption">
            <a:extLst xmlns:a="http://schemas.openxmlformats.org/drawingml/2006/main">
              <a:ext uri="{FF2B5EF4-FFF2-40B4-BE49-F238E27FC236}">
                <a16:creationId xmlns:a16="http://schemas.microsoft.com/office/drawing/2014/main" id="{2E61FD3C-61D9-4BC1-9BFD-4710B7B88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la aptitud depende de prueba, vía, transductor, bandas, nivel mínimo y procedimiento. · Producción propia UCASAL · U09-DG-055</a:t>
            </a:r>
          </a:p>
        </p:txBody>
      </p:sp>
      <p:sp>
        <p:nvSpPr>
          <p:cNvPr id="27" name="unit-footer">
            <a:extLst xmlns:a="http://schemas.openxmlformats.org/drawingml/2006/main">
              <a:ext uri="{FF2B5EF4-FFF2-40B4-BE49-F238E27FC236}">
                <a16:creationId xmlns:a16="http://schemas.microsoft.com/office/drawing/2014/main" id="{7ADB7DC0-7153-497C-9397-5CB72792E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Física Acústica · Unidad 9</a:t>
            </a:r>
          </a:p>
        </p:txBody>
      </p:sp>
      <p:sp>
        <p:nvSpPr>
          <p:cNvPr id="2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828A498-CB31-485C-962A-791375FEA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72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op-rail-1">
            <a:extLst xmlns:a="http://schemas.openxmlformats.org/drawingml/2006/main">
              <a:ext uri="{FF2B5EF4-FFF2-40B4-BE49-F238E27FC236}">
                <a16:creationId xmlns:a16="http://schemas.microsoft.com/office/drawing/2014/main" id="{D3BC470F-EC60-498E-A45C-6242F537C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310CD2CB-3BF6-407F-879C-9116876F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2C612E41-CF9C-4A9F-89A2-9AB495BC8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1ADF74C5-2E2D-4D2D-A9E6-0870D19F2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3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AD6728A-9AA4-472D-BFD6-05AB886A5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dB(A) global frente a niveles por bandas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C5FD881-4D9F-45D6-A2AA-E6EAD4C2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Cabinas y verificación · Comparación</a:t>
            </a:r>
          </a:p>
        </p:txBody>
      </p:sp>
      <p:pic>
        <p:nvPicPr>
          <p:cNvPr id="20" name="U09-CH-009-chart" descr="U09-CH-009 comparación conceptual global/bandas. La composición permite reconocer que un valor global no sustituye límites por bandas y condiciones audiométrica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fb107af5be429b">
            <a:extLst>
              <a:ext uri="{96DAC541-7B7A-43D3-8B79-37D633B846F1}">
                <asvg:svgBlip xmlns:asvg="http://schemas.microsoft.com/office/drawing/2016/SVG/main" r:embed="Rd0867ebbc7314a1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0550" y="1476375"/>
            <a:ext cx="7048500" cy="4238625"/>
          </a:xfrm>
          <a:prstGeom xmlns:a="http://schemas.openxmlformats.org/drawingml/2006/main" prst="rect">
            <a:avLst/>
          </a:prstGeom>
        </p:spPr>
      </p:pic>
      <p:sp>
        <p:nvSpPr>
          <p:cNvPr id="8" name="chart-reading-box">
            <a:extLst xmlns:a="http://schemas.openxmlformats.org/drawingml/2006/main">
              <a:ext uri="{FF2B5EF4-FFF2-40B4-BE49-F238E27FC236}">
                <a16:creationId xmlns:a16="http://schemas.microsoft.com/office/drawing/2014/main" id="{42F6BE05-5BD6-4945-99AC-C9121877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809750"/>
            <a:ext cx="3429000" cy="2762250"/>
          </a:xfrm>
          <a:prstGeom xmlns:a="http://schemas.openxmlformats.org/drawingml/2006/main" prst="roundRect">
            <a:avLst>
              <a:gd name="adj" fmla="val 206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9525">
            <a:solidFill>
              <a:srgbClr val="D9DCE0"/>
            </a:solidFill>
            <a:prstDash val="solid"/>
          </a:ln>
        </p:spPr>
      </p:sp>
      <p:sp>
        <p:nvSpPr>
          <p:cNvPr id="9" name="chart-reading-title">
            <a:extLst xmlns:a="http://schemas.openxmlformats.org/drawingml/2006/main">
              <a:ext uri="{FF2B5EF4-FFF2-40B4-BE49-F238E27FC236}">
                <a16:creationId xmlns:a16="http://schemas.microsoft.com/office/drawing/2014/main" id="{C9138C84-1EEB-428A-AE3E-B6BB57C4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95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Qué observar</a:t>
            </a:r>
          </a:p>
        </p:txBody>
      </p:sp>
      <p:sp>
        <p:nvSpPr>
          <p:cNvPr id="10" name="chart-reading-body">
            <a:extLst xmlns:a="http://schemas.openxmlformats.org/drawingml/2006/main">
              <a:ext uri="{FF2B5EF4-FFF2-40B4-BE49-F238E27FC236}">
                <a16:creationId xmlns:a16="http://schemas.microsoft.com/office/drawing/2014/main" id="{160F0F13-7E5C-4A7E-853B-904E2AD6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47950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Un valor global no sustituye límites por bandas y condiciones audiométricas. Dos representaciones sin cifras normativas: valor global y espectro por bandas. Preguntas que cada una permite responder.</a:t>
            </a:r>
          </a:p>
        </p:txBody>
      </p:sp>
      <p:sp>
        <p:nvSpPr>
          <p:cNvPr id="11" name="caption">
            <a:extLst xmlns:a="http://schemas.openxmlformats.org/drawingml/2006/main">
              <a:ext uri="{FF2B5EF4-FFF2-40B4-BE49-F238E27FC236}">
                <a16:creationId xmlns:a16="http://schemas.microsoft.com/office/drawing/2014/main" id="{16BCE0E7-5104-48D3-A06E-5B94E644A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Lectura propuesta: un valor global no sustituye límites por bandas y condiciones audiométricas. · Producción propia UCASAL · U09-CH-009</a:t>
            </a:r>
          </a:p>
        </p:txBody>
      </p:sp>
      <p:sp>
        <p:nvSpPr>
          <p:cNvPr id="12" name="unit-footer">
            <a:extLst xmlns:a="http://schemas.openxmlformats.org/drawingml/2006/main">
              <a:ext uri="{FF2B5EF4-FFF2-40B4-BE49-F238E27FC236}">
                <a16:creationId xmlns:a16="http://schemas.microsoft.com/office/drawing/2014/main" id="{55018FD1-A5B0-40BC-A5C3-5A7250B8C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Física Acústica · Unidad 9</a:t>
            </a:r>
          </a:p>
        </p:txBody>
      </p:sp>
      <p:sp>
        <p:nvSpPr>
          <p:cNvPr id="1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C6C35A6-B066-488F-A6B9-4E480C122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73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op-rail-1">
            <a:extLst xmlns:a="http://schemas.openxmlformats.org/drawingml/2006/main">
              <a:ext uri="{FF2B5EF4-FFF2-40B4-BE49-F238E27FC236}">
                <a16:creationId xmlns:a16="http://schemas.microsoft.com/office/drawing/2014/main" id="{DF3D36AB-E30E-43BC-807E-8145A58AF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AE4BB456-6314-46BE-B39E-E263F6658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5B720D18-A09C-48AD-AF11-AF1E01D6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E124174B-6BA1-4469-86E4-F524C76BC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3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02B020B-4677-4DF7-9F6B-356548542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 “máximo permitido” necesita contexto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E9F6A80-9644-4379-8449-4041ED989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Cabinas y verificación · Checklist normativo</a:t>
            </a:r>
          </a:p>
        </p:txBody>
      </p:sp>
      <p:sp>
        <p:nvSpPr>
          <p:cNvPr id="7" name="U09-DG-056-concept_1-anchor">
            <a:extLst xmlns:a="http://schemas.openxmlformats.org/drawingml/2006/main">
              <a:ext uri="{FF2B5EF4-FFF2-40B4-BE49-F238E27FC236}">
                <a16:creationId xmlns:a16="http://schemas.microsoft.com/office/drawing/2014/main" id="{F0CC5BBE-6F60-4A1F-BB2F-389206DD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56-concept_2-anchor">
            <a:extLst xmlns:a="http://schemas.openxmlformats.org/drawingml/2006/main">
              <a:ext uri="{FF2B5EF4-FFF2-40B4-BE49-F238E27FC236}">
                <a16:creationId xmlns:a16="http://schemas.microsoft.com/office/drawing/2014/main" id="{E5900B7A-B463-4C12-BD88-421CA9456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181" y="1840040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56-concept_3-anchor">
            <a:extLst xmlns:a="http://schemas.openxmlformats.org/drawingml/2006/main">
              <a:ext uri="{FF2B5EF4-FFF2-40B4-BE49-F238E27FC236}">
                <a16:creationId xmlns:a16="http://schemas.microsoft.com/office/drawing/2014/main" id="{EE7CAB3E-1BF6-427F-82F2-936EF147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1840040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56-concept_4-anchor">
            <a:extLst xmlns:a="http://schemas.openxmlformats.org/drawingml/2006/main">
              <a:ext uri="{FF2B5EF4-FFF2-40B4-BE49-F238E27FC236}">
                <a16:creationId xmlns:a16="http://schemas.microsoft.com/office/drawing/2014/main" id="{92C0E04B-1ED8-4849-BB95-0786385B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3143" y="1840040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56-concept_5-anchor">
            <a:extLst xmlns:a="http://schemas.openxmlformats.org/drawingml/2006/main">
              <a:ext uri="{FF2B5EF4-FFF2-40B4-BE49-F238E27FC236}">
                <a16:creationId xmlns:a16="http://schemas.microsoft.com/office/drawing/2014/main" id="{6EDD27C4-BB54-44A1-A788-43B39ED4A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U09-DG-056-concept_6-anchor">
            <a:extLst xmlns:a="http://schemas.openxmlformats.org/drawingml/2006/main">
              <a:ext uri="{FF2B5EF4-FFF2-40B4-BE49-F238E27FC236}">
                <a16:creationId xmlns:a16="http://schemas.microsoft.com/office/drawing/2014/main" id="{0A065AF9-DC3F-4DD7-A00D-40F1EB78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181" y="3573971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U09-DG-056-concept_7-anchor">
            <a:extLst xmlns:a="http://schemas.openxmlformats.org/drawingml/2006/main">
              <a:ext uri="{FF2B5EF4-FFF2-40B4-BE49-F238E27FC236}">
                <a16:creationId xmlns:a16="http://schemas.microsoft.com/office/drawing/2014/main" id="{B2C97CF5-B191-4C47-8C01-656493EDE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3573971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U09-DG-056-visual-alt" descr="U09-DG-056, candidata para diagram-generation. La composición permite reconocer que norma, edición, adopción, vía, transductor, bandas y menor nivel de prueba deben estar declarados.">
            <a:extLst xmlns:a="http://schemas.openxmlformats.org/drawingml/2006/main">
              <a:ext uri="{FF2B5EF4-FFF2-40B4-BE49-F238E27FC236}">
                <a16:creationId xmlns:a16="http://schemas.microsoft.com/office/drawing/2014/main" id="{06B58C59-C212-4FD2-B34F-21532F673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5" name="U09-DG-056-concept_1-text">
            <a:extLst xmlns:a="http://schemas.openxmlformats.org/drawingml/2006/main">
              <a:ext uri="{FF2B5EF4-FFF2-40B4-BE49-F238E27FC236}">
                <a16:creationId xmlns:a16="http://schemas.microsoft.com/office/drawing/2014/main" id="{AC740448-7B5C-4141-84C2-2FAFC6CE5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63865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Norma</a:t>
            </a:r>
          </a:p>
        </p:txBody>
      </p:sp>
      <p:sp>
        <p:nvSpPr>
          <p:cNvPr id="16" name="U09-DG-056-concept_2-box">
            <a:extLst xmlns:a="http://schemas.openxmlformats.org/drawingml/2006/main">
              <a:ext uri="{FF2B5EF4-FFF2-40B4-BE49-F238E27FC236}">
                <a16:creationId xmlns:a16="http://schemas.microsoft.com/office/drawing/2014/main" id="{CE869614-C816-4579-8B5C-11ED1BC82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181" y="1840040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7" name="U09-DG-056-concept_2-text">
            <a:extLst xmlns:a="http://schemas.openxmlformats.org/drawingml/2006/main">
              <a:ext uri="{FF2B5EF4-FFF2-40B4-BE49-F238E27FC236}">
                <a16:creationId xmlns:a16="http://schemas.microsoft.com/office/drawing/2014/main" id="{16EE4B4A-525F-4E1F-BE38-2A16C8D4B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631" y="1963865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edición</a:t>
            </a:r>
          </a:p>
        </p:txBody>
      </p:sp>
      <p:sp>
        <p:nvSpPr>
          <p:cNvPr id="18" name="U09-DG-056-concept_3-box">
            <a:extLst xmlns:a="http://schemas.openxmlformats.org/drawingml/2006/main">
              <a:ext uri="{FF2B5EF4-FFF2-40B4-BE49-F238E27FC236}">
                <a16:creationId xmlns:a16="http://schemas.microsoft.com/office/drawing/2014/main" id="{07CAE1D9-40BF-49C7-A97A-DC83031F9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1840040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9" name="U09-DG-056-concept_3-text">
            <a:extLst xmlns:a="http://schemas.openxmlformats.org/drawingml/2006/main">
              <a:ext uri="{FF2B5EF4-FFF2-40B4-BE49-F238E27FC236}">
                <a16:creationId xmlns:a16="http://schemas.microsoft.com/office/drawing/2014/main" id="{4C9D2BB4-A655-421E-9099-A64CF3DF7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9612" y="1963865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adopción</a:t>
            </a:r>
          </a:p>
        </p:txBody>
      </p:sp>
      <p:sp>
        <p:nvSpPr>
          <p:cNvPr id="20" name="U09-DG-056-concept_4-box">
            <a:extLst xmlns:a="http://schemas.openxmlformats.org/drawingml/2006/main">
              <a:ext uri="{FF2B5EF4-FFF2-40B4-BE49-F238E27FC236}">
                <a16:creationId xmlns:a16="http://schemas.microsoft.com/office/drawing/2014/main" id="{C2E084A2-FD56-4835-A26A-FA6184CB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3143" y="1840040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1" name="U09-DG-056-concept_4-text">
            <a:extLst xmlns:a="http://schemas.openxmlformats.org/drawingml/2006/main">
              <a:ext uri="{FF2B5EF4-FFF2-40B4-BE49-F238E27FC236}">
                <a16:creationId xmlns:a16="http://schemas.microsoft.com/office/drawing/2014/main" id="{37A5A2A0-7119-455D-A2AE-C1A6DDB98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4593" y="1963865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vía</a:t>
            </a:r>
          </a:p>
        </p:txBody>
      </p:sp>
      <p:sp>
        <p:nvSpPr>
          <p:cNvPr id="22" name="U09-DG-056-concept_5-box">
            <a:extLst xmlns:a="http://schemas.openxmlformats.org/drawingml/2006/main">
              <a:ext uri="{FF2B5EF4-FFF2-40B4-BE49-F238E27FC236}">
                <a16:creationId xmlns:a16="http://schemas.microsoft.com/office/drawing/2014/main" id="{942307EA-606F-4AFE-9191-82C104DB9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3" name="U09-DG-056-concept_5-text">
            <a:extLst xmlns:a="http://schemas.openxmlformats.org/drawingml/2006/main">
              <a:ext uri="{FF2B5EF4-FFF2-40B4-BE49-F238E27FC236}">
                <a16:creationId xmlns:a16="http://schemas.microsoft.com/office/drawing/2014/main" id="{11A0E66D-9C82-4964-91CE-A1087A3EA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7796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transductor</a:t>
            </a:r>
          </a:p>
        </p:txBody>
      </p:sp>
      <p:sp>
        <p:nvSpPr>
          <p:cNvPr id="24" name="U09-DG-056-concept_6-box">
            <a:extLst xmlns:a="http://schemas.openxmlformats.org/drawingml/2006/main">
              <a:ext uri="{FF2B5EF4-FFF2-40B4-BE49-F238E27FC236}">
                <a16:creationId xmlns:a16="http://schemas.microsoft.com/office/drawing/2014/main" id="{0DA5CDE1-DB9F-4064-9814-050671B8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181" y="3573971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5" name="U09-DG-056-concept_6-text">
            <a:extLst xmlns:a="http://schemas.openxmlformats.org/drawingml/2006/main">
              <a:ext uri="{FF2B5EF4-FFF2-40B4-BE49-F238E27FC236}">
                <a16:creationId xmlns:a16="http://schemas.microsoft.com/office/drawing/2014/main" id="{B13B071E-052C-447B-96B1-AB38FDF82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631" y="3697796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bandas</a:t>
            </a:r>
          </a:p>
        </p:txBody>
      </p:sp>
      <p:sp>
        <p:nvSpPr>
          <p:cNvPr id="26" name="U09-DG-056-concept_7-box">
            <a:extLst xmlns:a="http://schemas.openxmlformats.org/drawingml/2006/main">
              <a:ext uri="{FF2B5EF4-FFF2-40B4-BE49-F238E27FC236}">
                <a16:creationId xmlns:a16="http://schemas.microsoft.com/office/drawing/2014/main" id="{CE6D0CDF-4EB6-43F7-B64C-F756CF20D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3573971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7" name="U09-DG-056-concept_7-text">
            <a:extLst xmlns:a="http://schemas.openxmlformats.org/drawingml/2006/main">
              <a:ext uri="{FF2B5EF4-FFF2-40B4-BE49-F238E27FC236}">
                <a16:creationId xmlns:a16="http://schemas.microsoft.com/office/drawing/2014/main" id="{5E5E957D-2AD0-48BD-9AEC-55ADDC7DF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9612" y="3697796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menor nivel</a:t>
            </a:r>
          </a:p>
        </p:txBody>
      </p:sp>
      <p:sp>
        <p:nvSpPr>
          <p:cNvPr id="28" name="caption">
            <a:extLst xmlns:a="http://schemas.openxmlformats.org/drawingml/2006/main">
              <a:ext uri="{FF2B5EF4-FFF2-40B4-BE49-F238E27FC236}">
                <a16:creationId xmlns:a16="http://schemas.microsoft.com/office/drawing/2014/main" id="{51E170D9-CEB5-437C-AD53-3D9703FD3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norma, edición, adopción, vía, transductor, bandas y menor nivel de prueba deben estar declarados. · Producción propia UCASAL · U09-DG-056</a:t>
            </a:r>
          </a:p>
        </p:txBody>
      </p:sp>
      <p:sp>
        <p:nvSpPr>
          <p:cNvPr id="29" name="unit-footer">
            <a:extLst xmlns:a="http://schemas.openxmlformats.org/drawingml/2006/main">
              <a:ext uri="{FF2B5EF4-FFF2-40B4-BE49-F238E27FC236}">
                <a16:creationId xmlns:a16="http://schemas.microsoft.com/office/drawing/2014/main" id="{26E8E43C-E91D-4BDD-81C5-3DA8E90E3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Física Acústica · Unidad 9</a:t>
            </a:r>
          </a:p>
        </p:txBody>
      </p:sp>
      <p:sp>
        <p:nvSpPr>
          <p:cNvPr id="3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5A0A72B-55A7-42C2-BC0E-36C6A1F98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74</a:t>
            </a:r>
          </a:p>
        </p:txBody>
      </p:sp>
    </p:spTree>
    <p:extLst>
      <p:ext uri="{BB962C8B-B14F-4D97-AF65-F5344CB8AC3E}">
        <p14:creationId xmlns:p14="http://schemas.microsoft.com/office/powerpoint/2010/main" val="34619112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op-rail-1">
            <a:extLst xmlns:a="http://schemas.openxmlformats.org/drawingml/2006/main">
              <a:ext uri="{FF2B5EF4-FFF2-40B4-BE49-F238E27FC236}">
                <a16:creationId xmlns:a16="http://schemas.microsoft.com/office/drawing/2014/main" id="{61361B2F-2541-497F-A2F9-BA88342EC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263DB3E8-55CE-4AC0-8432-2FBB23A3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B09CF924-1422-4075-9CC3-FB35925BC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C475DB36-ED68-4A12-8687-2C3BDC3C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3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AE6B274-CF24-4BA0-934C-89EB63C0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“La cabina tiene 28 dB(A)”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13D3B57-2B2E-4CE9-98C1-00DDD692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Cabinas y verificación · Aplicación crítica</a:t>
            </a:r>
          </a:p>
        </p:txBody>
      </p:sp>
      <p:sp>
        <p:nvSpPr>
          <p:cNvPr id="7" name="U09-DG-057-concept_1-anchor">
            <a:extLst xmlns:a="http://schemas.openxmlformats.org/drawingml/2006/main">
              <a:ext uri="{FF2B5EF4-FFF2-40B4-BE49-F238E27FC236}">
                <a16:creationId xmlns:a16="http://schemas.microsoft.com/office/drawing/2014/main" id="{E5DD2F74-57A6-45AA-8827-A590EC24D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57-concept_2-anchor">
            <a:extLst xmlns:a="http://schemas.openxmlformats.org/drawingml/2006/main">
              <a:ext uri="{FF2B5EF4-FFF2-40B4-BE49-F238E27FC236}">
                <a16:creationId xmlns:a16="http://schemas.microsoft.com/office/drawing/2014/main" id="{A8FD6D62-FB68-42CD-8A02-EFB04266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181" y="1840040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57-concept_3-anchor">
            <a:extLst xmlns:a="http://schemas.openxmlformats.org/drawingml/2006/main">
              <a:ext uri="{FF2B5EF4-FFF2-40B4-BE49-F238E27FC236}">
                <a16:creationId xmlns:a16="http://schemas.microsoft.com/office/drawing/2014/main" id="{2DC23F2F-5C79-47B1-B5C8-F86289C83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1840040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57-concept_4-anchor">
            <a:extLst xmlns:a="http://schemas.openxmlformats.org/drawingml/2006/main">
              <a:ext uri="{FF2B5EF4-FFF2-40B4-BE49-F238E27FC236}">
                <a16:creationId xmlns:a16="http://schemas.microsoft.com/office/drawing/2014/main" id="{2E8CA4D3-4CBE-41B9-A188-3A5F9F43A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3143" y="1840040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57-concept_5-anchor">
            <a:extLst xmlns:a="http://schemas.openxmlformats.org/drawingml/2006/main">
              <a:ext uri="{FF2B5EF4-FFF2-40B4-BE49-F238E27FC236}">
                <a16:creationId xmlns:a16="http://schemas.microsoft.com/office/drawing/2014/main" id="{43C3CA18-C1B2-4AA7-9952-707CE490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U09-DG-057-concept_6-anchor">
            <a:extLst xmlns:a="http://schemas.openxmlformats.org/drawingml/2006/main">
              <a:ext uri="{FF2B5EF4-FFF2-40B4-BE49-F238E27FC236}">
                <a16:creationId xmlns:a16="http://schemas.microsoft.com/office/drawing/2014/main" id="{3FB98E20-E143-4027-B8FF-45625D48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181" y="3573971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U09-DG-057-concept_7-anchor">
            <a:extLst xmlns:a="http://schemas.openxmlformats.org/drawingml/2006/main">
              <a:ext uri="{FF2B5EF4-FFF2-40B4-BE49-F238E27FC236}">
                <a16:creationId xmlns:a16="http://schemas.microsoft.com/office/drawing/2014/main" id="{A6DB8C4A-BFEC-4EAD-8971-967094547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3573971"/>
            <a:ext cx="2269617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U09-DG-057-visual-alt" descr="Captura ficticia no instrumental y matriz de faltantes; U09-DG-057, candidata para diagram-generation. La composición permite reconocer que el valor aislado no demuestra aptitud para una audiometría.">
            <a:extLst xmlns:a="http://schemas.openxmlformats.org/drawingml/2006/main">
              <a:ext uri="{FF2B5EF4-FFF2-40B4-BE49-F238E27FC236}">
                <a16:creationId xmlns:a16="http://schemas.microsoft.com/office/drawing/2014/main" id="{5F5DB434-82B5-4A19-BF87-BB1A3CD3D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5" name="U09-DG-057-concept_1-text">
            <a:extLst xmlns:a="http://schemas.openxmlformats.org/drawingml/2006/main">
              <a:ext uri="{FF2B5EF4-FFF2-40B4-BE49-F238E27FC236}">
                <a16:creationId xmlns:a16="http://schemas.microsoft.com/office/drawing/2014/main" id="{D86AC9B4-9B9F-42C7-8E17-CD660B63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63865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28 dB(A)</a:t>
            </a:r>
          </a:p>
        </p:txBody>
      </p:sp>
      <p:sp>
        <p:nvSpPr>
          <p:cNvPr id="16" name="U09-DG-057-concept_2-box">
            <a:extLst xmlns:a="http://schemas.openxmlformats.org/drawingml/2006/main">
              <a:ext uri="{FF2B5EF4-FFF2-40B4-BE49-F238E27FC236}">
                <a16:creationId xmlns:a16="http://schemas.microsoft.com/office/drawing/2014/main" id="{2C94B82F-8770-4348-98BE-921503644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181" y="1840040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7" name="U09-DG-057-concept_2-text">
            <a:extLst xmlns:a="http://schemas.openxmlformats.org/drawingml/2006/main">
              <a:ext uri="{FF2B5EF4-FFF2-40B4-BE49-F238E27FC236}">
                <a16:creationId xmlns:a16="http://schemas.microsoft.com/office/drawing/2014/main" id="{48990ECA-459F-493D-B34B-504B17E3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631" y="1963865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Instrumento y</a:t>
            </a:r>
          </a:p>
        </p:txBody>
      </p:sp>
      <p:sp>
        <p:nvSpPr>
          <p:cNvPr id="18" name="U09-DG-057-concept_3-box">
            <a:extLst xmlns:a="http://schemas.openxmlformats.org/drawingml/2006/main">
              <a:ext uri="{FF2B5EF4-FFF2-40B4-BE49-F238E27FC236}">
                <a16:creationId xmlns:a16="http://schemas.microsoft.com/office/drawing/2014/main" id="{23D5ED47-1165-43B4-9F33-A3238804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1840040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9" name="U09-DG-057-concept_3-text">
            <a:extLst xmlns:a="http://schemas.openxmlformats.org/drawingml/2006/main">
              <a:ext uri="{FF2B5EF4-FFF2-40B4-BE49-F238E27FC236}">
                <a16:creationId xmlns:a16="http://schemas.microsoft.com/office/drawing/2014/main" id="{253F80DE-FF90-4BB2-80A1-7CBE63C48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9612" y="1963865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Posición y tiempo</a:t>
            </a:r>
          </a:p>
        </p:txBody>
      </p:sp>
      <p:sp>
        <p:nvSpPr>
          <p:cNvPr id="20" name="U09-DG-057-concept_4-box">
            <a:extLst xmlns:a="http://schemas.openxmlformats.org/drawingml/2006/main">
              <a:ext uri="{FF2B5EF4-FFF2-40B4-BE49-F238E27FC236}">
                <a16:creationId xmlns:a16="http://schemas.microsoft.com/office/drawing/2014/main" id="{C2ABB209-BB1B-4D4D-9ADB-B21D932B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3143" y="1840040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1" name="U09-DG-057-concept_4-text">
            <a:extLst xmlns:a="http://schemas.openxmlformats.org/drawingml/2006/main">
              <a:ext uri="{FF2B5EF4-FFF2-40B4-BE49-F238E27FC236}">
                <a16:creationId xmlns:a16="http://schemas.microsoft.com/office/drawing/2014/main" id="{F72F4C18-6FD4-4730-A1A7-39AF7E78A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4593" y="1963865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Bandas</a:t>
            </a:r>
          </a:p>
        </p:txBody>
      </p:sp>
      <p:sp>
        <p:nvSpPr>
          <p:cNvPr id="22" name="U09-DG-057-concept_5-box">
            <a:extLst xmlns:a="http://schemas.openxmlformats.org/drawingml/2006/main">
              <a:ext uri="{FF2B5EF4-FFF2-40B4-BE49-F238E27FC236}">
                <a16:creationId xmlns:a16="http://schemas.microsoft.com/office/drawing/2014/main" id="{58988E9B-8B87-4B3F-A057-1701B1E52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3" name="U09-DG-057-concept_5-text">
            <a:extLst xmlns:a="http://schemas.openxmlformats.org/drawingml/2006/main">
              <a:ext uri="{FF2B5EF4-FFF2-40B4-BE49-F238E27FC236}">
                <a16:creationId xmlns:a16="http://schemas.microsoft.com/office/drawing/2014/main" id="{B3D2F7A9-2EA5-4627-8FF3-845942280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7796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Vía y transductor</a:t>
            </a:r>
          </a:p>
        </p:txBody>
      </p:sp>
      <p:sp>
        <p:nvSpPr>
          <p:cNvPr id="24" name="U09-DG-057-concept_6-box">
            <a:extLst xmlns:a="http://schemas.openxmlformats.org/drawingml/2006/main">
              <a:ext uri="{FF2B5EF4-FFF2-40B4-BE49-F238E27FC236}">
                <a16:creationId xmlns:a16="http://schemas.microsoft.com/office/drawing/2014/main" id="{12321FCC-A799-4030-BD5C-6E070C19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181" y="3573971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5" name="U09-DG-057-concept_6-text">
            <a:extLst xmlns:a="http://schemas.openxmlformats.org/drawingml/2006/main">
              <a:ext uri="{FF2B5EF4-FFF2-40B4-BE49-F238E27FC236}">
                <a16:creationId xmlns:a16="http://schemas.microsoft.com/office/drawing/2014/main" id="{9DB1401D-A0B5-4BE7-91A0-439CC8AD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631" y="3697796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Criterio</a:t>
            </a:r>
          </a:p>
        </p:txBody>
      </p:sp>
      <p:sp>
        <p:nvSpPr>
          <p:cNvPr id="26" name="U09-DG-057-concept_7-box">
            <a:extLst xmlns:a="http://schemas.openxmlformats.org/drawingml/2006/main">
              <a:ext uri="{FF2B5EF4-FFF2-40B4-BE49-F238E27FC236}">
                <a16:creationId xmlns:a16="http://schemas.microsoft.com/office/drawing/2014/main" id="{D3C6FDFD-6392-4BCF-9903-1EEE4858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3573971"/>
            <a:ext cx="2269617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7" name="U09-DG-057-concept_7-text">
            <a:extLst xmlns:a="http://schemas.openxmlformats.org/drawingml/2006/main">
              <a:ext uri="{FF2B5EF4-FFF2-40B4-BE49-F238E27FC236}">
                <a16:creationId xmlns:a16="http://schemas.microsoft.com/office/drawing/2014/main" id="{5A23B8E9-3193-4D6B-A809-A46D9A894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9612" y="3697796"/>
            <a:ext cx="1926717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Ruido propio</a:t>
            </a:r>
          </a:p>
        </p:txBody>
      </p:sp>
      <p:sp>
        <p:nvSpPr>
          <p:cNvPr id="28" name="caption">
            <a:extLst xmlns:a="http://schemas.openxmlformats.org/drawingml/2006/main">
              <a:ext uri="{FF2B5EF4-FFF2-40B4-BE49-F238E27FC236}">
                <a16:creationId xmlns:a16="http://schemas.microsoft.com/office/drawing/2014/main" id="{D5656292-520B-4324-B394-7708BCBC6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el valor aislado no demuestra aptitud para una audiometría. · Producción propia UCASAL · U09-DG-057</a:t>
            </a:r>
          </a:p>
        </p:txBody>
      </p:sp>
      <p:sp>
        <p:nvSpPr>
          <p:cNvPr id="29" name="unit-footer">
            <a:extLst xmlns:a="http://schemas.openxmlformats.org/drawingml/2006/main">
              <a:ext uri="{FF2B5EF4-FFF2-40B4-BE49-F238E27FC236}">
                <a16:creationId xmlns:a16="http://schemas.microsoft.com/office/drawing/2014/main" id="{7EC21E12-9693-44CF-9C7C-7F127CBAE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Física Acústica · Unidad 9</a:t>
            </a:r>
          </a:p>
        </p:txBody>
      </p:sp>
      <p:sp>
        <p:nvSpPr>
          <p:cNvPr id="3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A0F3268-FCB2-4C04-B804-A460547FE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75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ail-1">
            <a:extLst xmlns:a="http://schemas.openxmlformats.org/drawingml/2006/main">
              <a:ext uri="{FF2B5EF4-FFF2-40B4-BE49-F238E27FC236}">
                <a16:creationId xmlns:a16="http://schemas.microsoft.com/office/drawing/2014/main" id="{13C92207-F1DB-46E3-8935-2D061554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BDD4DDA5-60C2-4015-A346-AC893FBF4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285D0318-6175-469E-95C5-FE3A3BB92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3F991364-A884-43E2-9875-DBC74B74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3 · AMPLIACIÓN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EF03A9E-67C0-43C5-A88E-767022FC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Inspección guiada de una cabina real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B9464F8-A829-4EE7-A77A-59315EFD9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Cabinas y verificación · Ampliación visual</a:t>
            </a:r>
          </a:p>
        </p:txBody>
      </p:sp>
      <p:sp>
        <p:nvSpPr>
          <p:cNvPr id="7" name="U09-076-claim-alt" descr="U09-IMG-003 y U09-IMG-004 con callouts; candidatos para diagram-generation por anotaciones. La composición permite reconocer que una foto técnica sirve para localizar rutas y componentes, no para inferir desempeño.">
            <a:extLst xmlns:a="http://schemas.openxmlformats.org/drawingml/2006/main">
              <a:ext uri="{FF2B5EF4-FFF2-40B4-BE49-F238E27FC236}">
                <a16:creationId xmlns:a16="http://schemas.microsoft.com/office/drawing/2014/main" id="{1EC03DA3-3B19-46EB-B574-EE8694AD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19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1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Una foto técnica sirve para localizar rutas y componentes, no para inferir desempeño.</a:t>
            </a:r>
          </a:p>
        </p:txBody>
      </p:sp>
      <p:sp>
        <p:nvSpPr>
          <p:cNvPr id="8" name="bullet-0">
            <a:extLst xmlns:a="http://schemas.openxmlformats.org/drawingml/2006/main">
              <a:ext uri="{FF2B5EF4-FFF2-40B4-BE49-F238E27FC236}">
                <a16:creationId xmlns:a16="http://schemas.microsoft.com/office/drawing/2014/main" id="{E3558525-E471-4425-87AA-9C435857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ody-0">
            <a:extLst xmlns:a="http://schemas.openxmlformats.org/drawingml/2006/main">
              <a:ext uri="{FF2B5EF4-FFF2-40B4-BE49-F238E27FC236}">
                <a16:creationId xmlns:a16="http://schemas.microsoft.com/office/drawing/2014/main" id="{A7A20D57-968A-4454-AA13-B2BC98141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14625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Exterior/interior o detalle de puerta, visor, ventilación y pasacables con llamados funcionales.</a:t>
            </a:r>
          </a:p>
        </p:txBody>
      </p:sp>
      <p:sp>
        <p:nvSpPr>
          <p:cNvPr id="10" name="unit-footer">
            <a:extLst xmlns:a="http://schemas.openxmlformats.org/drawingml/2006/main">
              <a:ext uri="{FF2B5EF4-FFF2-40B4-BE49-F238E27FC236}">
                <a16:creationId xmlns:a16="http://schemas.microsoft.com/office/drawing/2014/main" id="{82972C0E-8419-47AB-AAF3-FD23902CB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Física Acústica · Unidad 9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FFB58E9-F9C8-4CA4-BF55-BF3F54DF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76</a:t>
            </a:r>
          </a:p>
        </p:txBody>
      </p:sp>
    </p:spTree>
    <p:extLst>
      <p:ext uri="{BB962C8B-B14F-4D97-AF65-F5344CB8AC3E}">
        <p14:creationId xmlns:p14="http://schemas.microsoft.com/office/powerpoint/2010/main" val="1687263069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op-rail-1">
            <a:extLst xmlns:a="http://schemas.openxmlformats.org/drawingml/2006/main">
              <a:ext uri="{FF2B5EF4-FFF2-40B4-BE49-F238E27FC236}">
                <a16:creationId xmlns:a16="http://schemas.microsoft.com/office/drawing/2014/main" id="{09516977-7376-42B2-9263-424C5D3A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F12C0032-8299-423A-BB24-FBE8AFB56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88B1A310-3828-437C-87C3-1F69CF773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CF2A95A-4375-4F72-B199-CB03417DC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ENCUENTRO 3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341880A-090D-42E4-90FA-02CE83E0A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¿Qué ruta limita la prueba?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A7C449D-BBB9-4387-BB57-1F0300541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Cabinas y verificación · Recapitulación y actividad</a:t>
            </a:r>
          </a:p>
        </p:txBody>
      </p:sp>
      <p:sp>
        <p:nvSpPr>
          <p:cNvPr id="7" name="U09-DG-058-step_1-anchor">
            <a:extLst xmlns:a="http://schemas.openxmlformats.org/drawingml/2006/main">
              <a:ext uri="{FF2B5EF4-FFF2-40B4-BE49-F238E27FC236}">
                <a16:creationId xmlns:a16="http://schemas.microsoft.com/office/drawing/2014/main" id="{470509EE-AB61-4EE2-AEF4-01262D273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58-step_2-anchor">
            <a:extLst xmlns:a="http://schemas.openxmlformats.org/drawingml/2006/main">
              <a:ext uri="{FF2B5EF4-FFF2-40B4-BE49-F238E27FC236}">
                <a16:creationId xmlns:a16="http://schemas.microsoft.com/office/drawing/2014/main" id="{6EFD0D7E-308C-48F2-84C0-1E751504E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58-step_3-anchor">
            <a:extLst xmlns:a="http://schemas.openxmlformats.org/drawingml/2006/main">
              <a:ext uri="{FF2B5EF4-FFF2-40B4-BE49-F238E27FC236}">
                <a16:creationId xmlns:a16="http://schemas.microsoft.com/office/drawing/2014/main" id="{F6120E36-0CAC-4B25-A5B6-6E0B590F8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58-step_4-anchor">
            <a:extLst xmlns:a="http://schemas.openxmlformats.org/drawingml/2006/main">
              <a:ext uri="{FF2B5EF4-FFF2-40B4-BE49-F238E27FC236}">
                <a16:creationId xmlns:a16="http://schemas.microsoft.com/office/drawing/2014/main" id="{54E57722-29E9-491F-9FA4-C2719E322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58-step_5-anchor">
            <a:extLst xmlns:a="http://schemas.openxmlformats.org/drawingml/2006/main">
              <a:ext uri="{FF2B5EF4-FFF2-40B4-BE49-F238E27FC236}">
                <a16:creationId xmlns:a16="http://schemas.microsoft.com/office/drawing/2014/main" id="{4CBEAC63-4BA1-4451-B958-A19DDB418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0" name="U09-DG-058-flow_1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46710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1" name="U09-DG-058-flow_2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05993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2" name="U09-DG-058-flow_3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9338310" y="2941321"/>
            <a:ext cx="0" cy="741997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3" name="U09-DG-058-flow_4"/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7059930" y="424958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U09-DG-058-visual-alt" descr="U09-DG-058, candidata para diagram-generation. La composición permite reconocer que la respuesta válida identifica ruta, evidencia necesaria y límite de inferencia.">
            <a:extLst xmlns:a="http://schemas.openxmlformats.org/drawingml/2006/main">
              <a:ext uri="{FF2B5EF4-FFF2-40B4-BE49-F238E27FC236}">
                <a16:creationId xmlns:a16="http://schemas.microsoft.com/office/drawing/2014/main" id="{4BEE2265-091A-4211-AF31-BEC7565B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7" name="U09-DG-058-step_1-text">
            <a:extLst xmlns:a="http://schemas.openxmlformats.org/drawingml/2006/main">
              <a:ext uri="{FF2B5EF4-FFF2-40B4-BE49-F238E27FC236}">
                <a16:creationId xmlns:a16="http://schemas.microsoft.com/office/drawing/2014/main" id="{DADB5771-41D4-4B9C-B8E4-31431869A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1 · Caso con ruido exterior</a:t>
            </a:r>
          </a:p>
        </p:txBody>
      </p:sp>
      <p:sp>
        <p:nvSpPr>
          <p:cNvPr id="18" name="U09-DG-058-step_2-box">
            <a:extLst xmlns:a="http://schemas.openxmlformats.org/drawingml/2006/main">
              <a:ext uri="{FF2B5EF4-FFF2-40B4-BE49-F238E27FC236}">
                <a16:creationId xmlns:a16="http://schemas.microsoft.com/office/drawing/2014/main" id="{7BA9DF87-A374-4868-8BDD-EFF8045A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9" name="U09-DG-058-step_2-text">
            <a:extLst xmlns:a="http://schemas.openxmlformats.org/drawingml/2006/main">
              <a:ext uri="{FF2B5EF4-FFF2-40B4-BE49-F238E27FC236}">
                <a16:creationId xmlns:a16="http://schemas.microsoft.com/office/drawing/2014/main" id="{B1DD77D1-3968-42E0-A29A-585AF5DCB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2 · ventilación</a:t>
            </a:r>
          </a:p>
        </p:txBody>
      </p:sp>
      <p:sp>
        <p:nvSpPr>
          <p:cNvPr id="20" name="U09-DG-058-step_3-box">
            <a:extLst xmlns:a="http://schemas.openxmlformats.org/drawingml/2006/main">
              <a:ext uri="{FF2B5EF4-FFF2-40B4-BE49-F238E27FC236}">
                <a16:creationId xmlns:a16="http://schemas.microsoft.com/office/drawing/2014/main" id="{6727F34D-A7B5-4230-84F7-38C47279E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1" name="U09-DG-058-step_3-text">
            <a:extLst xmlns:a="http://schemas.openxmlformats.org/drawingml/2006/main">
              <a:ext uri="{FF2B5EF4-FFF2-40B4-BE49-F238E27FC236}">
                <a16:creationId xmlns:a16="http://schemas.microsoft.com/office/drawing/2014/main" id="{35126AF4-E5A5-4365-81B8-3EABF25E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 · equipo</a:t>
            </a:r>
          </a:p>
        </p:txBody>
      </p:sp>
      <p:sp>
        <p:nvSpPr>
          <p:cNvPr id="22" name="U09-DG-058-step_4-box">
            <a:extLst xmlns:a="http://schemas.openxmlformats.org/drawingml/2006/main">
              <a:ext uri="{FF2B5EF4-FFF2-40B4-BE49-F238E27FC236}">
                <a16:creationId xmlns:a16="http://schemas.microsoft.com/office/drawing/2014/main" id="{30C38B9C-7462-49E2-9BA2-1DAE5C2C7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3" name="U09-DG-058-step_4-text">
            <a:extLst xmlns:a="http://schemas.openxmlformats.org/drawingml/2006/main">
              <a:ext uri="{FF2B5EF4-FFF2-40B4-BE49-F238E27FC236}">
                <a16:creationId xmlns:a16="http://schemas.microsoft.com/office/drawing/2014/main" id="{2708E057-6B5A-4947-93B2-C8B2B53C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4 · tratamiento interior</a:t>
            </a:r>
          </a:p>
        </p:txBody>
      </p:sp>
      <p:sp>
        <p:nvSpPr>
          <p:cNvPr id="24" name="U09-DG-058-step_5-box">
            <a:extLst xmlns:a="http://schemas.openxmlformats.org/drawingml/2006/main">
              <a:ext uri="{FF2B5EF4-FFF2-40B4-BE49-F238E27FC236}">
                <a16:creationId xmlns:a16="http://schemas.microsoft.com/office/drawing/2014/main" id="{6F8431E1-D96B-40C7-BC17-FE59BB76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5" name="U09-DG-058-step_5-text">
            <a:extLst xmlns:a="http://schemas.openxmlformats.org/drawingml/2006/main">
              <a:ext uri="{FF2B5EF4-FFF2-40B4-BE49-F238E27FC236}">
                <a16:creationId xmlns:a16="http://schemas.microsoft.com/office/drawing/2014/main" id="{5CD4DC06-D19D-41A5-9903-28CE9D358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5 · priorización</a:t>
            </a:r>
          </a:p>
        </p:txBody>
      </p:sp>
      <p:sp>
        <p:nvSpPr>
          <p:cNvPr id="26" name="caption">
            <a:extLst xmlns:a="http://schemas.openxmlformats.org/drawingml/2006/main">
              <a:ext uri="{FF2B5EF4-FFF2-40B4-BE49-F238E27FC236}">
                <a16:creationId xmlns:a16="http://schemas.microsoft.com/office/drawing/2014/main" id="{4737BD11-57BE-405E-89CF-966BA7BB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la respuesta válida identifica ruta, evidencia necesaria y límite de inferencia. · Producción propia UCASAL · U09-DG-058</a:t>
            </a:r>
          </a:p>
        </p:txBody>
      </p:sp>
      <p:sp>
        <p:nvSpPr>
          <p:cNvPr id="27" name="unit-footer">
            <a:extLst xmlns:a="http://schemas.openxmlformats.org/drawingml/2006/main">
              <a:ext uri="{FF2B5EF4-FFF2-40B4-BE49-F238E27FC236}">
                <a16:creationId xmlns:a16="http://schemas.microsoft.com/office/drawing/2014/main" id="{3171039C-3302-4C38-9727-7D279A551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Física Acústica · Unidad 9</a:t>
            </a:r>
          </a:p>
        </p:txBody>
      </p:sp>
      <p:sp>
        <p:nvSpPr>
          <p:cNvPr id="2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50BEC62-241A-405F-A29A-8D0F839C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77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ark-eyebrow">
            <a:extLst xmlns:a="http://schemas.openxmlformats.org/drawingml/2006/main">
              <a:ext uri="{FF2B5EF4-FFF2-40B4-BE49-F238E27FC236}">
                <a16:creationId xmlns:a16="http://schemas.microsoft.com/office/drawing/2014/main" id="{BD360A94-E3EC-47C9-A9EA-DDED272D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UNIDAD 9 · RUTA CENTRAL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EC497B6B-E72A-4FD4-AC53-D0989B04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47875"/>
            <a:ext cx="1057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¿Qué podemos estimar y qué debemos medir?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49B1965D-36F2-4198-A829-F57B597D0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571875"/>
            <a:ext cx="885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rPr>
              <a:t>Un buen análisis termina declarando el alcance de la evidencia.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2D94CB6-3351-46F7-AB75-86D9FC0B2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rPr>
              <a:t>78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op-rail-1">
            <a:extLst xmlns:a="http://schemas.openxmlformats.org/drawingml/2006/main">
              <a:ext uri="{FF2B5EF4-FFF2-40B4-BE49-F238E27FC236}">
                <a16:creationId xmlns:a16="http://schemas.microsoft.com/office/drawing/2014/main" id="{90810D73-52CC-46D5-93A5-E98E3EAD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451D802B-A0FB-4F73-B4A0-D9D44ED99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0A18335B-E8ED-46E0-B609-ED5F59EB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BD48FED-7640-4EEE-A616-899B066CC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INTEGRACIÓN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10B7CAA-F9B1-41E8-AE54-946DDCB5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Caso final I: fuente y emisión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A1E812E-127D-4D25-AAF3-BF896CF36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Integración y cierre · Caso por etapas</a:t>
            </a:r>
          </a:p>
        </p:txBody>
      </p:sp>
      <p:sp>
        <p:nvSpPr>
          <p:cNvPr id="7" name="U09-DG-059-step_1-anchor">
            <a:extLst xmlns:a="http://schemas.openxmlformats.org/drawingml/2006/main">
              <a:ext uri="{FF2B5EF4-FFF2-40B4-BE49-F238E27FC236}">
                <a16:creationId xmlns:a16="http://schemas.microsoft.com/office/drawing/2014/main" id="{45F230A5-9CE2-48CC-8050-58D615E9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59-step_2-anchor">
            <a:extLst xmlns:a="http://schemas.openxmlformats.org/drawingml/2006/main">
              <a:ext uri="{FF2B5EF4-FFF2-40B4-BE49-F238E27FC236}">
                <a16:creationId xmlns:a16="http://schemas.microsoft.com/office/drawing/2014/main" id="{F84026C5-35DB-4FBB-BD1C-63537E7D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59-step_3-anchor">
            <a:extLst xmlns:a="http://schemas.openxmlformats.org/drawingml/2006/main">
              <a:ext uri="{FF2B5EF4-FFF2-40B4-BE49-F238E27FC236}">
                <a16:creationId xmlns:a16="http://schemas.microsoft.com/office/drawing/2014/main" id="{4DD47F8F-D28E-400E-84D4-8159F4C50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59-step_4-anchor">
            <a:extLst xmlns:a="http://schemas.openxmlformats.org/drawingml/2006/main">
              <a:ext uri="{FF2B5EF4-FFF2-40B4-BE49-F238E27FC236}">
                <a16:creationId xmlns:a16="http://schemas.microsoft.com/office/drawing/2014/main" id="{7B79B0E1-750F-4E95-B7E0-119B486B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5" name="U09-DG-059-flow_1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46710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6" name="U09-DG-059-flow_2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05993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7" name="U09-DG-059-flow_3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9338310" y="2941321"/>
            <a:ext cx="0" cy="741997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4" name="U09-DG-059-visual-alt" descr="Mapa del caso, capa fuente; U09-DG-059, candidata para diagram-generation. La composición permite reconocer que potencia, espectro y directividad condicionan lo que entra al trayecto.">
            <a:extLst xmlns:a="http://schemas.openxmlformats.org/drawingml/2006/main">
              <a:ext uri="{FF2B5EF4-FFF2-40B4-BE49-F238E27FC236}">
                <a16:creationId xmlns:a16="http://schemas.microsoft.com/office/drawing/2014/main" id="{7BA4E9E8-05F3-46D6-A4D7-A73501216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5" name="U09-DG-059-step_1-text">
            <a:extLst xmlns:a="http://schemas.openxmlformats.org/drawingml/2006/main">
              <a:ext uri="{FF2B5EF4-FFF2-40B4-BE49-F238E27FC236}">
                <a16:creationId xmlns:a16="http://schemas.microsoft.com/office/drawing/2014/main" id="{7E5831C1-DD4E-4778-9A35-F8327164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1 · Mapa base</a:t>
            </a:r>
          </a:p>
        </p:txBody>
      </p:sp>
      <p:sp>
        <p:nvSpPr>
          <p:cNvPr id="16" name="U09-DG-059-step_2-box">
            <a:extLst xmlns:a="http://schemas.openxmlformats.org/drawingml/2006/main">
              <a:ext uri="{FF2B5EF4-FFF2-40B4-BE49-F238E27FC236}">
                <a16:creationId xmlns:a16="http://schemas.microsoft.com/office/drawing/2014/main" id="{9D05DC01-EDA6-4080-B575-07FFDD1D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7" name="U09-DG-059-step_2-text">
            <a:extLst xmlns:a="http://schemas.openxmlformats.org/drawingml/2006/main">
              <a:ext uri="{FF2B5EF4-FFF2-40B4-BE49-F238E27FC236}">
                <a16:creationId xmlns:a16="http://schemas.microsoft.com/office/drawing/2014/main" id="{05790711-4B2A-4F93-8B71-D1E489259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2 · Potencia LW</a:t>
            </a:r>
          </a:p>
        </p:txBody>
      </p:sp>
      <p:sp>
        <p:nvSpPr>
          <p:cNvPr id="18" name="U09-DG-059-step_3-box">
            <a:extLst xmlns:a="http://schemas.openxmlformats.org/drawingml/2006/main">
              <a:ext uri="{FF2B5EF4-FFF2-40B4-BE49-F238E27FC236}">
                <a16:creationId xmlns:a16="http://schemas.microsoft.com/office/drawing/2014/main" id="{A21BD5E3-8939-4099-9F39-830AC2666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9" name="U09-DG-059-step_3-text">
            <a:extLst xmlns:a="http://schemas.openxmlformats.org/drawingml/2006/main">
              <a:ext uri="{FF2B5EF4-FFF2-40B4-BE49-F238E27FC236}">
                <a16:creationId xmlns:a16="http://schemas.microsoft.com/office/drawing/2014/main" id="{088B2C12-BBFF-4D72-B9D5-ADFDA8D68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 · Espectro</a:t>
            </a:r>
          </a:p>
        </p:txBody>
      </p:sp>
      <p:sp>
        <p:nvSpPr>
          <p:cNvPr id="20" name="U09-DG-059-step_4-box">
            <a:extLst xmlns:a="http://schemas.openxmlformats.org/drawingml/2006/main">
              <a:ext uri="{FF2B5EF4-FFF2-40B4-BE49-F238E27FC236}">
                <a16:creationId xmlns:a16="http://schemas.microsoft.com/office/drawing/2014/main" id="{94A7EA3A-7A17-434F-9C7C-7A55DA8A4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1" name="U09-DG-059-step_4-text">
            <a:extLst xmlns:a="http://schemas.openxmlformats.org/drawingml/2006/main">
              <a:ext uri="{FF2B5EF4-FFF2-40B4-BE49-F238E27FC236}">
                <a16:creationId xmlns:a16="http://schemas.microsoft.com/office/drawing/2014/main" id="{2C054739-4CCE-450B-AAF0-6A844DC5A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4 · Directividad</a:t>
            </a:r>
          </a:p>
        </p:txBody>
      </p:sp>
      <p:sp>
        <p:nvSpPr>
          <p:cNvPr id="22" name="caption">
            <a:extLst xmlns:a="http://schemas.openxmlformats.org/drawingml/2006/main">
              <a:ext uri="{FF2B5EF4-FFF2-40B4-BE49-F238E27FC236}">
                <a16:creationId xmlns:a16="http://schemas.microsoft.com/office/drawing/2014/main" id="{99FCD14F-149F-4DDC-ABFC-EC34DB0AF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potencia, espectro y directividad condicionan lo que entra al trayecto. · Producción propia UCASAL · U09-DG-059</a:t>
            </a:r>
          </a:p>
        </p:txBody>
      </p:sp>
      <p:sp>
        <p:nvSpPr>
          <p:cNvPr id="23" name="unit-footer">
            <a:extLst xmlns:a="http://schemas.openxmlformats.org/drawingml/2006/main">
              <a:ext uri="{FF2B5EF4-FFF2-40B4-BE49-F238E27FC236}">
                <a16:creationId xmlns:a16="http://schemas.microsoft.com/office/drawing/2014/main" id="{1346BCC1-7CF7-4332-A328-7005434B6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Física Acústica · Unidad 9</a:t>
            </a:r>
          </a:p>
        </p:txBody>
      </p:sp>
      <p:sp>
        <p:nvSpPr>
          <p:cNvPr id="2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C371292-0E4E-465A-8EE6-931D1380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79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op-rail-1">
            <a:extLst xmlns:a="http://schemas.openxmlformats.org/drawingml/2006/main">
              <a:ext uri="{FF2B5EF4-FFF2-40B4-BE49-F238E27FC236}">
                <a16:creationId xmlns:a16="http://schemas.microsoft.com/office/drawing/2014/main" id="{E8EDFAD1-EF13-4808-BAA7-DCA723715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4BD7A922-5B10-416A-A3E1-25D65C61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B54145C0-5679-4B14-A64C-55E29D2BA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D4CE87E3-3029-4488-9176-C9B5004E4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INTEGRACIÓN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ACFD65-9C11-4918-9DAD-9EFC31221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Caso final II: rutas exteriores e interiores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F320783-CC2F-4379-9620-F0CECD85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Integración y cierre · Caso por etapas</a:t>
            </a:r>
          </a:p>
        </p:txBody>
      </p:sp>
      <p:sp>
        <p:nvSpPr>
          <p:cNvPr id="7" name="U09-DG-060-step_1-anchor">
            <a:extLst xmlns:a="http://schemas.openxmlformats.org/drawingml/2006/main">
              <a:ext uri="{FF2B5EF4-FFF2-40B4-BE49-F238E27FC236}">
                <a16:creationId xmlns:a16="http://schemas.microsoft.com/office/drawing/2014/main" id="{F25B4548-40DF-469B-B2E5-79F338FB1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60-step_2-anchor">
            <a:extLst xmlns:a="http://schemas.openxmlformats.org/drawingml/2006/main">
              <a:ext uri="{FF2B5EF4-FFF2-40B4-BE49-F238E27FC236}">
                <a16:creationId xmlns:a16="http://schemas.microsoft.com/office/drawing/2014/main" id="{58892A77-5270-40F7-831C-E61FB1EC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60-step_3-anchor">
            <a:extLst xmlns:a="http://schemas.openxmlformats.org/drawingml/2006/main">
              <a:ext uri="{FF2B5EF4-FFF2-40B4-BE49-F238E27FC236}">
                <a16:creationId xmlns:a16="http://schemas.microsoft.com/office/drawing/2014/main" id="{C21BBF3E-78B4-4487-A72A-9D70D56E8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60-step_4-anchor">
            <a:extLst xmlns:a="http://schemas.openxmlformats.org/drawingml/2006/main">
              <a:ext uri="{FF2B5EF4-FFF2-40B4-BE49-F238E27FC236}">
                <a16:creationId xmlns:a16="http://schemas.microsoft.com/office/drawing/2014/main" id="{0E083AF4-0B3E-4409-87A0-906DF2A8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60-step_5-anchor">
            <a:extLst xmlns:a="http://schemas.openxmlformats.org/drawingml/2006/main">
              <a:ext uri="{FF2B5EF4-FFF2-40B4-BE49-F238E27FC236}">
                <a16:creationId xmlns:a16="http://schemas.microsoft.com/office/drawing/2014/main" id="{FC8E5721-FC9A-4685-ACF6-E4FA8A3E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U09-DG-060-step_6-anchor">
            <a:extLst xmlns:a="http://schemas.openxmlformats.org/drawingml/2006/main">
              <a:ext uri="{FF2B5EF4-FFF2-40B4-BE49-F238E27FC236}">
                <a16:creationId xmlns:a16="http://schemas.microsoft.com/office/drawing/2014/main" id="{273111F6-9785-469E-A9CB-D32A0F5A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5" name="U09-DG-060-flow_1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46710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6" name="U09-DG-060-flow_2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05993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7" name="U09-DG-060-flow_3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9338310" y="2941321"/>
            <a:ext cx="0" cy="741997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8" name="U09-DG-060-flow_4"/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7059930" y="424958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9" name="U09-DG-060-flow_5"/>
          <p:cNvCxnSpPr>
            <a:stCxn xmlns:a="http://schemas.openxmlformats.org/drawingml/2006/main" id="11" idx="1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H="1">
            <a:off x="3467100" y="424958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8" name="U09-DG-060-visual-alt" descr="U09-DG-060, candidata para diagram-generation. La composición permite reconocer que distancia, gradientes, suelo, fachada, difracción, transmisión y reflexiones describen rutas diferentes.">
            <a:extLst xmlns:a="http://schemas.openxmlformats.org/drawingml/2006/main">
              <a:ext uri="{FF2B5EF4-FFF2-40B4-BE49-F238E27FC236}">
                <a16:creationId xmlns:a16="http://schemas.microsoft.com/office/drawing/2014/main" id="{61E6A8CE-4112-4EE0-B494-25E0D25F7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9" name="U09-DG-060-step_1-text">
            <a:extLst xmlns:a="http://schemas.openxmlformats.org/drawingml/2006/main">
              <a:ext uri="{FF2B5EF4-FFF2-40B4-BE49-F238E27FC236}">
                <a16:creationId xmlns:a16="http://schemas.microsoft.com/office/drawing/2014/main" id="{F370F89B-435B-4B38-B80F-615D476E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1 · Distancia</a:t>
            </a:r>
          </a:p>
        </p:txBody>
      </p:sp>
      <p:sp>
        <p:nvSpPr>
          <p:cNvPr id="20" name="U09-DG-060-step_2-box">
            <a:extLst xmlns:a="http://schemas.openxmlformats.org/drawingml/2006/main">
              <a:ext uri="{FF2B5EF4-FFF2-40B4-BE49-F238E27FC236}">
                <a16:creationId xmlns:a16="http://schemas.microsoft.com/office/drawing/2014/main" id="{1D24E739-8D17-4638-AD06-23A37DFE0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1" name="U09-DG-060-step_2-text">
            <a:extLst xmlns:a="http://schemas.openxmlformats.org/drawingml/2006/main">
              <a:ext uri="{FF2B5EF4-FFF2-40B4-BE49-F238E27FC236}">
                <a16:creationId xmlns:a16="http://schemas.microsoft.com/office/drawing/2014/main" id="{4E9597B4-A7CD-4034-81BE-989B3469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2 · Atmósfera</a:t>
            </a:r>
          </a:p>
        </p:txBody>
      </p:sp>
      <p:sp>
        <p:nvSpPr>
          <p:cNvPr id="22" name="U09-DG-060-step_3-box">
            <a:extLst xmlns:a="http://schemas.openxmlformats.org/drawingml/2006/main">
              <a:ext uri="{FF2B5EF4-FFF2-40B4-BE49-F238E27FC236}">
                <a16:creationId xmlns:a16="http://schemas.microsoft.com/office/drawing/2014/main" id="{D50F2CDF-B5F9-45E7-B4F2-89773206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3" name="U09-DG-060-step_3-text">
            <a:extLst xmlns:a="http://schemas.openxmlformats.org/drawingml/2006/main">
              <a:ext uri="{FF2B5EF4-FFF2-40B4-BE49-F238E27FC236}">
                <a16:creationId xmlns:a16="http://schemas.microsoft.com/office/drawing/2014/main" id="{13AA4B47-2728-4EDB-B957-1A67CF8E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 · Suelo</a:t>
            </a:r>
          </a:p>
        </p:txBody>
      </p:sp>
      <p:sp>
        <p:nvSpPr>
          <p:cNvPr id="24" name="U09-DG-060-step_4-box">
            <a:extLst xmlns:a="http://schemas.openxmlformats.org/drawingml/2006/main">
              <a:ext uri="{FF2B5EF4-FFF2-40B4-BE49-F238E27FC236}">
                <a16:creationId xmlns:a16="http://schemas.microsoft.com/office/drawing/2014/main" id="{36E72067-AD2D-4014-A122-0544713F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5" name="U09-DG-060-step_4-text">
            <a:extLst xmlns:a="http://schemas.openxmlformats.org/drawingml/2006/main">
              <a:ext uri="{FF2B5EF4-FFF2-40B4-BE49-F238E27FC236}">
                <a16:creationId xmlns:a16="http://schemas.microsoft.com/office/drawing/2014/main" id="{002F0DBF-D87F-4579-AEF4-A8EB05E43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4 · Fachada</a:t>
            </a:r>
          </a:p>
        </p:txBody>
      </p:sp>
      <p:sp>
        <p:nvSpPr>
          <p:cNvPr id="26" name="U09-DG-060-step_5-box">
            <a:extLst xmlns:a="http://schemas.openxmlformats.org/drawingml/2006/main">
              <a:ext uri="{FF2B5EF4-FFF2-40B4-BE49-F238E27FC236}">
                <a16:creationId xmlns:a16="http://schemas.microsoft.com/office/drawing/2014/main" id="{8010430E-A21E-40AA-A579-D45F4A4F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7" name="U09-DG-060-step_5-text">
            <a:extLst xmlns:a="http://schemas.openxmlformats.org/drawingml/2006/main">
              <a:ext uri="{FF2B5EF4-FFF2-40B4-BE49-F238E27FC236}">
                <a16:creationId xmlns:a16="http://schemas.microsoft.com/office/drawing/2014/main" id="{CA96A0F6-F455-4B62-8B78-9395CE27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5 · Difracción</a:t>
            </a:r>
          </a:p>
        </p:txBody>
      </p:sp>
      <p:sp>
        <p:nvSpPr>
          <p:cNvPr id="28" name="U09-DG-060-step_6-box">
            <a:extLst xmlns:a="http://schemas.openxmlformats.org/drawingml/2006/main">
              <a:ext uri="{FF2B5EF4-FFF2-40B4-BE49-F238E27FC236}">
                <a16:creationId xmlns:a16="http://schemas.microsoft.com/office/drawing/2014/main" id="{2D7B2316-0A16-4CB6-AC3A-D45C74F0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9" name="U09-DG-060-step_6-text">
            <a:extLst xmlns:a="http://schemas.openxmlformats.org/drawingml/2006/main">
              <a:ext uri="{FF2B5EF4-FFF2-40B4-BE49-F238E27FC236}">
                <a16:creationId xmlns:a16="http://schemas.microsoft.com/office/drawing/2014/main" id="{9715B791-B5B0-4257-B0C7-7A4BFBC0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6 · Transmisión</a:t>
            </a:r>
          </a:p>
        </p:txBody>
      </p:sp>
      <p:sp>
        <p:nvSpPr>
          <p:cNvPr id="30" name="caption">
            <a:extLst xmlns:a="http://schemas.openxmlformats.org/drawingml/2006/main">
              <a:ext uri="{FF2B5EF4-FFF2-40B4-BE49-F238E27FC236}">
                <a16:creationId xmlns:a16="http://schemas.microsoft.com/office/drawing/2014/main" id="{317A5171-1F5E-43A7-924C-BA32405C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distancia, gradientes, suelo, fachada, difracción, transmisión y reflexiones describen rutas diferentes. · Producción propia UCASAL · U09-DG-060</a:t>
            </a:r>
          </a:p>
        </p:txBody>
      </p:sp>
      <p:sp>
        <p:nvSpPr>
          <p:cNvPr id="31" name="unit-footer">
            <a:extLst xmlns:a="http://schemas.openxmlformats.org/drawingml/2006/main">
              <a:ext uri="{FF2B5EF4-FFF2-40B4-BE49-F238E27FC236}">
                <a16:creationId xmlns:a16="http://schemas.microsoft.com/office/drawing/2014/main" id="{CFBA2EB2-9293-4F53-B324-1EE6A420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Física Acústica · Unidad 9</a:t>
            </a:r>
          </a:p>
        </p:txBody>
      </p:sp>
      <p:sp>
        <p:nvSpPr>
          <p:cNvPr id="3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64EBFBC-B177-4A18-BEAD-330A513A6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80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op-rail-1">
            <a:extLst xmlns:a="http://schemas.openxmlformats.org/drawingml/2006/main">
              <a:ext uri="{FF2B5EF4-FFF2-40B4-BE49-F238E27FC236}">
                <a16:creationId xmlns:a16="http://schemas.microsoft.com/office/drawing/2014/main" id="{11A8DDEC-469E-4358-A0ED-1FD80CE37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FCA4B14B-B4FF-4A9E-A7DA-1336F9810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4F755C2A-A4C1-4EFD-B1E4-D883640CE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42905E79-086E-4583-8A30-C9486A6C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INTEGRACIÓN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B20F516-7C1B-4937-B24A-1BB8A3146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Caso final III: receptor, cabina y medición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291FE7F-53F0-4A6D-83A0-87095FCF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Integración y cierre · Caso por etapas</a:t>
            </a:r>
          </a:p>
        </p:txBody>
      </p:sp>
      <p:sp>
        <p:nvSpPr>
          <p:cNvPr id="7" name="U09-DG-061-step_1-anchor">
            <a:extLst xmlns:a="http://schemas.openxmlformats.org/drawingml/2006/main">
              <a:ext uri="{FF2B5EF4-FFF2-40B4-BE49-F238E27FC236}">
                <a16:creationId xmlns:a16="http://schemas.microsoft.com/office/drawing/2014/main" id="{951CC93A-293B-4A7A-A034-B5175EDB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61-step_2-anchor">
            <a:extLst xmlns:a="http://schemas.openxmlformats.org/drawingml/2006/main">
              <a:ext uri="{FF2B5EF4-FFF2-40B4-BE49-F238E27FC236}">
                <a16:creationId xmlns:a16="http://schemas.microsoft.com/office/drawing/2014/main" id="{86E0D1BA-0F7F-4318-A682-44A57C37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61-step_3-anchor">
            <a:extLst xmlns:a="http://schemas.openxmlformats.org/drawingml/2006/main">
              <a:ext uri="{FF2B5EF4-FFF2-40B4-BE49-F238E27FC236}">
                <a16:creationId xmlns:a16="http://schemas.microsoft.com/office/drawing/2014/main" id="{CE19D358-95F5-444A-9528-3981C5E6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61-step_4-anchor">
            <a:extLst xmlns:a="http://schemas.openxmlformats.org/drawingml/2006/main">
              <a:ext uri="{FF2B5EF4-FFF2-40B4-BE49-F238E27FC236}">
                <a16:creationId xmlns:a16="http://schemas.microsoft.com/office/drawing/2014/main" id="{E4CDAD74-3DF1-4B69-9BEB-5CC76A55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61-step_5-anchor">
            <a:extLst xmlns:a="http://schemas.openxmlformats.org/drawingml/2006/main">
              <a:ext uri="{FF2B5EF4-FFF2-40B4-BE49-F238E27FC236}">
                <a16:creationId xmlns:a16="http://schemas.microsoft.com/office/drawing/2014/main" id="{F8A3C00C-4C7A-4DD4-928D-81A1FB90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0" name="U09-DG-061-flow_1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46710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1" name="U09-DG-061-flow_2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05993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2" name="U09-DG-061-flow_3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9338310" y="2941321"/>
            <a:ext cx="0" cy="741997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3" name="U09-DG-061-flow_4"/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7059930" y="424958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U09-DG-061-visual-alt" descr="U09-DG-061, candidata para diagram-generation. La composición permite reconocer que la medición útil debe ser compatible con el receptor, la prueba y el criterio seleccionado.">
            <a:extLst xmlns:a="http://schemas.openxmlformats.org/drawingml/2006/main">
              <a:ext uri="{FF2B5EF4-FFF2-40B4-BE49-F238E27FC236}">
                <a16:creationId xmlns:a16="http://schemas.microsoft.com/office/drawing/2014/main" id="{64339221-9080-4C23-A3E5-A77F4D06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7" name="U09-DG-061-step_1-text">
            <a:extLst xmlns:a="http://schemas.openxmlformats.org/drawingml/2006/main">
              <a:ext uri="{FF2B5EF4-FFF2-40B4-BE49-F238E27FC236}">
                <a16:creationId xmlns:a16="http://schemas.microsoft.com/office/drawing/2014/main" id="{6CC20A2F-432B-4958-9802-4AC923CFC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1 · Posición</a:t>
            </a:r>
          </a:p>
        </p:txBody>
      </p:sp>
      <p:sp>
        <p:nvSpPr>
          <p:cNvPr id="18" name="U09-DG-061-step_2-box">
            <a:extLst xmlns:a="http://schemas.openxmlformats.org/drawingml/2006/main">
              <a:ext uri="{FF2B5EF4-FFF2-40B4-BE49-F238E27FC236}">
                <a16:creationId xmlns:a16="http://schemas.microsoft.com/office/drawing/2014/main" id="{B33DC709-ED3B-4876-BDE6-5C58AD0B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9" name="U09-DG-061-step_2-text">
            <a:extLst xmlns:a="http://schemas.openxmlformats.org/drawingml/2006/main">
              <a:ext uri="{FF2B5EF4-FFF2-40B4-BE49-F238E27FC236}">
                <a16:creationId xmlns:a16="http://schemas.microsoft.com/office/drawing/2014/main" id="{4A425DB3-6142-444D-AB81-9947AFD1A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2 · Cabina</a:t>
            </a:r>
          </a:p>
        </p:txBody>
      </p:sp>
      <p:sp>
        <p:nvSpPr>
          <p:cNvPr id="20" name="U09-DG-061-step_3-box">
            <a:extLst xmlns:a="http://schemas.openxmlformats.org/drawingml/2006/main">
              <a:ext uri="{FF2B5EF4-FFF2-40B4-BE49-F238E27FC236}">
                <a16:creationId xmlns:a16="http://schemas.microsoft.com/office/drawing/2014/main" id="{DCD57844-727B-4990-9E93-FB017128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1" name="U09-DG-061-step_3-text">
            <a:extLst xmlns:a="http://schemas.openxmlformats.org/drawingml/2006/main">
              <a:ext uri="{FF2B5EF4-FFF2-40B4-BE49-F238E27FC236}">
                <a16:creationId xmlns:a16="http://schemas.microsoft.com/office/drawing/2014/main" id="{09BBE3B3-3584-41C9-8F0F-DDE1BF062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 · Transductor</a:t>
            </a:r>
          </a:p>
        </p:txBody>
      </p:sp>
      <p:sp>
        <p:nvSpPr>
          <p:cNvPr id="22" name="U09-DG-061-step_4-box">
            <a:extLst xmlns:a="http://schemas.openxmlformats.org/drawingml/2006/main">
              <a:ext uri="{FF2B5EF4-FFF2-40B4-BE49-F238E27FC236}">
                <a16:creationId xmlns:a16="http://schemas.microsoft.com/office/drawing/2014/main" id="{FD7622AA-A23A-4EBF-850A-966AEC4E6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3" name="U09-DG-061-step_4-text">
            <a:extLst xmlns:a="http://schemas.openxmlformats.org/drawingml/2006/main">
              <a:ext uri="{FF2B5EF4-FFF2-40B4-BE49-F238E27FC236}">
                <a16:creationId xmlns:a16="http://schemas.microsoft.com/office/drawing/2014/main" id="{F7668282-EB84-4F78-AC65-5BB054FE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4 · Bandas</a:t>
            </a:r>
          </a:p>
        </p:txBody>
      </p:sp>
      <p:sp>
        <p:nvSpPr>
          <p:cNvPr id="24" name="U09-DG-061-step_5-box">
            <a:extLst xmlns:a="http://schemas.openxmlformats.org/drawingml/2006/main">
              <a:ext uri="{FF2B5EF4-FFF2-40B4-BE49-F238E27FC236}">
                <a16:creationId xmlns:a16="http://schemas.microsoft.com/office/drawing/2014/main" id="{D3EF96A8-BE89-4DAD-ACA3-C324619DE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5" name="U09-DG-061-step_5-text">
            <a:extLst xmlns:a="http://schemas.openxmlformats.org/drawingml/2006/main">
              <a:ext uri="{FF2B5EF4-FFF2-40B4-BE49-F238E27FC236}">
                <a16:creationId xmlns:a16="http://schemas.microsoft.com/office/drawing/2014/main" id="{D14A2C8A-DC84-4FE5-9E6F-78C6C815C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5 · Norma</a:t>
            </a:r>
          </a:p>
        </p:txBody>
      </p:sp>
      <p:sp>
        <p:nvSpPr>
          <p:cNvPr id="26" name="caption">
            <a:extLst xmlns:a="http://schemas.openxmlformats.org/drawingml/2006/main">
              <a:ext uri="{FF2B5EF4-FFF2-40B4-BE49-F238E27FC236}">
                <a16:creationId xmlns:a16="http://schemas.microsoft.com/office/drawing/2014/main" id="{46AE9DB4-0089-4049-8EDD-11458311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la medición útil debe ser compatible con el receptor, la prueba y el criterio seleccionado. · Producción propia UCASAL · U09-DG-061</a:t>
            </a:r>
          </a:p>
        </p:txBody>
      </p:sp>
      <p:sp>
        <p:nvSpPr>
          <p:cNvPr id="27" name="unit-footer">
            <a:extLst xmlns:a="http://schemas.openxmlformats.org/drawingml/2006/main">
              <a:ext uri="{FF2B5EF4-FFF2-40B4-BE49-F238E27FC236}">
                <a16:creationId xmlns:a16="http://schemas.microsoft.com/office/drawing/2014/main" id="{59E5A85E-3340-4585-8DDF-6F8AAA10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Física Acústica · Unidad 9</a:t>
            </a:r>
          </a:p>
        </p:txBody>
      </p:sp>
      <p:sp>
        <p:nvSpPr>
          <p:cNvPr id="2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064EE6E-902D-45B0-9095-CA6965D7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81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op-rail-1">
            <a:extLst xmlns:a="http://schemas.openxmlformats.org/drawingml/2006/main">
              <a:ext uri="{FF2B5EF4-FFF2-40B4-BE49-F238E27FC236}">
                <a16:creationId xmlns:a16="http://schemas.microsoft.com/office/drawing/2014/main" id="{A4C8B9D7-094E-4BD4-8C7B-7BC74417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2E6D1A05-7270-4903-A418-D4F7D6B2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6469B201-316A-4C57-82CE-BBADE644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0F436A84-729E-457F-98F7-7893D424E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INTEGRACIÓN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05528EF-C999-4780-AE6F-8AC0D41BB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Estimar, medir o consultar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BB7A18E-65C5-4060-96EA-C71A458E7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Integración y cierre · Actividad integradora</a:t>
            </a:r>
          </a:p>
        </p:txBody>
      </p:sp>
      <p:sp>
        <p:nvSpPr>
          <p:cNvPr id="7" name="U09-DG-062-concept_1-anchor">
            <a:extLst xmlns:a="http://schemas.openxmlformats.org/drawingml/2006/main">
              <a:ext uri="{FF2B5EF4-FFF2-40B4-BE49-F238E27FC236}">
                <a16:creationId xmlns:a16="http://schemas.microsoft.com/office/drawing/2014/main" id="{2ACB3F3E-701F-4FDB-BC4E-67CB46A82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62-concept_2-anchor">
            <a:extLst xmlns:a="http://schemas.openxmlformats.org/drawingml/2006/main">
              <a:ext uri="{FF2B5EF4-FFF2-40B4-BE49-F238E27FC236}">
                <a16:creationId xmlns:a16="http://schemas.microsoft.com/office/drawing/2014/main" id="{1FB55941-FED8-4BF5-AB59-561FCB89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8400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62-concept_3-anchor">
            <a:extLst xmlns:a="http://schemas.openxmlformats.org/drawingml/2006/main">
              <a:ext uri="{FF2B5EF4-FFF2-40B4-BE49-F238E27FC236}">
                <a16:creationId xmlns:a16="http://schemas.microsoft.com/office/drawing/2014/main" id="{5DA52993-8082-4F47-B21C-611159D71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8400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62-concept_4-anchor">
            <a:extLst xmlns:a="http://schemas.openxmlformats.org/drawingml/2006/main">
              <a:ext uri="{FF2B5EF4-FFF2-40B4-BE49-F238E27FC236}">
                <a16:creationId xmlns:a16="http://schemas.microsoft.com/office/drawing/2014/main" id="{D3FA3F1B-4A67-45E2-A425-215BBC41E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62-concept_5-anchor">
            <a:extLst xmlns:a="http://schemas.openxmlformats.org/drawingml/2006/main">
              <a:ext uri="{FF2B5EF4-FFF2-40B4-BE49-F238E27FC236}">
                <a16:creationId xmlns:a16="http://schemas.microsoft.com/office/drawing/2014/main" id="{858C8D51-470C-4852-8E95-3D74C9537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3573971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U09-DG-062-concept_6-anchor">
            <a:extLst xmlns:a="http://schemas.openxmlformats.org/drawingml/2006/main">
              <a:ext uri="{FF2B5EF4-FFF2-40B4-BE49-F238E27FC236}">
                <a16:creationId xmlns:a16="http://schemas.microsoft.com/office/drawing/2014/main" id="{D9923233-F76C-4A64-BAF5-32E8AC429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3573971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U09-DG-062-visual-alt" descr="Matriz de trabajo U09-DG-062, candidata para diagram-generation. La composición permite reconocer que cada afirmación requiere un tipo de evidencia distinto.">
            <a:extLst xmlns:a="http://schemas.openxmlformats.org/drawingml/2006/main">
              <a:ext uri="{FF2B5EF4-FFF2-40B4-BE49-F238E27FC236}">
                <a16:creationId xmlns:a16="http://schemas.microsoft.com/office/drawing/2014/main" id="{1DFC8C8D-406D-415A-B946-FF93B9819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4" name="U09-DG-062-concept_1-text">
            <a:extLst xmlns:a="http://schemas.openxmlformats.org/drawingml/2006/main">
              <a:ext uri="{FF2B5EF4-FFF2-40B4-BE49-F238E27FC236}">
                <a16:creationId xmlns:a16="http://schemas.microsoft.com/office/drawing/2014/main" id="{6801D106-A022-4DFA-8321-2AC20A310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638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Seis decisiones</a:t>
            </a:r>
          </a:p>
        </p:txBody>
      </p:sp>
      <p:sp>
        <p:nvSpPr>
          <p:cNvPr id="15" name="U09-DG-062-concept_2-box">
            <a:extLst xmlns:a="http://schemas.openxmlformats.org/drawingml/2006/main">
              <a:ext uri="{FF2B5EF4-FFF2-40B4-BE49-F238E27FC236}">
                <a16:creationId xmlns:a16="http://schemas.microsoft.com/office/drawing/2014/main" id="{FDCF5D8A-88E9-4CFF-AC69-7158B8695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8400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6" name="U09-DG-062-concept_2-text">
            <a:extLst xmlns:a="http://schemas.openxmlformats.org/drawingml/2006/main">
              <a:ext uri="{FF2B5EF4-FFF2-40B4-BE49-F238E27FC236}">
                <a16:creationId xmlns:a16="http://schemas.microsoft.com/office/drawing/2014/main" id="{85C4985E-4E1F-47F8-BC6F-D90ADD3C2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19638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columnas mecanismo</a:t>
            </a:r>
          </a:p>
        </p:txBody>
      </p:sp>
      <p:sp>
        <p:nvSpPr>
          <p:cNvPr id="17" name="U09-DG-062-concept_3-box">
            <a:extLst xmlns:a="http://schemas.openxmlformats.org/drawingml/2006/main">
              <a:ext uri="{FF2B5EF4-FFF2-40B4-BE49-F238E27FC236}">
                <a16:creationId xmlns:a16="http://schemas.microsoft.com/office/drawing/2014/main" id="{9993C740-7AA1-46F4-B90E-E168EA040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8400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8" name="U09-DG-062-concept_3-text">
            <a:extLst xmlns:a="http://schemas.openxmlformats.org/drawingml/2006/main">
              <a:ext uri="{FF2B5EF4-FFF2-40B4-BE49-F238E27FC236}">
                <a16:creationId xmlns:a16="http://schemas.microsoft.com/office/drawing/2014/main" id="{59A176BD-CB56-4478-8333-9725FAD53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266" y="19638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modelo</a:t>
            </a:r>
          </a:p>
        </p:txBody>
      </p:sp>
      <p:sp>
        <p:nvSpPr>
          <p:cNvPr id="19" name="U09-DG-062-concept_4-box">
            <a:extLst xmlns:a="http://schemas.openxmlformats.org/drawingml/2006/main">
              <a:ext uri="{FF2B5EF4-FFF2-40B4-BE49-F238E27FC236}">
                <a16:creationId xmlns:a16="http://schemas.microsoft.com/office/drawing/2014/main" id="{778ED0FF-554E-42BA-8792-9AAC1A9E4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0" name="U09-DG-062-concept_4-text">
            <a:extLst xmlns:a="http://schemas.openxmlformats.org/drawingml/2006/main">
              <a:ext uri="{FF2B5EF4-FFF2-40B4-BE49-F238E27FC236}">
                <a16:creationId xmlns:a16="http://schemas.microsoft.com/office/drawing/2014/main" id="{B7753D3C-FC69-4422-A969-4093243D7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7796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dato</a:t>
            </a:r>
          </a:p>
        </p:txBody>
      </p:sp>
      <p:sp>
        <p:nvSpPr>
          <p:cNvPr id="21" name="U09-DG-062-concept_5-box">
            <a:extLst xmlns:a="http://schemas.openxmlformats.org/drawingml/2006/main">
              <a:ext uri="{FF2B5EF4-FFF2-40B4-BE49-F238E27FC236}">
                <a16:creationId xmlns:a16="http://schemas.microsoft.com/office/drawing/2014/main" id="{3D87A0E6-CCA4-43BC-847A-1AF251C4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3573971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2" name="U09-DG-062-concept_5-text">
            <a:extLst xmlns:a="http://schemas.openxmlformats.org/drawingml/2006/main">
              <a:ext uri="{FF2B5EF4-FFF2-40B4-BE49-F238E27FC236}">
                <a16:creationId xmlns:a16="http://schemas.microsoft.com/office/drawing/2014/main" id="{5A084349-94BD-4222-8A97-C2E959AC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3697796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medición</a:t>
            </a:r>
          </a:p>
        </p:txBody>
      </p:sp>
      <p:sp>
        <p:nvSpPr>
          <p:cNvPr id="23" name="U09-DG-062-concept_6-box">
            <a:extLst xmlns:a="http://schemas.openxmlformats.org/drawingml/2006/main">
              <a:ext uri="{FF2B5EF4-FFF2-40B4-BE49-F238E27FC236}">
                <a16:creationId xmlns:a16="http://schemas.microsoft.com/office/drawing/2014/main" id="{05FB78EC-A9E4-497C-8940-D8DAA5F4A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3573971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4" name="U09-DG-062-concept_6-text">
            <a:extLst xmlns:a="http://schemas.openxmlformats.org/drawingml/2006/main">
              <a:ext uri="{FF2B5EF4-FFF2-40B4-BE49-F238E27FC236}">
                <a16:creationId xmlns:a16="http://schemas.microsoft.com/office/drawing/2014/main" id="{E255E067-110F-4DA5-BCE0-E2529721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266" y="3697796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límite</a:t>
            </a:r>
          </a:p>
        </p:txBody>
      </p:sp>
      <p:sp>
        <p:nvSpPr>
          <p:cNvPr id="25" name="caption">
            <a:extLst xmlns:a="http://schemas.openxmlformats.org/drawingml/2006/main">
              <a:ext uri="{FF2B5EF4-FFF2-40B4-BE49-F238E27FC236}">
                <a16:creationId xmlns:a16="http://schemas.microsoft.com/office/drawing/2014/main" id="{BD78B24D-0650-4D16-B57A-1918CF46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cada afirmación requiere un tipo de evidencia distinto. · Producción propia UCASAL · U09-DG-062</a:t>
            </a:r>
          </a:p>
        </p:txBody>
      </p:sp>
      <p:sp>
        <p:nvSpPr>
          <p:cNvPr id="26" name="unit-footer">
            <a:extLst xmlns:a="http://schemas.openxmlformats.org/drawingml/2006/main">
              <a:ext uri="{FF2B5EF4-FFF2-40B4-BE49-F238E27FC236}">
                <a16:creationId xmlns:a16="http://schemas.microsoft.com/office/drawing/2014/main" id="{887A8AC9-BF96-44BB-97EC-92CF621FA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Física Acústica · Unidad 9</a:t>
            </a:r>
          </a:p>
        </p:txBody>
      </p:sp>
      <p:sp>
        <p:nvSpPr>
          <p:cNvPr id="2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8054DD6-2703-4C23-87D6-9CDDCC592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82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AD899D7-62F9-4457-BA82-0F578C9A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Del fenómeno a la decisión responsable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72B88DE-6AA8-4322-9FAC-548E30A56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E7D7DF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E7D7DF"/>
                </a:solidFill>
                <a:latin typeface="Calibri"/>
                <a:ea typeface="Calibri"/>
                <a:cs typeface="Calibri"/>
              </a:rPr>
              <a:t>Integración y cierre · Recapitulación final</a:t>
            </a:r>
          </a:p>
        </p:txBody>
      </p:sp>
      <p:sp>
        <p:nvSpPr>
          <p:cNvPr id="3" name="recap-0">
            <a:extLst xmlns:a="http://schemas.openxmlformats.org/drawingml/2006/main">
              <a:ext uri="{FF2B5EF4-FFF2-40B4-BE49-F238E27FC236}">
                <a16:creationId xmlns:a16="http://schemas.microsoft.com/office/drawing/2014/main" id="{10E2E4DC-385E-4E2E-9D8C-629A22DB7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145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 Identificar el mecanismo.</a:t>
            </a:r>
          </a:p>
        </p:txBody>
      </p:sp>
      <p:sp>
        <p:nvSpPr>
          <p:cNvPr id="4" name="recap-1">
            <a:extLst xmlns:a="http://schemas.openxmlformats.org/drawingml/2006/main">
              <a:ext uri="{FF2B5EF4-FFF2-40B4-BE49-F238E27FC236}">
                <a16:creationId xmlns:a16="http://schemas.microsoft.com/office/drawing/2014/main" id="{F5F3862F-E653-4458-BE65-5EE6DAD7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9555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 Elegir el modelo adecuado.</a:t>
            </a:r>
          </a:p>
        </p:txBody>
      </p:sp>
      <p:sp>
        <p:nvSpPr>
          <p:cNvPr id="5" name="recap-2">
            <a:extLst xmlns:a="http://schemas.openxmlformats.org/drawingml/2006/main">
              <a:ext uri="{FF2B5EF4-FFF2-40B4-BE49-F238E27FC236}">
                <a16:creationId xmlns:a16="http://schemas.microsoft.com/office/drawing/2014/main" id="{D86E9274-9033-4D85-9BEE-F5A7ADA76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766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 Declarar condiciones e hipótesis.</a:t>
            </a:r>
          </a:p>
        </p:txBody>
      </p:sp>
      <p:sp>
        <p:nvSpPr>
          <p:cNvPr id="6" name="recap-3">
            <a:extLst xmlns:a="http://schemas.openxmlformats.org/drawingml/2006/main">
              <a:ext uri="{FF2B5EF4-FFF2-40B4-BE49-F238E27FC236}">
                <a16:creationId xmlns:a16="http://schemas.microsoft.com/office/drawing/2014/main" id="{A3B7767B-9FDF-4669-BB53-CD625293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5765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 Medir cuando la estimación no alcance.</a:t>
            </a:r>
          </a:p>
        </p:txBody>
      </p:sp>
      <p:sp>
        <p:nvSpPr>
          <p:cNvPr id="7" name="recap-4">
            <a:extLst xmlns:a="http://schemas.openxmlformats.org/drawingml/2006/main">
              <a:ext uri="{FF2B5EF4-FFF2-40B4-BE49-F238E27FC236}">
                <a16:creationId xmlns:a16="http://schemas.microsoft.com/office/drawing/2014/main" id="{FB219A66-2880-449C-AC82-EF593523F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387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 Limitar la conclusión a la evidencia disponible.</a:t>
            </a:r>
          </a:p>
        </p:txBody>
      </p:sp>
      <p:sp>
        <p:nvSpPr>
          <p:cNvPr id="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7CB2023-6620-4374-BF4E-F1A5A5BCB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rPr>
              <a:t>83</a:t>
            </a:r>
          </a:p>
        </p:txBody>
      </p:sp>
    </p:spTree>
    <p:extLst>
      <p:ext uri="{BB962C8B-B14F-4D97-AF65-F5344CB8AC3E}">
        <p14:creationId xmlns:p14="http://schemas.microsoft.com/office/powerpoint/2010/main" val="951530275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ark-eyebrow">
            <a:extLst xmlns:a="http://schemas.openxmlformats.org/drawingml/2006/main">
              <a:ext uri="{FF2B5EF4-FFF2-40B4-BE49-F238E27FC236}">
                <a16:creationId xmlns:a16="http://schemas.microsoft.com/office/drawing/2014/main" id="{FDA711AD-5B9C-4EEE-B1BE-2C068EE4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UNIDAD 9 · RUTA CENTRAL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75406874-4A6B-4F4B-832E-263612ACF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47875"/>
            <a:ext cx="1057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Del trayecto al control del ruido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51E08B40-905A-424B-BDE1-2EE2648E9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571875"/>
            <a:ext cx="885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rPr>
              <a:t>U9 explica cómo el trayecto modifica lo recibido; U10 organizará fuentes de ruido, exposición y control.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9B0EB1E-12F9-4F25-B09F-7AE4F44DD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rPr>
              <a:t>84</a:t>
            </a:r>
          </a:p>
        </p:txBody>
      </p:sp>
    </p:spTree>
    <p:extLst>
      <p:ext uri="{BB962C8B-B14F-4D97-AF65-F5344CB8AC3E}">
        <p14:creationId xmlns:p14="http://schemas.microsoft.com/office/powerpoint/2010/main" val="880112903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op-rail-1">
            <a:extLst xmlns:a="http://schemas.openxmlformats.org/drawingml/2006/main">
              <a:ext uri="{FF2B5EF4-FFF2-40B4-BE49-F238E27FC236}">
                <a16:creationId xmlns:a16="http://schemas.microsoft.com/office/drawing/2014/main" id="{5B573E63-75CE-456D-954F-560B3E5F6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BA10EFA1-6212-42FA-A625-3DC230258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9234FF6B-818C-4E82-BDB3-647837ADC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8F0D20FB-3A31-4ADD-97D9-3B6187CF0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RESPALDO · A DEMANDA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3DA1B45-45E6-4C20-B6E9-FE8ADC9BC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 potencia a −6 dB por duplicar distancia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7D1725E-7E14-4EDD-8D2D-D48E92ABF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Material de respaldo · Derivación</a:t>
            </a:r>
          </a:p>
        </p:txBody>
      </p:sp>
      <p:sp>
        <p:nvSpPr>
          <p:cNvPr id="7" name="U09-DG-065-equation-anchor">
            <a:extLst xmlns:a="http://schemas.openxmlformats.org/drawingml/2006/main">
              <a:ext uri="{FF2B5EF4-FFF2-40B4-BE49-F238E27FC236}">
                <a16:creationId xmlns:a16="http://schemas.microsoft.com/office/drawing/2014/main" id="{3B0A729E-188C-4F6F-B317-BC56A2281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9470" y="2707005"/>
            <a:ext cx="4732020" cy="1015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65-callout_1-anchor">
            <a:extLst xmlns:a="http://schemas.openxmlformats.org/drawingml/2006/main">
              <a:ext uri="{FF2B5EF4-FFF2-40B4-BE49-F238E27FC236}">
                <a16:creationId xmlns:a16="http://schemas.microsoft.com/office/drawing/2014/main" id="{9E3E26E6-3405-452D-A5CE-EAD6E7C87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2588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65-callout_2-anchor">
            <a:extLst xmlns:a="http://schemas.openxmlformats.org/drawingml/2006/main">
              <a:ext uri="{FF2B5EF4-FFF2-40B4-BE49-F238E27FC236}">
                <a16:creationId xmlns:a16="http://schemas.microsoft.com/office/drawing/2014/main" id="{348E27F1-AA0A-440D-B4A8-9E8CDF1D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1652588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65-callout_3-anchor">
            <a:extLst xmlns:a="http://schemas.openxmlformats.org/drawingml/2006/main">
              <a:ext uri="{FF2B5EF4-FFF2-40B4-BE49-F238E27FC236}">
                <a16:creationId xmlns:a16="http://schemas.microsoft.com/office/drawing/2014/main" id="{D57158F8-7B57-4EBE-A0F4-0AAC83FC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65-callout_4-anchor">
            <a:extLst xmlns:a="http://schemas.openxmlformats.org/drawingml/2006/main">
              <a:ext uri="{FF2B5EF4-FFF2-40B4-BE49-F238E27FC236}">
                <a16:creationId xmlns:a16="http://schemas.microsoft.com/office/drawing/2014/main" id="{BEC181F2-A1B6-4F34-BDE3-1DDD2FE44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4191000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0" name="U09-DG-065-leader_1"/>
          <p:cNvCxnSpPr>
            <a:stCxn xmlns:a="http://schemas.openxmlformats.org/drawingml/2006/main" id="8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28950" y="2101692"/>
            <a:ext cx="350520" cy="111299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1" name="U09-DG-065-leader_2"/>
          <p:cNvCxnSpPr>
            <a:stCxn xmlns:a="http://schemas.openxmlformats.org/drawingml/2006/main" id="9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8111490" y="2101692"/>
            <a:ext cx="350520" cy="111299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2" name="U09-DG-065-leader_3"/>
          <p:cNvCxnSpPr>
            <a:stCxn xmlns:a="http://schemas.openxmlformats.org/drawingml/2006/main" id="10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028950" y="3214688"/>
            <a:ext cx="350520" cy="142541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3" name="U09-DG-065-leader_4"/>
          <p:cNvCxnSpPr>
            <a:stCxn xmlns:a="http://schemas.openxmlformats.org/drawingml/2006/main" id="11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 flipV="1">
            <a:off x="8111490" y="3214688"/>
            <a:ext cx="350520" cy="142541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U09-DG-065-visual-alt" descr="U09-DG-065, candidata para diagram-generation. La composición permite reconocer que la regla surge de área esférica, intensidad y presión, no de una propiedad intrínseca de la fuente.">
            <a:extLst xmlns:a="http://schemas.openxmlformats.org/drawingml/2006/main">
              <a:ext uri="{FF2B5EF4-FFF2-40B4-BE49-F238E27FC236}">
                <a16:creationId xmlns:a16="http://schemas.microsoft.com/office/drawing/2014/main" id="{4548968B-2BAD-41C1-9E44-6972693FB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9470" y="2707005"/>
            <a:ext cx="4732020" cy="1015365"/>
          </a:xfrm>
          <a:prstGeom xmlns:a="http://schemas.openxmlformats.org/drawingml/2006/main" prst="roundRect">
            <a:avLst>
              <a:gd name="adj" fmla="val 65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7" name="U09-DG-065-equation-text">
            <a:extLst xmlns:a="http://schemas.openxmlformats.org/drawingml/2006/main">
              <a:ext uri="{FF2B5EF4-FFF2-40B4-BE49-F238E27FC236}">
                <a16:creationId xmlns:a16="http://schemas.microsoft.com/office/drawing/2014/main" id="{FD6DF869-04A0-4C44-8AA5-E294BF9B0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830830"/>
            <a:ext cx="4389120" cy="767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340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340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proporcionalidades de divergencia</a:t>
            </a:r>
          </a:p>
        </p:txBody>
      </p:sp>
      <p:sp>
        <p:nvSpPr>
          <p:cNvPr id="18" name="U09-DG-065-callout_1-box">
            <a:extLst xmlns:a="http://schemas.openxmlformats.org/drawingml/2006/main">
              <a:ext uri="{FF2B5EF4-FFF2-40B4-BE49-F238E27FC236}">
                <a16:creationId xmlns:a16="http://schemas.microsoft.com/office/drawing/2014/main" id="{6078ED07-E2F1-48EE-B6A6-A1CC6B6A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2588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9" name="U09-DG-065-callout_1-text">
            <a:extLst xmlns:a="http://schemas.openxmlformats.org/drawingml/2006/main">
              <a:ext uri="{FF2B5EF4-FFF2-40B4-BE49-F238E27FC236}">
                <a16:creationId xmlns:a16="http://schemas.microsoft.com/office/drawing/2014/main" id="{83A59C6C-A523-45A9-B09D-1B4236BB6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76413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Potencia</a:t>
            </a:r>
          </a:p>
        </p:txBody>
      </p:sp>
      <p:sp>
        <p:nvSpPr>
          <p:cNvPr id="20" name="U09-DG-065-callout_2-box">
            <a:extLst xmlns:a="http://schemas.openxmlformats.org/drawingml/2006/main">
              <a:ext uri="{FF2B5EF4-FFF2-40B4-BE49-F238E27FC236}">
                <a16:creationId xmlns:a16="http://schemas.microsoft.com/office/drawing/2014/main" id="{BDD8C05A-8654-4A5D-A983-E8009A92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1652588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1" name="U09-DG-065-callout_2-text">
            <a:extLst xmlns:a="http://schemas.openxmlformats.org/drawingml/2006/main">
              <a:ext uri="{FF2B5EF4-FFF2-40B4-BE49-F238E27FC236}">
                <a16:creationId xmlns:a16="http://schemas.microsoft.com/office/drawing/2014/main" id="{58A48FF9-D4B2-4B02-BADD-E5F18012C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3460" y="1776413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área</a:t>
            </a:r>
          </a:p>
        </p:txBody>
      </p:sp>
      <p:sp>
        <p:nvSpPr>
          <p:cNvPr id="22" name="U09-DG-065-callout_3-box">
            <a:extLst xmlns:a="http://schemas.openxmlformats.org/drawingml/2006/main">
              <a:ext uri="{FF2B5EF4-FFF2-40B4-BE49-F238E27FC236}">
                <a16:creationId xmlns:a16="http://schemas.microsoft.com/office/drawing/2014/main" id="{3D0A0047-9A2A-43E1-BAC7-FC355112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3" name="U09-DG-065-callout_3-text">
            <a:extLst xmlns:a="http://schemas.openxmlformats.org/drawingml/2006/main">
              <a:ext uri="{FF2B5EF4-FFF2-40B4-BE49-F238E27FC236}">
                <a16:creationId xmlns:a16="http://schemas.microsoft.com/office/drawing/2014/main" id="{C766E950-87A0-4E5C-8503-7E3D7F713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14825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intensidad</a:t>
            </a:r>
          </a:p>
        </p:txBody>
      </p:sp>
      <p:sp>
        <p:nvSpPr>
          <p:cNvPr id="24" name="U09-DG-065-callout_4-box">
            <a:extLst xmlns:a="http://schemas.openxmlformats.org/drawingml/2006/main">
              <a:ext uri="{FF2B5EF4-FFF2-40B4-BE49-F238E27FC236}">
                <a16:creationId xmlns:a16="http://schemas.microsoft.com/office/drawing/2014/main" id="{DBE009F2-17FC-4E33-9DD1-91B49658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4191000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5" name="U09-DG-065-callout_4-text">
            <a:extLst xmlns:a="http://schemas.openxmlformats.org/drawingml/2006/main">
              <a:ext uri="{FF2B5EF4-FFF2-40B4-BE49-F238E27FC236}">
                <a16:creationId xmlns:a16="http://schemas.microsoft.com/office/drawing/2014/main" id="{F4156465-E10D-4763-A445-3A02C693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3460" y="4314825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presión</a:t>
            </a:r>
          </a:p>
        </p:txBody>
      </p:sp>
      <p:sp>
        <p:nvSpPr>
          <p:cNvPr id="26" name="caption">
            <a:extLst xmlns:a="http://schemas.openxmlformats.org/drawingml/2006/main">
              <a:ext uri="{FF2B5EF4-FFF2-40B4-BE49-F238E27FC236}">
                <a16:creationId xmlns:a16="http://schemas.microsoft.com/office/drawing/2014/main" id="{6F4D03C0-2751-4FC9-AB4E-2CFB2268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la regla surge de área esférica, intensidad y presión, no de una propiedad intrínseca de la fuente. · Producción propia UCASAL · U09-DG-065</a:t>
            </a:r>
          </a:p>
        </p:txBody>
      </p:sp>
      <p:sp>
        <p:nvSpPr>
          <p:cNvPr id="27" name="unit-footer">
            <a:extLst xmlns:a="http://schemas.openxmlformats.org/drawingml/2006/main">
              <a:ext uri="{FF2B5EF4-FFF2-40B4-BE49-F238E27FC236}">
                <a16:creationId xmlns:a16="http://schemas.microsoft.com/office/drawing/2014/main" id="{D49BE706-3BD8-4CA9-ACF3-D69E62B2F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Física Acústica · Unidad 9</a:t>
            </a:r>
          </a:p>
        </p:txBody>
      </p:sp>
      <p:sp>
        <p:nvSpPr>
          <p:cNvPr id="2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A600D79-DFFE-4243-A43C-314B3E14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85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ail-1">
            <a:extLst xmlns:a="http://schemas.openxmlformats.org/drawingml/2006/main">
              <a:ext uri="{FF2B5EF4-FFF2-40B4-BE49-F238E27FC236}">
                <a16:creationId xmlns:a16="http://schemas.microsoft.com/office/drawing/2014/main" id="{B8D09F95-538B-48B6-BA1E-D92EE987A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70CE7C90-4679-461E-88D6-CEDB8BDC1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05AB4C92-EA71-4E61-BD1E-A085070E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D3A0CD25-F831-460F-8CDD-66BC4764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RESPALDO · A DEMANDA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C08A8A7-31FC-4CCB-ADD7-A82554C7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Símbolos que no deben confundirse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28D91A2-EDF5-4989-B75B-0C1F0C8C8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Material de respaldo · Tabla de notación</a:t>
            </a:r>
          </a:p>
        </p:txBody>
      </p:sp>
      <p:sp>
        <p:nvSpPr>
          <p:cNvPr id="7" name="U09-086-claim-alt" descr="Tabla nativa. La composición permite reconocer que reflexión energética, reflexión de presión, reducción sonora y tiempo de reverberación requieren símbolos distintos.">
            <a:extLst xmlns:a="http://schemas.openxmlformats.org/drawingml/2006/main">
              <a:ext uri="{FF2B5EF4-FFF2-40B4-BE49-F238E27FC236}">
                <a16:creationId xmlns:a16="http://schemas.microsoft.com/office/drawing/2014/main" id="{B38080EB-D00A-4063-8609-A6E61982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19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1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Reflexión energética, reflexión de presión, reducción sonora y tiempo de reverberación requieren símbolos distintos.</a:t>
            </a:r>
          </a:p>
        </p:txBody>
      </p:sp>
      <p:sp>
        <p:nvSpPr>
          <p:cNvPr id="8" name="bullet-0">
            <a:extLst xmlns:a="http://schemas.openxmlformats.org/drawingml/2006/main">
              <a:ext uri="{FF2B5EF4-FFF2-40B4-BE49-F238E27FC236}">
                <a16:creationId xmlns:a16="http://schemas.microsoft.com/office/drawing/2014/main" id="{F03F742C-3FE5-4C7A-B2C4-0245314F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ody-0">
            <a:extLst xmlns:a="http://schemas.openxmlformats.org/drawingml/2006/main">
              <a:ext uri="{FF2B5EF4-FFF2-40B4-BE49-F238E27FC236}">
                <a16:creationId xmlns:a16="http://schemas.microsoft.com/office/drawing/2014/main" id="{33EAE6CA-9B88-48AB-A08F-2BDE9612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14625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Tabla Rₑ, Rₚ, R_I, R, τₑ, Aₑq, T₆₀, Qdir, v_viento, mₛ.</a:t>
            </a:r>
          </a:p>
        </p:txBody>
      </p:sp>
      <p:sp>
        <p:nvSpPr>
          <p:cNvPr id="10" name="unit-footer">
            <a:extLst xmlns:a="http://schemas.openxmlformats.org/drawingml/2006/main">
              <a:ext uri="{FF2B5EF4-FFF2-40B4-BE49-F238E27FC236}">
                <a16:creationId xmlns:a16="http://schemas.microsoft.com/office/drawing/2014/main" id="{FC82F218-3F4D-4C8B-8257-EE908A3B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Física Acústica · Unidad 9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48F2404-DCBF-4F8C-B56A-8E63FD62B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86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op-rail-1">
            <a:extLst xmlns:a="http://schemas.openxmlformats.org/drawingml/2006/main">
              <a:ext uri="{FF2B5EF4-FFF2-40B4-BE49-F238E27FC236}">
                <a16:creationId xmlns:a16="http://schemas.microsoft.com/office/drawing/2014/main" id="{65BA7EBE-411D-43AB-8E31-0EAEB26A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DC11CB8A-8048-450E-AD6C-6F79BFB5F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AB5D396A-27AB-4CBA-AAE3-C17D6BF5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C4A479D2-00FC-4EDC-8DE4-E7ABB82A7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RESPALDO · A DEMANDA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CD0A5D1-C68A-4DD6-B22F-73207D33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Ejercicios de distancia y directividad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F30D7C4-D53E-4388-B690-3DF732C7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Material de respaldo · Solución extendida</a:t>
            </a:r>
          </a:p>
        </p:txBody>
      </p:sp>
      <p:sp>
        <p:nvSpPr>
          <p:cNvPr id="7" name="U09-DG-066-source-anchor">
            <a:extLst xmlns:a="http://schemas.openxmlformats.org/drawingml/2006/main">
              <a:ext uri="{FF2B5EF4-FFF2-40B4-BE49-F238E27FC236}">
                <a16:creationId xmlns:a16="http://schemas.microsoft.com/office/drawing/2014/main" id="{66A1CB50-72EB-4FCA-8C0C-77928A24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2628900"/>
            <a:ext cx="227838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66-path_upper-anchor">
            <a:extLst xmlns:a="http://schemas.openxmlformats.org/drawingml/2006/main">
              <a:ext uri="{FF2B5EF4-FFF2-40B4-BE49-F238E27FC236}">
                <a16:creationId xmlns:a16="http://schemas.microsoft.com/office/drawing/2014/main" id="{8E809388-35C9-4CBD-821D-3A8A79BC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1691640"/>
            <a:ext cx="2804160" cy="976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66-path_lower-anchor">
            <a:extLst xmlns:a="http://schemas.openxmlformats.org/drawingml/2006/main">
              <a:ext uri="{FF2B5EF4-FFF2-40B4-BE49-F238E27FC236}">
                <a16:creationId xmlns:a16="http://schemas.microsoft.com/office/drawing/2014/main" id="{51B5D1FD-3B2A-47CD-A590-6FA17FEBC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3644265"/>
            <a:ext cx="2804160" cy="976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66-receiver-anchor">
            <a:extLst xmlns:a="http://schemas.openxmlformats.org/drawingml/2006/main">
              <a:ext uri="{FF2B5EF4-FFF2-40B4-BE49-F238E27FC236}">
                <a16:creationId xmlns:a16="http://schemas.microsoft.com/office/drawing/2014/main" id="{F659FC8D-B31E-4100-B44F-FB0AFA298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195" y="2628900"/>
            <a:ext cx="227838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66-condition-anchor">
            <a:extLst xmlns:a="http://schemas.openxmlformats.org/drawingml/2006/main">
              <a:ext uri="{FF2B5EF4-FFF2-40B4-BE49-F238E27FC236}">
                <a16:creationId xmlns:a16="http://schemas.microsoft.com/office/drawing/2014/main" id="{4113F41A-ED00-4F79-BD6A-5B2429ECD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4815840"/>
            <a:ext cx="2804160" cy="5857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0" name="U09-DG-066-route_1a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072765" y="2179797"/>
            <a:ext cx="1183005" cy="9958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1" name="U09-DG-066-route_1b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059930" y="2179797"/>
            <a:ext cx="1358265" cy="9958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2" name="U09-DG-066-route_2a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072765" y="3175635"/>
            <a:ext cx="1183005" cy="95678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3" name="U09-DG-066-route_2b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7059930" y="3175635"/>
            <a:ext cx="1358265" cy="95678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U09-DG-066-visual-alt" descr="U09-DG-066, candidata para diagram-generation. La composición permite reconocer que la operación debe acompañarse con hipótesis y conclusión.">
            <a:extLst xmlns:a="http://schemas.openxmlformats.org/drawingml/2006/main">
              <a:ext uri="{FF2B5EF4-FFF2-40B4-BE49-F238E27FC236}">
                <a16:creationId xmlns:a16="http://schemas.microsoft.com/office/drawing/2014/main" id="{6015024B-207D-4C01-B282-7DCA160B4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2628900"/>
            <a:ext cx="227838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7" name="U09-DG-066-source-text">
            <a:extLst xmlns:a="http://schemas.openxmlformats.org/drawingml/2006/main">
              <a:ext uri="{FF2B5EF4-FFF2-40B4-BE49-F238E27FC236}">
                <a16:creationId xmlns:a16="http://schemas.microsoft.com/office/drawing/2014/main" id="{62EACECA-620B-4620-B8BE-2B676231A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" y="2752725"/>
            <a:ext cx="193548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Datos</a:t>
            </a:r>
          </a:p>
        </p:txBody>
      </p:sp>
      <p:sp>
        <p:nvSpPr>
          <p:cNvPr id="18" name="U09-DG-066-path_upper-box">
            <a:extLst xmlns:a="http://schemas.openxmlformats.org/drawingml/2006/main">
              <a:ext uri="{FF2B5EF4-FFF2-40B4-BE49-F238E27FC236}">
                <a16:creationId xmlns:a16="http://schemas.microsoft.com/office/drawing/2014/main" id="{FE2506B7-6227-4506-A67E-434D6D4DE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1691640"/>
            <a:ext cx="2804160" cy="976313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9" name="U09-DG-066-path_upper-text">
            <a:extLst xmlns:a="http://schemas.openxmlformats.org/drawingml/2006/main">
              <a:ext uri="{FF2B5EF4-FFF2-40B4-BE49-F238E27FC236}">
                <a16:creationId xmlns:a16="http://schemas.microsoft.com/office/drawing/2014/main" id="{96888120-01CB-4DBE-9974-F1117F1D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220" y="1815465"/>
            <a:ext cx="2461260" cy="728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Operaciones</a:t>
            </a:r>
          </a:p>
        </p:txBody>
      </p:sp>
      <p:sp>
        <p:nvSpPr>
          <p:cNvPr id="20" name="U09-DG-066-path_lower-box">
            <a:extLst xmlns:a="http://schemas.openxmlformats.org/drawingml/2006/main">
              <a:ext uri="{FF2B5EF4-FFF2-40B4-BE49-F238E27FC236}">
                <a16:creationId xmlns:a16="http://schemas.microsoft.com/office/drawing/2014/main" id="{7085DE7A-941F-473F-844B-120E08784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3644265"/>
            <a:ext cx="2804160" cy="976313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1" name="U09-DG-066-path_lower-text">
            <a:extLst xmlns:a="http://schemas.openxmlformats.org/drawingml/2006/main">
              <a:ext uri="{FF2B5EF4-FFF2-40B4-BE49-F238E27FC236}">
                <a16:creationId xmlns:a16="http://schemas.microsoft.com/office/drawing/2014/main" id="{3142D777-2BEF-4B28-B368-6C788E725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220" y="3768090"/>
            <a:ext cx="2461260" cy="728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Unidades</a:t>
            </a:r>
          </a:p>
        </p:txBody>
      </p:sp>
      <p:sp>
        <p:nvSpPr>
          <p:cNvPr id="22" name="U09-DG-066-receiver-box">
            <a:extLst xmlns:a="http://schemas.openxmlformats.org/drawingml/2006/main">
              <a:ext uri="{FF2B5EF4-FFF2-40B4-BE49-F238E27FC236}">
                <a16:creationId xmlns:a16="http://schemas.microsoft.com/office/drawing/2014/main" id="{0B3DB63F-B064-416A-AC30-616D6014E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195" y="2628900"/>
            <a:ext cx="227838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3" name="U09-DG-066-receiver-text">
            <a:extLst xmlns:a="http://schemas.openxmlformats.org/drawingml/2006/main">
              <a:ext uri="{FF2B5EF4-FFF2-40B4-BE49-F238E27FC236}">
                <a16:creationId xmlns:a16="http://schemas.microsoft.com/office/drawing/2014/main" id="{B09256C3-8E23-47E4-853E-36356ACDD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645" y="2752725"/>
            <a:ext cx="193548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Hipótesis</a:t>
            </a:r>
          </a:p>
        </p:txBody>
      </p:sp>
      <p:sp>
        <p:nvSpPr>
          <p:cNvPr id="24" name="U09-DG-066-condition-box">
            <a:extLst xmlns:a="http://schemas.openxmlformats.org/drawingml/2006/main">
              <a:ext uri="{FF2B5EF4-FFF2-40B4-BE49-F238E27FC236}">
                <a16:creationId xmlns:a16="http://schemas.microsoft.com/office/drawing/2014/main" id="{6A921583-BA55-45ED-AB89-C4055805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4815840"/>
            <a:ext cx="2804160" cy="585787"/>
          </a:xfrm>
          <a:prstGeom xmlns:a="http://schemas.openxmlformats.org/drawingml/2006/main" prst="roundRect">
            <a:avLst>
              <a:gd name="adj" fmla="val 11382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5" name="U09-DG-066-condition-text">
            <a:extLst xmlns:a="http://schemas.openxmlformats.org/drawingml/2006/main">
              <a:ext uri="{FF2B5EF4-FFF2-40B4-BE49-F238E27FC236}">
                <a16:creationId xmlns:a16="http://schemas.microsoft.com/office/drawing/2014/main" id="{07F9F9F9-227D-4A2D-86C3-8A1A3688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220" y="4939665"/>
            <a:ext cx="2461260" cy="3381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Conclusiones acotadas</a:t>
            </a:r>
          </a:p>
        </p:txBody>
      </p:sp>
      <p:sp>
        <p:nvSpPr>
          <p:cNvPr id="26" name="caption">
            <a:extLst xmlns:a="http://schemas.openxmlformats.org/drawingml/2006/main">
              <a:ext uri="{FF2B5EF4-FFF2-40B4-BE49-F238E27FC236}">
                <a16:creationId xmlns:a16="http://schemas.microsoft.com/office/drawing/2014/main" id="{43D388C9-1E9E-4419-A3FF-F32109E65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la operación debe acompañarse con hipótesis y conclusión. · Producción propia UCASAL · U09-DG-066</a:t>
            </a:r>
          </a:p>
        </p:txBody>
      </p:sp>
      <p:sp>
        <p:nvSpPr>
          <p:cNvPr id="27" name="unit-footer">
            <a:extLst xmlns:a="http://schemas.openxmlformats.org/drawingml/2006/main">
              <a:ext uri="{FF2B5EF4-FFF2-40B4-BE49-F238E27FC236}">
                <a16:creationId xmlns:a16="http://schemas.microsoft.com/office/drawing/2014/main" id="{A46C5991-FD9F-4D9D-98DD-E797CB31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Física Acústica · Unidad 9</a:t>
            </a:r>
          </a:p>
        </p:txBody>
      </p:sp>
      <p:sp>
        <p:nvSpPr>
          <p:cNvPr id="2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51039ED-DC2E-4441-80F4-AB61F3084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87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ail-1">
            <a:extLst xmlns:a="http://schemas.openxmlformats.org/drawingml/2006/main">
              <a:ext uri="{FF2B5EF4-FFF2-40B4-BE49-F238E27FC236}">
                <a16:creationId xmlns:a16="http://schemas.microsoft.com/office/drawing/2014/main" id="{AFCAD737-99EB-41F7-8369-739C12B5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2AE18981-FE12-422A-AE6C-B2A543AF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7B3CEAFC-BBD4-4E0E-AF39-807D07AF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ABCBE6B1-B097-4FB1-9A0A-1ED51488F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RESPALDO · A DEMANDA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60E311C-C989-4168-846B-8151DC13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Absorción atmosférica por bandas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365FCEA-D23E-4ADD-B1D6-5BA01932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Material de respaldo · Ampliación cuantitativa</a:t>
            </a:r>
          </a:p>
        </p:txBody>
      </p:sp>
      <p:sp>
        <p:nvSpPr>
          <p:cNvPr id="7" name="U09-088-conditional-alt" descr="U09-CH-010 pendiente de fuente primaria. La composición permite reconocer que los coeficientes dependen de frecuencia y estado del aire; no se reconstruyen de memoria.">
            <a:extLst xmlns:a="http://schemas.openxmlformats.org/drawingml/2006/main">
              <a:ext uri="{FF2B5EF4-FFF2-40B4-BE49-F238E27FC236}">
                <a16:creationId xmlns:a16="http://schemas.microsoft.com/office/drawing/2014/main" id="{1A7201AC-7751-4A21-9511-4481CD94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10096500" cy="3429000"/>
          </a:xfrm>
          <a:prstGeom xmlns:a="http://schemas.openxmlformats.org/drawingml/2006/main" prst="roundRect">
            <a:avLst>
              <a:gd name="adj" fmla="val 1944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A641E"/>
            </a:solidFill>
            <a:prstDash val="solid"/>
          </a:ln>
        </p:spPr>
      </p:sp>
      <p:sp>
        <p:nvSpPr>
          <p:cNvPr id="8" name="conditional-title">
            <a:extLst xmlns:a="http://schemas.openxmlformats.org/drawingml/2006/main">
              <a:ext uri="{FF2B5EF4-FFF2-40B4-BE49-F238E27FC236}">
                <a16:creationId xmlns:a16="http://schemas.microsoft.com/office/drawing/2014/main" id="{989D998B-0E37-4082-AAE4-C9435CF9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9550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Material de respaldo no habilitado para proyección</a:t>
            </a:r>
          </a:p>
        </p:txBody>
      </p:sp>
      <p:sp>
        <p:nvSpPr>
          <p:cNvPr id="9" name="conditional-message">
            <a:extLst xmlns:a="http://schemas.openxmlformats.org/drawingml/2006/main">
              <a:ext uri="{FF2B5EF4-FFF2-40B4-BE49-F238E27FC236}">
                <a16:creationId xmlns:a16="http://schemas.microsoft.com/office/drawing/2014/main" id="{3E1C35D9-F3BD-43F5-A7EA-2ECAD8839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000375"/>
            <a:ext cx="8191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gráfico queda reservado: faltan una fuente primaria y las condiciones atmosféricas completas.</a:t>
            </a:r>
          </a:p>
        </p:txBody>
      </p:sp>
      <p:sp>
        <p:nvSpPr>
          <p:cNvPr id="10" name="unit-footer">
            <a:extLst xmlns:a="http://schemas.openxmlformats.org/drawingml/2006/main">
              <a:ext uri="{FF2B5EF4-FFF2-40B4-BE49-F238E27FC236}">
                <a16:creationId xmlns:a16="http://schemas.microsoft.com/office/drawing/2014/main" id="{D73E60DA-5C37-4436-952C-3E09F645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Física Acústica · Unidad 9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F411429-B735-4E8B-8FB6-76E74F0B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88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ail-1">
            <a:extLst xmlns:a="http://schemas.openxmlformats.org/drawingml/2006/main">
              <a:ext uri="{FF2B5EF4-FFF2-40B4-BE49-F238E27FC236}">
                <a16:creationId xmlns:a16="http://schemas.microsoft.com/office/drawing/2014/main" id="{E8E5B26E-F70E-4C36-9A7A-FCB038BF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81CBA91B-F0F0-4DE0-BC77-4A37604F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9C90A502-4493-4D45-809C-BF7D16587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CE75F4DD-B13D-46AC-BD38-9FD9A6AF6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RESPALDO · A DEMANDA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E5F5A9E-5B5E-468A-ADB6-F7E1DDD73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Refracción y conversión modal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7A5C907-1EBC-4FA1-BE5F-B5022B060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Material de respaldo · Ampliación formal</a:t>
            </a:r>
          </a:p>
        </p:txBody>
      </p:sp>
      <p:sp>
        <p:nvSpPr>
          <p:cNvPr id="7" name="U09-089-conditional-alt" descr="U09-DG-067, candidata para diagram-generation. La composición permite reconocer que en sólidos pueden coexistir modos con diferentes velocidades y direcciones.">
            <a:extLst xmlns:a="http://schemas.openxmlformats.org/drawingml/2006/main">
              <a:ext uri="{FF2B5EF4-FFF2-40B4-BE49-F238E27FC236}">
                <a16:creationId xmlns:a16="http://schemas.microsoft.com/office/drawing/2014/main" id="{E53189D7-B9D5-42C8-8643-BD20ACE7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10096500" cy="3429000"/>
          </a:xfrm>
          <a:prstGeom xmlns:a="http://schemas.openxmlformats.org/drawingml/2006/main" prst="roundRect">
            <a:avLst>
              <a:gd name="adj" fmla="val 1944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A641E"/>
            </a:solidFill>
            <a:prstDash val="solid"/>
          </a:ln>
        </p:spPr>
      </p:sp>
      <p:sp>
        <p:nvSpPr>
          <p:cNvPr id="8" name="conditional-title">
            <a:extLst xmlns:a="http://schemas.openxmlformats.org/drawingml/2006/main">
              <a:ext uri="{FF2B5EF4-FFF2-40B4-BE49-F238E27FC236}">
                <a16:creationId xmlns:a16="http://schemas.microsoft.com/office/drawing/2014/main" id="{BA0C321F-6CE0-483F-B2BA-D520978AB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9550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Material de respaldo no habilitado para proyección</a:t>
            </a:r>
          </a:p>
        </p:txBody>
      </p:sp>
      <p:sp>
        <p:nvSpPr>
          <p:cNvPr id="9" name="conditional-message">
            <a:extLst xmlns:a="http://schemas.openxmlformats.org/drawingml/2006/main">
              <a:ext uri="{FF2B5EF4-FFF2-40B4-BE49-F238E27FC236}">
                <a16:creationId xmlns:a16="http://schemas.microsoft.com/office/drawing/2014/main" id="{82F11ADA-45E8-4C18-8DAB-11BB34DB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000375"/>
            <a:ext cx="8191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conversión modal se mantiene cualitativa; no se incluyen ecuaciones ni ángulos sin una fuente primaria aprobada.</a:t>
            </a:r>
          </a:p>
        </p:txBody>
      </p:sp>
      <p:sp>
        <p:nvSpPr>
          <p:cNvPr id="10" name="unit-footer">
            <a:extLst xmlns:a="http://schemas.openxmlformats.org/drawingml/2006/main">
              <a:ext uri="{FF2B5EF4-FFF2-40B4-BE49-F238E27FC236}">
                <a16:creationId xmlns:a16="http://schemas.microsoft.com/office/drawing/2014/main" id="{DECE27C4-93F9-48DE-A797-94686E59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Física Acústica · Unidad 9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C13886E-2B02-4B46-BE4B-F2684B479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89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op-rail-1">
            <a:extLst xmlns:a="http://schemas.openxmlformats.org/drawingml/2006/main">
              <a:ext uri="{FF2B5EF4-FFF2-40B4-BE49-F238E27FC236}">
                <a16:creationId xmlns:a16="http://schemas.microsoft.com/office/drawing/2014/main" id="{A04F75BF-E205-4BE5-9C8C-96AF4F73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38D10D73-ED48-4327-8208-1FF1B622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69C2A7AF-CC3E-45DD-8D14-E674DF4B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D9A28290-1FEB-4FA4-B884-119588674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RESPALDO · A DEMANDA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0E5E901-23D7-4CC7-B526-E59D6ABF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Balance, Aₑq y Sabine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E494489-0141-48A6-8226-D01885BA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Material de respaldo · Solución extendida</a:t>
            </a:r>
          </a:p>
        </p:txBody>
      </p:sp>
      <p:sp>
        <p:nvSpPr>
          <p:cNvPr id="7" name="U09-DG-068-equation-anchor">
            <a:extLst xmlns:a="http://schemas.openxmlformats.org/drawingml/2006/main">
              <a:ext uri="{FF2B5EF4-FFF2-40B4-BE49-F238E27FC236}">
                <a16:creationId xmlns:a16="http://schemas.microsoft.com/office/drawing/2014/main" id="{25A39FB4-BD3F-464B-ADE4-037873B2F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9470" y="2707005"/>
            <a:ext cx="4732020" cy="1015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68-callout_1-anchor">
            <a:extLst xmlns:a="http://schemas.openxmlformats.org/drawingml/2006/main">
              <a:ext uri="{FF2B5EF4-FFF2-40B4-BE49-F238E27FC236}">
                <a16:creationId xmlns:a16="http://schemas.microsoft.com/office/drawing/2014/main" id="{D45501CF-B96E-467F-B048-A59C8B1B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2588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68-callout_2-anchor">
            <a:extLst xmlns:a="http://schemas.openxmlformats.org/drawingml/2006/main">
              <a:ext uri="{FF2B5EF4-FFF2-40B4-BE49-F238E27FC236}">
                <a16:creationId xmlns:a16="http://schemas.microsoft.com/office/drawing/2014/main" id="{45AD1F42-3D16-469E-9191-A2AC15129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1652588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68-callout_3-anchor">
            <a:extLst xmlns:a="http://schemas.openxmlformats.org/drawingml/2006/main">
              <a:ext uri="{FF2B5EF4-FFF2-40B4-BE49-F238E27FC236}">
                <a16:creationId xmlns:a16="http://schemas.microsoft.com/office/drawing/2014/main" id="{D24AA32D-723B-4462-B2FB-C3CF0ACD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68-callout_4-anchor">
            <a:extLst xmlns:a="http://schemas.openxmlformats.org/drawingml/2006/main">
              <a:ext uri="{FF2B5EF4-FFF2-40B4-BE49-F238E27FC236}">
                <a16:creationId xmlns:a16="http://schemas.microsoft.com/office/drawing/2014/main" id="{1CD8C9F1-9263-49F9-86ED-2AD8EA59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4191000"/>
            <a:ext cx="219075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0" name="U09-DG-068-leader_1"/>
          <p:cNvCxnSpPr>
            <a:stCxn xmlns:a="http://schemas.openxmlformats.org/drawingml/2006/main" id="8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28950" y="2101692"/>
            <a:ext cx="350520" cy="111299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1" name="U09-DG-068-leader_2"/>
          <p:cNvCxnSpPr>
            <a:stCxn xmlns:a="http://schemas.openxmlformats.org/drawingml/2006/main" id="9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8111490" y="2101692"/>
            <a:ext cx="350520" cy="111299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2" name="U09-DG-068-leader_3"/>
          <p:cNvCxnSpPr>
            <a:stCxn xmlns:a="http://schemas.openxmlformats.org/drawingml/2006/main" id="10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028950" y="3214688"/>
            <a:ext cx="350520" cy="142541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3" name="U09-DG-068-leader_4"/>
          <p:cNvCxnSpPr>
            <a:stCxn xmlns:a="http://schemas.openxmlformats.org/drawingml/2006/main" id="11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 flipV="1">
            <a:off x="8111490" y="3214688"/>
            <a:ext cx="350520" cy="142541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U09-DG-068-visual-alt" descr="U09-DG-068, candidata para diagram-generation. La composición permite reconocer que cada resultado debe terminar con una interpretación y una crítica del modelo.">
            <a:extLst xmlns:a="http://schemas.openxmlformats.org/drawingml/2006/main">
              <a:ext uri="{FF2B5EF4-FFF2-40B4-BE49-F238E27FC236}">
                <a16:creationId xmlns:a16="http://schemas.microsoft.com/office/drawing/2014/main" id="{C9D686C0-9117-45A8-B649-56B28210B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9470" y="2707005"/>
            <a:ext cx="4732020" cy="1015365"/>
          </a:xfrm>
          <a:prstGeom xmlns:a="http://schemas.openxmlformats.org/drawingml/2006/main" prst="roundRect">
            <a:avLst>
              <a:gd name="adj" fmla="val 65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7" name="U09-DG-068-equation-text">
            <a:extLst xmlns:a="http://schemas.openxmlformats.org/drawingml/2006/main">
              <a:ext uri="{FF2B5EF4-FFF2-40B4-BE49-F238E27FC236}">
                <a16:creationId xmlns:a16="http://schemas.microsoft.com/office/drawing/2014/main" id="{9AAC2676-8482-437D-BC5E-4032E764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830830"/>
            <a:ext cx="4389120" cy="767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91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691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balance y Sabine completos</a:t>
            </a:r>
          </a:p>
        </p:txBody>
      </p:sp>
      <p:sp>
        <p:nvSpPr>
          <p:cNvPr id="18" name="U09-DG-068-callout_1-box">
            <a:extLst xmlns:a="http://schemas.openxmlformats.org/drawingml/2006/main">
              <a:ext uri="{FF2B5EF4-FFF2-40B4-BE49-F238E27FC236}">
                <a16:creationId xmlns:a16="http://schemas.microsoft.com/office/drawing/2014/main" id="{9960BDCE-40F0-4D35-87C9-34C12C9D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2588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9" name="U09-DG-068-callout_1-text">
            <a:extLst xmlns:a="http://schemas.openxmlformats.org/drawingml/2006/main">
              <a:ext uri="{FF2B5EF4-FFF2-40B4-BE49-F238E27FC236}">
                <a16:creationId xmlns:a16="http://schemas.microsoft.com/office/drawing/2014/main" id="{482C3CA2-E4FE-4C4C-9E6A-D7A1D53F8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76413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Dos rutas de cálculo</a:t>
            </a:r>
          </a:p>
        </p:txBody>
      </p:sp>
      <p:sp>
        <p:nvSpPr>
          <p:cNvPr id="20" name="U09-DG-068-callout_2-box">
            <a:extLst xmlns:a="http://schemas.openxmlformats.org/drawingml/2006/main">
              <a:ext uri="{FF2B5EF4-FFF2-40B4-BE49-F238E27FC236}">
                <a16:creationId xmlns:a16="http://schemas.microsoft.com/office/drawing/2014/main" id="{30DA641D-CBED-4FEC-A65F-E3AE47551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1652588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1" name="U09-DG-068-callout_2-text">
            <a:extLst xmlns:a="http://schemas.openxmlformats.org/drawingml/2006/main">
              <a:ext uri="{FF2B5EF4-FFF2-40B4-BE49-F238E27FC236}">
                <a16:creationId xmlns:a16="http://schemas.microsoft.com/office/drawing/2014/main" id="{938808AB-E39D-418C-98D9-4EF80FC38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3460" y="1776413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control dimensional</a:t>
            </a:r>
          </a:p>
        </p:txBody>
      </p:sp>
      <p:sp>
        <p:nvSpPr>
          <p:cNvPr id="22" name="U09-DG-068-callout_3-box">
            <a:extLst xmlns:a="http://schemas.openxmlformats.org/drawingml/2006/main">
              <a:ext uri="{FF2B5EF4-FFF2-40B4-BE49-F238E27FC236}">
                <a16:creationId xmlns:a16="http://schemas.microsoft.com/office/drawing/2014/main" id="{47A902C8-689F-48B5-A8F4-EBAB8629B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3" name="U09-DG-068-callout_3-text">
            <a:extLst xmlns:a="http://schemas.openxmlformats.org/drawingml/2006/main">
              <a:ext uri="{FF2B5EF4-FFF2-40B4-BE49-F238E27FC236}">
                <a16:creationId xmlns:a16="http://schemas.microsoft.com/office/drawing/2014/main" id="{DAC6AC5B-25A6-4B94-B47F-8F58205D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14825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hipótesis</a:t>
            </a:r>
          </a:p>
        </p:txBody>
      </p:sp>
      <p:sp>
        <p:nvSpPr>
          <p:cNvPr id="24" name="U09-DG-068-callout_4-box">
            <a:extLst xmlns:a="http://schemas.openxmlformats.org/drawingml/2006/main">
              <a:ext uri="{FF2B5EF4-FFF2-40B4-BE49-F238E27FC236}">
                <a16:creationId xmlns:a16="http://schemas.microsoft.com/office/drawing/2014/main" id="{D4178877-FC86-4754-BE6A-20174CC05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010" y="4191000"/>
            <a:ext cx="219075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5" name="U09-DG-068-callout_4-text">
            <a:extLst xmlns:a="http://schemas.openxmlformats.org/drawingml/2006/main">
              <a:ext uri="{FF2B5EF4-FFF2-40B4-BE49-F238E27FC236}">
                <a16:creationId xmlns:a16="http://schemas.microsoft.com/office/drawing/2014/main" id="{EA0AE917-10A8-4F88-881D-A087F576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3460" y="4314825"/>
            <a:ext cx="184785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alcance del modelo</a:t>
            </a:r>
          </a:p>
        </p:txBody>
      </p:sp>
      <p:sp>
        <p:nvSpPr>
          <p:cNvPr id="26" name="caption">
            <a:extLst xmlns:a="http://schemas.openxmlformats.org/drawingml/2006/main">
              <a:ext uri="{FF2B5EF4-FFF2-40B4-BE49-F238E27FC236}">
                <a16:creationId xmlns:a16="http://schemas.microsoft.com/office/drawing/2014/main" id="{C1A67F31-A4DC-472F-9EBA-C06E75D3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cada resultado debe terminar con una interpretación y una crítica del modelo. · Producción propia UCASAL · U09-DG-068</a:t>
            </a:r>
          </a:p>
        </p:txBody>
      </p:sp>
      <p:sp>
        <p:nvSpPr>
          <p:cNvPr id="27" name="unit-footer">
            <a:extLst xmlns:a="http://schemas.openxmlformats.org/drawingml/2006/main">
              <a:ext uri="{FF2B5EF4-FFF2-40B4-BE49-F238E27FC236}">
                <a16:creationId xmlns:a16="http://schemas.microsoft.com/office/drawing/2014/main" id="{C1981CB2-3347-4813-9B89-390CBF0C5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Física Acústica · Unidad 9</a:t>
            </a:r>
          </a:p>
        </p:txBody>
      </p:sp>
      <p:sp>
        <p:nvSpPr>
          <p:cNvPr id="2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8266B63-1CC7-4E69-BF92-7C89FE556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90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op-rail-1">
            <a:extLst xmlns:a="http://schemas.openxmlformats.org/drawingml/2006/main">
              <a:ext uri="{FF2B5EF4-FFF2-40B4-BE49-F238E27FC236}">
                <a16:creationId xmlns:a16="http://schemas.microsoft.com/office/drawing/2014/main" id="{BC61CB1C-9514-4835-A80D-1D7638CDE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053E6445-0F60-42C2-B5C9-EDEF9102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CC3E27BD-CA40-4BB4-B204-3F970E346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6C05BCA6-39FD-41EC-B796-D714871C0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RESPALDO · A DEMANDA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C1BD9A6-AFC2-4902-AC72-28F4E1405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Límites de Sabine y modelos alternativos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E7783FC-D9AA-4026-B080-01D3775F4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Material de respaldo · Ampliación</a:t>
            </a:r>
          </a:p>
        </p:txBody>
      </p:sp>
      <p:sp>
        <p:nvSpPr>
          <p:cNvPr id="7" name="U09-DG-069-source-anchor">
            <a:extLst xmlns:a="http://schemas.openxmlformats.org/drawingml/2006/main">
              <a:ext uri="{FF2B5EF4-FFF2-40B4-BE49-F238E27FC236}">
                <a16:creationId xmlns:a16="http://schemas.microsoft.com/office/drawing/2014/main" id="{ED3819FB-85B1-4A5F-95F6-FA2233E7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2628900"/>
            <a:ext cx="227838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69-path_upper-anchor">
            <a:extLst xmlns:a="http://schemas.openxmlformats.org/drawingml/2006/main">
              <a:ext uri="{FF2B5EF4-FFF2-40B4-BE49-F238E27FC236}">
                <a16:creationId xmlns:a16="http://schemas.microsoft.com/office/drawing/2014/main" id="{B70AB5E9-4DF6-4E30-BD3D-0B9072C0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1691640"/>
            <a:ext cx="2804160" cy="976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69-path_lower-anchor">
            <a:extLst xmlns:a="http://schemas.openxmlformats.org/drawingml/2006/main">
              <a:ext uri="{FF2B5EF4-FFF2-40B4-BE49-F238E27FC236}">
                <a16:creationId xmlns:a16="http://schemas.microsoft.com/office/drawing/2014/main" id="{2D1B630F-9F22-41CA-8628-414891B0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3644265"/>
            <a:ext cx="2804160" cy="976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69-receiver-anchor">
            <a:extLst xmlns:a="http://schemas.openxmlformats.org/drawingml/2006/main">
              <a:ext uri="{FF2B5EF4-FFF2-40B4-BE49-F238E27FC236}">
                <a16:creationId xmlns:a16="http://schemas.microsoft.com/office/drawing/2014/main" id="{0F83E7E7-D4B2-43D6-9F66-E2A9989B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195" y="2628900"/>
            <a:ext cx="227838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69-condition-anchor">
            <a:extLst xmlns:a="http://schemas.openxmlformats.org/drawingml/2006/main">
              <a:ext uri="{FF2B5EF4-FFF2-40B4-BE49-F238E27FC236}">
                <a16:creationId xmlns:a16="http://schemas.microsoft.com/office/drawing/2014/main" id="{2755941E-D266-40EA-B528-CE94CEEB1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4815840"/>
            <a:ext cx="2804160" cy="5857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0" name="U09-DG-069-route_1a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072765" y="2179797"/>
            <a:ext cx="1183005" cy="9958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1" name="U09-DG-069-route_1b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059930" y="2179797"/>
            <a:ext cx="1358265" cy="9958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2" name="U09-DG-069-route_2a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072765" y="3175635"/>
            <a:ext cx="1183005" cy="95678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3" name="U09-DG-069-route_2b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7059930" y="3175635"/>
            <a:ext cx="1358265" cy="95678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U09-DG-069-visual-alt" descr="Tabla nativa; posible U09-DG-069, candidata para diagram-generation. La composición permite reconocer que recintos muy absorbentes, no difusos o pequeños pueden requerir otros modelos o medición.">
            <a:extLst xmlns:a="http://schemas.openxmlformats.org/drawingml/2006/main">
              <a:ext uri="{FF2B5EF4-FFF2-40B4-BE49-F238E27FC236}">
                <a16:creationId xmlns:a16="http://schemas.microsoft.com/office/drawing/2014/main" id="{2ECBEF47-1C02-4617-967E-C17B11E78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2628900"/>
            <a:ext cx="227838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7" name="U09-DG-069-source-text">
            <a:extLst xmlns:a="http://schemas.openxmlformats.org/drawingml/2006/main">
              <a:ext uri="{FF2B5EF4-FFF2-40B4-BE49-F238E27FC236}">
                <a16:creationId xmlns:a16="http://schemas.microsoft.com/office/drawing/2014/main" id="{578CDA54-BB36-4AFB-AF3C-4F0A9956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" y="2752725"/>
            <a:ext cx="193548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Condición observada</a:t>
            </a:r>
          </a:p>
        </p:txBody>
      </p:sp>
      <p:sp>
        <p:nvSpPr>
          <p:cNvPr id="18" name="U09-DG-069-path_upper-box">
            <a:extLst xmlns:a="http://schemas.openxmlformats.org/drawingml/2006/main">
              <a:ext uri="{FF2B5EF4-FFF2-40B4-BE49-F238E27FC236}">
                <a16:creationId xmlns:a16="http://schemas.microsoft.com/office/drawing/2014/main" id="{D8C1E5BB-F29C-4C0A-84A5-100DB8DF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1691640"/>
            <a:ext cx="2804160" cy="976313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9" name="U09-DG-069-path_upper-text">
            <a:extLst xmlns:a="http://schemas.openxmlformats.org/drawingml/2006/main">
              <a:ext uri="{FF2B5EF4-FFF2-40B4-BE49-F238E27FC236}">
                <a16:creationId xmlns:a16="http://schemas.microsoft.com/office/drawing/2014/main" id="{430CE6FD-1A28-4A1D-B2FA-EE39944B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220" y="1815465"/>
            <a:ext cx="2461260" cy="728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Límite de Sabine</a:t>
            </a:r>
          </a:p>
        </p:txBody>
      </p:sp>
      <p:sp>
        <p:nvSpPr>
          <p:cNvPr id="20" name="U09-DG-069-path_lower-box">
            <a:extLst xmlns:a="http://schemas.openxmlformats.org/drawingml/2006/main">
              <a:ext uri="{FF2B5EF4-FFF2-40B4-BE49-F238E27FC236}">
                <a16:creationId xmlns:a16="http://schemas.microsoft.com/office/drawing/2014/main" id="{C8D6AA01-D1A6-46DF-982E-F1470F77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3644265"/>
            <a:ext cx="2804160" cy="976313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1" name="U09-DG-069-path_lower-text">
            <a:extLst xmlns:a="http://schemas.openxmlformats.org/drawingml/2006/main">
              <a:ext uri="{FF2B5EF4-FFF2-40B4-BE49-F238E27FC236}">
                <a16:creationId xmlns:a16="http://schemas.microsoft.com/office/drawing/2014/main" id="{A520BE88-16CE-47C1-8B1F-BFD22B97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220" y="3768090"/>
            <a:ext cx="2461260" cy="728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Medir</a:t>
            </a:r>
          </a:p>
        </p:txBody>
      </p:sp>
      <p:sp>
        <p:nvSpPr>
          <p:cNvPr id="22" name="U09-DG-069-receiver-box">
            <a:extLst xmlns:a="http://schemas.openxmlformats.org/drawingml/2006/main">
              <a:ext uri="{FF2B5EF4-FFF2-40B4-BE49-F238E27FC236}">
                <a16:creationId xmlns:a16="http://schemas.microsoft.com/office/drawing/2014/main" id="{61C86160-BA55-4388-A28E-2928AD6E7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195" y="2628900"/>
            <a:ext cx="227838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3" name="U09-DG-069-receiver-text">
            <a:extLst xmlns:a="http://schemas.openxmlformats.org/drawingml/2006/main">
              <a:ext uri="{FF2B5EF4-FFF2-40B4-BE49-F238E27FC236}">
                <a16:creationId xmlns:a16="http://schemas.microsoft.com/office/drawing/2014/main" id="{006FD462-E95D-4E83-BE36-7C6C9F22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645" y="2752725"/>
            <a:ext cx="193548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Modelo alternativo</a:t>
            </a:r>
          </a:p>
        </p:txBody>
      </p:sp>
      <p:sp>
        <p:nvSpPr>
          <p:cNvPr id="24" name="U09-DG-069-condition-box">
            <a:extLst xmlns:a="http://schemas.openxmlformats.org/drawingml/2006/main">
              <a:ext uri="{FF2B5EF4-FFF2-40B4-BE49-F238E27FC236}">
                <a16:creationId xmlns:a16="http://schemas.microsoft.com/office/drawing/2014/main" id="{8286CF6E-122E-4666-838D-F4EADCA6F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4815840"/>
            <a:ext cx="2804160" cy="585787"/>
          </a:xfrm>
          <a:prstGeom xmlns:a="http://schemas.openxmlformats.org/drawingml/2006/main" prst="roundRect">
            <a:avLst>
              <a:gd name="adj" fmla="val 11382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5" name="U09-DG-069-condition-text">
            <a:extLst xmlns:a="http://schemas.openxmlformats.org/drawingml/2006/main">
              <a:ext uri="{FF2B5EF4-FFF2-40B4-BE49-F238E27FC236}">
                <a16:creationId xmlns:a16="http://schemas.microsoft.com/office/drawing/2014/main" id="{8B201616-A658-445D-8652-88D0867E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220" y="4939665"/>
            <a:ext cx="2461260" cy="3381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5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5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Conclusión acotada</a:t>
            </a:r>
          </a:p>
        </p:txBody>
      </p:sp>
      <p:sp>
        <p:nvSpPr>
          <p:cNvPr id="26" name="caption">
            <a:extLst xmlns:a="http://schemas.openxmlformats.org/drawingml/2006/main">
              <a:ext uri="{FF2B5EF4-FFF2-40B4-BE49-F238E27FC236}">
                <a16:creationId xmlns:a16="http://schemas.microsoft.com/office/drawing/2014/main" id="{6FD6B162-3736-4206-A103-FA4BEFAFA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recintos muy absorbentes, no difusos o pequeños pueden requerir otros modelos o medición. · Producción propia UCASAL · U09-DG-069</a:t>
            </a:r>
          </a:p>
        </p:txBody>
      </p:sp>
      <p:sp>
        <p:nvSpPr>
          <p:cNvPr id="27" name="unit-footer">
            <a:extLst xmlns:a="http://schemas.openxmlformats.org/drawingml/2006/main">
              <a:ext uri="{FF2B5EF4-FFF2-40B4-BE49-F238E27FC236}">
                <a16:creationId xmlns:a16="http://schemas.microsoft.com/office/drawing/2014/main" id="{A18CEF39-4BDB-47F7-9648-F97D438E2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Física Acústica · Unidad 9</a:t>
            </a:r>
          </a:p>
        </p:txBody>
      </p:sp>
      <p:sp>
        <p:nvSpPr>
          <p:cNvPr id="2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BD9687B-5A8C-445E-BEE0-090E2EEF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91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ail-1">
            <a:extLst xmlns:a="http://schemas.openxmlformats.org/drawingml/2006/main">
              <a:ext uri="{FF2B5EF4-FFF2-40B4-BE49-F238E27FC236}">
                <a16:creationId xmlns:a16="http://schemas.microsoft.com/office/drawing/2014/main" id="{299AA840-6900-4663-B323-E9C189057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71325C64-93B2-4357-82A5-618B622C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344E685E-FFDD-4B55-BA00-4359D4766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10921333-11DB-4348-A351-805D487B2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RESPALDO · BLOQUEADA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698839C-FF30-469D-B896-366553B07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Ruido máximo admisible para audiometría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FD31DC5-7A57-48C7-AB2F-B222D27E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Respaldo bloqueado · falta completar la fuente normativa</a:t>
            </a:r>
          </a:p>
        </p:txBody>
      </p:sp>
      <p:sp>
        <p:nvSpPr>
          <p:cNvPr id="7" name="U09-092-conditional-alt" descr="Marcador de una tabla normativa bloqueada, sin cifras, con los campos de fuente y escenario todavía pendientes.">
            <a:extLst xmlns:a="http://schemas.openxmlformats.org/drawingml/2006/main">
              <a:ext uri="{FF2B5EF4-FFF2-40B4-BE49-F238E27FC236}">
                <a16:creationId xmlns:a16="http://schemas.microsoft.com/office/drawing/2014/main" id="{34B22D60-73F4-4CF3-929E-CE8154403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10096500" cy="3429000"/>
          </a:xfrm>
          <a:prstGeom xmlns:a="http://schemas.openxmlformats.org/drawingml/2006/main" prst="roundRect">
            <a:avLst>
              <a:gd name="adj" fmla="val 1944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A641E"/>
            </a:solidFill>
            <a:prstDash val="solid"/>
          </a:ln>
        </p:spPr>
      </p:sp>
      <p:sp>
        <p:nvSpPr>
          <p:cNvPr id="8" name="conditional-title">
            <a:extLst xmlns:a="http://schemas.openxmlformats.org/drawingml/2006/main">
              <a:ext uri="{FF2B5EF4-FFF2-40B4-BE49-F238E27FC236}">
                <a16:creationId xmlns:a16="http://schemas.microsoft.com/office/drawing/2014/main" id="{6112FEC8-BE94-4C5C-A59C-96DDEAE33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9550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Material de respaldo no habilitado para proyección</a:t>
            </a:r>
          </a:p>
        </p:txBody>
      </p:sp>
      <p:sp>
        <p:nvSpPr>
          <p:cNvPr id="9" name="conditional-message">
            <a:extLst xmlns:a="http://schemas.openxmlformats.org/drawingml/2006/main">
              <a:ext uri="{FF2B5EF4-FFF2-40B4-BE49-F238E27FC236}">
                <a16:creationId xmlns:a16="http://schemas.microsoft.com/office/drawing/2014/main" id="{D123B603-1112-467B-B5A6-728AC95B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000375"/>
            <a:ext cx="8191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tabla normativa no se publica sin norma, edición, adopción, vía, transductor y escenario completos.</a:t>
            </a:r>
          </a:p>
        </p:txBody>
      </p:sp>
      <p:sp>
        <p:nvSpPr>
          <p:cNvPr id="10" name="unit-footer">
            <a:extLst xmlns:a="http://schemas.openxmlformats.org/drawingml/2006/main">
              <a:ext uri="{FF2B5EF4-FFF2-40B4-BE49-F238E27FC236}">
                <a16:creationId xmlns:a16="http://schemas.microsoft.com/office/drawing/2014/main" id="{5FA65283-94FF-4605-A9ED-9F9EB20E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Física Acústica · Unidad 9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8560E91-07B6-4C1A-8CED-0C2D1B94D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92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rail-1">
            <a:extLst xmlns:a="http://schemas.openxmlformats.org/drawingml/2006/main">
              <a:ext uri="{FF2B5EF4-FFF2-40B4-BE49-F238E27FC236}">
                <a16:creationId xmlns:a16="http://schemas.microsoft.com/office/drawing/2014/main" id="{DA7C8121-E767-4062-8E44-F0858EB9B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72B57A9A-64F2-461E-8C97-4453E4453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EFB43B83-12DE-478B-9E1B-7A75CAF1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6B74E2E7-633E-49C8-BA76-B7DE8BB36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RESPALDO · A DEMANDA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149C4FE-92E1-4626-B8CD-9B8BC6BE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Campo libre, sala y cabina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FD7E266-FB75-4A50-8C3D-CAC85955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Material de respaldo · Tabla comparativa</a:t>
            </a:r>
          </a:p>
        </p:txBody>
      </p:sp>
      <p:sp>
        <p:nvSpPr>
          <p:cNvPr id="7" name="U09-093-claim-alt" descr="Tabla nativa. La composición permite reconocer que un mismo nivel se interpreta distinto según el campo y el propósito.">
            <a:extLst xmlns:a="http://schemas.openxmlformats.org/drawingml/2006/main">
              <a:ext uri="{FF2B5EF4-FFF2-40B4-BE49-F238E27FC236}">
                <a16:creationId xmlns:a16="http://schemas.microsoft.com/office/drawing/2014/main" id="{2E9FB01D-F3CD-4E7A-998E-15739A5B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19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1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 mismo nivel se interpreta distinto según el campo y el propósito.</a:t>
            </a:r>
          </a:p>
        </p:txBody>
      </p:sp>
      <p:sp>
        <p:nvSpPr>
          <p:cNvPr id="8" name="unit-footer">
            <a:extLst xmlns:a="http://schemas.openxmlformats.org/drawingml/2006/main">
              <a:ext uri="{FF2B5EF4-FFF2-40B4-BE49-F238E27FC236}">
                <a16:creationId xmlns:a16="http://schemas.microsoft.com/office/drawing/2014/main" id="{80190776-1D82-4FBE-BCBD-112BF4EEB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Física Acústica · Unidad 9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32ED6C9-C356-45F6-8CA8-1B6B529BE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93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op-rail-1">
            <a:extLst xmlns:a="http://schemas.openxmlformats.org/drawingml/2006/main">
              <a:ext uri="{FF2B5EF4-FFF2-40B4-BE49-F238E27FC236}">
                <a16:creationId xmlns:a16="http://schemas.microsoft.com/office/drawing/2014/main" id="{C4E7AE56-DE48-4852-AB84-5C60068C9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39F326E1-490F-4931-92F3-815D11C0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DB0B28AD-AF67-4C25-9337-EA1AE862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53834046-B7CC-4E65-874F-ACDB1952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RESPALDO · A DEMANDA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775698E-9D66-4DA2-AD8B-00859F4CC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Doce afirmaciones para discutir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FAF07FC-E701-431F-B8F7-AAA20AC5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Material de respaldo · Banco de errores</a:t>
            </a:r>
          </a:p>
        </p:txBody>
      </p:sp>
      <p:sp>
        <p:nvSpPr>
          <p:cNvPr id="7" name="U09-094-claim-alt" descr="Tarjetas de verdadero/falso justificado. La composición permite reconocer que corregir exige nombrar el mecanismo y la condición faltante.">
            <a:extLst xmlns:a="http://schemas.openxmlformats.org/drawingml/2006/main">
              <a:ext uri="{FF2B5EF4-FFF2-40B4-BE49-F238E27FC236}">
                <a16:creationId xmlns:a16="http://schemas.microsoft.com/office/drawing/2014/main" id="{796C8372-1978-4279-85C8-0D2790092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19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1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Corregir exige nombrar el mecanismo y la condición faltante.</a:t>
            </a:r>
          </a:p>
        </p:txBody>
      </p:sp>
      <p:sp>
        <p:nvSpPr>
          <p:cNvPr id="8" name="bullet-0">
            <a:extLst xmlns:a="http://schemas.openxmlformats.org/drawingml/2006/main">
              <a:ext uri="{FF2B5EF4-FFF2-40B4-BE49-F238E27FC236}">
                <a16:creationId xmlns:a16="http://schemas.microsoft.com/office/drawing/2014/main" id="{07540896-538A-4011-88B4-6EFE098A0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ody-0">
            <a:extLst xmlns:a="http://schemas.openxmlformats.org/drawingml/2006/main">
              <a:ext uri="{FF2B5EF4-FFF2-40B4-BE49-F238E27FC236}">
                <a16:creationId xmlns:a16="http://schemas.microsoft.com/office/drawing/2014/main" id="{4025AF58-EE1A-48AD-9362-E88642BE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14625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Selección de distractores sobre distancia, viento, absorción, difracción, Sabine, masa y cabina.</a:t>
            </a:r>
          </a:p>
        </p:txBody>
      </p:sp>
      <p:sp>
        <p:nvSpPr>
          <p:cNvPr id="10" name="bullet-1">
            <a:extLst xmlns:a="http://schemas.openxmlformats.org/drawingml/2006/main">
              <a:ext uri="{FF2B5EF4-FFF2-40B4-BE49-F238E27FC236}">
                <a16:creationId xmlns:a16="http://schemas.microsoft.com/office/drawing/2014/main" id="{16EA0DD3-5285-40D6-A631-A987ADE66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05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ody-1">
            <a:extLst xmlns:a="http://schemas.openxmlformats.org/drawingml/2006/main">
              <a:ext uri="{FF2B5EF4-FFF2-40B4-BE49-F238E27FC236}">
                <a16:creationId xmlns:a16="http://schemas.microsoft.com/office/drawing/2014/main" id="{3B49AEA7-674D-43CB-9016-9B45E5FD7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362325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Reformular doce afirmaciones falsas o incompletas y nombrar en cada una el mecanismo o la condición omitida.</a:t>
            </a:r>
          </a:p>
        </p:txBody>
      </p:sp>
      <p:sp>
        <p:nvSpPr>
          <p:cNvPr id="12" name="unit-footer">
            <a:extLst xmlns:a="http://schemas.openxmlformats.org/drawingml/2006/main">
              <a:ext uri="{FF2B5EF4-FFF2-40B4-BE49-F238E27FC236}">
                <a16:creationId xmlns:a16="http://schemas.microsoft.com/office/drawing/2014/main" id="{9DF9B351-B0E2-440B-B738-4E3FDCD6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Física Acústica · Unidad 9</a:t>
            </a:r>
          </a:p>
        </p:txBody>
      </p:sp>
      <p:sp>
        <p:nvSpPr>
          <p:cNvPr id="1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4E3BE29-4A14-41AE-91DE-8B1D1C3B0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94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op-rail-1">
            <a:extLst xmlns:a="http://schemas.openxmlformats.org/drawingml/2006/main">
              <a:ext uri="{FF2B5EF4-FFF2-40B4-BE49-F238E27FC236}">
                <a16:creationId xmlns:a16="http://schemas.microsoft.com/office/drawing/2014/main" id="{858E8398-8FD1-4986-80B9-5D2A9BA57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94F5095B-9B97-4F5E-8D8D-3ECECF9A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13F7EBC1-2942-4A8D-947F-07FB2A59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EC534CD6-2DBE-4EC9-A049-8DB1267C8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RESPALDO · A DEMANDA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81C38F6-5E42-4656-B97C-2C47A2CA0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Clínica junto a la avenida: resolución orientativa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900B6D0-014A-4C1C-ABEB-67133E40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Material de respaldo · Solución integradora</a:t>
            </a:r>
          </a:p>
        </p:txBody>
      </p:sp>
      <p:sp>
        <p:nvSpPr>
          <p:cNvPr id="7" name="U09-DG-070-concept_1-anchor">
            <a:extLst xmlns:a="http://schemas.openxmlformats.org/drawingml/2006/main">
              <a:ext uri="{FF2B5EF4-FFF2-40B4-BE49-F238E27FC236}">
                <a16:creationId xmlns:a16="http://schemas.microsoft.com/office/drawing/2014/main" id="{CDE48CFE-8B5F-48E1-9EE7-589B0004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09-DG-070-concept_2-anchor">
            <a:extLst xmlns:a="http://schemas.openxmlformats.org/drawingml/2006/main">
              <a:ext uri="{FF2B5EF4-FFF2-40B4-BE49-F238E27FC236}">
                <a16:creationId xmlns:a16="http://schemas.microsoft.com/office/drawing/2014/main" id="{6DCD37D5-B4DA-40D3-87F7-6905B811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8400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09-DG-070-concept_3-anchor">
            <a:extLst xmlns:a="http://schemas.openxmlformats.org/drawingml/2006/main">
              <a:ext uri="{FF2B5EF4-FFF2-40B4-BE49-F238E27FC236}">
                <a16:creationId xmlns:a16="http://schemas.microsoft.com/office/drawing/2014/main" id="{52D158ED-E28B-4053-90B9-5D6BB64FD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8400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09-DG-070-concept_4-anchor">
            <a:extLst xmlns:a="http://schemas.openxmlformats.org/drawingml/2006/main">
              <a:ext uri="{FF2B5EF4-FFF2-40B4-BE49-F238E27FC236}">
                <a16:creationId xmlns:a16="http://schemas.microsoft.com/office/drawing/2014/main" id="{FACE9589-5FDB-40C5-B8F5-1D91144B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09-DG-070-concept_5-anchor">
            <a:extLst xmlns:a="http://schemas.openxmlformats.org/drawingml/2006/main">
              <a:ext uri="{FF2B5EF4-FFF2-40B4-BE49-F238E27FC236}">
                <a16:creationId xmlns:a16="http://schemas.microsoft.com/office/drawing/2014/main" id="{DB8838C6-ED24-4216-9F18-238B39F0D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3573971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U09-DG-070-concept_6-anchor">
            <a:extLst xmlns:a="http://schemas.openxmlformats.org/drawingml/2006/main">
              <a:ext uri="{FF2B5EF4-FFF2-40B4-BE49-F238E27FC236}">
                <a16:creationId xmlns:a16="http://schemas.microsoft.com/office/drawing/2014/main" id="{8A7E02D0-CB0F-4FFF-AD2B-FB44F3AE7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3573971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U09-DG-070-visual-alt" descr="U09-DG-070, candidata para diagram-generation. La composición permite reconocer que la solución válida clasifica mecanismos, elige evidencia y declara incertidumbre.">
            <a:extLst xmlns:a="http://schemas.openxmlformats.org/drawingml/2006/main">
              <a:ext uri="{FF2B5EF4-FFF2-40B4-BE49-F238E27FC236}">
                <a16:creationId xmlns:a16="http://schemas.microsoft.com/office/drawing/2014/main" id="{FB8759F8-DD07-4B29-AC2E-2CE695AB7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00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4" name="U09-DG-070-concept_1-text">
            <a:extLst xmlns:a="http://schemas.openxmlformats.org/drawingml/2006/main">
              <a:ext uri="{FF2B5EF4-FFF2-40B4-BE49-F238E27FC236}">
                <a16:creationId xmlns:a16="http://schemas.microsoft.com/office/drawing/2014/main" id="{47BA0704-0B0F-4127-926E-546C7ACF1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638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Fuente</a:t>
            </a:r>
          </a:p>
        </p:txBody>
      </p:sp>
      <p:sp>
        <p:nvSpPr>
          <p:cNvPr id="15" name="U09-DG-070-concept_2-box">
            <a:extLst xmlns:a="http://schemas.openxmlformats.org/drawingml/2006/main">
              <a:ext uri="{FF2B5EF4-FFF2-40B4-BE49-F238E27FC236}">
                <a16:creationId xmlns:a16="http://schemas.microsoft.com/office/drawing/2014/main" id="{5899694D-FCB7-49E1-8C4B-7D68C8149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8400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6" name="U09-DG-070-concept_2-text">
            <a:extLst xmlns:a="http://schemas.openxmlformats.org/drawingml/2006/main">
              <a:ext uri="{FF2B5EF4-FFF2-40B4-BE49-F238E27FC236}">
                <a16:creationId xmlns:a16="http://schemas.microsoft.com/office/drawing/2014/main" id="{B2B05DA6-C088-4405-9482-3B01C608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19638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Trayecto</a:t>
            </a:r>
          </a:p>
        </p:txBody>
      </p:sp>
      <p:sp>
        <p:nvSpPr>
          <p:cNvPr id="17" name="U09-DG-070-concept_3-box">
            <a:extLst xmlns:a="http://schemas.openxmlformats.org/drawingml/2006/main">
              <a:ext uri="{FF2B5EF4-FFF2-40B4-BE49-F238E27FC236}">
                <a16:creationId xmlns:a16="http://schemas.microsoft.com/office/drawing/2014/main" id="{DA8DEE34-2C31-4E5E-915D-179580D22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8400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8" name="U09-DG-070-concept_3-text">
            <a:extLst xmlns:a="http://schemas.openxmlformats.org/drawingml/2006/main">
              <a:ext uri="{FF2B5EF4-FFF2-40B4-BE49-F238E27FC236}">
                <a16:creationId xmlns:a16="http://schemas.microsoft.com/office/drawing/2014/main" id="{A9EDBB64-B6A1-43C9-BFF5-96BE566E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266" y="19638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Receptor</a:t>
            </a:r>
          </a:p>
        </p:txBody>
      </p:sp>
      <p:sp>
        <p:nvSpPr>
          <p:cNvPr id="19" name="U09-DG-070-concept_4-box">
            <a:extLst xmlns:a="http://schemas.openxmlformats.org/drawingml/2006/main">
              <a:ext uri="{FF2B5EF4-FFF2-40B4-BE49-F238E27FC236}">
                <a16:creationId xmlns:a16="http://schemas.microsoft.com/office/drawing/2014/main" id="{01C87209-ACD8-4CB7-9C08-4F7703E91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3971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0" name="U09-DG-070-concept_4-text">
            <a:extLst xmlns:a="http://schemas.openxmlformats.org/drawingml/2006/main">
              <a:ext uri="{FF2B5EF4-FFF2-40B4-BE49-F238E27FC236}">
                <a16:creationId xmlns:a16="http://schemas.microsoft.com/office/drawing/2014/main" id="{FA0A1320-EAEC-4A5B-B52F-6F58A497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7796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Evidencia</a:t>
            </a:r>
          </a:p>
        </p:txBody>
      </p:sp>
      <p:sp>
        <p:nvSpPr>
          <p:cNvPr id="21" name="U09-DG-070-concept_5-box">
            <a:extLst xmlns:a="http://schemas.openxmlformats.org/drawingml/2006/main">
              <a:ext uri="{FF2B5EF4-FFF2-40B4-BE49-F238E27FC236}">
                <a16:creationId xmlns:a16="http://schemas.microsoft.com/office/drawing/2014/main" id="{D12F45BD-BFA5-4E60-A9A2-B0102E5F2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3573971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2" name="U09-DG-070-concept_5-text">
            <a:extLst xmlns:a="http://schemas.openxmlformats.org/drawingml/2006/main">
              <a:ext uri="{FF2B5EF4-FFF2-40B4-BE49-F238E27FC236}">
                <a16:creationId xmlns:a16="http://schemas.microsoft.com/office/drawing/2014/main" id="{864E1C74-EBC3-4E40-9E19-59631E8D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3697796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Incertidumbre</a:t>
            </a:r>
          </a:p>
        </p:txBody>
      </p:sp>
      <p:sp>
        <p:nvSpPr>
          <p:cNvPr id="23" name="U09-DG-070-concept_6-box">
            <a:extLst xmlns:a="http://schemas.openxmlformats.org/drawingml/2006/main">
              <a:ext uri="{FF2B5EF4-FFF2-40B4-BE49-F238E27FC236}">
                <a16:creationId xmlns:a16="http://schemas.microsoft.com/office/drawing/2014/main" id="{4DDF9779-BE22-475D-A060-5D2DA024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3573971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4" name="U09-DG-070-concept_6-text">
            <a:extLst xmlns:a="http://schemas.openxmlformats.org/drawingml/2006/main">
              <a:ext uri="{FF2B5EF4-FFF2-40B4-BE49-F238E27FC236}">
                <a16:creationId xmlns:a16="http://schemas.microsoft.com/office/drawing/2014/main" id="{6C2D2CAF-CD85-40E8-BA89-2FD5552FE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266" y="3697796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2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Límite</a:t>
            </a:r>
          </a:p>
        </p:txBody>
      </p:sp>
      <p:sp>
        <p:nvSpPr>
          <p:cNvPr id="25" name="caption">
            <a:extLst xmlns:a="http://schemas.openxmlformats.org/drawingml/2006/main">
              <a:ext uri="{FF2B5EF4-FFF2-40B4-BE49-F238E27FC236}">
                <a16:creationId xmlns:a16="http://schemas.microsoft.com/office/drawing/2014/main" id="{3EC037CF-11CC-4A37-AD89-90DB57296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esquema organiza la idea central: la solución válida clasifica mecanismos, elige evidencia y declara incertidumbre. · Producción propia UCASAL · U09-DG-070</a:t>
            </a:r>
          </a:p>
        </p:txBody>
      </p:sp>
      <p:sp>
        <p:nvSpPr>
          <p:cNvPr id="26" name="unit-footer">
            <a:extLst xmlns:a="http://schemas.openxmlformats.org/drawingml/2006/main">
              <a:ext uri="{FF2B5EF4-FFF2-40B4-BE49-F238E27FC236}">
                <a16:creationId xmlns:a16="http://schemas.microsoft.com/office/drawing/2014/main" id="{487CBD99-3B0E-4A33-955F-5BE825B76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Física Acústica · Unidad 9</a:t>
            </a:r>
          </a:p>
        </p:txBody>
      </p:sp>
      <p:sp>
        <p:nvSpPr>
          <p:cNvPr id="2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B93E1C1-DEF0-4AA4-BCCC-0B4AC1F7C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95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9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op-rail-1">
            <a:extLst xmlns:a="http://schemas.openxmlformats.org/drawingml/2006/main">
              <a:ext uri="{FF2B5EF4-FFF2-40B4-BE49-F238E27FC236}">
                <a16:creationId xmlns:a16="http://schemas.microsoft.com/office/drawing/2014/main" id="{FCCD538C-3E12-4F0B-8E63-05CD89FF0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42566E0C-0D60-4148-A0CD-14B86AFBB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4AC627D3-43A8-4BCE-A39B-56F89FA51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31E995CD-2DCE-497A-979B-2186E74E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9 · RESPALDO · A DEMANDA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6B72534-E32D-4304-80B6-2865F3E8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116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Fuentes para continuar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3C88A95-8603-4DA0-9E56-7AD719CD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Material de respaldo · Bibliografía y trazabilidad</a:t>
            </a:r>
          </a:p>
        </p:txBody>
      </p:sp>
      <p:sp>
        <p:nvSpPr>
          <p:cNvPr id="7" name="row-0-bg">
            <a:extLst xmlns:a="http://schemas.openxmlformats.org/drawingml/2006/main">
              <a:ext uri="{FF2B5EF4-FFF2-40B4-BE49-F238E27FC236}">
                <a16:creationId xmlns:a16="http://schemas.microsoft.com/office/drawing/2014/main" id="{43722A5B-6D72-48B9-8172-6A97A158F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71625"/>
            <a:ext cx="10287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8" name="row-0">
            <a:extLst xmlns:a="http://schemas.openxmlformats.org/drawingml/2006/main">
              <a:ext uri="{FF2B5EF4-FFF2-40B4-BE49-F238E27FC236}">
                <a16:creationId xmlns:a16="http://schemas.microsoft.com/office/drawing/2014/main" id="{57606DD9-EC89-4723-9E5D-46EAA66D3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67640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Programa, libro, arquitectura, guías y normas deben conservar identificación completa.</a:t>
            </a:r>
          </a:p>
        </p:txBody>
      </p:sp>
      <p:sp>
        <p:nvSpPr>
          <p:cNvPr id="9" name="row-1-bg">
            <a:extLst xmlns:a="http://schemas.openxmlformats.org/drawingml/2006/main">
              <a:ext uri="{FF2B5EF4-FFF2-40B4-BE49-F238E27FC236}">
                <a16:creationId xmlns:a16="http://schemas.microsoft.com/office/drawing/2014/main" id="{E15861D5-9590-4541-B737-1FAC1DDE1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38375"/>
            <a:ext cx="10287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10" name="row-1">
            <a:extLst xmlns:a="http://schemas.openxmlformats.org/drawingml/2006/main">
              <a:ext uri="{FF2B5EF4-FFF2-40B4-BE49-F238E27FC236}">
                <a16:creationId xmlns:a16="http://schemas.microsoft.com/office/drawing/2014/main" id="{341FAA9A-C466-4F30-B58F-E2AB9B2E1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343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Fuentes locales principales, figuras heredadas, decisiones pendientes y espacio para fuentes externas aprobadas.</a:t>
            </a:r>
          </a:p>
        </p:txBody>
      </p:sp>
      <p:sp>
        <p:nvSpPr>
          <p:cNvPr id="11" name="unit-footer">
            <a:extLst xmlns:a="http://schemas.openxmlformats.org/drawingml/2006/main">
              <a:ext uri="{FF2B5EF4-FFF2-40B4-BE49-F238E27FC236}">
                <a16:creationId xmlns:a16="http://schemas.microsoft.com/office/drawing/2014/main" id="{DC353833-03F2-42FB-AF4E-EC22AC7E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Física Acústica · Unidad 9</a:t>
            </a:r>
          </a:p>
        </p:txBody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0168AFB-3A9C-4B0E-90BE-25D0CB67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96</a:t>
            </a:r>
          </a:p>
        </p:txBody>
      </p:sp>
    </p:spTree>
    <p:extLst>
      <p:ext uri="{BB962C8B-B14F-4D97-AF65-F5344CB8AC3E}">
        <p14:creationId xmlns:p14="http://schemas.microsoft.com/office/powerpoint/2010/main" val="235601764"/>
      </p:ext>
    </p:extLst>
  </p:cSld>
</p:sld>
</file>

<file path=ppt/theme/theme1.xml><?xml version="1.0" encoding="utf-8"?>
<a:theme xmlns:a="http://schemas.openxmlformats.org/drawingml/2006/main" name="FA_MASTER_CLARO">
  <a:themeElements>
    <a:clrScheme name="Física Acústica UCASAL">
      <a:dk1>
        <a:srgbClr val="000000"/>
      </a:dk1>
      <a:lt1>
        <a:srgbClr val="FFFFFF"/>
      </a:lt1>
      <a:dk2>
        <a:srgbClr val="3D3D3D"/>
      </a:dk2>
      <a:lt2>
        <a:srgbClr val="F7F6F2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ísica Acústica UCAS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2026-08-12T21:45:53.0210000Z</dcterms:created>
  <dcterms:modified xsi:type="dcterms:W3CDTF">2026-08-12T21:45:53.0210000Z</dcterms:modified>
</coreProperties>
</file>