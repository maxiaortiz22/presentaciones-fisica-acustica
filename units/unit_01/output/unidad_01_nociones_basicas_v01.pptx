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8e9cfe6e664314" /><Relationship Type="http://schemas.openxmlformats.org/officeDocument/2006/relationships/extended-properties" Target="/docProps/app.xml" Id="Rd6cd4b8188614f24" /><Relationship Type="http://schemas.openxmlformats.org/officeDocument/2006/relationships/officeDocument" Target="/ppt/presentation.xml" Id="Reb106053799546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8a5400a75a4055"/>
    <p:sldMasterId xmlns:r="http://schemas.openxmlformats.org/officeDocument/2006/relationships" id="2147483673" r:id="R2ff958e6ea9a4b6c"/>
  </p:sldMasterIdLst>
  <p:notesMasterIdLst>
    <p:notesMasterId xmlns:r="http://schemas.openxmlformats.org/officeDocument/2006/relationships" r:id="R7a6e8e2d3c424e7c"/>
  </p:notesMasterIdLst>
  <p:sldIdLst>
    <p:sldId xmlns:r="http://schemas.openxmlformats.org/officeDocument/2006/relationships" id="256" r:id="R2597ba29aed14cd1"/>
    <p:sldId xmlns:r="http://schemas.openxmlformats.org/officeDocument/2006/relationships" id="257" r:id="Rf25468bf07fb41be"/>
    <p:sldId xmlns:r="http://schemas.openxmlformats.org/officeDocument/2006/relationships" id="258" r:id="Re28cf5f0b7a2472e"/>
    <p:sldId xmlns:r="http://schemas.openxmlformats.org/officeDocument/2006/relationships" id="259" r:id="R928941df3dbf4003"/>
    <p:sldId xmlns:r="http://schemas.openxmlformats.org/officeDocument/2006/relationships" id="260" r:id="Rf8ebad7269184eb8"/>
    <p:sldId xmlns:r="http://schemas.openxmlformats.org/officeDocument/2006/relationships" id="261" r:id="R25f39462f4a741d1"/>
    <p:sldId xmlns:r="http://schemas.openxmlformats.org/officeDocument/2006/relationships" id="262" r:id="R8767e3bea93e41d0"/>
    <p:sldId xmlns:r="http://schemas.openxmlformats.org/officeDocument/2006/relationships" id="263" r:id="R63dfbf70e57f4594"/>
    <p:sldId xmlns:r="http://schemas.openxmlformats.org/officeDocument/2006/relationships" id="264" r:id="R31a87aa541174744"/>
    <p:sldId xmlns:r="http://schemas.openxmlformats.org/officeDocument/2006/relationships" id="265" r:id="R093abeedd664419a"/>
    <p:sldId xmlns:r="http://schemas.openxmlformats.org/officeDocument/2006/relationships" id="266" r:id="R6e70a89e3cfe4b41"/>
    <p:sldId xmlns:r="http://schemas.openxmlformats.org/officeDocument/2006/relationships" id="267" r:id="R7ace8992d57a45ed"/>
    <p:sldId xmlns:r="http://schemas.openxmlformats.org/officeDocument/2006/relationships" id="268" r:id="R4c9acde8434a48a1"/>
    <p:sldId xmlns:r="http://schemas.openxmlformats.org/officeDocument/2006/relationships" id="269" r:id="Rf4bba5f691a64568"/>
    <p:sldId xmlns:r="http://schemas.openxmlformats.org/officeDocument/2006/relationships" id="270" r:id="R0e15a5821bbf4677"/>
    <p:sldId xmlns:r="http://schemas.openxmlformats.org/officeDocument/2006/relationships" id="271" r:id="R165352b02cc14120"/>
    <p:sldId xmlns:r="http://schemas.openxmlformats.org/officeDocument/2006/relationships" id="272" r:id="R06451ef3bedd4584"/>
    <p:sldId xmlns:r="http://schemas.openxmlformats.org/officeDocument/2006/relationships" id="273" r:id="R2522911f575c4b44"/>
    <p:sldId xmlns:r="http://schemas.openxmlformats.org/officeDocument/2006/relationships" id="274" r:id="Rfc92e70f17a54589"/>
    <p:sldId xmlns:r="http://schemas.openxmlformats.org/officeDocument/2006/relationships" id="275" r:id="R7339805de58d4706"/>
    <p:sldId xmlns:r="http://schemas.openxmlformats.org/officeDocument/2006/relationships" id="276" r:id="Re4ec6af1ce48416a"/>
    <p:sldId xmlns:r="http://schemas.openxmlformats.org/officeDocument/2006/relationships" id="277" r:id="R26787e068af14fc2"/>
    <p:sldId xmlns:r="http://schemas.openxmlformats.org/officeDocument/2006/relationships" id="278" r:id="Ra5a8fc5f1dc04f6a"/>
    <p:sldId xmlns:r="http://schemas.openxmlformats.org/officeDocument/2006/relationships" id="279" r:id="R9ab666614cf448c9"/>
    <p:sldId xmlns:r="http://schemas.openxmlformats.org/officeDocument/2006/relationships" id="280" r:id="R10d5f82d46e14b94"/>
    <p:sldId xmlns:r="http://schemas.openxmlformats.org/officeDocument/2006/relationships" id="281" r:id="Refd92159d7b54b24"/>
    <p:sldId xmlns:r="http://schemas.openxmlformats.org/officeDocument/2006/relationships" id="282" r:id="R21ff6cdad6b040b9"/>
    <p:sldId xmlns:r="http://schemas.openxmlformats.org/officeDocument/2006/relationships" id="283" r:id="R28719df13f734a3c"/>
    <p:sldId xmlns:r="http://schemas.openxmlformats.org/officeDocument/2006/relationships" id="284" r:id="Rd0777dbc83364a81"/>
    <p:sldId xmlns:r="http://schemas.openxmlformats.org/officeDocument/2006/relationships" id="285" r:id="Rcd9b500c4b0a4882"/>
    <p:sldId xmlns:r="http://schemas.openxmlformats.org/officeDocument/2006/relationships" id="286" r:id="R75cec1cad91c457a"/>
    <p:sldId xmlns:r="http://schemas.openxmlformats.org/officeDocument/2006/relationships" id="287" r:id="R4a91c8ddef5a4103"/>
    <p:sldId xmlns:r="http://schemas.openxmlformats.org/officeDocument/2006/relationships" id="288" r:id="R7c6e5ef244064d42"/>
    <p:sldId xmlns:r="http://schemas.openxmlformats.org/officeDocument/2006/relationships" id="289" r:id="R292589fdb97849ca"/>
    <p:sldId xmlns:r="http://schemas.openxmlformats.org/officeDocument/2006/relationships" id="290" r:id="Re21bfff4194c4b88"/>
    <p:sldId xmlns:r="http://schemas.openxmlformats.org/officeDocument/2006/relationships" id="291" r:id="Re35a148da94642a1"/>
    <p:sldId xmlns:r="http://schemas.openxmlformats.org/officeDocument/2006/relationships" id="292" r:id="R0c02f42abff94ad5"/>
    <p:sldId xmlns:r="http://schemas.openxmlformats.org/officeDocument/2006/relationships" id="293" r:id="Rbf74cd6eb40e4bfc"/>
    <p:sldId xmlns:r="http://schemas.openxmlformats.org/officeDocument/2006/relationships" id="294" r:id="R9666c7b9a1374d5e"/>
    <p:sldId xmlns:r="http://schemas.openxmlformats.org/officeDocument/2006/relationships" id="295" r:id="R8c6b5e3cbde246c7"/>
    <p:sldId xmlns:r="http://schemas.openxmlformats.org/officeDocument/2006/relationships" id="296" r:id="R99f1e10d6de541fa"/>
    <p:sldId xmlns:r="http://schemas.openxmlformats.org/officeDocument/2006/relationships" id="297" r:id="R74a9845ba13f4fa5"/>
    <p:sldId xmlns:r="http://schemas.openxmlformats.org/officeDocument/2006/relationships" id="298" r:id="R0c3142524fed4841"/>
    <p:sldId xmlns:r="http://schemas.openxmlformats.org/officeDocument/2006/relationships" id="299" r:id="R6512124beef64cf0"/>
    <p:sldId xmlns:r="http://schemas.openxmlformats.org/officeDocument/2006/relationships" id="300" r:id="R6ae7fbaa4a574fdc"/>
    <p:sldId xmlns:r="http://schemas.openxmlformats.org/officeDocument/2006/relationships" id="301" r:id="R55e63daaf91941f4"/>
    <p:sldId xmlns:r="http://schemas.openxmlformats.org/officeDocument/2006/relationships" id="302" r:id="R751da11f4d814590"/>
    <p:sldId xmlns:r="http://schemas.openxmlformats.org/officeDocument/2006/relationships" id="303" r:id="Rbc468616a94649d0"/>
    <p:sldId xmlns:r="http://schemas.openxmlformats.org/officeDocument/2006/relationships" id="304" r:id="R8a7c9a106fbc46fe"/>
    <p:sldId xmlns:r="http://schemas.openxmlformats.org/officeDocument/2006/relationships" id="305" r:id="Rbd633004fd3a47a5"/>
    <p:sldId xmlns:r="http://schemas.openxmlformats.org/officeDocument/2006/relationships" id="306" r:id="R927d30cc842541c2"/>
    <p:sldId xmlns:r="http://schemas.openxmlformats.org/officeDocument/2006/relationships" id="307" r:id="R8d5741e5d5bf4bbb"/>
    <p:sldId xmlns:r="http://schemas.openxmlformats.org/officeDocument/2006/relationships" id="308" r:id="Ra16451491b404a2a"/>
    <p:sldId xmlns:r="http://schemas.openxmlformats.org/officeDocument/2006/relationships" id="309" r:id="Raa167f74f15f4534"/>
    <p:sldId xmlns:r="http://schemas.openxmlformats.org/officeDocument/2006/relationships" id="310" r:id="R04f834b74e9341d3"/>
    <p:sldId xmlns:r="http://schemas.openxmlformats.org/officeDocument/2006/relationships" id="311" r:id="Rcfe3f35632d14802"/>
    <p:sldId xmlns:r="http://schemas.openxmlformats.org/officeDocument/2006/relationships" id="312" r:id="R267405541d4145be"/>
    <p:sldId xmlns:r="http://schemas.openxmlformats.org/officeDocument/2006/relationships" id="313" r:id="R6b9b999378a14ff3"/>
    <p:sldId xmlns:r="http://schemas.openxmlformats.org/officeDocument/2006/relationships" id="314" r:id="Rff9773eb487d40a1"/>
    <p:sldId xmlns:r="http://schemas.openxmlformats.org/officeDocument/2006/relationships" id="315" r:id="Rbf7a51ae41c04d8b"/>
    <p:sldId xmlns:r="http://schemas.openxmlformats.org/officeDocument/2006/relationships" id="316" r:id="Rcb9cef819b914653"/>
    <p:sldId xmlns:r="http://schemas.openxmlformats.org/officeDocument/2006/relationships" id="317" r:id="R374be608e15a44ee"/>
    <p:sldId xmlns:r="http://schemas.openxmlformats.org/officeDocument/2006/relationships" id="318" r:id="Rc76321dad3c14db9"/>
    <p:sldId xmlns:r="http://schemas.openxmlformats.org/officeDocument/2006/relationships" id="319" r:id="R2b5824495fdc41ec"/>
    <p:sldId xmlns:r="http://schemas.openxmlformats.org/officeDocument/2006/relationships" id="320" r:id="R7a02fc2975f04e25"/>
    <p:sldId xmlns:r="http://schemas.openxmlformats.org/officeDocument/2006/relationships" id="321" r:id="Ree7e49f16fc64b45"/>
    <p:sldId xmlns:r="http://schemas.openxmlformats.org/officeDocument/2006/relationships" id="322" r:id="R5bcc706defce4e46"/>
    <p:sldId xmlns:r="http://schemas.openxmlformats.org/officeDocument/2006/relationships" id="323" r:id="R1ef46e12612f4337"/>
    <p:sldId xmlns:r="http://schemas.openxmlformats.org/officeDocument/2006/relationships" id="324" r:id="R87f0048ccc8e4da6"/>
    <p:sldId xmlns:r="http://schemas.openxmlformats.org/officeDocument/2006/relationships" id="325" r:id="R6e29120057db4c18"/>
    <p:sldId xmlns:r="http://schemas.openxmlformats.org/officeDocument/2006/relationships" id="326" r:id="Rc5d5e8cee1c341ef"/>
    <p:sldId xmlns:r="http://schemas.openxmlformats.org/officeDocument/2006/relationships" id="327" r:id="Rb2f4c7cca99448fa"/>
    <p:sldId xmlns:r="http://schemas.openxmlformats.org/officeDocument/2006/relationships" id="328" r:id="R57ce264eb9724d0f"/>
    <p:sldId xmlns:r="http://schemas.openxmlformats.org/officeDocument/2006/relationships" id="329" r:id="Rae05b2333efc4e35"/>
    <p:sldId xmlns:r="http://schemas.openxmlformats.org/officeDocument/2006/relationships" id="330" r:id="R9f72c191e1874c3e"/>
    <p:sldId xmlns:r="http://schemas.openxmlformats.org/officeDocument/2006/relationships" id="331" r:id="R50d3a44e221e4d58"/>
    <p:sldId xmlns:r="http://schemas.openxmlformats.org/officeDocument/2006/relationships" id="332" r:id="Rfc5a1e3758c74881"/>
    <p:sldId xmlns:r="http://schemas.openxmlformats.org/officeDocument/2006/relationships" id="333" r:id="Rd4e0e47d41d34803"/>
    <p:sldId xmlns:r="http://schemas.openxmlformats.org/officeDocument/2006/relationships" id="334" r:id="R6015a1bb0b5f4ff1"/>
    <p:sldId xmlns:r="http://schemas.openxmlformats.org/officeDocument/2006/relationships" id="335" r:id="R74a42ebb90894116"/>
    <p:sldId xmlns:r="http://schemas.openxmlformats.org/officeDocument/2006/relationships" id="336" r:id="R05c6e10640164986"/>
    <p:sldId xmlns:r="http://schemas.openxmlformats.org/officeDocument/2006/relationships" id="337" r:id="Ra7d936a6870c4af4"/>
    <p:sldId xmlns:r="http://schemas.openxmlformats.org/officeDocument/2006/relationships" id="338" r:id="R70ac158b4191466d"/>
    <p:sldId xmlns:r="http://schemas.openxmlformats.org/officeDocument/2006/relationships" id="339" r:id="R710fd616d76546c7"/>
    <p:sldId xmlns:r="http://schemas.openxmlformats.org/officeDocument/2006/relationships" id="340" r:id="R7bda6039e7ef422a"/>
    <p:sldId xmlns:r="http://schemas.openxmlformats.org/officeDocument/2006/relationships" id="341" r:id="Rd0f0ca7b8d3f4ef5"/>
    <p:sldId xmlns:r="http://schemas.openxmlformats.org/officeDocument/2006/relationships" id="342" r:id="R6586d005af8b4722"/>
    <p:sldId xmlns:r="http://schemas.openxmlformats.org/officeDocument/2006/relationships" id="343" r:id="Rfcdba6d6145f445c"/>
    <p:sldId xmlns:r="http://schemas.openxmlformats.org/officeDocument/2006/relationships" id="344" r:id="R2cf99b93b0314c82"/>
    <p:sldId xmlns:r="http://schemas.openxmlformats.org/officeDocument/2006/relationships" id="345" r:id="R839bb48dac454160"/>
    <p:sldId xmlns:r="http://schemas.openxmlformats.org/officeDocument/2006/relationships" id="346" r:id="R605434c5a63442c2"/>
    <p:sldId xmlns:r="http://schemas.openxmlformats.org/officeDocument/2006/relationships" id="347" r:id="R93287d5ead384826"/>
    <p:sldId xmlns:r="http://schemas.openxmlformats.org/officeDocument/2006/relationships" id="348" r:id="R80bcfe492d4c4e2b"/>
    <p:sldId xmlns:r="http://schemas.openxmlformats.org/officeDocument/2006/relationships" id="349" r:id="Rb626a16a7fb943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1c10fb6cf40d3" /><Relationship Type="http://schemas.openxmlformats.org/officeDocument/2006/relationships/slideMaster" Target="/ppt/slideMasters/slideMaster1.xml" Id="R978a5400a75a4055" /><Relationship Type="http://schemas.openxmlformats.org/officeDocument/2006/relationships/slideMaster" Target="/ppt/slideMasters/slideMaster2.xml" Id="R2ff958e6ea9a4b6c" /><Relationship Type="http://schemas.openxmlformats.org/officeDocument/2006/relationships/notesMaster" Target="/ppt/notesMasters/notesMaster1.xml" Id="R7a6e8e2d3c424e7c" /><Relationship Type="http://schemas.openxmlformats.org/officeDocument/2006/relationships/presProps" Target="/ppt/presProps.xml" Id="R9a85b8cc5c364f63" /><Relationship Type="http://schemas.openxmlformats.org/officeDocument/2006/relationships/viewProps" Target="/ppt/viewProps.xml" Id="R1e1e9c18ca264e42" /><Relationship Type="http://schemas.openxmlformats.org/officeDocument/2006/relationships/tableStyles" Target="/ppt/tableStyles.xml" Id="Rfe2bdde25fc842c9" /><Relationship Type="http://schemas.openxmlformats.org/officeDocument/2006/relationships/slide" Target="/ppt/slides/slide1.xml" Id="R2597ba29aed14cd1" /><Relationship Type="http://schemas.openxmlformats.org/officeDocument/2006/relationships/slide" Target="/ppt/slides/slide2.xml" Id="Rf25468bf07fb41be" /><Relationship Type="http://schemas.openxmlformats.org/officeDocument/2006/relationships/slide" Target="/ppt/slides/slide3.xml" Id="Re28cf5f0b7a2472e" /><Relationship Type="http://schemas.openxmlformats.org/officeDocument/2006/relationships/slide" Target="/ppt/slides/slide4.xml" Id="R928941df3dbf4003" /><Relationship Type="http://schemas.openxmlformats.org/officeDocument/2006/relationships/slide" Target="/ppt/slides/slide5.xml" Id="Rf8ebad7269184eb8" /><Relationship Type="http://schemas.openxmlformats.org/officeDocument/2006/relationships/slide" Target="/ppt/slides/slide6.xml" Id="R25f39462f4a741d1" /><Relationship Type="http://schemas.openxmlformats.org/officeDocument/2006/relationships/slide" Target="/ppt/slides/slide7.xml" Id="R8767e3bea93e41d0" /><Relationship Type="http://schemas.openxmlformats.org/officeDocument/2006/relationships/slide" Target="/ppt/slides/slide8.xml" Id="R63dfbf70e57f4594" /><Relationship Type="http://schemas.openxmlformats.org/officeDocument/2006/relationships/slide" Target="/ppt/slides/slide9.xml" Id="R31a87aa541174744" /><Relationship Type="http://schemas.openxmlformats.org/officeDocument/2006/relationships/slide" Target="/ppt/slides/slide10.xml" Id="R093abeedd664419a" /><Relationship Type="http://schemas.openxmlformats.org/officeDocument/2006/relationships/slide" Target="/ppt/slides/slide11.xml" Id="R6e70a89e3cfe4b41" /><Relationship Type="http://schemas.openxmlformats.org/officeDocument/2006/relationships/slide" Target="/ppt/slides/slide12.xml" Id="R7ace8992d57a45ed" /><Relationship Type="http://schemas.openxmlformats.org/officeDocument/2006/relationships/slide" Target="/ppt/slides/slide13.xml" Id="R4c9acde8434a48a1" /><Relationship Type="http://schemas.openxmlformats.org/officeDocument/2006/relationships/slide" Target="/ppt/slides/slide14.xml" Id="Rf4bba5f691a64568" /><Relationship Type="http://schemas.openxmlformats.org/officeDocument/2006/relationships/slide" Target="/ppt/slides/slide15.xml" Id="R0e15a5821bbf4677" /><Relationship Type="http://schemas.openxmlformats.org/officeDocument/2006/relationships/slide" Target="/ppt/slides/slide16.xml" Id="R165352b02cc14120" /><Relationship Type="http://schemas.openxmlformats.org/officeDocument/2006/relationships/slide" Target="/ppt/slides/slide17.xml" Id="R06451ef3bedd4584" /><Relationship Type="http://schemas.openxmlformats.org/officeDocument/2006/relationships/slide" Target="/ppt/slides/slide18.xml" Id="R2522911f575c4b44" /><Relationship Type="http://schemas.openxmlformats.org/officeDocument/2006/relationships/slide" Target="/ppt/slides/slide19.xml" Id="Rfc92e70f17a54589" /><Relationship Type="http://schemas.openxmlformats.org/officeDocument/2006/relationships/slide" Target="/ppt/slides/slide20.xml" Id="R7339805de58d4706" /><Relationship Type="http://schemas.openxmlformats.org/officeDocument/2006/relationships/slide" Target="/ppt/slides/slide21.xml" Id="Re4ec6af1ce48416a" /><Relationship Type="http://schemas.openxmlformats.org/officeDocument/2006/relationships/slide" Target="/ppt/slides/slide22.xml" Id="R26787e068af14fc2" /><Relationship Type="http://schemas.openxmlformats.org/officeDocument/2006/relationships/slide" Target="/ppt/slides/slide23.xml" Id="Ra5a8fc5f1dc04f6a" /><Relationship Type="http://schemas.openxmlformats.org/officeDocument/2006/relationships/slide" Target="/ppt/slides/slide24.xml" Id="R9ab666614cf448c9" /><Relationship Type="http://schemas.openxmlformats.org/officeDocument/2006/relationships/slide" Target="/ppt/slides/slide25.xml" Id="R10d5f82d46e14b94" /><Relationship Type="http://schemas.openxmlformats.org/officeDocument/2006/relationships/slide" Target="/ppt/slides/slide26.xml" Id="Refd92159d7b54b24" /><Relationship Type="http://schemas.openxmlformats.org/officeDocument/2006/relationships/slide" Target="/ppt/slides/slide27.xml" Id="R21ff6cdad6b040b9" /><Relationship Type="http://schemas.openxmlformats.org/officeDocument/2006/relationships/slide" Target="/ppt/slides/slide28.xml" Id="R28719df13f734a3c" /><Relationship Type="http://schemas.openxmlformats.org/officeDocument/2006/relationships/slide" Target="/ppt/slides/slide29.xml" Id="Rd0777dbc83364a81" /><Relationship Type="http://schemas.openxmlformats.org/officeDocument/2006/relationships/slide" Target="/ppt/slides/slide30.xml" Id="Rcd9b500c4b0a4882" /><Relationship Type="http://schemas.openxmlformats.org/officeDocument/2006/relationships/slide" Target="/ppt/slides/slide31.xml" Id="R75cec1cad91c457a" /><Relationship Type="http://schemas.openxmlformats.org/officeDocument/2006/relationships/slide" Target="/ppt/slides/slide32.xml" Id="R4a91c8ddef5a4103" /><Relationship Type="http://schemas.openxmlformats.org/officeDocument/2006/relationships/slide" Target="/ppt/slides/slide33.xml" Id="R7c6e5ef244064d42" /><Relationship Type="http://schemas.openxmlformats.org/officeDocument/2006/relationships/slide" Target="/ppt/slides/slide34.xml" Id="R292589fdb97849ca" /><Relationship Type="http://schemas.openxmlformats.org/officeDocument/2006/relationships/slide" Target="/ppt/slides/slide35.xml" Id="Re21bfff4194c4b88" /><Relationship Type="http://schemas.openxmlformats.org/officeDocument/2006/relationships/slide" Target="/ppt/slides/slide36.xml" Id="Re35a148da94642a1" /><Relationship Type="http://schemas.openxmlformats.org/officeDocument/2006/relationships/slide" Target="/ppt/slides/slide37.xml" Id="R0c02f42abff94ad5" /><Relationship Type="http://schemas.openxmlformats.org/officeDocument/2006/relationships/slide" Target="/ppt/slides/slide38.xml" Id="Rbf74cd6eb40e4bfc" /><Relationship Type="http://schemas.openxmlformats.org/officeDocument/2006/relationships/slide" Target="/ppt/slides/slide39.xml" Id="R9666c7b9a1374d5e" /><Relationship Type="http://schemas.openxmlformats.org/officeDocument/2006/relationships/slide" Target="/ppt/slides/slide40.xml" Id="R8c6b5e3cbde246c7" /><Relationship Type="http://schemas.openxmlformats.org/officeDocument/2006/relationships/slide" Target="/ppt/slides/slide41.xml" Id="R99f1e10d6de541fa" /><Relationship Type="http://schemas.openxmlformats.org/officeDocument/2006/relationships/slide" Target="/ppt/slides/slide42.xml" Id="R74a9845ba13f4fa5" /><Relationship Type="http://schemas.openxmlformats.org/officeDocument/2006/relationships/slide" Target="/ppt/slides/slide43.xml" Id="R0c3142524fed4841" /><Relationship Type="http://schemas.openxmlformats.org/officeDocument/2006/relationships/slide" Target="/ppt/slides/slide44.xml" Id="R6512124beef64cf0" /><Relationship Type="http://schemas.openxmlformats.org/officeDocument/2006/relationships/slide" Target="/ppt/slides/slide45.xml" Id="R6ae7fbaa4a574fdc" /><Relationship Type="http://schemas.openxmlformats.org/officeDocument/2006/relationships/slide" Target="/ppt/slides/slide46.xml" Id="R55e63daaf91941f4" /><Relationship Type="http://schemas.openxmlformats.org/officeDocument/2006/relationships/slide" Target="/ppt/slides/slide47.xml" Id="R751da11f4d814590" /><Relationship Type="http://schemas.openxmlformats.org/officeDocument/2006/relationships/slide" Target="/ppt/slides/slide48.xml" Id="Rbc468616a94649d0" /><Relationship Type="http://schemas.openxmlformats.org/officeDocument/2006/relationships/slide" Target="/ppt/slides/slide49.xml" Id="R8a7c9a106fbc46fe" /><Relationship Type="http://schemas.openxmlformats.org/officeDocument/2006/relationships/slide" Target="/ppt/slides/slide50.xml" Id="Rbd633004fd3a47a5" /><Relationship Type="http://schemas.openxmlformats.org/officeDocument/2006/relationships/slide" Target="/ppt/slides/slide51.xml" Id="R927d30cc842541c2" /><Relationship Type="http://schemas.openxmlformats.org/officeDocument/2006/relationships/slide" Target="/ppt/slides/slide52.xml" Id="R8d5741e5d5bf4bbb" /><Relationship Type="http://schemas.openxmlformats.org/officeDocument/2006/relationships/slide" Target="/ppt/slides/slide53.xml" Id="Ra16451491b404a2a" /><Relationship Type="http://schemas.openxmlformats.org/officeDocument/2006/relationships/slide" Target="/ppt/slides/slide54.xml" Id="Raa167f74f15f4534" /><Relationship Type="http://schemas.openxmlformats.org/officeDocument/2006/relationships/slide" Target="/ppt/slides/slide55.xml" Id="R04f834b74e9341d3" /><Relationship Type="http://schemas.openxmlformats.org/officeDocument/2006/relationships/slide" Target="/ppt/slides/slide56.xml" Id="Rcfe3f35632d14802" /><Relationship Type="http://schemas.openxmlformats.org/officeDocument/2006/relationships/slide" Target="/ppt/slides/slide57.xml" Id="R267405541d4145be" /><Relationship Type="http://schemas.openxmlformats.org/officeDocument/2006/relationships/slide" Target="/ppt/slides/slide58.xml" Id="R6b9b999378a14ff3" /><Relationship Type="http://schemas.openxmlformats.org/officeDocument/2006/relationships/slide" Target="/ppt/slides/slide59.xml" Id="Rff9773eb487d40a1" /><Relationship Type="http://schemas.openxmlformats.org/officeDocument/2006/relationships/slide" Target="/ppt/slides/slide60.xml" Id="Rbf7a51ae41c04d8b" /><Relationship Type="http://schemas.openxmlformats.org/officeDocument/2006/relationships/slide" Target="/ppt/slides/slide61.xml" Id="Rcb9cef819b914653" /><Relationship Type="http://schemas.openxmlformats.org/officeDocument/2006/relationships/slide" Target="/ppt/slides/slide62.xml" Id="R374be608e15a44ee" /><Relationship Type="http://schemas.openxmlformats.org/officeDocument/2006/relationships/slide" Target="/ppt/slides/slide63.xml" Id="Rc76321dad3c14db9" /><Relationship Type="http://schemas.openxmlformats.org/officeDocument/2006/relationships/slide" Target="/ppt/slides/slide64.xml" Id="R2b5824495fdc41ec" /><Relationship Type="http://schemas.openxmlformats.org/officeDocument/2006/relationships/slide" Target="/ppt/slides/slide65.xml" Id="R7a02fc2975f04e25" /><Relationship Type="http://schemas.openxmlformats.org/officeDocument/2006/relationships/slide" Target="/ppt/slides/slide66.xml" Id="Ree7e49f16fc64b45" /><Relationship Type="http://schemas.openxmlformats.org/officeDocument/2006/relationships/slide" Target="/ppt/slides/slide67.xml" Id="R5bcc706defce4e46" /><Relationship Type="http://schemas.openxmlformats.org/officeDocument/2006/relationships/slide" Target="/ppt/slides/slide68.xml" Id="R1ef46e12612f4337" /><Relationship Type="http://schemas.openxmlformats.org/officeDocument/2006/relationships/slide" Target="/ppt/slides/slide69.xml" Id="R87f0048ccc8e4da6" /><Relationship Type="http://schemas.openxmlformats.org/officeDocument/2006/relationships/slide" Target="/ppt/slides/slide70.xml" Id="R6e29120057db4c18" /><Relationship Type="http://schemas.openxmlformats.org/officeDocument/2006/relationships/slide" Target="/ppt/slides/slide71.xml" Id="Rc5d5e8cee1c341ef" /><Relationship Type="http://schemas.openxmlformats.org/officeDocument/2006/relationships/slide" Target="/ppt/slides/slide72.xml" Id="Rb2f4c7cca99448fa" /><Relationship Type="http://schemas.openxmlformats.org/officeDocument/2006/relationships/slide" Target="/ppt/slides/slide73.xml" Id="R57ce264eb9724d0f" /><Relationship Type="http://schemas.openxmlformats.org/officeDocument/2006/relationships/slide" Target="/ppt/slides/slide74.xml" Id="Rae05b2333efc4e35" /><Relationship Type="http://schemas.openxmlformats.org/officeDocument/2006/relationships/slide" Target="/ppt/slides/slide75.xml" Id="R9f72c191e1874c3e" /><Relationship Type="http://schemas.openxmlformats.org/officeDocument/2006/relationships/slide" Target="/ppt/slides/slide76.xml" Id="R50d3a44e221e4d58" /><Relationship Type="http://schemas.openxmlformats.org/officeDocument/2006/relationships/slide" Target="/ppt/slides/slide77.xml" Id="Rfc5a1e3758c74881" /><Relationship Type="http://schemas.openxmlformats.org/officeDocument/2006/relationships/slide" Target="/ppt/slides/slide78.xml" Id="Rd4e0e47d41d34803" /><Relationship Type="http://schemas.openxmlformats.org/officeDocument/2006/relationships/slide" Target="/ppt/slides/slide79.xml" Id="R6015a1bb0b5f4ff1" /><Relationship Type="http://schemas.openxmlformats.org/officeDocument/2006/relationships/slide" Target="/ppt/slides/slide80.xml" Id="R74a42ebb90894116" /><Relationship Type="http://schemas.openxmlformats.org/officeDocument/2006/relationships/slide" Target="/ppt/slides/slide81.xml" Id="R05c6e10640164986" /><Relationship Type="http://schemas.openxmlformats.org/officeDocument/2006/relationships/slide" Target="/ppt/slides/slide82.xml" Id="Ra7d936a6870c4af4" /><Relationship Type="http://schemas.openxmlformats.org/officeDocument/2006/relationships/slide" Target="/ppt/slides/slide83.xml" Id="R70ac158b4191466d" /><Relationship Type="http://schemas.openxmlformats.org/officeDocument/2006/relationships/slide" Target="/ppt/slides/slide84.xml" Id="R710fd616d76546c7" /><Relationship Type="http://schemas.openxmlformats.org/officeDocument/2006/relationships/slide" Target="/ppt/slides/slide85.xml" Id="R7bda6039e7ef422a" /><Relationship Type="http://schemas.openxmlformats.org/officeDocument/2006/relationships/slide" Target="/ppt/slides/slide86.xml" Id="Rd0f0ca7b8d3f4ef5" /><Relationship Type="http://schemas.openxmlformats.org/officeDocument/2006/relationships/slide" Target="/ppt/slides/slide87.xml" Id="R6586d005af8b4722" /><Relationship Type="http://schemas.openxmlformats.org/officeDocument/2006/relationships/slide" Target="/ppt/slides/slide88.xml" Id="Rfcdba6d6145f445c" /><Relationship Type="http://schemas.openxmlformats.org/officeDocument/2006/relationships/slide" Target="/ppt/slides/slide89.xml" Id="R2cf99b93b0314c82" /><Relationship Type="http://schemas.openxmlformats.org/officeDocument/2006/relationships/slide" Target="/ppt/slides/slide90.xml" Id="R839bb48dac454160" /><Relationship Type="http://schemas.openxmlformats.org/officeDocument/2006/relationships/slide" Target="/ppt/slides/slide91.xml" Id="R605434c5a63442c2" /><Relationship Type="http://schemas.openxmlformats.org/officeDocument/2006/relationships/slide" Target="/ppt/slides/slide92.xml" Id="R93287d5ead384826" /><Relationship Type="http://schemas.openxmlformats.org/officeDocument/2006/relationships/slide" Target="/ppt/slides/slide93.xml" Id="R80bcfe492d4c4e2b" /><Relationship Type="http://schemas.openxmlformats.org/officeDocument/2006/relationships/slide" Target="/ppt/slides/slide94.xml" Id="Rb626a16a7fb9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062b22323a5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5755ba5db40a1" /><Relationship Type="http://schemas.openxmlformats.org/officeDocument/2006/relationships/notesMaster" Target="/ppt/notesMasters/notesMaster1.xml" Id="R321d841f86254b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e0332b9dc4ba8" /><Relationship Type="http://schemas.openxmlformats.org/officeDocument/2006/relationships/notesMaster" Target="/ppt/notesMasters/notesMaster1.xml" Id="R0dc4ad20fb7b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f476a06924e87" /><Relationship Type="http://schemas.openxmlformats.org/officeDocument/2006/relationships/notesMaster" Target="/ppt/notesMasters/notesMaster1.xml" Id="R5fccff1ddba246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a459d44a9e4f0f" /><Relationship Type="http://schemas.openxmlformats.org/officeDocument/2006/relationships/notesMaster" Target="/ppt/notesMasters/notesMaster1.xml" Id="R3b4520c473a2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996ecb4d04b17" /><Relationship Type="http://schemas.openxmlformats.org/officeDocument/2006/relationships/notesMaster" Target="/ppt/notesMasters/notesMaster1.xml" Id="R5c9b7f35f7a440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6b7dfa2ee140b5" /><Relationship Type="http://schemas.openxmlformats.org/officeDocument/2006/relationships/notesMaster" Target="/ppt/notesMasters/notesMaster1.xml" Id="R594cf3f607014a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67755eb6a849d4" /><Relationship Type="http://schemas.openxmlformats.org/officeDocument/2006/relationships/notesMaster" Target="/ppt/notesMasters/notesMaster1.xml" Id="R4784ff2b54f745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beda1fd604b14" /><Relationship Type="http://schemas.openxmlformats.org/officeDocument/2006/relationships/notesMaster" Target="/ppt/notesMasters/notesMaster1.xml" Id="R0befbe2ae21c4a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1f5fdfc3f74461" /><Relationship Type="http://schemas.openxmlformats.org/officeDocument/2006/relationships/notesMaster" Target="/ppt/notesMasters/notesMaster1.xml" Id="R6d0297c9fd694b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d4c0ca223d4910" /><Relationship Type="http://schemas.openxmlformats.org/officeDocument/2006/relationships/notesMaster" Target="/ppt/notesMasters/notesMaster1.xml" Id="Rc4c502f231c341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a5b34b15f24e3f" /><Relationship Type="http://schemas.openxmlformats.org/officeDocument/2006/relationships/notesMaster" Target="/ppt/notesMasters/notesMaster1.xml" Id="R1816ab842b8443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0f663f331a4e62" /><Relationship Type="http://schemas.openxmlformats.org/officeDocument/2006/relationships/notesMaster" Target="/ppt/notesMasters/notesMaster1.xml" Id="R628bcfc96ebf4e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6031fad5b0440d" /><Relationship Type="http://schemas.openxmlformats.org/officeDocument/2006/relationships/notesMaster" Target="/ppt/notesMasters/notesMaster1.xml" Id="R375542824d944c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5bd48ec3464e64" /><Relationship Type="http://schemas.openxmlformats.org/officeDocument/2006/relationships/notesMaster" Target="/ppt/notesMasters/notesMaster1.xml" Id="R82998c7733ad42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7de95f8149406f" /><Relationship Type="http://schemas.openxmlformats.org/officeDocument/2006/relationships/notesMaster" Target="/ppt/notesMasters/notesMaster1.xml" Id="R3fc6217240b847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12c6eb802b4e0c" /><Relationship Type="http://schemas.openxmlformats.org/officeDocument/2006/relationships/notesMaster" Target="/ppt/notesMasters/notesMaster1.xml" Id="R0be5774799594d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629a40dbb24c3c" /><Relationship Type="http://schemas.openxmlformats.org/officeDocument/2006/relationships/notesMaster" Target="/ppt/notesMasters/notesMaster1.xml" Id="Rd91df27a98d345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66b7b4b3d744d0" /><Relationship Type="http://schemas.openxmlformats.org/officeDocument/2006/relationships/notesMaster" Target="/ppt/notesMasters/notesMaster1.xml" Id="R8fb86906c41446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267c5e74b24558" /><Relationship Type="http://schemas.openxmlformats.org/officeDocument/2006/relationships/notesMaster" Target="/ppt/notesMasters/notesMaster1.xml" Id="R7dd4dee9c08749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a24d3a495a4b7b" /><Relationship Type="http://schemas.openxmlformats.org/officeDocument/2006/relationships/notesMaster" Target="/ppt/notesMasters/notesMaster1.xml" Id="Raa90ec02324641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c23f37e1a84942" /><Relationship Type="http://schemas.openxmlformats.org/officeDocument/2006/relationships/notesMaster" Target="/ppt/notesMasters/notesMaster1.xml" Id="Rc612eefccecf4c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f45b1698dd4a2b" /><Relationship Type="http://schemas.openxmlformats.org/officeDocument/2006/relationships/notesMaster" Target="/ppt/notesMasters/notesMaster1.xml" Id="R4a12088028114f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e49c99509bd4f40" /><Relationship Type="http://schemas.openxmlformats.org/officeDocument/2006/relationships/notesMaster" Target="/ppt/notesMasters/notesMaster1.xml" Id="R443d01ef0e8247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f7abc6f6f79437b" /><Relationship Type="http://schemas.openxmlformats.org/officeDocument/2006/relationships/notesMaster" Target="/ppt/notesMasters/notesMaster1.xml" Id="Ra2799a82cd3249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eb38edb01041be" /><Relationship Type="http://schemas.openxmlformats.org/officeDocument/2006/relationships/notesMaster" Target="/ppt/notesMasters/notesMaster1.xml" Id="R19a81c18a8af42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5c1b0f17b44277" /><Relationship Type="http://schemas.openxmlformats.org/officeDocument/2006/relationships/notesMaster" Target="/ppt/notesMasters/notesMaster1.xml" Id="Rd7d211b289eb4b3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edf4d4a02849de" /><Relationship Type="http://schemas.openxmlformats.org/officeDocument/2006/relationships/notesMaster" Target="/ppt/notesMasters/notesMaster1.xml" Id="R011a3080b3b5476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3e15a8a95c4302" /><Relationship Type="http://schemas.openxmlformats.org/officeDocument/2006/relationships/notesMaster" Target="/ppt/notesMasters/notesMaster1.xml" Id="Rad06bfc98d87429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5cf0d305f1458b" /><Relationship Type="http://schemas.openxmlformats.org/officeDocument/2006/relationships/notesMaster" Target="/ppt/notesMasters/notesMaster1.xml" Id="R516f6e9550c8420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b66b7fed394d95" /><Relationship Type="http://schemas.openxmlformats.org/officeDocument/2006/relationships/notesMaster" Target="/ppt/notesMasters/notesMaster1.xml" Id="R7ecec96bc0d149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c66bbcfef2a4dd0" /><Relationship Type="http://schemas.openxmlformats.org/officeDocument/2006/relationships/notesMaster" Target="/ppt/notesMasters/notesMaster1.xml" Id="Rf58f43a4ed9741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8f3560f6224480" /><Relationship Type="http://schemas.openxmlformats.org/officeDocument/2006/relationships/notesMaster" Target="/ppt/notesMasters/notesMaster1.xml" Id="Rc3b8b84c0ead40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1313481a7444593" /><Relationship Type="http://schemas.openxmlformats.org/officeDocument/2006/relationships/notesMaster" Target="/ppt/notesMasters/notesMaster1.xml" Id="R6ce7b187bfe240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706e0c4430e4f49" /><Relationship Type="http://schemas.openxmlformats.org/officeDocument/2006/relationships/notesMaster" Target="/ppt/notesMasters/notesMaster1.xml" Id="Rb853bb5a1b8a4f8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4d8c657e5cd446c" /><Relationship Type="http://schemas.openxmlformats.org/officeDocument/2006/relationships/notesMaster" Target="/ppt/notesMasters/notesMaster1.xml" Id="R7beb65f37b5d4f2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369973b8b974dfe" /><Relationship Type="http://schemas.openxmlformats.org/officeDocument/2006/relationships/notesMaster" Target="/ppt/notesMasters/notesMaster1.xml" Id="R0db21e601ea3423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cdf21ca2bad4667" /><Relationship Type="http://schemas.openxmlformats.org/officeDocument/2006/relationships/notesMaster" Target="/ppt/notesMasters/notesMaster1.xml" Id="R60d58a84a0d6429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56080d4a494258" /><Relationship Type="http://schemas.openxmlformats.org/officeDocument/2006/relationships/notesMaster" Target="/ppt/notesMasters/notesMaster1.xml" Id="Rb6a842b14edd4de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ce64b9b3f444121" /><Relationship Type="http://schemas.openxmlformats.org/officeDocument/2006/relationships/notesMaster" Target="/ppt/notesMasters/notesMaster1.xml" Id="R4eba92467d564ea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d5e22596d5344ab" /><Relationship Type="http://schemas.openxmlformats.org/officeDocument/2006/relationships/notesMaster" Target="/ppt/notesMasters/notesMaster1.xml" Id="R5c55526517fd4da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441be7cefe84d15" /><Relationship Type="http://schemas.openxmlformats.org/officeDocument/2006/relationships/notesMaster" Target="/ppt/notesMasters/notesMaster1.xml" Id="R67a181c81f2b4e0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dbf12efd4724232" /><Relationship Type="http://schemas.openxmlformats.org/officeDocument/2006/relationships/notesMaster" Target="/ppt/notesMasters/notesMaster1.xml" Id="Rfd150328f4654db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fc7288f11443ba" /><Relationship Type="http://schemas.openxmlformats.org/officeDocument/2006/relationships/notesMaster" Target="/ppt/notesMasters/notesMaster1.xml" Id="R40990871d28247b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c5593070b82466f" /><Relationship Type="http://schemas.openxmlformats.org/officeDocument/2006/relationships/notesMaster" Target="/ppt/notesMasters/notesMaster1.xml" Id="R5f79c0fda4da47d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c639a3a9fdd43c7" /><Relationship Type="http://schemas.openxmlformats.org/officeDocument/2006/relationships/notesMaster" Target="/ppt/notesMasters/notesMaster1.xml" Id="Rc5fe298a6525438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1ef853c96b14bb7" /><Relationship Type="http://schemas.openxmlformats.org/officeDocument/2006/relationships/notesMaster" Target="/ppt/notesMasters/notesMaster1.xml" Id="R70321aadd98b49f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bb25254bc284d6d" /><Relationship Type="http://schemas.openxmlformats.org/officeDocument/2006/relationships/notesMaster" Target="/ppt/notesMasters/notesMaster1.xml" Id="R7e049ed5d57e42a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7eaa1a88f6d4be2" /><Relationship Type="http://schemas.openxmlformats.org/officeDocument/2006/relationships/notesMaster" Target="/ppt/notesMasters/notesMaster1.xml" Id="R37e7474fa662427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f0bf69a4a66413e" /><Relationship Type="http://schemas.openxmlformats.org/officeDocument/2006/relationships/notesMaster" Target="/ppt/notesMasters/notesMaster1.xml" Id="R05041c07e036489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d69c100003643f0" /><Relationship Type="http://schemas.openxmlformats.org/officeDocument/2006/relationships/notesMaster" Target="/ppt/notesMasters/notesMaster1.xml" Id="R31dc4896bdd3459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d75aca138fc4447" /><Relationship Type="http://schemas.openxmlformats.org/officeDocument/2006/relationships/notesMaster" Target="/ppt/notesMasters/notesMaster1.xml" Id="R05c7e3ffb34f42b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356ceb85955465f" /><Relationship Type="http://schemas.openxmlformats.org/officeDocument/2006/relationships/notesMaster" Target="/ppt/notesMasters/notesMaster1.xml" Id="R9f70bb85a891465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9ea2172c090407d" /><Relationship Type="http://schemas.openxmlformats.org/officeDocument/2006/relationships/notesMaster" Target="/ppt/notesMasters/notesMaster1.xml" Id="Rff03c863f472455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9b76d5f2c0a4f92" /><Relationship Type="http://schemas.openxmlformats.org/officeDocument/2006/relationships/notesMaster" Target="/ppt/notesMasters/notesMaster1.xml" Id="Rfe99b497cf9e4d6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3ec778c971f4b43" /><Relationship Type="http://schemas.openxmlformats.org/officeDocument/2006/relationships/notesMaster" Target="/ppt/notesMasters/notesMaster1.xml" Id="Rb52433ec4f6d4ae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c6542f43a47493d" /><Relationship Type="http://schemas.openxmlformats.org/officeDocument/2006/relationships/notesMaster" Target="/ppt/notesMasters/notesMaster1.xml" Id="R4a580cfa1eb5406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9cf6c25ac864ed9" /><Relationship Type="http://schemas.openxmlformats.org/officeDocument/2006/relationships/notesMaster" Target="/ppt/notesMasters/notesMaster1.xml" Id="R8fd2c0126f234a3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c9d0a11a95941de" /><Relationship Type="http://schemas.openxmlformats.org/officeDocument/2006/relationships/notesMaster" Target="/ppt/notesMasters/notesMaster1.xml" Id="Rdc2cffc83a87423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e06358488f744e1" /><Relationship Type="http://schemas.openxmlformats.org/officeDocument/2006/relationships/notesMaster" Target="/ppt/notesMasters/notesMaster1.xml" Id="R1f52a37b11c842c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b3fec70ce3f4d29" /><Relationship Type="http://schemas.openxmlformats.org/officeDocument/2006/relationships/notesMaster" Target="/ppt/notesMasters/notesMaster1.xml" Id="Rb7083fbccede4bc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20aad7ce70c4d11" /><Relationship Type="http://schemas.openxmlformats.org/officeDocument/2006/relationships/notesMaster" Target="/ppt/notesMasters/notesMaster1.xml" Id="R974f996b6c60464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6da83f9cde945f5" /><Relationship Type="http://schemas.openxmlformats.org/officeDocument/2006/relationships/notesMaster" Target="/ppt/notesMasters/notesMaster1.xml" Id="R845ea526c31b4f8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7f07ee8f955475c" /><Relationship Type="http://schemas.openxmlformats.org/officeDocument/2006/relationships/notesMaster" Target="/ppt/notesMasters/notesMaster1.xml" Id="R0ed2935f18404e0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7ecc075988342b0" /><Relationship Type="http://schemas.openxmlformats.org/officeDocument/2006/relationships/notesMaster" Target="/ppt/notesMasters/notesMaster1.xml" Id="R4532b846743b4c2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676195174074164" /><Relationship Type="http://schemas.openxmlformats.org/officeDocument/2006/relationships/notesMaster" Target="/ppt/notesMasters/notesMaster1.xml" Id="Ra98bfe2e48de4de0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cd3335e492a4e81" /><Relationship Type="http://schemas.openxmlformats.org/officeDocument/2006/relationships/notesMaster" Target="/ppt/notesMasters/notesMaster1.xml" Id="Ra69b51292d4a472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70b493a409b4b00" /><Relationship Type="http://schemas.openxmlformats.org/officeDocument/2006/relationships/notesMaster" Target="/ppt/notesMasters/notesMaster1.xml" Id="R2ed20aa9743940e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75d1d8c782643b9" /><Relationship Type="http://schemas.openxmlformats.org/officeDocument/2006/relationships/notesMaster" Target="/ppt/notesMasters/notesMaster1.xml" Id="R2d0a0892ef5546a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69e1fb522fa47a8" /><Relationship Type="http://schemas.openxmlformats.org/officeDocument/2006/relationships/notesMaster" Target="/ppt/notesMasters/notesMaster1.xml" Id="R37c4ebfe87f14ae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c42146f80b2405f" /><Relationship Type="http://schemas.openxmlformats.org/officeDocument/2006/relationships/notesMaster" Target="/ppt/notesMasters/notesMaster1.xml" Id="Rc9ddc50ad2cd4bd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0d619d1ca9c46f3" /><Relationship Type="http://schemas.openxmlformats.org/officeDocument/2006/relationships/notesMaster" Target="/ppt/notesMasters/notesMaster1.xml" Id="R7d867a8036da4f3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0c5bef294da433b" /><Relationship Type="http://schemas.openxmlformats.org/officeDocument/2006/relationships/notesMaster" Target="/ppt/notesMasters/notesMaster1.xml" Id="R5642a91eadce4b9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1daf3eb39904e6d" /><Relationship Type="http://schemas.openxmlformats.org/officeDocument/2006/relationships/notesMaster" Target="/ppt/notesMasters/notesMaster1.xml" Id="Rc913d0cc16cb459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3554244068e4b91" /><Relationship Type="http://schemas.openxmlformats.org/officeDocument/2006/relationships/notesMaster" Target="/ppt/notesMasters/notesMaster1.xml" Id="R5cefadd59d99412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59d64f5242d436b" /><Relationship Type="http://schemas.openxmlformats.org/officeDocument/2006/relationships/notesMaster" Target="/ppt/notesMasters/notesMaster1.xml" Id="R0365d9c81cab496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b2f204ded394297" /><Relationship Type="http://schemas.openxmlformats.org/officeDocument/2006/relationships/notesMaster" Target="/ppt/notesMasters/notesMaster1.xml" Id="R31e3f650508244d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7357edc53fb463b" /><Relationship Type="http://schemas.openxmlformats.org/officeDocument/2006/relationships/notesMaster" Target="/ppt/notesMasters/notesMaster1.xml" Id="R3d89f6ed903640b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79276ed8990344c3" /><Relationship Type="http://schemas.openxmlformats.org/officeDocument/2006/relationships/notesMaster" Target="/ppt/notesMasters/notesMaster1.xml" Id="R0fac96305e4c444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acd7539b41de4121" /><Relationship Type="http://schemas.openxmlformats.org/officeDocument/2006/relationships/notesMaster" Target="/ppt/notesMasters/notesMaster1.xml" Id="R171235c2761a4556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5a215b5f1604f57" /><Relationship Type="http://schemas.openxmlformats.org/officeDocument/2006/relationships/notesMaster" Target="/ppt/notesMasters/notesMaster1.xml" Id="R6888d84515c14f0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e17cd842dd847a6" /><Relationship Type="http://schemas.openxmlformats.org/officeDocument/2006/relationships/notesMaster" Target="/ppt/notesMasters/notesMaster1.xml" Id="Rf925f80ffba649f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8d787cbcb7b41c9" /><Relationship Type="http://schemas.openxmlformats.org/officeDocument/2006/relationships/notesMaster" Target="/ppt/notesMasters/notesMaster1.xml" Id="Ra505188e0dd0429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08fe1a0efc44590" /><Relationship Type="http://schemas.openxmlformats.org/officeDocument/2006/relationships/notesMaster" Target="/ppt/notesMasters/notesMaster1.xml" Id="R099aff26760a41b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661ac00a01bc4a19" /><Relationship Type="http://schemas.openxmlformats.org/officeDocument/2006/relationships/notesMaster" Target="/ppt/notesMasters/notesMaster1.xml" Id="R759807589c4946c7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af34997d7184aad" /><Relationship Type="http://schemas.openxmlformats.org/officeDocument/2006/relationships/notesMaster" Target="/ppt/notesMasters/notesMaster1.xml" Id="Re9f7fc53a0944248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bc290297fae4b86" /><Relationship Type="http://schemas.openxmlformats.org/officeDocument/2006/relationships/notesMaster" Target="/ppt/notesMasters/notesMaster1.xml" Id="Rca997ee7bf77494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3819898f3014f53" /><Relationship Type="http://schemas.openxmlformats.org/officeDocument/2006/relationships/notesMaster" Target="/ppt/notesMasters/notesMaster1.xml" Id="R274c92fe40694c8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b0f6ac68db34717" /><Relationship Type="http://schemas.openxmlformats.org/officeDocument/2006/relationships/notesMaster" Target="/ppt/notesMasters/notesMaster1.xml" Id="R7804b85603994832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f451e43c40e49e7" /><Relationship Type="http://schemas.openxmlformats.org/officeDocument/2006/relationships/notesMaster" Target="/ppt/notesMasters/notesMaster1.xml" Id="Rda50d84be6ae45f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16954b13e9547f2" /><Relationship Type="http://schemas.openxmlformats.org/officeDocument/2006/relationships/notesMaster" Target="/ppt/notesMasters/notesMaster1.xml" Id="R83aa5702dea14176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5f0b586fd4343cf" /><Relationship Type="http://schemas.openxmlformats.org/officeDocument/2006/relationships/notesMaster" Target="/ppt/notesMasters/notesMaster1.xml" Id="Rf0fdbc99eaf540b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95ea2fb1403144d1" /><Relationship Type="http://schemas.openxmlformats.org/officeDocument/2006/relationships/notesMaster" Target="/ppt/notesMasters/notesMaster1.xml" Id="Ra99260ee54634342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592e4d7506b649f3" /><Relationship Type="http://schemas.openxmlformats.org/officeDocument/2006/relationships/notesMaster" Target="/ppt/notesMasters/notesMaster1.xml" Id="R428706556e29403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c8f2efbb0016442e" /><Relationship Type="http://schemas.openxmlformats.org/officeDocument/2006/relationships/notesMaster" Target="/ppt/notesMasters/notesMaster1.xml" Id="Raee26801adac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Presentar la unidad como el vocabulario común del curso. No prometer una teoría completa del sonido: hoy se construyen herramientas para describirlo.</a:t>
            </a:r>
          </a:p>
          <a:p xmlns:a="http://schemas.openxmlformats.org/drawingml/2006/main">
            <a:r>
              <a:t>- **Pregunta y respuesta esperada:** “¿Qué palabras físicas usarían para describir una voz?” Se esperan términos cotidianos; no corregir todavía.</a:t>
            </a:r>
          </a:p>
          <a:p xmlns:a="http://schemas.openxmlformats.org/drawingml/2006/main">
            <a:r>
              <a:t>- **Énfasis/error frecuente:** Acústica no se reduce a ondas ni a decibeles.</a:t>
            </a:r>
          </a:p>
          <a:p xmlns:a="http://schemas.openxmlformats.org/drawingml/2006/main">
            <a:r>
              <a:t>- **Transición:** “Partamos de una escena que todos podemos reconocer”.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MAP U1;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Comencemos con una situación conocida.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Una persona vocaliza; la perturbación atraviesa el aire y llega a un receptor.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30 segundos de observación. Separar en el pizarrón respuestas sobre producción, medición, experiencia y clínica, sin nombrar aún las categorías.</a:t>
            </a:r>
          </a:p>
          <a:p xmlns:a="http://schemas.openxmlformats.org/drawingml/2006/main">
            <a:r>
              <a:t>- **Pregunta y respuesta esperada:** Qué se produce: una perturbación/señal; qué mide el micrófono: una respuesta instrumental; qué experimenta la persona: una percepción.</a:t>
            </a:r>
          </a:p>
          <a:p xmlns:a="http://schemas.openxmlformats.org/drawingml/2006/main">
            <a:r>
              <a:t>- **Énfasis/error frecuente:** Evitar aceptar “el micrófono mide cómo se escucha” como equivalencia.</a:t>
            </a:r>
          </a:p>
          <a:p xmlns:a="http://schemas.openxmlformats.org/drawingml/2006/main">
            <a:r>
              <a:t>- **Transición:** “Para precisar las respuestas vamos a recuperar herramientas básicas”.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sec:u1-situacion; PDF p. 14;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Para responder mejor, primero necesitamos recuperar algunas herramientas.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Persona que vocaliza frente a un micrófono mientras otra persona escucha; tres preguntas distinguen producción, medición y experiencia.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Normalizar la heterogeneidad del grupo. Explicar que potencias, funciones y trigonometría se recuperarán en contexto, no como examen previo.</a:t>
            </a:r>
          </a:p>
          <a:p xmlns:a="http://schemas.openxmlformats.org/drawingml/2006/main">
            <a:r>
              <a:t>- **Pregunta y respuesta esperada:** Pedir una señal de confianza de 1 a 5 para cada herramienta; no hay respuesta correcta.</a:t>
            </a:r>
          </a:p>
          <a:p xmlns:a="http://schemas.openxmlformats.org/drawingml/2006/main">
            <a:r>
              <a:t>- **Énfasis/error frecuente:** No presentar los prerrequisitos como una barrera de ingreso.</a:t>
            </a:r>
          </a:p>
          <a:p xmlns:a="http://schemas.openxmlformats.org/drawingml/2006/main">
            <a:r>
              <a:t>- **Transición:** “Veamos qué apoyos necesita este grupo concreto”.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sec:u1-previos; BRF; DEP.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Hagamos un diagnóstico breve, sin calificación.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grupos de tarjetas separan conocimientos cotidianos de herramientas que se recuperarán durante la unidad.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Recoger respuestas por manos, tarjetas o formulario. Anotar patrones, no nombres. Guardar la distribución para U01-083.</a:t>
            </a:r>
          </a:p>
          <a:p xmlns:a="http://schemas.openxmlformats.org/drawingml/2006/main">
            <a:r>
              <a:t>- **Pregunta y respuesta esperada:** 1: magnitud/símbolo/valor/unidad; 2: N; 3: `d/c`; 4: relacionadas, no idénticas.</a:t>
            </a:r>
          </a:p>
          <a:p xmlns:a="http://schemas.openxmlformats.org/drawingml/2006/main">
            <a:r>
              <a:t>- **Énfasis/error frecuente:** No resolver todavía; pedir una razón breve para evitar azar.</a:t>
            </a:r>
          </a:p>
          <a:p xmlns:a="http://schemas.openxmlformats.org/drawingml/2006/main">
            <a:r>
              <a:t>- **Transición:** “Al final deberían poder justificar cada respuesta”.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BRF; TEX ejercicios D1–D3.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Los objetivos muestran qué evidencias esperamos construir.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Cuatro preguntas diagnósticas sobre unidades, peso, dimensiones y frecuencia.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los objetivos por grupos, no palabra por palabra. Asociar cada uno con una evidencia: clasificación, cálculo, justificación o límite.</a:t>
            </a:r>
          </a:p>
          <a:p xmlns:a="http://schemas.openxmlformats.org/drawingml/2006/main">
            <a:r>
              <a:t>- **Pregunta y respuesta esperada:** “¿Cuál objetivo exige algo más que calcular?” Interpretar límites y distinguir categorías.</a:t>
            </a:r>
          </a:p>
          <a:p xmlns:a="http://schemas.openxmlformats.org/drawingml/2006/main">
            <a:r>
              <a:t>- **Énfasis/error frecuente:** Obtener un número correcto no agota la comprensión.</a:t>
            </a:r>
          </a:p>
          <a:p xmlns:a="http://schemas.openxmlformats.org/drawingml/2006/main">
            <a:r>
              <a:t>- **Transición:** “Esta es la ruta que seguiremos para construir esas evidencias”.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BRF; TEX sec:u1-proposito.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Veamos cómo se organiza la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Ruta de aprendizaje con ocho objetivos agrupados en cinco etapas.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Marcar la pausa y aclarar que las complementarias no forman parte obligatoria del recorrido. Señalar el retorno al caso inicial.</a:t>
            </a:r>
          </a:p>
          <a:p xmlns:a="http://schemas.openxmlformats.org/drawingml/2006/main">
            <a:r>
              <a:t>- **Pregunta y respuesta esperada:** “¿Por qué interpretar aparece después de medir y representar?” Porque necesita conocer qué dato se obtuvo y bajo qué modelo.</a:t>
            </a:r>
          </a:p>
          <a:p xmlns:a="http://schemas.openxmlformats.org/drawingml/2006/main">
            <a:r>
              <a:t>- **Énfasis/error frecuente:** No intentar completar todas las slides opcionales.</a:t>
            </a:r>
          </a:p>
          <a:p xmlns:a="http://schemas.openxmlformats.org/drawingml/2006/main">
            <a:r>
              <a:t>- **Transición:** “Empecemos por el sistema acústico mínimo”.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BRF; MAP U1; 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Primero delimitaremos el sistema acústico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Cinco etapas conectadas desde el fenómeno hasta la interpretación, con una pausa intermedia.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vocabulario de U01-002 y agruparlo bajo las funciones originar, transmitir y responder.</a:t>
            </a:r>
          </a:p>
          <a:p xmlns:a="http://schemas.openxmlformats.org/drawingml/2006/main">
            <a:r>
              <a:t>- **Pregunta y respuesta esperada:** En la vocalización: origina la voz; transmite el aire; responden micrófono y oído según el sistema.</a:t>
            </a:r>
          </a:p>
          <a:p xmlns:a="http://schemas.openxmlformats.org/drawingml/2006/main">
            <a:r>
              <a:t>- **Énfasis/error frecuente:** Todavía no describir la onda formalmente.</a:t>
            </a:r>
          </a:p>
          <a:p xmlns:a="http://schemas.openxmlformats.org/drawingml/2006/main">
            <a:r>
              <a:t>- **Transición:** “En acústica llamamos fuente, medio y receptor a esas funciones”.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sec:u1-situacion.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Esas funciones reciben nombres precisos.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nodos conectados representan origen, transmisión y respuesta.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cada nodo y reemplazar ejemplos: voz/aire/oído y parlante/aire/micrófono. Explicar que el receptor puede transformar, registrar o experimentar.</a:t>
            </a:r>
          </a:p>
          <a:p xmlns:a="http://schemas.openxmlformats.org/drawingml/2006/main">
            <a:r>
              <a:t>- **Pregunta y respuesta esperada:** “¿Un micrófono puede ser receptor?” Sí, dentro del sistema delimitado.</a:t>
            </a:r>
          </a:p>
          <a:p xmlns:a="http://schemas.openxmlformats.org/drawingml/2006/main">
            <a:r>
              <a:t>- **Énfasis/error frecuente:** No confundir receptor con persona.</a:t>
            </a:r>
          </a:p>
          <a:p xmlns:a="http://schemas.openxmlformats.org/drawingml/2006/main">
            <a:r>
              <a:t>- **Transición:** “Los roles dependen del sistema que decidimos analizar”.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sec:u1-situacion; PDF p. 14; INV C02–C04.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 mismo objeto puede ocupar un rol distinto en otro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cajas conectadas: la fuente origina, el medio transmite y el receptor responde.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solo si el grupo fija los roles como propiedades. Delimitar una cadena mayor y mostrar que un transductor puede recibir una señal y originar otra.</a:t>
            </a:r>
          </a:p>
          <a:p xmlns:a="http://schemas.openxmlformats.org/drawingml/2006/main">
            <a:r>
              <a:t>- **Pregunta y respuesta esperada:** Un parlante puede ser receptor de una señal eléctrica y fuente de una perturbación mecánica, según la frontera elegida.</a:t>
            </a:r>
          </a:p>
          <a:p xmlns:a="http://schemas.openxmlformats.org/drawingml/2006/main">
            <a:r>
              <a:t>- **Énfasis/error frecuente:** No multiplicar nodos hasta volver ilegible el modelo.</a:t>
            </a:r>
          </a:p>
          <a:p xmlns:a="http://schemas.openxmlformats.org/drawingml/2006/main">
            <a:r>
              <a:t>- **Transición:** “Ahora distingamos rol funcional de movimiento material”.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sec:u1-situacion; TEX sec:u1-relacion-fono.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Delimitar roles no responde todavía qué se desplaza.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cadenas muestran que la función de un elemento cambia según el sistema analizado.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Reproducir el GIF una vez sin hablar y otra siguiendo la partícula marcada. Luego seguir el frente de compresión. Explicar que son dos trayectorias distintas.</a:t>
            </a:r>
          </a:p>
          <a:p xmlns:a="http://schemas.openxmlformats.org/drawingml/2006/main">
            <a:r>
              <a:t>- **Pregunta y respuesta esperada:** “¿La partícula marcada llega al receptor?” No; oscila alrededor de su posición.</a:t>
            </a:r>
          </a:p>
          <a:p xmlns:a="http://schemas.openxmlformats.org/drawingml/2006/main">
            <a:r>
              <a:t>- **Multimedia:** GIF U01-MEDIA002, sin audio, 6–8 s; respaldo estático U01-CH002.</a:t>
            </a:r>
          </a:p>
          <a:p xmlns:a="http://schemas.openxmlformats.org/drawingml/2006/main">
            <a:r>
              <a:t>- **Énfasis/error frecuente:** El modelo es conceptual y no describe aún una onda sonora completa.</a:t>
            </a:r>
          </a:p>
          <a:p xmlns:a="http://schemas.openxmlformats.org/drawingml/2006/main">
            <a:r>
              <a:t>- **Transición:** “Hagamos visible esta diferencia con un objeto real”.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sec:u1-onda-mecanica; PDF pp. 15–16; DEP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Una demostración permite observar ambas trayectorias.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estados de una cadena de partículas; una partícula oscila localmente mientras la compresión avanza.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Colocar una marca visible en una espira. Pedir predicción, generar un pulso breve y comparar desplazamientos. Repetir si es necesario.</a:t>
            </a:r>
          </a:p>
          <a:p xmlns:a="http://schemas.openxmlformats.org/drawingml/2006/main">
            <a:r>
              <a:t>- **Pregunta y respuesta esperada:** El pulso recorre el resorte; la marca se desplaza localmente y vuelve aproximadamente a su zona.</a:t>
            </a:r>
          </a:p>
          <a:p xmlns:a="http://schemas.openxmlformats.org/drawingml/2006/main">
            <a:r>
              <a:t>- **Demostración:** Mantener el resorte a altura segura y sin tensión excesiva. Si no es viable, usar el GIF.</a:t>
            </a:r>
          </a:p>
          <a:p xmlns:a="http://schemas.openxmlformats.org/drawingml/2006/main">
            <a:r>
              <a:t>- **Énfasis/error frecuente:** El resorte es una analogía limitada; no afirmar que el sonido en aire es transversal.</a:t>
            </a:r>
          </a:p>
          <a:p xmlns:a="http://schemas.openxmlformats.org/drawingml/2006/main">
            <a:r>
              <a:t>- **Transición:** “La acústica estudia estos procesos y mucho más”.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sec:u1-actividad-onda; INV ACT01.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Los procesos de producción, propagación y recepción forman parte de la acústica.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Secuencia de tres pasos para predecir y observar un pulso en un resorte con una espira marcada.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los cinco verbos y asociar un caso a cada uno. Producción: voz; propagación: aire; recepción: oído/micrófono; control: tratamiento; efectos: respuesta.</a:t>
            </a:r>
          </a:p>
          <a:p xmlns:a="http://schemas.openxmlformats.org/drawingml/2006/main">
            <a:r>
              <a:t>- **Pregunta y respuesta esperada:** “¿Dónde ubicarían una cabina audiométrica?” Principalmente control del ambiente y de la propagación.</a:t>
            </a:r>
          </a:p>
          <a:p xmlns:a="http://schemas.openxmlformats.org/drawingml/2006/main">
            <a:r>
              <a:t>- **Énfasis/error frecuente:** Evitar una definición tan amplia que pierda el objeto mecánico.</a:t>
            </a:r>
          </a:p>
          <a:p xmlns:a="http://schemas.openxmlformats.org/drawingml/2006/main">
            <a:r>
              <a:t>- **Transición:** “Veamos por qué esta disciplina importa en Fonoaudiología”.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sec:u1-alcance; PDF p.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Ese alcance se conecta directamente con Fonoaudiología.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La palabra acústica aparece rodeada por producción, propagación, recepción, control y efectos.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un ejemplo breve por fila. En cada caso distinguir el dato físico de la decisión profesional.</a:t>
            </a:r>
          </a:p>
          <a:p xmlns:a="http://schemas.openxmlformats.org/drawingml/2006/main">
            <a:r>
              <a:t>- **Pregunta y respuesta esperada:** “¿Una frecuencia medida diagnostica?” No; es un dato que se integra con procedimiento, respuesta y contexto.</a:t>
            </a:r>
          </a:p>
          <a:p xmlns:a="http://schemas.openxmlformats.org/drawingml/2006/main">
            <a:r>
              <a:t>- **Énfasis/error frecuente:** No prometer causalidad clínica a partir de una medición aislada.</a:t>
            </a:r>
          </a:p>
          <a:p xmlns:a="http://schemas.openxmlformats.org/drawingml/2006/main">
            <a:r>
              <a:t>- **Transición:** “Antes de medir, resumamos qué sistema estamos describiendo”.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sec:u1-alcance; PDF p. 15;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Recapitulemos el modelo antes de empezar a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Cuatro aplicaciones de la acústica en voz, Audiología, dispositivos y ambientes, más una advertencia clínica.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Retomar exactamente la escena inicial, pero pedir respuestas con los tres roles y el tipo de pregunta. Esta repetición exige transferencia.</a:t>
            </a:r>
          </a:p>
          <a:p xmlns:a="http://schemas.openxmlformats.org/drawingml/2006/main">
            <a:r>
              <a:t>- **Pregunta y respuesta esperada:** Sistema delimitado; voz como fuente, aire como medio, oído o micrófono como receptor; preguntas físicas y perceptuales separadas.</a:t>
            </a:r>
          </a:p>
          <a:p xmlns:a="http://schemas.openxmlformats.org/drawingml/2006/main">
            <a:r>
              <a:t>- **Énfasis/error frecuente:** No repetir definiciones completas.</a:t>
            </a:r>
          </a:p>
          <a:p xmlns:a="http://schemas.openxmlformats.org/drawingml/2006/main">
            <a:r>
              <a:t>- **Transición:** “Ya sabemos qué observamos; ahora necesitamos decir cuánto”.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sec:u1-sintesis;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Ahora necesitamos expresar cuánto cambia una magnitud y con qué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Mapa fuente–medio–receptor acompañado por preguntas sobre sistema y tipo de conclusión.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Escribir “2” en el pizarrón y pedir interpretaciones. Agregar sucesivamente distancia y metro.</a:t>
            </a:r>
          </a:p>
          <a:p xmlns:a="http://schemas.openxmlformats.org/drawingml/2006/main">
            <a:r>
              <a:t>- **Pregunta y respuesta esperada:** El 2 podría ser tiempo, distancia, masa o cualquier otra cantidad; sin magnitud y unidad no es interpretable.</a:t>
            </a:r>
          </a:p>
          <a:p xmlns:a="http://schemas.openxmlformats.org/drawingml/2006/main">
            <a:r>
              <a:t>- **Énfasis/error frecuente:** Un número no es una medición completa.</a:t>
            </a:r>
          </a:p>
          <a:p xmlns:a="http://schemas.openxmlformats.org/drawingml/2006/main">
            <a:r>
              <a:t>- **Transición:** “Medir significa comparar con una referencia”.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Medir comienza por comparar.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número aislado se completa progresivamente con una propiedad y una unidad.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longitud y tiempo, que el grupo ya conoce. Señalar que una magnitud también puede calcularse a partir de otras.</a:t>
            </a:r>
          </a:p>
          <a:p xmlns:a="http://schemas.openxmlformats.org/drawingml/2006/main">
            <a:r>
              <a:t>- **Pregunta y respuesta esperada:** En `2,0 m`, la propiedad es longitud/distancia; metro es la referencia acordada.</a:t>
            </a:r>
          </a:p>
          <a:p xmlns:a="http://schemas.openxmlformats.org/drawingml/2006/main">
            <a:r>
              <a:t>- **Énfasis/error frecuente:** Evitar definir magnitud como “algo que tiene unidad” sin explicar la propiedad.</a:t>
            </a:r>
          </a:p>
          <a:p xmlns:a="http://schemas.openxmlformats.org/drawingml/2006/main">
            <a:r>
              <a:t>- **Transición:** “Separemos cada pieza de la expresión”.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sec:u1-magnitud-unidad; PDF p.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Desarmemos la escritura de ese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Una mesa se compara con un patrón; el resultado muestra magnitud, valor y unidad.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etiquetas una por una. Pronunciar *d* como símbolo local de distancia y metro como unidad. Mostrar la tipografía distinta.</a:t>
            </a:r>
          </a:p>
          <a:p xmlns:a="http://schemas.openxmlformats.org/drawingml/2006/main">
            <a:r>
              <a:t>- **Pregunta y respuesta esperada:** “¿Qué cambiaría si midiéramos tiempo?” Cambiarían magnitud, símbolo, valor posible y unidad.</a:t>
            </a:r>
          </a:p>
          <a:p xmlns:a="http://schemas.openxmlformats.org/drawingml/2006/main">
            <a:r>
              <a:t>- **Énfasis/error frecuente:** `m` puede significar metro en redonda o masa en cursiva; el formato y el contexto importan.</a:t>
            </a:r>
          </a:p>
          <a:p xmlns:a="http://schemas.openxmlformats.org/drawingml/2006/main">
            <a:r>
              <a:t>- **Transición:** “Veamos resultados que parecen completos pero no lo están”.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sec:u1-magnitud-unidad; NOT; INV C07–C08.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Probemos qué información falta en otros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Flechas señalan la magnitud, su símbolo, el valor y la unidad en la expresión d igual a 2 metros.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90 segundos. Aceptar distintas magnitudes para “3” si se completan coherentemente. Corregir `15 mts/seg` como `15 m/s`.</a:t>
            </a:r>
          </a:p>
          <a:p xmlns:a="http://schemas.openxmlformats.org/drawingml/2006/main">
            <a:r>
              <a:t>- **Pregunta y respuesta esperada:** `t=0,2 s`; `20 °C` ya tiene valor y unidad, aunque puede faltar la magnitud en una ecuación; `5 kg` está bien como valor de masa.</a:t>
            </a:r>
          </a:p>
          <a:p xmlns:a="http://schemas.openxmlformats.org/drawingml/2006/main">
            <a:r>
              <a:t>- **Énfasis/error frecuente:** No convertir la actividad en una lista normativa exhaustiva.</a:t>
            </a:r>
          </a:p>
          <a:p xmlns:a="http://schemas.openxmlformats.org/drawingml/2006/main">
            <a:r>
              <a:t>- **Transición:** “Para comunicarnos necesitamos unidades compartidas”.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D1;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 sistema compartido evita que cada persona improvise unidades.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Cinco resultados incompletos o mal escritos esperan corrección.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el SI permite comparar y combinar resultados. “Básica” describe la estructura del sistema, no la importancia profesional.</a:t>
            </a:r>
          </a:p>
          <a:p xmlns:a="http://schemas.openxmlformats.org/drawingml/2006/main">
            <a:r>
              <a:t>- **Pregunta y respuesta esperada:** “¿Por qué m/s es derivada?” Porque combina unidades de longitud y tiempo mediante una relación.</a:t>
            </a:r>
          </a:p>
          <a:p xmlns:a="http://schemas.openxmlformats.org/drawingml/2006/main">
            <a:r>
              <a:t>- **Énfasis/error frecuente:** Derivada no significa aproximada ni menos importante.</a:t>
            </a:r>
          </a:p>
          <a:p xmlns:a="http://schemas.openxmlformats.org/drawingml/2006/main">
            <a:r>
              <a:t>- **Transición:** “Podemos consultar las siete bases o concentrarnos en las que usaremos”.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sec:u1-si; BIPM citado en 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Podemos ampliar el panorama del SI o avanzar a las unidades que usaremos hoy.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Tiempo, longitud y masa se conectan con rapidez, aceleración, fuerza, presión y densidad.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Si se usa, leer solo las filas destacadas y responder la duda sobre temperatura. Diferenciar kelvin de grado Celsius sin abrir termodinámica.</a:t>
            </a:r>
          </a:p>
          <a:p xmlns:a="http://schemas.openxmlformats.org/drawingml/2006/main">
            <a:r>
              <a:t>- **Pregunta y respuesta esperada:** La unidad básica es K; `°C` se usa para temperatura Celsius y contexto ambiental.</a:t>
            </a:r>
          </a:p>
          <a:p xmlns:a="http://schemas.openxmlformats.org/drawingml/2006/main">
            <a:r>
              <a:t>- **Énfasis/error frecuente:** No escribir “grados Kelvin”.</a:t>
            </a:r>
          </a:p>
          <a:p xmlns:a="http://schemas.openxmlformats.org/drawingml/2006/main">
            <a:r>
              <a:t>- **Transición:** “Volvamos a las unidades derivadas de esta unidad”.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sec:u1-si; PDF p. 16; BIPM citado en 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Volvamos a las unidades derivadas de esta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de las siete magnitudes fundamentales y sus unidades básicas; cuatro filas están destacadas.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cada operación en palabras, luego en unidades. Hacer que el grupo anticipe el resultado antes de mostrar N y Pa.</a:t>
            </a:r>
          </a:p>
          <a:p xmlns:a="http://schemas.openxmlformats.org/drawingml/2006/main">
            <a:r>
              <a:t>- **Pregunta y respuesta esperada:** `kg·m/s²` recibe el nombre newton; `N/m²`, pascal.</a:t>
            </a:r>
          </a:p>
          <a:p xmlns:a="http://schemas.openxmlformats.org/drawingml/2006/main">
            <a:r>
              <a:t>- **Énfasis/error frecuente:** No borrar unidades durante el cálculo.</a:t>
            </a:r>
          </a:p>
          <a:p xmlns:a="http://schemas.openxmlformats.org/drawingml/2006/main">
            <a:r>
              <a:t>- **Transición:** “Estas son las magnitudes que conectaremos”.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sec:u1-magnitudes-derivadas; PDF p.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Organicemos las magnitudes que aparecerán en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cadenas muestran cómo división y multiplicación construyen metro por segundo, newton y pascal.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Presentar la tabla como mapa de consulta. Leer únicamente distancia, tiempo y rapidez; anticipar que las demás filas aparecerán luego.</a:t>
            </a:r>
          </a:p>
          <a:p xmlns:a="http://schemas.openxmlformats.org/drawingml/2006/main">
            <a:r>
              <a:t>- **Pregunta y respuesta esperada:** Las unidades de rapidez, fuerza, presión, densidad y frecuencia son derivadas.</a:t>
            </a:r>
          </a:p>
          <a:p xmlns:a="http://schemas.openxmlformats.org/drawingml/2006/main">
            <a:r>
              <a:t>- **Énfasis/error frecuente:** No pedir memorización inmediata de todas las fórmulas.</a:t>
            </a:r>
          </a:p>
          <a:p xmlns:a="http://schemas.openxmlformats.org/drawingml/2006/main">
            <a:r>
              <a:t>- **Transición:** “Antes de calcular, fijemos cómo escribir los símbolos”.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sec:u1-magnitudes-derivadas;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Antes de calcular, fijemos tres convenciones de escritura.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de ocho magnitudes con sus símbolos, relaciones introductorias y unidades.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primero las formas incorrectas y pedir corrección. Recuperar U01-017 con unidades nuevas.</a:t>
            </a:r>
          </a:p>
          <a:p xmlns:a="http://schemas.openxmlformats.org/drawingml/2006/main">
            <a:r>
              <a:t>- **Pregunta y respuesta esperada:** Los símbolos no se pluralizan, no llevan punto y respetan mayúsculas.</a:t>
            </a:r>
          </a:p>
          <a:p xmlns:a="http://schemas.openxmlformats.org/drawingml/2006/main">
            <a:r>
              <a:t>- **Énfasis/error frecuente:** En texto corriente puede escribirse “pascales”; dentro de una expresión se usa `Pa`.</a:t>
            </a:r>
          </a:p>
          <a:p xmlns:a="http://schemas.openxmlformats.org/drawingml/2006/main">
            <a:r>
              <a:t>- **Transición:** “Con la escritura controlada, podemos interpretar relaciones”.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sec:u1-errores; NOT; NIST citado en 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Ya podemos leer magnitudes; ahora vamos a relacionarlas.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escrituras incorrectas aparecen tachadas junto a sus formas normalizadas.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el protocolo para cada ecuación: relación verbal, símbolos, unidades, proporcionalidad y límite. Mostrar la red vacía como promesa de integración.</a:t>
            </a:r>
          </a:p>
          <a:p xmlns:a="http://schemas.openxmlformats.org/drawingml/2006/main">
            <a:r>
              <a:t>- **Pregunta y respuesta esperada:** “¿Qué sería usar una fórmula como receta?” Sustituir números sin comprender qué compara ni verificar unidades.</a:t>
            </a:r>
          </a:p>
          <a:p xmlns:a="http://schemas.openxmlformats.org/drawingml/2006/main">
            <a:r>
              <a:t>- **Énfasis/error frecuente:** No presentar cuatro fórmulas a la vez.</a:t>
            </a:r>
          </a:p>
          <a:p xmlns:a="http://schemas.openxmlformats.org/drawingml/2006/main">
            <a:r>
              <a:t>- **Transición:** “Empezamos con una comparación conocida: distancia y tiempo”.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BRF; PO p.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Empecemos con distancia y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Red incompleta de magnitudes físicas que se completará durante el bloque.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Narrar el recorrido de 12 m en 3 s y preguntar “cuánto por segundo” antes de escribir la fórmula.</a:t>
            </a:r>
          </a:p>
          <a:p xmlns:a="http://schemas.openxmlformats.org/drawingml/2006/main">
            <a:r>
              <a:t>- **Pregunta y respuesta esperada:** 4 metros por segundo; se compara todo el recorrido con todo el intervalo.</a:t>
            </a:r>
          </a:p>
          <a:p xmlns:a="http://schemas.openxmlformats.org/drawingml/2006/main">
            <a:r>
              <a:t>- **Énfasis/error frecuente:** `Δt` es un intervalo, no un instante.</a:t>
            </a:r>
          </a:p>
          <a:p xmlns:a="http://schemas.openxmlformats.org/drawingml/2006/main">
            <a:r>
              <a:t>- **Transición:** “La frase ‘distancia por tiempo’ se traduce en una división”.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sec:u1-magnitudes-derivadas;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Traduzcamos “distancia por tiempo” a símbolos.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trayecto de distancia d y un reloj representan un intervalo delta 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lectura verbal de la ecuación. Resolver 12/3 conservando unidades y discutir qué resume el promedio.</a:t>
            </a:r>
          </a:p>
          <a:p xmlns:a="http://schemas.openxmlformats.org/drawingml/2006/main">
            <a:r>
              <a:t>- **Pregunta y respuesta esperada:** Si se duplica `d` con el mismo `Δt`, se duplica `v_med`; si se duplica el tiempo con la misma distancia, se reduce a la mitad.</a:t>
            </a:r>
          </a:p>
          <a:p xmlns:a="http://schemas.openxmlformats.org/drawingml/2006/main">
            <a:r>
              <a:t>- **Énfasis/error frecuente:** No llamar velocidad vectorial a toda razón `d/Δt`.</a:t>
            </a:r>
          </a:p>
          <a:p xmlns:a="http://schemas.openxmlformats.org/drawingml/2006/main">
            <a:r>
              <a:t>- **Transición:** “Ahora distingamos tres usos cercanos de la palabra velocidad”.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sec:u1-magnitudes-derivadas; INV E01.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“Rapidez”, “velocidad” y “propagación” no nombran exactamente lo mismo.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La ecuación rapidez media igual a distancia dividida por intervalo se acompaña con unidades.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Recorrer los tres paneles. En propagación, seguir el frente; en movimiento local, seguir una partícula.</a:t>
            </a:r>
          </a:p>
          <a:p xmlns:a="http://schemas.openxmlformats.org/drawingml/2006/main">
            <a:r>
              <a:t>- **Pregunta y respuesta esperada:** `c` describe el avance de la perturbación. La partícula no recorre la distancia fuente–receptor.</a:t>
            </a:r>
          </a:p>
          <a:p xmlns:a="http://schemas.openxmlformats.org/drawingml/2006/main">
            <a:r>
              <a:t>- **Énfasis/error frecuente:** Usar “rapidez de propagación” cuando no se trabaja dirección.</a:t>
            </a:r>
          </a:p>
          <a:p xmlns:a="http://schemas.openxmlformats.org/drawingml/2006/main">
            <a:r>
              <a:t>- **Transición:** “Con esa rapidez estimaremos un tiempo de llegada”.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sec:u1-velocidades; PDF pp. 18–19;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Usemos c para estimar un tiempo de llegada.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paneles diferencian rapidez escalar, velocidad vectorial y avance de una perturbación.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datos, formular relación verbal, despejar, sustituir, simplificar unidades y redondear. Explicar por qué `343 m/s` está condicionado.</a:t>
            </a:r>
          </a:p>
          <a:p xmlns:a="http://schemas.openxmlformats.org/drawingml/2006/main">
            <a:r>
              <a:t>- **Pregunta y respuesta esperada:** La unidad final es segundo porque `m ÷ (m/s)=s`.</a:t>
            </a:r>
          </a:p>
          <a:p xmlns:a="http://schemas.openxmlformats.org/drawingml/2006/main">
            <a:r>
              <a:t>- **Énfasis/error frecuente:** `c` no es una constante universal; cambia con medio y condiciones.</a:t>
            </a:r>
          </a:p>
          <a:p xmlns:a="http://schemas.openxmlformats.org/drawingml/2006/main">
            <a:r>
              <a:t>- **Transición:** “Quien necesite otra práctica puede resolver un caso equivalente”.</a:t>
            </a:r>
          </a:p>
          <a:p xmlns:a="http://schemas.openxmlformats.org/drawingml/2006/main">
            <a:r>
              <a:t>- **Duración:** 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sec:u1-ejemplo-tiempo; PDF p. 19; Cramer citado en 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El mismo razonamiento puede practicarse con otros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Una fuente y un receptor separados 100 metros acompañan el cálculo del tiempo de propagación.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2 minutos. La solución es `t=68/340=0,20 s`. Pedir que el grupo muestre unidades, no solo calculadora.</a:t>
            </a:r>
          </a:p>
          <a:p xmlns:a="http://schemas.openxmlformats.org/drawingml/2006/main">
            <a:r>
              <a:t>- **Pregunta y respuesta esperada:** Relación `t=d/c`; resultado `0,20 s`.</a:t>
            </a:r>
          </a:p>
          <a:p xmlns:a="http://schemas.openxmlformats.org/drawingml/2006/main">
            <a:r>
              <a:t>- **Énfasis/error frecuente:** `340 m/s` es un redondeo didáctico.</a:t>
            </a:r>
          </a:p>
          <a:p xmlns:a="http://schemas.openxmlformats.org/drawingml/2006/main">
            <a:r>
              <a:t>- **Transición:** “Pasemos de propagación a interacción mecánica”.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NA1.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Pasemos del movimiento a la interacción mecánica.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Ejercicio con distancia de 68 metros y rapidez de 340 metros por segundo.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Contrastar la lectura cotidiana de una balanza con las magnitudes físicas. Explicar inercia como resistencia a cambiar el movimiento, sin desarrollar dinámica.</a:t>
            </a:r>
          </a:p>
          <a:p xmlns:a="http://schemas.openxmlformats.org/drawingml/2006/main">
            <a:r>
              <a:t>- **Pregunta y respuesta esperada:** Cambia el peso al cambiar `g`; la masa del cuerpo se conserva en el ejemplo.</a:t>
            </a:r>
          </a:p>
          <a:p xmlns:a="http://schemas.openxmlformats.org/drawingml/2006/main">
            <a:r>
              <a:t>- **Énfasis/error frecuente:** No definir masa como “cantidad de materia”.</a:t>
            </a:r>
          </a:p>
          <a:p xmlns:a="http://schemas.openxmlformats.org/drawingml/2006/main">
            <a:r>
              <a:t>- **Transición:** “La relación entre ambas magnitudes conserva sus unidades”.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sec:u1-masa-peso; PDF p. 18; INV C16–C17.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 relación permite calcular el peso a partir de la masa.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paneles contrastan masa en kilogramos y fuerza peso en newtons.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por etapas. Hacer visible que `kg·m/s²` se renombra N. Interpretar 24,5 N como fuerza gravitatoria bajo la `g` adoptada.</a:t>
            </a:r>
          </a:p>
          <a:p xmlns:a="http://schemas.openxmlformats.org/drawingml/2006/main">
            <a:r>
              <a:t>- **Pregunta y respuesta esperada:** La unidad demuestra que el resultado es fuerza, no masa.</a:t>
            </a:r>
          </a:p>
          <a:p xmlns:a="http://schemas.openxmlformats.org/drawingml/2006/main">
            <a:r>
              <a:t>- **Énfasis/error frecuente:** No escribir 24,5 kg como peso.</a:t>
            </a:r>
          </a:p>
          <a:p xmlns:a="http://schemas.openxmlformats.org/drawingml/2006/main">
            <a:r>
              <a:t>- **Transición:** “El peso es un caso de fuerza; veamos la relación introductoria general”.</a:t>
            </a:r>
          </a:p>
          <a:p xmlns:a="http://schemas.openxmlformats.org/drawingml/2006/main">
            <a:r>
              <a:t>- **Duración:** 4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sec:u1-ejemplo-peso; TEX ejercicios NG2.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El peso es una fuerza; ahora anticiparemos la relación general entre fuerza y aceleración.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Multiplicación de 2,50 kilogramos por 9,80 metros por segundo cuadrado hasta obtener 24,5 newtons.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Presentar `F=ma` como anticipo. Aclarar “fuerza neta” y masa constante. Usar el diagrama para diferenciar una fuerza de la suma de fuerzas.</a:t>
            </a:r>
          </a:p>
          <a:p xmlns:a="http://schemas.openxmlformats.org/drawingml/2006/main">
            <a:r>
              <a:t>- **Pregunta y respuesta esperada:** Si la fuerza neta es cero, esta ecuación da aceleración cero para masa no nula.</a:t>
            </a:r>
          </a:p>
          <a:p xmlns:a="http://schemas.openxmlformats.org/drawingml/2006/main">
            <a:r>
              <a:t>- **Énfasis/error frecuente:** No afirmar que ausencia de aceleración implica ausencia de fuerzas individuales.</a:t>
            </a:r>
          </a:p>
          <a:p xmlns:a="http://schemas.openxmlformats.org/drawingml/2006/main">
            <a:r>
              <a:t>- **Transición:** “Una fuerza también puede repartirse sobre un área”.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sec:u1-magnitudes-derivadas; DEP U2.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Una fuerza también puede distribuirse sobre una superficie.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cuerpo recibe una fuerza neta y acelera; la ecuación F igual a masa por aceleración aparece debajo.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`F_⊥` igual en ambos paneles y cambiar `S`. Pedir predicción antes de mostrar la presión relativa.</a:t>
            </a:r>
          </a:p>
          <a:p xmlns:a="http://schemas.openxmlformats.org/drawingml/2006/main">
            <a:r>
              <a:t>- **Pregunta y respuesta esperada:** Menor área produce mayor presión para la misma fuerza perpendicular.</a:t>
            </a:r>
          </a:p>
          <a:p xmlns:a="http://schemas.openxmlformats.org/drawingml/2006/main">
            <a:r>
              <a:t>- **Énfasis/error frecuente:** Área se simboliza `S`; presión no equivale a intensidad.</a:t>
            </a:r>
          </a:p>
          <a:p xmlns:a="http://schemas.openxmlformats.org/drawingml/2006/main">
            <a:r>
              <a:t>- **Transición:** “De una cantidad por superficie pasemos a una cantidad por volumen”.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sec:u1-magnitudes-derivadas; NOT; INV E05.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Otra relación importante compara masa y volumen.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superficies reciben la misma fuerza; la de menor área presenta mayor presión.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Comparar recipientes de igual volumen. Después invertir la comparación: misma masa en distinto volumen.</a:t>
            </a:r>
          </a:p>
          <a:p xmlns:a="http://schemas.openxmlformats.org/drawingml/2006/main">
            <a:r>
              <a:t>- **Pregunta y respuesta esperada:** El recipiente con mayor masa en el mismo volumen tiene mayor densidad.</a:t>
            </a:r>
          </a:p>
          <a:p xmlns:a="http://schemas.openxmlformats.org/drawingml/2006/main">
            <a:r>
              <a:t>- **Énfasis/error frecuente:** Densidad, masa y peso son magnitudes diferentes.</a:t>
            </a:r>
          </a:p>
          <a:p xmlns:a="http://schemas.openxmlformats.org/drawingml/2006/main">
            <a:r>
              <a:t>- **Transición:** “Reunamos las cuatro relaciones”.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sec:u1-magnitudes-derivadas; INV E06.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Reconstruyamos todas las conexiones del bloque.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recipientes de igual volumen contienen distinta cantidad de masa; la fórmula rho igual a masa sobre volumen acompaña la comparación.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Completar la red con participación del grupo. Pedir lectura verbal y unidad de cada conexión.</a:t>
            </a:r>
          </a:p>
          <a:p xmlns:a="http://schemas.openxmlformats.org/drawingml/2006/main">
            <a:r>
              <a:t>- **Pregunta y respuesta esperada:** Rapidez: distancia/tiempo; fuerza: masa×aceleración; presión: fuerza/área; densidad: masa/volumen.</a:t>
            </a:r>
          </a:p>
          <a:p xmlns:a="http://schemas.openxmlformats.org/drawingml/2006/main">
            <a:r>
              <a:t>- **Énfasis/error frecuente:** El objetivo es reconstruir relaciones, no recitar fórmulas.</a:t>
            </a:r>
          </a:p>
          <a:p xmlns:a="http://schemas.openxmlformats.org/drawingml/2006/main">
            <a:r>
              <a:t>- **Transición:** “Las unidades pueden funcionar como detector de errores”.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sec:u1-sintesis;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Si olvidamos una fórmula, ¿pueden ayudarnos las unidades?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Red que conecta distancia, tiempo, rapidez, masa, aceleración, fuerza, área, presión, volumen y densidad.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las dos escrituras del mismo valor y preguntar cuál deja más visible el orden de magnitud. Conectar con escalas acústicas sin definir presión sonora.</a:t>
            </a:r>
          </a:p>
          <a:p xmlns:a="http://schemas.openxmlformats.org/drawingml/2006/main">
            <a:r>
              <a:t>- **Pregunta y respuesta esperada:** La notación científica hace visible `10⁻⁵`.</a:t>
            </a:r>
          </a:p>
          <a:p xmlns:a="http://schemas.openxmlformats.org/drawingml/2006/main">
            <a:r>
              <a:t>- **Énfasis/error frecuente:** No atribuir a `20 µPa` un significado auditivo universal en esta unidad.</a:t>
            </a:r>
          </a:p>
          <a:p xmlns:a="http://schemas.openxmlformats.org/drawingml/2006/main">
            <a:r>
              <a:t>- **Transición:** “Veamos cómo se construye la notación”.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sec:u1-notacion-dimensional.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Empecemos por las potencias de diez.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El mismo valor de presión aparece escrito como decimal y como potencia de diez.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Mover la coma en pantalla y asociar cada paso con el exponente. Pedir que verifiquen reconstruyendo el número.</a:t>
            </a:r>
          </a:p>
          <a:p xmlns:a="http://schemas.openxmlformats.org/drawingml/2006/main">
            <a:r>
              <a:t>- **Pregunta y respuesta esperada:** `3,5×10³=3500`; `4,2×10⁻³=0,0042`.</a:t>
            </a:r>
          </a:p>
          <a:p xmlns:a="http://schemas.openxmlformats.org/drawingml/2006/main">
            <a:r>
              <a:t>- **Énfasis/error frecuente:** El exponente negativo no vuelve negativo al número.</a:t>
            </a:r>
          </a:p>
          <a:p xmlns:a="http://schemas.openxmlformats.org/drawingml/2006/main">
            <a:r>
              <a:t>- **Transición:** “Apliquemos esto a una presión expresada de tres maneras”.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sec:u1-notacion-cientifica; PDF p.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Apliquemos la escritura a un valor de presión.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números se transforman en notación científica mediante desplazamientos de la coma.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Convertir `20 µPa` a pascales y normalizar el coeficiente. Mantener la unidad en todos los pasos.</a:t>
            </a:r>
          </a:p>
          <a:p xmlns:a="http://schemas.openxmlformats.org/drawingml/2006/main">
            <a:r>
              <a:t>- **Pregunta y respuesta esperada:** `20×10⁻⁶ = 2,0×10⁻⁵`; son el mismo valor.</a:t>
            </a:r>
          </a:p>
          <a:p xmlns:a="http://schemas.openxmlformats.org/drawingml/2006/main">
            <a:r>
              <a:t>- **Énfasis/error frecuente:** No presentar la cifra como umbral absoluto.</a:t>
            </a:r>
          </a:p>
          <a:p xmlns:a="http://schemas.openxmlformats.org/drawingml/2006/main">
            <a:r>
              <a:t>- **Transición:** “Los prefijos son abreviaturas de factores de diez”.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sec:u1-notacion-cientifica; PDF p.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Otros prefijos permiten cambiar de escala sin cambiar la magnitud.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tarjetas muestran 0,000020 pascales, 2,0 por 10 a la menos 5 pascales y 20 micropascales.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la escalera hacia derecha e izquierda. Contrastar `m` metro, *m* masa y `m` prefijo mili por forma y contexto.</a:t>
            </a:r>
          </a:p>
          <a:p xmlns:a="http://schemas.openxmlformats.org/drawingml/2006/main">
            <a:r>
              <a:t>- **Pregunta y respuesta esperada:** `1 ms` es una milésima de segundo; `1 µPa`, una millonésima de pascal.</a:t>
            </a:r>
          </a:p>
          <a:p xmlns:a="http://schemas.openxmlformats.org/drawingml/2006/main">
            <a:r>
              <a:t>- **Énfasis/error frecuente:** Kilo usa `k` minúscula; micro usa `µ`.</a:t>
            </a:r>
          </a:p>
          <a:p xmlns:a="http://schemas.openxmlformats.org/drawingml/2006/main">
            <a:r>
              <a:t>- **Transición:** “Si hace falta, practiquemos tres conversiones”.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sec:u1-notacion-cientifica;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Practiquemos conversiones solo si el grupo lo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Escala horizontal con kilo, unidad, mili y micro ubicados por potencias de diez.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solo los ítems que respondan a un error real. Soluciones: `1000 ms`; `10⁶ µPa`; `1000 mm`.</a:t>
            </a:r>
          </a:p>
          <a:p xmlns:a="http://schemas.openxmlformats.org/drawingml/2006/main">
            <a:r>
              <a:t>- **Pregunta y respuesta esperada:** La cantidad no cambia; cambia el número y la unidad elegida.</a:t>
            </a:r>
          </a:p>
          <a:p xmlns:a="http://schemas.openxmlformats.org/drawingml/2006/main">
            <a:r>
              <a:t>- **Énfasis/error frecuente:** Evitar multiplicar o dividir de memoria sin verificar si el valor debe crecer.</a:t>
            </a:r>
          </a:p>
          <a:p xmlns:a="http://schemas.openxmlformats.org/drawingml/2006/main">
            <a:r>
              <a:t>- **Transición:** “Ahora usemos unidades para controlar ecuaciones”.</a:t>
            </a:r>
          </a:p>
          <a:p xmlns:a="http://schemas.openxmlformats.org/drawingml/2006/main">
            <a:r>
              <a:t>- **Duración:** 4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INV;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Además de la escala numérica, debemos comprobar la coherencia física.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equivalencias incompletas entre segundos y milisegundos, pascales y micropascales, metros y milímetros.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https://www.bipm.org/en/publications/si-brochure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Diferenciar dimensión de unidad: metro y centímetro son unidades de la misma dimensión longitud. Explicar la lógica de descarte.</a:t>
            </a:r>
          </a:p>
          <a:p xmlns:a="http://schemas.openxmlformats.org/drawingml/2006/main">
            <a:r>
              <a:t>- **Pregunta y respuesta esperada:** `m+s` no tiene interpretación como suma de magnitudes homogéneas.</a:t>
            </a:r>
          </a:p>
          <a:p xmlns:a="http://schemas.openxmlformats.org/drawingml/2006/main">
            <a:r>
              <a:t>- **Énfasis/error frecuente:** Dimensiones compatibles no garantizan una ecuación verdadera.</a:t>
            </a:r>
          </a:p>
          <a:p xmlns:a="http://schemas.openxmlformats.org/drawingml/2006/main">
            <a:r>
              <a:t>- **Transición:** “Apliquemos el método a la unidad pascal”.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sec:u1-analisis-dimensional; PDF p.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Sigamos las dimensiones de la presión hasta el pascal.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semáforo rechaza metros más segundos y acepta revisar expresiones con dimensiones compatibles.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una igualdad por vez. Pedir que verbalicen cada sustitución y simplificación.</a:t>
            </a:r>
          </a:p>
          <a:p xmlns:a="http://schemas.openxmlformats.org/drawingml/2006/main">
            <a:r>
              <a:t>- **Pregunta y respuesta esperada:** Queda una potencia `m¹` en el denominador: `kg/(m·s²)`.</a:t>
            </a:r>
          </a:p>
          <a:p xmlns:a="http://schemas.openxmlformats.org/drawingml/2006/main">
            <a:r>
              <a:t>- **Énfasis/error frecuente:** No cancelar símbolos de forma informal; explicar numerador y denominador.</a:t>
            </a:r>
          </a:p>
          <a:p xmlns:a="http://schemas.openxmlformats.org/drawingml/2006/main">
            <a:r>
              <a:t>- **Transición:** “Con el mismo método podemos elegir una expresión antes de calcular”.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sec:u1-analisis-dimensional; PDF p. 20; INV E10–E12.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Ahora usemos las dimensiones para elegir entre expresiones.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Cadena de igualdades transforma newton por metro cuadrado en kilogramo por metro y segundo cuadrado.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60–90 segundos. Hacer que quienes eligieron una opción expliquen las dos descartadas.</a:t>
            </a:r>
          </a:p>
          <a:p xmlns:a="http://schemas.openxmlformats.org/drawingml/2006/main">
            <a:r>
              <a:t>- **Pregunta y respuesta esperada:** `d/c` produce `L/(LT⁻¹)=T`; las otras producen `L²T⁻¹` y `T⁻¹`.</a:t>
            </a:r>
          </a:p>
          <a:p xmlns:a="http://schemas.openxmlformats.org/drawingml/2006/main">
            <a:r>
              <a:t>- **Énfasis/error frecuente:** Elegir por parecido con una fórmula no es justificación.</a:t>
            </a:r>
          </a:p>
          <a:p xmlns:a="http://schemas.openxmlformats.org/drawingml/2006/main">
            <a:r>
              <a:t>- **Transición:** Anunciar pausa de 15 minutos y el bloque de funciones al volver.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NA3/D2; DEP.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Después de la pausa pasaremos de cantidades a relaciones funcionales.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expresiones se comparan dimensionalmente; d sobre c queda marcada como tiempo.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Tras la pausa, recuperar dos relaciones ya vistas. Dibujar una máquina y separar entrada, regla y salida.</a:t>
            </a:r>
          </a:p>
          <a:p xmlns:a="http://schemas.openxmlformats.org/drawingml/2006/main">
            <a:r>
              <a:t>- **Pregunta y respuesta esperada:** En `d(t)`, entra tiempo y sale distancia bajo la regla del modelo.</a:t>
            </a:r>
          </a:p>
          <a:p xmlns:a="http://schemas.openxmlformats.org/drawingml/2006/main">
            <a:r>
              <a:t>- **Énfasis/error frecuente:** Función no significa solamente “fórmula”.</a:t>
            </a:r>
          </a:p>
          <a:p xmlns:a="http://schemas.openxmlformats.org/drawingml/2006/main">
            <a:r>
              <a:t>- **Transición:** “Definamos qué condición debe cumplir”.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sec:u1-funciones.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Demos nombres precisos a cada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Una variable entra a una regla y produce una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`f(x)=2x` para mostrar una única salida por entrada. Dar un no-ejemplo con una entrada que apunta a dos salidas.</a:t>
            </a:r>
          </a:p>
          <a:p xmlns:a="http://schemas.openxmlformats.org/drawingml/2006/main">
            <a:r>
              <a:t>- **Pregunta y respuesta esperada:** Dominio: entradas permitidas. Variable dependiente: salida.</a:t>
            </a:r>
          </a:p>
          <a:p xmlns:a="http://schemas.openxmlformats.org/drawingml/2006/main">
            <a:r>
              <a:t>- **Énfasis/error frecuente:** Varias entradas pueden compartir una salida; lo prohibido es una entrada con dos salidas.</a:t>
            </a:r>
          </a:p>
          <a:p xmlns:a="http://schemas.openxmlformats.org/drawingml/2006/main">
            <a:r>
              <a:t>- **Transición:** “Una relación puede verse como tabla, ecuación o gráfico”.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sec:u1-funciones; PDF p.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 misma relación puede representarse de varias maneras.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Diagrama que etiqueta x como entrada, f como regla e y como salida, con un dominio indicado.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el mismo par en los tres registros. Preguntar qué muestra cada uno mejor.</a:t>
            </a:r>
          </a:p>
          <a:p xmlns:a="http://schemas.openxmlformats.org/drawingml/2006/main">
            <a:r>
              <a:t>- **Pregunta y respuesta esperada:** Tabla: valores concretos; ecuación: regla; gráfico: patrón y pendiente.</a:t>
            </a:r>
          </a:p>
          <a:p xmlns:a="http://schemas.openxmlformats.org/drawingml/2006/main">
            <a:r>
              <a:t>- **Énfasis/error frecuente:** Los ejes necesitan magnitud y unidad.</a:t>
            </a:r>
          </a:p>
          <a:p xmlns:a="http://schemas.openxmlformats.org/drawingml/2006/main">
            <a:r>
              <a:t>- **Transición:** “Interpretemos el modelo dentro de su dominio físico”.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sec:u1-funciones;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Interpretemos el gráfico dentro de un problema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Una tabla, la ecuación d de t igual a 4t y una recta representan los mismos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Recorrer puntos del gráfico y verbalizar “4 metros cada segundo”. Explicar `t≥0` como condición del problema, no de toda recta matemática.</a:t>
            </a:r>
          </a:p>
          <a:p xmlns:a="http://schemas.openxmlformats.org/drawingml/2006/main">
            <a:r>
              <a:t>- **Pregunta y respuesta esperada:** A los 5 s, `d=20 m`; la pendiente tiene unidad m/s.</a:t>
            </a:r>
          </a:p>
          <a:p xmlns:a="http://schemas.openxmlformats.org/drawingml/2006/main">
            <a:r>
              <a:t>- **Énfasis/error frecuente:** No extender automáticamente el modelo a tiempos negativos o rapidez variable.</a:t>
            </a:r>
          </a:p>
          <a:p xmlns:a="http://schemas.openxmlformats.org/drawingml/2006/main">
            <a:r>
              <a:t>- **Transición:** “El dominio también determina si podemos invertir una relación”.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sec:u1-funciones; PDF pp. 20–21.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 fórmula sola no decide qué entradas tienen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Gráfico lineal de distancia en metros frente a tiempo en segundos para rapidez constante.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el contraejemplo de `x²` solo como diagrama de correspondencias, sin abrir álgebra adicional. Mostrar que restringir a entradas no negativas elimina ambigüedad.</a:t>
            </a:r>
          </a:p>
          <a:p xmlns:a="http://schemas.openxmlformats.org/drawingml/2006/main">
            <a:r>
              <a:t>- **Pregunta y respuesta esperada:** Si `−2` y `+2` producen `4`, la salida 4 no identifica una única entrada.</a:t>
            </a:r>
          </a:p>
          <a:p xmlns:a="http://schemas.openxmlformats.org/drawingml/2006/main">
            <a:r>
              <a:t>- **Énfasis/error frecuente:** No toda función tiene inversa en cualquier dominio.</a:t>
            </a:r>
          </a:p>
          <a:p xmlns:a="http://schemas.openxmlformats.org/drawingml/2006/main">
            <a:r>
              <a:t>- **Transición:** “Volvamos al modelo donde la correspondencia sí es única”.</a:t>
            </a:r>
          </a:p>
          <a:p xmlns:a="http://schemas.openxmlformats.org/drawingml/2006/main">
            <a:r>
              <a:t>- **Duración:** 4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sec:u1-funcion-inversa;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Formulemos la pregunta inversa del modelo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diagrama unívoco se compara con otro donde dos entradas producen la misma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al grupo que formule las preguntas directa e inversa sin símbolos. Luego señalar cómo cambian las unidades de entrada y salida.</a:t>
            </a:r>
          </a:p>
          <a:p xmlns:a="http://schemas.openxmlformats.org/drawingml/2006/main">
            <a:r>
              <a:t>- **Pregunta y respuesta esperada:** Directa: tiempo→distancia. Inversa: distancia→tiempo.</a:t>
            </a:r>
          </a:p>
          <a:p xmlns:a="http://schemas.openxmlformats.org/drawingml/2006/main">
            <a:r>
              <a:t>- **Énfasis/error frecuente:** La inversa depende de una correspondencia única.</a:t>
            </a:r>
          </a:p>
          <a:p xmlns:a="http://schemas.openxmlformats.org/drawingml/2006/main">
            <a:r>
              <a:t>- **Transición:** “Ahora escribimos la misma inversión como despeje”.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sec:u1-funcion-inversa; PDF p.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Escribamos esa inversión en símbolos.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El tiempo entra y la distancia sale en la función directa; en la inversa, la distancia entra y el tiempo sale.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Despejar `t` paso a paso y verificar dimensiones. Relacionar con U01-028.</a:t>
            </a:r>
          </a:p>
          <a:p xmlns:a="http://schemas.openxmlformats.org/drawingml/2006/main">
            <a:r>
              <a:t>- **Pregunta y respuesta esperada:** Dividir distancia por rapidez produce segundos y recupera el tiempo.</a:t>
            </a:r>
          </a:p>
          <a:p xmlns:a="http://schemas.openxmlformats.org/drawingml/2006/main">
            <a:r>
              <a:t>- **Énfasis/error frecuente:** El superíndice `−1` en `f⁻¹` no indica recíproco.</a:t>
            </a:r>
          </a:p>
          <a:p xmlns:a="http://schemas.openxmlformats.org/drawingml/2006/main">
            <a:r>
              <a:t>- **Transición:** “Un ejemplo de ida y vuelta permite comprobarlo”.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sec:u1-funcion-inversa; PDF p. 21; INV E08.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Probemos un recorrido de ida y vuelta.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cajas muestran d de t igual a c por t y t de d igual a d dividido c, conectadas en sentidos opuestos.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los dos caminos y luego componerlos. Hacer que el grupo compare las unidades de entrada y salida.</a:t>
            </a:r>
          </a:p>
          <a:p xmlns:a="http://schemas.openxmlformats.org/drawingml/2006/main">
            <a:r>
              <a:t>- **Pregunta y respuesta esperada:** `t=3 s` produce `d=12 m`; `d=20 m` produce `t=5 s`.</a:t>
            </a:r>
          </a:p>
          <a:p xmlns:a="http://schemas.openxmlformats.org/drawingml/2006/main">
            <a:r>
              <a:t>- **Énfasis/error frecuente:** La comprobación debe recuperar el dato inicial, no solo producir un número plausible.</a:t>
            </a:r>
          </a:p>
          <a:p xmlns:a="http://schemas.openxmlformats.org/drawingml/2006/main">
            <a:r>
              <a:t>- **Transición:** “Ahora enfrentemos la confusión de notación”.</a:t>
            </a:r>
          </a:p>
          <a:p xmlns:a="http://schemas.openxmlformats.org/drawingml/2006/main">
            <a:r>
              <a:t>- **Duración:** 4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sec:u1-ejemplo-inversa; TEX ejercicios NA2.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 notación de inversa puede confundirse con otra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caminos calculan distancia desde tiempo y tiempo desde distancia, con resultados 12 metros y 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Comparar significado antes que símbolos. Evaluar ambas expresiones en `x=4` si hace falta: inversa `2`, recíproco `1/8`.</a:t>
            </a:r>
          </a:p>
          <a:p xmlns:a="http://schemas.openxmlformats.org/drawingml/2006/main">
            <a:r>
              <a:t>- **Pregunta y respuesta esperada:** La inversa deshace `×2` mediante `÷2`; el recíproco calcula 1 dividido por la salida.</a:t>
            </a:r>
          </a:p>
          <a:p xmlns:a="http://schemas.openxmlformats.org/drawingml/2006/main">
            <a:r>
              <a:t>- **Énfasis/error frecuente:** Señalar la restricción `x≠0` del recíproco.</a:t>
            </a:r>
          </a:p>
          <a:p xmlns:a="http://schemas.openxmlformats.org/drawingml/2006/main">
            <a:r>
              <a:t>- **Transición:** “Para describir ciclos necesitaremos seno y coseno”.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sec:u1-funcion-inversa; TEX ejercicios D4; DEP.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Las ondas necesitarán otra familia de funciones: las trigonométricas.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Comparación entre función inversa x sobre 2 y recíproco 1 sobre 2x.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el propósito futuro sin presentar una onda. El triángulo permite definir razones; el círculo permite extenderlas a giros.</a:t>
            </a:r>
          </a:p>
          <a:p xmlns:a="http://schemas.openxmlformats.org/drawingml/2006/main">
            <a:r>
              <a:t>- **Pregunta y respuesta esperada:** “¿Dónde aparecen ciclos en acústica?” Oscilaciones y señales periódicas, que se desarrollarán en U3.</a:t>
            </a:r>
          </a:p>
          <a:p xmlns:a="http://schemas.openxmlformats.org/drawingml/2006/main">
            <a:r>
              <a:t>- **Énfasis/error frecuente:** No saturar con identidades trigonométricas.</a:t>
            </a:r>
          </a:p>
          <a:p xmlns:a="http://schemas.openxmlformats.org/drawingml/2006/main">
            <a:r>
              <a:t>- **Transición:** “Primero debemos ubicar correctamente los lados”.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sec:u1-trigonometria; DEP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Todo comienza por elegir un ángulo de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triángulo rectángulo se conecta visualmente con un círculo.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hipotenusa, opuesto y adyacente en ese orden. Cambiar el ángulo de referencia y mostrar qué etiquetas cambian.</a:t>
            </a:r>
          </a:p>
          <a:p xmlns:a="http://schemas.openxmlformats.org/drawingml/2006/main">
            <a:r>
              <a:t>- **Pregunta y respuesta esperada:** La hipotenusa permanece; opuesto y adyacente se intercambian.</a:t>
            </a:r>
          </a:p>
          <a:p xmlns:a="http://schemas.openxmlformats.org/drawingml/2006/main">
            <a:r>
              <a:t>- **Énfasis/error frecuente:** El lado que toca `θ` puede ser hipotenusa; por eso la definición de adyacente la excluye.</a:t>
            </a:r>
          </a:p>
          <a:p xmlns:a="http://schemas.openxmlformats.org/drawingml/2006/main">
            <a:r>
              <a:t>- **Transición:** “Ahora comparemos esos lados mediante razones”.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sec:u1-trigonometria; PDF p.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Con los lados identificados, podemos compararlos.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Triángulo rectángulo con theta y sus lados hipotenusa, opuesto y adyacente correctamente rotulados.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un resaltado por razón. Explicar la cancelación de unidades con longitudes expresadas ambas en centímetros.</a:t>
            </a:r>
          </a:p>
          <a:p xmlns:a="http://schemas.openxmlformats.org/drawingml/2006/main">
            <a:r>
              <a:t>- **Pregunta y respuesta esperada:** Seno usa opuesto/hipotenusa; coseno adyacente/hipotenusa; tangente opuesto/adyacente.</a:t>
            </a:r>
          </a:p>
          <a:p xmlns:a="http://schemas.openxmlformats.org/drawingml/2006/main">
            <a:r>
              <a:t>- **Énfasis/error frecuente:** No memorizar una sigla sin identificar lados.</a:t>
            </a:r>
          </a:p>
          <a:p xmlns:a="http://schemas.openxmlformats.org/drawingml/2006/main">
            <a:r>
              <a:t>- **Transición:** “El triángulo 3–4–5 permite calcular sin calculadora”.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sec:u1-trigonometria; INV E13–E15.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Apliquemos las tres razones a un triángulo conocido.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 mismo triángulo muestra qué lados forman seno, coseno y tangente.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Verificar primero Pitágoras. Pedir predicción de seno versus coseno mirando los lados. Calcular y remarcar ausencia de unidad.</a:t>
            </a:r>
          </a:p>
          <a:p xmlns:a="http://schemas.openxmlformats.org/drawingml/2006/main">
            <a:r>
              <a:t>- **Pregunta y respuesta esperada:** Coseno es mayor porque el adyacente 4 supera al opuesto 3.</a:t>
            </a:r>
          </a:p>
          <a:p xmlns:a="http://schemas.openxmlformats.org/drawingml/2006/main">
            <a:r>
              <a:t>- **Énfasis/error frecuente:** La razón no tiene unidad si ambos lados usan unidades compatibles.</a:t>
            </a:r>
          </a:p>
          <a:p xmlns:a="http://schemas.openxmlformats.org/drawingml/2006/main">
            <a:r>
              <a:t>- **Transición:** “En un problema real, la primera decisión es elegir la razón”.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NA4; PDF ejercicios.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Ahora el desafío es elegir la razón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Triángulo rectángulo 3–4–5 con theta y cálculos de seno, coseno y tangente.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90 segundos. Pedir que nombren conocido e incógnita. La razón adecuada es seno si intervienen opuesto e hipotenusa.</a:t>
            </a:r>
          </a:p>
          <a:p xmlns:a="http://schemas.openxmlformats.org/drawingml/2006/main">
            <a:r>
              <a:t>- **Pregunta y respuesta esperada:** Seno, porque contiene el lado opuesto buscado y la hipotenusa conocida.</a:t>
            </a:r>
          </a:p>
          <a:p xmlns:a="http://schemas.openxmlformats.org/drawingml/2006/main">
            <a:r>
              <a:t>- **Énfasis/error frecuente:** No elegir por cercanía visual del botón en la calculadora.</a:t>
            </a:r>
          </a:p>
          <a:p xmlns:a="http://schemas.openxmlformats.org/drawingml/2006/main">
            <a:r>
              <a:t>- **Transición:** “El círculo permite extender estas relaciones a una vuelta”.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sec:u1-trigonometria;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Del triángulo pasaremos a una vuelta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Triángulo rectángulo con hipotenusa y adyacente conocidos, lado opuesto oculto y tres opciones trigonométricas.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Trazar primero 225° y luego sumar una vuelta. Explicar orientación final frente a recorrido acumulado.</a:t>
            </a:r>
          </a:p>
          <a:p xmlns:a="http://schemas.openxmlformats.org/drawingml/2006/main">
            <a:r>
              <a:t>- **Pregunta y respuesta esperada:** Terminan en la misma dirección; 585° incluye 360° adicionales.</a:t>
            </a:r>
          </a:p>
          <a:p xmlns:a="http://schemas.openxmlformats.org/drawingml/2006/main">
            <a:r>
              <a:t>- **Énfasis/error frecuente:** Coterminal no significa igual como número de giro acumulado.</a:t>
            </a:r>
          </a:p>
          <a:p xmlns:a="http://schemas.openxmlformats.org/drawingml/2006/main">
            <a:r>
              <a:t>- **Transición:** “Expresemos la vuelta en una medida natural de arco”.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sec:u1-trigonometria; TEX ejercicios NA5.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Una vuelta también puede medirse en radianes.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recorridos circulares terminan en la misma orientación; uno da una vuelta más.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`90°=π/2`, `180°=π`, `225°=5π/4`. Hacer visible el factor `π/180°`.</a:t>
            </a:r>
          </a:p>
          <a:p xmlns:a="http://schemas.openxmlformats.org/drawingml/2006/main">
            <a:r>
              <a:t>- **Pregunta y respuesta esperada:** La unidad grado se cancela y queda rad.</a:t>
            </a:r>
          </a:p>
          <a:p xmlns:a="http://schemas.openxmlformats.org/drawingml/2006/main">
            <a:r>
              <a:t>- **Énfasis/error frecuente:** No mezclar grados y radianes en una misma sustitución sin convertir.</a:t>
            </a:r>
          </a:p>
          <a:p xmlns:a="http://schemas.openxmlformats.org/drawingml/2006/main">
            <a:r>
              <a:t>- **Transición:** “En el círculo unitario, el ángulo determina coordenadas”.</a:t>
            </a:r>
          </a:p>
          <a:p xmlns:a="http://schemas.openxmlformats.org/drawingml/2006/main">
            <a:r>
              <a:t>- **Duración:** 4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sec:u1-trigonometria; TEX ejercicios NA5.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El círculo unitario conecta ángulo y coordenadas.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Arco circular con marcas de grados y radianes y tres conversiones incompletas.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Mover el radio y seguir sus proyecciones. Señalar los signos por cuadrante. Relacionar `2π` con una vuelta.</a:t>
            </a:r>
          </a:p>
          <a:p xmlns:a="http://schemas.openxmlformats.org/drawingml/2006/main">
            <a:r>
              <a:t>- **Pregunta y respuesta esperada:** Coordenada horizontal: coseno; vertical: seno.</a:t>
            </a:r>
          </a:p>
          <a:p xmlns:a="http://schemas.openxmlformats.org/drawingml/2006/main">
            <a:r>
              <a:t>- **Énfasis/error frecuente:** El radián es adimensional, pero se conserva el rótulo para claridad angular.</a:t>
            </a:r>
          </a:p>
          <a:p xmlns:a="http://schemas.openxmlformats.org/drawingml/2006/main">
            <a:r>
              <a:t>- **Transición:** “Recapitulemos cómo una razón se convierte en coordenada cíclica”.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sec:u1-trigonometria; PDF p. 22;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Recapitulemos el recorrido desde cocientes hasta ciclos.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Círculo unitario con ángulo theta, arco y proyecciones horizontal coseno y vertical seno.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una frase para cada flecha del visual. Explicar que el trazo senoidal es solo un anticipo.</a:t>
            </a:r>
          </a:p>
          <a:p xmlns:a="http://schemas.openxmlformats.org/drawingml/2006/main">
            <a:r>
              <a:t>- **Pregunta y respuesta esperada:** La idea que permanece es la razón/proyección; cambia la representación y el rango angular.</a:t>
            </a:r>
          </a:p>
          <a:p xmlns:a="http://schemas.openxmlformats.org/drawingml/2006/main">
            <a:r>
              <a:t>- **Énfasis/error frecuente:** No introducir aún frecuencia angular, fase o ecuación senoidal.</a:t>
            </a:r>
          </a:p>
          <a:p xmlns:a="http://schemas.openxmlformats.org/drawingml/2006/main">
            <a:r>
              <a:t>- **Transición:** “Pasemos de cambios aditivos a cambios multiplicativos”.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sec:u1-sintesis; DEP U3.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Ahora necesitamos describir cambios por factores, no solo por sumas.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Secuencia visual desde un triángulo rectángulo hasta un círculo unitario y una curva senoidal.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Comparar 1, 10, 100 y 1000. Hacer que digan “por diez” entre términos.</a:t>
            </a:r>
          </a:p>
          <a:p xmlns:a="http://schemas.openxmlformats.org/drawingml/2006/main">
            <a:r>
              <a:t>- **Pregunta y respuesta esperada:** El factor es constante, la diferencia no.</a:t>
            </a:r>
          </a:p>
          <a:p xmlns:a="http://schemas.openxmlformats.org/drawingml/2006/main">
            <a:r>
              <a:t>- **Énfasis/error frecuente:** No presentar logaritmos como un truco de calculadora.</a:t>
            </a:r>
          </a:p>
          <a:p xmlns:a="http://schemas.openxmlformats.org/drawingml/2006/main">
            <a:r>
              <a:t>- **Transición:** “Si hace falta, recuperamos las potencias de diez”.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sec:u1-exponencial.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Recuperemos potencias si el grupo lo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Los números 1, 10, 100 y 1000 aparecen conectados por multiplicaciones por diez.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la tabla visible. Pedir que traduzcan exponentes positivos y negativos.</a:t>
            </a:r>
          </a:p>
          <a:p xmlns:a="http://schemas.openxmlformats.org/drawingml/2006/main">
            <a:r>
              <a:t>- **Pregunta y respuesta esperada:** `10⁴=10000`; `10⁻⁴=0,0001`; `100=10²`.</a:t>
            </a:r>
          </a:p>
          <a:p xmlns:a="http://schemas.openxmlformats.org/drawingml/2006/main">
            <a:r>
              <a:t>- **Énfasis/error frecuente:** `10⁰=1`, no 0.</a:t>
            </a:r>
          </a:p>
          <a:p xmlns:a="http://schemas.openxmlformats.org/drawingml/2006/main">
            <a:r>
              <a:t>- **Transición:** “Una función exponencial convierte exponentes en resultados”.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sec:u1-exponencial;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Una función exponencial organiza estos factores.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desde diez a la menos tres hasta diez a la tres con sus valores decimales.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pares en tabla y curva. Contrastar agregar 1 a `x` con multiplicar por 10 la salida.</a:t>
            </a:r>
          </a:p>
          <a:p xmlns:a="http://schemas.openxmlformats.org/drawingml/2006/main">
            <a:r>
              <a:t>- **Pregunta y respuesta esperada:** De `x=1` a `x=2`, `y` pasa de 10 a 100: factor 10.</a:t>
            </a:r>
          </a:p>
          <a:p xmlns:a="http://schemas.openxmlformats.org/drawingml/2006/main">
            <a:r>
              <a:t>- **Énfasis/error frecuente:** La curva no cruza el eje horizontal para esta base positiva.</a:t>
            </a:r>
          </a:p>
          <a:p xmlns:a="http://schemas.openxmlformats.org/drawingml/2006/main">
            <a:r>
              <a:t>- **Transición:** “La base decide si la curva crece o decrece”.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sec:u1-exponencial; PDF p. 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 base determina crecimiento o decaimiento.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de pares y curva creciente para y igual a diez elevado a 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Comparar las curvas usando la misma escala. Mostrar que ambas pasan por `(0,1)`.</a:t>
            </a:r>
          </a:p>
          <a:p xmlns:a="http://schemas.openxmlformats.org/drawingml/2006/main">
            <a:r>
              <a:t>- **Pregunta y respuesta esperada:** `2ˣ` crece; `(1/2)ˣ` decrece.</a:t>
            </a:r>
          </a:p>
          <a:p xmlns:a="http://schemas.openxmlformats.org/drawingml/2006/main">
            <a:r>
              <a:t>- **Énfasis/error frecuente:** Una base negativa queda fuera de la definición introductoria usada.</a:t>
            </a:r>
          </a:p>
          <a:p xmlns:a="http://schemas.openxmlformats.org/drawingml/2006/main">
            <a:r>
              <a:t>- **Transición:** “Ahora invirtamos la pregunta: ¿qué exponente produjo este valor?”.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sec:u1-exponencial;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¿Qué exponente produce una salida conocida?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Una curva exponencial creciente se compara con otra decreciente.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Hacer leer ambas expresiones con palabras. Variar ejemplos: `10²=100`, luego `log₁₀(100)=2`.</a:t>
            </a:r>
          </a:p>
          <a:p xmlns:a="http://schemas.openxmlformats.org/drawingml/2006/main">
            <a:r>
              <a:t>- **Pregunta y respuesta esperada:** El logaritmo devuelve el exponente.</a:t>
            </a:r>
          </a:p>
          <a:p xmlns:a="http://schemas.openxmlformats.org/drawingml/2006/main">
            <a:r>
              <a:t>- **Énfasis/error frecuente:** `log₁₀(1000)` no significa dividir 1000 por 10.</a:t>
            </a:r>
          </a:p>
          <a:p xmlns:a="http://schemas.openxmlformats.org/drawingml/2006/main">
            <a:r>
              <a:t>- **Transición:** “Las gráficas muestran este intercambio de entradas y salidas”.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 p. 3; TEX sec:u1-logaritmos; PDF p. 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Las gráficas también muestran la inversión.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La igualdad diez al cubo igual a mil se conecta con logaritmo base diez de mil igual a tres.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Marcar un punto de la exponencial, intercambiar coordenadas y ubicarlo en el logaritmo. Señalar el dominio positivo.</a:t>
            </a:r>
          </a:p>
          <a:p xmlns:a="http://schemas.openxmlformats.org/drawingml/2006/main">
            <a:r>
              <a:t>- **Pregunta y respuesta esperada:** `(1,10)` se corresponde con `(10,1)`.</a:t>
            </a:r>
          </a:p>
          <a:p xmlns:a="http://schemas.openxmlformats.org/drawingml/2006/main">
            <a:r>
              <a:t>- **Énfasis/error frecuente:** No graficar `log₁₀(x)` para `x≤0` en los reales.</a:t>
            </a:r>
          </a:p>
          <a:p xmlns:a="http://schemas.openxmlformats.org/drawingml/2006/main">
            <a:r>
              <a:t>- **Transición:** “En física, el argumento del logaritmo también debe estar bien construido”.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sec:u1-logaritmos;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En una expresión física, además importa qué puede entrar al logaritmo.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Curvas exponencial y logarítmica reflejadas respecto de la recta y igual a 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que una razón entre magnitudes compatibles cancela unidades. Mantener `p₀` como referencia genérica.</a:t>
            </a:r>
          </a:p>
          <a:p xmlns:a="http://schemas.openxmlformats.org/drawingml/2006/main">
            <a:r>
              <a:t>- **Pregunta y respuesta esperada:** `p/p₀` es adimensional si ambas presiones usan unidades compatibles.</a:t>
            </a:r>
          </a:p>
          <a:p xmlns:a="http://schemas.openxmlformats.org/drawingml/2006/main">
            <a:r>
              <a:t>- **Énfasis/error frecuente:** No formalizar aquí nivel de presión sonora ni introducir `20 log`.</a:t>
            </a:r>
          </a:p>
          <a:p xmlns:a="http://schemas.openxmlformats.org/drawingml/2006/main">
            <a:r>
              <a:t>- **Transición:** “Veamos cómo una escala logarítmica distribuye razones”.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sec:u1-logaritmos; TEX sec:u1-decibel;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Las escalas logarítmicas hacen visibles las razones.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La expresión logaritmo de pascales aparece como incorrecta y logaritmo de una razón compatible como correcta.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Pedir que ubiquen 10, 100 y 1000 en ambos ejes. Explicar diferencia constante frente a factor constante.</a:t>
            </a:r>
          </a:p>
          <a:p xmlns:a="http://schemas.openxmlformats.org/drawingml/2006/main">
            <a:r>
              <a:t>- **Pregunta y respuesta esperada:** En el eje logarítmico los factores ×10 tienen igual separación.</a:t>
            </a:r>
          </a:p>
          <a:p xmlns:a="http://schemas.openxmlformats.org/drawingml/2006/main">
            <a:r>
              <a:t>- **Énfasis/error frecuente:** Escala logarítmica no significa automáticamente percepción logarítmica.</a:t>
            </a:r>
          </a:p>
          <a:p xmlns:a="http://schemas.openxmlformats.org/drawingml/2006/main">
            <a:r>
              <a:t>- **Transición:** “El decibel expresa una razón mediante un logaritmo”.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sec:u1-decibel; PDF p. 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El decibel usa un logaritmo para expresar una comparación.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Los mismos cuatro valores aparecen comprimidos en un eje lineal y espaciados uniformemente en un eje logarítmico.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la ecuación por partes. Definir `Q`, `Q₀`, razón y nivel. Señalar el alcance: magnitudes de tipo potencia.</a:t>
            </a:r>
          </a:p>
          <a:p xmlns:a="http://schemas.openxmlformats.org/drawingml/2006/main">
            <a:r>
              <a:t>- **Pregunta y respuesta esperada:** Para interpretar el nivel hacen falta magnitud, referencia y condiciones.</a:t>
            </a:r>
          </a:p>
          <a:p xmlns:a="http://schemas.openxmlformats.org/drawingml/2006/main">
            <a:r>
              <a:t>- **Énfasis/error frecuente:** No generalizar el factor 10 a toda variable acústica.</a:t>
            </a:r>
          </a:p>
          <a:p xmlns:a="http://schemas.openxmlformats.org/drawingml/2006/main">
            <a:r>
              <a:t>- **Transición:** “Usemos una razón cuyo logaritmo conocemos”.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sec:u1-decibel; PDF pp. 23–24;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Calculemos una razón sencilla.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Fórmula del nivel como diez por logaritmo base diez de una razón, con la referencia destacada.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Resolver `log₁₀(100)=2`, multiplicar por 10 y leer “20 dB respecto de Q₀”. Volver a preguntar qué falta.</a:t>
            </a:r>
          </a:p>
          <a:p xmlns:a="http://schemas.openxmlformats.org/drawingml/2006/main">
            <a:r>
              <a:t>- **Pregunta y respuesta esperada:** Falta saber qué son `Q` y `Q₀`; “20 dB” solo está incompleto.</a:t>
            </a:r>
          </a:p>
          <a:p xmlns:a="http://schemas.openxmlformats.org/drawingml/2006/main">
            <a:r>
              <a:t>- **Énfasis/error frecuente:** No añadir SPL, HL o SL sin fundamento.</a:t>
            </a:r>
          </a:p>
          <a:p xmlns:a="http://schemas.openxmlformats.org/drawingml/2006/main">
            <a:r>
              <a:t>- **Transición:** “Un nivel físico tampoco describe por sí solo una experiencia”.</a:t>
            </a:r>
          </a:p>
          <a:p xmlns:a="http://schemas.openxmlformats.org/drawingml/2006/main">
            <a:r>
              <a:t>- **Duración:** 4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sec:u1-decibel; TEX ejercicios NA6/D3.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Una comparación física tampoco equivale directamente a una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Gráfico logarítmico conecta razones 1, 10, 100 y 1000 con niveles 0, 10, 20 y 30 decibeles.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Recuperar las respuestas espontáneas de U01-002 y ubicarlas en cuatro capas. Señalar que “relacionado” no significa “equivalente”.</a:t>
            </a:r>
          </a:p>
          <a:p xmlns:a="http://schemas.openxmlformats.org/drawingml/2006/main">
            <a:r>
              <a:t>- **Pregunta y respuesta esperada:** Una señal medida pertenece a lo físico; lo escuchado, a lo perceptual; el diagnóstico requiere más evidencia.</a:t>
            </a:r>
          </a:p>
          <a:p xmlns:a="http://schemas.openxmlformats.org/drawingml/2006/main">
            <a:r>
              <a:t>- **Énfasis/error frecuente:** Evitar una flecha causal simple.</a:t>
            </a:r>
          </a:p>
          <a:p xmlns:a="http://schemas.openxmlformats.org/drawingml/2006/main">
            <a:r>
              <a:t>- **Transición:** “Definamos las cuatro categorías”.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sec:u1-fisico-perceptual;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Definamos cada nivel de descripción.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Cuatro capas distinguen medición física, nivel referido, percepción y conclusión clínica.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Leer un ejemplo por columna y nombrar el procedimiento que lo produce. La respuesta “detectado” es conductual, no unidad física.</a:t>
            </a:r>
          </a:p>
          <a:p xmlns:a="http://schemas.openxmlformats.org/drawingml/2006/main">
            <a:r>
              <a:t>- **Pregunta y respuesta esperada:** `1000 Hz`: medición física; `35 dB HL`: nivel referido; “agudo”: perceptual; “detectado”: respuesta.</a:t>
            </a:r>
          </a:p>
          <a:p xmlns:a="http://schemas.openxmlformats.org/drawingml/2006/main">
            <a:r>
              <a:t>- **Énfasis/error frecuente:** No convertir la matriz en una secuencia diagnóstica automática.</a:t>
            </a:r>
          </a:p>
          <a:p xmlns:a="http://schemas.openxmlformats.org/drawingml/2006/main">
            <a:r>
              <a:t>- **Transición:** “Apliquemos el criterio a frecuencia y altura tonal”.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sec:u1-fisico-perceptual; PDF p. 24; INV C39–C45.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Apliquemos la distinción a pares que suelen confundirse.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Matriz con ejemplos de medición física, nivel referido, atributo perceptual y respuesta.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Definir frecuencia en ciclos por segundo y altura tonal como orden perceptual grave–agudo. Mencionar otras condiciones sin desarrollarlas.</a:t>
            </a:r>
          </a:p>
          <a:p xmlns:a="http://schemas.openxmlformats.org/drawingml/2006/main">
            <a:r>
              <a:t>- **Pregunta y respuesta esperada:** “200 Hz” es un dato físico; “grave” es una descripción perceptual.</a:t>
            </a:r>
          </a:p>
          <a:p xmlns:a="http://schemas.openxmlformats.org/drawingml/2006/main">
            <a:r>
              <a:t>- **Énfasis/error frecuente:** Relación frecuente no implica identidad.</a:t>
            </a:r>
          </a:p>
          <a:p xmlns:a="http://schemas.openxmlformats.org/drawingml/2006/main">
            <a:r>
              <a:t>- **Transición:** “La amplitud también suele confundirse con una experiencia”.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sec:u1-fisico-perceptual; TEX sec:u1-errores; DEP U7.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La misma distinción aparece entre amplitud y sonoridad.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La frecuencia física en hertz se compara con la altura tonal percibida sin presentarlas como equivalentes.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Clasificar los tres ejemplos. Explicar que “volumen” puede nombrar informalmente un control, pero no una magnitud física única.</a:t>
            </a:r>
          </a:p>
          <a:p xmlns:a="http://schemas.openxmlformats.org/drawingml/2006/main">
            <a:r>
              <a:t>- **Pregunta y respuesta esperada:** Forma de onda: amplitud; “se oye fuerte”: sonoridad; posición 7: ajuste técnico.</a:t>
            </a:r>
          </a:p>
          <a:p xmlns:a="http://schemas.openxmlformats.org/drawingml/2006/main">
            <a:r>
              <a:t>- **Énfasis/error frecuente:** No inferir sonoridad solo desde amplitud digital.</a:t>
            </a:r>
          </a:p>
          <a:p xmlns:a="http://schemas.openxmlformats.org/drawingml/2006/main">
            <a:r>
              <a:t>- **Transición:** “Espectro y timbre presentan un límite parecido”.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sec:u1-fisico-perceptual; PDF p. 24; TEX sec:u1-errores.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Otro par importante aparece entre espectro y timbre.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paneles distinguen amplitud de una señal, sonoridad percibida y posición de un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los espectros como datos sintéticos. Explicar que el timbre también depende de evolución temporal y otras propiedades, sin introducir Fourier.</a:t>
            </a:r>
          </a:p>
          <a:p xmlns:a="http://schemas.openxmlformats.org/drawingml/2006/main">
            <a:r>
              <a:t>- **Pregunta y respuesta esperada:** Podemos afirmar que las distribuciones físicas difieren; no asignar una experiencia única.</a:t>
            </a:r>
          </a:p>
          <a:p xmlns:a="http://schemas.openxmlformats.org/drawingml/2006/main">
            <a:r>
              <a:t>- **Énfasis/error frecuente:** No etiquetar los espectros como voces o instrumentos reales.</a:t>
            </a:r>
          </a:p>
          <a:p xmlns:a="http://schemas.openxmlformats.org/drawingml/2006/main">
            <a:r>
              <a:t>- **Transición:** “En una app de voz, incluso el eje vertical puede carecer de unidad física”.</a:t>
            </a:r>
          </a:p>
          <a:p xmlns:a="http://schemas.openxmlformats.org/drawingml/2006/main">
            <a:r>
              <a:t>- **Duración:** 3 min si se selecciona.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sec:u1-fisico-perceptual; MAP U5/U7.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Veamos qué puede informar una herramienta cotidiana de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Dos espectros sintéticos distintos se presentan sin afirmar una correspondencia perceptual única.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el eje “amplitud digital”. Explicar calibración como vínculo trazable con una entrada física conocida, sin enseñar procedimiento.</a:t>
            </a:r>
          </a:p>
          <a:p xmlns:a="http://schemas.openxmlformats.org/drawingml/2006/main">
            <a:r>
              <a:t>- **Pregunta y respuesta esperada:** Para expresar Pa faltan calibración, sensibilidad, ganancia y condiciones.</a:t>
            </a:r>
          </a:p>
          <a:p xmlns:a="http://schemas.openxmlformats.org/drawingml/2006/main">
            <a:r>
              <a:t>- **Énfasis/error frecuente:** Una curva más alta en pantalla no implica automáticamente mayor presión ni sonoridad.</a:t>
            </a:r>
          </a:p>
          <a:p xmlns:a="http://schemas.openxmlformats.org/drawingml/2006/main">
            <a:r>
              <a:t>- **Transición:** “Una pantalla audiométrica combina todavía más categorías”.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F1; TEX sec:u1-relacion-fono.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Una pantalla audiométrica también combina categorías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Interfaz sintética de grabación con eje de amplitud digital y una advertencia sobre ausencia de calibración.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Revelar frecuencia, nivel y respuesta por separado. Explicar que dB HL incorpora una referencia audiométrica específica.</a:t>
            </a:r>
          </a:p>
          <a:p xmlns:a="http://schemas.openxmlformats.org/drawingml/2006/main">
            <a:r>
              <a:t>- **Pregunta y respuesta esperada:** `1000 Hz`: magnitud; `35 dB HL`: nivel referido; “detectado”: respuesta conductual.</a:t>
            </a:r>
          </a:p>
          <a:p xmlns:a="http://schemas.openxmlformats.org/drawingml/2006/main">
            <a:r>
              <a:t>- **Énfasis/error frecuente:** No convertir dB HL a dB SPL sin datos de calibración, frecuencia y transductor.</a:t>
            </a:r>
          </a:p>
          <a:p xmlns:a="http://schemas.openxmlformats.org/drawingml/2006/main">
            <a:r>
              <a:t>- **Transición:** “Volvamos al modelo fuente–medio–receptor en una cadena de verificación”.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F2; ISO 389-1 e ISO 8253-1 citadas en 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Apliquemos fuente–medio–receptor a una cadena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Pantalla audiométrica conceptual resalta frecuencia, nivel de audición y respuesta detectada como categorías distintas.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Recorrer la cadena y preguntar qué mide el micrófono. Diferenciar verificación electroacústica de evaluación de una persona.</a:t>
            </a:r>
          </a:p>
          <a:p xmlns:a="http://schemas.openxmlformats.org/drawingml/2006/main">
            <a:r>
              <a:t>- **Pregunta y respuesta esperada:** El micrófono es receptor instrumental y produce un dato de señal recibida bajo condiciones.</a:t>
            </a:r>
          </a:p>
          <a:p xmlns:a="http://schemas.openxmlformats.org/drawingml/2006/main">
            <a:r>
              <a:t>- **Énfasis/error frecuente:** Un resultado instrumental aislado no es diagnóstico.</a:t>
            </a:r>
          </a:p>
          <a:p xmlns:a="http://schemas.openxmlformats.org/drawingml/2006/main">
            <a:r>
              <a:t>- **Transición:** “Convirtamos estos ejemplos en un criterio general”.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F3; TEX sec:u1-alcance.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Convirtamos estas distinciones en un criterio general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Cadena de señal de prueba, parlante, aire, micrófono y dato, con un límite sobre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Dar seis elementos para clasificar. Luego pedir una frase de límite por pareja.</a:t>
            </a:r>
          </a:p>
          <a:p xmlns:a="http://schemas.openxmlformats.org/drawingml/2006/main">
            <a:r>
              <a:t>- **Pregunta y respuesta esperada:** Toda interpretación debe indicar categoría, referencia, condiciones y qué no puede concluirse.</a:t>
            </a:r>
          </a:p>
          <a:p xmlns:a="http://schemas.openxmlformats.org/drawingml/2006/main">
            <a:r>
              <a:t>- **Énfasis/error frecuente:** No aceptar respuestas clínicas sin evidencia adicional.</a:t>
            </a:r>
          </a:p>
          <a:p xmlns:a="http://schemas.openxmlformats.org/drawingml/2006/main">
            <a:r>
              <a:t>- **Transición:** “Ahora resolvemos la escena inicial como un sistema completo”.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sec:u1-sintesis;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Resolvamos el caso inicial con todas las herramientas disponibles.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Matriz para clasificar seis elementos y formular un límite de interpretación.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Formar grupos. Parte 1: voz como fuente, aire como medio, micrófono como receptor. Cálculos: `t=6,8/340=0,020 s`; `f=100/0,50=200 Hz`.</a:t>
            </a:r>
          </a:p>
          <a:p xmlns:a="http://schemas.openxmlformats.org/drawingml/2006/main">
            <a:r>
              <a:t>- **Pregunta y respuesta esperada:** Tiempo 20 ms; frecuencia 200 Hz; unidades visibles.</a:t>
            </a:r>
          </a:p>
          <a:p xmlns:a="http://schemas.openxmlformats.org/drawingml/2006/main">
            <a:r>
              <a:t>- **Énfasis/error frecuente:** No afirmar que 200 Hz determina por sí solo la altura tonal.</a:t>
            </a:r>
          </a:p>
          <a:p xmlns:a="http://schemas.openxmlformats.org/drawingml/2006/main">
            <a:r>
              <a:t>- **Transición:** “Agreguemos datos que exigen reconocer referencias y límites”.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I1.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Agreguemos una escala digital, una razón logarítmica y preguntas perceptuales.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Vocalización, aire y micrófono con datos de distancia, rapidez y número de ciclos para dos cálculos.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Calcular `20 dB` y separar afirmaciones. La amplitud digital no está calibrada; la razón sí permite un nivel relativo; la percepción y clínica requieren otros procedimientos.</a:t>
            </a:r>
          </a:p>
          <a:p xmlns:a="http://schemas.openxmlformats.org/drawingml/2006/main">
            <a:r>
              <a:t>- **Pregunta y respuesta esperada:** Se puede informar el cálculo bajo la referencia dada; no presión en Pa, pitch ni diagnóstico.</a:t>
            </a:r>
          </a:p>
          <a:p xmlns:a="http://schemas.openxmlformats.org/drawingml/2006/main">
            <a:r>
              <a:t>- **Énfasis/error frecuente:** Un cálculo correcto no amplía el alcance de los datos.</a:t>
            </a:r>
          </a:p>
          <a:p xmlns:a="http://schemas.openxmlformats.org/drawingml/2006/main">
            <a:r>
              <a:t>- **Transición:** “Comparemos estas respuestas con el diagnóstico inicial”.</a:t>
            </a:r>
          </a:p>
          <a:p xmlns:a="http://schemas.openxmlformats.org/drawingml/2006/main">
            <a:r>
              <a:t>- **Duración:**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ejercicios I1;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Compare sus respuestas con el diagnóstico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Cuatro tarjetas separan resultado numérico, referencia, experiencia perceptual y conclusión clínica.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Recorrer el mapa final y pedir una evidencia por nodo. Volver a U01-004 y solicitar autocorrección razonada.</a:t>
            </a:r>
          </a:p>
          <a:p xmlns:a="http://schemas.openxmlformats.org/drawingml/2006/main">
            <a:r>
              <a:t>- **Pregunta y respuesta esperada:** `d=2 m` separa componentes; peso en N; `d/c` produce tiempo; frecuencia y altura tonal no son sinónimos.</a:t>
            </a:r>
          </a:p>
          <a:p xmlns:a="http://schemas.openxmlformats.org/drawingml/2006/main">
            <a:r>
              <a:t>- **Énfasis/error frecuente:** Evitar leer la recapitulación como lista.</a:t>
            </a:r>
          </a:p>
          <a:p xmlns:a="http://schemas.openxmlformats.org/drawingml/2006/main">
            <a:r>
              <a:t>- **Transición:** “Estas herramientas reaparecen inmediatamente en las próximas unidades”.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sec:u1-sintesis; BRF; DEP.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Estas herramientas reaparecerán con mayor profundidad.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Mapa final conecta fenómeno, medición, relaciones, control, representación e interpretación.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las dependencias documentadas. Recoger la pregunta de salida para planificar recuperación en U2.</a:t>
            </a:r>
          </a:p>
          <a:p xmlns:a="http://schemas.openxmlformats.org/drawingml/2006/main">
            <a:r>
              <a:t>- **Pregunta y respuesta esperada:** Respuesta abierta, pero debe nombrar un concepto y una dificultad concreta.</a:t>
            </a:r>
          </a:p>
          <a:p xmlns:a="http://schemas.openxmlformats.org/drawingml/2006/main">
            <a:r>
              <a:t>- **Énfasis/error frecuente:** No prometer que U1 agotó mecánica, ondas o decibeles.</a:t>
            </a:r>
          </a:p>
          <a:p xmlns:a="http://schemas.openxmlformats.org/drawingml/2006/main">
            <a:r>
              <a:t>- **Transición:** Cierre de la ruta central.</a:t>
            </a:r>
          </a:p>
          <a:p xmlns:a="http://schemas.openxmlformats.org/drawingml/2006/main">
            <a:r>
              <a:t>- **Duración:** 2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MAP; DEP.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Fin de la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La Unidad 1 se conecta con mecánica, ondas y magnitudes acústicas de las unidades 2, 3 y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Abrir solo ante una consulta sobre el SI. Señalar la fila pertinente y volver.</a:t>
            </a:r>
          </a:p>
          <a:p xmlns:a="http://schemas.openxmlformats.org/drawingml/2006/main">
            <a:r>
              <a:t>- **Pregunta y respuesta esperada:** La temperatura termodinámica usa kelvin; tiempo, longitud y masa usan s, m y kg.</a:t>
            </a:r>
          </a:p>
          <a:p xmlns:a="http://schemas.openxmlformats.org/drawingml/2006/main">
            <a:r>
              <a:t>- **Énfasis/error frecuente:** No leer toda la tabla.</a:t>
            </a:r>
          </a:p>
          <a:p xmlns:a="http://schemas.openxmlformats.org/drawingml/2006/main">
            <a:r>
              <a:t>- **Transición:** Regresar a U01-019 o U01-020.</a:t>
            </a:r>
          </a:p>
          <a:p xmlns:a="http://schemas.openxmlformats.org/drawingml/2006/main">
            <a:r>
              <a:t>- **Duración:** 1–2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sec:u1-si; PDF p. 16; BIPM citado en 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Regresar a la slide que motivó la consulta.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completa de las siete magnitudes fundamentales con símbolos y unidades básicas.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Señalar el prefijo consultado y su factor. Conectar con una conversión concreta.</a:t>
            </a:r>
          </a:p>
          <a:p xmlns:a="http://schemas.openxmlformats.org/drawingml/2006/main">
            <a:r>
              <a:t>- **Pregunta y respuesta esperada:** La mayúscula cambia el símbolo: `M` mega no es `m` mili.</a:t>
            </a:r>
          </a:p>
          <a:p xmlns:a="http://schemas.openxmlformats.org/drawingml/2006/main">
            <a:r>
              <a:t>- **Énfasis/error frecuente:** No memorizar toda la tabla durante la clase.</a:t>
            </a:r>
          </a:p>
          <a:p xmlns:a="http://schemas.openxmlformats.org/drawingml/2006/main">
            <a:r>
              <a:t>- **Transición:** Volver a U01-039 o al ejercicio.</a:t>
            </a:r>
          </a:p>
          <a:p xmlns:a="http://schemas.openxmlformats.org/drawingml/2006/main">
            <a:r>
              <a:t>- **Duración:** 1–2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BIPM/NIST citados en TEX;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Volver a la conversión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de ocho prefijos SI desde tera hasta pico con símbolos y potencias de diez.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Reconstruir solo la cadena solicitada. Para presión: fuerza sobre área.</a:t>
            </a:r>
          </a:p>
          <a:p xmlns:a="http://schemas.openxmlformats.org/drawingml/2006/main">
            <a:r>
              <a:t>- **Pregunta y respuesta esperada:** `[p]=[F]/[S]=(MLT⁻²)/L²=ML⁻¹T⁻²`.</a:t>
            </a:r>
          </a:p>
          <a:p xmlns:a="http://schemas.openxmlformats.org/drawingml/2006/main">
            <a:r>
              <a:t>- **Énfasis/error frecuente:** Compatibilidad dimensional no demuestra el modelo.</a:t>
            </a:r>
          </a:p>
          <a:p xmlns:a="http://schemas.openxmlformats.org/drawingml/2006/main">
            <a:r>
              <a:t>- **Transición:** Volver a U01-042.</a:t>
            </a:r>
          </a:p>
          <a:p xmlns:a="http://schemas.openxmlformats.org/drawingml/2006/main">
            <a:r>
              <a:t>- **Duración:** 2–3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sec:u1-analisis-dimensional; PDF p.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Retomar U01-042 o la consulta que originó la derivación.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Red dimensional conecta masa, longitud y tiempo con rapidez, aceleración, fuerza, presión y densidad.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Mostrar después de la discusión. Pedir que comparen su razonamiento con la clave, no solo la opción final.</a:t>
            </a:r>
          </a:p>
          <a:p xmlns:a="http://schemas.openxmlformats.org/drawingml/2006/main">
            <a:r>
              <a:t>- **Pregunta y respuesta esperada:** Las cuatro soluciones deben incluir una justificación verbal o dimensional.</a:t>
            </a:r>
          </a:p>
          <a:p xmlns:a="http://schemas.openxmlformats.org/drawingml/2006/main">
            <a:r>
              <a:t>- **Énfasis/error frecuente:** No usar la slide como anticipo de respuestas.</a:t>
            </a:r>
          </a:p>
          <a:p xmlns:a="http://schemas.openxmlformats.org/drawingml/2006/main">
            <a:r>
              <a:t>- **Transición:** Volver a la recapitulación pertinente.</a:t>
            </a:r>
          </a:p>
          <a:p xmlns:a="http://schemas.openxmlformats.org/drawingml/2006/main">
            <a:r>
              <a:t>- **Duración:** 2–4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sec:u1-soluciones.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Regresar a la recapitulación del bloque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Cuatro paneles resumen soluciones razonadas de unidades, dimensiones y trigonometría.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Elegir un único ejemplo. Señalar datos, relación, sustitución, unidad e interpretación.</a:t>
            </a:r>
          </a:p>
          <a:p xmlns:a="http://schemas.openxmlformats.org/drawingml/2006/main">
            <a:r>
              <a:t>- **Pregunta y respuesta esperada:** El resultado debe corresponder a la magnitud buscada.</a:t>
            </a:r>
          </a:p>
          <a:p xmlns:a="http://schemas.openxmlformats.org/drawingml/2006/main">
            <a:r>
              <a:t>- **Énfasis/error frecuente:** La entrada “presión y densidad” muestra relaciones generales; usar los datos específicos del ejercicio en curso.</a:t>
            </a:r>
          </a:p>
          <a:p xmlns:a="http://schemas.openxmlformats.org/drawingml/2006/main">
            <a:r>
              <a:t>- **Transición:** Volver a U01-035.</a:t>
            </a:r>
          </a:p>
          <a:p xmlns:a="http://schemas.openxmlformats.org/drawingml/2006/main">
            <a:r>
              <a:t>- **Duración:** 2–4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soluciones NG2–NG4/NA1.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Volver a U01-035.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Cuatro soluciones mecánicas muestran pasos y unidades para tiempo, peso, presión y densidad.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Identificar dónde se interrumpió el razonamiento: evaluación, despeje, elección de lados o conversión.</a:t>
            </a:r>
          </a:p>
          <a:p xmlns:a="http://schemas.openxmlformats.org/drawingml/2006/main">
            <a:r>
              <a:t>- **Pregunta y respuesta esperada:** Inversa cambia entrada/salida; razones trigonométricas cancelan unidades; `225°=5π/4 rad`.</a:t>
            </a:r>
          </a:p>
          <a:p xmlns:a="http://schemas.openxmlformats.org/drawingml/2006/main">
            <a:r>
              <a:t>- **Énfasis/error frecuente:** No entregar toda la solución si basta una pista.</a:t>
            </a:r>
          </a:p>
          <a:p xmlns:a="http://schemas.openxmlformats.org/drawingml/2006/main">
            <a:r>
              <a:t>- **Transición:** Volver a U01-050, U01-056 o U01-060.</a:t>
            </a:r>
          </a:p>
          <a:p xmlns:a="http://schemas.openxmlformats.org/drawingml/2006/main">
            <a:r>
              <a:t>- **Duración:** 2–5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soluciones NA2/NA4/NA5.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Volver al punto conceptual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Soluciones de evaluación e inversión de una función, triángulo 3–4–5 y conversión angular.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Usar solo si el grupo domina definición e inversa. Leer cada propiedad como transformación de una operación.</a:t>
            </a:r>
          </a:p>
          <a:p xmlns:a="http://schemas.openxmlformats.org/drawingml/2006/main">
            <a:r>
              <a:t>- **Pregunta y respuesta esperada:** Producto dentro del logaritmo se traduce en suma de logaritmos, bajo las condiciones indicadas.</a:t>
            </a:r>
          </a:p>
          <a:p xmlns:a="http://schemas.openxmlformats.org/drawingml/2006/main">
            <a:r>
              <a:t>- **Énfasis/error frecuente:** No aplicar propiedades a argumentos no positivos.</a:t>
            </a:r>
          </a:p>
          <a:p xmlns:a="http://schemas.openxmlformats.org/drawingml/2006/main">
            <a:r>
              <a:t>- **Transición:** Volver a U01-070.</a:t>
            </a:r>
          </a:p>
          <a:p xmlns:a="http://schemas.openxmlformats.org/drawingml/2006/main">
            <a:r>
              <a:t>- **Duración:** 3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sec:u1-logaritmos;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Regresar al anticipo de decibel.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Tabla de propiedades de producto, cociente y potencia para logaritmos.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Mantener nivel conceptual. Definir qué referencia cambia y por qué no hay conversión universal.</a:t>
            </a:r>
          </a:p>
          <a:p xmlns:a="http://schemas.openxmlformats.org/drawingml/2006/main">
            <a:r>
              <a:t>- **Pregunta y respuesta esperada:** Ante “35 dB”, preguntar escala, referencia, frecuencia, transductor y procedimiento.</a:t>
            </a:r>
          </a:p>
          <a:p xmlns:a="http://schemas.openxmlformats.org/drawingml/2006/main">
            <a:r>
              <a:t>- **Énfasis/error frecuente:** No presentar tablas normativas ni factores fijos de conversión.</a:t>
            </a:r>
          </a:p>
          <a:p xmlns:a="http://schemas.openxmlformats.org/drawingml/2006/main">
            <a:r>
              <a:t>- **Transición:** Volver a U01-078.</a:t>
            </a:r>
          </a:p>
          <a:p xmlns:a="http://schemas.openxmlformats.org/drawingml/2006/main">
            <a:r>
              <a:t>- **Duración:** 3 min,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sec:u1-decibel; ISO 389-1/8253-1 citadas en TEX; BRF.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Volver al caso audiométrico U01-078.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Tres columnas comparan dB SPL, dB HL y dB SL y advierten que no hay conversión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Explicar jerarquía: programa fija alcance; libro organiza contenido; fuentes técnicas respaldan puntos específicos.</a:t>
            </a:r>
          </a:p>
          <a:p xmlns:a="http://schemas.openxmlformats.org/drawingml/2006/main">
            <a:r>
              <a:t>- **Pregunta y respuesta esperada:** Distinguir bibliografía técnica de créditos de imágenes y medios.</a:t>
            </a:r>
          </a:p>
          <a:p xmlns:a="http://schemas.openxmlformats.org/drawingml/2006/main">
            <a:r>
              <a:t>- **Énfasis/error frecuente:** No atribuir al BIPM contenidos clínicos ni a ISO el alcance curricular.</a:t>
            </a:r>
          </a:p>
          <a:p xmlns:a="http://schemas.openxmlformats.org/drawingml/2006/main">
            <a:r>
              <a:t>- **Transición:** Consulta final.</a:t>
            </a:r>
          </a:p>
          <a:p xmlns:a="http://schemas.openxmlformats.org/drawingml/2006/main">
            <a:r>
              <a:t>- **Duración:** 1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PO; TEX bibliografía; source_analysis.md.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Consulta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Lista de programa, libro y fuentes técnicas BIPM, NIST, Cramer e 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**Desarrollo:** Elegir una consigna según el error observado. Pedir decisión, procedimiento y límite, no solo resultado.</a:t>
            </a:r>
          </a:p>
          <a:p xmlns:a="http://schemas.openxmlformats.org/drawingml/2006/main">
            <a:r>
              <a:t>- **Pregunta y respuesta esperada:** Depende del ejercicio; el criterio común es justificar símbolos, unidades y alcance.</a:t>
            </a:r>
          </a:p>
          <a:p xmlns:a="http://schemas.openxmlformats.org/drawingml/2006/main">
            <a:r>
              <a:t>- **Énfasis/error frecuente:** No usar todos los ejercicios como repetición de cierre.</a:t>
            </a:r>
          </a:p>
          <a:p xmlns:a="http://schemas.openxmlformats.org/drawingml/2006/main">
            <a:r>
              <a:t>- **Transición:** Fin del material de respaldo.</a:t>
            </a:r>
          </a:p>
          <a:p xmlns:a="http://schemas.openxmlformats.org/drawingml/2006/main">
            <a:r>
              <a:t>- **Duración:** 3–8 min, según selección.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redacción: TEX sec:u1-ejercicios; INV.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Transición: Fin del material de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Texto alternativo: Seis ejercicios alternativos cubren unidades, dimensiones, inversas, trigonometría, logaritmos y clasificación.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93e9ce0c64e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3af1aaac84b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a993d0ea849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c6320f9a445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7a5567f7547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40a623be34f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aaf709a3e49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79fe52dd342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96b7625414f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ae0ddac5c48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d00c5c37b44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7b709ae2a406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d0c88a501486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cb00ad34a40d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4425b1d17409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b1ddbe4ee49d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290a6afc94a6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3e37eba5e440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a2030b876455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567bae80e428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640aebe06407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75c8e5f68437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b5b78ede94e4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2c297c0324c8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c87372203a47d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f14a382f8240e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6b4fbf706d434f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4d156930ee745e7" /><Relationship Type="http://schemas.openxmlformats.org/officeDocument/2006/relationships/theme" Target="/ppt/slideMasters/theme/theme2.xml" Id="R54ad98521acc43b3" /><Relationship Type="http://schemas.openxmlformats.org/officeDocument/2006/relationships/slideLayout" Target="/ppt/slideLayouts/slideLayout1.xml" Id="Rf757bf04ff73452c" /><Relationship Type="http://schemas.openxmlformats.org/officeDocument/2006/relationships/slideLayout" Target="/ppt/slideLayouts/slideLayout2.xml" Id="Rc51f0d0c90324925" /><Relationship Type="http://schemas.openxmlformats.org/officeDocument/2006/relationships/slideLayout" Target="/ppt/slideLayouts/slideLayout3.xml" Id="R3c6d6fb3193b4342" /><Relationship Type="http://schemas.openxmlformats.org/officeDocument/2006/relationships/slideLayout" Target="/ppt/slideLayouts/slideLayout4.xml" Id="R95e053b4bc164182" /><Relationship Type="http://schemas.openxmlformats.org/officeDocument/2006/relationships/slideLayout" Target="/ppt/slideLayouts/slideLayout5.xml" Id="R8327711d81e84438" /><Relationship Type="http://schemas.openxmlformats.org/officeDocument/2006/relationships/slideLayout" Target="/ppt/slideLayouts/slideLayout6.xml" Id="R54d2761b0074446f" /><Relationship Type="http://schemas.openxmlformats.org/officeDocument/2006/relationships/slideLayout" Target="/ppt/slideLayouts/slideLayout7.xml" Id="Read83a55006e4691" /><Relationship Type="http://schemas.openxmlformats.org/officeDocument/2006/relationships/slideLayout" Target="/ppt/slideLayouts/slideLayout8.xml" Id="Racd9a601e053465d" /><Relationship Type="http://schemas.openxmlformats.org/officeDocument/2006/relationships/slideLayout" Target="/ppt/slideLayouts/slideLayout9.xml" Id="R2a46e57695ed474e" /><Relationship Type="http://schemas.openxmlformats.org/officeDocument/2006/relationships/slideLayout" Target="/ppt/slideLayouts/slideLayout10.xml" Id="Rf156a67b167240ba" /><Relationship Type="http://schemas.openxmlformats.org/officeDocument/2006/relationships/slideLayout" Target="/ppt/slideLayouts/slideLayout11.xml" Id="R75b08c08854040dd" /><Relationship Type="http://schemas.openxmlformats.org/officeDocument/2006/relationships/slideLayout" Target="/ppt/slideLayouts/slideLayout12.xml" Id="R6f5229537f654edc" /><Relationship Type="http://schemas.openxmlformats.org/officeDocument/2006/relationships/slideLayout" Target="/ppt/slideLayouts/slideLayout13.xml" Id="R328d400559b94ab0" /><Relationship Type="http://schemas.openxmlformats.org/officeDocument/2006/relationships/slideLayout" Target="/ppt/slideLayouts/slideLayout14.xml" Id="R228073c98b774323" /><Relationship Type="http://schemas.openxmlformats.org/officeDocument/2006/relationships/slideLayout" Target="/ppt/slideLayouts/slideLayout15.xml" Id="R1152eef3299a4ad4" /><Relationship Type="http://schemas.openxmlformats.org/officeDocument/2006/relationships/slideLayout" Target="/ppt/slideLayouts/slideLayout16.xml" Id="Rd1982ee0e28c4cbe" /><Relationship Type="http://schemas.openxmlformats.org/officeDocument/2006/relationships/slideLayout" Target="/ppt/slideLayouts/slideLayout17.xml" Id="R7544a67ae74a47dc" /><Relationship Type="http://schemas.openxmlformats.org/officeDocument/2006/relationships/slideLayout" Target="/ppt/slideLayouts/slideLayout18.xml" Id="Rc6de6267484541d9" /><Relationship Type="http://schemas.openxmlformats.org/officeDocument/2006/relationships/slideLayout" Target="/ppt/slideLayouts/slideLayout19.xml" Id="Rccc35dbf8560498d" /><Relationship Type="http://schemas.openxmlformats.org/officeDocument/2006/relationships/slideLayout" Target="/ppt/slideLayouts/slideLayout20.xml" Id="Rc295b27c568c4d92" /><Relationship Type="http://schemas.openxmlformats.org/officeDocument/2006/relationships/slideLayout" Target="/ppt/slideLayouts/slideLayout21.xml" Id="R2b623e6e667a4c57" /><Relationship Type="http://schemas.openxmlformats.org/officeDocument/2006/relationships/slideLayout" Target="/ppt/slideLayouts/slideLayout22.xml" Id="Rca2576ae3bc340ca" /><Relationship Type="http://schemas.openxmlformats.org/officeDocument/2006/relationships/slideLayout" Target="/ppt/slideLayouts/slideLayout23.xml" Id="Rdfba882203394042" /><Relationship Type="http://schemas.openxmlformats.org/officeDocument/2006/relationships/slideLayout" Target="/ppt/slideLayouts/slideLayout24.xml" Id="R5d9364cb765f4ce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4a0b36ba7c794945" /><Relationship Type="http://schemas.openxmlformats.org/officeDocument/2006/relationships/theme" Target="/ppt/slideMasters/theme/theme3.xml" Id="Rbb2575a9d314478c" /><Relationship Type="http://schemas.openxmlformats.org/officeDocument/2006/relationships/slideLayout" Target="/ppt/slideLayouts/slideLayout25.xml" Id="R2c5df745a67b423e" /><Relationship Type="http://schemas.openxmlformats.org/officeDocument/2006/relationships/slideLayout" Target="/ppt/slideLayouts/slideLayout26.xml" Id="R72fa0e5086a24a8d" /><Relationship Type="http://schemas.openxmlformats.org/officeDocument/2006/relationships/slideLayout" Target="/ppt/slideLayouts/slideLayout27.xml" Id="Rc2742931ef5b486f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156930ee745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7bf04ff73452c"/>
    <p:sldLayoutId xmlns:r="http://schemas.openxmlformats.org/officeDocument/2006/relationships" id="2147483650" r:id="Rc51f0d0c90324925"/>
    <p:sldLayoutId xmlns:r="http://schemas.openxmlformats.org/officeDocument/2006/relationships" id="2147483651" r:id="R3c6d6fb3193b4342"/>
    <p:sldLayoutId xmlns:r="http://schemas.openxmlformats.org/officeDocument/2006/relationships" id="2147483652" r:id="R95e053b4bc164182"/>
    <p:sldLayoutId xmlns:r="http://schemas.openxmlformats.org/officeDocument/2006/relationships" id="2147483653" r:id="R8327711d81e84438"/>
    <p:sldLayoutId xmlns:r="http://schemas.openxmlformats.org/officeDocument/2006/relationships" id="2147483654" r:id="R54d2761b0074446f"/>
    <p:sldLayoutId xmlns:r="http://schemas.openxmlformats.org/officeDocument/2006/relationships" id="2147483655" r:id="Read83a55006e4691"/>
    <p:sldLayoutId xmlns:r="http://schemas.openxmlformats.org/officeDocument/2006/relationships" id="2147483656" r:id="Racd9a601e053465d"/>
    <p:sldLayoutId xmlns:r="http://schemas.openxmlformats.org/officeDocument/2006/relationships" id="2147483657" r:id="R2a46e57695ed474e"/>
    <p:sldLayoutId xmlns:r="http://schemas.openxmlformats.org/officeDocument/2006/relationships" id="2147483658" r:id="Rf156a67b167240ba"/>
    <p:sldLayoutId xmlns:r="http://schemas.openxmlformats.org/officeDocument/2006/relationships" id="2147483659" r:id="R75b08c08854040dd"/>
    <p:sldLayoutId xmlns:r="http://schemas.openxmlformats.org/officeDocument/2006/relationships" id="2147483660" r:id="R6f5229537f654edc"/>
    <p:sldLayoutId xmlns:r="http://schemas.openxmlformats.org/officeDocument/2006/relationships" id="2147483661" r:id="R328d400559b94ab0"/>
    <p:sldLayoutId xmlns:r="http://schemas.openxmlformats.org/officeDocument/2006/relationships" id="2147483662" r:id="R228073c98b774323"/>
    <p:sldLayoutId xmlns:r="http://schemas.openxmlformats.org/officeDocument/2006/relationships" id="2147483663" r:id="R1152eef3299a4ad4"/>
    <p:sldLayoutId xmlns:r="http://schemas.openxmlformats.org/officeDocument/2006/relationships" id="2147483664" r:id="Rd1982ee0e28c4cbe"/>
    <p:sldLayoutId xmlns:r="http://schemas.openxmlformats.org/officeDocument/2006/relationships" id="2147483665" r:id="R7544a67ae74a47dc"/>
    <p:sldLayoutId xmlns:r="http://schemas.openxmlformats.org/officeDocument/2006/relationships" id="2147483666" r:id="Rc6de6267484541d9"/>
    <p:sldLayoutId xmlns:r="http://schemas.openxmlformats.org/officeDocument/2006/relationships" id="2147483667" r:id="Rccc35dbf8560498d"/>
    <p:sldLayoutId xmlns:r="http://schemas.openxmlformats.org/officeDocument/2006/relationships" id="2147483668" r:id="Rc295b27c568c4d92"/>
    <p:sldLayoutId xmlns:r="http://schemas.openxmlformats.org/officeDocument/2006/relationships" id="2147483669" r:id="R2b623e6e667a4c57"/>
    <p:sldLayoutId xmlns:r="http://schemas.openxmlformats.org/officeDocument/2006/relationships" id="2147483670" r:id="Rca2576ae3bc340ca"/>
    <p:sldLayoutId xmlns:r="http://schemas.openxmlformats.org/officeDocument/2006/relationships" id="2147483671" r:id="Rdfba882203394042"/>
    <p:sldLayoutId xmlns:r="http://schemas.openxmlformats.org/officeDocument/2006/relationships" id="2147483672" r:id="R5d9364cb765f4ceb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b36ba7c794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2c5df745a67b423e"/>
    <p:sldLayoutId xmlns:r="http://schemas.openxmlformats.org/officeDocument/2006/relationships" id="2147483675" r:id="R72fa0e5086a24a8d"/>
    <p:sldLayoutId xmlns:r="http://schemas.openxmlformats.org/officeDocument/2006/relationships" id="2147483676" r:id="Rc2742931ef5b486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9dae9726184f44ed" /><Relationship Type="http://schemas.openxmlformats.org/officeDocument/2006/relationships/image" Target="/ppt/media/image2.png" Id="Rd1f1db4679724ce1" /><Relationship Type="http://schemas.openxmlformats.org/officeDocument/2006/relationships/notesSlide" Target="/ppt/notesSlides/notesSlide1.xml" Id="Rcdc1b9a9506c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61771fd97a46f7" /><Relationship Type="http://schemas.openxmlformats.org/officeDocument/2006/relationships/notesSlide" Target="/ppt/notesSlides/notesSlide2.xml" Id="Rdd6a076ed27c4c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e303bc027dc4d22" /><Relationship Type="http://schemas.openxmlformats.org/officeDocument/2006/relationships/notesSlide" Target="/ppt/notesSlides/notesSlide3.xml" Id="R73c620eb922343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ffd11a36ab4420a" /><Relationship Type="http://schemas.openxmlformats.org/officeDocument/2006/relationships/notesSlide" Target="/ppt/notesSlides/notesSlide4.xml" Id="Rfefcfcf6dc36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a4a142382409e" /><Relationship Type="http://schemas.openxmlformats.org/officeDocument/2006/relationships/notesSlide" Target="/ppt/notesSlides/notesSlide5.xml" Id="R1cb18123348545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52e49e73450426a" /><Relationship Type="http://schemas.openxmlformats.org/officeDocument/2006/relationships/notesSlide" Target="/ppt/notesSlides/notesSlide6.xml" Id="R08aeea74b853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52ca3aa2f9d4f65" /><Relationship Type="http://schemas.openxmlformats.org/officeDocument/2006/relationships/image" Target="/ppt/media/image3.png" Id="R6e9b2944c92d4f5b" /><Relationship Type="http://schemas.openxmlformats.org/officeDocument/2006/relationships/notesSlide" Target="/ppt/notesSlides/notesSlide7.xml" Id="Rb9fb45a9708248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05b732b61594cd8" /><Relationship Type="http://schemas.openxmlformats.org/officeDocument/2006/relationships/image" Target="/ppt/media/image4.png" Id="Rf3ba6e5b29e64e33" /><Relationship Type="http://schemas.openxmlformats.org/officeDocument/2006/relationships/notesSlide" Target="/ppt/notesSlides/notesSlide8.xml" Id="R9de67d3d132944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b1a274614224159" /><Relationship Type="http://schemas.openxmlformats.org/officeDocument/2006/relationships/image" Target="/ppt/media/image5.png" Id="Raf965fa7c0de4fd8" /><Relationship Type="http://schemas.openxmlformats.org/officeDocument/2006/relationships/notesSlide" Target="/ppt/notesSlides/notesSlide9.xml" Id="Re461abc154794a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0697095623457c" /><Relationship Type="http://schemas.openxmlformats.org/officeDocument/2006/relationships/image" Target="/ppt/media/image6.png" Id="R74349a37de5c44a9" /><Relationship Type="http://schemas.openxmlformats.org/officeDocument/2006/relationships/notesSlide" Target="/ppt/notesSlides/notesSlide10.xml" Id="Rb7272000ca9d49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34bd91fead4f9a" /><Relationship Type="http://schemas.openxmlformats.org/officeDocument/2006/relationships/notesSlide" Target="/ppt/notesSlides/notesSlide11.xml" Id="Rcce22ef8e89245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720ac91004644b6" /><Relationship Type="http://schemas.openxmlformats.org/officeDocument/2006/relationships/image" Target="/ppt/media/image7.png" Id="R159b3339060b4c4e" /><Relationship Type="http://schemas.openxmlformats.org/officeDocument/2006/relationships/notesSlide" Target="/ppt/notesSlides/notesSlide12.xml" Id="R48cac4865b7b4d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ab179b6cdd460d" /><Relationship Type="http://schemas.openxmlformats.org/officeDocument/2006/relationships/notesSlide" Target="/ppt/notesSlides/notesSlide13.xml" Id="R0dd970526dfe4c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c715e006d104405" /><Relationship Type="http://schemas.openxmlformats.org/officeDocument/2006/relationships/image" Target="/ppt/media/image8.png" Id="R0040ccee8a154ac0" /><Relationship Type="http://schemas.openxmlformats.org/officeDocument/2006/relationships/notesSlide" Target="/ppt/notesSlides/notesSlide14.xml" Id="R1144ffb255be4c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56db036273f4548" /><Relationship Type="http://schemas.openxmlformats.org/officeDocument/2006/relationships/notesSlide" Target="/ppt/notesSlides/notesSlide15.xml" Id="R3750e2df21ff43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c351d4bd27e4525" /><Relationship Type="http://schemas.openxmlformats.org/officeDocument/2006/relationships/notesSlide" Target="/ppt/notesSlides/notesSlide16.xml" Id="R5f6f5c835e1049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ecdf8417e1f4195" /><Relationship Type="http://schemas.openxmlformats.org/officeDocument/2006/relationships/image" Target="/ppt/media/image9.png" Id="Rfb16583968d244e6" /><Relationship Type="http://schemas.openxmlformats.org/officeDocument/2006/relationships/notesSlide" Target="/ppt/notesSlides/notesSlide17.xml" Id="R5b295c3aa8c94e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a3ba5af15934b0e" /><Relationship Type="http://schemas.openxmlformats.org/officeDocument/2006/relationships/notesSlide" Target="/ppt/notesSlides/notesSlide18.xml" Id="R1c807416b04143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747bd6c1f6ed42cd" /><Relationship Type="http://schemas.openxmlformats.org/officeDocument/2006/relationships/image" Target="/ppt/media/image10.png" Id="R0967b39ef0a9473f" /><Relationship Type="http://schemas.openxmlformats.org/officeDocument/2006/relationships/notesSlide" Target="/ppt/notesSlides/notesSlide19.xml" Id="Raca5c76ac29b42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df03c1af249a7" /><Relationship Type="http://schemas.openxmlformats.org/officeDocument/2006/relationships/notesSlide" Target="/ppt/notesSlides/notesSlide20.xml" Id="Rea4c8888628146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ceef1486f9b445e" /><Relationship Type="http://schemas.openxmlformats.org/officeDocument/2006/relationships/image" Target="/ppt/media/image11.png" Id="Re4838c1a12c046a6" /><Relationship Type="http://schemas.openxmlformats.org/officeDocument/2006/relationships/notesSlide" Target="/ppt/notesSlides/notesSlide21.xml" Id="R37222322c7f440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9ac2bf4ec4e45" /><Relationship Type="http://schemas.openxmlformats.org/officeDocument/2006/relationships/image" Target="/ppt/media/image12.png" Id="R02a13e3e3ec546b6" /><Relationship Type="http://schemas.openxmlformats.org/officeDocument/2006/relationships/notesSlide" Target="/ppt/notesSlides/notesSlide22.xml" Id="Red400e84904b47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dbf32ce05864ff1" /><Relationship Type="http://schemas.openxmlformats.org/officeDocument/2006/relationships/notesSlide" Target="/ppt/notesSlides/notesSlide23.xml" Id="R639c7d7f28f34a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167e30a041e40ef" /><Relationship Type="http://schemas.openxmlformats.org/officeDocument/2006/relationships/image" Target="/ppt/media/image13.png" Id="Rdd36c789a82240d7" /><Relationship Type="http://schemas.openxmlformats.org/officeDocument/2006/relationships/notesSlide" Target="/ppt/notesSlides/notesSlide24.xml" Id="R2d8d8de3ca44401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94022bab8e5425b" /><Relationship Type="http://schemas.openxmlformats.org/officeDocument/2006/relationships/image" Target="/ppt/media/image14.png" Id="R6b90ddd48c904972" /><Relationship Type="http://schemas.openxmlformats.org/officeDocument/2006/relationships/notesSlide" Target="/ppt/notesSlides/notesSlide25.xml" Id="R70e9c7192f9c44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4f9f141d4c34dff" /><Relationship Type="http://schemas.openxmlformats.org/officeDocument/2006/relationships/image" Target="/ppt/media/image15.png" Id="R5d453736ecab4c3f" /><Relationship Type="http://schemas.openxmlformats.org/officeDocument/2006/relationships/notesSlide" Target="/ppt/notesSlides/notesSlide26.xml" Id="R39dc2c88e3af49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648c5a257894a21" /><Relationship Type="http://schemas.openxmlformats.org/officeDocument/2006/relationships/image" Target="/ppt/media/image16.png" Id="Rf0a7704aa1ff41ec" /><Relationship Type="http://schemas.openxmlformats.org/officeDocument/2006/relationships/notesSlide" Target="/ppt/notesSlides/notesSlide27.xml" Id="Ra39ea5e1fe9d44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9b1bb719e1345c4" /><Relationship Type="http://schemas.openxmlformats.org/officeDocument/2006/relationships/image" Target="/ppt/media/image17.png" Id="R0e86348afdab4452" /><Relationship Type="http://schemas.openxmlformats.org/officeDocument/2006/relationships/notesSlide" Target="/ppt/notesSlides/notesSlide28.xml" Id="Rea7f897b61e346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804dbf4cada4b43" /><Relationship Type="http://schemas.openxmlformats.org/officeDocument/2006/relationships/image" Target="/ppt/media/image18.png" Id="R940d5ec30c474aeb" /><Relationship Type="http://schemas.openxmlformats.org/officeDocument/2006/relationships/notesSlide" Target="/ppt/notesSlides/notesSlide29.xml" Id="R264d85a10a4447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f2ec5f524684ed8" /><Relationship Type="http://schemas.openxmlformats.org/officeDocument/2006/relationships/image" Target="/ppt/media/image19.png" Id="Rab9d07179f56496d" /><Relationship Type="http://schemas.openxmlformats.org/officeDocument/2006/relationships/notesSlide" Target="/ppt/notesSlides/notesSlide30.xml" Id="R4c19c190bce74d1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64da5d4adfb4eaa" /><Relationship Type="http://schemas.openxmlformats.org/officeDocument/2006/relationships/image" Target="/ppt/media/image20.png" Id="Ra7e3437945b24593" /><Relationship Type="http://schemas.openxmlformats.org/officeDocument/2006/relationships/notesSlide" Target="/ppt/notesSlides/notesSlide31.xml" Id="R86608c28fb7d4c0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4405c6e693d4d41" /><Relationship Type="http://schemas.openxmlformats.org/officeDocument/2006/relationships/image" Target="/ppt/media/image21.png" Id="Rfbcde9d9a5fc46d7" /><Relationship Type="http://schemas.openxmlformats.org/officeDocument/2006/relationships/notesSlide" Target="/ppt/notesSlides/notesSlide32.xml" Id="Rc1e8a26bef4a4e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236d7c0541b4490" /><Relationship Type="http://schemas.openxmlformats.org/officeDocument/2006/relationships/image" Target="/ppt/media/image22.png" Id="R7cd17a6b99fb4487" /><Relationship Type="http://schemas.openxmlformats.org/officeDocument/2006/relationships/notesSlide" Target="/ppt/notesSlides/notesSlide33.xml" Id="R1494c18b2a8d459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f60ac5cbcdd4c8d" /><Relationship Type="http://schemas.openxmlformats.org/officeDocument/2006/relationships/image" Target="/ppt/media/image23.png" Id="R9b50458951fc45e9" /><Relationship Type="http://schemas.openxmlformats.org/officeDocument/2006/relationships/notesSlide" Target="/ppt/notesSlides/notesSlide34.xml" Id="R8a830999de4c451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a9c9c013bdb4a3c" /><Relationship Type="http://schemas.openxmlformats.org/officeDocument/2006/relationships/image" Target="/ppt/media/image24.png" Id="R020957b551cc452e" /><Relationship Type="http://schemas.openxmlformats.org/officeDocument/2006/relationships/notesSlide" Target="/ppt/notesSlides/notesSlide35.xml" Id="R5bb56c5ff7f7440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20d27cea8ee4bb2" /><Relationship Type="http://schemas.openxmlformats.org/officeDocument/2006/relationships/image" Target="/ppt/media/image25.png" Id="R9d1f96635bef4960" /><Relationship Type="http://schemas.openxmlformats.org/officeDocument/2006/relationships/notesSlide" Target="/ppt/notesSlides/notesSlide36.xml" Id="R00dc674a1b524d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5a67d9bffe664e89" /><Relationship Type="http://schemas.openxmlformats.org/officeDocument/2006/relationships/image" Target="/ppt/media/image26.png" Id="Rb700ab2079a84033" /><Relationship Type="http://schemas.openxmlformats.org/officeDocument/2006/relationships/notesSlide" Target="/ppt/notesSlides/notesSlide37.xml" Id="Redd318589b3c4fa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cdb7f17bee34e5d" /><Relationship Type="http://schemas.openxmlformats.org/officeDocument/2006/relationships/image" Target="/ppt/media/image27.png" Id="R1950430b86fc49a0" /><Relationship Type="http://schemas.openxmlformats.org/officeDocument/2006/relationships/notesSlide" Target="/ppt/notesSlides/notesSlide38.xml" Id="R48daa98c0e62467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a51d7f5574f15" /><Relationship Type="http://schemas.openxmlformats.org/officeDocument/2006/relationships/image" Target="/ppt/media/image28.png" Id="Raf36580e5a5a4e97" /><Relationship Type="http://schemas.openxmlformats.org/officeDocument/2006/relationships/notesSlide" Target="/ppt/notesSlides/notesSlide39.xml" Id="Rc4787f5ec33743c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46d5b8ebf42424a" /><Relationship Type="http://schemas.openxmlformats.org/officeDocument/2006/relationships/image" Target="/ppt/media/image29.png" Id="R2a44624d0d274caf" /><Relationship Type="http://schemas.openxmlformats.org/officeDocument/2006/relationships/notesSlide" Target="/ppt/notesSlides/notesSlide40.xml" Id="R0cba3bf547634b6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beeec10fcad4bb6" /><Relationship Type="http://schemas.openxmlformats.org/officeDocument/2006/relationships/image" Target="/ppt/media/image30.png" Id="R56b341ea46ae4778" /><Relationship Type="http://schemas.openxmlformats.org/officeDocument/2006/relationships/notesSlide" Target="/ppt/notesSlides/notesSlide41.xml" Id="Rebe4b1645074409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f0782cc24594b8f" /><Relationship Type="http://schemas.openxmlformats.org/officeDocument/2006/relationships/image" Target="/ppt/media/image31.png" Id="Rbb0b0114abc147d2" /><Relationship Type="http://schemas.openxmlformats.org/officeDocument/2006/relationships/notesSlide" Target="/ppt/notesSlides/notesSlide42.xml" Id="R3bb9fc6b1569433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ecb4490e4354bd8" /><Relationship Type="http://schemas.openxmlformats.org/officeDocument/2006/relationships/image" Target="/ppt/media/image32.png" Id="R78682d0306064dfc" /><Relationship Type="http://schemas.openxmlformats.org/officeDocument/2006/relationships/notesSlide" Target="/ppt/notesSlides/notesSlide43.xml" Id="Rfdb737a00b5748f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cc7e03a99284771" /><Relationship Type="http://schemas.openxmlformats.org/officeDocument/2006/relationships/image" Target="/ppt/media/image33.png" Id="R4243c3e363ec4927" /><Relationship Type="http://schemas.openxmlformats.org/officeDocument/2006/relationships/notesSlide" Target="/ppt/notesSlides/notesSlide44.xml" Id="R9f1a6d03163b472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dca7c38846449fc" /><Relationship Type="http://schemas.openxmlformats.org/officeDocument/2006/relationships/image" Target="/ppt/media/image34.png" Id="R5157f357bef44a20" /><Relationship Type="http://schemas.openxmlformats.org/officeDocument/2006/relationships/notesSlide" Target="/ppt/notesSlides/notesSlide45.xml" Id="R624c0100dc61429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fb1cacefa594072" /><Relationship Type="http://schemas.openxmlformats.org/officeDocument/2006/relationships/image" Target="/ppt/media/image35.png" Id="R926a998742e24580" /><Relationship Type="http://schemas.openxmlformats.org/officeDocument/2006/relationships/notesSlide" Target="/ppt/notesSlides/notesSlide46.xml" Id="R0c79046312e2447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531ffe2dc22460f" /><Relationship Type="http://schemas.openxmlformats.org/officeDocument/2006/relationships/image" Target="/ppt/media/image36.png" Id="Re2a6a9860eef4643" /><Relationship Type="http://schemas.openxmlformats.org/officeDocument/2006/relationships/notesSlide" Target="/ppt/notesSlides/notesSlide47.xml" Id="Rb04911b31e4148b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2d78b25a6a464377" /><Relationship Type="http://schemas.openxmlformats.org/officeDocument/2006/relationships/image" Target="/ppt/media/image37.png" Id="Rfb445f3280bb44ba" /><Relationship Type="http://schemas.openxmlformats.org/officeDocument/2006/relationships/notesSlide" Target="/ppt/notesSlides/notesSlide48.xml" Id="Red5ed690ac7948a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12ea18d55bd4730" /><Relationship Type="http://schemas.openxmlformats.org/officeDocument/2006/relationships/image" Target="/ppt/media/image38.png" Id="Ra1110d87972143d7" /><Relationship Type="http://schemas.openxmlformats.org/officeDocument/2006/relationships/notesSlide" Target="/ppt/notesSlides/notesSlide49.xml" Id="R5d9d2cc112324f7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bd2ebd7dec44efa" /><Relationship Type="http://schemas.openxmlformats.org/officeDocument/2006/relationships/image" Target="/ppt/media/image39.png" Id="R47426e7f27bc489e" /><Relationship Type="http://schemas.openxmlformats.org/officeDocument/2006/relationships/notesSlide" Target="/ppt/notesSlides/notesSlide50.xml" Id="R372bb0fefd1d4f4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1b4f0f7278148e0" /><Relationship Type="http://schemas.openxmlformats.org/officeDocument/2006/relationships/image" Target="/ppt/media/image40.png" Id="Re666a9a2b8de4b0b" /><Relationship Type="http://schemas.openxmlformats.org/officeDocument/2006/relationships/notesSlide" Target="/ppt/notesSlides/notesSlide51.xml" Id="R01a794c0674946a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70da25050984554" /><Relationship Type="http://schemas.openxmlformats.org/officeDocument/2006/relationships/image" Target="/ppt/media/image41.png" Id="R170488915fb54849" /><Relationship Type="http://schemas.openxmlformats.org/officeDocument/2006/relationships/notesSlide" Target="/ppt/notesSlides/notesSlide52.xml" Id="Rdfc47119035c40a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deb0e07dd444b35" /><Relationship Type="http://schemas.openxmlformats.org/officeDocument/2006/relationships/image" Target="/ppt/media/image42.png" Id="Rca37af25b957499e" /><Relationship Type="http://schemas.openxmlformats.org/officeDocument/2006/relationships/notesSlide" Target="/ppt/notesSlides/notesSlide53.xml" Id="R1d86a4b587ce4b7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c7b9bca7574599" /><Relationship Type="http://schemas.openxmlformats.org/officeDocument/2006/relationships/image" Target="/ppt/media/image43.png" Id="R2de012dba22a4457" /><Relationship Type="http://schemas.openxmlformats.org/officeDocument/2006/relationships/notesSlide" Target="/ppt/notesSlides/notesSlide54.xml" Id="R3b691d64919a453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feef30324e74370" /><Relationship Type="http://schemas.openxmlformats.org/officeDocument/2006/relationships/image" Target="/ppt/media/image44.png" Id="R27147204612d47c1" /><Relationship Type="http://schemas.openxmlformats.org/officeDocument/2006/relationships/notesSlide" Target="/ppt/notesSlides/notesSlide55.xml" Id="R5e9ea4c8d134482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63704f1b318457c" /><Relationship Type="http://schemas.openxmlformats.org/officeDocument/2006/relationships/image" Target="/ppt/media/image45.png" Id="R0b8aa3a4b6684863" /><Relationship Type="http://schemas.openxmlformats.org/officeDocument/2006/relationships/notesSlide" Target="/ppt/notesSlides/notesSlide56.xml" Id="Rbaeeb14bc0504f9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c2c8b3cd55f475b" /><Relationship Type="http://schemas.openxmlformats.org/officeDocument/2006/relationships/image" Target="/ppt/media/image46.png" Id="Re3b91b0d9c304983" /><Relationship Type="http://schemas.openxmlformats.org/officeDocument/2006/relationships/notesSlide" Target="/ppt/notesSlides/notesSlide57.xml" Id="Rc8e2599c23c94ba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ce73710de01417a" /><Relationship Type="http://schemas.openxmlformats.org/officeDocument/2006/relationships/image" Target="/ppt/media/image47.png" Id="Re5d95093ce0f40c1" /><Relationship Type="http://schemas.openxmlformats.org/officeDocument/2006/relationships/notesSlide" Target="/ppt/notesSlides/notesSlide58.xml" Id="R48d4b40832fc404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a35bd1642dc4de2" /><Relationship Type="http://schemas.openxmlformats.org/officeDocument/2006/relationships/image" Target="/ppt/media/image48.png" Id="R5c4ab493ffd24e7b" /><Relationship Type="http://schemas.openxmlformats.org/officeDocument/2006/relationships/notesSlide" Target="/ppt/notesSlides/notesSlide59.xml" Id="R9e4cdbf303634ad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b5d0d40c1db44b3" /><Relationship Type="http://schemas.openxmlformats.org/officeDocument/2006/relationships/image" Target="/ppt/media/image49.png" Id="Rea09b0917d654c89" /><Relationship Type="http://schemas.openxmlformats.org/officeDocument/2006/relationships/notesSlide" Target="/ppt/notesSlides/notesSlide60.xml" Id="Re7c78de0344d4b2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fdbc4fca6ec47d2" /><Relationship Type="http://schemas.openxmlformats.org/officeDocument/2006/relationships/image" Target="/ppt/media/image50.png" Id="Rdb80b6658cdc4d34" /><Relationship Type="http://schemas.openxmlformats.org/officeDocument/2006/relationships/notesSlide" Target="/ppt/notesSlides/notesSlide61.xml" Id="R639bcea056e645d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6223aae31d84745" /><Relationship Type="http://schemas.openxmlformats.org/officeDocument/2006/relationships/image" Target="/ppt/media/image51.png" Id="R78ff9dcea7c34056" /><Relationship Type="http://schemas.openxmlformats.org/officeDocument/2006/relationships/notesSlide" Target="/ppt/notesSlides/notesSlide62.xml" Id="R8734ece21cee492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172bf504340b4" /><Relationship Type="http://schemas.openxmlformats.org/officeDocument/2006/relationships/image" Target="/ppt/media/image52.png" Id="R688b4fa260aa4605" /><Relationship Type="http://schemas.openxmlformats.org/officeDocument/2006/relationships/notesSlide" Target="/ppt/notesSlides/notesSlide63.xml" Id="Re7c2682631334ba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6034a0a83854e62" /><Relationship Type="http://schemas.openxmlformats.org/officeDocument/2006/relationships/image" Target="/ppt/media/image53.png" Id="R09f49dcb4e75497b" /><Relationship Type="http://schemas.openxmlformats.org/officeDocument/2006/relationships/notesSlide" Target="/ppt/notesSlides/notesSlide64.xml" Id="Rcb3bcb3cc68f435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cbb6b7245b9408e" /><Relationship Type="http://schemas.openxmlformats.org/officeDocument/2006/relationships/image" Target="/ppt/media/image54.png" Id="R971a4ebb246c42bf" /><Relationship Type="http://schemas.openxmlformats.org/officeDocument/2006/relationships/notesSlide" Target="/ppt/notesSlides/notesSlide65.xml" Id="R472cd3d2f97244f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75d6c3437a8475f" /><Relationship Type="http://schemas.openxmlformats.org/officeDocument/2006/relationships/image" Target="/ppt/media/image55.png" Id="R9a0c2b60f24343e9" /><Relationship Type="http://schemas.openxmlformats.org/officeDocument/2006/relationships/notesSlide" Target="/ppt/notesSlides/notesSlide66.xml" Id="Re50d56a1e81e4f0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88cb1534a654162" /><Relationship Type="http://schemas.openxmlformats.org/officeDocument/2006/relationships/image" Target="/ppt/media/image56.png" Id="R58cffd38743742c4" /><Relationship Type="http://schemas.openxmlformats.org/officeDocument/2006/relationships/notesSlide" Target="/ppt/notesSlides/notesSlide67.xml" Id="Rc6407f4ebdee4f3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8ca93edb9cd4f17" /><Relationship Type="http://schemas.openxmlformats.org/officeDocument/2006/relationships/notesSlide" Target="/ppt/notesSlides/notesSlide68.xml" Id="R7621fa2dd15f4f9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195d8e8e74c4560" /><Relationship Type="http://schemas.openxmlformats.org/officeDocument/2006/relationships/image" Target="/ppt/media/image57.png" Id="Rbe75df8dbc944331" /><Relationship Type="http://schemas.openxmlformats.org/officeDocument/2006/relationships/notesSlide" Target="/ppt/notesSlides/notesSlide69.xml" Id="R9ef66061b316438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28b30a64a8f4648" /><Relationship Type="http://schemas.openxmlformats.org/officeDocument/2006/relationships/image" Target="/ppt/media/image58.png" Id="R5e693b4e8dbc4be8" /><Relationship Type="http://schemas.openxmlformats.org/officeDocument/2006/relationships/notesSlide" Target="/ppt/notesSlides/notesSlide70.xml" Id="R6b51e0690dd544a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786c57ed0c84878" /><Relationship Type="http://schemas.openxmlformats.org/officeDocument/2006/relationships/image" Target="/ppt/media/image59.png" Id="R4b2a0bfacfbc4de8" /><Relationship Type="http://schemas.openxmlformats.org/officeDocument/2006/relationships/notesSlide" Target="/ppt/notesSlides/notesSlide71.xml" Id="Rbac1d216f0ab42a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5e20af56ef0411a" /><Relationship Type="http://schemas.openxmlformats.org/officeDocument/2006/relationships/image" Target="/ppt/media/image60.png" Id="Ra72b9a986cc84cfd" /><Relationship Type="http://schemas.openxmlformats.org/officeDocument/2006/relationships/notesSlide" Target="/ppt/notesSlides/notesSlide72.xml" Id="R8abe223ae25f4e0d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c2c32ff3e9e4611" /><Relationship Type="http://schemas.openxmlformats.org/officeDocument/2006/relationships/image" Target="/ppt/media/image61.png" Id="Rb3fcae3db6b549a2" /><Relationship Type="http://schemas.openxmlformats.org/officeDocument/2006/relationships/notesSlide" Target="/ppt/notesSlides/notesSlide73.xml" Id="Raafc68e4a8934bb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e957fa402f947ef" /><Relationship Type="http://schemas.openxmlformats.org/officeDocument/2006/relationships/image" Target="/ppt/media/image62.png" Id="R549443cfea5f44ef" /><Relationship Type="http://schemas.openxmlformats.org/officeDocument/2006/relationships/notesSlide" Target="/ppt/notesSlides/notesSlide74.xml" Id="R8eef2eef8a274d2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311c4cd36ba42ef" /><Relationship Type="http://schemas.openxmlformats.org/officeDocument/2006/relationships/image" Target="/ppt/media/image63.png" Id="Rbcc5fd47b93445d2" /><Relationship Type="http://schemas.openxmlformats.org/officeDocument/2006/relationships/notesSlide" Target="/ppt/notesSlides/notesSlide75.xml" Id="Rdbd45f2b72bd4184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283031b7a754bc0" /><Relationship Type="http://schemas.openxmlformats.org/officeDocument/2006/relationships/image" Target="/ppt/media/image64.png" Id="R7f92454f0ac34693" /><Relationship Type="http://schemas.openxmlformats.org/officeDocument/2006/relationships/notesSlide" Target="/ppt/notesSlides/notesSlide76.xml" Id="R47954a4f3d1240e0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9d502d755f4ceb" /><Relationship Type="http://schemas.openxmlformats.org/officeDocument/2006/relationships/image" Target="/ppt/media/image65.png" Id="R2da8a54bd9bb4212" /><Relationship Type="http://schemas.openxmlformats.org/officeDocument/2006/relationships/notesSlide" Target="/ppt/notesSlides/notesSlide77.xml" Id="Rb660202ef6174443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34bfd61d5f4584" /><Relationship Type="http://schemas.openxmlformats.org/officeDocument/2006/relationships/image" Target="/ppt/media/image66.png" Id="R2b89ba1680164f73" /><Relationship Type="http://schemas.openxmlformats.org/officeDocument/2006/relationships/notesSlide" Target="/ppt/notesSlides/notesSlide78.xml" Id="Rf0b217bfeea7438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400a0ce4d6043c6" /><Relationship Type="http://schemas.openxmlformats.org/officeDocument/2006/relationships/image" Target="/ppt/media/image67.png" Id="Rae5e910a11fd4b40" /><Relationship Type="http://schemas.openxmlformats.org/officeDocument/2006/relationships/notesSlide" Target="/ppt/notesSlides/notesSlide79.xml" Id="R40dc5be7ccfd4be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1f6968d63fa49c2" /><Relationship Type="http://schemas.openxmlformats.org/officeDocument/2006/relationships/image" Target="/ppt/media/image68.png" Id="R10db550a118c4816" /><Relationship Type="http://schemas.openxmlformats.org/officeDocument/2006/relationships/notesSlide" Target="/ppt/notesSlides/notesSlide80.xml" Id="R458d9177d7c449f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3075523ec684bcd" /><Relationship Type="http://schemas.openxmlformats.org/officeDocument/2006/relationships/image" Target="/ppt/media/image69.png" Id="Rae087e91ea0842de" /><Relationship Type="http://schemas.openxmlformats.org/officeDocument/2006/relationships/notesSlide" Target="/ppt/notesSlides/notesSlide81.xml" Id="Rd8ce9d0ed0454325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81ab0b6da8d4fd8" /><Relationship Type="http://schemas.openxmlformats.org/officeDocument/2006/relationships/image" Target="/ppt/media/image70.png" Id="R943a8fb6b6274394" /><Relationship Type="http://schemas.openxmlformats.org/officeDocument/2006/relationships/notesSlide" Target="/ppt/notesSlides/notesSlide82.xml" Id="R1231fda6a6fc46a6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e145a4291e4b7c" /><Relationship Type="http://schemas.openxmlformats.org/officeDocument/2006/relationships/image" Target="/ppt/media/image71.png" Id="Ra1c33489639d4adc" /><Relationship Type="http://schemas.openxmlformats.org/officeDocument/2006/relationships/notesSlide" Target="/ppt/notesSlides/notesSlide83.xml" Id="R3d1d05c585264f1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65fac18cbb44de7" /><Relationship Type="http://schemas.openxmlformats.org/officeDocument/2006/relationships/image" Target="/ppt/media/image72.png" Id="Rc1fa0811a4804670" /><Relationship Type="http://schemas.openxmlformats.org/officeDocument/2006/relationships/notesSlide" Target="/ppt/notesSlides/notesSlide84.xml" Id="R364bd30971e64af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7c1cfc65dd4787" /><Relationship Type="http://schemas.openxmlformats.org/officeDocument/2006/relationships/notesSlide" Target="/ppt/notesSlides/notesSlide85.xml" Id="R8c570864be8748ba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45e8c8bf5f499d" /><Relationship Type="http://schemas.openxmlformats.org/officeDocument/2006/relationships/notesSlide" Target="/ppt/notesSlides/notesSlide86.xml" Id="Ra84fb1fe3da24b8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fd4fbfdb6464a" /><Relationship Type="http://schemas.openxmlformats.org/officeDocument/2006/relationships/image" Target="/ppt/media/image73.png" Id="R8e048d38f0de462b" /><Relationship Type="http://schemas.openxmlformats.org/officeDocument/2006/relationships/notesSlide" Target="/ppt/notesSlides/notesSlide87.xml" Id="R5cc15a80938647c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85b019ba27446a" /><Relationship Type="http://schemas.openxmlformats.org/officeDocument/2006/relationships/notesSlide" Target="/ppt/notesSlides/notesSlide88.xml" Id="Rc039c411281c42b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5fe2f07c2c455c" /><Relationship Type="http://schemas.openxmlformats.org/officeDocument/2006/relationships/notesSlide" Target="/ppt/notesSlides/notesSlide89.xml" Id="Rb739de7aeb96487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ba798e0a848b3" /><Relationship Type="http://schemas.openxmlformats.org/officeDocument/2006/relationships/image" Target="/ppt/media/image74.png" Id="Rafc4c0e46b874bd0" /><Relationship Type="http://schemas.openxmlformats.org/officeDocument/2006/relationships/notesSlide" Target="/ppt/notesSlides/notesSlide90.xml" Id="R9d402fa2ab7a487d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99c805df064db5" /><Relationship Type="http://schemas.openxmlformats.org/officeDocument/2006/relationships/notesSlide" Target="/ppt/notesSlides/notesSlide91.xml" Id="R01a8625df4ee4fa5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0cee7a1c5b43ce" /><Relationship Type="http://schemas.openxmlformats.org/officeDocument/2006/relationships/notesSlide" Target="/ppt/notesSlides/notesSlide92.xml" Id="R86514f007e4d434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7ecf2a6682f4917" /><Relationship Type="http://schemas.openxmlformats.org/officeDocument/2006/relationships/hyperlink" Target="https://www.nist.gov/publications/si-base-units-relationship-poster" TargetMode="External" Id="R31fccd41680b4dcf" /><Relationship Type="http://schemas.openxmlformats.org/officeDocument/2006/relationships/hyperlink" Target="https://www.bipm.org/en/publications/si-brochure" TargetMode="External" Id="R067511fe92c2489e" /><Relationship Type="http://schemas.openxmlformats.org/officeDocument/2006/relationships/notesSlide" Target="/ppt/notesSlides/notesSlide93.xml" Id="R860ea9f78fd34f8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7affae7cf14200" /><Relationship Type="http://schemas.openxmlformats.org/officeDocument/2006/relationships/notesSlide" Target="/ppt/notesSlides/notesSlide94.xml" Id="R5d160b96841445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5C2D599-B63B-48F2-9C8E-3E2FDFB2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B00 · PORTADA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A76E0F2E-76F2-4A7D-8193-7DCC160E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857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Nociones básicas e introducción a la acústica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94073E7-917D-4BBC-9375-613C5F3D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Magnitudes, relaciones y criterios para interpretar una situación acústica.</a:t>
            </a:r>
          </a:p>
        </p:txBody>
      </p:sp>
      <p:sp>
        <p:nvSpPr>
          <p:cNvPr id="5" name="cover_wave_line">
            <a:extLst xmlns:a="http://schemas.openxmlformats.org/drawingml/2006/main"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476500" cy="18097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over_version">
            <a:extLst xmlns:a="http://schemas.openxmlformats.org/drawingml/2006/main">
              <a:ext uri="{FF2B5EF4-FFF2-40B4-BE49-F238E27FC236}">
                <a16:creationId xmlns:a16="http://schemas.microsoft.com/office/drawing/2014/main" id="{33EC5933-7A98-4E12-827E-7AAF2042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 fenómeno cotidiano al lenguaje físico.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1db4679724ce1"/>
          <a:stretch xmlns:a="http://schemas.openxmlformats.org/drawingml/2006/main"/>
        </p:blipFill>
        <p:spPr>
          <a:xfrm xmlns:a="http://schemas.openxmlformats.org/drawingml/2006/main">
            <a:off x="8572500" y="1869281"/>
            <a:ext cx="2667000" cy="1500188"/>
          </a:xfrm>
          <a:prstGeom xmlns:a="http://schemas.openxmlformats.org/drawingml/2006/main" prst="rect">
            <a:avLst/>
          </a:prstGeom>
        </p:spPr>
      </p:pic>
      <p:sp>
        <p:nvSpPr>
          <p:cNvPr id="8" name="u01_asset_credit_1">
            <a:extLst xmlns:a="http://schemas.openxmlformats.org/drawingml/2006/main">
              <a:ext uri="{FF2B5EF4-FFF2-40B4-BE49-F238E27FC236}">
                <a16:creationId xmlns:a16="http://schemas.microsoft.com/office/drawing/2014/main" id="{63A5C7F9-E8B9-4218-B6B7-FABE1405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SITUACIÓN DISPARADORA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vocal, un micrófono y una persona que escucha</a:t>
            </a:r>
          </a:p>
        </p:txBody>
      </p:sp>
      <p:sp>
        <p:nvSpPr>
          <p:cNvPr id="4" name="full_visual_axes_x">
            <a:extLst xmlns:a="http://schemas.openxmlformats.org/drawingml/2006/main"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5" name="full_visual_axes_y">
            <a:extLst xmlns:a="http://schemas.openxmlformats.org/drawingml/2006/main"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ull_visual_wave_1">
            <a:extLst xmlns:a="http://schemas.openxmlformats.org/drawingml/2006/main"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¿Qué puede medir el…</a:t>
            </a:r>
          </a:p>
        </p:txBody>
      </p:sp>
      <p:sp>
        <p:nvSpPr>
          <p:cNvPr id="7" name="full_visual_wave_2">
            <a:extLst xmlns:a="http://schemas.openxmlformats.org/drawingml/2006/main"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¿Qué experimenta la persona?</a:t>
            </a:r>
          </a:p>
        </p:txBody>
      </p:sp>
      <p:sp>
        <p:nvSpPr>
          <p:cNvPr id="8" name="full_visual_wave_3">
            <a:extLst xmlns:a="http://schemas.openxmlformats.org/drawingml/2006/main"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Observen la escena y…</a:t>
            </a:r>
          </a:p>
        </p:txBody>
      </p:sp>
      <p:sp>
        <p:nvSpPr>
          <p:cNvPr id="9" name="full_visual_wave_4">
            <a:extLst xmlns:a="http://schemas.openxmlformats.org/drawingml/2006/main"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medición física y una…</a:t>
            </a:r>
          </a:p>
        </p:txBody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71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escena; pregunt…</a:t>
            </a:r>
          </a:p>
        </p:txBody>
      </p:sp>
      <p:sp>
        <p:nvSpPr>
          <p:cNvPr id="13" name="Elipse 12">
            <a:extLst xmlns:a="http://schemas.openxmlformats.org/drawingml/2006/main"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¿Qué se produce?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43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fa_caption">
            <a:extLst xmlns:a="http://schemas.openxmlformats.org/drawingml/2006/main"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medición física y una experiencia auditiva describen aspectos distintos.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531DA2C3-CE21-4BC2-B11E-ABE9B7F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PUENTE DE CONOCIMIENTOS PREVIOS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7EF81085-504B-4497-B076-C109924C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4" name="prior_known_box">
            <a:extLst xmlns:a="http://schemas.openxmlformats.org/drawingml/2006/main">
              <a:ext uri="{FF2B5EF4-FFF2-40B4-BE49-F238E27FC236}">
                <a16:creationId xmlns:a16="http://schemas.microsoft.com/office/drawing/2014/main" id="{07B58428-3CB9-425F-9265-36932FD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No hace falta dominarlo todo antes de empezar.</a:t>
            </a:r>
          </a:p>
        </p:txBody>
      </p:sp>
      <p:sp>
        <p:nvSpPr>
          <p:cNvPr id="5" name="prior_known_accent">
            <a:extLst xmlns:a="http://schemas.openxmlformats.org/drawingml/2006/main">
              <a:ext uri="{FF2B5EF4-FFF2-40B4-BE49-F238E27FC236}">
                <a16:creationId xmlns:a16="http://schemas.microsoft.com/office/drawing/2014/main" id="{858C0AF8-752D-4B26-B180-C6A2AA2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ior_known_label">
            <a:extLst xmlns:a="http://schemas.openxmlformats.org/drawingml/2006/main">
              <a:ext uri="{FF2B5EF4-FFF2-40B4-BE49-F238E27FC236}">
                <a16:creationId xmlns:a16="http://schemas.microsoft.com/office/drawing/2014/main" id="{49EC20E7-6A1D-4878-BC9B-4C72EFDE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prior_known_text">
            <a:extLst xmlns:a="http://schemas.openxmlformats.org/drawingml/2006/main">
              <a:ext uri="{FF2B5EF4-FFF2-40B4-BE49-F238E27FC236}">
                <a16:creationId xmlns:a16="http://schemas.microsoft.com/office/drawing/2014/main" id="{9078949C-EC9B-467C-8FB4-2E74D7CA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4552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dividir</a:t>
            </a:r>
          </a:p>
        </p:txBody>
      </p:sp>
      <p:sp>
        <p:nvSpPr>
          <p:cNvPr id="8" name="prior_recover_box">
            <a:extLst xmlns:a="http://schemas.openxmlformats.org/drawingml/2006/main">
              <a:ext uri="{FF2B5EF4-FFF2-40B4-BE49-F238E27FC236}">
                <a16:creationId xmlns:a16="http://schemas.microsoft.com/office/drawing/2014/main" id="{1CED9AC8-0B4E-4C9D-A8DC-DAF3CA5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Ya usamos: medir longitudes y tiempos</a:t>
            </a:r>
          </a:p>
        </p:txBody>
      </p:sp>
      <p:sp>
        <p:nvSpPr>
          <p:cNvPr id="9" name="prior_recover_accent">
            <a:extLst xmlns:a="http://schemas.openxmlformats.org/drawingml/2006/main">
              <a:ext uri="{FF2B5EF4-FFF2-40B4-BE49-F238E27FC236}">
                <a16:creationId xmlns:a16="http://schemas.microsoft.com/office/drawing/2014/main" id="{26E577E5-401D-4B9D-8797-9D8C317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or_recover_label">
            <a:extLst xmlns:a="http://schemas.openxmlformats.org/drawingml/2006/main">
              <a:ext uri="{FF2B5EF4-FFF2-40B4-BE49-F238E27FC236}">
                <a16:creationId xmlns:a16="http://schemas.microsoft.com/office/drawing/2014/main" id="{74A55828-4057-4E12-8CF7-4B3D57A2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1" name="prior_recover_text">
            <a:extLst xmlns:a="http://schemas.openxmlformats.org/drawingml/2006/main">
              <a:ext uri="{FF2B5EF4-FFF2-40B4-BE49-F238E27FC236}">
                <a16:creationId xmlns:a16="http://schemas.microsoft.com/office/drawing/2014/main" id="{9E3AF078-9F48-4268-AF9B-0E307A41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14575"/>
            <a:ext cx="4552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leer un eje.</a:t>
            </a:r>
          </a:p>
        </p:txBody>
      </p:sp>
      <p:sp>
        <p:nvSpPr>
          <p:cNvPr id="12" name="prior_note">
            <a:extLst xmlns:a="http://schemas.openxmlformats.org/drawingml/2006/main">
              <a:ext uri="{FF2B5EF4-FFF2-40B4-BE49-F238E27FC236}">
                <a16:creationId xmlns:a16="http://schemas.microsoft.com/office/drawing/2014/main" id="{8A363232-2760-4642-849C-6FC1352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herramienta se retomará justo antes de usarla.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DIAGNÓSTICO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d: distancia; c: rapidez de propagación. Las demás respuestas se retomarán durante la clase.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En d = 2 m, ¿qué representa cada elemento?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¿El peso se expresa en kg o en N?</a:t>
            </a:r>
          </a:p>
        </p:txBody>
      </p:sp>
      <p:sp>
        <p:nvSpPr>
          <p:cNvPr id="11" name="exercise_space_box">
            <a:extLst xmlns:a="http://schemas.openxmlformats.org/drawingml/2006/main"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810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d: distancia; c: rapidez de propagación. Las demás respuestas se retomarán durante la clase.</a:t>
            </a:r>
          </a:p>
        </p:txBody>
      </p:sp>
      <p:sp>
        <p:nvSpPr>
          <p:cNvPr id="12" name="exercise_space_accent">
            <a:extLst xmlns:a="http://schemas.openxmlformats.org/drawingml/2006/main"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ercise_space_label">
            <a:extLst xmlns:a="http://schemas.openxmlformats.org/drawingml/2006/main"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 xmlns:a="http://schemas.openxmlformats.org/drawingml/2006/main"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71725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Volveremos a estas cuatro respuestas al finalizar.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8DB38DF-AB43-4A8B-8359-0429CABA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OBJETIVOS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AE2ED953-83FD-48C4-87DB-54746473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4" name="bullet_1">
            <a:extLst xmlns:a="http://schemas.openxmlformats.org/drawingml/2006/main">
              <a:ext uri="{FF2B5EF4-FFF2-40B4-BE49-F238E27FC236}">
                <a16:creationId xmlns:a16="http://schemas.microsoft.com/office/drawing/2014/main" id="{D085344C-35C1-4598-A29B-300DB9CE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F57C7D61-2DF4-4BDB-BA4F-FDACFA30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7258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Identificar, calcular, justificar e interpretar.</a:t>
            </a:r>
          </a:p>
        </p:txBody>
      </p:sp>
      <p:sp>
        <p:nvSpPr>
          <p:cNvPr id="6" name="bullet_2">
            <a:extLst xmlns:a="http://schemas.openxmlformats.org/drawingml/2006/main">
              <a:ext uri="{FF2B5EF4-FFF2-40B4-BE49-F238E27FC236}">
                <a16:creationId xmlns:a16="http://schemas.microsoft.com/office/drawing/2014/main" id="{F2C10121-D7B9-4BBA-9E44-522A1D87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FB0D19E-04CA-401C-ABBC-6D8778C2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7258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relacionar magnitudes físicas</a:t>
            </a:r>
          </a:p>
        </p:txBody>
      </p:sp>
      <p:sp>
        <p:nvSpPr>
          <p:cNvPr id="8" name="bullet_3">
            <a:extLst xmlns:a="http://schemas.openxmlformats.org/drawingml/2006/main">
              <a:ext uri="{FF2B5EF4-FFF2-40B4-BE49-F238E27FC236}">
                <a16:creationId xmlns:a16="http://schemas.microsoft.com/office/drawing/2014/main" id="{B794DAC7-1EA4-442F-8F4F-69BAD68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FABDC7C-6788-4650-846B-3865BD3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81425"/>
            <a:ext cx="7258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verificar dimensiones</a:t>
            </a:r>
          </a:p>
        </p:txBody>
      </p:sp>
      <p:sp>
        <p:nvSpPr>
          <p:cNvPr id="10" name="objective_observation_box">
            <a:extLst xmlns:a="http://schemas.openxmlformats.org/drawingml/2006/main">
              <a:ext uri="{FF2B5EF4-FFF2-40B4-BE49-F238E27FC236}">
                <a16:creationId xmlns:a16="http://schemas.microsoft.com/office/drawing/2014/main" id="{772E526C-DD9B-4743-8EDA-4520BCB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571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Al finalizar podremos: reconocer fuente, medio y receptor</a:t>
            </a:r>
          </a:p>
        </p:txBody>
      </p:sp>
      <p:sp>
        <p:nvSpPr>
          <p:cNvPr id="11" name="objective_observation_accent">
            <a:extLst xmlns:a="http://schemas.openxmlformats.org/drawingml/2006/main">
              <a:ext uri="{FF2B5EF4-FFF2-40B4-BE49-F238E27FC236}">
                <a16:creationId xmlns:a16="http://schemas.microsoft.com/office/drawing/2014/main" id="{1D3A8004-2037-485B-BE23-E9C5CE3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objective_observation_label">
            <a:extLst xmlns:a="http://schemas.openxmlformats.org/drawingml/2006/main">
              <a:ext uri="{FF2B5EF4-FFF2-40B4-BE49-F238E27FC236}">
                <a16:creationId xmlns:a16="http://schemas.microsoft.com/office/drawing/2014/main" id="{6CD12F76-446E-4A0A-910D-D8B24B7E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13" name="objective_observation_text">
            <a:extLst xmlns:a="http://schemas.openxmlformats.org/drawingml/2006/main">
              <a:ext uri="{FF2B5EF4-FFF2-40B4-BE49-F238E27FC236}">
                <a16:creationId xmlns:a16="http://schemas.microsoft.com/office/drawing/2014/main" id="{620089FD-3D28-4737-AE93-851440A0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47925"/>
            <a:ext cx="2171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expresar mediciones con magnitud, valor y…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4911F09F-6033-444E-BEA4-3F91B22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MAPA DE CLASE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3123496-3D8A-4706-BA14-EAD1B69A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 una interpretación responsable</a:t>
            </a:r>
          </a:p>
        </p:txBody>
      </p:sp>
      <p:sp>
        <p:nvSpPr>
          <p:cNvPr id="4" name="map_step_1">
            <a:extLst xmlns:a="http://schemas.openxmlformats.org/drawingml/2006/main">
              <a:ext uri="{FF2B5EF4-FFF2-40B4-BE49-F238E27FC236}">
                <a16:creationId xmlns:a16="http://schemas.microsoft.com/office/drawing/2014/main" id="{BC98569E-A21D-4317-B059-8D143F59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095500" cy="2133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Mapa de la clase.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9A51970-F69C-4BF5-BF29-FDC65D0C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2811C29-DA40-48C9-A98A-CAA59C30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Medir con un lengua…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2CA67C8-5D2D-4398-AAC4-7D3F8D39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Representar depende…</a:t>
            </a:r>
          </a:p>
        </p:txBody>
      </p:sp>
      <p:sp>
        <p:nvSpPr>
          <p:cNvPr id="8" name="map_arrow_1">
            <a:extLst xmlns:a="http://schemas.openxmlformats.org/drawingml/2006/main">
              <a:ext uri="{FF2B5EF4-FFF2-40B4-BE49-F238E27FC236}">
                <a16:creationId xmlns:a16="http://schemas.microsoft.com/office/drawing/2014/main" id="{901CB882-5408-4451-85E0-D084BFA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map_step_2">
            <a:extLst xmlns:a="http://schemas.openxmlformats.org/drawingml/2006/main">
              <a:ext uri="{FF2B5EF4-FFF2-40B4-BE49-F238E27FC236}">
                <a16:creationId xmlns:a16="http://schemas.microsoft.com/office/drawing/2014/main" id="{748CCE30-20AF-4112-BBF5-6154B54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2095500" cy="2133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F89E141A-A3F5-4B6F-8E07-A151F808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A5684C5-0EA1-4F64-BA86-EBD2F7BC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3.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FF5AB7A-C227-43FE-8F95-C53B146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5.</a:t>
            </a:r>
          </a:p>
        </p:txBody>
      </p:sp>
      <p:sp>
        <p:nvSpPr>
          <p:cNvPr id="13" name="map_arrow_2">
            <a:extLst xmlns:a="http://schemas.openxmlformats.org/drawingml/2006/main">
              <a:ext uri="{FF2B5EF4-FFF2-40B4-BE49-F238E27FC236}">
                <a16:creationId xmlns:a16="http://schemas.microsoft.com/office/drawing/2014/main" id="{54200FDD-CC28-46B8-ABC1-63D9394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map_step_3">
            <a:extLst xmlns:a="http://schemas.openxmlformats.org/drawingml/2006/main">
              <a:ext uri="{FF2B5EF4-FFF2-40B4-BE49-F238E27FC236}">
                <a16:creationId xmlns:a16="http://schemas.microsoft.com/office/drawing/2014/main" id="{748BFD84-71B2-46C5-9800-AACCC898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095500" cy="2133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Reconocer el fenómeno.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5730F39-57FE-465E-8BA1-1D825F7A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8339F30-68FD-4E0B-A360-377D52DD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Relacionar magnitud…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8CB9A8C4-F98B-4944-BB94-8FED11F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Interpretar sin…</a:t>
            </a:r>
          </a:p>
        </p:txBody>
      </p:sp>
      <p:sp>
        <p:nvSpPr>
          <p:cNvPr id="18" name="map_arrow_3">
            <a:extLst xmlns:a="http://schemas.openxmlformats.org/drawingml/2006/main">
              <a:ext uri="{FF2B5EF4-FFF2-40B4-BE49-F238E27FC236}">
                <a16:creationId xmlns:a16="http://schemas.microsoft.com/office/drawing/2014/main" id="{5C7AB104-1E37-4C63-8F2C-C9F9AE1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map_step_4">
            <a:extLst xmlns:a="http://schemas.openxmlformats.org/drawingml/2006/main">
              <a:ext uri="{FF2B5EF4-FFF2-40B4-BE49-F238E27FC236}">
                <a16:creationId xmlns:a16="http://schemas.microsoft.com/office/drawing/2014/main" id="{4F264C7A-9111-4CED-9F36-0D3C2DE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2095500" cy="2133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54511269-2412-4277-819F-DBA2974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1DE9A0F1-55E8-4299-B979-2B6DD196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4.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6F8E8759-CB28-4481-82BF-5C5DEBE2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Pausa: después del…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B01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evento cotidiano al fenómeno acústico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b2944c92d4f5b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7">
            <a:extLst xmlns:a="http://schemas.openxmlformats.org/drawingml/2006/main">
              <a:ext uri="{FF2B5EF4-FFF2-40B4-BE49-F238E27FC236}">
                <a16:creationId xmlns:a16="http://schemas.microsoft.com/office/drawing/2014/main" id="{35BF263B-A92D-4BFB-B025-7B0063A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PROCESO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 y receptor</a:t>
            </a:r>
          </a:p>
        </p:txBody>
      </p:sp>
      <p:sp>
        <p:nvSpPr>
          <p:cNvPr id="4" name="process_card_1">
            <a:extLst xmlns:a="http://schemas.openxmlformats.org/drawingml/2006/main"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process_arrow_1">
            <a:extLst xmlns:a="http://schemas.openxmlformats.org/drawingml/2006/main"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cess_card_2">
            <a:extLst xmlns:a="http://schemas.openxmlformats.org/drawingml/2006/main"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process_arrow_2">
            <a:extLst xmlns:a="http://schemas.openxmlformats.org/drawingml/2006/main"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ocess_card_3">
            <a:extLst xmlns:a="http://schemas.openxmlformats.org/drawingml/2006/main"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process_arrow_3">
            <a:extLst xmlns:a="http://schemas.openxmlformats.org/drawingml/2006/main"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cess_card_4">
            <a:extLst xmlns:a="http://schemas.openxmlformats.org/drawingml/2006/main"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6e5b29e64e33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u01_asset_credit_8">
            <a:extLst xmlns:a="http://schemas.openxmlformats.org/drawingml/2006/main">
              <a:ext uri="{FF2B5EF4-FFF2-40B4-BE49-F238E27FC236}">
                <a16:creationId xmlns:a16="http://schemas.microsoft.com/office/drawing/2014/main" id="{10262DC8-3F58-44F4-AA64-C924F9AE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COMPARACIÓN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objeto puede cumplir roles distintos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complementaria: usar si los roles se interpretan como etiquetas rígidas.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65fa7c0de4fd8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9">
            <a:extLst xmlns:a="http://schemas.openxmlformats.org/drawingml/2006/main">
              <a:ext uri="{FF2B5EF4-FFF2-40B4-BE49-F238E27FC236}">
                <a16:creationId xmlns:a16="http://schemas.microsoft.com/office/drawing/2014/main" id="{6258916D-3061-4FF3-B01D-C57DD8F7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EXPLICACIÓN VISUAL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oscilan localmente</a:t>
            </a:r>
          </a:p>
        </p:txBody>
      </p:sp>
      <p:sp>
        <p:nvSpPr>
          <p:cNvPr id="4" name="media_frame">
            <a:extLst xmlns:a="http://schemas.openxmlformats.org/drawingml/2006/main"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2390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media_instruction_box">
            <a:extLst xmlns:a="http://schemas.openxmlformats.org/drawingml/2006/main"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3048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media_instruction_accent">
            <a:extLst xmlns:a="http://schemas.openxmlformats.org/drawingml/2006/main"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media_instruction_label">
            <a:extLst xmlns:a="http://schemas.openxmlformats.org/drawingml/2006/main"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media_instruction_text">
            <a:extLst xmlns:a="http://schemas.openxmlformats.org/drawingml/2006/main"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90775"/>
            <a:ext cx="2647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fa_caption">
            <a:extLst xmlns:a="http://schemas.openxmlformats.org/drawingml/2006/main"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Modelo conceptual; no está a escala.</a:t>
            </a:r>
          </a:p>
        </p:txBody>
      </p:sp>
      <p:sp>
        <p:nvSpPr>
          <p:cNvPr id="11" name="fa_source">
            <a:extLst xmlns:a="http://schemas.openxmlformats.org/drawingml/2006/main"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49a37de5c44a9"/>
          <a:stretch xmlns:a="http://schemas.openxmlformats.org/drawingml/2006/main"/>
        </p:blipFill>
        <p:spPr>
          <a:xfrm xmlns:a="http://schemas.openxmlformats.org/drawingml/2006/main">
            <a:off x="2709333" y="1524000"/>
            <a:ext cx="6773333" cy="3810000"/>
          </a:xfrm>
          <a:prstGeom xmlns:a="http://schemas.openxmlformats.org/drawingml/2006/main" prst="rect">
            <a:avLst/>
          </a:prstGeom>
        </p:spPr>
      </p:pic>
      <p:sp>
        <p:nvSpPr>
          <p:cNvPr id="13" name="u01_asset_credit_10">
            <a:extLst xmlns:a="http://schemas.openxmlformats.org/drawingml/2006/main">
              <a:ext uri="{FF2B5EF4-FFF2-40B4-BE49-F238E27FC236}">
                <a16:creationId xmlns:a16="http://schemas.microsoft.com/office/drawing/2014/main" id="{F79C9D54-9D13-415D-84B9-A98AE03F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U01-CH002 · Elaboración propia; modelo conceptual, no a escala.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DEMOSTRACIÓN/PREGUNTA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viaja en un resorte?</a:t>
            </a:r>
          </a:p>
        </p:txBody>
      </p:sp>
      <p:sp>
        <p:nvSpPr>
          <p:cNvPr id="4" name="media_frame">
            <a:extLst xmlns:a="http://schemas.openxmlformats.org/drawingml/2006/main"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2390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Predicción → observación → conclusión.</a:t>
            </a:r>
          </a:p>
        </p:txBody>
      </p:sp>
      <p:sp>
        <p:nvSpPr>
          <p:cNvPr id="6" name="media_instruction_box">
            <a:extLst xmlns:a="http://schemas.openxmlformats.org/drawingml/2006/main"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3048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7" name="media_instruction_accent">
            <a:extLst xmlns:a="http://schemas.openxmlformats.org/drawingml/2006/main"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media_instruction_label">
            <a:extLst xmlns:a="http://schemas.openxmlformats.org/drawingml/2006/main"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media_instruction_text">
            <a:extLst xmlns:a="http://schemas.openxmlformats.org/drawingml/2006/main"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90775"/>
            <a:ext cx="2647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Predigan qué hará la marca.</a:t>
            </a:r>
          </a:p>
        </p:txBody>
      </p:sp>
      <p:sp>
        <p:nvSpPr>
          <p:cNvPr id="10" name="fa_caption">
            <a:extLst xmlns:a="http://schemas.openxmlformats.org/drawingml/2006/main"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resorte es un modelo visible de propagación; no reproduce todas las propiedades del sonido en aire.</a:t>
            </a:r>
          </a:p>
        </p:txBody>
      </p:sp>
      <p:sp>
        <p:nvSpPr>
          <p:cNvPr id="11" name="fa_source">
            <a:extLst xmlns:a="http://schemas.openxmlformats.org/drawingml/2006/main"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DEFINICIÓN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estudia la acústica</a:t>
            </a:r>
          </a:p>
        </p:txBody>
      </p:sp>
      <p:sp>
        <p:nvSpPr>
          <p:cNvPr id="4" name="definition_box_box">
            <a:extLst xmlns:a="http://schemas.openxmlformats.org/drawingml/2006/main"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definition_box_accent">
            <a:extLst xmlns:a="http://schemas.openxmlformats.org/drawingml/2006/main"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inition_box_label">
            <a:extLst xmlns:a="http://schemas.openxmlformats.org/drawingml/2006/main"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50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definition_box_text">
            <a:extLst xmlns:a="http://schemas.openxmlformats.org/drawingml/2006/main"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43175"/>
            <a:ext cx="9505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b3339060b4c4e"/>
          <a:stretch xmlns:a="http://schemas.openxmlformats.org/drawingml/2006/main"/>
        </p:blipFill>
        <p:spPr>
          <a:xfrm xmlns:a="http://schemas.openxmlformats.org/drawingml/2006/main">
            <a:off x="6715125" y="2135684"/>
            <a:ext cx="4429125" cy="2491383"/>
          </a:xfrm>
          <a:prstGeom xmlns:a="http://schemas.openxmlformats.org/drawingml/2006/main" prst="rect">
            <a:avLst/>
          </a:prstGeom>
        </p:spPr>
      </p:pic>
      <p:sp>
        <p:nvSpPr>
          <p:cNvPr id="10" name="u01_asset_credit_12">
            <a:extLst xmlns:a="http://schemas.openxmlformats.org/drawingml/2006/main">
              <a:ext uri="{FF2B5EF4-FFF2-40B4-BE49-F238E27FC236}">
                <a16:creationId xmlns:a16="http://schemas.microsoft.com/office/drawing/2014/main" id="{82620AF3-04D0-4A34-BB75-3857C02A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442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APLICACIÓN PROFESIONAL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aporta la acústica a Fonoaudiología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Evidencia física para preguntas profesionales.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Dispositivos: verificar entradas y salidas.</a:t>
            </a:r>
          </a:p>
        </p:txBody>
      </p:sp>
      <p:sp>
        <p:nvSpPr>
          <p:cNvPr id="6" name="clinical_connection_box">
            <a:extLst xmlns:a="http://schemas.openxmlformats.org/drawingml/2006/main"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667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Voz: describir señales y cambios.</a:t>
            </a:r>
          </a:p>
        </p:txBody>
      </p:sp>
      <p:sp>
        <p:nvSpPr>
          <p:cNvPr id="7" name="clinical_connection_accent">
            <a:extLst xmlns:a="http://schemas.openxmlformats.org/drawingml/2006/main"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666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inical_connection_label">
            <a:extLst xmlns:a="http://schemas.openxmlformats.org/drawingml/2006/main"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clinical_connection_text">
            <a:extLst xmlns:a="http://schemas.openxmlformats.org/drawingml/2006/main"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95525"/>
            <a:ext cx="4267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Audiología: controlar estímulos y referencias.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dato físico participa del razonamiento; no lo reemplaza.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RECAPITULACIÓN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Fenómeno, sistema y pregunta</a:t>
            </a:r>
          </a:p>
        </p:txBody>
      </p:sp>
      <p:sp>
        <p:nvSpPr>
          <p:cNvPr id="4" name="bullet_1">
            <a:extLst xmlns:a="http://schemas.openxmlformats.org/drawingml/2006/main"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bullet_2">
            <a:extLst xmlns:a="http://schemas.openxmlformats.org/drawingml/2006/main"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bullet_3">
            <a:extLst xmlns:a="http://schemas.openxmlformats.org/drawingml/2006/main"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bullet_4">
            <a:extLst xmlns:a="http://schemas.openxmlformats.org/drawingml/2006/main"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mini_recap_box">
            <a:extLst xmlns:a="http://schemas.openxmlformats.org/drawingml/2006/main"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mini_recap_accent">
            <a:extLst xmlns:a="http://schemas.openxmlformats.org/drawingml/2006/main"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mini_recap_label">
            <a:extLst xmlns:a="http://schemas.openxmlformats.org/drawingml/2006/main"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mini_recap_text">
            <a:extLst xmlns:a="http://schemas.openxmlformats.org/drawingml/2006/main"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3028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0ccee8a154ac0"/>
          <a:stretch xmlns:a="http://schemas.openxmlformats.org/drawingml/2006/main"/>
        </p:blipFill>
        <p:spPr>
          <a:xfrm xmlns:a="http://schemas.openxmlformats.org/drawingml/2006/main">
            <a:off x="6715125" y="2180332"/>
            <a:ext cx="4524375" cy="2544961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14">
            <a:extLst xmlns:a="http://schemas.openxmlformats.org/drawingml/2006/main">
              <a:ext uri="{FF2B5EF4-FFF2-40B4-BE49-F238E27FC236}">
                <a16:creationId xmlns:a16="http://schemas.microsoft.com/office/drawing/2014/main" id="{7889F8A9-9C10-4C3F-83ED-5390F50C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B02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Medir con un lenguaje común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“Mide 2” no alcanza.</a:t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comunicamos una…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DEFINICIÓN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es comparar con una referencia</a:t>
            </a:r>
          </a:p>
        </p:txBody>
      </p:sp>
      <p:sp>
        <p:nvSpPr>
          <p:cNvPr id="4" name="definition_box_box">
            <a:extLst xmlns:a="http://schemas.openxmlformats.org/drawingml/2006/main"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medición produce un resultado interpretable.</a:t>
            </a:r>
          </a:p>
        </p:txBody>
      </p:sp>
      <p:sp>
        <p:nvSpPr>
          <p:cNvPr id="5" name="definition_box_accent">
            <a:extLst xmlns:a="http://schemas.openxmlformats.org/drawingml/2006/main"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inition_box_label">
            <a:extLst xmlns:a="http://schemas.openxmlformats.org/drawingml/2006/main"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50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definition_box_text">
            <a:extLst xmlns:a="http://schemas.openxmlformats.org/drawingml/2006/main"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43175"/>
            <a:ext cx="9505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magnitud es una propiedad que puede medirse o calcularse.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unidad es la referencia acordada para expresar su valor.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 VISUAL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Magnitud, símbolo, valor y unidad no son lo mismo</a:t>
            </a:r>
          </a:p>
        </p:txBody>
      </p:sp>
      <p:sp>
        <p:nvSpPr>
          <p:cNvPr id="5" name="chart_observation_box">
            <a:extLst xmlns:a="http://schemas.openxmlformats.org/drawingml/2006/main"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Anatomía de d = 2 m.</a:t>
            </a:r>
          </a:p>
        </p:txBody>
      </p:sp>
      <p:sp>
        <p:nvSpPr>
          <p:cNvPr id="6" name="chart_observation_accent">
            <a:extLst xmlns:a="http://schemas.openxmlformats.org/drawingml/2006/main"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hart_observation_label">
            <a:extLst xmlns:a="http://schemas.openxmlformats.org/drawingml/2006/main"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8" name="chart_observation_text">
            <a:extLst xmlns:a="http://schemas.openxmlformats.org/drawingml/2006/main"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Distancia: magnitud. d: símbolo de la magnitud. =: relación de igualdad. 2: valor numérico. m: símbolo de la unidad metro.</a:t>
            </a:r>
          </a:p>
        </p:txBody>
      </p:sp>
      <p:sp>
        <p:nvSpPr>
          <p:cNvPr id="9" name="chart_formula_box">
            <a:extLst xmlns:a="http://schemas.openxmlformats.org/drawingml/2006/main"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 = 2 m.</a:t>
            </a:r>
          </a:p>
        </p:txBody>
      </p:sp>
      <p:sp>
        <p:nvSpPr>
          <p:cNvPr id="10" name="chart_formula_accent">
            <a:extLst xmlns:a="http://schemas.openxmlformats.org/drawingml/2006/main"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hart_formula_label">
            <a:extLst xmlns:a="http://schemas.openxmlformats.org/drawingml/2006/main"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2" name="chart_formula_text">
            <a:extLst xmlns:a="http://schemas.openxmlformats.org/drawingml/2006/main"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Leer la expresión en voz alta: “la distancia es igual a dos metros”.</a:t>
            </a:r>
          </a:p>
        </p:txBody>
      </p:sp>
      <p:sp>
        <p:nvSpPr>
          <p:cNvPr id="13" name="fa_source">
            <a:extLst xmlns:a="http://schemas.openxmlformats.org/drawingml/2006/main"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variables se escriben en cursiva; las unidades, en redonda.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6583968d244e6"/>
          <a:stretch xmlns:a="http://schemas.openxmlformats.org/drawingml/2006/main"/>
        </p:blipFill>
        <p:spPr>
          <a:xfrm xmlns:a="http://schemas.openxmlformats.org/drawingml/2006/main">
            <a:off x="1162050" y="16764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17">
            <a:extLst xmlns:a="http://schemas.openxmlformats.org/drawingml/2006/main">
              <a:ext uri="{FF2B5EF4-FFF2-40B4-BE49-F238E27FC236}">
                <a16:creationId xmlns:a16="http://schemas.microsoft.com/office/drawing/2014/main" id="{4089AC98-46BD-4D6E-8D36-E7B11F58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U01-CH003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MINI EJERCICIO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falta en cada resultado?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Reglas mínimas: espacio entre valor y unidad; símbolo normalizado; el símbolo no se pluraliza.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5 kg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t = 0,2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20 °C</a:t>
            </a:r>
          </a:p>
        </p:txBody>
      </p:sp>
      <p:sp>
        <p:nvSpPr>
          <p:cNvPr id="11" name="exercise_space_box">
            <a:extLst xmlns:a="http://schemas.openxmlformats.org/drawingml/2006/main"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810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Reglas mínimas: espacio entre valor y unidad; símbolo normalizado; el símbolo no se pluraliza.</a:t>
            </a:r>
          </a:p>
        </p:txBody>
      </p:sp>
      <p:sp>
        <p:nvSpPr>
          <p:cNvPr id="12" name="exercise_space_accent">
            <a:extLst xmlns:a="http://schemas.openxmlformats.org/drawingml/2006/main"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ercise_space_label">
            <a:extLst xmlns:a="http://schemas.openxmlformats.org/drawingml/2006/main"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 xmlns:a="http://schemas.openxmlformats.org/drawingml/2006/main"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71725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Corregir o completar: 3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todas las expresiones requieren la misma corrección.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 organiza comparaciones y cálculos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Unidades básicas y unidades derivadas.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 Sistema Internacional establece unidades comunes.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Básicas: se asocian a magnitudes fundamentales.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Derivadas: se construyen mediante relaciones entre magnitudes.</a:t>
            </a:r>
          </a:p>
        </p:txBody>
      </p:sp>
      <p:sp>
        <p:nvSpPr>
          <p:cNvPr id="11" name="image_frame_60_40">
            <a:extLst xmlns:a="http://schemas.openxmlformats.org/drawingml/2006/main"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095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fa_caption">
            <a:extLst xmlns:a="http://schemas.openxmlformats.org/drawingml/2006/main"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6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“Fundamental” no significa “más importante”; “derivada” no significa “secundaria”.</a:t>
            </a:r>
          </a:p>
        </p:txBody>
      </p:sp>
      <p:sp>
        <p:nvSpPr>
          <p:cNvPr id="14" name="fa_source">
            <a:extLst xmlns:a="http://schemas.openxmlformats.org/drawingml/2006/main"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8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“Fundamental” no significa “más importante”; “derivada” no significa “secundaria”.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7b39ef0a9473f"/>
          <a:stretch xmlns:a="http://schemas.openxmlformats.org/drawingml/2006/main"/>
        </p:blipFill>
        <p:spPr>
          <a:xfrm xmlns:a="http://schemas.openxmlformats.org/drawingml/2006/main">
            <a:off x="7334250" y="2162770"/>
            <a:ext cx="4095750" cy="2303859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19">
            <a:extLst xmlns:a="http://schemas.openxmlformats.org/drawingml/2006/main">
              <a:ext uri="{FF2B5EF4-FFF2-40B4-BE49-F238E27FC236}">
                <a16:creationId xmlns:a16="http://schemas.microsoft.com/office/drawing/2014/main" id="{FAF9F315-0859-4AFC-8B22-CAAA6236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24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U01-CH004 · Elaboración propia basada en BIPM, SI Brochure, 9.ª ed., actualización 2026.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DE CONSULTA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siete magnitudes fundamentales y la temperatura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destacar tiempo, longitud, masa y temperatura.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PROCESO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unidades básicas a unidades derivadas</a:t>
            </a:r>
          </a:p>
        </p:txBody>
      </p:sp>
      <p:sp>
        <p:nvSpPr>
          <p:cNvPr id="4" name="process_card_1">
            <a:extLst xmlns:a="http://schemas.openxmlformats.org/drawingml/2006/main"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process_arrow_1">
            <a:extLst xmlns:a="http://schemas.openxmlformats.org/drawingml/2006/main"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cess_card_2">
            <a:extLst xmlns:a="http://schemas.openxmlformats.org/drawingml/2006/main"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process_arrow_2">
            <a:extLst xmlns:a="http://schemas.openxmlformats.org/drawingml/2006/main"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ocess_card_3">
            <a:extLst xmlns:a="http://schemas.openxmlformats.org/drawingml/2006/main"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process_arrow_3">
            <a:extLst xmlns:a="http://schemas.openxmlformats.org/drawingml/2006/main"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cess_card_4">
            <a:extLst xmlns:a="http://schemas.openxmlformats.org/drawingml/2006/main"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38c1a12c046a6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u01_asset_credit_21">
            <a:extLst xmlns:a="http://schemas.openxmlformats.org/drawingml/2006/main">
              <a:ext uri="{FF2B5EF4-FFF2-40B4-BE49-F238E27FC236}">
                <a16:creationId xmlns:a16="http://schemas.microsoft.com/office/drawing/2014/main" id="{8A7C68F7-C91B-4466-8BE6-89FF3187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U01-CH005 · Elaboración propia basada en BIPM.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CONCEPTUAL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mapa de magnitudes de la Unidad 1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13e3e3ec546b6"/>
          <a:stretch xmlns:a="http://schemas.openxmlformats.org/drawingml/2006/main"/>
        </p:blipFill>
        <p:spPr>
          <a:xfrm xmlns:a="http://schemas.openxmlformats.org/drawingml/2006/main">
            <a:off x="2836333" y="1666875"/>
            <a:ext cx="6519333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22">
            <a:extLst xmlns:a="http://schemas.openxmlformats.org/drawingml/2006/main">
              <a:ext uri="{FF2B5EF4-FFF2-40B4-BE49-F238E27FC236}">
                <a16:creationId xmlns:a16="http://schemas.microsoft.com/office/drawing/2014/main" id="{0AAEED32-4AA5-45AA-BFCD-5CA3BDB9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U01-CH006 · Elaboración propia a partir del capítulo de Unidad 1.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ERROR FRECUENTE/RECAP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símbolo de una unidad no se pluraliza ni se improvisa</a:t>
            </a:r>
          </a:p>
        </p:txBody>
      </p:sp>
      <p:sp>
        <p:nvSpPr>
          <p:cNvPr id="4" name="frequent_error_box">
            <a:extLst xmlns:a="http://schemas.openxmlformats.org/drawingml/2006/main"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14288">
            <a:solidFill>
              <a:srgbClr val="A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Tres correcciones frecuentes.</a:t>
            </a:r>
          </a:p>
        </p:txBody>
      </p:sp>
      <p:sp>
        <p:nvSpPr>
          <p:cNvPr id="5" name="frequent_error_accent">
            <a:extLst xmlns:a="http://schemas.openxmlformats.org/drawingml/2006/main"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requent_error_label">
            <a:extLst xmlns:a="http://schemas.openxmlformats.org/drawingml/2006/main"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988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 xmlns:a="http://schemas.openxmlformats.org/drawingml/2006/main"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988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5 kg, no “5 kgs”. 15 m/s, no “15 mts/seg”. 20 Pa, no “20 pascales” dentro de una ecuación.</a:t>
            </a:r>
          </a:p>
        </p:txBody>
      </p:sp>
      <p:sp>
        <p:nvSpPr>
          <p:cNvPr id="8" name="error_correction_box">
            <a:extLst xmlns:a="http://schemas.openxmlformats.org/drawingml/2006/main"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9906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4288">
            <a:solidFill>
              <a:srgbClr val="2F6F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Siempre: valor + espacio + símbolo de unidad.</a:t>
            </a:r>
          </a:p>
        </p:txBody>
      </p:sp>
      <p:sp>
        <p:nvSpPr>
          <p:cNvPr id="9" name="error_correction_accent">
            <a:extLst xmlns:a="http://schemas.openxmlformats.org/drawingml/2006/main"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rror_correction_label">
            <a:extLst xmlns:a="http://schemas.openxmlformats.org/drawingml/2006/main"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950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 xmlns:a="http://schemas.openxmlformats.org/drawingml/2006/main"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950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 contexto distingue m unidad metro de *m* variable masa.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B03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Magnitudes conectadas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6c789a82240d7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24">
            <a:extLst xmlns:a="http://schemas.openxmlformats.org/drawingml/2006/main">
              <a:ext uri="{FF2B5EF4-FFF2-40B4-BE49-F238E27FC236}">
                <a16:creationId xmlns:a16="http://schemas.microsoft.com/office/drawing/2014/main" id="{E3026C95-35A4-4AB8-B5FF-94B19ED9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EXPLICACIÓN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Recorrer una distancia requiere un intervalo de tiempo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Primero, la relación verbal.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Para comparar recorridos preguntamos cuánta distancia se recorre durante un intervalo.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rapidez media resume esa relación como “distancia por unidad de tiempo”.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d: distancia recorrida (m). Δt: intervalo empleado (s).</a:t>
            </a:r>
          </a:p>
        </p:txBody>
      </p:sp>
      <p:sp>
        <p:nvSpPr>
          <p:cNvPr id="11" name="image_frame_60_40">
            <a:extLst xmlns:a="http://schemas.openxmlformats.org/drawingml/2006/main"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095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fa_caption">
            <a:extLst xmlns:a="http://schemas.openxmlformats.org/drawingml/2006/main"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intervalo tiene comienzo y final; no es un instante aislado.</a:t>
            </a:r>
          </a:p>
        </p:txBody>
      </p:sp>
      <p:sp>
        <p:nvSpPr>
          <p:cNvPr id="14" name="fa_source">
            <a:extLst xmlns:a="http://schemas.openxmlformats.org/drawingml/2006/main"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intervalo tiene comienzo y final; no es un instante aislado.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0ddd48c904972"/>
          <a:stretch xmlns:a="http://schemas.openxmlformats.org/drawingml/2006/main"/>
        </p:blipFill>
        <p:spPr>
          <a:xfrm xmlns:a="http://schemas.openxmlformats.org/drawingml/2006/main">
            <a:off x="7334250" y="2162770"/>
            <a:ext cx="4095750" cy="2303859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25">
            <a:extLst xmlns:a="http://schemas.openxmlformats.org/drawingml/2006/main">
              <a:ext uri="{FF2B5EF4-FFF2-40B4-BE49-F238E27FC236}">
                <a16:creationId xmlns:a16="http://schemas.microsoft.com/office/drawing/2014/main" id="{1EE089DA-987E-4B18-BC9B-5CCDE1E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24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 media: distancia por unidad de tiempo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3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v_med = d/Δt. v_med: rapidez media (m/s); d: distancia (m); Δt: intervalo (s). m/s significa metros recorridos por segundo.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división también determina la unidad.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53736ecab4c3f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26">
            <a:extLst xmlns:a="http://schemas.openxmlformats.org/drawingml/2006/main">
              <a:ext uri="{FF2B5EF4-FFF2-40B4-BE49-F238E27FC236}">
                <a16:creationId xmlns:a16="http://schemas.microsoft.com/office/drawing/2014/main" id="{C6D12931-C7D9-4037-8275-D05F0C8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Rapidez, velocidad y velocidad de propagación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describe el recorrido total de una partícula del medio.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7704aa1ff41ec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27">
            <a:extLst xmlns:a="http://schemas.openxmlformats.org/drawingml/2006/main">
              <a:ext uri="{FF2B5EF4-FFF2-40B4-BE49-F238E27FC236}">
                <a16:creationId xmlns:a16="http://schemas.microsoft.com/office/drawing/2014/main" id="{ACBEAB4D-1839-460A-BFD6-A21B92B8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¿Cuánto tarda una perturbación en recorrer 100 m?</a:t>
            </a:r>
          </a:p>
        </p:txBody>
      </p:sp>
      <p:sp>
        <p:nvSpPr>
          <p:cNvPr id="4" name="worked_example_box">
            <a:extLst xmlns:a="http://schemas.openxmlformats.org/drawingml/2006/main"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 = d/c = 100 m ÷ (343 m/s) = 0,2915… s ≈ 0,29 s.</a:t>
            </a:r>
          </a:p>
        </p:txBody>
      </p:sp>
      <p:sp>
        <p:nvSpPr>
          <p:cNvPr id="5" name="worked_example_accent">
            <a:extLst xmlns:a="http://schemas.openxmlformats.org/drawingml/2006/main"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worked_example_label">
            <a:extLst xmlns:a="http://schemas.openxmlformats.org/drawingml/2006/main"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worked_example_text">
            <a:extLst xmlns:a="http://schemas.openxmlformats.org/drawingml/2006/main"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Ejemplo resuelto con rapidez constante.</a:t>
            </a:r>
          </a:p>
        </p:txBody>
      </p:sp>
      <p:sp>
        <p:nvSpPr>
          <p:cNvPr id="8" name="worked_step_number_1">
            <a:extLst xmlns:a="http://schemas.openxmlformats.org/drawingml/2006/main"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worked_step_number_2">
            <a:extLst xmlns:a="http://schemas.openxmlformats.org/drawingml/2006/main"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16" name="worked_step_number_3">
            <a:extLst xmlns:a="http://schemas.openxmlformats.org/drawingml/2006/main"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6348afdab4452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21" name="u01_asset_credit_28">
            <a:extLst xmlns:a="http://schemas.openxmlformats.org/drawingml/2006/main">
              <a:ext uri="{FF2B5EF4-FFF2-40B4-BE49-F238E27FC236}">
                <a16:creationId xmlns:a16="http://schemas.microsoft.com/office/drawing/2014/main" id="{58729D64-E594-4427-A82D-0A0BDE9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MINI EJERCICIO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Tiempo de propagación: práctica adicional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 = d/c = ____.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Elegir la relación y verificar la unidad.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 = 68 m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 = 340 m/s.</a:t>
            </a:r>
          </a:p>
        </p:txBody>
      </p:sp>
      <p:sp>
        <p:nvSpPr>
          <p:cNvPr id="11" name="exercise_space_box">
            <a:extLst xmlns:a="http://schemas.openxmlformats.org/drawingml/2006/main"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810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exercise_space_accent">
            <a:extLst xmlns:a="http://schemas.openxmlformats.org/drawingml/2006/main"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ercise_space_label">
            <a:extLst xmlns:a="http://schemas.openxmlformats.org/drawingml/2006/main"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exercise_space_text">
            <a:extLst xmlns:a="http://schemas.openxmlformats.org/drawingml/2006/main"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71725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340 m/s es un redondeo didáctico.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d5ec30c474aeb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29">
            <a:extLst xmlns:a="http://schemas.openxmlformats.org/drawingml/2006/main">
              <a:ext uri="{FF2B5EF4-FFF2-40B4-BE49-F238E27FC236}">
                <a16:creationId xmlns:a16="http://schemas.microsoft.com/office/drawing/2014/main" id="{FEDB5F36-2FAC-4E6B-8068-803D967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peso: dos magnitudes diferentes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lenguaje cotidiano llama “peso” a resultados que suelen estar expresados en kg.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d07179f56496d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30">
            <a:extLst xmlns:a="http://schemas.openxmlformats.org/drawingml/2006/main">
              <a:ext uri="{FF2B5EF4-FFF2-40B4-BE49-F238E27FC236}">
                <a16:creationId xmlns:a16="http://schemas.microsoft.com/office/drawing/2014/main" id="{60C97A50-964A-4BDA-A69E-1961281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masa a peso sin perder las unidades</a:t>
            </a:r>
          </a:p>
        </p:txBody>
      </p:sp>
      <p:sp>
        <p:nvSpPr>
          <p:cNvPr id="4" name="worked_example_box">
            <a:extLst xmlns:a="http://schemas.openxmlformats.org/drawingml/2006/main"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F_g = (2,50 kg)(9,80 m/s²) = 24,5 kg·m/s² = 24,5 N.</a:t>
            </a:r>
          </a:p>
        </p:txBody>
      </p:sp>
      <p:sp>
        <p:nvSpPr>
          <p:cNvPr id="5" name="worked_example_accent">
            <a:extLst xmlns:a="http://schemas.openxmlformats.org/drawingml/2006/main"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worked_example_label">
            <a:extLst xmlns:a="http://schemas.openxmlformats.org/drawingml/2006/main"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worked_example_text">
            <a:extLst xmlns:a="http://schemas.openxmlformats.org/drawingml/2006/main"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Ejemplo complementario.</a:t>
            </a:r>
          </a:p>
        </p:txBody>
      </p:sp>
      <p:sp>
        <p:nvSpPr>
          <p:cNvPr id="8" name="worked_step_number_1">
            <a:extLst xmlns:a="http://schemas.openxmlformats.org/drawingml/2006/main"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worked_step_number_2">
            <a:extLst xmlns:a="http://schemas.openxmlformats.org/drawingml/2006/main"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16" name="worked_step_number_3">
            <a:extLst xmlns:a="http://schemas.openxmlformats.org/drawingml/2006/main"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3437945b24593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21" name="u01_asset_credit_31">
            <a:extLst xmlns:a="http://schemas.openxmlformats.org/drawingml/2006/main">
              <a:ext uri="{FF2B5EF4-FFF2-40B4-BE49-F238E27FC236}">
                <a16:creationId xmlns:a16="http://schemas.microsoft.com/office/drawing/2014/main" id="{32166686-12F9-4C01-8450-CA1FA0A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ECUACIÓN/ANTICIPO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y aceleración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m a. F: fuerza neta (N); m: masa (kg); a: aceleración (m/s²). 1 N = 1 kg·m/s².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Anticipo de la Unidad 2.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de9d9a5fc46d7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32">
            <a:extLst xmlns:a="http://schemas.openxmlformats.org/drawingml/2006/main">
              <a:ext uri="{FF2B5EF4-FFF2-40B4-BE49-F238E27FC236}">
                <a16:creationId xmlns:a16="http://schemas.microsoft.com/office/drawing/2014/main" id="{0D5286FF-0281-4D8F-9107-F919CDB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relaciona fuerza perpendicular y área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 = F_⊥/S. p: presión (Pa); F_⊥: componente perpendicular de la fuerza (N); S: área (m²). 1 Pa = 1 N/m².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misma fuerza puede producir distinta presión.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17a6b99fb4487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33">
            <a:extLst xmlns:a="http://schemas.openxmlformats.org/drawingml/2006/main">
              <a:ext uri="{FF2B5EF4-FFF2-40B4-BE49-F238E27FC236}">
                <a16:creationId xmlns:a16="http://schemas.microsoft.com/office/drawing/2014/main" id="{62A4A678-F59B-4E98-A578-A73179C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relaciona masa y volumen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ρ = m/V. ρ: densidad (kg/m³); m: masa (kg); V: volumen (m³).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Cuánta masa corresponde a cada unidad de volumen.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0458951fc45e9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34">
            <a:extLst xmlns:a="http://schemas.openxmlformats.org/drawingml/2006/main">
              <a:ext uri="{FF2B5EF4-FFF2-40B4-BE49-F238E27FC236}">
                <a16:creationId xmlns:a16="http://schemas.microsoft.com/office/drawing/2014/main" id="{7391983D-8EB4-4429-A0FA-2EC5CBC3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RECAPITULACIÓN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magnitudes forman una red de relaciones</a:t>
            </a:r>
          </a:p>
        </p:txBody>
      </p:sp>
      <p:sp>
        <p:nvSpPr>
          <p:cNvPr id="4" name="bullet_1">
            <a:extLst xmlns:a="http://schemas.openxmlformats.org/drawingml/2006/main"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bullet_2">
            <a:extLst xmlns:a="http://schemas.openxmlformats.org/drawingml/2006/main"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bullet_3">
            <a:extLst xmlns:a="http://schemas.openxmlformats.org/drawingml/2006/main"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bullet_4">
            <a:extLst xmlns:a="http://schemas.openxmlformats.org/drawingml/2006/main"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mini_recap_box">
            <a:extLst xmlns:a="http://schemas.openxmlformats.org/drawingml/2006/main"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mini_recap_accent">
            <a:extLst xmlns:a="http://schemas.openxmlformats.org/drawingml/2006/main"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mini_recap_label">
            <a:extLst xmlns:a="http://schemas.openxmlformats.org/drawingml/2006/main"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mini_recap_text">
            <a:extLst xmlns:a="http://schemas.openxmlformats.org/drawingml/2006/main"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3028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957b551cc452e"/>
          <a:stretch xmlns:a="http://schemas.openxmlformats.org/drawingml/2006/main"/>
        </p:blipFill>
        <p:spPr>
          <a:xfrm xmlns:a="http://schemas.openxmlformats.org/drawingml/2006/main">
            <a:off x="6715125" y="2180332"/>
            <a:ext cx="4524375" cy="2544961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35">
            <a:extLst xmlns:a="http://schemas.openxmlformats.org/drawingml/2006/main">
              <a:ext uri="{FF2B5EF4-FFF2-40B4-BE49-F238E27FC236}">
                <a16:creationId xmlns:a16="http://schemas.microsoft.com/office/drawing/2014/main" id="{07EEDCFD-7E9E-4FE5-BBA9-43E9E37D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B04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Números, prefijos y dimensiones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f96635bef4960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36">
            <a:extLst xmlns:a="http://schemas.openxmlformats.org/drawingml/2006/main">
              <a:ext uri="{FF2B5EF4-FFF2-40B4-BE49-F238E27FC236}">
                <a16:creationId xmlns:a16="http://schemas.microsoft.com/office/drawing/2014/main" id="{02424621-E2F9-4388-977D-47000088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EXPLICACIÓN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compacta de escribir órdenes de magnitud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Coeficiente y potencia de diez.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En a × 10ⁿ, el coeficiente cumple 1 ≤ |a| &lt;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10.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535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 exponente n indica cuántos lugares se desplaza la coma decimal.</a:t>
            </a:r>
          </a:p>
        </p:txBody>
      </p:sp>
      <p:sp>
        <p:nvSpPr>
          <p:cNvPr id="11" name="image_frame_60_40">
            <a:extLst xmlns:a="http://schemas.openxmlformats.org/drawingml/2006/main"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095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fa_caption">
            <a:extLst xmlns:a="http://schemas.openxmlformats.org/drawingml/2006/main"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del exponente describe la escala; no es un adorno.</a:t>
            </a:r>
          </a:p>
        </p:txBody>
      </p:sp>
      <p:sp>
        <p:nvSpPr>
          <p:cNvPr id="14" name="fa_source">
            <a:extLst xmlns:a="http://schemas.openxmlformats.org/drawingml/2006/main"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del exponente describe la escala; no es un adorno.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0ab2079a84033"/>
          <a:stretch xmlns:a="http://schemas.openxmlformats.org/drawingml/2006/main"/>
        </p:blipFill>
        <p:spPr>
          <a:xfrm xmlns:a="http://schemas.openxmlformats.org/drawingml/2006/main">
            <a:off x="7334250" y="2162770"/>
            <a:ext cx="4095750" cy="2303859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37">
            <a:extLst xmlns:a="http://schemas.openxmlformats.org/drawingml/2006/main">
              <a:ext uri="{FF2B5EF4-FFF2-40B4-BE49-F238E27FC236}">
                <a16:creationId xmlns:a16="http://schemas.microsoft.com/office/drawing/2014/main" id="{F19428E8-4CC5-4CB9-9607-7D6A6F87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24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EJEMPLO RESUELTO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escrituras para el mismo valor</a:t>
            </a:r>
          </a:p>
        </p:txBody>
      </p:sp>
      <p:sp>
        <p:nvSpPr>
          <p:cNvPr id="4" name="worked_example_box">
            <a:extLst xmlns:a="http://schemas.openxmlformats.org/drawingml/2006/main"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0,000020 Pa = 2,0 × 10⁻⁵ Pa = 20 µPa; µ = 10⁻⁶.</a:t>
            </a:r>
          </a:p>
        </p:txBody>
      </p:sp>
      <p:sp>
        <p:nvSpPr>
          <p:cNvPr id="5" name="worked_example_accent">
            <a:extLst xmlns:a="http://schemas.openxmlformats.org/drawingml/2006/main"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worked_example_label">
            <a:extLst xmlns:a="http://schemas.openxmlformats.org/drawingml/2006/main"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worked_example_text">
            <a:extLst xmlns:a="http://schemas.openxmlformats.org/drawingml/2006/main"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Decimal, notación científica y prefijo.</a:t>
            </a:r>
          </a:p>
        </p:txBody>
      </p:sp>
      <p:sp>
        <p:nvSpPr>
          <p:cNvPr id="8" name="worked_step_number_1">
            <a:extLst xmlns:a="http://schemas.openxmlformats.org/drawingml/2006/main"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worked_step_number_2">
            <a:extLst xmlns:a="http://schemas.openxmlformats.org/drawingml/2006/main"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16" name="worked_step_number_3">
            <a:extLst xmlns:a="http://schemas.openxmlformats.org/drawingml/2006/main"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0430b86fc49a0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21" name="u01_asset_credit_38">
            <a:extLst xmlns:a="http://schemas.openxmlformats.org/drawingml/2006/main">
              <a:ext uri="{FF2B5EF4-FFF2-40B4-BE49-F238E27FC236}">
                <a16:creationId xmlns:a16="http://schemas.microsoft.com/office/drawing/2014/main" id="{53469546-8350-4EA6-A97E-A2A604E4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TABLA BREVE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Prefijos que aparecerán con frecuencia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6580e5a5a4e97"/>
          <a:stretch xmlns:a="http://schemas.openxmlformats.org/drawingml/2006/main"/>
        </p:blipFill>
        <p:spPr>
          <a:xfrm xmlns:a="http://schemas.openxmlformats.org/drawingml/2006/main">
            <a:off x="2836333" y="1666875"/>
            <a:ext cx="6519333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39">
            <a:extLst xmlns:a="http://schemas.openxmlformats.org/drawingml/2006/main">
              <a:ext uri="{FF2B5EF4-FFF2-40B4-BE49-F238E27FC236}">
                <a16:creationId xmlns:a16="http://schemas.microsoft.com/office/drawing/2014/main" id="{84940BD4-3E0A-47FC-85CF-378C6F8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PRÁCTICA ADICIONAL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conversiones sin perder la magnitud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1 s = 10³ ms; 1 Pa = 10⁶ µPa; 1 m = 10³ mm.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Completar y justificar: 1 s = ___ ms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 Pa = ___ µPa</a:t>
            </a:r>
          </a:p>
        </p:txBody>
      </p:sp>
      <p:sp>
        <p:nvSpPr>
          <p:cNvPr id="11" name="exercise_space_box">
            <a:extLst xmlns:a="http://schemas.openxmlformats.org/drawingml/2006/main"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810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exercise_space_accent">
            <a:extLst xmlns:a="http://schemas.openxmlformats.org/drawingml/2006/main"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ercise_space_label">
            <a:extLst xmlns:a="http://schemas.openxmlformats.org/drawingml/2006/main"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exercise_space_text">
            <a:extLst xmlns:a="http://schemas.openxmlformats.org/drawingml/2006/main"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71725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Convertir cambia la escritura, no la cantidad representada.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4624d0d274caf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40">
            <a:extLst xmlns:a="http://schemas.openxmlformats.org/drawingml/2006/main">
              <a:ext uri="{FF2B5EF4-FFF2-40B4-BE49-F238E27FC236}">
                <a16:creationId xmlns:a16="http://schemas.microsoft.com/office/drawing/2014/main" id="{23C16FAC-CBA8-45D5-B800-5482FC84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DEFINICIÓN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análisis dimensional detecta errores posibles</a:t>
            </a:r>
          </a:p>
        </p:txBody>
      </p:sp>
      <p:sp>
        <p:nvSpPr>
          <p:cNvPr id="4" name="definition_box_box">
            <a:extLst xmlns:a="http://schemas.openxmlformats.org/drawingml/2006/main"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definition_box_accent">
            <a:extLst xmlns:a="http://schemas.openxmlformats.org/drawingml/2006/main"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inition_box_label">
            <a:extLst xmlns:a="http://schemas.openxmlformats.org/drawingml/2006/main"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50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definition_box_text">
            <a:extLst xmlns:a="http://schemas.openxmlformats.org/drawingml/2006/main"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43175"/>
            <a:ext cx="9505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341ea46ae4778"/>
          <a:stretch xmlns:a="http://schemas.openxmlformats.org/drawingml/2006/main"/>
        </p:blipFill>
        <p:spPr>
          <a:xfrm xmlns:a="http://schemas.openxmlformats.org/drawingml/2006/main">
            <a:off x="6715125" y="2135684"/>
            <a:ext cx="4429125" cy="2491383"/>
          </a:xfrm>
          <a:prstGeom xmlns:a="http://schemas.openxmlformats.org/drawingml/2006/main" prst="rect">
            <a:avLst/>
          </a:prstGeom>
        </p:spPr>
      </p:pic>
      <p:sp>
        <p:nvSpPr>
          <p:cNvPr id="10" name="u01_asset_credit_41">
            <a:extLst xmlns:a="http://schemas.openxmlformats.org/drawingml/2006/main">
              <a:ext uri="{FF2B5EF4-FFF2-40B4-BE49-F238E27FC236}">
                <a16:creationId xmlns:a16="http://schemas.microsoft.com/office/drawing/2014/main" id="{9E327A4E-CC10-4AC9-97C4-50E2F18B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442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PROCESO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se construye el pascal</a:t>
            </a:r>
          </a:p>
        </p:txBody>
      </p:sp>
      <p:sp>
        <p:nvSpPr>
          <p:cNvPr id="4" name="process_card_1">
            <a:extLst xmlns:a="http://schemas.openxmlformats.org/drawingml/2006/main"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process_arrow_1">
            <a:extLst xmlns:a="http://schemas.openxmlformats.org/drawingml/2006/main"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cess_card_2">
            <a:extLst xmlns:a="http://schemas.openxmlformats.org/drawingml/2006/main"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process_arrow_2">
            <a:extLst xmlns:a="http://schemas.openxmlformats.org/drawingml/2006/main"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ocess_card_3">
            <a:extLst xmlns:a="http://schemas.openxmlformats.org/drawingml/2006/main"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process_arrow_3">
            <a:extLst xmlns:a="http://schemas.openxmlformats.org/drawingml/2006/main"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cess_card_4">
            <a:extLst xmlns:a="http://schemas.openxmlformats.org/drawingml/2006/main"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b0114abc147d2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u01_asset_credit_42">
            <a:extLst xmlns:a="http://schemas.openxmlformats.org/drawingml/2006/main">
              <a:ext uri="{FF2B5EF4-FFF2-40B4-BE49-F238E27FC236}">
                <a16:creationId xmlns:a16="http://schemas.microsoft.com/office/drawing/2014/main" id="{B49D6AF1-40A4-49A0-B5D7-5818FCB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PREGUNTA/RECAP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expresión puede representar un tiempo?</a:t>
            </a:r>
          </a:p>
        </p:txBody>
      </p:sp>
      <p:sp>
        <p:nvSpPr>
          <p:cNvPr id="4" name="question_box_box">
            <a:extLst xmlns:a="http://schemas.openxmlformats.org/drawingml/2006/main"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952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question_box_accent">
            <a:extLst xmlns:a="http://schemas.openxmlformats.org/drawingml/2006/main"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question_box_label">
            <a:extLst xmlns:a="http://schemas.openxmlformats.org/drawingml/2006/main"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9800"/>
            <a:ext cx="912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question_box_text">
            <a:extLst xmlns:a="http://schemas.openxmlformats.org/drawingml/2006/main"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24125"/>
            <a:ext cx="912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340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Solo d/c tiene dimensión de tiempo.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82d0306064dfc"/>
          <a:stretch xmlns:a="http://schemas.openxmlformats.org/drawingml/2006/main"/>
        </p:blipFill>
        <p:spPr>
          <a:xfrm xmlns:a="http://schemas.openxmlformats.org/drawingml/2006/main">
            <a:off x="6477000" y="2089547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11" name="u01_asset_credit_43">
            <a:extLst xmlns:a="http://schemas.openxmlformats.org/drawingml/2006/main">
              <a:ext uri="{FF2B5EF4-FFF2-40B4-BE49-F238E27FC236}">
                <a16:creationId xmlns:a16="http://schemas.microsoft.com/office/drawing/2014/main" id="{CC285611-3FAF-4EF8-8256-62F19A67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B05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Las funciones expresan dependencias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3c3e363ec4927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44">
            <a:extLst xmlns:a="http://schemas.openxmlformats.org/drawingml/2006/main">
              <a:ext uri="{FF2B5EF4-FFF2-40B4-BE49-F238E27FC236}">
                <a16:creationId xmlns:a16="http://schemas.microsoft.com/office/drawing/2014/main" id="{F85F2BE5-693D-4600-AB17-C57F5721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una variable a una función</a:t>
            </a:r>
          </a:p>
        </p:txBody>
      </p:sp>
      <p:sp>
        <p:nvSpPr>
          <p:cNvPr id="4" name="definition_box_box">
            <a:extLst xmlns:a="http://schemas.openxmlformats.org/drawingml/2006/main"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definition_box_accent">
            <a:extLst xmlns:a="http://schemas.openxmlformats.org/drawingml/2006/main"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inition_box_label">
            <a:extLst xmlns:a="http://schemas.openxmlformats.org/drawingml/2006/main"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50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definition_box_text">
            <a:extLst xmlns:a="http://schemas.openxmlformats.org/drawingml/2006/main"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43175"/>
            <a:ext cx="9505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7f357bef44a20"/>
          <a:stretch xmlns:a="http://schemas.openxmlformats.org/drawingml/2006/main"/>
        </p:blipFill>
        <p:spPr>
          <a:xfrm xmlns:a="http://schemas.openxmlformats.org/drawingml/2006/main">
            <a:off x="6715125" y="2135684"/>
            <a:ext cx="4429125" cy="2491383"/>
          </a:xfrm>
          <a:prstGeom xmlns:a="http://schemas.openxmlformats.org/drawingml/2006/main" prst="rect">
            <a:avLst/>
          </a:prstGeom>
        </p:spPr>
      </p:pic>
      <p:sp>
        <p:nvSpPr>
          <p:cNvPr id="10" name="u01_asset_credit_45">
            <a:extLst xmlns:a="http://schemas.openxmlformats.org/drawingml/2006/main">
              <a:ext uri="{FF2B5EF4-FFF2-40B4-BE49-F238E27FC236}">
                <a16:creationId xmlns:a16="http://schemas.microsoft.com/office/drawing/2014/main" id="{E00A3D27-91F6-497E-80EE-51325125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442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COMPARACIÓN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Tabla, ecuación y gráfico cuentan la misma relación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de representación no cambia la relación.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a998742e24580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46">
            <a:extLst xmlns:a="http://schemas.openxmlformats.org/drawingml/2006/main">
              <a:ext uri="{FF2B5EF4-FFF2-40B4-BE49-F238E27FC236}">
                <a16:creationId xmlns:a16="http://schemas.microsoft.com/office/drawing/2014/main" id="{6D364C40-8737-4618-8D20-BC393C5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GRÁFICO/ECUACIÓN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como función del tiempo</a:t>
            </a:r>
          </a:p>
        </p:txBody>
      </p:sp>
      <p:sp>
        <p:nvSpPr>
          <p:cNvPr id="5" name="chart_observation_box">
            <a:extLst xmlns:a="http://schemas.openxmlformats.org/drawingml/2006/main"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 modelo lineal con condiciones.</a:t>
            </a:r>
          </a:p>
        </p:txBody>
      </p:sp>
      <p:sp>
        <p:nvSpPr>
          <p:cNvPr id="6" name="chart_observation_accent">
            <a:extLst xmlns:a="http://schemas.openxmlformats.org/drawingml/2006/main"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hart_observation_label">
            <a:extLst xmlns:a="http://schemas.openxmlformats.org/drawingml/2006/main"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8" name="chart_observation_text">
            <a:extLst xmlns:a="http://schemas.openxmlformats.org/drawingml/2006/main"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Si c es constante, incrementos iguales de tiempo producen incrementos iguales de distancia.</a:t>
            </a:r>
          </a:p>
        </p:txBody>
      </p:sp>
      <p:sp>
        <p:nvSpPr>
          <p:cNvPr id="9" name="chart_formula_box">
            <a:extLst xmlns:a="http://schemas.openxmlformats.org/drawingml/2006/main"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 modelo físico usa t ≥ 0.</a:t>
            </a:r>
          </a:p>
        </p:txBody>
      </p:sp>
      <p:sp>
        <p:nvSpPr>
          <p:cNvPr id="10" name="chart_formula_accent">
            <a:extLst xmlns:a="http://schemas.openxmlformats.org/drawingml/2006/main"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hart_formula_label">
            <a:extLst xmlns:a="http://schemas.openxmlformats.org/drawingml/2006/main"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2" name="chart_formula_text">
            <a:extLst xmlns:a="http://schemas.openxmlformats.org/drawingml/2006/main"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d(t) = ct; d: distancia (m); t: tiempo (s); c: rapidez constante (m/s).</a:t>
            </a:r>
          </a:p>
        </p:txBody>
      </p:sp>
      <p:sp>
        <p:nvSpPr>
          <p:cNvPr id="13" name="fa_source">
            <a:extLst xmlns:a="http://schemas.openxmlformats.org/drawingml/2006/main"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pendiente representa “metros por segundo”.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6a9860eef4643"/>
          <a:stretch xmlns:a="http://schemas.openxmlformats.org/drawingml/2006/main"/>
        </p:blipFill>
        <p:spPr>
          <a:xfrm xmlns:a="http://schemas.openxmlformats.org/drawingml/2006/main">
            <a:off x="1162050" y="16764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47">
            <a:extLst xmlns:a="http://schemas.openxmlformats.org/drawingml/2006/main">
              <a:ext uri="{FF2B5EF4-FFF2-40B4-BE49-F238E27FC236}">
                <a16:creationId xmlns:a16="http://schemas.microsoft.com/office/drawing/2014/main" id="{568D3372-0F83-4577-ADAE-323908D9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999AE7C-031A-40CC-8D38-DFB39594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PROFUNDIZACIÓN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DF9D910-5745-4BFD-93FA-42C98CB8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Dominio e invertibilidad dependen del problema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D6E4ADF-EFBD-403B-B883-4063F106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fórmula no define por sí sola todo el modelo.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D98AC48-FA46-4ECA-9AE0-4DA44677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57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Restringir el dominio puede representar mejor la situación física.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C2068B2-BB81-496C-8367-0A047CAC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832A284-7A35-4662-B32C-05F9BE4E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57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lumns_divider">
            <a:extLst xmlns:a="http://schemas.openxmlformats.org/drawingml/2006/main">
              <a:ext uri="{FF2B5EF4-FFF2-40B4-BE49-F238E27FC236}">
                <a16:creationId xmlns:a16="http://schemas.microsoft.com/office/drawing/2014/main" id="{EF0A9EF8-2501-4578-BF94-30BBFFF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columns_recap_box">
            <a:extLst xmlns:a="http://schemas.openxmlformats.org/drawingml/2006/main">
              <a:ext uri="{FF2B5EF4-FFF2-40B4-BE49-F238E27FC236}">
                <a16:creationId xmlns:a16="http://schemas.microsoft.com/office/drawing/2014/main" id="{F03D0601-51A2-4588-A7B1-7B8F613D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7429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columns_recap_accent">
            <a:extLst xmlns:a="http://schemas.openxmlformats.org/drawingml/2006/main">
              <a:ext uri="{FF2B5EF4-FFF2-40B4-BE49-F238E27FC236}">
                <a16:creationId xmlns:a16="http://schemas.microsoft.com/office/drawing/2014/main" id="{AEF74E48-EE35-459D-B0CA-155AEB5A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olumns_recap_label">
            <a:extLst xmlns:a="http://schemas.openxmlformats.org/drawingml/2006/main">
              <a:ext uri="{FF2B5EF4-FFF2-40B4-BE49-F238E27FC236}">
                <a16:creationId xmlns:a16="http://schemas.microsoft.com/office/drawing/2014/main" id="{07201F7A-8C59-4F48-A489-9C218036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48200"/>
            <a:ext cx="702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columns_recap_text">
            <a:extLst xmlns:a="http://schemas.openxmlformats.org/drawingml/2006/main">
              <a:ext uri="{FF2B5EF4-FFF2-40B4-BE49-F238E27FC236}">
                <a16:creationId xmlns:a16="http://schemas.microsoft.com/office/drawing/2014/main" id="{84EEEAB0-2542-4BB1-87D6-1B13121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86325"/>
            <a:ext cx="702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45f3280bb44ba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4" name="u01_asset_credit_48">
            <a:extLst xmlns:a="http://schemas.openxmlformats.org/drawingml/2006/main">
              <a:ext uri="{FF2B5EF4-FFF2-40B4-BE49-F238E27FC236}">
                <a16:creationId xmlns:a16="http://schemas.microsoft.com/office/drawing/2014/main" id="{E9BB1CA8-8A12-4C6F-B0F9-D96BC678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DEFINICIÓN/PREGUNTA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función inversa recupera la entrada</a:t>
            </a:r>
          </a:p>
        </p:txBody>
      </p:sp>
      <p:sp>
        <p:nvSpPr>
          <p:cNvPr id="4" name="process_card_1">
            <a:extLst xmlns:a="http://schemas.openxmlformats.org/drawingml/2006/main"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process_arrow_1">
            <a:extLst xmlns:a="http://schemas.openxmlformats.org/drawingml/2006/main"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cess_card_2">
            <a:extLst xmlns:a="http://schemas.openxmlformats.org/drawingml/2006/main"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process_arrow_2">
            <a:extLst xmlns:a="http://schemas.openxmlformats.org/drawingml/2006/main"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ocess_card_3">
            <a:extLst xmlns:a="http://schemas.openxmlformats.org/drawingml/2006/main"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process_arrow_3">
            <a:extLst xmlns:a="http://schemas.openxmlformats.org/drawingml/2006/main"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cess_card_4">
            <a:extLst xmlns:a="http://schemas.openxmlformats.org/drawingml/2006/main"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10d87972143d7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u01_asset_credit_49">
            <a:extLst xmlns:a="http://schemas.openxmlformats.org/drawingml/2006/main">
              <a:ext uri="{FF2B5EF4-FFF2-40B4-BE49-F238E27FC236}">
                <a16:creationId xmlns:a16="http://schemas.microsoft.com/office/drawing/2014/main" id="{127A00E4-591D-4881-B9FD-8E56E638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ECUACIÓN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d(t)=ct a t(d)=d/c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Directa: d(t)=ct. Inversa: t(d)=d/c. Unidades: (m)/(m/s)=s.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Despejar y cambiar la pregunta.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26e7f27bc489e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50">
            <a:extLst xmlns:a="http://schemas.openxmlformats.org/drawingml/2006/main">
              <a:ext uri="{FF2B5EF4-FFF2-40B4-BE49-F238E27FC236}">
                <a16:creationId xmlns:a16="http://schemas.microsoft.com/office/drawing/2014/main" id="{3152D73B-4C2D-43F5-93D4-377B697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EJEMPLO ADICIONAL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Ida y vuelta con d(t)=4,0t</a:t>
            </a:r>
          </a:p>
        </p:txBody>
      </p:sp>
      <p:sp>
        <p:nvSpPr>
          <p:cNvPr id="4" name="worked_example_box">
            <a:extLst xmlns:a="http://schemas.openxmlformats.org/drawingml/2006/main"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d(3 s)=(4,0 m/s)(3 s)=12 m; t(20 m)=20 m/(4,0 m/s)=5 s.</a:t>
            </a:r>
          </a:p>
        </p:txBody>
      </p:sp>
      <p:sp>
        <p:nvSpPr>
          <p:cNvPr id="5" name="worked_example_accent">
            <a:extLst xmlns:a="http://schemas.openxmlformats.org/drawingml/2006/main"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worked_example_label">
            <a:extLst xmlns:a="http://schemas.openxmlformats.org/drawingml/2006/main"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worked_example_text">
            <a:extLst xmlns:a="http://schemas.openxmlformats.org/drawingml/2006/main"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8" name="worked_step_number_1">
            <a:extLst xmlns:a="http://schemas.openxmlformats.org/drawingml/2006/main"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worked_step_number_2">
            <a:extLst xmlns:a="http://schemas.openxmlformats.org/drawingml/2006/main"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16" name="worked_step_number_3">
            <a:extLst xmlns:a="http://schemas.openxmlformats.org/drawingml/2006/main"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a9a2b8de4b0b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21" name="u01_asset_credit_51">
            <a:extLst xmlns:a="http://schemas.openxmlformats.org/drawingml/2006/main">
              <a:ext uri="{FF2B5EF4-FFF2-40B4-BE49-F238E27FC236}">
                <a16:creationId xmlns:a16="http://schemas.microsoft.com/office/drawing/2014/main" id="{08D012BE-AC7C-468D-B332-5FEDB65E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ERROR FRECUENTE/RECAP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Inversa no significa recíproco</a:t>
            </a:r>
          </a:p>
        </p:txBody>
      </p:sp>
      <p:sp>
        <p:nvSpPr>
          <p:cNvPr id="4" name="frequent_error_box">
            <a:extLst xmlns:a="http://schemas.openxmlformats.org/drawingml/2006/main"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14288">
            <a:solidFill>
              <a:srgbClr val="A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frequent_error_accent">
            <a:extLst xmlns:a="http://schemas.openxmlformats.org/drawingml/2006/main"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requent_error_label">
            <a:extLst xmlns:a="http://schemas.openxmlformats.org/drawingml/2006/main"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988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frequent_error_text">
            <a:extLst xmlns:a="http://schemas.openxmlformats.org/drawingml/2006/main"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988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error_correction_box">
            <a:extLst xmlns:a="http://schemas.openxmlformats.org/drawingml/2006/main"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9906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4288">
            <a:solidFill>
              <a:srgbClr val="2F6F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error_correction_accent">
            <a:extLst xmlns:a="http://schemas.openxmlformats.org/drawingml/2006/main"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rror_correction_label">
            <a:extLst xmlns:a="http://schemas.openxmlformats.org/drawingml/2006/main"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950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error_correction_text">
            <a:extLst xmlns:a="http://schemas.openxmlformats.org/drawingml/2006/main"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950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488915fb54849"/>
          <a:stretch xmlns:a="http://schemas.openxmlformats.org/drawingml/2006/main"/>
        </p:blipFill>
        <p:spPr>
          <a:xfrm xmlns:a="http://schemas.openxmlformats.org/drawingml/2006/main">
            <a:off x="6715125" y="2180332"/>
            <a:ext cx="4524375" cy="2544961"/>
          </a:xfrm>
          <a:prstGeom xmlns:a="http://schemas.openxmlformats.org/drawingml/2006/main" prst="rect">
            <a:avLst/>
          </a:prstGeom>
        </p:spPr>
      </p:pic>
      <p:sp>
        <p:nvSpPr>
          <p:cNvPr id="13" name="u01_asset_credit_52">
            <a:extLst xmlns:a="http://schemas.openxmlformats.org/drawingml/2006/main">
              <a:ext uri="{FF2B5EF4-FFF2-40B4-BE49-F238E27FC236}">
                <a16:creationId xmlns:a16="http://schemas.microsoft.com/office/drawing/2014/main" id="{E603A049-02D6-4F45-BC39-2AFA2C6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95875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U01-CH017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B06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Trigonometría: de triángulos a ciclos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7af25b957499e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53">
            <a:extLst xmlns:a="http://schemas.openxmlformats.org/drawingml/2006/main">
              <a:ext uri="{FF2B5EF4-FFF2-40B4-BE49-F238E27FC236}">
                <a16:creationId xmlns:a16="http://schemas.microsoft.com/office/drawing/2014/main" id="{3CD72FA0-9B71-47A2-8310-CC6AD4C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EXPLICACIÓN VISUAL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Opuesto, adyacente e hipotenusa dependen de θ</a:t>
            </a:r>
          </a:p>
        </p:txBody>
      </p:sp>
      <p:sp>
        <p:nvSpPr>
          <p:cNvPr id="4" name="full_visual_axes_x">
            <a:extLst xmlns:a="http://schemas.openxmlformats.org/drawingml/2006/main"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full_visual_axes_y">
            <a:extLst xmlns:a="http://schemas.openxmlformats.org/drawingml/2006/main"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ull_visual_wave_1">
            <a:extLst xmlns:a="http://schemas.openxmlformats.org/drawingml/2006/main"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full_visual_wave_2">
            <a:extLst xmlns:a="http://schemas.openxmlformats.org/drawingml/2006/main"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ull_visual_wave_3">
            <a:extLst xmlns:a="http://schemas.openxmlformats.org/drawingml/2006/main"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full_visual_wave_4">
            <a:extLst xmlns:a="http://schemas.openxmlformats.org/drawingml/2006/main"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428750" cy="11430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71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Elipse 12">
            <a:extLst xmlns:a="http://schemas.openxmlformats.org/drawingml/2006/main"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43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fa_caption">
            <a:extLst xmlns:a="http://schemas.openxmlformats.org/drawingml/2006/main"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012dba22a4457"/>
          <a:stretch xmlns:a="http://schemas.openxmlformats.org/drawingml/2006/main"/>
        </p:blipFill>
        <p:spPr>
          <a:xfrm xmlns:a="http://schemas.openxmlformats.org/drawingml/2006/main">
            <a:off x="2540000" y="1381125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24" name="u01_asset_credit_54">
            <a:extLst xmlns:a="http://schemas.openxmlformats.org/drawingml/2006/main">
              <a:ext uri="{FF2B5EF4-FFF2-40B4-BE49-F238E27FC236}">
                <a16:creationId xmlns:a16="http://schemas.microsoft.com/office/drawing/2014/main" id="{8B7BF51D-C793-42F7-8B58-26CAA1D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ECUACIÓN/EXPLICACIÓN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Seno, coseno y tangente son razones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opuesto/hipotenusa; cos θ = adyacente/hipotenusa; tan θ = opuesto/adyacente.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Cada función compara dos lados.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47204612d47c1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55">
            <a:extLst xmlns:a="http://schemas.openxmlformats.org/drawingml/2006/main">
              <a:ext uri="{FF2B5EF4-FFF2-40B4-BE49-F238E27FC236}">
                <a16:creationId xmlns:a16="http://schemas.microsoft.com/office/drawing/2014/main" id="{A0032D81-7FF3-409F-B6F6-0AD3533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EJEMPLO RESUELTO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triángulo 3–4–5</a:t>
            </a:r>
          </a:p>
        </p:txBody>
      </p:sp>
      <p:sp>
        <p:nvSpPr>
          <p:cNvPr id="4" name="worked_example_box">
            <a:extLst xmlns:a="http://schemas.openxmlformats.org/drawingml/2006/main"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3/5 = 0,6; cos θ = 4/5 = 0,8; tan θ = 3/4 = 0,75.</a:t>
            </a:r>
          </a:p>
        </p:txBody>
      </p:sp>
      <p:sp>
        <p:nvSpPr>
          <p:cNvPr id="5" name="worked_example_accent">
            <a:extLst xmlns:a="http://schemas.openxmlformats.org/drawingml/2006/main"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worked_example_label">
            <a:extLst xmlns:a="http://schemas.openxmlformats.org/drawingml/2006/main"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worked_example_text">
            <a:extLst xmlns:a="http://schemas.openxmlformats.org/drawingml/2006/main"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Tres razones simples y sin unidad.</a:t>
            </a:r>
          </a:p>
        </p:txBody>
      </p:sp>
      <p:sp>
        <p:nvSpPr>
          <p:cNvPr id="8" name="worked_step_number_1">
            <a:extLst xmlns:a="http://schemas.openxmlformats.org/drawingml/2006/main"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worked_step_number_2">
            <a:extLst xmlns:a="http://schemas.openxmlformats.org/drawingml/2006/main"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16" name="worked_step_number_3">
            <a:extLst xmlns:a="http://schemas.openxmlformats.org/drawingml/2006/main"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aa3a4b6684863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21" name="u01_asset_credit_56">
            <a:extLst xmlns:a="http://schemas.openxmlformats.org/drawingml/2006/main">
              <a:ext uri="{FF2B5EF4-FFF2-40B4-BE49-F238E27FC236}">
                <a16:creationId xmlns:a16="http://schemas.microsoft.com/office/drawing/2014/main" id="{BCF3DE92-B042-4FFF-846D-17D3C864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MINI EJERCICIO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razón permite hallar el lado?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Elegir una razón que contenga el dato conocido y la incógnita.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Elegir antes de usar la calculadora.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Se conoce la hipotenusa y el lado adyacente a θ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se busca el opuesto.</a:t>
            </a:r>
          </a:p>
        </p:txBody>
      </p:sp>
      <p:sp>
        <p:nvSpPr>
          <p:cNvPr id="11" name="exercise_space_box">
            <a:extLst xmlns:a="http://schemas.openxmlformats.org/drawingml/2006/main"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810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exercise_space_accent">
            <a:extLst xmlns:a="http://schemas.openxmlformats.org/drawingml/2006/main"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ercise_space_label">
            <a:extLst xmlns:a="http://schemas.openxmlformats.org/drawingml/2006/main"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exercise_space_text">
            <a:extLst xmlns:a="http://schemas.openxmlformats.org/drawingml/2006/main"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71725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selección razonada es más importante que el cálculo numérico.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91b0d9c304983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57">
            <a:extLst xmlns:a="http://schemas.openxmlformats.org/drawingml/2006/main">
              <a:ext uri="{FF2B5EF4-FFF2-40B4-BE49-F238E27FC236}">
                <a16:creationId xmlns:a16="http://schemas.microsoft.com/office/drawing/2014/main" id="{C5477254-107B-43B0-8922-7F18903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AMPLIACIÓN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Ángulos mayores que una vuelta</a:t>
            </a:r>
          </a:p>
        </p:txBody>
      </p:sp>
      <p:sp>
        <p:nvSpPr>
          <p:cNvPr id="5" name="chart_observation_box">
            <a:extLst xmlns:a="http://schemas.openxmlformats.org/drawingml/2006/main"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Misma orientación final; recorrido diferente.</a:t>
            </a:r>
          </a:p>
        </p:txBody>
      </p:sp>
      <p:sp>
        <p:nvSpPr>
          <p:cNvPr id="6" name="chart_observation_accent">
            <a:extLst xmlns:a="http://schemas.openxmlformats.org/drawingml/2006/main"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hart_observation_label">
            <a:extLst xmlns:a="http://schemas.openxmlformats.org/drawingml/2006/main"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8" name="chart_observation_text">
            <a:extLst xmlns:a="http://schemas.openxmlformats.org/drawingml/2006/main"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585° = 225° + 360°.</a:t>
            </a:r>
          </a:p>
        </p:txBody>
      </p:sp>
      <p:sp>
        <p:nvSpPr>
          <p:cNvPr id="9" name="chart_formula_box">
            <a:extLst xmlns:a="http://schemas.openxmlformats.org/drawingml/2006/main"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Ambos terminan con la misma orientación, pero 585° incluye una vuelta adicional.</a:t>
            </a:r>
          </a:p>
        </p:txBody>
      </p:sp>
      <p:sp>
        <p:nvSpPr>
          <p:cNvPr id="10" name="chart_formula_accent">
            <a:extLst xmlns:a="http://schemas.openxmlformats.org/drawingml/2006/main"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hart_formula_label">
            <a:extLst xmlns:a="http://schemas.openxmlformats.org/drawingml/2006/main"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2" name="chart_formula_text">
            <a:extLst xmlns:a="http://schemas.openxmlformats.org/drawingml/2006/main"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Ángulos que difieren en 360° son coterminales.</a:t>
            </a:r>
          </a:p>
        </p:txBody>
      </p:sp>
      <p:sp>
        <p:nvSpPr>
          <p:cNvPr id="13" name="fa_source">
            <a:extLst xmlns:a="http://schemas.openxmlformats.org/drawingml/2006/main"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 para preparar periodicidad y fase acumulada.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95093ce0f40c1"/>
          <a:stretch xmlns:a="http://schemas.openxmlformats.org/drawingml/2006/main"/>
        </p:blipFill>
        <p:spPr>
          <a:xfrm xmlns:a="http://schemas.openxmlformats.org/drawingml/2006/main">
            <a:off x="1162050" y="16764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58">
            <a:extLst xmlns:a="http://schemas.openxmlformats.org/drawingml/2006/main">
              <a:ext uri="{FF2B5EF4-FFF2-40B4-BE49-F238E27FC236}">
                <a16:creationId xmlns:a16="http://schemas.microsoft.com/office/drawing/2014/main" id="{E3E1EF9F-9DE6-4D3D-BEFB-866DBA08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PRÁCTICA ADICIONAL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Convertir grados y radianes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θ_rad = θ_grados · π/180°.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vuelta completa: 360° = 2π rad.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525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Completar: 90° = ___ rad</a:t>
            </a:r>
          </a:p>
        </p:txBody>
      </p:sp>
      <p:sp>
        <p:nvSpPr>
          <p:cNvPr id="11" name="exercise_space_box">
            <a:extLst xmlns:a="http://schemas.openxmlformats.org/drawingml/2006/main"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810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exercise_space_accent">
            <a:extLst xmlns:a="http://schemas.openxmlformats.org/drawingml/2006/main"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ercise_space_label">
            <a:extLst xmlns:a="http://schemas.openxmlformats.org/drawingml/2006/main"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exercise_space_text">
            <a:extLst xmlns:a="http://schemas.openxmlformats.org/drawingml/2006/main"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71725"/>
            <a:ext cx="3409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equivalencia expresa el mismo giro con dos unidades angulares.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ab493ffd24e7b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59">
            <a:extLst xmlns:a="http://schemas.openxmlformats.org/drawingml/2006/main">
              <a:ext uri="{FF2B5EF4-FFF2-40B4-BE49-F238E27FC236}">
                <a16:creationId xmlns:a16="http://schemas.microsoft.com/office/drawing/2014/main" id="{6F339631-B31B-4BFD-998C-53C82FBA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GRÁFICO EXPLICATIVO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radián conecta arco, ángulo y ciclo</a:t>
            </a:r>
          </a:p>
        </p:txBody>
      </p:sp>
      <p:sp>
        <p:nvSpPr>
          <p:cNvPr id="5" name="chart_observation_box">
            <a:extLst xmlns:a="http://schemas.openxmlformats.org/drawingml/2006/main"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Seno y coseno como proyecciones.</a:t>
            </a:r>
          </a:p>
        </p:txBody>
      </p:sp>
      <p:sp>
        <p:nvSpPr>
          <p:cNvPr id="6" name="chart_observation_accent">
            <a:extLst xmlns:a="http://schemas.openxmlformats.org/drawingml/2006/main"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hart_observation_label">
            <a:extLst xmlns:a="http://schemas.openxmlformats.org/drawingml/2006/main"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8" name="chart_observation_text">
            <a:extLst xmlns:a="http://schemas.openxmlformats.org/drawingml/2006/main"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En un círculo de radio 1, la coordenada horizontal es cos θ y la vertical es sin θ.</a:t>
            </a:r>
          </a:p>
        </p:txBody>
      </p:sp>
      <p:sp>
        <p:nvSpPr>
          <p:cNvPr id="9" name="chart_formula_box">
            <a:extLst xmlns:a="http://schemas.openxmlformats.org/drawingml/2006/main"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Una vuelta completa corresponde a 2π rad.</a:t>
            </a:r>
          </a:p>
        </p:txBody>
      </p:sp>
      <p:sp>
        <p:nvSpPr>
          <p:cNvPr id="10" name="chart_formula_accent">
            <a:extLst xmlns:a="http://schemas.openxmlformats.org/drawingml/2006/main"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hart_formula_label">
            <a:extLst xmlns:a="http://schemas.openxmlformats.org/drawingml/2006/main"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2" name="chart_formula_text">
            <a:extLst xmlns:a="http://schemas.openxmlformats.org/drawingml/2006/main"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Punto del círculo: (cos θ, sin θ); 360° = 2π rad.</a:t>
            </a:r>
          </a:p>
        </p:txBody>
      </p:sp>
      <p:sp>
        <p:nvSpPr>
          <p:cNvPr id="13" name="fa_source">
            <a:extLst xmlns:a="http://schemas.openxmlformats.org/drawingml/2006/main"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círculo extiende las razones más allá del triángulo inicial.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9b0917d654c89"/>
          <a:stretch xmlns:a="http://schemas.openxmlformats.org/drawingml/2006/main"/>
        </p:blipFill>
        <p:spPr>
          <a:xfrm xmlns:a="http://schemas.openxmlformats.org/drawingml/2006/main">
            <a:off x="1162050" y="16764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60">
            <a:extLst xmlns:a="http://schemas.openxmlformats.org/drawingml/2006/main">
              <a:ext uri="{FF2B5EF4-FFF2-40B4-BE49-F238E27FC236}">
                <a16:creationId xmlns:a16="http://schemas.microsoft.com/office/drawing/2014/main" id="{C59E43FE-6A97-4D46-9A12-B539E3F5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RECAPITULACIÓN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cociente al ciclo</a:t>
            </a:r>
          </a:p>
        </p:txBody>
      </p:sp>
      <p:sp>
        <p:nvSpPr>
          <p:cNvPr id="4" name="bullet_1">
            <a:extLst xmlns:a="http://schemas.openxmlformats.org/drawingml/2006/main"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bullet_2">
            <a:extLst xmlns:a="http://schemas.openxmlformats.org/drawingml/2006/main"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bullet_3">
            <a:extLst xmlns:a="http://schemas.openxmlformats.org/drawingml/2006/main"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bullet_4">
            <a:extLst xmlns:a="http://schemas.openxmlformats.org/drawingml/2006/main"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mini_recap_box">
            <a:extLst xmlns:a="http://schemas.openxmlformats.org/drawingml/2006/main"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mini_recap_accent">
            <a:extLst xmlns:a="http://schemas.openxmlformats.org/drawingml/2006/main"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mini_recap_label">
            <a:extLst xmlns:a="http://schemas.openxmlformats.org/drawingml/2006/main"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mini_recap_text">
            <a:extLst xmlns:a="http://schemas.openxmlformats.org/drawingml/2006/main"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3028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0b6658cdc4d34"/>
          <a:stretch xmlns:a="http://schemas.openxmlformats.org/drawingml/2006/main"/>
        </p:blipFill>
        <p:spPr>
          <a:xfrm xmlns:a="http://schemas.openxmlformats.org/drawingml/2006/main">
            <a:off x="6715125" y="2180332"/>
            <a:ext cx="4524375" cy="2544961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61">
            <a:extLst xmlns:a="http://schemas.openxmlformats.org/drawingml/2006/main">
              <a:ext uri="{FF2B5EF4-FFF2-40B4-BE49-F238E27FC236}">
                <a16:creationId xmlns:a16="http://schemas.microsoft.com/office/drawing/2014/main" id="{52166C54-5768-40B9-91B5-8B03EB0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B07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Exponenciales, logaritmos y comparaciones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f9dcea7c34056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62">
            <a:extLst xmlns:a="http://schemas.openxmlformats.org/drawingml/2006/main">
              <a:ext uri="{FF2B5EF4-FFF2-40B4-BE49-F238E27FC236}">
                <a16:creationId xmlns:a16="http://schemas.microsoft.com/office/drawing/2014/main" id="{FD56FDBE-6EC2-42C7-AE2A-51441ED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RECUPERACIÓN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Potencias de diez que conviene tener a mano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b4fa260aa4605"/>
          <a:stretch xmlns:a="http://schemas.openxmlformats.org/drawingml/2006/main"/>
        </p:blipFill>
        <p:spPr>
          <a:xfrm xmlns:a="http://schemas.openxmlformats.org/drawingml/2006/main">
            <a:off x="2836333" y="1666875"/>
            <a:ext cx="6519333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63">
            <a:extLst xmlns:a="http://schemas.openxmlformats.org/drawingml/2006/main">
              <a:ext uri="{FF2B5EF4-FFF2-40B4-BE49-F238E27FC236}">
                <a16:creationId xmlns:a16="http://schemas.microsoft.com/office/drawing/2014/main" id="{476AE38A-5EEA-48C0-8C4B-227B6E3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DEFINICIÓN/GRÁFICO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función exponencial cambia por factores</a:t>
            </a:r>
          </a:p>
        </p:txBody>
      </p:sp>
      <p:sp>
        <p:nvSpPr>
          <p:cNvPr id="5" name="chart_observation_box">
            <a:extLst xmlns:a="http://schemas.openxmlformats.org/drawingml/2006/main"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Incrementos iguales en la entrada; multiplicaciones en la salida.</a:t>
            </a:r>
          </a:p>
        </p:txBody>
      </p:sp>
      <p:sp>
        <p:nvSpPr>
          <p:cNvPr id="6" name="chart_observation_accent">
            <a:extLst xmlns:a="http://schemas.openxmlformats.org/drawingml/2006/main"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hart_observation_label">
            <a:extLst xmlns:a="http://schemas.openxmlformats.org/drawingml/2006/main"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8" name="chart_observation_text">
            <a:extLst xmlns:a="http://schemas.openxmlformats.org/drawingml/2006/main"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Para base 10, aumentar x en 1 multiplica la salida por</a:t>
            </a:r>
          </a:p>
        </p:txBody>
      </p:sp>
      <p:sp>
        <p:nvSpPr>
          <p:cNvPr id="9" name="chart_formula_box">
            <a:extLst xmlns:a="http://schemas.openxmlformats.org/drawingml/2006/main"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10.</a:t>
            </a:r>
          </a:p>
        </p:txBody>
      </p:sp>
      <p:sp>
        <p:nvSpPr>
          <p:cNvPr id="10" name="chart_formula_accent">
            <a:extLst xmlns:a="http://schemas.openxmlformats.org/drawingml/2006/main"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hart_formula_label">
            <a:extLst xmlns:a="http://schemas.openxmlformats.org/drawingml/2006/main"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2" name="chart_formula_text">
            <a:extLst xmlns:a="http://schemas.openxmlformats.org/drawingml/2006/main"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 cambio es multiplicativo, no aditivo.</a:t>
            </a:r>
          </a:p>
        </p:txBody>
      </p:sp>
      <p:sp>
        <p:nvSpPr>
          <p:cNvPr id="13" name="fa_source">
            <a:extLst xmlns:a="http://schemas.openxmlformats.org/drawingml/2006/main"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salida permanece positiva.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49dcb4e75497b"/>
          <a:stretch xmlns:a="http://schemas.openxmlformats.org/drawingml/2006/main"/>
        </p:blipFill>
        <p:spPr>
          <a:xfrm xmlns:a="http://schemas.openxmlformats.org/drawingml/2006/main">
            <a:off x="1162050" y="16764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64">
            <a:extLst xmlns:a="http://schemas.openxmlformats.org/drawingml/2006/main">
              <a:ext uri="{FF2B5EF4-FFF2-40B4-BE49-F238E27FC236}">
                <a16:creationId xmlns:a16="http://schemas.microsoft.com/office/drawing/2014/main" id="{CE240267-9579-4A5F-AE6B-9B7D97E6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AMPLIACIÓN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Crecimiento y decaimiento dependen de la base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no se introduce cálculo diferencial.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a4ebb246c42bf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65">
            <a:extLst xmlns:a="http://schemas.openxmlformats.org/drawingml/2006/main">
              <a:ext uri="{FF2B5EF4-FFF2-40B4-BE49-F238E27FC236}">
                <a16:creationId xmlns:a16="http://schemas.microsoft.com/office/drawing/2014/main" id="{225B9CCF-7720-4A90-8ED9-5AA42E75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logaritmo responde por el exponente</a:t>
            </a:r>
          </a:p>
        </p:txBody>
      </p:sp>
      <p:sp>
        <p:nvSpPr>
          <p:cNvPr id="4" name="definition_box_box">
            <a:extLst xmlns:a="http://schemas.openxmlformats.org/drawingml/2006/main"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definition_box_accent">
            <a:extLst xmlns:a="http://schemas.openxmlformats.org/drawingml/2006/main"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inition_box_label">
            <a:extLst xmlns:a="http://schemas.openxmlformats.org/drawingml/2006/main"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50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definition_box_text">
            <a:extLst xmlns:a="http://schemas.openxmlformats.org/drawingml/2006/main"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43175"/>
            <a:ext cx="9505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c2b60f24343e9"/>
          <a:stretch xmlns:a="http://schemas.openxmlformats.org/drawingml/2006/main"/>
        </p:blipFill>
        <p:spPr>
          <a:xfrm xmlns:a="http://schemas.openxmlformats.org/drawingml/2006/main">
            <a:off x="6715125" y="2135684"/>
            <a:ext cx="4429125" cy="2491383"/>
          </a:xfrm>
          <a:prstGeom xmlns:a="http://schemas.openxmlformats.org/drawingml/2006/main" prst="rect">
            <a:avLst/>
          </a:prstGeom>
        </p:spPr>
      </p:pic>
      <p:sp>
        <p:nvSpPr>
          <p:cNvPr id="10" name="u01_asset_credit_66">
            <a:extLst xmlns:a="http://schemas.openxmlformats.org/drawingml/2006/main">
              <a:ext uri="{FF2B5EF4-FFF2-40B4-BE49-F238E27FC236}">
                <a16:creationId xmlns:a16="http://schemas.microsoft.com/office/drawing/2014/main" id="{2AAC29A3-D4DF-475B-86BF-D9DDEA43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442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GRÁFICO COMPARATIVO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 y logaritmo: ida y vuelta</a:t>
            </a:r>
          </a:p>
        </p:txBody>
      </p:sp>
      <p:sp>
        <p:nvSpPr>
          <p:cNvPr id="5" name="chart_observation_box">
            <a:extLst xmlns:a="http://schemas.openxmlformats.org/drawingml/2006/main"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Funciones inversas reflejadas respecto de y=x.</a:t>
            </a:r>
          </a:p>
        </p:txBody>
      </p:sp>
      <p:sp>
        <p:nvSpPr>
          <p:cNvPr id="6" name="chart_observation_accent">
            <a:extLst xmlns:a="http://schemas.openxmlformats.org/drawingml/2006/main"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hart_observation_label">
            <a:extLst xmlns:a="http://schemas.openxmlformats.org/drawingml/2006/main"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8" name="chart_observation_text">
            <a:extLst xmlns:a="http://schemas.openxmlformats.org/drawingml/2006/main"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14575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Los pares entrada–salida se intercambian.</a:t>
            </a:r>
          </a:p>
        </p:txBody>
      </p:sp>
      <p:sp>
        <p:nvSpPr>
          <p:cNvPr id="9" name="chart_formula_box">
            <a:extLst xmlns:a="http://schemas.openxmlformats.org/drawingml/2006/main"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función logarítmica solo admite entradas positivas.</a:t>
            </a:r>
          </a:p>
        </p:txBody>
      </p:sp>
      <p:sp>
        <p:nvSpPr>
          <p:cNvPr id="10" name="chart_formula_accent">
            <a:extLst xmlns:a="http://schemas.openxmlformats.org/drawingml/2006/main"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hart_formula_label">
            <a:extLst xmlns:a="http://schemas.openxmlformats.org/drawingml/2006/main"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2" name="chart_formula_text">
            <a:extLst xmlns:a="http://schemas.openxmlformats.org/drawingml/2006/main"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y=10ˣ; y=log₁₀(x); puntos correspondientes: (0,1) ↔ (1,0), (1,10) ↔ (10,1).</a:t>
            </a:r>
          </a:p>
        </p:txBody>
      </p:sp>
      <p:sp>
        <p:nvSpPr>
          <p:cNvPr id="13" name="fa_source">
            <a:extLst xmlns:a="http://schemas.openxmlformats.org/drawingml/2006/main"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simetría ayuda a visualizar la inversión; no reemplaza su definición.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ffd38743742c4"/>
          <a:stretch xmlns:a="http://schemas.openxmlformats.org/drawingml/2006/main"/>
        </p:blipFill>
        <p:spPr>
          <a:xfrm xmlns:a="http://schemas.openxmlformats.org/drawingml/2006/main">
            <a:off x="1162050" y="16764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67">
            <a:extLst xmlns:a="http://schemas.openxmlformats.org/drawingml/2006/main">
              <a:ext uri="{FF2B5EF4-FFF2-40B4-BE49-F238E27FC236}">
                <a16:creationId xmlns:a16="http://schemas.microsoft.com/office/drawing/2014/main" id="{A0BDC298-4BC6-4775-8444-18B38818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ERROR FRECUENTE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logaritmo físico necesita una razón adimensional</a:t>
            </a:r>
          </a:p>
        </p:txBody>
      </p:sp>
      <p:sp>
        <p:nvSpPr>
          <p:cNvPr id="4" name="frequent_error_box">
            <a:extLst xmlns:a="http://schemas.openxmlformats.org/drawingml/2006/main"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14288">
            <a:solidFill>
              <a:srgbClr val="A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referencia forma parte de la expresión.</a:t>
            </a:r>
          </a:p>
        </p:txBody>
      </p:sp>
      <p:sp>
        <p:nvSpPr>
          <p:cNvPr id="5" name="frequent_error_accent">
            <a:extLst xmlns:a="http://schemas.openxmlformats.org/drawingml/2006/main"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requent_error_label">
            <a:extLst xmlns:a="http://schemas.openxmlformats.org/drawingml/2006/main"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988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 xmlns:a="http://schemas.openxmlformats.org/drawingml/2006/main"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988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Incorrecto: log(Pa).</a:t>
            </a:r>
          </a:p>
        </p:txBody>
      </p:sp>
      <p:sp>
        <p:nvSpPr>
          <p:cNvPr id="8" name="error_correction_box">
            <a:extLst xmlns:a="http://schemas.openxmlformats.org/drawingml/2006/main"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9906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4288">
            <a:solidFill>
              <a:srgbClr val="2F6F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Correcto: log(p/p₀), si p y p₀ son magnitudes compatibles.</a:t>
            </a:r>
          </a:p>
        </p:txBody>
      </p:sp>
      <p:sp>
        <p:nvSpPr>
          <p:cNvPr id="9" name="error_correction_accent">
            <a:extLst xmlns:a="http://schemas.openxmlformats.org/drawingml/2006/main"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rror_correction_label">
            <a:extLst xmlns:a="http://schemas.openxmlformats.org/drawingml/2006/main"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950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 xmlns:a="http://schemas.openxmlformats.org/drawingml/2006/main"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950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Las unidades se cancelan dentro de la razón.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COMPARACIÓN VISUAL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escalas lineal y logarítmica responden preguntas distintas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logarítmica no implica por sí sola una escala perceptual.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5df8dbc944331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69">
            <a:extLst xmlns:a="http://schemas.openxmlformats.org/drawingml/2006/main">
              <a:ext uri="{FF2B5EF4-FFF2-40B4-BE49-F238E27FC236}">
                <a16:creationId xmlns:a16="http://schemas.microsoft.com/office/drawing/2014/main" id="{E095791B-16C7-4AD5-ACB1-722F355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U01-CH021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ECUACIÓN/ANTICIPO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decibel expresa una relación logarítmica</a:t>
            </a:r>
          </a:p>
        </p:txBody>
      </p:sp>
      <p:sp>
        <p:nvSpPr>
          <p:cNvPr id="4" name="formula_background">
            <a:extLst xmlns:a="http://schemas.openxmlformats.org/drawingml/2006/main"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editable_formula">
            <a:extLst xmlns:a="http://schemas.openxmlformats.org/drawingml/2006/main"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19300"/>
            <a:ext cx="609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6" name="formula_definition_box">
            <a:extLst xmlns:a="http://schemas.openxmlformats.org/drawingml/2006/main"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log₁₀(Q/Q₀). Q/Q₀: razón adimensional. L_Q: nivel expresado en dB.</a:t>
            </a:r>
          </a:p>
        </p:txBody>
      </p:sp>
      <p:sp>
        <p:nvSpPr>
          <p:cNvPr id="7" name="formula_definition_accent">
            <a:extLst xmlns:a="http://schemas.openxmlformats.org/drawingml/2006/main"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mula_definition_label">
            <a:extLst xmlns:a="http://schemas.openxmlformats.org/drawingml/2006/main"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3028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9" name="formula_definition_text">
            <a:extLst xmlns:a="http://schemas.openxmlformats.org/drawingml/2006/main"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Anticipo para magnitudes de tipo potencia.</a:t>
            </a:r>
          </a:p>
        </p:txBody>
      </p:sp>
      <p:sp>
        <p:nvSpPr>
          <p:cNvPr id="10" name="formula_interpretation_box">
            <a:extLst xmlns:a="http://schemas.openxmlformats.org/drawingml/2006/main"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953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ormula_interpretation_accent">
            <a:extLst xmlns:a="http://schemas.openxmlformats.org/drawingml/2006/main"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formula_interpretation_label">
            <a:extLst xmlns:a="http://schemas.openxmlformats.org/drawingml/2006/main"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655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formula_interpretation_text">
            <a:extLst xmlns:a="http://schemas.openxmlformats.org/drawingml/2006/main"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655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93b4e8dbc4be8"/>
          <a:stretch xmlns:a="http://schemas.openxmlformats.org/drawingml/2006/main"/>
        </p:blipFill>
        <p:spPr>
          <a:xfrm xmlns:a="http://schemas.openxmlformats.org/drawingml/2006/main">
            <a:off x="6858000" y="2193727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5" name="u01_asset_credit_70">
            <a:extLst xmlns:a="http://schemas.openxmlformats.org/drawingml/2006/main">
              <a:ext uri="{FF2B5EF4-FFF2-40B4-BE49-F238E27FC236}">
                <a16:creationId xmlns:a16="http://schemas.microsoft.com/office/drawing/2014/main" id="{FFCCDC69-5B14-40DD-9DD4-E52EC161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EJEMPLO/RECAP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100 equivale a 20 dB en este modelo</a:t>
            </a:r>
          </a:p>
        </p:txBody>
      </p:sp>
      <p:sp>
        <p:nvSpPr>
          <p:cNvPr id="4" name="worked_example_box">
            <a:extLst xmlns:a="http://schemas.openxmlformats.org/drawingml/2006/main"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log₁₀(100) = 10·2 = 20 dB.</a:t>
            </a:r>
          </a:p>
        </p:txBody>
      </p:sp>
      <p:sp>
        <p:nvSpPr>
          <p:cNvPr id="5" name="worked_example_accent">
            <a:extLst xmlns:a="http://schemas.openxmlformats.org/drawingml/2006/main"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worked_example_label">
            <a:extLst xmlns:a="http://schemas.openxmlformats.org/drawingml/2006/main"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worked_example_text">
            <a:extLst xmlns:a="http://schemas.openxmlformats.org/drawingml/2006/main"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3600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Cálculo, lectura y límite.</a:t>
            </a:r>
          </a:p>
        </p:txBody>
      </p:sp>
      <p:sp>
        <p:nvSpPr>
          <p:cNvPr id="8" name="worked_step_number_1">
            <a:extLst xmlns:a="http://schemas.openxmlformats.org/drawingml/2006/main"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worked_step_number_2">
            <a:extLst xmlns:a="http://schemas.openxmlformats.org/drawingml/2006/main"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sp>
        <p:nvSpPr>
          <p:cNvPr id="16" name="worked_step_number_3">
            <a:extLst xmlns:a="http://schemas.openxmlformats.org/drawingml/2006/main"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/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a0bfacfbc4de8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21" name="u01_asset_credit_71">
            <a:extLst xmlns:a="http://schemas.openxmlformats.org/drawingml/2006/main">
              <a:ext uri="{FF2B5EF4-FFF2-40B4-BE49-F238E27FC236}">
                <a16:creationId xmlns:a16="http://schemas.microsoft.com/office/drawing/2014/main" id="{E1083C3B-5293-475D-A954-B8CBE8D1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B08 · DIVISOR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Medir no es lo mismo que percibir ni diagnosticar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divider_number">
            <a:extLst xmlns:a="http://schemas.openxmlformats.org/drawingml/2006/main"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b9a986cc84cfd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72">
            <a:extLst xmlns:a="http://schemas.openxmlformats.org/drawingml/2006/main">
              <a:ext uri="{FF2B5EF4-FFF2-40B4-BE49-F238E27FC236}">
                <a16:creationId xmlns:a16="http://schemas.microsoft.com/office/drawing/2014/main" id="{A77DE6AB-5F5A-412A-8204-BA42F0E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niveles de descripción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relacionan, pero no son equivalentes.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cae3db6b549a2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73">
            <a:extLst xmlns:a="http://schemas.openxmlformats.org/drawingml/2006/main">
              <a:ext uri="{FF2B5EF4-FFF2-40B4-BE49-F238E27FC236}">
                <a16:creationId xmlns:a16="http://schemas.microsoft.com/office/drawing/2014/main" id="{9AC263A2-9098-444C-864D-17DF8F8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ERROR FRECUENTE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altura tonal están relacionadas, pero no son sinónimos</a:t>
            </a:r>
          </a:p>
        </p:txBody>
      </p:sp>
      <p:sp>
        <p:nvSpPr>
          <p:cNvPr id="4" name="frequent_error_box">
            <a:extLst xmlns:a="http://schemas.openxmlformats.org/drawingml/2006/main"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14288">
            <a:solidFill>
              <a:srgbClr val="A33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frequent_error_accent">
            <a:extLst xmlns:a="http://schemas.openxmlformats.org/drawingml/2006/main"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requent_error_label">
            <a:extLst xmlns:a="http://schemas.openxmlformats.org/drawingml/2006/main"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988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frequent_error_text">
            <a:extLst xmlns:a="http://schemas.openxmlformats.org/drawingml/2006/main"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76475"/>
            <a:ext cx="988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error_correction_box">
            <a:extLst xmlns:a="http://schemas.openxmlformats.org/drawingml/2006/main"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9906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2EE"/>
          </a:solidFill>
          <a:ln xmlns:a="http://schemas.openxmlformats.org/drawingml/2006/main" w="14288">
            <a:solidFill>
              <a:srgbClr val="2F6F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error_correction_accent">
            <a:extLst xmlns:a="http://schemas.openxmlformats.org/drawingml/2006/main"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rror_correction_label">
            <a:extLst xmlns:a="http://schemas.openxmlformats.org/drawingml/2006/main"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950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error_correction_text">
            <a:extLst xmlns:a="http://schemas.openxmlformats.org/drawingml/2006/main"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950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443cfea5f44ef"/>
          <a:stretch xmlns:a="http://schemas.openxmlformats.org/drawingml/2006/main"/>
        </p:blipFill>
        <p:spPr>
          <a:xfrm xmlns:a="http://schemas.openxmlformats.org/drawingml/2006/main">
            <a:off x="6715125" y="2180332"/>
            <a:ext cx="4524375" cy="2544961"/>
          </a:xfrm>
          <a:prstGeom xmlns:a="http://schemas.openxmlformats.org/drawingml/2006/main" prst="rect">
            <a:avLst/>
          </a:prstGeom>
        </p:spPr>
      </p:pic>
      <p:sp>
        <p:nvSpPr>
          <p:cNvPr id="13" name="u01_asset_credit_74">
            <a:extLst xmlns:a="http://schemas.openxmlformats.org/drawingml/2006/main">
              <a:ext uri="{FF2B5EF4-FFF2-40B4-BE49-F238E27FC236}">
                <a16:creationId xmlns:a16="http://schemas.microsoft.com/office/drawing/2014/main" id="{8BC24725-7C9A-48A7-8B08-4200B723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95875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Amplitud, sonoridad y control de “volumen”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“Volumen” no se usa aquí como sinónimo técnico de sonoridad.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5fd47b93445d2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75">
            <a:extLst xmlns:a="http://schemas.openxmlformats.org/drawingml/2006/main">
              <a:ext uri="{FF2B5EF4-FFF2-40B4-BE49-F238E27FC236}">
                <a16:creationId xmlns:a16="http://schemas.microsoft.com/office/drawing/2014/main" id="{56B3D3B7-95E9-42F8-A197-D8FB9ED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AMPLIACIÓN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 y timbre tampoco son equivalentes</a:t>
            </a:r>
          </a:p>
        </p:txBody>
      </p:sp>
      <p:sp>
        <p:nvSpPr>
          <p:cNvPr id="4" name="comparison_low">
            <a:extLst xmlns:a="http://schemas.openxmlformats.org/drawingml/2006/main"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low_wave">
            <a:extLst xmlns:a="http://schemas.openxmlformats.org/drawingml/2006/main"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000500" cy="9334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comparison_high">
            <a:extLst xmlns:a="http://schemas.openxmlformats.org/drawingml/2006/main"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high_wave_1">
            <a:extLst xmlns:a="http://schemas.openxmlformats.org/drawingml/2006/main"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high_wave_2">
            <a:extLst xmlns:a="http://schemas.openxmlformats.org/drawingml/2006/main"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high_wave_3">
            <a:extLst xmlns:a="http://schemas.openxmlformats.org/drawingml/2006/main"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00150" cy="80010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333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53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Datos sintéticos normalizados; no son mediciones.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2454f0ac34693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u01_asset_credit_76">
            <a:extLst xmlns:a="http://schemas.openxmlformats.org/drawingml/2006/main">
              <a:ext uri="{FF2B5EF4-FFF2-40B4-BE49-F238E27FC236}">
                <a16:creationId xmlns:a16="http://schemas.microsoft.com/office/drawing/2014/main" id="{1E3F4481-4FE4-4094-8C65-5E6B6077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U01-CH026 · Elaboración propia; datos sintéticos declarados.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sin calibración no está en pascales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Qué permite afirmar una app de registro.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Dato disponible: amplitud digital o relativa.</a:t>
            </a:r>
          </a:p>
        </p:txBody>
      </p:sp>
      <p:sp>
        <p:nvSpPr>
          <p:cNvPr id="6" name="clinical_connection_box">
            <a:extLst xmlns:a="http://schemas.openxmlformats.org/drawingml/2006/main"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667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inical_connection_accent">
            <a:extLst xmlns:a="http://schemas.openxmlformats.org/drawingml/2006/main"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666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inical_connection_label">
            <a:extLst xmlns:a="http://schemas.openxmlformats.org/drawingml/2006/main"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clinical_connection_text">
            <a:extLst xmlns:a="http://schemas.openxmlformats.org/drawingml/2006/main"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95525"/>
            <a:ext cx="4267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8a54bd9bb4212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2" name="u01_asset_credit_77">
            <a:extLst xmlns:a="http://schemas.openxmlformats.org/drawingml/2006/main">
              <a:ext uri="{FF2B5EF4-FFF2-40B4-BE49-F238E27FC236}">
                <a16:creationId xmlns:a16="http://schemas.microsoft.com/office/drawing/2014/main" id="{2D2184C7-510D-4225-811C-1F177C2C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APLICACIÓN/PREGUNTA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1000 Hz, 35 dB HL y “detectado” son datos diferentes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Clasificar antes de interpretar.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1000 Hz: frecuencia física. 35 dB HL: nivel referido al cero audiométrico correspondiente. “Detectado”: respuesta conductual observada.</a:t>
            </a:r>
          </a:p>
        </p:txBody>
      </p:sp>
      <p:sp>
        <p:nvSpPr>
          <p:cNvPr id="6" name="clinical_connection_box">
            <a:extLst xmlns:a="http://schemas.openxmlformats.org/drawingml/2006/main"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667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inical_connection_accent">
            <a:extLst xmlns:a="http://schemas.openxmlformats.org/drawingml/2006/main"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666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inical_connection_label">
            <a:extLst xmlns:a="http://schemas.openxmlformats.org/drawingml/2006/main"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clinical_connection_text">
            <a:extLst xmlns:a="http://schemas.openxmlformats.org/drawingml/2006/main"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95525"/>
            <a:ext cx="4267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9ba1680164f73"/>
          <a:stretch xmlns:a="http://schemas.openxmlformats.org/drawingml/2006/main"/>
        </p:blipFill>
        <p:spPr>
          <a:xfrm xmlns:a="http://schemas.openxmlformats.org/drawingml/2006/main">
            <a:off x="685800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2" name="u01_asset_credit_78">
            <a:extLst xmlns:a="http://schemas.openxmlformats.org/drawingml/2006/main">
              <a:ext uri="{FF2B5EF4-FFF2-40B4-BE49-F238E27FC236}">
                <a16:creationId xmlns:a16="http://schemas.microsoft.com/office/drawing/2014/main" id="{90379D5A-2C69-469A-834D-0639477A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APLICACIÓN/PROCESO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 equipo no equivale a evaluar a una persona</a:t>
            </a:r>
          </a:p>
        </p:txBody>
      </p:sp>
      <p:sp>
        <p:nvSpPr>
          <p:cNvPr id="4" name="process_card_1">
            <a:extLst xmlns:a="http://schemas.openxmlformats.org/drawingml/2006/main"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process_arrow_1">
            <a:extLst xmlns:a="http://schemas.openxmlformats.org/drawingml/2006/main"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cess_card_2">
            <a:extLst xmlns:a="http://schemas.openxmlformats.org/drawingml/2006/main"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process_arrow_2">
            <a:extLst xmlns:a="http://schemas.openxmlformats.org/drawingml/2006/main"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ocess_card_3">
            <a:extLst xmlns:a="http://schemas.openxmlformats.org/drawingml/2006/main"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process_arrow_3">
            <a:extLst xmlns:a="http://schemas.openxmlformats.org/drawingml/2006/main"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cess_card_4">
            <a:extLst xmlns:a="http://schemas.openxmlformats.org/drawingml/2006/main"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00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e910a11fd4b40"/>
          <a:stretch xmlns:a="http://schemas.openxmlformats.org/drawingml/2006/main"/>
        </p:blipFill>
        <p:spPr>
          <a:xfrm xmlns:a="http://schemas.openxmlformats.org/drawingml/2006/main">
            <a:off x="3302000" y="2000250"/>
            <a:ext cx="5588000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u01_asset_credit_79">
            <a:extLst xmlns:a="http://schemas.openxmlformats.org/drawingml/2006/main">
              <a:ext uri="{FF2B5EF4-FFF2-40B4-BE49-F238E27FC236}">
                <a16:creationId xmlns:a16="http://schemas.microsoft.com/office/drawing/2014/main" id="{189F186F-BDA5-4A58-B367-2C3231F4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RECAPITULACIÓN/PREGUNTA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mide, qué representa y qué no permite concluir?</a:t>
            </a:r>
          </a:p>
        </p:txBody>
      </p:sp>
      <p:sp>
        <p:nvSpPr>
          <p:cNvPr id="4" name="bullet_1">
            <a:extLst xmlns:a="http://schemas.openxmlformats.org/drawingml/2006/main"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6" name="bullet_2">
            <a:extLst xmlns:a="http://schemas.openxmlformats.org/drawingml/2006/main"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bullet_3">
            <a:extLst xmlns:a="http://schemas.openxmlformats.org/drawingml/2006/main"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bullet_4">
            <a:extLst xmlns:a="http://schemas.openxmlformats.org/drawingml/2006/main"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621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mini_recap_box">
            <a:extLst xmlns:a="http://schemas.openxmlformats.org/drawingml/2006/main"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mini_recap_accent">
            <a:extLst xmlns:a="http://schemas.openxmlformats.org/drawingml/2006/main"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mini_recap_label">
            <a:extLst xmlns:a="http://schemas.openxmlformats.org/drawingml/2006/main"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mini_recap_text">
            <a:extLst xmlns:a="http://schemas.openxmlformats.org/drawingml/2006/main"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3028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b550a118c4816"/>
          <a:stretch xmlns:a="http://schemas.openxmlformats.org/drawingml/2006/main"/>
        </p:blipFill>
        <p:spPr>
          <a:xfrm xmlns:a="http://schemas.openxmlformats.org/drawingml/2006/main">
            <a:off x="6715125" y="2180332"/>
            <a:ext cx="4524375" cy="2544961"/>
          </a:xfrm>
          <a:prstGeom xmlns:a="http://schemas.openxmlformats.org/drawingml/2006/main" prst="rect">
            <a:avLst/>
          </a:prstGeom>
        </p:spPr>
      </p:pic>
      <p:sp>
        <p:nvSpPr>
          <p:cNvPr id="17" name="u01_asset_credit_80">
            <a:extLst xmlns:a="http://schemas.openxmlformats.org/drawingml/2006/main">
              <a:ext uri="{FF2B5EF4-FFF2-40B4-BE49-F238E27FC236}">
                <a16:creationId xmlns:a16="http://schemas.microsoft.com/office/drawing/2014/main" id="{9B44166D-9D46-4DB6-A4A7-89A12D1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vocal al micrófono</a:t>
            </a:r>
          </a:p>
        </p:txBody>
      </p:sp>
      <p:sp>
        <p:nvSpPr>
          <p:cNvPr id="4" name="question_box_box">
            <a:extLst xmlns:a="http://schemas.openxmlformats.org/drawingml/2006/main"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952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question_box_accent">
            <a:extLst xmlns:a="http://schemas.openxmlformats.org/drawingml/2006/main"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question_box_label">
            <a:extLst xmlns:a="http://schemas.openxmlformats.org/drawingml/2006/main"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9800"/>
            <a:ext cx="912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question_box_text">
            <a:extLst xmlns:a="http://schemas.openxmlformats.org/drawingml/2006/main"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24125"/>
            <a:ext cx="912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340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340 m/s es un redondeo didáctico para las condiciones del caso.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87e91ea0842de"/>
          <a:stretch xmlns:a="http://schemas.openxmlformats.org/drawingml/2006/main"/>
        </p:blipFill>
        <p:spPr>
          <a:xfrm xmlns:a="http://schemas.openxmlformats.org/drawingml/2006/main">
            <a:off x="6477000" y="2089547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11" name="u01_asset_credit_81">
            <a:extLst xmlns:a="http://schemas.openxmlformats.org/drawingml/2006/main">
              <a:ext uri="{FF2B5EF4-FFF2-40B4-BE49-F238E27FC236}">
                <a16:creationId xmlns:a16="http://schemas.microsoft.com/office/drawing/2014/main" id="{66D55062-861D-4EDB-B8CA-C19E8114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qué podemos afirmar y qué no</a:t>
            </a:r>
          </a:p>
        </p:txBody>
      </p:sp>
      <p:sp>
        <p:nvSpPr>
          <p:cNvPr id="4" name="question_box_box">
            <a:extLst xmlns:a="http://schemas.openxmlformats.org/drawingml/2006/main"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952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question_box_accent">
            <a:extLst xmlns:a="http://schemas.openxmlformats.org/drawingml/2006/main"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question_box_label">
            <a:extLst xmlns:a="http://schemas.openxmlformats.org/drawingml/2006/main"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9800"/>
            <a:ext cx="912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question_box_text">
            <a:extLst xmlns:a="http://schemas.openxmlformats.org/drawingml/2006/main"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24125"/>
            <a:ext cx="912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3400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Calcular correctamente no autoriza inferencias que los datos no sostienen.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a8fb6b6274394"/>
          <a:stretch xmlns:a="http://schemas.openxmlformats.org/drawingml/2006/main"/>
        </p:blipFill>
        <p:spPr>
          <a:xfrm xmlns:a="http://schemas.openxmlformats.org/drawingml/2006/main">
            <a:off x="6477000" y="2089547"/>
            <a:ext cx="4762500" cy="2678906"/>
          </a:xfrm>
          <a:prstGeom xmlns:a="http://schemas.openxmlformats.org/drawingml/2006/main" prst="rect">
            <a:avLst/>
          </a:prstGeom>
        </p:spPr>
      </p:pic>
      <p:sp>
        <p:nvSpPr>
          <p:cNvPr id="11" name="u01_asset_credit_82">
            <a:extLst xmlns:a="http://schemas.openxmlformats.org/drawingml/2006/main">
              <a:ext uri="{FF2B5EF4-FFF2-40B4-BE49-F238E27FC236}">
                <a16:creationId xmlns:a16="http://schemas.microsoft.com/office/drawing/2014/main" id="{6153F557-8DF6-4BF5-A4B0-800F013E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61304AC1-5BD7-411B-B23C-58C40CB5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RECAPITULACIÓN FINAL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CA6C42D9-0741-4182-B2DC-4AF568CD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1 conecta fenómeno, medición e interpretación</a:t>
            </a:r>
          </a:p>
        </p:txBody>
      </p:sp>
      <p:sp>
        <p:nvSpPr>
          <p:cNvPr id="4" name="recap_node_1">
            <a:extLst xmlns:a="http://schemas.openxmlformats.org/drawingml/2006/main">
              <a:ext uri="{FF2B5EF4-FFF2-40B4-BE49-F238E27FC236}">
                <a16:creationId xmlns:a16="http://schemas.microsoft.com/office/drawing/2014/main" id="{AE5DC6BB-B0FA-4C77-95EB-7CC6EB96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Fenómeno: fuente–medio–receptor.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74D8CE6-E48D-46B9-A091-B1FB27E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Medición: magnitud–valor–unida…</a:t>
            </a:r>
          </a:p>
        </p:txBody>
      </p:sp>
      <p:sp>
        <p:nvSpPr>
          <p:cNvPr id="6" name="recap_node_2">
            <a:extLst xmlns:a="http://schemas.openxmlformats.org/drawingml/2006/main">
              <a:ext uri="{FF2B5EF4-FFF2-40B4-BE49-F238E27FC236}">
                <a16:creationId xmlns:a16="http://schemas.microsoft.com/office/drawing/2014/main" id="{0789FE13-A843-42CC-8658-B44B2EEC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859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6A46864-82DE-44A6-A109-401FED45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38350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Recapitulación final.</a:t>
            </a:r>
          </a:p>
        </p:txBody>
      </p:sp>
      <p:sp>
        <p:nvSpPr>
          <p:cNvPr id="8" name="recap_node_3">
            <a:extLst xmlns:a="http://schemas.openxmlformats.org/drawingml/2006/main">
              <a:ext uri="{FF2B5EF4-FFF2-40B4-BE49-F238E27FC236}">
                <a16:creationId xmlns:a16="http://schemas.microsoft.com/office/drawing/2014/main" id="{ADCEE98F-8E8A-4B4F-97EB-A5E39CF3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766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29A7264-8B66-4063-B185-56DD7E8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Control: prefijos y dimensione…</a:t>
            </a:r>
          </a:p>
        </p:txBody>
      </p:sp>
      <p:sp>
        <p:nvSpPr>
          <p:cNvPr id="10" name="recap_node_4">
            <a:extLst xmlns:a="http://schemas.openxmlformats.org/drawingml/2006/main">
              <a:ext uri="{FF2B5EF4-FFF2-40B4-BE49-F238E27FC236}">
                <a16:creationId xmlns:a16="http://schemas.microsoft.com/office/drawing/2014/main" id="{F7DE4E85-3040-4BDC-BC75-DB8D8A92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9158BD8-A251-4CB9-9DE0-54143C0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ecap_node_5">
            <a:extLst xmlns:a="http://schemas.openxmlformats.org/drawingml/2006/main">
              <a:ext uri="{FF2B5EF4-FFF2-40B4-BE49-F238E27FC236}">
                <a16:creationId xmlns:a16="http://schemas.microsoft.com/office/drawing/2014/main" id="{CB6B5BA5-7E24-417C-8452-54B7B3A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847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0B10CCF-6539-4EBC-810D-F306177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cxnSp>
        <p:nvCxnSpPr>
          <p:cNvPr id="69" name="Conector: angular 32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2447925"/>
            <a:ext cx="49530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70" name="Conector: angular 33"/>
          <p:cNvCxnSpPr>
            <a:stCxn xmlns:a="http://schemas.openxmlformats.org/drawingml/2006/main" id="4" idx="2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3638550"/>
            <a:ext cx="1685925" cy="600075"/>
          </a:xfrm>
          <a:prstGeom xmlns:a="http://schemas.openxmlformats.org/drawingml/2006/main" prst="bentConnector5">
            <a:avLst>
              <a:gd name="adj1" fmla="val 0"/>
              <a:gd name="adj2" fmla="val 38095"/>
              <a:gd name="adj3" fmla="val 86441"/>
            </a:avLst>
          </a:prstGeom>
          <a:ln xmlns:a="http://schemas.openxmlformats.org/drawingml/2006/main"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71" name="Conector: angular 34"/>
          <p:cNvCxnSpPr>
            <a:stCxn xmlns:a="http://schemas.openxmlformats.org/drawingml/2006/main" id="6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210300" y="2286000"/>
            <a:ext cx="1685925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72" name="Conector: angular 35"/>
          <p:cNvCxnSpPr>
            <a:stCxn xmlns:a="http://schemas.openxmlformats.org/drawingml/2006/main" id="8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210300" y="3638550"/>
            <a:ext cx="1685925" cy="60007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73" name="Conector recto de flecha 36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86850" y="30765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C5F5D4B-C991-4C11-92A1-F54E5BB2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33489639d4adc"/>
          <a:stretch xmlns:a="http://schemas.openxmlformats.org/drawingml/2006/main"/>
        </p:blipFill>
        <p:spPr>
          <a:xfrm xmlns:a="http://schemas.openxmlformats.org/drawingml/2006/main">
            <a:off x="6191250" y="2056805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56" name="u01_asset_credit_83">
            <a:extLst xmlns:a="http://schemas.openxmlformats.org/drawingml/2006/main">
              <a:ext uri="{FF2B5EF4-FFF2-40B4-BE49-F238E27FC236}">
                <a16:creationId xmlns:a16="http://schemas.microsoft.com/office/drawing/2014/main" id="{C58310C4-4921-423C-B333-D8867D15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33E11C68-F2E1-4565-A9E1-516178FC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B09 · CIERRE/PUENTE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4E6F6E93-49D5-494D-919D-E4A52B87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 que medimos prepara lo que podremos explicar</a:t>
            </a:r>
          </a:p>
        </p:txBody>
      </p:sp>
      <p:sp>
        <p:nvSpPr>
          <p:cNvPr id="4" name="flat_subtitle_0">
            <a:extLst xmlns:a="http://schemas.openxmlformats.org/drawingml/2006/main">
              <a:ext uri="{FF2B5EF4-FFF2-40B4-BE49-F238E27FC236}">
                <a16:creationId xmlns:a16="http://schemas.microsoft.com/office/drawing/2014/main" id="{C478E0B8-939F-49A8-A487-B5AAC5E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7B9CC38-5605-4A2C-A7E4-0F95FCB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a0811a4804670"/>
          <a:stretch xmlns:a="http://schemas.openxmlformats.org/drawingml/2006/main"/>
        </p:blipFill>
        <p:spPr>
          <a:xfrm xmlns:a="http://schemas.openxmlformats.org/drawingml/2006/main">
            <a:off x="6762750" y="21699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u01_asset_credit_84">
            <a:extLst xmlns:a="http://schemas.openxmlformats.org/drawingml/2006/main">
              <a:ext uri="{FF2B5EF4-FFF2-40B4-BE49-F238E27FC236}">
                <a16:creationId xmlns:a16="http://schemas.microsoft.com/office/drawing/2014/main" id="{5CB5CA3C-04CE-4DEB-BCD4-7570210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E9DDE4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9DDE4"/>
                </a:solidFill>
                <a:latin typeface="Calibri"/>
                <a:ea typeface="Calibri"/>
                <a:cs typeface="Calibri"/>
              </a:rPr>
              <a:t>U01-CH025 · Elaboración propia a partir de course_map y dependency_map.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 completa de magnitudes fundamentales del SI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Tiempo–segundo (s)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longitud–metro (m)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masa–kilogramo (kg)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corriente eléctrica–ampere (A)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 técnica; no requiere lectura completa durante la ruta central.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 técnica; no requiere lectura completa durante la ruta central.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Referencia técnica; no requiere lectura completa durante la ruta central.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 ampliada de prefijos SI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tera T 10¹²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giga G 10⁹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mega M 10⁶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kilo k 10³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Mayúsculas y minúsculas forman parte del símbolo.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Mayúsculas y minúsculas forman parte del símbolo.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Mayúsculas y minúsculas forman parte del símbolo.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Dependencias dimensionales extendidas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dimensiones permiten detectar incompatibilidades; no prueban una ley física.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dimensiones permiten detectar incompatibilidades; no prueban una ley física.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dimensiones permiten detectar incompatibilidades; no prueban una ley física.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48d38f0de462b"/>
          <a:stretch xmlns:a="http://schemas.openxmlformats.org/drawingml/2006/main"/>
        </p:blipFill>
        <p:spPr>
          <a:xfrm xmlns:a="http://schemas.openxmlformats.org/drawingml/2006/main">
            <a:off x="6667500" y="2143125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8" name="u01_asset_credit_87">
            <a:extLst xmlns:a="http://schemas.openxmlformats.org/drawingml/2006/main">
              <a:ext uri="{FF2B5EF4-FFF2-40B4-BE49-F238E27FC236}">
                <a16:creationId xmlns:a16="http://schemas.microsoft.com/office/drawing/2014/main" id="{0BCD7DDB-A071-4F0E-AF93-C708087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y de las preguntas breves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Devolución razonada.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U01-004: d=2 m distingue símbolo, valor y unidad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peso en N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d/c produce tiempo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frecuencia y altura tonal no son idénticas.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Respaldo de soluciones breves.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de soluciones breves.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Respaldo de soluciones breves.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los ejemplos mecánicos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cálculo y unidades.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Propagación: 68/340 = 0,20 s.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Peso: (2,50)(9,80)=24,5 N.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Presión: p=F_⊥/S.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Densidad: ρ=m/V.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unidad final debe corresponder a la magnitud buscada.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debe corresponder a la magnitud buscada.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unidad final debe corresponder a la magnitud buscada.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RESPALDO/SOLUCIÓN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función y trigonometría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recuperación diferenciada.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para consulta o clase de apoyo.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para consulta o clase de apoyo.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Material para consulta o clase de apoyo.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4c0e46b874bd0"/>
          <a:stretch xmlns:a="http://schemas.openxmlformats.org/drawingml/2006/main"/>
        </p:blipFill>
        <p:spPr>
          <a:xfrm xmlns:a="http://schemas.openxmlformats.org/drawingml/2006/main">
            <a:off x="6667500" y="2143125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18" name="u01_asset_credit_90">
            <a:extLst xmlns:a="http://schemas.openxmlformats.org/drawingml/2006/main">
              <a:ext uri="{FF2B5EF4-FFF2-40B4-BE49-F238E27FC236}">
                <a16:creationId xmlns:a16="http://schemas.microsoft.com/office/drawing/2014/main" id="{AE0B533B-BBAE-480B-BDEC-22ABB50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Propiedades adicionales de logaritmos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para profundización.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log_a(xy)=log_a x+log_a y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log_a(x/y)=log_a x−log_a y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log_a(xʳ)=r log_a x.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Condiciones: a&gt;0, a≠1, argumentos positivos.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después de comprender el logaritmo como inversa.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Usar solo después de comprender el logaritmo como inversa.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Usar solo después de comprender el logaritmo como inversa.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no son intercambiables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referencia y el procedimiento cambian.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dB SPL: referencia física de presión. dB HL: referencia audiométrica dependiente de frecuencia y transductor. dB SL: referencia al umbral individual en una condición definida.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No existe conversión universal entre estas escalas sin datos de calibración y procedimiento.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Ante “35 dB”, preguntar siempre: ¿qué escala y qué referencia?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Advertencia conceptual; la formalización corresponde a U4 y U8.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BBCCD4C4-A627-4EE4-A40A-170F7747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RESPALDO/BIBLIOGRAFÍA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3FEC507A-CEFB-4E62-8D2B-45D161F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la Unidad 1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5B87595-0FD2-45FF-A85C-B78C87C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Alcance, definiciones y referencias.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C6FD7AA1-11DA-489A-85C6-BA050474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Programa oficial de Física Acústica.</a:t>
            </a:r>
          </a:p>
        </p:txBody>
      </p:sp>
      <p:sp>
        <p:nvSpPr>
          <p:cNvPr id="6" name="reference_rule_1">
            <a:extLst xmlns:a="http://schemas.openxmlformats.org/drawingml/2006/main">
              <a:ext uri="{FF2B5EF4-FFF2-40B4-BE49-F238E27FC236}">
                <a16:creationId xmlns:a16="http://schemas.microsoft.com/office/drawing/2014/main" id="{5612D749-BEA0-448A-8E79-176A3B2D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0344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27A0EB4-C786-4092-9B64-5C0F500B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Libro del curso, capítulo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83E81EC-B0C2-4D12-A4C1-8DA4CA2C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9" name="reference_rule_2">
            <a:extLst xmlns:a="http://schemas.openxmlformats.org/drawingml/2006/main">
              <a:ext uri="{FF2B5EF4-FFF2-40B4-BE49-F238E27FC236}">
                <a16:creationId xmlns:a16="http://schemas.microsoft.com/office/drawing/2014/main" id="{866E7810-E060-4131-AFE8-EC753606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0344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A2F0CF60-D157-4CFC-9191-95599A2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BIPM, *The International System of Units*.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95B45571-B2CF-4604-AD3D-ACC0246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NIST, recursos del SI.</a:t>
            </a:r>
          </a:p>
        </p:txBody>
      </p:sp>
      <p:sp>
        <p:nvSpPr>
          <p:cNvPr id="12" name="reference_rule_3">
            <a:extLst xmlns:a="http://schemas.openxmlformats.org/drawingml/2006/main">
              <a:ext uri="{FF2B5EF4-FFF2-40B4-BE49-F238E27FC236}">
                <a16:creationId xmlns:a16="http://schemas.microsoft.com/office/drawing/2014/main" id="{4B175EBE-53B7-4EBD-84C9-6142336A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03441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hlinkClick xmlns:r="http://schemas.openxmlformats.org/officeDocument/2006/relationships" r:id="R31fccd41680b4dcf"/>
              </a:rPr>
              <a:t>https://www.nist.gov/publications/si-base-units-relationship-poster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DDA5A17-DA64-4BDA-BE84-E550DBAD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7079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67511fe92c2489e"/>
              </a:rPr>
              <a:t>https://www.bipm.org/en/publications/si-brochure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a_eyebrow">
            <a:extLst xmlns:a="http://schemas.openxmlformats.org/drawingml/2006/main"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 xmlns:a="http://schemas.openxmlformats.org/drawingml/2006/main"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Ejercicios alternativos y criterios de corrección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Banco de transferencia.</a:t>
            </a:r>
          </a:p>
        </p:txBody>
      </p:sp>
      <p:sp>
        <p:nvSpPr>
          <p:cNvPr id="5" name="bullet_1">
            <a:extLst xmlns:a="http://schemas.openxmlformats.org/drawingml/2006/main"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bullet_text_1">
            <a:extLst xmlns:a="http://schemas.openxmlformats.org/drawingml/2006/main"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7" name="bullet_2">
            <a:extLst xmlns:a="http://schemas.openxmlformats.org/drawingml/2006/main"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bullet_text_2">
            <a:extLst xmlns:a="http://schemas.openxmlformats.org/drawingml/2006/main"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Corregir una medición mal escrita.</a:t>
            </a:r>
          </a:p>
        </p:txBody>
      </p:sp>
      <p:sp>
        <p:nvSpPr>
          <p:cNvPr id="9" name="bullet_3">
            <a:extLst xmlns:a="http://schemas.openxmlformats.org/drawingml/2006/main"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_text_3">
            <a:extLst xmlns:a="http://schemas.openxmlformats.org/drawingml/2006/main"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11" name="bullet_4">
            <a:extLst xmlns:a="http://schemas.openxmlformats.org/drawingml/2006/main"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bullet_text_4">
            <a:extLst xmlns:a="http://schemas.openxmlformats.org/drawingml/2006/main"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44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Elegir una expresión por dimensiones.</a:t>
            </a:r>
          </a:p>
        </p:txBody>
      </p:sp>
      <p:sp>
        <p:nvSpPr>
          <p:cNvPr id="13" name="appendix_observation_box">
            <a:extLst xmlns:a="http://schemas.openxmlformats.org/drawingml/2006/main"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5524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6670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datos o contexto comprueba transferencia, no memoria.</a:t>
            </a:r>
          </a:p>
        </p:txBody>
      </p:sp>
      <p:sp>
        <p:nvSpPr>
          <p:cNvPr id="14" name="appendix_observation_accent">
            <a:extLst xmlns:a="http://schemas.openxmlformats.org/drawingml/2006/main"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66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ppendix_observation_label">
            <a:extLst xmlns:a="http://schemas.openxmlformats.org/drawingml/2006/main"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95900"/>
            <a:ext cx="512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datos o contexto comprueba transferencia, no memoria.</a:t>
            </a:r>
          </a:p>
        </p:txBody>
      </p:sp>
      <p:sp>
        <p:nvSpPr>
          <p:cNvPr id="16" name="appendix_observation_text">
            <a:extLst xmlns:a="http://schemas.openxmlformats.org/drawingml/2006/main"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34025"/>
            <a:ext cx="512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Cambiar datos o contexto comprueba transferencia, no memoria.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2026-07-29T01:00:39.9550000Z</dcterms:created>
  <dcterms:modified xsi:type="dcterms:W3CDTF">2026-07-29T01:00:39.9550000Z</dcterms:modified>
</coreProperties>
</file>