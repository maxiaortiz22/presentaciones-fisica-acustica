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3" r:id="rId2"/>
  </p:sldMasterIdLst>
  <p:notesMasterIdLst>
    <p:notesMasterId r:id="rId9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microsoft.com/office/2016/11/relationships/changesInfo" Target="changesInfos/changesInfo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presProps" Target="presProps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o Ortiz" userId="90727fd8e92db46b" providerId="LiveId" clId="{9BC7EBD1-E6C7-40E2-9BE0-E69EBE0B6810}"/>
    <pc:docChg chg="undo custSel modSld">
      <pc:chgData name="Maximiliano Ortiz" userId="90727fd8e92db46b" providerId="LiveId" clId="{9BC7EBD1-E6C7-40E2-9BE0-E69EBE0B6810}" dt="2026-07-29T02:05:33.770" v="5" actId="1036"/>
      <pc:docMkLst>
        <pc:docMk/>
      </pc:docMkLst>
      <pc:sldChg chg="modSp mod">
        <pc:chgData name="Maximiliano Ortiz" userId="90727fd8e92db46b" providerId="LiveId" clId="{9BC7EBD1-E6C7-40E2-9BE0-E69EBE0B6810}" dt="2026-07-29T02:04:32.778" v="1" actId="1076"/>
        <pc:sldMkLst>
          <pc:docMk/>
          <pc:sldMk cId="1320203634" sldId="290"/>
        </pc:sldMkLst>
        <pc:picChg chg="mod">
          <ac:chgData name="Maximiliano Ortiz" userId="90727fd8e92db46b" providerId="LiveId" clId="{9BC7EBD1-E6C7-40E2-9BE0-E69EBE0B6810}" dt="2026-07-29T02:04:32.778" v="1" actId="1076"/>
          <ac:picMkLst>
            <pc:docMk/>
            <pc:sldMk cId="1320203634" sldId="290"/>
            <ac:picMk id="34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29T02:04:45.307" v="3" actId="1076"/>
        <pc:sldMkLst>
          <pc:docMk/>
          <pc:sldMk cId="1926975773" sldId="292"/>
        </pc:sldMkLst>
        <pc:picChg chg="mod">
          <ac:chgData name="Maximiliano Ortiz" userId="90727fd8e92db46b" providerId="LiveId" clId="{9BC7EBD1-E6C7-40E2-9BE0-E69EBE0B6810}" dt="2026-07-29T02:04:45.307" v="3" actId="1076"/>
          <ac:picMkLst>
            <pc:docMk/>
            <pc:sldMk cId="1926975773" sldId="292"/>
            <ac:picMk id="31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29T02:05:33.770" v="5" actId="1036"/>
        <pc:sldMkLst>
          <pc:docMk/>
          <pc:sldMk cId="318321949" sldId="324"/>
        </pc:sldMkLst>
        <pc:picChg chg="mod">
          <ac:chgData name="Maximiliano Ortiz" userId="90727fd8e92db46b" providerId="LiveId" clId="{9BC7EBD1-E6C7-40E2-9BE0-E69EBE0B6810}" dt="2026-07-29T02:05:33.770" v="5" actId="1036"/>
          <ac:picMkLst>
            <pc:docMk/>
            <pc:sldMk cId="318321949" sldId="324"/>
            <ac:picMk id="3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Presentar la unidad como el vocabulario común del curso. No prometer una teoría completa del sonido: hoy se construyen herramientas para describirlo.</a:t>
            </a:r>
          </a:p>
          <a:p>
            <a:r>
              <a:t>- **Pregunta y respuesta esperada:** “¿Qué palabras físicas usarían para describir una voz?” Se esperan términos cotidianos; no corregir todavía.</a:t>
            </a:r>
          </a:p>
          <a:p>
            <a:r>
              <a:t>- **Énfasis/error frecuente:** Acústica no se reduce a ondas ni a decibeles.</a:t>
            </a:r>
          </a:p>
          <a:p>
            <a:r>
              <a:t>- **Transición:** “Partamos de una escena que todos podemos reconocer”.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MAP U1; BRF.</a:t>
            </a:r>
          </a:p>
          <a:p>
            <a:endParaRPr/>
          </a:p>
          <a:p>
            <a:r>
              <a:t>Transición: Comencemos con una situación conocida.</a:t>
            </a:r>
          </a:p>
          <a:p>
            <a:endParaRPr/>
          </a:p>
          <a:p>
            <a:r>
              <a:t>Texto alternativo: Una persona vocaliza; la perturbación atraviesa el aire y llega a un receptor.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30 segundos de observación. Separar en el pizarrón respuestas sobre producción, medición, experiencia y clínica, sin nombrar aún las categorías.</a:t>
            </a:r>
          </a:p>
          <a:p>
            <a:r>
              <a:t>- **Pregunta y respuesta esperada:** Qué se produce: una perturbación/señal; qué mide el micrófono: una respuesta instrumental; qué experimenta la persona: una percepción.</a:t>
            </a:r>
          </a:p>
          <a:p>
            <a:r>
              <a:t>- **Énfasis/error frecuente:** Evitar aceptar “el micrófono mide cómo se escucha” como equivalencia.</a:t>
            </a:r>
          </a:p>
          <a:p>
            <a:r>
              <a:t>- **Transición:** “Para precisar las respuestas vamos a recuperar herramientas básicas”.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sec:u1-situacion; PDF p. 14; BRF.</a:t>
            </a:r>
          </a:p>
          <a:p>
            <a:endParaRPr/>
          </a:p>
          <a:p>
            <a:r>
              <a:t>Transición: Para responder mejor, primero necesitamos recuperar algunas herramientas.</a:t>
            </a:r>
          </a:p>
          <a:p>
            <a:endParaRPr/>
          </a:p>
          <a:p>
            <a:r>
              <a:t>Texto alternativo: Persona que vocaliza frente a un micrófono mientras otra persona escucha; tres preguntas distinguen producción, medición y experiencia.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Normalizar la heterogeneidad del grupo. Explicar que potencias, funciones y trigonometría se recuperarán en contexto, no como examen previo.</a:t>
            </a:r>
          </a:p>
          <a:p>
            <a:r>
              <a:t>- **Pregunta y respuesta esperada:** Pedir una señal de confianza de 1 a 5 para cada herramienta; no hay respuesta correcta.</a:t>
            </a:r>
          </a:p>
          <a:p>
            <a:r>
              <a:t>- **Énfasis/error frecuente:** No presentar los prerrequisitos como una barrera de ingreso.</a:t>
            </a:r>
          </a:p>
          <a:p>
            <a:r>
              <a:t>- **Transición:** “Veamos qué apoyos necesita este grupo concreto”.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sec:u1-previos; BRF; DEP.</a:t>
            </a:r>
          </a:p>
          <a:p>
            <a:endParaRPr/>
          </a:p>
          <a:p>
            <a:r>
              <a:t>Transición: Hagamos un diagnóstico breve, sin calificación.</a:t>
            </a:r>
          </a:p>
          <a:p>
            <a:endParaRPr/>
          </a:p>
          <a:p>
            <a:r>
              <a:t>Texto alternativo: Dos grupos de tarjetas separan conocimientos cotidianos de herramientas que se recuperarán durante la unidad.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Recoger respuestas por manos, tarjetas o formulario. Anotar patrones, no nombres. Guardar la distribución para U01-083.</a:t>
            </a:r>
          </a:p>
          <a:p>
            <a:r>
              <a:t>- **Pregunta y respuesta esperada:** 1: magnitud/símbolo/valor/unidad; 2: N; 3: `d/c`; 4: relacionadas, no idénticas.</a:t>
            </a:r>
          </a:p>
          <a:p>
            <a:r>
              <a:t>- **Énfasis/error frecuente:** No resolver todavía; pedir una razón breve para evitar azar.</a:t>
            </a:r>
          </a:p>
          <a:p>
            <a:r>
              <a:t>- **Transición:** “Al final deberían poder justificar cada respuesta”.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BRF; TEX ejercicios D1–D3.</a:t>
            </a:r>
          </a:p>
          <a:p>
            <a:endParaRPr/>
          </a:p>
          <a:p>
            <a:r>
              <a:t>Transición: Los objetivos muestran qué evidencias esperamos construir.</a:t>
            </a:r>
          </a:p>
          <a:p>
            <a:endParaRPr/>
          </a:p>
          <a:p>
            <a:r>
              <a:t>Texto alternativo: Cuatro preguntas diagnósticas sobre unidades, peso, dimensiones y frecuencia.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los objetivos por grupos, no palabra por palabra. Asociar cada uno con una evidencia: clasificación, cálculo, justificación o límite.</a:t>
            </a:r>
          </a:p>
          <a:p>
            <a:r>
              <a:t>- **Pregunta y respuesta esperada:** “¿Cuál objetivo exige algo más que calcular?” Interpretar límites y distinguir categorías.</a:t>
            </a:r>
          </a:p>
          <a:p>
            <a:r>
              <a:t>- **Énfasis/error frecuente:** Obtener un número correcto no agota la comprensión.</a:t>
            </a:r>
          </a:p>
          <a:p>
            <a:r>
              <a:t>- **Transición:** “Esta es la ruta que seguiremos para construir esas evidencias”.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BRF; TEX sec:u1-proposito.</a:t>
            </a:r>
          </a:p>
          <a:p>
            <a:endParaRPr/>
          </a:p>
          <a:p>
            <a:r>
              <a:t>Transición: Veamos cómo se organiza la clase.</a:t>
            </a:r>
          </a:p>
          <a:p>
            <a:endParaRPr/>
          </a:p>
          <a:p>
            <a:r>
              <a:t>Texto alternativo: Ruta de aprendizaje con ocho objetivos agrupados en cinco etapas.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Marcar la pausa y aclarar que las complementarias no forman parte obligatoria del recorrido. Señalar el retorno al caso inicial.</a:t>
            </a:r>
          </a:p>
          <a:p>
            <a:r>
              <a:t>- **Pregunta y respuesta esperada:** “¿Por qué interpretar aparece después de medir y representar?” Porque necesita conocer qué dato se obtuvo y bajo qué modelo.</a:t>
            </a:r>
          </a:p>
          <a:p>
            <a:r>
              <a:t>- **Énfasis/error frecuente:** No intentar completar todas las slides opcionales.</a:t>
            </a:r>
          </a:p>
          <a:p>
            <a:r>
              <a:t>- **Transición:** “Empecemos por el sistema acústico mínimo”.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BRF; MAP U1; EST.</a:t>
            </a:r>
          </a:p>
          <a:p>
            <a:endParaRPr/>
          </a:p>
          <a:p>
            <a:r>
              <a:t>Transición: Primero delimitaremos el sistema acústico mínimo.</a:t>
            </a:r>
          </a:p>
          <a:p>
            <a:endParaRPr/>
          </a:p>
          <a:p>
            <a:r>
              <a:t>Texto alternativo: Cinco etapas conectadas desde el fenómeno hasta la interpretación, con una pausa intermedia.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Recuperar vocabulario de U01-002 y agruparlo bajo las funciones originar, transmitir y responder.</a:t>
            </a:r>
          </a:p>
          <a:p>
            <a:r>
              <a:t>- **Pregunta y respuesta esperada:** En la vocalización: origina la voz; transmite el aire; responden micrófono y oído según el sistema.</a:t>
            </a:r>
          </a:p>
          <a:p>
            <a:r>
              <a:t>- **Énfasis/error frecuente:** Todavía no describir la onda formalmente.</a:t>
            </a:r>
          </a:p>
          <a:p>
            <a:r>
              <a:t>- **Transición:** “En acústica llamamos fuente, medio y receptor a esas funciones”.</a:t>
            </a:r>
          </a:p>
          <a:p>
            <a:r>
              <a:t>- **Duración:** 1 min.</a:t>
            </a:r>
          </a:p>
          <a:p>
            <a:endParaRPr/>
          </a:p>
          <a:p>
            <a:r>
              <a:t>Fuente de redacción: TEX sec:u1-situacion.</a:t>
            </a:r>
          </a:p>
          <a:p>
            <a:endParaRPr/>
          </a:p>
          <a:p>
            <a:r>
              <a:t>Transición: Esas funciones reciben nombres precisos.</a:t>
            </a:r>
          </a:p>
          <a:p>
            <a:endParaRPr/>
          </a:p>
          <a:p>
            <a:r>
              <a:t>Texto alternativo: Tres nodos conectados representan origen, transmisión y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cada nodo y reemplazar ejemplos: voz/aire/oído y parlante/aire/micrófono. Explicar que el receptor puede transformar, registrar o experimentar.</a:t>
            </a:r>
          </a:p>
          <a:p>
            <a:r>
              <a:t>- **Pregunta y respuesta esperada:** “¿Un micrófono puede ser receptor?” Sí, dentro del sistema delimitado.</a:t>
            </a:r>
          </a:p>
          <a:p>
            <a:r>
              <a:t>- **Énfasis/error frecuente:** No confundir receptor con persona.</a:t>
            </a:r>
          </a:p>
          <a:p>
            <a:r>
              <a:t>- **Transición:** “Los roles dependen del sistema que decidimos analizar”.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sec:u1-situacion; PDF p. 14; INV C02–C04.</a:t>
            </a:r>
          </a:p>
          <a:p>
            <a:endParaRPr/>
          </a:p>
          <a:p>
            <a:r>
              <a:t>Transición: Un mismo objeto puede ocupar un rol distinto en otro sistema.</a:t>
            </a:r>
          </a:p>
          <a:p>
            <a:endParaRPr/>
          </a:p>
          <a:p>
            <a:r>
              <a:t>Texto alternativo: Tres cajas conectadas: la fuente origina, el medio transmite y el receptor responde.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solo si el grupo fija los roles como propiedades. Delimitar una cadena mayor y mostrar que un transductor puede recibir una señal y originar otra.</a:t>
            </a:r>
          </a:p>
          <a:p>
            <a:r>
              <a:t>- **Pregunta y respuesta esperada:** Un parlante puede ser receptor de una señal eléctrica y fuente de una perturbación mecánica, según la frontera elegida.</a:t>
            </a:r>
          </a:p>
          <a:p>
            <a:r>
              <a:t>- **Énfasis/error frecuente:** No multiplicar nodos hasta volver ilegible el modelo.</a:t>
            </a:r>
          </a:p>
          <a:p>
            <a:r>
              <a:t>- **Transición:** “Ahora distingamos rol funcional de movimiento material”.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sec:u1-situacion; TEX sec:u1-relacion-fono.</a:t>
            </a:r>
          </a:p>
          <a:p>
            <a:endParaRPr/>
          </a:p>
          <a:p>
            <a:r>
              <a:t>Transición: Delimitar roles no responde todavía qué se desplaza.</a:t>
            </a:r>
          </a:p>
          <a:p>
            <a:endParaRPr/>
          </a:p>
          <a:p>
            <a:r>
              <a:t>Texto alternativo: Tres cadenas muestran que la función de un elemento cambia según el sistema analizado.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Reproducir el GIF una vez sin hablar y otra siguiendo la partícula marcada. Luego seguir el frente de compresión. Explicar que son dos trayectorias distintas.</a:t>
            </a:r>
          </a:p>
          <a:p>
            <a:r>
              <a:t>- **Pregunta y respuesta esperada:** “¿La partícula marcada llega al receptor?” No; oscila alrededor de su posición.</a:t>
            </a:r>
          </a:p>
          <a:p>
            <a:r>
              <a:t>- **Multimedia:** GIF U01-MEDIA002, sin audio, 6–8 s; respaldo estático U01-CH002.</a:t>
            </a:r>
          </a:p>
          <a:p>
            <a:r>
              <a:t>- **Énfasis/error frecuente:** El modelo es conceptual y no describe aún una onda sonora completa.</a:t>
            </a:r>
          </a:p>
          <a:p>
            <a:r>
              <a:t>- **Transición:** “Hagamos visible esta diferencia con un objeto real”.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sec:u1-onda-mecanica; PDF pp. 15–16; DEP U3.</a:t>
            </a:r>
          </a:p>
          <a:p>
            <a:endParaRPr/>
          </a:p>
          <a:p>
            <a:r>
              <a:t>Transición: Una demostración permite observar ambas trayectorias.</a:t>
            </a:r>
          </a:p>
          <a:p>
            <a:endParaRPr/>
          </a:p>
          <a:p>
            <a:r>
              <a:t>Texto alternativo: Tres estados de una cadena de partículas; una partícula oscila localmente mientras la compresión avanza.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Colocar una marca visible en una espira. Pedir predicción, generar un pulso breve y comparar desplazamientos. Repetir si es necesario.</a:t>
            </a:r>
          </a:p>
          <a:p>
            <a:r>
              <a:t>- **Pregunta y respuesta esperada:** El pulso recorre el resorte; la marca se desplaza localmente y vuelve aproximadamente a su zona.</a:t>
            </a:r>
          </a:p>
          <a:p>
            <a:r>
              <a:t>- **Demostración:** Mantener el resorte a altura segura y sin tensión excesiva. Si no es viable, usar el GIF.</a:t>
            </a:r>
          </a:p>
          <a:p>
            <a:r>
              <a:t>- **Énfasis/error frecuente:** El resorte es una analogía limitada; no afirmar que el sonido en aire es transversal.</a:t>
            </a:r>
          </a:p>
          <a:p>
            <a:r>
              <a:t>- **Transición:** “La acústica estudia estos procesos y mucho más”.</a:t>
            </a:r>
          </a:p>
          <a:p>
            <a:r>
              <a:t>- **Duración:** 5 min.</a:t>
            </a:r>
          </a:p>
          <a:p>
            <a:endParaRPr/>
          </a:p>
          <a:p>
            <a:r>
              <a:t>Fuente de redacción: TEX sec:u1-actividad-onda; INV ACT01.</a:t>
            </a:r>
          </a:p>
          <a:p>
            <a:endParaRPr/>
          </a:p>
          <a:p>
            <a:r>
              <a:t>Transición: Los procesos de producción, propagación y recepción forman parte de la acústica.</a:t>
            </a:r>
          </a:p>
          <a:p>
            <a:endParaRPr/>
          </a:p>
          <a:p>
            <a:r>
              <a:t>Texto alternativo: Secuencia de tres pasos para predecir y observar un pulso en un resorte con una espira marcada.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los cinco verbos y asociar un caso a cada uno. Producción: voz; propagación: aire; recepción: oído/micrófono; control: tratamiento; efectos: respuesta.</a:t>
            </a:r>
          </a:p>
          <a:p>
            <a:r>
              <a:t>- **Pregunta y respuesta esperada:** “¿Dónde ubicarían una cabina audiométrica?” Principalmente control del ambiente y de la propagación.</a:t>
            </a:r>
          </a:p>
          <a:p>
            <a:r>
              <a:t>- **Énfasis/error frecuente:** Evitar una definición tan amplia que pierda el objeto mecánico.</a:t>
            </a:r>
          </a:p>
          <a:p>
            <a:r>
              <a:t>- **Transición:** “Veamos por qué esta disciplina importa en Fonoaudiología”.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sec:u1-alcance; PDF p. 15.</a:t>
            </a:r>
          </a:p>
          <a:p>
            <a:endParaRPr/>
          </a:p>
          <a:p>
            <a:r>
              <a:t>Transición: Ese alcance se conecta directamente con Fonoaudiología.</a:t>
            </a:r>
          </a:p>
          <a:p>
            <a:endParaRPr/>
          </a:p>
          <a:p>
            <a:r>
              <a:t>Texto alternativo: La palabra acústica aparece rodeada por producción, propagación, recepción, control y efectos.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un ejemplo breve por fila. En cada caso distinguir el dato físico de la decisión profesional.</a:t>
            </a:r>
          </a:p>
          <a:p>
            <a:r>
              <a:t>- **Pregunta y respuesta esperada:** “¿Una frecuencia medida diagnostica?” No; es un dato que se integra con procedimiento, respuesta y contexto.</a:t>
            </a:r>
          </a:p>
          <a:p>
            <a:r>
              <a:t>- **Énfasis/error frecuente:** No prometer causalidad clínica a partir de una medición aislada.</a:t>
            </a:r>
          </a:p>
          <a:p>
            <a:r>
              <a:t>- **Transición:** “Antes de medir, resumamos qué sistema estamos describiendo”.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sec:u1-alcance; PDF p. 15; BRF.</a:t>
            </a:r>
          </a:p>
          <a:p>
            <a:endParaRPr/>
          </a:p>
          <a:p>
            <a:r>
              <a:t>Transición: Recapitulemos el modelo antes de empezar a medir.</a:t>
            </a:r>
          </a:p>
          <a:p>
            <a:endParaRPr/>
          </a:p>
          <a:p>
            <a:r>
              <a:t>Texto alternativo: Cuatro aplicaciones de la acústica en voz, Audiología, dispositivos y ambientes, más una advertencia clínica.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Retomar exactamente la escena inicial, pero pedir respuestas con los tres roles y el tipo de pregunta. Esta repetición exige transferencia.</a:t>
            </a:r>
          </a:p>
          <a:p>
            <a:r>
              <a:t>- **Pregunta y respuesta esperada:** Sistema delimitado; voz como fuente, aire como medio, oído o micrófono como receptor; preguntas físicas y perceptuales separadas.</a:t>
            </a:r>
          </a:p>
          <a:p>
            <a:r>
              <a:t>- **Énfasis/error frecuente:** No repetir definiciones completas.</a:t>
            </a:r>
          </a:p>
          <a:p>
            <a:r>
              <a:t>- **Transición:** “Ya sabemos qué observamos; ahora necesitamos decir cuánto”.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sec:u1-sintesis; BRF.</a:t>
            </a:r>
          </a:p>
          <a:p>
            <a:endParaRPr/>
          </a:p>
          <a:p>
            <a:r>
              <a:t>Transición: Ahora necesitamos expresar cuánto cambia una magnitud y con qué unidad.</a:t>
            </a:r>
          </a:p>
          <a:p>
            <a:endParaRPr/>
          </a:p>
          <a:p>
            <a:r>
              <a:t>Texto alternativo: Mapa fuente–medio–receptor acompañado por preguntas sobre sistema y tipo de conclusión.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Escribir “2” en el pizarrón y pedir interpretaciones. Agregar sucesivamente distancia y metro.</a:t>
            </a:r>
          </a:p>
          <a:p>
            <a:r>
              <a:t>- **Pregunta y respuesta esperada:** El 2 podría ser tiempo, distancia, masa o cualquier otra cantidad; sin magnitud y unidad no es interpretable.</a:t>
            </a:r>
          </a:p>
          <a:p>
            <a:r>
              <a:t>- **Énfasis/error frecuente:** Un número no es una medición completa.</a:t>
            </a:r>
          </a:p>
          <a:p>
            <a:r>
              <a:t>- **Transición:** “Medir significa comparar con una referencia”.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TEX sec:u1-si.</a:t>
            </a:r>
          </a:p>
          <a:p>
            <a:endParaRPr/>
          </a:p>
          <a:p>
            <a:r>
              <a:t>Transición: Medir comienza por comparar.</a:t>
            </a:r>
          </a:p>
          <a:p>
            <a:endParaRPr/>
          </a:p>
          <a:p>
            <a:r>
              <a:t>Texto alternativo: Un número aislado se completa progresivamente con una propiedad y una unidad.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longitud y tiempo, que el grupo ya conoce. Señalar que una magnitud también puede calcularse a partir de otras.</a:t>
            </a:r>
          </a:p>
          <a:p>
            <a:r>
              <a:t>- **Pregunta y respuesta esperada:** En `2,0 m`, la propiedad es longitud/distancia; metro es la referencia acordada.</a:t>
            </a:r>
          </a:p>
          <a:p>
            <a:r>
              <a:t>- **Énfasis/error frecuente:** Evitar definir magnitud como “algo que tiene unidad” sin explicar la propiedad.</a:t>
            </a:r>
          </a:p>
          <a:p>
            <a:r>
              <a:t>- **Transición:** “Separemos cada pieza de la expresión”.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sec:u1-magnitud-unidad; PDF p. 16.</a:t>
            </a:r>
          </a:p>
          <a:p>
            <a:endParaRPr/>
          </a:p>
          <a:p>
            <a:r>
              <a:t>Transición: Desarmemos la escritura de ese resultado.</a:t>
            </a:r>
          </a:p>
          <a:p>
            <a:endParaRPr/>
          </a:p>
          <a:p>
            <a:r>
              <a:t>Texto alternativo: Una mesa se compara con un patrón; el resultado muestra magnitud, valor y unidad.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etiquetas una por una. Pronunciar *d* como símbolo local de distancia y metro como unidad. Mostrar la tipografía distinta.</a:t>
            </a:r>
          </a:p>
          <a:p>
            <a:r>
              <a:t>- **Pregunta y respuesta esperada:** “¿Qué cambiaría si midiéramos tiempo?” Cambiarían magnitud, símbolo, valor posible y unidad.</a:t>
            </a:r>
          </a:p>
          <a:p>
            <a:r>
              <a:t>- **Énfasis/error frecuente:** `m` puede significar metro en redonda o masa en cursiva; el formato y el contexto importan.</a:t>
            </a:r>
          </a:p>
          <a:p>
            <a:r>
              <a:t>- **Transición:** “Veamos resultados que parecen completos pero no lo están”.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sec:u1-magnitud-unidad; NOT; INV C07–C08.</a:t>
            </a:r>
          </a:p>
          <a:p>
            <a:endParaRPr/>
          </a:p>
          <a:p>
            <a:r>
              <a:t>Transición: Probemos qué información falta en otros resultados.</a:t>
            </a:r>
          </a:p>
          <a:p>
            <a:endParaRPr/>
          </a:p>
          <a:p>
            <a:r>
              <a:t>Texto alternativo: Flechas señalan la magnitud, su símbolo, el valor y la unidad en la expresión d igual a 2 metros.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90 segundos. Aceptar distintas magnitudes para “3” si se completan coherentemente. Corregir `15 mts/seg` como `15 m/s`.</a:t>
            </a:r>
          </a:p>
          <a:p>
            <a:r>
              <a:t>- **Pregunta y respuesta esperada:** `t=0,2 s`; `20 °C` ya tiene valor y unidad, aunque puede faltar la magnitud en una ecuación; `5 kg` está bien como valor de masa.</a:t>
            </a:r>
          </a:p>
          <a:p>
            <a:r>
              <a:t>- **Énfasis/error frecuente:** No convertir la actividad en una lista normativa exhaustiva.</a:t>
            </a:r>
          </a:p>
          <a:p>
            <a:r>
              <a:t>- **Transición:** “Para comunicarnos necesitamos unidades compartidas”.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ejercicios D1; NOT.</a:t>
            </a:r>
          </a:p>
          <a:p>
            <a:endParaRPr/>
          </a:p>
          <a:p>
            <a:r>
              <a:t>Transición: Un sistema compartido evita que cada persona improvise unidades.</a:t>
            </a:r>
          </a:p>
          <a:p>
            <a:endParaRPr/>
          </a:p>
          <a:p>
            <a:r>
              <a:t>Texto alternativo: Cinco resultados incompletos o mal escritos esperan corrección.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que el SI permite comparar y combinar resultados. “Básica” describe la estructura del sistema, no la importancia profesional.</a:t>
            </a:r>
          </a:p>
          <a:p>
            <a:r>
              <a:t>- **Pregunta y respuesta esperada:** “¿Por qué m/s es derivada?” Porque combina unidades de longitud y tiempo mediante una relación.</a:t>
            </a:r>
          </a:p>
          <a:p>
            <a:r>
              <a:t>- **Énfasis/error frecuente:** Derivada no significa aproximada ni menos importante.</a:t>
            </a:r>
          </a:p>
          <a:p>
            <a:r>
              <a:t>- **Transición:** “Podemos consultar las siete bases o concentrarnos en las que usaremos”.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sec:u1-si; BIPM citado en TEX.</a:t>
            </a:r>
          </a:p>
          <a:p>
            <a:endParaRPr/>
          </a:p>
          <a:p>
            <a:r>
              <a:t>Transición: Podemos ampliar el panorama del SI o avanzar a las unidades que usaremos hoy.</a:t>
            </a:r>
          </a:p>
          <a:p>
            <a:endParaRPr/>
          </a:p>
          <a:p>
            <a:r>
              <a:t>Texto alternativo: Tiempo, longitud y masa se conectan con rapidez, aceleración, fuerza, presión y densidad.</a:t>
            </a:r>
          </a:p>
          <a:p>
            <a:endParaRPr/>
          </a:p>
          <a:p>
            <a:r>
              <a:t>[Sources]</a:t>
            </a:r>
          </a:p>
          <a:p>
            <a:r>
              <a:t>https://www.bipm.org/en/publications/si-brochure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Si se usa, leer solo las filas destacadas y responder la duda sobre temperatura. Diferenciar kelvin de grado Celsius sin abrir termodinámica.</a:t>
            </a:r>
          </a:p>
          <a:p>
            <a:r>
              <a:t>- **Pregunta y respuesta esperada:** La unidad básica es K; `°C` se usa para temperatura Celsius y contexto ambiental.</a:t>
            </a:r>
          </a:p>
          <a:p>
            <a:r>
              <a:t>- **Énfasis/error frecuente:** No escribir “grados Kelvin”.</a:t>
            </a:r>
          </a:p>
          <a:p>
            <a:r>
              <a:t>- **Transición:** “Volvamos a las unidades derivadas de esta unidad”.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sec:u1-si; PDF p. 16; BIPM citado en TEX.</a:t>
            </a:r>
          </a:p>
          <a:p>
            <a:endParaRPr/>
          </a:p>
          <a:p>
            <a:r>
              <a:t>Transición: Volvamos a las unidades derivadas de esta clase.</a:t>
            </a:r>
          </a:p>
          <a:p>
            <a:endParaRPr/>
          </a:p>
          <a:p>
            <a:r>
              <a:t>Texto alternativo: Tabla de las siete magnitudes fundamentales y sus unidades básicas; cuatro filas están destacadas.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cada operación en palabras, luego en unidades. Hacer que el grupo anticipe el resultado antes de mostrar N y Pa.</a:t>
            </a:r>
          </a:p>
          <a:p>
            <a:r>
              <a:t>- **Pregunta y respuesta esperada:** `kg·m/s²` recibe el nombre newton; `N/m²`, pascal.</a:t>
            </a:r>
          </a:p>
          <a:p>
            <a:r>
              <a:t>- **Énfasis/error frecuente:** No borrar unidades durante el cálculo.</a:t>
            </a:r>
          </a:p>
          <a:p>
            <a:r>
              <a:t>- **Transición:** “Estas son las magnitudes que conectaremos”.</a:t>
            </a:r>
          </a:p>
          <a:p>
            <a:r>
              <a:t>- **Duración:** 5 min.</a:t>
            </a:r>
          </a:p>
          <a:p>
            <a:endParaRPr/>
          </a:p>
          <a:p>
            <a:r>
              <a:t>Fuente de redacción: TEX sec:u1-magnitudes-derivadas; PDF p. 17.</a:t>
            </a:r>
          </a:p>
          <a:p>
            <a:endParaRPr/>
          </a:p>
          <a:p>
            <a:r>
              <a:t>Transición: Organicemos las magnitudes que aparecerán en la unidad.</a:t>
            </a:r>
          </a:p>
          <a:p>
            <a:endParaRPr/>
          </a:p>
          <a:p>
            <a:r>
              <a:t>Texto alternativo: Tres cadenas muestran cómo división y multiplicación construyen metro por segundo, newton y pascal.</a:t>
            </a:r>
          </a:p>
          <a:p>
            <a:endParaRPr/>
          </a:p>
          <a:p>
            <a:r>
              <a:t>[Sources]</a:t>
            </a:r>
          </a:p>
          <a:p>
            <a:r>
              <a:t>https://www.bipm.org/en/publications/si-brochure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Presentar la tabla como mapa de consulta. Leer únicamente distancia, tiempo y rapidez; anticipar que las demás filas aparecerán luego.</a:t>
            </a:r>
          </a:p>
          <a:p>
            <a:r>
              <a:t>- **Pregunta y respuesta esperada:** Las unidades de rapidez, fuerza, presión, densidad y frecuencia son derivadas.</a:t>
            </a:r>
          </a:p>
          <a:p>
            <a:r>
              <a:t>- **Énfasis/error frecuente:** No pedir memorización inmediata de todas las fórmulas.</a:t>
            </a:r>
          </a:p>
          <a:p>
            <a:r>
              <a:t>- **Transición:** “Antes de calcular, fijemos cómo escribir los símbolos”.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sec:u1-magnitudes-derivadas; INV.</a:t>
            </a:r>
          </a:p>
          <a:p>
            <a:endParaRPr/>
          </a:p>
          <a:p>
            <a:r>
              <a:t>Transición: Antes de calcular, fijemos tres convenciones de escritura.</a:t>
            </a:r>
          </a:p>
          <a:p>
            <a:endParaRPr/>
          </a:p>
          <a:p>
            <a:r>
              <a:t>Texto alternativo: Tabla de ocho magnitudes con sus símbolos, relaciones introductorias y unidades.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primero las formas incorrectas y pedir corrección. Recuperar U01-017 con unidades nuevas.</a:t>
            </a:r>
          </a:p>
          <a:p>
            <a:r>
              <a:t>- **Pregunta y respuesta esperada:** Los símbolos no se pluralizan, no llevan punto y respetan mayúsculas.</a:t>
            </a:r>
          </a:p>
          <a:p>
            <a:r>
              <a:t>- **Énfasis/error frecuente:** En texto corriente puede escribirse “pascales”; dentro de una expresión se usa `Pa`.</a:t>
            </a:r>
          </a:p>
          <a:p>
            <a:r>
              <a:t>- **Transición:** “Con la escritura controlada, podemos interpretar relaciones”.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sec:u1-errores; NOT; NIST citado en TEX.</a:t>
            </a:r>
          </a:p>
          <a:p>
            <a:endParaRPr/>
          </a:p>
          <a:p>
            <a:r>
              <a:t>Transición: Ya podemos leer magnitudes; ahora vamos a relacionarlas.</a:t>
            </a:r>
          </a:p>
          <a:p>
            <a:endParaRPr/>
          </a:p>
          <a:p>
            <a:r>
              <a:t>Texto alternativo: Tres escrituras incorrectas aparecen tachadas junto a sus formas normalizadas.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el protocolo para cada ecuación: relación verbal, símbolos, unidades, proporcionalidad y límite. Mostrar la red vacía como promesa de integración.</a:t>
            </a:r>
          </a:p>
          <a:p>
            <a:r>
              <a:t>- **Pregunta y respuesta esperada:** “¿Qué sería usar una fórmula como receta?” Sustituir números sin comprender qué compara ni verificar unidades.</a:t>
            </a:r>
          </a:p>
          <a:p>
            <a:r>
              <a:t>- **Énfasis/error frecuente:** No presentar cuatro fórmulas a la vez.</a:t>
            </a:r>
          </a:p>
          <a:p>
            <a:r>
              <a:t>- **Transición:** “Empezamos con una comparación conocida: distancia y tiempo”.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BRF; PO p. 3.</a:t>
            </a:r>
          </a:p>
          <a:p>
            <a:endParaRPr/>
          </a:p>
          <a:p>
            <a:r>
              <a:t>Transición: Empecemos con distancia y tiempo.</a:t>
            </a:r>
          </a:p>
          <a:p>
            <a:endParaRPr/>
          </a:p>
          <a:p>
            <a:r>
              <a:t>Texto alternativo: Red incompleta de magnitudes físicas que se completará durante el bloque.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Narrar el recorrido de 12 m en 3 s y preguntar “cuánto por segundo” antes de escribir la fórmula.</a:t>
            </a:r>
          </a:p>
          <a:p>
            <a:r>
              <a:t>- **Pregunta y respuesta esperada:** 4 metros por segundo; se compara todo el recorrido con todo el intervalo.</a:t>
            </a:r>
          </a:p>
          <a:p>
            <a:r>
              <a:t>- **Énfasis/error frecuente:** `Δt` es un intervalo, no un instante.</a:t>
            </a:r>
          </a:p>
          <a:p>
            <a:r>
              <a:t>- **Transición:** “La frase ‘distancia por tiempo’ se traduce en una división”.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sec:u1-magnitudes-derivadas; BRF.</a:t>
            </a:r>
          </a:p>
          <a:p>
            <a:endParaRPr/>
          </a:p>
          <a:p>
            <a:r>
              <a:t>Transición: Traduzcamos “distancia por tiempo” a símbolos.</a:t>
            </a:r>
          </a:p>
          <a:p>
            <a:endParaRPr/>
          </a:p>
          <a:p>
            <a:r>
              <a:t>Texto alternativo: Un trayecto de distancia d y un reloj representan un intervalo delta 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Pedir lectura verbal de la ecuación. Resolver 12/3 conservando unidades y discutir qué resume el promedio.</a:t>
            </a:r>
          </a:p>
          <a:p>
            <a:r>
              <a:t>- **Pregunta y respuesta esperada:** Si se duplica `d` con el mismo `Δt`, se duplica `v_med`; si se duplica el tiempo con la misma distancia, se reduce a la mitad.</a:t>
            </a:r>
          </a:p>
          <a:p>
            <a:r>
              <a:t>- **Énfasis/error frecuente:** No llamar velocidad vectorial a toda razón `d/Δt`.</a:t>
            </a:r>
          </a:p>
          <a:p>
            <a:r>
              <a:t>- **Transición:** “Ahora distingamos tres usos cercanos de la palabra velocidad”.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sec:u1-magnitudes-derivadas; INV E01.</a:t>
            </a:r>
          </a:p>
          <a:p>
            <a:endParaRPr/>
          </a:p>
          <a:p>
            <a:r>
              <a:t>Transición: “Rapidez”, “velocidad” y “propagación” no nombran exactamente lo mismo.</a:t>
            </a:r>
          </a:p>
          <a:p>
            <a:endParaRPr/>
          </a:p>
          <a:p>
            <a:r>
              <a:t>Texto alternativo: La ecuación rapidez media igual a distancia dividida por intervalo se acompaña con unidades.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Recorrer los tres paneles. En propagación, seguir el frente; en movimiento local, seguir una partícula.</a:t>
            </a:r>
          </a:p>
          <a:p>
            <a:r>
              <a:t>- **Pregunta y respuesta esperada:** `c` describe el avance de la perturbación. La partícula no recorre la distancia fuente–receptor.</a:t>
            </a:r>
          </a:p>
          <a:p>
            <a:r>
              <a:t>- **Énfasis/error frecuente:** Usar “rapidez de propagación” cuando no se trabaja dirección.</a:t>
            </a:r>
          </a:p>
          <a:p>
            <a:r>
              <a:t>- **Transición:** “Con esa rapidez estimaremos un tiempo de llegada”.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sec:u1-velocidades; PDF pp. 18–19; NOT.</a:t>
            </a:r>
          </a:p>
          <a:p>
            <a:endParaRPr/>
          </a:p>
          <a:p>
            <a:r>
              <a:t>Transición: Usemos c para estimar un tiempo de llegada.</a:t>
            </a:r>
          </a:p>
          <a:p>
            <a:endParaRPr/>
          </a:p>
          <a:p>
            <a:r>
              <a:t>Texto alternativo: Tres paneles diferencian rapidez escalar, velocidad vectorial y avance de una perturbación.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datos, formular relación verbal, despejar, sustituir, simplificar unidades y redondear. Explicar por qué `343 m/s` está condicionado.</a:t>
            </a:r>
          </a:p>
          <a:p>
            <a:r>
              <a:t>- **Pregunta y respuesta esperada:** La unidad final es segundo porque `m ÷ (m/s)=s`.</a:t>
            </a:r>
          </a:p>
          <a:p>
            <a:r>
              <a:t>- **Énfasis/error frecuente:** `c` no es una constante universal; cambia con medio y condiciones.</a:t>
            </a:r>
          </a:p>
          <a:p>
            <a:r>
              <a:t>- **Transición:** “Quien necesite otra práctica puede resolver un caso equivalente”.</a:t>
            </a:r>
          </a:p>
          <a:p>
            <a:r>
              <a:t>- **Duración:** 5 min.</a:t>
            </a:r>
          </a:p>
          <a:p>
            <a:endParaRPr/>
          </a:p>
          <a:p>
            <a:r>
              <a:t>Fuente de redacción: TEX sec:u1-ejemplo-tiempo; PDF p. 19; Cramer citado en TEX.</a:t>
            </a:r>
          </a:p>
          <a:p>
            <a:endParaRPr/>
          </a:p>
          <a:p>
            <a:r>
              <a:t>Transición: El mismo razonamiento puede practicarse con otros datos.</a:t>
            </a:r>
          </a:p>
          <a:p>
            <a:endParaRPr/>
          </a:p>
          <a:p>
            <a:r>
              <a:t>Texto alternativo: Una fuente y un receptor separados 100 metros acompañan el cálculo del tiempo de propagación.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2 minutos. La solución es `t=68/340=0,20 s`. Pedir que el grupo muestre unidades, no solo calculadora.</a:t>
            </a:r>
          </a:p>
          <a:p>
            <a:r>
              <a:t>- **Pregunta y respuesta esperada:** Relación `t=d/c`; resultado `0,20 s`.</a:t>
            </a:r>
          </a:p>
          <a:p>
            <a:r>
              <a:t>- **Énfasis/error frecuente:** `340 m/s` es un redondeo didáctico.</a:t>
            </a:r>
          </a:p>
          <a:p>
            <a:r>
              <a:t>- **Transición:** “Pasemos de propagación a interacción mecánica”.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ejercicios NA1.</a:t>
            </a:r>
          </a:p>
          <a:p>
            <a:endParaRPr/>
          </a:p>
          <a:p>
            <a:r>
              <a:t>Transición: Pasemos del movimiento a la interacción mecánica.</a:t>
            </a:r>
          </a:p>
          <a:p>
            <a:endParaRPr/>
          </a:p>
          <a:p>
            <a:r>
              <a:t>Texto alternativo: Ejercicio con distancia de 68 metros y rapidez de 340 metros por segundo.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Contrastar la lectura cotidiana de una balanza con las magnitudes físicas. Explicar inercia como resistencia a cambiar el movimiento, sin desarrollar dinámica.</a:t>
            </a:r>
          </a:p>
          <a:p>
            <a:r>
              <a:t>- **Pregunta y respuesta esperada:** Cambia el peso al cambiar `g`; la masa del cuerpo se conserva en el ejemplo.</a:t>
            </a:r>
          </a:p>
          <a:p>
            <a:r>
              <a:t>- **Énfasis/error frecuente:** No definir masa como “cantidad de materia”.</a:t>
            </a:r>
          </a:p>
          <a:p>
            <a:r>
              <a:t>- **Transición:** “La relación entre ambas magnitudes conserva sus unidades”.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sec:u1-masa-peso; PDF p. 18; INV C16–C17.</a:t>
            </a:r>
          </a:p>
          <a:p>
            <a:endParaRPr/>
          </a:p>
          <a:p>
            <a:r>
              <a:t>Transición: La relación permite calcular el peso a partir de la masa.</a:t>
            </a:r>
          </a:p>
          <a:p>
            <a:endParaRPr/>
          </a:p>
          <a:p>
            <a:r>
              <a:t>Texto alternativo: Dos paneles contrastan masa en kilogramos y fuerza peso en newtons.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por etapas. Hacer visible que `kg·m/s²` se renombra N. Interpretar 24,5 N como fuerza gravitatoria bajo la `g` adoptada.</a:t>
            </a:r>
          </a:p>
          <a:p>
            <a:r>
              <a:t>- **Pregunta y respuesta esperada:** La unidad demuestra que el resultado es fuerza, no masa.</a:t>
            </a:r>
          </a:p>
          <a:p>
            <a:r>
              <a:t>- **Énfasis/error frecuente:** No escribir 24,5 kg como peso.</a:t>
            </a:r>
          </a:p>
          <a:p>
            <a:r>
              <a:t>- **Transición:** “El peso es un caso de fuerza; veamos la relación introductoria general”.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TEX sec:u1-ejemplo-peso; TEX ejercicios NG2.</a:t>
            </a:r>
          </a:p>
          <a:p>
            <a:endParaRPr/>
          </a:p>
          <a:p>
            <a:r>
              <a:t>Transición: El peso es una fuerza; ahora anticiparemos la relación general entre fuerza y aceleración.</a:t>
            </a:r>
          </a:p>
          <a:p>
            <a:endParaRPr/>
          </a:p>
          <a:p>
            <a:r>
              <a:t>Texto alternativo: Multiplicación de 2,50 kilogramos por 9,80 metros por segundo cuadrado hasta obtener 24,5 newtons.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Presentar `F=ma` como anticipo. Aclarar “fuerza neta” y masa constante. Usar el diagrama para diferenciar una fuerza de la suma de fuerzas.</a:t>
            </a:r>
          </a:p>
          <a:p>
            <a:r>
              <a:t>- **Pregunta y respuesta esperada:** Si la fuerza neta es cero, esta ecuación da aceleración cero para masa no nula.</a:t>
            </a:r>
          </a:p>
          <a:p>
            <a:r>
              <a:t>- **Énfasis/error frecuente:** No afirmar que ausencia de aceleración implica ausencia de fuerzas individuales.</a:t>
            </a:r>
          </a:p>
          <a:p>
            <a:r>
              <a:t>- **Transición:** “Una fuerza también puede repartirse sobre un área”.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sec:u1-magnitudes-derivadas; DEP U2.</a:t>
            </a:r>
          </a:p>
          <a:p>
            <a:endParaRPr/>
          </a:p>
          <a:p>
            <a:r>
              <a:t>Transición: Una fuerza también puede distribuirse sobre una superficie.</a:t>
            </a:r>
          </a:p>
          <a:p>
            <a:endParaRPr/>
          </a:p>
          <a:p>
            <a:r>
              <a:t>Texto alternativo: Un cuerpo recibe una fuerza neta y acelera; la ecuación F igual a masa por aceleración aparece debajo.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Mantener `F_⊥` igual en ambos paneles y cambiar `S`. Pedir predicción antes de mostrar la presión relativa.</a:t>
            </a:r>
          </a:p>
          <a:p>
            <a:r>
              <a:t>- **Pregunta y respuesta esperada:** Menor área produce mayor presión para la misma fuerza perpendicular.</a:t>
            </a:r>
          </a:p>
          <a:p>
            <a:r>
              <a:t>- **Énfasis/error frecuente:** Área se simboliza `S`; presión no equivale a intensidad.</a:t>
            </a:r>
          </a:p>
          <a:p>
            <a:r>
              <a:t>- **Transición:** “De una cantidad por superficie pasemos a una cantidad por volumen”.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sec:u1-magnitudes-derivadas; NOT; INV E05.</a:t>
            </a:r>
          </a:p>
          <a:p>
            <a:endParaRPr/>
          </a:p>
          <a:p>
            <a:r>
              <a:t>Transición: Otra relación importante compara masa y volumen.</a:t>
            </a:r>
          </a:p>
          <a:p>
            <a:endParaRPr/>
          </a:p>
          <a:p>
            <a:r>
              <a:t>Texto alternativo: Dos superficies reciben la misma fuerza; la de menor área presenta mayor presión.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Comparar recipientes de igual volumen. Después invertir la comparación: misma masa en distinto volumen.</a:t>
            </a:r>
          </a:p>
          <a:p>
            <a:r>
              <a:t>- **Pregunta y respuesta esperada:** El recipiente con mayor masa en el mismo volumen tiene mayor densidad.</a:t>
            </a:r>
          </a:p>
          <a:p>
            <a:r>
              <a:t>- **Énfasis/error frecuente:** Densidad, masa y peso son magnitudes diferentes.</a:t>
            </a:r>
          </a:p>
          <a:p>
            <a:r>
              <a:t>- **Transición:** “Reunamos las cuatro relaciones”.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sec:u1-magnitudes-derivadas; INV E06.</a:t>
            </a:r>
          </a:p>
          <a:p>
            <a:endParaRPr/>
          </a:p>
          <a:p>
            <a:r>
              <a:t>Transición: Reconstruyamos todas las conexiones del bloque.</a:t>
            </a:r>
          </a:p>
          <a:p>
            <a:endParaRPr/>
          </a:p>
          <a:p>
            <a:r>
              <a:t>Texto alternativo: Dos recipientes de igual volumen contienen distinta cantidad de masa; la fórmula rho igual a masa sobre volumen acompaña la comparación.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Completar la red con participación del grupo. Pedir lectura verbal y unidad de cada conexión.</a:t>
            </a:r>
          </a:p>
          <a:p>
            <a:r>
              <a:t>- **Pregunta y respuesta esperada:** Rapidez: distancia/tiempo; fuerza: masa×aceleración; presión: fuerza/área; densidad: masa/volumen.</a:t>
            </a:r>
          </a:p>
          <a:p>
            <a:r>
              <a:t>- **Énfasis/error frecuente:** El objetivo es reconstruir relaciones, no recitar fórmulas.</a:t>
            </a:r>
          </a:p>
          <a:p>
            <a:r>
              <a:t>- **Transición:** “Las unidades pueden funcionar como detector de errores”.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sec:u1-sintesis; INV.</a:t>
            </a:r>
          </a:p>
          <a:p>
            <a:endParaRPr/>
          </a:p>
          <a:p>
            <a:r>
              <a:t>Transición: Si olvidamos una fórmula, ¿pueden ayudarnos las unidades?</a:t>
            </a:r>
          </a:p>
          <a:p>
            <a:endParaRPr/>
          </a:p>
          <a:p>
            <a:r>
              <a:t>Texto alternativo: Red que conecta distancia, tiempo, rapidez, masa, aceleración, fuerza, área, presión, volumen y densidad.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las dos escrituras del mismo valor y preguntar cuál deja más visible el orden de magnitud. Conectar con escalas acústicas sin definir presión sonora.</a:t>
            </a:r>
          </a:p>
          <a:p>
            <a:r>
              <a:t>- **Pregunta y respuesta esperada:** La notación científica hace visible `10⁻⁵`.</a:t>
            </a:r>
          </a:p>
          <a:p>
            <a:r>
              <a:t>- **Énfasis/error frecuente:** No atribuir a `20 µPa` un significado auditivo universal en esta unidad.</a:t>
            </a:r>
          </a:p>
          <a:p>
            <a:r>
              <a:t>- **Transición:** “Veamos cómo se construye la notación”.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sec:u1-notacion-dimensional.</a:t>
            </a:r>
          </a:p>
          <a:p>
            <a:endParaRPr/>
          </a:p>
          <a:p>
            <a:r>
              <a:t>Transición: Empecemos por las potencias de diez.</a:t>
            </a:r>
          </a:p>
          <a:p>
            <a:endParaRPr/>
          </a:p>
          <a:p>
            <a:r>
              <a:t>Texto alternativo: El mismo valor de presión aparece escrito como decimal y como potencia de diez.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Mover la coma en pantalla y asociar cada paso con el exponente. Pedir que verifiquen reconstruyendo el número.</a:t>
            </a:r>
          </a:p>
          <a:p>
            <a:r>
              <a:t>- **Pregunta y respuesta esperada:** `3,5×10³=3500`; `4,2×10⁻³=0,0042`.</a:t>
            </a:r>
          </a:p>
          <a:p>
            <a:r>
              <a:t>- **Énfasis/error frecuente:** El exponente negativo no vuelve negativo al número.</a:t>
            </a:r>
          </a:p>
          <a:p>
            <a:r>
              <a:t>- **Transición:** “Apliquemos esto a una presión expresada de tres maneras”.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sec:u1-notacion-cientifica; PDF p. 19.</a:t>
            </a:r>
          </a:p>
          <a:p>
            <a:endParaRPr/>
          </a:p>
          <a:p>
            <a:r>
              <a:t>Transición: Apliquemos la escritura a un valor de presión.</a:t>
            </a:r>
          </a:p>
          <a:p>
            <a:endParaRPr/>
          </a:p>
          <a:p>
            <a:r>
              <a:t>Texto alternativo: Dos números se transforman en notación científica mediante desplazamientos de la coma.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Convertir `20 µPa` a pascales y normalizar el coeficiente. Mantener la unidad en todos los pasos.</a:t>
            </a:r>
          </a:p>
          <a:p>
            <a:r>
              <a:t>- **Pregunta y respuesta esperada:** `20×10⁻⁶ = 2,0×10⁻⁵`; son el mismo valor.</a:t>
            </a:r>
          </a:p>
          <a:p>
            <a:r>
              <a:t>- **Énfasis/error frecuente:** No presentar la cifra como umbral absoluto.</a:t>
            </a:r>
          </a:p>
          <a:p>
            <a:r>
              <a:t>- **Transición:** “Los prefijos son abreviaturas de factores de diez”.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sec:u1-notacion-cientifica; PDF p. 19.</a:t>
            </a:r>
          </a:p>
          <a:p>
            <a:endParaRPr/>
          </a:p>
          <a:p>
            <a:r>
              <a:t>Transición: Otros prefijos permiten cambiar de escala sin cambiar la magnitud.</a:t>
            </a:r>
          </a:p>
          <a:p>
            <a:endParaRPr/>
          </a:p>
          <a:p>
            <a:r>
              <a:t>Texto alternativo: Tres tarjetas muestran 0,000020 pascales, 2,0 por 10 a la menos 5 pascales y 20 micropascales.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la escalera hacia derecha e izquierda. Contrastar `m` metro, *m* masa y `m` prefijo mili por forma y contexto.</a:t>
            </a:r>
          </a:p>
          <a:p>
            <a:r>
              <a:t>- **Pregunta y respuesta esperada:** `1 ms` es una milésima de segundo; `1 µPa`, una millonésima de pascal.</a:t>
            </a:r>
          </a:p>
          <a:p>
            <a:r>
              <a:t>- **Énfasis/error frecuente:** Kilo usa `k` minúscula; micro usa `µ`.</a:t>
            </a:r>
          </a:p>
          <a:p>
            <a:r>
              <a:t>- **Transición:** “Si hace falta, practiquemos tres conversiones”.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sec:u1-notacion-cientifica; NOT.</a:t>
            </a:r>
          </a:p>
          <a:p>
            <a:endParaRPr/>
          </a:p>
          <a:p>
            <a:r>
              <a:t>Transición: Practiquemos conversiones solo si el grupo lo necesita.</a:t>
            </a:r>
          </a:p>
          <a:p>
            <a:endParaRPr/>
          </a:p>
          <a:p>
            <a:r>
              <a:t>Texto alternativo: Escala horizontal con kilo, unidad, mili y micro ubicados por potencias de diez.</a:t>
            </a:r>
          </a:p>
          <a:p>
            <a:endParaRPr/>
          </a:p>
          <a:p>
            <a:r>
              <a:t>[Sources]</a:t>
            </a:r>
          </a:p>
          <a:p>
            <a:r>
              <a:t>https://www.bipm.org/en/publications/si-brochure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solo los ítems que respondan a un error real. Soluciones: `1000 ms`; `10⁶ µPa`; `1000 mm`.</a:t>
            </a:r>
          </a:p>
          <a:p>
            <a:r>
              <a:t>- **Pregunta y respuesta esperada:** La cantidad no cambia; cambia el número y la unidad elegida.</a:t>
            </a:r>
          </a:p>
          <a:p>
            <a:r>
              <a:t>- **Énfasis/error frecuente:** Evitar multiplicar o dividir de memoria sin verificar si el valor debe crecer.</a:t>
            </a:r>
          </a:p>
          <a:p>
            <a:r>
              <a:t>- **Transición:** “Ahora usemos unidades para controlar ecuaciones”.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INV; BRF.</a:t>
            </a:r>
          </a:p>
          <a:p>
            <a:endParaRPr/>
          </a:p>
          <a:p>
            <a:r>
              <a:t>Transición: Además de la escala numérica, debemos comprobar la coherencia física.</a:t>
            </a:r>
          </a:p>
          <a:p>
            <a:endParaRPr/>
          </a:p>
          <a:p>
            <a:r>
              <a:t>Texto alternativo: Tres equivalencias incompletas entre segundos y milisegundos, pascales y micropascales, metros y milímetros.</a:t>
            </a:r>
          </a:p>
          <a:p>
            <a:endParaRPr/>
          </a:p>
          <a:p>
            <a:r>
              <a:t>[Sources]</a:t>
            </a:r>
          </a:p>
          <a:p>
            <a:r>
              <a:t>https://www.bipm.org/en/publications/si-brochure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Diferenciar dimensión de unidad: metro y centímetro son unidades de la misma dimensión longitud. Explicar la lógica de descarte.</a:t>
            </a:r>
          </a:p>
          <a:p>
            <a:r>
              <a:t>- **Pregunta y respuesta esperada:** `m+s` no tiene interpretación como suma de magnitudes homogéneas.</a:t>
            </a:r>
          </a:p>
          <a:p>
            <a:r>
              <a:t>- **Énfasis/error frecuente:** Dimensiones compatibles no garantizan una ecuación verdadera.</a:t>
            </a:r>
          </a:p>
          <a:p>
            <a:r>
              <a:t>- **Transición:** “Apliquemos el método a la unidad pascal”.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sec:u1-analisis-dimensional; PDF p. 20.</a:t>
            </a:r>
          </a:p>
          <a:p>
            <a:endParaRPr/>
          </a:p>
          <a:p>
            <a:r>
              <a:t>Transición: Sigamos las dimensiones de la presión hasta el pascal.</a:t>
            </a:r>
          </a:p>
          <a:p>
            <a:endParaRPr/>
          </a:p>
          <a:p>
            <a:r>
              <a:t>Texto alternativo: Un semáforo rechaza metros más segundos y acepta revisar expresiones con dimensiones compatibles.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una igualdad por vez. Pedir que verbalicen cada sustitución y simplificación.</a:t>
            </a:r>
          </a:p>
          <a:p>
            <a:r>
              <a:t>- **Pregunta y respuesta esperada:** Queda una potencia `m¹` en el denominador: `kg/(m·s²)`.</a:t>
            </a:r>
          </a:p>
          <a:p>
            <a:r>
              <a:t>- **Énfasis/error frecuente:** No cancelar símbolos de forma informal; explicar numerador y denominador.</a:t>
            </a:r>
          </a:p>
          <a:p>
            <a:r>
              <a:t>- **Transición:** “Con el mismo método podemos elegir una expresión antes de calcular”.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sec:u1-analisis-dimensional; PDF p. 20; INV E10–E12.</a:t>
            </a:r>
          </a:p>
          <a:p>
            <a:endParaRPr/>
          </a:p>
          <a:p>
            <a:r>
              <a:t>Transición: Ahora usemos las dimensiones para elegir entre expresiones.</a:t>
            </a:r>
          </a:p>
          <a:p>
            <a:endParaRPr/>
          </a:p>
          <a:p>
            <a:r>
              <a:t>Texto alternativo: Cadena de igualdades transforma newton por metro cuadrado en kilogramo por metro y segundo cuadrado.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60–90 segundos. Hacer que quienes eligieron una opción expliquen las dos descartadas.</a:t>
            </a:r>
          </a:p>
          <a:p>
            <a:r>
              <a:t>- **Pregunta y respuesta esperada:** `d/c` produce `L/(LT⁻¹)=T`; las otras producen `L²T⁻¹` y `T⁻¹`.</a:t>
            </a:r>
          </a:p>
          <a:p>
            <a:r>
              <a:t>- **Énfasis/error frecuente:** Elegir por parecido con una fórmula no es justificación.</a:t>
            </a:r>
          </a:p>
          <a:p>
            <a:r>
              <a:t>- **Transición:** Anunciar pausa de 15 minutos y el bloque de funciones al volver.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NA3/D2; DEP.</a:t>
            </a:r>
          </a:p>
          <a:p>
            <a:endParaRPr/>
          </a:p>
          <a:p>
            <a:r>
              <a:t>Transición: Después de la pausa pasaremos de cantidades a relaciones funcionales.</a:t>
            </a:r>
          </a:p>
          <a:p>
            <a:endParaRPr/>
          </a:p>
          <a:p>
            <a:r>
              <a:t>Texto alternativo: Tres expresiones se comparan dimensionalmente; d sobre c queda marcada como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Tras la pausa, recuperar dos relaciones ya vistas. Dibujar una máquina y separar entrada, regla y salida.</a:t>
            </a:r>
          </a:p>
          <a:p>
            <a:r>
              <a:t>- **Pregunta y respuesta esperada:** En `d(t)`, entra tiempo y sale distancia bajo la regla del modelo.</a:t>
            </a:r>
          </a:p>
          <a:p>
            <a:r>
              <a:t>- **Énfasis/error frecuente:** Función no significa solamente “fórmula”.</a:t>
            </a:r>
          </a:p>
          <a:p>
            <a:r>
              <a:t>- **Transición:** “Definamos qué condición debe cumplir”.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TEX sec:u1-funciones.</a:t>
            </a:r>
          </a:p>
          <a:p>
            <a:endParaRPr/>
          </a:p>
          <a:p>
            <a:r>
              <a:t>Transición: Demos nombres precisos a cada parte.</a:t>
            </a:r>
          </a:p>
          <a:p>
            <a:endParaRPr/>
          </a:p>
          <a:p>
            <a:r>
              <a:t>Texto alternativo: Una variable entra a una regla y produce una salida.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`f(x)=2x` para mostrar una única salida por entrada. Dar un no-ejemplo con una entrada que apunta a dos salidas.</a:t>
            </a:r>
          </a:p>
          <a:p>
            <a:r>
              <a:t>- **Pregunta y respuesta esperada:** Dominio: entradas permitidas. Variable dependiente: salida.</a:t>
            </a:r>
          </a:p>
          <a:p>
            <a:r>
              <a:t>- **Énfasis/error frecuente:** Varias entradas pueden compartir una salida; lo prohibido es una entrada con dos salidas.</a:t>
            </a:r>
          </a:p>
          <a:p>
            <a:r>
              <a:t>- **Transición:** “Una relación puede verse como tabla, ecuación o gráfico”.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sec:u1-funciones; PDF p. 20.</a:t>
            </a:r>
          </a:p>
          <a:p>
            <a:endParaRPr/>
          </a:p>
          <a:p>
            <a:r>
              <a:t>Transición: La misma relación puede representarse de varias maneras.</a:t>
            </a:r>
          </a:p>
          <a:p>
            <a:endParaRPr/>
          </a:p>
          <a:p>
            <a:r>
              <a:t>Texto alternativo: Diagrama que etiqueta x como entrada, f como regla e y como salida, con un dominio indicado.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el mismo par en los tres registros. Preguntar qué muestra cada uno mejor.</a:t>
            </a:r>
          </a:p>
          <a:p>
            <a:r>
              <a:t>- **Pregunta y respuesta esperada:** Tabla: valores concretos; ecuación: regla; gráfico: patrón y pendiente.</a:t>
            </a:r>
          </a:p>
          <a:p>
            <a:r>
              <a:t>- **Énfasis/error frecuente:** Los ejes necesitan magnitud y unidad.</a:t>
            </a:r>
          </a:p>
          <a:p>
            <a:r>
              <a:t>- **Transición:** “Interpretemos el modelo dentro de su dominio físico”.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sec:u1-funciones; INV.</a:t>
            </a:r>
          </a:p>
          <a:p>
            <a:endParaRPr/>
          </a:p>
          <a:p>
            <a:r>
              <a:t>Transición: Interpretemos el gráfico dentro de un problema físico.</a:t>
            </a:r>
          </a:p>
          <a:p>
            <a:endParaRPr/>
          </a:p>
          <a:p>
            <a:r>
              <a:t>Texto alternativo: Una tabla, la ecuación d de t igual a 4t y una recta representan los mismos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Recorrer puntos del gráfico y verbalizar “4 metros cada segundo”. Explicar `t≥0` como condición del problema, no de toda recta matemática.</a:t>
            </a:r>
          </a:p>
          <a:p>
            <a:r>
              <a:t>- **Pregunta y respuesta esperada:** A los 5 s, `d=20 m`; la pendiente tiene unidad m/s.</a:t>
            </a:r>
          </a:p>
          <a:p>
            <a:r>
              <a:t>- **Énfasis/error frecuente:** No extender automáticamente el modelo a tiempos negativos o rapidez variable.</a:t>
            </a:r>
          </a:p>
          <a:p>
            <a:r>
              <a:t>- **Transición:** “El dominio también determina si podemos invertir una relación”.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sec:u1-funciones; PDF pp. 20–21.</a:t>
            </a:r>
          </a:p>
          <a:p>
            <a:endParaRPr/>
          </a:p>
          <a:p>
            <a:r>
              <a:t>Transición: La fórmula sola no decide qué entradas tienen sentido.</a:t>
            </a:r>
          </a:p>
          <a:p>
            <a:endParaRPr/>
          </a:p>
          <a:p>
            <a:r>
              <a:t>Texto alternativo: Gráfico lineal de distancia en metros frente a tiempo en segundos para rapidez constante.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el contraejemplo de `x²` solo como diagrama de correspondencias, sin abrir álgebra adicional. Mostrar que restringir a entradas no negativas elimina ambigüedad.</a:t>
            </a:r>
          </a:p>
          <a:p>
            <a:r>
              <a:t>- **Pregunta y respuesta esperada:** Si `−2` y `+2` producen `4`, la salida 4 no identifica una única entrada.</a:t>
            </a:r>
          </a:p>
          <a:p>
            <a:r>
              <a:t>- **Énfasis/error frecuente:** No toda función tiene inversa en cualquier dominio.</a:t>
            </a:r>
          </a:p>
          <a:p>
            <a:r>
              <a:t>- **Transición:** “Volvamos al modelo donde la correspondencia sí es única”.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TEX sec:u1-funcion-inversa; BRF.</a:t>
            </a:r>
          </a:p>
          <a:p>
            <a:endParaRPr/>
          </a:p>
          <a:p>
            <a:r>
              <a:t>Transición: Formulemos la pregunta inversa del modelo de propagación.</a:t>
            </a:r>
          </a:p>
          <a:p>
            <a:endParaRPr/>
          </a:p>
          <a:p>
            <a:r>
              <a:t>Texto alternativo: Un diagrama unívoco se compara con otro donde dos entradas producen la misma salida.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Pedir al grupo que formule las preguntas directa e inversa sin símbolos. Luego señalar cómo cambian las unidades de entrada y salida.</a:t>
            </a:r>
          </a:p>
          <a:p>
            <a:r>
              <a:t>- **Pregunta y respuesta esperada:** Directa: tiempo→distancia. Inversa: distancia→tiempo.</a:t>
            </a:r>
          </a:p>
          <a:p>
            <a:r>
              <a:t>- **Énfasis/error frecuente:** La inversa depende de una correspondencia única.</a:t>
            </a:r>
          </a:p>
          <a:p>
            <a:r>
              <a:t>- **Transición:** “Ahora escribimos la misma inversión como despeje”.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sec:u1-funcion-inversa; PDF p. 21.</a:t>
            </a:r>
          </a:p>
          <a:p>
            <a:endParaRPr/>
          </a:p>
          <a:p>
            <a:r>
              <a:t>Transición: Escribamos esa inversión en símbolos.</a:t>
            </a:r>
          </a:p>
          <a:p>
            <a:endParaRPr/>
          </a:p>
          <a:p>
            <a:r>
              <a:t>Texto alternativo: El tiempo entra y la distancia sale en la función directa; en la inversa, la distancia entra y el tiempo sale.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Despejar `t` paso a paso y verificar dimensiones. Relacionar con U01-028.</a:t>
            </a:r>
          </a:p>
          <a:p>
            <a:r>
              <a:t>- **Pregunta y respuesta esperada:** Dividir distancia por rapidez produce segundos y recupera el tiempo.</a:t>
            </a:r>
          </a:p>
          <a:p>
            <a:r>
              <a:t>- **Énfasis/error frecuente:** El superíndice `−1` en `f⁻¹` no indica recíproco.</a:t>
            </a:r>
          </a:p>
          <a:p>
            <a:r>
              <a:t>- **Transición:** “Un ejemplo de ida y vuelta permite comprobarlo”.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sec:u1-funcion-inversa; PDF p. 21; INV E08.</a:t>
            </a:r>
          </a:p>
          <a:p>
            <a:endParaRPr/>
          </a:p>
          <a:p>
            <a:r>
              <a:t>Transición: Probemos un recorrido de ida y vuelta.</a:t>
            </a:r>
          </a:p>
          <a:p>
            <a:endParaRPr/>
          </a:p>
          <a:p>
            <a:r>
              <a:t>Texto alternativo: Dos cajas muestran d de t igual a c por t y t de d igual a d dividido c, conectadas en sentidos opuestos.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los dos caminos y luego componerlos. Hacer que el grupo compare las unidades de entrada y salida.</a:t>
            </a:r>
          </a:p>
          <a:p>
            <a:r>
              <a:t>- **Pregunta y respuesta esperada:** `t=3 s` produce `d=12 m`; `d=20 m` produce `t=5 s`.</a:t>
            </a:r>
          </a:p>
          <a:p>
            <a:r>
              <a:t>- **Énfasis/error frecuente:** La comprobación debe recuperar el dato inicial, no solo producir un número plausible.</a:t>
            </a:r>
          </a:p>
          <a:p>
            <a:r>
              <a:t>- **Transición:** “Ahora enfrentemos la confusión de notación”.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TEX sec:u1-ejemplo-inversa; TEX ejercicios NA2.</a:t>
            </a:r>
          </a:p>
          <a:p>
            <a:endParaRPr/>
          </a:p>
          <a:p>
            <a:r>
              <a:t>Transición: La notación de inversa puede confundirse con otra operación.</a:t>
            </a:r>
          </a:p>
          <a:p>
            <a:endParaRPr/>
          </a:p>
          <a:p>
            <a:r>
              <a:t>Texto alternativo: Dos caminos calculan distancia desde tiempo y tiempo desde distancia, con resultados 12 metros y 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Comparar significado antes que símbolos. Evaluar ambas expresiones en `x=4` si hace falta: inversa `2`, recíproco `1/8`.</a:t>
            </a:r>
          </a:p>
          <a:p>
            <a:r>
              <a:t>- **Pregunta y respuesta esperada:** La inversa deshace `×2` mediante `÷2`; el recíproco calcula 1 dividido por la salida.</a:t>
            </a:r>
          </a:p>
          <a:p>
            <a:r>
              <a:t>- **Énfasis/error frecuente:** Señalar la restricción `x≠0` del recíproco.</a:t>
            </a:r>
          </a:p>
          <a:p>
            <a:r>
              <a:t>- **Transición:** “Para describir ciclos necesitaremos seno y coseno”.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sec:u1-funcion-inversa; TEX ejercicios D4; DEP.</a:t>
            </a:r>
          </a:p>
          <a:p>
            <a:endParaRPr/>
          </a:p>
          <a:p>
            <a:r>
              <a:t>Transición: Las ondas necesitarán otra familia de funciones: las trigonométricas.</a:t>
            </a:r>
          </a:p>
          <a:p>
            <a:endParaRPr/>
          </a:p>
          <a:p>
            <a:r>
              <a:t>Texto alternativo: Comparación entre función inversa x sobre 2 y recíproco 1 sobre 2x.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el propósito futuro sin presentar una onda. El triángulo permite definir razones; el círculo permite extenderlas a giros.</a:t>
            </a:r>
          </a:p>
          <a:p>
            <a:r>
              <a:t>- **Pregunta y respuesta esperada:** “¿Dónde aparecen ciclos en acústica?” Oscilaciones y señales periódicas, que se desarrollarán en U3.</a:t>
            </a:r>
          </a:p>
          <a:p>
            <a:r>
              <a:t>- **Énfasis/error frecuente:** No saturar con identidades trigonométricas.</a:t>
            </a:r>
          </a:p>
          <a:p>
            <a:r>
              <a:t>- **Transición:** “Primero debemos ubicar correctamente los lados”.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TEX sec:u1-trigonometria; DEP U3.</a:t>
            </a:r>
          </a:p>
          <a:p>
            <a:endParaRPr/>
          </a:p>
          <a:p>
            <a:r>
              <a:t>Transición: Todo comienza por elegir un ángulo de referencia.</a:t>
            </a:r>
          </a:p>
          <a:p>
            <a:endParaRPr/>
          </a:p>
          <a:p>
            <a:r>
              <a:t>Texto alternativo: Un triángulo rectángulo se conecta visualmente con un círculo.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hipotenusa, opuesto y adyacente en ese orden. Cambiar el ángulo de referencia y mostrar qué etiquetas cambian.</a:t>
            </a:r>
          </a:p>
          <a:p>
            <a:r>
              <a:t>- **Pregunta y respuesta esperada:** La hipotenusa permanece; opuesto y adyacente se intercambian.</a:t>
            </a:r>
          </a:p>
          <a:p>
            <a:r>
              <a:t>- **Énfasis/error frecuente:** El lado que toca `θ` puede ser hipotenusa; por eso la definición de adyacente la excluye.</a:t>
            </a:r>
          </a:p>
          <a:p>
            <a:r>
              <a:t>- **Transición:** “Ahora comparemos esos lados mediante razones”.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sec:u1-trigonometria; PDF p. 21.</a:t>
            </a:r>
          </a:p>
          <a:p>
            <a:endParaRPr/>
          </a:p>
          <a:p>
            <a:r>
              <a:t>Transición: Con los lados identificados, podemos compararlos.</a:t>
            </a:r>
          </a:p>
          <a:p>
            <a:endParaRPr/>
          </a:p>
          <a:p>
            <a:r>
              <a:t>Texto alternativo: Triángulo rectángulo con theta y sus lados hipotenusa, opuesto y adyacente correctamente rotulados.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un resaltado por razón. Explicar la cancelación de unidades con longitudes expresadas ambas en centímetros.</a:t>
            </a:r>
          </a:p>
          <a:p>
            <a:r>
              <a:t>- **Pregunta y respuesta esperada:** Seno usa opuesto/hipotenusa; coseno adyacente/hipotenusa; tangente opuesto/adyacente.</a:t>
            </a:r>
          </a:p>
          <a:p>
            <a:r>
              <a:t>- **Énfasis/error frecuente:** No memorizar una sigla sin identificar lados.</a:t>
            </a:r>
          </a:p>
          <a:p>
            <a:r>
              <a:t>- **Transición:** “El triángulo 3–4–5 permite calcular sin calculadora”.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sec:u1-trigonometria; INV E13–E15.</a:t>
            </a:r>
          </a:p>
          <a:p>
            <a:endParaRPr/>
          </a:p>
          <a:p>
            <a:r>
              <a:t>Transición: Apliquemos las tres razones a un triángulo conocido.</a:t>
            </a:r>
          </a:p>
          <a:p>
            <a:endParaRPr/>
          </a:p>
          <a:p>
            <a:r>
              <a:t>Texto alternativo: Un mismo triángulo muestra qué lados forman seno, coseno y tangente.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Verificar primero Pitágoras. Pedir predicción de seno versus coseno mirando los lados. Calcular y remarcar ausencia de unidad.</a:t>
            </a:r>
          </a:p>
          <a:p>
            <a:r>
              <a:t>- **Pregunta y respuesta esperada:** Coseno es mayor porque el adyacente 4 supera al opuesto 3.</a:t>
            </a:r>
          </a:p>
          <a:p>
            <a:r>
              <a:t>- **Énfasis/error frecuente:** La razón no tiene unidad si ambos lados usan unidades compatibles.</a:t>
            </a:r>
          </a:p>
          <a:p>
            <a:r>
              <a:t>- **Transición:** “En un problema real, la primera decisión es elegir la razón”.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ejercicios NA4; PDF ejercicios.</a:t>
            </a:r>
          </a:p>
          <a:p>
            <a:endParaRPr/>
          </a:p>
          <a:p>
            <a:r>
              <a:t>Transición: Ahora el desafío es elegir la razón adecuada.</a:t>
            </a:r>
          </a:p>
          <a:p>
            <a:endParaRPr/>
          </a:p>
          <a:p>
            <a:r>
              <a:t>Texto alternativo: Triángulo rectángulo 3–4–5 con theta y cálculos de seno, coseno y tangente.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90 segundos. Pedir que nombren conocido e incógnita. La razón adecuada es seno si intervienen opuesto e hipotenusa.</a:t>
            </a:r>
          </a:p>
          <a:p>
            <a:r>
              <a:t>- **Pregunta y respuesta esperada:** Seno, porque contiene el lado opuesto buscado y la hipotenusa conocida.</a:t>
            </a:r>
          </a:p>
          <a:p>
            <a:r>
              <a:t>- **Énfasis/error frecuente:** No elegir por cercanía visual del botón en la calculadora.</a:t>
            </a:r>
          </a:p>
          <a:p>
            <a:r>
              <a:t>- **Transición:** “El círculo permite extender estas relaciones a una vuelta”.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sec:u1-trigonometria; INV.</a:t>
            </a:r>
          </a:p>
          <a:p>
            <a:endParaRPr/>
          </a:p>
          <a:p>
            <a:r>
              <a:t>Transición: Del triángulo pasaremos a una vuelta completa.</a:t>
            </a:r>
          </a:p>
          <a:p>
            <a:endParaRPr/>
          </a:p>
          <a:p>
            <a:r>
              <a:t>Texto alternativo: Triángulo rectángulo con hipotenusa y adyacente conocidos, lado opuesto oculto y tres opciones trigonométricas.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Trazar primero 225° y luego sumar una vuelta. Explicar orientación final frente a recorrido acumulado.</a:t>
            </a:r>
          </a:p>
          <a:p>
            <a:r>
              <a:t>- **Pregunta y respuesta esperada:** Terminan en la misma dirección; 585° incluye 360° adicionales.</a:t>
            </a:r>
          </a:p>
          <a:p>
            <a:r>
              <a:t>- **Énfasis/error frecuente:** Coterminal no significa igual como número de giro acumulado.</a:t>
            </a:r>
          </a:p>
          <a:p>
            <a:r>
              <a:t>- **Transición:** “Expresemos la vuelta en una medida natural de arco”.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sec:u1-trigonometria; TEX ejercicios NA5.</a:t>
            </a:r>
          </a:p>
          <a:p>
            <a:endParaRPr/>
          </a:p>
          <a:p>
            <a:r>
              <a:t>Transición: Una vuelta también puede medirse en radianes.</a:t>
            </a:r>
          </a:p>
          <a:p>
            <a:endParaRPr/>
          </a:p>
          <a:p>
            <a:r>
              <a:t>Texto alternativo: Dos recorridos circulares terminan en la misma orientación; uno da una vuelta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`90°=π/2`, `180°=π`, `225°=5π/4`. Hacer visible el factor `π/180°`.</a:t>
            </a:r>
          </a:p>
          <a:p>
            <a:r>
              <a:t>- **Pregunta y respuesta esperada:** La unidad grado se cancela y queda rad.</a:t>
            </a:r>
          </a:p>
          <a:p>
            <a:r>
              <a:t>- **Énfasis/error frecuente:** No mezclar grados y radianes en una misma sustitución sin convertir.</a:t>
            </a:r>
          </a:p>
          <a:p>
            <a:r>
              <a:t>- **Transición:** “En el círculo unitario, el ángulo determina coordenadas”.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TEX sec:u1-trigonometria; TEX ejercicios NA5.</a:t>
            </a:r>
          </a:p>
          <a:p>
            <a:endParaRPr/>
          </a:p>
          <a:p>
            <a:r>
              <a:t>Transición: El círculo unitario conecta ángulo y coordenadas.</a:t>
            </a:r>
          </a:p>
          <a:p>
            <a:endParaRPr/>
          </a:p>
          <a:p>
            <a:r>
              <a:t>Texto alternativo: Arco circular con marcas de grados y radianes y tres conversiones incompletas.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Mover el radio y seguir sus proyecciones. Señalar los signos por cuadrante. Relacionar `2π` con una vuelta.</a:t>
            </a:r>
          </a:p>
          <a:p>
            <a:r>
              <a:t>- **Pregunta y respuesta esperada:** Coordenada horizontal: coseno; vertical: seno.</a:t>
            </a:r>
          </a:p>
          <a:p>
            <a:r>
              <a:t>- **Énfasis/error frecuente:** El radián es adimensional, pero se conserva el rótulo para claridad angular.</a:t>
            </a:r>
          </a:p>
          <a:p>
            <a:r>
              <a:t>- **Transición:** “Recapitulemos cómo una razón se convierte en coordenada cíclica”.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sec:u1-trigonometria; PDF p. 22; INV.</a:t>
            </a:r>
          </a:p>
          <a:p>
            <a:endParaRPr/>
          </a:p>
          <a:p>
            <a:r>
              <a:t>Transición: Recapitulemos el recorrido desde cocientes hasta ciclos.</a:t>
            </a:r>
          </a:p>
          <a:p>
            <a:endParaRPr/>
          </a:p>
          <a:p>
            <a:r>
              <a:t>Texto alternativo: Círculo unitario con ángulo theta, arco y proyecciones horizontal coseno y vertical seno.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Pedir una frase para cada flecha del visual. Explicar que el trazo senoidal es solo un anticipo.</a:t>
            </a:r>
          </a:p>
          <a:p>
            <a:r>
              <a:t>- **Pregunta y respuesta esperada:** La idea que permanece es la razón/proyección; cambia la representación y el rango angular.</a:t>
            </a:r>
          </a:p>
          <a:p>
            <a:r>
              <a:t>- **Énfasis/error frecuente:** No introducir aún frecuencia angular, fase o ecuación senoidal.</a:t>
            </a:r>
          </a:p>
          <a:p>
            <a:r>
              <a:t>- **Transición:** “Pasemos de cambios aditivos a cambios multiplicativos”.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sec:u1-sintesis; DEP U3.</a:t>
            </a:r>
          </a:p>
          <a:p>
            <a:endParaRPr/>
          </a:p>
          <a:p>
            <a:r>
              <a:t>Transición: Ahora necesitamos describir cambios por factores, no solo por sumas.</a:t>
            </a:r>
          </a:p>
          <a:p>
            <a:endParaRPr/>
          </a:p>
          <a:p>
            <a:r>
              <a:t>Texto alternativo: Secuencia visual desde un triángulo rectángulo hasta un círculo unitario y una curva senoidal.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Comparar 1, 10, 100 y 1000. Hacer que digan “por diez” entre términos.</a:t>
            </a:r>
          </a:p>
          <a:p>
            <a:r>
              <a:t>- **Pregunta y respuesta esperada:** El factor es constante, la diferencia no.</a:t>
            </a:r>
          </a:p>
          <a:p>
            <a:r>
              <a:t>- **Énfasis/error frecuente:** No presentar logaritmos como un truco de calculadora.</a:t>
            </a:r>
          </a:p>
          <a:p>
            <a:r>
              <a:t>- **Transición:** “Si hace falta, recuperamos las potencias de diez”.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TEX sec:u1-exponencial.</a:t>
            </a:r>
          </a:p>
          <a:p>
            <a:endParaRPr/>
          </a:p>
          <a:p>
            <a:r>
              <a:t>Transición: Recuperemos potencias si el grupo lo necesita.</a:t>
            </a:r>
          </a:p>
          <a:p>
            <a:endParaRPr/>
          </a:p>
          <a:p>
            <a:r>
              <a:t>Texto alternativo: Los números 1, 10, 100 y 1000 aparecen conectados por multiplicaciones por diez.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Mantener la tabla visible. Pedir que traduzcan exponentes positivos y negativos.</a:t>
            </a:r>
          </a:p>
          <a:p>
            <a:r>
              <a:t>- **Pregunta y respuesta esperada:** `10⁴=10000`; `10⁻⁴=0,0001`; `100=10²`.</a:t>
            </a:r>
          </a:p>
          <a:p>
            <a:r>
              <a:t>- **Énfasis/error frecuente:** `10⁰=1`, no 0.</a:t>
            </a:r>
          </a:p>
          <a:p>
            <a:r>
              <a:t>- **Transición:** “Una función exponencial convierte exponentes en resultados”.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sec:u1-exponencial; BRF.</a:t>
            </a:r>
          </a:p>
          <a:p>
            <a:endParaRPr/>
          </a:p>
          <a:p>
            <a:r>
              <a:t>Transición: Una función exponencial organiza estos factores.</a:t>
            </a:r>
          </a:p>
          <a:p>
            <a:endParaRPr/>
          </a:p>
          <a:p>
            <a:r>
              <a:t>Texto alternativo: Tabla desde diez a la menos tres hasta diez a la tres con sus valores decimales.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pares en tabla y curva. Contrastar agregar 1 a `x` con multiplicar por 10 la salida.</a:t>
            </a:r>
          </a:p>
          <a:p>
            <a:r>
              <a:t>- **Pregunta y respuesta esperada:** De `x=1` a `x=2`, `y` pasa de 10 a 100: factor 10.</a:t>
            </a:r>
          </a:p>
          <a:p>
            <a:r>
              <a:t>- **Énfasis/error frecuente:** La curva no cruza el eje horizontal para esta base positiva.</a:t>
            </a:r>
          </a:p>
          <a:p>
            <a:r>
              <a:t>- **Transición:** “La base decide si la curva crece o decrece”.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sec:u1-exponencial; PDF p. 23.</a:t>
            </a:r>
          </a:p>
          <a:p>
            <a:endParaRPr/>
          </a:p>
          <a:p>
            <a:r>
              <a:t>Transición: La base determina crecimiento o decaimiento.</a:t>
            </a:r>
          </a:p>
          <a:p>
            <a:endParaRPr/>
          </a:p>
          <a:p>
            <a:r>
              <a:t>Texto alternativo: Tabla de pares y curva creciente para y igual a diez elevado a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Comparar las curvas usando la misma escala. Mostrar que ambas pasan por `(0,1)`.</a:t>
            </a:r>
          </a:p>
          <a:p>
            <a:r>
              <a:t>- **Pregunta y respuesta esperada:** `2ˣ` crece; `(1/2)ˣ` decrece.</a:t>
            </a:r>
          </a:p>
          <a:p>
            <a:r>
              <a:t>- **Énfasis/error frecuente:** Una base negativa queda fuera de la definición introductoria usada.</a:t>
            </a:r>
          </a:p>
          <a:p>
            <a:r>
              <a:t>- **Transición:** “Ahora invirtamos la pregunta: ¿qué exponente produjo este valor?”.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sec:u1-exponencial; BRF.</a:t>
            </a:r>
          </a:p>
          <a:p>
            <a:endParaRPr/>
          </a:p>
          <a:p>
            <a:r>
              <a:t>Transición: ¿Qué exponente produce una salida conocida?</a:t>
            </a:r>
          </a:p>
          <a:p>
            <a:endParaRPr/>
          </a:p>
          <a:p>
            <a:r>
              <a:t>Texto alternativo: Una curva exponencial creciente se compara con otra decreciente.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Hacer leer ambas expresiones con palabras. Variar ejemplos: `10²=100`, luego `log₁₀(100)=2`.</a:t>
            </a:r>
          </a:p>
          <a:p>
            <a:r>
              <a:t>- **Pregunta y respuesta esperada:** El logaritmo devuelve el exponente.</a:t>
            </a:r>
          </a:p>
          <a:p>
            <a:r>
              <a:t>- **Énfasis/error frecuente:** `log₁₀(1000)` no significa dividir 1000 por 10.</a:t>
            </a:r>
          </a:p>
          <a:p>
            <a:r>
              <a:t>- **Transición:** “Las gráficas muestran este intercambio de entradas y salidas”.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sec:u1-logaritmos; PDF p. 23.</a:t>
            </a:r>
          </a:p>
          <a:p>
            <a:endParaRPr/>
          </a:p>
          <a:p>
            <a:r>
              <a:t>Transición: Las gráficas también muestran la inversión.</a:t>
            </a:r>
          </a:p>
          <a:p>
            <a:endParaRPr/>
          </a:p>
          <a:p>
            <a:r>
              <a:t>Texto alternativo: La igualdad diez al cubo igual a mil se conecta con logaritmo base diez de mil igual a 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Marcar un punto de la exponencial, intercambiar coordenadas y ubicarlo en el logaritmo. Señalar el dominio positivo.</a:t>
            </a:r>
          </a:p>
          <a:p>
            <a:r>
              <a:t>- **Pregunta y respuesta esperada:** `(1,10)` se corresponde con `(10,1)`.</a:t>
            </a:r>
          </a:p>
          <a:p>
            <a:r>
              <a:t>- **Énfasis/error frecuente:** No graficar `log₁₀(x)` para `x≤0` en los reales.</a:t>
            </a:r>
          </a:p>
          <a:p>
            <a:r>
              <a:t>- **Transición:** “En física, el argumento del logaritmo también debe estar bien construido”.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sec:u1-logaritmos; INV.</a:t>
            </a:r>
          </a:p>
          <a:p>
            <a:endParaRPr/>
          </a:p>
          <a:p>
            <a:r>
              <a:t>Transición: En una expresión física, además importa qué puede entrar al logaritmo.</a:t>
            </a:r>
          </a:p>
          <a:p>
            <a:endParaRPr/>
          </a:p>
          <a:p>
            <a:r>
              <a:t>Texto alternativo: Curvas exponencial y logarítmica reflejadas respecto de la recta y igual a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que una razón entre magnitudes compatibles cancela unidades. Mantener `p₀` como referencia genérica.</a:t>
            </a:r>
          </a:p>
          <a:p>
            <a:r>
              <a:t>- **Pregunta y respuesta esperada:** `p/p₀` es adimensional si ambas presiones usan unidades compatibles.</a:t>
            </a:r>
          </a:p>
          <a:p>
            <a:r>
              <a:t>- **Énfasis/error frecuente:** No formalizar aquí nivel de presión sonora ni introducir `20 log`.</a:t>
            </a:r>
          </a:p>
          <a:p>
            <a:r>
              <a:t>- **Transición:** “Veamos cómo una escala logarítmica distribuye razones”.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sec:u1-logaritmos; TEX sec:u1-decibel; NOT.</a:t>
            </a:r>
          </a:p>
          <a:p>
            <a:endParaRPr/>
          </a:p>
          <a:p>
            <a:r>
              <a:t>Transición: Las escalas logarítmicas hacen visibles las razones.</a:t>
            </a:r>
          </a:p>
          <a:p>
            <a:endParaRPr/>
          </a:p>
          <a:p>
            <a:r>
              <a:t>Texto alternativo: La expresión logaritmo de pascales aparece como incorrecta y logaritmo de una razón compatible como correcta.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Pedir que ubiquen 10, 100 y 1000 en ambos ejes. Explicar diferencia constante frente a factor constante.</a:t>
            </a:r>
          </a:p>
          <a:p>
            <a:r>
              <a:t>- **Pregunta y respuesta esperada:** En el eje logarítmico los factores ×10 tienen igual separación.</a:t>
            </a:r>
          </a:p>
          <a:p>
            <a:r>
              <a:t>- **Énfasis/error frecuente:** Escala logarítmica no significa automáticamente percepción logarítmica.</a:t>
            </a:r>
          </a:p>
          <a:p>
            <a:r>
              <a:t>- **Transición:** “El decibel expresa una razón mediante un logaritmo”.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sec:u1-decibel; PDF p. 24.</a:t>
            </a:r>
          </a:p>
          <a:p>
            <a:endParaRPr/>
          </a:p>
          <a:p>
            <a:r>
              <a:t>Transición: El decibel usa un logaritmo para expresar una comparación.</a:t>
            </a:r>
          </a:p>
          <a:p>
            <a:endParaRPr/>
          </a:p>
          <a:p>
            <a:r>
              <a:t>Texto alternativo: Los mismos cuatro valores aparecen comprimidos en un eje lineal y espaciados uniformemente en un eje logarítmico.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la ecuación por partes. Definir `Q`, `Q₀`, razón y nivel. Señalar el alcance: magnitudes de tipo potencia.</a:t>
            </a:r>
          </a:p>
          <a:p>
            <a:r>
              <a:t>- **Pregunta y respuesta esperada:** Para interpretar el nivel hacen falta magnitud, referencia y condiciones.</a:t>
            </a:r>
          </a:p>
          <a:p>
            <a:r>
              <a:t>- **Énfasis/error frecuente:** No generalizar el factor 10 a toda variable acústica.</a:t>
            </a:r>
          </a:p>
          <a:p>
            <a:r>
              <a:t>- **Transición:** “Usemos una razón cuyo logaritmo conocemos”.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sec:u1-decibel; PDF pp. 23–24; BRF.</a:t>
            </a:r>
          </a:p>
          <a:p>
            <a:endParaRPr/>
          </a:p>
          <a:p>
            <a:r>
              <a:t>Transición: Calculemos una razón sencilla.</a:t>
            </a:r>
          </a:p>
          <a:p>
            <a:endParaRPr/>
          </a:p>
          <a:p>
            <a:r>
              <a:t>Texto alternativo: Fórmula del nivel como diez por logaritmo base diez de una razón, con la referencia destacada.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`log₁₀(100)=2`, multiplicar por 10 y leer “20 dB respecto de Q₀”. Volver a preguntar qué falta.</a:t>
            </a:r>
          </a:p>
          <a:p>
            <a:r>
              <a:t>- **Pregunta y respuesta esperada:** Falta saber qué son `Q` y `Q₀`; “20 dB” solo está incompleto.</a:t>
            </a:r>
          </a:p>
          <a:p>
            <a:r>
              <a:t>- **Énfasis/error frecuente:** No añadir SPL, HL o SL sin fundamento.</a:t>
            </a:r>
          </a:p>
          <a:p>
            <a:r>
              <a:t>- **Transición:** “Un nivel físico tampoco describe por sí solo una experiencia”.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sec:u1-decibel; TEX ejercicios NA6/D3.</a:t>
            </a:r>
          </a:p>
          <a:p>
            <a:endParaRPr/>
          </a:p>
          <a:p>
            <a:r>
              <a:t>Transición: Una comparación física tampoco equivale directamente a una experiencia.</a:t>
            </a:r>
          </a:p>
          <a:p>
            <a:endParaRPr/>
          </a:p>
          <a:p>
            <a:r>
              <a:t>Texto alternativo: Gráfico logarítmico conecta razones 1, 10, 100 y 1000 con niveles 0, 10, 20 y 30 decibeles.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Recuperar las respuestas espontáneas de U01-002 y ubicarlas en cuatro capas. Señalar que “relacionado” no significa “equivalente”.</a:t>
            </a:r>
          </a:p>
          <a:p>
            <a:r>
              <a:t>- **Pregunta y respuesta esperada:** Una señal medida pertenece a lo físico; lo escuchado, a lo perceptual; el diagnóstico requiere más evidencia.</a:t>
            </a:r>
          </a:p>
          <a:p>
            <a:r>
              <a:t>- **Énfasis/error frecuente:** Evitar una flecha causal simple.</a:t>
            </a:r>
          </a:p>
          <a:p>
            <a:r>
              <a:t>- **Transición:** “Definamos las cuatro categorías”.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sec:u1-fisico-perceptual; BRF.</a:t>
            </a:r>
          </a:p>
          <a:p>
            <a:endParaRPr/>
          </a:p>
          <a:p>
            <a:r>
              <a:t>Transición: Definamos cada nivel de descripción.</a:t>
            </a:r>
          </a:p>
          <a:p>
            <a:endParaRPr/>
          </a:p>
          <a:p>
            <a:r>
              <a:t>Texto alternativo: Cuatro capas distinguen medición física, nivel referido, percepción y conclusión clínica.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un ejemplo por columna y nombrar el procedimiento que lo produce. La respuesta “detectado” es conductual, no unidad física.</a:t>
            </a:r>
          </a:p>
          <a:p>
            <a:r>
              <a:t>- **Pregunta y respuesta esperada:** `1000 Hz`: medición física; `35 dB HL`: nivel referido; “agudo”: perceptual; “detectado”: respuesta.</a:t>
            </a:r>
          </a:p>
          <a:p>
            <a:r>
              <a:t>- **Énfasis/error frecuente:** No convertir la matriz en una secuencia diagnóstica automática.</a:t>
            </a:r>
          </a:p>
          <a:p>
            <a:r>
              <a:t>- **Transición:** “Apliquemos el criterio a frecuencia y altura tonal”.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sec:u1-fisico-perceptual; PDF p. 24; INV C39–C45.</a:t>
            </a:r>
          </a:p>
          <a:p>
            <a:endParaRPr/>
          </a:p>
          <a:p>
            <a:r>
              <a:t>Transición: Apliquemos la distinción a pares que suelen confundirse.</a:t>
            </a:r>
          </a:p>
          <a:p>
            <a:endParaRPr/>
          </a:p>
          <a:p>
            <a:r>
              <a:t>Texto alternativo: Matriz con ejemplos de medición física, nivel referido, atributo perceptual y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Definir frecuencia en ciclos por segundo y altura tonal como orden perceptual grave–agudo. Mencionar otras condiciones sin desarrollarlas.</a:t>
            </a:r>
          </a:p>
          <a:p>
            <a:r>
              <a:t>- **Pregunta y respuesta esperada:** “200 Hz” es un dato físico; “grave” es una descripción perceptual.</a:t>
            </a:r>
          </a:p>
          <a:p>
            <a:r>
              <a:t>- **Énfasis/error frecuente:** Relación frecuente no implica identidad.</a:t>
            </a:r>
          </a:p>
          <a:p>
            <a:r>
              <a:t>- **Transición:** “La amplitud también suele confundirse con una experiencia”.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sec:u1-fisico-perceptual; TEX sec:u1-errores; DEP U7.</a:t>
            </a:r>
          </a:p>
          <a:p>
            <a:endParaRPr/>
          </a:p>
          <a:p>
            <a:r>
              <a:t>Transición: La misma distinción aparece entre amplitud y sonoridad.</a:t>
            </a:r>
          </a:p>
          <a:p>
            <a:endParaRPr/>
          </a:p>
          <a:p>
            <a:r>
              <a:t>Texto alternativo: La frecuencia física en hertz se compara con la altura tonal percibida sin presentarlas como equivalentes.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Clasificar los tres ejemplos. Explicar que “volumen” puede nombrar informalmente un control, pero no una magnitud física única.</a:t>
            </a:r>
          </a:p>
          <a:p>
            <a:r>
              <a:t>- **Pregunta y respuesta esperada:** Forma de onda: amplitud; “se oye fuerte”: sonoridad; posición 7: ajuste técnico.</a:t>
            </a:r>
          </a:p>
          <a:p>
            <a:r>
              <a:t>- **Énfasis/error frecuente:** No inferir sonoridad solo desde amplitud digital.</a:t>
            </a:r>
          </a:p>
          <a:p>
            <a:r>
              <a:t>- **Transición:** “Espectro y timbre presentan un límite parecido”.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sec:u1-fisico-perceptual; PDF p. 24; TEX sec:u1-errores.</a:t>
            </a:r>
          </a:p>
          <a:p>
            <a:endParaRPr/>
          </a:p>
          <a:p>
            <a:r>
              <a:t>Transición: Otro par importante aparece entre espectro y timbre.</a:t>
            </a:r>
          </a:p>
          <a:p>
            <a:endParaRPr/>
          </a:p>
          <a:p>
            <a:r>
              <a:t>Texto alternativo: Tres paneles distinguen amplitud de una señal, sonoridad percibida y posición de un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los espectros como datos sintéticos. Explicar que el timbre también depende de evolución temporal y otras propiedades, sin introducir Fourier.</a:t>
            </a:r>
          </a:p>
          <a:p>
            <a:r>
              <a:t>- **Pregunta y respuesta esperada:** Podemos afirmar que las distribuciones físicas difieren; no asignar una experiencia única.</a:t>
            </a:r>
          </a:p>
          <a:p>
            <a:r>
              <a:t>- **Énfasis/error frecuente:** No etiquetar los espectros como voces o instrumentos reales.</a:t>
            </a:r>
          </a:p>
          <a:p>
            <a:r>
              <a:t>- **Transición:** “En una app de voz, incluso el eje vertical puede carecer de unidad física”.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sec:u1-fisico-perceptual; MAP U5/U7.</a:t>
            </a:r>
          </a:p>
          <a:p>
            <a:endParaRPr/>
          </a:p>
          <a:p>
            <a:r>
              <a:t>Transición: Veamos qué puede informar una herramienta cotidiana de registro.</a:t>
            </a:r>
          </a:p>
          <a:p>
            <a:endParaRPr/>
          </a:p>
          <a:p>
            <a:r>
              <a:t>Texto alternativo: Dos espectros sintéticos distintos se presentan sin afirmar una correspondencia perceptual única.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el eje “amplitud digital”. Explicar calibración como vínculo trazable con una entrada física conocida, sin enseñar procedimiento.</a:t>
            </a:r>
          </a:p>
          <a:p>
            <a:r>
              <a:t>- **Pregunta y respuesta esperada:** Para expresar Pa faltan calibración, sensibilidad, ganancia y condiciones.</a:t>
            </a:r>
          </a:p>
          <a:p>
            <a:r>
              <a:t>- **Énfasis/error frecuente:** Una curva más alta en pantalla no implica automáticamente mayor presión ni sonoridad.</a:t>
            </a:r>
          </a:p>
          <a:p>
            <a:r>
              <a:t>- **Transición:** “Una pantalla audiométrica combina todavía más categorías”.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F1; TEX sec:u1-relacion-fono.</a:t>
            </a:r>
          </a:p>
          <a:p>
            <a:endParaRPr/>
          </a:p>
          <a:p>
            <a:r>
              <a:t>Transición: Una pantalla audiométrica también combina categorías distintas.</a:t>
            </a:r>
          </a:p>
          <a:p>
            <a:endParaRPr/>
          </a:p>
          <a:p>
            <a:r>
              <a:t>Texto alternativo: Interfaz sintética de grabación con eje de amplitud digital y una advertencia sobre ausencia de calibración.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frecuencia, nivel y respuesta por separado. Explicar que dB HL incorpora una referencia audiométrica específica.</a:t>
            </a:r>
          </a:p>
          <a:p>
            <a:r>
              <a:t>- **Pregunta y respuesta esperada:** `1000 Hz`: magnitud; `35 dB HL`: nivel referido; “detectado”: respuesta conductual.</a:t>
            </a:r>
          </a:p>
          <a:p>
            <a:r>
              <a:t>- **Énfasis/error frecuente:** No convertir dB HL a dB SPL sin datos de calibración, frecuencia y transductor.</a:t>
            </a:r>
          </a:p>
          <a:p>
            <a:r>
              <a:t>- **Transición:** “Volvamos al modelo fuente–medio–receptor en una cadena de verificación”.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F2; ISO 389-1 e ISO 8253-1 citadas en TEX.</a:t>
            </a:r>
          </a:p>
          <a:p>
            <a:endParaRPr/>
          </a:p>
          <a:p>
            <a:r>
              <a:t>Transición: Apliquemos fuente–medio–receptor a una cadena técnica.</a:t>
            </a:r>
          </a:p>
          <a:p>
            <a:endParaRPr/>
          </a:p>
          <a:p>
            <a:r>
              <a:t>Texto alternativo: Pantalla audiométrica conceptual resalta frecuencia, nivel de audición y respuesta detectada como categorías distintas.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Recorrer la cadena y preguntar qué mide el micrófono. Diferenciar verificación electroacústica de evaluación de una persona.</a:t>
            </a:r>
          </a:p>
          <a:p>
            <a:r>
              <a:t>- **Pregunta y respuesta esperada:** El micrófono es receptor instrumental y produce un dato de señal recibida bajo condiciones.</a:t>
            </a:r>
          </a:p>
          <a:p>
            <a:r>
              <a:t>- **Énfasis/error frecuente:** Un resultado instrumental aislado no es diagnóstico.</a:t>
            </a:r>
          </a:p>
          <a:p>
            <a:r>
              <a:t>- **Transición:** “Convirtamos estos ejemplos en un criterio general”.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ejercicios F3; TEX sec:u1-alcance.</a:t>
            </a:r>
          </a:p>
          <a:p>
            <a:endParaRPr/>
          </a:p>
          <a:p>
            <a:r>
              <a:t>Transición: Convirtamos estas distinciones en un criterio general de lectura.</a:t>
            </a:r>
          </a:p>
          <a:p>
            <a:endParaRPr/>
          </a:p>
          <a:p>
            <a:r>
              <a:t>Texto alternativo: Cadena de señal de prueba, parlante, aire, micrófono y dato, con un límite sobre diagnóstico.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seis elementos para clasificar. Luego pedir una frase de límite por pareja.</a:t>
            </a:r>
          </a:p>
          <a:p>
            <a:r>
              <a:t>- **Pregunta y respuesta esperada:** Toda interpretación debe indicar categoría, referencia, condiciones y qué no puede concluirse.</a:t>
            </a:r>
          </a:p>
          <a:p>
            <a:r>
              <a:t>- **Énfasis/error frecuente:** No aceptar respuestas clínicas sin evidencia adicional.</a:t>
            </a:r>
          </a:p>
          <a:p>
            <a:r>
              <a:t>- **Transición:** “Ahora resolvemos la escena inicial como un sistema completo”.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sec:u1-sintesis; BRF.</a:t>
            </a:r>
          </a:p>
          <a:p>
            <a:endParaRPr/>
          </a:p>
          <a:p>
            <a:r>
              <a:t>Transición: Resolvamos el caso inicial con todas las herramientas disponibles.</a:t>
            </a:r>
          </a:p>
          <a:p>
            <a:endParaRPr/>
          </a:p>
          <a:p>
            <a:r>
              <a:t>Texto alternativo: Matriz para clasificar seis elementos y formular un límite de interpretación.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Formar grupos. Parte 1: voz como fuente, aire como medio, micrófono como receptor. Cálculos: `t=6,8/340=0,020 s`; `f=100/0,50=200 Hz`.</a:t>
            </a:r>
          </a:p>
          <a:p>
            <a:r>
              <a:t>- **Pregunta y respuesta esperada:** Tiempo 20 ms; frecuencia 200 Hz; unidades visibles.</a:t>
            </a:r>
          </a:p>
          <a:p>
            <a:r>
              <a:t>- **Énfasis/error frecuente:** No afirmar que 200 Hz determina por sí solo la altura tonal.</a:t>
            </a:r>
          </a:p>
          <a:p>
            <a:r>
              <a:t>- **Transición:** “Agreguemos datos que exigen reconocer referencias y límites”.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I1.</a:t>
            </a:r>
          </a:p>
          <a:p>
            <a:endParaRPr/>
          </a:p>
          <a:p>
            <a:r>
              <a:t>Transición: Agreguemos una escala digital, una razón logarítmica y preguntas perceptuales.</a:t>
            </a:r>
          </a:p>
          <a:p>
            <a:endParaRPr/>
          </a:p>
          <a:p>
            <a:r>
              <a:t>Texto alternativo: Vocalización, aire y micrófono con datos de distancia, rapidez y número de ciclos para dos cálculos.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Calcular `20 dB` y separar afirmaciones. La amplitud digital no está calibrada; la razón sí permite un nivel relativo; la percepción y clínica requieren otros procedimientos.</a:t>
            </a:r>
          </a:p>
          <a:p>
            <a:r>
              <a:t>- **Pregunta y respuesta esperada:** Se puede informar el cálculo bajo la referencia dada; no presión en Pa, pitch ni diagnóstico.</a:t>
            </a:r>
          </a:p>
          <a:p>
            <a:r>
              <a:t>- **Énfasis/error frecuente:** Un cálculo correcto no amplía el alcance de los datos.</a:t>
            </a:r>
          </a:p>
          <a:p>
            <a:r>
              <a:t>- **Transición:** “Comparemos estas respuestas con el diagnóstico inicial”.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I1; BRF.</a:t>
            </a:r>
          </a:p>
          <a:p>
            <a:endParaRPr/>
          </a:p>
          <a:p>
            <a:r>
              <a:t>Transición: Compare sus respuestas con el diagnóstico inicial.</a:t>
            </a:r>
          </a:p>
          <a:p>
            <a:endParaRPr/>
          </a:p>
          <a:p>
            <a:r>
              <a:t>Texto alternativo: Cuatro tarjetas separan resultado numérico, referencia, experiencia perceptual y conclusión clínica.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Recorrer el mapa final y pedir una evidencia por nodo. Volver a U01-004 y solicitar autocorrección razonada.</a:t>
            </a:r>
          </a:p>
          <a:p>
            <a:r>
              <a:t>- **Pregunta y respuesta esperada:** `d=2 m` separa componentes; peso en N; `d/c` produce tiempo; frecuencia y altura tonal no son sinónimos.</a:t>
            </a:r>
          </a:p>
          <a:p>
            <a:r>
              <a:t>- **Énfasis/error frecuente:** Evitar leer la recapitulación como lista.</a:t>
            </a:r>
          </a:p>
          <a:p>
            <a:r>
              <a:t>- **Transición:** “Estas herramientas reaparecen inmediatamente en las próximas unidades”.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sec:u1-sintesis; BRF; DEP.</a:t>
            </a:r>
          </a:p>
          <a:p>
            <a:endParaRPr/>
          </a:p>
          <a:p>
            <a:r>
              <a:t>Transición: Estas herramientas reaparecerán con mayor profundidad.</a:t>
            </a:r>
          </a:p>
          <a:p>
            <a:endParaRPr/>
          </a:p>
          <a:p>
            <a:r>
              <a:t>Texto alternativo: Mapa final conecta fenómeno, medición, relaciones, control, representación e interpretación.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las dependencias documentadas. Recoger la pregunta de salida para planificar recuperación en U2.</a:t>
            </a:r>
          </a:p>
          <a:p>
            <a:r>
              <a:t>- **Pregunta y respuesta esperada:** Respuesta abierta, pero debe nombrar un concepto y una dificultad concreta.</a:t>
            </a:r>
          </a:p>
          <a:p>
            <a:r>
              <a:t>- **Énfasis/error frecuente:** No prometer que U1 agotó mecánica, ondas o decibeles.</a:t>
            </a:r>
          </a:p>
          <a:p>
            <a:r>
              <a:t>- **Transición:** Cierre de la ruta central.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MAP; DEP.</a:t>
            </a:r>
          </a:p>
          <a:p>
            <a:endParaRPr/>
          </a:p>
          <a:p>
            <a:r>
              <a:t>Transición: Fin de la ruta central.</a:t>
            </a:r>
          </a:p>
          <a:p>
            <a:endParaRPr/>
          </a:p>
          <a:p>
            <a:r>
              <a:t>Texto alternativo: La Unidad 1 se conecta con mecánica, ondas y magnitudes acústicas de las unidades 2, 3 y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Abrir solo ante una consulta sobre el SI. Señalar la fila pertinente y volver.</a:t>
            </a:r>
          </a:p>
          <a:p>
            <a:r>
              <a:t>- **Pregunta y respuesta esperada:** La temperatura termodinámica usa kelvin; tiempo, longitud y masa usan s, m y kg.</a:t>
            </a:r>
          </a:p>
          <a:p>
            <a:r>
              <a:t>- **Énfasis/error frecuente:** No leer toda la tabla.</a:t>
            </a:r>
          </a:p>
          <a:p>
            <a:r>
              <a:t>- **Transición:** Regresar a U01-019 o U01-020.</a:t>
            </a:r>
          </a:p>
          <a:p>
            <a:r>
              <a:t>- **Duración:** 1–2 min, a demanda.</a:t>
            </a:r>
          </a:p>
          <a:p>
            <a:endParaRPr/>
          </a:p>
          <a:p>
            <a:r>
              <a:t>Fuente de redacción: TEX sec:u1-si; PDF p. 16; BIPM citado en TEX.</a:t>
            </a:r>
          </a:p>
          <a:p>
            <a:endParaRPr/>
          </a:p>
          <a:p>
            <a:r>
              <a:t>Transición: Regresar a la slide que motivó la consulta.</a:t>
            </a:r>
          </a:p>
          <a:p>
            <a:endParaRPr/>
          </a:p>
          <a:p>
            <a:r>
              <a:t>Texto alternativo: Tabla completa de las siete magnitudes fundamentales con símbolos y unidades básicas.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el prefijo consultado y su factor. Conectar con una conversión concreta.</a:t>
            </a:r>
          </a:p>
          <a:p>
            <a:r>
              <a:t>- **Pregunta y respuesta esperada:** La mayúscula cambia el símbolo: `M` mega no es `m` mili.</a:t>
            </a:r>
          </a:p>
          <a:p>
            <a:r>
              <a:t>- **Énfasis/error frecuente:** No memorizar toda la tabla durante la clase.</a:t>
            </a:r>
          </a:p>
          <a:p>
            <a:r>
              <a:t>- **Transición:** Volver a U01-039 o al ejercicio.</a:t>
            </a:r>
          </a:p>
          <a:p>
            <a:r>
              <a:t>- **Duración:** 1–2 min, a demanda.</a:t>
            </a:r>
          </a:p>
          <a:p>
            <a:endParaRPr/>
          </a:p>
          <a:p>
            <a:r>
              <a:t>Fuente de redacción: BIPM/NIST citados en TEX; NOT.</a:t>
            </a:r>
          </a:p>
          <a:p>
            <a:endParaRPr/>
          </a:p>
          <a:p>
            <a:r>
              <a:t>Transición: Volver a la conversión correspondiente.</a:t>
            </a:r>
          </a:p>
          <a:p>
            <a:endParaRPr/>
          </a:p>
          <a:p>
            <a:r>
              <a:t>Texto alternativo: Tabla de ocho prefijos SI desde tera hasta pico con símbolos y potencias de diez.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Reconstruir solo la cadena solicitada. Para presión: fuerza sobre área.</a:t>
            </a:r>
          </a:p>
          <a:p>
            <a:r>
              <a:t>- **Pregunta y respuesta esperada:** `[p]=[F]/[S]=(MLT⁻²)/L²=ML⁻¹T⁻²`.</a:t>
            </a:r>
          </a:p>
          <a:p>
            <a:r>
              <a:t>- **Énfasis/error frecuente:** Compatibilidad dimensional no demuestra el modelo.</a:t>
            </a:r>
          </a:p>
          <a:p>
            <a:r>
              <a:t>- **Transición:** Volver a U01-042.</a:t>
            </a:r>
          </a:p>
          <a:p>
            <a:r>
              <a:t>- **Duración:** 2–3 min, a demanda.</a:t>
            </a:r>
          </a:p>
          <a:p>
            <a:endParaRPr/>
          </a:p>
          <a:p>
            <a:r>
              <a:t>Fuente de redacción: TEX sec:u1-analisis-dimensional; PDF p. 20.</a:t>
            </a:r>
          </a:p>
          <a:p>
            <a:endParaRPr/>
          </a:p>
          <a:p>
            <a:r>
              <a:t>Transición: Retomar U01-042 o la consulta que originó la derivación.</a:t>
            </a:r>
          </a:p>
          <a:p>
            <a:endParaRPr/>
          </a:p>
          <a:p>
            <a:r>
              <a:t>Texto alternativo: Red dimensional conecta masa, longitud y tiempo con rapidez, aceleración, fuerza, presión y densidad.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después de la discusión. Pedir que comparen su razonamiento con la clave, no solo la opción final.</a:t>
            </a:r>
          </a:p>
          <a:p>
            <a:r>
              <a:t>- **Pregunta y respuesta esperada:** Las cuatro soluciones deben incluir una justificación verbal o dimensional.</a:t>
            </a:r>
          </a:p>
          <a:p>
            <a:r>
              <a:t>- **Énfasis/error frecuente:** No usar la slide como anticipo de respuestas.</a:t>
            </a:r>
          </a:p>
          <a:p>
            <a:r>
              <a:t>- **Transición:** Volver a la recapitulación pertinente.</a:t>
            </a:r>
          </a:p>
          <a:p>
            <a:r>
              <a:t>- **Duración:** 2–4 min, a demanda.</a:t>
            </a:r>
          </a:p>
          <a:p>
            <a:endParaRPr/>
          </a:p>
          <a:p>
            <a:r>
              <a:t>Fuente de redacción: TEX sec:u1-soluciones.</a:t>
            </a:r>
          </a:p>
          <a:p>
            <a:endParaRPr/>
          </a:p>
          <a:p>
            <a:r>
              <a:t>Transición: Regresar a la recapitulación del bloque correspondiente.</a:t>
            </a:r>
          </a:p>
          <a:p>
            <a:endParaRPr/>
          </a:p>
          <a:p>
            <a:r>
              <a:t>Texto alternativo: Cuatro paneles resumen soluciones razonadas de unidades, dimensiones y trigonometría.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Elegir un único ejemplo. Señalar datos, relación, sustitución, unidad e interpretación.</a:t>
            </a:r>
          </a:p>
          <a:p>
            <a:r>
              <a:t>- **Pregunta y respuesta esperada:** El resultado debe corresponder a la magnitud buscada.</a:t>
            </a:r>
          </a:p>
          <a:p>
            <a:r>
              <a:t>- **Énfasis/error frecuente:** La entrada “presión y densidad” muestra relaciones generales; usar los datos específicos del ejercicio en curso.</a:t>
            </a:r>
          </a:p>
          <a:p>
            <a:r>
              <a:t>- **Transición:** Volver a U01-035.</a:t>
            </a:r>
          </a:p>
          <a:p>
            <a:r>
              <a:t>- **Duración:** 2–4 min, a demanda.</a:t>
            </a:r>
          </a:p>
          <a:p>
            <a:endParaRPr/>
          </a:p>
          <a:p>
            <a:r>
              <a:t>Fuente de redacción: TEX soluciones NG2–NG4/NA1.</a:t>
            </a:r>
          </a:p>
          <a:p>
            <a:endParaRPr/>
          </a:p>
          <a:p>
            <a:r>
              <a:t>Transición: Volver a U01-035.</a:t>
            </a:r>
          </a:p>
          <a:p>
            <a:endParaRPr/>
          </a:p>
          <a:p>
            <a:r>
              <a:t>Texto alternativo: Cuatro soluciones mecánicas muestran pasos y unidades para tiempo, peso, presión y densidad.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Identificar dónde se interrumpió el razonamiento: evaluación, despeje, elección de lados o conversión.</a:t>
            </a:r>
          </a:p>
          <a:p>
            <a:r>
              <a:t>- **Pregunta y respuesta esperada:** Inversa cambia entrada/salida; razones trigonométricas cancelan unidades; `225°=5π/4 rad`.</a:t>
            </a:r>
          </a:p>
          <a:p>
            <a:r>
              <a:t>- **Énfasis/error frecuente:** No entregar toda la solución si basta una pista.</a:t>
            </a:r>
          </a:p>
          <a:p>
            <a:r>
              <a:t>- **Transición:** Volver a U01-050, U01-056 o U01-060.</a:t>
            </a:r>
          </a:p>
          <a:p>
            <a:r>
              <a:t>- **Duración:** 2–5 min, a demanda.</a:t>
            </a:r>
          </a:p>
          <a:p>
            <a:endParaRPr/>
          </a:p>
          <a:p>
            <a:r>
              <a:t>Fuente de redacción: TEX soluciones NA2/NA4/NA5.</a:t>
            </a:r>
          </a:p>
          <a:p>
            <a:endParaRPr/>
          </a:p>
          <a:p>
            <a:r>
              <a:t>Transición: Volver al punto conceptual correspondiente.</a:t>
            </a:r>
          </a:p>
          <a:p>
            <a:endParaRPr/>
          </a:p>
          <a:p>
            <a:r>
              <a:t>Texto alternativo: Soluciones de evaluación e inversión de una función, triángulo 3–4–5 y conversión angular.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solo si el grupo domina definición e inversa. Leer cada propiedad como transformación de una operación.</a:t>
            </a:r>
          </a:p>
          <a:p>
            <a:r>
              <a:t>- **Pregunta y respuesta esperada:** Producto dentro del logaritmo se traduce en suma de logaritmos, bajo las condiciones indicadas.</a:t>
            </a:r>
          </a:p>
          <a:p>
            <a:r>
              <a:t>- **Énfasis/error frecuente:** No aplicar propiedades a argumentos no positivos.</a:t>
            </a:r>
          </a:p>
          <a:p>
            <a:r>
              <a:t>- **Transición:** Volver a U01-070.</a:t>
            </a:r>
          </a:p>
          <a:p>
            <a:r>
              <a:t>- **Duración:** 3 min, a demanda.</a:t>
            </a:r>
          </a:p>
          <a:p>
            <a:endParaRPr/>
          </a:p>
          <a:p>
            <a:r>
              <a:t>Fuente de redacción: TEX sec:u1-logaritmos; BRF.</a:t>
            </a:r>
          </a:p>
          <a:p>
            <a:endParaRPr/>
          </a:p>
          <a:p>
            <a:r>
              <a:t>Transición: Regresar al anticipo de decibel.</a:t>
            </a:r>
          </a:p>
          <a:p>
            <a:endParaRPr/>
          </a:p>
          <a:p>
            <a:r>
              <a:t>Texto alternativo: Tabla de propiedades de producto, cociente y potencia para logaritmos.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Mantener nivel conceptual. Definir qué referencia cambia y por qué no hay conversión universal.</a:t>
            </a:r>
          </a:p>
          <a:p>
            <a:r>
              <a:t>- **Pregunta y respuesta esperada:** Ante “35 dB”, preguntar escala, referencia, frecuencia, transductor y procedimiento.</a:t>
            </a:r>
          </a:p>
          <a:p>
            <a:r>
              <a:t>- **Énfasis/error frecuente:** No presentar tablas normativas ni factores fijos de conversión.</a:t>
            </a:r>
          </a:p>
          <a:p>
            <a:r>
              <a:t>- **Transición:** Volver a U01-078.</a:t>
            </a:r>
          </a:p>
          <a:p>
            <a:r>
              <a:t>- **Duración:** 3 min, a demanda.</a:t>
            </a:r>
          </a:p>
          <a:p>
            <a:endParaRPr/>
          </a:p>
          <a:p>
            <a:r>
              <a:t>Fuente de redacción: TEX sec:u1-decibel; ISO 389-1/8253-1 citadas en TEX; BRF.</a:t>
            </a:r>
          </a:p>
          <a:p>
            <a:endParaRPr/>
          </a:p>
          <a:p>
            <a:r>
              <a:t>Transición: Volver al caso audiométrico U01-078.</a:t>
            </a:r>
          </a:p>
          <a:p>
            <a:endParaRPr/>
          </a:p>
          <a:p>
            <a:r>
              <a:t>Texto alternativo: Tres columnas comparan dB SPL, dB HL y dB SL y advierten que no hay conversión universal.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jerarquía: programa fija alcance; libro organiza contenido; fuentes técnicas respaldan puntos específicos.</a:t>
            </a:r>
          </a:p>
          <a:p>
            <a:r>
              <a:t>- **Pregunta y respuesta esperada:** Distinguir bibliografía técnica de créditos de imágenes y medios.</a:t>
            </a:r>
          </a:p>
          <a:p>
            <a:r>
              <a:t>- **Énfasis/error frecuente:** No atribuir al BIPM contenidos clínicos ni a ISO el alcance curricular.</a:t>
            </a:r>
          </a:p>
          <a:p>
            <a:r>
              <a:t>- **Transición:** Consulta final.</a:t>
            </a:r>
          </a:p>
          <a:p>
            <a:r>
              <a:t>- **Duración:** 1 min.</a:t>
            </a:r>
          </a:p>
          <a:p>
            <a:endParaRPr/>
          </a:p>
          <a:p>
            <a:r>
              <a:t>Fuente de redacción: PO; TEX bibliografía; source_analysis.md.</a:t>
            </a:r>
          </a:p>
          <a:p>
            <a:endParaRPr/>
          </a:p>
          <a:p>
            <a:r>
              <a:t>Transición: Consulta final.</a:t>
            </a:r>
          </a:p>
          <a:p>
            <a:endParaRPr/>
          </a:p>
          <a:p>
            <a:r>
              <a:t>Texto alternativo: Lista de programa, libro y fuentes técnicas BIPM, NIST, Cramer e ISO.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Elegir una consigna según el error observado. Pedir decisión, procedimiento y límite, no solo resultado.</a:t>
            </a:r>
          </a:p>
          <a:p>
            <a:r>
              <a:t>- **Pregunta y respuesta esperada:** Depende del ejercicio; el criterio común es justificar símbolos, unidades y alcance.</a:t>
            </a:r>
          </a:p>
          <a:p>
            <a:r>
              <a:t>- **Énfasis/error frecuente:** No usar todos los ejercicios como repetición de cierre.</a:t>
            </a:r>
          </a:p>
          <a:p>
            <a:r>
              <a:t>- **Transición:** Fin del material de respaldo.</a:t>
            </a:r>
          </a:p>
          <a:p>
            <a:r>
              <a:t>- **Duración:** 3–8 min, según selección.</a:t>
            </a:r>
          </a:p>
          <a:p>
            <a:endParaRPr/>
          </a:p>
          <a:p>
            <a:r>
              <a:t>Fuente de redacción: TEX sec:u1-ejercicios; INV.</a:t>
            </a:r>
          </a:p>
          <a:p>
            <a:endParaRPr/>
          </a:p>
          <a:p>
            <a:r>
              <a:t>Transición: Fin del material de respaldo.</a:t>
            </a:r>
          </a:p>
          <a:p>
            <a:endParaRPr/>
          </a:p>
          <a:p>
            <a:r>
              <a:t>Texto alternativo: Seis ejercicios alternativos cubren unidades, dimensiones, inversas, trigonometría, logaritmos y clasificación.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Objetivos de aprendizaje</a:t>
            </a:r>
          </a:p>
        </p:txBody>
      </p:sp>
      <p:sp>
        <p:nvSpPr>
          <p:cNvPr id="3" name="ph_body_0">
            <a:extLst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0100" y="1733550"/>
            <a:ext cx="8001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144000" y="1752600"/>
            <a:ext cx="2286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93598C6-FC0D-4EB0-AFF4-EF34A482731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Apéndice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9BA0A7D-AABB-4192-B838-2BA5BB3178BC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562100"/>
            <a:ext cx="10668000" cy="42100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Visual principal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BBF5632-20E4-4D54-B3A4-92C990DA26E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Bibliografía y recursos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8732B64-9C97-4971-8B5F-42781D28760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7" name="ph_media_0">
            <a:extLst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noGrp="1"/>
          </p:cNvSpPr>
          <p:nvPr>
            <p:ph type="media" idx="11" hasCustomPrompt="1"/>
          </p:nvPr>
        </p:nvSpPr>
        <p:spPr>
          <a:xfrm>
            <a:off x="762000" y="1657350"/>
            <a:ext cx="7239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382000" y="1657350"/>
            <a:ext cx="3048000" cy="3714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076EB7A8-105E-44D9-AF9B-E4B002172AD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Tabla o datos</a:t>
            </a:r>
          </a:p>
        </p:txBody>
      </p:sp>
      <p:sp>
        <p:nvSpPr>
          <p:cNvPr id="7" name="ph_table_0">
            <a:extLst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noGrp="1"/>
          </p:cNvSpPr>
          <p:nvPr>
            <p:ph type="tbl" idx="11" hasCustomPrompt="1"/>
          </p:nvPr>
        </p:nvSpPr>
        <p:spPr>
          <a:xfrm>
            <a:off x="762000" y="167640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Tabla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5581650"/>
            <a:ext cx="10668000" cy="419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FEE56A1-BB6C-438D-8886-FF44760C7C6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Recapitulación final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69545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56A0307-F779-4344-B886-D9280EB668B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Resumen parcial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858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01000" y="1676400"/>
            <a:ext cx="3429000" cy="3143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687D1-4041-4057-AFDA-E8313599D52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Error frecuente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0" y="1809750"/>
            <a:ext cx="10287000" cy="1714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143000" y="3905250"/>
            <a:ext cx="9906000" cy="1714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DAFD395-8463-4588-B260-79B86AAD3E5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Mini ejercicio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6477000" cy="3429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20000" y="1695450"/>
            <a:ext cx="3810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1336448-9F7A-438A-9B1D-8F6491D8747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Pregunta al curso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333500" y="2000250"/>
            <a:ext cx="9525000" cy="2095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524000" y="4457700"/>
            <a:ext cx="9144000" cy="1047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CFE78DF-3976-48C8-961D-AA1C8CA99F0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Aplicación a Fonoaudiología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5715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858000" y="1714500"/>
            <a:ext cx="4572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0D82D-5740-4471-AF56-8696EEE2E4B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Proceso secuencial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924050"/>
            <a:ext cx="10668000" cy="2952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14400" y="5219700"/>
            <a:ext cx="1036320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9CA5DB51-531C-4AFB-9FB5-87CA9A3111B8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Comparación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5DBCCD25-7213-4B32-B316-993301A5099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Ejemplo resuelto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57350"/>
            <a:ext cx="4000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143500" y="1657350"/>
            <a:ext cx="6286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685110A-6086-4FE8-8F00-9DEAECCAAC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52600"/>
            <a:ext cx="10668000" cy="1524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3638550"/>
            <a:ext cx="10668000" cy="200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4E3DF21-1703-4AF3-A758-2190B581AEE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Concepto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43000" y="1981200"/>
            <a:ext cx="9906000" cy="2381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333500" y="4686300"/>
            <a:ext cx="9525000" cy="95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F7231C5-674D-43AF-A7BF-A95F7B1AC02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hart_0">
            <a:extLst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noGrp="1"/>
          </p:cNvSpPr>
          <p:nvPr>
            <p:ph type="chart" idx="11" hasCustomPrompt="1"/>
          </p:nvPr>
        </p:nvSpPr>
        <p:spPr>
          <a:xfrm>
            <a:off x="762000" y="1676400"/>
            <a:ext cx="685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Gráfico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039100" y="1676400"/>
            <a:ext cx="33909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F56D38C4-B1D5-4C8E-BE72-930FD8BDBC8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2F4707-DF6D-4294-BB93-51F5AE613322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23875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A6B0A21-BCB8-4A3F-B261-5C6ED3AE236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733425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060B985-A0D6-43B6-9BE3-5D6CD61324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10668000" cy="411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113A982-D864-4714-BC0D-F64786B8C006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Mapa de la clase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90700"/>
            <a:ext cx="10668000" cy="37338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4F5DA17-0689-46E4-8362-81AB21D9139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Conocimientos previos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C017E5F8-CA14-4AD9-9C34-2654E5F0D860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_title_0">
            <a:extLst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1543049"/>
            <a:ext cx="8572500" cy="1428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 la unidad</a:t>
            </a:r>
          </a:p>
        </p:txBody>
      </p:sp>
      <p:sp>
        <p:nvSpPr>
          <p:cNvPr id="8" name="ph_subtitle_0">
            <a:extLst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143250"/>
            <a:ext cx="7239000" cy="723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Subtítulo o alcance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FBD13B0-F1EE-46B2-9204-54BDCC94E2F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19300"/>
            <a:ext cx="8953500" cy="11239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Cierre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314700"/>
            <a:ext cx="8191500" cy="819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Puente hacia la próxima clase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551B1DD-AE22-4797-A41E-B58F85D9714A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95500"/>
            <a:ext cx="9334500" cy="1047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del bloque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295650"/>
            <a:ext cx="78105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Pregunta guía o propósito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E8974C-1134-48A5-94B6-2428CCBD93A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_maroon">
            <a:extLst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4D1434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ule_berry">
            <a:extLst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903163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ule_gray">
            <a:extLst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_rule">
            <a:extLst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D9DCE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4" name="ucasal_logo_master_light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" y="6429375"/>
            <a:ext cx="1028700" cy="304800"/>
          </a:xfrm>
          <a:prstGeom prst="rect">
            <a:avLst/>
          </a:prstGeom>
        </p:spPr>
      </p:pic>
      <p:sp>
        <p:nvSpPr>
          <p:cNvPr id="8" name="footer_course_light">
            <a:extLst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noGrp="1"/>
          </p:cNvSpPr>
          <p:nvPr/>
        </p:nvSpPr>
        <p:spPr>
          <a:xfrm>
            <a:off x="18097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le_berry">
            <a:extLst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ule_white">
            <a:extLst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ule_gray">
            <a:extLst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footer_rule">
            <a:extLst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logo_backing">
            <a:extLst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104900" cy="3238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ucasal_logo_master_d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467475"/>
            <a:ext cx="990600" cy="228600"/>
          </a:xfrm>
          <a:prstGeom prst="rect">
            <a:avLst/>
          </a:prstGeom>
        </p:spPr>
      </p:pic>
      <p:sp>
        <p:nvSpPr>
          <p:cNvPr id="14" name="footer_course_dark">
            <a:extLst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noGrp="1"/>
          </p:cNvSpPr>
          <p:nvPr/>
        </p:nvSpPr>
        <p:spPr>
          <a:xfrm>
            <a:off x="18859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st.gov/publications/si-base-units-relationship-poster" TargetMode="External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bipm.org/en/publications/si-brochure" TargetMode="Externa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5C2D599-B63B-48F2-9C8E-3E2FDFB25A6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B00 · PORTADA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A76E0F2E-76F2-4A7D-8193-7DCC160ECA78}"/>
              </a:ext>
            </a:extLst>
          </p:cNvPr>
          <p:cNvSpPr>
            <a:spLocks noGrp="1"/>
          </p:cNvSpPr>
          <p:nvPr/>
        </p:nvSpPr>
        <p:spPr>
          <a:xfrm>
            <a:off x="800100" y="1543050"/>
            <a:ext cx="8572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Nociones básicas e introducción a la acústica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94073E7-917D-4BBC-9375-613C5F3D6C56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7239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2E8E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2E8EE"/>
                </a:solidFill>
                <a:latin typeface="Calibri"/>
                <a:ea typeface="Calibri"/>
                <a:cs typeface="Calibri"/>
              </a:rPr>
              <a:t>Magnitudes, relaciones y criterios para interpretar una situación acústica.</a:t>
            </a:r>
          </a:p>
        </p:txBody>
      </p:sp>
      <p:sp>
        <p:nvSpPr>
          <p:cNvPr id="5" name="cover_wave_line">
            <a:extLst>
              <a:ext uri="{FF2B5EF4-FFF2-40B4-BE49-F238E27FC236}">
                <a16:creationId xmlns:a16="http://schemas.microsoft.com/office/drawing/2014/main" id="{E5787022-2768-4CD1-98E2-2B1F632DC638}"/>
              </a:ext>
            </a:extLst>
          </p:cNvPr>
          <p:cNvSpPr>
            <a:spLocks noGrp="1"/>
          </p:cNvSpPr>
          <p:nvPr/>
        </p:nvSpPr>
        <p:spPr>
          <a:xfrm>
            <a:off x="8667750" y="1638300"/>
            <a:ext cx="2476500" cy="1809750"/>
          </a:xfrm>
          <a:prstGeom prst="wave">
            <a:avLst/>
          </a:prstGeom>
          <a:solidFill>
            <a:srgbClr val="000000">
              <a:alpha val="0"/>
            </a:srgbClr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cover_version">
            <a:extLst>
              <a:ext uri="{FF2B5EF4-FFF2-40B4-BE49-F238E27FC236}">
                <a16:creationId xmlns:a16="http://schemas.microsoft.com/office/drawing/2014/main" id="{33EC5933-7A98-4E12-827E-7AAF204249F3}"/>
              </a:ext>
            </a:extLst>
          </p:cNvPr>
          <p:cNvSpPr>
            <a:spLocks noGrp="1"/>
          </p:cNvSpPr>
          <p:nvPr/>
        </p:nvSpPr>
        <p:spPr>
          <a:xfrm>
            <a:off x="838200" y="5619750"/>
            <a:ext cx="457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E7D7E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E7D7E0"/>
                </a:solidFill>
                <a:latin typeface="Calibri"/>
                <a:ea typeface="Calibri"/>
                <a:cs typeface="Calibri"/>
              </a:rPr>
              <a:t>Del fenómeno cotidiano al lenguaje físico.</a:t>
            </a:r>
          </a:p>
        </p:txBody>
      </p:sp>
      <p:pic>
        <p:nvPicPr>
          <p:cNvPr id="15" name="Imagen 14" descr="Una persona vocaliza; la perturbación atraviesa el aire y llega a un receptor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0" y="1866900"/>
            <a:ext cx="2667000" cy="1504950"/>
          </a:xfrm>
          <a:prstGeom prst="rect">
            <a:avLst/>
          </a:prstGeom>
        </p:spPr>
      </p:pic>
      <p:sp>
        <p:nvSpPr>
          <p:cNvPr id="8" name="u01_asset_credit_1">
            <a:extLst>
              <a:ext uri="{FF2B5EF4-FFF2-40B4-BE49-F238E27FC236}">
                <a16:creationId xmlns:a16="http://schemas.microsoft.com/office/drawing/2014/main" id="{63A5C7F9-E8B9-4218-B6B7-FABE1405B3CE}"/>
              </a:ext>
            </a:extLst>
          </p:cNvPr>
          <p:cNvSpPr>
            <a:spLocks noGrp="1"/>
          </p:cNvSpPr>
          <p:nvPr/>
        </p:nvSpPr>
        <p:spPr>
          <a:xfrm>
            <a:off x="8572500" y="5810250"/>
            <a:ext cx="266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646"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414E8F1-35FC-4A91-B921-595D484EA23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SITUACIÓN DISPARADORA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53013AE-3C6C-415F-A2BD-33C7FAA0978D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vocal, un micrófono y una persona que escucha</a:t>
            </a:r>
          </a:p>
        </p:txBody>
      </p:sp>
      <p:sp>
        <p:nvSpPr>
          <p:cNvPr id="4" name="full_visual_axes_x">
            <a:extLst>
              <a:ext uri="{FF2B5EF4-FFF2-40B4-BE49-F238E27FC236}">
                <a16:creationId xmlns:a16="http://schemas.microsoft.com/office/drawing/2014/main" id="{258534DE-7C92-4FDA-B9D1-5D7E541ABA9E}"/>
              </a:ext>
            </a:extLst>
          </p:cNvPr>
          <p:cNvSpPr>
            <a:spLocks noGrp="1"/>
          </p:cNvSpPr>
          <p:nvPr/>
        </p:nvSpPr>
        <p:spPr>
          <a:xfrm>
            <a:off x="1428750" y="3790950"/>
            <a:ext cx="781050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full_visual_axes_y">
            <a:extLst>
              <a:ext uri="{FF2B5EF4-FFF2-40B4-BE49-F238E27FC236}">
                <a16:creationId xmlns:a16="http://schemas.microsoft.com/office/drawing/2014/main" id="{B7771650-E9CA-46CC-A9D8-62E0E0AA82AD}"/>
              </a:ext>
            </a:extLst>
          </p:cNvPr>
          <p:cNvSpPr>
            <a:spLocks noGrp="1"/>
          </p:cNvSpPr>
          <p:nvPr/>
        </p:nvSpPr>
        <p:spPr>
          <a:xfrm>
            <a:off x="2590800" y="1828800"/>
            <a:ext cx="190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ull_visual_wave_1">
            <a:extLst>
              <a:ext uri="{FF2B5EF4-FFF2-40B4-BE49-F238E27FC236}">
                <a16:creationId xmlns:a16="http://schemas.microsoft.com/office/drawing/2014/main" id="{97142848-9E1A-4442-9E94-65F32607F276}"/>
              </a:ext>
            </a:extLst>
          </p:cNvPr>
          <p:cNvSpPr>
            <a:spLocks noGrp="1"/>
          </p:cNvSpPr>
          <p:nvPr/>
        </p:nvSpPr>
        <p:spPr>
          <a:xfrm>
            <a:off x="1047750" y="1952625"/>
            <a:ext cx="3143250" cy="2190750"/>
          </a:xfrm>
          <a:prstGeom prst="wave">
            <a:avLst/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95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se produce?</a:t>
            </a:r>
          </a:p>
        </p:txBody>
      </p:sp>
      <p:sp>
        <p:nvSpPr>
          <p:cNvPr id="7" name="full_visual_wave_2">
            <a:extLst>
              <a:ext uri="{FF2B5EF4-FFF2-40B4-BE49-F238E27FC236}">
                <a16:creationId xmlns:a16="http://schemas.microsoft.com/office/drawing/2014/main" id="{32014BD9-EFE6-407B-B7F6-1A19B4C5A8AB}"/>
              </a:ext>
            </a:extLst>
          </p:cNvPr>
          <p:cNvSpPr>
            <a:spLocks noGrp="1"/>
          </p:cNvSpPr>
          <p:nvPr/>
        </p:nvSpPr>
        <p:spPr>
          <a:xfrm>
            <a:off x="4762500" y="1952625"/>
            <a:ext cx="3143250" cy="2190750"/>
          </a:xfrm>
          <a:prstGeom prst="wave">
            <a:avLst/>
          </a:prstGeom>
          <a:solidFill>
            <a:srgbClr val="EAF4F4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95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puede medir el micrófono?</a:t>
            </a:r>
          </a:p>
        </p:txBody>
      </p:sp>
      <p:sp>
        <p:nvSpPr>
          <p:cNvPr id="8" name="full_visual_wave_3">
            <a:extLst>
              <a:ext uri="{FF2B5EF4-FFF2-40B4-BE49-F238E27FC236}">
                <a16:creationId xmlns:a16="http://schemas.microsoft.com/office/drawing/2014/main" id="{5FA52508-FA22-4EAB-82B7-7AA421DF0435}"/>
              </a:ext>
            </a:extLst>
          </p:cNvPr>
          <p:cNvSpPr>
            <a:spLocks noGrp="1"/>
          </p:cNvSpPr>
          <p:nvPr/>
        </p:nvSpPr>
        <p:spPr>
          <a:xfrm>
            <a:off x="8477250" y="1952625"/>
            <a:ext cx="3143250" cy="2190750"/>
          </a:xfrm>
          <a:prstGeom prst="wave">
            <a:avLst/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95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experimenta la persona?</a:t>
            </a:r>
          </a:p>
        </p:txBody>
      </p:sp>
      <p:sp>
        <p:nvSpPr>
          <p:cNvPr id="9" name="full_visual_wave_4">
            <a:extLst>
              <a:ext uri="{FF2B5EF4-FFF2-40B4-BE49-F238E27FC236}">
                <a16:creationId xmlns:a16="http://schemas.microsoft.com/office/drawing/2014/main" id="{0A4511CC-85DA-4BA9-ACBF-968FF644DB5B}"/>
              </a:ext>
            </a:extLst>
          </p:cNvPr>
          <p:cNvSpPr>
            <a:spLocks noGrp="1"/>
          </p:cNvSpPr>
          <p:nvPr/>
        </p:nvSpPr>
        <p:spPr>
          <a:xfrm>
            <a:off x="744855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6757EB9-A05C-416C-BA2E-539D13CA37A9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71ADE96-D2B7-45EA-8BBA-8317134E1FC9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32F0A07-29CF-49F5-9781-FBC4534457EB}"/>
              </a:ext>
            </a:extLst>
          </p:cNvPr>
          <p:cNvSpPr>
            <a:spLocks noGrp="1"/>
          </p:cNvSpPr>
          <p:nvPr/>
        </p:nvSpPr>
        <p:spPr>
          <a:xfrm>
            <a:off x="9448800" y="17716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C9EBF93-9644-491F-B734-0978FC134981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09DB867-EE2D-4BC5-99AA-6EFA53E5778F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6F61426-6CC0-4048-A0E9-97E4C9BF2ECB}"/>
              </a:ext>
            </a:extLst>
          </p:cNvPr>
          <p:cNvSpPr>
            <a:spLocks noGrp="1"/>
          </p:cNvSpPr>
          <p:nvPr/>
        </p:nvSpPr>
        <p:spPr>
          <a:xfrm>
            <a:off x="9448800" y="26289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9E51395-C2F7-41A6-92E2-80DBA13048E2}"/>
              </a:ext>
            </a:extLst>
          </p:cNvPr>
          <p:cNvSpPr>
            <a:spLocks noGrp="1"/>
          </p:cNvSpPr>
          <p:nvPr/>
        </p:nvSpPr>
        <p:spPr>
          <a:xfrm>
            <a:off x="8934450" y="350520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3FACD5E-95D0-4F0B-A626-F4FD3300E3DE}"/>
              </a:ext>
            </a:extLst>
          </p:cNvPr>
          <p:cNvSpPr>
            <a:spLocks noGrp="1"/>
          </p:cNvSpPr>
          <p:nvPr/>
        </p:nvSpPr>
        <p:spPr>
          <a:xfrm>
            <a:off x="8934450" y="35052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FCF20BF-4809-4B4B-BBC4-7A73D344D444}"/>
              </a:ext>
            </a:extLst>
          </p:cNvPr>
          <p:cNvSpPr>
            <a:spLocks noGrp="1"/>
          </p:cNvSpPr>
          <p:nvPr/>
        </p:nvSpPr>
        <p:spPr>
          <a:xfrm>
            <a:off x="9448800" y="34861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E3182C15-3FE6-4327-AB2D-635759AE32F8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0FB094E-95AC-44B2-805F-C2514818AEF8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D4CCEA4-21DE-4D5A-8A44-7DB8D60445FE}"/>
              </a:ext>
            </a:extLst>
          </p:cNvPr>
          <p:cNvSpPr>
            <a:spLocks noGrp="1"/>
          </p:cNvSpPr>
          <p:nvPr/>
        </p:nvSpPr>
        <p:spPr>
          <a:xfrm>
            <a:off x="9448800" y="43434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fa_caption">
            <a:extLst>
              <a:ext uri="{FF2B5EF4-FFF2-40B4-BE49-F238E27FC236}">
                <a16:creationId xmlns:a16="http://schemas.microsoft.com/office/drawing/2014/main" id="{E092FB60-1FA8-431B-9D7B-68DD872F19DB}"/>
              </a:ext>
            </a:extLst>
          </p:cNvPr>
          <p:cNvSpPr>
            <a:spLocks noGrp="1"/>
          </p:cNvSpPr>
          <p:nvPr/>
        </p:nvSpPr>
        <p:spPr>
          <a:xfrm>
            <a:off x="1619250" y="5334000"/>
            <a:ext cx="895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medición física y una experiencia auditiva describen aspectos distintos.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2DE3D81C-F48C-44BE-8128-5F0B56F6B55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531DA2C3-CE21-4BC2-B11E-ABE9B7F6949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PUENTE DE CONOCIMIENTOS PREVIOS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EF81085-504B-4497-B076-C109924CDA4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necesitamos recuperar?</a:t>
            </a:r>
          </a:p>
        </p:txBody>
      </p:sp>
      <p:sp>
        <p:nvSpPr>
          <p:cNvPr id="4" name="prior_known_box">
            <a:extLst>
              <a:ext uri="{FF2B5EF4-FFF2-40B4-BE49-F238E27FC236}">
                <a16:creationId xmlns:a16="http://schemas.microsoft.com/office/drawing/2014/main" id="{07B58428-3CB9-425F-9265-36932FDF692E}"/>
              </a:ext>
            </a:extLst>
          </p:cNvPr>
          <p:cNvSpPr>
            <a:spLocks noGrp="1"/>
          </p:cNvSpPr>
          <p:nvPr/>
        </p:nvSpPr>
        <p:spPr>
          <a:xfrm>
            <a:off x="762000" y="1866900"/>
            <a:ext cx="4953000" cy="2952750"/>
          </a:xfrm>
          <a:prstGeom prst="roundRect">
            <a:avLst>
              <a:gd name="adj" fmla="val 2581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prior_known_accent">
            <a:extLst>
              <a:ext uri="{FF2B5EF4-FFF2-40B4-BE49-F238E27FC236}">
                <a16:creationId xmlns:a16="http://schemas.microsoft.com/office/drawing/2014/main" id="{858C0AF8-752D-4B26-B180-C6A2AA26B708}"/>
              </a:ext>
            </a:extLst>
          </p:cNvPr>
          <p:cNvSpPr>
            <a:spLocks noGrp="1"/>
          </p:cNvSpPr>
          <p:nvPr/>
        </p:nvSpPr>
        <p:spPr>
          <a:xfrm>
            <a:off x="762000" y="1866900"/>
            <a:ext cx="66675" cy="29527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rior_known_label">
            <a:extLst>
              <a:ext uri="{FF2B5EF4-FFF2-40B4-BE49-F238E27FC236}">
                <a16:creationId xmlns:a16="http://schemas.microsoft.com/office/drawing/2014/main" id="{49EC20E7-6A1D-4878-BC9B-4C72EFDEDAF5}"/>
              </a:ext>
            </a:extLst>
          </p:cNvPr>
          <p:cNvSpPr>
            <a:spLocks noGrp="1"/>
          </p:cNvSpPr>
          <p:nvPr/>
        </p:nvSpPr>
        <p:spPr>
          <a:xfrm>
            <a:off x="971550" y="2000250"/>
            <a:ext cx="455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YA USAMOS</a:t>
            </a:r>
          </a:p>
        </p:txBody>
      </p:sp>
      <p:sp>
        <p:nvSpPr>
          <p:cNvPr id="7" name="prior_known_text">
            <a:extLst>
              <a:ext uri="{FF2B5EF4-FFF2-40B4-BE49-F238E27FC236}">
                <a16:creationId xmlns:a16="http://schemas.microsoft.com/office/drawing/2014/main" id="{9078949C-EC9B-467C-8FB4-2E74D7CA53C7}"/>
              </a:ext>
            </a:extLst>
          </p:cNvPr>
          <p:cNvSpPr>
            <a:spLocks noGrp="1"/>
          </p:cNvSpPr>
          <p:nvPr/>
        </p:nvSpPr>
        <p:spPr>
          <a:xfrm>
            <a:off x="971550" y="2314575"/>
            <a:ext cx="455295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Medir longitudes y tiempos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Dividir y comparar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Leer un eje y una escala</a:t>
            </a:r>
          </a:p>
        </p:txBody>
      </p:sp>
      <p:sp>
        <p:nvSpPr>
          <p:cNvPr id="8" name="prior_recover_box">
            <a:extLst>
              <a:ext uri="{FF2B5EF4-FFF2-40B4-BE49-F238E27FC236}">
                <a16:creationId xmlns:a16="http://schemas.microsoft.com/office/drawing/2014/main" id="{1CED9AC8-0B4E-4C9D-A8DC-DAF3CA5543DD}"/>
              </a:ext>
            </a:extLst>
          </p:cNvPr>
          <p:cNvSpPr>
            <a:spLocks noGrp="1"/>
          </p:cNvSpPr>
          <p:nvPr/>
        </p:nvSpPr>
        <p:spPr>
          <a:xfrm>
            <a:off x="6477000" y="1866900"/>
            <a:ext cx="4953000" cy="2952750"/>
          </a:xfrm>
          <a:prstGeom prst="roundRect">
            <a:avLst>
              <a:gd name="adj" fmla="val 2581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9" name="prior_recover_accent">
            <a:extLst>
              <a:ext uri="{FF2B5EF4-FFF2-40B4-BE49-F238E27FC236}">
                <a16:creationId xmlns:a16="http://schemas.microsoft.com/office/drawing/2014/main" id="{26E577E5-401D-4B9D-8797-9D8C317F1C95}"/>
              </a:ext>
            </a:extLst>
          </p:cNvPr>
          <p:cNvSpPr>
            <a:spLocks noGrp="1"/>
          </p:cNvSpPr>
          <p:nvPr/>
        </p:nvSpPr>
        <p:spPr>
          <a:xfrm>
            <a:off x="6477000" y="1866900"/>
            <a:ext cx="66675" cy="2952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prior_recover_label">
            <a:extLst>
              <a:ext uri="{FF2B5EF4-FFF2-40B4-BE49-F238E27FC236}">
                <a16:creationId xmlns:a16="http://schemas.microsoft.com/office/drawing/2014/main" id="{74A55828-4057-4E12-8CF7-4B3D57A2070C}"/>
              </a:ext>
            </a:extLst>
          </p:cNvPr>
          <p:cNvSpPr>
            <a:spLocks noGrp="1"/>
          </p:cNvSpPr>
          <p:nvPr/>
        </p:nvSpPr>
        <p:spPr>
          <a:xfrm>
            <a:off x="6686550" y="2000250"/>
            <a:ext cx="455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VAMOS A RECUPERAR</a:t>
            </a:r>
          </a:p>
        </p:txBody>
      </p:sp>
      <p:sp>
        <p:nvSpPr>
          <p:cNvPr id="11" name="prior_recover_text">
            <a:extLst>
              <a:ext uri="{FF2B5EF4-FFF2-40B4-BE49-F238E27FC236}">
                <a16:creationId xmlns:a16="http://schemas.microsoft.com/office/drawing/2014/main" id="{9E3AF078-9F48-4268-AF9B-0E307A4136B1}"/>
              </a:ext>
            </a:extLst>
          </p:cNvPr>
          <p:cNvSpPr>
            <a:spLocks noGrp="1"/>
          </p:cNvSpPr>
          <p:nvPr/>
        </p:nvSpPr>
        <p:spPr>
          <a:xfrm>
            <a:off x="6686550" y="2314575"/>
            <a:ext cx="455295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Potencias de diez y prefijos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Funciones e inversas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Razones trigonométricas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Logaritmos</a:t>
            </a:r>
          </a:p>
        </p:txBody>
      </p:sp>
      <p:sp>
        <p:nvSpPr>
          <p:cNvPr id="12" name="prior_note">
            <a:extLst>
              <a:ext uri="{FF2B5EF4-FFF2-40B4-BE49-F238E27FC236}">
                <a16:creationId xmlns:a16="http://schemas.microsoft.com/office/drawing/2014/main" id="{8A363232-2760-4642-849C-6FC13528A9E4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990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herramienta se retomará justo antes de usarla.</a:t>
            </a:r>
          </a:p>
        </p:txBody>
      </p:sp>
      <p:sp>
        <p:nvSpPr>
          <p:cNvPr id="13" name="fa_slide_number_local">
            <a:extLst>
              <a:ext uri="{FF2B5EF4-FFF2-40B4-BE49-F238E27FC236}">
                <a16:creationId xmlns:a16="http://schemas.microsoft.com/office/drawing/2014/main" id="{AB9FB06B-B1D9-48B5-9D70-9D2184BD595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DIAGNÓSTICO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respuestas rápidas para empezar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Diagnóstico inicial, no evaluación.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1. En d = 2 m, ¿qué representa cada elemento?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2. ¿El peso se expresa en kg o en N?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3. ¿Cuál puede representar un tiempo: d/c, dc o c/d?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4. ¿Frecuencia y altura tonal son lo mismo?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Volveremos a estas cuatro respuestas al finalizar.</a:t>
            </a:r>
          </a:p>
        </p:txBody>
      </p:sp>
      <p:sp>
        <p:nvSpPr>
          <p:cNvPr id="16" name="fa_slide_number_local">
            <a:extLst>
              <a:ext uri="{FF2B5EF4-FFF2-40B4-BE49-F238E27FC236}">
                <a16:creationId xmlns:a16="http://schemas.microsoft.com/office/drawing/2014/main" id="{3E80A52A-BBC6-468D-8810-A96A4601D83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8DB38DF-AB43-4A8B-8359-0429CABA373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OBJETIVOS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AE2ED953-83FD-48C4-87DB-5474647302A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hacer al finalizar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D085344C-35C1-4598-A29B-300DB9CE992A}"/>
              </a:ext>
            </a:extLst>
          </p:cNvPr>
          <p:cNvSpPr>
            <a:spLocks noGrp="1"/>
          </p:cNvSpPr>
          <p:nvPr/>
        </p:nvSpPr>
        <p:spPr>
          <a:xfrm>
            <a:off x="933450" y="2076450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F57C7D61-2DF4-4BDB-BA4F-FDACFA3040A9}"/>
              </a:ext>
            </a:extLst>
          </p:cNvPr>
          <p:cNvSpPr>
            <a:spLocks noGrp="1"/>
          </p:cNvSpPr>
          <p:nvPr/>
        </p:nvSpPr>
        <p:spPr>
          <a:xfrm>
            <a:off x="1200150" y="1952625"/>
            <a:ext cx="7258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Reconocer fuente, medio y receptor; expresar mediciones con magnitud, valor y unidad.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F2C10121-D7B9-4BBA-9E44-522A1D87834E}"/>
              </a:ext>
            </a:extLst>
          </p:cNvPr>
          <p:cNvSpPr>
            <a:spLocks noGrp="1"/>
          </p:cNvSpPr>
          <p:nvPr/>
        </p:nvSpPr>
        <p:spPr>
          <a:xfrm>
            <a:off x="933450" y="2990850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BFB0D19E-04CA-401C-ABBC-6D8778C2FC17}"/>
              </a:ext>
            </a:extLst>
          </p:cNvPr>
          <p:cNvSpPr>
            <a:spLocks noGrp="1"/>
          </p:cNvSpPr>
          <p:nvPr/>
        </p:nvSpPr>
        <p:spPr>
          <a:xfrm>
            <a:off x="1200150" y="2867025"/>
            <a:ext cx="7258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Relacionar magnitudes físicas y verificar coherencia dimensional.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B794DAC7-1EA4-442F-8F4F-69BAD685AD85}"/>
              </a:ext>
            </a:extLst>
          </p:cNvPr>
          <p:cNvSpPr>
            <a:spLocks noGrp="1"/>
          </p:cNvSpPr>
          <p:nvPr/>
        </p:nvSpPr>
        <p:spPr>
          <a:xfrm>
            <a:off x="933450" y="3905250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EFABDC7C-6788-4650-846B-3865BD38955B}"/>
              </a:ext>
            </a:extLst>
          </p:cNvPr>
          <p:cNvSpPr>
            <a:spLocks noGrp="1"/>
          </p:cNvSpPr>
          <p:nvPr/>
        </p:nvSpPr>
        <p:spPr>
          <a:xfrm>
            <a:off x="1200150" y="3781425"/>
            <a:ext cx="7258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Representar funciones e inversas; usar razones trigonométricas.</a:t>
            </a:r>
          </a:p>
        </p:txBody>
      </p:sp>
      <p:sp>
        <p:nvSpPr>
          <p:cNvPr id="10" name="objective_observation_box">
            <a:extLst>
              <a:ext uri="{FF2B5EF4-FFF2-40B4-BE49-F238E27FC236}">
                <a16:creationId xmlns:a16="http://schemas.microsoft.com/office/drawing/2014/main" id="{772E526C-DD9B-4743-8EDA-4520BCB863E7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57175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objective_observation_accent">
            <a:extLst>
              <a:ext uri="{FF2B5EF4-FFF2-40B4-BE49-F238E27FC236}">
                <a16:creationId xmlns:a16="http://schemas.microsoft.com/office/drawing/2014/main" id="{1D3A8004-2037-485B-BE23-E9C5CE353F7A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66675" cy="238125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objective_observation_label">
            <a:extLst>
              <a:ext uri="{FF2B5EF4-FFF2-40B4-BE49-F238E27FC236}">
                <a16:creationId xmlns:a16="http://schemas.microsoft.com/office/drawing/2014/main" id="{6CD12F76-446E-4A0A-910D-D8B24B7EE445}"/>
              </a:ext>
            </a:extLst>
          </p:cNvPr>
          <p:cNvSpPr>
            <a:spLocks noGrp="1"/>
          </p:cNvSpPr>
          <p:nvPr/>
        </p:nvSpPr>
        <p:spPr>
          <a:xfrm>
            <a:off x="9067800" y="2133600"/>
            <a:ext cx="2171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INTEGRACIÓN</a:t>
            </a:r>
          </a:p>
        </p:txBody>
      </p:sp>
      <p:sp>
        <p:nvSpPr>
          <p:cNvPr id="13" name="objective_observation_text">
            <a:extLst>
              <a:ext uri="{FF2B5EF4-FFF2-40B4-BE49-F238E27FC236}">
                <a16:creationId xmlns:a16="http://schemas.microsoft.com/office/drawing/2014/main" id="{620089FD-3D28-4737-AE93-851440A030A4}"/>
              </a:ext>
            </a:extLst>
          </p:cNvPr>
          <p:cNvSpPr>
            <a:spLocks noGrp="1"/>
          </p:cNvSpPr>
          <p:nvPr/>
        </p:nvSpPr>
        <p:spPr>
          <a:xfrm>
            <a:off x="9067800" y="2447925"/>
            <a:ext cx="21717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Interpretar logaritmos y razones en dB; distinguir medición, percepción y conclusión clínica.</a:t>
            </a:r>
          </a:p>
        </p:txBody>
      </p:sp>
      <p:sp>
        <p:nvSpPr>
          <p:cNvPr id="14" name="fa_slide_number_local">
            <a:extLst>
              <a:ext uri="{FF2B5EF4-FFF2-40B4-BE49-F238E27FC236}">
                <a16:creationId xmlns:a16="http://schemas.microsoft.com/office/drawing/2014/main" id="{A1923EDF-16AB-4AAC-A831-1C6A21E20BE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4911F09F-6033-444E-BEA4-3F91B22A6E5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MAPA DE CLASE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3123496-3D8A-4706-BA14-EAD1B69A25E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fenómeno a una interpretación responsable</a:t>
            </a:r>
          </a:p>
        </p:txBody>
      </p:sp>
      <p:sp>
        <p:nvSpPr>
          <p:cNvPr id="4" name="map_step_1">
            <a:extLst>
              <a:ext uri="{FF2B5EF4-FFF2-40B4-BE49-F238E27FC236}">
                <a16:creationId xmlns:a16="http://schemas.microsoft.com/office/drawing/2014/main" id="{BC98569E-A21D-4317-B059-8D143F5983B4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A51970-F69C-4BF5-BF29-FDC65D0CDDAE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2811C29-DA40-48C9-A98A-CAA59C30F0A9}"/>
              </a:ext>
            </a:extLst>
          </p:cNvPr>
          <p:cNvSpPr>
            <a:spLocks noGrp="1"/>
          </p:cNvSpPr>
          <p:nvPr/>
        </p:nvSpPr>
        <p:spPr>
          <a:xfrm>
            <a:off x="106680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83062"/>
          </a:bodyPr>
          <a:lstStyle/>
          <a:p>
            <a:pPr algn="ctr">
              <a:buNone/>
              <a:defRPr sz="150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Reconocer el fenómeno.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CA67C8-5D2D-4398-AAC4-7D3F8D39B723}"/>
              </a:ext>
            </a:extLst>
          </p:cNvPr>
          <p:cNvSpPr>
            <a:spLocks noGrp="1"/>
          </p:cNvSpPr>
          <p:nvPr/>
        </p:nvSpPr>
        <p:spPr>
          <a:xfrm>
            <a:off x="106680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map_arrow_1">
            <a:extLst>
              <a:ext uri="{FF2B5EF4-FFF2-40B4-BE49-F238E27FC236}">
                <a16:creationId xmlns:a16="http://schemas.microsoft.com/office/drawing/2014/main" id="{901CB882-5408-4451-85E0-D084BFADCDBC}"/>
              </a:ext>
            </a:extLst>
          </p:cNvPr>
          <p:cNvSpPr>
            <a:spLocks noGrp="1"/>
          </p:cNvSpPr>
          <p:nvPr/>
        </p:nvSpPr>
        <p:spPr>
          <a:xfrm>
            <a:off x="3067050" y="3048000"/>
            <a:ext cx="342900" cy="323850"/>
          </a:xfrm>
          <a:prstGeom prst="rightArrow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map_step_2">
            <a:extLst>
              <a:ext uri="{FF2B5EF4-FFF2-40B4-BE49-F238E27FC236}">
                <a16:creationId xmlns:a16="http://schemas.microsoft.com/office/drawing/2014/main" id="{748CCE30-20AF-4112-BBF5-6154B54EB1F7}"/>
              </a:ext>
            </a:extLst>
          </p:cNvPr>
          <p:cNvSpPr>
            <a:spLocks noGrp="1"/>
          </p:cNvSpPr>
          <p:nvPr/>
        </p:nvSpPr>
        <p:spPr>
          <a:xfrm>
            <a:off x="360045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89E141A-A3F5-4B6F-8E07-A151F808146B}"/>
              </a:ext>
            </a:extLst>
          </p:cNvPr>
          <p:cNvSpPr>
            <a:spLocks noGrp="1"/>
          </p:cNvSpPr>
          <p:nvPr/>
        </p:nvSpPr>
        <p:spPr>
          <a:xfrm>
            <a:off x="379095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A5684C5-0EA1-4F64-BA86-EBD2F7BCB058}"/>
              </a:ext>
            </a:extLst>
          </p:cNvPr>
          <p:cNvSpPr>
            <a:spLocks noGrp="1"/>
          </p:cNvSpPr>
          <p:nvPr/>
        </p:nvSpPr>
        <p:spPr>
          <a:xfrm>
            <a:off x="379095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66667"/>
          </a:bodyPr>
          <a:lstStyle/>
          <a:p>
            <a:pPr algn="ctr">
              <a:buNone/>
              <a:defRPr sz="150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Medir con un lenguaje común.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FF5AB7A-C227-43FE-8F95-C53B1463E989}"/>
              </a:ext>
            </a:extLst>
          </p:cNvPr>
          <p:cNvSpPr>
            <a:spLocks noGrp="1"/>
          </p:cNvSpPr>
          <p:nvPr/>
        </p:nvSpPr>
        <p:spPr>
          <a:xfrm>
            <a:off x="379095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map_arrow_2">
            <a:extLst>
              <a:ext uri="{FF2B5EF4-FFF2-40B4-BE49-F238E27FC236}">
                <a16:creationId xmlns:a16="http://schemas.microsoft.com/office/drawing/2014/main" id="{54200FDD-CC28-46B8-ABC1-63D9394E7E3F}"/>
              </a:ext>
            </a:extLst>
          </p:cNvPr>
          <p:cNvSpPr>
            <a:spLocks noGrp="1"/>
          </p:cNvSpPr>
          <p:nvPr/>
        </p:nvSpPr>
        <p:spPr>
          <a:xfrm>
            <a:off x="5791200" y="3048000"/>
            <a:ext cx="342900" cy="323850"/>
          </a:xfrm>
          <a:prstGeom prst="rightArrow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ap_step_3">
            <a:extLst>
              <a:ext uri="{FF2B5EF4-FFF2-40B4-BE49-F238E27FC236}">
                <a16:creationId xmlns:a16="http://schemas.microsoft.com/office/drawing/2014/main" id="{748BFD84-71B2-46C5-9800-AACCC8987181}"/>
              </a:ext>
            </a:extLst>
          </p:cNvPr>
          <p:cNvSpPr>
            <a:spLocks noGrp="1"/>
          </p:cNvSpPr>
          <p:nvPr/>
        </p:nvSpPr>
        <p:spPr>
          <a:xfrm>
            <a:off x="632460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5730F39-57FE-465E-8BA1-1D825F7AA080}"/>
              </a:ext>
            </a:extLst>
          </p:cNvPr>
          <p:cNvSpPr>
            <a:spLocks noGrp="1"/>
          </p:cNvSpPr>
          <p:nvPr/>
        </p:nvSpPr>
        <p:spPr>
          <a:xfrm>
            <a:off x="651510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8339F30-68FD-4E0B-A360-377D52DD03AB}"/>
              </a:ext>
            </a:extLst>
          </p:cNvPr>
          <p:cNvSpPr>
            <a:spLocks noGrp="1"/>
          </p:cNvSpPr>
          <p:nvPr/>
        </p:nvSpPr>
        <p:spPr>
          <a:xfrm>
            <a:off x="651510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66667"/>
          </a:bodyPr>
          <a:lstStyle/>
          <a:p>
            <a:pPr algn="ctr">
              <a:buNone/>
              <a:defRPr sz="150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Relacionar magnitudes y representar dependencias.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CB9A8C4-F98B-4944-BB94-8FED11F43235}"/>
              </a:ext>
            </a:extLst>
          </p:cNvPr>
          <p:cNvSpPr>
            <a:spLocks noGrp="1"/>
          </p:cNvSpPr>
          <p:nvPr/>
        </p:nvSpPr>
        <p:spPr>
          <a:xfrm>
            <a:off x="651510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map_arrow_3">
            <a:extLst>
              <a:ext uri="{FF2B5EF4-FFF2-40B4-BE49-F238E27FC236}">
                <a16:creationId xmlns:a16="http://schemas.microsoft.com/office/drawing/2014/main" id="{5C7AB104-1E37-4C63-8F2C-C9F9AE1B018C}"/>
              </a:ext>
            </a:extLst>
          </p:cNvPr>
          <p:cNvSpPr>
            <a:spLocks noGrp="1"/>
          </p:cNvSpPr>
          <p:nvPr/>
        </p:nvSpPr>
        <p:spPr>
          <a:xfrm>
            <a:off x="8515350" y="3048000"/>
            <a:ext cx="342900" cy="323850"/>
          </a:xfrm>
          <a:prstGeom prst="rightArrow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map_step_4">
            <a:extLst>
              <a:ext uri="{FF2B5EF4-FFF2-40B4-BE49-F238E27FC236}">
                <a16:creationId xmlns:a16="http://schemas.microsoft.com/office/drawing/2014/main" id="{4F264C7A-9111-4CED-9F36-0D3C2DE0AF11}"/>
              </a:ext>
            </a:extLst>
          </p:cNvPr>
          <p:cNvSpPr>
            <a:spLocks noGrp="1"/>
          </p:cNvSpPr>
          <p:nvPr/>
        </p:nvSpPr>
        <p:spPr>
          <a:xfrm>
            <a:off x="904875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4511269-2412-4277-819F-DBA2974C2907}"/>
              </a:ext>
            </a:extLst>
          </p:cNvPr>
          <p:cNvSpPr>
            <a:spLocks noGrp="1"/>
          </p:cNvSpPr>
          <p:nvPr/>
        </p:nvSpPr>
        <p:spPr>
          <a:xfrm>
            <a:off x="923925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DE9A0F1-55E8-4299-B979-2B6DD196D76C}"/>
              </a:ext>
            </a:extLst>
          </p:cNvPr>
          <p:cNvSpPr>
            <a:spLocks noGrp="1"/>
          </p:cNvSpPr>
          <p:nvPr/>
        </p:nvSpPr>
        <p:spPr>
          <a:xfrm>
            <a:off x="923925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66667"/>
          </a:bodyPr>
          <a:lstStyle/>
          <a:p>
            <a:pPr algn="ctr">
              <a:buNone/>
              <a:defRPr sz="150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Interpretar sin exceder los datos.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F8E8759-CB28-4481-82BF-5C5DEBE2F625}"/>
              </a:ext>
            </a:extLst>
          </p:cNvPr>
          <p:cNvSpPr>
            <a:spLocks noGrp="1"/>
          </p:cNvSpPr>
          <p:nvPr/>
        </p:nvSpPr>
        <p:spPr>
          <a:xfrm>
            <a:off x="923925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98039"/>
          </a:bodyPr>
          <a:lstStyle/>
          <a:p>
            <a:pPr algn="ctr">
              <a:buNone/>
              <a:defRPr sz="12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Pausa y recapitulación después del análisis dimensional.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E9A1FB5A-D028-47A6-8F09-93BFF06F627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B01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evento cotidiano al fenómeno acústico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sistema produce, transmite y recibe?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B01</a:t>
            </a:r>
          </a:p>
        </p:txBody>
      </p:sp>
      <p:pic>
        <p:nvPicPr>
          <p:cNvPr id="14" name="Imagen 13" descr="Tres nodos conectados representan origen, transmisión y respuest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72375" y="1952625"/>
            <a:ext cx="3524250" cy="1981200"/>
          </a:xfrm>
          <a:prstGeom prst="rect">
            <a:avLst/>
          </a:prstGeom>
        </p:spPr>
      </p:pic>
      <p:sp>
        <p:nvSpPr>
          <p:cNvPr id="7" name="u01_asset_credit_7">
            <a:extLst>
              <a:ext uri="{FF2B5EF4-FFF2-40B4-BE49-F238E27FC236}">
                <a16:creationId xmlns:a16="http://schemas.microsoft.com/office/drawing/2014/main" id="{35BF263B-A92D-4BFB-B025-7B0063AB8C00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E766D9AF-0068-439C-ADFE-4A1186F942D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PROCESO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Fuente, medio y receptor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modelo describe funciones dentro de un sistema delimitado.</a:t>
            </a:r>
          </a:p>
        </p:txBody>
      </p:sp>
      <p:pic>
        <p:nvPicPr>
          <p:cNvPr id="50" name="Imagen 49" descr="Tres cajas conectadas: la fuente origina, el medio transmite y el receptor responde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05000" y="1381125"/>
            <a:ext cx="8382000" cy="4000500"/>
          </a:xfrm>
          <a:prstGeom prst="rect">
            <a:avLst/>
          </a:prstGeom>
        </p:spPr>
      </p:pic>
      <p:sp>
        <p:nvSpPr>
          <p:cNvPr id="25" name="u01_asset_credit_8">
            <a:extLst>
              <a:ext uri="{FF2B5EF4-FFF2-40B4-BE49-F238E27FC236}">
                <a16:creationId xmlns:a16="http://schemas.microsoft.com/office/drawing/2014/main" id="{10262DC8-3F58-44F4-AA64-C924F9AEC954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901437DC-1092-45E6-8479-BF600DB5D56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objeto puede cumplir roles distintos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complementaria: usar si los roles se interpretan como etiquetas rígidas.</a:t>
            </a:r>
          </a:p>
        </p:txBody>
      </p:sp>
      <p:pic>
        <p:nvPicPr>
          <p:cNvPr id="32" name="Imagen 31" descr="Tres cadenas muestran que la función de un elemento cambia según el sistema analizad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9">
            <a:extLst>
              <a:ext uri="{FF2B5EF4-FFF2-40B4-BE49-F238E27FC236}">
                <a16:creationId xmlns:a16="http://schemas.microsoft.com/office/drawing/2014/main" id="{6258916D-3061-4FF3-B01D-C57DD8F7B76D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881095F6-4255-44BE-80B2-26CC17A4234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AD609F-88B7-4A2F-B347-93D7F653D2F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EXPLICACIÓN 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5FB749FB-BBF9-43AE-8FFF-55424FE47778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perturbación avanza; las partículas oscilan localmente</a:t>
            </a:r>
          </a:p>
        </p:txBody>
      </p:sp>
      <p:sp>
        <p:nvSpPr>
          <p:cNvPr id="4" name="media_frame">
            <a:extLst>
              <a:ext uri="{FF2B5EF4-FFF2-40B4-BE49-F238E27FC236}">
                <a16:creationId xmlns:a16="http://schemas.microsoft.com/office/drawing/2014/main" id="{58828A64-7ECA-4CA6-8C2B-D9E69864B138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7239000" cy="3486150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media_instruction_box">
            <a:extLst>
              <a:ext uri="{FF2B5EF4-FFF2-40B4-BE49-F238E27FC236}">
                <a16:creationId xmlns:a16="http://schemas.microsoft.com/office/drawing/2014/main" id="{133514DD-DF4C-4DDE-AAC6-63A82E582550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3048000" cy="2628900"/>
          </a:xfrm>
          <a:prstGeom prst="roundRect">
            <a:avLst>
              <a:gd name="adj" fmla="val 289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media_instruction_accent">
            <a:extLst>
              <a:ext uri="{FF2B5EF4-FFF2-40B4-BE49-F238E27FC236}">
                <a16:creationId xmlns:a16="http://schemas.microsoft.com/office/drawing/2014/main" id="{7E75C5C3-7EFB-4527-B8B3-B293D05BE774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66675" cy="26289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media_instruction_label">
            <a:extLst>
              <a:ext uri="{FF2B5EF4-FFF2-40B4-BE49-F238E27FC236}">
                <a16:creationId xmlns:a16="http://schemas.microsoft.com/office/drawing/2014/main" id="{C2E3A3D7-C738-442B-9497-3299939C72DB}"/>
              </a:ext>
            </a:extLst>
          </p:cNvPr>
          <p:cNvSpPr>
            <a:spLocks noGrp="1"/>
          </p:cNvSpPr>
          <p:nvPr/>
        </p:nvSpPr>
        <p:spPr>
          <a:xfrm>
            <a:off x="8591550" y="207645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OBSERVAR</a:t>
            </a:r>
          </a:p>
        </p:txBody>
      </p:sp>
      <p:sp>
        <p:nvSpPr>
          <p:cNvPr id="9" name="media_instruction_text">
            <a:extLst>
              <a:ext uri="{FF2B5EF4-FFF2-40B4-BE49-F238E27FC236}">
                <a16:creationId xmlns:a16="http://schemas.microsoft.com/office/drawing/2014/main" id="{E8B113C9-C33A-40BE-BB36-72D69D79ECCC}"/>
              </a:ext>
            </a:extLst>
          </p:cNvPr>
          <p:cNvSpPr>
            <a:spLocks noGrp="1"/>
          </p:cNvSpPr>
          <p:nvPr/>
        </p:nvSpPr>
        <p:spPr>
          <a:xfrm>
            <a:off x="8591550" y="2390775"/>
            <a:ext cx="2647950" cy="2057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Las partículas del medio se desplazan alrededor de su posición de equilibrio. La región perturbada avanza de una zona a otra.</a:t>
            </a:r>
          </a:p>
        </p:txBody>
      </p:sp>
      <p:sp>
        <p:nvSpPr>
          <p:cNvPr id="10" name="fa_caption">
            <a:extLst>
              <a:ext uri="{FF2B5EF4-FFF2-40B4-BE49-F238E27FC236}">
                <a16:creationId xmlns:a16="http://schemas.microsoft.com/office/drawing/2014/main" id="{C5C4F9B9-7C35-419C-B5F5-526AF1E6E3BC}"/>
              </a:ext>
            </a:extLst>
          </p:cNvPr>
          <p:cNvSpPr>
            <a:spLocks noGrp="1"/>
          </p:cNvSpPr>
          <p:nvPr/>
        </p:nvSpPr>
        <p:spPr>
          <a:xfrm>
            <a:off x="762000" y="54673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Modelo conceptual; no está a escala.</a:t>
            </a:r>
          </a:p>
        </p:txBody>
      </p:sp>
      <p:sp>
        <p:nvSpPr>
          <p:cNvPr id="11" name="fa_source">
            <a:extLst>
              <a:ext uri="{FF2B5EF4-FFF2-40B4-BE49-F238E27FC236}">
                <a16:creationId xmlns:a16="http://schemas.microsoft.com/office/drawing/2014/main" id="{AE224EB7-B315-4363-9F8D-6A639B454081}"/>
              </a:ext>
            </a:extLst>
          </p:cNvPr>
          <p:cNvSpPr>
            <a:spLocks noGrp="1"/>
          </p:cNvSpPr>
          <p:nvPr/>
        </p:nvSpPr>
        <p:spPr>
          <a:xfrm>
            <a:off x="8382000" y="49530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GIF incorporado · alternativa estática disponible</a:t>
            </a:r>
          </a:p>
        </p:txBody>
      </p:sp>
      <p:pic>
        <p:nvPicPr>
          <p:cNvPr id="25" name="Imagen 24" descr="Tres estados de una cadena de partículas; una partícula oscila localmente mientras la compresión avanz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9500" y="1666875"/>
            <a:ext cx="6604000" cy="3714750"/>
          </a:xfrm>
          <a:prstGeom prst="rect">
            <a:avLst/>
          </a:prstGeom>
        </p:spPr>
      </p:pic>
      <p:sp>
        <p:nvSpPr>
          <p:cNvPr id="13" name="u01_asset_credit_10">
            <a:extLst>
              <a:ext uri="{FF2B5EF4-FFF2-40B4-BE49-F238E27FC236}">
                <a16:creationId xmlns:a16="http://schemas.microsoft.com/office/drawing/2014/main" id="{F79C9D54-9D13-415D-84B9-A98AE03F9625}"/>
              </a:ext>
            </a:extLst>
          </p:cNvPr>
          <p:cNvSpPr>
            <a:spLocks noGrp="1"/>
          </p:cNvSpPr>
          <p:nvPr/>
        </p:nvSpPr>
        <p:spPr>
          <a:xfrm>
            <a:off x="1428750" y="5810250"/>
            <a:ext cx="933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U01-CH002 · Elaboración propia; modelo conceptual, no a escala.</a:t>
            </a:r>
          </a:p>
        </p:txBody>
      </p:sp>
      <p:sp>
        <p:nvSpPr>
          <p:cNvPr id="15" name="fa_slide_number_local">
            <a:extLst>
              <a:ext uri="{FF2B5EF4-FFF2-40B4-BE49-F238E27FC236}">
                <a16:creationId xmlns:a16="http://schemas.microsoft.com/office/drawing/2014/main" id="{2C7AE092-EFEE-49AC-BEEC-0234940CB10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AD609F-88B7-4A2F-B347-93D7F653D2F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DEMOSTRACIÓN/PREGUNTA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5FB749FB-BBF9-43AE-8FFF-55424FE47778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viaja en un resorte?</a:t>
            </a:r>
          </a:p>
        </p:txBody>
      </p:sp>
      <p:sp>
        <p:nvSpPr>
          <p:cNvPr id="4" name="media_frame">
            <a:extLst>
              <a:ext uri="{FF2B5EF4-FFF2-40B4-BE49-F238E27FC236}">
                <a16:creationId xmlns:a16="http://schemas.microsoft.com/office/drawing/2014/main" id="{58828A64-7ECA-4CA6-8C2B-D9E69864B138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7239000" cy="3486150"/>
          </a:xfrm>
          <a:prstGeom prst="roundRect">
            <a:avLst>
              <a:gd name="adj" fmla="val 2186"/>
            </a:avLst>
          </a:prstGeom>
          <a:solidFill>
            <a:srgbClr val="EAF4F4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1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 PREDECIR   →   2  OBSERVAR   →   3  COMPARAR</a:t>
            </a:r>
          </a:p>
        </p:txBody>
      </p:sp>
      <p:sp>
        <p:nvSpPr>
          <p:cNvPr id="6" name="media_instruction_box">
            <a:extLst>
              <a:ext uri="{FF2B5EF4-FFF2-40B4-BE49-F238E27FC236}">
                <a16:creationId xmlns:a16="http://schemas.microsoft.com/office/drawing/2014/main" id="{133514DD-DF4C-4DDE-AAC6-63A82E582550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3048000" cy="2628900"/>
          </a:xfrm>
          <a:prstGeom prst="roundRect">
            <a:avLst>
              <a:gd name="adj" fmla="val 289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media_instruction_accent">
            <a:extLst>
              <a:ext uri="{FF2B5EF4-FFF2-40B4-BE49-F238E27FC236}">
                <a16:creationId xmlns:a16="http://schemas.microsoft.com/office/drawing/2014/main" id="{7E75C5C3-7EFB-4527-B8B3-B293D05BE774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66675" cy="26289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media_instruction_label">
            <a:extLst>
              <a:ext uri="{FF2B5EF4-FFF2-40B4-BE49-F238E27FC236}">
                <a16:creationId xmlns:a16="http://schemas.microsoft.com/office/drawing/2014/main" id="{C2E3A3D7-C738-442B-9497-3299939C72DB}"/>
              </a:ext>
            </a:extLst>
          </p:cNvPr>
          <p:cNvSpPr>
            <a:spLocks noGrp="1"/>
          </p:cNvSpPr>
          <p:nvPr/>
        </p:nvSpPr>
        <p:spPr>
          <a:xfrm>
            <a:off x="8591550" y="207645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DEMOSTRACIÓN</a:t>
            </a:r>
          </a:p>
        </p:txBody>
      </p:sp>
      <p:sp>
        <p:nvSpPr>
          <p:cNvPr id="9" name="media_instruction_text">
            <a:extLst>
              <a:ext uri="{FF2B5EF4-FFF2-40B4-BE49-F238E27FC236}">
                <a16:creationId xmlns:a16="http://schemas.microsoft.com/office/drawing/2014/main" id="{E8B113C9-C33A-40BE-BB36-72D69D79ECCC}"/>
              </a:ext>
            </a:extLst>
          </p:cNvPr>
          <p:cNvSpPr>
            <a:spLocks noGrp="1"/>
          </p:cNvSpPr>
          <p:nvPr/>
        </p:nvSpPr>
        <p:spPr>
          <a:xfrm>
            <a:off x="8591550" y="2390775"/>
            <a:ext cx="2647950" cy="2057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1. Predigan qué hará la marca. 2. Observen el pulso. 3. Comparen el recorrido del pulso con el de la marca.</a:t>
            </a:r>
          </a:p>
        </p:txBody>
      </p:sp>
      <p:sp>
        <p:nvSpPr>
          <p:cNvPr id="10" name="fa_caption">
            <a:extLst>
              <a:ext uri="{FF2B5EF4-FFF2-40B4-BE49-F238E27FC236}">
                <a16:creationId xmlns:a16="http://schemas.microsoft.com/office/drawing/2014/main" id="{C5C4F9B9-7C35-419C-B5F5-526AF1E6E3BC}"/>
              </a:ext>
            </a:extLst>
          </p:cNvPr>
          <p:cNvSpPr>
            <a:spLocks noGrp="1"/>
          </p:cNvSpPr>
          <p:nvPr/>
        </p:nvSpPr>
        <p:spPr>
          <a:xfrm>
            <a:off x="762000" y="54673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resorte es un modelo visible de propagación; no reproduce todas las propiedades del sonido en aire.</a:t>
            </a:r>
          </a:p>
        </p:txBody>
      </p:sp>
      <p:sp>
        <p:nvSpPr>
          <p:cNvPr id="11" name="fa_source">
            <a:extLst>
              <a:ext uri="{FF2B5EF4-FFF2-40B4-BE49-F238E27FC236}">
                <a16:creationId xmlns:a16="http://schemas.microsoft.com/office/drawing/2014/main" id="{AE224EB7-B315-4363-9F8D-6A639B454081}"/>
              </a:ext>
            </a:extLst>
          </p:cNvPr>
          <p:cNvSpPr>
            <a:spLocks noGrp="1"/>
          </p:cNvSpPr>
          <p:nvPr/>
        </p:nvSpPr>
        <p:spPr>
          <a:xfrm>
            <a:off x="8382000" y="49530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Resorte o GIF de respaldo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929AE290-2291-450E-AFBD-B0A1B8F58C7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estudia la acústica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4810125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2466"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 acústica estudia la producción, propagación, recepción, control y efectos de sonidos y vibraciones mecánicas.</a:t>
            </a:r>
          </a:p>
          <a:p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Acústica: disciplina que describe esos procesos, los sistemas involucrados y sus mediciones.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¿Qué verbo corresponde a una cabina, un micrófono o un oído?</a:t>
            </a:r>
          </a:p>
        </p:txBody>
      </p:sp>
      <p:pic>
        <p:nvPicPr>
          <p:cNvPr id="20" name="Imagen 19" descr="La palabra acústica aparece rodeada por producción, propagación, recepción, control y efecto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047875"/>
            <a:ext cx="4572000" cy="2571750"/>
          </a:xfrm>
          <a:prstGeom prst="rect">
            <a:avLst/>
          </a:prstGeom>
        </p:spPr>
      </p:pic>
      <p:sp>
        <p:nvSpPr>
          <p:cNvPr id="10" name="u01_asset_credit_12">
            <a:extLst>
              <a:ext uri="{FF2B5EF4-FFF2-40B4-BE49-F238E27FC236}">
                <a16:creationId xmlns:a16="http://schemas.microsoft.com/office/drawing/2014/main" id="{82620AF3-04D0-4A34-BB75-3857C02A395C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429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16E8675D-5799-409D-B82D-B823F08DCA32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6CAC95A-E8E8-4A60-B593-07C1114CA92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APLICACIÓN PROFESIONAL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FAB7D57C-6844-44FF-88AE-AF944D8D8A2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aporta la acústica a Fonoaudiología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052A88-CFB5-4867-B3BF-BB7D9DE888F1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Evidencia física para preguntas profesionales.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7CD0506-095C-4805-9975-204705E55FDE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5143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Voz: describir señales y cambios.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Audiología: controlar estímulos y referencias.</a:t>
            </a:r>
          </a:p>
        </p:txBody>
      </p:sp>
      <p:sp>
        <p:nvSpPr>
          <p:cNvPr id="6" name="clinical_connection_box">
            <a:extLst>
              <a:ext uri="{FF2B5EF4-FFF2-40B4-BE49-F238E27FC236}">
                <a16:creationId xmlns:a16="http://schemas.microsoft.com/office/drawing/2014/main" id="{401BB4AD-8EB9-4BB3-AA44-A35667ACA743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4667250" cy="2647950"/>
          </a:xfrm>
          <a:prstGeom prst="roundRect">
            <a:avLst>
              <a:gd name="adj" fmla="val 2878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clinical_connection_accent">
            <a:extLst>
              <a:ext uri="{FF2B5EF4-FFF2-40B4-BE49-F238E27FC236}">
                <a16:creationId xmlns:a16="http://schemas.microsoft.com/office/drawing/2014/main" id="{EF6AF561-0121-4DE3-BF91-EEA1C1F73A59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66675" cy="2647950"/>
          </a:xfrm>
          <a:prstGeom prst="rect">
            <a:avLst/>
          </a:prstGeom>
          <a:solidFill>
            <a:srgbClr val="9F54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inical_connection_label">
            <a:extLst>
              <a:ext uri="{FF2B5EF4-FFF2-40B4-BE49-F238E27FC236}">
                <a16:creationId xmlns:a16="http://schemas.microsoft.com/office/drawing/2014/main" id="{0ED5F9DA-BD62-41D1-AED3-B1E3F634F710}"/>
              </a:ext>
            </a:extLst>
          </p:cNvPr>
          <p:cNvSpPr>
            <a:spLocks noGrp="1"/>
          </p:cNvSpPr>
          <p:nvPr/>
        </p:nvSpPr>
        <p:spPr>
          <a:xfrm>
            <a:off x="6972300" y="1981200"/>
            <a:ext cx="426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APLICACIÓN</a:t>
            </a:r>
          </a:p>
        </p:txBody>
      </p:sp>
      <p:sp>
        <p:nvSpPr>
          <p:cNvPr id="9" name="clinical_connection_text">
            <a:extLst>
              <a:ext uri="{FF2B5EF4-FFF2-40B4-BE49-F238E27FC236}">
                <a16:creationId xmlns:a16="http://schemas.microsoft.com/office/drawing/2014/main" id="{2A3CDF92-DFD5-453E-9FB0-17E7EBFB3A51}"/>
              </a:ext>
            </a:extLst>
          </p:cNvPr>
          <p:cNvSpPr>
            <a:spLocks noGrp="1"/>
          </p:cNvSpPr>
          <p:nvPr/>
        </p:nvSpPr>
        <p:spPr>
          <a:xfrm>
            <a:off x="6972300" y="2295525"/>
            <a:ext cx="4267200" cy="2076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Dispositivos: verificar entradas y salidas.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Ambientes: estudiar condiciones de comunicación.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Límite: una medición aislada no equivale a un diagnóstico.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Clasificar: “1000 Hz”, “se oyó” y “hay hipoacusia”.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0EB2F1A-DD71-4D53-B9F1-6555305064BB}"/>
              </a:ext>
            </a:extLst>
          </p:cNvPr>
          <p:cNvSpPr>
            <a:spLocks noGrp="1"/>
          </p:cNvSpPr>
          <p:nvPr/>
        </p:nvSpPr>
        <p:spPr>
          <a:xfrm>
            <a:off x="1238250" y="5029200"/>
            <a:ext cx="971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dato físico participa del razonamiento; no lo reemplaza.</a:t>
            </a:r>
          </a:p>
        </p:txBody>
      </p:sp>
      <p:sp>
        <p:nvSpPr>
          <p:cNvPr id="11" name="fa_slide_number_local">
            <a:extLst>
              <a:ext uri="{FF2B5EF4-FFF2-40B4-BE49-F238E27FC236}">
                <a16:creationId xmlns:a16="http://schemas.microsoft.com/office/drawing/2014/main" id="{24914704-462E-4CF7-BAA4-72729A475F5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RECAPITULACIÓN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Fenómeno, sistema y pregunta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Delimitar el sistema antes de describirlo.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Asignar funciones: fuente, medio y receptor.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Distinguir propagación de movimiento neto del medio.</a:t>
            </a:r>
          </a:p>
        </p:txBody>
      </p:sp>
      <p:sp>
        <p:nvSpPr>
          <p:cNvPr id="10" name="bullet_4">
            <a:extLst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bullet_text_4">
            <a:extLst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Separar preguntas físicas, perceptuales y clínicas.</a:t>
            </a:r>
          </a:p>
        </p:txBody>
      </p:sp>
      <p:sp>
        <p:nvSpPr>
          <p:cNvPr id="12" name="mini_recap_box">
            <a:extLst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mini_recap_accent">
            <a:extLst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66675" cy="2381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ini_recap_label">
            <a:extLst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02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COMPROBACIÓN</a:t>
            </a:r>
          </a:p>
        </p:txBody>
      </p:sp>
      <p:sp>
        <p:nvSpPr>
          <p:cNvPr id="15" name="mini_recap_text">
            <a:extLst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noGrp="1"/>
          </p:cNvSpPr>
          <p:nvPr/>
        </p:nvSpPr>
        <p:spPr>
          <a:xfrm>
            <a:off x="8210550" y="2524125"/>
            <a:ext cx="30289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Volver a la vocalización inicial y responder con vocabulario preciso.</a:t>
            </a:r>
          </a:p>
        </p:txBody>
      </p:sp>
      <p:pic>
        <p:nvPicPr>
          <p:cNvPr id="34" name="Imagen 33" descr="Mapa fuente–medio–receptor acompañado por preguntas sobre sistema y tipo de conclusión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15125" y="2190750"/>
            <a:ext cx="4524375" cy="2543175"/>
          </a:xfrm>
          <a:prstGeom prst="rect">
            <a:avLst/>
          </a:prstGeom>
        </p:spPr>
      </p:pic>
      <p:sp>
        <p:nvSpPr>
          <p:cNvPr id="17" name="u01_asset_credit_14">
            <a:extLst>
              <a:ext uri="{FF2B5EF4-FFF2-40B4-BE49-F238E27FC236}">
                <a16:creationId xmlns:a16="http://schemas.microsoft.com/office/drawing/2014/main" id="{7889F8A9-9C10-4C3F-83ED-5390F50C4A59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72E1C749-51D7-4D29-A0AD-CB50F8A7068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B02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 con un lenguaje común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comunicamos una medición sin ambigüedades?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B02</a:t>
            </a:r>
          </a:p>
        </p:txBody>
      </p:sp>
      <p:sp>
        <p:nvSpPr>
          <p:cNvPr id="6" name="fa_slide_number_local">
            <a:extLst>
              <a:ext uri="{FF2B5EF4-FFF2-40B4-BE49-F238E27FC236}">
                <a16:creationId xmlns:a16="http://schemas.microsoft.com/office/drawing/2014/main" id="{6C4CE7E0-DA63-4D93-8C6B-5A9BBF32710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 es comparar con una referencia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95059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magnitud es una propiedad que puede medirse o calcularse. Una unidad es la referencia acordada para expresar su valor.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Resultado de medición = valor numérico + unidad.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Longitud de una mesa: d = 2,0 m.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E8596B8D-2482-4920-B4D8-3496750413F1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EXPLICACIÓN 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Magnitud, símbolo, valor y unidad no son lo mismo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Distancia: magnitud. d: símbolo de la magnitud. =: relación de igualdad. 2: valor numérico. m: símbolo de la unidad metro.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 = 2 m.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89709"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variables se escriben en cursiva; las unidades, en redonda.</a:t>
            </a:r>
          </a:p>
        </p:txBody>
      </p:sp>
      <p:pic>
        <p:nvPicPr>
          <p:cNvPr id="29" name="Imagen 28" descr="Flechas señalan la magnitud, su símbolo, el valor y la unidad en la expresión d igual a 2 metro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17">
            <a:extLst>
              <a:ext uri="{FF2B5EF4-FFF2-40B4-BE49-F238E27FC236}">
                <a16:creationId xmlns:a16="http://schemas.microsoft.com/office/drawing/2014/main" id="{4089AC98-46BD-4D6E-8D36-E7B11F5854AB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U01-CH003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0F3A9065-0D4A-42B9-BBF2-DCA821A465D1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MINI EJERCICIO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falta en cada resultado?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 número correcto puede estar mal comunicado.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Corregir o completar: 3; 5 kg; t = 0,2; 20 °C; 15 mts/seg.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Reglas mínimas: espacio entre valor y unidad; símbolo normalizado; el símbolo no se pluraliza.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Escribir una versión completa y explicar qué se corrigió.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Escribir una versión completa y explicar qué se corrigió.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No todas las expresiones requieren la misma corrección.</a:t>
            </a:r>
          </a:p>
        </p:txBody>
      </p:sp>
      <p:sp>
        <p:nvSpPr>
          <p:cNvPr id="16" name="fa_slide_number_local">
            <a:extLst>
              <a:ext uri="{FF2B5EF4-FFF2-40B4-BE49-F238E27FC236}">
                <a16:creationId xmlns:a16="http://schemas.microsoft.com/office/drawing/2014/main" id="{CEA9830C-CDC5-4DC0-B76C-8115C26FC295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E53D2C-23E7-4DBD-B89D-81046F3B448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EXPLICACIÓN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AF5D137-FCD5-404C-913A-9A935F13C6D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SI organiza comparaciones y cálculos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75E395-696E-461D-BF12-7E67C501C13F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5810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Unidades básicas y unidades derivadas.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5BD961D7-3DEF-45F8-85DC-64A8E85866A9}"/>
              </a:ext>
            </a:extLst>
          </p:cNvPr>
          <p:cNvSpPr>
            <a:spLocks noGrp="1"/>
          </p:cNvSpPr>
          <p:nvPr/>
        </p:nvSpPr>
        <p:spPr>
          <a:xfrm>
            <a:off x="990600" y="30765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4D72AEC3-E43B-48EF-B82D-35AD60D01CD8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Básicas: se asocian a magnitudes fundamentales.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71265940-F7B0-4B41-8D54-17F3BC649256}"/>
              </a:ext>
            </a:extLst>
          </p:cNvPr>
          <p:cNvSpPr>
            <a:spLocks noGrp="1"/>
          </p:cNvSpPr>
          <p:nvPr/>
        </p:nvSpPr>
        <p:spPr>
          <a:xfrm>
            <a:off x="990600" y="37814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5D90329-16B1-4B40-849E-B45114499DBC}"/>
              </a:ext>
            </a:extLst>
          </p:cNvPr>
          <p:cNvSpPr>
            <a:spLocks noGrp="1"/>
          </p:cNvSpPr>
          <p:nvPr/>
        </p:nvSpPr>
        <p:spPr>
          <a:xfrm>
            <a:off x="1257300" y="365760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Derivadas: se construyen mediante relaciones entre magnitudes.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FCF02A84-B9CB-4F5B-AD56-C14DA372DB43}"/>
              </a:ext>
            </a:extLst>
          </p:cNvPr>
          <p:cNvSpPr>
            <a:spLocks noGrp="1"/>
          </p:cNvSpPr>
          <p:nvPr/>
        </p:nvSpPr>
        <p:spPr>
          <a:xfrm>
            <a:off x="990600" y="4486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0BC67D56-BD5D-432A-A248-DD0FBF12D029}"/>
              </a:ext>
            </a:extLst>
          </p:cNvPr>
          <p:cNvSpPr>
            <a:spLocks noGrp="1"/>
          </p:cNvSpPr>
          <p:nvPr/>
        </p:nvSpPr>
        <p:spPr>
          <a:xfrm>
            <a:off x="1257300" y="43624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esta unidad: tiempo → s; longitud → m; masa → kg.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m/s, N y Pa son unidades derivadas.</a:t>
            </a:r>
          </a:p>
        </p:txBody>
      </p:sp>
      <p:sp>
        <p:nvSpPr>
          <p:cNvPr id="11" name="image_frame_60_40">
            <a:extLst>
              <a:ext uri="{FF2B5EF4-FFF2-40B4-BE49-F238E27FC236}">
                <a16:creationId xmlns:a16="http://schemas.microsoft.com/office/drawing/2014/main" id="{F1D92882-FFEB-4585-860A-DF5A2A02555B}"/>
              </a:ext>
            </a:extLst>
          </p:cNvPr>
          <p:cNvSpPr>
            <a:spLocks noGrp="1"/>
          </p:cNvSpPr>
          <p:nvPr/>
        </p:nvSpPr>
        <p:spPr>
          <a:xfrm>
            <a:off x="7334250" y="1752600"/>
            <a:ext cx="4095750" cy="3124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fa_caption">
            <a:extLst>
              <a:ext uri="{FF2B5EF4-FFF2-40B4-BE49-F238E27FC236}">
                <a16:creationId xmlns:a16="http://schemas.microsoft.com/office/drawing/2014/main" id="{3247F6BB-D9FA-49C9-ACB3-C07890C4CA91}"/>
              </a:ext>
            </a:extLst>
          </p:cNvPr>
          <p:cNvSpPr>
            <a:spLocks noGrp="1"/>
          </p:cNvSpPr>
          <p:nvPr/>
        </p:nvSpPr>
        <p:spPr>
          <a:xfrm>
            <a:off x="7124700" y="4762500"/>
            <a:ext cx="4305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“Fundamental” no significa “más importante”; “derivada” no significa “secundaria”.</a:t>
            </a:r>
          </a:p>
        </p:txBody>
      </p:sp>
      <p:sp>
        <p:nvSpPr>
          <p:cNvPr id="14" name="fa_source">
            <a:extLst>
              <a:ext uri="{FF2B5EF4-FFF2-40B4-BE49-F238E27FC236}">
                <a16:creationId xmlns:a16="http://schemas.microsoft.com/office/drawing/2014/main" id="{FFDE72C3-B756-4744-932A-D6F36A4525F5}"/>
              </a:ext>
            </a:extLst>
          </p:cNvPr>
          <p:cNvSpPr>
            <a:spLocks noGrp="1"/>
          </p:cNvSpPr>
          <p:nvPr/>
        </p:nvSpPr>
        <p:spPr>
          <a:xfrm>
            <a:off x="7334250" y="533400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1" name="Imagen 30" descr="Tiempo, longitud y masa se conectan con rapidez, aceleración, fuerza, presión y densidad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24700" y="1714500"/>
            <a:ext cx="4305300" cy="2857500"/>
          </a:xfrm>
          <a:prstGeom prst="rect">
            <a:avLst/>
          </a:prstGeom>
        </p:spPr>
      </p:pic>
      <p:sp>
        <p:nvSpPr>
          <p:cNvPr id="16" name="u01_asset_credit_19">
            <a:extLst>
              <a:ext uri="{FF2B5EF4-FFF2-40B4-BE49-F238E27FC236}">
                <a16:creationId xmlns:a16="http://schemas.microsoft.com/office/drawing/2014/main" id="{FAF9F315-0859-4AFC-8B22-CAAA6236DE90}"/>
              </a:ext>
            </a:extLst>
          </p:cNvPr>
          <p:cNvSpPr>
            <a:spLocks noGrp="1"/>
          </p:cNvSpPr>
          <p:nvPr/>
        </p:nvSpPr>
        <p:spPr>
          <a:xfrm>
            <a:off x="7334250" y="5810250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054"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U01-CH004 · Elaboración propia basada en BIPM, SI Brochure, 9.ª ed., actualización 2026.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F1CD293B-68F2-4FC4-A14B-BEAA3AE260E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TABLA DE CONSULTA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siete magnitudes fundamentales y la temperatura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noGrp="1"/>
          </p:cNvSpPr>
          <p:nvPr/>
        </p:nvSpPr>
        <p:spPr>
          <a:xfrm>
            <a:off x="1714500" y="1666875"/>
            <a:ext cx="8763000" cy="3810000"/>
          </a:xfrm>
          <a:prstGeom prst="rect">
            <a:avLst/>
          </a:prstGeom>
          <a:solidFill>
            <a:srgbClr val="F7F6F2"/>
          </a:solidFill>
          <a:ln w="9525">
            <a:solidFill>
              <a:srgbClr val="D9DCE0"/>
            </a:solidFill>
            <a:prstDash val="solid"/>
          </a:ln>
        </p:spPr>
        <p:txBody>
          <a:bodyPr wrap="square" lIns="266700" tIns="171450" rIns="266700" bIns="17145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Tiempo — segundo (s)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Longitud — metro (m)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Masa — kilogramo (kg)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Corriente eléctrica — ampere (A)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Temperatura termodinámica — kelvin (K)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Cantidad de sustancia — mol (mol)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Intensidad luminosa — candela (cd)</a:t>
            </a:r>
          </a:p>
        </p:txBody>
      </p:sp>
      <p:sp>
        <p:nvSpPr>
          <p:cNvPr id="6" name="fa_slide_number_local">
            <a:extLst>
              <a:ext uri="{FF2B5EF4-FFF2-40B4-BE49-F238E27FC236}">
                <a16:creationId xmlns:a16="http://schemas.microsoft.com/office/drawing/2014/main" id="{BADC4398-957A-43FF-9C6F-C662ED98C33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PROCESO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unidades básicas a unidades derivadas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unidades conservan la estructura de la relación.</a:t>
            </a:r>
          </a:p>
        </p:txBody>
      </p:sp>
      <p:pic>
        <p:nvPicPr>
          <p:cNvPr id="50" name="Imagen 49" descr="Tres cadenas muestran cómo división y multiplicación construyen metro por segundo, newton y pascal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05000" y="1381125"/>
            <a:ext cx="8382000" cy="4000500"/>
          </a:xfrm>
          <a:prstGeom prst="rect">
            <a:avLst/>
          </a:prstGeom>
        </p:spPr>
      </p:pic>
      <p:sp>
        <p:nvSpPr>
          <p:cNvPr id="25" name="u01_asset_credit_21">
            <a:extLst>
              <a:ext uri="{FF2B5EF4-FFF2-40B4-BE49-F238E27FC236}">
                <a16:creationId xmlns:a16="http://schemas.microsoft.com/office/drawing/2014/main" id="{8A7C68F7-C91B-4466-8BE6-89FF3187496C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U01-CH005 · Elaboración propia basada en BIPM.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875E6BF4-E7D4-452F-9DA4-0BB3D02244C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TABLA CONCEPTUAL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mapa de magnitudes de la Unidad 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noGrp="1"/>
          </p:cNvSpPr>
          <p:nvPr/>
        </p:nvSpPr>
        <p:spPr>
          <a:xfrm>
            <a:off x="1714500" y="5476875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Observe que cada símbolo tiene una magnitud y una unidad asociadas.</a:t>
            </a:r>
          </a:p>
        </p:txBody>
      </p:sp>
      <p:pic>
        <p:nvPicPr>
          <p:cNvPr id="13" name="Imagen 12" descr="Tabla de ocho magnitudes con sus símbolos, relaciones introductorias y unidad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71625" y="1476375"/>
            <a:ext cx="9048750" cy="4000500"/>
          </a:xfrm>
          <a:prstGeom prst="rect">
            <a:avLst/>
          </a:prstGeom>
        </p:spPr>
      </p:pic>
      <p:sp>
        <p:nvSpPr>
          <p:cNvPr id="7" name="u01_asset_credit_22">
            <a:extLst>
              <a:ext uri="{FF2B5EF4-FFF2-40B4-BE49-F238E27FC236}">
                <a16:creationId xmlns:a16="http://schemas.microsoft.com/office/drawing/2014/main" id="{0AAEED32-4AA5-45AA-BFCD-5CA3BDB90931}"/>
              </a:ext>
            </a:extLst>
          </p:cNvPr>
          <p:cNvSpPr>
            <a:spLocks noGrp="1"/>
          </p:cNvSpPr>
          <p:nvPr/>
        </p:nvSpPr>
        <p:spPr>
          <a:xfrm>
            <a:off x="1190625" y="58102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U01-CH006 · Elaboración propia a partir del capítulo de Unidad 1.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A67DD4C9-201A-4788-BC72-00D38A806F02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ERROR FRECUENTE/RECAP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símbolo de una unidad no se pluraliza ni se improvisa</a:t>
            </a:r>
          </a:p>
        </p:txBody>
      </p:sp>
      <p:sp>
        <p:nvSpPr>
          <p:cNvPr id="4" name="frequent_error_box">
            <a:extLst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0287000" cy="1524000"/>
          </a:xfrm>
          <a:prstGeom prst="roundRect">
            <a:avLst>
              <a:gd name="adj" fmla="val 5000"/>
            </a:avLst>
          </a:prstGeom>
          <a:solidFill>
            <a:srgbClr val="F8E8E8"/>
          </a:solidFill>
          <a:ln w="14288">
            <a:solidFill>
              <a:srgbClr val="A33A3A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frequent_error_accent">
            <a:extLst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66675" cy="1524000"/>
          </a:xfrm>
          <a:prstGeom prst="rect">
            <a:avLst/>
          </a:prstGeom>
          <a:solidFill>
            <a:srgbClr val="A33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requent_error_label">
            <a:extLst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988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CONFUSIÓN</a:t>
            </a:r>
          </a:p>
        </p:txBody>
      </p:sp>
      <p:sp>
        <p:nvSpPr>
          <p:cNvPr id="7" name="frequent_error_text">
            <a:extLst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noGrp="1"/>
          </p:cNvSpPr>
          <p:nvPr/>
        </p:nvSpPr>
        <p:spPr>
          <a:xfrm>
            <a:off x="1162050" y="2276475"/>
            <a:ext cx="98869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5 kg, no “5 kgs”.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15 m/s, no “15 mts/seg”.</a:t>
            </a:r>
          </a:p>
        </p:txBody>
      </p:sp>
      <p:sp>
        <p:nvSpPr>
          <p:cNvPr id="8" name="error_correction_box">
            <a:extLst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9906000" cy="1695450"/>
          </a:xfrm>
          <a:prstGeom prst="roundRect">
            <a:avLst>
              <a:gd name="adj" fmla="val 4494"/>
            </a:avLst>
          </a:prstGeom>
          <a:solidFill>
            <a:srgbClr val="EAF2EE"/>
          </a:solidFill>
          <a:ln w="14288">
            <a:solidFill>
              <a:srgbClr val="2F6F55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9" name="error_correction_accent">
            <a:extLst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66675" cy="1695450"/>
          </a:xfrm>
          <a:prstGeom prst="rect">
            <a:avLst/>
          </a:prstGeom>
          <a:solidFill>
            <a:srgbClr val="2F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rror_correction_label">
            <a:extLst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950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noGrp="1"/>
          </p:cNvSpPr>
          <p:nvPr/>
        </p:nvSpPr>
        <p:spPr>
          <a:xfrm>
            <a:off x="1352550" y="4219575"/>
            <a:ext cx="95059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20 Pa, no “20 pascales” dentro de una ecuación.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Siempre: valor + espacio + símbolo de unidad.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 contexto distingue m unidad metro de m variable masa.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Corregir: 3,5Kgs → 3,5 kg.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F278490B-3068-4080-B130-063FC9A94ED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B03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Magnitudes conectadas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se relacionan movimiento, masa, fuerza, presión y densidad?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B03</a:t>
            </a:r>
          </a:p>
        </p:txBody>
      </p:sp>
      <p:pic>
        <p:nvPicPr>
          <p:cNvPr id="14" name="Imagen 13" descr="Red incompleta de magnitudes físicas que se completará durante el bloque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72375" y="1952625"/>
            <a:ext cx="3524250" cy="1981200"/>
          </a:xfrm>
          <a:prstGeom prst="rect">
            <a:avLst/>
          </a:prstGeom>
        </p:spPr>
      </p:pic>
      <p:sp>
        <p:nvSpPr>
          <p:cNvPr id="7" name="u01_asset_credit_24">
            <a:extLst>
              <a:ext uri="{FF2B5EF4-FFF2-40B4-BE49-F238E27FC236}">
                <a16:creationId xmlns:a16="http://schemas.microsoft.com/office/drawing/2014/main" id="{E3026C95-35A4-4AB8-B5FF-94B19ED9D1CF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U01-CH011 · Elaboración propia a partir del TikZ del libro.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342FA931-702B-4B5E-8E11-49CC0F1EBAB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E53D2C-23E7-4DBD-B89D-81046F3B448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EXPLICACIÓN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AF5D137-FCD5-404C-913A-9A935F13C6D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Recorrer una distancia requiere un intervalo de tiempo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75E395-696E-461D-BF12-7E67C501C13F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5810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Primero, la relación verbal.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5BD961D7-3DEF-45F8-85DC-64A8E85866A9}"/>
              </a:ext>
            </a:extLst>
          </p:cNvPr>
          <p:cNvSpPr>
            <a:spLocks noGrp="1"/>
          </p:cNvSpPr>
          <p:nvPr/>
        </p:nvSpPr>
        <p:spPr>
          <a:xfrm>
            <a:off x="990600" y="30765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4D72AEC3-E43B-48EF-B82D-35AD60D01CD8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Para comparar recorridos preguntamos cuánta distancia se recorre durante un intervalo.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71265940-F7B0-4B41-8D54-17F3BC649256}"/>
              </a:ext>
            </a:extLst>
          </p:cNvPr>
          <p:cNvSpPr>
            <a:spLocks noGrp="1"/>
          </p:cNvSpPr>
          <p:nvPr/>
        </p:nvSpPr>
        <p:spPr>
          <a:xfrm>
            <a:off x="990600" y="37814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5D90329-16B1-4B40-849E-B45114499DBC}"/>
              </a:ext>
            </a:extLst>
          </p:cNvPr>
          <p:cNvSpPr>
            <a:spLocks noGrp="1"/>
          </p:cNvSpPr>
          <p:nvPr/>
        </p:nvSpPr>
        <p:spPr>
          <a:xfrm>
            <a:off x="1257300" y="365760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 rapidez media resume esa relación como “distancia por unidad de tiempo”.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FCF02A84-B9CB-4F5B-AD56-C14DA372DB43}"/>
              </a:ext>
            </a:extLst>
          </p:cNvPr>
          <p:cNvSpPr>
            <a:spLocks noGrp="1"/>
          </p:cNvSpPr>
          <p:nvPr/>
        </p:nvSpPr>
        <p:spPr>
          <a:xfrm>
            <a:off x="990600" y="4486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0BC67D56-BD5D-432A-A248-DD0FBF12D029}"/>
              </a:ext>
            </a:extLst>
          </p:cNvPr>
          <p:cNvSpPr>
            <a:spLocks noGrp="1"/>
          </p:cNvSpPr>
          <p:nvPr/>
        </p:nvSpPr>
        <p:spPr>
          <a:xfrm>
            <a:off x="1257300" y="43624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d: distancia recorrida (m). Δt: intervalo empleado (s).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 móvil recorre 12 m en 3 s: ¿cuántos metros por segundo?</a:t>
            </a:r>
          </a:p>
        </p:txBody>
      </p:sp>
      <p:sp>
        <p:nvSpPr>
          <p:cNvPr id="11" name="image_frame_60_40">
            <a:extLst>
              <a:ext uri="{FF2B5EF4-FFF2-40B4-BE49-F238E27FC236}">
                <a16:creationId xmlns:a16="http://schemas.microsoft.com/office/drawing/2014/main" id="{F1D92882-FFEB-4585-860A-DF5A2A02555B}"/>
              </a:ext>
            </a:extLst>
          </p:cNvPr>
          <p:cNvSpPr>
            <a:spLocks noGrp="1"/>
          </p:cNvSpPr>
          <p:nvPr/>
        </p:nvSpPr>
        <p:spPr>
          <a:xfrm>
            <a:off x="7334250" y="1752600"/>
            <a:ext cx="4095750" cy="3124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fa_caption">
            <a:extLst>
              <a:ext uri="{FF2B5EF4-FFF2-40B4-BE49-F238E27FC236}">
                <a16:creationId xmlns:a16="http://schemas.microsoft.com/office/drawing/2014/main" id="{3247F6BB-D9FA-49C9-ACB3-C07890C4CA91}"/>
              </a:ext>
            </a:extLst>
          </p:cNvPr>
          <p:cNvSpPr>
            <a:spLocks noGrp="1"/>
          </p:cNvSpPr>
          <p:nvPr/>
        </p:nvSpPr>
        <p:spPr>
          <a:xfrm>
            <a:off x="7124700" y="4762500"/>
            <a:ext cx="4305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intervalo tiene comienzo y final; no es un instante aislado.</a:t>
            </a:r>
          </a:p>
        </p:txBody>
      </p:sp>
      <p:sp>
        <p:nvSpPr>
          <p:cNvPr id="14" name="fa_source">
            <a:extLst>
              <a:ext uri="{FF2B5EF4-FFF2-40B4-BE49-F238E27FC236}">
                <a16:creationId xmlns:a16="http://schemas.microsoft.com/office/drawing/2014/main" id="{FFDE72C3-B756-4744-932A-D6F36A4525F5}"/>
              </a:ext>
            </a:extLst>
          </p:cNvPr>
          <p:cNvSpPr>
            <a:spLocks noGrp="1"/>
          </p:cNvSpPr>
          <p:nvPr/>
        </p:nvSpPr>
        <p:spPr>
          <a:xfrm>
            <a:off x="7334250" y="533400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1" name="Imagen 30" descr="Un trayecto de distancia d y un reloj representan un intervalo delta t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24700" y="1714500"/>
            <a:ext cx="4305300" cy="2857500"/>
          </a:xfrm>
          <a:prstGeom prst="rect">
            <a:avLst/>
          </a:prstGeom>
        </p:spPr>
      </p:pic>
      <p:sp>
        <p:nvSpPr>
          <p:cNvPr id="16" name="u01_asset_credit_25">
            <a:extLst>
              <a:ext uri="{FF2B5EF4-FFF2-40B4-BE49-F238E27FC236}">
                <a16:creationId xmlns:a16="http://schemas.microsoft.com/office/drawing/2014/main" id="{1EE089DA-987E-4B18-BC9B-5CCDE1E90071}"/>
              </a:ext>
            </a:extLst>
          </p:cNvPr>
          <p:cNvSpPr>
            <a:spLocks noGrp="1"/>
          </p:cNvSpPr>
          <p:nvPr/>
        </p:nvSpPr>
        <p:spPr>
          <a:xfrm>
            <a:off x="7334250" y="5810250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U01-CH007 · Elaboración propia; esquema conceptual.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280A645F-255E-4991-A3EE-84CB03B7BC0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Rapidez media: distancia por unidad de tiempo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v_med = d/Δt.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v_med: rapidez media (m/s); d: distancia (m); Δt: intervalo (s). m/s significa metros recorridos por segundo.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0" name="Imagen 29" descr="La ecuación rapidez media igual a distancia dividida por intervalo se acompaña con unidad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3476625"/>
            <a:ext cx="6096000" cy="2381250"/>
          </a:xfrm>
          <a:prstGeom prst="rect">
            <a:avLst/>
          </a:prstGeom>
        </p:spPr>
      </p:pic>
      <p:sp>
        <p:nvSpPr>
          <p:cNvPr id="15" name="u01_asset_credit_26">
            <a:extLst>
              <a:ext uri="{FF2B5EF4-FFF2-40B4-BE49-F238E27FC236}">
                <a16:creationId xmlns:a16="http://schemas.microsoft.com/office/drawing/2014/main" id="{C6D12931-C7D9-4037-8275-D05F0C80BE6E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U01-CH007 · Elaboración propia; esquema conceptual.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43F5D5AD-D0E1-40EE-A79E-C7393401594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Rapidez, velocidad y velocidad de propagación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 no describe el recorrido total de una partícula del medio.</a:t>
            </a:r>
          </a:p>
        </p:txBody>
      </p:sp>
      <p:pic>
        <p:nvPicPr>
          <p:cNvPr id="32" name="Imagen 31" descr="Tres paneles diferencian rapidez escalar, velocidad vectorial y avance de una perturbación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27">
            <a:extLst>
              <a:ext uri="{FF2B5EF4-FFF2-40B4-BE49-F238E27FC236}">
                <a16:creationId xmlns:a16="http://schemas.microsoft.com/office/drawing/2014/main" id="{ACBEAB4D-1839-460A-BFD6-A21B92B87818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U01-CH007 · Elaboración propia; esquema conceptual.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DC6BFD16-688C-4CD0-9617-32131D1AE17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EJEMPLO RESUELTO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¿Cuánto tarda una perturbación en recorrer 100 m?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t = d/c = 100 m ÷ (343 m/s) = 0,2915… s ≈ 0,29 s.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Comprobar: m ÷ (m/s) = s.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pic>
        <p:nvPicPr>
          <p:cNvPr id="42" name="Imagen 41" descr="Una fuente y un receptor separados 100 metros acompañan el cálculo del tiempo de propagación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0" y="1809750"/>
            <a:ext cx="5905500" cy="3324225"/>
          </a:xfrm>
          <a:prstGeom prst="rect">
            <a:avLst/>
          </a:prstGeom>
        </p:spPr>
      </p:pic>
      <p:sp>
        <p:nvSpPr>
          <p:cNvPr id="21" name="u01_asset_credit_28">
            <a:extLst>
              <a:ext uri="{FF2B5EF4-FFF2-40B4-BE49-F238E27FC236}">
                <a16:creationId xmlns:a16="http://schemas.microsoft.com/office/drawing/2014/main" id="{58729D64-E594-4427-A82D-0A0BDE934F46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U01-CH008 · Elaboración propia; c = 343 m/s cerca de 20 °C según fuente citada en el libro.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09A67CCE-8FD4-4C66-BEFE-CC167BBE6DA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MINI EJERCICIO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Tiempo de propagación: práctica adicional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Elegir la relación y verificar la unidad.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Usar t = d/c.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Datos: d = 68 m; c = 340 m/s.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 unidad m ÷ (m/s) se simplifica a s.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 = 68 m / (340 m/s) = ___ 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complementaria; 340 m/s es un redondeo didáctico.</a:t>
            </a:r>
          </a:p>
        </p:txBody>
      </p:sp>
      <p:pic>
        <p:nvPicPr>
          <p:cNvPr id="34" name="Imagen 33" descr="Ejercicio con distancia de 68 metros y rapidez de 340 metros por segund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34750" y="5905500"/>
            <a:ext cx="9525" cy="9525"/>
          </a:xfrm>
          <a:prstGeom prst="rect">
            <a:avLst/>
          </a:prstGeom>
        </p:spPr>
      </p:pic>
      <p:sp>
        <p:nvSpPr>
          <p:cNvPr id="17" name="u01_asset_credit_29">
            <a:extLst>
              <a:ext uri="{FF2B5EF4-FFF2-40B4-BE49-F238E27FC236}">
                <a16:creationId xmlns:a16="http://schemas.microsoft.com/office/drawing/2014/main" id="{FEDB5F36-2FAC-4E6B-8068-803D967E0680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U01-CH008 · Elaboración propia; c = 343 m/s cerca de 20 °C según fuente citada en el libro.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19357D8F-EEFF-495A-9FF0-BB53C98C16D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Masa y peso: dos magnitudes diferentes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lenguaje cotidiano llama “peso” a resultados que suelen estar expresados en kg.</a:t>
            </a:r>
          </a:p>
        </p:txBody>
      </p:sp>
      <p:pic>
        <p:nvPicPr>
          <p:cNvPr id="32" name="Imagen 31" descr="Dos paneles contrastan masa en kilogramos y fuerza peso en newton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30">
            <a:extLst>
              <a:ext uri="{FF2B5EF4-FFF2-40B4-BE49-F238E27FC236}">
                <a16:creationId xmlns:a16="http://schemas.microsoft.com/office/drawing/2014/main" id="{60C97A50-964A-4BDA-A69E-196128133706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U01-CH009 · Elaboración propia.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C138C990-FEDC-48FD-9EE0-4859131BBC3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EJEMPLO RESUELTO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masa a peso sin perder las unidades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F_g = (2,50 kg)(9,80 m/s²) = 24,5 kg·m/s² = 24,5 N.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¿Qué parte del cálculo demuestra que no obtenemos kg?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pic>
        <p:nvPicPr>
          <p:cNvPr id="42" name="Imagen 41" descr="Multiplicación de 2,50 kilogramos por 9,80 metros por segundo cuadrado hasta obtener 24,5 newton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0" y="1809750"/>
            <a:ext cx="5905500" cy="3324225"/>
          </a:xfrm>
          <a:prstGeom prst="rect">
            <a:avLst/>
          </a:prstGeom>
        </p:spPr>
      </p:pic>
      <p:sp>
        <p:nvSpPr>
          <p:cNvPr id="21" name="u01_asset_credit_31">
            <a:extLst>
              <a:ext uri="{FF2B5EF4-FFF2-40B4-BE49-F238E27FC236}">
                <a16:creationId xmlns:a16="http://schemas.microsoft.com/office/drawing/2014/main" id="{32166686-12F9-4C01-8450-CA1FA0A6CF06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U01-CH009 · Elaboración propia.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6C385972-9ACB-4564-84C5-D8BA50219E7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ECUACIÓN/ANTICIPO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Fuerza neta y aceleración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 = m a.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F: fuerza neta (N); m: masa (kg); a: aceleración (m/s²). 1 N = 1 kg·m/s².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0" name="Imagen 29" descr="Un cuerpo recibe una fuerza neta y acelera; la ecuación F igual a masa por aceleración aparece debaj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3476625"/>
            <a:ext cx="6096000" cy="2381250"/>
          </a:xfrm>
          <a:prstGeom prst="rect">
            <a:avLst/>
          </a:prstGeom>
        </p:spPr>
      </p:pic>
      <p:sp>
        <p:nvSpPr>
          <p:cNvPr id="15" name="u01_asset_credit_32">
            <a:extLst>
              <a:ext uri="{FF2B5EF4-FFF2-40B4-BE49-F238E27FC236}">
                <a16:creationId xmlns:a16="http://schemas.microsoft.com/office/drawing/2014/main" id="{0D5286FF-0281-4D8F-9107-F919CDBAF00F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U01-CH010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3FD9A71C-F09D-427C-B844-D57AC1C4E78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ECUACIÓN/VISUAL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presión relaciona fuerza perpendicular y área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 = F_⊥/S.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p: presión (Pa); F_⊥: componente perpendicular de la fuerza (N); S: área (m²). 1 Pa = 1 N/m².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0" name="Imagen 29" descr="Dos superficies reciben la misma fuerza; la de menor área presenta mayor presión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3476625"/>
            <a:ext cx="6096000" cy="2381250"/>
          </a:xfrm>
          <a:prstGeom prst="rect">
            <a:avLst/>
          </a:prstGeom>
        </p:spPr>
      </p:pic>
      <p:sp>
        <p:nvSpPr>
          <p:cNvPr id="15" name="u01_asset_credit_33">
            <a:extLst>
              <a:ext uri="{FF2B5EF4-FFF2-40B4-BE49-F238E27FC236}">
                <a16:creationId xmlns:a16="http://schemas.microsoft.com/office/drawing/2014/main" id="{62A4A678-F59B-4E98-A578-A73179CC77BA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U01-CH010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3EADFC2B-31EA-4E2B-8EE2-877E0E76DB1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ECUACIÓN/VISUAL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densidad relaciona masa y volumen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ρ = m/V.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ρ: densidad (kg/m³); m: masa (kg); V: volumen (m³).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0" name="Imagen 29" descr="Dos recipientes de igual volumen contienen distinta cantidad de masa; la fórmula rho igual a masa sobre volumen acompaña la comparación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3476625"/>
            <a:ext cx="6096000" cy="2381250"/>
          </a:xfrm>
          <a:prstGeom prst="rect">
            <a:avLst/>
          </a:prstGeom>
        </p:spPr>
      </p:pic>
      <p:sp>
        <p:nvSpPr>
          <p:cNvPr id="15" name="u01_asset_credit_34">
            <a:extLst>
              <a:ext uri="{FF2B5EF4-FFF2-40B4-BE49-F238E27FC236}">
                <a16:creationId xmlns:a16="http://schemas.microsoft.com/office/drawing/2014/main" id="{7391983D-8EB4-4429-A0FA-2EC5CBC37139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U01-CH010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0FA920E1-21CF-42BB-90A7-B353A11A28D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RECAPITULACIÓN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magnitudes forman una red de relaciones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d, Δt y c conectan distancia, intervalo y propagación.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m, a y F conectan inercia y cambio del movimiento.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F⊥, S y p conectan fuerza perpendicular, área y presión.</a:t>
            </a:r>
          </a:p>
        </p:txBody>
      </p:sp>
      <p:sp>
        <p:nvSpPr>
          <p:cNvPr id="10" name="bullet_4">
            <a:extLst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bullet_text_4">
            <a:extLst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m, V y ρ conectan masa, volumen y densidad.</a:t>
            </a:r>
          </a:p>
        </p:txBody>
      </p:sp>
      <p:sp>
        <p:nvSpPr>
          <p:cNvPr id="12" name="mini_recap_box">
            <a:extLst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mini_recap_accent">
            <a:extLst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66675" cy="2381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ini_recap_label">
            <a:extLst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02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COMPROBACIÓN</a:t>
            </a:r>
          </a:p>
        </p:txBody>
      </p:sp>
      <p:sp>
        <p:nvSpPr>
          <p:cNvPr id="15" name="mini_recap_text">
            <a:extLst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noGrp="1"/>
          </p:cNvSpPr>
          <p:nvPr/>
        </p:nvSpPr>
        <p:spPr>
          <a:xfrm>
            <a:off x="8210550" y="2524125"/>
            <a:ext cx="30289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Leer cada flecha con palabras y anticipar la unidad resultante.</a:t>
            </a:r>
          </a:p>
        </p:txBody>
      </p:sp>
      <p:pic>
        <p:nvPicPr>
          <p:cNvPr id="34" name="Imagen 33" descr="Red que conecta distancia, tiempo, rapidez, masa, aceleración, fuerza, área, presión, volumen y densidad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15125" y="2190750"/>
            <a:ext cx="4524375" cy="2543175"/>
          </a:xfrm>
          <a:prstGeom prst="rect">
            <a:avLst/>
          </a:prstGeom>
        </p:spPr>
      </p:pic>
      <p:sp>
        <p:nvSpPr>
          <p:cNvPr id="17" name="u01_asset_credit_35">
            <a:extLst>
              <a:ext uri="{FF2B5EF4-FFF2-40B4-BE49-F238E27FC236}">
                <a16:creationId xmlns:a16="http://schemas.microsoft.com/office/drawing/2014/main" id="{07EEDCFD-7E9E-4FE5-BBA9-43E9E37DB720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U01-CH011 · Elaboración propia a partir del TikZ del libro.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9D1FB212-739E-4ADF-8A32-BF1384D5E0F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B04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Números, prefijos y dimensiones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verificamos si un resultado puede ser físicamente razonable?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B04</a:t>
            </a:r>
          </a:p>
        </p:txBody>
      </p:sp>
      <p:pic>
        <p:nvPicPr>
          <p:cNvPr id="14" name="Imagen 13" descr="El mismo valor de presión aparece escrito como decimal y como potencia de diez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72375" y="1952625"/>
            <a:ext cx="3524250" cy="1981200"/>
          </a:xfrm>
          <a:prstGeom prst="rect">
            <a:avLst/>
          </a:prstGeom>
        </p:spPr>
      </p:pic>
      <p:sp>
        <p:nvSpPr>
          <p:cNvPr id="7" name="u01_asset_credit_36">
            <a:extLst>
              <a:ext uri="{FF2B5EF4-FFF2-40B4-BE49-F238E27FC236}">
                <a16:creationId xmlns:a16="http://schemas.microsoft.com/office/drawing/2014/main" id="{02424621-E2F9-4388-977D-47000088E733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U01-CH012 · Elaboración propia a partir del ejemplo del libro.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3011FCA6-156B-4957-AD5B-2D17E09350F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E53D2C-23E7-4DBD-B89D-81046F3B448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EXPLICACIÓN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AF5D137-FCD5-404C-913A-9A935F13C6D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forma compacta de escribir órdenes de magnitud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75E395-696E-461D-BF12-7E67C501C13F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5810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Coeficiente y potencia de diez.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5BD961D7-3DEF-45F8-85DC-64A8E85866A9}"/>
              </a:ext>
            </a:extLst>
          </p:cNvPr>
          <p:cNvSpPr>
            <a:spLocks noGrp="1"/>
          </p:cNvSpPr>
          <p:nvPr/>
        </p:nvSpPr>
        <p:spPr>
          <a:xfrm>
            <a:off x="990600" y="30765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4D72AEC3-E43B-48EF-B82D-35AD60D01CD8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a × 10ⁿ, el coeficiente cumple 1 ≤ |a| &lt; 10.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71265940-F7B0-4B41-8D54-17F3BC649256}"/>
              </a:ext>
            </a:extLst>
          </p:cNvPr>
          <p:cNvSpPr>
            <a:spLocks noGrp="1"/>
          </p:cNvSpPr>
          <p:nvPr/>
        </p:nvSpPr>
        <p:spPr>
          <a:xfrm>
            <a:off x="990600" y="37814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5D90329-16B1-4B40-849E-B45114499DBC}"/>
              </a:ext>
            </a:extLst>
          </p:cNvPr>
          <p:cNvSpPr>
            <a:spLocks noGrp="1"/>
          </p:cNvSpPr>
          <p:nvPr/>
        </p:nvSpPr>
        <p:spPr>
          <a:xfrm>
            <a:off x="1257300" y="365760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 exponente n indica cuántos lugares se desplaza la coma decimal.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FCF02A84-B9CB-4F5B-AD56-C14DA372DB43}"/>
              </a:ext>
            </a:extLst>
          </p:cNvPr>
          <p:cNvSpPr>
            <a:spLocks noGrp="1"/>
          </p:cNvSpPr>
          <p:nvPr/>
        </p:nvSpPr>
        <p:spPr>
          <a:xfrm>
            <a:off x="990600" y="4486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0BC67D56-BD5D-432A-A248-DD0FBF12D029}"/>
              </a:ext>
            </a:extLst>
          </p:cNvPr>
          <p:cNvSpPr>
            <a:spLocks noGrp="1"/>
          </p:cNvSpPr>
          <p:nvPr/>
        </p:nvSpPr>
        <p:spPr>
          <a:xfrm>
            <a:off x="1257300" y="43624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79365"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3500 = 3,5 × 10³; 0,0042 = 4,2 × 10⁻³.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Exponente positivo: valor mayor que 1.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Exponente negativo: valor entre 0 y 1.</a:t>
            </a:r>
          </a:p>
        </p:txBody>
      </p:sp>
      <p:sp>
        <p:nvSpPr>
          <p:cNvPr id="11" name="image_frame_60_40">
            <a:extLst>
              <a:ext uri="{FF2B5EF4-FFF2-40B4-BE49-F238E27FC236}">
                <a16:creationId xmlns:a16="http://schemas.microsoft.com/office/drawing/2014/main" id="{F1D92882-FFEB-4585-860A-DF5A2A02555B}"/>
              </a:ext>
            </a:extLst>
          </p:cNvPr>
          <p:cNvSpPr>
            <a:spLocks noGrp="1"/>
          </p:cNvSpPr>
          <p:nvPr/>
        </p:nvSpPr>
        <p:spPr>
          <a:xfrm>
            <a:off x="7334250" y="1752600"/>
            <a:ext cx="4095750" cy="3124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fa_caption">
            <a:extLst>
              <a:ext uri="{FF2B5EF4-FFF2-40B4-BE49-F238E27FC236}">
                <a16:creationId xmlns:a16="http://schemas.microsoft.com/office/drawing/2014/main" id="{3247F6BB-D9FA-49C9-ACB3-C07890C4CA91}"/>
              </a:ext>
            </a:extLst>
          </p:cNvPr>
          <p:cNvSpPr>
            <a:spLocks noGrp="1"/>
          </p:cNvSpPr>
          <p:nvPr/>
        </p:nvSpPr>
        <p:spPr>
          <a:xfrm>
            <a:off x="7124700" y="4762500"/>
            <a:ext cx="4305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signo del exponente describe la escala; no es un adorno.</a:t>
            </a:r>
          </a:p>
        </p:txBody>
      </p:sp>
      <p:sp>
        <p:nvSpPr>
          <p:cNvPr id="14" name="fa_source">
            <a:extLst>
              <a:ext uri="{FF2B5EF4-FFF2-40B4-BE49-F238E27FC236}">
                <a16:creationId xmlns:a16="http://schemas.microsoft.com/office/drawing/2014/main" id="{FFDE72C3-B756-4744-932A-D6F36A4525F5}"/>
              </a:ext>
            </a:extLst>
          </p:cNvPr>
          <p:cNvSpPr>
            <a:spLocks noGrp="1"/>
          </p:cNvSpPr>
          <p:nvPr/>
        </p:nvSpPr>
        <p:spPr>
          <a:xfrm>
            <a:off x="7334250" y="533400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1" name="Imagen 30" descr="Dos números se transforman en notación científica mediante desplazamientos de la com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24700" y="1714500"/>
            <a:ext cx="4305300" cy="2857500"/>
          </a:xfrm>
          <a:prstGeom prst="rect">
            <a:avLst/>
          </a:prstGeom>
        </p:spPr>
      </p:pic>
      <p:sp>
        <p:nvSpPr>
          <p:cNvPr id="16" name="u01_asset_credit_37">
            <a:extLst>
              <a:ext uri="{FF2B5EF4-FFF2-40B4-BE49-F238E27FC236}">
                <a16:creationId xmlns:a16="http://schemas.microsoft.com/office/drawing/2014/main" id="{F19428E8-4CC5-4CB9-9607-7D6A6F8716DF}"/>
              </a:ext>
            </a:extLst>
          </p:cNvPr>
          <p:cNvSpPr>
            <a:spLocks noGrp="1"/>
          </p:cNvSpPr>
          <p:nvPr/>
        </p:nvSpPr>
        <p:spPr>
          <a:xfrm>
            <a:off x="7334250" y="5810250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U01-CH012 · Elaboración propia a partir del ejemplo del libro.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96D74915-C848-4FAC-8319-DEB2E71A82A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EJEMPLO RESUELTO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Tres escrituras para el mismo valor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0,000020 Pa = 2,0 × 10⁻⁵ Pa = 20 µPa; µ = 10⁻⁶.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20 × 10⁻⁶ Pa = 2,0 × 10⁻⁵ Pa.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pic>
        <p:nvPicPr>
          <p:cNvPr id="42" name="Imagen 41" descr="Tres tarjetas muestran 0,000020 pascales, 2,0 por 10 a la menos 5 pascales y 20 micropascal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0" y="1809750"/>
            <a:ext cx="5905500" cy="3324225"/>
          </a:xfrm>
          <a:prstGeom prst="rect">
            <a:avLst/>
          </a:prstGeom>
        </p:spPr>
      </p:pic>
      <p:sp>
        <p:nvSpPr>
          <p:cNvPr id="21" name="u01_asset_credit_38">
            <a:extLst>
              <a:ext uri="{FF2B5EF4-FFF2-40B4-BE49-F238E27FC236}">
                <a16:creationId xmlns:a16="http://schemas.microsoft.com/office/drawing/2014/main" id="{53469546-8350-4EA6-A97E-A2A604E4691F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U01-CH012 · Elaboración propia a partir del ejemplo del libro.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BBAE4B9B-E154-454A-A18D-72A933C703C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TABLA BREVE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Prefijos que aparecerán con frecuencia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noGrp="1"/>
          </p:cNvSpPr>
          <p:nvPr/>
        </p:nvSpPr>
        <p:spPr>
          <a:xfrm>
            <a:off x="1714500" y="5476875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contexto tipográfico distingue metro m, masa m y prefijo mili m.</a:t>
            </a:r>
          </a:p>
        </p:txBody>
      </p:sp>
      <p:pic>
        <p:nvPicPr>
          <p:cNvPr id="13" name="Imagen 12" descr="Escala horizontal con kilo, unidad, mili y micro ubicados por potencias de diez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71625" y="1476375"/>
            <a:ext cx="9048750" cy="4000500"/>
          </a:xfrm>
          <a:prstGeom prst="rect">
            <a:avLst/>
          </a:prstGeom>
        </p:spPr>
      </p:pic>
      <p:sp>
        <p:nvSpPr>
          <p:cNvPr id="7" name="u01_asset_credit_39">
            <a:extLst>
              <a:ext uri="{FF2B5EF4-FFF2-40B4-BE49-F238E27FC236}">
                <a16:creationId xmlns:a16="http://schemas.microsoft.com/office/drawing/2014/main" id="{84940BD4-3E0A-47FC-85CF-378C6F827A16}"/>
              </a:ext>
            </a:extLst>
          </p:cNvPr>
          <p:cNvSpPr>
            <a:spLocks noGrp="1"/>
          </p:cNvSpPr>
          <p:nvPr/>
        </p:nvSpPr>
        <p:spPr>
          <a:xfrm>
            <a:off x="1190625" y="58102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U01-CH013 · Elaboración propia basada en BIPM.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56F5A39E-8E5F-4C50-8ADC-8C348DD050F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PRÁCTICA ADICIONAL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Más conversiones sin perder la magnitud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Práctica complementaria.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Completar y justificar: 1 s = ___ ms; 1 Pa = ___ µPa; 1 m = ___ mm.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cada caso, escribir el factor usado.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 s = 10³ ms; 1 Pa = 10⁶ µPa; 1 m = 10³ mm.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Convertir cambia la escritura, no la cantidad representada.</a:t>
            </a:r>
          </a:p>
        </p:txBody>
      </p:sp>
      <p:pic>
        <p:nvPicPr>
          <p:cNvPr id="34" name="Imagen 33" descr="Tres equivalencias incompletas entre segundos y milisegundos, pascales y micropascales, metros y milímetro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1952625"/>
            <a:ext cx="4286250" cy="2409825"/>
          </a:xfrm>
          <a:prstGeom prst="rect">
            <a:avLst/>
          </a:prstGeom>
        </p:spPr>
      </p:pic>
      <p:sp>
        <p:nvSpPr>
          <p:cNvPr id="17" name="u01_asset_credit_40">
            <a:extLst>
              <a:ext uri="{FF2B5EF4-FFF2-40B4-BE49-F238E27FC236}">
                <a16:creationId xmlns:a16="http://schemas.microsoft.com/office/drawing/2014/main" id="{23C16FAC-CBA8-45D5-B800-5482FC847C84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U01-CH013 · Elaboración propia basada en BIPM.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0ADD47EA-21F1-47BB-9438-14880B54A29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análisis dimensional detecta errores posibles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4810125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79882"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No se pueden sumar magnitudes de dimensiones incompatibles: m + s carece de significado físico. Una ecuación con dimensiones incompatibles se descarta. Si son compatibles, todavía debemos verificar el modelo.</a:t>
            </a:r>
          </a:p>
          <a:p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Dimensión: tipo físico de una magnitud, expresado con bases como [M], [L] y [T].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“tiempo” calculado en m²/s revela un error.</a:t>
            </a:r>
          </a:p>
        </p:txBody>
      </p:sp>
      <p:pic>
        <p:nvPicPr>
          <p:cNvPr id="20" name="Imagen 19" descr="Un semáforo rechaza metros más segundos y acepta revisar expresiones con dimensiones compatibl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047875"/>
            <a:ext cx="4572000" cy="2571750"/>
          </a:xfrm>
          <a:prstGeom prst="rect">
            <a:avLst/>
          </a:prstGeom>
        </p:spPr>
      </p:pic>
      <p:sp>
        <p:nvSpPr>
          <p:cNvPr id="10" name="u01_asset_credit_41">
            <a:extLst>
              <a:ext uri="{FF2B5EF4-FFF2-40B4-BE49-F238E27FC236}">
                <a16:creationId xmlns:a16="http://schemas.microsoft.com/office/drawing/2014/main" id="{9E327A4E-CC10-4AC9-97C4-50E2F18B8BA8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429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20EE165F-DB48-457B-90E5-98BD5E34C89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PROCESO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Cómo se construye el pascal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unidad final conserva masa, longitud y tiempo.</a:t>
            </a:r>
          </a:p>
        </p:txBody>
      </p:sp>
      <p:pic>
        <p:nvPicPr>
          <p:cNvPr id="50" name="Imagen 49" descr="Cadena de igualdades transforma newton por metro cuadrado en kilogramo por metro y segundo cuadrad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05000" y="1381125"/>
            <a:ext cx="8382000" cy="4000500"/>
          </a:xfrm>
          <a:prstGeom prst="rect">
            <a:avLst/>
          </a:prstGeom>
        </p:spPr>
      </p:pic>
      <p:sp>
        <p:nvSpPr>
          <p:cNvPr id="25" name="u01_asset_credit_42">
            <a:extLst>
              <a:ext uri="{FF2B5EF4-FFF2-40B4-BE49-F238E27FC236}">
                <a16:creationId xmlns:a16="http://schemas.microsoft.com/office/drawing/2014/main" id="{B49D6AF1-40A4-49A0-B5D7-5818FCBD1322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3BD7E1F4-58E3-4C15-BE4D-1C760A29DD3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4424AC9C-8172-42AA-AFFA-680E26F2A76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PREGUNTA/RECAP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F11231E-CA57-4C4A-BF6C-80E9A423249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¿Cuál expresión puede representar un tiempo?</a:t>
            </a:r>
          </a:p>
        </p:txBody>
      </p:sp>
      <p:sp>
        <p:nvSpPr>
          <p:cNvPr id="4" name="question_box_box">
            <a:extLst>
              <a:ext uri="{FF2B5EF4-FFF2-40B4-BE49-F238E27FC236}">
                <a16:creationId xmlns:a16="http://schemas.microsoft.com/office/drawing/2014/main" id="{42C265B0-DFFE-4545-B9EC-4B89A9135CD4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9525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question_box_accent">
            <a:extLst>
              <a:ext uri="{FF2B5EF4-FFF2-40B4-BE49-F238E27FC236}">
                <a16:creationId xmlns:a16="http://schemas.microsoft.com/office/drawing/2014/main" id="{7F97423C-6296-4001-860A-0828E5A2F8F5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66675" cy="2000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question_box_label">
            <a:extLst>
              <a:ext uri="{FF2B5EF4-FFF2-40B4-BE49-F238E27FC236}">
                <a16:creationId xmlns:a16="http://schemas.microsoft.com/office/drawing/2014/main" id="{9A11AF75-B3DD-4CBF-8E24-027C806C5E79}"/>
              </a:ext>
            </a:extLst>
          </p:cNvPr>
          <p:cNvSpPr>
            <a:spLocks noGrp="1"/>
          </p:cNvSpPr>
          <p:nvPr/>
        </p:nvSpPr>
        <p:spPr>
          <a:xfrm>
            <a:off x="1543050" y="2209800"/>
            <a:ext cx="912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PREGUNTA</a:t>
            </a:r>
          </a:p>
        </p:txBody>
      </p:sp>
      <p:sp>
        <p:nvSpPr>
          <p:cNvPr id="7" name="question_box_text">
            <a:extLst>
              <a:ext uri="{FF2B5EF4-FFF2-40B4-BE49-F238E27FC236}">
                <a16:creationId xmlns:a16="http://schemas.microsoft.com/office/drawing/2014/main" id="{E18E7DFC-CE79-4B89-A729-12E587F35D85}"/>
              </a:ext>
            </a:extLst>
          </p:cNvPr>
          <p:cNvSpPr>
            <a:spLocks noGrp="1"/>
          </p:cNvSpPr>
          <p:nvPr/>
        </p:nvSpPr>
        <p:spPr>
          <a:xfrm>
            <a:off x="1543050" y="2524125"/>
            <a:ext cx="4572000" cy="1762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9377"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Datos dimensionales: [d] = L; [c] = L·T⁻¹. Comparar d/c, dc y c/d.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[d/c] = T; [dc] = L²·T⁻¹; [c/d] = T⁻¹.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Elegir la expresión y descartar las otras dos con una razón.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107851-98A8-49EC-A228-4AF96EA485E2}"/>
              </a:ext>
            </a:extLst>
          </p:cNvPr>
          <p:cNvSpPr>
            <a:spLocks noGrp="1"/>
          </p:cNvSpPr>
          <p:nvPr/>
        </p:nvSpPr>
        <p:spPr>
          <a:xfrm>
            <a:off x="2095500" y="4533900"/>
            <a:ext cx="800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Solo d/c tiene dimensión de tiempo.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A53316-7753-4A5C-851A-0105F40BF06F}"/>
              </a:ext>
            </a:extLst>
          </p:cNvPr>
          <p:cNvSpPr>
            <a:spLocks noGrp="1"/>
          </p:cNvSpPr>
          <p:nvPr/>
        </p:nvSpPr>
        <p:spPr>
          <a:xfrm>
            <a:off x="4495800" y="533400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22" name="Imagen 21" descr="Tres expresiones se comparan dimensionalmente; d sobre c queda marcada como tiemp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0" y="1952625"/>
            <a:ext cx="4762500" cy="2676525"/>
          </a:xfrm>
          <a:prstGeom prst="rect">
            <a:avLst/>
          </a:prstGeom>
        </p:spPr>
      </p:pic>
      <p:sp>
        <p:nvSpPr>
          <p:cNvPr id="11" name="u01_asset_credit_43">
            <a:extLst>
              <a:ext uri="{FF2B5EF4-FFF2-40B4-BE49-F238E27FC236}">
                <a16:creationId xmlns:a16="http://schemas.microsoft.com/office/drawing/2014/main" id="{CC285611-3FAF-4EF8-8256-62F19A672704}"/>
              </a:ext>
            </a:extLst>
          </p:cNvPr>
          <p:cNvSpPr>
            <a:spLocks noGrp="1"/>
          </p:cNvSpPr>
          <p:nvPr/>
        </p:nvSpPr>
        <p:spPr>
          <a:xfrm>
            <a:off x="6477000" y="581025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  <p:sp>
        <p:nvSpPr>
          <p:cNvPr id="13" name="fa_slide_number_local">
            <a:extLst>
              <a:ext uri="{FF2B5EF4-FFF2-40B4-BE49-F238E27FC236}">
                <a16:creationId xmlns:a16="http://schemas.microsoft.com/office/drawing/2014/main" id="{36BC8EF4-7DB2-455C-8E6C-3F2AA0E70E9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B05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funciones expresan dependencias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se relacionan una entrada y una salida?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B05</a:t>
            </a:r>
          </a:p>
        </p:txBody>
      </p:sp>
      <p:pic>
        <p:nvPicPr>
          <p:cNvPr id="14" name="Imagen 13" descr="Una variable entra a una regla y produce una salid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72375" y="1952625"/>
            <a:ext cx="3524250" cy="1981200"/>
          </a:xfrm>
          <a:prstGeom prst="rect">
            <a:avLst/>
          </a:prstGeom>
        </p:spPr>
      </p:pic>
      <p:sp>
        <p:nvSpPr>
          <p:cNvPr id="7" name="u01_asset_credit_44">
            <a:extLst>
              <a:ext uri="{FF2B5EF4-FFF2-40B4-BE49-F238E27FC236}">
                <a16:creationId xmlns:a16="http://schemas.microsoft.com/office/drawing/2014/main" id="{F85F2BE5-693D-4600-AB17-C57F572161C7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F8C34CB0-ACEF-42F9-A518-08DDC97B5AA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una variable a una función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4810125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2466"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función asigna a cada entrada permitida una única salida. Variable independiente: entrada. Variable dependiente: salida. Dominio: conjunto de entradas admitidas por el modelo.</a:t>
            </a:r>
          </a:p>
          <a:p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y = f(x).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Si f(x)=2x, la entrada 3 produce la salida 6.</a:t>
            </a:r>
          </a:p>
        </p:txBody>
      </p:sp>
      <p:pic>
        <p:nvPicPr>
          <p:cNvPr id="20" name="Imagen 19" descr="Diagrama que etiqueta x como entrada, f como regla e y como salida, con un dominio indicad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047875"/>
            <a:ext cx="4572000" cy="2571750"/>
          </a:xfrm>
          <a:prstGeom prst="rect">
            <a:avLst/>
          </a:prstGeom>
        </p:spPr>
      </p:pic>
      <p:sp>
        <p:nvSpPr>
          <p:cNvPr id="10" name="u01_asset_credit_45">
            <a:extLst>
              <a:ext uri="{FF2B5EF4-FFF2-40B4-BE49-F238E27FC236}">
                <a16:creationId xmlns:a16="http://schemas.microsoft.com/office/drawing/2014/main" id="{E00A3D27-91F6-497E-80EE-5132512568E7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429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9AEEC7CD-3E42-42A3-BE65-A48574C84AC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Tabla, ecuación y gráfico cuentan la misma relación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Cambiar de representación no cambia la relación.</a:t>
            </a:r>
          </a:p>
        </p:txBody>
      </p:sp>
      <p:pic>
        <p:nvPicPr>
          <p:cNvPr id="32" name="Imagen 31" descr="Una tabla, la ecuación d de t igual a 4t y una recta representan los mismos dato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46">
            <a:extLst>
              <a:ext uri="{FF2B5EF4-FFF2-40B4-BE49-F238E27FC236}">
                <a16:creationId xmlns:a16="http://schemas.microsoft.com/office/drawing/2014/main" id="{6D364C40-8737-4618-8D20-BC393C598650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U01-CH015 · Elaboración propia; datos matemáticos exactos.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82A37EBB-27C9-4A35-8582-D53B3C54F56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GRÁFICO/ECUACIÓN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Distancia como función del tiempo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Si c es constante, incrementos iguales de tiempo producen incrementos iguales de distancia. El modelo físico usa t ≥ 0.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d(t) = ct; d: distancia (m); t: tiempo (s); c: rapidez constante (m/s).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pendiente representa “metros por segundo”.</a:t>
            </a:r>
          </a:p>
        </p:txBody>
      </p:sp>
      <p:pic>
        <p:nvPicPr>
          <p:cNvPr id="29" name="Imagen 28" descr="Gráfico lineal de distancia en metros frente a tiempo en segundos para rapidez constante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47">
            <a:extLst>
              <a:ext uri="{FF2B5EF4-FFF2-40B4-BE49-F238E27FC236}">
                <a16:creationId xmlns:a16="http://schemas.microsoft.com/office/drawing/2014/main" id="{568D3372-0F83-4577-ADAE-323908D9B883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U01-CH015 · Elaboración propia; datos matemáticos exactos.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0C6A5D02-F60F-49C5-9752-896A8F2E2F5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999AE7C-031A-40CC-8D38-DFB395945F3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PROFUNDIZACIÓN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DF9D910-5745-4BFD-93FA-42C98CB8C841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Dominio e invertibilidad dependen del problema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D6E4ADF-EFBD-403B-B883-4063F106FDDC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57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82826"/>
          </a:bodyPr>
          <a:lstStyle/>
          <a:p>
            <a:pPr algn="l">
              <a:buNone/>
              <a:defRPr sz="1575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Restringir el dominio puede representar mejor la situación física.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D98AC48-FA46-4ECA-9AE0-4DA44677F017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4572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inversa solo existe si cada salida corresponde a una única entrada dentro del dominio elegido.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C2068B2-BB81-496C-8367-0A047CAC6565}"/>
              </a:ext>
            </a:extLst>
          </p:cNvPr>
          <p:cNvSpPr>
            <a:spLocks noGrp="1"/>
          </p:cNvSpPr>
          <p:nvPr/>
        </p:nvSpPr>
        <p:spPr>
          <a:xfrm>
            <a:off x="6591300" y="1847850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832A284-7A35-4662-B32C-05F9BE4EAE27}"/>
              </a:ext>
            </a:extLst>
          </p:cNvPr>
          <p:cNvSpPr>
            <a:spLocks noGrp="1"/>
          </p:cNvSpPr>
          <p:nvPr/>
        </p:nvSpPr>
        <p:spPr>
          <a:xfrm>
            <a:off x="6591300" y="2476500"/>
            <a:ext cx="4572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lumns_divider">
            <a:extLst>
              <a:ext uri="{FF2B5EF4-FFF2-40B4-BE49-F238E27FC236}">
                <a16:creationId xmlns:a16="http://schemas.microsoft.com/office/drawing/2014/main" id="{EF0A9EF8-2501-4578-BF94-30BBFFF3B31D}"/>
              </a:ext>
            </a:extLst>
          </p:cNvPr>
          <p:cNvSpPr>
            <a:spLocks noGrp="1"/>
          </p:cNvSpPr>
          <p:nvPr/>
        </p:nvSpPr>
        <p:spPr>
          <a:xfrm>
            <a:off x="6076950" y="1885950"/>
            <a:ext cx="19050" cy="3048000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columns_recap_box">
            <a:extLst>
              <a:ext uri="{FF2B5EF4-FFF2-40B4-BE49-F238E27FC236}">
                <a16:creationId xmlns:a16="http://schemas.microsoft.com/office/drawing/2014/main" id="{F03D0601-51A2-4588-A7B1-7B8F613D1B8B}"/>
              </a:ext>
            </a:extLst>
          </p:cNvPr>
          <p:cNvSpPr>
            <a:spLocks noGrp="1"/>
          </p:cNvSpPr>
          <p:nvPr/>
        </p:nvSpPr>
        <p:spPr>
          <a:xfrm>
            <a:off x="2381250" y="4514850"/>
            <a:ext cx="7429500" cy="990600"/>
          </a:xfrm>
          <a:prstGeom prst="roundRect">
            <a:avLst>
              <a:gd name="adj" fmla="val 7692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columns_recap_accent">
            <a:extLst>
              <a:ext uri="{FF2B5EF4-FFF2-40B4-BE49-F238E27FC236}">
                <a16:creationId xmlns:a16="http://schemas.microsoft.com/office/drawing/2014/main" id="{AEF74E48-EE35-459D-B0CA-155AEB5A4448}"/>
              </a:ext>
            </a:extLst>
          </p:cNvPr>
          <p:cNvSpPr>
            <a:spLocks noGrp="1"/>
          </p:cNvSpPr>
          <p:nvPr/>
        </p:nvSpPr>
        <p:spPr>
          <a:xfrm>
            <a:off x="2381250" y="4514850"/>
            <a:ext cx="66675" cy="9906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olumns_recap_label">
            <a:extLst>
              <a:ext uri="{FF2B5EF4-FFF2-40B4-BE49-F238E27FC236}">
                <a16:creationId xmlns:a16="http://schemas.microsoft.com/office/drawing/2014/main" id="{07201F7A-8C59-4F48-A489-9C2180365238}"/>
              </a:ext>
            </a:extLst>
          </p:cNvPr>
          <p:cNvSpPr>
            <a:spLocks noGrp="1"/>
          </p:cNvSpPr>
          <p:nvPr/>
        </p:nvSpPr>
        <p:spPr>
          <a:xfrm>
            <a:off x="2590800" y="4648200"/>
            <a:ext cx="7029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CRITERIO</a:t>
            </a:r>
          </a:p>
        </p:txBody>
      </p:sp>
      <p:sp>
        <p:nvSpPr>
          <p:cNvPr id="12" name="columns_recap_text">
            <a:extLst>
              <a:ext uri="{FF2B5EF4-FFF2-40B4-BE49-F238E27FC236}">
                <a16:creationId xmlns:a16="http://schemas.microsoft.com/office/drawing/2014/main" id="{84EEEAB0-2542-4BB1-87D6-1B13121CC2E1}"/>
              </a:ext>
            </a:extLst>
          </p:cNvPr>
          <p:cNvSpPr>
            <a:spLocks noGrp="1"/>
          </p:cNvSpPr>
          <p:nvPr/>
        </p:nvSpPr>
        <p:spPr>
          <a:xfrm>
            <a:off x="2590800" y="4886325"/>
            <a:ext cx="7029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Slide complementaria sobre dominio e invertibilidad.</a:t>
            </a:r>
          </a:p>
        </p:txBody>
      </p:sp>
      <p:pic>
        <p:nvPicPr>
          <p:cNvPr id="28" name="Imagen 27" descr="Un diagrama unívoco se compara con otro donde dos entradas producen la misma salid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62750" y="1952625"/>
            <a:ext cx="4286250" cy="2409825"/>
          </a:xfrm>
          <a:prstGeom prst="rect">
            <a:avLst/>
          </a:prstGeom>
        </p:spPr>
      </p:pic>
      <p:sp>
        <p:nvSpPr>
          <p:cNvPr id="14" name="u01_asset_credit_48">
            <a:extLst>
              <a:ext uri="{FF2B5EF4-FFF2-40B4-BE49-F238E27FC236}">
                <a16:creationId xmlns:a16="http://schemas.microsoft.com/office/drawing/2014/main" id="{E9BB1CA8-8A12-4C6F-B0F9-D96BC6780392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16" name="fa_slide_number_local">
            <a:extLst>
              <a:ext uri="{FF2B5EF4-FFF2-40B4-BE49-F238E27FC236}">
                <a16:creationId xmlns:a16="http://schemas.microsoft.com/office/drawing/2014/main" id="{67E4951F-75A2-4521-8C91-01422F6197D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6511978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DEFINICIÓN/PREGUNTA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función inversa recupera la entrada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inversa responde qué entrada produjo una salida conocida.</a:t>
            </a:r>
          </a:p>
        </p:txBody>
      </p:sp>
      <p:pic>
        <p:nvPicPr>
          <p:cNvPr id="50" name="Imagen 49" descr="El tiempo entra y la distancia sale en la función directa; en la inversa, la distancia entra y el tiempo sale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05000" y="1381125"/>
            <a:ext cx="8382000" cy="4000500"/>
          </a:xfrm>
          <a:prstGeom prst="rect">
            <a:avLst/>
          </a:prstGeom>
        </p:spPr>
      </p:pic>
      <p:sp>
        <p:nvSpPr>
          <p:cNvPr id="25" name="u01_asset_credit_49">
            <a:extLst>
              <a:ext uri="{FF2B5EF4-FFF2-40B4-BE49-F238E27FC236}">
                <a16:creationId xmlns:a16="http://schemas.microsoft.com/office/drawing/2014/main" id="{127A00E4-591D-4881-B9FD-8E56E638825E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C0D86703-73CC-495F-9F32-46E12A338BE1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ECUACIÓN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d(t)=ct a t(d)=d/c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Directa: d(t)=ct.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Inversa: t(d)=d/c. Unidades: (m)/(m/s)=s.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0" name="Imagen 29" descr="Dos cajas muestran d de t igual a c por t y t de d igual a d dividido c, conectadas en sentidos opuesto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3476625"/>
            <a:ext cx="6096000" cy="2381250"/>
          </a:xfrm>
          <a:prstGeom prst="rect">
            <a:avLst/>
          </a:prstGeom>
        </p:spPr>
      </p:pic>
      <p:sp>
        <p:nvSpPr>
          <p:cNvPr id="15" name="u01_asset_credit_50">
            <a:extLst>
              <a:ext uri="{FF2B5EF4-FFF2-40B4-BE49-F238E27FC236}">
                <a16:creationId xmlns:a16="http://schemas.microsoft.com/office/drawing/2014/main" id="{3152D73B-4C2D-43F5-93D4-377B697CA5DB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DDCCD633-E6B5-480C-9ED7-377E9DD99BB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EJEMPLO ADICIONAL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Ida y vuelta con d(t)=4,0t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d(3 s)=(4,0 m/s)(3 s)=12 m; t(20 m)=20 m/(4,0 m/s)=5 s.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Comprobar cada resultado aplicando la operación inversa.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pic>
        <p:nvPicPr>
          <p:cNvPr id="42" name="Imagen 41" descr="Dos caminos calculan distancia desde tiempo y tiempo desde distancia, con resultados 12 metros y 5 segundo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0" y="1809750"/>
            <a:ext cx="5905500" cy="3324225"/>
          </a:xfrm>
          <a:prstGeom prst="rect">
            <a:avLst/>
          </a:prstGeom>
        </p:spPr>
      </p:pic>
      <p:sp>
        <p:nvSpPr>
          <p:cNvPr id="21" name="u01_asset_credit_51">
            <a:extLst>
              <a:ext uri="{FF2B5EF4-FFF2-40B4-BE49-F238E27FC236}">
                <a16:creationId xmlns:a16="http://schemas.microsoft.com/office/drawing/2014/main" id="{08D012BE-AC7C-468D-B332-5FEDB65E1751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4E833A1C-1AD8-4DA7-ADC2-D776F4565AC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ERROR FRECUENTE/RECAP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Inversa no significa recíproco</a:t>
            </a:r>
          </a:p>
        </p:txBody>
      </p:sp>
      <p:sp>
        <p:nvSpPr>
          <p:cNvPr id="4" name="frequent_error_box">
            <a:extLst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5238750" cy="1524000"/>
          </a:xfrm>
          <a:prstGeom prst="roundRect">
            <a:avLst>
              <a:gd name="adj" fmla="val 5000"/>
            </a:avLst>
          </a:prstGeom>
          <a:solidFill>
            <a:srgbClr val="F8E8E8"/>
          </a:solidFill>
          <a:ln w="14288">
            <a:solidFill>
              <a:srgbClr val="A3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frequent_error_accent">
            <a:extLst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66675" cy="1524000"/>
          </a:xfrm>
          <a:prstGeom prst="rect">
            <a:avLst/>
          </a:prstGeom>
          <a:solidFill>
            <a:srgbClr val="A33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requent_error_label">
            <a:extLst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988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CONFUSIÓN</a:t>
            </a:r>
          </a:p>
        </p:txBody>
      </p:sp>
      <p:sp>
        <p:nvSpPr>
          <p:cNvPr id="7" name="frequent_error_text">
            <a:extLst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noGrp="1"/>
          </p:cNvSpPr>
          <p:nvPr/>
        </p:nvSpPr>
        <p:spPr>
          <a:xfrm>
            <a:off x="1162050" y="2276475"/>
            <a:ext cx="4762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Para f(x)=2x: la inversa es f⁻¹(x)=x/2; el recíproco es 1/f(x)=1/(2x), con x ≠ 0.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Comprobación: f(f⁻¹(x)) = 2(x/2)=x.</a:t>
            </a:r>
          </a:p>
        </p:txBody>
      </p:sp>
      <p:sp>
        <p:nvSpPr>
          <p:cNvPr id="8" name="error_correction_box">
            <a:extLst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5048250" cy="1695450"/>
          </a:xfrm>
          <a:prstGeom prst="roundRect">
            <a:avLst>
              <a:gd name="adj" fmla="val 4494"/>
            </a:avLst>
          </a:prstGeom>
          <a:solidFill>
            <a:srgbClr val="EAF2EE"/>
          </a:solidFill>
          <a:ln w="14288">
            <a:solidFill>
              <a:srgbClr val="2F6F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rror_correction_accent">
            <a:extLst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66675" cy="1695450"/>
          </a:xfrm>
          <a:prstGeom prst="rect">
            <a:avLst/>
          </a:prstGeom>
          <a:solidFill>
            <a:srgbClr val="2F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rror_correction_label">
            <a:extLst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950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noGrp="1"/>
          </p:cNvSpPr>
          <p:nvPr/>
        </p:nvSpPr>
        <p:spPr>
          <a:xfrm>
            <a:off x="1352550" y="4219575"/>
            <a:ext cx="45720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Explicar la diferencia sin usar solo la forma de los símbolos.</a:t>
            </a:r>
          </a:p>
          <a:p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7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6" name="Imagen 25" descr="Comparación entre función inversa x sobre 2 y recíproco 1 sobre 2x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047875"/>
            <a:ext cx="4667250" cy="2628900"/>
          </a:xfrm>
          <a:prstGeom prst="rect">
            <a:avLst/>
          </a:prstGeom>
        </p:spPr>
      </p:pic>
      <p:sp>
        <p:nvSpPr>
          <p:cNvPr id="13" name="u01_asset_credit_52">
            <a:extLst>
              <a:ext uri="{FF2B5EF4-FFF2-40B4-BE49-F238E27FC236}">
                <a16:creationId xmlns:a16="http://schemas.microsoft.com/office/drawing/2014/main" id="{E603A049-02D6-4F45-BC39-2AFA2C6E584C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U01-CH017 · Elaboración propia.</a:t>
            </a:r>
          </a:p>
        </p:txBody>
      </p:sp>
      <p:sp>
        <p:nvSpPr>
          <p:cNvPr id="15" name="fa_slide_number_local">
            <a:extLst>
              <a:ext uri="{FF2B5EF4-FFF2-40B4-BE49-F238E27FC236}">
                <a16:creationId xmlns:a16="http://schemas.microsoft.com/office/drawing/2014/main" id="{DD5B2C80-EDD3-414D-9AFE-E3DF43256625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B06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Trigonometría: de triángulos a ciclos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conectamos lados, ángulos, proyecciones y vueltas?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B06</a:t>
            </a:r>
          </a:p>
        </p:txBody>
      </p:sp>
      <p:pic>
        <p:nvPicPr>
          <p:cNvPr id="14" name="Imagen 13" descr="Un triángulo rectángulo se conecta visualmente con un círcul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72375" y="1952625"/>
            <a:ext cx="3524250" cy="1981200"/>
          </a:xfrm>
          <a:prstGeom prst="rect">
            <a:avLst/>
          </a:prstGeom>
        </p:spPr>
      </p:pic>
      <p:sp>
        <p:nvSpPr>
          <p:cNvPr id="7" name="u01_asset_credit_53">
            <a:extLst>
              <a:ext uri="{FF2B5EF4-FFF2-40B4-BE49-F238E27FC236}">
                <a16:creationId xmlns:a16="http://schemas.microsoft.com/office/drawing/2014/main" id="{3CD72FA0-9B71-47A2-8310-CC6AD4C5BB4B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622BD605-AFE1-4576-9DBF-B7E9FF20F12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414E8F1-35FC-4A91-B921-595D484EA23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EXPLICACIÓN 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53013AE-3C6C-415F-A2BD-33C7FAA0978D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Opuesto, adyacente e hipotenusa dependen de θ</a:t>
            </a:r>
          </a:p>
        </p:txBody>
      </p:sp>
      <p:sp>
        <p:nvSpPr>
          <p:cNvPr id="4" name="full_visual_axes_x">
            <a:extLst>
              <a:ext uri="{FF2B5EF4-FFF2-40B4-BE49-F238E27FC236}">
                <a16:creationId xmlns:a16="http://schemas.microsoft.com/office/drawing/2014/main" id="{258534DE-7C92-4FDA-B9D1-5D7E541ABA9E}"/>
              </a:ext>
            </a:extLst>
          </p:cNvPr>
          <p:cNvSpPr>
            <a:spLocks noGrp="1"/>
          </p:cNvSpPr>
          <p:nvPr/>
        </p:nvSpPr>
        <p:spPr>
          <a:xfrm>
            <a:off x="1428750" y="3790950"/>
            <a:ext cx="781050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full_visual_axes_y">
            <a:extLst>
              <a:ext uri="{FF2B5EF4-FFF2-40B4-BE49-F238E27FC236}">
                <a16:creationId xmlns:a16="http://schemas.microsoft.com/office/drawing/2014/main" id="{B7771650-E9CA-46CC-A9D8-62E0E0AA82AD}"/>
              </a:ext>
            </a:extLst>
          </p:cNvPr>
          <p:cNvSpPr>
            <a:spLocks noGrp="1"/>
          </p:cNvSpPr>
          <p:nvPr/>
        </p:nvSpPr>
        <p:spPr>
          <a:xfrm>
            <a:off x="2590800" y="1828800"/>
            <a:ext cx="190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ull_visual_wave_1">
            <a:extLst>
              <a:ext uri="{FF2B5EF4-FFF2-40B4-BE49-F238E27FC236}">
                <a16:creationId xmlns:a16="http://schemas.microsoft.com/office/drawing/2014/main" id="{97142848-9E1A-4442-9E94-65F32607F276}"/>
              </a:ext>
            </a:extLst>
          </p:cNvPr>
          <p:cNvSpPr>
            <a:spLocks noGrp="1"/>
          </p:cNvSpPr>
          <p:nvPr/>
        </p:nvSpPr>
        <p:spPr>
          <a:xfrm>
            <a:off x="270510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full_visual_wave_2">
            <a:extLst>
              <a:ext uri="{FF2B5EF4-FFF2-40B4-BE49-F238E27FC236}">
                <a16:creationId xmlns:a16="http://schemas.microsoft.com/office/drawing/2014/main" id="{32014BD9-EFE6-407B-B7F6-1A19B4C5A8AB}"/>
              </a:ext>
            </a:extLst>
          </p:cNvPr>
          <p:cNvSpPr>
            <a:spLocks noGrp="1"/>
          </p:cNvSpPr>
          <p:nvPr/>
        </p:nvSpPr>
        <p:spPr>
          <a:xfrm>
            <a:off x="428625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ull_visual_wave_3">
            <a:extLst>
              <a:ext uri="{FF2B5EF4-FFF2-40B4-BE49-F238E27FC236}">
                <a16:creationId xmlns:a16="http://schemas.microsoft.com/office/drawing/2014/main" id="{5FA52508-FA22-4EAB-82B7-7AA421DF0435}"/>
              </a:ext>
            </a:extLst>
          </p:cNvPr>
          <p:cNvSpPr>
            <a:spLocks noGrp="1"/>
          </p:cNvSpPr>
          <p:nvPr/>
        </p:nvSpPr>
        <p:spPr>
          <a:xfrm>
            <a:off x="586740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full_visual_wave_4">
            <a:extLst>
              <a:ext uri="{FF2B5EF4-FFF2-40B4-BE49-F238E27FC236}">
                <a16:creationId xmlns:a16="http://schemas.microsoft.com/office/drawing/2014/main" id="{0A4511CC-85DA-4BA9-ACBF-968FF644DB5B}"/>
              </a:ext>
            </a:extLst>
          </p:cNvPr>
          <p:cNvSpPr>
            <a:spLocks noGrp="1"/>
          </p:cNvSpPr>
          <p:nvPr/>
        </p:nvSpPr>
        <p:spPr>
          <a:xfrm>
            <a:off x="744855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6757EB9-A05C-416C-BA2E-539D13CA37A9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71ADE96-D2B7-45EA-8BBA-8317134E1FC9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32F0A07-29CF-49F5-9781-FBC4534457EB}"/>
              </a:ext>
            </a:extLst>
          </p:cNvPr>
          <p:cNvSpPr>
            <a:spLocks noGrp="1"/>
          </p:cNvSpPr>
          <p:nvPr/>
        </p:nvSpPr>
        <p:spPr>
          <a:xfrm>
            <a:off x="9448800" y="17716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C9EBF93-9644-491F-B734-0978FC134981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09DB867-EE2D-4BC5-99AA-6EFA53E5778F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6F61426-6CC0-4048-A0E9-97E4C9BF2ECB}"/>
              </a:ext>
            </a:extLst>
          </p:cNvPr>
          <p:cNvSpPr>
            <a:spLocks noGrp="1"/>
          </p:cNvSpPr>
          <p:nvPr/>
        </p:nvSpPr>
        <p:spPr>
          <a:xfrm>
            <a:off x="9448800" y="26289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9E51395-C2F7-41A6-92E2-80DBA13048E2}"/>
              </a:ext>
            </a:extLst>
          </p:cNvPr>
          <p:cNvSpPr>
            <a:spLocks noGrp="1"/>
          </p:cNvSpPr>
          <p:nvPr/>
        </p:nvSpPr>
        <p:spPr>
          <a:xfrm>
            <a:off x="8934450" y="350520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3FACD5E-95D0-4F0B-A626-F4FD3300E3DE}"/>
              </a:ext>
            </a:extLst>
          </p:cNvPr>
          <p:cNvSpPr>
            <a:spLocks noGrp="1"/>
          </p:cNvSpPr>
          <p:nvPr/>
        </p:nvSpPr>
        <p:spPr>
          <a:xfrm>
            <a:off x="8934450" y="35052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FCF20BF-4809-4B4B-BBC4-7A73D344D444}"/>
              </a:ext>
            </a:extLst>
          </p:cNvPr>
          <p:cNvSpPr>
            <a:spLocks noGrp="1"/>
          </p:cNvSpPr>
          <p:nvPr/>
        </p:nvSpPr>
        <p:spPr>
          <a:xfrm>
            <a:off x="9448800" y="34861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E3182C15-3FE6-4327-AB2D-635759AE32F8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0FB094E-95AC-44B2-805F-C2514818AEF8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D4CCEA4-21DE-4D5A-8A44-7DB8D60445FE}"/>
              </a:ext>
            </a:extLst>
          </p:cNvPr>
          <p:cNvSpPr>
            <a:spLocks noGrp="1"/>
          </p:cNvSpPr>
          <p:nvPr/>
        </p:nvSpPr>
        <p:spPr>
          <a:xfrm>
            <a:off x="9448800" y="43434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fa_caption">
            <a:extLst>
              <a:ext uri="{FF2B5EF4-FFF2-40B4-BE49-F238E27FC236}">
                <a16:creationId xmlns:a16="http://schemas.microsoft.com/office/drawing/2014/main" id="{E092FB60-1FA8-431B-9D7B-68DD872F19DB}"/>
              </a:ext>
            </a:extLst>
          </p:cNvPr>
          <p:cNvSpPr>
            <a:spLocks noGrp="1"/>
          </p:cNvSpPr>
          <p:nvPr/>
        </p:nvSpPr>
        <p:spPr>
          <a:xfrm>
            <a:off x="1619250" y="5334000"/>
            <a:ext cx="895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etiquetas se definen respecto del ángulo elegido.</a:t>
            </a:r>
          </a:p>
        </p:txBody>
      </p:sp>
      <p:pic>
        <p:nvPicPr>
          <p:cNvPr id="48" name="Imagen 47" descr="Triángulo rectángulo con theta y sus lados hipotenusa, opuesto y adyacente correctamente rotulado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86000" y="1524000"/>
            <a:ext cx="7620000" cy="4286250"/>
          </a:xfrm>
          <a:prstGeom prst="rect">
            <a:avLst/>
          </a:prstGeom>
        </p:spPr>
      </p:pic>
      <p:sp>
        <p:nvSpPr>
          <p:cNvPr id="24" name="u01_asset_credit_54">
            <a:extLst>
              <a:ext uri="{FF2B5EF4-FFF2-40B4-BE49-F238E27FC236}">
                <a16:creationId xmlns:a16="http://schemas.microsoft.com/office/drawing/2014/main" id="{8B7BF51D-C793-42F7-8B58-26CAA1DDC9F1}"/>
              </a:ext>
            </a:extLst>
          </p:cNvPr>
          <p:cNvSpPr>
            <a:spLocks noGrp="1"/>
          </p:cNvSpPr>
          <p:nvPr/>
        </p:nvSpPr>
        <p:spPr>
          <a:xfrm>
            <a:off x="1381125" y="5810250"/>
            <a:ext cx="9429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6" name="fa_slide_number_local">
            <a:extLst>
              <a:ext uri="{FF2B5EF4-FFF2-40B4-BE49-F238E27FC236}">
                <a16:creationId xmlns:a16="http://schemas.microsoft.com/office/drawing/2014/main" id="{2A6C8F87-10F2-4D49-9231-BA740A98420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ECUACIÓN/EXPLICACIÓN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Seno, coseno y tangente son razones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84825"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sin θ = opuesto/hipotenusa; cos θ = adyacente/hipotenusa; tan θ = opuesto/adyacente.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Las longitudes deben expresarse en unidades compatibles. Al dividirlas, las unidades se cancelan: las razones trigonométricas son adimensionales.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0" name="Imagen 29" descr="Un mismo triángulo muestra qué lados forman seno, coseno y tangente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3476625"/>
            <a:ext cx="6096000" cy="2381250"/>
          </a:xfrm>
          <a:prstGeom prst="rect">
            <a:avLst/>
          </a:prstGeom>
        </p:spPr>
      </p:pic>
      <p:sp>
        <p:nvSpPr>
          <p:cNvPr id="15" name="u01_asset_credit_55">
            <a:extLst>
              <a:ext uri="{FF2B5EF4-FFF2-40B4-BE49-F238E27FC236}">
                <a16:creationId xmlns:a16="http://schemas.microsoft.com/office/drawing/2014/main" id="{A0032D81-7FF3-409F-B6F6-0AD35339F1CA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195A6999-62B4-4D61-9B7B-440433BF681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EJEMPLO RESUELTO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triángulo 3–4–5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sin θ = 3/5 = 0,6; cos θ = 4/5 = 0,8; tan θ = 3/4 = 0,75.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¿Cuál razón esperaban que fuera mayor: seno o coseno?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pic>
        <p:nvPicPr>
          <p:cNvPr id="42" name="Imagen 41" descr="Triángulo rectángulo 3–4–5 con theta y cálculos de seno, coseno y tangente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0" y="1809750"/>
            <a:ext cx="5905500" cy="3324225"/>
          </a:xfrm>
          <a:prstGeom prst="rect">
            <a:avLst/>
          </a:prstGeom>
        </p:spPr>
      </p:pic>
      <p:sp>
        <p:nvSpPr>
          <p:cNvPr id="21" name="u01_asset_credit_56">
            <a:extLst>
              <a:ext uri="{FF2B5EF4-FFF2-40B4-BE49-F238E27FC236}">
                <a16:creationId xmlns:a16="http://schemas.microsoft.com/office/drawing/2014/main" id="{BCF3DE92-B042-4FFF-846D-17D3C864C241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D1B1092F-3E30-4D3F-9DB5-9516CD9E9BB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MINI EJERCICIO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razón permite hallar el lado?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Elegir antes de usar la calculadora.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Se conoce la hipotenusa y el lado adyacente a θ; se busca el opuesto.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¿Conviene seno, coseno o tangente?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Elegir una razón que contenga el dato conocido y la incógnita.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selección razonada es más importante que el cálculo numérico.</a:t>
            </a:r>
          </a:p>
        </p:txBody>
      </p:sp>
      <p:pic>
        <p:nvPicPr>
          <p:cNvPr id="34" name="Imagen 33" descr="Triángulo rectángulo con hipotenusa y adyacente conocidos, lado opuesto oculto y tres opciones trigonométrica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1952625"/>
            <a:ext cx="4286250" cy="2409825"/>
          </a:xfrm>
          <a:prstGeom prst="rect">
            <a:avLst/>
          </a:prstGeom>
        </p:spPr>
      </p:pic>
      <p:sp>
        <p:nvSpPr>
          <p:cNvPr id="17" name="u01_asset_credit_57">
            <a:extLst>
              <a:ext uri="{FF2B5EF4-FFF2-40B4-BE49-F238E27FC236}">
                <a16:creationId xmlns:a16="http://schemas.microsoft.com/office/drawing/2014/main" id="{C5477254-107B-43B0-8922-7F18903C28E4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C1B785F3-8101-4B96-B764-B367478DC06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AMPLIACIÓN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Ángulos mayores que una vuelta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585° = 225° + 360°. Ambos terminan con la misma orientación, pero 585° incluye una vuelta adicional.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Ángulos que difieren en 360° son coterminales.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82203"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 para preparar periodicidad y fase acumulada.</a:t>
            </a:r>
          </a:p>
        </p:txBody>
      </p:sp>
      <p:pic>
        <p:nvPicPr>
          <p:cNvPr id="29" name="Imagen 28" descr="Dos recorridos circulares terminan en la misma orientación; uno da una vuelta má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58">
            <a:extLst>
              <a:ext uri="{FF2B5EF4-FFF2-40B4-BE49-F238E27FC236}">
                <a16:creationId xmlns:a16="http://schemas.microsoft.com/office/drawing/2014/main" id="{E3E1EF9F-9DE6-4D3D-BEFB-866DBA08022B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4D58FEE5-B2FF-4BCB-B656-8C618C5A2F7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PRÁCTICA ADICIONAL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Convertir grados y radianes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Práctica complementaria.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vuelta completa: 360° = 2π rad.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Completar: 90° = ___ rad; 180° = ___ rad; 225° = ___ rad.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θ_rad = θ_grados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equivalencia expresa el mismo giro con dos unidades angulares.</a:t>
            </a:r>
          </a:p>
        </p:txBody>
      </p:sp>
      <p:pic>
        <p:nvPicPr>
          <p:cNvPr id="34" name="Imagen 33" descr="Arco circular con marcas de grados y radianes y tres conversiones incompleta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1952625"/>
            <a:ext cx="4286250" cy="2409825"/>
          </a:xfrm>
          <a:prstGeom prst="rect">
            <a:avLst/>
          </a:prstGeom>
        </p:spPr>
      </p:pic>
      <p:sp>
        <p:nvSpPr>
          <p:cNvPr id="17" name="u01_asset_credit_59">
            <a:extLst>
              <a:ext uri="{FF2B5EF4-FFF2-40B4-BE49-F238E27FC236}">
                <a16:creationId xmlns:a16="http://schemas.microsoft.com/office/drawing/2014/main" id="{6F339631-B31B-4BFD-998C-53C82FBA8E57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8AECAC5F-59B1-4B32-A727-7BC7185FEAF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GRÁFICO EXPLICATIVO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radián conecta arco, ángulo y ciclo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un círculo de radio 1, la coordenada horizontal es cos θ y la vertical es sin θ. Una vuelta completa corresponde a 2π rad.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Punto del círculo: (cos θ, sin θ); 360° = 2π rad.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94409"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círculo extiende las razones más allá del triángulo inicial.</a:t>
            </a:r>
          </a:p>
        </p:txBody>
      </p:sp>
      <p:pic>
        <p:nvPicPr>
          <p:cNvPr id="29" name="Imagen 28" descr="Círculo unitario con ángulo theta, arco y proyecciones horizontal coseno y vertical sen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60">
            <a:extLst>
              <a:ext uri="{FF2B5EF4-FFF2-40B4-BE49-F238E27FC236}">
                <a16:creationId xmlns:a16="http://schemas.microsoft.com/office/drawing/2014/main" id="{C59E43FE-6A97-4D46-9A12-B539E3F5609B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C3278450-A8F7-4FF1-B620-D75E0D09C98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RECAPITULACIÓN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cociente al ciclo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Seno, coseno y tangente son cocientes adimensionales.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 razón elegida depende del lado conocido y del lado buscado.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360° y 2π rad representan una vuelta completa.</a:t>
            </a:r>
          </a:p>
        </p:txBody>
      </p:sp>
      <p:sp>
        <p:nvSpPr>
          <p:cNvPr id="10" name="bullet_4">
            <a:extLst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bullet_text_4">
            <a:extLst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 círculo unitario prepara la lectura de ciclos y fase.</a:t>
            </a:r>
          </a:p>
        </p:txBody>
      </p:sp>
      <p:sp>
        <p:nvSpPr>
          <p:cNvPr id="12" name="mini_recap_box">
            <a:extLst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mini_recap_accent">
            <a:extLst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66675" cy="2381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ini_recap_label">
            <a:extLst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02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COMPROBACIÓN</a:t>
            </a:r>
          </a:p>
        </p:txBody>
      </p:sp>
      <p:sp>
        <p:nvSpPr>
          <p:cNvPr id="15" name="mini_recap_text">
            <a:extLst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noGrp="1"/>
          </p:cNvSpPr>
          <p:nvPr/>
        </p:nvSpPr>
        <p:spPr>
          <a:xfrm>
            <a:off x="8210550" y="2524125"/>
            <a:ext cx="30289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Explicar qué idea permanece y qué representación cambia.</a:t>
            </a:r>
          </a:p>
        </p:txBody>
      </p:sp>
      <p:pic>
        <p:nvPicPr>
          <p:cNvPr id="34" name="Imagen 33" descr="Secuencia visual desde un triángulo rectángulo hasta un círculo unitario y una curva senoidal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15125" y="2190750"/>
            <a:ext cx="4524375" cy="2543175"/>
          </a:xfrm>
          <a:prstGeom prst="rect">
            <a:avLst/>
          </a:prstGeom>
        </p:spPr>
      </p:pic>
      <p:sp>
        <p:nvSpPr>
          <p:cNvPr id="17" name="u01_asset_credit_61">
            <a:extLst>
              <a:ext uri="{FF2B5EF4-FFF2-40B4-BE49-F238E27FC236}">
                <a16:creationId xmlns:a16="http://schemas.microsoft.com/office/drawing/2014/main" id="{52166C54-5768-40B9-91B5-8B03EB0814E4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13C32BAF-ED7F-4BA7-9F47-540392224ED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B07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Exponenciales, logaritmos y comparaciones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describimos cambios multiplicativos y rangos amplios?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B07</a:t>
            </a:r>
          </a:p>
        </p:txBody>
      </p:sp>
      <p:pic>
        <p:nvPicPr>
          <p:cNvPr id="14" name="Imagen 13" descr="Los números 1, 10, 100 y 1000 aparecen conectados por multiplicaciones por diez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72375" y="1952625"/>
            <a:ext cx="3524250" cy="1981200"/>
          </a:xfrm>
          <a:prstGeom prst="rect">
            <a:avLst/>
          </a:prstGeom>
        </p:spPr>
      </p:pic>
      <p:sp>
        <p:nvSpPr>
          <p:cNvPr id="7" name="u01_asset_credit_62">
            <a:extLst>
              <a:ext uri="{FF2B5EF4-FFF2-40B4-BE49-F238E27FC236}">
                <a16:creationId xmlns:a16="http://schemas.microsoft.com/office/drawing/2014/main" id="{FD56FDBE-6EC2-42C7-AE2A-51441EDAFA2A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7B272297-7092-49DD-BB93-C3967A4CBAF2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RECUPERACIÓN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Potencias de diez que conviene tener a mano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noGrp="1"/>
          </p:cNvSpPr>
          <p:nvPr/>
        </p:nvSpPr>
        <p:spPr>
          <a:xfrm>
            <a:off x="1714500" y="5476875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Mantener visible durante los primeros ejercicios si es necesario.</a:t>
            </a:r>
          </a:p>
        </p:txBody>
      </p:sp>
      <p:pic>
        <p:nvPicPr>
          <p:cNvPr id="13" name="Imagen 12" descr="Tabla desde diez a la menos tres hasta diez a la tres con sus valores decimal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71625" y="1476375"/>
            <a:ext cx="9048750" cy="4000500"/>
          </a:xfrm>
          <a:prstGeom prst="rect">
            <a:avLst/>
          </a:prstGeom>
        </p:spPr>
      </p:pic>
      <p:sp>
        <p:nvSpPr>
          <p:cNvPr id="7" name="u01_asset_credit_63">
            <a:extLst>
              <a:ext uri="{FF2B5EF4-FFF2-40B4-BE49-F238E27FC236}">
                <a16:creationId xmlns:a16="http://schemas.microsoft.com/office/drawing/2014/main" id="{476AE38A-5EEA-48C0-8C4B-227B6E31D0AB}"/>
              </a:ext>
            </a:extLst>
          </p:cNvPr>
          <p:cNvSpPr>
            <a:spLocks noGrp="1"/>
          </p:cNvSpPr>
          <p:nvPr/>
        </p:nvSpPr>
        <p:spPr>
          <a:xfrm>
            <a:off x="1190625" y="58102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EEF14C62-6366-448E-9783-4B09AF53371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DEFINICIÓN/GRÁFICO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función exponencial cambia por factores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Para base 10, aumentar x en 1 multiplica la salida por 10. El cambio es multiplicativo, no aditivo.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y = aˣ, con a &gt; 0 y a ≠ 1. Ejemplo: y = 10ˣ.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salida permanece positiva.</a:t>
            </a:r>
          </a:p>
        </p:txBody>
      </p:sp>
      <p:pic>
        <p:nvPicPr>
          <p:cNvPr id="29" name="Imagen 28" descr="Tabla de pares y curva creciente para y igual a diez elevado a x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64">
            <a:extLst>
              <a:ext uri="{FF2B5EF4-FFF2-40B4-BE49-F238E27FC236}">
                <a16:creationId xmlns:a16="http://schemas.microsoft.com/office/drawing/2014/main" id="{CE240267-9579-4A5F-AE6B-9B7D97E6349F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7A8B5900-B725-40D9-A902-C8FEFEB4E94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AMPLIACIÓN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Crecimiento y decaimiento dependen de la base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complementaria; no se introduce cálculo diferencial.</a:t>
            </a:r>
          </a:p>
        </p:txBody>
      </p:sp>
      <p:pic>
        <p:nvPicPr>
          <p:cNvPr id="32" name="Imagen 31" descr="Una curva exponencial creciente se compara con otra decreciente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65">
            <a:extLst>
              <a:ext uri="{FF2B5EF4-FFF2-40B4-BE49-F238E27FC236}">
                <a16:creationId xmlns:a16="http://schemas.microsoft.com/office/drawing/2014/main" id="{225B9CCF-7720-4A90-8ED9-5AA42E759816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18EA1CB6-1BA5-4B44-9DB3-D88944BFCA61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logaritmo responde por el exponente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4810125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8928"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Exponencial: “dado el exponente, hallar el resultado”. Logaritmo: “dado el resultado, hallar el exponente”.</a:t>
            </a:r>
          </a:p>
          <a:p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10³ = 1000 ↔ log₁₀(1000) = 3. En general: aˣ = y ↔ log_a(y)=x.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Leer ambas expresiones en voz alta.</a:t>
            </a:r>
          </a:p>
        </p:txBody>
      </p:sp>
      <p:pic>
        <p:nvPicPr>
          <p:cNvPr id="20" name="Imagen 19" descr="La igualdad diez al cubo igual a mil se conecta con logaritmo base diez de mil igual a tr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047875"/>
            <a:ext cx="4572000" cy="2571750"/>
          </a:xfrm>
          <a:prstGeom prst="rect">
            <a:avLst/>
          </a:prstGeom>
        </p:spPr>
      </p:pic>
      <p:sp>
        <p:nvSpPr>
          <p:cNvPr id="10" name="u01_asset_credit_66">
            <a:extLst>
              <a:ext uri="{FF2B5EF4-FFF2-40B4-BE49-F238E27FC236}">
                <a16:creationId xmlns:a16="http://schemas.microsoft.com/office/drawing/2014/main" id="{2AAC29A3-D4DF-475B-86BF-D9DDEA43BAD7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429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4376873C-23DD-40A5-B2FF-062C1F8066F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GRÁFICO COMPARATIVO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Exponencial y logaritmo: ida y vuelta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Los pares entrada–salida se intercambian. La función logarítmica solo admite entradas positivas.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y=10ˣ; y=log₁₀(x); puntos correspondientes: (0,1) ↔ (1,0), (1,10) ↔ (10,1).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79484"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simetría ayuda a visualizar la inversión; no reemplaza su definición.</a:t>
            </a:r>
          </a:p>
        </p:txBody>
      </p:sp>
      <p:pic>
        <p:nvPicPr>
          <p:cNvPr id="29" name="Imagen 28" descr="Curvas exponencial y logarítmica reflejadas respecto de la recta y igual a x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67">
            <a:extLst>
              <a:ext uri="{FF2B5EF4-FFF2-40B4-BE49-F238E27FC236}">
                <a16:creationId xmlns:a16="http://schemas.microsoft.com/office/drawing/2014/main" id="{A0BDC298-4BC6-4775-8444-18B388181521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BA943394-2DB1-4485-A114-50A3B615AA2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ERROR FRECUENTE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logaritmo físico necesita una razón adimensional</a:t>
            </a:r>
          </a:p>
        </p:txBody>
      </p:sp>
      <p:sp>
        <p:nvSpPr>
          <p:cNvPr id="4" name="frequent_error_box">
            <a:extLst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0287000" cy="1524000"/>
          </a:xfrm>
          <a:prstGeom prst="roundRect">
            <a:avLst>
              <a:gd name="adj" fmla="val 5000"/>
            </a:avLst>
          </a:prstGeom>
          <a:solidFill>
            <a:srgbClr val="F8E8E8"/>
          </a:solidFill>
          <a:ln w="14288">
            <a:solidFill>
              <a:srgbClr val="A33A3A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frequent_error_accent">
            <a:extLst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66675" cy="1524000"/>
          </a:xfrm>
          <a:prstGeom prst="rect">
            <a:avLst/>
          </a:prstGeom>
          <a:solidFill>
            <a:srgbClr val="A33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requent_error_label">
            <a:extLst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988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CONFUSIÓN</a:t>
            </a:r>
          </a:p>
        </p:txBody>
      </p:sp>
      <p:sp>
        <p:nvSpPr>
          <p:cNvPr id="7" name="frequent_error_text">
            <a:extLst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noGrp="1"/>
          </p:cNvSpPr>
          <p:nvPr/>
        </p:nvSpPr>
        <p:spPr>
          <a:xfrm>
            <a:off x="1162050" y="2276475"/>
            <a:ext cx="98869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Incorrecto: log(Pa).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Correcto: log(p/p₀), si p y p₀ son magnitudes compatibles.</a:t>
            </a:r>
          </a:p>
        </p:txBody>
      </p:sp>
      <p:sp>
        <p:nvSpPr>
          <p:cNvPr id="8" name="error_correction_box">
            <a:extLst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9906000" cy="1695450"/>
          </a:xfrm>
          <a:prstGeom prst="roundRect">
            <a:avLst>
              <a:gd name="adj" fmla="val 4494"/>
            </a:avLst>
          </a:prstGeom>
          <a:solidFill>
            <a:srgbClr val="EAF2EE"/>
          </a:solidFill>
          <a:ln w="14288">
            <a:solidFill>
              <a:srgbClr val="2F6F55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9" name="error_correction_accent">
            <a:extLst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66675" cy="1695450"/>
          </a:xfrm>
          <a:prstGeom prst="rect">
            <a:avLst/>
          </a:prstGeom>
          <a:solidFill>
            <a:srgbClr val="2F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rror_correction_label">
            <a:extLst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950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noGrp="1"/>
          </p:cNvSpPr>
          <p:nvPr/>
        </p:nvSpPr>
        <p:spPr>
          <a:xfrm>
            <a:off x="1352550" y="4219575"/>
            <a:ext cx="95059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Las unidades se cancelan dentro de la razón.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p/p₀ es una razón adimensional.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Explicar por qué no alcanza escribir “logaritmo de 2 Pa”.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83009F3C-1C59-402C-9DA7-32171B87BD5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COMPARACIÓN 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escalas lineal y logarítmica responden preguntas distintas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escala logarítmica no implica por sí sola una escala perceptual.</a:t>
            </a:r>
          </a:p>
        </p:txBody>
      </p:sp>
      <p:pic>
        <p:nvPicPr>
          <p:cNvPr id="32" name="Imagen 31" descr="Los mismos cuatro valores aparecen comprimidos en un eje lineal y espaciados uniformemente en un eje logarítmic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85295"/>
            <a:ext cx="7715250" cy="4343400"/>
          </a:xfrm>
          <a:prstGeom prst="rect">
            <a:avLst/>
          </a:prstGeom>
        </p:spPr>
      </p:pic>
      <p:sp>
        <p:nvSpPr>
          <p:cNvPr id="16" name="u01_asset_credit_69">
            <a:extLst>
              <a:ext uri="{FF2B5EF4-FFF2-40B4-BE49-F238E27FC236}">
                <a16:creationId xmlns:a16="http://schemas.microsoft.com/office/drawing/2014/main" id="{E095791B-16C7-4AD5-ACB1-722F355FB7D0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U01-CH021 · Elaboración propia a partir del TikZ del libro.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372127A8-03A5-4735-8C01-B3897D4FB23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ECUACIÓN/ANTICIPO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decibel expresa una relación logarítmica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L_Q = 10 log₁₀(Q/Q₀).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Q/Q₀: razón adimensional. L_Q: nivel expresado en dB.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30" name="Imagen 29" descr="Fórmula del nivel como diez por logaritmo base diez de una razón, con la referencia destacad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3476625"/>
            <a:ext cx="6096000" cy="2381250"/>
          </a:xfrm>
          <a:prstGeom prst="rect">
            <a:avLst/>
          </a:prstGeom>
        </p:spPr>
      </p:pic>
      <p:sp>
        <p:nvSpPr>
          <p:cNvPr id="15" name="u01_asset_credit_70">
            <a:extLst>
              <a:ext uri="{FF2B5EF4-FFF2-40B4-BE49-F238E27FC236}">
                <a16:creationId xmlns:a16="http://schemas.microsoft.com/office/drawing/2014/main" id="{FFCCDC69-5B14-40DD-9DD4-E52EC161F2F0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U01-CH022 · Elaboración propia; LQ = 10 log10(Q/Q0).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E81A3160-6E0E-416F-BF86-C298ED1E528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EJEMPLO/RECAP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razón 100 equivale a 20 dB en este modelo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L_Q = 10 log₁₀(100) = 10·2 = 20 dB.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¿Qué información falta si alguien solo informa “20 dB”?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pic>
        <p:nvPicPr>
          <p:cNvPr id="42" name="Imagen 41" descr="Gráfico logarítmico conecta razones 1, 10, 100 y 1000 con niveles 0, 10, 20 y 30 decibel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0" y="1809750"/>
            <a:ext cx="5905500" cy="3324225"/>
          </a:xfrm>
          <a:prstGeom prst="rect">
            <a:avLst/>
          </a:prstGeom>
        </p:spPr>
      </p:pic>
      <p:sp>
        <p:nvSpPr>
          <p:cNvPr id="21" name="u01_asset_credit_71">
            <a:extLst>
              <a:ext uri="{FF2B5EF4-FFF2-40B4-BE49-F238E27FC236}">
                <a16:creationId xmlns:a16="http://schemas.microsoft.com/office/drawing/2014/main" id="{E1083C3B-5293-475D-A954-B8CBE8D1A515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U01-CH022 · Elaboración propia; LQ = 10 log10(Q/Q0).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01DA55B6-04EC-4498-9594-1D78758B8AF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B08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 no es lo mismo que percibir ni diagnosticar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puede concluirse y qué información falta?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B08</a:t>
            </a:r>
          </a:p>
        </p:txBody>
      </p:sp>
      <p:pic>
        <p:nvPicPr>
          <p:cNvPr id="14" name="Imagen 13" descr="Cuatro capas distinguen medición física, nivel referido, percepción y conclusión clínic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72375" y="1952625"/>
            <a:ext cx="3524250" cy="1981200"/>
          </a:xfrm>
          <a:prstGeom prst="rect">
            <a:avLst/>
          </a:prstGeom>
        </p:spPr>
      </p:pic>
      <p:sp>
        <p:nvSpPr>
          <p:cNvPr id="7" name="u01_asset_credit_72">
            <a:extLst>
              <a:ext uri="{FF2B5EF4-FFF2-40B4-BE49-F238E27FC236}">
                <a16:creationId xmlns:a16="http://schemas.microsoft.com/office/drawing/2014/main" id="{A77DE6AB-5F5A-412A-8204-BA42F0E00F91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1B356AB2-49AB-4BA9-9947-B4E5ACFDDCE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niveles de descripción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Se relacionan, pero no son equivalentes.</a:t>
            </a:r>
          </a:p>
        </p:txBody>
      </p:sp>
      <p:pic>
        <p:nvPicPr>
          <p:cNvPr id="32" name="Imagen 31" descr="Matriz con ejemplos de medición física, nivel referido, atributo perceptual y respuest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73">
            <a:extLst>
              <a:ext uri="{FF2B5EF4-FFF2-40B4-BE49-F238E27FC236}">
                <a16:creationId xmlns:a16="http://schemas.microsoft.com/office/drawing/2014/main" id="{9AC263A2-9098-444C-864D-17DF8F81BEF2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41FF2988-14BE-42A9-AB51-B8A0AFAB0CD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ERROR FRECUENTE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Frecuencia y altura tonal están relacionadas, pero no son sinónimos</a:t>
            </a:r>
          </a:p>
        </p:txBody>
      </p:sp>
      <p:sp>
        <p:nvSpPr>
          <p:cNvPr id="4" name="frequent_error_box">
            <a:extLst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5238750" cy="1524000"/>
          </a:xfrm>
          <a:prstGeom prst="roundRect">
            <a:avLst>
              <a:gd name="adj" fmla="val 5000"/>
            </a:avLst>
          </a:prstGeom>
          <a:solidFill>
            <a:srgbClr val="F8E8E8"/>
          </a:solidFill>
          <a:ln w="14288">
            <a:solidFill>
              <a:srgbClr val="A3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frequent_error_accent">
            <a:extLst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66675" cy="1524000"/>
          </a:xfrm>
          <a:prstGeom prst="rect">
            <a:avLst/>
          </a:prstGeom>
          <a:solidFill>
            <a:srgbClr val="A33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requent_error_label">
            <a:extLst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988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CONFUSIÓN</a:t>
            </a:r>
          </a:p>
        </p:txBody>
      </p:sp>
      <p:sp>
        <p:nvSpPr>
          <p:cNvPr id="7" name="frequent_error_text">
            <a:extLst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noGrp="1"/>
          </p:cNvSpPr>
          <p:nvPr/>
        </p:nvSpPr>
        <p:spPr>
          <a:xfrm>
            <a:off x="1162050" y="2276475"/>
            <a:ext cx="4762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Frecuencia f: ciclos por segundo; unidad Hz.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Altura tonal (pitch): experiencia que ordena sonidos de graves a agudos. La relación depende también de periodicidad, espectro y condiciones de escucha.</a:t>
            </a:r>
          </a:p>
        </p:txBody>
      </p:sp>
      <p:sp>
        <p:nvSpPr>
          <p:cNvPr id="8" name="error_correction_box">
            <a:extLst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5048250" cy="1695450"/>
          </a:xfrm>
          <a:prstGeom prst="roundRect">
            <a:avLst>
              <a:gd name="adj" fmla="val 4494"/>
            </a:avLst>
          </a:prstGeom>
          <a:solidFill>
            <a:srgbClr val="EAF2EE"/>
          </a:solidFill>
          <a:ln w="14288">
            <a:solidFill>
              <a:srgbClr val="2F6F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rror_correction_accent">
            <a:extLst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66675" cy="1695450"/>
          </a:xfrm>
          <a:prstGeom prst="rect">
            <a:avLst/>
          </a:prstGeom>
          <a:solidFill>
            <a:srgbClr val="2F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rror_correction_label">
            <a:extLst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950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noGrp="1"/>
          </p:cNvSpPr>
          <p:nvPr/>
        </p:nvSpPr>
        <p:spPr>
          <a:xfrm>
            <a:off x="1352550" y="4219575"/>
            <a:ext cx="45720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 Hz = 1 s⁻¹.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¿“200 Hz” describe una medición o una experiencia?</a:t>
            </a:r>
          </a:p>
        </p:txBody>
      </p:sp>
      <p:pic>
        <p:nvPicPr>
          <p:cNvPr id="26" name="Imagen 25" descr="La frecuencia física en hertz se compara con la altura tonal percibida sin presentarlas como equivalent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047875"/>
            <a:ext cx="4667250" cy="2628900"/>
          </a:xfrm>
          <a:prstGeom prst="rect">
            <a:avLst/>
          </a:prstGeom>
        </p:spPr>
      </p:pic>
      <p:sp>
        <p:nvSpPr>
          <p:cNvPr id="13" name="u01_asset_credit_74">
            <a:extLst>
              <a:ext uri="{FF2B5EF4-FFF2-40B4-BE49-F238E27FC236}">
                <a16:creationId xmlns:a16="http://schemas.microsoft.com/office/drawing/2014/main" id="{8BC24725-7C9A-48A7-8B08-4200B723C5F4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5" name="fa_slide_number_local">
            <a:extLst>
              <a:ext uri="{FF2B5EF4-FFF2-40B4-BE49-F238E27FC236}">
                <a16:creationId xmlns:a16="http://schemas.microsoft.com/office/drawing/2014/main" id="{0C5A3D65-459D-4DB6-A551-5BD85F3ECE6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Amplitud, sonoridad y control de “volumen”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“Volumen” no se usa aquí como sinónimo técnico de sonoridad.</a:t>
            </a:r>
          </a:p>
        </p:txBody>
      </p:sp>
      <p:pic>
        <p:nvPicPr>
          <p:cNvPr id="32" name="Imagen 31" descr="Tres paneles distinguen amplitud de una señal, sonoridad percibida y posición de un control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75">
            <a:extLst>
              <a:ext uri="{FF2B5EF4-FFF2-40B4-BE49-F238E27FC236}">
                <a16:creationId xmlns:a16="http://schemas.microsoft.com/office/drawing/2014/main" id="{56B3D3B7-95E9-42F8-A197-D8FB9ED782CA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690C2545-3114-4BCE-A4A9-0FB2FB2A675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AMPLIACIÓN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Espectro y timbre tampoco son equivalentes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Datos sintéticos normalizados; no son mediciones.</a:t>
            </a:r>
          </a:p>
        </p:txBody>
      </p:sp>
      <p:pic>
        <p:nvPicPr>
          <p:cNvPr id="32" name="Imagen 31" descr="Dos espectros sintéticos distintos se presentan sin afirmar una correspondencia perceptual únic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76">
            <a:extLst>
              <a:ext uri="{FF2B5EF4-FFF2-40B4-BE49-F238E27FC236}">
                <a16:creationId xmlns:a16="http://schemas.microsoft.com/office/drawing/2014/main" id="{1E3F4481-4FE4-4094-8C65-5E6B60777D29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U01-CH026 · Elaboración propia; datos sintéticos declarados.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CEC47D65-DB76-4C36-8773-BF3FBC37048B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6CAC95A-E8E8-4A60-B593-07C1114CA92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FAB7D57C-6844-44FF-88AE-AF944D8D8A2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forma de onda sin calibración no está en pascales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052A88-CFB5-4867-B3BF-BB7D9DE888F1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permite afirmar una app de registro.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7CD0506-095C-4805-9975-204705E55FDE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5143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 disponible: amplitud digital o relativa.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Datos faltantes: calibración, sensibilidad, ganancia y condiciones.</a:t>
            </a:r>
          </a:p>
        </p:txBody>
      </p:sp>
      <p:sp>
        <p:nvSpPr>
          <p:cNvPr id="6" name="clinical_connection_box">
            <a:extLst>
              <a:ext uri="{FF2B5EF4-FFF2-40B4-BE49-F238E27FC236}">
                <a16:creationId xmlns:a16="http://schemas.microsoft.com/office/drawing/2014/main" id="{401BB4AD-8EB9-4BB3-AA44-A35667ACA743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4667250" cy="2647950"/>
          </a:xfrm>
          <a:prstGeom prst="roundRect">
            <a:avLst>
              <a:gd name="adj" fmla="val 2878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linical_connection_accent">
            <a:extLst>
              <a:ext uri="{FF2B5EF4-FFF2-40B4-BE49-F238E27FC236}">
                <a16:creationId xmlns:a16="http://schemas.microsoft.com/office/drawing/2014/main" id="{EF6AF561-0121-4DE3-BF91-EEA1C1F73A59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66675" cy="2647950"/>
          </a:xfrm>
          <a:prstGeom prst="rect">
            <a:avLst/>
          </a:prstGeom>
          <a:solidFill>
            <a:srgbClr val="9F54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inical_connection_label">
            <a:extLst>
              <a:ext uri="{FF2B5EF4-FFF2-40B4-BE49-F238E27FC236}">
                <a16:creationId xmlns:a16="http://schemas.microsoft.com/office/drawing/2014/main" id="{0ED5F9DA-BD62-41D1-AED3-B1E3F634F710}"/>
              </a:ext>
            </a:extLst>
          </p:cNvPr>
          <p:cNvSpPr>
            <a:spLocks noGrp="1"/>
          </p:cNvSpPr>
          <p:nvPr/>
        </p:nvSpPr>
        <p:spPr>
          <a:xfrm>
            <a:off x="6972300" y="1981200"/>
            <a:ext cx="426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APLICACIÓN</a:t>
            </a:r>
          </a:p>
        </p:txBody>
      </p:sp>
      <p:sp>
        <p:nvSpPr>
          <p:cNvPr id="9" name="clinical_connection_text">
            <a:extLst>
              <a:ext uri="{FF2B5EF4-FFF2-40B4-BE49-F238E27FC236}">
                <a16:creationId xmlns:a16="http://schemas.microsoft.com/office/drawing/2014/main" id="{2A3CDF92-DFD5-453E-9FB0-17E7EBFB3A51}"/>
              </a:ext>
            </a:extLst>
          </p:cNvPr>
          <p:cNvSpPr>
            <a:spLocks noGrp="1"/>
          </p:cNvSpPr>
          <p:nvPr/>
        </p:nvSpPr>
        <p:spPr>
          <a:xfrm>
            <a:off x="6972300" y="2295525"/>
            <a:ext cx="4267200" cy="2076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3593"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Conclusión permitida: comparar la señal dentro de condiciones controladas.</a:t>
            </a:r>
          </a:p>
          <a:p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No permite: inferir presión acústica o sonoridad directamente.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Calibrar vincula la lectura instrumental con una referencia física conocida.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información habría que agregar al eje vertical?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0EB2F1A-DD71-4D53-B9F1-6555305064BB}"/>
              </a:ext>
            </a:extLst>
          </p:cNvPr>
          <p:cNvSpPr>
            <a:spLocks noGrp="1"/>
          </p:cNvSpPr>
          <p:nvPr/>
        </p:nvSpPr>
        <p:spPr>
          <a:xfrm>
            <a:off x="1238250" y="5029200"/>
            <a:ext cx="971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escala digital no adquiere unidad Pa por mostrar una forma de onda.</a:t>
            </a:r>
          </a:p>
        </p:txBody>
      </p:sp>
      <p:pic>
        <p:nvPicPr>
          <p:cNvPr id="24" name="Imagen 23" descr="Interfaz sintética de grabación con eje de amplitud digital y una advertencia sobre ausencia de calibración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2169914"/>
            <a:ext cx="4476750" cy="2518172"/>
          </a:xfrm>
          <a:prstGeom prst="rect">
            <a:avLst/>
          </a:prstGeom>
        </p:spPr>
      </p:pic>
      <p:sp>
        <p:nvSpPr>
          <p:cNvPr id="12" name="u01_asset_credit_77">
            <a:extLst>
              <a:ext uri="{FF2B5EF4-FFF2-40B4-BE49-F238E27FC236}">
                <a16:creationId xmlns:a16="http://schemas.microsoft.com/office/drawing/2014/main" id="{2D2184C7-510D-4225-811C-1F177C2C37D2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4" name="fa_slide_number_local">
            <a:extLst>
              <a:ext uri="{FF2B5EF4-FFF2-40B4-BE49-F238E27FC236}">
                <a16:creationId xmlns:a16="http://schemas.microsoft.com/office/drawing/2014/main" id="{A68875A1-7C13-4F54-B49A-0EF57CD91F7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77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6CAC95A-E8E8-4A60-B593-07C1114CA92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APLICACIÓN/PREGUNTA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FAB7D57C-6844-44FF-88AE-AF944D8D8A2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1000 Hz, 35 dB HL y “detectado” son datos diferentes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052A88-CFB5-4867-B3BF-BB7D9DE888F1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Clasificar antes de interpretar.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7CD0506-095C-4805-9975-204705E55FDE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5143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1000 Hz: frecuencia física.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35 dB HL: nivel referido al cero audiométrico correspondiente. “Detectado”: respuesta conductual observada.</a:t>
            </a:r>
          </a:p>
        </p:txBody>
      </p:sp>
      <p:sp>
        <p:nvSpPr>
          <p:cNvPr id="6" name="clinical_connection_box">
            <a:extLst>
              <a:ext uri="{FF2B5EF4-FFF2-40B4-BE49-F238E27FC236}">
                <a16:creationId xmlns:a16="http://schemas.microsoft.com/office/drawing/2014/main" id="{401BB4AD-8EB9-4BB3-AA44-A35667ACA743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4667250" cy="2647950"/>
          </a:xfrm>
          <a:prstGeom prst="roundRect">
            <a:avLst>
              <a:gd name="adj" fmla="val 2878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linical_connection_accent">
            <a:extLst>
              <a:ext uri="{FF2B5EF4-FFF2-40B4-BE49-F238E27FC236}">
                <a16:creationId xmlns:a16="http://schemas.microsoft.com/office/drawing/2014/main" id="{EF6AF561-0121-4DE3-BF91-EEA1C1F73A59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66675" cy="2647950"/>
          </a:xfrm>
          <a:prstGeom prst="rect">
            <a:avLst/>
          </a:prstGeom>
          <a:solidFill>
            <a:srgbClr val="9F54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inical_connection_label">
            <a:extLst>
              <a:ext uri="{FF2B5EF4-FFF2-40B4-BE49-F238E27FC236}">
                <a16:creationId xmlns:a16="http://schemas.microsoft.com/office/drawing/2014/main" id="{0ED5F9DA-BD62-41D1-AED3-B1E3F634F710}"/>
              </a:ext>
            </a:extLst>
          </p:cNvPr>
          <p:cNvSpPr>
            <a:spLocks noGrp="1"/>
          </p:cNvSpPr>
          <p:nvPr/>
        </p:nvSpPr>
        <p:spPr>
          <a:xfrm>
            <a:off x="6972300" y="1981200"/>
            <a:ext cx="426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APLICACIÓN</a:t>
            </a:r>
          </a:p>
        </p:txBody>
      </p:sp>
      <p:sp>
        <p:nvSpPr>
          <p:cNvPr id="9" name="clinical_connection_text">
            <a:extLst>
              <a:ext uri="{FF2B5EF4-FFF2-40B4-BE49-F238E27FC236}">
                <a16:creationId xmlns:a16="http://schemas.microsoft.com/office/drawing/2014/main" id="{2A3CDF92-DFD5-453E-9FB0-17E7EBFB3A51}"/>
              </a:ext>
            </a:extLst>
          </p:cNvPr>
          <p:cNvSpPr>
            <a:spLocks noGrp="1"/>
          </p:cNvSpPr>
          <p:nvPr/>
        </p:nvSpPr>
        <p:spPr>
          <a:xfrm>
            <a:off x="6972300" y="2295525"/>
            <a:ext cx="4267200" cy="2076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Falta información para una conclusión clínica completa.</a:t>
            </a:r>
          </a:p>
          <a:p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dB HL no se convierte a dB SPL sin datos de referencia, frecuencia y transductor.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Identificar magnitud, referencia, respuesta y límite.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0EB2F1A-DD71-4D53-B9F1-6555305064BB}"/>
              </a:ext>
            </a:extLst>
          </p:cNvPr>
          <p:cNvSpPr>
            <a:spLocks noGrp="1"/>
          </p:cNvSpPr>
          <p:nvPr/>
        </p:nvSpPr>
        <p:spPr>
          <a:xfrm>
            <a:off x="1238250" y="5029200"/>
            <a:ext cx="971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pantalla reúne datos; no los vuelve equivalentes.</a:t>
            </a:r>
          </a:p>
        </p:txBody>
      </p:sp>
      <p:pic>
        <p:nvPicPr>
          <p:cNvPr id="24" name="Imagen 23" descr="Pantalla audiométrica conceptual resalta frecuencia, nivel de audición y respuesta detectada como categorías distinta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2169914"/>
            <a:ext cx="4476750" cy="2518172"/>
          </a:xfrm>
          <a:prstGeom prst="rect">
            <a:avLst/>
          </a:prstGeom>
        </p:spPr>
      </p:pic>
      <p:sp>
        <p:nvSpPr>
          <p:cNvPr id="12" name="u01_asset_credit_78">
            <a:extLst>
              <a:ext uri="{FF2B5EF4-FFF2-40B4-BE49-F238E27FC236}">
                <a16:creationId xmlns:a16="http://schemas.microsoft.com/office/drawing/2014/main" id="{90379D5A-2C69-469A-834D-0639477A2C89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4" name="fa_slide_number_local">
            <a:extLst>
              <a:ext uri="{FF2B5EF4-FFF2-40B4-BE49-F238E27FC236}">
                <a16:creationId xmlns:a16="http://schemas.microsoft.com/office/drawing/2014/main" id="{9FAF7875-2582-40D9-A196-25B11CBA65EB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APLICACIÓN/PROCESO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Verificar un equipo no equivale a evaluar a una persona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Repetimos el modelo para transferirlo, no para redefinirlo.</a:t>
            </a:r>
          </a:p>
        </p:txBody>
      </p:sp>
      <p:pic>
        <p:nvPicPr>
          <p:cNvPr id="50" name="Imagen 49" descr="Cadena de señal de prueba, parlante, aire, micrófono y dato, con un límite sobre diagnóstic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05000" y="1381125"/>
            <a:ext cx="8382000" cy="4000500"/>
          </a:xfrm>
          <a:prstGeom prst="rect">
            <a:avLst/>
          </a:prstGeom>
        </p:spPr>
      </p:pic>
      <p:sp>
        <p:nvSpPr>
          <p:cNvPr id="25" name="u01_asset_credit_79">
            <a:extLst>
              <a:ext uri="{FF2B5EF4-FFF2-40B4-BE49-F238E27FC236}">
                <a16:creationId xmlns:a16="http://schemas.microsoft.com/office/drawing/2014/main" id="{189F186F-BDA5-4A58-B367-2C3231F490EA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11607FAE-91E2-4B99-B3B1-9690BA23C58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RECAPITULACIÓN/PREGUNTA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mide, qué representa y qué no permite concluir?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magnitud física se midió?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referencia usa el nivel informado?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atributo o respuesta perceptual se observó?</a:t>
            </a:r>
          </a:p>
        </p:txBody>
      </p:sp>
      <p:sp>
        <p:nvSpPr>
          <p:cNvPr id="10" name="bullet_4">
            <a:extLst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bullet_text_4">
            <a:extLst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conclusión no está autorizada por esos datos?</a:t>
            </a:r>
          </a:p>
        </p:txBody>
      </p:sp>
      <p:sp>
        <p:nvSpPr>
          <p:cNvPr id="12" name="mini_recap_box">
            <a:extLst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mini_recap_accent">
            <a:extLst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66675" cy="2381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ini_recap_label">
            <a:extLst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02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COMPROBACIÓN</a:t>
            </a:r>
          </a:p>
        </p:txBody>
      </p:sp>
      <p:sp>
        <p:nvSpPr>
          <p:cNvPr id="15" name="mini_recap_text">
            <a:extLst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noGrp="1"/>
          </p:cNvSpPr>
          <p:nvPr/>
        </p:nvSpPr>
        <p:spPr>
          <a:xfrm>
            <a:off x="8210550" y="2524125"/>
            <a:ext cx="30289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Completar: “Este dato permite afirmar ___, pero no permite concluir ___”.</a:t>
            </a:r>
          </a:p>
        </p:txBody>
      </p:sp>
      <p:pic>
        <p:nvPicPr>
          <p:cNvPr id="34" name="Imagen 33" descr="Matriz para clasificar seis elementos y formular un límite de interpretación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15125" y="2190750"/>
            <a:ext cx="4524375" cy="2543175"/>
          </a:xfrm>
          <a:prstGeom prst="rect">
            <a:avLst/>
          </a:prstGeom>
        </p:spPr>
      </p:pic>
      <p:sp>
        <p:nvSpPr>
          <p:cNvPr id="17" name="u01_asset_credit_80">
            <a:extLst>
              <a:ext uri="{FF2B5EF4-FFF2-40B4-BE49-F238E27FC236}">
                <a16:creationId xmlns:a16="http://schemas.microsoft.com/office/drawing/2014/main" id="{9B44166D-9D46-4DB6-A4A7-89A12D16B020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90EF3DF6-B00A-48AF-AD4D-E259DCF21E3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4424AC9C-8172-42AA-AFFA-680E26F2A76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B09 · INTEGRACIÓN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F11231E-CA57-4C4A-BF6C-80E9A423249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de la vocal al micrófono</a:t>
            </a:r>
          </a:p>
        </p:txBody>
      </p:sp>
      <p:sp>
        <p:nvSpPr>
          <p:cNvPr id="4" name="question_box_box">
            <a:extLst>
              <a:ext uri="{FF2B5EF4-FFF2-40B4-BE49-F238E27FC236}">
                <a16:creationId xmlns:a16="http://schemas.microsoft.com/office/drawing/2014/main" id="{42C265B0-DFFE-4545-B9EC-4B89A9135CD4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9525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question_box_accent">
            <a:extLst>
              <a:ext uri="{FF2B5EF4-FFF2-40B4-BE49-F238E27FC236}">
                <a16:creationId xmlns:a16="http://schemas.microsoft.com/office/drawing/2014/main" id="{7F97423C-6296-4001-860A-0828E5A2F8F5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66675" cy="2000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question_box_label">
            <a:extLst>
              <a:ext uri="{FF2B5EF4-FFF2-40B4-BE49-F238E27FC236}">
                <a16:creationId xmlns:a16="http://schemas.microsoft.com/office/drawing/2014/main" id="{9A11AF75-B3DD-4CBF-8E24-027C806C5E79}"/>
              </a:ext>
            </a:extLst>
          </p:cNvPr>
          <p:cNvSpPr>
            <a:spLocks noGrp="1"/>
          </p:cNvSpPr>
          <p:nvPr/>
        </p:nvSpPr>
        <p:spPr>
          <a:xfrm>
            <a:off x="1543050" y="2209800"/>
            <a:ext cx="912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CASO</a:t>
            </a:r>
          </a:p>
        </p:txBody>
      </p:sp>
      <p:sp>
        <p:nvSpPr>
          <p:cNvPr id="7" name="question_box_text">
            <a:extLst>
              <a:ext uri="{FF2B5EF4-FFF2-40B4-BE49-F238E27FC236}">
                <a16:creationId xmlns:a16="http://schemas.microsoft.com/office/drawing/2014/main" id="{E18E7DFC-CE79-4B89-A729-12E587F35D85}"/>
              </a:ext>
            </a:extLst>
          </p:cNvPr>
          <p:cNvSpPr>
            <a:spLocks noGrp="1"/>
          </p:cNvSpPr>
          <p:nvPr/>
        </p:nvSpPr>
        <p:spPr>
          <a:xfrm>
            <a:off x="1543050" y="2524125"/>
            <a:ext cx="4572000" cy="1762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87798"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Datos: d = 6,8 m; c = 340 m/s; N = 100 ciclos en Δt = 0,50 s. Tareas: identificar fuente–medio–receptor; calcular tiempo de propagación; calcular frecuencia.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 = d/c; f = N/Δt. N: número de ciclos; f: frecuencia (Hz).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Resolver en grupos y conservar las unidades en cada paso.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107851-98A8-49EC-A228-4AF96EA485E2}"/>
              </a:ext>
            </a:extLst>
          </p:cNvPr>
          <p:cNvSpPr>
            <a:spLocks noGrp="1"/>
          </p:cNvSpPr>
          <p:nvPr/>
        </p:nvSpPr>
        <p:spPr>
          <a:xfrm>
            <a:off x="2095500" y="4533900"/>
            <a:ext cx="800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340 m/s es un redondeo didáctico para las condiciones del caso.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A53316-7753-4A5C-851A-0105F40BF06F}"/>
              </a:ext>
            </a:extLst>
          </p:cNvPr>
          <p:cNvSpPr>
            <a:spLocks noGrp="1"/>
          </p:cNvSpPr>
          <p:nvPr/>
        </p:nvSpPr>
        <p:spPr>
          <a:xfrm>
            <a:off x="4495800" y="533400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22" name="Imagen 21" descr="Vocalización, aire y micrófono con datos de distancia, rapidez y número de ciclos para dos cálculo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0" y="1952625"/>
            <a:ext cx="4762500" cy="2676525"/>
          </a:xfrm>
          <a:prstGeom prst="rect">
            <a:avLst/>
          </a:prstGeom>
        </p:spPr>
      </p:pic>
      <p:sp>
        <p:nvSpPr>
          <p:cNvPr id="11" name="u01_asset_credit_81">
            <a:extLst>
              <a:ext uri="{FF2B5EF4-FFF2-40B4-BE49-F238E27FC236}">
                <a16:creationId xmlns:a16="http://schemas.microsoft.com/office/drawing/2014/main" id="{66D55062-861D-4EDB-B8CA-C19E81140F5E}"/>
              </a:ext>
            </a:extLst>
          </p:cNvPr>
          <p:cNvSpPr>
            <a:spLocks noGrp="1"/>
          </p:cNvSpPr>
          <p:nvPr/>
        </p:nvSpPr>
        <p:spPr>
          <a:xfrm>
            <a:off x="6477000" y="581025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U01-CH024 · Elaboración propia a partir del ejercicio I1.</a:t>
            </a:r>
          </a:p>
        </p:txBody>
      </p:sp>
      <p:sp>
        <p:nvSpPr>
          <p:cNvPr id="13" name="fa_slide_number_local">
            <a:extLst>
              <a:ext uri="{FF2B5EF4-FFF2-40B4-BE49-F238E27FC236}">
                <a16:creationId xmlns:a16="http://schemas.microsoft.com/office/drawing/2014/main" id="{A1514542-4F67-482E-A1EF-1817C2554B6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4424AC9C-8172-42AA-AFFA-680E26F2A76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B09 · INTEGRACIÓN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F11231E-CA57-4C4A-BF6C-80E9A423249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qué podemos afirmar y qué no</a:t>
            </a:r>
          </a:p>
        </p:txBody>
      </p:sp>
      <p:sp>
        <p:nvSpPr>
          <p:cNvPr id="4" name="question_box_box">
            <a:extLst>
              <a:ext uri="{FF2B5EF4-FFF2-40B4-BE49-F238E27FC236}">
                <a16:creationId xmlns:a16="http://schemas.microsoft.com/office/drawing/2014/main" id="{42C265B0-DFFE-4545-B9EC-4B89A9135CD4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9525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question_box_accent">
            <a:extLst>
              <a:ext uri="{FF2B5EF4-FFF2-40B4-BE49-F238E27FC236}">
                <a16:creationId xmlns:a16="http://schemas.microsoft.com/office/drawing/2014/main" id="{7F97423C-6296-4001-860A-0828E5A2F8F5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66675" cy="2000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question_box_label">
            <a:extLst>
              <a:ext uri="{FF2B5EF4-FFF2-40B4-BE49-F238E27FC236}">
                <a16:creationId xmlns:a16="http://schemas.microsoft.com/office/drawing/2014/main" id="{9A11AF75-B3DD-4CBF-8E24-027C806C5E79}"/>
              </a:ext>
            </a:extLst>
          </p:cNvPr>
          <p:cNvSpPr>
            <a:spLocks noGrp="1"/>
          </p:cNvSpPr>
          <p:nvPr/>
        </p:nvSpPr>
        <p:spPr>
          <a:xfrm>
            <a:off x="1543050" y="2209800"/>
            <a:ext cx="912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CASO</a:t>
            </a:r>
          </a:p>
        </p:txBody>
      </p:sp>
      <p:sp>
        <p:nvSpPr>
          <p:cNvPr id="7" name="question_box_text">
            <a:extLst>
              <a:ext uri="{FF2B5EF4-FFF2-40B4-BE49-F238E27FC236}">
                <a16:creationId xmlns:a16="http://schemas.microsoft.com/office/drawing/2014/main" id="{E18E7DFC-CE79-4B89-A729-12E587F35D85}"/>
              </a:ext>
            </a:extLst>
          </p:cNvPr>
          <p:cNvSpPr>
            <a:spLocks noGrp="1"/>
          </p:cNvSpPr>
          <p:nvPr/>
        </p:nvSpPr>
        <p:spPr>
          <a:xfrm>
            <a:off x="1543050" y="2524125"/>
            <a:ext cx="4572000" cy="1762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87798"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Nuevos datos: amplitud digital no calibrada; Q/Q₀ = 100; pregunta por altura tonal. Calcular el nivel de la razón. Separar conclusiones físicas, perceptuales y clínicas.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L_Q = 10 log₁₀(100) = 20 dB.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Completar cuatro tarjetas: cálculo, referencia, percepción, clínica.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107851-98A8-49EC-A228-4AF96EA485E2}"/>
              </a:ext>
            </a:extLst>
          </p:cNvPr>
          <p:cNvSpPr>
            <a:spLocks noGrp="1"/>
          </p:cNvSpPr>
          <p:nvPr/>
        </p:nvSpPr>
        <p:spPr>
          <a:xfrm>
            <a:off x="2095500" y="4533900"/>
            <a:ext cx="800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Calcular correctamente no autoriza inferencias que los datos no sostienen.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A53316-7753-4A5C-851A-0105F40BF06F}"/>
              </a:ext>
            </a:extLst>
          </p:cNvPr>
          <p:cNvSpPr>
            <a:spLocks noGrp="1"/>
          </p:cNvSpPr>
          <p:nvPr/>
        </p:nvSpPr>
        <p:spPr>
          <a:xfrm>
            <a:off x="4495800" y="533400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pic>
        <p:nvPicPr>
          <p:cNvPr id="22" name="Imagen 21" descr="Cuatro tarjetas separan resultado numérico, referencia, experiencia perceptual y conclusión clínic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0" y="1952625"/>
            <a:ext cx="4762500" cy="2676525"/>
          </a:xfrm>
          <a:prstGeom prst="rect">
            <a:avLst/>
          </a:prstGeom>
        </p:spPr>
      </p:pic>
      <p:sp>
        <p:nvSpPr>
          <p:cNvPr id="11" name="u01_asset_credit_82">
            <a:extLst>
              <a:ext uri="{FF2B5EF4-FFF2-40B4-BE49-F238E27FC236}">
                <a16:creationId xmlns:a16="http://schemas.microsoft.com/office/drawing/2014/main" id="{6153F557-8DF6-4BF5-A4B0-800F013EBE4F}"/>
              </a:ext>
            </a:extLst>
          </p:cNvPr>
          <p:cNvSpPr>
            <a:spLocks noGrp="1"/>
          </p:cNvSpPr>
          <p:nvPr/>
        </p:nvSpPr>
        <p:spPr>
          <a:xfrm>
            <a:off x="6477000" y="581025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U01-CH024 · Elaboración propia a partir del ejercicio I1.</a:t>
            </a:r>
          </a:p>
        </p:txBody>
      </p:sp>
      <p:sp>
        <p:nvSpPr>
          <p:cNvPr id="13" name="fa_slide_number_local">
            <a:extLst>
              <a:ext uri="{FF2B5EF4-FFF2-40B4-BE49-F238E27FC236}">
                <a16:creationId xmlns:a16="http://schemas.microsoft.com/office/drawing/2014/main" id="{7AE8BCFA-7320-495D-8CF4-F17BAA0036A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1304AC1-5BD7-411B-B23C-58C40CB54FD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B09 · RECAPITULACIÓN FINAL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CA6C42D9-0741-4182-B2DC-4AF568CD1B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Unidad 1 conecta fenómeno, medición e interpretación</a:t>
            </a:r>
          </a:p>
        </p:txBody>
      </p:sp>
      <p:sp>
        <p:nvSpPr>
          <p:cNvPr id="4" name="recap_node_1">
            <a:extLst>
              <a:ext uri="{FF2B5EF4-FFF2-40B4-BE49-F238E27FC236}">
                <a16:creationId xmlns:a16="http://schemas.microsoft.com/office/drawing/2014/main" id="{AE5DC6BB-B0FA-4C77-95EB-7CC6EB961106}"/>
              </a:ext>
            </a:extLst>
          </p:cNvPr>
          <p:cNvSpPr>
            <a:spLocks noGrp="1"/>
          </p:cNvSpPr>
          <p:nvPr/>
        </p:nvSpPr>
        <p:spPr>
          <a:xfrm>
            <a:off x="952500" y="25146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74D8CE6-E48D-46B9-A091-B1FB27E6548B}"/>
              </a:ext>
            </a:extLst>
          </p:cNvPr>
          <p:cNvSpPr>
            <a:spLocks noGrp="1"/>
          </p:cNvSpPr>
          <p:nvPr/>
        </p:nvSpPr>
        <p:spPr>
          <a:xfrm>
            <a:off x="1085850" y="266700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Fenómeno: fuente, medio, receptor y perturbación.</a:t>
            </a:r>
          </a:p>
        </p:txBody>
      </p:sp>
      <p:sp>
        <p:nvSpPr>
          <p:cNvPr id="6" name="recap_node_2">
            <a:extLst>
              <a:ext uri="{FF2B5EF4-FFF2-40B4-BE49-F238E27FC236}">
                <a16:creationId xmlns:a16="http://schemas.microsoft.com/office/drawing/2014/main" id="{0789FE13-A843-42CC-8658-B44B2EECD0FB}"/>
              </a:ext>
            </a:extLst>
          </p:cNvPr>
          <p:cNvSpPr>
            <a:spLocks noGrp="1"/>
          </p:cNvSpPr>
          <p:nvPr/>
        </p:nvSpPr>
        <p:spPr>
          <a:xfrm>
            <a:off x="3829050" y="188595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6A46864-82DE-44A6-A109-401FED4518EA}"/>
              </a:ext>
            </a:extLst>
          </p:cNvPr>
          <p:cNvSpPr>
            <a:spLocks noGrp="1"/>
          </p:cNvSpPr>
          <p:nvPr/>
        </p:nvSpPr>
        <p:spPr>
          <a:xfrm>
            <a:off x="3962400" y="203835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Medición: magnitud, valor, unidad y referencia.</a:t>
            </a:r>
          </a:p>
        </p:txBody>
      </p:sp>
      <p:sp>
        <p:nvSpPr>
          <p:cNvPr id="8" name="recap_node_3">
            <a:extLst>
              <a:ext uri="{FF2B5EF4-FFF2-40B4-BE49-F238E27FC236}">
                <a16:creationId xmlns:a16="http://schemas.microsoft.com/office/drawing/2014/main" id="{ADCEE98F-8E8A-4B4F-97EB-A5E39CF394D5}"/>
              </a:ext>
            </a:extLst>
          </p:cNvPr>
          <p:cNvSpPr>
            <a:spLocks noGrp="1"/>
          </p:cNvSpPr>
          <p:nvPr/>
        </p:nvSpPr>
        <p:spPr>
          <a:xfrm>
            <a:off x="3829050" y="367665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9A7264-8B66-4063-B185-56DD7E81230C}"/>
              </a:ext>
            </a:extLst>
          </p:cNvPr>
          <p:cNvSpPr>
            <a:spLocks noGrp="1"/>
          </p:cNvSpPr>
          <p:nvPr/>
        </p:nvSpPr>
        <p:spPr>
          <a:xfrm>
            <a:off x="3962400" y="382905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Relaciones: ecuaciones, dimensiones y unidades derivadas.</a:t>
            </a:r>
          </a:p>
        </p:txBody>
      </p:sp>
      <p:sp>
        <p:nvSpPr>
          <p:cNvPr id="10" name="recap_node_4">
            <a:extLst>
              <a:ext uri="{FF2B5EF4-FFF2-40B4-BE49-F238E27FC236}">
                <a16:creationId xmlns:a16="http://schemas.microsoft.com/office/drawing/2014/main" id="{F7DE4E85-3040-4BDC-BC75-DB8D8A92094B}"/>
              </a:ext>
            </a:extLst>
          </p:cNvPr>
          <p:cNvSpPr>
            <a:spLocks noGrp="1"/>
          </p:cNvSpPr>
          <p:nvPr/>
        </p:nvSpPr>
        <p:spPr>
          <a:xfrm>
            <a:off x="6705600" y="25146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9158BD8-A251-4CB9-9DE0-54143C0574BC}"/>
              </a:ext>
            </a:extLst>
          </p:cNvPr>
          <p:cNvSpPr>
            <a:spLocks noGrp="1"/>
          </p:cNvSpPr>
          <p:nvPr/>
        </p:nvSpPr>
        <p:spPr>
          <a:xfrm>
            <a:off x="6838950" y="266700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Representaciones: funciones, inversas, razones y escalas.</a:t>
            </a:r>
          </a:p>
        </p:txBody>
      </p:sp>
      <p:sp>
        <p:nvSpPr>
          <p:cNvPr id="12" name="recap_node_5">
            <a:extLst>
              <a:ext uri="{FF2B5EF4-FFF2-40B4-BE49-F238E27FC236}">
                <a16:creationId xmlns:a16="http://schemas.microsoft.com/office/drawing/2014/main" id="{CB6B5BA5-7E24-417C-8452-54B7B3A2C9FA}"/>
              </a:ext>
            </a:extLst>
          </p:cNvPr>
          <p:cNvSpPr>
            <a:spLocks noGrp="1"/>
          </p:cNvSpPr>
          <p:nvPr/>
        </p:nvSpPr>
        <p:spPr>
          <a:xfrm>
            <a:off x="9582150" y="2514600"/>
            <a:ext cx="1847850" cy="1123950"/>
          </a:xfrm>
          <a:prstGeom prst="roundRect">
            <a:avLst>
              <a:gd name="adj" fmla="val 6780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0B10CCF-6539-4EBC-810D-F306177F6C15}"/>
              </a:ext>
            </a:extLst>
          </p:cNvPr>
          <p:cNvSpPr>
            <a:spLocks noGrp="1"/>
          </p:cNvSpPr>
          <p:nvPr/>
        </p:nvSpPr>
        <p:spPr>
          <a:xfrm>
            <a:off x="9715500" y="2667000"/>
            <a:ext cx="15811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90278"/>
          </a:bodyPr>
          <a:lstStyle/>
          <a:p>
            <a:pPr algn="ctr">
              <a:buNone/>
              <a:defRPr sz="13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Interpretación: distinguir dato físico, percepción y conclusión.</a:t>
            </a:r>
          </a:p>
        </p:txBody>
      </p:sp>
      <p:cxnSp>
        <p:nvCxnSpPr>
          <p:cNvPr id="106" name="Conector: angular 32"/>
          <p:cNvCxnSpPr>
            <a:stCxn id="4" idx="3"/>
            <a:endCxn id="6" idx="1"/>
          </p:cNvCxnSpPr>
          <p:nvPr/>
        </p:nvCxnSpPr>
        <p:spPr>
          <a:xfrm flipV="1">
            <a:off x="3333750" y="2447925"/>
            <a:ext cx="495300" cy="628650"/>
          </a:xfrm>
          <a:prstGeom prst="bentConnector3">
            <a:avLst>
              <a:gd name="adj1" fmla="val 50000"/>
            </a:avLst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107" name="Conector: angular 33"/>
          <p:cNvCxnSpPr>
            <a:stCxn id="4" idx="2"/>
            <a:endCxn id="8" idx="1"/>
          </p:cNvCxnSpPr>
          <p:nvPr/>
        </p:nvCxnSpPr>
        <p:spPr>
          <a:xfrm>
            <a:off x="2143125" y="3638550"/>
            <a:ext cx="1685925" cy="600075"/>
          </a:xfrm>
          <a:prstGeom prst="bentConnector5">
            <a:avLst>
              <a:gd name="adj1" fmla="val 0"/>
              <a:gd name="adj2" fmla="val 38095"/>
              <a:gd name="adj3" fmla="val 86441"/>
            </a:avLst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108" name="Conector: angular 34"/>
          <p:cNvCxnSpPr>
            <a:stCxn id="6" idx="3"/>
            <a:endCxn id="10" idx="0"/>
          </p:cNvCxnSpPr>
          <p:nvPr/>
        </p:nvCxnSpPr>
        <p:spPr>
          <a:xfrm>
            <a:off x="6210300" y="2286000"/>
            <a:ext cx="1685925" cy="228600"/>
          </a:xfrm>
          <a:prstGeom prst="bentConnector4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109" name="Conector: angular 35"/>
          <p:cNvCxnSpPr>
            <a:stCxn id="8" idx="3"/>
            <a:endCxn id="10" idx="2"/>
          </p:cNvCxnSpPr>
          <p:nvPr/>
        </p:nvCxnSpPr>
        <p:spPr>
          <a:xfrm flipV="1">
            <a:off x="6210300" y="3638550"/>
            <a:ext cx="1685925" cy="600075"/>
          </a:xfrm>
          <a:prstGeom prst="bentConnector2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110" name="Conector recto de flecha 36"/>
          <p:cNvCxnSpPr>
            <a:stCxn id="10" idx="3"/>
            <a:endCxn id="12" idx="1"/>
          </p:cNvCxnSpPr>
          <p:nvPr/>
        </p:nvCxnSpPr>
        <p:spPr>
          <a:xfrm>
            <a:off x="9086850" y="3076575"/>
            <a:ext cx="495300" cy="0"/>
          </a:xfrm>
          <a:prstGeom prst="straightConnector1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C5F5D4B-C991-4C11-92A1-F54E5BB255E5}"/>
              </a:ext>
            </a:extLst>
          </p:cNvPr>
          <p:cNvSpPr>
            <a:spLocks noGrp="1"/>
          </p:cNvSpPr>
          <p:nvPr/>
        </p:nvSpPr>
        <p:spPr>
          <a:xfrm>
            <a:off x="1905000" y="5219700"/>
            <a:ext cx="838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herramientas forman un sistema de lectura, no una lista inconexa.</a:t>
            </a:r>
          </a:p>
        </p:txBody>
      </p:sp>
      <p:pic>
        <p:nvPicPr>
          <p:cNvPr id="112" name="Imagen 111" descr="Mapa final conecta fenómeno, medición, relaciones, control, representación e interpretación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77250" y="4000500"/>
            <a:ext cx="2476500" cy="1390650"/>
          </a:xfrm>
          <a:prstGeom prst="rect">
            <a:avLst/>
          </a:prstGeom>
        </p:spPr>
      </p:pic>
      <p:sp>
        <p:nvSpPr>
          <p:cNvPr id="56" name="u01_asset_credit_83">
            <a:extLst>
              <a:ext uri="{FF2B5EF4-FFF2-40B4-BE49-F238E27FC236}">
                <a16:creationId xmlns:a16="http://schemas.microsoft.com/office/drawing/2014/main" id="{C58310C4-4921-423C-B333-D8867D15188D}"/>
              </a:ext>
            </a:extLst>
          </p:cNvPr>
          <p:cNvSpPr>
            <a:spLocks noGrp="1"/>
          </p:cNvSpPr>
          <p:nvPr/>
        </p:nvSpPr>
        <p:spPr>
          <a:xfrm>
            <a:off x="6191250" y="5810250"/>
            <a:ext cx="5048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U01-CH024 · Elaboración propia a partir del ejercicio I1.</a:t>
            </a:r>
          </a:p>
        </p:txBody>
      </p:sp>
      <p:sp>
        <p:nvSpPr>
          <p:cNvPr id="93" name="fa_slide_number_local">
            <a:extLst>
              <a:ext uri="{FF2B5EF4-FFF2-40B4-BE49-F238E27FC236}">
                <a16:creationId xmlns:a16="http://schemas.microsoft.com/office/drawing/2014/main" id="{89E4BED8-A5A4-404B-B4A2-84570FC52F7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3E11C68-F2E1-4565-A9E1-516178FC355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B09 · CIERRE/PUENTE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E6F6E93-49D5-494D-919D-E4A52B870226}"/>
              </a:ext>
            </a:extLst>
          </p:cNvPr>
          <p:cNvSpPr>
            <a:spLocks noGrp="1"/>
          </p:cNvSpPr>
          <p:nvPr/>
        </p:nvSpPr>
        <p:spPr>
          <a:xfrm>
            <a:off x="800100" y="1952625"/>
            <a:ext cx="58102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262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62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Lo que medimos prepara lo que podremos explicar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C478E0B8-939F-49A8-A487-B5AAC5EFB996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56197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7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Puente hacia las próximas unidades.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7B9CC38-5605-4A2C-A7E4-0F95FCBF9D2D}"/>
              </a:ext>
            </a:extLst>
          </p:cNvPr>
          <p:cNvSpPr>
            <a:spLocks noGrp="1"/>
          </p:cNvSpPr>
          <p:nvPr/>
        </p:nvSpPr>
        <p:spPr>
          <a:xfrm>
            <a:off x="838200" y="4953000"/>
            <a:ext cx="561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 lenguaje físico y matemático de U1 se reutilizará con mayor profundidad.</a:t>
            </a:r>
          </a:p>
        </p:txBody>
      </p:sp>
      <p:pic>
        <p:nvPicPr>
          <p:cNvPr id="14" name="Imagen 13" descr="La Unidad 1 se conecta con mecánica, ondas y magnitudes acústicas de las unidades 2, 3 y 4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00875" y="2095500"/>
            <a:ext cx="4095750" cy="2305050"/>
          </a:xfrm>
          <a:prstGeom prst="rect">
            <a:avLst/>
          </a:prstGeom>
        </p:spPr>
      </p:pic>
      <p:sp>
        <p:nvSpPr>
          <p:cNvPr id="7" name="u01_asset_credit_84">
            <a:extLst>
              <a:ext uri="{FF2B5EF4-FFF2-40B4-BE49-F238E27FC236}">
                <a16:creationId xmlns:a16="http://schemas.microsoft.com/office/drawing/2014/main" id="{5CB5CA3C-04CE-4DEB-BCD4-757021069F9B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U01-CH025 · Elaboración propia a partir de course_map y dependency_map.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9C618B0F-7638-40C8-8AA1-D0C60580B44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Referencia completa de magnitudes fundamentales del SI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Material de respaldo.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Tiempo—segundo (s); longitud—metro (m)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Masa—kilogramo (kg); corriente eléctrica—ampere (A)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Temperatura termodinámica—kelvin (K); cantidad de sustancia—mol (mol)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Intensidad luminosa—candela (cd)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Referencia técnica; no requiere lectura completa durante la ruta central.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563A4D9B-B69D-4DE0-9809-1975C9A33BB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Tabla ampliada de prefijos SI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Material de respaldo.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tera T = 10¹²; giga G = 10⁹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mega M = 10⁶; kilo k = 10³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mili m = 10⁻³; micro µ = 10⁻⁶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nano n = 10⁻⁹; pico p = 10⁻¹²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Mayúsculas y minúsculas forman parte del símbolo.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A0F6B8DB-3E86-4943-9E57-D2FB5591D01B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Dependencias dimensionales extendidas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Material de respaldo.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[d] = L; [t] = T; [c] = L·T⁻¹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[a] = L·T⁻²; [F] = M·L·T⁻²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[p] = M·L⁻¹·T⁻²; [ρ] = M·L⁻³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Solo expresiones con dimensiones compatibles pueden representar la misma magnitud.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dimensiones permiten detectar incompatibilidades; no prueban una ley física.</a:t>
            </a:r>
          </a:p>
        </p:txBody>
      </p:sp>
      <p:pic>
        <p:nvPicPr>
          <p:cNvPr id="36" name="Imagen 35" descr="Red dimensional conecta masa, longitud y tiempo con rapidez, aceleración, fuerza, presión y densidad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2190750"/>
            <a:ext cx="4095750" cy="2305050"/>
          </a:xfrm>
          <a:prstGeom prst="rect">
            <a:avLst/>
          </a:prstGeom>
        </p:spPr>
      </p:pic>
      <p:sp>
        <p:nvSpPr>
          <p:cNvPr id="18" name="u01_asset_credit_87">
            <a:extLst>
              <a:ext uri="{FF2B5EF4-FFF2-40B4-BE49-F238E27FC236}">
                <a16:creationId xmlns:a16="http://schemas.microsoft.com/office/drawing/2014/main" id="{0BCD7DDB-A071-4F0E-AF93-C7080877E05C}"/>
              </a:ext>
            </a:extLst>
          </p:cNvPr>
          <p:cNvSpPr>
            <a:spLocks noGrp="1"/>
          </p:cNvSpPr>
          <p:nvPr/>
        </p:nvSpPr>
        <p:spPr>
          <a:xfrm>
            <a:off x="6667500" y="5810250"/>
            <a:ext cx="457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  <p:sp>
        <p:nvSpPr>
          <p:cNvPr id="20" name="fa_slide_number_local">
            <a:extLst>
              <a:ext uri="{FF2B5EF4-FFF2-40B4-BE49-F238E27FC236}">
                <a16:creationId xmlns:a16="http://schemas.microsoft.com/office/drawing/2014/main" id="{614FE0E9-5F13-4B5E-A2F3-BEF69995FCA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RESPALDO/SOLUCIÓN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del diagnóstico y de las preguntas breves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Devolución razonada.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U01-004: d=2 m distingue símbolo, valor y unidad; peso en N; d/c produce tiempo; frecuencia y altura tonal no son idénticas.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U01-018: corregir magnitud, unidad o escritura.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U01-043: solo d/c.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84795"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U01-057: elegir la razón con dato e incógnita.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Las soluciones deben incluir justificación, no solo opción.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Mostrar después de recoger los razonamientos.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Respaldo de soluciones breves.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4B84E3FF-DFCA-4A25-B2FC-E17F3DA17A4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RESPALDO/SOLUCIÓN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 los ejemplos mecánicos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Respaldo de cálculo y unidades.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Propagación: 68/340 = 0,20 s.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Peso: (2,50)(9,80)=24,5 N.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Presión: p=F_⊥/S.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84795"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Densidad: ρ=m/V.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Cada solución conserva datos, sustitución, unidad e interpretación.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Elegir solo el desarrollo pertinente a la duda.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unidad final debe corresponder a la magnitud buscada.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189876AD-FD83-4726-AE2C-0C20C8AC0BC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RESPALDO/SOLUCIÓN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 función y trigonometría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Respaldo de recuperación diferenciada.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Si d(t) = ct con c &gt; 0, entonces t(d) = d/c.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Para f(x) = 2x: f⁻¹(x) = x/2; el recíproco es 1/(2x).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el triángulo 3–4–5: sen θ = 3/5, cos θ = 4/5, tan θ = 3/4.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vuelta completa equivale a 360° = 2π rad.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Material para consulta o clase de apoyo.</a:t>
            </a:r>
          </a:p>
        </p:txBody>
      </p:sp>
      <p:pic>
        <p:nvPicPr>
          <p:cNvPr id="36" name="Imagen 35" descr="Soluciones de evaluación e inversión de una función, triángulo 3–4–5 y conversión angular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2190750"/>
            <a:ext cx="4095750" cy="2305050"/>
          </a:xfrm>
          <a:prstGeom prst="rect">
            <a:avLst/>
          </a:prstGeom>
        </p:spPr>
      </p:pic>
      <p:sp>
        <p:nvSpPr>
          <p:cNvPr id="18" name="u01_asset_credit_90">
            <a:extLst>
              <a:ext uri="{FF2B5EF4-FFF2-40B4-BE49-F238E27FC236}">
                <a16:creationId xmlns:a16="http://schemas.microsoft.com/office/drawing/2014/main" id="{AE0B533B-BBAE-480B-BDEC-22ABB50675A1}"/>
              </a:ext>
            </a:extLst>
          </p:cNvPr>
          <p:cNvSpPr>
            <a:spLocks noGrp="1"/>
          </p:cNvSpPr>
          <p:nvPr/>
        </p:nvSpPr>
        <p:spPr>
          <a:xfrm>
            <a:off x="6667500" y="5810250"/>
            <a:ext cx="457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20" name="fa_slide_number_local">
            <a:extLst>
              <a:ext uri="{FF2B5EF4-FFF2-40B4-BE49-F238E27FC236}">
                <a16:creationId xmlns:a16="http://schemas.microsoft.com/office/drawing/2014/main" id="{988854C5-B37A-450C-9CB9-B04781AEE60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Propiedades adicionales de logaritmos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Respaldo para profundización.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log_a(xy)=log_a x+log_a y; log_a(x/y)=log_a x−log_a y; log_a(xʳ)=r log_a x.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Condiciones: a&gt;0, a≠1, argumentos positivos.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log₁₀(100·10)=2+1=3.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Usar solo después de comprender el logaritmo como inversa.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3FC9494B-0AFD-47A7-BD1F-26B87EDC6832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dB SPL, dB HL y dB SL no son intercambiables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La referencia y el procedimiento cambian.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dB SPL: referencia física de presión.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dB HL: referencia audiométrica dependiente de frecuencia y transductor.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dB SL: referencia al umbral individual en una condición definida.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No existe conversión universal entre estas escalas sin datos de calibración y procedimiento.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Ante “35 dB”, preguntar siempre: ¿qué escala y qué referencia?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Advertencia conceptual; la formalización corresponde a U4 y U8.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69E46F07-F971-44D5-A88A-76C6A5A986CB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BBCCD4C4-A627-4EE4-A40A-170F7747209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RESPALDO/BIBLIOGRAFÍA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EC507A-CEFB-4E62-8D2B-45D161F4B0CC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Fuentes técnicas de la Unidad 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5B87595-0FD2-45FF-A85C-B78C87C58A81}"/>
              </a:ext>
            </a:extLst>
          </p:cNvPr>
          <p:cNvSpPr>
            <a:spLocks noGrp="1"/>
          </p:cNvSpPr>
          <p:nvPr/>
        </p:nvSpPr>
        <p:spPr>
          <a:xfrm>
            <a:off x="895350" y="18859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12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ALCANCE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6FD7AA1-11DA-489A-85C6-BA050474ECA0}"/>
              </a:ext>
            </a:extLst>
          </p:cNvPr>
          <p:cNvSpPr>
            <a:spLocks noGrp="1"/>
          </p:cNvSpPr>
          <p:nvPr/>
        </p:nvSpPr>
        <p:spPr>
          <a:xfrm>
            <a:off x="3714750" y="1885950"/>
            <a:ext cx="7524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Programa oficial de Física Acústica — Unidad 1.</a:t>
            </a:r>
          </a:p>
        </p:txBody>
      </p:sp>
      <p:sp>
        <p:nvSpPr>
          <p:cNvPr id="6" name="reference_rule_1">
            <a:extLst>
              <a:ext uri="{FF2B5EF4-FFF2-40B4-BE49-F238E27FC236}">
                <a16:creationId xmlns:a16="http://schemas.microsoft.com/office/drawing/2014/main" id="{5612D749-BEA0-448A-8E79-176A3B2D0DC8}"/>
              </a:ext>
            </a:extLst>
          </p:cNvPr>
          <p:cNvSpPr>
            <a:spLocks noGrp="1"/>
          </p:cNvSpPr>
          <p:nvPr/>
        </p:nvSpPr>
        <p:spPr>
          <a:xfrm>
            <a:off x="895350" y="2724150"/>
            <a:ext cx="10344150" cy="14288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7A0EB4-C786-4092-9B64-5C0F500B7F9F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12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LIBRO DEL CURSO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83E81EC-B0C2-4D12-A4C1-8DA4CA2CF58D}"/>
              </a:ext>
            </a:extLst>
          </p:cNvPr>
          <p:cNvSpPr>
            <a:spLocks noGrp="1"/>
          </p:cNvSpPr>
          <p:nvPr/>
        </p:nvSpPr>
        <p:spPr>
          <a:xfrm>
            <a:off x="3714750" y="3048000"/>
            <a:ext cx="7524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Capítulo 1: Nociones básicas e introducción a la acústica.</a:t>
            </a:r>
          </a:p>
        </p:txBody>
      </p:sp>
      <p:sp>
        <p:nvSpPr>
          <p:cNvPr id="9" name="reference_rule_2">
            <a:extLst>
              <a:ext uri="{FF2B5EF4-FFF2-40B4-BE49-F238E27FC236}">
                <a16:creationId xmlns:a16="http://schemas.microsoft.com/office/drawing/2014/main" id="{866E7810-E060-4131-AFE8-EC753606B8FC}"/>
              </a:ext>
            </a:extLst>
          </p:cNvPr>
          <p:cNvSpPr>
            <a:spLocks noGrp="1"/>
          </p:cNvSpPr>
          <p:nvPr/>
        </p:nvSpPr>
        <p:spPr>
          <a:xfrm>
            <a:off x="895350" y="3886200"/>
            <a:ext cx="10344150" cy="14288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2F0CF60-D157-4CFC-9191-95599A21769F}"/>
              </a:ext>
            </a:extLst>
          </p:cNvPr>
          <p:cNvSpPr>
            <a:spLocks noGrp="1"/>
          </p:cNvSpPr>
          <p:nvPr/>
        </p:nvSpPr>
        <p:spPr>
          <a:xfrm>
            <a:off x="895350" y="42100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12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REFERENCIAS SI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5B45571-B2CF-4604-AD3D-ACC0246EC8FD}"/>
              </a:ext>
            </a:extLst>
          </p:cNvPr>
          <p:cNvSpPr>
            <a:spLocks noGrp="1"/>
          </p:cNvSpPr>
          <p:nvPr/>
        </p:nvSpPr>
        <p:spPr>
          <a:xfrm>
            <a:off x="3714750" y="4210050"/>
            <a:ext cx="7524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BIPM, The International System of Units (SI Brochure). NIST, recursos del SI.</a:t>
            </a:r>
          </a:p>
        </p:txBody>
      </p:sp>
      <p:sp>
        <p:nvSpPr>
          <p:cNvPr id="12" name="reference_rule_3">
            <a:extLst>
              <a:ext uri="{FF2B5EF4-FFF2-40B4-BE49-F238E27FC236}">
                <a16:creationId xmlns:a16="http://schemas.microsoft.com/office/drawing/2014/main" id="{4B175EBE-53B7-4EBD-84C9-6142336A927F}"/>
              </a:ext>
            </a:extLst>
          </p:cNvPr>
          <p:cNvSpPr>
            <a:spLocks noGrp="1"/>
          </p:cNvSpPr>
          <p:nvPr/>
        </p:nvSpPr>
        <p:spPr>
          <a:xfrm>
            <a:off x="895350" y="5048250"/>
            <a:ext cx="10344150" cy="14288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10000"/>
          </a:bodyPr>
          <a:lstStyle/>
          <a:p>
            <a:pPr algn="ctr">
              <a:defRPr sz="1200" u="sng">
                <a:solidFill>
                  <a:srgbClr val="023E7C"/>
                </a:solidFill>
                <a:latin typeface="Calibri"/>
                <a:ea typeface="Calibri"/>
                <a:cs typeface="Calibri"/>
              </a:defRPr>
            </a:pPr>
            <a:r>
              <a:rPr sz="1200" u="sng">
                <a:solidFill>
                  <a:srgbClr val="023E7C"/>
                </a:solidFill>
                <a:latin typeface="Calibri"/>
                <a:ea typeface="Calibri"/>
                <a:cs typeface="Calibri"/>
                <a:hlinkClick r:id="rId3"/>
              </a:rPr>
              <a:t>https://www.nist.gov/publications/si-base-units-relationship-poster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DDA5A17-DA64-4BDA-BE84-E550DBADD5A8}"/>
              </a:ext>
            </a:extLst>
          </p:cNvPr>
          <p:cNvSpPr>
            <a:spLocks noGrp="1"/>
          </p:cNvSpPr>
          <p:nvPr/>
        </p:nvSpPr>
        <p:spPr>
          <a:xfrm>
            <a:off x="1524000" y="5391150"/>
            <a:ext cx="914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buNone/>
              <a:defRPr sz="1200" b="0" u="sng">
                <a:solidFill>
                  <a:srgbClr val="023E7C"/>
                </a:solidFill>
                <a:latin typeface="Calibri"/>
                <a:ea typeface="Calibri"/>
                <a:cs typeface="Calibri"/>
              </a:defRPr>
            </a:pPr>
            <a:r>
              <a:rPr sz="1200" b="0" u="sng">
                <a:solidFill>
                  <a:srgbClr val="023E7C"/>
                </a:solidFill>
                <a:latin typeface="Calibri"/>
                <a:ea typeface="Calibri"/>
                <a:cs typeface="Calibri"/>
                <a:hlinkClick r:id="rId4"/>
              </a:rPr>
              <a:t>https://www.bipm.org/en/publications/si-brochure</a:t>
            </a:r>
          </a:p>
        </p:txBody>
      </p:sp>
      <p:sp>
        <p:nvSpPr>
          <p:cNvPr id="14" name="fa_slide_number_local">
            <a:extLst>
              <a:ext uri="{FF2B5EF4-FFF2-40B4-BE49-F238E27FC236}">
                <a16:creationId xmlns:a16="http://schemas.microsoft.com/office/drawing/2014/main" id="{9A7F1E8E-F67E-4F0D-BC05-223B8AB0B78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Banco de transferencia: aplicar, justificar y distinguir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Banco de transferencia.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1. Recalcular un tiempo de propagación con otra distancia y justificar la unidad.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2. Corregir una medición mal escrita y explicar cada cambio.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3. Elegir una expresión por dimensiones antes de sustituir valores.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4. Clasificar un dato audiológico como medición, nivel referido, percepción o conclusión.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Material de respaldo para consulta.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C422F115-02DD-4410-A361-4C521467005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18721</Words>
  <Application>Microsoft Office PowerPoint</Application>
  <DocSecurity>0</DocSecurity>
  <PresentationFormat>Panorámica</PresentationFormat>
  <Paragraphs>1827</Paragraphs>
  <Slides>94</Slides>
  <Notes>94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94</vt:i4>
      </vt:variant>
    </vt:vector>
  </HeadingPairs>
  <TitlesOfParts>
    <vt:vector size="101" baseType="lpstr">
      <vt:lpstr>Aptos</vt:lpstr>
      <vt:lpstr>Arial</vt:lpstr>
      <vt:lpstr>Calibri</vt:lpstr>
      <vt:lpstr>Calibri Light</vt:lpstr>
      <vt:lpstr>Cambria Math</vt:lpstr>
      <vt:lpstr>FA_MASTER_CLARO</vt:lpstr>
      <vt:lpstr>FA_MASTER_BORDO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Maximiliano Ortiz</cp:lastModifiedBy>
  <cp:revision>1</cp:revision>
  <dcterms:created xsi:type="dcterms:W3CDTF">2026-07-29T01:43:09Z</dcterms:created>
  <dcterms:modified xsi:type="dcterms:W3CDTF">2026-07-29T02:05:42Z</dcterms:modified>
</cp:coreProperties>
</file>