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9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microsoft.com/office/2016/11/relationships/changesInfo" Target="changesInfos/changesInfo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modSld">
      <pc:chgData name="Maximiliano Ortiz" userId="90727fd8e92db46b" providerId="LiveId" clId="{9BC7EBD1-E6C7-40E2-9BE0-E69EBE0B6810}" dt="2026-07-29T16:33:43.183" v="1" actId="1036"/>
      <pc:docMkLst>
        <pc:docMk/>
      </pc:docMkLst>
      <pc:sldChg chg="modSp mod">
        <pc:chgData name="Maximiliano Ortiz" userId="90727fd8e92db46b" providerId="LiveId" clId="{9BC7EBD1-E6C7-40E2-9BE0-E69EBE0B6810}" dt="2026-07-29T16:33:24.908" v="0" actId="1036"/>
        <pc:sldMkLst>
          <pc:docMk/>
          <pc:sldMk cId="1164902343" sldId="262"/>
        </pc:sldMkLst>
        <pc:spChg chg="mod">
          <ac:chgData name="Maximiliano Ortiz" userId="90727fd8e92db46b" providerId="LiveId" clId="{9BC7EBD1-E6C7-40E2-9BE0-E69EBE0B6810}" dt="2026-07-29T16:33:24.908" v="0" actId="1036"/>
          <ac:spMkLst>
            <pc:docMk/>
            <pc:sldMk cId="1164902343" sldId="262"/>
            <ac:spMk id="5" creationId="{704905F4-7653-42FA-8F6C-87B53E0A3467}"/>
          </ac:spMkLst>
        </pc:spChg>
      </pc:sldChg>
      <pc:sldChg chg="modSp mod">
        <pc:chgData name="Maximiliano Ortiz" userId="90727fd8e92db46b" providerId="LiveId" clId="{9BC7EBD1-E6C7-40E2-9BE0-E69EBE0B6810}" dt="2026-07-29T16:33:43.183" v="1" actId="1036"/>
        <pc:sldMkLst>
          <pc:docMk/>
          <pc:sldMk cId="986630461" sldId="267"/>
        </pc:sldMkLst>
        <pc:spChg chg="mod">
          <ac:chgData name="Maximiliano Ortiz" userId="90727fd8e92db46b" providerId="LiveId" clId="{9BC7EBD1-E6C7-40E2-9BE0-E69EBE0B6810}" dt="2026-07-29T16:33:43.183" v="1" actId="1036"/>
          <ac:spMkLst>
            <pc:docMk/>
            <pc:sldMk cId="986630461" sldId="267"/>
            <ac:spMk id="3" creationId="{47E18BF3-1194-49E8-8472-C611E239A7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unidad como el vocabulario común del curso. No prometer una teoría completa del sonido: hoy se construyen herramientas para describirlo.</a:t>
            </a:r>
          </a:p>
          <a:p>
            <a:r>
              <a:t>- **Pregunta y respuesta esperada:** “¿Qué palabras físicas usarían para describir una voz?” Se esperan términos cotidianos; no corregir todavía.</a:t>
            </a:r>
          </a:p>
          <a:p>
            <a:r>
              <a:t>- **Énfasis/error frecuente:** Acústica no se reduce a ondas ni a decibeles.</a:t>
            </a:r>
          </a:p>
          <a:p>
            <a:r>
              <a:t>- **Transición:** “Partamos de una escena que todos podemos reconocer”.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MAP U1; BRF.</a:t>
            </a:r>
          </a:p>
          <a:p>
            <a:endParaRPr/>
          </a:p>
          <a:p>
            <a:r>
              <a:t>Transición: Comencemos con una situación conocida.</a:t>
            </a:r>
          </a:p>
          <a:p>
            <a:endParaRPr/>
          </a:p>
          <a:p>
            <a:r>
              <a:t>Texto alternativo: Una persona vocaliza; la perturbación atraviesa el aire y llega a un receptor.</a:t>
            </a:r>
          </a:p>
          <a:p>
            <a:r>
              <a:t>
[Sources]
- PO p. 3; MAP U1;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30 segundos de observación. Separar en el pizarrón respuestas sobre producción, medición, experiencia y clínica, sin nombrar aún las categorías.</a:t>
            </a:r>
          </a:p>
          <a:p>
            <a:r>
              <a:t>- **Pregunta y respuesta esperada:** Qué se produce: una perturbación/señal; qué mide el micrófono: una respuesta instrumental; qué experimenta la persona: una percepción.</a:t>
            </a:r>
          </a:p>
          <a:p>
            <a:r>
              <a:t>- **Énfasis/error frecuente:** Evitar aceptar “el micrófono mide cómo se escucha” como equivalencia.</a:t>
            </a:r>
          </a:p>
          <a:p>
            <a:r>
              <a:t>- **Transición:** “Para precisar las respuestas vamos a recuperar herramientas básicas”.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BRF.</a:t>
            </a:r>
          </a:p>
          <a:p>
            <a:endParaRPr/>
          </a:p>
          <a:p>
            <a:r>
              <a:t>Transición: Para responder mejor, primero necesitamos recuperar algunas herramientas.</a:t>
            </a:r>
          </a:p>
          <a:p>
            <a:endParaRPr/>
          </a:p>
          <a:p>
            <a:r>
              <a:t>Texto alternativo: Persona que vocaliza frente a un micrófono mientras otra persona escucha; tres preguntas distinguen producción, medición y experiencia.</a:t>
            </a:r>
          </a:p>
          <a:p>
            <a:r>
              <a:t>
[Sources]
- TEX `sec:u1-situacion`; PDF p. 14;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Normalizar la heterogeneidad del grupo. Explicar que potencias, funciones y trigonometría se recuperarán en contexto, no como examen previo.</a:t>
            </a:r>
          </a:p>
          <a:p>
            <a:r>
              <a:t>- **Pregunta y respuesta esperada:** Pedir una señal de confianza de 1 a 5 para cada herramienta; no hay respuesta correcta.</a:t>
            </a:r>
          </a:p>
          <a:p>
            <a:r>
              <a:t>- **Énfasis/error frecuente:** No presentar los prerrequisitos como una barrera de ingreso.</a:t>
            </a:r>
          </a:p>
          <a:p>
            <a:r>
              <a:t>- **Transición:** “Veamos qué apoyos necesita este grupo concreto”.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sec:u1-previos; BRF; DEP.</a:t>
            </a:r>
          </a:p>
          <a:p>
            <a:endParaRPr/>
          </a:p>
          <a:p>
            <a:r>
              <a:t>Transición: Hagamos un diagnóstico breve, sin calificación.</a:t>
            </a:r>
          </a:p>
          <a:p>
            <a:endParaRPr/>
          </a:p>
          <a:p>
            <a:r>
              <a:t>Texto alternativo: Dos grupos de tarjetas separan conocimientos cotidianos de herramientas que se recuperarán durante la unidad.</a:t>
            </a:r>
          </a:p>
          <a:p>
            <a:r>
              <a:t>
[Sources]
- TEX `sec:u1-previos`; BRF;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Recoger respuestas por manos, tarjetas o formulario. Anotar patrones, no nombres. Guardar la distribución para U01-083.</a:t>
            </a:r>
          </a:p>
          <a:p>
            <a:r>
              <a:t>- **Pregunta y respuesta esperada:** 1: magnitud/símbolo/valor/unidad; 2: N; 3: `d/c`; 4: relacionadas, no idénticas.</a:t>
            </a:r>
          </a:p>
          <a:p>
            <a:r>
              <a:t>- **Énfasis/error frecuente:** No resolver todavía; pedir una razón breve para evitar azar.</a:t>
            </a:r>
          </a:p>
          <a:p>
            <a:r>
              <a:t>- **Transición:** “Al final deberían poder justificar cada respuesta”.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BRF; TEX ejercicios D1–D3.</a:t>
            </a:r>
          </a:p>
          <a:p>
            <a:endParaRPr/>
          </a:p>
          <a:p>
            <a:r>
              <a:t>Transición: Los objetivos muestran qué evidencias esperamos construir.</a:t>
            </a:r>
          </a:p>
          <a:p>
            <a:endParaRPr/>
          </a:p>
          <a:p>
            <a:r>
              <a:t>Texto alternativo: Cuatro preguntas diagnósticas sobre unidades, peso, dimensiones y frecuencia.</a:t>
            </a:r>
          </a:p>
          <a:p>
            <a:r>
              <a:t>
[Sources]
- BRF; TEX ejercicios D1–D3.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objetivos por grupos, no palabra por palabra. Asociar cada uno con una evidencia: clasificación, cálculo, justificación o límite.</a:t>
            </a:r>
          </a:p>
          <a:p>
            <a:r>
              <a:t>- **Pregunta y respuesta esperada:** “¿Cuál objetivo exige algo más que calcular?” Interpretar límites y distinguir categorías.</a:t>
            </a:r>
          </a:p>
          <a:p>
            <a:r>
              <a:t>- **Énfasis/error frecuente:** Obtener un número correcto no agota la comprensión.</a:t>
            </a:r>
          </a:p>
          <a:p>
            <a:r>
              <a:t>- **Transición:** “Esta es la ruta que seguiremos para construir esas evidencias”.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TEX sec:u1-proposito.</a:t>
            </a:r>
          </a:p>
          <a:p>
            <a:endParaRPr/>
          </a:p>
          <a:p>
            <a:r>
              <a:t>Transición: Veamos cómo se organiza la clase.</a:t>
            </a:r>
          </a:p>
          <a:p>
            <a:endParaRPr/>
          </a:p>
          <a:p>
            <a:r>
              <a:t>Texto alternativo: Ruta de aprendizaje con ocho objetivos agrupados en cinco etapas.</a:t>
            </a:r>
          </a:p>
          <a:p>
            <a:r>
              <a:t>
[Sources]
- BRF; TEX `sec:u1-proposito`.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la pausa y aclarar que las complementarias no forman parte obligatoria del recorrido. Señalar el retorno al caso inicial.</a:t>
            </a:r>
          </a:p>
          <a:p>
            <a:r>
              <a:t>- **Pregunta y respuesta esperada:** “¿Por qué interpretar aparece después de medir y representar?” Porque necesita conocer qué dato se obtuvo y bajo qué modelo.</a:t>
            </a:r>
          </a:p>
          <a:p>
            <a:r>
              <a:t>- **Énfasis/error frecuente:** No intentar completar todas las slides opcionales.</a:t>
            </a:r>
          </a:p>
          <a:p>
            <a:r>
              <a:t>- **Transición:** “Empecemos por el sistema acústico mínimo”.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MAP U1; EST.</a:t>
            </a:r>
          </a:p>
          <a:p>
            <a:endParaRPr/>
          </a:p>
          <a:p>
            <a:r>
              <a:t>Transición: Primero delimitaremos el sistema acústico mínimo.</a:t>
            </a:r>
          </a:p>
          <a:p>
            <a:endParaRPr/>
          </a:p>
          <a:p>
            <a:r>
              <a:t>Texto alternativo: Cinco etapas conectadas desde el fenómeno hasta la interpretación, con una pausa intermedia.</a:t>
            </a:r>
          </a:p>
          <a:p>
            <a:r>
              <a:t>
[Sources]
- BRF; MAP U1; EST.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vocabulario de U01-002 y agruparlo bajo las funciones originar, transmitir y responder.</a:t>
            </a:r>
          </a:p>
          <a:p>
            <a:r>
              <a:t>- **Pregunta y respuesta esperada:** En la vocalización: origina la voz; transmite el aire; responden micrófono y oído según el sistema.</a:t>
            </a:r>
          </a:p>
          <a:p>
            <a:r>
              <a:t>- **Énfasis/error frecuente:** Todavía no describir la onda formalmente.</a:t>
            </a:r>
          </a:p>
          <a:p>
            <a:r>
              <a:t>- **Transición:** “En acústica llamamos fuente, medio y receptor a esas funciones”.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TEX sec:u1-situacion.</a:t>
            </a:r>
          </a:p>
          <a:p>
            <a:endParaRPr/>
          </a:p>
          <a:p>
            <a:r>
              <a:t>Transición: Esas funciones reciben nombres precisos.</a:t>
            </a:r>
          </a:p>
          <a:p>
            <a:endParaRPr/>
          </a:p>
          <a:p>
            <a:r>
              <a:t>Texto alternativo: Tres nodos conectados representan origen, transmisión y respuesta.</a:t>
            </a:r>
          </a:p>
          <a:p>
            <a:r>
              <a:t>
[Sources]
- TEX `sec:u1-situacion`.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cada nodo y reemplazar ejemplos: voz/aire/oído y parlante/aire/micrófono. Explicar que el receptor puede transformar, registrar o experimentar.</a:t>
            </a:r>
          </a:p>
          <a:p>
            <a:r>
              <a:t>- **Pregunta y respuesta esperada:** “¿Un micrófono puede ser receptor?” Sí, dentro del sistema delimitado.</a:t>
            </a:r>
          </a:p>
          <a:p>
            <a:r>
              <a:t>- **Énfasis/error frecuente:** No confundir receptor con persona.</a:t>
            </a:r>
          </a:p>
          <a:p>
            <a:r>
              <a:t>- **Transición:** “Los roles dependen del sistema que decidimos analizar”.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INV C02–C04.</a:t>
            </a:r>
          </a:p>
          <a:p>
            <a:endParaRPr/>
          </a:p>
          <a:p>
            <a:r>
              <a:t>Transición: Un mismo objeto puede ocupar un rol distinto en otro sistema.</a:t>
            </a:r>
          </a:p>
          <a:p>
            <a:endParaRPr/>
          </a:p>
          <a:p>
            <a:r>
              <a:t>Texto alternativo: Tres cajas conectadas: la fuente origina, el medio transmite y el receptor responde.</a:t>
            </a:r>
          </a:p>
          <a:p>
            <a:r>
              <a:t>
[Sources]
- TEX `sec:u1-situacion`; PDF p. 14; INV C02–C04.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fija los roles como propiedades. Delimitar una cadena mayor y mostrar que un transductor puede recibir una señal y originar otra.</a:t>
            </a:r>
          </a:p>
          <a:p>
            <a:r>
              <a:t>- **Pregunta y respuesta esperada:** Un parlante puede ser receptor de una señal eléctrica y fuente de una perturbación mecánica, según la frontera elegida.</a:t>
            </a:r>
          </a:p>
          <a:p>
            <a:r>
              <a:t>- **Énfasis/error frecuente:** No multiplicar nodos hasta volver ilegible el modelo.</a:t>
            </a:r>
          </a:p>
          <a:p>
            <a:r>
              <a:t>- **Transición:** “Ahora distingamos rol funcional de movimiento material”.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sec:u1-situacion; TEX sec:u1-relacion-fono.</a:t>
            </a:r>
          </a:p>
          <a:p>
            <a:endParaRPr/>
          </a:p>
          <a:p>
            <a:r>
              <a:t>Transición: Delimitar roles no responde todavía qué se desplaza.</a:t>
            </a:r>
          </a:p>
          <a:p>
            <a:endParaRPr/>
          </a:p>
          <a:p>
            <a:r>
              <a:t>Texto alternativo: Tres cadenas muestran que la función de un elemento cambia según el sistema analizado.</a:t>
            </a:r>
          </a:p>
          <a:p>
            <a:r>
              <a:t>
[Sources]
- TEX `sec:u1-situacion`; TEX `sec:u1-relacion-fono`.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Reproducir el GIF una vez sin hablar y otra siguiendo la partícula marcada. Luego seguir el frente de compresión. Explicar que son dos trayectorias distintas.</a:t>
            </a:r>
          </a:p>
          <a:p>
            <a:r>
              <a:t>- **Pregunta y respuesta esperada:** “¿La partícula marcada llega al receptor?” No; oscila alrededor de su posición.</a:t>
            </a:r>
          </a:p>
          <a:p>
            <a:r>
              <a:t>- **Multimedia:** GIF U01-MEDIA002, sin audio, 6–8 s; respaldo estático U01-CH002.</a:t>
            </a:r>
          </a:p>
          <a:p>
            <a:r>
              <a:t>- **Énfasis/error frecuente:** El modelo es conceptual y no describe aún una onda sonora completa.</a:t>
            </a:r>
          </a:p>
          <a:p>
            <a:r>
              <a:t>- **Transición:** “Hagamos visible esta diferencia con un objeto real”.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sec:u1-onda-mecanica; PDF pp. 15–16; DEP U3.</a:t>
            </a:r>
          </a:p>
          <a:p>
            <a:endParaRPr/>
          </a:p>
          <a:p>
            <a:r>
              <a:t>Transición: Una demostración permite observar ambas trayectorias.</a:t>
            </a:r>
          </a:p>
          <a:p>
            <a:endParaRPr/>
          </a:p>
          <a:p>
            <a:r>
              <a:t>Texto alternativo: Tres estados de una cadena de partículas; una partícula oscila localmente mientras la compresión avanza.</a:t>
            </a:r>
          </a:p>
          <a:p>
            <a:r>
              <a:t>
[Sources]
- TEX `sec:u1-onda-mecanica`; PDF pp. 15–16;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Colocar una marca visible en una espira. Pedir predicción, generar un pulso breve y comparar desplazamientos. Repetir si es necesario.</a:t>
            </a:r>
          </a:p>
          <a:p>
            <a:r>
              <a:t>- **Pregunta y respuesta esperada:** El pulso recorre el resorte; la marca se desplaza localmente y vuelve aproximadamente a su zona.</a:t>
            </a:r>
          </a:p>
          <a:p>
            <a:r>
              <a:t>- **Demostración:** Mantener el resorte a altura segura y sin tensión excesiva. Si no es viable, usar el GIF.</a:t>
            </a:r>
          </a:p>
          <a:p>
            <a:r>
              <a:t>- **Énfasis/error frecuente:** El resorte es una analogía limitada; no afirmar que el sonido en aire es transversal.</a:t>
            </a:r>
          </a:p>
          <a:p>
            <a:r>
              <a:t>- **Transición:** “La acústica estudia estos procesos y mucho más”.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sec:u1-actividad-onda; INV ACT01.</a:t>
            </a:r>
          </a:p>
          <a:p>
            <a:endParaRPr/>
          </a:p>
          <a:p>
            <a:r>
              <a:t>Transición: Los procesos de producción, propagación y recepción forman parte de la acústica.</a:t>
            </a:r>
          </a:p>
          <a:p>
            <a:endParaRPr/>
          </a:p>
          <a:p>
            <a:r>
              <a:t>Texto alternativo: Secuencia de tres pasos para predecir y observar un pulso en un resorte con una espira marcada.</a:t>
            </a:r>
          </a:p>
          <a:p>
            <a:r>
              <a:t>
[Sources]
- TEX `sec:u1-actividad-onda`; INV ACT01.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cinco verbos y asociar un caso a cada uno. Producción: voz; propagación: aire; recepción: oído/micrófono; control: tratamiento; efectos: respuesta.</a:t>
            </a:r>
          </a:p>
          <a:p>
            <a:r>
              <a:t>- **Pregunta y respuesta esperada:** “¿Dónde ubicarían una cabina audiométrica?” Principalmente control del ambiente y de la propagación.</a:t>
            </a:r>
          </a:p>
          <a:p>
            <a:r>
              <a:t>- **Énfasis/error frecuente:** Evitar una definición tan amplia que pierda el objeto mecánico.</a:t>
            </a:r>
          </a:p>
          <a:p>
            <a:r>
              <a:t>- **Transición:** “Veamos por qué esta disciplina importa en Fonoaudiología”.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15.</a:t>
            </a:r>
          </a:p>
          <a:p>
            <a:endParaRPr/>
          </a:p>
          <a:p>
            <a:r>
              <a:t>Transición: Ese alcance se conecta directamente con Fonoaudiología.</a:t>
            </a:r>
          </a:p>
          <a:p>
            <a:endParaRPr/>
          </a:p>
          <a:p>
            <a:r>
              <a:t>Texto alternativo: La palabra acústica aparece rodeada por producción, propagación, recepción, control y efectos.</a:t>
            </a:r>
          </a:p>
          <a:p>
            <a:r>
              <a:t>
[Sources]
- PO p. 3; TEX `sec:u1-alcance`; PDF p. 15.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un ejemplo breve por fila. En cada caso distinguir el dato físico de la decisión profesional.</a:t>
            </a:r>
          </a:p>
          <a:p>
            <a:r>
              <a:t>- **Pregunta y respuesta esperada:** “¿Una frecuencia medida diagnostica?” No; es un dato que se integra con procedimiento, respuesta y contexto.</a:t>
            </a:r>
          </a:p>
          <a:p>
            <a:r>
              <a:t>- **Énfasis/error frecuente:** No prometer causalidad clínica a partir de una medición aislada.</a:t>
            </a:r>
          </a:p>
          <a:p>
            <a:r>
              <a:t>- **Transición:** “Antes de medir, resumamos qué sistema estamos describiendo”.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15; BRF.</a:t>
            </a:r>
          </a:p>
          <a:p>
            <a:endParaRPr/>
          </a:p>
          <a:p>
            <a:r>
              <a:t>Transición: Recapitulemos el modelo antes de empezar a medir.</a:t>
            </a:r>
          </a:p>
          <a:p>
            <a:endParaRPr/>
          </a:p>
          <a:p>
            <a:r>
              <a:t>Texto alternativo: Cuatro aplicaciones de la acústica en voz, Audiología, dispositivos y ambientes, más una advertencia clínica.</a:t>
            </a:r>
          </a:p>
          <a:p>
            <a:r>
              <a:t>
[Sources]
- PO p. 3; TEX `sec:u1-alcance`; PDF p. 15;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Retomar exactamente la escena inicial, pero pedir respuestas con los tres roles y el tipo de pregunta. Esta repetición exige transferencia.</a:t>
            </a:r>
          </a:p>
          <a:p>
            <a:r>
              <a:t>- **Pregunta y respuesta esperada:** Sistema delimitado; voz como fuente, aire como medio, oído o micrófono como receptor; preguntas físicas y perceptuales separadas.</a:t>
            </a:r>
          </a:p>
          <a:p>
            <a:r>
              <a:t>- **Énfasis/error frecuente:** No repetir definiciones completas.</a:t>
            </a:r>
          </a:p>
          <a:p>
            <a:r>
              <a:t>- **Transición:** “Ya sabemos qué observamos; ahora necesitamos decir cuánto”.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Ahora necesitamos expresar cuánto cambia una magnitud y con qué unidad.</a:t>
            </a:r>
          </a:p>
          <a:p>
            <a:endParaRPr/>
          </a:p>
          <a:p>
            <a:r>
              <a:t>Texto alternativo: Mapa fuente–medio–receptor acompañado por preguntas sobre sistema y tipo de conclusión.</a:t>
            </a:r>
          </a:p>
          <a:p>
            <a:r>
              <a:t>
[Sources]
- TEX `sec:u1-sintesis`;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Escribir “2” en el pizarrón y pedir interpretaciones. Agregar sucesivamente distancia y metro.</a:t>
            </a:r>
          </a:p>
          <a:p>
            <a:r>
              <a:t>- **Pregunta y respuesta esperada:** El 2 podría ser tiempo, distancia, masa o cualquier otra cantidad; sin magnitud y unidad no es interpretable.</a:t>
            </a:r>
          </a:p>
          <a:p>
            <a:r>
              <a:t>- **Énfasis/error frecuente:** Un número no es una medición completa.</a:t>
            </a:r>
          </a:p>
          <a:p>
            <a:r>
              <a:t>- **Transición:** “Medir significa comparar con una referencia”.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sec:u1-si.</a:t>
            </a:r>
          </a:p>
          <a:p>
            <a:endParaRPr/>
          </a:p>
          <a:p>
            <a:r>
              <a:t>Transición: Medir comienza por comparar.</a:t>
            </a:r>
          </a:p>
          <a:p>
            <a:endParaRPr/>
          </a:p>
          <a:p>
            <a:r>
              <a:t>Texto alternativo: Un número aislado se completa progresivamente con una propiedad y una unidad.</a:t>
            </a:r>
          </a:p>
          <a:p>
            <a:r>
              <a:t>
[Sources]
- PO p. 3; TEX `sec:u1-si`.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longitud y tiempo, que el grupo ya conoce. Señalar que una magnitud también puede calcularse a partir de otras.</a:t>
            </a:r>
          </a:p>
          <a:p>
            <a:r>
              <a:t>- **Pregunta y respuesta esperada:** En `2,0 m`, la propiedad es longitud/distancia; metro es la referencia acordada.</a:t>
            </a:r>
          </a:p>
          <a:p>
            <a:r>
              <a:t>- **Énfasis/error frecuente:** Evitar definir magnitud como “algo que tiene unidad” sin explicar la propiedad.</a:t>
            </a:r>
          </a:p>
          <a:p>
            <a:r>
              <a:t>- **Transición:** “Separemos cada pieza de la expresión”.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PDF p. 16.</a:t>
            </a:r>
          </a:p>
          <a:p>
            <a:endParaRPr/>
          </a:p>
          <a:p>
            <a:r>
              <a:t>Transición: Desarmemos la escritura de ese resultado.</a:t>
            </a:r>
          </a:p>
          <a:p>
            <a:endParaRPr/>
          </a:p>
          <a:p>
            <a:r>
              <a:t>Texto alternativo: Una mesa se compara con un patrón; el resultado muestra magnitud, valor y unidad.</a:t>
            </a:r>
          </a:p>
          <a:p>
            <a:r>
              <a:t>
[Sources]
- TEX `sec:u1-magnitud-unidad`; PDF p. 16.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etiquetas una por una. Pronunciar *d* como símbolo local de distancia y metro como unidad. Mostrar la tipografía distinta.</a:t>
            </a:r>
          </a:p>
          <a:p>
            <a:r>
              <a:t>- **Pregunta y respuesta esperada:** “¿Qué cambiaría si midiéramos tiempo?” Cambiarían magnitud, símbolo, valor posible y unidad.</a:t>
            </a:r>
          </a:p>
          <a:p>
            <a:r>
              <a:t>- **Énfasis/error frecuente:** `m` puede significar metro en redonda o masa en cursiva; el formato y el contexto importan.</a:t>
            </a:r>
          </a:p>
          <a:p>
            <a:r>
              <a:t>- **Transición:** “Veamos resultados que parecen completos pero no lo están”.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NOT; INV C07–C08.</a:t>
            </a:r>
          </a:p>
          <a:p>
            <a:endParaRPr/>
          </a:p>
          <a:p>
            <a:r>
              <a:t>Transición: Probemos qué información falta en otros resultados.</a:t>
            </a:r>
          </a:p>
          <a:p>
            <a:endParaRPr/>
          </a:p>
          <a:p>
            <a:r>
              <a:t>Texto alternativo: Flechas señalan la magnitud, su símbolo, el valor y la unidad en la expresión d igual a 2 metros.</a:t>
            </a:r>
          </a:p>
          <a:p>
            <a:r>
              <a:t>
[Sources]
- TEX `sec:u1-magnitud-unidad`; NOT; INV C07–C08.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Aceptar distintas magnitudes para “3” si se completan coherentemente. Corregir `15 mts/seg` como `15 m/s`.</a:t>
            </a:r>
          </a:p>
          <a:p>
            <a:r>
              <a:t>- **Pregunta y respuesta esperada:** `t=0,2 s`; `20 °C` ya tiene valor y unidad, aunque puede faltar la magnitud en una ecuación; `5 kg` está bien como valor de masa.</a:t>
            </a:r>
          </a:p>
          <a:p>
            <a:r>
              <a:t>- **Énfasis/error frecuente:** No convertir la actividad en una lista normativa exhaustiva.</a:t>
            </a:r>
          </a:p>
          <a:p>
            <a:r>
              <a:t>- **Transición:** “Para comunicarnos necesitamos unidades compartidas”.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D1; NOT.</a:t>
            </a:r>
          </a:p>
          <a:p>
            <a:endParaRPr/>
          </a:p>
          <a:p>
            <a:r>
              <a:t>Transición: Un sistema compartido evita que cada persona improvise unidades.</a:t>
            </a:r>
          </a:p>
          <a:p>
            <a:endParaRPr/>
          </a:p>
          <a:p>
            <a:r>
              <a:t>Texto alternativo: Cinco resultados incompletos o mal escritos esperan corrección.</a:t>
            </a:r>
          </a:p>
          <a:p>
            <a:r>
              <a:t>
[Sources]
- TEX ejercicios D1;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el SI permite comparar y combinar resultados. “Básica” describe la estructura del sistema, no la importancia profesional.</a:t>
            </a:r>
          </a:p>
          <a:p>
            <a:r>
              <a:t>- **Pregunta y respuesta esperada:** “¿Por qué m/s es derivada?” Porque combina unidades de longitud y tiempo mediante una relación.</a:t>
            </a:r>
          </a:p>
          <a:p>
            <a:r>
              <a:t>- **Énfasis/error frecuente:** Derivada no significa aproximada ni menos importante.</a:t>
            </a:r>
          </a:p>
          <a:p>
            <a:r>
              <a:t>- **Transición:** “Podemos consultar las siete bases o concentrarnos en las que usaremos”.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sec:u1-si; BIPM citado en TEX.</a:t>
            </a:r>
          </a:p>
          <a:p>
            <a:endParaRPr/>
          </a:p>
          <a:p>
            <a:r>
              <a:t>Transición: Podemos ampliar el panorama del SI o avanzar a las unidades que usaremos hoy.</a:t>
            </a:r>
          </a:p>
          <a:p>
            <a:endParaRPr/>
          </a:p>
          <a:p>
            <a:r>
              <a:t>Texto alternativo: Tiempo, longitud y masa se conectan con rapidez, aceleración, fuerza, presión y densidad.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PO p. 3; TEX `sec:u1-si`;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Si se usa, leer solo las filas destacadas y responder la duda sobre temperatura. Diferenciar kelvin de grado Celsius sin abrir termodinámica.</a:t>
            </a:r>
          </a:p>
          <a:p>
            <a:r>
              <a:t>- **Pregunta y respuesta esperada:** La unidad básica es K; `°C` se usa para temperatura Celsius y contexto ambiental.</a:t>
            </a:r>
          </a:p>
          <a:p>
            <a:r>
              <a:t>- **Énfasis/error frecuente:** No escribir “grados Kelvin”.</a:t>
            </a:r>
          </a:p>
          <a:p>
            <a:r>
              <a:t>- **Transición:** “Volvamos a las unidades derivadas de esta unidad”.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Volvamos a las unidades derivadas de esta clase.</a:t>
            </a:r>
          </a:p>
          <a:p>
            <a:endParaRPr/>
          </a:p>
          <a:p>
            <a:r>
              <a:t>Texto alternativo: Tabla de las siete magnitudes fundamentales y sus unidades básicas; cuatro filas están destacadas.</a:t>
            </a:r>
          </a:p>
          <a:p>
            <a:r>
              <a:t>
[Sources]
- TEX `sec:u1-si`; PDF p. 16;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cada operación en palabras, luego en unidades. Hacer que el grupo anticipe el resultado antes de mostrar N y Pa.</a:t>
            </a:r>
          </a:p>
          <a:p>
            <a:r>
              <a:t>- **Pregunta y respuesta esperada:** `kg·m/s²` recibe el nombre newton; `N/m²`, pascal.</a:t>
            </a:r>
          </a:p>
          <a:p>
            <a:r>
              <a:t>- **Énfasis/error frecuente:** No borrar unidades durante el cálculo.</a:t>
            </a:r>
          </a:p>
          <a:p>
            <a:r>
              <a:t>- **Transición:** “Estas son las magnitudes que conectaremos”.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sec:u1-magnitudes-derivadas; PDF p. 17.</a:t>
            </a:r>
          </a:p>
          <a:p>
            <a:endParaRPr/>
          </a:p>
          <a:p>
            <a:r>
              <a:t>Transición: Organicemos las magnitudes que aparecerán en la unidad.</a:t>
            </a:r>
          </a:p>
          <a:p>
            <a:endParaRPr/>
          </a:p>
          <a:p>
            <a:r>
              <a:t>Texto alternativo: Tres cadenas muestran cómo división y multiplicación construyen metro por segundo, newton y pascal.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TEX `sec:u1-magnitudes-derivadas`; PDF p. 17.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tabla como mapa de consulta. Leer únicamente distancia, tiempo y rapidez; anticipar que las demás filas aparecerán luego.</a:t>
            </a:r>
          </a:p>
          <a:p>
            <a:r>
              <a:t>- **Pregunta y respuesta esperada:** Las unidades de rapidez, fuerza, presión, densidad y frecuencia son derivadas.</a:t>
            </a:r>
          </a:p>
          <a:p>
            <a:r>
              <a:t>- **Énfasis/error frecuente:** No pedir memorización inmediata de todas las fórmulas.</a:t>
            </a:r>
          </a:p>
          <a:p>
            <a:r>
              <a:t>- **Transición:** “Antes de calcular, fijemos cómo escribir los símbolos”.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INV.</a:t>
            </a:r>
          </a:p>
          <a:p>
            <a:endParaRPr/>
          </a:p>
          <a:p>
            <a:r>
              <a:t>Transición: Antes de calcular, fijemos tres convenciones de escritura.</a:t>
            </a:r>
          </a:p>
          <a:p>
            <a:endParaRPr/>
          </a:p>
          <a:p>
            <a:r>
              <a:t>Texto alternativo: Tabla de ocho magnitudes con sus símbolos, relaciones introductorias y unidades.</a:t>
            </a:r>
          </a:p>
          <a:p>
            <a:r>
              <a:t>
[Sources]
- PO p. 3; TEX `sec:u1-magnitudes-derivadas`;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primero las formas incorrectas y pedir corrección. Recuperar U01-017 con unidades nuevas.</a:t>
            </a:r>
          </a:p>
          <a:p>
            <a:r>
              <a:t>- **Pregunta y respuesta esperada:** Los símbolos no se pluralizan, no llevan punto y respetan mayúsculas.</a:t>
            </a:r>
          </a:p>
          <a:p>
            <a:r>
              <a:t>- **Énfasis/error frecuente:** En texto corriente puede escribirse “pascales”; dentro de una expresión se usa `Pa`.</a:t>
            </a:r>
          </a:p>
          <a:p>
            <a:r>
              <a:t>- **Transición:** “Con la escritura controlada, podemos interpretar relaciones”.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sec:u1-errores; NOT; NIST citado en TEX.</a:t>
            </a:r>
          </a:p>
          <a:p>
            <a:endParaRPr/>
          </a:p>
          <a:p>
            <a:r>
              <a:t>Transición: Ya podemos leer magnitudes; ahora vamos a relacionarlas.</a:t>
            </a:r>
          </a:p>
          <a:p>
            <a:endParaRPr/>
          </a:p>
          <a:p>
            <a:r>
              <a:t>Texto alternativo: Tres escrituras incorrectas aparecen tachadas junto a sus formas normalizadas.</a:t>
            </a:r>
          </a:p>
          <a:p>
            <a:r>
              <a:t>
[Sources]
- TEX `sec:u1-errores`; NOT; NIST citado en TEX.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protocolo para cada ecuación: relación verbal, símbolos, unidades, proporcionalidad y límite. Mostrar la red vacía como promesa de integración.</a:t>
            </a:r>
          </a:p>
          <a:p>
            <a:r>
              <a:t>- **Pregunta y respuesta esperada:** “¿Qué sería usar una fórmula como receta?” Sustituir números sin comprender qué compara ni verificar unidades.</a:t>
            </a:r>
          </a:p>
          <a:p>
            <a:r>
              <a:t>- **Énfasis/error frecuente:** No presentar cuatro fórmulas a la vez.</a:t>
            </a:r>
          </a:p>
          <a:p>
            <a:r>
              <a:t>- **Transición:** “Empezamos con una comparación conocida: distancia y tiempo”.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PO p. 3.</a:t>
            </a:r>
          </a:p>
          <a:p>
            <a:endParaRPr/>
          </a:p>
          <a:p>
            <a:r>
              <a:t>Transición: Empecemos con distancia y tiempo.</a:t>
            </a:r>
          </a:p>
          <a:p>
            <a:endParaRPr/>
          </a:p>
          <a:p>
            <a:r>
              <a:t>Texto alternativo: Red incompleta de magnitudes físicas que se completará durante el bloque.</a:t>
            </a:r>
          </a:p>
          <a:p>
            <a:r>
              <a:t>
[Sources]
- BRF; PO p. 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Narrar el recorrido de 12 m en 3 s y preguntar “cuánto por segundo” antes de escribir la fórmula.</a:t>
            </a:r>
          </a:p>
          <a:p>
            <a:r>
              <a:t>- **Pregunta y respuesta esperada:** 4 metros por segundo; se compara todo el recorrido con todo el intervalo.</a:t>
            </a:r>
          </a:p>
          <a:p>
            <a:r>
              <a:t>- **Énfasis/error frecuente:** `Δt` es un intervalo, no un instante.</a:t>
            </a:r>
          </a:p>
          <a:p>
            <a:r>
              <a:t>- **Transición:** “La frase ‘distancia por tiempo’ se traduce en una división”.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BRF.</a:t>
            </a:r>
          </a:p>
          <a:p>
            <a:endParaRPr/>
          </a:p>
          <a:p>
            <a:r>
              <a:t>Transición: Traduzcamos “distancia por tiempo” a símbolos.</a:t>
            </a:r>
          </a:p>
          <a:p>
            <a:endParaRPr/>
          </a:p>
          <a:p>
            <a:r>
              <a:t>Texto alternativo: Un trayecto de distancia d y un reloj representan un intervalo delta t.</a:t>
            </a:r>
          </a:p>
          <a:p>
            <a:r>
              <a:t>
[Sources]
- TEX `sec:u1-magnitudes-derivadas`;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lectura verbal de la ecuación. Resolver 12/3 conservando unidades y discutir qué resume el promedio.</a:t>
            </a:r>
          </a:p>
          <a:p>
            <a:r>
              <a:t>- **Pregunta y respuesta esperada:** Si se duplica `d` con el mismo `Δt`, se duplica `v_med`; si se duplica el tiempo con la misma distancia, se reduce a la mitad.</a:t>
            </a:r>
          </a:p>
          <a:p>
            <a:r>
              <a:t>- **Énfasis/error frecuente:** No llamar velocidad vectorial a toda razón `d/Δt`.</a:t>
            </a:r>
          </a:p>
          <a:p>
            <a:r>
              <a:t>- **Transición:** “Ahora distingamos tres usos cercanos de la palabra velocidad”.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INV E01.</a:t>
            </a:r>
          </a:p>
          <a:p>
            <a:endParaRPr/>
          </a:p>
          <a:p>
            <a:r>
              <a:t>Transición: “Rapidez”, “velocidad” y “propagación” no nombran exactamente lo mismo.</a:t>
            </a:r>
          </a:p>
          <a:p>
            <a:endParaRPr/>
          </a:p>
          <a:p>
            <a:r>
              <a:t>Texto alternativo: La ecuación rapidez media igual a distancia dividida por intervalo se acompaña con unidades.</a:t>
            </a:r>
          </a:p>
          <a:p>
            <a:r>
              <a:t>
[Sources]
- TEX `sec:u1-magnitudes-derivadas`; INV E01.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los tres paneles. En propagación, seguir el frente; en movimiento local, seguir una partícula.</a:t>
            </a:r>
          </a:p>
          <a:p>
            <a:r>
              <a:t>- **Pregunta y respuesta esperada:** `c` describe el avance de la perturbación. La partícula no recorre la distancia fuente–receptor.</a:t>
            </a:r>
          </a:p>
          <a:p>
            <a:r>
              <a:t>- **Énfasis/error frecuente:** Usar “rapidez de propagación” cuando no se trabaja dirección.</a:t>
            </a:r>
          </a:p>
          <a:p>
            <a:r>
              <a:t>- **Transición:** “Con esa rapidez estimaremos un tiempo de llegada”.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sec:u1-velocidades; PDF pp. 18–19; NOT.</a:t>
            </a:r>
          </a:p>
          <a:p>
            <a:endParaRPr/>
          </a:p>
          <a:p>
            <a:r>
              <a:t>Transición: Usemos c para estimar un tiempo de llegada.</a:t>
            </a:r>
          </a:p>
          <a:p>
            <a:endParaRPr/>
          </a:p>
          <a:p>
            <a:r>
              <a:t>Texto alternativo: Tres paneles diferencian rapidez escalar, velocidad vectorial y avance de una perturbación.</a:t>
            </a:r>
          </a:p>
          <a:p>
            <a:r>
              <a:t>
[Sources]
- TEX `sec:u1-velocidades`; PDF pp. 18–19;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datos, formular relación verbal, despejar, sustituir, simplificar unidades y redondear. Explicar por qué `343 m/s` está condicionado.</a:t>
            </a:r>
          </a:p>
          <a:p>
            <a:r>
              <a:t>- **Pregunta y respuesta esperada:** La unidad final es segundo porque `m ÷ (m/s)=s`.</a:t>
            </a:r>
          </a:p>
          <a:p>
            <a:r>
              <a:t>- **Énfasis/error frecuente:** `c` no es una constante universal; cambia con medio y condiciones.</a:t>
            </a:r>
          </a:p>
          <a:p>
            <a:r>
              <a:t>- **Transición:** “Quien necesite otra práctica puede resolver un caso equivalente”.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sec:u1-ejemplo-tiempo; PDF p. 19; Cramer citado en TEX.</a:t>
            </a:r>
          </a:p>
          <a:p>
            <a:endParaRPr/>
          </a:p>
          <a:p>
            <a:r>
              <a:t>Transición: El mismo razonamiento puede practicarse con otros datos.</a:t>
            </a:r>
          </a:p>
          <a:p>
            <a:endParaRPr/>
          </a:p>
          <a:p>
            <a:r>
              <a:t>Texto alternativo: Una fuente y un receptor separados 100 metros acompañan el cálculo del tiempo de propagación.</a:t>
            </a:r>
          </a:p>
          <a:p>
            <a:r>
              <a:t>
[Sources]
- TEX `sec:u1-ejemplo-tiempo`; PDF p. 19; Cramer citado en TEX.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2 minutos. La solución es `t=68/340=0,20 s`. Pedir que el grupo muestre unidades, no solo calculadora.</a:t>
            </a:r>
          </a:p>
          <a:p>
            <a:r>
              <a:t>- **Pregunta y respuesta esperada:** Relación `t=d/c`; resultado `0,20 s`.</a:t>
            </a:r>
          </a:p>
          <a:p>
            <a:r>
              <a:t>- **Énfasis/error frecuente:** `340 m/s` es un redondeo didáctico.</a:t>
            </a:r>
          </a:p>
          <a:p>
            <a:r>
              <a:t>- **Transición:** “Pasemos de propagación a interacción mecánica”.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ejercicios NA1.</a:t>
            </a:r>
          </a:p>
          <a:p>
            <a:endParaRPr/>
          </a:p>
          <a:p>
            <a:r>
              <a:t>Transición: Pasemos del movimiento a la interacción mecánica.</a:t>
            </a:r>
          </a:p>
          <a:p>
            <a:endParaRPr/>
          </a:p>
          <a:p>
            <a:r>
              <a:t>Texto alternativo: Ejercicio con distancia de 68 metros y rapidez de 340 metros por segundo.</a:t>
            </a:r>
          </a:p>
          <a:p>
            <a:r>
              <a:t>
[Sources]
- TEX ejercicios NA1.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Contrastar la lectura cotidiana de una balanza con las magnitudes físicas. Explicar inercia como resistencia a cambiar el movimiento, sin desarrollar dinámica.</a:t>
            </a:r>
          </a:p>
          <a:p>
            <a:r>
              <a:t>- **Pregunta y respuesta esperada:** Cambia el peso al cambiar `g`; la masa del cuerpo se conserva en el ejemplo.</a:t>
            </a:r>
          </a:p>
          <a:p>
            <a:r>
              <a:t>- **Énfasis/error frecuente:** No definir masa como “cantidad de materia”.</a:t>
            </a:r>
          </a:p>
          <a:p>
            <a:r>
              <a:t>- **Transición:** “La relación entre ambas magnitudes conserva sus unidades”.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sec:u1-masa-peso; PDF p. 18; INV C16–C17.</a:t>
            </a:r>
          </a:p>
          <a:p>
            <a:endParaRPr/>
          </a:p>
          <a:p>
            <a:r>
              <a:t>Transición: La relación permite calcular el peso a partir de la masa.</a:t>
            </a:r>
          </a:p>
          <a:p>
            <a:endParaRPr/>
          </a:p>
          <a:p>
            <a:r>
              <a:t>Texto alternativo: Dos paneles contrastan masa en kilogramos y fuerza peso en newtons.</a:t>
            </a:r>
          </a:p>
          <a:p>
            <a:r>
              <a:t>
[Sources]
- PO p. 3; TEX `sec:u1-masa-peso`; PDF p. 18; INV C16–C17.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por etapas. Hacer visible que `kg·m/s²` se renombra N. Interpretar 24,5 N como fuerza gravitatoria bajo la `g` adoptada.</a:t>
            </a:r>
          </a:p>
          <a:p>
            <a:r>
              <a:t>- **Pregunta y respuesta esperada:** La unidad demuestra que el resultado es fuerza, no masa.</a:t>
            </a:r>
          </a:p>
          <a:p>
            <a:r>
              <a:t>- **Énfasis/error frecuente:** No escribir 24,5 kg como peso.</a:t>
            </a:r>
          </a:p>
          <a:p>
            <a:r>
              <a:t>- **Transición:** “El peso es un caso de fuerza; veamos la relación introductoria general”.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sec:u1-ejemplo-peso; TEX ejercicios NG2.</a:t>
            </a:r>
          </a:p>
          <a:p>
            <a:endParaRPr/>
          </a:p>
          <a:p>
            <a:r>
              <a:t>Transición: El peso es una fuerza; ahora anticiparemos la relación general entre fuerza y aceleración.</a:t>
            </a:r>
          </a:p>
          <a:p>
            <a:endParaRPr/>
          </a:p>
          <a:p>
            <a:r>
              <a:t>Texto alternativo: Multiplicación de 2,50 kilogramos por 9,80 metros por segundo cuadrado hasta obtener 24,5 newtons.</a:t>
            </a:r>
          </a:p>
          <a:p>
            <a:r>
              <a:t>
[Sources]
- TEX `sec:u1-ejemplo-peso`; TEX ejercicios NG2.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`F=ma` como anticipo. Aclarar “fuerza neta” y masa constante. Usar el diagrama para diferenciar una fuerza de la suma de fuerzas.</a:t>
            </a:r>
          </a:p>
          <a:p>
            <a:r>
              <a:t>- **Pregunta y respuesta esperada:** Si la fuerza neta es cero, esta ecuación da aceleración cero para masa no nula.</a:t>
            </a:r>
          </a:p>
          <a:p>
            <a:r>
              <a:t>- **Énfasis/error frecuente:** No afirmar que ausencia de aceleración implica ausencia de fuerzas individuales.</a:t>
            </a:r>
          </a:p>
          <a:p>
            <a:r>
              <a:t>- **Transición:** “Una fuerza también puede repartirse sobre un área”.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DEP U2.</a:t>
            </a:r>
          </a:p>
          <a:p>
            <a:endParaRPr/>
          </a:p>
          <a:p>
            <a:r>
              <a:t>Transición: Una fuerza también puede distribuirse sobre una superficie.</a:t>
            </a:r>
          </a:p>
          <a:p>
            <a:endParaRPr/>
          </a:p>
          <a:p>
            <a:r>
              <a:t>Texto alternativo: Un cuerpo recibe una fuerza neta y acelera; la ecuación F igual a masa por aceleración aparece debajo.</a:t>
            </a:r>
          </a:p>
          <a:p>
            <a:r>
              <a:t>
[Sources]
- PO p. 3; TEX `sec:u1-magnitudes-derivadas`; DEP U2.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`F_⊥` igual en ambos paneles y cambiar `S`. Pedir predicción antes de mostrar la presión relativa.</a:t>
            </a:r>
          </a:p>
          <a:p>
            <a:r>
              <a:t>- **Pregunta y respuesta esperada:** Menor área produce mayor presión para la misma fuerza perpendicular.</a:t>
            </a:r>
          </a:p>
          <a:p>
            <a:r>
              <a:t>- **Énfasis/error frecuente:** Área se simboliza `S`; presión no equivale a intensidad.</a:t>
            </a:r>
          </a:p>
          <a:p>
            <a:r>
              <a:t>- **Transición:** “De una cantidad por superficie pasemos a una cantidad por volumen”.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NOT; INV E05.</a:t>
            </a:r>
          </a:p>
          <a:p>
            <a:endParaRPr/>
          </a:p>
          <a:p>
            <a:r>
              <a:t>Transición: Otra relación importante compara masa y volumen.</a:t>
            </a:r>
          </a:p>
          <a:p>
            <a:endParaRPr/>
          </a:p>
          <a:p>
            <a:r>
              <a:t>Texto alternativo: Dos superficies reciben la misma fuerza; la de menor área presenta mayor presión.</a:t>
            </a:r>
          </a:p>
          <a:p>
            <a:r>
              <a:t>
[Sources]
- PO p. 3; TEX `sec:u1-magnitudes-derivadas`; NOT; INV E05.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recipientes de igual volumen. Después invertir la comparación: misma masa en distinto volumen.</a:t>
            </a:r>
          </a:p>
          <a:p>
            <a:r>
              <a:t>- **Pregunta y respuesta esperada:** El recipiente con mayor masa en el mismo volumen tiene mayor densidad.</a:t>
            </a:r>
          </a:p>
          <a:p>
            <a:r>
              <a:t>- **Énfasis/error frecuente:** Densidad, masa y peso son magnitudes diferentes.</a:t>
            </a:r>
          </a:p>
          <a:p>
            <a:r>
              <a:t>- **Transición:** “Reunamos las cuatro relaciones”.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 E06.</a:t>
            </a:r>
          </a:p>
          <a:p>
            <a:endParaRPr/>
          </a:p>
          <a:p>
            <a:r>
              <a:t>Transición: Reconstruyamos todas las conexiones del bloque.</a:t>
            </a:r>
          </a:p>
          <a:p>
            <a:endParaRPr/>
          </a:p>
          <a:p>
            <a:r>
              <a:t>Texto alternativo: Dos recipientes de igual volumen contienen distinta cantidad de masa; la fórmula rho igual a masa sobre volumen acompaña la comparación.</a:t>
            </a:r>
          </a:p>
          <a:p>
            <a:r>
              <a:t>
[Sources]
- PO p. 3; TEX `sec:u1-magnitudes-derivadas`; INV E06.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Completar la red con participación del grupo. Pedir lectura verbal y unidad de cada conexión.</a:t>
            </a:r>
          </a:p>
          <a:p>
            <a:r>
              <a:t>- **Pregunta y respuesta esperada:** Rapidez: distancia/tiempo; fuerza: masa×aceleración; presión: fuerza/área; densidad: masa/volumen.</a:t>
            </a:r>
          </a:p>
          <a:p>
            <a:r>
              <a:t>- **Énfasis/error frecuente:** El objetivo es reconstruir relaciones, no recitar fórmulas.</a:t>
            </a:r>
          </a:p>
          <a:p>
            <a:r>
              <a:t>- **Transición:** “Las unidades pueden funcionar como detector de errores”.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INV.</a:t>
            </a:r>
          </a:p>
          <a:p>
            <a:endParaRPr/>
          </a:p>
          <a:p>
            <a:r>
              <a:t>Transición: Si olvidamos una fórmula, ¿pueden ayudarnos las unidades?</a:t>
            </a:r>
          </a:p>
          <a:p>
            <a:endParaRPr/>
          </a:p>
          <a:p>
            <a:r>
              <a:t>Texto alternativo: Red que conecta distancia, tiempo, rapidez, masa, aceleración, fuerza, área, presión, volumen y densidad.</a:t>
            </a:r>
          </a:p>
          <a:p>
            <a:r>
              <a:t>
[Sources]
- TEX `sec:u1-sintesis`;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dos escrituras del mismo valor y preguntar cuál deja más visible el orden de magnitud. Conectar con escalas acústicas sin definir presión sonora.</a:t>
            </a:r>
          </a:p>
          <a:p>
            <a:r>
              <a:t>- **Pregunta y respuesta esperada:** La notación científica hace visible `10⁻⁵`.</a:t>
            </a:r>
          </a:p>
          <a:p>
            <a:r>
              <a:t>- **Énfasis/error frecuente:** No atribuir a `20 µPa` un significado auditivo universal en esta unidad.</a:t>
            </a:r>
          </a:p>
          <a:p>
            <a:r>
              <a:t>- **Transición:** “Veamos cómo se construye la notación”.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sec:u1-notacion-dimensional.</a:t>
            </a:r>
          </a:p>
          <a:p>
            <a:endParaRPr/>
          </a:p>
          <a:p>
            <a:r>
              <a:t>Transición: Empecemos por las potencias de diez.</a:t>
            </a:r>
          </a:p>
          <a:p>
            <a:endParaRPr/>
          </a:p>
          <a:p>
            <a:r>
              <a:t>Texto alternativo: El mismo valor de presión aparece escrito como decimal y como potencia de diez.</a:t>
            </a:r>
          </a:p>
          <a:p>
            <a:r>
              <a:t>
[Sources]
- TEX `sec:u1-notacion-dimensional`.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la coma en pantalla y asociar cada paso con el exponente. Pedir que verifiquen reconstruyendo el número.</a:t>
            </a:r>
          </a:p>
          <a:p>
            <a:r>
              <a:t>- **Pregunta y respuesta esperada:** `3,5×10³=3500`; `4,2×10⁻³=0,0042`.</a:t>
            </a:r>
          </a:p>
          <a:p>
            <a:r>
              <a:t>- **Énfasis/error frecuente:** El exponente negativo no vuelve negativo al número.</a:t>
            </a:r>
          </a:p>
          <a:p>
            <a:r>
              <a:t>- **Transición:** “Apliquemos esto a una presión expresada de tres maneras”.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Apliquemos la escritura a un valor de presión.</a:t>
            </a:r>
          </a:p>
          <a:p>
            <a:endParaRPr/>
          </a:p>
          <a:p>
            <a:r>
              <a:t>Texto alternativo: Dos números se transforman en notación científica mediante desplazamientos de la coma.</a:t>
            </a:r>
          </a:p>
          <a:p>
            <a:r>
              <a:t>
[Sources]
- TEX `sec:u1-notacion-cientifica`; PDF p. 19.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Convertir `20 µPa` a pascales y normalizar el coeficiente. Mantener la unidad en todos los pasos.</a:t>
            </a:r>
          </a:p>
          <a:p>
            <a:r>
              <a:t>- **Pregunta y respuesta esperada:** `20×10⁻⁶ = 2,0×10⁻⁵`; son el mismo valor.</a:t>
            </a:r>
          </a:p>
          <a:p>
            <a:r>
              <a:t>- **Énfasis/error frecuente:** No presentar la cifra como umbral absoluto.</a:t>
            </a:r>
          </a:p>
          <a:p>
            <a:r>
              <a:t>- **Transición:** “Los prefijos son abreviaturas de factores de diez”.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Otros prefijos permiten cambiar de escala sin cambiar la magnitud.</a:t>
            </a:r>
          </a:p>
          <a:p>
            <a:endParaRPr/>
          </a:p>
          <a:p>
            <a:r>
              <a:t>Texto alternativo: Tres tarjetas muestran 0,000020 pascales, 2,0 por 10 a la menos 5 pascales y 20 micropascales.</a:t>
            </a:r>
          </a:p>
          <a:p>
            <a:r>
              <a:t>
[Sources]
- TEX `sec:u1-notacion-cientifica`; PDF p. 19.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escalera hacia derecha e izquierda. Contrastar `m` metro, *m* masa y `m` prefijo mili por forma y contexto.</a:t>
            </a:r>
          </a:p>
          <a:p>
            <a:r>
              <a:t>- **Pregunta y respuesta esperada:** `1 ms` es una milésima de segundo; `1 µPa`, una millonésima de pascal.</a:t>
            </a:r>
          </a:p>
          <a:p>
            <a:r>
              <a:t>- **Énfasis/error frecuente:** Kilo usa `k` minúscula; micro usa `µ`.</a:t>
            </a:r>
          </a:p>
          <a:p>
            <a:r>
              <a:t>- **Transición:** “Si hace falta, practiquemos tres conversiones”.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NOT.</a:t>
            </a:r>
          </a:p>
          <a:p>
            <a:endParaRPr/>
          </a:p>
          <a:p>
            <a:r>
              <a:t>Transición: Practiquemos conversiones solo si el grupo lo necesita.</a:t>
            </a:r>
          </a:p>
          <a:p>
            <a:endParaRPr/>
          </a:p>
          <a:p>
            <a:r>
              <a:t>Texto alternativo: Escala horizontal con kilo, unidad, mili y micro ubicados por potencias de diez.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TEX `sec:u1-notacion-cientifica`; NOT.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solo los ítems que respondan a un error real. Soluciones: `1000 ms`; `10⁶ µPa`; `1000 mm`.</a:t>
            </a:r>
          </a:p>
          <a:p>
            <a:r>
              <a:t>- **Pregunta y respuesta esperada:** La cantidad no cambia; cambia el número y la unidad elegida.</a:t>
            </a:r>
          </a:p>
          <a:p>
            <a:r>
              <a:t>- **Énfasis/error frecuente:** Evitar multiplicar o dividir de memoria sin verificar si el valor debe crecer.</a:t>
            </a:r>
          </a:p>
          <a:p>
            <a:r>
              <a:t>- **Transición:** “Ahora usemos unidades para controlar ecuaciones”.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INV; BRF.</a:t>
            </a:r>
          </a:p>
          <a:p>
            <a:endParaRPr/>
          </a:p>
          <a:p>
            <a:r>
              <a:t>Transición: Además de la escala numérica, debemos comprobar la coherencia física.</a:t>
            </a:r>
          </a:p>
          <a:p>
            <a:endParaRPr/>
          </a:p>
          <a:p>
            <a:r>
              <a:t>Texto alternativo: Tres equivalencias incompletas entre segundos y milisegundos, pascales y micropascales, metros y milímetros.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INV; BRF.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Diferenciar dimensión de unidad: metro y centímetro son unidades de la misma dimensión longitud. Explicar la lógica de descarte.</a:t>
            </a:r>
          </a:p>
          <a:p>
            <a:r>
              <a:t>- **Pregunta y respuesta esperada:** `m+s` no tiene interpretación como suma de magnitudes homogéneas.</a:t>
            </a:r>
          </a:p>
          <a:p>
            <a:r>
              <a:t>- **Énfasis/error frecuente:** Dimensiones compatibles no garantizan una ecuación verdadera.</a:t>
            </a:r>
          </a:p>
          <a:p>
            <a:r>
              <a:t>- **Transición:** “Apliquemos el método a la unidad pascal”.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Sigamos las dimensiones de la presión hasta el pascal.</a:t>
            </a:r>
          </a:p>
          <a:p>
            <a:endParaRPr/>
          </a:p>
          <a:p>
            <a:r>
              <a:t>Texto alternativo: Un semáforo rechaza metros más segundos y acepta revisar expresiones con dimensiones compatibles.</a:t>
            </a:r>
          </a:p>
          <a:p>
            <a:r>
              <a:t>
[Sources]
- TEX `sec:u1-analisis-dimensional`; PDF p. 20.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una igualdad por vez. Pedir que verbalicen cada sustitución y simplificación.</a:t>
            </a:r>
          </a:p>
          <a:p>
            <a:r>
              <a:t>- **Pregunta y respuesta esperada:** Queda una potencia `m¹` en el denominador: `kg/(m·s²)`.</a:t>
            </a:r>
          </a:p>
          <a:p>
            <a:r>
              <a:t>- **Énfasis/error frecuente:** No cancelar símbolos de forma informal; explicar numerador y denominador.</a:t>
            </a:r>
          </a:p>
          <a:p>
            <a:r>
              <a:t>- **Transición:** “Con el mismo método podemos elegir una expresión antes de calcular”.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20; INV E10–E12.</a:t>
            </a:r>
          </a:p>
          <a:p>
            <a:endParaRPr/>
          </a:p>
          <a:p>
            <a:r>
              <a:t>Transición: Ahora usemos las dimensiones para elegir entre expresiones.</a:t>
            </a:r>
          </a:p>
          <a:p>
            <a:endParaRPr/>
          </a:p>
          <a:p>
            <a:r>
              <a:t>Texto alternativo: Cadena de igualdades transforma newton por metro cuadrado en kilogramo por metro y segundo cuadrado.</a:t>
            </a:r>
          </a:p>
          <a:p>
            <a:r>
              <a:t>
[Sources]
- TEX `sec:u1-analisis-dimensional`; PDF p. 20; INV E10–E12.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60–90 segundos. Hacer que quienes eligieron una opción expliquen las dos descartadas.</a:t>
            </a:r>
          </a:p>
          <a:p>
            <a:r>
              <a:t>- **Pregunta y respuesta esperada:** `d/c` produce `L/(LT⁻¹)=T`; las otras producen `L²T⁻¹` y `T⁻¹`.</a:t>
            </a:r>
          </a:p>
          <a:p>
            <a:r>
              <a:t>- **Énfasis/error frecuente:** Elegir por parecido con una fórmula no es justificación.</a:t>
            </a:r>
          </a:p>
          <a:p>
            <a:r>
              <a:t>- **Transición:** Anunciar pausa de 15 minutos y el bloque de funciones al volver.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NA3/D2; DEP.</a:t>
            </a:r>
          </a:p>
          <a:p>
            <a:endParaRPr/>
          </a:p>
          <a:p>
            <a:r>
              <a:t>Transición: Después de la pausa pasaremos de cantidades a relaciones funcionales.</a:t>
            </a:r>
          </a:p>
          <a:p>
            <a:endParaRPr/>
          </a:p>
          <a:p>
            <a:r>
              <a:t>Texto alternativo: Tres expresiones se comparan dimensionalmente; d sobre c queda marcada como tiempo.</a:t>
            </a:r>
          </a:p>
          <a:p>
            <a:r>
              <a:t>
[Sources]
- TEX ejercicios NA3/D2;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Tras la pausa, recuperar dos relaciones ya vistas. Dibujar una máquina y separar entrada, regla y salida.</a:t>
            </a:r>
          </a:p>
          <a:p>
            <a:r>
              <a:t>- **Pregunta y respuesta esperada:** En `d(t)`, entra tiempo y sale distancia bajo la regla del modelo.</a:t>
            </a:r>
          </a:p>
          <a:p>
            <a:r>
              <a:t>- **Énfasis/error frecuente:** Función no significa solamente “fórmula”.</a:t>
            </a:r>
          </a:p>
          <a:p>
            <a:r>
              <a:t>- **Transición:** “Definamos qué condición debe cumplir”.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sec:u1-funciones.</a:t>
            </a:r>
          </a:p>
          <a:p>
            <a:endParaRPr/>
          </a:p>
          <a:p>
            <a:r>
              <a:t>Transición: Demos nombres precisos a cada parte.</a:t>
            </a:r>
          </a:p>
          <a:p>
            <a:endParaRPr/>
          </a:p>
          <a:p>
            <a:r>
              <a:t>Texto alternativo: Una variable entra a una regla y produce una salida.</a:t>
            </a:r>
          </a:p>
          <a:p>
            <a:r>
              <a:t>
[Sources]
- PO p. 3; TEX `sec:u1-funciones`.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`f(x)=2x` para mostrar una única salida por entrada. Dar un no-ejemplo con una entrada que apunta a dos salidas.</a:t>
            </a:r>
          </a:p>
          <a:p>
            <a:r>
              <a:t>- **Pregunta y respuesta esperada:** Dominio: entradas permitidas. Variable dependiente: salida.</a:t>
            </a:r>
          </a:p>
          <a:p>
            <a:r>
              <a:t>- **Énfasis/error frecuente:** Varias entradas pueden compartir una salida; lo prohibido es una entrada con dos salidas.</a:t>
            </a:r>
          </a:p>
          <a:p>
            <a:r>
              <a:t>- **Transición:** “Una relación puede verse como tabla, ecuación o gráfico”.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sec:u1-funciones; PDF p. 20.</a:t>
            </a:r>
          </a:p>
          <a:p>
            <a:endParaRPr/>
          </a:p>
          <a:p>
            <a:r>
              <a:t>Transición: La misma relación puede representarse de varias maneras.</a:t>
            </a:r>
          </a:p>
          <a:p>
            <a:endParaRPr/>
          </a:p>
          <a:p>
            <a:r>
              <a:t>Texto alternativo: Diagrama que etiqueta x como entrada, f como regla e y como salida, con un dominio indicado.</a:t>
            </a:r>
          </a:p>
          <a:p>
            <a:r>
              <a:t>
[Sources]
- PO p. 3; TEX `sec:u1-funciones`; PDF p. 20.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mismo par en los tres registros. Preguntar qué muestra cada uno mejor.</a:t>
            </a:r>
          </a:p>
          <a:p>
            <a:r>
              <a:t>- **Pregunta y respuesta esperada:** Tabla: valores concretos; ecuación: regla; gráfico: patrón y pendiente.</a:t>
            </a:r>
          </a:p>
          <a:p>
            <a:r>
              <a:t>- **Énfasis/error frecuente:** Los ejes necesitan magnitud y unidad.</a:t>
            </a:r>
          </a:p>
          <a:p>
            <a:r>
              <a:t>- **Transición:** “Interpretemos el modelo dentro de su dominio físico”.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INV.</a:t>
            </a:r>
          </a:p>
          <a:p>
            <a:endParaRPr/>
          </a:p>
          <a:p>
            <a:r>
              <a:t>Transición: Interpretemos el gráfico dentro de un problema físico.</a:t>
            </a:r>
          </a:p>
          <a:p>
            <a:endParaRPr/>
          </a:p>
          <a:p>
            <a:r>
              <a:t>Texto alternativo: Una tabla, la ecuación d de t igual a 4t y una recta representan los mismos datos.</a:t>
            </a:r>
          </a:p>
          <a:p>
            <a:r>
              <a:t>
[Sources]
- TEX `sec:u1-funciones`;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puntos del gráfico y verbalizar “4 metros cada segundo”. Explicar `t≥0` como condición del problema, no de toda recta matemática.</a:t>
            </a:r>
          </a:p>
          <a:p>
            <a:r>
              <a:t>- **Pregunta y respuesta esperada:** A los 5 s, `d=20 m`; la pendiente tiene unidad m/s.</a:t>
            </a:r>
          </a:p>
          <a:p>
            <a:r>
              <a:t>- **Énfasis/error frecuente:** No extender automáticamente el modelo a tiempos negativos o rapidez variable.</a:t>
            </a:r>
          </a:p>
          <a:p>
            <a:r>
              <a:t>- **Transición:** “El dominio también determina si podemos invertir una relación”.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PDF pp. 20–21.</a:t>
            </a:r>
          </a:p>
          <a:p>
            <a:endParaRPr/>
          </a:p>
          <a:p>
            <a:r>
              <a:t>Transición: La fórmula sola no decide qué entradas tienen sentido.</a:t>
            </a:r>
          </a:p>
          <a:p>
            <a:endParaRPr/>
          </a:p>
          <a:p>
            <a:r>
              <a:t>Texto alternativo: Gráfico lineal de distancia en metros frente a tiempo en segundos para rapidez constante.</a:t>
            </a:r>
          </a:p>
          <a:p>
            <a:r>
              <a:t>
[Sources]
- TEX `sec:u1-funciones`; PDF pp. 20–21.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el contraejemplo de `x²` solo como diagrama de correspondencias, sin abrir álgebra adicional. Mostrar que restringir a entradas no negativas elimina ambigüedad.</a:t>
            </a:r>
          </a:p>
          <a:p>
            <a:r>
              <a:t>- **Pregunta y respuesta esperada:** Si `−2` y `+2` producen `4`, la salida 4 no identifica una única entrada.</a:t>
            </a:r>
          </a:p>
          <a:p>
            <a:r>
              <a:t>- **Énfasis/error frecuente:** No toda función tiene inversa en cualquier dominio.</a:t>
            </a:r>
          </a:p>
          <a:p>
            <a:r>
              <a:t>- **Transición:** “Volvamos al modelo donde la correspondencia sí es única”.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sec:u1-funcion-inversa; BRF.</a:t>
            </a:r>
          </a:p>
          <a:p>
            <a:endParaRPr/>
          </a:p>
          <a:p>
            <a:r>
              <a:t>Transición: Formulemos la pregunta inversa del modelo de propagación.</a:t>
            </a:r>
          </a:p>
          <a:p>
            <a:endParaRPr/>
          </a:p>
          <a:p>
            <a:r>
              <a:t>Texto alternativo: Un diagrama unívoco se compara con otro donde dos entradas producen la misma salida.</a:t>
            </a:r>
          </a:p>
          <a:p>
            <a:r>
              <a:t>
[Sources]
- TEX `sec:u1-funcion-inversa`;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al grupo que formule las preguntas directa e inversa sin símbolos. Luego señalar cómo cambian las unidades de entrada y salida.</a:t>
            </a:r>
          </a:p>
          <a:p>
            <a:r>
              <a:t>- **Pregunta y respuesta esperada:** Directa: tiempo→distancia. Inversa: distancia→tiempo.</a:t>
            </a:r>
          </a:p>
          <a:p>
            <a:r>
              <a:t>- **Énfasis/error frecuente:** La inversa depende de una correspondencia única.</a:t>
            </a:r>
          </a:p>
          <a:p>
            <a:r>
              <a:t>- **Transición:** “Ahora escribimos la misma inversión como despeje”.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sec:u1-funcion-inversa; PDF p. 21.</a:t>
            </a:r>
          </a:p>
          <a:p>
            <a:endParaRPr/>
          </a:p>
          <a:p>
            <a:r>
              <a:t>Transición: Escribamos esa inversión en símbolos.</a:t>
            </a:r>
          </a:p>
          <a:p>
            <a:endParaRPr/>
          </a:p>
          <a:p>
            <a:r>
              <a:t>Texto alternativo: El tiempo entra y la distancia sale en la función directa; en la inversa, la distancia entra y el tiempo sale.</a:t>
            </a:r>
          </a:p>
          <a:p>
            <a:r>
              <a:t>
[Sources]
- PO p. 3; TEX `sec:u1-funcion-inversa`; PDF p. 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Despejar `t` paso a paso y verificar dimensiones. Relacionar con U01-028.</a:t>
            </a:r>
          </a:p>
          <a:p>
            <a:r>
              <a:t>- **Pregunta y respuesta esperada:** Dividir distancia por rapidez produce segundos y recupera el tiempo.</a:t>
            </a:r>
          </a:p>
          <a:p>
            <a:r>
              <a:t>- **Énfasis/error frecuente:** El superíndice `−1` en `f⁻¹` no indica recíproco.</a:t>
            </a:r>
          </a:p>
          <a:p>
            <a:r>
              <a:t>- **Transición:** “Un ejemplo de ida y vuelta permite comprobarlo”.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PDF p. 21; INV E08.</a:t>
            </a:r>
          </a:p>
          <a:p>
            <a:endParaRPr/>
          </a:p>
          <a:p>
            <a:r>
              <a:t>Transición: Probemos un recorrido de ida y vuelta.</a:t>
            </a:r>
          </a:p>
          <a:p>
            <a:endParaRPr/>
          </a:p>
          <a:p>
            <a:r>
              <a:t>Texto alternativo: Dos cajas muestran d de t igual a c por t y t de d igual a d dividido c, conectadas en sentidos opuestos.</a:t>
            </a:r>
          </a:p>
          <a:p>
            <a:r>
              <a:t>
[Sources]
- TEX `sec:u1-funcion-inversa`; PDF p. 21; INV E08.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los dos caminos y luego componerlos. Hacer que el grupo compare las unidades de entrada y salida.</a:t>
            </a:r>
          </a:p>
          <a:p>
            <a:r>
              <a:t>- **Pregunta y respuesta esperada:** `t=3 s` produce `d=12 m`; `d=20 m` produce `t=5 s`.</a:t>
            </a:r>
          </a:p>
          <a:p>
            <a:r>
              <a:t>- **Énfasis/error frecuente:** La comprobación debe recuperar el dato inicial, no solo producir un número plausible.</a:t>
            </a:r>
          </a:p>
          <a:p>
            <a:r>
              <a:t>- **Transición:** “Ahora enfrentemos la confusión de notación”.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sec:u1-ejemplo-inversa; TEX ejercicios NA2.</a:t>
            </a:r>
          </a:p>
          <a:p>
            <a:endParaRPr/>
          </a:p>
          <a:p>
            <a:r>
              <a:t>Transición: La notación de inversa puede confundirse con otra operación.</a:t>
            </a:r>
          </a:p>
          <a:p>
            <a:endParaRPr/>
          </a:p>
          <a:p>
            <a:r>
              <a:t>Texto alternativo: Dos caminos calculan distancia desde tiempo y tiempo desde distancia, con resultados 12 metros y 5 segundos.</a:t>
            </a:r>
          </a:p>
          <a:p>
            <a:r>
              <a:t>
[Sources]
- TEX `sec:u1-ejemplo-inversa`; TEX ejercicios NA2.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significado antes que símbolos. Evaluar ambas expresiones en `x=4` si hace falta: inversa `2`, recíproco `1/8`.</a:t>
            </a:r>
          </a:p>
          <a:p>
            <a:r>
              <a:t>- **Pregunta y respuesta esperada:** La inversa deshace `×2` mediante `÷2`; el recíproco calcula 1 dividido por la salida.</a:t>
            </a:r>
          </a:p>
          <a:p>
            <a:r>
              <a:t>- **Énfasis/error frecuente:** Señalar la restricción `x≠0` del recíproco.</a:t>
            </a:r>
          </a:p>
          <a:p>
            <a:r>
              <a:t>- **Transición:** “Para describir ciclos necesitaremos seno y coseno”.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TEX ejercicios D4; DEP.</a:t>
            </a:r>
          </a:p>
          <a:p>
            <a:endParaRPr/>
          </a:p>
          <a:p>
            <a:r>
              <a:t>Transición: Las ondas necesitarán otra familia de funciones: las trigonométricas.</a:t>
            </a:r>
          </a:p>
          <a:p>
            <a:endParaRPr/>
          </a:p>
          <a:p>
            <a:r>
              <a:t>Texto alternativo: Comparación entre función inversa x sobre 2 y recíproco 1 sobre 2x.</a:t>
            </a:r>
          </a:p>
          <a:p>
            <a:r>
              <a:t>
[Sources]
- TEX `sec:u1-funcion-inversa`; TEX ejercicios D4;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propósito futuro sin presentar una onda. El triángulo permite definir razones; el círculo permite extenderlas a giros.</a:t>
            </a:r>
          </a:p>
          <a:p>
            <a:r>
              <a:t>- **Pregunta y respuesta esperada:** “¿Dónde aparecen ciclos en acústica?” Oscilaciones y señales periódicas, que se desarrollarán en U3.</a:t>
            </a:r>
          </a:p>
          <a:p>
            <a:r>
              <a:t>- **Énfasis/error frecuente:** No saturar con identidades trigonométricas.</a:t>
            </a:r>
          </a:p>
          <a:p>
            <a:r>
              <a:t>- **Transición:** “Primero debemos ubicar correctamente los lados”.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sec:u1-trigonometria; DEP U3.</a:t>
            </a:r>
          </a:p>
          <a:p>
            <a:endParaRPr/>
          </a:p>
          <a:p>
            <a:r>
              <a:t>Transición: Todo comienza por elegir un ángulo de referencia.</a:t>
            </a:r>
          </a:p>
          <a:p>
            <a:endParaRPr/>
          </a:p>
          <a:p>
            <a:r>
              <a:t>Texto alternativo: Un triángulo rectángulo se conecta visualmente con un círculo.</a:t>
            </a:r>
          </a:p>
          <a:p>
            <a:r>
              <a:t>
[Sources]
- PO p. 3; TEX `sec:u1-trigonometria`;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hipotenusa, opuesto y adyacente en ese orden. Cambiar el ángulo de referencia y mostrar qué etiquetas cambian.</a:t>
            </a:r>
          </a:p>
          <a:p>
            <a:r>
              <a:t>- **Pregunta y respuesta esperada:** La hipotenusa permanece; opuesto y adyacente se intercambian.</a:t>
            </a:r>
          </a:p>
          <a:p>
            <a:r>
              <a:t>- **Énfasis/error frecuente:** El lado que toca `θ` puede ser hipotenusa; por eso la definición de adyacente la excluye.</a:t>
            </a:r>
          </a:p>
          <a:p>
            <a:r>
              <a:t>- **Transición:** “Ahora comparemos esos lados mediante razones”.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21.</a:t>
            </a:r>
          </a:p>
          <a:p>
            <a:endParaRPr/>
          </a:p>
          <a:p>
            <a:r>
              <a:t>Transición: Con los lados identificados, podemos compararlos.</a:t>
            </a:r>
          </a:p>
          <a:p>
            <a:endParaRPr/>
          </a:p>
          <a:p>
            <a:r>
              <a:t>Texto alternativo: Triángulo rectángulo con theta y sus lados hipotenusa, opuesto y adyacente correctamente rotulados.</a:t>
            </a:r>
          </a:p>
          <a:p>
            <a:r>
              <a:t>
[Sources]
- TEX `sec:u1-trigonometria`; PDF p. 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un resaltado por razón. Explicar la cancelación de unidades con longitudes expresadas ambas en centímetros.</a:t>
            </a:r>
          </a:p>
          <a:p>
            <a:r>
              <a:t>- **Pregunta y respuesta esperada:** Seno usa opuesto/hipotenusa; coseno adyacente/hipotenusa; tangente opuesto/adyacente.</a:t>
            </a:r>
          </a:p>
          <a:p>
            <a:r>
              <a:t>- **Énfasis/error frecuente:** No memorizar una sigla sin identificar lados.</a:t>
            </a:r>
          </a:p>
          <a:p>
            <a:r>
              <a:t>- **Transición:** “El triángulo 3–4–5 permite calcular sin calculadora”.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sec:u1-trigonometria; INV E13–E15.</a:t>
            </a:r>
          </a:p>
          <a:p>
            <a:endParaRPr/>
          </a:p>
          <a:p>
            <a:r>
              <a:t>Transición: Apliquemos las tres razones a un triángulo conocido.</a:t>
            </a:r>
          </a:p>
          <a:p>
            <a:endParaRPr/>
          </a:p>
          <a:p>
            <a:r>
              <a:t>Texto alternativo: Un mismo triángulo muestra qué lados forman seno, coseno y tangente.</a:t>
            </a:r>
          </a:p>
          <a:p>
            <a:r>
              <a:t>
[Sources]
- PO p. 3; TEX `sec:u1-trigonometria`; INV E13–E15.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Verificar primero Pitágoras. Pedir predicción de seno versus coseno mirando los lados. Calcular y remarcar ausencia de unidad.</a:t>
            </a:r>
          </a:p>
          <a:p>
            <a:r>
              <a:t>- **Pregunta y respuesta esperada:** Coseno es mayor porque el adyacente 4 supera al opuesto 3.</a:t>
            </a:r>
          </a:p>
          <a:p>
            <a:r>
              <a:t>- **Énfasis/error frecuente:** La razón no tiene unidad si ambos lados usan unidades compatibles.</a:t>
            </a:r>
          </a:p>
          <a:p>
            <a:r>
              <a:t>- **Transición:** “En un problema real, la primera decisión es elegir la razón”.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NA4; PDF ejercicios.</a:t>
            </a:r>
          </a:p>
          <a:p>
            <a:endParaRPr/>
          </a:p>
          <a:p>
            <a:r>
              <a:t>Transición: Ahora el desafío es elegir la razón adecuada.</a:t>
            </a:r>
          </a:p>
          <a:p>
            <a:endParaRPr/>
          </a:p>
          <a:p>
            <a:r>
              <a:t>Texto alternativo: Triángulo rectángulo 3–4–5 con theta y cálculos de seno, coseno y tangente.</a:t>
            </a:r>
          </a:p>
          <a:p>
            <a:r>
              <a:t>
[Sources]
- TEX ejercicios NA4; PDF ejercicios.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Pedir que nombren conocido e incógnita. La razón adecuada es seno si intervienen opuesto e hipotenusa.</a:t>
            </a:r>
          </a:p>
          <a:p>
            <a:r>
              <a:t>- **Pregunta y respuesta esperada:** Seno, porque contiene el lado opuesto buscado y la hipotenusa conocida.</a:t>
            </a:r>
          </a:p>
          <a:p>
            <a:r>
              <a:t>- **Énfasis/error frecuente:** No elegir por cercanía visual del botón en la calculadora.</a:t>
            </a:r>
          </a:p>
          <a:p>
            <a:r>
              <a:t>- **Transición:** “El círculo permite extender estas relaciones a una vuelta”.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INV.</a:t>
            </a:r>
          </a:p>
          <a:p>
            <a:endParaRPr/>
          </a:p>
          <a:p>
            <a:r>
              <a:t>Transición: Del triángulo pasaremos a una vuelta completa.</a:t>
            </a:r>
          </a:p>
          <a:p>
            <a:endParaRPr/>
          </a:p>
          <a:p>
            <a:r>
              <a:t>Texto alternativo: Triángulo rectángulo con hipotenusa y adyacente conocidos, lado opuesto oculto y tres opciones trigonométricas.</a:t>
            </a:r>
          </a:p>
          <a:p>
            <a:r>
              <a:t>
[Sources]
- TEX `sec:u1-trigonometria`;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Trazar primero 225° y luego sumar una vuelta. Explicar orientación final frente a recorrido acumulado.</a:t>
            </a:r>
          </a:p>
          <a:p>
            <a:r>
              <a:t>- **Pregunta y respuesta esperada:** Terminan en la misma dirección; 585° incluye 360° adicionales.</a:t>
            </a:r>
          </a:p>
          <a:p>
            <a:r>
              <a:t>- **Énfasis/error frecuente:** Coterminal no significa igual como número de giro acumulado.</a:t>
            </a:r>
          </a:p>
          <a:p>
            <a:r>
              <a:t>- **Transición:** “Expresemos la vuelta en una medida natural de arco”.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Una vuelta también puede medirse en radianes.</a:t>
            </a:r>
          </a:p>
          <a:p>
            <a:endParaRPr/>
          </a:p>
          <a:p>
            <a:r>
              <a:t>Texto alternativo: Dos recorridos circulares terminan en la misma orientación; uno da una vuelta más.</a:t>
            </a:r>
          </a:p>
          <a:p>
            <a:r>
              <a:t>
[Sources]
- TEX `sec:u1-trigonometria`; TEX ejercicios 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`90°=π/2`, `180°=π`, `225°=5π/4`. Hacer visible el factor `π/180°`.</a:t>
            </a:r>
          </a:p>
          <a:p>
            <a:r>
              <a:t>- **Pregunta y respuesta esperada:** La unidad grado se cancela y queda rad.</a:t>
            </a:r>
          </a:p>
          <a:p>
            <a:r>
              <a:t>- **Énfasis/error frecuente:** No mezclar grados y radianes en una misma sustitución sin convertir.</a:t>
            </a:r>
          </a:p>
          <a:p>
            <a:r>
              <a:t>- **Transición:** “En el círculo unitario, el ángulo determina coordenadas”.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El círculo unitario conecta ángulo y coordenadas.</a:t>
            </a:r>
          </a:p>
          <a:p>
            <a:endParaRPr/>
          </a:p>
          <a:p>
            <a:r>
              <a:t>Texto alternativo: Arco circular con marcas de grados y radianes y tres conversiones incompletas.</a:t>
            </a:r>
          </a:p>
          <a:p>
            <a:r>
              <a:t>
[Sources]
- TEX `sec:u1-trigonometria`; TEX ejercicios 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el radio y seguir sus proyecciones. Señalar los signos por cuadrante. Relacionar `2π` con una vuelta.</a:t>
            </a:r>
          </a:p>
          <a:p>
            <a:r>
              <a:t>- **Pregunta y respuesta esperada:** Coordenada horizontal: coseno; vertical: seno.</a:t>
            </a:r>
          </a:p>
          <a:p>
            <a:r>
              <a:t>- **Énfasis/error frecuente:** El radián es adimensional, pero se conserva el rótulo para claridad angular.</a:t>
            </a:r>
          </a:p>
          <a:p>
            <a:r>
              <a:t>- **Transición:** “Recapitulemos cómo una razón se convierte en coordenada cíclica”.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22; INV.</a:t>
            </a:r>
          </a:p>
          <a:p>
            <a:endParaRPr/>
          </a:p>
          <a:p>
            <a:r>
              <a:t>Transición: Recapitulemos el recorrido desde cocientes hasta ciclos.</a:t>
            </a:r>
          </a:p>
          <a:p>
            <a:endParaRPr/>
          </a:p>
          <a:p>
            <a:r>
              <a:t>Texto alternativo: Círculo unitario con ángulo theta, arco y proyecciones horizontal coseno y vertical seno.</a:t>
            </a:r>
          </a:p>
          <a:p>
            <a:r>
              <a:t>
[Sources]
- TEX `sec:u1-trigonometria`; PDF p. 22;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una frase para cada flecha del visual. Explicar que el trazo senoidal es solo un anticipo.</a:t>
            </a:r>
          </a:p>
          <a:p>
            <a:r>
              <a:t>- **Pregunta y respuesta esperada:** La idea que permanece es la razón/proyección; cambia la representación y el rango angular.</a:t>
            </a:r>
          </a:p>
          <a:p>
            <a:r>
              <a:t>- **Énfasis/error frecuente:** No introducir aún frecuencia angular, fase o ecuación senoidal.</a:t>
            </a:r>
          </a:p>
          <a:p>
            <a:r>
              <a:t>- **Transición:** “Pasemos de cambios aditivos a cambios multiplicativos”.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DEP U3.</a:t>
            </a:r>
          </a:p>
          <a:p>
            <a:endParaRPr/>
          </a:p>
          <a:p>
            <a:r>
              <a:t>Transición: Ahora necesitamos describir cambios por factores, no solo por sumas.</a:t>
            </a:r>
          </a:p>
          <a:p>
            <a:endParaRPr/>
          </a:p>
          <a:p>
            <a:r>
              <a:t>Texto alternativo: Secuencia visual desde un triángulo rectángulo hasta un círculo unitario y una curva senoidal.</a:t>
            </a:r>
          </a:p>
          <a:p>
            <a:r>
              <a:t>
[Sources]
- TEX `sec:u1-sintesis`;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1, 10, 100 y 1000. Hacer que digan “por diez” entre términos.</a:t>
            </a:r>
          </a:p>
          <a:p>
            <a:r>
              <a:t>- **Pregunta y respuesta esperada:** El factor es constante, la diferencia no.</a:t>
            </a:r>
          </a:p>
          <a:p>
            <a:r>
              <a:t>- **Énfasis/error frecuente:** No presentar logaritmos como un truco de calculadora.</a:t>
            </a:r>
          </a:p>
          <a:p>
            <a:r>
              <a:t>- **Transición:** “Si hace falta, recuperamos las potencias de diez”.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sec:u1-exponencial.</a:t>
            </a:r>
          </a:p>
          <a:p>
            <a:endParaRPr/>
          </a:p>
          <a:p>
            <a:r>
              <a:t>Transición: Recuperemos potencias si el grupo lo necesita.</a:t>
            </a:r>
          </a:p>
          <a:p>
            <a:endParaRPr/>
          </a:p>
          <a:p>
            <a:r>
              <a:t>Texto alternativo: Los números 1, 10, 100 y 1000 aparecen conectados por multiplicaciones por diez.</a:t>
            </a:r>
          </a:p>
          <a:p>
            <a:r>
              <a:t>
[Sources]
- PO p. 3; TEX `sec:u1-exponencial`.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la tabla visible. Pedir que traduzcan exponentes positivos y negativos.</a:t>
            </a:r>
          </a:p>
          <a:p>
            <a:r>
              <a:t>- **Pregunta y respuesta esperada:** `10⁴=10000`; `10⁻⁴=0,0001`; `100=10²`.</a:t>
            </a:r>
          </a:p>
          <a:p>
            <a:r>
              <a:t>- **Énfasis/error frecuente:** `10⁰=1`, no 0.</a:t>
            </a:r>
          </a:p>
          <a:p>
            <a:r>
              <a:t>- **Transición:** “Una función exponencial convierte exponentes en resultados”.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Una función exponencial organiza estos factores.</a:t>
            </a:r>
          </a:p>
          <a:p>
            <a:endParaRPr/>
          </a:p>
          <a:p>
            <a:r>
              <a:t>Texto alternativo: Tabla desde diez a la menos tres hasta diez a la tres con sus valores decimales.</a:t>
            </a:r>
          </a:p>
          <a:p>
            <a:r>
              <a:t>
[Sources]
- TEX `sec:u1-exponencial`;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pares en tabla y curva. Contrastar agregar 1 a `x` con multiplicar por 10 la salida.</a:t>
            </a:r>
          </a:p>
          <a:p>
            <a:r>
              <a:t>- **Pregunta y respuesta esperada:** De `x=1` a `x=2`, `y` pasa de 10 a 100: factor 10.</a:t>
            </a:r>
          </a:p>
          <a:p>
            <a:r>
              <a:t>- **Énfasis/error frecuente:** La curva no cruza el eje horizontal para esta base positiva.</a:t>
            </a:r>
          </a:p>
          <a:p>
            <a:r>
              <a:t>- **Transición:** “La base decide si la curva crece o decrece”.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sec:u1-exponencial; PDF p. 23.</a:t>
            </a:r>
          </a:p>
          <a:p>
            <a:endParaRPr/>
          </a:p>
          <a:p>
            <a:r>
              <a:t>Transición: La base determina crecimiento o decaimiento.</a:t>
            </a:r>
          </a:p>
          <a:p>
            <a:endParaRPr/>
          </a:p>
          <a:p>
            <a:r>
              <a:t>Texto alternativo: Tabla de pares y curva creciente para y igual a diez elevado a x.</a:t>
            </a:r>
          </a:p>
          <a:p>
            <a:r>
              <a:t>
[Sources]
- PO p. 3; TEX `sec:u1-exponencial`; PDF p. 23.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las curvas usando la misma escala. Mostrar que ambas pasan por `(0,1)`.</a:t>
            </a:r>
          </a:p>
          <a:p>
            <a:r>
              <a:t>- **Pregunta y respuesta esperada:** `2ˣ` crece; `(1/2)ˣ` decrece.</a:t>
            </a:r>
          </a:p>
          <a:p>
            <a:r>
              <a:t>- **Énfasis/error frecuente:** Una base negativa queda fuera de la definición introductoria usada.</a:t>
            </a:r>
          </a:p>
          <a:p>
            <a:r>
              <a:t>- **Transición:** “Ahora invirtamos la pregunta: ¿qué exponente produjo este valor?”.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¿Qué exponente produce una salida conocida?</a:t>
            </a:r>
          </a:p>
          <a:p>
            <a:endParaRPr/>
          </a:p>
          <a:p>
            <a:r>
              <a:t>Texto alternativo: Una curva exponencial creciente se compara con otra decreciente.</a:t>
            </a:r>
          </a:p>
          <a:p>
            <a:r>
              <a:t>
[Sources]
- TEX `sec:u1-exponencial`;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Hacer leer ambas expresiones con palabras. Variar ejemplos: `10²=100`, luego `log₁₀(100)=2`.</a:t>
            </a:r>
          </a:p>
          <a:p>
            <a:r>
              <a:t>- **Pregunta y respuesta esperada:** El logaritmo devuelve el exponente.</a:t>
            </a:r>
          </a:p>
          <a:p>
            <a:r>
              <a:t>- **Énfasis/error frecuente:** `log₁₀(1000)` no significa dividir 1000 por 10.</a:t>
            </a:r>
          </a:p>
          <a:p>
            <a:r>
              <a:t>- **Transición:** “Las gráficas muestran este intercambio de entradas y salidas”.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sec:u1-logaritmos; PDF p. 23.</a:t>
            </a:r>
          </a:p>
          <a:p>
            <a:endParaRPr/>
          </a:p>
          <a:p>
            <a:r>
              <a:t>Transición: Las gráficas también muestran la inversión.</a:t>
            </a:r>
          </a:p>
          <a:p>
            <a:endParaRPr/>
          </a:p>
          <a:p>
            <a:r>
              <a:t>Texto alternativo: La igualdad diez al cubo igual a mil se conecta con logaritmo base diez de mil igual a tres.</a:t>
            </a:r>
          </a:p>
          <a:p>
            <a:r>
              <a:t>
[Sources]
- PO p. 3; TEX `sec:u1-logaritmos`; PDF p. 23.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un punto de la exponencial, intercambiar coordenadas y ubicarlo en el logaritmo. Señalar el dominio positivo.</a:t>
            </a:r>
          </a:p>
          <a:p>
            <a:r>
              <a:t>- **Pregunta y respuesta esperada:** `(1,10)` se corresponde con `(10,1)`.</a:t>
            </a:r>
          </a:p>
          <a:p>
            <a:r>
              <a:t>- **Énfasis/error frecuente:** No graficar `log₁₀(x)` para `x≤0` en los reales.</a:t>
            </a:r>
          </a:p>
          <a:p>
            <a:r>
              <a:t>- **Transición:** “En física, el argumento del logaritmo también debe estar bien construido”.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INV.</a:t>
            </a:r>
          </a:p>
          <a:p>
            <a:endParaRPr/>
          </a:p>
          <a:p>
            <a:r>
              <a:t>Transición: En una expresión física, además importa qué puede entrar al logaritmo.</a:t>
            </a:r>
          </a:p>
          <a:p>
            <a:endParaRPr/>
          </a:p>
          <a:p>
            <a:r>
              <a:t>Texto alternativo: Curvas exponencial y logarítmica reflejadas respecto de la recta y igual a x.</a:t>
            </a:r>
          </a:p>
          <a:p>
            <a:r>
              <a:t>
[Sources]
- TEX `sec:u1-logaritmos`;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una razón entre magnitudes compatibles cancela unidades. Mantener `p₀` como referencia genérica.</a:t>
            </a:r>
          </a:p>
          <a:p>
            <a:r>
              <a:t>- **Pregunta y respuesta esperada:** `p/p₀` es adimensional si ambas presiones usan unidades compatibles.</a:t>
            </a:r>
          </a:p>
          <a:p>
            <a:r>
              <a:t>- **Énfasis/error frecuente:** No formalizar aquí nivel de presión sonora ni introducir `20 log`.</a:t>
            </a:r>
          </a:p>
          <a:p>
            <a:r>
              <a:t>- **Transición:** “Veamos cómo una escala logarítmica distribuye razones”.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TEX sec:u1-decibel; NOT.</a:t>
            </a:r>
          </a:p>
          <a:p>
            <a:endParaRPr/>
          </a:p>
          <a:p>
            <a:r>
              <a:t>Transición: Las escalas logarítmicas hacen visibles las razones.</a:t>
            </a:r>
          </a:p>
          <a:p>
            <a:endParaRPr/>
          </a:p>
          <a:p>
            <a:r>
              <a:t>Texto alternativo: La expresión logaritmo de pascales aparece como incorrecta y logaritmo de una razón compatible como correcta.</a:t>
            </a:r>
          </a:p>
          <a:p>
            <a:r>
              <a:t>
[Sources]
- TEX `sec:u1-logaritmos`; TEX `sec:u1-decibel`;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que ubiquen 10, 100 y 1000 en ambos ejes. Explicar diferencia constante frente a factor constante.</a:t>
            </a:r>
          </a:p>
          <a:p>
            <a:r>
              <a:t>- **Pregunta y respuesta esperada:** En el eje logarítmico los factores ×10 tienen igual separación.</a:t>
            </a:r>
          </a:p>
          <a:p>
            <a:r>
              <a:t>- **Énfasis/error frecuente:** Escala logarítmica no significa automáticamente percepción logarítmica.</a:t>
            </a:r>
          </a:p>
          <a:p>
            <a:r>
              <a:t>- **Transición:** “El decibel expresa una razón mediante un logaritmo”.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sec:u1-decibel; PDF p. 24.</a:t>
            </a:r>
          </a:p>
          <a:p>
            <a:endParaRPr/>
          </a:p>
          <a:p>
            <a:r>
              <a:t>Transición: El decibel usa un logaritmo para expresar una comparación.</a:t>
            </a:r>
          </a:p>
          <a:p>
            <a:endParaRPr/>
          </a:p>
          <a:p>
            <a:r>
              <a:t>Texto alternativo: Los mismos cuatro valores aparecen comprimidos en un eje lineal y espaciados uniformemente en un eje logarítmico.</a:t>
            </a:r>
          </a:p>
          <a:p>
            <a:r>
              <a:t>
[Sources]
- TEX `sec:u1-decibel`; PDF p. 24.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ecuación por partes. Definir `Q`, `Q₀`, razón y nivel. Señalar el alcance: magnitudes de tipo potencia.</a:t>
            </a:r>
          </a:p>
          <a:p>
            <a:r>
              <a:t>- **Pregunta y respuesta esperada:** Para interpretar el nivel hacen falta magnitud, referencia y condiciones.</a:t>
            </a:r>
          </a:p>
          <a:p>
            <a:r>
              <a:t>- **Énfasis/error frecuente:** No generalizar el factor 10 a toda variable acústica.</a:t>
            </a:r>
          </a:p>
          <a:p>
            <a:r>
              <a:t>- **Transición:** “Usemos una razón cuyo logaritmo conocemos”.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PDF pp. 23–24; BRF.</a:t>
            </a:r>
          </a:p>
          <a:p>
            <a:endParaRPr/>
          </a:p>
          <a:p>
            <a:r>
              <a:t>Transición: Calculemos una razón sencilla.</a:t>
            </a:r>
          </a:p>
          <a:p>
            <a:endParaRPr/>
          </a:p>
          <a:p>
            <a:r>
              <a:t>Texto alternativo: Fórmula del nivel como diez por logaritmo base diez de una razón, con la referencia destacada.</a:t>
            </a:r>
          </a:p>
          <a:p>
            <a:r>
              <a:t>
[Sources]
- TEX `sec:u1-decibel`; PDF pp. 23–24;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`log₁₀(100)=2`, multiplicar por 10 y leer “20 dB respecto de Q₀”. Volver a preguntar qué falta.</a:t>
            </a:r>
          </a:p>
          <a:p>
            <a:r>
              <a:t>- **Pregunta y respuesta esperada:** Falta saber qué son `Q` y `Q₀`; “20 dB” solo está incompleto.</a:t>
            </a:r>
          </a:p>
          <a:p>
            <a:r>
              <a:t>- **Énfasis/error frecuente:** No añadir SPL, HL o SL sin fundamento.</a:t>
            </a:r>
          </a:p>
          <a:p>
            <a:r>
              <a:t>- **Transición:** “Un nivel físico tampoco describe por sí solo una experiencia”.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TEX ejercicios NA6/D3.</a:t>
            </a:r>
          </a:p>
          <a:p>
            <a:endParaRPr/>
          </a:p>
          <a:p>
            <a:r>
              <a:t>Transición: Una comparación física tampoco equivale directamente a una experiencia.</a:t>
            </a:r>
          </a:p>
          <a:p>
            <a:endParaRPr/>
          </a:p>
          <a:p>
            <a:r>
              <a:t>Texto alternativo: Gráfico logarítmico conecta razones 1, 10, 100 y 1000 con niveles 0, 10, 20 y 30 decibeles.</a:t>
            </a:r>
          </a:p>
          <a:p>
            <a:r>
              <a:t>
[Sources]
- TEX `sec:u1-decibel`; TEX ejercicios NA6/D3.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las respuestas espontáneas de U01-002 y ubicarlas en cuatro capas. Señalar que “relacionado” no significa “equivalente”.</a:t>
            </a:r>
          </a:p>
          <a:p>
            <a:r>
              <a:t>- **Pregunta y respuesta esperada:** Una señal medida pertenece a lo físico; lo escuchado, a lo perceptual; el diagnóstico requiere más evidencia.</a:t>
            </a:r>
          </a:p>
          <a:p>
            <a:r>
              <a:t>- **Énfasis/error frecuente:** Evitar una flecha causal simple.</a:t>
            </a:r>
          </a:p>
          <a:p>
            <a:r>
              <a:t>- **Transición:** “Definamos las cuatro categorías”.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BRF.</a:t>
            </a:r>
          </a:p>
          <a:p>
            <a:endParaRPr/>
          </a:p>
          <a:p>
            <a:r>
              <a:t>Transición: Definamos cada nivel de descripción.</a:t>
            </a:r>
          </a:p>
          <a:p>
            <a:endParaRPr/>
          </a:p>
          <a:p>
            <a:r>
              <a:t>Texto alternativo: Cuatro capas distinguen medición física, nivel referido, percepción y conclusión clínica.</a:t>
            </a:r>
          </a:p>
          <a:p>
            <a:r>
              <a:t>
[Sources]
- TEX `sec:u1-fisico-perceptual`;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un ejemplo por columna y nombrar el procedimiento que lo produce. La respuesta “detectado” es conductual, no unidad física.</a:t>
            </a:r>
          </a:p>
          <a:p>
            <a:r>
              <a:t>- **Pregunta y respuesta esperada:** `1000 Hz`: medición física; `35 dB HL`: nivel referido; “agudo”: perceptual; “detectado”: respuesta.</a:t>
            </a:r>
          </a:p>
          <a:p>
            <a:r>
              <a:t>- **Énfasis/error frecuente:** No convertir la matriz en una secuencia diagnóstica automática.</a:t>
            </a:r>
          </a:p>
          <a:p>
            <a:r>
              <a:t>- **Transición:** “Apliquemos el criterio a frecuencia y altura tonal”.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PDF p. 24; INV C39–C45.</a:t>
            </a:r>
          </a:p>
          <a:p>
            <a:endParaRPr/>
          </a:p>
          <a:p>
            <a:r>
              <a:t>Transición: Apliquemos la distinción a pares que suelen confundirse.</a:t>
            </a:r>
          </a:p>
          <a:p>
            <a:endParaRPr/>
          </a:p>
          <a:p>
            <a:r>
              <a:t>Texto alternativo: Matriz con ejemplos de medición física, nivel referido, atributo perceptual y respuesta.</a:t>
            </a:r>
          </a:p>
          <a:p>
            <a:r>
              <a:t>
[Sources]
- TEX `sec:u1-fisico-perceptual`; PDF p. 24; INV C39–C45.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Definir frecuencia en ciclos por segundo y altura tonal como orden perceptual grave–agudo. Mencionar otras condiciones sin desarrollarlas.</a:t>
            </a:r>
          </a:p>
          <a:p>
            <a:r>
              <a:t>- **Pregunta y respuesta esperada:** “200 Hz” es un dato físico; “grave” es una descripción perceptual.</a:t>
            </a:r>
          </a:p>
          <a:p>
            <a:r>
              <a:t>- **Énfasis/error frecuente:** Relación frecuente no implica identidad.</a:t>
            </a:r>
          </a:p>
          <a:p>
            <a:r>
              <a:t>- **Transición:** “La amplitud también suele confundirse con una experiencia”.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TEX sec:u1-errores; DEP U7.</a:t>
            </a:r>
          </a:p>
          <a:p>
            <a:endParaRPr/>
          </a:p>
          <a:p>
            <a:r>
              <a:t>Transición: La misma distinción aparece entre amplitud y sonoridad.</a:t>
            </a:r>
          </a:p>
          <a:p>
            <a:endParaRPr/>
          </a:p>
          <a:p>
            <a:r>
              <a:t>Texto alternativo: La frecuencia física en hertz se compara con la altura tonal percibida sin presentarlas como equivalentes.</a:t>
            </a:r>
          </a:p>
          <a:p>
            <a:r>
              <a:t>
[Sources]
- TEX `sec:u1-fisico-perceptual`; TEX `sec:u1-errores`; DEP U7.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Clasificar los tres ejemplos. Explicar que “volumen” puede nombrar informalmente un control, pero no una magnitud física única.</a:t>
            </a:r>
          </a:p>
          <a:p>
            <a:r>
              <a:t>- **Pregunta y respuesta esperada:** Forma de onda: amplitud; “se oye fuerte”: sonoridad; posición 7: ajuste técnico.</a:t>
            </a:r>
          </a:p>
          <a:p>
            <a:r>
              <a:t>- **Énfasis/error frecuente:** No inferir sonoridad solo desde amplitud digital.</a:t>
            </a:r>
          </a:p>
          <a:p>
            <a:r>
              <a:t>- **Transición:** “Espectro y timbre presentan un límite parecido”.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PDF p. 24; TEX sec:u1-errores.</a:t>
            </a:r>
          </a:p>
          <a:p>
            <a:endParaRPr/>
          </a:p>
          <a:p>
            <a:r>
              <a:t>Transición: Otro par importante aparece entre espectro y timbre.</a:t>
            </a:r>
          </a:p>
          <a:p>
            <a:endParaRPr/>
          </a:p>
          <a:p>
            <a:r>
              <a:t>Texto alternativo: Tres paneles distinguen amplitud de una señal, sonoridad percibida y posición de un control.</a:t>
            </a:r>
          </a:p>
          <a:p>
            <a:r>
              <a:t>
[Sources]
- TEX `sec:u1-fisico-perceptual`; PDF p. 24; TEX `sec:u1-errores`.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los espectros como datos sintéticos. Explicar que el timbre también depende de evolución temporal y otras propiedades, sin introducir Fourier.</a:t>
            </a:r>
          </a:p>
          <a:p>
            <a:r>
              <a:t>- **Pregunta y respuesta esperada:** Podemos afirmar que las distribuciones físicas difieren; no asignar una experiencia única.</a:t>
            </a:r>
          </a:p>
          <a:p>
            <a:r>
              <a:t>- **Énfasis/error frecuente:** No etiquetar los espectros como voces o instrumentos reales.</a:t>
            </a:r>
          </a:p>
          <a:p>
            <a:r>
              <a:t>- **Transición:** “En una app de voz, incluso el eje vertical puede carecer de unidad física”.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sec:u1-fisico-perceptual; MAP U5/U7.</a:t>
            </a:r>
          </a:p>
          <a:p>
            <a:endParaRPr/>
          </a:p>
          <a:p>
            <a:r>
              <a:t>Transición: Veamos qué puede informar una herramienta cotidiana de registro.</a:t>
            </a:r>
          </a:p>
          <a:p>
            <a:endParaRPr/>
          </a:p>
          <a:p>
            <a:r>
              <a:t>Texto alternativo: Dos espectros sintéticos distintos se presentan sin afirmar una correspondencia perceptual única.</a:t>
            </a:r>
          </a:p>
          <a:p>
            <a:r>
              <a:t>
[Sources]
- TEX `sec:u1-fisico-perceptual`; MAP U5/U7.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eje “amplitud digital”. Explicar calibración como vínculo trazable con una entrada física conocida, sin enseñar procedimiento.</a:t>
            </a:r>
          </a:p>
          <a:p>
            <a:r>
              <a:t>- **Pregunta y respuesta esperada:** Para expresar Pa faltan calibración, sensibilidad, ganancia y condiciones.</a:t>
            </a:r>
          </a:p>
          <a:p>
            <a:r>
              <a:t>- **Énfasis/error frecuente:** Una curva más alta en pantalla no implica automáticamente mayor presión ni sonoridad.</a:t>
            </a:r>
          </a:p>
          <a:p>
            <a:r>
              <a:t>- **Transición:** “Una pantalla audiométrica combina todavía más categorías”.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F1; TEX sec:u1-relacion-fono.</a:t>
            </a:r>
          </a:p>
          <a:p>
            <a:endParaRPr/>
          </a:p>
          <a:p>
            <a:r>
              <a:t>Transición: Una pantalla audiométrica también combina categorías distintas.</a:t>
            </a:r>
          </a:p>
          <a:p>
            <a:endParaRPr/>
          </a:p>
          <a:p>
            <a:r>
              <a:t>Texto alternativo: Interfaz sintética de grabación con eje de amplitud digital y una advertencia sobre ausencia de calibración.</a:t>
            </a:r>
          </a:p>
          <a:p>
            <a:r>
              <a:t>
[Sources]
- TEX ejercicios F1; TEX `sec:u1-relacion-fono`.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frecuencia, nivel y respuesta por separado. Explicar que dB HL incorpora una referencia audiométrica específica.</a:t>
            </a:r>
          </a:p>
          <a:p>
            <a:r>
              <a:t>- **Pregunta y respuesta esperada:** `1000 Hz`: magnitud; `35 dB HL`: nivel referido; “detectado”: respuesta conductual.</a:t>
            </a:r>
          </a:p>
          <a:p>
            <a:r>
              <a:t>- **Énfasis/error frecuente:** No convertir dB HL a dB SPL sin datos de calibración, frecuencia y transductor.</a:t>
            </a:r>
          </a:p>
          <a:p>
            <a:r>
              <a:t>- **Transición:** “Volvamos al modelo fuente–medio–receptor en una cadena de verificación”.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F2; ISO 389-1 e ISO 8253-1 citadas en TEX.</a:t>
            </a:r>
          </a:p>
          <a:p>
            <a:endParaRPr/>
          </a:p>
          <a:p>
            <a:r>
              <a:t>Transición: Apliquemos fuente–medio–receptor a una cadena técnica.</a:t>
            </a:r>
          </a:p>
          <a:p>
            <a:endParaRPr/>
          </a:p>
          <a:p>
            <a:r>
              <a:t>Texto alternativo: Pantalla audiométrica conceptual resalta frecuencia, nivel de audición y respuesta detectada como categorías distintas.</a:t>
            </a:r>
          </a:p>
          <a:p>
            <a:r>
              <a:t>
[Sources]
- TEX ejercicios F2; ISO 389-1 e ISO 8253-1 citadas en TEX.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la cadena y preguntar qué mide el micrófono. Diferenciar verificación electroacústica de evaluación de una persona.</a:t>
            </a:r>
          </a:p>
          <a:p>
            <a:r>
              <a:t>- **Pregunta y respuesta esperada:** El micrófono es receptor instrumental y produce un dato de señal recibida bajo condiciones.</a:t>
            </a:r>
          </a:p>
          <a:p>
            <a:r>
              <a:t>- **Énfasis/error frecuente:** Un resultado instrumental aislado no es diagnóstico.</a:t>
            </a:r>
          </a:p>
          <a:p>
            <a:r>
              <a:t>- **Transición:** “Convirtamos estos ejemplos en un criterio general”.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ejercicios F3; TEX sec:u1-alcance.</a:t>
            </a:r>
          </a:p>
          <a:p>
            <a:endParaRPr/>
          </a:p>
          <a:p>
            <a:r>
              <a:t>Transición: Convirtamos estas distinciones en un criterio general de lectura.</a:t>
            </a:r>
          </a:p>
          <a:p>
            <a:endParaRPr/>
          </a:p>
          <a:p>
            <a:r>
              <a:t>Texto alternativo: Cadena de señal de prueba, parlante, aire, micrófono y dato, con un límite sobre diagnóstico.</a:t>
            </a:r>
          </a:p>
          <a:p>
            <a:r>
              <a:t>
[Sources]
- TEX ejercicios F3; TEX `sec:u1-alcance`.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seis elementos para clasificar. Luego pedir una frase de límite por pareja.</a:t>
            </a:r>
          </a:p>
          <a:p>
            <a:r>
              <a:t>- **Pregunta y respuesta esperada:** Toda interpretación debe indicar categoría, referencia, condiciones y qué no puede concluirse.</a:t>
            </a:r>
          </a:p>
          <a:p>
            <a:r>
              <a:t>- **Énfasis/error frecuente:** No aceptar respuestas clínicas sin evidencia adicional.</a:t>
            </a:r>
          </a:p>
          <a:p>
            <a:r>
              <a:t>- **Transición:** “Ahora resolvemos la escena inicial como un sistema completo”.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Resolvamos el caso inicial con todas las herramientas disponibles.</a:t>
            </a:r>
          </a:p>
          <a:p>
            <a:endParaRPr/>
          </a:p>
          <a:p>
            <a:r>
              <a:t>Texto alternativo: Matriz para clasificar seis elementos y formular un límite de interpretación.</a:t>
            </a:r>
          </a:p>
          <a:p>
            <a:r>
              <a:t>
[Sources]
- TEX `sec:u1-sintesis`;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Formar grupos. Parte 1: voz como fuente, aire como medio, micrófono como receptor. Cálculos: `t=6,8/340=0,020 s`; `f=100/0,50=200 Hz`.</a:t>
            </a:r>
          </a:p>
          <a:p>
            <a:r>
              <a:t>- **Pregunta y respuesta esperada:** Tiempo 20 ms; frecuencia 200 Hz; unidades visibles.</a:t>
            </a:r>
          </a:p>
          <a:p>
            <a:r>
              <a:t>- **Énfasis/error frecuente:** No afirmar que 200 Hz determina por sí solo la altura tonal.</a:t>
            </a:r>
          </a:p>
          <a:p>
            <a:r>
              <a:t>- **Transición:** “Agreguemos datos que exigen reconocer referencias y límites”.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I1.</a:t>
            </a:r>
          </a:p>
          <a:p>
            <a:endParaRPr/>
          </a:p>
          <a:p>
            <a:r>
              <a:t>Transición: Agreguemos una escala digital, una razón logarítmica y preguntas perceptuales.</a:t>
            </a:r>
          </a:p>
          <a:p>
            <a:endParaRPr/>
          </a:p>
          <a:p>
            <a:r>
              <a:t>Texto alternativo: Vocalización, aire y micrófono con datos de distancia, rapidez y número de ciclos para dos cálculos.</a:t>
            </a:r>
          </a:p>
          <a:p>
            <a:r>
              <a:t>
[Sources]
- TEX ejercicios I1.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Calcular `20 dB` y separar afirmaciones. La amplitud digital no está calibrada; la razón sí permite un nivel relativo; la percepción y clínica requieren otros procedimientos.</a:t>
            </a:r>
          </a:p>
          <a:p>
            <a:r>
              <a:t>- **Pregunta y respuesta esperada:** Se puede informar el cálculo bajo la referencia dada; no presión en Pa, pitch ni diagnóstico.</a:t>
            </a:r>
          </a:p>
          <a:p>
            <a:r>
              <a:t>- **Énfasis/error frecuente:** Un cálculo correcto no amplía el alcance de los datos.</a:t>
            </a:r>
          </a:p>
          <a:p>
            <a:r>
              <a:t>- **Transición:** “Comparemos estas respuestas con el diagnóstico inicial”.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I1; BRF.</a:t>
            </a:r>
          </a:p>
          <a:p>
            <a:endParaRPr/>
          </a:p>
          <a:p>
            <a:r>
              <a:t>Transición: Compare sus respuestas con el diagnóstico inicial.</a:t>
            </a:r>
          </a:p>
          <a:p>
            <a:endParaRPr/>
          </a:p>
          <a:p>
            <a:r>
              <a:t>Texto alternativo: Cuatro tarjetas separan resultado numérico, referencia, experiencia perceptual y conclusión clínica.</a:t>
            </a:r>
          </a:p>
          <a:p>
            <a:r>
              <a:t>
[Sources]
- TEX ejercicios I1;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el mapa final y pedir una evidencia por nodo. Volver a U01-004 y solicitar autocorrección razonada.</a:t>
            </a:r>
          </a:p>
          <a:p>
            <a:r>
              <a:t>- **Pregunta y respuesta esperada:** `d=2 m` separa componentes; peso en N; `d/c` produce tiempo; frecuencia y altura tonal no son sinónimos.</a:t>
            </a:r>
          </a:p>
          <a:p>
            <a:r>
              <a:t>- **Énfasis/error frecuente:** Evitar leer la recapitulación como lista.</a:t>
            </a:r>
          </a:p>
          <a:p>
            <a:r>
              <a:t>- **Transición:** “Estas herramientas reaparecen inmediatamente en las próximas unidades”.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BRF; DEP.</a:t>
            </a:r>
          </a:p>
          <a:p>
            <a:endParaRPr/>
          </a:p>
          <a:p>
            <a:r>
              <a:t>Transición: Estas herramientas reaparecerán con mayor profundidad.</a:t>
            </a:r>
          </a:p>
          <a:p>
            <a:endParaRPr/>
          </a:p>
          <a:p>
            <a:r>
              <a:t>Texto alternativo: Mapa final conecta fenómeno, medición, relaciones, control, representación e interpretación.</a:t>
            </a:r>
          </a:p>
          <a:p>
            <a:r>
              <a:t>
[Sources]
- TEX `sec:u1-sintesis`; BRF;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dependencias documentadas. Recoger la pregunta de salida para planificar recuperación en U2.</a:t>
            </a:r>
          </a:p>
          <a:p>
            <a:r>
              <a:t>- **Pregunta y respuesta esperada:** Respuesta abierta, pero debe nombrar un concepto y una dificultad concreta.</a:t>
            </a:r>
          </a:p>
          <a:p>
            <a:r>
              <a:t>- **Énfasis/error frecuente:** No prometer que U1 agotó mecánica, ondas o decibeles.</a:t>
            </a:r>
          </a:p>
          <a:p>
            <a:r>
              <a:t>- **Transición:** Cierre de la ruta central.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MAP; DEP.</a:t>
            </a:r>
          </a:p>
          <a:p>
            <a:endParaRPr/>
          </a:p>
          <a:p>
            <a:r>
              <a:t>Transición: Fin de la ruta central.</a:t>
            </a:r>
          </a:p>
          <a:p>
            <a:endParaRPr/>
          </a:p>
          <a:p>
            <a:r>
              <a:t>Texto alternativo: La Unidad 1 se conecta con mecánica, ondas y magnitudes acústicas de las unidades 2, 3 y 4.</a:t>
            </a:r>
          </a:p>
          <a:p>
            <a:r>
              <a:t>
[Sources]
- MAP;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Abrir solo ante una consulta sobre el SI. Señalar la fila pertinente y volver.</a:t>
            </a:r>
          </a:p>
          <a:p>
            <a:r>
              <a:t>- **Pregunta y respuesta esperada:** La temperatura termodinámica usa kelvin; tiempo, longitud y masa usan s, m y kg.</a:t>
            </a:r>
          </a:p>
          <a:p>
            <a:r>
              <a:t>- **Énfasis/error frecuente:** No leer toda la tabla.</a:t>
            </a:r>
          </a:p>
          <a:p>
            <a:r>
              <a:t>- **Transición:** Regresar a U01-019 o U01-020.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Regresar a la slide que motivó la consulta.</a:t>
            </a:r>
          </a:p>
          <a:p>
            <a:endParaRPr/>
          </a:p>
          <a:p>
            <a:r>
              <a:t>Texto alternativo: Tabla completa de las siete magnitudes fundamentales con símbolos y unidades básicas.</a:t>
            </a:r>
          </a:p>
          <a:p>
            <a:r>
              <a:t>
[Sources]
- TEX `sec:u1-si`; PDF p. 16;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prefijo consultado y su factor. Conectar con una conversión concreta.</a:t>
            </a:r>
          </a:p>
          <a:p>
            <a:r>
              <a:t>- **Pregunta y respuesta esperada:** La mayúscula cambia el símbolo: `M` mega no es `m` mili.</a:t>
            </a:r>
          </a:p>
          <a:p>
            <a:r>
              <a:t>- **Énfasis/error frecuente:** No memorizar toda la tabla durante la clase.</a:t>
            </a:r>
          </a:p>
          <a:p>
            <a:r>
              <a:t>- **Transición:** Volver a U01-039 o al ejercicio.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BIPM/NIST citados en TEX; NOT.</a:t>
            </a:r>
          </a:p>
          <a:p>
            <a:endParaRPr/>
          </a:p>
          <a:p>
            <a:r>
              <a:t>Transición: Volver a la conversión correspondiente.</a:t>
            </a:r>
          </a:p>
          <a:p>
            <a:endParaRPr/>
          </a:p>
          <a:p>
            <a:r>
              <a:t>Texto alternativo: Tabla de ocho prefijos SI desde tera hasta pico con símbolos y potencias de diez.</a:t>
            </a:r>
          </a:p>
          <a:p>
            <a:r>
              <a:t>
[Sources]
- BIPM/NIST citados en TEX; NOT.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Reconstruir solo la cadena solicitada. Para presión: fuerza sobre área.</a:t>
            </a:r>
          </a:p>
          <a:p>
            <a:r>
              <a:t>- **Pregunta y respuesta esperada:** `[p]=[F]/[S]=(MLT⁻²)/L²=ML⁻¹T⁻²`.</a:t>
            </a:r>
          </a:p>
          <a:p>
            <a:r>
              <a:t>- **Énfasis/error frecuente:** Compatibilidad dimensional no demuestra el modelo.</a:t>
            </a:r>
          </a:p>
          <a:p>
            <a:r>
              <a:t>- **Transición:** Volver a U01-042.</a:t>
            </a:r>
          </a:p>
          <a:p>
            <a:r>
              <a:t>- **Duración:** 2–3 min, a demanda.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Retomar U01-042 o la consulta que originó la derivación.</a:t>
            </a:r>
          </a:p>
          <a:p>
            <a:endParaRPr/>
          </a:p>
          <a:p>
            <a:r>
              <a:t>Texto alternativo: Red dimensional conecta masa, longitud y tiempo con rapidez, aceleración, fuerza, presión y densidad.</a:t>
            </a:r>
          </a:p>
          <a:p>
            <a:r>
              <a:t>
[Sources]
- TEX `sec:u1-analisis-dimensional`; PDF p. 20.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después de la discusión. Pedir que comparen su razonamiento con la clave, no solo la opción final.</a:t>
            </a:r>
          </a:p>
          <a:p>
            <a:r>
              <a:t>- **Pregunta y respuesta esperada:** Las cuatro soluciones deben incluir una justificación verbal o dimensional.</a:t>
            </a:r>
          </a:p>
          <a:p>
            <a:r>
              <a:t>- **Énfasis/error frecuente:** No usar la slide como anticipo de respuestas.</a:t>
            </a:r>
          </a:p>
          <a:p>
            <a:r>
              <a:t>- **Transición:** Volver a la recapitulación pertinente.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sec:u1-soluciones.</a:t>
            </a:r>
          </a:p>
          <a:p>
            <a:endParaRPr/>
          </a:p>
          <a:p>
            <a:r>
              <a:t>Transición: Regresar a la recapitulación del bloque correspondiente.</a:t>
            </a:r>
          </a:p>
          <a:p>
            <a:endParaRPr/>
          </a:p>
          <a:p>
            <a:r>
              <a:t>Texto alternativo: Cuatro paneles resumen soluciones razonadas de unidades, dimensiones y trigonometría.</a:t>
            </a:r>
          </a:p>
          <a:p>
            <a:r>
              <a:t>
[Sources]
- TEX `sec:u1-soluciones`.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 único ejemplo. Señalar datos, relación, sustitución, unidad e interpretación.</a:t>
            </a:r>
          </a:p>
          <a:p>
            <a:r>
              <a:t>- **Pregunta y respuesta esperada:** El resultado debe corresponder a la magnitud buscada.</a:t>
            </a:r>
          </a:p>
          <a:p>
            <a:r>
              <a:t>- **Énfasis/error frecuente:** La entrada “presión y densidad” muestra relaciones generales; usar los datos específicos del ejercicio en curso.</a:t>
            </a:r>
          </a:p>
          <a:p>
            <a:r>
              <a:t>- **Transición:** Volver a U01-035.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soluciones NG2–NG4/NA1.</a:t>
            </a:r>
          </a:p>
          <a:p>
            <a:endParaRPr/>
          </a:p>
          <a:p>
            <a:r>
              <a:t>Transición: Volver a U01-035.</a:t>
            </a:r>
          </a:p>
          <a:p>
            <a:endParaRPr/>
          </a:p>
          <a:p>
            <a:r>
              <a:t>Texto alternativo: Cuatro soluciones mecánicas muestran pasos y unidades para tiempo, peso, presión y densidad.</a:t>
            </a:r>
          </a:p>
          <a:p>
            <a:r>
              <a:t>
[Sources]
- TEX soluciones NG2–NG4/NA1.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Identificar dónde se interrumpió el razonamiento: evaluación, despeje, elección de lados o conversión.</a:t>
            </a:r>
          </a:p>
          <a:p>
            <a:r>
              <a:t>- **Pregunta y respuesta esperada:** Inversa cambia entrada/salida; razones trigonométricas cancelan unidades; `225°=5π/4 rad`.</a:t>
            </a:r>
          </a:p>
          <a:p>
            <a:r>
              <a:t>- **Énfasis/error frecuente:** No entregar toda la solución si basta una pista.</a:t>
            </a:r>
          </a:p>
          <a:p>
            <a:r>
              <a:t>- **Transición:** Volver a U01-050, U01-056 o U01-060.</a:t>
            </a:r>
          </a:p>
          <a:p>
            <a:r>
              <a:t>- **Duración:** 2–5 min, a demanda.</a:t>
            </a:r>
          </a:p>
          <a:p>
            <a:endParaRPr/>
          </a:p>
          <a:p>
            <a:r>
              <a:t>Fuente de redacción: TEX soluciones NA2/NA4/NA5.</a:t>
            </a:r>
          </a:p>
          <a:p>
            <a:endParaRPr/>
          </a:p>
          <a:p>
            <a:r>
              <a:t>Transición: Volver al punto conceptual correspondiente.</a:t>
            </a:r>
          </a:p>
          <a:p>
            <a:endParaRPr/>
          </a:p>
          <a:p>
            <a:r>
              <a:t>Texto alternativo: Soluciones de evaluación e inversión de una función, triángulo 3–4–5 y conversión angular.</a:t>
            </a:r>
          </a:p>
          <a:p>
            <a:r>
              <a:t>
[Sources]
- TEX soluciones NA2/NA4/NA5.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domina definición e inversa. Leer cada propiedad como transformación de una operación.</a:t>
            </a:r>
          </a:p>
          <a:p>
            <a:r>
              <a:t>- **Pregunta y respuesta esperada:** Producto dentro del logaritmo se traduce en suma de logaritmos, bajo las condiciones indicadas.</a:t>
            </a:r>
          </a:p>
          <a:p>
            <a:r>
              <a:t>- **Énfasis/error frecuente:** No aplicar propiedades a argumentos no positivos.</a:t>
            </a:r>
          </a:p>
          <a:p>
            <a:r>
              <a:t>- **Transición:** Volver a U01-070.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sec:u1-logaritmos; BRF.</a:t>
            </a:r>
          </a:p>
          <a:p>
            <a:endParaRPr/>
          </a:p>
          <a:p>
            <a:r>
              <a:t>Transición: Regresar al anticipo de decibel.</a:t>
            </a:r>
          </a:p>
          <a:p>
            <a:endParaRPr/>
          </a:p>
          <a:p>
            <a:r>
              <a:t>Texto alternativo: Tabla de propiedades de producto, cociente y potencia para logaritmos.</a:t>
            </a:r>
          </a:p>
          <a:p>
            <a:r>
              <a:t>
[Sources]
- TEX `sec:u1-logaritmos`;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nivel conceptual. Definir qué referencia cambia y por qué no hay conversión universal.</a:t>
            </a:r>
          </a:p>
          <a:p>
            <a:r>
              <a:t>- **Pregunta y respuesta esperada:** Ante “35 dB”, preguntar escala, referencia, frecuencia, transductor y procedimiento.</a:t>
            </a:r>
          </a:p>
          <a:p>
            <a:r>
              <a:t>- **Énfasis/error frecuente:** No presentar tablas normativas ni factores fijos de conversión.</a:t>
            </a:r>
          </a:p>
          <a:p>
            <a:r>
              <a:t>- **Transición:** Volver a U01-078.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sec:u1-decibel; ISO 389-1/8253-1 citadas en TEX; BRF.</a:t>
            </a:r>
          </a:p>
          <a:p>
            <a:endParaRPr/>
          </a:p>
          <a:p>
            <a:r>
              <a:t>Transición: Volver al caso audiométrico U01-078.</a:t>
            </a:r>
          </a:p>
          <a:p>
            <a:endParaRPr/>
          </a:p>
          <a:p>
            <a:r>
              <a:t>Texto alternativo: Tres columnas comparan dB SPL, dB HL y dB SL y advierten que no hay conversión universal.</a:t>
            </a:r>
          </a:p>
          <a:p>
            <a:r>
              <a:t>
[Sources]
- TEX `sec:u1-decibel`; ISO 389-1/8253-1 citadas en TEX;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jerarquía: programa fija alcance; libro organiza contenido; fuentes técnicas respaldan puntos específicos.</a:t>
            </a:r>
          </a:p>
          <a:p>
            <a:r>
              <a:t>- **Pregunta y respuesta esperada:** Distinguir bibliografía técnica de créditos de imágenes y medios.</a:t>
            </a:r>
          </a:p>
          <a:p>
            <a:r>
              <a:t>- **Énfasis/error frecuente:** No atribuir al BIPM contenidos clínicos ni a ISO el alcance curricular.</a:t>
            </a:r>
          </a:p>
          <a:p>
            <a:r>
              <a:t>- **Transición:** Consulta final.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PO; TEX bibliografía; source_analysis.md.</a:t>
            </a:r>
          </a:p>
          <a:p>
            <a:endParaRPr/>
          </a:p>
          <a:p>
            <a:r>
              <a:t>Transición: Consulta final.</a:t>
            </a:r>
          </a:p>
          <a:p>
            <a:endParaRPr/>
          </a:p>
          <a:p>
            <a:r>
              <a:t>Texto alternativo: Lista de programa, libro y fuentes técnicas BIPM, NIST, Cramer e ISO.</a:t>
            </a:r>
          </a:p>
          <a:p>
            <a:r>
              <a:t>
[Sources]
- PO; TEX bibliografía; `source_analysis.md`.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una consigna según el error observado. Pedir decisión, procedimiento y límite, no solo resultado.</a:t>
            </a:r>
          </a:p>
          <a:p>
            <a:r>
              <a:t>- **Pregunta y respuesta esperada:** Depende del ejercicio; el criterio común es justificar símbolos, unidades y alcance.</a:t>
            </a:r>
          </a:p>
          <a:p>
            <a:r>
              <a:t>- **Énfasis/error frecuente:** No usar todos los ejercicios como repetición de cierre.</a:t>
            </a:r>
          </a:p>
          <a:p>
            <a:r>
              <a:t>- **Transición:** Fin del material de respaldo.</a:t>
            </a:r>
          </a:p>
          <a:p>
            <a:r>
              <a:t>- **Duración:** 3–8 min, según selección.</a:t>
            </a:r>
          </a:p>
          <a:p>
            <a:endParaRPr/>
          </a:p>
          <a:p>
            <a:r>
              <a:t>Fuente de redacción: TEX sec:u1-ejercicios; INV.</a:t>
            </a:r>
          </a:p>
          <a:p>
            <a:endParaRPr/>
          </a:p>
          <a:p>
            <a:r>
              <a:t>Transición: Fin del material de respaldo.</a:t>
            </a:r>
          </a:p>
          <a:p>
            <a:endParaRPr/>
          </a:p>
          <a:p>
            <a:r>
              <a:t>Texto alternativo: Seis ejercicios alternativos cubren unidades, dimensiones, inversas, trigonometría, logaritmos y clasificación.</a:t>
            </a:r>
          </a:p>
          <a:p>
            <a:r>
              <a:t>
[Sources]
- TEX `sec:u1-ejercicios`;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publications/si-base-units-relationship-poster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bipm.org/en/publications/si-brochure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5C2D599-B63B-48F2-9C8E-3E2FDFB25A6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B00 · PORTADA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76E0F2E-76F2-4A7D-8193-7DCC160ECA78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8572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Nociones básicas e introducción a la acústica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94073E7-917D-4BBC-9375-613C5F3D6C56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2E8E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2E8EE"/>
                </a:solidFill>
                <a:latin typeface="Calibri"/>
                <a:ea typeface="Calibri"/>
                <a:cs typeface="Calibri"/>
              </a:rPr>
              <a:t>Magnitudes, relaciones y criterios para interpretar una situación acústica.</a:t>
            </a:r>
          </a:p>
        </p:txBody>
      </p:sp>
      <p:sp>
        <p:nvSpPr>
          <p:cNvPr id="5" name="cover_wave_line">
            <a:extLst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noGrp="1"/>
          </p:cNvSpPr>
          <p:nvPr/>
        </p:nvSpPr>
        <p:spPr>
          <a:xfrm>
            <a:off x="8667750" y="1638300"/>
            <a:ext cx="2476500" cy="1809750"/>
          </a:xfrm>
          <a:prstGeom prst="wave">
            <a:avLst/>
          </a:prstGeom>
          <a:solidFill>
            <a:srgbClr val="000000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ver_version">
            <a:extLst>
              <a:ext uri="{FF2B5EF4-FFF2-40B4-BE49-F238E27FC236}">
                <a16:creationId xmlns:a16="http://schemas.microsoft.com/office/drawing/2014/main" id="{33EC5933-7A98-4E12-827E-7AAF204249F3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457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E7D7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E7D7E0"/>
                </a:solidFill>
                <a:latin typeface="Calibri"/>
                <a:ea typeface="Calibri"/>
                <a:cs typeface="Calibri"/>
              </a:rPr>
              <a:t>Del fenómeno cotidiano al lenguaje físico.</a:t>
            </a:r>
          </a:p>
        </p:txBody>
      </p:sp>
      <p:sp>
        <p:nvSpPr>
          <p:cNvPr id="8" name="u01_asset_credit_1">
            <a:extLst>
              <a:ext uri="{FF2B5EF4-FFF2-40B4-BE49-F238E27FC236}">
                <a16:creationId xmlns:a16="http://schemas.microsoft.com/office/drawing/2014/main" id="{63A5C7F9-E8B9-4218-B6B7-FABE1405B3CE}"/>
              </a:ext>
            </a:extLst>
          </p:cNvPr>
          <p:cNvSpPr>
            <a:spLocks noGrp="1"/>
          </p:cNvSpPr>
          <p:nvPr/>
        </p:nvSpPr>
        <p:spPr>
          <a:xfrm>
            <a:off x="8572500" y="5810250"/>
            <a:ext cx="266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646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9" name="U01-CH001_mini_node_1">
            <a:extLst>
              <a:ext uri="{FF2B5EF4-FFF2-40B4-BE49-F238E27FC236}">
                <a16:creationId xmlns:a16="http://schemas.microsoft.com/office/drawing/2014/main" id="{1ED61393-877B-42A8-B3C2-A183ACC4C6B6}"/>
              </a:ext>
            </a:extLst>
          </p:cNvPr>
          <p:cNvSpPr>
            <a:spLocks noGrp="1"/>
          </p:cNvSpPr>
          <p:nvPr/>
        </p:nvSpPr>
        <p:spPr>
          <a:xfrm>
            <a:off x="8999220" y="2459355"/>
            <a:ext cx="320040" cy="32004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U01-CH001_mini_node_2">
            <a:extLst>
              <a:ext uri="{FF2B5EF4-FFF2-40B4-BE49-F238E27FC236}">
                <a16:creationId xmlns:a16="http://schemas.microsoft.com/office/drawing/2014/main" id="{6155D67C-4818-4FE4-9A99-2BE97C511DCF}"/>
              </a:ext>
            </a:extLst>
          </p:cNvPr>
          <p:cNvSpPr>
            <a:spLocks noGrp="1"/>
          </p:cNvSpPr>
          <p:nvPr/>
        </p:nvSpPr>
        <p:spPr>
          <a:xfrm>
            <a:off x="9745980" y="2459355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01_mini_node_3">
            <a:extLst>
              <a:ext uri="{FF2B5EF4-FFF2-40B4-BE49-F238E27FC236}">
                <a16:creationId xmlns:a16="http://schemas.microsoft.com/office/drawing/2014/main" id="{A4038BA7-CC00-4E21-B4C5-0ABC293CD4B9}"/>
              </a:ext>
            </a:extLst>
          </p:cNvPr>
          <p:cNvSpPr>
            <a:spLocks noGrp="1"/>
          </p:cNvSpPr>
          <p:nvPr/>
        </p:nvSpPr>
        <p:spPr>
          <a:xfrm>
            <a:off x="10492740" y="2459355"/>
            <a:ext cx="320040" cy="32004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cxnSp>
        <p:nvCxnSpPr>
          <p:cNvPr id="23" name="U01-CH001_mini_link_1"/>
          <p:cNvCxnSpPr>
            <a:stCxn id="9" idx="6"/>
            <a:endCxn id="10" idx="1"/>
          </p:cNvCxnSpPr>
          <p:nvPr/>
        </p:nvCxnSpPr>
        <p:spPr>
          <a:xfrm>
            <a:off x="9319260" y="2619375"/>
            <a:ext cx="42672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24" name="U01-CH001_mini_link_2"/>
          <p:cNvCxnSpPr>
            <a:stCxn id="10" idx="3"/>
            <a:endCxn id="11" idx="2"/>
          </p:cNvCxnSpPr>
          <p:nvPr/>
        </p:nvCxnSpPr>
        <p:spPr>
          <a:xfrm>
            <a:off x="10066020" y="2619375"/>
            <a:ext cx="42672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SITUACIÓN DISPARADORA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vocal, un micrófono y una persona que escucha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se produce?</a:t>
            </a:r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3143250" cy="2190750"/>
          </a:xfrm>
          <a:prstGeom prst="wave">
            <a:avLst/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puede medir el micrófono?</a:t>
            </a:r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84772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experimenta la persona?</a:t>
            </a:r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medición física y una experiencia auditiva describen aspectos distintos.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2DE3D81C-F48C-44BE-8128-5F0B56F6B5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531DA2C3-CE21-4BC2-B11E-ABE9B7F6949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PUENTE DE CONOCIMIENTOS PREVIOS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EF81085-504B-4497-B076-C109924CDA4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4" name="prior_known_box">
            <a:extLst>
              <a:ext uri="{FF2B5EF4-FFF2-40B4-BE49-F238E27FC236}">
                <a16:creationId xmlns:a16="http://schemas.microsoft.com/office/drawing/2014/main" id="{07B58428-3CB9-425F-9265-36932FDF692E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prior_known_accent">
            <a:extLst>
              <a:ext uri="{FF2B5EF4-FFF2-40B4-BE49-F238E27FC236}">
                <a16:creationId xmlns:a16="http://schemas.microsoft.com/office/drawing/2014/main" id="{858C0AF8-752D-4B26-B180-C6A2AA26B708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66675" cy="29527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rior_known_label">
            <a:extLst>
              <a:ext uri="{FF2B5EF4-FFF2-40B4-BE49-F238E27FC236}">
                <a16:creationId xmlns:a16="http://schemas.microsoft.com/office/drawing/2014/main" id="{49EC20E7-6A1D-4878-BC9B-4C72EFDEDAF5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YA USAMOS</a:t>
            </a:r>
          </a:p>
        </p:txBody>
      </p:sp>
      <p:sp>
        <p:nvSpPr>
          <p:cNvPr id="7" name="prior_known_text">
            <a:extLst>
              <a:ext uri="{FF2B5EF4-FFF2-40B4-BE49-F238E27FC236}">
                <a16:creationId xmlns:a16="http://schemas.microsoft.com/office/drawing/2014/main" id="{9078949C-EC9B-467C-8FB4-2E74D7CA53C7}"/>
              </a:ext>
            </a:extLst>
          </p:cNvPr>
          <p:cNvSpPr>
            <a:spLocks noGrp="1"/>
          </p:cNvSpPr>
          <p:nvPr/>
        </p:nvSpPr>
        <p:spPr>
          <a:xfrm>
            <a:off x="971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Medir longitudes y tiempos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Dividir y comparar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Leer un eje y una escala</a:t>
            </a:r>
          </a:p>
        </p:txBody>
      </p:sp>
      <p:sp>
        <p:nvSpPr>
          <p:cNvPr id="8" name="prior_recover_box">
            <a:extLst>
              <a:ext uri="{FF2B5EF4-FFF2-40B4-BE49-F238E27FC236}">
                <a16:creationId xmlns:a16="http://schemas.microsoft.com/office/drawing/2014/main" id="{1CED9AC8-0B4E-4C9D-A8DC-DAF3CA5543DD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prior_recover_accent">
            <a:extLst>
              <a:ext uri="{FF2B5EF4-FFF2-40B4-BE49-F238E27FC236}">
                <a16:creationId xmlns:a16="http://schemas.microsoft.com/office/drawing/2014/main" id="{26E577E5-401D-4B9D-8797-9D8C317F1C95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66675" cy="2952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rior_recover_label">
            <a:extLst>
              <a:ext uri="{FF2B5EF4-FFF2-40B4-BE49-F238E27FC236}">
                <a16:creationId xmlns:a16="http://schemas.microsoft.com/office/drawing/2014/main" id="{74A55828-4057-4E12-8CF7-4B3D57A2070C}"/>
              </a:ext>
            </a:extLst>
          </p:cNvPr>
          <p:cNvSpPr>
            <a:spLocks noGrp="1"/>
          </p:cNvSpPr>
          <p:nvPr/>
        </p:nvSpPr>
        <p:spPr>
          <a:xfrm>
            <a:off x="6686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VAMOS A RECUPERAR</a:t>
            </a:r>
          </a:p>
        </p:txBody>
      </p:sp>
      <p:sp>
        <p:nvSpPr>
          <p:cNvPr id="11" name="prior_recover_text">
            <a:extLst>
              <a:ext uri="{FF2B5EF4-FFF2-40B4-BE49-F238E27FC236}">
                <a16:creationId xmlns:a16="http://schemas.microsoft.com/office/drawing/2014/main" id="{9E3AF078-9F48-4268-AF9B-0E307A4136B1}"/>
              </a:ext>
            </a:extLst>
          </p:cNvPr>
          <p:cNvSpPr>
            <a:spLocks noGrp="1"/>
          </p:cNvSpPr>
          <p:nvPr/>
        </p:nvSpPr>
        <p:spPr>
          <a:xfrm>
            <a:off x="6686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Potencias de diez y prefijos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Funciones e inversas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Razones trigonométricas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Logaritmos</a:t>
            </a:r>
          </a:p>
        </p:txBody>
      </p:sp>
      <p:sp>
        <p:nvSpPr>
          <p:cNvPr id="12" name="prior_note">
            <a:extLst>
              <a:ext uri="{FF2B5EF4-FFF2-40B4-BE49-F238E27FC236}">
                <a16:creationId xmlns:a16="http://schemas.microsoft.com/office/drawing/2014/main" id="{8A363232-2760-4642-849C-6FC13528A9E4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herramienta se retomará justo antes de usarla.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B9FB06B-B1D9-48B5-9D70-9D2184BD59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DIAGNÓSTICO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respuestas rápidas para empezar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Diagnóstico inicial, no evaluación.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En d = 2 m, ¿qué representa cada elemento?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¿El peso se expresa en kg o en N?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¿Cuál puede representar un tiempo: d/c, dc o c/d?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¿Frecuencia y altura tonal son lo mismo?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Volveremos a estas cuatro respuestas al finalizar.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3E80A52A-BBC6-468D-8810-A96A4601D83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8DB38DF-AB43-4A8B-8359-0429CABA37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OBJETIVOS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E2ED953-83FD-48C4-87DB-5474647302A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hacer al finalizar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D085344C-35C1-4598-A29B-300DB9CE992A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F57C7D61-2DF4-4BDB-BA4F-FDACFA3040A9}"/>
              </a:ext>
            </a:extLst>
          </p:cNvPr>
          <p:cNvSpPr>
            <a:spLocks noGrp="1"/>
          </p:cNvSpPr>
          <p:nvPr/>
        </p:nvSpPr>
        <p:spPr>
          <a:xfrm>
            <a:off x="1200150" y="19526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fuente, medio y receptor; expresar mediciones con magnitud, valor y unidad.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F2C10121-D7B9-4BBA-9E44-522A1D87834E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BFB0D19E-04CA-401C-ABBC-6D8778C2FC17}"/>
              </a:ext>
            </a:extLst>
          </p:cNvPr>
          <p:cNvSpPr>
            <a:spLocks noGrp="1"/>
          </p:cNvSpPr>
          <p:nvPr/>
        </p:nvSpPr>
        <p:spPr>
          <a:xfrm>
            <a:off x="1200150" y="28670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físicas y verificar coherencia dimensional.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B794DAC7-1EA4-442F-8F4F-69BAD685AD85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EFABDC7C-6788-4650-846B-3865BD38955B}"/>
              </a:ext>
            </a:extLst>
          </p:cNvPr>
          <p:cNvSpPr>
            <a:spLocks noGrp="1"/>
          </p:cNvSpPr>
          <p:nvPr/>
        </p:nvSpPr>
        <p:spPr>
          <a:xfrm>
            <a:off x="1200150" y="37814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Representar funciones e inversas; usar razones trigonométricas.</a:t>
            </a:r>
          </a:p>
        </p:txBody>
      </p:sp>
      <p:sp>
        <p:nvSpPr>
          <p:cNvPr id="10" name="objective_observation_box">
            <a:extLst>
              <a:ext uri="{FF2B5EF4-FFF2-40B4-BE49-F238E27FC236}">
                <a16:creationId xmlns:a16="http://schemas.microsoft.com/office/drawing/2014/main" id="{772E526C-DD9B-4743-8EDA-4520BCB863E7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57175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objective_observation_accent">
            <a:extLst>
              <a:ext uri="{FF2B5EF4-FFF2-40B4-BE49-F238E27FC236}">
                <a16:creationId xmlns:a16="http://schemas.microsoft.com/office/drawing/2014/main" id="{1D3A8004-2037-485B-BE23-E9C5CE353F7A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66675" cy="238125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bjective_observation_label">
            <a:extLst>
              <a:ext uri="{FF2B5EF4-FFF2-40B4-BE49-F238E27FC236}">
                <a16:creationId xmlns:a16="http://schemas.microsoft.com/office/drawing/2014/main" id="{6CD12F76-446E-4A0A-910D-D8B24B7EE445}"/>
              </a:ext>
            </a:extLst>
          </p:cNvPr>
          <p:cNvSpPr>
            <a:spLocks noGrp="1"/>
          </p:cNvSpPr>
          <p:nvPr/>
        </p:nvSpPr>
        <p:spPr>
          <a:xfrm>
            <a:off x="9067800" y="213360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3" name="objective_observation_text">
            <a:extLst>
              <a:ext uri="{FF2B5EF4-FFF2-40B4-BE49-F238E27FC236}">
                <a16:creationId xmlns:a16="http://schemas.microsoft.com/office/drawing/2014/main" id="{620089FD-3D28-4737-AE93-851440A030A4}"/>
              </a:ext>
            </a:extLst>
          </p:cNvPr>
          <p:cNvSpPr>
            <a:spLocks noGrp="1"/>
          </p:cNvSpPr>
          <p:nvPr/>
        </p:nvSpPr>
        <p:spPr>
          <a:xfrm>
            <a:off x="9067800" y="2447925"/>
            <a:ext cx="21717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logaritmos y razones en dB; distinguir medición, percepción y conclusión clínica.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1923EDF-16AB-4AAC-A831-1C6A21E20B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911F09F-6033-444E-BEA4-3F91B22A6E5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MAPA DE CLASE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3123496-3D8A-4706-BA14-EAD1B69A25E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 una interpretación responsable</a:t>
            </a:r>
          </a:p>
        </p:txBody>
      </p:sp>
      <p:sp>
        <p:nvSpPr>
          <p:cNvPr id="4" name="map_step_1">
            <a:extLst>
              <a:ext uri="{FF2B5EF4-FFF2-40B4-BE49-F238E27FC236}">
                <a16:creationId xmlns:a16="http://schemas.microsoft.com/office/drawing/2014/main" id="{BC98569E-A21D-4317-B059-8D143F5983B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A51970-F69C-4BF5-BF29-FDC65D0CDDAE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811C29-DA40-48C9-A98A-CAA59C30F0A9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3062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el fenómeno.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CA67C8-5D2D-4398-AAC4-7D3F8D39B723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map_arrow_1">
            <a:extLst>
              <a:ext uri="{FF2B5EF4-FFF2-40B4-BE49-F238E27FC236}">
                <a16:creationId xmlns:a16="http://schemas.microsoft.com/office/drawing/2014/main" id="{901CB882-5408-4451-85E0-D084BFADCDBC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map_step_2">
            <a:extLst>
              <a:ext uri="{FF2B5EF4-FFF2-40B4-BE49-F238E27FC236}">
                <a16:creationId xmlns:a16="http://schemas.microsoft.com/office/drawing/2014/main" id="{748CCE30-20AF-4112-BBF5-6154B54EB1F7}"/>
              </a:ext>
            </a:extLst>
          </p:cNvPr>
          <p:cNvSpPr>
            <a:spLocks noGrp="1"/>
          </p:cNvSpPr>
          <p:nvPr/>
        </p:nvSpPr>
        <p:spPr>
          <a:xfrm>
            <a:off x="36004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9E141A-A3F5-4B6F-8E07-A151F808146B}"/>
              </a:ext>
            </a:extLst>
          </p:cNvPr>
          <p:cNvSpPr>
            <a:spLocks noGrp="1"/>
          </p:cNvSpPr>
          <p:nvPr/>
        </p:nvSpPr>
        <p:spPr>
          <a:xfrm>
            <a:off x="37909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5684C5-0EA1-4F64-BA86-EBD2F7BCB058}"/>
              </a:ext>
            </a:extLst>
          </p:cNvPr>
          <p:cNvSpPr>
            <a:spLocks noGrp="1"/>
          </p:cNvSpPr>
          <p:nvPr/>
        </p:nvSpPr>
        <p:spPr>
          <a:xfrm>
            <a:off x="37909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Medir con un lenguaje común.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FF5AB7A-C227-43FE-8F95-C53B1463E989}"/>
              </a:ext>
            </a:extLst>
          </p:cNvPr>
          <p:cNvSpPr>
            <a:spLocks noGrp="1"/>
          </p:cNvSpPr>
          <p:nvPr/>
        </p:nvSpPr>
        <p:spPr>
          <a:xfrm>
            <a:off x="37909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map_arrow_2">
            <a:extLst>
              <a:ext uri="{FF2B5EF4-FFF2-40B4-BE49-F238E27FC236}">
                <a16:creationId xmlns:a16="http://schemas.microsoft.com/office/drawing/2014/main" id="{54200FDD-CC28-46B8-ABC1-63D9394E7E3F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ap_step_3">
            <a:extLst>
              <a:ext uri="{FF2B5EF4-FFF2-40B4-BE49-F238E27FC236}">
                <a16:creationId xmlns:a16="http://schemas.microsoft.com/office/drawing/2014/main" id="{748BFD84-71B2-46C5-9800-AACCC8987181}"/>
              </a:ext>
            </a:extLst>
          </p:cNvPr>
          <p:cNvSpPr>
            <a:spLocks noGrp="1"/>
          </p:cNvSpPr>
          <p:nvPr/>
        </p:nvSpPr>
        <p:spPr>
          <a:xfrm>
            <a:off x="63246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5730F39-57FE-465E-8BA1-1D825F7AA080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339F30-68FD-4E0B-A360-377D52DD03AB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y representar dependencias.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CB9A8C4-F98B-4944-BB94-8FED11F43235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map_arrow_3">
            <a:extLst>
              <a:ext uri="{FF2B5EF4-FFF2-40B4-BE49-F238E27FC236}">
                <a16:creationId xmlns:a16="http://schemas.microsoft.com/office/drawing/2014/main" id="{5C7AB104-1E37-4C63-8F2C-C9F9AE1B018C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ap_step_4">
            <a:extLst>
              <a:ext uri="{FF2B5EF4-FFF2-40B4-BE49-F238E27FC236}">
                <a16:creationId xmlns:a16="http://schemas.microsoft.com/office/drawing/2014/main" id="{4F264C7A-9111-4CED-9F36-0D3C2DE0AF11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511269-2412-4277-819F-DBA2974C2907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DE9A0F1-55E8-4299-B979-2B6DD196D76C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sin exceder los datos.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8E8759-CB28-4481-82BF-5C5DEBE2F625}"/>
              </a:ext>
            </a:extLst>
          </p:cNvPr>
          <p:cNvSpPr>
            <a:spLocks noGrp="1"/>
          </p:cNvSpPr>
          <p:nvPr/>
        </p:nvSpPr>
        <p:spPr>
          <a:xfrm>
            <a:off x="92392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8039"/>
          </a:bodyPr>
          <a:lstStyle/>
          <a:p>
            <a:pPr algn="ctr">
              <a:buNone/>
              <a:defRPr sz="12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Pausa y recapitulación después del análisis dimensional.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E9A1FB5A-D028-47A6-8F09-93BFF06F62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B01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evento cotidiano al fenómeno acústico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sistema produce, transmite y recibe?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4281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B01</a:t>
            </a:r>
          </a:p>
        </p:txBody>
      </p:sp>
      <p:sp>
        <p:nvSpPr>
          <p:cNvPr id="7" name="u01_asset_credit_7">
            <a:extLst>
              <a:ext uri="{FF2B5EF4-FFF2-40B4-BE49-F238E27FC236}">
                <a16:creationId xmlns:a16="http://schemas.microsoft.com/office/drawing/2014/main" id="{35BF263B-A92D-4BFB-B025-7B0063AB8C0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766D9AF-0068-439C-ADFE-4A1186F942D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0" name="U01-CH001_mini_node_1">
            <a:extLst>
              <a:ext uri="{FF2B5EF4-FFF2-40B4-BE49-F238E27FC236}">
                <a16:creationId xmlns:a16="http://schemas.microsoft.com/office/drawing/2014/main" id="{E2E2F0E1-9E73-4EBD-80DB-AE5C4BA6ABAC}"/>
              </a:ext>
            </a:extLst>
          </p:cNvPr>
          <p:cNvSpPr>
            <a:spLocks noGrp="1"/>
          </p:cNvSpPr>
          <p:nvPr/>
        </p:nvSpPr>
        <p:spPr>
          <a:xfrm>
            <a:off x="8136255" y="2731770"/>
            <a:ext cx="422910" cy="42291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01_mini_node_2">
            <a:extLst>
              <a:ext uri="{FF2B5EF4-FFF2-40B4-BE49-F238E27FC236}">
                <a16:creationId xmlns:a16="http://schemas.microsoft.com/office/drawing/2014/main" id="{6281D4CF-41F8-4AA4-A5F7-9110C06BA867}"/>
              </a:ext>
            </a:extLst>
          </p:cNvPr>
          <p:cNvSpPr>
            <a:spLocks noGrp="1"/>
          </p:cNvSpPr>
          <p:nvPr/>
        </p:nvSpPr>
        <p:spPr>
          <a:xfrm>
            <a:off x="9123045" y="2731770"/>
            <a:ext cx="422910" cy="422910"/>
          </a:xfrm>
          <a:prstGeom prst="roundRect">
            <a:avLst>
              <a:gd name="adj" fmla="val 18018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U01-CH001_mini_node_3">
            <a:extLst>
              <a:ext uri="{FF2B5EF4-FFF2-40B4-BE49-F238E27FC236}">
                <a16:creationId xmlns:a16="http://schemas.microsoft.com/office/drawing/2014/main" id="{A34617B4-BBB5-4340-B577-714D44B1FA94}"/>
              </a:ext>
            </a:extLst>
          </p:cNvPr>
          <p:cNvSpPr>
            <a:spLocks noGrp="1"/>
          </p:cNvSpPr>
          <p:nvPr/>
        </p:nvSpPr>
        <p:spPr>
          <a:xfrm>
            <a:off x="10109835" y="2731770"/>
            <a:ext cx="422910" cy="42291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cxnSp>
        <p:nvCxnSpPr>
          <p:cNvPr id="24" name="U01-CH001_mini_link_1"/>
          <p:cNvCxnSpPr>
            <a:stCxn id="10" idx="6"/>
            <a:endCxn id="11" idx="1"/>
          </p:cNvCxnSpPr>
          <p:nvPr/>
        </p:nvCxnSpPr>
        <p:spPr>
          <a:xfrm>
            <a:off x="8559165" y="2943225"/>
            <a:ext cx="56388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25" name="U01-CH001_mini_link_2"/>
          <p:cNvCxnSpPr>
            <a:stCxn id="11" idx="3"/>
            <a:endCxn id="12" idx="2"/>
          </p:cNvCxnSpPr>
          <p:nvPr/>
        </p:nvCxnSpPr>
        <p:spPr>
          <a:xfrm>
            <a:off x="9545955" y="2943225"/>
            <a:ext cx="56388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 y receptor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modelo describe funciones dentro de un sistema delimitado.</a:t>
            </a:r>
          </a:p>
        </p:txBody>
      </p:sp>
      <p:sp>
        <p:nvSpPr>
          <p:cNvPr id="25" name="u01_asset_credit_8">
            <a:extLst>
              <a:ext uri="{FF2B5EF4-FFF2-40B4-BE49-F238E27FC236}">
                <a16:creationId xmlns:a16="http://schemas.microsoft.com/office/drawing/2014/main" id="{10262DC8-3F58-44F4-AA64-C924F9AEC954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901437DC-1092-45E6-8479-BF600DB5D5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8" name="U01-CH001_node_1">
            <a:extLst>
              <a:ext uri="{FF2B5EF4-FFF2-40B4-BE49-F238E27FC236}">
                <a16:creationId xmlns:a16="http://schemas.microsoft.com/office/drawing/2014/main" id="{38687938-1CD4-4B4E-AEB1-D70E2214F459}"/>
              </a:ext>
            </a:extLst>
          </p:cNvPr>
          <p:cNvSpPr>
            <a:spLocks noGrp="1"/>
          </p:cNvSpPr>
          <p:nvPr/>
        </p:nvSpPr>
        <p:spPr>
          <a:xfrm>
            <a:off x="19050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U01-CH001_node_1_title">
            <a:extLst>
              <a:ext uri="{FF2B5EF4-FFF2-40B4-BE49-F238E27FC236}">
                <a16:creationId xmlns:a16="http://schemas.microsoft.com/office/drawing/2014/main" id="{F8073F21-7856-4079-8C0C-9C4C2715F2B6}"/>
              </a:ext>
            </a:extLst>
          </p:cNvPr>
          <p:cNvSpPr>
            <a:spLocks noGrp="1"/>
          </p:cNvSpPr>
          <p:nvPr/>
        </p:nvSpPr>
        <p:spPr>
          <a:xfrm>
            <a:off x="20697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30" name="U01-CH001_node_1_body">
            <a:extLst>
              <a:ext uri="{FF2B5EF4-FFF2-40B4-BE49-F238E27FC236}">
                <a16:creationId xmlns:a16="http://schemas.microsoft.com/office/drawing/2014/main" id="{972FDFBC-3304-4530-B26E-AF0D76245EB1}"/>
              </a:ext>
            </a:extLst>
          </p:cNvPr>
          <p:cNvSpPr>
            <a:spLocks noGrp="1"/>
          </p:cNvSpPr>
          <p:nvPr/>
        </p:nvSpPr>
        <p:spPr>
          <a:xfrm>
            <a:off x="20697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origina la perturbación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· parlante</a:t>
            </a:r>
          </a:p>
        </p:txBody>
      </p:sp>
      <p:sp>
        <p:nvSpPr>
          <p:cNvPr id="31" name="U01-CH001_node_2">
            <a:extLst>
              <a:ext uri="{FF2B5EF4-FFF2-40B4-BE49-F238E27FC236}">
                <a16:creationId xmlns:a16="http://schemas.microsoft.com/office/drawing/2014/main" id="{CE8AAFF8-0644-4F60-83CB-16523652CA15}"/>
              </a:ext>
            </a:extLst>
          </p:cNvPr>
          <p:cNvSpPr>
            <a:spLocks noGrp="1"/>
          </p:cNvSpPr>
          <p:nvPr/>
        </p:nvSpPr>
        <p:spPr>
          <a:xfrm>
            <a:off x="47879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U01-CH001_node_2_title">
            <a:extLst>
              <a:ext uri="{FF2B5EF4-FFF2-40B4-BE49-F238E27FC236}">
                <a16:creationId xmlns:a16="http://schemas.microsoft.com/office/drawing/2014/main" id="{7890C217-31C5-4AAA-A3A2-764A8D05AFD8}"/>
              </a:ext>
            </a:extLst>
          </p:cNvPr>
          <p:cNvSpPr>
            <a:spLocks noGrp="1"/>
          </p:cNvSpPr>
          <p:nvPr/>
        </p:nvSpPr>
        <p:spPr>
          <a:xfrm>
            <a:off x="49526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33" name="U01-CH001_node_2_body">
            <a:extLst>
              <a:ext uri="{FF2B5EF4-FFF2-40B4-BE49-F238E27FC236}">
                <a16:creationId xmlns:a16="http://schemas.microsoft.com/office/drawing/2014/main" id="{61FE010F-0507-4728-B67D-FB214645C8D2}"/>
              </a:ext>
            </a:extLst>
          </p:cNvPr>
          <p:cNvSpPr>
            <a:spLocks noGrp="1"/>
          </p:cNvSpPr>
          <p:nvPr/>
        </p:nvSpPr>
        <p:spPr>
          <a:xfrm>
            <a:off x="49526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la propagación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aire · agua · sólido</a:t>
            </a:r>
          </a:p>
        </p:txBody>
      </p:sp>
      <p:sp>
        <p:nvSpPr>
          <p:cNvPr id="34" name="U01-CH001_node_3">
            <a:extLst>
              <a:ext uri="{FF2B5EF4-FFF2-40B4-BE49-F238E27FC236}">
                <a16:creationId xmlns:a16="http://schemas.microsoft.com/office/drawing/2014/main" id="{B043A46A-B18C-43D4-AAE7-60B5574E74A8}"/>
              </a:ext>
            </a:extLst>
          </p:cNvPr>
          <p:cNvSpPr>
            <a:spLocks noGrp="1"/>
          </p:cNvSpPr>
          <p:nvPr/>
        </p:nvSpPr>
        <p:spPr>
          <a:xfrm>
            <a:off x="76708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U01-CH001_node_3_title">
            <a:extLst>
              <a:ext uri="{FF2B5EF4-FFF2-40B4-BE49-F238E27FC236}">
                <a16:creationId xmlns:a16="http://schemas.microsoft.com/office/drawing/2014/main" id="{3666C57D-9DE8-48F6-8776-C28D4C270CA5}"/>
              </a:ext>
            </a:extLst>
          </p:cNvPr>
          <p:cNvSpPr>
            <a:spLocks noGrp="1"/>
          </p:cNvSpPr>
          <p:nvPr/>
        </p:nvSpPr>
        <p:spPr>
          <a:xfrm>
            <a:off x="78355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36" name="U01-CH001_node_3_body">
            <a:extLst>
              <a:ext uri="{FF2B5EF4-FFF2-40B4-BE49-F238E27FC236}">
                <a16:creationId xmlns:a16="http://schemas.microsoft.com/office/drawing/2014/main" id="{1775BBA3-227A-4DC4-91C2-7F997F47FE46}"/>
              </a:ext>
            </a:extLst>
          </p:cNvPr>
          <p:cNvSpPr>
            <a:spLocks noGrp="1"/>
          </p:cNvSpPr>
          <p:nvPr/>
        </p:nvSpPr>
        <p:spPr>
          <a:xfrm>
            <a:off x="78355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responde a la perturbación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· micrófono</a:t>
            </a:r>
          </a:p>
        </p:txBody>
      </p:sp>
      <p:cxnSp>
        <p:nvCxnSpPr>
          <p:cNvPr id="74" name="U01-CH001_link_1"/>
          <p:cNvCxnSpPr>
            <a:stCxn id="28" idx="3"/>
            <a:endCxn id="31" idx="1"/>
          </p:cNvCxnSpPr>
          <p:nvPr/>
        </p:nvCxnSpPr>
        <p:spPr>
          <a:xfrm>
            <a:off x="45212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38" name="U01-CH001_link_1_label">
            <a:extLst>
              <a:ext uri="{FF2B5EF4-FFF2-40B4-BE49-F238E27FC236}">
                <a16:creationId xmlns:a16="http://schemas.microsoft.com/office/drawing/2014/main" id="{B64EEFBB-65BE-4342-887E-22D7AAC37F62}"/>
              </a:ext>
            </a:extLst>
          </p:cNvPr>
          <p:cNvSpPr>
            <a:spLocks noGrp="1"/>
          </p:cNvSpPr>
          <p:nvPr/>
        </p:nvSpPr>
        <p:spPr>
          <a:xfrm>
            <a:off x="37496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perturbación</a:t>
            </a:r>
          </a:p>
        </p:txBody>
      </p:sp>
      <p:cxnSp>
        <p:nvCxnSpPr>
          <p:cNvPr id="76" name="U01-CH001_link_2"/>
          <p:cNvCxnSpPr>
            <a:stCxn id="31" idx="3"/>
            <a:endCxn id="34" idx="1"/>
          </p:cNvCxnSpPr>
          <p:nvPr/>
        </p:nvCxnSpPr>
        <p:spPr>
          <a:xfrm>
            <a:off x="74041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40" name="U01-CH001_link_2_label">
            <a:extLst>
              <a:ext uri="{FF2B5EF4-FFF2-40B4-BE49-F238E27FC236}">
                <a16:creationId xmlns:a16="http://schemas.microsoft.com/office/drawing/2014/main" id="{531548DA-7DBD-4847-B184-7A37307B9F50}"/>
              </a:ext>
            </a:extLst>
          </p:cNvPr>
          <p:cNvSpPr>
            <a:spLocks noGrp="1"/>
          </p:cNvSpPr>
          <p:nvPr/>
        </p:nvSpPr>
        <p:spPr>
          <a:xfrm>
            <a:off x="66325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se propaga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objeto puede cumplir roles distintos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complementaria: usar si los roles se interpretan como etiquetas rígidas.</a:t>
            </a:r>
          </a:p>
        </p:txBody>
      </p:sp>
      <p:sp>
        <p:nvSpPr>
          <p:cNvPr id="16" name="u01_asset_credit_9">
            <a:extLst>
              <a:ext uri="{FF2B5EF4-FFF2-40B4-BE49-F238E27FC236}">
                <a16:creationId xmlns:a16="http://schemas.microsoft.com/office/drawing/2014/main" id="{6258916D-3061-4FF3-B01D-C57DD8F7B76D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81095F6-4255-44BE-80B2-26CC17A4234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9" name="U01-CH001_node_1">
            <a:extLst>
              <a:ext uri="{FF2B5EF4-FFF2-40B4-BE49-F238E27FC236}">
                <a16:creationId xmlns:a16="http://schemas.microsoft.com/office/drawing/2014/main" id="{F1615532-EB20-4DC3-B4FB-14A677A7E581}"/>
              </a:ext>
            </a:extLst>
          </p:cNvPr>
          <p:cNvSpPr>
            <a:spLocks noGrp="1"/>
          </p:cNvSpPr>
          <p:nvPr/>
        </p:nvSpPr>
        <p:spPr>
          <a:xfrm>
            <a:off x="2238375" y="2345055"/>
            <a:ext cx="2393950" cy="2519172"/>
          </a:xfrm>
          <a:prstGeom prst="roundRect">
            <a:avLst>
              <a:gd name="adj" fmla="val 318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U01-CH001_node_1_title">
            <a:extLst>
              <a:ext uri="{FF2B5EF4-FFF2-40B4-BE49-F238E27FC236}">
                <a16:creationId xmlns:a16="http://schemas.microsoft.com/office/drawing/2014/main" id="{FE9DD0A3-4416-4F2F-808D-F94F0C6D4F05}"/>
              </a:ext>
            </a:extLst>
          </p:cNvPr>
          <p:cNvSpPr>
            <a:spLocks noGrp="1"/>
          </p:cNvSpPr>
          <p:nvPr/>
        </p:nvSpPr>
        <p:spPr>
          <a:xfrm>
            <a:off x="2403158" y="2468880"/>
            <a:ext cx="206438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21" name="U01-CH001_node_1_body">
            <a:extLst>
              <a:ext uri="{FF2B5EF4-FFF2-40B4-BE49-F238E27FC236}">
                <a16:creationId xmlns:a16="http://schemas.microsoft.com/office/drawing/2014/main" id="{32B9BD8D-7818-4D6E-BEB9-DB3DD5C934EF}"/>
              </a:ext>
            </a:extLst>
          </p:cNvPr>
          <p:cNvSpPr>
            <a:spLocks noGrp="1"/>
          </p:cNvSpPr>
          <p:nvPr/>
        </p:nvSpPr>
        <p:spPr>
          <a:xfrm>
            <a:off x="2403158" y="2897505"/>
            <a:ext cx="2064385" cy="1833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origina la perturbación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· parlante</a:t>
            </a:r>
          </a:p>
        </p:txBody>
      </p:sp>
      <p:sp>
        <p:nvSpPr>
          <p:cNvPr id="22" name="U01-CH001_node_2">
            <a:extLst>
              <a:ext uri="{FF2B5EF4-FFF2-40B4-BE49-F238E27FC236}">
                <a16:creationId xmlns:a16="http://schemas.microsoft.com/office/drawing/2014/main" id="{BAF5BDBF-F7DD-458E-B213-8691C4C22D2E}"/>
              </a:ext>
            </a:extLst>
          </p:cNvPr>
          <p:cNvSpPr>
            <a:spLocks noGrp="1"/>
          </p:cNvSpPr>
          <p:nvPr/>
        </p:nvSpPr>
        <p:spPr>
          <a:xfrm>
            <a:off x="4899025" y="2345055"/>
            <a:ext cx="2393950" cy="2519172"/>
          </a:xfrm>
          <a:prstGeom prst="roundRect">
            <a:avLst>
              <a:gd name="adj" fmla="val 3183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U01-CH001_node_2_title">
            <a:extLst>
              <a:ext uri="{FF2B5EF4-FFF2-40B4-BE49-F238E27FC236}">
                <a16:creationId xmlns:a16="http://schemas.microsoft.com/office/drawing/2014/main" id="{53C8EB87-D264-4915-BB79-64A18835EF00}"/>
              </a:ext>
            </a:extLst>
          </p:cNvPr>
          <p:cNvSpPr>
            <a:spLocks noGrp="1"/>
          </p:cNvSpPr>
          <p:nvPr/>
        </p:nvSpPr>
        <p:spPr>
          <a:xfrm>
            <a:off x="5063808" y="2468880"/>
            <a:ext cx="206438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24" name="U01-CH001_node_2_body">
            <a:extLst>
              <a:ext uri="{FF2B5EF4-FFF2-40B4-BE49-F238E27FC236}">
                <a16:creationId xmlns:a16="http://schemas.microsoft.com/office/drawing/2014/main" id="{BB1FF89F-713D-4E94-8C02-675E0C638538}"/>
              </a:ext>
            </a:extLst>
          </p:cNvPr>
          <p:cNvSpPr>
            <a:spLocks noGrp="1"/>
          </p:cNvSpPr>
          <p:nvPr/>
        </p:nvSpPr>
        <p:spPr>
          <a:xfrm>
            <a:off x="5063808" y="2897505"/>
            <a:ext cx="2064385" cy="1833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la propagación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aire · agua · sólido</a:t>
            </a:r>
          </a:p>
        </p:txBody>
      </p:sp>
      <p:sp>
        <p:nvSpPr>
          <p:cNvPr id="25" name="U01-CH001_node_3">
            <a:extLst>
              <a:ext uri="{FF2B5EF4-FFF2-40B4-BE49-F238E27FC236}">
                <a16:creationId xmlns:a16="http://schemas.microsoft.com/office/drawing/2014/main" id="{4095591D-DED7-4EAA-BF24-A7AA8DC5EF45}"/>
              </a:ext>
            </a:extLst>
          </p:cNvPr>
          <p:cNvSpPr>
            <a:spLocks noGrp="1"/>
          </p:cNvSpPr>
          <p:nvPr/>
        </p:nvSpPr>
        <p:spPr>
          <a:xfrm>
            <a:off x="7559675" y="2345055"/>
            <a:ext cx="2393950" cy="2519172"/>
          </a:xfrm>
          <a:prstGeom prst="roundRect">
            <a:avLst>
              <a:gd name="adj" fmla="val 318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U01-CH001_node_3_title">
            <a:extLst>
              <a:ext uri="{FF2B5EF4-FFF2-40B4-BE49-F238E27FC236}">
                <a16:creationId xmlns:a16="http://schemas.microsoft.com/office/drawing/2014/main" id="{769F3B5D-52C0-4DA7-A9ED-D971DD11C5CB}"/>
              </a:ext>
            </a:extLst>
          </p:cNvPr>
          <p:cNvSpPr>
            <a:spLocks noGrp="1"/>
          </p:cNvSpPr>
          <p:nvPr/>
        </p:nvSpPr>
        <p:spPr>
          <a:xfrm>
            <a:off x="7724458" y="2468880"/>
            <a:ext cx="206438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7" name="U01-CH001_node_3_body">
            <a:extLst>
              <a:ext uri="{FF2B5EF4-FFF2-40B4-BE49-F238E27FC236}">
                <a16:creationId xmlns:a16="http://schemas.microsoft.com/office/drawing/2014/main" id="{F0A2C253-52FC-4D04-8430-6FCEF45BFD82}"/>
              </a:ext>
            </a:extLst>
          </p:cNvPr>
          <p:cNvSpPr>
            <a:spLocks noGrp="1"/>
          </p:cNvSpPr>
          <p:nvPr/>
        </p:nvSpPr>
        <p:spPr>
          <a:xfrm>
            <a:off x="7724458" y="2897505"/>
            <a:ext cx="2064385" cy="1833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responde a la perturbación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· micrófono</a:t>
            </a:r>
          </a:p>
        </p:txBody>
      </p:sp>
      <p:cxnSp>
        <p:nvCxnSpPr>
          <p:cNvPr id="56" name="U01-CH001_link_1"/>
          <p:cNvCxnSpPr>
            <a:stCxn id="19" idx="3"/>
            <a:endCxn id="22" idx="1"/>
          </p:cNvCxnSpPr>
          <p:nvPr/>
        </p:nvCxnSpPr>
        <p:spPr>
          <a:xfrm>
            <a:off x="4632325" y="3604641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29" name="U01-CH001_link_1_label">
            <a:extLst>
              <a:ext uri="{FF2B5EF4-FFF2-40B4-BE49-F238E27FC236}">
                <a16:creationId xmlns:a16="http://schemas.microsoft.com/office/drawing/2014/main" id="{0B5E39E0-4F7B-418B-8F68-408CDB1B267E}"/>
              </a:ext>
            </a:extLst>
          </p:cNvPr>
          <p:cNvSpPr>
            <a:spLocks noGrp="1"/>
          </p:cNvSpPr>
          <p:nvPr/>
        </p:nvSpPr>
        <p:spPr>
          <a:xfrm>
            <a:off x="3860800" y="198310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perturbación</a:t>
            </a:r>
          </a:p>
        </p:txBody>
      </p:sp>
      <p:cxnSp>
        <p:nvCxnSpPr>
          <p:cNvPr id="58" name="U01-CH001_link_2"/>
          <p:cNvCxnSpPr>
            <a:stCxn id="22" idx="3"/>
            <a:endCxn id="25" idx="1"/>
          </p:cNvCxnSpPr>
          <p:nvPr/>
        </p:nvCxnSpPr>
        <p:spPr>
          <a:xfrm>
            <a:off x="7292975" y="3604641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31" name="U01-CH001_link_2_label">
            <a:extLst>
              <a:ext uri="{FF2B5EF4-FFF2-40B4-BE49-F238E27FC236}">
                <a16:creationId xmlns:a16="http://schemas.microsoft.com/office/drawing/2014/main" id="{5A7A15C7-8A8A-4844-BC5E-78D290849B01}"/>
              </a:ext>
            </a:extLst>
          </p:cNvPr>
          <p:cNvSpPr>
            <a:spLocks noGrp="1"/>
          </p:cNvSpPr>
          <p:nvPr/>
        </p:nvSpPr>
        <p:spPr>
          <a:xfrm>
            <a:off x="6521450" y="198310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se propaga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perturbación avanza; las partículas oscilan localmente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OBSERVAR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partículas del medio se desplazan alrededor de su posición de equilibrio. La región perturbada avanza de una zona a otra.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Modelo conceptual; no está a escala.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GIF incorporado · alternativa estática disponible</a:t>
            </a:r>
          </a:p>
        </p:txBody>
      </p:sp>
      <p:pic>
        <p:nvPicPr>
          <p:cNvPr id="26" name="Imagen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9500" y="1666875"/>
            <a:ext cx="6604000" cy="3714750"/>
          </a:xfrm>
          <a:prstGeom prst="rect">
            <a:avLst/>
          </a:prstGeom>
        </p:spPr>
      </p:pic>
      <p:sp>
        <p:nvSpPr>
          <p:cNvPr id="13" name="u01_asset_credit_10">
            <a:extLst>
              <a:ext uri="{FF2B5EF4-FFF2-40B4-BE49-F238E27FC236}">
                <a16:creationId xmlns:a16="http://schemas.microsoft.com/office/drawing/2014/main" id="{F79C9D54-9D13-415D-84B9-A98AE03F9625}"/>
              </a:ext>
            </a:extLst>
          </p:cNvPr>
          <p:cNvSpPr>
            <a:spLocks noGrp="1"/>
          </p:cNvSpPr>
          <p:nvPr/>
        </p:nvSpPr>
        <p:spPr>
          <a:xfrm>
            <a:off x="1428750" y="5810250"/>
            <a:ext cx="933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U01-CH002 · Elaboración propia; modelo conceptual, no a escala.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2C7AE092-EFEE-49AC-BEEC-0234940CB10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DEMOSTRACIÓN/PREGUNTA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viaja en un resorte?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1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 PREDECIR   →   2  OBSERVAR   →   3  COMPARAR</a:t>
            </a:r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DEMOSTRACIÓN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Predigan qué hará la marca. 2. Observen el pulso. 3. Comparen el recorrido del pulso con el de la marca.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resorte es un modelo visible de propagación; no reproduce todas las propiedades del sonido en aire.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Resorte o GIF de respaldo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29AE290-2291-450E-AFBD-B0A1B8F58C7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978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estudia la acústica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acústica estudia la producción, propagación, recepción, control y efectos de sonidos y vibraciones mecánicas.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Acústica: disciplina que describe esos procesos, los sistemas involucrados y sus mediciones.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¿Qué verbo corresponde a una cabina, un micrófono o un oído?</a:t>
            </a:r>
          </a:p>
        </p:txBody>
      </p:sp>
      <p:sp>
        <p:nvSpPr>
          <p:cNvPr id="10" name="u01_asset_credit_12">
            <a:extLst>
              <a:ext uri="{FF2B5EF4-FFF2-40B4-BE49-F238E27FC236}">
                <a16:creationId xmlns:a16="http://schemas.microsoft.com/office/drawing/2014/main" id="{82620AF3-04D0-4A34-BB75-3857C02A395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16E8675D-5799-409D-B82D-B823F08DCA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3" name="U01-CH001_node_1">
            <a:extLst>
              <a:ext uri="{FF2B5EF4-FFF2-40B4-BE49-F238E27FC236}">
                <a16:creationId xmlns:a16="http://schemas.microsoft.com/office/drawing/2014/main" id="{5131C957-4108-4C4F-A198-D72E280365DB}"/>
              </a:ext>
            </a:extLst>
          </p:cNvPr>
          <p:cNvSpPr>
            <a:spLocks noGrp="1"/>
          </p:cNvSpPr>
          <p:nvPr/>
        </p:nvSpPr>
        <p:spPr>
          <a:xfrm>
            <a:off x="6572250" y="2562225"/>
            <a:ext cx="1473200" cy="1440180"/>
          </a:xfrm>
          <a:prstGeom prst="roundRect">
            <a:avLst>
              <a:gd name="adj" fmla="val 529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U01-CH001_node_1_title">
            <a:extLst>
              <a:ext uri="{FF2B5EF4-FFF2-40B4-BE49-F238E27FC236}">
                <a16:creationId xmlns:a16="http://schemas.microsoft.com/office/drawing/2014/main" id="{E900DB5E-9A4D-4645-9FA4-B3BD8DFE1E72}"/>
              </a:ext>
            </a:extLst>
          </p:cNvPr>
          <p:cNvSpPr>
            <a:spLocks noGrp="1"/>
          </p:cNvSpPr>
          <p:nvPr/>
        </p:nvSpPr>
        <p:spPr>
          <a:xfrm>
            <a:off x="6737033" y="2686050"/>
            <a:ext cx="1143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5" name="U01-CH001_node_2">
            <a:extLst>
              <a:ext uri="{FF2B5EF4-FFF2-40B4-BE49-F238E27FC236}">
                <a16:creationId xmlns:a16="http://schemas.microsoft.com/office/drawing/2014/main" id="{8AD6B09C-67EF-4DED-8C37-E9158846EC43}"/>
              </a:ext>
            </a:extLst>
          </p:cNvPr>
          <p:cNvSpPr>
            <a:spLocks noGrp="1"/>
          </p:cNvSpPr>
          <p:nvPr/>
        </p:nvSpPr>
        <p:spPr>
          <a:xfrm>
            <a:off x="8121650" y="2562225"/>
            <a:ext cx="1473200" cy="1440180"/>
          </a:xfrm>
          <a:prstGeom prst="roundRect">
            <a:avLst>
              <a:gd name="adj" fmla="val 5291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U01-CH001_node_2_title">
            <a:extLst>
              <a:ext uri="{FF2B5EF4-FFF2-40B4-BE49-F238E27FC236}">
                <a16:creationId xmlns:a16="http://schemas.microsoft.com/office/drawing/2014/main" id="{033B6D0C-1C66-4C1F-84E9-76C03038C256}"/>
              </a:ext>
            </a:extLst>
          </p:cNvPr>
          <p:cNvSpPr>
            <a:spLocks noGrp="1"/>
          </p:cNvSpPr>
          <p:nvPr/>
        </p:nvSpPr>
        <p:spPr>
          <a:xfrm>
            <a:off x="8286432" y="2686050"/>
            <a:ext cx="1143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17" name="U01-CH001_node_3">
            <a:extLst>
              <a:ext uri="{FF2B5EF4-FFF2-40B4-BE49-F238E27FC236}">
                <a16:creationId xmlns:a16="http://schemas.microsoft.com/office/drawing/2014/main" id="{469A036D-1374-4972-9543-A55C39470907}"/>
              </a:ext>
            </a:extLst>
          </p:cNvPr>
          <p:cNvSpPr>
            <a:spLocks noGrp="1"/>
          </p:cNvSpPr>
          <p:nvPr/>
        </p:nvSpPr>
        <p:spPr>
          <a:xfrm>
            <a:off x="9671050" y="2562225"/>
            <a:ext cx="1473200" cy="1440180"/>
          </a:xfrm>
          <a:prstGeom prst="roundRect">
            <a:avLst>
              <a:gd name="adj" fmla="val 529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U01-CH001_node_3_title">
            <a:extLst>
              <a:ext uri="{FF2B5EF4-FFF2-40B4-BE49-F238E27FC236}">
                <a16:creationId xmlns:a16="http://schemas.microsoft.com/office/drawing/2014/main" id="{DC2E9240-3B3E-4C35-8C70-1DBAB8BD04C9}"/>
              </a:ext>
            </a:extLst>
          </p:cNvPr>
          <p:cNvSpPr>
            <a:spLocks noGrp="1"/>
          </p:cNvSpPr>
          <p:nvPr/>
        </p:nvSpPr>
        <p:spPr>
          <a:xfrm>
            <a:off x="9835832" y="2686050"/>
            <a:ext cx="1143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 dirty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36" name="U01-CH001_link_1"/>
          <p:cNvCxnSpPr>
            <a:stCxn id="13" idx="3"/>
            <a:endCxn id="15" idx="1"/>
          </p:cNvCxnSpPr>
          <p:nvPr/>
        </p:nvCxnSpPr>
        <p:spPr>
          <a:xfrm>
            <a:off x="8045450" y="328231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37" name="U01-CH001_link_2"/>
          <p:cNvCxnSpPr>
            <a:stCxn id="15" idx="3"/>
            <a:endCxn id="17" idx="1"/>
          </p:cNvCxnSpPr>
          <p:nvPr/>
        </p:nvCxnSpPr>
        <p:spPr>
          <a:xfrm>
            <a:off x="9594850" y="328231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APLICACIÓN PROFESIONAL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aporta la acústica a Fonoaudiología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Evidencia física para preguntas profesionales.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Voz: describir señales y cambios.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Audiología: controlar estímulos y referencias.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Dispositivos: verificar entradas y salidas.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Ambientes: estudiar condiciones de comunicación.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Límite: una medición aislada no equivale a un diagnóstico.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Clasificar: “1000 Hz”, “se oyó” y “hay hipoacusia”.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dato físico participa del razonamiento; no lo reemplaza.</a:t>
            </a:r>
          </a:p>
        </p:txBody>
      </p:sp>
      <p:sp>
        <p:nvSpPr>
          <p:cNvPr id="11" name="fa_slide_number_local">
            <a:extLst>
              <a:ext uri="{FF2B5EF4-FFF2-40B4-BE49-F238E27FC236}">
                <a16:creationId xmlns:a16="http://schemas.microsoft.com/office/drawing/2014/main" id="{24914704-462E-4CF7-BAA4-72729A475F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Fenómeno, sistema y pregunta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Delimitar el sistema antes de describirlo.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Asignar funciones: fuente, medio y receptor.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Distinguir propagación de movimiento neto del medio.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Separar preguntas físicas, perceptuales y clínicas.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Volver a la vocalización inicial y responder con vocabulario preciso.</a:t>
            </a:r>
          </a:p>
        </p:txBody>
      </p:sp>
      <p:sp>
        <p:nvSpPr>
          <p:cNvPr id="17" name="u01_asset_credit_14">
            <a:extLst>
              <a:ext uri="{FF2B5EF4-FFF2-40B4-BE49-F238E27FC236}">
                <a16:creationId xmlns:a16="http://schemas.microsoft.com/office/drawing/2014/main" id="{7889F8A9-9C10-4C3F-83ED-5390F50C4A59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72E1C749-51D7-4D29-A0AD-CB50F8A706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20" name="U01-CH001_node_1">
            <a:extLst>
              <a:ext uri="{FF2B5EF4-FFF2-40B4-BE49-F238E27FC236}">
                <a16:creationId xmlns:a16="http://schemas.microsoft.com/office/drawing/2014/main" id="{98BB6B24-C4B0-4842-94B3-E406955771B8}"/>
              </a:ext>
            </a:extLst>
          </p:cNvPr>
          <p:cNvSpPr>
            <a:spLocks noGrp="1"/>
          </p:cNvSpPr>
          <p:nvPr/>
        </p:nvSpPr>
        <p:spPr>
          <a:xfrm>
            <a:off x="6715125" y="2699385"/>
            <a:ext cx="1457325" cy="1424178"/>
          </a:xfrm>
          <a:prstGeom prst="roundRect">
            <a:avLst>
              <a:gd name="adj" fmla="val 535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U01-CH001_node_1_title">
            <a:extLst>
              <a:ext uri="{FF2B5EF4-FFF2-40B4-BE49-F238E27FC236}">
                <a16:creationId xmlns:a16="http://schemas.microsoft.com/office/drawing/2014/main" id="{48695C6A-EC4D-4088-82F4-E5991158B9D3}"/>
              </a:ext>
            </a:extLst>
          </p:cNvPr>
          <p:cNvSpPr>
            <a:spLocks noGrp="1"/>
          </p:cNvSpPr>
          <p:nvPr/>
        </p:nvSpPr>
        <p:spPr>
          <a:xfrm>
            <a:off x="6879908" y="2823210"/>
            <a:ext cx="112776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22" name="U01-CH001_node_2">
            <a:extLst>
              <a:ext uri="{FF2B5EF4-FFF2-40B4-BE49-F238E27FC236}">
                <a16:creationId xmlns:a16="http://schemas.microsoft.com/office/drawing/2014/main" id="{97605D4A-648A-4510-8970-DB35A3AA5B03}"/>
              </a:ext>
            </a:extLst>
          </p:cNvPr>
          <p:cNvSpPr>
            <a:spLocks noGrp="1"/>
          </p:cNvSpPr>
          <p:nvPr/>
        </p:nvSpPr>
        <p:spPr>
          <a:xfrm>
            <a:off x="8248650" y="2699385"/>
            <a:ext cx="1457325" cy="1424178"/>
          </a:xfrm>
          <a:prstGeom prst="roundRect">
            <a:avLst>
              <a:gd name="adj" fmla="val 5350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U01-CH001_node_2_title">
            <a:extLst>
              <a:ext uri="{FF2B5EF4-FFF2-40B4-BE49-F238E27FC236}">
                <a16:creationId xmlns:a16="http://schemas.microsoft.com/office/drawing/2014/main" id="{48C54392-5A44-446C-A34A-1F73ED723729}"/>
              </a:ext>
            </a:extLst>
          </p:cNvPr>
          <p:cNvSpPr>
            <a:spLocks noGrp="1"/>
          </p:cNvSpPr>
          <p:nvPr/>
        </p:nvSpPr>
        <p:spPr>
          <a:xfrm>
            <a:off x="8413433" y="2823210"/>
            <a:ext cx="112776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24" name="U01-CH001_node_3">
            <a:extLst>
              <a:ext uri="{FF2B5EF4-FFF2-40B4-BE49-F238E27FC236}">
                <a16:creationId xmlns:a16="http://schemas.microsoft.com/office/drawing/2014/main" id="{2E06EE74-210F-4E49-BDE8-BBF4D46273E9}"/>
              </a:ext>
            </a:extLst>
          </p:cNvPr>
          <p:cNvSpPr>
            <a:spLocks noGrp="1"/>
          </p:cNvSpPr>
          <p:nvPr/>
        </p:nvSpPr>
        <p:spPr>
          <a:xfrm>
            <a:off x="9782175" y="2699385"/>
            <a:ext cx="1457325" cy="1424178"/>
          </a:xfrm>
          <a:prstGeom prst="roundRect">
            <a:avLst>
              <a:gd name="adj" fmla="val 53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U01-CH001_node_3_title">
            <a:extLst>
              <a:ext uri="{FF2B5EF4-FFF2-40B4-BE49-F238E27FC236}">
                <a16:creationId xmlns:a16="http://schemas.microsoft.com/office/drawing/2014/main" id="{41E2F885-FB56-4ABC-B17F-FD4571F8EB0F}"/>
              </a:ext>
            </a:extLst>
          </p:cNvPr>
          <p:cNvSpPr>
            <a:spLocks noGrp="1"/>
          </p:cNvSpPr>
          <p:nvPr/>
        </p:nvSpPr>
        <p:spPr>
          <a:xfrm>
            <a:off x="9946958" y="2823210"/>
            <a:ext cx="112776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50" name="U01-CH001_link_1"/>
          <p:cNvCxnSpPr>
            <a:stCxn id="20" idx="3"/>
            <a:endCxn id="22" idx="1"/>
          </p:cNvCxnSpPr>
          <p:nvPr/>
        </p:nvCxnSpPr>
        <p:spPr>
          <a:xfrm>
            <a:off x="8172450" y="3411474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51" name="U01-CH001_link_2"/>
          <p:cNvCxnSpPr>
            <a:stCxn id="22" idx="3"/>
            <a:endCxn id="24" idx="1"/>
          </p:cNvCxnSpPr>
          <p:nvPr/>
        </p:nvCxnSpPr>
        <p:spPr>
          <a:xfrm>
            <a:off x="9705975" y="3411474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B02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con un lenguaje común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comunicamos una medición sin ambigüedades?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B02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6C4CE7E0-DA63-4D93-8C6B-5A9BBF32710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es comparar con una referencia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95059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magnitud es una propiedad que puede medirse o calcularse. Una unidad es la referencia acordada para expresar su valor.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Resultado de medición = valor numérico + unidad.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Longitud de una mesa: d = 2,0 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8596B8D-2482-4920-B4D8-3496750413F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Magnitud, símbolo, valor y unidad no son lo mismo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Distancia: magnitud. d: símbolo de la magnitud. =: relación de igualdad. 2: valor numérico. m: símbolo de la unidad metro.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 = 2 m.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7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variables se escriben en cursiva; las unidades, en redonda.</a:t>
            </a:r>
          </a:p>
        </p:txBody>
      </p:sp>
      <p:sp>
        <p:nvSpPr>
          <p:cNvPr id="15" name="u01_asset_credit_17">
            <a:extLst>
              <a:ext uri="{FF2B5EF4-FFF2-40B4-BE49-F238E27FC236}">
                <a16:creationId xmlns:a16="http://schemas.microsoft.com/office/drawing/2014/main" id="{4089AC98-46BD-4D6E-8D36-E7B11F5854A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U01-CH003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3A9065-0D4A-42B9-BBF2-DCA821A465D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18" name="U01-CH003_equation">
            <a:extLst>
              <a:ext uri="{FF2B5EF4-FFF2-40B4-BE49-F238E27FC236}">
                <a16:creationId xmlns:a16="http://schemas.microsoft.com/office/drawing/2014/main" id="{39A6AAB1-5D12-4FAB-9F1F-66C7169E52A2}"/>
              </a:ext>
            </a:extLst>
          </p:cNvPr>
          <p:cNvSpPr>
            <a:spLocks noGrp="1"/>
          </p:cNvSpPr>
          <p:nvPr/>
        </p:nvSpPr>
        <p:spPr>
          <a:xfrm>
            <a:off x="3057525" y="2960179"/>
            <a:ext cx="2266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0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40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2 m</a:t>
            </a:r>
          </a:p>
        </p:txBody>
      </p:sp>
      <p:sp>
        <p:nvSpPr>
          <p:cNvPr id="19" name="U01-CH003_callout_símbolo">
            <a:extLst>
              <a:ext uri="{FF2B5EF4-FFF2-40B4-BE49-F238E27FC236}">
                <a16:creationId xmlns:a16="http://schemas.microsoft.com/office/drawing/2014/main" id="{020043F7-2E19-431E-863E-D78F789BC410}"/>
              </a:ext>
            </a:extLst>
          </p:cNvPr>
          <p:cNvSpPr>
            <a:spLocks noGrp="1"/>
          </p:cNvSpPr>
          <p:nvPr/>
        </p:nvSpPr>
        <p:spPr>
          <a:xfrm>
            <a:off x="1123950" y="164782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 dirty="0" err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símbolo</a:t>
            </a:r>
            <a:endParaRPr sz="2200" b="0" dirty="0">
              <a:solidFill>
                <a:srgbClr val="3D3D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1-CH003_leader_símbolo">
            <a:extLst>
              <a:ext uri="{FF2B5EF4-FFF2-40B4-BE49-F238E27FC236}">
                <a16:creationId xmlns:a16="http://schemas.microsoft.com/office/drawing/2014/main" id="{0FE69F3C-CABC-4B6D-A201-43575CE71223}"/>
              </a:ext>
            </a:extLst>
          </p:cNvPr>
          <p:cNvSpPr>
            <a:spLocks noGrp="1"/>
          </p:cNvSpPr>
          <p:nvPr/>
        </p:nvSpPr>
        <p:spPr>
          <a:xfrm>
            <a:off x="1857375" y="2333625"/>
            <a:ext cx="1608201" cy="855154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U01-CH003_callout_valor">
            <a:extLst>
              <a:ext uri="{FF2B5EF4-FFF2-40B4-BE49-F238E27FC236}">
                <a16:creationId xmlns:a16="http://schemas.microsoft.com/office/drawing/2014/main" id="{69A5CCD5-BF32-4754-BF47-07F8120EBED9}"/>
              </a:ext>
            </a:extLst>
          </p:cNvPr>
          <p:cNvSpPr>
            <a:spLocks noGrp="1"/>
          </p:cNvSpPr>
          <p:nvPr/>
        </p:nvSpPr>
        <p:spPr>
          <a:xfrm>
            <a:off x="5924550" y="164782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valor</a:t>
            </a:r>
          </a:p>
        </p:txBody>
      </p:sp>
      <p:sp>
        <p:nvSpPr>
          <p:cNvPr id="22" name="U01-CH003_leader_valor">
            <a:extLst>
              <a:ext uri="{FF2B5EF4-FFF2-40B4-BE49-F238E27FC236}">
                <a16:creationId xmlns:a16="http://schemas.microsoft.com/office/drawing/2014/main" id="{FE0BEB36-BCCD-4D3C-90C5-3CF12AE608DB}"/>
              </a:ext>
            </a:extLst>
          </p:cNvPr>
          <p:cNvSpPr>
            <a:spLocks noGrp="1"/>
          </p:cNvSpPr>
          <p:nvPr/>
        </p:nvSpPr>
        <p:spPr>
          <a:xfrm flipH="1">
            <a:off x="4417695" y="2333625"/>
            <a:ext cx="2240280" cy="855154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U01-CH003_callout_igualdad">
            <a:extLst>
              <a:ext uri="{FF2B5EF4-FFF2-40B4-BE49-F238E27FC236}">
                <a16:creationId xmlns:a16="http://schemas.microsoft.com/office/drawing/2014/main" id="{BF595E6E-8CA2-45C3-8D25-9F7929EC0435}"/>
              </a:ext>
            </a:extLst>
          </p:cNvPr>
          <p:cNvSpPr>
            <a:spLocks noGrp="1"/>
          </p:cNvSpPr>
          <p:nvPr/>
        </p:nvSpPr>
        <p:spPr>
          <a:xfrm>
            <a:off x="1790700" y="456247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igualdad</a:t>
            </a:r>
          </a:p>
        </p:txBody>
      </p:sp>
      <p:sp>
        <p:nvSpPr>
          <p:cNvPr id="24" name="U01-CH003_leader_igualdad">
            <a:extLst>
              <a:ext uri="{FF2B5EF4-FFF2-40B4-BE49-F238E27FC236}">
                <a16:creationId xmlns:a16="http://schemas.microsoft.com/office/drawing/2014/main" id="{29A63FBB-F139-4532-BD32-96D79955AF52}"/>
              </a:ext>
            </a:extLst>
          </p:cNvPr>
          <p:cNvSpPr>
            <a:spLocks noGrp="1"/>
          </p:cNvSpPr>
          <p:nvPr/>
        </p:nvSpPr>
        <p:spPr>
          <a:xfrm flipV="1">
            <a:off x="2524125" y="3531679"/>
            <a:ext cx="1440180" cy="1030796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U01-CH003_callout_unidad">
            <a:extLst>
              <a:ext uri="{FF2B5EF4-FFF2-40B4-BE49-F238E27FC236}">
                <a16:creationId xmlns:a16="http://schemas.microsoft.com/office/drawing/2014/main" id="{B26FCCB7-070E-4915-B65E-B13690719A78}"/>
              </a:ext>
            </a:extLst>
          </p:cNvPr>
          <p:cNvSpPr>
            <a:spLocks noGrp="1"/>
          </p:cNvSpPr>
          <p:nvPr/>
        </p:nvSpPr>
        <p:spPr>
          <a:xfrm>
            <a:off x="5124450" y="456247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unidad</a:t>
            </a:r>
          </a:p>
        </p:txBody>
      </p:sp>
      <p:sp>
        <p:nvSpPr>
          <p:cNvPr id="26" name="U01-CH003_leader_unidad">
            <a:extLst>
              <a:ext uri="{FF2B5EF4-FFF2-40B4-BE49-F238E27FC236}">
                <a16:creationId xmlns:a16="http://schemas.microsoft.com/office/drawing/2014/main" id="{09314384-282F-4E86-ACB3-3BB66F3BFEA4}"/>
              </a:ext>
            </a:extLst>
          </p:cNvPr>
          <p:cNvSpPr>
            <a:spLocks noGrp="1"/>
          </p:cNvSpPr>
          <p:nvPr/>
        </p:nvSpPr>
        <p:spPr>
          <a:xfrm flipH="1" flipV="1">
            <a:off x="4916424" y="3531679"/>
            <a:ext cx="941451" cy="1030796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falta en cada resultado?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 número correcto puede estar mal comunicado.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 o completar: 3; 5 kg; t = 0,2; 20 °C; 15 mts/seg.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Reglas mínimas: espacio entre valor y unidad; símbolo normalizado; el símbolo no se pluraliza.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todas las expresiones requieren la misma corrección.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CEA9830C-CDC5-4DC0-B76C-8115C26FC29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 organiza comparaciones y cálculos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Unidades básicas y unidades derivadas.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Básicas: se asocian a magnitudes fundamentales.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Derivadas: se construyen mediante relaciones entre magnitudes.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esta unidad: tiempo → s; longitud → m; masa → kg.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m/s, N y Pa son unidades derivadas.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“Fundamental” no significa “más importante”; “derivada” no significa “secundaria”.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u01_asset_credit_19">
            <a:extLst>
              <a:ext uri="{FF2B5EF4-FFF2-40B4-BE49-F238E27FC236}">
                <a16:creationId xmlns:a16="http://schemas.microsoft.com/office/drawing/2014/main" id="{FAF9F315-0859-4AFC-8B22-CAAA6236DE90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54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U01-CH004 · Elaboración propia basada en BIPM, SI Brochure, 9.ª ed., actualización 2026.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F1CD293B-68F2-4FC4-A14B-BEAA3AE260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19" name="U01-CH004_base_1">
            <a:extLst>
              <a:ext uri="{FF2B5EF4-FFF2-40B4-BE49-F238E27FC236}">
                <a16:creationId xmlns:a16="http://schemas.microsoft.com/office/drawing/2014/main" id="{6F60BEE3-4329-4FB4-AC3A-83E6EB06125B}"/>
              </a:ext>
            </a:extLst>
          </p:cNvPr>
          <p:cNvSpPr>
            <a:spLocks noGrp="1"/>
          </p:cNvSpPr>
          <p:nvPr/>
        </p:nvSpPr>
        <p:spPr>
          <a:xfrm>
            <a:off x="7124700" y="1809750"/>
            <a:ext cx="1384300" cy="781050"/>
          </a:xfrm>
          <a:prstGeom prst="roundRect">
            <a:avLst>
              <a:gd name="adj" fmla="val 975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</a:t>
            </a:r>
          </a:p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sp>
        <p:nvSpPr>
          <p:cNvPr id="20" name="U01-CH004_base_2">
            <a:extLst>
              <a:ext uri="{FF2B5EF4-FFF2-40B4-BE49-F238E27FC236}">
                <a16:creationId xmlns:a16="http://schemas.microsoft.com/office/drawing/2014/main" id="{F842E2CE-D700-4E55-A940-AB4C4B7CECC4}"/>
              </a:ext>
            </a:extLst>
          </p:cNvPr>
          <p:cNvSpPr>
            <a:spLocks noGrp="1"/>
          </p:cNvSpPr>
          <p:nvPr/>
        </p:nvSpPr>
        <p:spPr>
          <a:xfrm>
            <a:off x="8585200" y="1809750"/>
            <a:ext cx="1384300" cy="781050"/>
          </a:xfrm>
          <a:prstGeom prst="roundRect">
            <a:avLst>
              <a:gd name="adj" fmla="val 975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longitud</a:t>
            </a:r>
          </a:p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21" name="U01-CH004_base_3">
            <a:extLst>
              <a:ext uri="{FF2B5EF4-FFF2-40B4-BE49-F238E27FC236}">
                <a16:creationId xmlns:a16="http://schemas.microsoft.com/office/drawing/2014/main" id="{A59A685F-6B9D-400B-8C89-5071DDA74C31}"/>
              </a:ext>
            </a:extLst>
          </p:cNvPr>
          <p:cNvSpPr>
            <a:spLocks noGrp="1"/>
          </p:cNvSpPr>
          <p:nvPr/>
        </p:nvSpPr>
        <p:spPr>
          <a:xfrm>
            <a:off x="10045700" y="1809750"/>
            <a:ext cx="1384300" cy="781050"/>
          </a:xfrm>
          <a:prstGeom prst="roundRect">
            <a:avLst>
              <a:gd name="adj" fmla="val 975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</a:t>
            </a:r>
          </a:p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kg</a:t>
            </a:r>
          </a:p>
        </p:txBody>
      </p:sp>
      <p:sp>
        <p:nvSpPr>
          <p:cNvPr id="22" name="U01-CH004_derived">
            <a:extLst>
              <a:ext uri="{FF2B5EF4-FFF2-40B4-BE49-F238E27FC236}">
                <a16:creationId xmlns:a16="http://schemas.microsoft.com/office/drawing/2014/main" id="{45947CF4-3BC6-41CB-B320-002D1A6AEDE2}"/>
              </a:ext>
            </a:extLst>
          </p:cNvPr>
          <p:cNvSpPr>
            <a:spLocks noGrp="1"/>
          </p:cNvSpPr>
          <p:nvPr/>
        </p:nvSpPr>
        <p:spPr>
          <a:xfrm>
            <a:off x="7555230" y="3181350"/>
            <a:ext cx="3444240" cy="1257300"/>
          </a:xfrm>
          <a:prstGeom prst="roundRect">
            <a:avLst>
              <a:gd name="adj" fmla="val 606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DERIVADAS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· aceleración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· presión · densidad</a:t>
            </a:r>
          </a:p>
        </p:txBody>
      </p:sp>
      <p:cxnSp>
        <p:nvCxnSpPr>
          <p:cNvPr id="44" name="U01-CH004_dependency_1"/>
          <p:cNvCxnSpPr>
            <a:stCxn id="19" idx="2"/>
            <a:endCxn id="22" idx="0"/>
          </p:cNvCxnSpPr>
          <p:nvPr/>
        </p:nvCxnSpPr>
        <p:spPr>
          <a:xfrm>
            <a:off x="7816850" y="2590800"/>
            <a:ext cx="1460500" cy="59055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76818A"/>
            </a:solidFill>
            <a:prstDash val="solid"/>
            <a:tailEnd type="arrow" w="sm" len="sm"/>
          </a:ln>
        </p:spPr>
      </p:cxnSp>
      <p:cxnSp>
        <p:nvCxnSpPr>
          <p:cNvPr id="45" name="U01-CH004_dependency_2"/>
          <p:cNvCxnSpPr>
            <a:stCxn id="20" idx="2"/>
            <a:endCxn id="22" idx="0"/>
          </p:cNvCxnSpPr>
          <p:nvPr/>
        </p:nvCxnSpPr>
        <p:spPr>
          <a:xfrm>
            <a:off x="9277350" y="2590800"/>
            <a:ext cx="0" cy="590550"/>
          </a:xfrm>
          <a:prstGeom prst="straightConnector1">
            <a:avLst/>
          </a:prstGeom>
          <a:ln w="17145">
            <a:solidFill>
              <a:srgbClr val="76818A"/>
            </a:solidFill>
            <a:prstDash val="solid"/>
            <a:tailEnd type="arrow" w="sm" len="sm"/>
          </a:ln>
        </p:spPr>
      </p:cxnSp>
      <p:cxnSp>
        <p:nvCxnSpPr>
          <p:cNvPr id="46" name="U01-CH004_dependency_3"/>
          <p:cNvCxnSpPr>
            <a:stCxn id="21" idx="2"/>
            <a:endCxn id="22" idx="0"/>
          </p:cNvCxnSpPr>
          <p:nvPr/>
        </p:nvCxnSpPr>
        <p:spPr>
          <a:xfrm flipH="1">
            <a:off x="9277350" y="2590800"/>
            <a:ext cx="1460500" cy="59055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76818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DE CONSULTA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siete magnitudes fundamentales y la temperatura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1666875"/>
            <a:ext cx="8763000" cy="3810000"/>
          </a:xfrm>
          <a:prstGeom prst="rect">
            <a:avLst/>
          </a:prstGeom>
          <a:solidFill>
            <a:srgbClr val="F7F6F2"/>
          </a:solidFill>
          <a:ln w="9525">
            <a:solidFill>
              <a:srgbClr val="D9DCE0"/>
            </a:solidFill>
            <a:prstDash val="solid"/>
          </a:ln>
        </p:spPr>
        <p:txBody>
          <a:bodyPr wrap="square" lIns="266700" tIns="171450" rIns="266700" bIns="17145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 — segundo (s)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Longitud — metro (m)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 — kilogramo (kg)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Corriente eléctrica — ampere (A)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 — kelvin (K)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Cantidad de sustancia — mol (mol)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 — candela (cd)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BADC4398-957A-43FF-9C6F-C662ED98C3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unidades básicas a unidades derivadas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unidades conservan la estructura de la relación.</a:t>
            </a:r>
          </a:p>
        </p:txBody>
      </p:sp>
      <p:sp>
        <p:nvSpPr>
          <p:cNvPr id="25" name="u01_asset_credit_21">
            <a:extLst>
              <a:ext uri="{FF2B5EF4-FFF2-40B4-BE49-F238E27FC236}">
                <a16:creationId xmlns:a16="http://schemas.microsoft.com/office/drawing/2014/main" id="{8A7C68F7-C91B-4466-8BE6-89FF3187496C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U01-CH005 · Elaboración propia basada en BIPM.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875E6BF4-E7D4-452F-9DA4-0BB3D02244C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28" name="U01-CH005_formula_1">
            <a:extLst>
              <a:ext uri="{FF2B5EF4-FFF2-40B4-BE49-F238E27FC236}">
                <a16:creationId xmlns:a16="http://schemas.microsoft.com/office/drawing/2014/main" id="{C34A040E-EAA9-4744-BC4B-5BAB5E5A6254}"/>
              </a:ext>
            </a:extLst>
          </p:cNvPr>
          <p:cNvSpPr>
            <a:spLocks noGrp="1"/>
          </p:cNvSpPr>
          <p:nvPr/>
        </p:nvSpPr>
        <p:spPr>
          <a:xfrm>
            <a:off x="1905000" y="1381125"/>
            <a:ext cx="4526280" cy="1244600"/>
          </a:xfrm>
          <a:prstGeom prst="roundRect">
            <a:avLst>
              <a:gd name="adj" fmla="val 6122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 / s</a:t>
            </a:r>
          </a:p>
        </p:txBody>
      </p:sp>
      <p:sp>
        <p:nvSpPr>
          <p:cNvPr id="29" name="U01-CH005_result_1">
            <a:extLst>
              <a:ext uri="{FF2B5EF4-FFF2-40B4-BE49-F238E27FC236}">
                <a16:creationId xmlns:a16="http://schemas.microsoft.com/office/drawing/2014/main" id="{1088950C-AA9B-466B-B700-A5D8A0C92DED}"/>
              </a:ext>
            </a:extLst>
          </p:cNvPr>
          <p:cNvSpPr>
            <a:spLocks noGrp="1"/>
          </p:cNvSpPr>
          <p:nvPr/>
        </p:nvSpPr>
        <p:spPr>
          <a:xfrm>
            <a:off x="8359140" y="1419225"/>
            <a:ext cx="1927860" cy="1168400"/>
          </a:xfrm>
          <a:prstGeom prst="roundRect">
            <a:avLst>
              <a:gd name="adj" fmla="val 652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</a:t>
            </a:r>
          </a:p>
        </p:txBody>
      </p:sp>
      <p:cxnSp>
        <p:nvCxnSpPr>
          <p:cNvPr id="66" name="U01-CH005_relation_1"/>
          <p:cNvCxnSpPr>
            <a:stCxn id="28" idx="3"/>
            <a:endCxn id="29" idx="1"/>
          </p:cNvCxnSpPr>
          <p:nvPr/>
        </p:nvCxnSpPr>
        <p:spPr>
          <a:xfrm>
            <a:off x="6431280" y="2003425"/>
            <a:ext cx="192786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1" name="U01-CH005_relation_1_label">
            <a:extLst>
              <a:ext uri="{FF2B5EF4-FFF2-40B4-BE49-F238E27FC236}">
                <a16:creationId xmlns:a16="http://schemas.microsoft.com/office/drawing/2014/main" id="{13189BCD-70E7-4CAB-9F55-0951341CE296}"/>
              </a:ext>
            </a:extLst>
          </p:cNvPr>
          <p:cNvSpPr>
            <a:spLocks noGrp="1"/>
          </p:cNvSpPr>
          <p:nvPr/>
        </p:nvSpPr>
        <p:spPr>
          <a:xfrm>
            <a:off x="6431280" y="1409700"/>
            <a:ext cx="192786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distancia ÷ tiempo</a:t>
            </a:r>
          </a:p>
        </p:txBody>
      </p:sp>
      <p:sp>
        <p:nvSpPr>
          <p:cNvPr id="32" name="U01-CH005_formula_2">
            <a:extLst>
              <a:ext uri="{FF2B5EF4-FFF2-40B4-BE49-F238E27FC236}">
                <a16:creationId xmlns:a16="http://schemas.microsoft.com/office/drawing/2014/main" id="{26793EAF-E467-4DE6-88DD-A0FCC8B5371B}"/>
              </a:ext>
            </a:extLst>
          </p:cNvPr>
          <p:cNvSpPr>
            <a:spLocks noGrp="1"/>
          </p:cNvSpPr>
          <p:nvPr/>
        </p:nvSpPr>
        <p:spPr>
          <a:xfrm>
            <a:off x="1905000" y="2759075"/>
            <a:ext cx="4526280" cy="1244600"/>
          </a:xfrm>
          <a:prstGeom prst="roundRect">
            <a:avLst>
              <a:gd name="adj" fmla="val 6122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kg · m/s² = N</a:t>
            </a:r>
          </a:p>
        </p:txBody>
      </p:sp>
      <p:sp>
        <p:nvSpPr>
          <p:cNvPr id="33" name="U01-CH005_result_2">
            <a:extLst>
              <a:ext uri="{FF2B5EF4-FFF2-40B4-BE49-F238E27FC236}">
                <a16:creationId xmlns:a16="http://schemas.microsoft.com/office/drawing/2014/main" id="{F7F6B681-0E61-4E9A-9FB7-33086AEE6B31}"/>
              </a:ext>
            </a:extLst>
          </p:cNvPr>
          <p:cNvSpPr>
            <a:spLocks noGrp="1"/>
          </p:cNvSpPr>
          <p:nvPr/>
        </p:nvSpPr>
        <p:spPr>
          <a:xfrm>
            <a:off x="8359140" y="2797175"/>
            <a:ext cx="1927860" cy="1168400"/>
          </a:xfrm>
          <a:prstGeom prst="roundRect">
            <a:avLst>
              <a:gd name="adj" fmla="val 652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cxnSp>
        <p:nvCxnSpPr>
          <p:cNvPr id="70" name="U01-CH005_relation_2"/>
          <p:cNvCxnSpPr>
            <a:stCxn id="32" idx="3"/>
            <a:endCxn id="33" idx="1"/>
          </p:cNvCxnSpPr>
          <p:nvPr/>
        </p:nvCxnSpPr>
        <p:spPr>
          <a:xfrm>
            <a:off x="6431280" y="3381375"/>
            <a:ext cx="192786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5" name="U01-CH005_relation_2_label">
            <a:extLst>
              <a:ext uri="{FF2B5EF4-FFF2-40B4-BE49-F238E27FC236}">
                <a16:creationId xmlns:a16="http://schemas.microsoft.com/office/drawing/2014/main" id="{84708D4F-E02C-460F-850C-F02AEA8A8358}"/>
              </a:ext>
            </a:extLst>
          </p:cNvPr>
          <p:cNvSpPr>
            <a:spLocks noGrp="1"/>
          </p:cNvSpPr>
          <p:nvPr/>
        </p:nvSpPr>
        <p:spPr>
          <a:xfrm>
            <a:off x="6431280" y="2787650"/>
            <a:ext cx="192786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masa × aceleración</a:t>
            </a:r>
          </a:p>
        </p:txBody>
      </p:sp>
      <p:sp>
        <p:nvSpPr>
          <p:cNvPr id="36" name="U01-CH005_formula_3">
            <a:extLst>
              <a:ext uri="{FF2B5EF4-FFF2-40B4-BE49-F238E27FC236}">
                <a16:creationId xmlns:a16="http://schemas.microsoft.com/office/drawing/2014/main" id="{9EE87624-A7F3-43A8-A98B-56A37D944E4E}"/>
              </a:ext>
            </a:extLst>
          </p:cNvPr>
          <p:cNvSpPr>
            <a:spLocks noGrp="1"/>
          </p:cNvSpPr>
          <p:nvPr/>
        </p:nvSpPr>
        <p:spPr>
          <a:xfrm>
            <a:off x="1905000" y="4137025"/>
            <a:ext cx="4526280" cy="1244600"/>
          </a:xfrm>
          <a:prstGeom prst="roundRect">
            <a:avLst>
              <a:gd name="adj" fmla="val 6122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N/m² = Pa</a:t>
            </a:r>
          </a:p>
        </p:txBody>
      </p:sp>
      <p:sp>
        <p:nvSpPr>
          <p:cNvPr id="37" name="U01-CH005_result_3">
            <a:extLst>
              <a:ext uri="{FF2B5EF4-FFF2-40B4-BE49-F238E27FC236}">
                <a16:creationId xmlns:a16="http://schemas.microsoft.com/office/drawing/2014/main" id="{7DB01C53-C77E-4FB8-AC29-C8075BD103EA}"/>
              </a:ext>
            </a:extLst>
          </p:cNvPr>
          <p:cNvSpPr>
            <a:spLocks noGrp="1"/>
          </p:cNvSpPr>
          <p:nvPr/>
        </p:nvSpPr>
        <p:spPr>
          <a:xfrm>
            <a:off x="8359140" y="4175125"/>
            <a:ext cx="1927860" cy="1168400"/>
          </a:xfrm>
          <a:prstGeom prst="roundRect">
            <a:avLst>
              <a:gd name="adj" fmla="val 652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cxnSp>
        <p:nvCxnSpPr>
          <p:cNvPr id="74" name="U01-CH005_relation_3"/>
          <p:cNvCxnSpPr>
            <a:stCxn id="36" idx="3"/>
            <a:endCxn id="37" idx="1"/>
          </p:cNvCxnSpPr>
          <p:nvPr/>
        </p:nvCxnSpPr>
        <p:spPr>
          <a:xfrm flipV="1">
            <a:off x="6431280" y="4759325"/>
            <a:ext cx="192786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9" name="U01-CH005_relation_3_label">
            <a:extLst>
              <a:ext uri="{FF2B5EF4-FFF2-40B4-BE49-F238E27FC236}">
                <a16:creationId xmlns:a16="http://schemas.microsoft.com/office/drawing/2014/main" id="{CECD4152-4399-4D9F-A46A-3BC5BF535892}"/>
              </a:ext>
            </a:extLst>
          </p:cNvPr>
          <p:cNvSpPr>
            <a:spLocks noGrp="1"/>
          </p:cNvSpPr>
          <p:nvPr/>
        </p:nvSpPr>
        <p:spPr>
          <a:xfrm>
            <a:off x="6431280" y="4165600"/>
            <a:ext cx="192786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 ÷ área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CONCEPTUAL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mapa de magnitudes de la Unidad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Observe que cada símbolo tiene una magnitud y una unidad asociadas.</a:t>
            </a:r>
          </a:p>
        </p:txBody>
      </p:sp>
      <p:sp>
        <p:nvSpPr>
          <p:cNvPr id="7" name="u01_asset_credit_22">
            <a:extLst>
              <a:ext uri="{FF2B5EF4-FFF2-40B4-BE49-F238E27FC236}">
                <a16:creationId xmlns:a16="http://schemas.microsoft.com/office/drawing/2014/main" id="{0AAEED32-4AA5-45AA-BFCD-5CA3BDB90931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U01-CH006 · Elaboración propia a partir del capítulo de Unidad 1.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A67DD4C9-201A-4788-BC72-00D38A806F0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graphicFrame>
        <p:nvGraphicFramePr>
          <p:cNvPr id="16" name="U01-CH006_native_table"/>
          <p:cNvGraphicFramePr/>
          <p:nvPr/>
        </p:nvGraphicFramePr>
        <p:xfrm>
          <a:off x="1571625" y="1476375"/>
          <a:ext cx="9048751" cy="4000500"/>
        </p:xfrm>
        <a:graphic>
          <a:graphicData uri="http://schemas.openxmlformats.org/drawingml/2006/table">
            <a:tbl>
              <a:tblPr/>
              <a:tblGrid>
                <a:gridCol w="262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Magnitud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Relación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Unidad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Distancia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Tiempo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t, Δt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Rapidez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v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d/Δt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m/s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Aceleración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Δv/Δt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m/s²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Fuerza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ma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Presión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F⊥/S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Pa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Densidad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ρ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m/V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kg/m³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Frecuencia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N/Δt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Hz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símbolo de una unidad no se pluraliza ni se improvisa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 kg, no “5 kgs”.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15 m/s, no “15 mts/seg”.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20 Pa, no “20 pascales” dentro de una ecuación.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Siempre: valor + espacio + símbolo de unidad.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contexto distingue m unidad metro de m variable masa.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Corregir: 3,5Kgs → 3,5 kg.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F278490B-3068-4080-B130-063FC9A94E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B03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Magnitudes conectadas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movimiento, masa, fuerza, presión y densidad?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B03</a:t>
            </a:r>
          </a:p>
        </p:txBody>
      </p:sp>
      <p:sp>
        <p:nvSpPr>
          <p:cNvPr id="7" name="u01_asset_credit_24">
            <a:extLst>
              <a:ext uri="{FF2B5EF4-FFF2-40B4-BE49-F238E27FC236}">
                <a16:creationId xmlns:a16="http://schemas.microsoft.com/office/drawing/2014/main" id="{E3026C95-35A4-4AB8-B5FF-94B19ED9D1CF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42FA931-702B-4B5E-8E11-49CC0F1EBAB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10" name="U01-CH011_mini_node_1">
            <a:extLst>
              <a:ext uri="{FF2B5EF4-FFF2-40B4-BE49-F238E27FC236}">
                <a16:creationId xmlns:a16="http://schemas.microsoft.com/office/drawing/2014/main" id="{3799AA0B-D87C-4CE5-958F-34222093097E}"/>
              </a:ext>
            </a:extLst>
          </p:cNvPr>
          <p:cNvSpPr>
            <a:spLocks noGrp="1"/>
          </p:cNvSpPr>
          <p:nvPr/>
        </p:nvSpPr>
        <p:spPr>
          <a:xfrm>
            <a:off x="8136255" y="2731770"/>
            <a:ext cx="422910" cy="42291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11_mini_node_2">
            <a:extLst>
              <a:ext uri="{FF2B5EF4-FFF2-40B4-BE49-F238E27FC236}">
                <a16:creationId xmlns:a16="http://schemas.microsoft.com/office/drawing/2014/main" id="{B0E8618E-1D20-4B48-AEBA-E034DE4082B0}"/>
              </a:ext>
            </a:extLst>
          </p:cNvPr>
          <p:cNvSpPr>
            <a:spLocks noGrp="1"/>
          </p:cNvSpPr>
          <p:nvPr/>
        </p:nvSpPr>
        <p:spPr>
          <a:xfrm>
            <a:off x="9123045" y="2731770"/>
            <a:ext cx="422910" cy="422910"/>
          </a:xfrm>
          <a:prstGeom prst="roundRect">
            <a:avLst>
              <a:gd name="adj" fmla="val 18018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U01-CH011_mini_node_3">
            <a:extLst>
              <a:ext uri="{FF2B5EF4-FFF2-40B4-BE49-F238E27FC236}">
                <a16:creationId xmlns:a16="http://schemas.microsoft.com/office/drawing/2014/main" id="{C9C66620-D67E-4440-8ACC-9BF3BE06A760}"/>
              </a:ext>
            </a:extLst>
          </p:cNvPr>
          <p:cNvSpPr>
            <a:spLocks noGrp="1"/>
          </p:cNvSpPr>
          <p:nvPr/>
        </p:nvSpPr>
        <p:spPr>
          <a:xfrm>
            <a:off x="10109835" y="2731770"/>
            <a:ext cx="422910" cy="42291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cxnSp>
        <p:nvCxnSpPr>
          <p:cNvPr id="24" name="U01-CH011_mini_link_1"/>
          <p:cNvCxnSpPr>
            <a:stCxn id="10" idx="6"/>
            <a:endCxn id="11" idx="1"/>
          </p:cNvCxnSpPr>
          <p:nvPr/>
        </p:nvCxnSpPr>
        <p:spPr>
          <a:xfrm>
            <a:off x="8559165" y="2943225"/>
            <a:ext cx="56388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25" name="U01-CH011_mini_link_2"/>
          <p:cNvCxnSpPr>
            <a:stCxn id="11" idx="3"/>
            <a:endCxn id="12" idx="2"/>
          </p:cNvCxnSpPr>
          <p:nvPr/>
        </p:nvCxnSpPr>
        <p:spPr>
          <a:xfrm>
            <a:off x="9545955" y="2943225"/>
            <a:ext cx="56388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Recorrer una distancia requiere un intervalo de tiempo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Primero, la relación verbal.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comparar recorridos preguntamos cuánta distancia se recorre durante un intervalo.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rapidez media resume esa relación como “distancia por unidad de tiempo”.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d: distancia recorrida (m). Δt: intervalo empleado (s).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 móvil recorre 12 m en 3 s: ¿cuántos metros por segundo?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intervalo tiene comienzo y final; no es un instante aislado.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u01_asset_credit_25">
            <a:extLst>
              <a:ext uri="{FF2B5EF4-FFF2-40B4-BE49-F238E27FC236}">
                <a16:creationId xmlns:a16="http://schemas.microsoft.com/office/drawing/2014/main" id="{1EE089DA-987E-4B18-BC9B-5CCDE1E90071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280A645F-255E-4991-A3EE-84CB03B7BC0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9" name="U01-CH007_row_1">
            <a:extLst>
              <a:ext uri="{FF2B5EF4-FFF2-40B4-BE49-F238E27FC236}">
                <a16:creationId xmlns:a16="http://schemas.microsoft.com/office/drawing/2014/main" id="{66E817DE-92FE-460F-8AD4-600B460E01B0}"/>
              </a:ext>
            </a:extLst>
          </p:cNvPr>
          <p:cNvSpPr>
            <a:spLocks noGrp="1"/>
          </p:cNvSpPr>
          <p:nvPr/>
        </p:nvSpPr>
        <p:spPr>
          <a:xfrm>
            <a:off x="7124700" y="17145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 —  d/Δt</a:t>
            </a:r>
          </a:p>
        </p:txBody>
      </p:sp>
      <p:sp>
        <p:nvSpPr>
          <p:cNvPr id="20" name="U01-CH007_row_2">
            <a:extLst>
              <a:ext uri="{FF2B5EF4-FFF2-40B4-BE49-F238E27FC236}">
                <a16:creationId xmlns:a16="http://schemas.microsoft.com/office/drawing/2014/main" id="{02778252-03AA-4AE4-AC4C-2FDEDABAFB67}"/>
              </a:ext>
            </a:extLst>
          </p:cNvPr>
          <p:cNvSpPr>
            <a:spLocks noGrp="1"/>
          </p:cNvSpPr>
          <p:nvPr/>
        </p:nvSpPr>
        <p:spPr>
          <a:xfrm>
            <a:off x="7124700" y="269875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  —  módulo + dirección</a:t>
            </a:r>
          </a:p>
        </p:txBody>
      </p:sp>
      <p:sp>
        <p:nvSpPr>
          <p:cNvPr id="21" name="U01-CH007_row_3">
            <a:extLst>
              <a:ext uri="{FF2B5EF4-FFF2-40B4-BE49-F238E27FC236}">
                <a16:creationId xmlns:a16="http://schemas.microsoft.com/office/drawing/2014/main" id="{33FD4159-C9C5-46D9-8135-B0BC1DF9D47C}"/>
              </a:ext>
            </a:extLst>
          </p:cNvPr>
          <p:cNvSpPr>
            <a:spLocks noGrp="1"/>
          </p:cNvSpPr>
          <p:nvPr/>
        </p:nvSpPr>
        <p:spPr>
          <a:xfrm>
            <a:off x="7124700" y="36830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 —  avanza el frente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 media: distancia por unidad de tiempo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v_med = d/Δt.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v_med: rapidez media (m/s); d: distancia (m); Δt: intervalo (s). m/s significa metros recorridos por segundo.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26">
            <a:extLst>
              <a:ext uri="{FF2B5EF4-FFF2-40B4-BE49-F238E27FC236}">
                <a16:creationId xmlns:a16="http://schemas.microsoft.com/office/drawing/2014/main" id="{C6D12931-C7D9-4037-8275-D05F0C80BE6E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3F5D5AD-D0E1-40EE-A79E-C73934015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18" name="U01-CH007_row_1">
            <a:extLst>
              <a:ext uri="{FF2B5EF4-FFF2-40B4-BE49-F238E27FC236}">
                <a16:creationId xmlns:a16="http://schemas.microsoft.com/office/drawing/2014/main" id="{6710C951-85E0-4538-A355-44007331FF6B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6096000" cy="73025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 —  d/Δt</a:t>
            </a:r>
          </a:p>
        </p:txBody>
      </p:sp>
      <p:sp>
        <p:nvSpPr>
          <p:cNvPr id="19" name="U01-CH007_row_2">
            <a:extLst>
              <a:ext uri="{FF2B5EF4-FFF2-40B4-BE49-F238E27FC236}">
                <a16:creationId xmlns:a16="http://schemas.microsoft.com/office/drawing/2014/main" id="{8758903E-2104-4629-AB35-1AE7C7F78DE1}"/>
              </a:ext>
            </a:extLst>
          </p:cNvPr>
          <p:cNvSpPr>
            <a:spLocks noGrp="1"/>
          </p:cNvSpPr>
          <p:nvPr/>
        </p:nvSpPr>
        <p:spPr>
          <a:xfrm>
            <a:off x="5048250" y="4302125"/>
            <a:ext cx="6096000" cy="730250"/>
          </a:xfrm>
          <a:prstGeom prst="roundRect">
            <a:avLst>
              <a:gd name="adj" fmla="val 10435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  —  módulo + dirección</a:t>
            </a:r>
          </a:p>
        </p:txBody>
      </p:sp>
      <p:sp>
        <p:nvSpPr>
          <p:cNvPr id="20" name="U01-CH007_row_3">
            <a:extLst>
              <a:ext uri="{FF2B5EF4-FFF2-40B4-BE49-F238E27FC236}">
                <a16:creationId xmlns:a16="http://schemas.microsoft.com/office/drawing/2014/main" id="{C88FF329-FEED-4807-9EB8-DE696D715345}"/>
              </a:ext>
            </a:extLst>
          </p:cNvPr>
          <p:cNvSpPr>
            <a:spLocks noGrp="1"/>
          </p:cNvSpPr>
          <p:nvPr/>
        </p:nvSpPr>
        <p:spPr>
          <a:xfrm>
            <a:off x="5048250" y="5127625"/>
            <a:ext cx="6096000" cy="73025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 —  avanza el frente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Rapidez, velocidad y velocidad de propagación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no describe el recorrido total de una partícula del medio.</a:t>
            </a:r>
          </a:p>
        </p:txBody>
      </p:sp>
      <p:sp>
        <p:nvSpPr>
          <p:cNvPr id="16" name="u01_asset_credit_27">
            <a:extLst>
              <a:ext uri="{FF2B5EF4-FFF2-40B4-BE49-F238E27FC236}">
                <a16:creationId xmlns:a16="http://schemas.microsoft.com/office/drawing/2014/main" id="{ACBEAB4D-1839-460A-BFD6-A21B92B87818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DC6BFD16-688C-4CD0-9617-32131D1AE1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19" name="U01-CH007_panel_1">
            <a:extLst>
              <a:ext uri="{FF2B5EF4-FFF2-40B4-BE49-F238E27FC236}">
                <a16:creationId xmlns:a16="http://schemas.microsoft.com/office/drawing/2014/main" id="{4160661F-3DD3-4E4F-8A97-5B2B5018ABA5}"/>
              </a:ext>
            </a:extLst>
          </p:cNvPr>
          <p:cNvSpPr>
            <a:spLocks noGrp="1"/>
          </p:cNvSpPr>
          <p:nvPr/>
        </p:nvSpPr>
        <p:spPr>
          <a:xfrm>
            <a:off x="2238375" y="1476375"/>
            <a:ext cx="2457450" cy="43434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07_panel_1_title">
            <a:extLst>
              <a:ext uri="{FF2B5EF4-FFF2-40B4-BE49-F238E27FC236}">
                <a16:creationId xmlns:a16="http://schemas.microsoft.com/office/drawing/2014/main" id="{6A1F0796-0D31-4578-8035-F409AFE9818B}"/>
              </a:ext>
            </a:extLst>
          </p:cNvPr>
          <p:cNvSpPr>
            <a:spLocks noGrp="1"/>
          </p:cNvSpPr>
          <p:nvPr/>
        </p:nvSpPr>
        <p:spPr>
          <a:xfrm>
            <a:off x="2403158" y="1609725"/>
            <a:ext cx="212788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RAPIDEZ</a:t>
            </a:r>
          </a:p>
        </p:txBody>
      </p:sp>
      <p:sp>
        <p:nvSpPr>
          <p:cNvPr id="21" name="U01-CH007_panel_1_body">
            <a:extLst>
              <a:ext uri="{FF2B5EF4-FFF2-40B4-BE49-F238E27FC236}">
                <a16:creationId xmlns:a16="http://schemas.microsoft.com/office/drawing/2014/main" id="{FA2C42C1-3AED-4F45-85CF-EF561BA52270}"/>
              </a:ext>
            </a:extLst>
          </p:cNvPr>
          <p:cNvSpPr>
            <a:spLocks noGrp="1"/>
          </p:cNvSpPr>
          <p:nvPr/>
        </p:nvSpPr>
        <p:spPr>
          <a:xfrm>
            <a:off x="2403158" y="2162175"/>
            <a:ext cx="2127885" cy="348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d/Δt</a:t>
            </a:r>
          </a:p>
        </p:txBody>
      </p:sp>
      <p:sp>
        <p:nvSpPr>
          <p:cNvPr id="22" name="U01-CH007_panel_2">
            <a:extLst>
              <a:ext uri="{FF2B5EF4-FFF2-40B4-BE49-F238E27FC236}">
                <a16:creationId xmlns:a16="http://schemas.microsoft.com/office/drawing/2014/main" id="{DA3D5F59-E7C6-4110-9560-A215BC9ABEAE}"/>
              </a:ext>
            </a:extLst>
          </p:cNvPr>
          <p:cNvSpPr>
            <a:spLocks noGrp="1"/>
          </p:cNvSpPr>
          <p:nvPr/>
        </p:nvSpPr>
        <p:spPr>
          <a:xfrm>
            <a:off x="4867275" y="1476375"/>
            <a:ext cx="2457450" cy="43434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07_panel_2_title">
            <a:extLst>
              <a:ext uri="{FF2B5EF4-FFF2-40B4-BE49-F238E27FC236}">
                <a16:creationId xmlns:a16="http://schemas.microsoft.com/office/drawing/2014/main" id="{C17826FC-FCD3-4124-B2E6-CB1CE0C7E67C}"/>
              </a:ext>
            </a:extLst>
          </p:cNvPr>
          <p:cNvSpPr>
            <a:spLocks noGrp="1"/>
          </p:cNvSpPr>
          <p:nvPr/>
        </p:nvSpPr>
        <p:spPr>
          <a:xfrm>
            <a:off x="5032058" y="1609725"/>
            <a:ext cx="212788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VELOCIDAD</a:t>
            </a:r>
          </a:p>
        </p:txBody>
      </p:sp>
      <p:sp>
        <p:nvSpPr>
          <p:cNvPr id="24" name="U01-CH007_panel_2_body">
            <a:extLst>
              <a:ext uri="{FF2B5EF4-FFF2-40B4-BE49-F238E27FC236}">
                <a16:creationId xmlns:a16="http://schemas.microsoft.com/office/drawing/2014/main" id="{AA4C4074-AFC4-41F2-A975-228599841C75}"/>
              </a:ext>
            </a:extLst>
          </p:cNvPr>
          <p:cNvSpPr>
            <a:spLocks noGrp="1"/>
          </p:cNvSpPr>
          <p:nvPr/>
        </p:nvSpPr>
        <p:spPr>
          <a:xfrm>
            <a:off x="5032058" y="2162175"/>
            <a:ext cx="2127885" cy="348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módulo + dirección</a:t>
            </a:r>
          </a:p>
        </p:txBody>
      </p:sp>
      <p:sp>
        <p:nvSpPr>
          <p:cNvPr id="25" name="U01-CH007_panel_3">
            <a:extLst>
              <a:ext uri="{FF2B5EF4-FFF2-40B4-BE49-F238E27FC236}">
                <a16:creationId xmlns:a16="http://schemas.microsoft.com/office/drawing/2014/main" id="{4346E348-0E56-404E-A106-377984EB5548}"/>
              </a:ext>
            </a:extLst>
          </p:cNvPr>
          <p:cNvSpPr>
            <a:spLocks noGrp="1"/>
          </p:cNvSpPr>
          <p:nvPr/>
        </p:nvSpPr>
        <p:spPr>
          <a:xfrm>
            <a:off x="7496175" y="1476375"/>
            <a:ext cx="2457450" cy="43434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6" name="U01-CH007_panel_3_title">
            <a:extLst>
              <a:ext uri="{FF2B5EF4-FFF2-40B4-BE49-F238E27FC236}">
                <a16:creationId xmlns:a16="http://schemas.microsoft.com/office/drawing/2014/main" id="{44653C37-049A-491A-B884-3B3256CED2EB}"/>
              </a:ext>
            </a:extLst>
          </p:cNvPr>
          <p:cNvSpPr>
            <a:spLocks noGrp="1"/>
          </p:cNvSpPr>
          <p:nvPr/>
        </p:nvSpPr>
        <p:spPr>
          <a:xfrm>
            <a:off x="7660958" y="1609725"/>
            <a:ext cx="212788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PROPAGACIÓN</a:t>
            </a:r>
          </a:p>
        </p:txBody>
      </p:sp>
      <p:sp>
        <p:nvSpPr>
          <p:cNvPr id="27" name="U01-CH007_panel_3_body">
            <a:extLst>
              <a:ext uri="{FF2B5EF4-FFF2-40B4-BE49-F238E27FC236}">
                <a16:creationId xmlns:a16="http://schemas.microsoft.com/office/drawing/2014/main" id="{FF40367A-29AB-4853-8021-BD38E7D1E62F}"/>
              </a:ext>
            </a:extLst>
          </p:cNvPr>
          <p:cNvSpPr>
            <a:spLocks noGrp="1"/>
          </p:cNvSpPr>
          <p:nvPr/>
        </p:nvSpPr>
        <p:spPr>
          <a:xfrm>
            <a:off x="7660958" y="2162175"/>
            <a:ext cx="2127885" cy="348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avanza el frente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¿Cuánto tarda una perturbación en recorrer 100 m?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 = d/c = 100 m ÷ (343 m/s) = 0,2915… s ≈ 0,29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Comprobar: m ÷ (m/s) = s.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28">
            <a:extLst>
              <a:ext uri="{FF2B5EF4-FFF2-40B4-BE49-F238E27FC236}">
                <a16:creationId xmlns:a16="http://schemas.microsoft.com/office/drawing/2014/main" id="{58729D64-E594-4427-A82D-0A0BDE934F4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9A67CCE-8FD4-4C66-BEFE-CC167BBE6DA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24" name="U01-CH008_source">
            <a:extLst>
              <a:ext uri="{FF2B5EF4-FFF2-40B4-BE49-F238E27FC236}">
                <a16:creationId xmlns:a16="http://schemas.microsoft.com/office/drawing/2014/main" id="{AE11944B-FC82-47B3-A6E4-08EAED19D94D}"/>
              </a:ext>
            </a:extLst>
          </p:cNvPr>
          <p:cNvSpPr>
            <a:spLocks noGrp="1"/>
          </p:cNvSpPr>
          <p:nvPr/>
        </p:nvSpPr>
        <p:spPr>
          <a:xfrm>
            <a:off x="5600700" y="2381250"/>
            <a:ext cx="400050" cy="400050"/>
          </a:xfrm>
          <a:prstGeom prst="ellipse">
            <a:avLst/>
          </a:prstGeom>
          <a:solidFill>
            <a:srgbClr val="903163"/>
          </a:solidFill>
          <a:ln w="952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U01-CH008_receiver">
            <a:extLst>
              <a:ext uri="{FF2B5EF4-FFF2-40B4-BE49-F238E27FC236}">
                <a16:creationId xmlns:a16="http://schemas.microsoft.com/office/drawing/2014/main" id="{512A1AB5-4D73-44B2-B7B5-1A6D8636E3B9}"/>
              </a:ext>
            </a:extLst>
          </p:cNvPr>
          <p:cNvSpPr>
            <a:spLocks noGrp="1"/>
          </p:cNvSpPr>
          <p:nvPr/>
        </p:nvSpPr>
        <p:spPr>
          <a:xfrm>
            <a:off x="10763250" y="2381250"/>
            <a:ext cx="400050" cy="400050"/>
          </a:xfrm>
          <a:prstGeom prst="rect">
            <a:avLst/>
          </a:prstGeom>
          <a:solidFill>
            <a:srgbClr val="9F541A"/>
          </a:solidFill>
          <a:ln w="9525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cxnSp>
        <p:nvCxnSpPr>
          <p:cNvPr id="51" name="U01-CH008_distance"/>
          <p:cNvCxnSpPr>
            <a:stCxn id="24" idx="6"/>
            <a:endCxn id="25" idx="1"/>
          </p:cNvCxnSpPr>
          <p:nvPr/>
        </p:nvCxnSpPr>
        <p:spPr>
          <a:xfrm>
            <a:off x="6000750" y="2581275"/>
            <a:ext cx="476250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7" name="U01-CH008_distance_label">
            <a:extLst>
              <a:ext uri="{FF2B5EF4-FFF2-40B4-BE49-F238E27FC236}">
                <a16:creationId xmlns:a16="http://schemas.microsoft.com/office/drawing/2014/main" id="{126AC0DC-B03F-49EF-B0EA-5F2046524AB4}"/>
              </a:ext>
            </a:extLst>
          </p:cNvPr>
          <p:cNvSpPr>
            <a:spLocks noGrp="1"/>
          </p:cNvSpPr>
          <p:nvPr/>
        </p:nvSpPr>
        <p:spPr>
          <a:xfrm>
            <a:off x="7673340" y="1981200"/>
            <a:ext cx="141732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 = 100 m</a:t>
            </a:r>
          </a:p>
        </p:txBody>
      </p:sp>
      <p:sp>
        <p:nvSpPr>
          <p:cNvPr id="28" name="U01-CH008_calculation">
            <a:extLst>
              <a:ext uri="{FF2B5EF4-FFF2-40B4-BE49-F238E27FC236}">
                <a16:creationId xmlns:a16="http://schemas.microsoft.com/office/drawing/2014/main" id="{5F0B2BB1-461D-449C-9A1D-ABCD22AA931C}"/>
              </a:ext>
            </a:extLst>
          </p:cNvPr>
          <p:cNvSpPr>
            <a:spLocks noGrp="1"/>
          </p:cNvSpPr>
          <p:nvPr/>
        </p:nvSpPr>
        <p:spPr>
          <a:xfrm>
            <a:off x="6019800" y="3405378"/>
            <a:ext cx="4724400" cy="1130237"/>
          </a:xfrm>
          <a:prstGeom prst="roundRect">
            <a:avLst>
              <a:gd name="adj" fmla="val 674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d/c = 100 m ÷ 343 m/s = 0,29 s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Tiempo de propagación: práctica adicional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la relación y verificar la unidad.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Usar t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68 m; c = 340 m/s.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unidad m ÷ (m/s) se simplifica a s.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68 m / (340 m/s) = ___ 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340 m/s es un redondeo didáctico.</a:t>
            </a:r>
          </a:p>
        </p:txBody>
      </p:sp>
      <p:pic>
        <p:nvPicPr>
          <p:cNvPr id="35" name="Imagen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34750" y="5905500"/>
            <a:ext cx="9525" cy="9525"/>
          </a:xfrm>
          <a:prstGeom prst="rect">
            <a:avLst/>
          </a:prstGeom>
        </p:spPr>
      </p:pic>
      <p:sp>
        <p:nvSpPr>
          <p:cNvPr id="17" name="u01_asset_credit_29">
            <a:extLst>
              <a:ext uri="{FF2B5EF4-FFF2-40B4-BE49-F238E27FC236}">
                <a16:creationId xmlns:a16="http://schemas.microsoft.com/office/drawing/2014/main" id="{FEDB5F36-2FAC-4E6B-8068-803D967E068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9357D8F-EEFF-495A-9FF0-BB53C98C16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y peso: dos magnitudes diferentes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lenguaje cotidiano llama “peso” a resultados que suelen estar expresados en kg.</a:t>
            </a:r>
          </a:p>
        </p:txBody>
      </p:sp>
      <p:sp>
        <p:nvSpPr>
          <p:cNvPr id="16" name="u01_asset_credit_30">
            <a:extLst>
              <a:ext uri="{FF2B5EF4-FFF2-40B4-BE49-F238E27FC236}">
                <a16:creationId xmlns:a16="http://schemas.microsoft.com/office/drawing/2014/main" id="{60C97A50-964A-4BDA-A69E-19612813370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138C990-FEDC-48FD-9EE0-4859131BBC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19" name="U01-CH009_panel_1">
            <a:extLst>
              <a:ext uri="{FF2B5EF4-FFF2-40B4-BE49-F238E27FC236}">
                <a16:creationId xmlns:a16="http://schemas.microsoft.com/office/drawing/2014/main" id="{258BF498-E6B2-4DC8-824A-59D85DE00E02}"/>
              </a:ext>
            </a:extLst>
          </p:cNvPr>
          <p:cNvSpPr>
            <a:spLocks noGrp="1"/>
          </p:cNvSpPr>
          <p:nvPr/>
        </p:nvSpPr>
        <p:spPr>
          <a:xfrm>
            <a:off x="2238375" y="1997583"/>
            <a:ext cx="3743325" cy="3300984"/>
          </a:xfrm>
          <a:prstGeom prst="roundRect">
            <a:avLst>
              <a:gd name="adj" fmla="val 2308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09_panel_1_title">
            <a:extLst>
              <a:ext uri="{FF2B5EF4-FFF2-40B4-BE49-F238E27FC236}">
                <a16:creationId xmlns:a16="http://schemas.microsoft.com/office/drawing/2014/main" id="{5520A5DF-DDAC-49C9-A5A0-A4C5C9D4D3DC}"/>
              </a:ext>
            </a:extLst>
          </p:cNvPr>
          <p:cNvSpPr>
            <a:spLocks noGrp="1"/>
          </p:cNvSpPr>
          <p:nvPr/>
        </p:nvSpPr>
        <p:spPr>
          <a:xfrm>
            <a:off x="2403158" y="2169033"/>
            <a:ext cx="341376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1" name="U01-CH009_panel_1_body">
            <a:extLst>
              <a:ext uri="{FF2B5EF4-FFF2-40B4-BE49-F238E27FC236}">
                <a16:creationId xmlns:a16="http://schemas.microsoft.com/office/drawing/2014/main" id="{BC603A59-E675-4733-9FB9-67ABE74DCA5F}"/>
              </a:ext>
            </a:extLst>
          </p:cNvPr>
          <p:cNvSpPr>
            <a:spLocks noGrp="1"/>
          </p:cNvSpPr>
          <p:nvPr/>
        </p:nvSpPr>
        <p:spPr>
          <a:xfrm>
            <a:off x="2403158" y="2778633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2" name="U01-CH009_panel_1_equation">
            <a:extLst>
              <a:ext uri="{FF2B5EF4-FFF2-40B4-BE49-F238E27FC236}">
                <a16:creationId xmlns:a16="http://schemas.microsoft.com/office/drawing/2014/main" id="{6595CA1B-0042-4592-87B6-E0EB8841A525}"/>
              </a:ext>
            </a:extLst>
          </p:cNvPr>
          <p:cNvSpPr>
            <a:spLocks noGrp="1"/>
          </p:cNvSpPr>
          <p:nvPr/>
        </p:nvSpPr>
        <p:spPr>
          <a:xfrm>
            <a:off x="2403158" y="4555617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kg</a:t>
            </a:r>
          </a:p>
        </p:txBody>
      </p:sp>
      <p:sp>
        <p:nvSpPr>
          <p:cNvPr id="23" name="U01-CH009_panel_2">
            <a:extLst>
              <a:ext uri="{FF2B5EF4-FFF2-40B4-BE49-F238E27FC236}">
                <a16:creationId xmlns:a16="http://schemas.microsoft.com/office/drawing/2014/main" id="{FD73893B-F578-4199-9F67-753BB27A5568}"/>
              </a:ext>
            </a:extLst>
          </p:cNvPr>
          <p:cNvSpPr>
            <a:spLocks noGrp="1"/>
          </p:cNvSpPr>
          <p:nvPr/>
        </p:nvSpPr>
        <p:spPr>
          <a:xfrm>
            <a:off x="6210300" y="1997583"/>
            <a:ext cx="3743325" cy="3300984"/>
          </a:xfrm>
          <a:prstGeom prst="roundRect">
            <a:avLst>
              <a:gd name="adj" fmla="val 230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4" name="U01-CH009_panel_2_title">
            <a:extLst>
              <a:ext uri="{FF2B5EF4-FFF2-40B4-BE49-F238E27FC236}">
                <a16:creationId xmlns:a16="http://schemas.microsoft.com/office/drawing/2014/main" id="{C0CAAF0D-EF6C-4FB6-997B-0E277C8834D1}"/>
              </a:ext>
            </a:extLst>
          </p:cNvPr>
          <p:cNvSpPr>
            <a:spLocks noGrp="1"/>
          </p:cNvSpPr>
          <p:nvPr/>
        </p:nvSpPr>
        <p:spPr>
          <a:xfrm>
            <a:off x="6375083" y="2169033"/>
            <a:ext cx="341376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PESO</a:t>
            </a:r>
          </a:p>
        </p:txBody>
      </p:sp>
      <p:sp>
        <p:nvSpPr>
          <p:cNvPr id="25" name="U01-CH009_panel_2_body">
            <a:extLst>
              <a:ext uri="{FF2B5EF4-FFF2-40B4-BE49-F238E27FC236}">
                <a16:creationId xmlns:a16="http://schemas.microsoft.com/office/drawing/2014/main" id="{D5ADAAC3-0B43-42F8-AA0C-C21B98A562D7}"/>
              </a:ext>
            </a:extLst>
          </p:cNvPr>
          <p:cNvSpPr>
            <a:spLocks noGrp="1"/>
          </p:cNvSpPr>
          <p:nvPr/>
        </p:nvSpPr>
        <p:spPr>
          <a:xfrm>
            <a:off x="6375083" y="2778633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gravitatoria</a:t>
            </a:r>
          </a:p>
        </p:txBody>
      </p:sp>
      <p:sp>
        <p:nvSpPr>
          <p:cNvPr id="26" name="U01-CH009_panel_2_equation">
            <a:extLst>
              <a:ext uri="{FF2B5EF4-FFF2-40B4-BE49-F238E27FC236}">
                <a16:creationId xmlns:a16="http://schemas.microsoft.com/office/drawing/2014/main" id="{DA417C5C-B531-4396-AD2F-2BE96CD4F437}"/>
              </a:ext>
            </a:extLst>
          </p:cNvPr>
          <p:cNvSpPr>
            <a:spLocks noGrp="1"/>
          </p:cNvSpPr>
          <p:nvPr/>
        </p:nvSpPr>
        <p:spPr>
          <a:xfrm>
            <a:off x="6375083" y="4555617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Fg = m·g    N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masa a peso sin perder las unidades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F_g = (2,50 kg)(9,80 m/s²) = 24,5 kg·m/s² = 24,5 N.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parte del cálculo demuestra que no obtenemos kg?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31">
            <a:extLst>
              <a:ext uri="{FF2B5EF4-FFF2-40B4-BE49-F238E27FC236}">
                <a16:creationId xmlns:a16="http://schemas.microsoft.com/office/drawing/2014/main" id="{32166686-12F9-4C01-8450-CA1FA0A6CF0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6C385972-9ACB-4564-84C5-D8BA50219E7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24" name="U01-CH009_panel_1">
            <a:extLst>
              <a:ext uri="{FF2B5EF4-FFF2-40B4-BE49-F238E27FC236}">
                <a16:creationId xmlns:a16="http://schemas.microsoft.com/office/drawing/2014/main" id="{788D438F-703F-4C40-9060-A3019F03D713}"/>
              </a:ext>
            </a:extLst>
          </p:cNvPr>
          <p:cNvSpPr>
            <a:spLocks noGrp="1"/>
          </p:cNvSpPr>
          <p:nvPr/>
        </p:nvSpPr>
        <p:spPr>
          <a:xfrm>
            <a:off x="5429250" y="2208657"/>
            <a:ext cx="2838450" cy="2526411"/>
          </a:xfrm>
          <a:prstGeom prst="roundRect">
            <a:avLst>
              <a:gd name="adj" fmla="val 301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5" name="U01-CH009_panel_1_title">
            <a:extLst>
              <a:ext uri="{FF2B5EF4-FFF2-40B4-BE49-F238E27FC236}">
                <a16:creationId xmlns:a16="http://schemas.microsoft.com/office/drawing/2014/main" id="{E8BFB41B-DC27-4B39-8CD8-134C00D75B53}"/>
              </a:ext>
            </a:extLst>
          </p:cNvPr>
          <p:cNvSpPr>
            <a:spLocks noGrp="1"/>
          </p:cNvSpPr>
          <p:nvPr/>
        </p:nvSpPr>
        <p:spPr>
          <a:xfrm>
            <a:off x="5594033" y="2380107"/>
            <a:ext cx="25088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6" name="U01-CH009_panel_1_body">
            <a:extLst>
              <a:ext uri="{FF2B5EF4-FFF2-40B4-BE49-F238E27FC236}">
                <a16:creationId xmlns:a16="http://schemas.microsoft.com/office/drawing/2014/main" id="{AA0E002A-6A4F-4D16-90E7-D1894BFABFF0}"/>
              </a:ext>
            </a:extLst>
          </p:cNvPr>
          <p:cNvSpPr>
            <a:spLocks noGrp="1"/>
          </p:cNvSpPr>
          <p:nvPr/>
        </p:nvSpPr>
        <p:spPr>
          <a:xfrm>
            <a:off x="5594033" y="2989707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7" name="U01-CH009_panel_1_equation">
            <a:extLst>
              <a:ext uri="{FF2B5EF4-FFF2-40B4-BE49-F238E27FC236}">
                <a16:creationId xmlns:a16="http://schemas.microsoft.com/office/drawing/2014/main" id="{ACF88106-3DC9-4E25-B6FB-ADAC760F2EAF}"/>
              </a:ext>
            </a:extLst>
          </p:cNvPr>
          <p:cNvSpPr>
            <a:spLocks noGrp="1"/>
          </p:cNvSpPr>
          <p:nvPr/>
        </p:nvSpPr>
        <p:spPr>
          <a:xfrm>
            <a:off x="5594033" y="3992118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kg</a:t>
            </a:r>
          </a:p>
        </p:txBody>
      </p:sp>
      <p:sp>
        <p:nvSpPr>
          <p:cNvPr id="28" name="U01-CH009_panel_2">
            <a:extLst>
              <a:ext uri="{FF2B5EF4-FFF2-40B4-BE49-F238E27FC236}">
                <a16:creationId xmlns:a16="http://schemas.microsoft.com/office/drawing/2014/main" id="{61576380-FE2B-44E0-B5A9-033AEE8F73B4}"/>
              </a:ext>
            </a:extLst>
          </p:cNvPr>
          <p:cNvSpPr>
            <a:spLocks noGrp="1"/>
          </p:cNvSpPr>
          <p:nvPr/>
        </p:nvSpPr>
        <p:spPr>
          <a:xfrm>
            <a:off x="8496300" y="2208657"/>
            <a:ext cx="2838450" cy="2526411"/>
          </a:xfrm>
          <a:prstGeom prst="roundRect">
            <a:avLst>
              <a:gd name="adj" fmla="val 3016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9" name="U01-CH009_panel_2_title">
            <a:extLst>
              <a:ext uri="{FF2B5EF4-FFF2-40B4-BE49-F238E27FC236}">
                <a16:creationId xmlns:a16="http://schemas.microsoft.com/office/drawing/2014/main" id="{C7873D36-B74D-47C8-ADF9-A84378F3912B}"/>
              </a:ext>
            </a:extLst>
          </p:cNvPr>
          <p:cNvSpPr>
            <a:spLocks noGrp="1"/>
          </p:cNvSpPr>
          <p:nvPr/>
        </p:nvSpPr>
        <p:spPr>
          <a:xfrm>
            <a:off x="8661083" y="2380107"/>
            <a:ext cx="25088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PESO</a:t>
            </a:r>
          </a:p>
        </p:txBody>
      </p:sp>
      <p:sp>
        <p:nvSpPr>
          <p:cNvPr id="30" name="U01-CH009_panel_2_body">
            <a:extLst>
              <a:ext uri="{FF2B5EF4-FFF2-40B4-BE49-F238E27FC236}">
                <a16:creationId xmlns:a16="http://schemas.microsoft.com/office/drawing/2014/main" id="{A27FDD80-1968-4CDF-8B4D-2CC6E51CDD89}"/>
              </a:ext>
            </a:extLst>
          </p:cNvPr>
          <p:cNvSpPr>
            <a:spLocks noGrp="1"/>
          </p:cNvSpPr>
          <p:nvPr/>
        </p:nvSpPr>
        <p:spPr>
          <a:xfrm>
            <a:off x="8661083" y="2989707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gravitatoria</a:t>
            </a:r>
          </a:p>
        </p:txBody>
      </p:sp>
      <p:sp>
        <p:nvSpPr>
          <p:cNvPr id="31" name="U01-CH009_panel_2_equation">
            <a:extLst>
              <a:ext uri="{FF2B5EF4-FFF2-40B4-BE49-F238E27FC236}">
                <a16:creationId xmlns:a16="http://schemas.microsoft.com/office/drawing/2014/main" id="{1FD08943-6D56-44CB-8FD6-AFAAA4EFADC5}"/>
              </a:ext>
            </a:extLst>
          </p:cNvPr>
          <p:cNvSpPr>
            <a:spLocks noGrp="1"/>
          </p:cNvSpPr>
          <p:nvPr/>
        </p:nvSpPr>
        <p:spPr>
          <a:xfrm>
            <a:off x="8661083" y="3992118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Fg = m·g    N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Fuerza neta y aceleración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 = m a.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F: fuerza neta (N); m: masa (kg); a: aceleración (m/s²). 1 N = 1 kg·m/s².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32">
            <a:extLst>
              <a:ext uri="{FF2B5EF4-FFF2-40B4-BE49-F238E27FC236}">
                <a16:creationId xmlns:a16="http://schemas.microsoft.com/office/drawing/2014/main" id="{0D5286FF-0281-4D8F-9107-F919CDBAF00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D9A71C-F09D-427C-B844-D57AC1C4E78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18" name="U01-CH010_panel_1">
            <a:extLst>
              <a:ext uri="{FF2B5EF4-FFF2-40B4-BE49-F238E27FC236}">
                <a16:creationId xmlns:a16="http://schemas.microsoft.com/office/drawing/2014/main" id="{85B097D1-0F32-41F3-9A55-4034C196670E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7F6F2"/>
          </a:solidFill>
          <a:ln w="23813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19" name="U01-CH010_panel_1_title">
            <a:extLst>
              <a:ext uri="{FF2B5EF4-FFF2-40B4-BE49-F238E27FC236}">
                <a16:creationId xmlns:a16="http://schemas.microsoft.com/office/drawing/2014/main" id="{59A8C5F4-AF68-4E3B-ADFD-32B38F4B10B3}"/>
              </a:ext>
            </a:extLst>
          </p:cNvPr>
          <p:cNvSpPr>
            <a:spLocks noGrp="1"/>
          </p:cNvSpPr>
          <p:nvPr/>
        </p:nvSpPr>
        <p:spPr>
          <a:xfrm>
            <a:off x="51625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20" name="U01-CH010_panel_1_equation">
            <a:extLst>
              <a:ext uri="{FF2B5EF4-FFF2-40B4-BE49-F238E27FC236}">
                <a16:creationId xmlns:a16="http://schemas.microsoft.com/office/drawing/2014/main" id="{959518CF-C9D1-4A6B-96CD-D9D5182FE02A}"/>
              </a:ext>
            </a:extLst>
          </p:cNvPr>
          <p:cNvSpPr>
            <a:spLocks noGrp="1"/>
          </p:cNvSpPr>
          <p:nvPr/>
        </p:nvSpPr>
        <p:spPr>
          <a:xfrm>
            <a:off x="51625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 = m·a</a:t>
            </a:r>
          </a:p>
        </p:txBody>
      </p:sp>
      <p:sp>
        <p:nvSpPr>
          <p:cNvPr id="21" name="U01-CH010_panel_1_body">
            <a:extLst>
              <a:ext uri="{FF2B5EF4-FFF2-40B4-BE49-F238E27FC236}">
                <a16:creationId xmlns:a16="http://schemas.microsoft.com/office/drawing/2014/main" id="{1020A4D8-1151-4152-95AB-ABF54DA4DA23}"/>
              </a:ext>
            </a:extLst>
          </p:cNvPr>
          <p:cNvSpPr>
            <a:spLocks noGrp="1"/>
          </p:cNvSpPr>
          <p:nvPr/>
        </p:nvSpPr>
        <p:spPr>
          <a:xfrm>
            <a:off x="5213033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neta → aceleración</a:t>
            </a:r>
          </a:p>
        </p:txBody>
      </p:sp>
      <p:sp>
        <p:nvSpPr>
          <p:cNvPr id="22" name="U01-CH010_panel_2">
            <a:extLst>
              <a:ext uri="{FF2B5EF4-FFF2-40B4-BE49-F238E27FC236}">
                <a16:creationId xmlns:a16="http://schemas.microsoft.com/office/drawing/2014/main" id="{33985C3C-AB9E-4315-B40E-F7B65FA79B12}"/>
              </a:ext>
            </a:extLst>
          </p:cNvPr>
          <p:cNvSpPr>
            <a:spLocks noGrp="1"/>
          </p:cNvSpPr>
          <p:nvPr/>
        </p:nvSpPr>
        <p:spPr>
          <a:xfrm>
            <a:off x="71310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10_panel_2_title">
            <a:extLst>
              <a:ext uri="{FF2B5EF4-FFF2-40B4-BE49-F238E27FC236}">
                <a16:creationId xmlns:a16="http://schemas.microsoft.com/office/drawing/2014/main" id="{C2B94422-7938-4A76-B13F-CE1A8E4DB9F0}"/>
              </a:ext>
            </a:extLst>
          </p:cNvPr>
          <p:cNvSpPr>
            <a:spLocks noGrp="1"/>
          </p:cNvSpPr>
          <p:nvPr/>
        </p:nvSpPr>
        <p:spPr>
          <a:xfrm>
            <a:off x="72453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4" name="U01-CH010_panel_2_equation">
            <a:extLst>
              <a:ext uri="{FF2B5EF4-FFF2-40B4-BE49-F238E27FC236}">
                <a16:creationId xmlns:a16="http://schemas.microsoft.com/office/drawing/2014/main" id="{48664088-5F1C-4A9F-B230-2E8F3C29B7F2}"/>
              </a:ext>
            </a:extLst>
          </p:cNvPr>
          <p:cNvSpPr>
            <a:spLocks noGrp="1"/>
          </p:cNvSpPr>
          <p:nvPr/>
        </p:nvSpPr>
        <p:spPr>
          <a:xfrm>
            <a:off x="72453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 = F⊥/S</a:t>
            </a:r>
          </a:p>
        </p:txBody>
      </p:sp>
      <p:sp>
        <p:nvSpPr>
          <p:cNvPr id="25" name="U01-CH010_panel_2_body">
            <a:extLst>
              <a:ext uri="{FF2B5EF4-FFF2-40B4-BE49-F238E27FC236}">
                <a16:creationId xmlns:a16="http://schemas.microsoft.com/office/drawing/2014/main" id="{2197195B-D1DC-41F1-A141-4D6299F879F5}"/>
              </a:ext>
            </a:extLst>
          </p:cNvPr>
          <p:cNvSpPr>
            <a:spLocks noGrp="1"/>
          </p:cNvSpPr>
          <p:nvPr/>
        </p:nvSpPr>
        <p:spPr>
          <a:xfrm>
            <a:off x="72958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fuerza; cambia el área</a:t>
            </a:r>
          </a:p>
        </p:txBody>
      </p:sp>
      <p:sp>
        <p:nvSpPr>
          <p:cNvPr id="26" name="U01-CH010_panel_3">
            <a:extLst>
              <a:ext uri="{FF2B5EF4-FFF2-40B4-BE49-F238E27FC236}">
                <a16:creationId xmlns:a16="http://schemas.microsoft.com/office/drawing/2014/main" id="{1225CA4B-7364-4CD3-8E2C-3B2AE839B967}"/>
              </a:ext>
            </a:extLst>
          </p:cNvPr>
          <p:cNvSpPr>
            <a:spLocks noGrp="1"/>
          </p:cNvSpPr>
          <p:nvPr/>
        </p:nvSpPr>
        <p:spPr>
          <a:xfrm>
            <a:off x="92138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7" name="U01-CH010_panel_3_title">
            <a:extLst>
              <a:ext uri="{FF2B5EF4-FFF2-40B4-BE49-F238E27FC236}">
                <a16:creationId xmlns:a16="http://schemas.microsoft.com/office/drawing/2014/main" id="{4AC6E38C-084A-4588-B7D0-A8A9D16FF6D5}"/>
              </a:ext>
            </a:extLst>
          </p:cNvPr>
          <p:cNvSpPr>
            <a:spLocks noGrp="1"/>
          </p:cNvSpPr>
          <p:nvPr/>
        </p:nvSpPr>
        <p:spPr>
          <a:xfrm>
            <a:off x="93281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DENSIDAD</a:t>
            </a:r>
          </a:p>
        </p:txBody>
      </p:sp>
      <p:sp>
        <p:nvSpPr>
          <p:cNvPr id="28" name="U01-CH010_panel_3_equation">
            <a:extLst>
              <a:ext uri="{FF2B5EF4-FFF2-40B4-BE49-F238E27FC236}">
                <a16:creationId xmlns:a16="http://schemas.microsoft.com/office/drawing/2014/main" id="{56C937F0-8035-49E5-A7F2-9673F0CDF85F}"/>
              </a:ext>
            </a:extLst>
          </p:cNvPr>
          <p:cNvSpPr>
            <a:spLocks noGrp="1"/>
          </p:cNvSpPr>
          <p:nvPr/>
        </p:nvSpPr>
        <p:spPr>
          <a:xfrm>
            <a:off x="93281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ρ = m/V</a:t>
            </a:r>
          </a:p>
        </p:txBody>
      </p:sp>
      <p:sp>
        <p:nvSpPr>
          <p:cNvPr id="29" name="U01-CH010_panel_3_body">
            <a:extLst>
              <a:ext uri="{FF2B5EF4-FFF2-40B4-BE49-F238E27FC236}">
                <a16:creationId xmlns:a16="http://schemas.microsoft.com/office/drawing/2014/main" id="{F5D0E66E-E2E1-4DE0-ADF9-B96311E51324}"/>
              </a:ext>
            </a:extLst>
          </p:cNvPr>
          <p:cNvSpPr>
            <a:spLocks noGrp="1"/>
          </p:cNvSpPr>
          <p:nvPr/>
        </p:nvSpPr>
        <p:spPr>
          <a:xfrm>
            <a:off x="93786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masa; cambia el volumen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relaciona fuerza perpendicular y área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 = F_⊥/S.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p: presión (Pa); F_⊥: componente perpendicular de la fuerza (N); S: área (m²). 1 Pa = 1 N/m².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33">
            <a:extLst>
              <a:ext uri="{FF2B5EF4-FFF2-40B4-BE49-F238E27FC236}">
                <a16:creationId xmlns:a16="http://schemas.microsoft.com/office/drawing/2014/main" id="{62A4A678-F59B-4E98-A578-A73179CC77B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EADFC2B-31EA-4E2B-8EE2-877E0E76DB1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18" name="U01-CH010_panel_1">
            <a:extLst>
              <a:ext uri="{FF2B5EF4-FFF2-40B4-BE49-F238E27FC236}">
                <a16:creationId xmlns:a16="http://schemas.microsoft.com/office/drawing/2014/main" id="{917C35A4-59AE-4B88-AA7E-0AE8FCC78765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19" name="U01-CH010_panel_1_title">
            <a:extLst>
              <a:ext uri="{FF2B5EF4-FFF2-40B4-BE49-F238E27FC236}">
                <a16:creationId xmlns:a16="http://schemas.microsoft.com/office/drawing/2014/main" id="{F899B27A-5C8B-4AF8-AE1D-4998B6F8F3A2}"/>
              </a:ext>
            </a:extLst>
          </p:cNvPr>
          <p:cNvSpPr>
            <a:spLocks noGrp="1"/>
          </p:cNvSpPr>
          <p:nvPr/>
        </p:nvSpPr>
        <p:spPr>
          <a:xfrm>
            <a:off x="51625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20" name="U01-CH010_panel_1_equation">
            <a:extLst>
              <a:ext uri="{FF2B5EF4-FFF2-40B4-BE49-F238E27FC236}">
                <a16:creationId xmlns:a16="http://schemas.microsoft.com/office/drawing/2014/main" id="{C45B3C91-1EFB-4185-A4E8-99209B3F119B}"/>
              </a:ext>
            </a:extLst>
          </p:cNvPr>
          <p:cNvSpPr>
            <a:spLocks noGrp="1"/>
          </p:cNvSpPr>
          <p:nvPr/>
        </p:nvSpPr>
        <p:spPr>
          <a:xfrm>
            <a:off x="51625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 = m·a</a:t>
            </a:r>
          </a:p>
        </p:txBody>
      </p:sp>
      <p:sp>
        <p:nvSpPr>
          <p:cNvPr id="21" name="U01-CH010_panel_1_body">
            <a:extLst>
              <a:ext uri="{FF2B5EF4-FFF2-40B4-BE49-F238E27FC236}">
                <a16:creationId xmlns:a16="http://schemas.microsoft.com/office/drawing/2014/main" id="{F84BDA0A-308C-4506-9BB5-E025484B6712}"/>
              </a:ext>
            </a:extLst>
          </p:cNvPr>
          <p:cNvSpPr>
            <a:spLocks noGrp="1"/>
          </p:cNvSpPr>
          <p:nvPr/>
        </p:nvSpPr>
        <p:spPr>
          <a:xfrm>
            <a:off x="5213033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neta → aceleración</a:t>
            </a:r>
          </a:p>
        </p:txBody>
      </p:sp>
      <p:sp>
        <p:nvSpPr>
          <p:cNvPr id="22" name="U01-CH010_panel_2">
            <a:extLst>
              <a:ext uri="{FF2B5EF4-FFF2-40B4-BE49-F238E27FC236}">
                <a16:creationId xmlns:a16="http://schemas.microsoft.com/office/drawing/2014/main" id="{ED82A76F-C9FA-4DD1-87E2-2CA35D889C12}"/>
              </a:ext>
            </a:extLst>
          </p:cNvPr>
          <p:cNvSpPr>
            <a:spLocks noGrp="1"/>
          </p:cNvSpPr>
          <p:nvPr/>
        </p:nvSpPr>
        <p:spPr>
          <a:xfrm>
            <a:off x="71310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7F6F2"/>
          </a:solidFill>
          <a:ln w="23813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10_panel_2_title">
            <a:extLst>
              <a:ext uri="{FF2B5EF4-FFF2-40B4-BE49-F238E27FC236}">
                <a16:creationId xmlns:a16="http://schemas.microsoft.com/office/drawing/2014/main" id="{8B618C9D-C69D-46D9-88D7-B8D05971B640}"/>
              </a:ext>
            </a:extLst>
          </p:cNvPr>
          <p:cNvSpPr>
            <a:spLocks noGrp="1"/>
          </p:cNvSpPr>
          <p:nvPr/>
        </p:nvSpPr>
        <p:spPr>
          <a:xfrm>
            <a:off x="72453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4" name="U01-CH010_panel_2_equation">
            <a:extLst>
              <a:ext uri="{FF2B5EF4-FFF2-40B4-BE49-F238E27FC236}">
                <a16:creationId xmlns:a16="http://schemas.microsoft.com/office/drawing/2014/main" id="{E8533366-219A-4424-9969-D3F1A83F2076}"/>
              </a:ext>
            </a:extLst>
          </p:cNvPr>
          <p:cNvSpPr>
            <a:spLocks noGrp="1"/>
          </p:cNvSpPr>
          <p:nvPr/>
        </p:nvSpPr>
        <p:spPr>
          <a:xfrm>
            <a:off x="72453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 = F⊥/S</a:t>
            </a:r>
          </a:p>
        </p:txBody>
      </p:sp>
      <p:sp>
        <p:nvSpPr>
          <p:cNvPr id="25" name="U01-CH010_panel_2_body">
            <a:extLst>
              <a:ext uri="{FF2B5EF4-FFF2-40B4-BE49-F238E27FC236}">
                <a16:creationId xmlns:a16="http://schemas.microsoft.com/office/drawing/2014/main" id="{7B20A983-17C5-4BF3-B935-08538F1BC9E0}"/>
              </a:ext>
            </a:extLst>
          </p:cNvPr>
          <p:cNvSpPr>
            <a:spLocks noGrp="1"/>
          </p:cNvSpPr>
          <p:nvPr/>
        </p:nvSpPr>
        <p:spPr>
          <a:xfrm>
            <a:off x="72958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fuerza; cambia el área</a:t>
            </a:r>
          </a:p>
        </p:txBody>
      </p:sp>
      <p:sp>
        <p:nvSpPr>
          <p:cNvPr id="26" name="U01-CH010_panel_3">
            <a:extLst>
              <a:ext uri="{FF2B5EF4-FFF2-40B4-BE49-F238E27FC236}">
                <a16:creationId xmlns:a16="http://schemas.microsoft.com/office/drawing/2014/main" id="{6125F550-1EE1-452B-BC5A-B14B1FBD4C6E}"/>
              </a:ext>
            </a:extLst>
          </p:cNvPr>
          <p:cNvSpPr>
            <a:spLocks noGrp="1"/>
          </p:cNvSpPr>
          <p:nvPr/>
        </p:nvSpPr>
        <p:spPr>
          <a:xfrm>
            <a:off x="92138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7" name="U01-CH010_panel_3_title">
            <a:extLst>
              <a:ext uri="{FF2B5EF4-FFF2-40B4-BE49-F238E27FC236}">
                <a16:creationId xmlns:a16="http://schemas.microsoft.com/office/drawing/2014/main" id="{31276FA4-63FF-4275-98EF-2A70582C2770}"/>
              </a:ext>
            </a:extLst>
          </p:cNvPr>
          <p:cNvSpPr>
            <a:spLocks noGrp="1"/>
          </p:cNvSpPr>
          <p:nvPr/>
        </p:nvSpPr>
        <p:spPr>
          <a:xfrm>
            <a:off x="93281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DENSIDAD</a:t>
            </a:r>
          </a:p>
        </p:txBody>
      </p:sp>
      <p:sp>
        <p:nvSpPr>
          <p:cNvPr id="28" name="U01-CH010_panel_3_equation">
            <a:extLst>
              <a:ext uri="{FF2B5EF4-FFF2-40B4-BE49-F238E27FC236}">
                <a16:creationId xmlns:a16="http://schemas.microsoft.com/office/drawing/2014/main" id="{C1C04C3D-0851-415A-8CCF-F305DA090079}"/>
              </a:ext>
            </a:extLst>
          </p:cNvPr>
          <p:cNvSpPr>
            <a:spLocks noGrp="1"/>
          </p:cNvSpPr>
          <p:nvPr/>
        </p:nvSpPr>
        <p:spPr>
          <a:xfrm>
            <a:off x="93281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ρ = m/V</a:t>
            </a:r>
          </a:p>
        </p:txBody>
      </p:sp>
      <p:sp>
        <p:nvSpPr>
          <p:cNvPr id="29" name="U01-CH010_panel_3_body">
            <a:extLst>
              <a:ext uri="{FF2B5EF4-FFF2-40B4-BE49-F238E27FC236}">
                <a16:creationId xmlns:a16="http://schemas.microsoft.com/office/drawing/2014/main" id="{BAE94765-F543-4CD1-8E42-D9D1710332A7}"/>
              </a:ext>
            </a:extLst>
          </p:cNvPr>
          <p:cNvSpPr>
            <a:spLocks noGrp="1"/>
          </p:cNvSpPr>
          <p:nvPr/>
        </p:nvSpPr>
        <p:spPr>
          <a:xfrm>
            <a:off x="93786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masa; cambia el volumen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relaciona masa y volumen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ρ = m/V.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ρ: densidad (kg/m³); m: masa (kg); V: volumen (m³).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34">
            <a:extLst>
              <a:ext uri="{FF2B5EF4-FFF2-40B4-BE49-F238E27FC236}">
                <a16:creationId xmlns:a16="http://schemas.microsoft.com/office/drawing/2014/main" id="{7391983D-8EB4-4429-A0FA-2EC5CBC3713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A920E1-21CF-42BB-90A7-B353A11A28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18" name="U01-CH010_panel_1">
            <a:extLst>
              <a:ext uri="{FF2B5EF4-FFF2-40B4-BE49-F238E27FC236}">
                <a16:creationId xmlns:a16="http://schemas.microsoft.com/office/drawing/2014/main" id="{6A75F211-63C5-4046-B8D0-08DA52AC771F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19" name="U01-CH010_panel_1_title">
            <a:extLst>
              <a:ext uri="{FF2B5EF4-FFF2-40B4-BE49-F238E27FC236}">
                <a16:creationId xmlns:a16="http://schemas.microsoft.com/office/drawing/2014/main" id="{39AECD6E-A92E-43D3-832B-3BA7D8958BEC}"/>
              </a:ext>
            </a:extLst>
          </p:cNvPr>
          <p:cNvSpPr>
            <a:spLocks noGrp="1"/>
          </p:cNvSpPr>
          <p:nvPr/>
        </p:nvSpPr>
        <p:spPr>
          <a:xfrm>
            <a:off x="51625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20" name="U01-CH010_panel_1_equation">
            <a:extLst>
              <a:ext uri="{FF2B5EF4-FFF2-40B4-BE49-F238E27FC236}">
                <a16:creationId xmlns:a16="http://schemas.microsoft.com/office/drawing/2014/main" id="{139E8659-311A-4968-9AAF-533F131D3869}"/>
              </a:ext>
            </a:extLst>
          </p:cNvPr>
          <p:cNvSpPr>
            <a:spLocks noGrp="1"/>
          </p:cNvSpPr>
          <p:nvPr/>
        </p:nvSpPr>
        <p:spPr>
          <a:xfrm>
            <a:off x="51625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 = m·a</a:t>
            </a:r>
          </a:p>
        </p:txBody>
      </p:sp>
      <p:sp>
        <p:nvSpPr>
          <p:cNvPr id="21" name="U01-CH010_panel_1_body">
            <a:extLst>
              <a:ext uri="{FF2B5EF4-FFF2-40B4-BE49-F238E27FC236}">
                <a16:creationId xmlns:a16="http://schemas.microsoft.com/office/drawing/2014/main" id="{FE532AC8-FE6F-44CD-B1F2-8B588F98022D}"/>
              </a:ext>
            </a:extLst>
          </p:cNvPr>
          <p:cNvSpPr>
            <a:spLocks noGrp="1"/>
          </p:cNvSpPr>
          <p:nvPr/>
        </p:nvSpPr>
        <p:spPr>
          <a:xfrm>
            <a:off x="5213033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neta → aceleración</a:t>
            </a:r>
          </a:p>
        </p:txBody>
      </p:sp>
      <p:sp>
        <p:nvSpPr>
          <p:cNvPr id="22" name="U01-CH010_panel_2">
            <a:extLst>
              <a:ext uri="{FF2B5EF4-FFF2-40B4-BE49-F238E27FC236}">
                <a16:creationId xmlns:a16="http://schemas.microsoft.com/office/drawing/2014/main" id="{88851ECC-954C-4CF6-81BB-D88C2E39EF89}"/>
              </a:ext>
            </a:extLst>
          </p:cNvPr>
          <p:cNvSpPr>
            <a:spLocks noGrp="1"/>
          </p:cNvSpPr>
          <p:nvPr/>
        </p:nvSpPr>
        <p:spPr>
          <a:xfrm>
            <a:off x="71310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10_panel_2_title">
            <a:extLst>
              <a:ext uri="{FF2B5EF4-FFF2-40B4-BE49-F238E27FC236}">
                <a16:creationId xmlns:a16="http://schemas.microsoft.com/office/drawing/2014/main" id="{1A4B17CD-9B6B-405F-A3D4-F2F6A6AC8A8A}"/>
              </a:ext>
            </a:extLst>
          </p:cNvPr>
          <p:cNvSpPr>
            <a:spLocks noGrp="1"/>
          </p:cNvSpPr>
          <p:nvPr/>
        </p:nvSpPr>
        <p:spPr>
          <a:xfrm>
            <a:off x="72453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4" name="U01-CH010_panel_2_equation">
            <a:extLst>
              <a:ext uri="{FF2B5EF4-FFF2-40B4-BE49-F238E27FC236}">
                <a16:creationId xmlns:a16="http://schemas.microsoft.com/office/drawing/2014/main" id="{319BF0D8-62A0-4121-A444-AE36784C1188}"/>
              </a:ext>
            </a:extLst>
          </p:cNvPr>
          <p:cNvSpPr>
            <a:spLocks noGrp="1"/>
          </p:cNvSpPr>
          <p:nvPr/>
        </p:nvSpPr>
        <p:spPr>
          <a:xfrm>
            <a:off x="72453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 = F⊥/S</a:t>
            </a:r>
          </a:p>
        </p:txBody>
      </p:sp>
      <p:sp>
        <p:nvSpPr>
          <p:cNvPr id="25" name="U01-CH010_panel_2_body">
            <a:extLst>
              <a:ext uri="{FF2B5EF4-FFF2-40B4-BE49-F238E27FC236}">
                <a16:creationId xmlns:a16="http://schemas.microsoft.com/office/drawing/2014/main" id="{0EB6BAD7-3FC8-4D4A-9984-F250D062EB79}"/>
              </a:ext>
            </a:extLst>
          </p:cNvPr>
          <p:cNvSpPr>
            <a:spLocks noGrp="1"/>
          </p:cNvSpPr>
          <p:nvPr/>
        </p:nvSpPr>
        <p:spPr>
          <a:xfrm>
            <a:off x="72958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fuerza; cambia el área</a:t>
            </a:r>
          </a:p>
        </p:txBody>
      </p:sp>
      <p:sp>
        <p:nvSpPr>
          <p:cNvPr id="26" name="U01-CH010_panel_3">
            <a:extLst>
              <a:ext uri="{FF2B5EF4-FFF2-40B4-BE49-F238E27FC236}">
                <a16:creationId xmlns:a16="http://schemas.microsoft.com/office/drawing/2014/main" id="{B68E84EA-E40A-40E7-A1D4-FA99C7F49115}"/>
              </a:ext>
            </a:extLst>
          </p:cNvPr>
          <p:cNvSpPr>
            <a:spLocks noGrp="1"/>
          </p:cNvSpPr>
          <p:nvPr/>
        </p:nvSpPr>
        <p:spPr>
          <a:xfrm>
            <a:off x="92138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7F6F2"/>
          </a:solidFill>
          <a:ln w="23813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7" name="U01-CH010_panel_3_title">
            <a:extLst>
              <a:ext uri="{FF2B5EF4-FFF2-40B4-BE49-F238E27FC236}">
                <a16:creationId xmlns:a16="http://schemas.microsoft.com/office/drawing/2014/main" id="{3E2D5905-F04B-48E4-A12D-1DFF0954FDC5}"/>
              </a:ext>
            </a:extLst>
          </p:cNvPr>
          <p:cNvSpPr>
            <a:spLocks noGrp="1"/>
          </p:cNvSpPr>
          <p:nvPr/>
        </p:nvSpPr>
        <p:spPr>
          <a:xfrm>
            <a:off x="93281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DENSIDAD</a:t>
            </a:r>
          </a:p>
        </p:txBody>
      </p:sp>
      <p:sp>
        <p:nvSpPr>
          <p:cNvPr id="28" name="U01-CH010_panel_3_equation">
            <a:extLst>
              <a:ext uri="{FF2B5EF4-FFF2-40B4-BE49-F238E27FC236}">
                <a16:creationId xmlns:a16="http://schemas.microsoft.com/office/drawing/2014/main" id="{F3584DA6-8359-4C23-95C6-10F9B7B47F4E}"/>
              </a:ext>
            </a:extLst>
          </p:cNvPr>
          <p:cNvSpPr>
            <a:spLocks noGrp="1"/>
          </p:cNvSpPr>
          <p:nvPr/>
        </p:nvSpPr>
        <p:spPr>
          <a:xfrm>
            <a:off x="93281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ρ = m/V</a:t>
            </a:r>
          </a:p>
        </p:txBody>
      </p:sp>
      <p:sp>
        <p:nvSpPr>
          <p:cNvPr id="29" name="U01-CH010_panel_3_body">
            <a:extLst>
              <a:ext uri="{FF2B5EF4-FFF2-40B4-BE49-F238E27FC236}">
                <a16:creationId xmlns:a16="http://schemas.microsoft.com/office/drawing/2014/main" id="{0B1B79A4-8630-4C68-9F7B-9B86745EF80D}"/>
              </a:ext>
            </a:extLst>
          </p:cNvPr>
          <p:cNvSpPr>
            <a:spLocks noGrp="1"/>
          </p:cNvSpPr>
          <p:nvPr/>
        </p:nvSpPr>
        <p:spPr>
          <a:xfrm>
            <a:off x="93786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masa; cambia el volumen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magnitudes forman una red de relaciones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d, Δt y c conectan distancia, intervalo y propagación.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a y F conectan inercia y cambio del movimiento.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F⊥, S y p conectan fuerza perpendicular, área y presión.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V y ρ conectan masa, volumen y densidad.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Leer cada flecha con palabras y anticipar la unidad resultante.</a:t>
            </a:r>
          </a:p>
        </p:txBody>
      </p:sp>
      <p:sp>
        <p:nvSpPr>
          <p:cNvPr id="17" name="u01_asset_credit_35">
            <a:extLst>
              <a:ext uri="{FF2B5EF4-FFF2-40B4-BE49-F238E27FC236}">
                <a16:creationId xmlns:a16="http://schemas.microsoft.com/office/drawing/2014/main" id="{07EEDCFD-7E9E-4FE5-BBA9-43E9E37DB7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D1FB212-739E-4ADF-8A32-BF1384D5E0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20" name="U01-CH011_relation_row_1">
            <a:extLst>
              <a:ext uri="{FF2B5EF4-FFF2-40B4-BE49-F238E27FC236}">
                <a16:creationId xmlns:a16="http://schemas.microsoft.com/office/drawing/2014/main" id="{ECE30103-9050-410F-80FC-E32535141007}"/>
              </a:ext>
            </a:extLst>
          </p:cNvPr>
          <p:cNvSpPr>
            <a:spLocks noGrp="1"/>
          </p:cNvSpPr>
          <p:nvPr/>
        </p:nvSpPr>
        <p:spPr>
          <a:xfrm>
            <a:off x="6715125" y="2190750"/>
            <a:ext cx="4524375" cy="758825"/>
          </a:xfrm>
          <a:prstGeom prst="roundRect">
            <a:avLst>
              <a:gd name="adj" fmla="val 1004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÷ Δt  →  v</a:t>
            </a:r>
          </a:p>
        </p:txBody>
      </p:sp>
      <p:sp>
        <p:nvSpPr>
          <p:cNvPr id="21" name="U01-CH011_relation_row_2">
            <a:extLst>
              <a:ext uri="{FF2B5EF4-FFF2-40B4-BE49-F238E27FC236}">
                <a16:creationId xmlns:a16="http://schemas.microsoft.com/office/drawing/2014/main" id="{13093370-6F55-44FA-B996-A740298BDE50}"/>
              </a:ext>
            </a:extLst>
          </p:cNvPr>
          <p:cNvSpPr>
            <a:spLocks noGrp="1"/>
          </p:cNvSpPr>
          <p:nvPr/>
        </p:nvSpPr>
        <p:spPr>
          <a:xfrm>
            <a:off x="6715125" y="3082925"/>
            <a:ext cx="4524375" cy="758825"/>
          </a:xfrm>
          <a:prstGeom prst="roundRect">
            <a:avLst>
              <a:gd name="adj" fmla="val 1004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 × a  →  F      F ÷ S  →  p</a:t>
            </a:r>
          </a:p>
        </p:txBody>
      </p:sp>
      <p:sp>
        <p:nvSpPr>
          <p:cNvPr id="22" name="U01-CH011_relation_row_3">
            <a:extLst>
              <a:ext uri="{FF2B5EF4-FFF2-40B4-BE49-F238E27FC236}">
                <a16:creationId xmlns:a16="http://schemas.microsoft.com/office/drawing/2014/main" id="{F9F1DD53-9412-4820-BA57-AB20622E9C31}"/>
              </a:ext>
            </a:extLst>
          </p:cNvPr>
          <p:cNvSpPr>
            <a:spLocks noGrp="1"/>
          </p:cNvSpPr>
          <p:nvPr/>
        </p:nvSpPr>
        <p:spPr>
          <a:xfrm>
            <a:off x="6715125" y="3975100"/>
            <a:ext cx="4524375" cy="758825"/>
          </a:xfrm>
          <a:prstGeom prst="roundRect">
            <a:avLst>
              <a:gd name="adj" fmla="val 1004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 ÷ V  →  ρ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B04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Números, prefijos y dimensiones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verificamos si un resultado puede ser físicamente razonable?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B04</a:t>
            </a:r>
          </a:p>
        </p:txBody>
      </p:sp>
      <p:sp>
        <p:nvSpPr>
          <p:cNvPr id="7" name="u01_asset_credit_36">
            <a:extLst>
              <a:ext uri="{FF2B5EF4-FFF2-40B4-BE49-F238E27FC236}">
                <a16:creationId xmlns:a16="http://schemas.microsoft.com/office/drawing/2014/main" id="{02424621-E2F9-4388-977D-47000088E733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011FCA6-156B-4957-AD5B-2D17E09350F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10" name="U01-CH012_mini_equivalence">
            <a:extLst>
              <a:ext uri="{FF2B5EF4-FFF2-40B4-BE49-F238E27FC236}">
                <a16:creationId xmlns:a16="http://schemas.microsoft.com/office/drawing/2014/main" id="{B04DB813-AE0F-4914-A40D-16D745C07E54}"/>
              </a:ext>
            </a:extLst>
          </p:cNvPr>
          <p:cNvSpPr>
            <a:spLocks noGrp="1"/>
          </p:cNvSpPr>
          <p:nvPr/>
        </p:nvSpPr>
        <p:spPr>
          <a:xfrm>
            <a:off x="7572375" y="1952625"/>
            <a:ext cx="35242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10⁻⁵  ↔  µ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compacta de escribir órdenes de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Coeficiente y potencia de diez.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a × 10ⁿ, el coeficiente cumple 1 ≤ |a| &lt; 10.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exponente n indica cuántos lugares se desplaza la coma decimal.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79365"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3500 = 3,5 × 10³; 0,0042 = 4,2 × 10⁻³.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positivo: valor mayor que 1.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negativo: valor entre 0 y 1.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del exponente describe la escala; no es un adorno.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u01_asset_credit_37">
            <a:extLst>
              <a:ext uri="{FF2B5EF4-FFF2-40B4-BE49-F238E27FC236}">
                <a16:creationId xmlns:a16="http://schemas.microsoft.com/office/drawing/2014/main" id="{F19428E8-4CC5-4CB9-9607-7D6A6F8716DF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96D74915-C848-4FAC-8319-DEB2E71A82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19" name="U01-CH012_row_1">
            <a:extLst>
              <a:ext uri="{FF2B5EF4-FFF2-40B4-BE49-F238E27FC236}">
                <a16:creationId xmlns:a16="http://schemas.microsoft.com/office/drawing/2014/main" id="{0198874E-183A-4C87-9E54-FC7A99D962B3}"/>
              </a:ext>
            </a:extLst>
          </p:cNvPr>
          <p:cNvSpPr>
            <a:spLocks noGrp="1"/>
          </p:cNvSpPr>
          <p:nvPr/>
        </p:nvSpPr>
        <p:spPr>
          <a:xfrm>
            <a:off x="7124700" y="17145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DECIMAL  —  0,000020 Pa</a:t>
            </a:r>
          </a:p>
        </p:txBody>
      </p:sp>
      <p:sp>
        <p:nvSpPr>
          <p:cNvPr id="20" name="U01-CH012_row_2">
            <a:extLst>
              <a:ext uri="{FF2B5EF4-FFF2-40B4-BE49-F238E27FC236}">
                <a16:creationId xmlns:a16="http://schemas.microsoft.com/office/drawing/2014/main" id="{B3AD6730-42E6-4791-A589-9369D6DECD52}"/>
              </a:ext>
            </a:extLst>
          </p:cNvPr>
          <p:cNvSpPr>
            <a:spLocks noGrp="1"/>
          </p:cNvSpPr>
          <p:nvPr/>
        </p:nvSpPr>
        <p:spPr>
          <a:xfrm>
            <a:off x="7124700" y="269875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CIENTÍFICA  —  2,0 × 10⁻⁵ Pa</a:t>
            </a:r>
          </a:p>
        </p:txBody>
      </p:sp>
      <p:sp>
        <p:nvSpPr>
          <p:cNvPr id="21" name="U01-CH012_row_3">
            <a:extLst>
              <a:ext uri="{FF2B5EF4-FFF2-40B4-BE49-F238E27FC236}">
                <a16:creationId xmlns:a16="http://schemas.microsoft.com/office/drawing/2014/main" id="{85EF7729-E119-42FB-8C0C-F403BE22BC86}"/>
              </a:ext>
            </a:extLst>
          </p:cNvPr>
          <p:cNvSpPr>
            <a:spLocks noGrp="1"/>
          </p:cNvSpPr>
          <p:nvPr/>
        </p:nvSpPr>
        <p:spPr>
          <a:xfrm>
            <a:off x="7124700" y="36830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PREFIJO  —  20 µPa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escrituras para el mismo valor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0,000020 Pa = 2,0 × 10⁻⁵ Pa = 20 µPa; µ = 10⁻⁶.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20 × 10⁻⁶ Pa = 2,0 × 10⁻⁵ Pa.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38">
            <a:extLst>
              <a:ext uri="{FF2B5EF4-FFF2-40B4-BE49-F238E27FC236}">
                <a16:creationId xmlns:a16="http://schemas.microsoft.com/office/drawing/2014/main" id="{53469546-8350-4EA6-A97E-A2A604E4691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BBAE4B9B-E154-454A-A18D-72A933C703C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24" name="U01-CH012_row_1">
            <a:extLst>
              <a:ext uri="{FF2B5EF4-FFF2-40B4-BE49-F238E27FC236}">
                <a16:creationId xmlns:a16="http://schemas.microsoft.com/office/drawing/2014/main" id="{568DE7A4-AAC8-46B6-9491-345B9B2C1D21}"/>
              </a:ext>
            </a:extLst>
          </p:cNvPr>
          <p:cNvSpPr>
            <a:spLocks noGrp="1"/>
          </p:cNvSpPr>
          <p:nvPr/>
        </p:nvSpPr>
        <p:spPr>
          <a:xfrm>
            <a:off x="5429250" y="1809750"/>
            <a:ext cx="5905500" cy="1044575"/>
          </a:xfrm>
          <a:prstGeom prst="roundRect">
            <a:avLst>
              <a:gd name="adj" fmla="val 7295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DECIMAL  —  0,000020 Pa</a:t>
            </a:r>
          </a:p>
        </p:txBody>
      </p:sp>
      <p:sp>
        <p:nvSpPr>
          <p:cNvPr id="25" name="U01-CH012_row_2">
            <a:extLst>
              <a:ext uri="{FF2B5EF4-FFF2-40B4-BE49-F238E27FC236}">
                <a16:creationId xmlns:a16="http://schemas.microsoft.com/office/drawing/2014/main" id="{7DDC4CEC-76A6-4591-97ED-23AFF9497FF4}"/>
              </a:ext>
            </a:extLst>
          </p:cNvPr>
          <p:cNvSpPr>
            <a:spLocks noGrp="1"/>
          </p:cNvSpPr>
          <p:nvPr/>
        </p:nvSpPr>
        <p:spPr>
          <a:xfrm>
            <a:off x="5429250" y="2949575"/>
            <a:ext cx="5905500" cy="1044575"/>
          </a:xfrm>
          <a:prstGeom prst="roundRect">
            <a:avLst>
              <a:gd name="adj" fmla="val 7295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CIENTÍFICA  —  2,0 × 10⁻⁵ Pa</a:t>
            </a:r>
          </a:p>
        </p:txBody>
      </p:sp>
      <p:sp>
        <p:nvSpPr>
          <p:cNvPr id="26" name="U01-CH012_row_3">
            <a:extLst>
              <a:ext uri="{FF2B5EF4-FFF2-40B4-BE49-F238E27FC236}">
                <a16:creationId xmlns:a16="http://schemas.microsoft.com/office/drawing/2014/main" id="{3706A2A3-01AA-47F2-B958-D3203702E97C}"/>
              </a:ext>
            </a:extLst>
          </p:cNvPr>
          <p:cNvSpPr>
            <a:spLocks noGrp="1"/>
          </p:cNvSpPr>
          <p:nvPr/>
        </p:nvSpPr>
        <p:spPr>
          <a:xfrm>
            <a:off x="5429250" y="4089400"/>
            <a:ext cx="5905500" cy="1044575"/>
          </a:xfrm>
          <a:prstGeom prst="roundRect">
            <a:avLst>
              <a:gd name="adj" fmla="val 7295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PREFIJO  —  20 µPa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TABLA BREVE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Prefijos que aparecerán con frecuencia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contexto tipográfico distingue metro m, masa m y prefijo mili m.</a:t>
            </a:r>
          </a:p>
        </p:txBody>
      </p:sp>
      <p:sp>
        <p:nvSpPr>
          <p:cNvPr id="7" name="u01_asset_credit_39">
            <a:extLst>
              <a:ext uri="{FF2B5EF4-FFF2-40B4-BE49-F238E27FC236}">
                <a16:creationId xmlns:a16="http://schemas.microsoft.com/office/drawing/2014/main" id="{84940BD4-3E0A-47FC-85CF-378C6F827A16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56F5A39E-8E5F-4C50-8ADC-8C348DD050F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10" name="U01-CH013_axis">
            <a:extLst>
              <a:ext uri="{FF2B5EF4-FFF2-40B4-BE49-F238E27FC236}">
                <a16:creationId xmlns:a16="http://schemas.microsoft.com/office/drawing/2014/main" id="{D4BBAC83-6DA5-489D-B1CD-C90B0DDB2273}"/>
              </a:ext>
            </a:extLst>
          </p:cNvPr>
          <p:cNvSpPr>
            <a:spLocks noGrp="1"/>
          </p:cNvSpPr>
          <p:nvPr/>
        </p:nvSpPr>
        <p:spPr>
          <a:xfrm>
            <a:off x="2476500" y="3556635"/>
            <a:ext cx="7248049" cy="953"/>
          </a:xfrm>
          <a:prstGeom prst="line">
            <a:avLst/>
          </a:prstGeom>
          <a:noFill/>
          <a:ln w="381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13_marker_1">
            <a:extLst>
              <a:ext uri="{FF2B5EF4-FFF2-40B4-BE49-F238E27FC236}">
                <a16:creationId xmlns:a16="http://schemas.microsoft.com/office/drawing/2014/main" id="{704D2C7D-3071-48E2-9930-AE0363DCE6B1}"/>
              </a:ext>
            </a:extLst>
          </p:cNvPr>
          <p:cNvSpPr>
            <a:spLocks noGrp="1"/>
          </p:cNvSpPr>
          <p:nvPr/>
        </p:nvSpPr>
        <p:spPr>
          <a:xfrm>
            <a:off x="2371725" y="3451860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U01-CH013_prefix_1">
            <a:extLst>
              <a:ext uri="{FF2B5EF4-FFF2-40B4-BE49-F238E27FC236}">
                <a16:creationId xmlns:a16="http://schemas.microsoft.com/office/drawing/2014/main" id="{919E0039-FD46-4563-A14C-541A342682E1}"/>
              </a:ext>
            </a:extLst>
          </p:cNvPr>
          <p:cNvSpPr>
            <a:spLocks noGrp="1"/>
          </p:cNvSpPr>
          <p:nvPr/>
        </p:nvSpPr>
        <p:spPr>
          <a:xfrm>
            <a:off x="1571625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kilo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13" name="U01-CH013_factor_1">
            <a:extLst>
              <a:ext uri="{FF2B5EF4-FFF2-40B4-BE49-F238E27FC236}">
                <a16:creationId xmlns:a16="http://schemas.microsoft.com/office/drawing/2014/main" id="{FB526DD6-1D34-4F51-B2D0-34B57326B74B}"/>
              </a:ext>
            </a:extLst>
          </p:cNvPr>
          <p:cNvSpPr>
            <a:spLocks noGrp="1"/>
          </p:cNvSpPr>
          <p:nvPr/>
        </p:nvSpPr>
        <p:spPr>
          <a:xfrm>
            <a:off x="1571625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10³</a:t>
            </a:r>
          </a:p>
        </p:txBody>
      </p:sp>
      <p:sp>
        <p:nvSpPr>
          <p:cNvPr id="14" name="U01-CH013_marker_2">
            <a:extLst>
              <a:ext uri="{FF2B5EF4-FFF2-40B4-BE49-F238E27FC236}">
                <a16:creationId xmlns:a16="http://schemas.microsoft.com/office/drawing/2014/main" id="{38669292-3D2C-4900-A3BF-132AAD745BC6}"/>
              </a:ext>
            </a:extLst>
          </p:cNvPr>
          <p:cNvSpPr>
            <a:spLocks noGrp="1"/>
          </p:cNvSpPr>
          <p:nvPr/>
        </p:nvSpPr>
        <p:spPr>
          <a:xfrm>
            <a:off x="4787741" y="3451860"/>
            <a:ext cx="209550" cy="209550"/>
          </a:xfrm>
          <a:prstGeom prst="ellipse">
            <a:avLst/>
          </a:prstGeom>
          <a:solidFill>
            <a:srgbClr val="9031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U01-CH013_prefix_2">
            <a:extLst>
              <a:ext uri="{FF2B5EF4-FFF2-40B4-BE49-F238E27FC236}">
                <a16:creationId xmlns:a16="http://schemas.microsoft.com/office/drawing/2014/main" id="{2DB5BF18-D3FD-4B70-8DA2-E8CAEBDF1B13}"/>
              </a:ext>
            </a:extLst>
          </p:cNvPr>
          <p:cNvSpPr>
            <a:spLocks noGrp="1"/>
          </p:cNvSpPr>
          <p:nvPr/>
        </p:nvSpPr>
        <p:spPr>
          <a:xfrm>
            <a:off x="3987641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16" name="U01-CH013_factor_2">
            <a:extLst>
              <a:ext uri="{FF2B5EF4-FFF2-40B4-BE49-F238E27FC236}">
                <a16:creationId xmlns:a16="http://schemas.microsoft.com/office/drawing/2014/main" id="{C3D5B48A-1A2D-4EC9-8973-D59B80A61CD5}"/>
              </a:ext>
            </a:extLst>
          </p:cNvPr>
          <p:cNvSpPr>
            <a:spLocks noGrp="1"/>
          </p:cNvSpPr>
          <p:nvPr/>
        </p:nvSpPr>
        <p:spPr>
          <a:xfrm>
            <a:off x="3987641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10⁰</a:t>
            </a:r>
          </a:p>
        </p:txBody>
      </p:sp>
      <p:sp>
        <p:nvSpPr>
          <p:cNvPr id="17" name="U01-CH013_marker_3">
            <a:extLst>
              <a:ext uri="{FF2B5EF4-FFF2-40B4-BE49-F238E27FC236}">
                <a16:creationId xmlns:a16="http://schemas.microsoft.com/office/drawing/2014/main" id="{7758D272-2FC4-45CF-9F27-8194DFC2299B}"/>
              </a:ext>
            </a:extLst>
          </p:cNvPr>
          <p:cNvSpPr>
            <a:spLocks noGrp="1"/>
          </p:cNvSpPr>
          <p:nvPr/>
        </p:nvSpPr>
        <p:spPr>
          <a:xfrm>
            <a:off x="7203758" y="3451860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U01-CH013_prefix_3">
            <a:extLst>
              <a:ext uri="{FF2B5EF4-FFF2-40B4-BE49-F238E27FC236}">
                <a16:creationId xmlns:a16="http://schemas.microsoft.com/office/drawing/2014/main" id="{1C842F58-142A-4835-AA97-99F5F01A4102}"/>
              </a:ext>
            </a:extLst>
          </p:cNvPr>
          <p:cNvSpPr>
            <a:spLocks noGrp="1"/>
          </p:cNvSpPr>
          <p:nvPr/>
        </p:nvSpPr>
        <p:spPr>
          <a:xfrm>
            <a:off x="6403658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mili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9" name="U01-CH013_factor_3">
            <a:extLst>
              <a:ext uri="{FF2B5EF4-FFF2-40B4-BE49-F238E27FC236}">
                <a16:creationId xmlns:a16="http://schemas.microsoft.com/office/drawing/2014/main" id="{04DF3685-611B-4DED-A7A7-7F623423B456}"/>
              </a:ext>
            </a:extLst>
          </p:cNvPr>
          <p:cNvSpPr>
            <a:spLocks noGrp="1"/>
          </p:cNvSpPr>
          <p:nvPr/>
        </p:nvSpPr>
        <p:spPr>
          <a:xfrm>
            <a:off x="6403658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10⁻³</a:t>
            </a:r>
          </a:p>
        </p:txBody>
      </p:sp>
      <p:sp>
        <p:nvSpPr>
          <p:cNvPr id="20" name="U01-CH013_marker_4">
            <a:extLst>
              <a:ext uri="{FF2B5EF4-FFF2-40B4-BE49-F238E27FC236}">
                <a16:creationId xmlns:a16="http://schemas.microsoft.com/office/drawing/2014/main" id="{1C277BB5-689B-4B73-9029-627070D2916A}"/>
              </a:ext>
            </a:extLst>
          </p:cNvPr>
          <p:cNvSpPr>
            <a:spLocks noGrp="1"/>
          </p:cNvSpPr>
          <p:nvPr/>
        </p:nvSpPr>
        <p:spPr>
          <a:xfrm>
            <a:off x="9619774" y="3451860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U01-CH013_prefix_4">
            <a:extLst>
              <a:ext uri="{FF2B5EF4-FFF2-40B4-BE49-F238E27FC236}">
                <a16:creationId xmlns:a16="http://schemas.microsoft.com/office/drawing/2014/main" id="{AE0F087C-6637-4456-8E40-E28B20EA74CC}"/>
              </a:ext>
            </a:extLst>
          </p:cNvPr>
          <p:cNvSpPr>
            <a:spLocks noGrp="1"/>
          </p:cNvSpPr>
          <p:nvPr/>
        </p:nvSpPr>
        <p:spPr>
          <a:xfrm>
            <a:off x="8819674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micro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µ</a:t>
            </a:r>
          </a:p>
        </p:txBody>
      </p:sp>
      <p:sp>
        <p:nvSpPr>
          <p:cNvPr id="22" name="U01-CH013_factor_4">
            <a:extLst>
              <a:ext uri="{FF2B5EF4-FFF2-40B4-BE49-F238E27FC236}">
                <a16:creationId xmlns:a16="http://schemas.microsoft.com/office/drawing/2014/main" id="{50A36A48-8265-4094-96D1-33067DA5FB6C}"/>
              </a:ext>
            </a:extLst>
          </p:cNvPr>
          <p:cNvSpPr>
            <a:spLocks noGrp="1"/>
          </p:cNvSpPr>
          <p:nvPr/>
        </p:nvSpPr>
        <p:spPr>
          <a:xfrm>
            <a:off x="8819674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10⁻⁶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conversiones sin perder la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y justificar: 1 s = ___ ms; 1 Pa = ___ µPa; 1 m = ___ mm.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cada caso, escribir el factor usado.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s = 10³ ms; 1 Pa = 10⁶ µPa; 1 m = 10³ mm.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Convertir cambia la escritura, no la cantidad representada.</a:t>
            </a:r>
          </a:p>
        </p:txBody>
      </p:sp>
      <p:sp>
        <p:nvSpPr>
          <p:cNvPr id="17" name="u01_asset_credit_40">
            <a:extLst>
              <a:ext uri="{FF2B5EF4-FFF2-40B4-BE49-F238E27FC236}">
                <a16:creationId xmlns:a16="http://schemas.microsoft.com/office/drawing/2014/main" id="{23C16FAC-CBA8-45D5-B800-5482FC847C8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0ADD47EA-21F1-47BB-9438-14880B54A2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20" name="U01-CH013_axis">
            <a:extLst>
              <a:ext uri="{FF2B5EF4-FFF2-40B4-BE49-F238E27FC236}">
                <a16:creationId xmlns:a16="http://schemas.microsoft.com/office/drawing/2014/main" id="{214607CC-2BE3-455B-B0BD-E2244C02114B}"/>
              </a:ext>
            </a:extLst>
          </p:cNvPr>
          <p:cNvSpPr>
            <a:spLocks noGrp="1"/>
          </p:cNvSpPr>
          <p:nvPr/>
        </p:nvSpPr>
        <p:spPr>
          <a:xfrm>
            <a:off x="7286625" y="3205734"/>
            <a:ext cx="3433286" cy="953"/>
          </a:xfrm>
          <a:prstGeom prst="line">
            <a:avLst/>
          </a:prstGeom>
          <a:noFill/>
          <a:ln w="38100">
            <a:solidFill>
              <a:srgbClr val="D9DC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U01-CH013_marker_1">
            <a:extLst>
              <a:ext uri="{FF2B5EF4-FFF2-40B4-BE49-F238E27FC236}">
                <a16:creationId xmlns:a16="http://schemas.microsoft.com/office/drawing/2014/main" id="{C54B2F1F-7199-47DB-9FB5-13DD7F7CA193}"/>
              </a:ext>
            </a:extLst>
          </p:cNvPr>
          <p:cNvSpPr>
            <a:spLocks noGrp="1"/>
          </p:cNvSpPr>
          <p:nvPr/>
        </p:nvSpPr>
        <p:spPr>
          <a:xfrm>
            <a:off x="7181850" y="3100959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U01-CH013_prefix_1">
            <a:extLst>
              <a:ext uri="{FF2B5EF4-FFF2-40B4-BE49-F238E27FC236}">
                <a16:creationId xmlns:a16="http://schemas.microsoft.com/office/drawing/2014/main" id="{0422D920-5264-4A05-ACEB-D850039B7D8B}"/>
              </a:ext>
            </a:extLst>
          </p:cNvPr>
          <p:cNvSpPr>
            <a:spLocks noGrp="1"/>
          </p:cNvSpPr>
          <p:nvPr/>
        </p:nvSpPr>
        <p:spPr>
          <a:xfrm>
            <a:off x="6858000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kilo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23" name="U01-CH013_factor_1">
            <a:extLst>
              <a:ext uri="{FF2B5EF4-FFF2-40B4-BE49-F238E27FC236}">
                <a16:creationId xmlns:a16="http://schemas.microsoft.com/office/drawing/2014/main" id="{92680115-651F-4D01-82DD-4DDCBC70A3F9}"/>
              </a:ext>
            </a:extLst>
          </p:cNvPr>
          <p:cNvSpPr>
            <a:spLocks noGrp="1"/>
          </p:cNvSpPr>
          <p:nvPr/>
        </p:nvSpPr>
        <p:spPr>
          <a:xfrm>
            <a:off x="6858000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10³</a:t>
            </a:r>
          </a:p>
        </p:txBody>
      </p:sp>
      <p:sp>
        <p:nvSpPr>
          <p:cNvPr id="24" name="U01-CH013_marker_2">
            <a:extLst>
              <a:ext uri="{FF2B5EF4-FFF2-40B4-BE49-F238E27FC236}">
                <a16:creationId xmlns:a16="http://schemas.microsoft.com/office/drawing/2014/main" id="{C08EC8EA-1892-4CB7-9669-D6E4D7533913}"/>
              </a:ext>
            </a:extLst>
          </p:cNvPr>
          <p:cNvSpPr>
            <a:spLocks noGrp="1"/>
          </p:cNvSpPr>
          <p:nvPr/>
        </p:nvSpPr>
        <p:spPr>
          <a:xfrm>
            <a:off x="8326279" y="3100959"/>
            <a:ext cx="209550" cy="209550"/>
          </a:xfrm>
          <a:prstGeom prst="ellipse">
            <a:avLst/>
          </a:prstGeom>
          <a:solidFill>
            <a:srgbClr val="9031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U01-CH013_prefix_2">
            <a:extLst>
              <a:ext uri="{FF2B5EF4-FFF2-40B4-BE49-F238E27FC236}">
                <a16:creationId xmlns:a16="http://schemas.microsoft.com/office/drawing/2014/main" id="{D0AE0F24-5EC2-4890-9E0C-55F4F245E154}"/>
              </a:ext>
            </a:extLst>
          </p:cNvPr>
          <p:cNvSpPr>
            <a:spLocks noGrp="1"/>
          </p:cNvSpPr>
          <p:nvPr/>
        </p:nvSpPr>
        <p:spPr>
          <a:xfrm>
            <a:off x="8002429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26" name="U01-CH013_factor_2">
            <a:extLst>
              <a:ext uri="{FF2B5EF4-FFF2-40B4-BE49-F238E27FC236}">
                <a16:creationId xmlns:a16="http://schemas.microsoft.com/office/drawing/2014/main" id="{56A6C525-C8AC-4858-801B-79A6627AE228}"/>
              </a:ext>
            </a:extLst>
          </p:cNvPr>
          <p:cNvSpPr>
            <a:spLocks noGrp="1"/>
          </p:cNvSpPr>
          <p:nvPr/>
        </p:nvSpPr>
        <p:spPr>
          <a:xfrm>
            <a:off x="8002429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10⁰</a:t>
            </a:r>
          </a:p>
        </p:txBody>
      </p:sp>
      <p:sp>
        <p:nvSpPr>
          <p:cNvPr id="27" name="U01-CH013_marker_3">
            <a:extLst>
              <a:ext uri="{FF2B5EF4-FFF2-40B4-BE49-F238E27FC236}">
                <a16:creationId xmlns:a16="http://schemas.microsoft.com/office/drawing/2014/main" id="{3C3BA4BB-D2DD-404B-A630-3CCE006BEE81}"/>
              </a:ext>
            </a:extLst>
          </p:cNvPr>
          <p:cNvSpPr>
            <a:spLocks noGrp="1"/>
          </p:cNvSpPr>
          <p:nvPr/>
        </p:nvSpPr>
        <p:spPr>
          <a:xfrm>
            <a:off x="9470708" y="3100959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U01-CH013_prefix_3">
            <a:extLst>
              <a:ext uri="{FF2B5EF4-FFF2-40B4-BE49-F238E27FC236}">
                <a16:creationId xmlns:a16="http://schemas.microsoft.com/office/drawing/2014/main" id="{FB0DF569-0570-4ADD-BD9E-15EB42B906AF}"/>
              </a:ext>
            </a:extLst>
          </p:cNvPr>
          <p:cNvSpPr>
            <a:spLocks noGrp="1"/>
          </p:cNvSpPr>
          <p:nvPr/>
        </p:nvSpPr>
        <p:spPr>
          <a:xfrm>
            <a:off x="9146858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mili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29" name="U01-CH013_factor_3">
            <a:extLst>
              <a:ext uri="{FF2B5EF4-FFF2-40B4-BE49-F238E27FC236}">
                <a16:creationId xmlns:a16="http://schemas.microsoft.com/office/drawing/2014/main" id="{FC216A6D-DDCC-4B88-8AFB-474AB64AFD93}"/>
              </a:ext>
            </a:extLst>
          </p:cNvPr>
          <p:cNvSpPr>
            <a:spLocks noGrp="1"/>
          </p:cNvSpPr>
          <p:nvPr/>
        </p:nvSpPr>
        <p:spPr>
          <a:xfrm>
            <a:off x="9146858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10⁻³</a:t>
            </a:r>
          </a:p>
        </p:txBody>
      </p:sp>
      <p:sp>
        <p:nvSpPr>
          <p:cNvPr id="30" name="U01-CH013_marker_4">
            <a:extLst>
              <a:ext uri="{FF2B5EF4-FFF2-40B4-BE49-F238E27FC236}">
                <a16:creationId xmlns:a16="http://schemas.microsoft.com/office/drawing/2014/main" id="{73306502-E389-42F8-A5F8-A2D00E6B5A19}"/>
              </a:ext>
            </a:extLst>
          </p:cNvPr>
          <p:cNvSpPr>
            <a:spLocks noGrp="1"/>
          </p:cNvSpPr>
          <p:nvPr/>
        </p:nvSpPr>
        <p:spPr>
          <a:xfrm>
            <a:off x="10615136" y="3100959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U01-CH013_prefix_4">
            <a:extLst>
              <a:ext uri="{FF2B5EF4-FFF2-40B4-BE49-F238E27FC236}">
                <a16:creationId xmlns:a16="http://schemas.microsoft.com/office/drawing/2014/main" id="{C2272E66-8854-48C4-BFD6-221516DD26C9}"/>
              </a:ext>
            </a:extLst>
          </p:cNvPr>
          <p:cNvSpPr>
            <a:spLocks noGrp="1"/>
          </p:cNvSpPr>
          <p:nvPr/>
        </p:nvSpPr>
        <p:spPr>
          <a:xfrm>
            <a:off x="10291286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micro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µ</a:t>
            </a:r>
          </a:p>
        </p:txBody>
      </p:sp>
      <p:sp>
        <p:nvSpPr>
          <p:cNvPr id="32" name="U01-CH013_factor_4">
            <a:extLst>
              <a:ext uri="{FF2B5EF4-FFF2-40B4-BE49-F238E27FC236}">
                <a16:creationId xmlns:a16="http://schemas.microsoft.com/office/drawing/2014/main" id="{EF9C4D2E-F1A6-4940-A9EE-77615DDD78D6}"/>
              </a:ext>
            </a:extLst>
          </p:cNvPr>
          <p:cNvSpPr>
            <a:spLocks noGrp="1"/>
          </p:cNvSpPr>
          <p:nvPr/>
        </p:nvSpPr>
        <p:spPr>
          <a:xfrm>
            <a:off x="10291286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10⁻⁶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análisis dimensional detecta errores posibles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79882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se pueden sumar magnitudes de dimensiones incompatibles: m + s carece de significado físico. Una ecuación con dimensiones incompatibles se descarta. Si son compatibles, todavía debemos verificar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Dimensión: tipo físico de una magnitud, expresado con bases como [M], [L] y [T].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“tiempo” calculado en m²/s revela un error.</a:t>
            </a:r>
          </a:p>
        </p:txBody>
      </p:sp>
      <p:sp>
        <p:nvSpPr>
          <p:cNvPr id="10" name="u01_asset_credit_41">
            <a:extLst>
              <a:ext uri="{FF2B5EF4-FFF2-40B4-BE49-F238E27FC236}">
                <a16:creationId xmlns:a16="http://schemas.microsoft.com/office/drawing/2014/main" id="{9E327A4E-CC10-4AC9-97C4-50E2F18B8BA8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20EE165F-DB48-457B-90E5-98BD5E34C89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13" name="U01-CH014_base_1">
            <a:extLst>
              <a:ext uri="{FF2B5EF4-FFF2-40B4-BE49-F238E27FC236}">
                <a16:creationId xmlns:a16="http://schemas.microsoft.com/office/drawing/2014/main" id="{09BF3637-BD54-44A1-AFA9-06808F0C5538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140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14" name="U01-CH014_base_2">
            <a:extLst>
              <a:ext uri="{FF2B5EF4-FFF2-40B4-BE49-F238E27FC236}">
                <a16:creationId xmlns:a16="http://schemas.microsoft.com/office/drawing/2014/main" id="{0C0A3E3F-FCB9-464A-97D1-BDBDFD353343}"/>
              </a:ext>
            </a:extLst>
          </p:cNvPr>
          <p:cNvSpPr>
            <a:spLocks noGrp="1"/>
          </p:cNvSpPr>
          <p:nvPr/>
        </p:nvSpPr>
        <p:spPr>
          <a:xfrm>
            <a:off x="8153400" y="2047875"/>
            <a:ext cx="140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15" name="U01-CH014_base_3">
            <a:extLst>
              <a:ext uri="{FF2B5EF4-FFF2-40B4-BE49-F238E27FC236}">
                <a16:creationId xmlns:a16="http://schemas.microsoft.com/office/drawing/2014/main" id="{8FFF4C4E-E2AC-476F-893B-5858919A5BA8}"/>
              </a:ext>
            </a:extLst>
          </p:cNvPr>
          <p:cNvSpPr>
            <a:spLocks noGrp="1"/>
          </p:cNvSpPr>
          <p:nvPr/>
        </p:nvSpPr>
        <p:spPr>
          <a:xfrm>
            <a:off x="9734550" y="2047875"/>
            <a:ext cx="140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16" name="U01-CH014_derived_1">
            <a:extLst>
              <a:ext uri="{FF2B5EF4-FFF2-40B4-BE49-F238E27FC236}">
                <a16:creationId xmlns:a16="http://schemas.microsoft.com/office/drawing/2014/main" id="{ACCF0BF3-3919-4A1D-B73E-904A84B91A3B}"/>
              </a:ext>
            </a:extLst>
          </p:cNvPr>
          <p:cNvSpPr>
            <a:spLocks noGrp="1"/>
          </p:cNvSpPr>
          <p:nvPr/>
        </p:nvSpPr>
        <p:spPr>
          <a:xfrm>
            <a:off x="6572250" y="2924175"/>
            <a:ext cx="4572000" cy="501650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17" name="U01-CH014_derived_2">
            <a:extLst>
              <a:ext uri="{FF2B5EF4-FFF2-40B4-BE49-F238E27FC236}">
                <a16:creationId xmlns:a16="http://schemas.microsoft.com/office/drawing/2014/main" id="{EAE5392F-2F2D-4B17-8E79-C9555BF87C2C}"/>
              </a:ext>
            </a:extLst>
          </p:cNvPr>
          <p:cNvSpPr>
            <a:spLocks noGrp="1"/>
          </p:cNvSpPr>
          <p:nvPr/>
        </p:nvSpPr>
        <p:spPr>
          <a:xfrm>
            <a:off x="6572250" y="3521075"/>
            <a:ext cx="4572000" cy="501650"/>
          </a:xfrm>
          <a:prstGeom prst="roundRect">
            <a:avLst>
              <a:gd name="adj" fmla="val 15190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18" name="U01-CH014_derived_3">
            <a:extLst>
              <a:ext uri="{FF2B5EF4-FFF2-40B4-BE49-F238E27FC236}">
                <a16:creationId xmlns:a16="http://schemas.microsoft.com/office/drawing/2014/main" id="{F4F75208-746B-4DFE-9BDD-DAC97B6D9630}"/>
              </a:ext>
            </a:extLst>
          </p:cNvPr>
          <p:cNvSpPr>
            <a:spLocks noGrp="1"/>
          </p:cNvSpPr>
          <p:nvPr/>
        </p:nvSpPr>
        <p:spPr>
          <a:xfrm>
            <a:off x="6572250" y="4117975"/>
            <a:ext cx="4572000" cy="501650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se construye el pascal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conserva masa, longitud y tiempo.</a:t>
            </a:r>
          </a:p>
        </p:txBody>
      </p:sp>
      <p:sp>
        <p:nvSpPr>
          <p:cNvPr id="25" name="u01_asset_credit_42">
            <a:extLst>
              <a:ext uri="{FF2B5EF4-FFF2-40B4-BE49-F238E27FC236}">
                <a16:creationId xmlns:a16="http://schemas.microsoft.com/office/drawing/2014/main" id="{B49D6AF1-40A4-49A0-B5D7-5818FCBD1322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3BD7E1F4-58E3-4C15-BE4D-1C760A29DD3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28" name="U01-CH014_base_1">
            <a:extLst>
              <a:ext uri="{FF2B5EF4-FFF2-40B4-BE49-F238E27FC236}">
                <a16:creationId xmlns:a16="http://schemas.microsoft.com/office/drawing/2014/main" id="{F9F74520-304D-4F7F-A2FA-035AEDC76E50}"/>
              </a:ext>
            </a:extLst>
          </p:cNvPr>
          <p:cNvSpPr>
            <a:spLocks noGrp="1"/>
          </p:cNvSpPr>
          <p:nvPr/>
        </p:nvSpPr>
        <p:spPr>
          <a:xfrm>
            <a:off x="1905000" y="1381125"/>
            <a:ext cx="267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29" name="U01-CH014_base_2">
            <a:extLst>
              <a:ext uri="{FF2B5EF4-FFF2-40B4-BE49-F238E27FC236}">
                <a16:creationId xmlns:a16="http://schemas.microsoft.com/office/drawing/2014/main" id="{E8049413-F2F2-4201-A45F-C52958E9342D}"/>
              </a:ext>
            </a:extLst>
          </p:cNvPr>
          <p:cNvSpPr>
            <a:spLocks noGrp="1"/>
          </p:cNvSpPr>
          <p:nvPr/>
        </p:nvSpPr>
        <p:spPr>
          <a:xfrm>
            <a:off x="4756150" y="1381125"/>
            <a:ext cx="267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30" name="U01-CH014_base_3">
            <a:extLst>
              <a:ext uri="{FF2B5EF4-FFF2-40B4-BE49-F238E27FC236}">
                <a16:creationId xmlns:a16="http://schemas.microsoft.com/office/drawing/2014/main" id="{8A259BC0-DB4C-4808-A9F0-403265FEACC5}"/>
              </a:ext>
            </a:extLst>
          </p:cNvPr>
          <p:cNvSpPr>
            <a:spLocks noGrp="1"/>
          </p:cNvSpPr>
          <p:nvPr/>
        </p:nvSpPr>
        <p:spPr>
          <a:xfrm>
            <a:off x="7607300" y="1381125"/>
            <a:ext cx="267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31" name="U01-CH014_derived_1">
            <a:extLst>
              <a:ext uri="{FF2B5EF4-FFF2-40B4-BE49-F238E27FC236}">
                <a16:creationId xmlns:a16="http://schemas.microsoft.com/office/drawing/2014/main" id="{AC53D2DB-F155-433C-8BB9-F507C3DECF19}"/>
              </a:ext>
            </a:extLst>
          </p:cNvPr>
          <p:cNvSpPr>
            <a:spLocks noGrp="1"/>
          </p:cNvSpPr>
          <p:nvPr/>
        </p:nvSpPr>
        <p:spPr>
          <a:xfrm>
            <a:off x="1905000" y="2257425"/>
            <a:ext cx="8382000" cy="9779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32" name="U01-CH014_derived_2">
            <a:extLst>
              <a:ext uri="{FF2B5EF4-FFF2-40B4-BE49-F238E27FC236}">
                <a16:creationId xmlns:a16="http://schemas.microsoft.com/office/drawing/2014/main" id="{A51EC7E8-BD44-45EA-A568-6DF43BE7D138}"/>
              </a:ext>
            </a:extLst>
          </p:cNvPr>
          <p:cNvSpPr>
            <a:spLocks noGrp="1"/>
          </p:cNvSpPr>
          <p:nvPr/>
        </p:nvSpPr>
        <p:spPr>
          <a:xfrm>
            <a:off x="1905000" y="3330575"/>
            <a:ext cx="8382000" cy="977900"/>
          </a:xfrm>
          <a:prstGeom prst="roundRect">
            <a:avLst>
              <a:gd name="adj" fmla="val 779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33" name="U01-CH014_derived_3">
            <a:extLst>
              <a:ext uri="{FF2B5EF4-FFF2-40B4-BE49-F238E27FC236}">
                <a16:creationId xmlns:a16="http://schemas.microsoft.com/office/drawing/2014/main" id="{DD0CD8EB-2188-4B80-ACE6-264307901695}"/>
              </a:ext>
            </a:extLst>
          </p:cNvPr>
          <p:cNvSpPr>
            <a:spLocks noGrp="1"/>
          </p:cNvSpPr>
          <p:nvPr/>
        </p:nvSpPr>
        <p:spPr>
          <a:xfrm>
            <a:off x="1905000" y="4403725"/>
            <a:ext cx="8382000" cy="9779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PREGUNTA/RECAP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¿Cuál expresión puede representar un tiempo?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PREGUNTA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9377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dimensionales: [d] = L; [c] = L·T⁻¹. Comparar d/c, dc y c/d.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[d/c] = T; [dc] = L²·T⁻¹; [c/d] = T⁻¹.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la expresión y descartar las otras dos con una razón.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Solo d/c tiene dimensión de tiempo.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u01_asset_credit_43">
            <a:extLst>
              <a:ext uri="{FF2B5EF4-FFF2-40B4-BE49-F238E27FC236}">
                <a16:creationId xmlns:a16="http://schemas.microsoft.com/office/drawing/2014/main" id="{CC285611-3FAF-4EF8-8256-62F19A672704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36BC8EF4-7DB2-455C-8E6C-3F2AA0E70E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14" name="U01-CH014_base_1">
            <a:extLst>
              <a:ext uri="{FF2B5EF4-FFF2-40B4-BE49-F238E27FC236}">
                <a16:creationId xmlns:a16="http://schemas.microsoft.com/office/drawing/2014/main" id="{FF4EA2A6-E8E3-4406-99B1-8C9274828211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4732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15" name="U01-CH014_base_2">
            <a:extLst>
              <a:ext uri="{FF2B5EF4-FFF2-40B4-BE49-F238E27FC236}">
                <a16:creationId xmlns:a16="http://schemas.microsoft.com/office/drawing/2014/main" id="{0CBCC0EA-DC1F-4B2F-9C3D-93A59EF671A5}"/>
              </a:ext>
            </a:extLst>
          </p:cNvPr>
          <p:cNvSpPr>
            <a:spLocks noGrp="1"/>
          </p:cNvSpPr>
          <p:nvPr/>
        </p:nvSpPr>
        <p:spPr>
          <a:xfrm>
            <a:off x="8121650" y="1952625"/>
            <a:ext cx="14732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16" name="U01-CH014_base_3">
            <a:extLst>
              <a:ext uri="{FF2B5EF4-FFF2-40B4-BE49-F238E27FC236}">
                <a16:creationId xmlns:a16="http://schemas.microsoft.com/office/drawing/2014/main" id="{91747C44-CF42-431A-B3BF-994394CE8ABC}"/>
              </a:ext>
            </a:extLst>
          </p:cNvPr>
          <p:cNvSpPr>
            <a:spLocks noGrp="1"/>
          </p:cNvSpPr>
          <p:nvPr/>
        </p:nvSpPr>
        <p:spPr>
          <a:xfrm>
            <a:off x="9766300" y="1952625"/>
            <a:ext cx="14732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17" name="U01-CH014_derived_1">
            <a:extLst>
              <a:ext uri="{FF2B5EF4-FFF2-40B4-BE49-F238E27FC236}">
                <a16:creationId xmlns:a16="http://schemas.microsoft.com/office/drawing/2014/main" id="{DAA05A58-79D1-4462-8B84-198B0F55FC9A}"/>
              </a:ext>
            </a:extLst>
          </p:cNvPr>
          <p:cNvSpPr>
            <a:spLocks noGrp="1"/>
          </p:cNvSpPr>
          <p:nvPr/>
        </p:nvSpPr>
        <p:spPr>
          <a:xfrm>
            <a:off x="6477000" y="2828925"/>
            <a:ext cx="4762500" cy="53657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18" name="U01-CH014_derived_2">
            <a:extLst>
              <a:ext uri="{FF2B5EF4-FFF2-40B4-BE49-F238E27FC236}">
                <a16:creationId xmlns:a16="http://schemas.microsoft.com/office/drawing/2014/main" id="{EED49468-12B9-45C2-B6A5-3FDA2B545D19}"/>
              </a:ext>
            </a:extLst>
          </p:cNvPr>
          <p:cNvSpPr>
            <a:spLocks noGrp="1"/>
          </p:cNvSpPr>
          <p:nvPr/>
        </p:nvSpPr>
        <p:spPr>
          <a:xfrm>
            <a:off x="6477000" y="3460750"/>
            <a:ext cx="4762500" cy="536575"/>
          </a:xfrm>
          <a:prstGeom prst="roundRect">
            <a:avLst>
              <a:gd name="adj" fmla="val 1420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19" name="U01-CH014_derived_3">
            <a:extLst>
              <a:ext uri="{FF2B5EF4-FFF2-40B4-BE49-F238E27FC236}">
                <a16:creationId xmlns:a16="http://schemas.microsoft.com/office/drawing/2014/main" id="{7099C648-80AC-493E-AD50-86BEFB6FAFA1}"/>
              </a:ext>
            </a:extLst>
          </p:cNvPr>
          <p:cNvSpPr>
            <a:spLocks noGrp="1"/>
          </p:cNvSpPr>
          <p:nvPr/>
        </p:nvSpPr>
        <p:spPr>
          <a:xfrm>
            <a:off x="6477000" y="4092575"/>
            <a:ext cx="4762500" cy="53657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B05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funciones expresan dependencias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una entrada y una salida?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B05</a:t>
            </a:r>
          </a:p>
        </p:txBody>
      </p:sp>
      <p:sp>
        <p:nvSpPr>
          <p:cNvPr id="7" name="u01_asset_credit_44">
            <a:extLst>
              <a:ext uri="{FF2B5EF4-FFF2-40B4-BE49-F238E27FC236}">
                <a16:creationId xmlns:a16="http://schemas.microsoft.com/office/drawing/2014/main" id="{F85F2BE5-693D-4600-AB17-C57F572161C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F8C34CB0-ACEF-42F9-A518-08DDC97B5A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10" name="U01-CH016_mini_node_1">
            <a:extLst>
              <a:ext uri="{FF2B5EF4-FFF2-40B4-BE49-F238E27FC236}">
                <a16:creationId xmlns:a16="http://schemas.microsoft.com/office/drawing/2014/main" id="{6FE8555D-15D3-4ABF-B909-5C1C01681CE1}"/>
              </a:ext>
            </a:extLst>
          </p:cNvPr>
          <p:cNvSpPr>
            <a:spLocks noGrp="1"/>
          </p:cNvSpPr>
          <p:nvPr/>
        </p:nvSpPr>
        <p:spPr>
          <a:xfrm>
            <a:off x="8136255" y="2731770"/>
            <a:ext cx="422910" cy="42291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16_mini_node_2">
            <a:extLst>
              <a:ext uri="{FF2B5EF4-FFF2-40B4-BE49-F238E27FC236}">
                <a16:creationId xmlns:a16="http://schemas.microsoft.com/office/drawing/2014/main" id="{B7819BB1-8B2F-42AA-B83F-7B076234A499}"/>
              </a:ext>
            </a:extLst>
          </p:cNvPr>
          <p:cNvSpPr>
            <a:spLocks noGrp="1"/>
          </p:cNvSpPr>
          <p:nvPr/>
        </p:nvSpPr>
        <p:spPr>
          <a:xfrm>
            <a:off x="9123045" y="2731770"/>
            <a:ext cx="422910" cy="422910"/>
          </a:xfrm>
          <a:prstGeom prst="roundRect">
            <a:avLst>
              <a:gd name="adj" fmla="val 18018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U01-CH016_mini_node_3">
            <a:extLst>
              <a:ext uri="{FF2B5EF4-FFF2-40B4-BE49-F238E27FC236}">
                <a16:creationId xmlns:a16="http://schemas.microsoft.com/office/drawing/2014/main" id="{BCE4BE22-F434-43C4-849C-8AB453760064}"/>
              </a:ext>
            </a:extLst>
          </p:cNvPr>
          <p:cNvSpPr>
            <a:spLocks noGrp="1"/>
          </p:cNvSpPr>
          <p:nvPr/>
        </p:nvSpPr>
        <p:spPr>
          <a:xfrm>
            <a:off x="10109835" y="2731770"/>
            <a:ext cx="422910" cy="42291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cxnSp>
        <p:nvCxnSpPr>
          <p:cNvPr id="24" name="U01-CH016_mini_link_1"/>
          <p:cNvCxnSpPr>
            <a:stCxn id="10" idx="6"/>
            <a:endCxn id="11" idx="1"/>
          </p:cNvCxnSpPr>
          <p:nvPr/>
        </p:nvCxnSpPr>
        <p:spPr>
          <a:xfrm>
            <a:off x="8559165" y="2943225"/>
            <a:ext cx="56388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25" name="U01-CH016_mini_link_2"/>
          <p:cNvCxnSpPr>
            <a:stCxn id="11" idx="3"/>
            <a:endCxn id="12" idx="2"/>
          </p:cNvCxnSpPr>
          <p:nvPr/>
        </p:nvCxnSpPr>
        <p:spPr>
          <a:xfrm>
            <a:off x="9545955" y="2943225"/>
            <a:ext cx="56388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una variable a una función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función asigna a cada entrada permitida una única salida. Variable independiente: entrada. Variable dependiente: salida. Dominio: conjunto de entradas admitidas por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f(x).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f(x)=2x, la entrada 3 produce la salida 6.</a:t>
            </a:r>
          </a:p>
        </p:txBody>
      </p:sp>
      <p:sp>
        <p:nvSpPr>
          <p:cNvPr id="10" name="u01_asset_credit_45">
            <a:extLst>
              <a:ext uri="{FF2B5EF4-FFF2-40B4-BE49-F238E27FC236}">
                <a16:creationId xmlns:a16="http://schemas.microsoft.com/office/drawing/2014/main" id="{E00A3D27-91F6-497E-80EE-5132512568E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AEEC7CD-3E42-42A3-BE65-A48574C84AC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  <p:sp>
        <p:nvSpPr>
          <p:cNvPr id="13" name="U01-CH016_node_1">
            <a:extLst>
              <a:ext uri="{FF2B5EF4-FFF2-40B4-BE49-F238E27FC236}">
                <a16:creationId xmlns:a16="http://schemas.microsoft.com/office/drawing/2014/main" id="{A2574AFA-8C02-4A0F-9067-6C809F00E31D}"/>
              </a:ext>
            </a:extLst>
          </p:cNvPr>
          <p:cNvSpPr>
            <a:spLocks noGrp="1"/>
          </p:cNvSpPr>
          <p:nvPr/>
        </p:nvSpPr>
        <p:spPr>
          <a:xfrm>
            <a:off x="6572250" y="2510790"/>
            <a:ext cx="1384300" cy="977265"/>
          </a:xfrm>
          <a:prstGeom prst="roundRect">
            <a:avLst>
              <a:gd name="adj" fmla="val 779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14" name="U01-CH016_node_2">
            <a:extLst>
              <a:ext uri="{FF2B5EF4-FFF2-40B4-BE49-F238E27FC236}">
                <a16:creationId xmlns:a16="http://schemas.microsoft.com/office/drawing/2014/main" id="{500DE6E8-A786-4314-AF0C-3B89780EDEE7}"/>
              </a:ext>
            </a:extLst>
          </p:cNvPr>
          <p:cNvSpPr>
            <a:spLocks noGrp="1"/>
          </p:cNvSpPr>
          <p:nvPr/>
        </p:nvSpPr>
        <p:spPr>
          <a:xfrm>
            <a:off x="8166100" y="2510790"/>
            <a:ext cx="1384300" cy="977265"/>
          </a:xfrm>
          <a:prstGeom prst="roundRect">
            <a:avLst>
              <a:gd name="adj" fmla="val 7797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15" name="U01-CH016_node_3">
            <a:extLst>
              <a:ext uri="{FF2B5EF4-FFF2-40B4-BE49-F238E27FC236}">
                <a16:creationId xmlns:a16="http://schemas.microsoft.com/office/drawing/2014/main" id="{2D080688-F433-42A5-9BE0-0D87209F8D2C}"/>
              </a:ext>
            </a:extLst>
          </p:cNvPr>
          <p:cNvSpPr>
            <a:spLocks noGrp="1"/>
          </p:cNvSpPr>
          <p:nvPr/>
        </p:nvSpPr>
        <p:spPr>
          <a:xfrm>
            <a:off x="9759950" y="2510790"/>
            <a:ext cx="1384300" cy="977265"/>
          </a:xfrm>
          <a:prstGeom prst="roundRect">
            <a:avLst>
              <a:gd name="adj" fmla="val 779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33" name="U01-CH016_forward_1"/>
          <p:cNvCxnSpPr>
            <a:stCxn id="13" idx="3"/>
            <a:endCxn id="14" idx="1"/>
          </p:cNvCxnSpPr>
          <p:nvPr/>
        </p:nvCxnSpPr>
        <p:spPr>
          <a:xfrm>
            <a:off x="7956550" y="2999423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34" name="U01-CH016_forward_2"/>
          <p:cNvCxnSpPr>
            <a:stCxn id="14" idx="3"/>
            <a:endCxn id="15" idx="1"/>
          </p:cNvCxnSpPr>
          <p:nvPr/>
        </p:nvCxnSpPr>
        <p:spPr>
          <a:xfrm>
            <a:off x="9550400" y="2999423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18" name="U01-CH016_inverse_label">
            <a:extLst>
              <a:ext uri="{FF2B5EF4-FFF2-40B4-BE49-F238E27FC236}">
                <a16:creationId xmlns:a16="http://schemas.microsoft.com/office/drawing/2014/main" id="{B5BD2183-9BFE-40EE-B4AC-E643E6C75355}"/>
              </a:ext>
            </a:extLst>
          </p:cNvPr>
          <p:cNvSpPr>
            <a:spLocks noGrp="1"/>
          </p:cNvSpPr>
          <p:nvPr/>
        </p:nvSpPr>
        <p:spPr>
          <a:xfrm>
            <a:off x="7486650" y="3735705"/>
            <a:ext cx="2743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19" name="U01-CH016_inverse_arrow">
            <a:extLst>
              <a:ext uri="{FF2B5EF4-FFF2-40B4-BE49-F238E27FC236}">
                <a16:creationId xmlns:a16="http://schemas.microsoft.com/office/drawing/2014/main" id="{6ED746D1-C765-4242-9B53-BBCC74CDA081}"/>
              </a:ext>
            </a:extLst>
          </p:cNvPr>
          <p:cNvSpPr>
            <a:spLocks noGrp="1"/>
          </p:cNvSpPr>
          <p:nvPr/>
        </p:nvSpPr>
        <p:spPr>
          <a:xfrm flipH="1">
            <a:off x="7578090" y="3621405"/>
            <a:ext cx="256032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U01-CH016_inverse_arrowhead">
            <a:extLst>
              <a:ext uri="{FF2B5EF4-FFF2-40B4-BE49-F238E27FC236}">
                <a16:creationId xmlns:a16="http://schemas.microsoft.com/office/drawing/2014/main" id="{B7DA6E36-3E92-4F4E-AFFE-771A89F53CD2}"/>
              </a:ext>
            </a:extLst>
          </p:cNvPr>
          <p:cNvSpPr>
            <a:spLocks noGrp="1"/>
          </p:cNvSpPr>
          <p:nvPr/>
        </p:nvSpPr>
        <p:spPr>
          <a:xfrm>
            <a:off x="7435215" y="350710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Tabla, ecuación y gráfico cuentan la misma relación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de representación no cambia la relación.</a:t>
            </a:r>
          </a:p>
        </p:txBody>
      </p:sp>
      <p:pic>
        <p:nvPicPr>
          <p:cNvPr id="33" name="Imagen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46">
            <a:extLst>
              <a:ext uri="{FF2B5EF4-FFF2-40B4-BE49-F238E27FC236}">
                <a16:creationId xmlns:a16="http://schemas.microsoft.com/office/drawing/2014/main" id="{6D364C40-8737-4618-8D20-BC393C59865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2A37EBB-27C9-4A35-8582-D53B3C54F56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GRÁFICO/ECUACIÓN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como función del tiempo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c es constante, incrementos iguales de tiempo producen incrementos iguales de distancia. El modelo físico usa t ≥ 0.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d(t) = ct; d: distancia (m); t: tiempo (s); c: rapidez constante (m/s).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pendiente representa “metros por segundo”.</a:t>
            </a:r>
          </a:p>
        </p:txBody>
      </p:sp>
      <p:pic>
        <p:nvPicPr>
          <p:cNvPr id="30" name="Imagen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47">
            <a:extLst>
              <a:ext uri="{FF2B5EF4-FFF2-40B4-BE49-F238E27FC236}">
                <a16:creationId xmlns:a16="http://schemas.microsoft.com/office/drawing/2014/main" id="{568D3372-0F83-4577-ADAE-323908D9B883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C6A5D02-F60F-49C5-9752-896A8F2E2F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999AE7C-031A-40CC-8D38-DFB395945F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PROFUNDIZACIÓN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DF9D910-5745-4BFD-93FA-42C98CB8C841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Dominio e invertibilidad dependen del 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6E4ADF-EFBD-403B-B883-4063F106FDDC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2826"/>
          </a:bodyPr>
          <a:lstStyle/>
          <a:p>
            <a:pPr algn="l">
              <a:buNone/>
              <a:defRPr sz="1575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Restringir el dominio puede representar mejor la situación física.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98AC48-FA46-4ECA-9AE0-4DA44677F01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4572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inversa solo existe si cada salida corresponde a una única entrada dentro del dominio elegido.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2068B2-BB81-496C-8367-0A047CAC6565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32A284-7A35-4662-B32C-05F9BE4EAE27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572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lumns_divider">
            <a:extLst>
              <a:ext uri="{FF2B5EF4-FFF2-40B4-BE49-F238E27FC236}">
                <a16:creationId xmlns:a16="http://schemas.microsoft.com/office/drawing/2014/main" id="{EF0A9EF8-2501-4578-BF94-30BBFFF3B31D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19050" cy="3048000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olumns_recap_box">
            <a:extLst>
              <a:ext uri="{FF2B5EF4-FFF2-40B4-BE49-F238E27FC236}">
                <a16:creationId xmlns:a16="http://schemas.microsoft.com/office/drawing/2014/main" id="{F03D0601-51A2-4588-A7B1-7B8F613D1B8B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7429500" cy="990600"/>
          </a:xfrm>
          <a:prstGeom prst="roundRect">
            <a:avLst>
              <a:gd name="adj" fmla="val 7692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lumns_recap_accent">
            <a:extLst>
              <a:ext uri="{FF2B5EF4-FFF2-40B4-BE49-F238E27FC236}">
                <a16:creationId xmlns:a16="http://schemas.microsoft.com/office/drawing/2014/main" id="{AEF74E48-EE35-459D-B0CA-155AEB5A4448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66675" cy="9906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lumns_recap_label">
            <a:extLst>
              <a:ext uri="{FF2B5EF4-FFF2-40B4-BE49-F238E27FC236}">
                <a16:creationId xmlns:a16="http://schemas.microsoft.com/office/drawing/2014/main" id="{07201F7A-8C59-4F48-A489-9C2180365238}"/>
              </a:ext>
            </a:extLst>
          </p:cNvPr>
          <p:cNvSpPr>
            <a:spLocks noGrp="1"/>
          </p:cNvSpPr>
          <p:nvPr/>
        </p:nvSpPr>
        <p:spPr>
          <a:xfrm>
            <a:off x="2590800" y="4648200"/>
            <a:ext cx="7029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CRITERIO</a:t>
            </a:r>
          </a:p>
        </p:txBody>
      </p:sp>
      <p:sp>
        <p:nvSpPr>
          <p:cNvPr id="12" name="columns_recap_text">
            <a:extLst>
              <a:ext uri="{FF2B5EF4-FFF2-40B4-BE49-F238E27FC236}">
                <a16:creationId xmlns:a16="http://schemas.microsoft.com/office/drawing/2014/main" id="{84EEEAB0-2542-4BB1-87D6-1B13121CC2E1}"/>
              </a:ext>
            </a:extLst>
          </p:cNvPr>
          <p:cNvSpPr>
            <a:spLocks noGrp="1"/>
          </p:cNvSpPr>
          <p:nvPr/>
        </p:nvSpPr>
        <p:spPr>
          <a:xfrm>
            <a:off x="2590800" y="4886325"/>
            <a:ext cx="702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Slide complementaria sobre dominio e invertibilidad.</a:t>
            </a:r>
          </a:p>
        </p:txBody>
      </p:sp>
      <p:sp>
        <p:nvSpPr>
          <p:cNvPr id="14" name="u01_asset_credit_48">
            <a:extLst>
              <a:ext uri="{FF2B5EF4-FFF2-40B4-BE49-F238E27FC236}">
                <a16:creationId xmlns:a16="http://schemas.microsoft.com/office/drawing/2014/main" id="{E9BB1CA8-8A12-4C6F-B0F9-D96BC6780392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67E4951F-75A2-4521-8C91-01422F6197D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  <p:sp>
        <p:nvSpPr>
          <p:cNvPr id="17" name="U01-CH016_node_1">
            <a:extLst>
              <a:ext uri="{FF2B5EF4-FFF2-40B4-BE49-F238E27FC236}">
                <a16:creationId xmlns:a16="http://schemas.microsoft.com/office/drawing/2014/main" id="{1D1C9886-6B95-4DAD-83BC-6D84BD86EBB2}"/>
              </a:ext>
            </a:extLst>
          </p:cNvPr>
          <p:cNvSpPr>
            <a:spLocks noGrp="1"/>
          </p:cNvSpPr>
          <p:nvPr/>
        </p:nvSpPr>
        <p:spPr>
          <a:xfrm>
            <a:off x="6762750" y="2386394"/>
            <a:ext cx="1289050" cy="915734"/>
          </a:xfrm>
          <a:prstGeom prst="roundRect">
            <a:avLst>
              <a:gd name="adj" fmla="val 83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18" name="U01-CH016_node_2">
            <a:extLst>
              <a:ext uri="{FF2B5EF4-FFF2-40B4-BE49-F238E27FC236}">
                <a16:creationId xmlns:a16="http://schemas.microsoft.com/office/drawing/2014/main" id="{92787220-3E02-4DE2-AB5A-E2FD2BCDAB80}"/>
              </a:ext>
            </a:extLst>
          </p:cNvPr>
          <p:cNvSpPr>
            <a:spLocks noGrp="1"/>
          </p:cNvSpPr>
          <p:nvPr/>
        </p:nvSpPr>
        <p:spPr>
          <a:xfrm>
            <a:off x="8261350" y="2386394"/>
            <a:ext cx="1289050" cy="915734"/>
          </a:xfrm>
          <a:prstGeom prst="roundRect">
            <a:avLst>
              <a:gd name="adj" fmla="val 832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19" name="U01-CH016_node_3">
            <a:extLst>
              <a:ext uri="{FF2B5EF4-FFF2-40B4-BE49-F238E27FC236}">
                <a16:creationId xmlns:a16="http://schemas.microsoft.com/office/drawing/2014/main" id="{894D9C9B-841C-4ED4-9899-ECC2F71BB268}"/>
              </a:ext>
            </a:extLst>
          </p:cNvPr>
          <p:cNvSpPr>
            <a:spLocks noGrp="1"/>
          </p:cNvSpPr>
          <p:nvPr/>
        </p:nvSpPr>
        <p:spPr>
          <a:xfrm>
            <a:off x="9759950" y="2386394"/>
            <a:ext cx="1289050" cy="915734"/>
          </a:xfrm>
          <a:prstGeom prst="roundRect">
            <a:avLst>
              <a:gd name="adj" fmla="val 83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41" name="U01-CH016_forward_1"/>
          <p:cNvCxnSpPr>
            <a:stCxn id="17" idx="3"/>
            <a:endCxn id="18" idx="1"/>
          </p:cNvCxnSpPr>
          <p:nvPr/>
        </p:nvCxnSpPr>
        <p:spPr>
          <a:xfrm>
            <a:off x="8051800" y="2844261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42" name="U01-CH016_forward_2"/>
          <p:cNvCxnSpPr>
            <a:stCxn id="18" idx="3"/>
            <a:endCxn id="19" idx="1"/>
          </p:cNvCxnSpPr>
          <p:nvPr/>
        </p:nvCxnSpPr>
        <p:spPr>
          <a:xfrm>
            <a:off x="9550400" y="2844261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2" name="U01-CH016_inverse_label">
            <a:extLst>
              <a:ext uri="{FF2B5EF4-FFF2-40B4-BE49-F238E27FC236}">
                <a16:creationId xmlns:a16="http://schemas.microsoft.com/office/drawing/2014/main" id="{666363BA-6CE8-4A6B-9D44-E41243E63393}"/>
              </a:ext>
            </a:extLst>
          </p:cNvPr>
          <p:cNvSpPr>
            <a:spLocks noGrp="1"/>
          </p:cNvSpPr>
          <p:nvPr/>
        </p:nvSpPr>
        <p:spPr>
          <a:xfrm>
            <a:off x="7620000" y="3549777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23" name="U01-CH016_inverse_arrow">
            <a:extLst>
              <a:ext uri="{FF2B5EF4-FFF2-40B4-BE49-F238E27FC236}">
                <a16:creationId xmlns:a16="http://schemas.microsoft.com/office/drawing/2014/main" id="{413C377A-909D-4B95-9C39-961FC098DBC1}"/>
              </a:ext>
            </a:extLst>
          </p:cNvPr>
          <p:cNvSpPr>
            <a:spLocks noGrp="1"/>
          </p:cNvSpPr>
          <p:nvPr/>
        </p:nvSpPr>
        <p:spPr>
          <a:xfrm flipH="1">
            <a:off x="7705725" y="3435477"/>
            <a:ext cx="240030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U01-CH016_inverse_arrowhead">
            <a:extLst>
              <a:ext uri="{FF2B5EF4-FFF2-40B4-BE49-F238E27FC236}">
                <a16:creationId xmlns:a16="http://schemas.microsoft.com/office/drawing/2014/main" id="{0CEB2D93-E242-4ECE-B1AD-5B0C80DE1BC1}"/>
              </a:ext>
            </a:extLst>
          </p:cNvPr>
          <p:cNvSpPr>
            <a:spLocks noGrp="1"/>
          </p:cNvSpPr>
          <p:nvPr/>
        </p:nvSpPr>
        <p:spPr>
          <a:xfrm>
            <a:off x="7562850" y="3321177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función inversa recupera la entrada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inversa responde qué entrada produjo una salida conocida.</a:t>
            </a:r>
          </a:p>
        </p:txBody>
      </p:sp>
      <p:sp>
        <p:nvSpPr>
          <p:cNvPr id="25" name="u01_asset_credit_49">
            <a:extLst>
              <a:ext uri="{FF2B5EF4-FFF2-40B4-BE49-F238E27FC236}">
                <a16:creationId xmlns:a16="http://schemas.microsoft.com/office/drawing/2014/main" id="{127A00E4-591D-4881-B9FD-8E56E638825E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C0D86703-73CC-495F-9F32-46E12A338BE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  <p:sp>
        <p:nvSpPr>
          <p:cNvPr id="28" name="U01-CH016_node_1">
            <a:extLst>
              <a:ext uri="{FF2B5EF4-FFF2-40B4-BE49-F238E27FC236}">
                <a16:creationId xmlns:a16="http://schemas.microsoft.com/office/drawing/2014/main" id="{5C66ADF8-350C-44C5-A3FE-855AA38141F5}"/>
              </a:ext>
            </a:extLst>
          </p:cNvPr>
          <p:cNvSpPr>
            <a:spLocks noGrp="1"/>
          </p:cNvSpPr>
          <p:nvPr/>
        </p:nvSpPr>
        <p:spPr>
          <a:xfrm>
            <a:off x="1905000" y="2101215"/>
            <a:ext cx="2654300" cy="1520190"/>
          </a:xfrm>
          <a:prstGeom prst="roundRect">
            <a:avLst>
              <a:gd name="adj" fmla="val 501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29" name="U01-CH016_node_2">
            <a:extLst>
              <a:ext uri="{FF2B5EF4-FFF2-40B4-BE49-F238E27FC236}">
                <a16:creationId xmlns:a16="http://schemas.microsoft.com/office/drawing/2014/main" id="{8681345A-7BC0-48A9-9A92-E05891982831}"/>
              </a:ext>
            </a:extLst>
          </p:cNvPr>
          <p:cNvSpPr>
            <a:spLocks noGrp="1"/>
          </p:cNvSpPr>
          <p:nvPr/>
        </p:nvSpPr>
        <p:spPr>
          <a:xfrm>
            <a:off x="4768850" y="2101215"/>
            <a:ext cx="2654300" cy="1520190"/>
          </a:xfrm>
          <a:prstGeom prst="roundRect">
            <a:avLst>
              <a:gd name="adj" fmla="val 5013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30" name="U01-CH016_node_3">
            <a:extLst>
              <a:ext uri="{FF2B5EF4-FFF2-40B4-BE49-F238E27FC236}">
                <a16:creationId xmlns:a16="http://schemas.microsoft.com/office/drawing/2014/main" id="{0DA56777-321B-4D3C-9947-1F7649C362A0}"/>
              </a:ext>
            </a:extLst>
          </p:cNvPr>
          <p:cNvSpPr>
            <a:spLocks noGrp="1"/>
          </p:cNvSpPr>
          <p:nvPr/>
        </p:nvSpPr>
        <p:spPr>
          <a:xfrm>
            <a:off x="7632700" y="2101215"/>
            <a:ext cx="2654300" cy="1520190"/>
          </a:xfrm>
          <a:prstGeom prst="roundRect">
            <a:avLst>
              <a:gd name="adj" fmla="val 501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63" name="U01-CH016_forward_1"/>
          <p:cNvCxnSpPr>
            <a:stCxn id="28" idx="3"/>
            <a:endCxn id="29" idx="1"/>
          </p:cNvCxnSpPr>
          <p:nvPr/>
        </p:nvCxnSpPr>
        <p:spPr>
          <a:xfrm>
            <a:off x="4559300" y="2861310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64" name="U01-CH016_forward_2"/>
          <p:cNvCxnSpPr>
            <a:stCxn id="29" idx="3"/>
            <a:endCxn id="30" idx="1"/>
          </p:cNvCxnSpPr>
          <p:nvPr/>
        </p:nvCxnSpPr>
        <p:spPr>
          <a:xfrm>
            <a:off x="7423150" y="2861310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3" name="U01-CH016_inverse_label">
            <a:extLst>
              <a:ext uri="{FF2B5EF4-FFF2-40B4-BE49-F238E27FC236}">
                <a16:creationId xmlns:a16="http://schemas.microsoft.com/office/drawing/2014/main" id="{FB97E27B-6A68-4FF6-9458-112204852D1A}"/>
              </a:ext>
            </a:extLst>
          </p:cNvPr>
          <p:cNvSpPr>
            <a:spLocks noGrp="1"/>
          </p:cNvSpPr>
          <p:nvPr/>
        </p:nvSpPr>
        <p:spPr>
          <a:xfrm>
            <a:off x="3581400" y="3869055"/>
            <a:ext cx="5029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34" name="U01-CH016_inverse_arrow">
            <a:extLst>
              <a:ext uri="{FF2B5EF4-FFF2-40B4-BE49-F238E27FC236}">
                <a16:creationId xmlns:a16="http://schemas.microsoft.com/office/drawing/2014/main" id="{A3AD81EA-B4F9-4376-A2B4-CD6ED51DC778}"/>
              </a:ext>
            </a:extLst>
          </p:cNvPr>
          <p:cNvSpPr>
            <a:spLocks noGrp="1"/>
          </p:cNvSpPr>
          <p:nvPr/>
        </p:nvSpPr>
        <p:spPr>
          <a:xfrm flipH="1">
            <a:off x="3749040" y="3754755"/>
            <a:ext cx="469392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U01-CH016_inverse_arrowhead">
            <a:extLst>
              <a:ext uri="{FF2B5EF4-FFF2-40B4-BE49-F238E27FC236}">
                <a16:creationId xmlns:a16="http://schemas.microsoft.com/office/drawing/2014/main" id="{2C4AC6F7-96B4-483C-84A6-9A41715A0DCE}"/>
              </a:ext>
            </a:extLst>
          </p:cNvPr>
          <p:cNvSpPr>
            <a:spLocks noGrp="1"/>
          </p:cNvSpPr>
          <p:nvPr/>
        </p:nvSpPr>
        <p:spPr>
          <a:xfrm>
            <a:off x="3606165" y="364045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d(t)=ct a t(d)=d/c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Directa: d(t)=ct.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Inversa: t(d)=d/c. Unidades: (m)/(m/s)=s.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50">
            <a:extLst>
              <a:ext uri="{FF2B5EF4-FFF2-40B4-BE49-F238E27FC236}">
                <a16:creationId xmlns:a16="http://schemas.microsoft.com/office/drawing/2014/main" id="{3152D73B-4C2D-43F5-93D4-377B697CA5DB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DDCCD633-E6B5-480C-9ED7-377E9DD99BB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18" name="U01-CH016_node_1">
            <a:extLst>
              <a:ext uri="{FF2B5EF4-FFF2-40B4-BE49-F238E27FC236}">
                <a16:creationId xmlns:a16="http://schemas.microsoft.com/office/drawing/2014/main" id="{462EF372-328D-4242-B653-C054661961B3}"/>
              </a:ext>
            </a:extLst>
          </p:cNvPr>
          <p:cNvSpPr>
            <a:spLocks noGrp="1"/>
          </p:cNvSpPr>
          <p:nvPr/>
        </p:nvSpPr>
        <p:spPr>
          <a:xfrm>
            <a:off x="5048250" y="3905250"/>
            <a:ext cx="1892300" cy="904875"/>
          </a:xfrm>
          <a:prstGeom prst="roundRect">
            <a:avLst>
              <a:gd name="adj" fmla="val 84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19" name="U01-CH016_node_2">
            <a:extLst>
              <a:ext uri="{FF2B5EF4-FFF2-40B4-BE49-F238E27FC236}">
                <a16:creationId xmlns:a16="http://schemas.microsoft.com/office/drawing/2014/main" id="{CBC7DACF-729A-46B6-BCBC-070AD2BC5714}"/>
              </a:ext>
            </a:extLst>
          </p:cNvPr>
          <p:cNvSpPr>
            <a:spLocks noGrp="1"/>
          </p:cNvSpPr>
          <p:nvPr/>
        </p:nvSpPr>
        <p:spPr>
          <a:xfrm>
            <a:off x="7150100" y="3905250"/>
            <a:ext cx="1892300" cy="904875"/>
          </a:xfrm>
          <a:prstGeom prst="roundRect">
            <a:avLst>
              <a:gd name="adj" fmla="val 842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20" name="U01-CH016_node_3">
            <a:extLst>
              <a:ext uri="{FF2B5EF4-FFF2-40B4-BE49-F238E27FC236}">
                <a16:creationId xmlns:a16="http://schemas.microsoft.com/office/drawing/2014/main" id="{3C662453-DF97-42E2-A1C8-4EF8B41D3CFE}"/>
              </a:ext>
            </a:extLst>
          </p:cNvPr>
          <p:cNvSpPr>
            <a:spLocks noGrp="1"/>
          </p:cNvSpPr>
          <p:nvPr/>
        </p:nvSpPr>
        <p:spPr>
          <a:xfrm>
            <a:off x="9251950" y="3905250"/>
            <a:ext cx="1892300" cy="904875"/>
          </a:xfrm>
          <a:prstGeom prst="roundRect">
            <a:avLst>
              <a:gd name="adj" fmla="val 84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43" name="U01-CH016_forward_1"/>
          <p:cNvCxnSpPr>
            <a:stCxn id="18" idx="3"/>
            <a:endCxn id="19" idx="1"/>
          </p:cNvCxnSpPr>
          <p:nvPr/>
        </p:nvCxnSpPr>
        <p:spPr>
          <a:xfrm>
            <a:off x="6940550" y="4357688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44" name="U01-CH016_forward_2"/>
          <p:cNvCxnSpPr>
            <a:stCxn id="19" idx="3"/>
            <a:endCxn id="20" idx="1"/>
          </p:cNvCxnSpPr>
          <p:nvPr/>
        </p:nvCxnSpPr>
        <p:spPr>
          <a:xfrm>
            <a:off x="9042400" y="4357688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3" name="U01-CH016_inverse_label">
            <a:extLst>
              <a:ext uri="{FF2B5EF4-FFF2-40B4-BE49-F238E27FC236}">
                <a16:creationId xmlns:a16="http://schemas.microsoft.com/office/drawing/2014/main" id="{1D6E68FE-2833-4D2B-AC40-ECF169B81D5C}"/>
              </a:ext>
            </a:extLst>
          </p:cNvPr>
          <p:cNvSpPr>
            <a:spLocks noGrp="1"/>
          </p:cNvSpPr>
          <p:nvPr/>
        </p:nvSpPr>
        <p:spPr>
          <a:xfrm>
            <a:off x="6267450" y="5057775"/>
            <a:ext cx="3657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24" name="U01-CH016_inverse_arrow">
            <a:extLst>
              <a:ext uri="{FF2B5EF4-FFF2-40B4-BE49-F238E27FC236}">
                <a16:creationId xmlns:a16="http://schemas.microsoft.com/office/drawing/2014/main" id="{A5A00C97-CB79-45F3-9BF0-7DD92913EF67}"/>
              </a:ext>
            </a:extLst>
          </p:cNvPr>
          <p:cNvSpPr>
            <a:spLocks noGrp="1"/>
          </p:cNvSpPr>
          <p:nvPr/>
        </p:nvSpPr>
        <p:spPr>
          <a:xfrm flipH="1">
            <a:off x="6389370" y="4943475"/>
            <a:ext cx="341376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U01-CH016_inverse_arrowhead">
            <a:extLst>
              <a:ext uri="{FF2B5EF4-FFF2-40B4-BE49-F238E27FC236}">
                <a16:creationId xmlns:a16="http://schemas.microsoft.com/office/drawing/2014/main" id="{64F94A56-350F-429D-8271-85616D398099}"/>
              </a:ext>
            </a:extLst>
          </p:cNvPr>
          <p:cNvSpPr>
            <a:spLocks noGrp="1"/>
          </p:cNvSpPr>
          <p:nvPr/>
        </p:nvSpPr>
        <p:spPr>
          <a:xfrm>
            <a:off x="6246495" y="48291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EJEMPLO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Ida y vuelta con d(t)=4,0t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d(3 s)=(4,0 m/s)(3 s)=12 m; t(20 m)=20 m/(4,0 m/s)=5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 cada resultado aplicando la operación inversa.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51">
            <a:extLst>
              <a:ext uri="{FF2B5EF4-FFF2-40B4-BE49-F238E27FC236}">
                <a16:creationId xmlns:a16="http://schemas.microsoft.com/office/drawing/2014/main" id="{08D012BE-AC7C-468D-B332-5FEDB65E175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4E833A1C-1AD8-4DA7-ADC2-D776F4565AC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  <p:sp>
        <p:nvSpPr>
          <p:cNvPr id="24" name="U01-CH016_node_1">
            <a:extLst>
              <a:ext uri="{FF2B5EF4-FFF2-40B4-BE49-F238E27FC236}">
                <a16:creationId xmlns:a16="http://schemas.microsoft.com/office/drawing/2014/main" id="{C712F53C-3C30-48C4-9039-C24B46457E15}"/>
              </a:ext>
            </a:extLst>
          </p:cNvPr>
          <p:cNvSpPr>
            <a:spLocks noGrp="1"/>
          </p:cNvSpPr>
          <p:nvPr/>
        </p:nvSpPr>
        <p:spPr>
          <a:xfrm>
            <a:off x="5429250" y="2408111"/>
            <a:ext cx="1828800" cy="1263206"/>
          </a:xfrm>
          <a:prstGeom prst="roundRect">
            <a:avLst>
              <a:gd name="adj" fmla="val 603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25" name="U01-CH016_node_2">
            <a:extLst>
              <a:ext uri="{FF2B5EF4-FFF2-40B4-BE49-F238E27FC236}">
                <a16:creationId xmlns:a16="http://schemas.microsoft.com/office/drawing/2014/main" id="{35144ABA-0477-4ACD-8F29-31CBDBA47C92}"/>
              </a:ext>
            </a:extLst>
          </p:cNvPr>
          <p:cNvSpPr>
            <a:spLocks noGrp="1"/>
          </p:cNvSpPr>
          <p:nvPr/>
        </p:nvSpPr>
        <p:spPr>
          <a:xfrm>
            <a:off x="7467600" y="2408111"/>
            <a:ext cx="1828800" cy="1263206"/>
          </a:xfrm>
          <a:prstGeom prst="roundRect">
            <a:avLst>
              <a:gd name="adj" fmla="val 603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26" name="U01-CH016_node_3">
            <a:extLst>
              <a:ext uri="{FF2B5EF4-FFF2-40B4-BE49-F238E27FC236}">
                <a16:creationId xmlns:a16="http://schemas.microsoft.com/office/drawing/2014/main" id="{F463AE38-4EC8-400A-95D3-6BA7A4978D37}"/>
              </a:ext>
            </a:extLst>
          </p:cNvPr>
          <p:cNvSpPr>
            <a:spLocks noGrp="1"/>
          </p:cNvSpPr>
          <p:nvPr/>
        </p:nvSpPr>
        <p:spPr>
          <a:xfrm>
            <a:off x="9505950" y="2408111"/>
            <a:ext cx="1828800" cy="1263206"/>
          </a:xfrm>
          <a:prstGeom prst="roundRect">
            <a:avLst>
              <a:gd name="adj" fmla="val 603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55" name="U01-CH016_forward_1"/>
          <p:cNvCxnSpPr>
            <a:stCxn id="24" idx="3"/>
            <a:endCxn id="25" idx="1"/>
          </p:cNvCxnSpPr>
          <p:nvPr/>
        </p:nvCxnSpPr>
        <p:spPr>
          <a:xfrm>
            <a:off x="7258050" y="3039714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56" name="U01-CH016_forward_2"/>
          <p:cNvCxnSpPr>
            <a:stCxn id="25" idx="3"/>
            <a:endCxn id="26" idx="1"/>
          </p:cNvCxnSpPr>
          <p:nvPr/>
        </p:nvCxnSpPr>
        <p:spPr>
          <a:xfrm>
            <a:off x="9296400" y="3039714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9" name="U01-CH016_inverse_label">
            <a:extLst>
              <a:ext uri="{FF2B5EF4-FFF2-40B4-BE49-F238E27FC236}">
                <a16:creationId xmlns:a16="http://schemas.microsoft.com/office/drawing/2014/main" id="{A667BF00-BAC5-476A-A79B-EAB2A149774D}"/>
              </a:ext>
            </a:extLst>
          </p:cNvPr>
          <p:cNvSpPr>
            <a:spLocks noGrp="1"/>
          </p:cNvSpPr>
          <p:nvPr/>
        </p:nvSpPr>
        <p:spPr>
          <a:xfrm>
            <a:off x="6610350" y="3918966"/>
            <a:ext cx="3543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30" name="U01-CH016_inverse_arrow">
            <a:extLst>
              <a:ext uri="{FF2B5EF4-FFF2-40B4-BE49-F238E27FC236}">
                <a16:creationId xmlns:a16="http://schemas.microsoft.com/office/drawing/2014/main" id="{36FC6B27-E9EF-4197-B747-09AF50E17F2C}"/>
              </a:ext>
            </a:extLst>
          </p:cNvPr>
          <p:cNvSpPr>
            <a:spLocks noGrp="1"/>
          </p:cNvSpPr>
          <p:nvPr/>
        </p:nvSpPr>
        <p:spPr>
          <a:xfrm flipH="1">
            <a:off x="6728460" y="3804666"/>
            <a:ext cx="330708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U01-CH016_inverse_arrowhead">
            <a:extLst>
              <a:ext uri="{FF2B5EF4-FFF2-40B4-BE49-F238E27FC236}">
                <a16:creationId xmlns:a16="http://schemas.microsoft.com/office/drawing/2014/main" id="{48CE8C0B-01B3-4F2E-97DE-9B24A79A5245}"/>
              </a:ext>
            </a:extLst>
          </p:cNvPr>
          <p:cNvSpPr>
            <a:spLocks noGrp="1"/>
          </p:cNvSpPr>
          <p:nvPr/>
        </p:nvSpPr>
        <p:spPr>
          <a:xfrm>
            <a:off x="6585585" y="3690366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Inversa no significa recíproco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f(x)=2x: la inversa es f⁻¹(x)=x/2; el recíproco es 1/f(x)=1/(2x), con x ≠ 0.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Comprobación: f(f⁻¹(x)) = 2(x/2)=x.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la diferencia sin usar solo la forma de los símbolos.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7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u01_asset_credit_52">
            <a:extLst>
              <a:ext uri="{FF2B5EF4-FFF2-40B4-BE49-F238E27FC236}">
                <a16:creationId xmlns:a16="http://schemas.microsoft.com/office/drawing/2014/main" id="{E603A049-02D6-4F45-BC39-2AFA2C6E584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U01-CH017 · Elaboración propia.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DD5B2C80-EDD3-414D-9AFE-E3DF4325662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  <p:sp>
        <p:nvSpPr>
          <p:cNvPr id="16" name="U01-CH017_inverse">
            <a:extLst>
              <a:ext uri="{FF2B5EF4-FFF2-40B4-BE49-F238E27FC236}">
                <a16:creationId xmlns:a16="http://schemas.microsoft.com/office/drawing/2014/main" id="{B3FC9EB8-DE20-44FD-BDC2-9EA4AA51A5D3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2219325" cy="2628900"/>
          </a:xfrm>
          <a:prstGeom prst="roundRect">
            <a:avLst>
              <a:gd name="adj" fmla="val 343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FUNCIÓN INVERSA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f(x)=2x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f⁻¹(x)=x/2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f(f⁻¹(x))=x</a:t>
            </a:r>
          </a:p>
        </p:txBody>
      </p:sp>
      <p:sp>
        <p:nvSpPr>
          <p:cNvPr id="17" name="U01-CH017_reciprocal">
            <a:extLst>
              <a:ext uri="{FF2B5EF4-FFF2-40B4-BE49-F238E27FC236}">
                <a16:creationId xmlns:a16="http://schemas.microsoft.com/office/drawing/2014/main" id="{65D82FA6-F3DD-4E35-94F3-02C66D91AB9E}"/>
              </a:ext>
            </a:extLst>
          </p:cNvPr>
          <p:cNvSpPr>
            <a:spLocks noGrp="1"/>
          </p:cNvSpPr>
          <p:nvPr/>
        </p:nvSpPr>
        <p:spPr>
          <a:xfrm>
            <a:off x="9020175" y="2047875"/>
            <a:ext cx="2219325" cy="2628900"/>
          </a:xfrm>
          <a:prstGeom prst="roundRect">
            <a:avLst>
              <a:gd name="adj" fmla="val 343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RECÍPROCO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f(x)=2x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1/f(x)=1/(2x)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 ≠ 0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B06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Trigonometría: de triángulos a ciclos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conectamos lados, ángulos, proyecciones y vueltas?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B06</a:t>
            </a:r>
          </a:p>
        </p:txBody>
      </p:sp>
      <p:sp>
        <p:nvSpPr>
          <p:cNvPr id="7" name="u01_asset_credit_53">
            <a:extLst>
              <a:ext uri="{FF2B5EF4-FFF2-40B4-BE49-F238E27FC236}">
                <a16:creationId xmlns:a16="http://schemas.microsoft.com/office/drawing/2014/main" id="{3CD72FA0-9B71-47A2-8310-CC6AD4C5BB4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622BD605-AFE1-4576-9DBF-B7E9FF20F12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  <p:sp>
        <p:nvSpPr>
          <p:cNvPr id="10" name="U01-CH018_mini_vertical">
            <a:extLst>
              <a:ext uri="{FF2B5EF4-FFF2-40B4-BE49-F238E27FC236}">
                <a16:creationId xmlns:a16="http://schemas.microsoft.com/office/drawing/2014/main" id="{8A8412B3-CDF4-4EA7-ACBD-3C4F6DFD4906}"/>
              </a:ext>
            </a:extLst>
          </p:cNvPr>
          <p:cNvSpPr>
            <a:spLocks noGrp="1"/>
          </p:cNvSpPr>
          <p:nvPr/>
        </p:nvSpPr>
        <p:spPr>
          <a:xfrm flipV="1">
            <a:off x="8347710" y="2428113"/>
            <a:ext cx="953" cy="101041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18_mini_base">
            <a:extLst>
              <a:ext uri="{FF2B5EF4-FFF2-40B4-BE49-F238E27FC236}">
                <a16:creationId xmlns:a16="http://schemas.microsoft.com/office/drawing/2014/main" id="{9AD14789-3521-4CB1-924E-259185B692A0}"/>
              </a:ext>
            </a:extLst>
          </p:cNvPr>
          <p:cNvSpPr>
            <a:spLocks noGrp="1"/>
          </p:cNvSpPr>
          <p:nvPr/>
        </p:nvSpPr>
        <p:spPr>
          <a:xfrm>
            <a:off x="8347710" y="3438525"/>
            <a:ext cx="1903095" cy="953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U01-CH018_mini_hypotenuse">
            <a:extLst>
              <a:ext uri="{FF2B5EF4-FFF2-40B4-BE49-F238E27FC236}">
                <a16:creationId xmlns:a16="http://schemas.microsoft.com/office/drawing/2014/main" id="{FF378316-2A26-4B7E-A606-C3DD8E8C4F0B}"/>
              </a:ext>
            </a:extLst>
          </p:cNvPr>
          <p:cNvSpPr>
            <a:spLocks noGrp="1"/>
          </p:cNvSpPr>
          <p:nvPr/>
        </p:nvSpPr>
        <p:spPr>
          <a:xfrm>
            <a:off x="8347710" y="2428113"/>
            <a:ext cx="1903095" cy="1010412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Opuesto, adyacente e hipotenusa dependen de θ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27051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2862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etiquetas se definen respecto del ángulo elegido.</a:t>
            </a:r>
          </a:p>
        </p:txBody>
      </p:sp>
      <p:sp>
        <p:nvSpPr>
          <p:cNvPr id="24" name="u01_asset_credit_54">
            <a:extLst>
              <a:ext uri="{FF2B5EF4-FFF2-40B4-BE49-F238E27FC236}">
                <a16:creationId xmlns:a16="http://schemas.microsoft.com/office/drawing/2014/main" id="{8B7BF51D-C793-42F7-8B58-26CAA1DDC9F1}"/>
              </a:ext>
            </a:extLst>
          </p:cNvPr>
          <p:cNvSpPr>
            <a:spLocks noGrp="1"/>
          </p:cNvSpPr>
          <p:nvPr/>
        </p:nvSpPr>
        <p:spPr>
          <a:xfrm>
            <a:off x="1381125" y="5810250"/>
            <a:ext cx="9429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6" name="fa_slide_number_local">
            <a:extLst>
              <a:ext uri="{FF2B5EF4-FFF2-40B4-BE49-F238E27FC236}">
                <a16:creationId xmlns:a16="http://schemas.microsoft.com/office/drawing/2014/main" id="{2A6C8F87-10F2-4D49-9231-BA740A98420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7" name="U01-CH018_vertical">
            <a:extLst>
              <a:ext uri="{FF2B5EF4-FFF2-40B4-BE49-F238E27FC236}">
                <a16:creationId xmlns:a16="http://schemas.microsoft.com/office/drawing/2014/main" id="{69A08F19-0FD2-4EFC-AF7B-A34D395E1A18}"/>
              </a:ext>
            </a:extLst>
          </p:cNvPr>
          <p:cNvSpPr>
            <a:spLocks noGrp="1"/>
          </p:cNvSpPr>
          <p:nvPr/>
        </p:nvSpPr>
        <p:spPr>
          <a:xfrm flipV="1">
            <a:off x="2743200" y="2038350"/>
            <a:ext cx="953" cy="2670810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U01-CH018_base">
            <a:extLst>
              <a:ext uri="{FF2B5EF4-FFF2-40B4-BE49-F238E27FC236}">
                <a16:creationId xmlns:a16="http://schemas.microsoft.com/office/drawing/2014/main" id="{BB0FAC3B-25DA-4382-A93E-E5CACD1AB755}"/>
              </a:ext>
            </a:extLst>
          </p:cNvPr>
          <p:cNvSpPr>
            <a:spLocks noGrp="1"/>
          </p:cNvSpPr>
          <p:nvPr/>
        </p:nvSpPr>
        <p:spPr>
          <a:xfrm>
            <a:off x="2743200" y="4709160"/>
            <a:ext cx="396240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U01-CH018_hypotenuse">
            <a:extLst>
              <a:ext uri="{FF2B5EF4-FFF2-40B4-BE49-F238E27FC236}">
                <a16:creationId xmlns:a16="http://schemas.microsoft.com/office/drawing/2014/main" id="{E91CCC07-D5BB-4CC8-808F-EA0869E2438F}"/>
              </a:ext>
            </a:extLst>
          </p:cNvPr>
          <p:cNvSpPr>
            <a:spLocks noGrp="1"/>
          </p:cNvSpPr>
          <p:nvPr/>
        </p:nvSpPr>
        <p:spPr>
          <a:xfrm>
            <a:off x="2743200" y="2038350"/>
            <a:ext cx="3962400" cy="2670810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U01-CH018_opposite">
            <a:extLst>
              <a:ext uri="{FF2B5EF4-FFF2-40B4-BE49-F238E27FC236}">
                <a16:creationId xmlns:a16="http://schemas.microsoft.com/office/drawing/2014/main" id="{799BBC99-BEB0-4136-90A2-39F0F769B538}"/>
              </a:ext>
            </a:extLst>
          </p:cNvPr>
          <p:cNvSpPr>
            <a:spLocks noGrp="1"/>
          </p:cNvSpPr>
          <p:nvPr/>
        </p:nvSpPr>
        <p:spPr>
          <a:xfrm>
            <a:off x="2895600" y="3067050"/>
            <a:ext cx="182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31" name="U01-CH018_adjacent">
            <a:extLst>
              <a:ext uri="{FF2B5EF4-FFF2-40B4-BE49-F238E27FC236}">
                <a16:creationId xmlns:a16="http://schemas.microsoft.com/office/drawing/2014/main" id="{3B6179AF-6A07-4FA0-AE92-9E62A0214F71}"/>
              </a:ext>
            </a:extLst>
          </p:cNvPr>
          <p:cNvSpPr>
            <a:spLocks noGrp="1"/>
          </p:cNvSpPr>
          <p:nvPr/>
        </p:nvSpPr>
        <p:spPr>
          <a:xfrm>
            <a:off x="3657600" y="4251960"/>
            <a:ext cx="2133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32" name="U01-CH018_ratio_1">
            <a:extLst>
              <a:ext uri="{FF2B5EF4-FFF2-40B4-BE49-F238E27FC236}">
                <a16:creationId xmlns:a16="http://schemas.microsoft.com/office/drawing/2014/main" id="{0D6096DF-350F-4627-BCFD-96AA57E10012}"/>
              </a:ext>
            </a:extLst>
          </p:cNvPr>
          <p:cNvSpPr>
            <a:spLocks noGrp="1"/>
          </p:cNvSpPr>
          <p:nvPr/>
        </p:nvSpPr>
        <p:spPr>
          <a:xfrm>
            <a:off x="7162800" y="1600200"/>
            <a:ext cx="2590800" cy="1092200"/>
          </a:xfrm>
          <a:prstGeom prst="roundRect">
            <a:avLst>
              <a:gd name="adj" fmla="val 69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33" name="U01-CH018_ratio_2">
            <a:extLst>
              <a:ext uri="{FF2B5EF4-FFF2-40B4-BE49-F238E27FC236}">
                <a16:creationId xmlns:a16="http://schemas.microsoft.com/office/drawing/2014/main" id="{EC3A6043-4E9B-4AE6-B061-DF12F02ECEA4}"/>
              </a:ext>
            </a:extLst>
          </p:cNvPr>
          <p:cNvSpPr>
            <a:spLocks noGrp="1"/>
          </p:cNvSpPr>
          <p:nvPr/>
        </p:nvSpPr>
        <p:spPr>
          <a:xfrm>
            <a:off x="7162800" y="2768600"/>
            <a:ext cx="2590800" cy="1092200"/>
          </a:xfrm>
          <a:prstGeom prst="roundRect">
            <a:avLst>
              <a:gd name="adj" fmla="val 69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34" name="U01-CH018_ratio_3">
            <a:extLst>
              <a:ext uri="{FF2B5EF4-FFF2-40B4-BE49-F238E27FC236}">
                <a16:creationId xmlns:a16="http://schemas.microsoft.com/office/drawing/2014/main" id="{115FDFDA-EBB3-41FF-AA92-FC7DAD2D1698}"/>
              </a:ext>
            </a:extLst>
          </p:cNvPr>
          <p:cNvSpPr>
            <a:spLocks noGrp="1"/>
          </p:cNvSpPr>
          <p:nvPr/>
        </p:nvSpPr>
        <p:spPr>
          <a:xfrm>
            <a:off x="7162800" y="3937000"/>
            <a:ext cx="2590800" cy="1092200"/>
          </a:xfrm>
          <a:prstGeom prst="roundRect">
            <a:avLst>
              <a:gd name="adj" fmla="val 69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ECUACIÓN/EXPLICACIÓN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Seno, coseno y tangente son razones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825"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opuesto/hipotenusa; cos θ = adyacente/hipotenusa; tan θ = opuesto/adyacente.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longitudes deben expresarse en unidades compatibles. Al dividirlas, las unidades se cancelan: las razones trigonométricas son adimensionales.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55">
            <a:extLst>
              <a:ext uri="{FF2B5EF4-FFF2-40B4-BE49-F238E27FC236}">
                <a16:creationId xmlns:a16="http://schemas.microsoft.com/office/drawing/2014/main" id="{A0032D81-7FF3-409F-B6F6-0AD35339F1C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95A6999-62B4-4D61-9B7B-440433BF681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18" name="U01-CH018_vertical">
            <a:extLst>
              <a:ext uri="{FF2B5EF4-FFF2-40B4-BE49-F238E27FC236}">
                <a16:creationId xmlns:a16="http://schemas.microsoft.com/office/drawing/2014/main" id="{D418D715-1123-4995-A558-53C034B9321B}"/>
              </a:ext>
            </a:extLst>
          </p:cNvPr>
          <p:cNvSpPr>
            <a:spLocks noGrp="1"/>
          </p:cNvSpPr>
          <p:nvPr/>
        </p:nvSpPr>
        <p:spPr>
          <a:xfrm flipV="1">
            <a:off x="5414010" y="3762375"/>
            <a:ext cx="953" cy="1223010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U01-CH018_base">
            <a:extLst>
              <a:ext uri="{FF2B5EF4-FFF2-40B4-BE49-F238E27FC236}">
                <a16:creationId xmlns:a16="http://schemas.microsoft.com/office/drawing/2014/main" id="{D7E6BF6B-1D3C-4B44-80D8-A0E3F609D807}"/>
              </a:ext>
            </a:extLst>
          </p:cNvPr>
          <p:cNvSpPr>
            <a:spLocks noGrp="1"/>
          </p:cNvSpPr>
          <p:nvPr/>
        </p:nvSpPr>
        <p:spPr>
          <a:xfrm>
            <a:off x="5414010" y="4985385"/>
            <a:ext cx="316992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U01-CH018_hypotenuse">
            <a:extLst>
              <a:ext uri="{FF2B5EF4-FFF2-40B4-BE49-F238E27FC236}">
                <a16:creationId xmlns:a16="http://schemas.microsoft.com/office/drawing/2014/main" id="{DBC7862A-38D4-43C9-AFA2-9F5419E86468}"/>
              </a:ext>
            </a:extLst>
          </p:cNvPr>
          <p:cNvSpPr>
            <a:spLocks noGrp="1"/>
          </p:cNvSpPr>
          <p:nvPr/>
        </p:nvSpPr>
        <p:spPr>
          <a:xfrm>
            <a:off x="5414010" y="3762375"/>
            <a:ext cx="3169920" cy="1223010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U01-CH018_opposite">
            <a:extLst>
              <a:ext uri="{FF2B5EF4-FFF2-40B4-BE49-F238E27FC236}">
                <a16:creationId xmlns:a16="http://schemas.microsoft.com/office/drawing/2014/main" id="{F04F170F-1038-48AB-A1F1-AF6F6C533DB1}"/>
              </a:ext>
            </a:extLst>
          </p:cNvPr>
          <p:cNvSpPr>
            <a:spLocks noGrp="1"/>
          </p:cNvSpPr>
          <p:nvPr/>
        </p:nvSpPr>
        <p:spPr>
          <a:xfrm>
            <a:off x="5566410" y="4333875"/>
            <a:ext cx="14630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2" name="U01-CH018_adjacent">
            <a:extLst>
              <a:ext uri="{FF2B5EF4-FFF2-40B4-BE49-F238E27FC236}">
                <a16:creationId xmlns:a16="http://schemas.microsoft.com/office/drawing/2014/main" id="{1EB16E1E-295D-4BB9-8B21-9E6C480A5EA4}"/>
              </a:ext>
            </a:extLst>
          </p:cNvPr>
          <p:cNvSpPr>
            <a:spLocks noGrp="1"/>
          </p:cNvSpPr>
          <p:nvPr/>
        </p:nvSpPr>
        <p:spPr>
          <a:xfrm>
            <a:off x="6145530" y="4528185"/>
            <a:ext cx="170688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3" name="U01-CH018_ratio_1">
            <a:extLst>
              <a:ext uri="{FF2B5EF4-FFF2-40B4-BE49-F238E27FC236}">
                <a16:creationId xmlns:a16="http://schemas.microsoft.com/office/drawing/2014/main" id="{1E6ECC67-C847-40F4-B331-1F4C329DB1E5}"/>
              </a:ext>
            </a:extLst>
          </p:cNvPr>
          <p:cNvSpPr>
            <a:spLocks noGrp="1"/>
          </p:cNvSpPr>
          <p:nvPr/>
        </p:nvSpPr>
        <p:spPr>
          <a:xfrm>
            <a:off x="8949690" y="3552825"/>
            <a:ext cx="2072640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24" name="U01-CH018_ratio_2">
            <a:extLst>
              <a:ext uri="{FF2B5EF4-FFF2-40B4-BE49-F238E27FC236}">
                <a16:creationId xmlns:a16="http://schemas.microsoft.com/office/drawing/2014/main" id="{CAE479F3-027F-40F4-B72C-23D8C45953E0}"/>
              </a:ext>
            </a:extLst>
          </p:cNvPr>
          <p:cNvSpPr>
            <a:spLocks noGrp="1"/>
          </p:cNvSpPr>
          <p:nvPr/>
        </p:nvSpPr>
        <p:spPr>
          <a:xfrm>
            <a:off x="8949690" y="4086225"/>
            <a:ext cx="2072640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25" name="U01-CH018_ratio_3">
            <a:extLst>
              <a:ext uri="{FF2B5EF4-FFF2-40B4-BE49-F238E27FC236}">
                <a16:creationId xmlns:a16="http://schemas.microsoft.com/office/drawing/2014/main" id="{822BE55B-3DCD-4372-8AEA-D1F3D312AB73}"/>
              </a:ext>
            </a:extLst>
          </p:cNvPr>
          <p:cNvSpPr>
            <a:spLocks noGrp="1"/>
          </p:cNvSpPr>
          <p:nvPr/>
        </p:nvSpPr>
        <p:spPr>
          <a:xfrm>
            <a:off x="8949690" y="4619625"/>
            <a:ext cx="2072640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triángulo 3–4–5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3/5 = 0,6; cos θ = 4/5 = 0,8; tan θ = 3/4 = 0,75.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¿Cuál razón esperaban que fuera mayor: seno o coseno?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56">
            <a:extLst>
              <a:ext uri="{FF2B5EF4-FFF2-40B4-BE49-F238E27FC236}">
                <a16:creationId xmlns:a16="http://schemas.microsoft.com/office/drawing/2014/main" id="{BCF3DE92-B042-4FFF-846D-17D3C864C24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D1B1092F-3E30-4D3F-9DB5-9516CD9E9BB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  <p:sp>
        <p:nvSpPr>
          <p:cNvPr id="24" name="U01-CH018_vertical">
            <a:extLst>
              <a:ext uri="{FF2B5EF4-FFF2-40B4-BE49-F238E27FC236}">
                <a16:creationId xmlns:a16="http://schemas.microsoft.com/office/drawing/2014/main" id="{61E45BF0-AB9D-48C8-BB0D-2612FF52B3E4}"/>
              </a:ext>
            </a:extLst>
          </p:cNvPr>
          <p:cNvSpPr>
            <a:spLocks noGrp="1"/>
          </p:cNvSpPr>
          <p:nvPr/>
        </p:nvSpPr>
        <p:spPr>
          <a:xfrm flipV="1">
            <a:off x="5783580" y="2208657"/>
            <a:ext cx="953" cy="1939671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U01-CH018_base">
            <a:extLst>
              <a:ext uri="{FF2B5EF4-FFF2-40B4-BE49-F238E27FC236}">
                <a16:creationId xmlns:a16="http://schemas.microsoft.com/office/drawing/2014/main" id="{3856B37C-4E68-4DF6-B262-2781E9BD5839}"/>
              </a:ext>
            </a:extLst>
          </p:cNvPr>
          <p:cNvSpPr>
            <a:spLocks noGrp="1"/>
          </p:cNvSpPr>
          <p:nvPr/>
        </p:nvSpPr>
        <p:spPr>
          <a:xfrm>
            <a:off x="5783580" y="4148328"/>
            <a:ext cx="307086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U01-CH018_hypotenuse">
            <a:extLst>
              <a:ext uri="{FF2B5EF4-FFF2-40B4-BE49-F238E27FC236}">
                <a16:creationId xmlns:a16="http://schemas.microsoft.com/office/drawing/2014/main" id="{E77D5DD8-6C53-47BB-B9F9-F521799E11C5}"/>
              </a:ext>
            </a:extLst>
          </p:cNvPr>
          <p:cNvSpPr>
            <a:spLocks noGrp="1"/>
          </p:cNvSpPr>
          <p:nvPr/>
        </p:nvSpPr>
        <p:spPr>
          <a:xfrm>
            <a:off x="5783580" y="2208657"/>
            <a:ext cx="3070860" cy="1939671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U01-CH018_opposite">
            <a:extLst>
              <a:ext uri="{FF2B5EF4-FFF2-40B4-BE49-F238E27FC236}">
                <a16:creationId xmlns:a16="http://schemas.microsoft.com/office/drawing/2014/main" id="{FBF0C915-C7B7-46CD-B259-1F824A19F2A5}"/>
              </a:ext>
            </a:extLst>
          </p:cNvPr>
          <p:cNvSpPr>
            <a:spLocks noGrp="1"/>
          </p:cNvSpPr>
          <p:nvPr/>
        </p:nvSpPr>
        <p:spPr>
          <a:xfrm>
            <a:off x="5935980" y="3006471"/>
            <a:ext cx="141732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8" name="U01-CH018_adjacent">
            <a:extLst>
              <a:ext uri="{FF2B5EF4-FFF2-40B4-BE49-F238E27FC236}">
                <a16:creationId xmlns:a16="http://schemas.microsoft.com/office/drawing/2014/main" id="{78A00086-B378-4EB8-B923-52E4B2D26B9B}"/>
              </a:ext>
            </a:extLst>
          </p:cNvPr>
          <p:cNvSpPr>
            <a:spLocks noGrp="1"/>
          </p:cNvSpPr>
          <p:nvPr/>
        </p:nvSpPr>
        <p:spPr>
          <a:xfrm>
            <a:off x="6492240" y="3691128"/>
            <a:ext cx="16535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9" name="U01-CH018_ratio_1">
            <a:extLst>
              <a:ext uri="{FF2B5EF4-FFF2-40B4-BE49-F238E27FC236}">
                <a16:creationId xmlns:a16="http://schemas.microsoft.com/office/drawing/2014/main" id="{07993B4F-A2C7-4FC1-87D1-E5D4A87DE8C7}"/>
              </a:ext>
            </a:extLst>
          </p:cNvPr>
          <p:cNvSpPr>
            <a:spLocks noGrp="1"/>
          </p:cNvSpPr>
          <p:nvPr/>
        </p:nvSpPr>
        <p:spPr>
          <a:xfrm>
            <a:off x="9208770" y="1885950"/>
            <a:ext cx="2007870" cy="771525"/>
          </a:xfrm>
          <a:prstGeom prst="roundRect">
            <a:avLst>
              <a:gd name="adj" fmla="val 98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30" name="U01-CH018_ratio_2">
            <a:extLst>
              <a:ext uri="{FF2B5EF4-FFF2-40B4-BE49-F238E27FC236}">
                <a16:creationId xmlns:a16="http://schemas.microsoft.com/office/drawing/2014/main" id="{3F591FC9-B7B5-406B-8ACE-F869911B24C2}"/>
              </a:ext>
            </a:extLst>
          </p:cNvPr>
          <p:cNvSpPr>
            <a:spLocks noGrp="1"/>
          </p:cNvSpPr>
          <p:nvPr/>
        </p:nvSpPr>
        <p:spPr>
          <a:xfrm>
            <a:off x="9208770" y="2733675"/>
            <a:ext cx="2007870" cy="771525"/>
          </a:xfrm>
          <a:prstGeom prst="roundRect">
            <a:avLst>
              <a:gd name="adj" fmla="val 98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31" name="U01-CH018_ratio_3">
            <a:extLst>
              <a:ext uri="{FF2B5EF4-FFF2-40B4-BE49-F238E27FC236}">
                <a16:creationId xmlns:a16="http://schemas.microsoft.com/office/drawing/2014/main" id="{2405E647-0FE0-4427-8DC8-E45CB7C8D756}"/>
              </a:ext>
            </a:extLst>
          </p:cNvPr>
          <p:cNvSpPr>
            <a:spLocks noGrp="1"/>
          </p:cNvSpPr>
          <p:nvPr/>
        </p:nvSpPr>
        <p:spPr>
          <a:xfrm>
            <a:off x="9208770" y="3581400"/>
            <a:ext cx="2007870" cy="771525"/>
          </a:xfrm>
          <a:prstGeom prst="roundRect">
            <a:avLst>
              <a:gd name="adj" fmla="val 98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razón permite hallar el lado?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antes de usar la calculadora.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 conoce la hipotenusa y el lado adyacente a θ; se busca el opuesto.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¿Conviene seno, coseno o tangente?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una razón que contenga el dato conocido y la incógnita.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selección razonada es más importante que el cálculo numérico.</a:t>
            </a:r>
          </a:p>
        </p:txBody>
      </p:sp>
      <p:sp>
        <p:nvSpPr>
          <p:cNvPr id="17" name="u01_asset_credit_57">
            <a:extLst>
              <a:ext uri="{FF2B5EF4-FFF2-40B4-BE49-F238E27FC236}">
                <a16:creationId xmlns:a16="http://schemas.microsoft.com/office/drawing/2014/main" id="{C5477254-107B-43B0-8922-7F18903C28E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C1B785F3-8101-4B96-B764-B367478DC06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  <p:sp>
        <p:nvSpPr>
          <p:cNvPr id="20" name="U01-CH018_vertical">
            <a:extLst>
              <a:ext uri="{FF2B5EF4-FFF2-40B4-BE49-F238E27FC236}">
                <a16:creationId xmlns:a16="http://schemas.microsoft.com/office/drawing/2014/main" id="{BF11BA4B-0AD0-44A4-A951-56A5EA0313E8}"/>
              </a:ext>
            </a:extLst>
          </p:cNvPr>
          <p:cNvSpPr>
            <a:spLocks noGrp="1"/>
          </p:cNvSpPr>
          <p:nvPr/>
        </p:nvSpPr>
        <p:spPr>
          <a:xfrm flipV="1">
            <a:off x="7115175" y="2241804"/>
            <a:ext cx="953" cy="1244727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U01-CH018_base">
            <a:extLst>
              <a:ext uri="{FF2B5EF4-FFF2-40B4-BE49-F238E27FC236}">
                <a16:creationId xmlns:a16="http://schemas.microsoft.com/office/drawing/2014/main" id="{410D3550-2818-4D8F-A881-DE9A3EFAC381}"/>
              </a:ext>
            </a:extLst>
          </p:cNvPr>
          <p:cNvSpPr>
            <a:spLocks noGrp="1"/>
          </p:cNvSpPr>
          <p:nvPr/>
        </p:nvSpPr>
        <p:spPr>
          <a:xfrm>
            <a:off x="7115175" y="3486531"/>
            <a:ext cx="222885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U01-CH018_hypotenuse">
            <a:extLst>
              <a:ext uri="{FF2B5EF4-FFF2-40B4-BE49-F238E27FC236}">
                <a16:creationId xmlns:a16="http://schemas.microsoft.com/office/drawing/2014/main" id="{EF97C8CF-DB84-4AC4-BB48-78537CA19A85}"/>
              </a:ext>
            </a:extLst>
          </p:cNvPr>
          <p:cNvSpPr>
            <a:spLocks noGrp="1"/>
          </p:cNvSpPr>
          <p:nvPr/>
        </p:nvSpPr>
        <p:spPr>
          <a:xfrm>
            <a:off x="7115175" y="2241804"/>
            <a:ext cx="2228850" cy="1244727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U01-CH018_opposite">
            <a:extLst>
              <a:ext uri="{FF2B5EF4-FFF2-40B4-BE49-F238E27FC236}">
                <a16:creationId xmlns:a16="http://schemas.microsoft.com/office/drawing/2014/main" id="{A7F7DE45-80A6-48A7-B20F-2FE9A02BBD68}"/>
              </a:ext>
            </a:extLst>
          </p:cNvPr>
          <p:cNvSpPr>
            <a:spLocks noGrp="1"/>
          </p:cNvSpPr>
          <p:nvPr/>
        </p:nvSpPr>
        <p:spPr>
          <a:xfrm>
            <a:off x="7267575" y="2820162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4" name="U01-CH018_adjacent">
            <a:extLst>
              <a:ext uri="{FF2B5EF4-FFF2-40B4-BE49-F238E27FC236}">
                <a16:creationId xmlns:a16="http://schemas.microsoft.com/office/drawing/2014/main" id="{59B271B8-CB1A-4A5B-BF8F-F699E7594FB1}"/>
              </a:ext>
            </a:extLst>
          </p:cNvPr>
          <p:cNvSpPr>
            <a:spLocks noGrp="1"/>
          </p:cNvSpPr>
          <p:nvPr/>
        </p:nvSpPr>
        <p:spPr>
          <a:xfrm>
            <a:off x="7629525" y="3029331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5" name="U01-CH018_ratio_1">
            <a:extLst>
              <a:ext uri="{FF2B5EF4-FFF2-40B4-BE49-F238E27FC236}">
                <a16:creationId xmlns:a16="http://schemas.microsoft.com/office/drawing/2014/main" id="{75CC16C8-8C82-492B-8BC4-7CCA6DFAC4A1}"/>
              </a:ext>
            </a:extLst>
          </p:cNvPr>
          <p:cNvSpPr>
            <a:spLocks noGrp="1"/>
          </p:cNvSpPr>
          <p:nvPr/>
        </p:nvSpPr>
        <p:spPr>
          <a:xfrm>
            <a:off x="9601200" y="2028825"/>
            <a:ext cx="1457325" cy="466725"/>
          </a:xfrm>
          <a:prstGeom prst="roundRect">
            <a:avLst>
              <a:gd name="adj" fmla="val 1632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26" name="U01-CH018_ratio_2">
            <a:extLst>
              <a:ext uri="{FF2B5EF4-FFF2-40B4-BE49-F238E27FC236}">
                <a16:creationId xmlns:a16="http://schemas.microsoft.com/office/drawing/2014/main" id="{0830B7B9-008E-45C2-A8A5-1C6CA3D74F5B}"/>
              </a:ext>
            </a:extLst>
          </p:cNvPr>
          <p:cNvSpPr>
            <a:spLocks noGrp="1"/>
          </p:cNvSpPr>
          <p:nvPr/>
        </p:nvSpPr>
        <p:spPr>
          <a:xfrm>
            <a:off x="9601200" y="2571750"/>
            <a:ext cx="1457325" cy="466725"/>
          </a:xfrm>
          <a:prstGeom prst="roundRect">
            <a:avLst>
              <a:gd name="adj" fmla="val 1632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27" name="U01-CH018_ratio_3">
            <a:extLst>
              <a:ext uri="{FF2B5EF4-FFF2-40B4-BE49-F238E27FC236}">
                <a16:creationId xmlns:a16="http://schemas.microsoft.com/office/drawing/2014/main" id="{7B9223A3-DD49-416D-8A2F-DB35728BC28A}"/>
              </a:ext>
            </a:extLst>
          </p:cNvPr>
          <p:cNvSpPr>
            <a:spLocks noGrp="1"/>
          </p:cNvSpPr>
          <p:nvPr/>
        </p:nvSpPr>
        <p:spPr>
          <a:xfrm>
            <a:off x="9601200" y="3114675"/>
            <a:ext cx="1457325" cy="466725"/>
          </a:xfrm>
          <a:prstGeom prst="roundRect">
            <a:avLst>
              <a:gd name="adj" fmla="val 1632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Ángulos mayores que una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585° = 225° + 360°. Ambos terminan con la misma orientación, pero 585° incluye una vuelta adicional.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Ángulos que difieren en 360° son coterminales.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2203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 para preparar periodicidad y fase acumulada.</a:t>
            </a:r>
          </a:p>
        </p:txBody>
      </p:sp>
      <p:pic>
        <p:nvPicPr>
          <p:cNvPr id="30" name="Imagen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58">
            <a:extLst>
              <a:ext uri="{FF2B5EF4-FFF2-40B4-BE49-F238E27FC236}">
                <a16:creationId xmlns:a16="http://schemas.microsoft.com/office/drawing/2014/main" id="{E3E1EF9F-9DE6-4D3D-BEFB-866DBA08022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D58FEE5-B2FF-4BCB-B656-8C618C5A2F7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Convertir grados y radianes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completa: 360° = 2π rad.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90° = ___ rad; 180° = ___ rad; 225° = ___ rad.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θ_rad = θ_grados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equivalencia expresa el mismo giro con dos unidades angulares.</a:t>
            </a:r>
          </a:p>
        </p:txBody>
      </p:sp>
      <p:pic>
        <p:nvPicPr>
          <p:cNvPr id="35" name="Imagen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59">
            <a:extLst>
              <a:ext uri="{FF2B5EF4-FFF2-40B4-BE49-F238E27FC236}">
                <a16:creationId xmlns:a16="http://schemas.microsoft.com/office/drawing/2014/main" id="{6F339631-B31B-4BFD-998C-53C82FBA8E5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8AECAC5F-59B1-4B32-A727-7BC7185FEA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GRÁFICO EXPLICATIVO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radián conecta arco, ángulo y ciclo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un círculo de radio 1, la coordenada horizontal es cos θ y la vertical es sin θ. Una vuelta completa corresponde a 2π rad.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Punto del círculo: (cos θ, sin θ); 360° = 2π rad.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44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círculo extiende las razones más allá del triángulo inicial.</a:t>
            </a:r>
          </a:p>
        </p:txBody>
      </p:sp>
      <p:pic>
        <p:nvPicPr>
          <p:cNvPr id="30" name="Imagen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0">
            <a:extLst>
              <a:ext uri="{FF2B5EF4-FFF2-40B4-BE49-F238E27FC236}">
                <a16:creationId xmlns:a16="http://schemas.microsoft.com/office/drawing/2014/main" id="{C59E43FE-6A97-4D46-9A12-B539E3F5609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3278450-A8F7-4FF1-B620-D75E0D09C9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cociente al ciclo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Seno, coseno y tangente son cocientes adimensionales.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razón elegida depende del lado conocido y del lado buscado.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360° y 2π rad representan una vuelta completa.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círculo unitario prepara la lectura de ciclos y fase.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qué idea permanece y qué representación cambia.</a:t>
            </a:r>
          </a:p>
        </p:txBody>
      </p:sp>
      <p:pic>
        <p:nvPicPr>
          <p:cNvPr id="35" name="Imagen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61">
            <a:extLst>
              <a:ext uri="{FF2B5EF4-FFF2-40B4-BE49-F238E27FC236}">
                <a16:creationId xmlns:a16="http://schemas.microsoft.com/office/drawing/2014/main" id="{52166C54-5768-40B9-91B5-8B03EB0814E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3C32BAF-ED7F-4BA7-9F47-540392224E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B07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Exponenciales, logaritmos y comparaciones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describimos cambios multiplicativos y rangos amplios?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B07</a:t>
            </a:r>
          </a:p>
        </p:txBody>
      </p:sp>
      <p:sp>
        <p:nvSpPr>
          <p:cNvPr id="7" name="u01_asset_credit_62">
            <a:extLst>
              <a:ext uri="{FF2B5EF4-FFF2-40B4-BE49-F238E27FC236}">
                <a16:creationId xmlns:a16="http://schemas.microsoft.com/office/drawing/2014/main" id="{FD56FDBE-6EC2-42C7-AE2A-51441EDAFA2A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7B272297-7092-49DD-BB93-C3967A4CBAF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  <p:sp>
        <p:nvSpPr>
          <p:cNvPr id="10" name="U01-CH020_mini_x">
            <a:extLst>
              <a:ext uri="{FF2B5EF4-FFF2-40B4-BE49-F238E27FC236}">
                <a16:creationId xmlns:a16="http://schemas.microsoft.com/office/drawing/2014/main" id="{F948C6A4-59FB-43EC-95D1-73E8F1470AD3}"/>
              </a:ext>
            </a:extLst>
          </p:cNvPr>
          <p:cNvSpPr>
            <a:spLocks noGrp="1"/>
          </p:cNvSpPr>
          <p:nvPr/>
        </p:nvSpPr>
        <p:spPr>
          <a:xfrm>
            <a:off x="7995285" y="3577209"/>
            <a:ext cx="2678430" cy="953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20_mini_y">
            <a:extLst>
              <a:ext uri="{FF2B5EF4-FFF2-40B4-BE49-F238E27FC236}">
                <a16:creationId xmlns:a16="http://schemas.microsoft.com/office/drawing/2014/main" id="{06CD4757-6858-4278-9C34-ABFF661D09B6}"/>
              </a:ext>
            </a:extLst>
          </p:cNvPr>
          <p:cNvSpPr>
            <a:spLocks noGrp="1"/>
          </p:cNvSpPr>
          <p:nvPr/>
        </p:nvSpPr>
        <p:spPr>
          <a:xfrm flipV="1">
            <a:off x="7995285" y="2309241"/>
            <a:ext cx="953" cy="126796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U01-CH020_mini_curve_0">
            <a:extLst>
              <a:ext uri="{FF2B5EF4-FFF2-40B4-BE49-F238E27FC236}">
                <a16:creationId xmlns:a16="http://schemas.microsoft.com/office/drawing/2014/main" id="{C851C5A2-D452-427B-81BF-3DD4CC64E31B}"/>
              </a:ext>
            </a:extLst>
          </p:cNvPr>
          <p:cNvSpPr>
            <a:spLocks noGrp="1"/>
          </p:cNvSpPr>
          <p:nvPr/>
        </p:nvSpPr>
        <p:spPr>
          <a:xfrm flipV="1">
            <a:off x="7995285" y="3418713"/>
            <a:ext cx="563880" cy="79248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U01-CH020_mini_curve_1">
            <a:extLst>
              <a:ext uri="{FF2B5EF4-FFF2-40B4-BE49-F238E27FC236}">
                <a16:creationId xmlns:a16="http://schemas.microsoft.com/office/drawing/2014/main" id="{5678A35E-70DB-463B-9ACA-B86D85CED683}"/>
              </a:ext>
            </a:extLst>
          </p:cNvPr>
          <p:cNvSpPr>
            <a:spLocks noGrp="1"/>
          </p:cNvSpPr>
          <p:nvPr/>
        </p:nvSpPr>
        <p:spPr>
          <a:xfrm flipV="1">
            <a:off x="8559165" y="3220593"/>
            <a:ext cx="563880" cy="198120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U01-CH020_mini_curve_2">
            <a:extLst>
              <a:ext uri="{FF2B5EF4-FFF2-40B4-BE49-F238E27FC236}">
                <a16:creationId xmlns:a16="http://schemas.microsoft.com/office/drawing/2014/main" id="{3E882636-960E-42A2-9F0C-524728035D69}"/>
              </a:ext>
            </a:extLst>
          </p:cNvPr>
          <p:cNvSpPr>
            <a:spLocks noGrp="1"/>
          </p:cNvSpPr>
          <p:nvPr/>
        </p:nvSpPr>
        <p:spPr>
          <a:xfrm flipV="1">
            <a:off x="9123045" y="2863977"/>
            <a:ext cx="563880" cy="356616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U01-CH020_mini_curve_3">
            <a:extLst>
              <a:ext uri="{FF2B5EF4-FFF2-40B4-BE49-F238E27FC236}">
                <a16:creationId xmlns:a16="http://schemas.microsoft.com/office/drawing/2014/main" id="{A78D0D8F-B904-4D63-8528-DB7E7337EA14}"/>
              </a:ext>
            </a:extLst>
          </p:cNvPr>
          <p:cNvSpPr>
            <a:spLocks noGrp="1"/>
          </p:cNvSpPr>
          <p:nvPr/>
        </p:nvSpPr>
        <p:spPr>
          <a:xfrm flipV="1">
            <a:off x="9686925" y="2348865"/>
            <a:ext cx="528638" cy="515112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RECUPERACIÓN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Potencias de diez que conviene tener a mano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Mantener visible durante los primeros ejercicios si es necesario.</a:t>
            </a:r>
          </a:p>
        </p:txBody>
      </p:sp>
      <p:pic>
        <p:nvPicPr>
          <p:cNvPr id="14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63">
            <a:extLst>
              <a:ext uri="{FF2B5EF4-FFF2-40B4-BE49-F238E27FC236}">
                <a16:creationId xmlns:a16="http://schemas.microsoft.com/office/drawing/2014/main" id="{476AE38A-5EEA-48C0-8C4B-227B6E31D0AB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EF14C62-6366-448E-9783-4B09AF53371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DEFINICIÓN/GRÁFICO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función exponencial cambia por factores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base 10, aumentar x en 1 multiplica la salida por 10. El cambio es multiplicativo, no aditivo.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aˣ, con a &gt; 0 y a ≠ 1. Ejemplo: y = 10ˣ.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salida permanece positiva.</a:t>
            </a:r>
          </a:p>
        </p:txBody>
      </p:sp>
      <p:pic>
        <p:nvPicPr>
          <p:cNvPr id="30" name="Imagen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4">
            <a:extLst>
              <a:ext uri="{FF2B5EF4-FFF2-40B4-BE49-F238E27FC236}">
                <a16:creationId xmlns:a16="http://schemas.microsoft.com/office/drawing/2014/main" id="{CE240267-9579-4A5F-AE6B-9B7D97E6349F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7A8B5900-B725-40D9-A902-C8FEFEB4E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Crecimiento y decaimiento dependen de la base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no se introduce cálculo diferencial.</a:t>
            </a:r>
          </a:p>
        </p:txBody>
      </p:sp>
      <p:pic>
        <p:nvPicPr>
          <p:cNvPr id="33" name="Imagen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65">
            <a:extLst>
              <a:ext uri="{FF2B5EF4-FFF2-40B4-BE49-F238E27FC236}">
                <a16:creationId xmlns:a16="http://schemas.microsoft.com/office/drawing/2014/main" id="{225B9CCF-7720-4A90-8ED9-5AA42E75981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18EA1CB6-1BA5-4B44-9DB3-D88944BFCA6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logaritmo responde por el exponente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8928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Exponencial: “dado el exponente, hallar el resultado”. Logaritmo: “dado el resultado, hallar el exponente”.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10³ = 1000 ↔ log₁₀(1000) = 3. En general: aˣ = y ↔ log_a(y)=x.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Leer ambas expresiones en voz alta.</a:t>
            </a:r>
          </a:p>
        </p:txBody>
      </p:sp>
      <p:pic>
        <p:nvPicPr>
          <p:cNvPr id="21" name="Imagen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66">
            <a:extLst>
              <a:ext uri="{FF2B5EF4-FFF2-40B4-BE49-F238E27FC236}">
                <a16:creationId xmlns:a16="http://schemas.microsoft.com/office/drawing/2014/main" id="{2AAC29A3-D4DF-475B-86BF-D9DDEA43BAD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4376873C-23DD-40A5-B2FF-062C1F8066F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GRÁFICO COMPARATIVO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 y logaritmo: ida y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Los pares entrada–salida se intercambian. La función logarítmica solo admite entradas positivas.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y=10ˣ; y=log₁₀(x); puntos correspondientes: (0,1) ↔ (1,0), (1,10) ↔ (10,1).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79484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simetría ayuda a visualizar la inversión; no reemplaza su definición.</a:t>
            </a:r>
          </a:p>
        </p:txBody>
      </p:sp>
      <p:pic>
        <p:nvPicPr>
          <p:cNvPr id="30" name="Imagen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7">
            <a:extLst>
              <a:ext uri="{FF2B5EF4-FFF2-40B4-BE49-F238E27FC236}">
                <a16:creationId xmlns:a16="http://schemas.microsoft.com/office/drawing/2014/main" id="{A0BDC298-4BC6-4775-8444-18B388181521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BA943394-2DB1-4485-A114-50A3B615AA2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logaritmo físico necesita una razón adimensional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Incorrecto: log(Pa).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Correcto: log(p/p₀), si p y p₀ son magnitudes compatibles.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unidades se cancelan dentro de la razón.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p/p₀ es una razón adimensional.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por qué no alcanza escribir “logaritmo de 2 Pa”.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83009F3C-1C59-402C-9DA7-32171B87BD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COMPARACIÓN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escalas lineal y logarítmica responden preguntas distintas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logarítmica no implica por sí sola una escala perceptual.</a:t>
            </a:r>
          </a:p>
        </p:txBody>
      </p:sp>
      <p:pic>
        <p:nvPicPr>
          <p:cNvPr id="33" name="Imagen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85295"/>
            <a:ext cx="7715250" cy="4343400"/>
          </a:xfrm>
          <a:prstGeom prst="rect">
            <a:avLst/>
          </a:prstGeom>
        </p:spPr>
      </p:pic>
      <p:sp>
        <p:nvSpPr>
          <p:cNvPr id="16" name="u01_asset_credit_69">
            <a:extLst>
              <a:ext uri="{FF2B5EF4-FFF2-40B4-BE49-F238E27FC236}">
                <a16:creationId xmlns:a16="http://schemas.microsoft.com/office/drawing/2014/main" id="{E095791B-16C7-4AD5-ACB1-722F355FB7D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U01-CH021 · Elaboración propia a partir del TikZ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372127A8-03A5-4735-8C01-B3897D4FB23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decibel expresa una relación logarítmica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log₁₀(Q/Q₀).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Q/Q₀: razón adimensional. L_Q: nivel expresado en dB.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70">
            <a:extLst>
              <a:ext uri="{FF2B5EF4-FFF2-40B4-BE49-F238E27FC236}">
                <a16:creationId xmlns:a16="http://schemas.microsoft.com/office/drawing/2014/main" id="{FFCCDC69-5B14-40DD-9DD4-E52EC161F2F0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E81A3160-6E0E-416F-BF86-C298ED1E52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  <p:sp>
        <p:nvSpPr>
          <p:cNvPr id="18" name="U01-CH022_mapping_1">
            <a:extLst>
              <a:ext uri="{FF2B5EF4-FFF2-40B4-BE49-F238E27FC236}">
                <a16:creationId xmlns:a16="http://schemas.microsoft.com/office/drawing/2014/main" id="{F3E02B46-0206-4A9C-BE94-62F5EB4654C8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</a:t>
            </a:r>
          </a:p>
        </p:txBody>
      </p:sp>
      <p:sp>
        <p:nvSpPr>
          <p:cNvPr id="19" name="U01-CH022_mapping_2">
            <a:extLst>
              <a:ext uri="{FF2B5EF4-FFF2-40B4-BE49-F238E27FC236}">
                <a16:creationId xmlns:a16="http://schemas.microsoft.com/office/drawing/2014/main" id="{14257977-070E-4AE0-9502-A87E45A0A443}"/>
              </a:ext>
            </a:extLst>
          </p:cNvPr>
          <p:cNvSpPr>
            <a:spLocks noGrp="1"/>
          </p:cNvSpPr>
          <p:nvPr/>
        </p:nvSpPr>
        <p:spPr>
          <a:xfrm>
            <a:off x="6596063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 dB</a:t>
            </a:r>
          </a:p>
        </p:txBody>
      </p:sp>
      <p:sp>
        <p:nvSpPr>
          <p:cNvPr id="20" name="U01-CH022_mapping_3">
            <a:extLst>
              <a:ext uri="{FF2B5EF4-FFF2-40B4-BE49-F238E27FC236}">
                <a16:creationId xmlns:a16="http://schemas.microsoft.com/office/drawing/2014/main" id="{CED09383-9BE1-460B-9461-46DC71D65FD3}"/>
              </a:ext>
            </a:extLst>
          </p:cNvPr>
          <p:cNvSpPr>
            <a:spLocks noGrp="1"/>
          </p:cNvSpPr>
          <p:nvPr/>
        </p:nvSpPr>
        <p:spPr>
          <a:xfrm>
            <a:off x="8143875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dB</a:t>
            </a:r>
          </a:p>
        </p:txBody>
      </p:sp>
      <p:sp>
        <p:nvSpPr>
          <p:cNvPr id="21" name="U01-CH022_mapping_4">
            <a:extLst>
              <a:ext uri="{FF2B5EF4-FFF2-40B4-BE49-F238E27FC236}">
                <a16:creationId xmlns:a16="http://schemas.microsoft.com/office/drawing/2014/main" id="{75FF81EB-AD49-4686-B9B1-16E7C98B0B9B}"/>
              </a:ext>
            </a:extLst>
          </p:cNvPr>
          <p:cNvSpPr>
            <a:spLocks noGrp="1"/>
          </p:cNvSpPr>
          <p:nvPr/>
        </p:nvSpPr>
        <p:spPr>
          <a:xfrm>
            <a:off x="9691688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1000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 dB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EJEMPLO/RECAP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razón 100 equivale a 20 dB en este modelo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log₁₀(100) = 10·2 = 20 dB.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información falta si alguien solo informa “20 dB”?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71">
            <a:extLst>
              <a:ext uri="{FF2B5EF4-FFF2-40B4-BE49-F238E27FC236}">
                <a16:creationId xmlns:a16="http://schemas.microsoft.com/office/drawing/2014/main" id="{E1083C3B-5293-475D-A954-B8CBE8D1A515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1DA55B6-04EC-4498-9594-1D78758B8AF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B08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no es lo mismo que percibir ni diagnosticar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puede concluirse y qué información falta?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B08</a:t>
            </a:r>
          </a:p>
        </p:txBody>
      </p:sp>
      <p:sp>
        <p:nvSpPr>
          <p:cNvPr id="7" name="u01_asset_credit_72">
            <a:extLst>
              <a:ext uri="{FF2B5EF4-FFF2-40B4-BE49-F238E27FC236}">
                <a16:creationId xmlns:a16="http://schemas.microsoft.com/office/drawing/2014/main" id="{A77DE6AB-5F5A-412A-8204-BA42F0E00F91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1B356AB2-49AB-4BA9-9947-B4E5ACFDDCE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  <p:sp>
        <p:nvSpPr>
          <p:cNvPr id="10" name="U01-CH023_mini_column_1">
            <a:extLst>
              <a:ext uri="{FF2B5EF4-FFF2-40B4-BE49-F238E27FC236}">
                <a16:creationId xmlns:a16="http://schemas.microsoft.com/office/drawing/2014/main" id="{110D273C-EE87-43E0-8143-3275DF9498E1}"/>
              </a:ext>
            </a:extLst>
          </p:cNvPr>
          <p:cNvSpPr>
            <a:spLocks noGrp="1"/>
          </p:cNvSpPr>
          <p:nvPr/>
        </p:nvSpPr>
        <p:spPr>
          <a:xfrm>
            <a:off x="7572375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01-CH023_mini_column_2">
            <a:extLst>
              <a:ext uri="{FF2B5EF4-FFF2-40B4-BE49-F238E27FC236}">
                <a16:creationId xmlns:a16="http://schemas.microsoft.com/office/drawing/2014/main" id="{1483F91C-109C-4906-BEA4-E16FA021232B}"/>
              </a:ext>
            </a:extLst>
          </p:cNvPr>
          <p:cNvSpPr>
            <a:spLocks noGrp="1"/>
          </p:cNvSpPr>
          <p:nvPr/>
        </p:nvSpPr>
        <p:spPr>
          <a:xfrm>
            <a:off x="8472488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U01-CH023_mini_column_3">
            <a:extLst>
              <a:ext uri="{FF2B5EF4-FFF2-40B4-BE49-F238E27FC236}">
                <a16:creationId xmlns:a16="http://schemas.microsoft.com/office/drawing/2014/main" id="{89A6E419-183B-4A4A-8005-F8D17247B15E}"/>
              </a:ext>
            </a:extLst>
          </p:cNvPr>
          <p:cNvSpPr>
            <a:spLocks noGrp="1"/>
          </p:cNvSpPr>
          <p:nvPr/>
        </p:nvSpPr>
        <p:spPr>
          <a:xfrm>
            <a:off x="9372600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U01-CH023_mini_column_4">
            <a:extLst>
              <a:ext uri="{FF2B5EF4-FFF2-40B4-BE49-F238E27FC236}">
                <a16:creationId xmlns:a16="http://schemas.microsoft.com/office/drawing/2014/main" id="{492223DC-DD76-40AE-9111-B77B13BDDEC8}"/>
              </a:ext>
            </a:extLst>
          </p:cNvPr>
          <p:cNvSpPr>
            <a:spLocks noGrp="1"/>
          </p:cNvSpPr>
          <p:nvPr/>
        </p:nvSpPr>
        <p:spPr>
          <a:xfrm>
            <a:off x="10272713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niveles de descripción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 relacionan, pero no son equivalentes.</a:t>
            </a:r>
          </a:p>
        </p:txBody>
      </p:sp>
      <p:sp>
        <p:nvSpPr>
          <p:cNvPr id="16" name="u01_asset_credit_73">
            <a:extLst>
              <a:ext uri="{FF2B5EF4-FFF2-40B4-BE49-F238E27FC236}">
                <a16:creationId xmlns:a16="http://schemas.microsoft.com/office/drawing/2014/main" id="{9AC263A2-9098-444C-864D-17DF8F81BEF2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41FF2988-14BE-42A9-AB51-B8A0AFAB0CD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  <p:sp>
        <p:nvSpPr>
          <p:cNvPr id="19" name="U01-CH023_column_1">
            <a:extLst>
              <a:ext uri="{FF2B5EF4-FFF2-40B4-BE49-F238E27FC236}">
                <a16:creationId xmlns:a16="http://schemas.microsoft.com/office/drawing/2014/main" id="{DFC9EBE9-41B4-4CC1-8FD7-4698F07E54AA}"/>
              </a:ext>
            </a:extLst>
          </p:cNvPr>
          <p:cNvSpPr>
            <a:spLocks noGrp="1"/>
          </p:cNvSpPr>
          <p:nvPr/>
        </p:nvSpPr>
        <p:spPr>
          <a:xfrm>
            <a:off x="223837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23_column_1_title">
            <a:extLst>
              <a:ext uri="{FF2B5EF4-FFF2-40B4-BE49-F238E27FC236}">
                <a16:creationId xmlns:a16="http://schemas.microsoft.com/office/drawing/2014/main" id="{074BB093-7BB0-46B6-8165-35BE296CDC64}"/>
              </a:ext>
            </a:extLst>
          </p:cNvPr>
          <p:cNvSpPr>
            <a:spLocks noGrp="1"/>
          </p:cNvSpPr>
          <p:nvPr/>
        </p:nvSpPr>
        <p:spPr>
          <a:xfrm>
            <a:off x="233362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FÍSICA</a:t>
            </a:r>
          </a:p>
        </p:txBody>
      </p:sp>
      <p:sp>
        <p:nvSpPr>
          <p:cNvPr id="21" name="U01-CH023_column_1_body">
            <a:extLst>
              <a:ext uri="{FF2B5EF4-FFF2-40B4-BE49-F238E27FC236}">
                <a16:creationId xmlns:a16="http://schemas.microsoft.com/office/drawing/2014/main" id="{69DFE8CB-AA95-4E9A-86D9-3D69CE4791D5}"/>
              </a:ext>
            </a:extLst>
          </p:cNvPr>
          <p:cNvSpPr>
            <a:spLocks noGrp="1"/>
          </p:cNvSpPr>
          <p:nvPr/>
        </p:nvSpPr>
        <p:spPr>
          <a:xfrm>
            <a:off x="240315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2" name="U01-CH023_column_2">
            <a:extLst>
              <a:ext uri="{FF2B5EF4-FFF2-40B4-BE49-F238E27FC236}">
                <a16:creationId xmlns:a16="http://schemas.microsoft.com/office/drawing/2014/main" id="{D2B0B777-949C-43AA-8F41-749A6D48DE60}"/>
              </a:ext>
            </a:extLst>
          </p:cNvPr>
          <p:cNvSpPr>
            <a:spLocks noGrp="1"/>
          </p:cNvSpPr>
          <p:nvPr/>
        </p:nvSpPr>
        <p:spPr>
          <a:xfrm>
            <a:off x="419100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23_column_2_title">
            <a:extLst>
              <a:ext uri="{FF2B5EF4-FFF2-40B4-BE49-F238E27FC236}">
                <a16:creationId xmlns:a16="http://schemas.microsoft.com/office/drawing/2014/main" id="{7053E64E-DA76-4C6D-B02D-EFBFB1A4AB8F}"/>
              </a:ext>
            </a:extLst>
          </p:cNvPr>
          <p:cNvSpPr>
            <a:spLocks noGrp="1"/>
          </p:cNvSpPr>
          <p:nvPr/>
        </p:nvSpPr>
        <p:spPr>
          <a:xfrm>
            <a:off x="428625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REFERIDO</a:t>
            </a:r>
          </a:p>
        </p:txBody>
      </p:sp>
      <p:sp>
        <p:nvSpPr>
          <p:cNvPr id="24" name="U01-CH023_column_2_body">
            <a:extLst>
              <a:ext uri="{FF2B5EF4-FFF2-40B4-BE49-F238E27FC236}">
                <a16:creationId xmlns:a16="http://schemas.microsoft.com/office/drawing/2014/main" id="{D39EC247-AA2B-4BAE-8FA9-0045284AEAA9}"/>
              </a:ext>
            </a:extLst>
          </p:cNvPr>
          <p:cNvSpPr>
            <a:spLocks noGrp="1"/>
          </p:cNvSpPr>
          <p:nvPr/>
        </p:nvSpPr>
        <p:spPr>
          <a:xfrm>
            <a:off x="435578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requiere referencia</a:t>
            </a:r>
          </a:p>
        </p:txBody>
      </p:sp>
      <p:sp>
        <p:nvSpPr>
          <p:cNvPr id="25" name="U01-CH023_column_3">
            <a:extLst>
              <a:ext uri="{FF2B5EF4-FFF2-40B4-BE49-F238E27FC236}">
                <a16:creationId xmlns:a16="http://schemas.microsoft.com/office/drawing/2014/main" id="{41AC7837-98D6-4002-A023-A1BBEA9AB18B}"/>
              </a:ext>
            </a:extLst>
          </p:cNvPr>
          <p:cNvSpPr>
            <a:spLocks noGrp="1"/>
          </p:cNvSpPr>
          <p:nvPr/>
        </p:nvSpPr>
        <p:spPr>
          <a:xfrm>
            <a:off x="614362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6" name="U01-CH023_column_3_title">
            <a:extLst>
              <a:ext uri="{FF2B5EF4-FFF2-40B4-BE49-F238E27FC236}">
                <a16:creationId xmlns:a16="http://schemas.microsoft.com/office/drawing/2014/main" id="{EB03D382-5213-4E56-A385-AEEC518DCD68}"/>
              </a:ext>
            </a:extLst>
          </p:cNvPr>
          <p:cNvSpPr>
            <a:spLocks noGrp="1"/>
          </p:cNvSpPr>
          <p:nvPr/>
        </p:nvSpPr>
        <p:spPr>
          <a:xfrm>
            <a:off x="623887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</a:t>
            </a:r>
          </a:p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PERCEPTUAL</a:t>
            </a:r>
          </a:p>
        </p:txBody>
      </p:sp>
      <p:sp>
        <p:nvSpPr>
          <p:cNvPr id="27" name="U01-CH023_column_3_body">
            <a:extLst>
              <a:ext uri="{FF2B5EF4-FFF2-40B4-BE49-F238E27FC236}">
                <a16:creationId xmlns:a16="http://schemas.microsoft.com/office/drawing/2014/main" id="{E51B45C3-5D1A-4EA2-BADC-1DFC6F8E2EBD}"/>
              </a:ext>
            </a:extLst>
          </p:cNvPr>
          <p:cNvSpPr>
            <a:spLocks noGrp="1"/>
          </p:cNvSpPr>
          <p:nvPr/>
        </p:nvSpPr>
        <p:spPr>
          <a:xfrm>
            <a:off x="630840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altura tonal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sonoridad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timbre</a:t>
            </a:r>
          </a:p>
        </p:txBody>
      </p:sp>
      <p:sp>
        <p:nvSpPr>
          <p:cNvPr id="28" name="U01-CH023_column_4">
            <a:extLst>
              <a:ext uri="{FF2B5EF4-FFF2-40B4-BE49-F238E27FC236}">
                <a16:creationId xmlns:a16="http://schemas.microsoft.com/office/drawing/2014/main" id="{EE5551A9-41EA-4999-BDD5-D30F538E566C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9" name="U01-CH023_column_4_title">
            <a:extLst>
              <a:ext uri="{FF2B5EF4-FFF2-40B4-BE49-F238E27FC236}">
                <a16:creationId xmlns:a16="http://schemas.microsoft.com/office/drawing/2014/main" id="{2A9D246C-C3AD-4B10-8D48-76ACE8DCC842}"/>
              </a:ext>
            </a:extLst>
          </p:cNvPr>
          <p:cNvSpPr>
            <a:spLocks noGrp="1"/>
          </p:cNvSpPr>
          <p:nvPr/>
        </p:nvSpPr>
        <p:spPr>
          <a:xfrm>
            <a:off x="819150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</a:t>
            </a:r>
          </a:p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</a:t>
            </a:r>
          </a:p>
        </p:txBody>
      </p:sp>
      <p:sp>
        <p:nvSpPr>
          <p:cNvPr id="30" name="U01-CH023_column_4_body">
            <a:extLst>
              <a:ext uri="{FF2B5EF4-FFF2-40B4-BE49-F238E27FC236}">
                <a16:creationId xmlns:a16="http://schemas.microsoft.com/office/drawing/2014/main" id="{A0E546AF-5D6D-4E78-B680-DE25807506A6}"/>
              </a:ext>
            </a:extLst>
          </p:cNvPr>
          <p:cNvSpPr>
            <a:spLocks noGrp="1"/>
          </p:cNvSpPr>
          <p:nvPr/>
        </p:nvSpPr>
        <p:spPr>
          <a:xfrm>
            <a:off x="826103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“detectado”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clínica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altura tonal están relacionadas, pero no son sinónimos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Frecuencia f: ciclos por segundo; unidad Hz.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Altura tonal (pitch): experiencia que ordena sonidos de graves a agudos. La relación depende también de periodicidad, espectro y condiciones de escucha.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Hz = 1 s⁻¹.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¿“200 Hz” describe una medición o una experiencia?</a:t>
            </a:r>
          </a:p>
        </p:txBody>
      </p:sp>
      <p:sp>
        <p:nvSpPr>
          <p:cNvPr id="13" name="u01_asset_credit_74">
            <a:extLst>
              <a:ext uri="{FF2B5EF4-FFF2-40B4-BE49-F238E27FC236}">
                <a16:creationId xmlns:a16="http://schemas.microsoft.com/office/drawing/2014/main" id="{8BC24725-7C9A-48A7-8B08-4200B723C5F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0C5A3D65-459D-4DB6-A551-5BD85F3ECE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  <p:sp>
        <p:nvSpPr>
          <p:cNvPr id="16" name="U01-CH023_cell_1">
            <a:extLst>
              <a:ext uri="{FF2B5EF4-FFF2-40B4-BE49-F238E27FC236}">
                <a16:creationId xmlns:a16="http://schemas.microsoft.com/office/drawing/2014/main" id="{1A954725-05BD-4414-A753-C3100E1A37B2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17" name="U01-CH023_cell_2">
            <a:extLst>
              <a:ext uri="{FF2B5EF4-FFF2-40B4-BE49-F238E27FC236}">
                <a16:creationId xmlns:a16="http://schemas.microsoft.com/office/drawing/2014/main" id="{4E8AE1A3-9C6E-47EF-85EE-12493909D519}"/>
              </a:ext>
            </a:extLst>
          </p:cNvPr>
          <p:cNvSpPr>
            <a:spLocks noGrp="1"/>
          </p:cNvSpPr>
          <p:nvPr/>
        </p:nvSpPr>
        <p:spPr>
          <a:xfrm>
            <a:off x="8953500" y="2047875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18" name="U01-CH023_cell_3">
            <a:extLst>
              <a:ext uri="{FF2B5EF4-FFF2-40B4-BE49-F238E27FC236}">
                <a16:creationId xmlns:a16="http://schemas.microsoft.com/office/drawing/2014/main" id="{29C63D04-E20F-4063-938E-BD9D4E73BAF3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19" name="U01-CH023_cell_4">
            <a:extLst>
              <a:ext uri="{FF2B5EF4-FFF2-40B4-BE49-F238E27FC236}">
                <a16:creationId xmlns:a16="http://schemas.microsoft.com/office/drawing/2014/main" id="{AAA790FF-96CF-46F0-A3E9-A03F4000658B}"/>
              </a:ext>
            </a:extLst>
          </p:cNvPr>
          <p:cNvSpPr>
            <a:spLocks noGrp="1"/>
          </p:cNvSpPr>
          <p:nvPr/>
        </p:nvSpPr>
        <p:spPr>
          <a:xfrm>
            <a:off x="8953500" y="3295650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Amplitud, sonoridad y control de “volumen”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“Volumen” no se usa aquí como sinónimo técnico de sonoridad.</a:t>
            </a:r>
          </a:p>
        </p:txBody>
      </p:sp>
      <p:sp>
        <p:nvSpPr>
          <p:cNvPr id="16" name="u01_asset_credit_75">
            <a:extLst>
              <a:ext uri="{FF2B5EF4-FFF2-40B4-BE49-F238E27FC236}">
                <a16:creationId xmlns:a16="http://schemas.microsoft.com/office/drawing/2014/main" id="{56B3D3B7-95E9-42F8-A197-D8FB9ED782CA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690C2545-3114-4BCE-A4A9-0FB2FB2A67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  <p:sp>
        <p:nvSpPr>
          <p:cNvPr id="19" name="U01-CH023_column_1">
            <a:extLst>
              <a:ext uri="{FF2B5EF4-FFF2-40B4-BE49-F238E27FC236}">
                <a16:creationId xmlns:a16="http://schemas.microsoft.com/office/drawing/2014/main" id="{FC2A225B-5D3D-4D32-8D66-D83C5C243A09}"/>
              </a:ext>
            </a:extLst>
          </p:cNvPr>
          <p:cNvSpPr>
            <a:spLocks noGrp="1"/>
          </p:cNvSpPr>
          <p:nvPr/>
        </p:nvSpPr>
        <p:spPr>
          <a:xfrm>
            <a:off x="223837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23_column_1_title">
            <a:extLst>
              <a:ext uri="{FF2B5EF4-FFF2-40B4-BE49-F238E27FC236}">
                <a16:creationId xmlns:a16="http://schemas.microsoft.com/office/drawing/2014/main" id="{18A278AF-102E-4016-81D2-1279963E8F17}"/>
              </a:ext>
            </a:extLst>
          </p:cNvPr>
          <p:cNvSpPr>
            <a:spLocks noGrp="1"/>
          </p:cNvSpPr>
          <p:nvPr/>
        </p:nvSpPr>
        <p:spPr>
          <a:xfrm>
            <a:off x="233362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FÍSICA</a:t>
            </a:r>
          </a:p>
        </p:txBody>
      </p:sp>
      <p:sp>
        <p:nvSpPr>
          <p:cNvPr id="21" name="U01-CH023_column_1_body">
            <a:extLst>
              <a:ext uri="{FF2B5EF4-FFF2-40B4-BE49-F238E27FC236}">
                <a16:creationId xmlns:a16="http://schemas.microsoft.com/office/drawing/2014/main" id="{65C85535-2DC2-4604-A926-272EA830ADDC}"/>
              </a:ext>
            </a:extLst>
          </p:cNvPr>
          <p:cNvSpPr>
            <a:spLocks noGrp="1"/>
          </p:cNvSpPr>
          <p:nvPr/>
        </p:nvSpPr>
        <p:spPr>
          <a:xfrm>
            <a:off x="240315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2" name="U01-CH023_column_2">
            <a:extLst>
              <a:ext uri="{FF2B5EF4-FFF2-40B4-BE49-F238E27FC236}">
                <a16:creationId xmlns:a16="http://schemas.microsoft.com/office/drawing/2014/main" id="{DE1D2FBF-9977-41E8-9EDE-C7995390262B}"/>
              </a:ext>
            </a:extLst>
          </p:cNvPr>
          <p:cNvSpPr>
            <a:spLocks noGrp="1"/>
          </p:cNvSpPr>
          <p:nvPr/>
        </p:nvSpPr>
        <p:spPr>
          <a:xfrm>
            <a:off x="419100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23_column_2_title">
            <a:extLst>
              <a:ext uri="{FF2B5EF4-FFF2-40B4-BE49-F238E27FC236}">
                <a16:creationId xmlns:a16="http://schemas.microsoft.com/office/drawing/2014/main" id="{3367C1A7-74B3-4714-B3CE-09CFA390F2EB}"/>
              </a:ext>
            </a:extLst>
          </p:cNvPr>
          <p:cNvSpPr>
            <a:spLocks noGrp="1"/>
          </p:cNvSpPr>
          <p:nvPr/>
        </p:nvSpPr>
        <p:spPr>
          <a:xfrm>
            <a:off x="428625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</a:t>
            </a:r>
          </a:p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REFERIDO</a:t>
            </a:r>
          </a:p>
        </p:txBody>
      </p:sp>
      <p:sp>
        <p:nvSpPr>
          <p:cNvPr id="24" name="U01-CH023_column_2_body">
            <a:extLst>
              <a:ext uri="{FF2B5EF4-FFF2-40B4-BE49-F238E27FC236}">
                <a16:creationId xmlns:a16="http://schemas.microsoft.com/office/drawing/2014/main" id="{C8C13171-73B2-4DDD-B55B-74CDA96C20A7}"/>
              </a:ext>
            </a:extLst>
          </p:cNvPr>
          <p:cNvSpPr>
            <a:spLocks noGrp="1"/>
          </p:cNvSpPr>
          <p:nvPr/>
        </p:nvSpPr>
        <p:spPr>
          <a:xfrm>
            <a:off x="435578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requiere referencia</a:t>
            </a:r>
          </a:p>
        </p:txBody>
      </p:sp>
      <p:sp>
        <p:nvSpPr>
          <p:cNvPr id="25" name="U01-CH023_column_3">
            <a:extLst>
              <a:ext uri="{FF2B5EF4-FFF2-40B4-BE49-F238E27FC236}">
                <a16:creationId xmlns:a16="http://schemas.microsoft.com/office/drawing/2014/main" id="{224CDD21-4366-4E23-9AF1-1FA17C72CB6F}"/>
              </a:ext>
            </a:extLst>
          </p:cNvPr>
          <p:cNvSpPr>
            <a:spLocks noGrp="1"/>
          </p:cNvSpPr>
          <p:nvPr/>
        </p:nvSpPr>
        <p:spPr>
          <a:xfrm>
            <a:off x="614362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6" name="U01-CH023_column_3_title">
            <a:extLst>
              <a:ext uri="{FF2B5EF4-FFF2-40B4-BE49-F238E27FC236}">
                <a16:creationId xmlns:a16="http://schemas.microsoft.com/office/drawing/2014/main" id="{EC938AA3-BCAA-4716-BF0C-29A1A073C2C8}"/>
              </a:ext>
            </a:extLst>
          </p:cNvPr>
          <p:cNvSpPr>
            <a:spLocks noGrp="1"/>
          </p:cNvSpPr>
          <p:nvPr/>
        </p:nvSpPr>
        <p:spPr>
          <a:xfrm>
            <a:off x="623887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</a:t>
            </a:r>
          </a:p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PERCEPTUAL</a:t>
            </a:r>
          </a:p>
        </p:txBody>
      </p:sp>
      <p:sp>
        <p:nvSpPr>
          <p:cNvPr id="27" name="U01-CH023_column_3_body">
            <a:extLst>
              <a:ext uri="{FF2B5EF4-FFF2-40B4-BE49-F238E27FC236}">
                <a16:creationId xmlns:a16="http://schemas.microsoft.com/office/drawing/2014/main" id="{05523C26-9885-4A13-A969-4F1CF0AB84D7}"/>
              </a:ext>
            </a:extLst>
          </p:cNvPr>
          <p:cNvSpPr>
            <a:spLocks noGrp="1"/>
          </p:cNvSpPr>
          <p:nvPr/>
        </p:nvSpPr>
        <p:spPr>
          <a:xfrm>
            <a:off x="630840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altura tonal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sonoridad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timbre</a:t>
            </a:r>
          </a:p>
        </p:txBody>
      </p:sp>
      <p:sp>
        <p:nvSpPr>
          <p:cNvPr id="28" name="U01-CH023_column_4">
            <a:extLst>
              <a:ext uri="{FF2B5EF4-FFF2-40B4-BE49-F238E27FC236}">
                <a16:creationId xmlns:a16="http://schemas.microsoft.com/office/drawing/2014/main" id="{8D1426D7-C986-4098-AE60-ABE7E8BA0096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9" name="U01-CH023_column_4_title">
            <a:extLst>
              <a:ext uri="{FF2B5EF4-FFF2-40B4-BE49-F238E27FC236}">
                <a16:creationId xmlns:a16="http://schemas.microsoft.com/office/drawing/2014/main" id="{794B9B2E-3369-4C10-AF9D-637300C62190}"/>
              </a:ext>
            </a:extLst>
          </p:cNvPr>
          <p:cNvSpPr>
            <a:spLocks noGrp="1"/>
          </p:cNvSpPr>
          <p:nvPr/>
        </p:nvSpPr>
        <p:spPr>
          <a:xfrm>
            <a:off x="819150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</a:t>
            </a:r>
          </a:p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</a:t>
            </a:r>
          </a:p>
        </p:txBody>
      </p:sp>
      <p:sp>
        <p:nvSpPr>
          <p:cNvPr id="30" name="U01-CH023_column_4_body">
            <a:extLst>
              <a:ext uri="{FF2B5EF4-FFF2-40B4-BE49-F238E27FC236}">
                <a16:creationId xmlns:a16="http://schemas.microsoft.com/office/drawing/2014/main" id="{44DD71AE-8572-48F0-8F71-BCAEE7B88333}"/>
              </a:ext>
            </a:extLst>
          </p:cNvPr>
          <p:cNvSpPr>
            <a:spLocks noGrp="1"/>
          </p:cNvSpPr>
          <p:nvPr/>
        </p:nvSpPr>
        <p:spPr>
          <a:xfrm>
            <a:off x="826103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“detectado”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conducta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clínica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Espectro y timbre tampoco son equivalentes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Datos sintéticos normalizados; no son mediciones.</a:t>
            </a:r>
          </a:p>
        </p:txBody>
      </p:sp>
      <p:pic>
        <p:nvPicPr>
          <p:cNvPr id="33" name="Imagen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6">
            <a:extLst>
              <a:ext uri="{FF2B5EF4-FFF2-40B4-BE49-F238E27FC236}">
                <a16:creationId xmlns:a16="http://schemas.microsoft.com/office/drawing/2014/main" id="{1E3F4481-4FE4-4094-8C65-5E6B60777D29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U01-CH026 · Elaboración propia; datos sintéticos declarados.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EC47D65-DB76-4C36-8773-BF3FBC37048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de onda sin calibración no está en pascales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permite afirmar una app de registro.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 disponible: amplitud digital o relativa.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faltantes: calibración, sensibilidad, ganancia y condiciones.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3593"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Conclusión permitida: comparar la señal dentro de condiciones controladas.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permite: inferir presión acústica o sonoridad directamente.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Calibrar vincula la lectura instrumental con una referencia física conocida.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información habría que agregar al eje vertical?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digital no adquiere unidad Pa por mostrar una forma de onda.</a:t>
            </a:r>
          </a:p>
        </p:txBody>
      </p:sp>
      <p:sp>
        <p:nvSpPr>
          <p:cNvPr id="12" name="u01_asset_credit_77">
            <a:extLst>
              <a:ext uri="{FF2B5EF4-FFF2-40B4-BE49-F238E27FC236}">
                <a16:creationId xmlns:a16="http://schemas.microsoft.com/office/drawing/2014/main" id="{2D2184C7-510D-4225-811C-1F177C2C37D2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68875A1-7C13-4F54-B49A-0EF57CD91F7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  <p:sp>
        <p:nvSpPr>
          <p:cNvPr id="15" name="U01-CH023_cell_1">
            <a:extLst>
              <a:ext uri="{FF2B5EF4-FFF2-40B4-BE49-F238E27FC236}">
                <a16:creationId xmlns:a16="http://schemas.microsoft.com/office/drawing/2014/main" id="{F208E597-6EAD-4612-BB46-38177CB7161B}"/>
              </a:ext>
            </a:extLst>
          </p:cNvPr>
          <p:cNvSpPr>
            <a:spLocks noGrp="1"/>
          </p:cNvSpPr>
          <p:nvPr/>
        </p:nvSpPr>
        <p:spPr>
          <a:xfrm>
            <a:off x="6858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16" name="U01-CH023_cell_2">
            <a:extLst>
              <a:ext uri="{FF2B5EF4-FFF2-40B4-BE49-F238E27FC236}">
                <a16:creationId xmlns:a16="http://schemas.microsoft.com/office/drawing/2014/main" id="{74DECC0E-BF50-4542-85A3-70F0F64E4CC9}"/>
              </a:ext>
            </a:extLst>
          </p:cNvPr>
          <p:cNvSpPr>
            <a:spLocks noGrp="1"/>
          </p:cNvSpPr>
          <p:nvPr/>
        </p:nvSpPr>
        <p:spPr>
          <a:xfrm>
            <a:off x="9144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17" name="U01-CH023_cell_3">
            <a:extLst>
              <a:ext uri="{FF2B5EF4-FFF2-40B4-BE49-F238E27FC236}">
                <a16:creationId xmlns:a16="http://schemas.microsoft.com/office/drawing/2014/main" id="{AE571678-F50A-4C15-A4DD-12FDDA153DD9}"/>
              </a:ext>
            </a:extLst>
          </p:cNvPr>
          <p:cNvSpPr>
            <a:spLocks noGrp="1"/>
          </p:cNvSpPr>
          <p:nvPr/>
        </p:nvSpPr>
        <p:spPr>
          <a:xfrm>
            <a:off x="6858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18" name="U01-CH023_cell_4">
            <a:extLst>
              <a:ext uri="{FF2B5EF4-FFF2-40B4-BE49-F238E27FC236}">
                <a16:creationId xmlns:a16="http://schemas.microsoft.com/office/drawing/2014/main" id="{8927FA42-EBD4-42CF-B511-B8D594C2F24F}"/>
              </a:ext>
            </a:extLst>
          </p:cNvPr>
          <p:cNvSpPr>
            <a:spLocks noGrp="1"/>
          </p:cNvSpPr>
          <p:nvPr/>
        </p:nvSpPr>
        <p:spPr>
          <a:xfrm>
            <a:off x="9144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1000 Hz, 35 dB HL y “detectado” son datos diferentes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Clasificar antes de interpretar.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1000 Hz: frecuencia física.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 dB HL: nivel referido al cero audiométrico correspondiente. “Detectado”: respuesta conductual observada.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Falta información para una conclusión clínica completa.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 no se convierte a dB SPL sin datos de referencia, frecuencia y transductor.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Identificar magnitud, referencia, respuesta y límite.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pantalla reúne datos; no los vuelve equivalentes.</a:t>
            </a:r>
          </a:p>
        </p:txBody>
      </p:sp>
      <p:sp>
        <p:nvSpPr>
          <p:cNvPr id="12" name="u01_asset_credit_78">
            <a:extLst>
              <a:ext uri="{FF2B5EF4-FFF2-40B4-BE49-F238E27FC236}">
                <a16:creationId xmlns:a16="http://schemas.microsoft.com/office/drawing/2014/main" id="{90379D5A-2C69-469A-834D-0639477A2C8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FAF7875-2582-40D9-A196-25B11CBA65E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  <p:sp>
        <p:nvSpPr>
          <p:cNvPr id="15" name="U01-CH023_cell_1">
            <a:extLst>
              <a:ext uri="{FF2B5EF4-FFF2-40B4-BE49-F238E27FC236}">
                <a16:creationId xmlns:a16="http://schemas.microsoft.com/office/drawing/2014/main" id="{E6122935-5C12-43E8-B75F-D895672D6C76}"/>
              </a:ext>
            </a:extLst>
          </p:cNvPr>
          <p:cNvSpPr>
            <a:spLocks noGrp="1"/>
          </p:cNvSpPr>
          <p:nvPr/>
        </p:nvSpPr>
        <p:spPr>
          <a:xfrm>
            <a:off x="6858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16" name="U01-CH023_cell_2">
            <a:extLst>
              <a:ext uri="{FF2B5EF4-FFF2-40B4-BE49-F238E27FC236}">
                <a16:creationId xmlns:a16="http://schemas.microsoft.com/office/drawing/2014/main" id="{454AB70D-E955-4B50-B75B-93646CAFB851}"/>
              </a:ext>
            </a:extLst>
          </p:cNvPr>
          <p:cNvSpPr>
            <a:spLocks noGrp="1"/>
          </p:cNvSpPr>
          <p:nvPr/>
        </p:nvSpPr>
        <p:spPr>
          <a:xfrm>
            <a:off x="9144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17" name="U01-CH023_cell_3">
            <a:extLst>
              <a:ext uri="{FF2B5EF4-FFF2-40B4-BE49-F238E27FC236}">
                <a16:creationId xmlns:a16="http://schemas.microsoft.com/office/drawing/2014/main" id="{6E3B2F1B-30C0-434F-AEAC-C103DBA075FE}"/>
              </a:ext>
            </a:extLst>
          </p:cNvPr>
          <p:cNvSpPr>
            <a:spLocks noGrp="1"/>
          </p:cNvSpPr>
          <p:nvPr/>
        </p:nvSpPr>
        <p:spPr>
          <a:xfrm>
            <a:off x="6858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18" name="U01-CH023_cell_4">
            <a:extLst>
              <a:ext uri="{FF2B5EF4-FFF2-40B4-BE49-F238E27FC236}">
                <a16:creationId xmlns:a16="http://schemas.microsoft.com/office/drawing/2014/main" id="{A34DCD74-9C22-452D-83ED-BF396FE7010F}"/>
              </a:ext>
            </a:extLst>
          </p:cNvPr>
          <p:cNvSpPr>
            <a:spLocks noGrp="1"/>
          </p:cNvSpPr>
          <p:nvPr/>
        </p:nvSpPr>
        <p:spPr>
          <a:xfrm>
            <a:off x="9144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 equipo no equivale a evaluar a una persona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Repetimos el modelo para transferirlo, no para redefinirlo.</a:t>
            </a:r>
          </a:p>
        </p:txBody>
      </p:sp>
      <p:sp>
        <p:nvSpPr>
          <p:cNvPr id="25" name="u01_asset_credit_79">
            <a:extLst>
              <a:ext uri="{FF2B5EF4-FFF2-40B4-BE49-F238E27FC236}">
                <a16:creationId xmlns:a16="http://schemas.microsoft.com/office/drawing/2014/main" id="{189F186F-BDA5-4A58-B367-2C3231F490EA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11607FAE-91E2-4B99-B3B1-9690BA23C5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  <p:sp>
        <p:nvSpPr>
          <p:cNvPr id="28" name="U01-CH001_node_1">
            <a:extLst>
              <a:ext uri="{FF2B5EF4-FFF2-40B4-BE49-F238E27FC236}">
                <a16:creationId xmlns:a16="http://schemas.microsoft.com/office/drawing/2014/main" id="{67AE6EB4-8F7E-4F61-9296-03D00F3CB2C3}"/>
              </a:ext>
            </a:extLst>
          </p:cNvPr>
          <p:cNvSpPr>
            <a:spLocks noGrp="1"/>
          </p:cNvSpPr>
          <p:nvPr/>
        </p:nvSpPr>
        <p:spPr>
          <a:xfrm>
            <a:off x="19050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U01-CH001_node_1_title">
            <a:extLst>
              <a:ext uri="{FF2B5EF4-FFF2-40B4-BE49-F238E27FC236}">
                <a16:creationId xmlns:a16="http://schemas.microsoft.com/office/drawing/2014/main" id="{67AE0285-2D36-48C0-8D3A-A017A55591A5}"/>
              </a:ext>
            </a:extLst>
          </p:cNvPr>
          <p:cNvSpPr>
            <a:spLocks noGrp="1"/>
          </p:cNvSpPr>
          <p:nvPr/>
        </p:nvSpPr>
        <p:spPr>
          <a:xfrm>
            <a:off x="20697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30" name="U01-CH001_node_1_body">
            <a:extLst>
              <a:ext uri="{FF2B5EF4-FFF2-40B4-BE49-F238E27FC236}">
                <a16:creationId xmlns:a16="http://schemas.microsoft.com/office/drawing/2014/main" id="{EB11D1A8-4120-4BD8-A4F4-CFB251F6B1F9}"/>
              </a:ext>
            </a:extLst>
          </p:cNvPr>
          <p:cNvSpPr>
            <a:spLocks noGrp="1"/>
          </p:cNvSpPr>
          <p:nvPr/>
        </p:nvSpPr>
        <p:spPr>
          <a:xfrm>
            <a:off x="20697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origina la perturbación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· parlante</a:t>
            </a:r>
          </a:p>
        </p:txBody>
      </p:sp>
      <p:sp>
        <p:nvSpPr>
          <p:cNvPr id="31" name="U01-CH001_node_2">
            <a:extLst>
              <a:ext uri="{FF2B5EF4-FFF2-40B4-BE49-F238E27FC236}">
                <a16:creationId xmlns:a16="http://schemas.microsoft.com/office/drawing/2014/main" id="{24C03B26-9332-4F2C-B72A-775D3E6B2C12}"/>
              </a:ext>
            </a:extLst>
          </p:cNvPr>
          <p:cNvSpPr>
            <a:spLocks noGrp="1"/>
          </p:cNvSpPr>
          <p:nvPr/>
        </p:nvSpPr>
        <p:spPr>
          <a:xfrm>
            <a:off x="47879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U01-CH001_node_2_title">
            <a:extLst>
              <a:ext uri="{FF2B5EF4-FFF2-40B4-BE49-F238E27FC236}">
                <a16:creationId xmlns:a16="http://schemas.microsoft.com/office/drawing/2014/main" id="{91BA4DB7-8ADA-49B8-B4CB-9635E87ED46E}"/>
              </a:ext>
            </a:extLst>
          </p:cNvPr>
          <p:cNvSpPr>
            <a:spLocks noGrp="1"/>
          </p:cNvSpPr>
          <p:nvPr/>
        </p:nvSpPr>
        <p:spPr>
          <a:xfrm>
            <a:off x="49526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33" name="U01-CH001_node_2_body">
            <a:extLst>
              <a:ext uri="{FF2B5EF4-FFF2-40B4-BE49-F238E27FC236}">
                <a16:creationId xmlns:a16="http://schemas.microsoft.com/office/drawing/2014/main" id="{0881F1E7-D6F0-4E42-B8A1-63F6D017E74C}"/>
              </a:ext>
            </a:extLst>
          </p:cNvPr>
          <p:cNvSpPr>
            <a:spLocks noGrp="1"/>
          </p:cNvSpPr>
          <p:nvPr/>
        </p:nvSpPr>
        <p:spPr>
          <a:xfrm>
            <a:off x="49526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la propagación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aire · agua · sólido</a:t>
            </a:r>
          </a:p>
        </p:txBody>
      </p:sp>
      <p:sp>
        <p:nvSpPr>
          <p:cNvPr id="34" name="U01-CH001_node_3">
            <a:extLst>
              <a:ext uri="{FF2B5EF4-FFF2-40B4-BE49-F238E27FC236}">
                <a16:creationId xmlns:a16="http://schemas.microsoft.com/office/drawing/2014/main" id="{29AC0748-3059-4F0B-86CD-B354AB624998}"/>
              </a:ext>
            </a:extLst>
          </p:cNvPr>
          <p:cNvSpPr>
            <a:spLocks noGrp="1"/>
          </p:cNvSpPr>
          <p:nvPr/>
        </p:nvSpPr>
        <p:spPr>
          <a:xfrm>
            <a:off x="76708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U01-CH001_node_3_title">
            <a:extLst>
              <a:ext uri="{FF2B5EF4-FFF2-40B4-BE49-F238E27FC236}">
                <a16:creationId xmlns:a16="http://schemas.microsoft.com/office/drawing/2014/main" id="{F349EEA8-3F3A-477B-B9C5-9E8C6C16637D}"/>
              </a:ext>
            </a:extLst>
          </p:cNvPr>
          <p:cNvSpPr>
            <a:spLocks noGrp="1"/>
          </p:cNvSpPr>
          <p:nvPr/>
        </p:nvSpPr>
        <p:spPr>
          <a:xfrm>
            <a:off x="78355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36" name="U01-CH001_node_3_body">
            <a:extLst>
              <a:ext uri="{FF2B5EF4-FFF2-40B4-BE49-F238E27FC236}">
                <a16:creationId xmlns:a16="http://schemas.microsoft.com/office/drawing/2014/main" id="{226DCD05-BD22-4D57-AAB7-9427A1F4364B}"/>
              </a:ext>
            </a:extLst>
          </p:cNvPr>
          <p:cNvSpPr>
            <a:spLocks noGrp="1"/>
          </p:cNvSpPr>
          <p:nvPr/>
        </p:nvSpPr>
        <p:spPr>
          <a:xfrm>
            <a:off x="78355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responde a la perturbación</a:t>
            </a:r>
          </a:p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· micrófono</a:t>
            </a:r>
          </a:p>
        </p:txBody>
      </p:sp>
      <p:cxnSp>
        <p:nvCxnSpPr>
          <p:cNvPr id="74" name="U01-CH001_link_1"/>
          <p:cNvCxnSpPr>
            <a:stCxn id="28" idx="3"/>
            <a:endCxn id="31" idx="1"/>
          </p:cNvCxnSpPr>
          <p:nvPr/>
        </p:nvCxnSpPr>
        <p:spPr>
          <a:xfrm>
            <a:off x="45212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38" name="U01-CH001_link_1_label">
            <a:extLst>
              <a:ext uri="{FF2B5EF4-FFF2-40B4-BE49-F238E27FC236}">
                <a16:creationId xmlns:a16="http://schemas.microsoft.com/office/drawing/2014/main" id="{7B752C44-99A6-4D82-80A7-96334E5E4874}"/>
              </a:ext>
            </a:extLst>
          </p:cNvPr>
          <p:cNvSpPr>
            <a:spLocks noGrp="1"/>
          </p:cNvSpPr>
          <p:nvPr/>
        </p:nvSpPr>
        <p:spPr>
          <a:xfrm>
            <a:off x="37496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perturbación</a:t>
            </a:r>
          </a:p>
        </p:txBody>
      </p:sp>
      <p:cxnSp>
        <p:nvCxnSpPr>
          <p:cNvPr id="76" name="U01-CH001_link_2"/>
          <p:cNvCxnSpPr>
            <a:stCxn id="31" idx="3"/>
            <a:endCxn id="34" idx="1"/>
          </p:cNvCxnSpPr>
          <p:nvPr/>
        </p:nvCxnSpPr>
        <p:spPr>
          <a:xfrm>
            <a:off x="74041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40" name="U01-CH001_link_2_label">
            <a:extLst>
              <a:ext uri="{FF2B5EF4-FFF2-40B4-BE49-F238E27FC236}">
                <a16:creationId xmlns:a16="http://schemas.microsoft.com/office/drawing/2014/main" id="{8B555C55-B567-4B61-9AE2-98A72D1B4CB9}"/>
              </a:ext>
            </a:extLst>
          </p:cNvPr>
          <p:cNvSpPr>
            <a:spLocks noGrp="1"/>
          </p:cNvSpPr>
          <p:nvPr/>
        </p:nvSpPr>
        <p:spPr>
          <a:xfrm>
            <a:off x="66325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se propaga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RECAPITULACIÓN/PREGUNTA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mide, qué representa y qué no permite concluir?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magnitud física se midió?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referencia usa el nivel informado?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atributo o respuesta perceptual se observó?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conclusión no está autorizada por esos datos?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“Este dato permite afirmar ___, pero no permite concluir ___”.</a:t>
            </a:r>
          </a:p>
        </p:txBody>
      </p:sp>
      <p:sp>
        <p:nvSpPr>
          <p:cNvPr id="17" name="u01_asset_credit_80">
            <a:extLst>
              <a:ext uri="{FF2B5EF4-FFF2-40B4-BE49-F238E27FC236}">
                <a16:creationId xmlns:a16="http://schemas.microsoft.com/office/drawing/2014/main" id="{9B44166D-9D46-4DB6-A4A7-89A12D16B0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0EF3DF6-B00A-48AF-AD4D-E259DCF21E3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  <p:sp>
        <p:nvSpPr>
          <p:cNvPr id="20" name="U01-CH023_cell_1">
            <a:extLst>
              <a:ext uri="{FF2B5EF4-FFF2-40B4-BE49-F238E27FC236}">
                <a16:creationId xmlns:a16="http://schemas.microsoft.com/office/drawing/2014/main" id="{F4527684-D1B6-4A89-90EB-936C5AD39495}"/>
              </a:ext>
            </a:extLst>
          </p:cNvPr>
          <p:cNvSpPr>
            <a:spLocks noGrp="1"/>
          </p:cNvSpPr>
          <p:nvPr/>
        </p:nvSpPr>
        <p:spPr>
          <a:xfrm>
            <a:off x="6715125" y="2190750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21" name="U01-CH023_cell_2">
            <a:extLst>
              <a:ext uri="{FF2B5EF4-FFF2-40B4-BE49-F238E27FC236}">
                <a16:creationId xmlns:a16="http://schemas.microsoft.com/office/drawing/2014/main" id="{9DAB411C-C4A2-4DDE-91D3-097F89753EFA}"/>
              </a:ext>
            </a:extLst>
          </p:cNvPr>
          <p:cNvSpPr>
            <a:spLocks noGrp="1"/>
          </p:cNvSpPr>
          <p:nvPr/>
        </p:nvSpPr>
        <p:spPr>
          <a:xfrm>
            <a:off x="9024938" y="2190750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22" name="U01-CH023_cell_3">
            <a:extLst>
              <a:ext uri="{FF2B5EF4-FFF2-40B4-BE49-F238E27FC236}">
                <a16:creationId xmlns:a16="http://schemas.microsoft.com/office/drawing/2014/main" id="{369E271C-D422-49F0-9DD0-3AA09AC9E225}"/>
              </a:ext>
            </a:extLst>
          </p:cNvPr>
          <p:cNvSpPr>
            <a:spLocks noGrp="1"/>
          </p:cNvSpPr>
          <p:nvPr/>
        </p:nvSpPr>
        <p:spPr>
          <a:xfrm>
            <a:off x="6715125" y="3395663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23" name="U01-CH023_cell_4">
            <a:extLst>
              <a:ext uri="{FF2B5EF4-FFF2-40B4-BE49-F238E27FC236}">
                <a16:creationId xmlns:a16="http://schemas.microsoft.com/office/drawing/2014/main" id="{E2FA84AD-68D7-437E-8800-DB6B6E2AA055}"/>
              </a:ext>
            </a:extLst>
          </p:cNvPr>
          <p:cNvSpPr>
            <a:spLocks noGrp="1"/>
          </p:cNvSpPr>
          <p:nvPr/>
        </p:nvSpPr>
        <p:spPr>
          <a:xfrm>
            <a:off x="9024938" y="3395663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de la vocal al micrófono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6,8 m; c = 340 m/s; N = 100 ciclos en Δt = 0,50 s. Tareas: identificar fuente–medio–receptor; calcular tiempo de propagación; calcular frecuencia.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d/c; f = N/Δt. N: número de ciclos; f: frecuencia (Hz).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Resolver en grupos y conservar las unidades en cada paso.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340 m/s es un redondeo didáctico para las condiciones del caso.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u01_asset_credit_81">
            <a:extLst>
              <a:ext uri="{FF2B5EF4-FFF2-40B4-BE49-F238E27FC236}">
                <a16:creationId xmlns:a16="http://schemas.microsoft.com/office/drawing/2014/main" id="{66D55062-861D-4EDB-B8CA-C19E81140F5E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1514542-4F67-482E-A1EF-1817C2554B6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  <p:sp>
        <p:nvSpPr>
          <p:cNvPr id="14" name="U01-CH024_node_1">
            <a:extLst>
              <a:ext uri="{FF2B5EF4-FFF2-40B4-BE49-F238E27FC236}">
                <a16:creationId xmlns:a16="http://schemas.microsoft.com/office/drawing/2014/main" id="{4F37C4C6-D138-41E8-B9CE-68CF05D02C3D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5" name="U01-CH024_node_2">
            <a:extLst>
              <a:ext uri="{FF2B5EF4-FFF2-40B4-BE49-F238E27FC236}">
                <a16:creationId xmlns:a16="http://schemas.microsoft.com/office/drawing/2014/main" id="{1B3F294A-B3FB-4B4C-9DE2-E22BC0CEDB38}"/>
              </a:ext>
            </a:extLst>
          </p:cNvPr>
          <p:cNvSpPr>
            <a:spLocks noGrp="1"/>
          </p:cNvSpPr>
          <p:nvPr/>
        </p:nvSpPr>
        <p:spPr>
          <a:xfrm>
            <a:off x="80899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16" name="U01-CH024_node_3">
            <a:extLst>
              <a:ext uri="{FF2B5EF4-FFF2-40B4-BE49-F238E27FC236}">
                <a16:creationId xmlns:a16="http://schemas.microsoft.com/office/drawing/2014/main" id="{CCC34873-C7D7-4F6B-9F7F-0BA09BF6033B}"/>
              </a:ext>
            </a:extLst>
          </p:cNvPr>
          <p:cNvSpPr>
            <a:spLocks noGrp="1"/>
          </p:cNvSpPr>
          <p:nvPr/>
        </p:nvSpPr>
        <p:spPr>
          <a:xfrm>
            <a:off x="97028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35" name="U01-CH024_chain_1"/>
          <p:cNvCxnSpPr>
            <a:stCxn id="14" idx="3"/>
            <a:endCxn id="15" idx="1"/>
          </p:cNvCxnSpPr>
          <p:nvPr/>
        </p:nvCxnSpPr>
        <p:spPr>
          <a:xfrm>
            <a:off x="8013700" y="240763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36" name="U01-CH024_chain_2"/>
          <p:cNvCxnSpPr>
            <a:stCxn id="15" idx="3"/>
            <a:endCxn id="16" idx="1"/>
          </p:cNvCxnSpPr>
          <p:nvPr/>
        </p:nvCxnSpPr>
        <p:spPr>
          <a:xfrm>
            <a:off x="9626600" y="2407635"/>
            <a:ext cx="7620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  <p:sp>
        <p:nvSpPr>
          <p:cNvPr id="19" name="U01-CH024_result_1">
            <a:extLst>
              <a:ext uri="{FF2B5EF4-FFF2-40B4-BE49-F238E27FC236}">
                <a16:creationId xmlns:a16="http://schemas.microsoft.com/office/drawing/2014/main" id="{875D1134-986F-4F32-BF98-E4298D1C973B}"/>
              </a:ext>
            </a:extLst>
          </p:cNvPr>
          <p:cNvSpPr>
            <a:spLocks noGrp="1"/>
          </p:cNvSpPr>
          <p:nvPr/>
        </p:nvSpPr>
        <p:spPr>
          <a:xfrm>
            <a:off x="64770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0,020 s</a:t>
            </a:r>
          </a:p>
        </p:txBody>
      </p:sp>
      <p:sp>
        <p:nvSpPr>
          <p:cNvPr id="20" name="U01-CH024_result_2">
            <a:extLst>
              <a:ext uri="{FF2B5EF4-FFF2-40B4-BE49-F238E27FC236}">
                <a16:creationId xmlns:a16="http://schemas.microsoft.com/office/drawing/2014/main" id="{058448E2-85F2-4271-8B49-70AB7FBCBD16}"/>
              </a:ext>
            </a:extLst>
          </p:cNvPr>
          <p:cNvSpPr>
            <a:spLocks noGrp="1"/>
          </p:cNvSpPr>
          <p:nvPr/>
        </p:nvSpPr>
        <p:spPr>
          <a:xfrm>
            <a:off x="80899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= 200 Hz</a:t>
            </a:r>
          </a:p>
        </p:txBody>
      </p:sp>
      <p:sp>
        <p:nvSpPr>
          <p:cNvPr id="21" name="U01-CH024_result_3">
            <a:extLst>
              <a:ext uri="{FF2B5EF4-FFF2-40B4-BE49-F238E27FC236}">
                <a16:creationId xmlns:a16="http://schemas.microsoft.com/office/drawing/2014/main" id="{290D2291-1101-4A0C-82DF-5CB2D2557B62}"/>
              </a:ext>
            </a:extLst>
          </p:cNvPr>
          <p:cNvSpPr>
            <a:spLocks noGrp="1"/>
          </p:cNvSpPr>
          <p:nvPr/>
        </p:nvSpPr>
        <p:spPr>
          <a:xfrm>
            <a:off x="97028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LQ = 20 dB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qué podemos afirmar y qué 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Nuevos datos: amplitud digital no calibrada; Q/Q₀ = 100; pregunta por altura tonal. Calcular el nivel de la razón. Separar conclusiones físicas, perceptuales y clínicas.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L_Q = 10 log₁₀(100) = 20 dB.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cuatro tarjetas: cálculo, referencia, percepción, clínica.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Calcular correctamente no autoriza inferencias que los datos no sostienen.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u01_asset_credit_82">
            <a:extLst>
              <a:ext uri="{FF2B5EF4-FFF2-40B4-BE49-F238E27FC236}">
                <a16:creationId xmlns:a16="http://schemas.microsoft.com/office/drawing/2014/main" id="{6153F557-8DF6-4BF5-A4B0-800F013EBE4F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7AE8BCFA-7320-495D-8CF4-F17BAA0036A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  <p:sp>
        <p:nvSpPr>
          <p:cNvPr id="14" name="U01-CH024_node_1">
            <a:extLst>
              <a:ext uri="{FF2B5EF4-FFF2-40B4-BE49-F238E27FC236}">
                <a16:creationId xmlns:a16="http://schemas.microsoft.com/office/drawing/2014/main" id="{39324D54-9DF7-495E-95C7-CE645C3F7639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5" name="U01-CH024_node_2">
            <a:extLst>
              <a:ext uri="{FF2B5EF4-FFF2-40B4-BE49-F238E27FC236}">
                <a16:creationId xmlns:a16="http://schemas.microsoft.com/office/drawing/2014/main" id="{71A07AE2-9DFF-4121-85B8-787AE1809C98}"/>
              </a:ext>
            </a:extLst>
          </p:cNvPr>
          <p:cNvSpPr>
            <a:spLocks noGrp="1"/>
          </p:cNvSpPr>
          <p:nvPr/>
        </p:nvSpPr>
        <p:spPr>
          <a:xfrm>
            <a:off x="80899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16" name="U01-CH024_node_3">
            <a:extLst>
              <a:ext uri="{FF2B5EF4-FFF2-40B4-BE49-F238E27FC236}">
                <a16:creationId xmlns:a16="http://schemas.microsoft.com/office/drawing/2014/main" id="{F570111B-8216-4F99-B77D-FF065DC7A181}"/>
              </a:ext>
            </a:extLst>
          </p:cNvPr>
          <p:cNvSpPr>
            <a:spLocks noGrp="1"/>
          </p:cNvSpPr>
          <p:nvPr/>
        </p:nvSpPr>
        <p:spPr>
          <a:xfrm>
            <a:off x="97028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35" name="U01-CH024_chain_1"/>
          <p:cNvCxnSpPr>
            <a:stCxn id="14" idx="3"/>
            <a:endCxn id="15" idx="1"/>
          </p:cNvCxnSpPr>
          <p:nvPr/>
        </p:nvCxnSpPr>
        <p:spPr>
          <a:xfrm>
            <a:off x="8013700" y="240763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36" name="U01-CH024_chain_2"/>
          <p:cNvCxnSpPr>
            <a:stCxn id="15" idx="3"/>
            <a:endCxn id="16" idx="1"/>
          </p:cNvCxnSpPr>
          <p:nvPr/>
        </p:nvCxnSpPr>
        <p:spPr>
          <a:xfrm>
            <a:off x="9626600" y="2407635"/>
            <a:ext cx="7620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  <p:sp>
        <p:nvSpPr>
          <p:cNvPr id="19" name="U01-CH024_result_1">
            <a:extLst>
              <a:ext uri="{FF2B5EF4-FFF2-40B4-BE49-F238E27FC236}">
                <a16:creationId xmlns:a16="http://schemas.microsoft.com/office/drawing/2014/main" id="{ED93B993-021B-4ED1-B9D3-BAE95086C17C}"/>
              </a:ext>
            </a:extLst>
          </p:cNvPr>
          <p:cNvSpPr>
            <a:spLocks noGrp="1"/>
          </p:cNvSpPr>
          <p:nvPr/>
        </p:nvSpPr>
        <p:spPr>
          <a:xfrm>
            <a:off x="64770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0,020 s</a:t>
            </a:r>
          </a:p>
        </p:txBody>
      </p:sp>
      <p:sp>
        <p:nvSpPr>
          <p:cNvPr id="20" name="U01-CH024_result_2">
            <a:extLst>
              <a:ext uri="{FF2B5EF4-FFF2-40B4-BE49-F238E27FC236}">
                <a16:creationId xmlns:a16="http://schemas.microsoft.com/office/drawing/2014/main" id="{37F663F3-34A9-4B98-8445-A81E5F19869C}"/>
              </a:ext>
            </a:extLst>
          </p:cNvPr>
          <p:cNvSpPr>
            <a:spLocks noGrp="1"/>
          </p:cNvSpPr>
          <p:nvPr/>
        </p:nvSpPr>
        <p:spPr>
          <a:xfrm>
            <a:off x="80899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= 200 Hz</a:t>
            </a:r>
          </a:p>
        </p:txBody>
      </p:sp>
      <p:sp>
        <p:nvSpPr>
          <p:cNvPr id="21" name="U01-CH024_result_3">
            <a:extLst>
              <a:ext uri="{FF2B5EF4-FFF2-40B4-BE49-F238E27FC236}">
                <a16:creationId xmlns:a16="http://schemas.microsoft.com/office/drawing/2014/main" id="{A3351D53-DEA6-42DF-8C35-89FE973C3EED}"/>
              </a:ext>
            </a:extLst>
          </p:cNvPr>
          <p:cNvSpPr>
            <a:spLocks noGrp="1"/>
          </p:cNvSpPr>
          <p:nvPr/>
        </p:nvSpPr>
        <p:spPr>
          <a:xfrm>
            <a:off x="97028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LQ = 20 dB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1304AC1-5BD7-411B-B23C-58C40CB54FD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RECAPITULACIÓN FINAL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CA6C42D9-0741-4182-B2DC-4AF568CD1B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Unidad 1 conecta fenómeno, medición e interpretación</a:t>
            </a:r>
          </a:p>
        </p:txBody>
      </p:sp>
      <p:sp>
        <p:nvSpPr>
          <p:cNvPr id="4" name="recap_node_1">
            <a:extLst>
              <a:ext uri="{FF2B5EF4-FFF2-40B4-BE49-F238E27FC236}">
                <a16:creationId xmlns:a16="http://schemas.microsoft.com/office/drawing/2014/main" id="{AE5DC6BB-B0FA-4C77-95EB-7CC6EB961106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4D8CE6-E48D-46B9-A091-B1FB27E6548B}"/>
              </a:ext>
            </a:extLst>
          </p:cNvPr>
          <p:cNvSpPr>
            <a:spLocks noGrp="1"/>
          </p:cNvSpPr>
          <p:nvPr/>
        </p:nvSpPr>
        <p:spPr>
          <a:xfrm>
            <a:off x="10858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Fenómeno: fuente, medio, receptor y perturbación.</a:t>
            </a:r>
          </a:p>
        </p:txBody>
      </p:sp>
      <p:sp>
        <p:nvSpPr>
          <p:cNvPr id="6" name="recap_node_2">
            <a:extLst>
              <a:ext uri="{FF2B5EF4-FFF2-40B4-BE49-F238E27FC236}">
                <a16:creationId xmlns:a16="http://schemas.microsoft.com/office/drawing/2014/main" id="{0789FE13-A843-42CC-8658-B44B2EECD0FB}"/>
              </a:ext>
            </a:extLst>
          </p:cNvPr>
          <p:cNvSpPr>
            <a:spLocks noGrp="1"/>
          </p:cNvSpPr>
          <p:nvPr/>
        </p:nvSpPr>
        <p:spPr>
          <a:xfrm>
            <a:off x="3829050" y="18859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A46864-82DE-44A6-A109-401FED4518EA}"/>
              </a:ext>
            </a:extLst>
          </p:cNvPr>
          <p:cNvSpPr>
            <a:spLocks noGrp="1"/>
          </p:cNvSpPr>
          <p:nvPr/>
        </p:nvSpPr>
        <p:spPr>
          <a:xfrm>
            <a:off x="3962400" y="20383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Medición: magnitud, valor, unidad y referencia.</a:t>
            </a:r>
          </a:p>
        </p:txBody>
      </p:sp>
      <p:sp>
        <p:nvSpPr>
          <p:cNvPr id="8" name="recap_node_3">
            <a:extLst>
              <a:ext uri="{FF2B5EF4-FFF2-40B4-BE49-F238E27FC236}">
                <a16:creationId xmlns:a16="http://schemas.microsoft.com/office/drawing/2014/main" id="{ADCEE98F-8E8A-4B4F-97EB-A5E39CF394D5}"/>
              </a:ext>
            </a:extLst>
          </p:cNvPr>
          <p:cNvSpPr>
            <a:spLocks noGrp="1"/>
          </p:cNvSpPr>
          <p:nvPr/>
        </p:nvSpPr>
        <p:spPr>
          <a:xfrm>
            <a:off x="3829050" y="36766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9A7264-8B66-4063-B185-56DD7E81230C}"/>
              </a:ext>
            </a:extLst>
          </p:cNvPr>
          <p:cNvSpPr>
            <a:spLocks noGrp="1"/>
          </p:cNvSpPr>
          <p:nvPr/>
        </p:nvSpPr>
        <p:spPr>
          <a:xfrm>
            <a:off x="3962400" y="38290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Relaciones: ecuaciones, dimensiones y unidades derivadas.</a:t>
            </a:r>
          </a:p>
        </p:txBody>
      </p:sp>
      <p:sp>
        <p:nvSpPr>
          <p:cNvPr id="10" name="recap_node_4">
            <a:extLst>
              <a:ext uri="{FF2B5EF4-FFF2-40B4-BE49-F238E27FC236}">
                <a16:creationId xmlns:a16="http://schemas.microsoft.com/office/drawing/2014/main" id="{F7DE4E85-3040-4BDC-BC75-DB8D8A92094B}"/>
              </a:ext>
            </a:extLst>
          </p:cNvPr>
          <p:cNvSpPr>
            <a:spLocks noGrp="1"/>
          </p:cNvSpPr>
          <p:nvPr/>
        </p:nvSpPr>
        <p:spPr>
          <a:xfrm>
            <a:off x="67056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158BD8-A251-4CB9-9DE0-54143C0574BC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Representaciones: funciones, inversas, razones y escalas.</a:t>
            </a:r>
          </a:p>
        </p:txBody>
      </p:sp>
      <p:sp>
        <p:nvSpPr>
          <p:cNvPr id="12" name="recap_node_5">
            <a:extLst>
              <a:ext uri="{FF2B5EF4-FFF2-40B4-BE49-F238E27FC236}">
                <a16:creationId xmlns:a16="http://schemas.microsoft.com/office/drawing/2014/main" id="{CB6B5BA5-7E24-417C-8452-54B7B3A2C9FA}"/>
              </a:ext>
            </a:extLst>
          </p:cNvPr>
          <p:cNvSpPr>
            <a:spLocks noGrp="1"/>
          </p:cNvSpPr>
          <p:nvPr/>
        </p:nvSpPr>
        <p:spPr>
          <a:xfrm>
            <a:off x="9582150" y="2514600"/>
            <a:ext cx="1847850" cy="1123950"/>
          </a:xfrm>
          <a:prstGeom prst="roundRect">
            <a:avLst>
              <a:gd name="adj" fmla="val 6780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B10CCF-6539-4EBC-810D-F306177F6C15}"/>
              </a:ext>
            </a:extLst>
          </p:cNvPr>
          <p:cNvSpPr>
            <a:spLocks noGrp="1"/>
          </p:cNvSpPr>
          <p:nvPr/>
        </p:nvSpPr>
        <p:spPr>
          <a:xfrm>
            <a:off x="9715500" y="2667000"/>
            <a:ext cx="1581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0278"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Interpretación: distinguir dato físico, percepción y conclusión.</a:t>
            </a:r>
          </a:p>
        </p:txBody>
      </p:sp>
      <p:cxnSp>
        <p:nvCxnSpPr>
          <p:cNvPr id="146" name="Conector: angular 32"/>
          <p:cNvCxnSpPr>
            <a:stCxn id="4" idx="3"/>
            <a:endCxn id="6" idx="1"/>
          </p:cNvCxnSpPr>
          <p:nvPr/>
        </p:nvCxnSpPr>
        <p:spPr>
          <a:xfrm flipV="1">
            <a:off x="3333750" y="2447925"/>
            <a:ext cx="495300" cy="628650"/>
          </a:xfrm>
          <a:prstGeom prst="bentConnector3">
            <a:avLst>
              <a:gd name="adj1" fmla="val 50000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47" name="Conector: angular 33"/>
          <p:cNvCxnSpPr>
            <a:stCxn id="4" idx="2"/>
            <a:endCxn id="8" idx="1"/>
          </p:cNvCxnSpPr>
          <p:nvPr/>
        </p:nvCxnSpPr>
        <p:spPr>
          <a:xfrm>
            <a:off x="2143125" y="3638550"/>
            <a:ext cx="1685925" cy="600075"/>
          </a:xfrm>
          <a:prstGeom prst="bentConnector5">
            <a:avLst>
              <a:gd name="adj1" fmla="val 0"/>
              <a:gd name="adj2" fmla="val 38095"/>
              <a:gd name="adj3" fmla="val 86441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48" name="Conector: angular 34"/>
          <p:cNvCxnSpPr>
            <a:stCxn id="6" idx="3"/>
            <a:endCxn id="10" idx="0"/>
          </p:cNvCxnSpPr>
          <p:nvPr/>
        </p:nvCxnSpPr>
        <p:spPr>
          <a:xfrm>
            <a:off x="6210300" y="2286000"/>
            <a:ext cx="1685925" cy="228600"/>
          </a:xfrm>
          <a:prstGeom prst="bentConnector4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49" name="Conector: angular 35"/>
          <p:cNvCxnSpPr>
            <a:stCxn id="8" idx="3"/>
            <a:endCxn id="10" idx="2"/>
          </p:cNvCxnSpPr>
          <p:nvPr/>
        </p:nvCxnSpPr>
        <p:spPr>
          <a:xfrm flipV="1">
            <a:off x="6210300" y="3638550"/>
            <a:ext cx="1685925" cy="600075"/>
          </a:xfrm>
          <a:prstGeom prst="bentConnector2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50" name="Conector recto de flecha 36"/>
          <p:cNvCxnSpPr>
            <a:stCxn id="10" idx="3"/>
            <a:endCxn id="12" idx="1"/>
          </p:cNvCxnSpPr>
          <p:nvPr/>
        </p:nvCxnSpPr>
        <p:spPr>
          <a:xfrm>
            <a:off x="9086850" y="3076575"/>
            <a:ext cx="4953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5F5D4B-C991-4C11-92A1-F54E5BB255E5}"/>
              </a:ext>
            </a:extLst>
          </p:cNvPr>
          <p:cNvSpPr>
            <a:spLocks noGrp="1"/>
          </p:cNvSpPr>
          <p:nvPr/>
        </p:nvSpPr>
        <p:spPr>
          <a:xfrm>
            <a:off x="1905000" y="521970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herramientas forman un sistema de lectura, no una lista inconexa.</a:t>
            </a:r>
          </a:p>
        </p:txBody>
      </p:sp>
      <p:sp>
        <p:nvSpPr>
          <p:cNvPr id="56" name="u01_asset_credit_83">
            <a:extLst>
              <a:ext uri="{FF2B5EF4-FFF2-40B4-BE49-F238E27FC236}">
                <a16:creationId xmlns:a16="http://schemas.microsoft.com/office/drawing/2014/main" id="{C58310C4-4921-423C-B333-D8867D15188D}"/>
              </a:ext>
            </a:extLst>
          </p:cNvPr>
          <p:cNvSpPr>
            <a:spLocks noGrp="1"/>
          </p:cNvSpPr>
          <p:nvPr/>
        </p:nvSpPr>
        <p:spPr>
          <a:xfrm>
            <a:off x="6191250" y="5810250"/>
            <a:ext cx="504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93" name="fa_slide_number_local">
            <a:extLst>
              <a:ext uri="{FF2B5EF4-FFF2-40B4-BE49-F238E27FC236}">
                <a16:creationId xmlns:a16="http://schemas.microsoft.com/office/drawing/2014/main" id="{89E4BED8-A5A4-404B-B4A2-84570FC52F7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  <p:sp>
        <p:nvSpPr>
          <p:cNvPr id="129" name="U01-CH024_mini_node_1">
            <a:extLst>
              <a:ext uri="{FF2B5EF4-FFF2-40B4-BE49-F238E27FC236}">
                <a16:creationId xmlns:a16="http://schemas.microsoft.com/office/drawing/2014/main" id="{520FE877-B7C2-4CF6-8E6F-7D08345833EC}"/>
              </a:ext>
            </a:extLst>
          </p:cNvPr>
          <p:cNvSpPr>
            <a:spLocks noGrp="1"/>
          </p:cNvSpPr>
          <p:nvPr/>
        </p:nvSpPr>
        <p:spPr>
          <a:xfrm>
            <a:off x="8873490" y="4547235"/>
            <a:ext cx="297180" cy="29718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U01-CH024_mini_node_2">
            <a:extLst>
              <a:ext uri="{FF2B5EF4-FFF2-40B4-BE49-F238E27FC236}">
                <a16:creationId xmlns:a16="http://schemas.microsoft.com/office/drawing/2014/main" id="{E41EE3A9-7D54-43D1-A743-3FF099FE9B87}"/>
              </a:ext>
            </a:extLst>
          </p:cNvPr>
          <p:cNvSpPr>
            <a:spLocks noGrp="1"/>
          </p:cNvSpPr>
          <p:nvPr/>
        </p:nvSpPr>
        <p:spPr>
          <a:xfrm>
            <a:off x="9566910" y="4547235"/>
            <a:ext cx="297180" cy="297180"/>
          </a:xfrm>
          <a:prstGeom prst="roundRect">
            <a:avLst>
              <a:gd name="adj" fmla="val 25641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1" name="U01-CH024_mini_node_3">
            <a:extLst>
              <a:ext uri="{FF2B5EF4-FFF2-40B4-BE49-F238E27FC236}">
                <a16:creationId xmlns:a16="http://schemas.microsoft.com/office/drawing/2014/main" id="{37AEDFA0-1B9F-4A68-9D3A-056D3823B9C7}"/>
              </a:ext>
            </a:extLst>
          </p:cNvPr>
          <p:cNvSpPr>
            <a:spLocks noGrp="1"/>
          </p:cNvSpPr>
          <p:nvPr/>
        </p:nvSpPr>
        <p:spPr>
          <a:xfrm>
            <a:off x="10260330" y="4547235"/>
            <a:ext cx="297180" cy="29718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cxnSp>
        <p:nvCxnSpPr>
          <p:cNvPr id="157" name="U01-CH024_mini_link_1"/>
          <p:cNvCxnSpPr>
            <a:stCxn id="129" idx="6"/>
            <a:endCxn id="130" idx="1"/>
          </p:cNvCxnSpPr>
          <p:nvPr/>
        </p:nvCxnSpPr>
        <p:spPr>
          <a:xfrm>
            <a:off x="9170670" y="4695825"/>
            <a:ext cx="39624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158" name="U01-CH024_mini_link_2"/>
          <p:cNvCxnSpPr>
            <a:stCxn id="130" idx="3"/>
            <a:endCxn id="131" idx="2"/>
          </p:cNvCxnSpPr>
          <p:nvPr/>
        </p:nvCxnSpPr>
        <p:spPr>
          <a:xfrm>
            <a:off x="9864090" y="4695825"/>
            <a:ext cx="39624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3E11C68-F2E1-4565-A9E1-516178FC355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B09 · CIERRE/PUENTE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E6F6E93-49D5-494D-919D-E4A52B870226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5810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 que medimos prepara lo que podremos explicar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C478E0B8-939F-49A8-A487-B5AAC5EFB996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5619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Puente hacia las próximas unidades.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B9CC38-5605-4A2C-A7E4-0F95FCBF9D2D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561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lenguaje físico y matemático de U1 se reutilizará con mayor profundidad.</a:t>
            </a:r>
          </a:p>
        </p:txBody>
      </p:sp>
      <p:sp>
        <p:nvSpPr>
          <p:cNvPr id="7" name="u01_asset_credit_84">
            <a:extLst>
              <a:ext uri="{FF2B5EF4-FFF2-40B4-BE49-F238E27FC236}">
                <a16:creationId xmlns:a16="http://schemas.microsoft.com/office/drawing/2014/main" id="{5CB5CA3C-04CE-4DEB-BCD4-757021069F9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U01-CH025 · Elaboración propia a partir de course_map y dependency_map.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9C618B0F-7638-40C8-8AA1-D0C60580B44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  <p:sp>
        <p:nvSpPr>
          <p:cNvPr id="10" name="U01-CH025_u1">
            <a:extLst>
              <a:ext uri="{FF2B5EF4-FFF2-40B4-BE49-F238E27FC236}">
                <a16:creationId xmlns:a16="http://schemas.microsoft.com/office/drawing/2014/main" id="{16CFA4C0-763C-4FE2-90AE-8F0AAAD4AFF3}"/>
              </a:ext>
            </a:extLst>
          </p:cNvPr>
          <p:cNvSpPr>
            <a:spLocks noGrp="1"/>
          </p:cNvSpPr>
          <p:nvPr/>
        </p:nvSpPr>
        <p:spPr>
          <a:xfrm>
            <a:off x="8516303" y="2948368"/>
            <a:ext cx="1064895" cy="599313"/>
          </a:xfrm>
          <a:prstGeom prst="roundRect">
            <a:avLst>
              <a:gd name="adj" fmla="val 12715"/>
            </a:avLst>
          </a:prstGeom>
          <a:solidFill>
            <a:srgbClr val="4D1434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U1</a:t>
            </a:r>
          </a:p>
        </p:txBody>
      </p:sp>
      <p:sp>
        <p:nvSpPr>
          <p:cNvPr id="11" name="U01-CH025_future_1">
            <a:extLst>
              <a:ext uri="{FF2B5EF4-FFF2-40B4-BE49-F238E27FC236}">
                <a16:creationId xmlns:a16="http://schemas.microsoft.com/office/drawing/2014/main" id="{244EFBCA-58B2-4FD8-9FB5-03B1C7C84C50}"/>
              </a:ext>
            </a:extLst>
          </p:cNvPr>
          <p:cNvSpPr>
            <a:spLocks noGrp="1"/>
          </p:cNvSpPr>
          <p:nvPr/>
        </p:nvSpPr>
        <p:spPr>
          <a:xfrm>
            <a:off x="7038975" y="2152650"/>
            <a:ext cx="1064895" cy="507111"/>
          </a:xfrm>
          <a:prstGeom prst="roundRect">
            <a:avLst>
              <a:gd name="adj" fmla="val 15026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U2</a:t>
            </a:r>
          </a:p>
        </p:txBody>
      </p:sp>
      <p:cxnSp>
        <p:nvCxnSpPr>
          <p:cNvPr id="25" name="Conector: angular 24"/>
          <p:cNvCxnSpPr>
            <a:stCxn id="10" idx="1"/>
            <a:endCxn id="11" idx="2"/>
          </p:cNvCxnSpPr>
          <p:nvPr/>
        </p:nvCxnSpPr>
        <p:spPr>
          <a:xfrm flipH="1" flipV="1">
            <a:off x="7571423" y="2659761"/>
            <a:ext cx="944881" cy="588263"/>
          </a:xfrm>
          <a:prstGeom prst="bentConnector2">
            <a:avLst/>
          </a:prstGeom>
          <a:ln w="19050">
            <a:solidFill>
              <a:srgbClr val="7CC5C8"/>
            </a:solidFill>
            <a:prstDash val="solid"/>
            <a:tailEnd type="arrow" w="sm" len="sm"/>
          </a:ln>
        </p:spPr>
      </p:cxnSp>
      <p:sp>
        <p:nvSpPr>
          <p:cNvPr id="13" name="U01-CH025_future_2">
            <a:extLst>
              <a:ext uri="{FF2B5EF4-FFF2-40B4-BE49-F238E27FC236}">
                <a16:creationId xmlns:a16="http://schemas.microsoft.com/office/drawing/2014/main" id="{6F775AEC-8B85-4C9B-9BA3-6B3CAD606675}"/>
              </a:ext>
            </a:extLst>
          </p:cNvPr>
          <p:cNvSpPr>
            <a:spLocks noGrp="1"/>
          </p:cNvSpPr>
          <p:nvPr/>
        </p:nvSpPr>
        <p:spPr>
          <a:xfrm>
            <a:off x="9993630" y="2152650"/>
            <a:ext cx="1064895" cy="507111"/>
          </a:xfrm>
          <a:prstGeom prst="roundRect">
            <a:avLst>
              <a:gd name="adj" fmla="val 15026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U3</a:t>
            </a:r>
          </a:p>
        </p:txBody>
      </p:sp>
      <p:cxnSp>
        <p:nvCxnSpPr>
          <p:cNvPr id="27" name="Conector: angular 26"/>
          <p:cNvCxnSpPr>
            <a:stCxn id="10" idx="3"/>
            <a:endCxn id="13" idx="2"/>
          </p:cNvCxnSpPr>
          <p:nvPr/>
        </p:nvCxnSpPr>
        <p:spPr>
          <a:xfrm flipV="1">
            <a:off x="9581198" y="2659761"/>
            <a:ext cx="944880" cy="588263"/>
          </a:xfrm>
          <a:prstGeom prst="bentConnector2">
            <a:avLst/>
          </a:prstGeom>
          <a:ln w="19050">
            <a:solidFill>
              <a:srgbClr val="7CC5C8"/>
            </a:solidFill>
            <a:prstDash val="solid"/>
            <a:tailEnd type="arrow" w="sm" len="sm"/>
          </a:ln>
        </p:spPr>
      </p:cxnSp>
      <p:sp>
        <p:nvSpPr>
          <p:cNvPr id="15" name="U01-CH025_future_3">
            <a:extLst>
              <a:ext uri="{FF2B5EF4-FFF2-40B4-BE49-F238E27FC236}">
                <a16:creationId xmlns:a16="http://schemas.microsoft.com/office/drawing/2014/main" id="{2C6C1BA1-9D7D-4022-A3AE-713DAB16001D}"/>
              </a:ext>
            </a:extLst>
          </p:cNvPr>
          <p:cNvSpPr>
            <a:spLocks noGrp="1"/>
          </p:cNvSpPr>
          <p:nvPr/>
        </p:nvSpPr>
        <p:spPr>
          <a:xfrm>
            <a:off x="8516303" y="3755136"/>
            <a:ext cx="1064895" cy="507111"/>
          </a:xfrm>
          <a:prstGeom prst="roundRect">
            <a:avLst>
              <a:gd name="adj" fmla="val 15026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U4</a:t>
            </a:r>
          </a:p>
        </p:txBody>
      </p:sp>
      <p:cxnSp>
        <p:nvCxnSpPr>
          <p:cNvPr id="29" name="Conector recto de flecha 28"/>
          <p:cNvCxnSpPr>
            <a:stCxn id="10" idx="2"/>
            <a:endCxn id="15" idx="0"/>
          </p:cNvCxnSpPr>
          <p:nvPr/>
        </p:nvCxnSpPr>
        <p:spPr>
          <a:xfrm>
            <a:off x="9048751" y="3547681"/>
            <a:ext cx="0" cy="207455"/>
          </a:xfrm>
          <a:prstGeom prst="straightConnector1">
            <a:avLst/>
          </a:prstGeom>
          <a:ln w="19050">
            <a:solidFill>
              <a:srgbClr val="7CC5C8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 completa de magnitudes fundamentales del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Tiempo—segundo (s); longitud—metro (m)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Masa—kilogramo (kg); corriente eléctrica—ampere (A)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termodinámica—kelvin (K); cantidad de sustancia—mol (mol)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luminosa—candela (cd)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 técnica; no requiere lectura completa durante la ruta central.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563A4D9B-B69D-4DE0-9809-1975C9A33BB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 ampliada de prefijos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tera T = 10¹²; giga G = 10⁹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mega M = 10⁶; kilo k = 10³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mili m = 10⁻³; micro µ = 10⁻⁶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nano n = 10⁻⁹; pico p = 10⁻¹²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Mayúsculas y minúsculas forman parte del símbolo.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A0F6B8DB-3E86-4943-9E57-D2FB5591D01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Dependencias dimensionales extendidas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[d] = L; [t] = T; [c] = L·T⁻¹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[a] = L·T⁻²; [F] = M·L·T⁻²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[p] = M·L⁻¹·T⁻²; [ρ] = M·L⁻³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Solo expresiones con dimensiones compatibles pueden representar la misma magnitud.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dimensiones permiten detectar incompatibilidades; no prueban una ley física.</a:t>
            </a:r>
          </a:p>
        </p:txBody>
      </p:sp>
      <p:sp>
        <p:nvSpPr>
          <p:cNvPr id="18" name="u01_asset_credit_87">
            <a:extLst>
              <a:ext uri="{FF2B5EF4-FFF2-40B4-BE49-F238E27FC236}">
                <a16:creationId xmlns:a16="http://schemas.microsoft.com/office/drawing/2014/main" id="{0BCD7DDB-A071-4F0E-AF93-C7080877E05C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614FE0E9-5F13-4B5E-A2F3-BEF69995FC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  <p:sp>
        <p:nvSpPr>
          <p:cNvPr id="21" name="U01-CH014_base_1">
            <a:extLst>
              <a:ext uri="{FF2B5EF4-FFF2-40B4-BE49-F238E27FC236}">
                <a16:creationId xmlns:a16="http://schemas.microsoft.com/office/drawing/2014/main" id="{A60B4511-F1E1-47D9-BFC1-E84EAF0D8089}"/>
              </a:ext>
            </a:extLst>
          </p:cNvPr>
          <p:cNvSpPr>
            <a:spLocks noGrp="1"/>
          </p:cNvSpPr>
          <p:nvPr/>
        </p:nvSpPr>
        <p:spPr>
          <a:xfrm>
            <a:off x="6858000" y="2190750"/>
            <a:ext cx="125095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22" name="U01-CH014_base_2">
            <a:extLst>
              <a:ext uri="{FF2B5EF4-FFF2-40B4-BE49-F238E27FC236}">
                <a16:creationId xmlns:a16="http://schemas.microsoft.com/office/drawing/2014/main" id="{133EDE09-F3B2-465D-8F30-4D0EA260F314}"/>
              </a:ext>
            </a:extLst>
          </p:cNvPr>
          <p:cNvSpPr>
            <a:spLocks noGrp="1"/>
          </p:cNvSpPr>
          <p:nvPr/>
        </p:nvSpPr>
        <p:spPr>
          <a:xfrm>
            <a:off x="8280400" y="2190750"/>
            <a:ext cx="125095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23" name="U01-CH014_base_3">
            <a:extLst>
              <a:ext uri="{FF2B5EF4-FFF2-40B4-BE49-F238E27FC236}">
                <a16:creationId xmlns:a16="http://schemas.microsoft.com/office/drawing/2014/main" id="{C3831012-C1B7-4128-98BF-784D8CA55D78}"/>
              </a:ext>
            </a:extLst>
          </p:cNvPr>
          <p:cNvSpPr>
            <a:spLocks noGrp="1"/>
          </p:cNvSpPr>
          <p:nvPr/>
        </p:nvSpPr>
        <p:spPr>
          <a:xfrm>
            <a:off x="9702800" y="2190750"/>
            <a:ext cx="125095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24" name="U01-CH014_derived_1">
            <a:extLst>
              <a:ext uri="{FF2B5EF4-FFF2-40B4-BE49-F238E27FC236}">
                <a16:creationId xmlns:a16="http://schemas.microsoft.com/office/drawing/2014/main" id="{2B0C0739-03A5-4485-A699-8A9D03184CCE}"/>
              </a:ext>
            </a:extLst>
          </p:cNvPr>
          <p:cNvSpPr>
            <a:spLocks noGrp="1"/>
          </p:cNvSpPr>
          <p:nvPr/>
        </p:nvSpPr>
        <p:spPr>
          <a:xfrm>
            <a:off x="6858000" y="3067050"/>
            <a:ext cx="4095750" cy="41275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25" name="U01-CH014_derived_2">
            <a:extLst>
              <a:ext uri="{FF2B5EF4-FFF2-40B4-BE49-F238E27FC236}">
                <a16:creationId xmlns:a16="http://schemas.microsoft.com/office/drawing/2014/main" id="{FDD10136-B889-4DCA-9F72-1549DE2818E3}"/>
              </a:ext>
            </a:extLst>
          </p:cNvPr>
          <p:cNvSpPr>
            <a:spLocks noGrp="1"/>
          </p:cNvSpPr>
          <p:nvPr/>
        </p:nvSpPr>
        <p:spPr>
          <a:xfrm>
            <a:off x="6858000" y="3575050"/>
            <a:ext cx="4095750" cy="412750"/>
          </a:xfrm>
          <a:prstGeom prst="roundRect">
            <a:avLst>
              <a:gd name="adj" fmla="val 1846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26" name="U01-CH014_derived_3">
            <a:extLst>
              <a:ext uri="{FF2B5EF4-FFF2-40B4-BE49-F238E27FC236}">
                <a16:creationId xmlns:a16="http://schemas.microsoft.com/office/drawing/2014/main" id="{1CF46D47-F1DD-4C69-B29C-CD86FE41E6CE}"/>
              </a:ext>
            </a:extLst>
          </p:cNvPr>
          <p:cNvSpPr>
            <a:spLocks noGrp="1"/>
          </p:cNvSpPr>
          <p:nvPr/>
        </p:nvSpPr>
        <p:spPr>
          <a:xfrm>
            <a:off x="6858000" y="4083050"/>
            <a:ext cx="4095750" cy="41275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y de las preguntas breves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Devolución razonada.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U01-004: d=2 m distingue símbolo, valor y unidad; peso en N; d/c produce tiempo; frecuencia y altura tonal no son idénticas.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U01-018: corregir magnitud, unidad o escritura.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U01-043: solo d/c.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U01-057: elegir la razón con dato e incógnita.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soluciones deben incluir justificación, no solo opción.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Mostrar después de recoger los razonamientos.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Respaldo de soluciones breves.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B84E3FF-DFCA-4A25-B2FC-E17F3DA17A4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los ejemplos mecánicos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cálculo y unidades.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Propagación: 68/340 = 0,20 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Peso: (2,50)(9,80)=24,5 N.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Presión: p=F_⊥/S.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Densidad: ρ=m/V.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Cada solución conserva datos, sustitución, unidad e interpretación.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solo el desarrollo pertinente a la duda.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debe corresponder a la magnitud buscada.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89876AD-FD83-4726-AE2C-0C20C8AC0BC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función y trigonometría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recuperación diferenciada.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d(t) = ct con c &gt; 0, entonces t(d)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 = 2x: f⁻¹(x) = x/2; el recíproco es 1/(2x).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el triángulo 3–4–5: sen θ = 3/5, cos θ = 4/5, tan θ = 3/4.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 equivale a 360° = 2π rad.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para consulta o clase de apoyo.</a:t>
            </a:r>
          </a:p>
        </p:txBody>
      </p:sp>
      <p:sp>
        <p:nvSpPr>
          <p:cNvPr id="18" name="u01_asset_credit_90">
            <a:extLst>
              <a:ext uri="{FF2B5EF4-FFF2-40B4-BE49-F238E27FC236}">
                <a16:creationId xmlns:a16="http://schemas.microsoft.com/office/drawing/2014/main" id="{AE0B533B-BBAE-480B-BDEC-22ABB50675A1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988854C5-B37A-450C-9CB9-B04781AEE60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  <p:sp>
        <p:nvSpPr>
          <p:cNvPr id="21" name="U01-CH018_vertical">
            <a:extLst>
              <a:ext uri="{FF2B5EF4-FFF2-40B4-BE49-F238E27FC236}">
                <a16:creationId xmlns:a16="http://schemas.microsoft.com/office/drawing/2014/main" id="{F2CB798D-18E3-4529-9379-E87E433EDF2C}"/>
              </a:ext>
            </a:extLst>
          </p:cNvPr>
          <p:cNvSpPr>
            <a:spLocks noGrp="1"/>
          </p:cNvSpPr>
          <p:nvPr/>
        </p:nvSpPr>
        <p:spPr>
          <a:xfrm flipV="1">
            <a:off x="7103745" y="2467356"/>
            <a:ext cx="953" cy="1232154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U01-CH018_base">
            <a:extLst>
              <a:ext uri="{FF2B5EF4-FFF2-40B4-BE49-F238E27FC236}">
                <a16:creationId xmlns:a16="http://schemas.microsoft.com/office/drawing/2014/main" id="{170A231C-B2F3-455F-BD51-D1C21DFEE2FF}"/>
              </a:ext>
            </a:extLst>
          </p:cNvPr>
          <p:cNvSpPr>
            <a:spLocks noGrp="1"/>
          </p:cNvSpPr>
          <p:nvPr/>
        </p:nvSpPr>
        <p:spPr>
          <a:xfrm>
            <a:off x="7103745" y="3699510"/>
            <a:ext cx="212979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U01-CH018_hypotenuse">
            <a:extLst>
              <a:ext uri="{FF2B5EF4-FFF2-40B4-BE49-F238E27FC236}">
                <a16:creationId xmlns:a16="http://schemas.microsoft.com/office/drawing/2014/main" id="{F9542CD1-D544-4897-AE6F-64D51DDFFEC7}"/>
              </a:ext>
            </a:extLst>
          </p:cNvPr>
          <p:cNvSpPr>
            <a:spLocks noGrp="1"/>
          </p:cNvSpPr>
          <p:nvPr/>
        </p:nvSpPr>
        <p:spPr>
          <a:xfrm>
            <a:off x="7103745" y="2467356"/>
            <a:ext cx="2129790" cy="1232154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U01-CH018_opposite">
            <a:extLst>
              <a:ext uri="{FF2B5EF4-FFF2-40B4-BE49-F238E27FC236}">
                <a16:creationId xmlns:a16="http://schemas.microsoft.com/office/drawing/2014/main" id="{FAF0929A-F6C8-4931-B267-A01C721B4EA0}"/>
              </a:ext>
            </a:extLst>
          </p:cNvPr>
          <p:cNvSpPr>
            <a:spLocks noGrp="1"/>
          </p:cNvSpPr>
          <p:nvPr/>
        </p:nvSpPr>
        <p:spPr>
          <a:xfrm>
            <a:off x="7256145" y="3020568"/>
            <a:ext cx="98298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5" name="U01-CH018_adjacent">
            <a:extLst>
              <a:ext uri="{FF2B5EF4-FFF2-40B4-BE49-F238E27FC236}">
                <a16:creationId xmlns:a16="http://schemas.microsoft.com/office/drawing/2014/main" id="{4ACB6EBF-E7B2-400F-BF5A-0F26EDCA4597}"/>
              </a:ext>
            </a:extLst>
          </p:cNvPr>
          <p:cNvSpPr>
            <a:spLocks noGrp="1"/>
          </p:cNvSpPr>
          <p:nvPr/>
        </p:nvSpPr>
        <p:spPr>
          <a:xfrm>
            <a:off x="7595235" y="3242310"/>
            <a:ext cx="114681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6" name="U01-CH018_ratio_1">
            <a:extLst>
              <a:ext uri="{FF2B5EF4-FFF2-40B4-BE49-F238E27FC236}">
                <a16:creationId xmlns:a16="http://schemas.microsoft.com/office/drawing/2014/main" id="{A8ACDAB5-BE7A-4442-B793-E672D4D1EDB4}"/>
              </a:ext>
            </a:extLst>
          </p:cNvPr>
          <p:cNvSpPr>
            <a:spLocks noGrp="1"/>
          </p:cNvSpPr>
          <p:nvPr/>
        </p:nvSpPr>
        <p:spPr>
          <a:xfrm>
            <a:off x="9479280" y="2266950"/>
            <a:ext cx="1392555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27" name="U01-CH018_ratio_2">
            <a:extLst>
              <a:ext uri="{FF2B5EF4-FFF2-40B4-BE49-F238E27FC236}">
                <a16:creationId xmlns:a16="http://schemas.microsoft.com/office/drawing/2014/main" id="{2A894B96-9E46-4A5B-BCD0-1DE04A36F315}"/>
              </a:ext>
            </a:extLst>
          </p:cNvPr>
          <p:cNvSpPr>
            <a:spLocks noGrp="1"/>
          </p:cNvSpPr>
          <p:nvPr/>
        </p:nvSpPr>
        <p:spPr>
          <a:xfrm>
            <a:off x="9479280" y="2800350"/>
            <a:ext cx="1392555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28" name="U01-CH018_ratio_3">
            <a:extLst>
              <a:ext uri="{FF2B5EF4-FFF2-40B4-BE49-F238E27FC236}">
                <a16:creationId xmlns:a16="http://schemas.microsoft.com/office/drawing/2014/main" id="{2FD1DB15-9A9D-424B-9E36-D5D0D4465B1F}"/>
              </a:ext>
            </a:extLst>
          </p:cNvPr>
          <p:cNvSpPr>
            <a:spLocks noGrp="1"/>
          </p:cNvSpPr>
          <p:nvPr/>
        </p:nvSpPr>
        <p:spPr>
          <a:xfrm>
            <a:off x="9479280" y="3333750"/>
            <a:ext cx="1392555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Propiedades adicionales de logaritmos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para profundización.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log_a(xy)=log_a x+log_a y; log_a(x/y)=log_a x−log_a y; log_a(xʳ)=r log_a x.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Condiciones: a&gt;0, a≠1, argumentos positivos.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log₁₀(100·10)=2+1=3.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Usar solo después de comprender el logaritmo como inversa.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C9494B-0AFD-47A7-BD1F-26B87EDC68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 no son intercambiables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referencia y el procedimiento cambian.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SPL: referencia física de presión.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HL: referencia audiométrica dependiente de frecuencia y transductor.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SL: referencia al umbral individual en una condición definida.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existe conversión universal entre estas escalas sin datos de calibración y procedimiento.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Ante “35 dB”, preguntar siempre: ¿qué escala y qué referencia?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Advertencia conceptual; la formalización corresponde a U4 y U8.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69E46F07-F971-44D5-A88A-76C6A5A986C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BBCCD4C4-A627-4EE4-A40A-170F7747209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RESPALDO/BIBLIOGRAFÍA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EC507A-CEFB-4E62-8D2B-45D161F4B0CC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la Unidad 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B87595-0FD2-45FF-A85C-B78C87C58A81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FD7AA1-11DA-489A-85C6-BA050474ECA0}"/>
              </a:ext>
            </a:extLst>
          </p:cNvPr>
          <p:cNvSpPr>
            <a:spLocks noGrp="1"/>
          </p:cNvSpPr>
          <p:nvPr/>
        </p:nvSpPr>
        <p:spPr>
          <a:xfrm>
            <a:off x="3714750" y="18859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Programa oficial de Física Acústica — Unidad 1.</a:t>
            </a:r>
          </a:p>
        </p:txBody>
      </p:sp>
      <p:sp>
        <p:nvSpPr>
          <p:cNvPr id="6" name="reference_rule_1">
            <a:extLst>
              <a:ext uri="{FF2B5EF4-FFF2-40B4-BE49-F238E27FC236}">
                <a16:creationId xmlns:a16="http://schemas.microsoft.com/office/drawing/2014/main" id="{5612D749-BEA0-448A-8E79-176A3B2D0DC8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7A0EB4-C786-4092-9B64-5C0F500B7F9F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LIBRO DEL CURSO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83E81EC-B0C2-4D12-A4C1-8DA4CA2CF58D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Capítulo 1: Nociones básicas e introducción a la acústica.</a:t>
            </a:r>
          </a:p>
        </p:txBody>
      </p:sp>
      <p:sp>
        <p:nvSpPr>
          <p:cNvPr id="9" name="reference_rule_2">
            <a:extLst>
              <a:ext uri="{FF2B5EF4-FFF2-40B4-BE49-F238E27FC236}">
                <a16:creationId xmlns:a16="http://schemas.microsoft.com/office/drawing/2014/main" id="{866E7810-E060-4131-AFE8-EC753606B8FC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F0CF60-D157-4CFC-9191-95599A21769F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REFERENCIAS SI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B45571-B2CF-4604-AD3D-ACC0246EC8FD}"/>
              </a:ext>
            </a:extLst>
          </p:cNvPr>
          <p:cNvSpPr>
            <a:spLocks noGrp="1"/>
          </p:cNvSpPr>
          <p:nvPr/>
        </p:nvSpPr>
        <p:spPr>
          <a:xfrm>
            <a:off x="3714750" y="42100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BIPM, The International System of Units (SI Brochure). NIST, recursos del SI.</a:t>
            </a:r>
          </a:p>
        </p:txBody>
      </p:sp>
      <p:sp>
        <p:nvSpPr>
          <p:cNvPr id="12" name="reference_rule_3">
            <a:extLst>
              <a:ext uri="{FF2B5EF4-FFF2-40B4-BE49-F238E27FC236}">
                <a16:creationId xmlns:a16="http://schemas.microsoft.com/office/drawing/2014/main" id="{4B175EBE-53B7-4EBD-84C9-6142336A927F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10000"/>
          </a:bodyPr>
          <a:lstStyle/>
          <a:p>
            <a:pPr algn="ctr">
              <a:buNone/>
              <a:defRPr sz="120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3"/>
              </a:rPr>
              <a:t>https://www.nist.gov/publications/si-base-units-relationship-poster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DA5A17-DA64-4BDA-BE84-E550DBADD5A8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buNone/>
              <a:def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4"/>
              </a:rPr>
              <a:t>https://www.bipm.org/en/publications/si-brochure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A7F1E8E-F67E-4F0D-BC05-223B8AB0B78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Banco de transferencia: aplicar, justificar y distinguir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Banco de transferencia.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Recalcular un tiempo de propagación con otra distancia y justificar la unidad.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Corregir una medición mal escrita y explicar cada cambio.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Elegir una expresión por dimensiones antes de sustituir valores.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Clasificar un dato audiológico como medición, nivel referido, percepción o conclusión.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respaldo para consulta.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422F115-02DD-4410-A361-4C52146700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23328</Words>
  <Application>Microsoft Office PowerPoint</Application>
  <DocSecurity>0</DocSecurity>
  <PresentationFormat>Panorámica</PresentationFormat>
  <Paragraphs>2285</Paragraphs>
  <Slides>94</Slides>
  <Notes>94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94</vt:i4>
      </vt:variant>
    </vt:vector>
  </HeadingPairs>
  <TitlesOfParts>
    <vt:vector size="101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2026-07-29T16:23:52Z</dcterms:created>
  <dcterms:modified xsi:type="dcterms:W3CDTF">2026-07-29T16:34:01Z</dcterms:modified>
</cp:coreProperties>
</file>